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two sentiments before accepting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two sentiments before accepting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mark 1 for the hover and mark 2 for the later decline. The book's point is delayed follow-through.</a:t>
            </a:r>
          </a:p>
          <a:p>
            <a:r>
              <a:rPr sz="1400"/>
              <a:t>- Separate the pattern definition from the later price path. The latter is a caveat, not part of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converse with the invented prices before reading the figure.</a:t>
            </a:r>
          </a:p>
          <a:p>
            <a:r>
              <a:rPr sz="1400"/>
              <a:t>- The rapid rebound is the book's observation in Figure 7.14, not a promise for every bullish key reversal.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bullish key reversal below the lower band. Mark 2 is the book's oversold StochRSI label.</a:t>
            </a:r>
          </a:p>
          <a:p>
            <a:r>
              <a:rPr sz="1400"/>
              <a:t>- Mark 3 is the high-volume reading. Lim calls these conditions greater potential,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first close near the high, then the second near the low.</a:t>
            </a:r>
          </a:p>
          <a:p>
            <a:r>
              <a:rPr sz="1400"/>
              <a:t>- The values and volume are ours, invented. The wider-range preference comes from Lim, p. 220.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marks 1 and 2 as the two closing positions. The book prefers wider ranges for both bars.</a:t>
            </a:r>
          </a:p>
          <a:p>
            <a:r>
              <a:rPr sz="1400"/>
              <a:t>- CCI is a label in Lim's figure. Chapter 7 does not define its formula, so do not infer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volumes left to right: strong, quiet, strong.</a:t>
            </a:r>
          </a:p>
          <a:p>
            <a:r>
              <a:rPr sz="1400"/>
              <a:t>- The arithmetic and volume are ours, invented; the interpretation follows Lim, pp. 221 to 223.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Marks 1, 2 and 3 identify the first, middle and third bars. The first closes near its high and the third near its low.</a:t>
            </a:r>
          </a:p>
          <a:p>
            <a:r>
              <a:rPr sz="1400"/>
              <a:t>- The figure also labels bearish +DM divergence and shows rapid later decline, not a guaranteed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first outer volume bar, mark 2 is the quiet middle volume bar, and mark 3 is the final outer bar.</a:t>
            </a:r>
          </a:p>
          <a:p>
            <a:r>
              <a:rPr sz="1400"/>
              <a:t>- The volume relationship is the book's clue. It does not make the reversal 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three-bar group. Mark 2 is the oversold StochRSI label.</a:t>
            </a:r>
          </a:p>
          <a:p>
            <a:r>
              <a:rPr sz="1400"/>
              <a:t>- Mark 3 points to the last close between the bands, which Lim calls bullish. The formulas are not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keeps the first three-bar reversal separate. Mark 2 identifies its large third bar near its high.</a:t>
            </a:r>
          </a:p>
          <a:p>
            <a:r>
              <a:rPr sz="1400"/>
              <a:t>- Mark 3 boxes the later outside day and its close near the low. Lim says the third bar adds bullishness,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first bar, mark 2 identifies the lower-volume middle bar, and mark 3 identifies the third bar.</a:t>
            </a:r>
          </a:p>
          <a:p>
            <a:r>
              <a:rPr sz="1400"/>
              <a:t>- Lim links this arrangement to pattern 6 in Figure 7.9. That link recalls the earlier generic pattern; it adds no new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gap up, the isolated bars, then the gap down.</a:t>
            </a:r>
          </a:p>
          <a:p>
            <a:r>
              <a:rPr sz="1400"/>
              <a:t>- Gap meaning points back to Chapter 3. The prices and volume are ours,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 island is isolated by two gaps: mark 1 is the gap up and mark 3 the gap down.</a:t>
            </a:r>
          </a:p>
          <a:p>
            <a:r>
              <a:rPr sz="1400"/>
              <a:t>- Mark 2 is the isolated formation. Lim also observes low volume and an overbought stochastic label; no formula is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Define containment before naming direction. Keep the book's generally and can qualifiers.</a:t>
            </a:r>
          </a:p>
          <a:p>
            <a:r>
              <a:rPr sz="1400"/>
              <a:t>- The next chart puts the invented values on the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first two bars run from PHP 48.00 to PHP 52.00. The outside bar runs from PHP 47.00 to PHP 53.00 and closes at PHP 47.50.</a:t>
            </a:r>
          </a:p>
          <a:p>
            <a:r>
              <a:rPr sz="1400"/>
              <a:t>- Its 5.0 million volume is invented to show the book's high-volume reliability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first to the 11 contained bars, then to the outside high and low.</a:t>
            </a:r>
          </a:p>
          <a:p>
            <a:r>
              <a:rPr sz="1400"/>
              <a:t>- The book says a trendline violation with the bearish breakout should be a reliable short-entry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11 preceding bars contained in the outside range.</a:t>
            </a:r>
          </a:p>
          <a:p>
            <a:r>
              <a:rPr sz="1400"/>
              <a:t>- Red [2] marks the trendline violation at the outside-bar break. Blue [3] marks the bearish close near the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Answer from the preceding outside-bar definition and marked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Answer from the preceding outside-bar definition and marked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inside bar separate from outside bar: the second bar is contained rather than engulfing.</a:t>
            </a:r>
          </a:p>
          <a:p>
            <a:r>
              <a:rPr sz="1400"/>
              <a:t>- The next chart shows the volume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first bar is O 50.00, H 53.00, L 48.00, C 52.40 on 4.5 million shares.</a:t>
            </a:r>
          </a:p>
          <a:p>
            <a:r>
              <a:rPr sz="1400"/>
              <a:t>- The second is O 51.80, H 52.50, L 49.20, C 50.10 on 0.5 million shares. It stays inside the first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dark bars are the inside-bar reversals at the same resistance.</a:t>
            </a:r>
          </a:p>
          <a:p>
            <a:r>
              <a:rPr sz="1400"/>
              <a:t>- The figure labels the oscillator as StochRSI and shows bearish divergence; this deck does not define its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dark bars are the inside-bar reversals at the same resistance.</a:t>
            </a:r>
          </a:p>
          <a:p>
            <a:r>
              <a:rPr sz="1400"/>
              <a:t>- The figure labels the oscillator as StochRSI and shows bearish divergence; this deck does not define its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two tests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two tests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three nested bars from left to right, then the later outside bar.</a:t>
            </a:r>
          </a:p>
          <a:p>
            <a:r>
              <a:rPr sz="1400"/>
              <a:t>- The book says the exhaustion reading is especially strong when the declines also have bearish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places three named reversal families on one chart.</a:t>
            </a:r>
          </a:p>
          <a:p>
            <a:r>
              <a:rPr sz="1400"/>
              <a:t>- This slide names the three price-bar families; the indicator panels are outside this slide's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State the proportion arithmetic. It is the distinction the book gives.</a:t>
            </a:r>
          </a:p>
          <a:p>
            <a:r>
              <a:rPr sz="1400"/>
              <a:t>- The check now returns to the containment and volume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stays visible while the check tests the stricter Harami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stays visible while the check tests the stricter Harami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all four book conditions visible before the figure.</a:t>
            </a:r>
          </a:p>
          <a:p>
            <a:r>
              <a:rPr sz="1400"/>
              <a:t>- The next slide works the numbers without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marked bar is the bullish converse of the uptrend case: it closes near its high in a downtrend.</a:t>
            </a:r>
          </a:p>
          <a:p>
            <a:r>
              <a:rPr sz="1400"/>
              <a:t>- There is a gap before the marked bar in this figure, but the book's rule concerns no gap between an exhaustion bar and the subsequent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marked bar is the bullish converse of the uptrend case: it closes near its high in a downtrend.</a:t>
            </a:r>
          </a:p>
          <a:p>
            <a:r>
              <a:rPr sz="1400"/>
              <a:t>- There is a gap before the marked bar in this figure, but the book's rule concerns no gap between an exhaustion bar and the subsequent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gap and later rebound marks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gap and later rebound marks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line to signal the shift from the gap test to the range-and-volume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ordinary bars have a PHP 3.0 range and 1.5 million shares. The spike has an 8.0 range and 6.0 million shares.</a:t>
            </a:r>
          </a:p>
          <a:p>
            <a:r>
              <a:rPr sz="1400"/>
              <a:t>- The numbers are invented to make Lim's wide-range and high-volume description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price panel shows the wide spike; the lower panel shows its high volume.</a:t>
            </a:r>
          </a:p>
          <a:p>
            <a:r>
              <a:rPr sz="1400"/>
              <a:t>- Lim also identifies a typical three-bar bearish reversal at the top of the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exact plural definition on the next slide.</a:t>
            </a:r>
          </a:p>
          <a:p>
            <a:r>
              <a:rPr sz="1400"/>
              <a:t>- The next figure places the barrier and retrace on the real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support barrier, mark 2 the penetration, and mark 3 the rapid retrace.</a:t>
            </a:r>
          </a:p>
          <a:p>
            <a:r>
              <a:rPr sz="1400"/>
              <a:t>- The book says pin bars are usually breakouts formed on low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support, penetration, and close-back-above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support, penetration, and close-back-above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exhaustion bar's open context, red [2] its close near the trend-side extreme, and blue [3] the no-gap relationship to the following bar.</a:t>
            </a:r>
          </a:p>
          <a:p>
            <a:r>
              <a:rPr sz="1400"/>
              <a:t>- The crop is read with the invented numbers on the left, not as a second definition of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support barrier, mark 2 the penetration, and mark 3 the rapid retrace.</a:t>
            </a:r>
          </a:p>
          <a:p>
            <a:r>
              <a:rPr sz="1400"/>
              <a:t>- The book says pin bars are usually breakouts formed on low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key difference is the false impression of breaking a barrier. The pin-bar volume tendency is a separate book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key difference is the false impression of breaking a barrier. The pin-bar volume tendency is a separate book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transition before showing the two-direction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upper barrier is resistance at PHP 60.00; the false high is PHP 62.00 and the short close is PHP 59.40.</a:t>
            </a:r>
          </a:p>
          <a:p>
            <a:r>
              <a:rPr sz="1400"/>
              <a:t>- The lower barrier is support at PHP 40.00; the false low is PHP 38.50 and the long close is PHP 40.60.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course drawing labels resistance PHP 60.00, high PHP 62.00, close PHP 59.40, and stop PHP 62.20.</a:t>
            </a:r>
          </a:p>
          <a:p>
            <a:r>
              <a:rPr sz="1400"/>
              <a:t>- The book's drawing follows on its own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calls this a non-failure swing and attributes the setup to a 2B entry.</a:t>
            </a:r>
          </a:p>
          <a:p>
            <a:r>
              <a:rPr sz="1400"/>
              <a:t>- The short begins after the close returns below resistance; the stop sits just above the breakout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separately: short below resistance after a false upside break, long above support after a false downside break.</a:t>
            </a:r>
          </a:p>
          <a:p>
            <a:r>
              <a:rPr sz="1400"/>
              <a:t>- The book does not give a complete trade plan beyond these entry and stop descriptions.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both barrier directions visible; the question asks for the returned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both barrier directions visible; the question asks for the returned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import a formula beyond the book's wording. The chart shows both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forward-shifted three-day SMA is PHP 50.00. Invented closes cross above at 50.80, below at 49.60, then repeat after nine bullish days.</a:t>
            </a:r>
          </a:p>
          <a:p>
            <a:r>
              <a:rPr sz="1400"/>
              <a:t>- The book says the full method belongs in DiNapoli's original text, so this chart teaches only the named Chapter 7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crossings are the pattern's named structure; the later decline is the observed follow-through.</a:t>
            </a:r>
          </a:p>
          <a:p>
            <a:r>
              <a:rPr sz="1400"/>
              <a:t>- Lim directs readers to DiNapoli's original text for a complete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forward-shifted three-day SMA. Red [2] marks the long bullish run before the pattern.</a:t>
            </a:r>
          </a:p>
          <a:p>
            <a:r>
              <a:rPr sz="1400"/>
              <a:t>- Blue [3] marks the topping formation, which the book limits to eight to ten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SMA, bullish-day run, and topping formation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SMA, bullish-day run, and topping formation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Define the term before showing both directions.</a:t>
            </a:r>
          </a:p>
          <a:p>
            <a:r>
              <a:rPr sz="1400"/>
              <a:t>- The next chart puts the levels on an invented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In the bearish case, the inside high is PHP 52.00, the false high is PHP 53.00, and the short re-entry is below PHP 49.00.</a:t>
            </a:r>
          </a:p>
          <a:p>
            <a:r>
              <a:rPr sz="1400"/>
              <a:t>- The bullish converse uses an inside low of PHP 40.00, a false low of PHP 39.20, and an upside re-entry at PHP 41.00.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Left: inside high 43.00, inside low 40.00, false low 39.00, long re-entry at 43.00.</a:t>
            </a:r>
          </a:p>
          <a:p>
            <a:r>
              <a:rPr sz="1400"/>
              <a:t>- Right: inside high 52.00, inside low 49.00, false high 53.00, short re-entry at 49.00.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inside bar, red [2] the failed downside breakout, and blue [3] the bullish re-entry above the inside high.</a:t>
            </a:r>
          </a:p>
          <a:p>
            <a:r>
              <a:rPr sz="1400"/>
              <a:t>- Only the opposite re-entry is taken, and it must occur within three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inside bar, red [2] the failed upside breakout, and blue [3] the bearish re-entry below the inside low.</a:t>
            </a:r>
          </a:p>
          <a:p>
            <a:r>
              <a:rPr sz="1400"/>
              <a:t>- Only the opposite re-entry is taken, and it must occur within three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includes indicator panels, but this slide does not interpret their formulas.</a:t>
            </a:r>
          </a:p>
          <a:p>
            <a:r>
              <a:rPr sz="1400"/>
              <a:t>- Read the formation, failed downside breakout, and upside re-entry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formation, failed downside breakout, and upside re-entry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formation, failed downside breakout, and upside re-entry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separately, then reveal the timing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separately, then reveal the timing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compare the trend with the pattern's own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Trend sentiment is the direction of the wider move: bullish in an uptrend and bearish in a downtrend.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Intrinsic sentiment is the pattern's own bullish or bearish direction. The four invented percentage cases on the chart keep the two ideas separate.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2583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09159"/>
            <a:ext cx="354787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book uses intrinsic sentiment where Chapter 4 used intrinsic bias.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compare the trend with the pattern's own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For example, a +4.0% uptrend with a -2.0% bearish pattern disagrees and is a potential reversal.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Agreement suggests continuation; disagreement suggests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four invented combinations make the rule concrete: +4.0% with +2.0%, and -4.0% with -2.0%, agree and suggest continuation.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+4.0% with -2.0%, and -4.0% with +2.0%, disagree and suggest a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00550"/>
            <a:ext cx="82296" cy="12435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37126"/>
            <a:ext cx="354787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Agreement suggests continuation; disagreement suggests a potential reversal.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3349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363" y="1929384"/>
            <a:ext cx="5504688" cy="3511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Agreement suggests continuation; disagreement suggests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chart's percentages are invented teaching values. The labels describe potential, not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pattern polarity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Pattern polarity means the pattern's own bullish or bearish direction.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book's head and shoulders example is bearish; its inverted head and shoulders example is bullish. (Lim, p. 211.)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this polarity with trend sentiment before classifying the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examples supply the polarity used in the next check.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pattern in an uptrend is 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Neutral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pattern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Bearish pattern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30789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1" y="1325880"/>
            <a:ext cx="5415991" cy="28411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60719" y="4377367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pattern in an uptrend is 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sentiments disagree: bearish intrinsic sentiment meets bullish trend sentiment.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66344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11480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Both the pattern's intrinsic sentiment and the uptrend are bullish, so they agree.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308176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t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879591" y="1325880"/>
            <a:ext cx="5415991" cy="284401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60719" y="4380211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Answer: continuation or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bearish pattern in an uptrend is a reversal because bearish intrinsic sentiment disagrees with bullish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 inverted head and shoulders in an uptrend is a continuation because both sentiments are bullish.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four cases are a classification rule. They do not forecast with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9902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3560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Next, the book assumes an uptrend while it draws bearish reversals.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bearish reversal bar can warn that buying is weakening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looking at a bearish single-bar reversal: the close turns down, the range is wide, and volume can add confidence to the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same pattern with simple prices. The prior close is PHP 51.10 and the final close is PHP 50.80, below it.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that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274850" y="3193450"/>
            <a:ext cx="401604" cy="24579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475652" y="2701869"/>
            <a:ext cx="0" cy="175564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341784" y="4668194"/>
            <a:ext cx="401604" cy="21067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50863" y="352958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123413" y="345935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257281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bearish reversal bar can warn that buying is weakening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final bar is wide, closes near its low, and carries 4.0 million shares. Red [2] marks the range; blue [3] marks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narrow or low-volume bar shows uncertainty. A wide bar that closes near its low on high volume is potentially more reliable, not guaranteed to follow through.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compare the first three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9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We are comparing the book's first three generic bearish forms, where the final bar turns against the preceding move.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On our course chart, 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final bar opening above the previous high;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large range and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743389" y="3755257"/>
            <a:ext cx="535472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743389" y="2631643"/>
            <a:ext cx="535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475652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9052468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25018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QL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compare the first three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10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Lim's first three forms become stronger when the close falls below the previous low; a narrow or low-volume bar shows uncertainty.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slide supplies the book's cropped drawing with the same numbered reading. (Lim, p. 212.)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7.4, form 1: the key reversal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opening above the previous high. Blue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Lim calls this generally bearish and potentially more reliable when context supports it. The book drawing has no volume panel; the course chart supplies the invented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Next we compare the second bearish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7839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9727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9727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7159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0340" y="2280513"/>
            <a:ext cx="591915" cy="161519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238414" y="3614806"/>
            <a:ext cx="37384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238414" y="2561417"/>
            <a:ext cx="0" cy="133429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677971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50268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50268" y="24059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three bearish forms use the same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These forms still ask whether the final bar turns bearish against the preceding move.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 chart repeats the generic bearish form: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final close;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opening relationship;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wide range and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743389" y="3755257"/>
            <a:ext cx="535472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743389" y="2631643"/>
            <a:ext cx="535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475652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9052468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25018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QV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three bearish forms use the same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A close below the previous low strengthens the bearish reading, while a narrow or low-volume bar shows uncertainty.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slide supplies the book's drawing, cropped to this same form. (Lim, p. 212.)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 figure has no volume panel. Use our chart for the invented PHP and volume example.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shape is a potential reversal clue, not a guaranteed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7.4, form 2: a close near the prior 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large bar closing near the previous low.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opening relationship,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drawing shows shape and close direction only. Use the course chart for invented prices and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Next we read the gap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70026" y="1810512"/>
            <a:ext cx="161216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88898" y="1929384"/>
            <a:ext cx="137441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88898" y="1929384"/>
            <a:ext cx="137441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63218" y="2203703"/>
            <a:ext cx="82577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bearish form 2: a large bar closes near or below the previous low.</a:t>
            </a:r>
          </a:p>
        </p:txBody>
      </p:sp>
      <p:sp>
        <p:nvSpPr>
          <p:cNvPr id="12" name="Oval 11"/>
          <p:cNvSpPr/>
          <p:nvPr/>
        </p:nvSpPr>
        <p:spPr>
          <a:xfrm>
            <a:off x="8121130" y="3263676"/>
            <a:ext cx="357348" cy="7022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21130" y="2561417"/>
            <a:ext cx="0" cy="84271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121130" y="3263676"/>
            <a:ext cx="0" cy="1404518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718287" y="40913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460473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460473" y="479365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bearish form adds a reliability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After identifying the bearish form, we ask whether its context makes the reading more reliable.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 course chart marks the close, opening relationship, and large range with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743389" y="3755257"/>
            <a:ext cx="535472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743389" y="2631643"/>
            <a:ext cx="535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475652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9052468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25018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QW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bearish form adds a reliability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16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next slide supplies the book's cropped drawing with the same numbered reading. (Lim, p. 212.)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 figure has no volume panel, so do not infer volume from it. Lim discusses high volume in the surrounding text.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Treat the pattern as potentially more reliable, then check its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7.4, form 3: a gap before the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17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bearish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close below the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is a potential bearish clue, not a promise.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we turn the same test upward for bullish 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7839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9727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9727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7159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bearish form 3: the bar closes below a gap between its open and the prior low.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3419" y="3263676"/>
            <a:ext cx="685376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113800" y="2561417"/>
            <a:ext cx="373841" cy="147474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176107" y="3965935"/>
            <a:ext cx="0" cy="912937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553357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19114" y="233574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50268" y="465319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Generic single and double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final bearish bar is potentially more reliable?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Overextended, near its low,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Narrow,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Near its high,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Any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85082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7652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691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a narrow or low-volume bar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Uncertainty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guaranteed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Trend agreement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6016" y="1207008"/>
            <a:ext cx="2063142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74888" y="1325880"/>
            <a:ext cx="1825398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74888" y="1325880"/>
            <a:ext cx="18253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9208" y="1600200"/>
            <a:ext cx="1276758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5047" y="1737360"/>
            <a:ext cx="693651" cy="189280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660603" y="3300984"/>
            <a:ext cx="43809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8660603" y="2066544"/>
            <a:ext cx="0" cy="1563624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030551" y="14996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052774" y="306324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052774" y="191109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Generic single and double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final bearish bar is potentially more reliable?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Overextended, near its low, high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reliability qualifiers are an overextended final bar, a close near its low, and high volume.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466344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a narrow or low-volume bar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11480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Uncertainty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reading says a narrow or low-volume bar shows uncertainty.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48639" y="1207008"/>
            <a:ext cx="22778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67511" y="1325880"/>
            <a:ext cx="20401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67511" y="1325880"/>
            <a:ext cx="204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1831" y="1600200"/>
            <a:ext cx="14915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3572" y="1737360"/>
            <a:ext cx="775257" cy="189280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669193" y="3300984"/>
            <a:ext cx="48963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8669193" y="2066544"/>
            <a:ext cx="0" cy="1563624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983306" y="14996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5790" y="306324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5790" y="191109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 starts with the same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18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now looking for the bullish converse: does the final bar close above the previous close or high while the broader trend is down?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close above the previous close;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opening relationship;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large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743389" y="2631643"/>
            <a:ext cx="53547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9743389" y="3614806"/>
            <a:ext cx="535472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475652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658886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25018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QM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 starts with the same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19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A close above the previous high strengthens the bullish reading; a narrow or low-volume bar shows uncertainty.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crop has no volume panel, so volume is read from the surrounding book text, not from this image.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bullish pattern in a downtrend is a potential reversal. (Lim, p. 212.)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7.5, form 1: the bullish key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20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opening below the previous low.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bullish reading is potential and context-dependent; its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we compare the second bullish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1701" y="1810512"/>
            <a:ext cx="16488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70573" y="1929384"/>
            <a:ext cx="141106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70573" y="1929384"/>
            <a:ext cx="141106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44893" y="2203703"/>
            <a:ext cx="86242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bullish single-bar formation: a large bar opens below the previous low and closes near or above the previous close.</a:t>
            </a:r>
          </a:p>
        </p:txBody>
      </p:sp>
      <p:sp>
        <p:nvSpPr>
          <p:cNvPr id="12" name="Oval 11"/>
          <p:cNvSpPr/>
          <p:nvPr/>
        </p:nvSpPr>
        <p:spPr>
          <a:xfrm>
            <a:off x="8119664" y="4387291"/>
            <a:ext cx="423320" cy="6320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345435" y="3755257"/>
            <a:ext cx="22577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345435" y="3965935"/>
            <a:ext cx="0" cy="129918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738445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28644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28644" y="500432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remaining bullish forms turn the close upward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These forms keep the same bullish test: the final close must finish above the prior close or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close above the prior close or high;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opening relationship;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large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743389" y="2631643"/>
            <a:ext cx="53547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9743389" y="3614806"/>
            <a:ext cx="535472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475652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658886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25018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QY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remaining bullish forms turn the close upward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Read the final close above the prior close or high before naming the drawing.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crop's large final bar and near-high close are the visible bullish clues.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figure has no volume panel; Lim discusses high volume in the surrounding text.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opposite-trend caveat remains: bullish intrinsic sentiment in a downtrend is a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Do not treat a shape or volume clue as a guarantee.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7.5, form 2: a close near the prior high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large bar closing near the previous high.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opening relationship,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crop shows the formation, not volume. The course chart carries the invented numerical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we read the bullish gap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70026" y="1810512"/>
            <a:ext cx="161216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88898" y="1929384"/>
            <a:ext cx="137441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88898" y="1929384"/>
            <a:ext cx="137441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63218" y="2203703"/>
            <a:ext cx="82577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bullish form 2: a large bar closes near or above the previous high.</a:t>
            </a:r>
          </a:p>
        </p:txBody>
      </p:sp>
      <p:sp>
        <p:nvSpPr>
          <p:cNvPr id="12" name="Oval 11"/>
          <p:cNvSpPr/>
          <p:nvPr/>
        </p:nvSpPr>
        <p:spPr>
          <a:xfrm>
            <a:off x="8121130" y="3544580"/>
            <a:ext cx="357348" cy="7022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21130" y="3825483"/>
            <a:ext cx="0" cy="983163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121130" y="2631643"/>
            <a:ext cx="0" cy="133429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718287" y="310822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460473" y="381048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460473" y="479365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bullish form asks whether the close is convincing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last bullish form still depends on the final close finishing above the previous close, with context deciding how convincing it 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close above the previous close;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opening relationship;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large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743389" y="2631643"/>
            <a:ext cx="53547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9743389" y="3614806"/>
            <a:ext cx="535472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475652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658886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25018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QZ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bullish form asks whether the close is convincing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crop's near-high close is the visible bullish reliability clue.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figure has no volume panel, so do not claim that blue [3] marks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Lim's qualifiers apply in the converse direction: potential, not certainty. (Lim, p. 212.)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7.5, form 3: a gap before the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26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bullish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close above the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shape suggests a potential bullish reversal when the broader trend is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triple-bar families add a middle bar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7839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9727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9727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7159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bullish form 3: the bar closes above a gap between its open and the prior high.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3419" y="3895709"/>
            <a:ext cx="685376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113800" y="3123224"/>
            <a:ext cx="373841" cy="147474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176107" y="2561417"/>
            <a:ext cx="0" cy="119384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553357" y="416161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19114" y="28975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50268" y="23357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 a triple bearish form, the gaps add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27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looking at a triple bearish form, where gaps between the bars add to the pressure of the reversal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an invented three-bar example with successive gaps of PHP 0.30, PHP 0.60, and PHP 1.10.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64421" y="2701869"/>
            <a:ext cx="401604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0839" y="3123224"/>
            <a:ext cx="401604" cy="52669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877257" y="4106387"/>
            <a:ext cx="40160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5839632" y="23357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13786" y="388071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58886" y="367003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 a triple bearish form, the gaps add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28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Gold [1] marks the first gap, red [2] the middle bar, and blue [3] the larger final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larger gap adds a stronger bearish clue in the triple pattern; the gap term keeps Chapter 3's meaning.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first three drawings share rules; they are not a shopping list of promises.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bearish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29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book's first triple group uses the outer-bar closes and the gaps to frame the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outer close,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outer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64421" y="3263676"/>
            <a:ext cx="401604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0839" y="3755257"/>
            <a:ext cx="401604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877257" y="4352178"/>
            <a:ext cx="40160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5973500" y="289755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13786" y="40913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58886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QN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bearish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30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Pattern 1 can be more bearish when the middle bar has larger volume; larger first and third ranges help reliability.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are potential readings, not a complete trade plan. (Lim, p. 213.)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7.6, form 1: three bearish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outer close,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outer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outer closes and the middle bar frame a potential bearish reversal;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next triple drawing adds an island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04628" y="1810512"/>
            <a:ext cx="214295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500" y="1929384"/>
            <a:ext cx="190521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500" y="1929384"/>
            <a:ext cx="19052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7820" y="2203703"/>
            <a:ext cx="135657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2" name="Oval 11"/>
          <p:cNvSpPr/>
          <p:nvPr/>
        </p:nvSpPr>
        <p:spPr>
          <a:xfrm>
            <a:off x="7985586" y="2456078"/>
            <a:ext cx="609668" cy="94804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57055" y="2912546"/>
            <a:ext cx="247677" cy="94804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023690" y="3755257"/>
            <a:ext cx="685877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525303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668432" y="303800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668432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triple pattern also compares ranges and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triple bearish reading also asks how wide the three ranges are and whether the middle and final bars carry meaningful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example: the first range is PHP 3.0, the middle range PHP 0.8, and the final range PHP 3.4.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64421" y="3123224"/>
            <a:ext cx="535472" cy="49158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0839" y="3193450"/>
            <a:ext cx="535472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144993" y="3123224"/>
            <a:ext cx="0" cy="189610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5839632" y="28273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13786" y="381048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92754" y="359980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QD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triple pattern also compares ranges and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Middle volume is 0.7 million; final volume is 4.2 million.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Gold [1] marks the first wide range, red [2] the quiet middle range, and blue [3] the final wide range beside its 4.2 million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middle bar is normally low volume, except pattern 1 can be more bearish with larger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final bar that is overextended, near its low, and high volume is potentially more reliable.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bearish drawings add an island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 above the first bar;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island bar;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bearish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crop shows the gap structure and the final close near the low. It has no volume panel.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270839" y="3123224"/>
            <a:ext cx="401604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0839" y="2631643"/>
            <a:ext cx="401604" cy="4213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877257" y="4352178"/>
            <a:ext cx="40160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713786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13786" y="233574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58886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QO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bearish drawings add an island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Lim discusses volume in the surrounding text, but this image cannot show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triple pattern is a potential reversal clue, not a trade guarantee. (Lim, p. 214.)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7.7, form 4: the island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36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 up,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island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gap down into the bearish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figure shows the gap structure and close direction. Volume belongs to the invented course chart, not this crop.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compare the bullish triple 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09765" y="1810512"/>
            <a:ext cx="213268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8637" y="1929384"/>
            <a:ext cx="189493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8637" y="1929384"/>
            <a:ext cx="189493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02957" y="2203703"/>
            <a:ext cx="134629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fourth triple bearish formation: a gap up followed by a gap down, the single-island reversal bar.</a:t>
            </a:r>
          </a:p>
        </p:txBody>
      </p:sp>
      <p:sp>
        <p:nvSpPr>
          <p:cNvPr id="12" name="Oval 11"/>
          <p:cNvSpPr/>
          <p:nvPr/>
        </p:nvSpPr>
        <p:spPr>
          <a:xfrm>
            <a:off x="7891866" y="2280513"/>
            <a:ext cx="568481" cy="7022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024512" y="2772095"/>
            <a:ext cx="43583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8024512" y="3158337"/>
            <a:ext cx="568481" cy="87782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0076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664939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683888" y="402116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7.7 -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7.7 - Lim, The Handbook of Technical Analysis (Wiley, 2016)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Triple and multiple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Why do larger gaps matter in the triple bearish forms?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They remove the 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They guarantee a top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They define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They add a stronger bearish clue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final bearish bar is potentially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Narrow, near high,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Overextended, near low,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Any middle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Low range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52378" y="1207008"/>
            <a:ext cx="247041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71250" y="1325880"/>
            <a:ext cx="223267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71250" y="1325880"/>
            <a:ext cx="2232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5570" y="1600200"/>
            <a:ext cx="168403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8" name="Oval 17"/>
          <p:cNvSpPr/>
          <p:nvPr/>
        </p:nvSpPr>
        <p:spPr>
          <a:xfrm>
            <a:off x="8364320" y="1943100"/>
            <a:ext cx="714455" cy="111099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5260" y="2478024"/>
            <a:ext cx="290247" cy="111099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408973" y="3465576"/>
            <a:ext cx="80376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851644" y="15819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1248" y="265176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1248" y="37216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Triple and multiple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25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504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Why do larger gaps matter in the triple bearish forms?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They add a stronger bearish clue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larger gaps make the triple pattern more bearish.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40327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40327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320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final bearish bar is potentially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0265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Overextended, near low, high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final-bar qualifiers are overextension, a near-low close, and high volume.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5917" y="1207008"/>
            <a:ext cx="26233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94789" y="1325880"/>
            <a:ext cx="23855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94789" y="1325880"/>
            <a:ext cx="23855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69109" y="1600200"/>
            <a:ext cx="18369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8" name="Oval 17"/>
          <p:cNvSpPr/>
          <p:nvPr/>
        </p:nvSpPr>
        <p:spPr>
          <a:xfrm>
            <a:off x="8349027" y="1943100"/>
            <a:ext cx="763390" cy="111099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3731" y="2478024"/>
            <a:ext cx="310127" cy="111099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396739" y="3465576"/>
            <a:ext cx="85881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811884" y="15819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43242" y="265176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3242" y="37216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triple pattern reverses the outer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37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now reading the bullish triple form. Its outer bars reverse the close direction: the first is near its low and the final bar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 the first, middle, and final bars in the crop.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262816" y="3860596"/>
            <a:ext cx="401604" cy="2106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6971" y="3860596"/>
            <a:ext cx="401604" cy="21067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11125" y="2772095"/>
            <a:ext cx="401604" cy="21067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05764" y="381048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13786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58886" y="25464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QE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triple pattern reverses the outer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38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figure shows bar shape and close direction, but no volume panel. The course chart carries the invented volume example.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same potential range and volume tests apply in the bullish direction.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bullish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39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first three bullish drawings reverse the outer-bar close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bar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64421" y="3860596"/>
            <a:ext cx="401604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70839" y="3825483"/>
            <a:ext cx="40160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877257" y="2842320"/>
            <a:ext cx="401604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73500" y="42318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052468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58886" y="25464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QP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bullish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40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figure has no volume panel. Use the course chart for the invented quiet-middle and high-volume comparison.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next group for the remaining three forms. (Lim, p. 214.)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7.8, form 1: three bullish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first bar closing near its low,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middle bar closing near its high,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final bar closing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Those close directions give the formation its potential bullish reading.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next bullish drawing keeps the same close-direction 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64996" y="1810512"/>
            <a:ext cx="202222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83868" y="1929384"/>
            <a:ext cx="178447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83868" y="1929384"/>
            <a:ext cx="178447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58188" y="2203703"/>
            <a:ext cx="123583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the first triple bullish formation: the first bar closes near its low, the middle bar closes near its high, and the third bar closes near its high.</a:t>
            </a:r>
          </a:p>
        </p:txBody>
      </p:sp>
      <p:sp>
        <p:nvSpPr>
          <p:cNvPr id="12" name="Oval 11"/>
          <p:cNvSpPr/>
          <p:nvPr/>
        </p:nvSpPr>
        <p:spPr>
          <a:xfrm>
            <a:off x="7961970" y="4387291"/>
            <a:ext cx="249826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83176" y="4387291"/>
            <a:ext cx="214137" cy="9831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68692" y="4317065"/>
            <a:ext cx="249826" cy="94804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10229" y="40562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56002" y="405627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698760" y="37402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7.8 - Lim, The Handbook of Technical Analysis (Wiley, 2016)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final bullish group uses the same volume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final bullish group asks whether the middle bar stays quiet while the final bar closes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example: middle volume is 0.7 million and the final bar closes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136971" y="3860596"/>
            <a:ext cx="401604" cy="2106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011125" y="2877433"/>
            <a:ext cx="40160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10011125" y="4773533"/>
            <a:ext cx="40160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713786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658886" y="25464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58886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QJ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final bullish group uses the same volume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Gold [1] marks the quiet middle, red [2] the final high, and blue [3] the volume evidence.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high-volume final bar near its high can make the bullish reversal potentially more reliable.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figure's labels are observations; Chapter 7 does not define an oscillator formula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bullish drawings complete the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bar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outer bars carry the bullish direction while the middle bar is commonly quieter.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270839" y="3614806"/>
            <a:ext cx="401604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877257" y="2807208"/>
            <a:ext cx="40160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877257" y="4738420"/>
            <a:ext cx="401604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13786" y="324868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658886" y="233574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58886" y="500432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QQ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bullish drawings complete the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figure has no volume panel, so its marks do not claim volume. The course chart teaches pattern 2's volume exception.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Keep the final-bar rule potential, not certain. (Lim, p. 215.)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7.9, form 4: the bullish island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46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gap down,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final bar closing near its high after the gap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figure shows the bars and gaps only. Use the course chart for invented volume values.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Multiple-bar forms now add a longer intermediate sequence.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71119" y="1810512"/>
            <a:ext cx="1409976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991" y="1929384"/>
            <a:ext cx="117223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991" y="1929384"/>
            <a:ext cx="117223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4311" y="2203703"/>
            <a:ext cx="623592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Palatino"/>
              </a:rPr>
              <a:t>A readable crop of the fourth triple bullish formation: the second bar gaps down and the third bar gaps up and closes near its high.</a:t>
            </a:r>
          </a:p>
        </p:txBody>
      </p:sp>
      <p:sp>
        <p:nvSpPr>
          <p:cNvPr id="12" name="Oval 11"/>
          <p:cNvSpPr/>
          <p:nvPr/>
        </p:nvSpPr>
        <p:spPr>
          <a:xfrm>
            <a:off x="8011994" y="4036161"/>
            <a:ext cx="257891" cy="6320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05773" y="4317065"/>
            <a:ext cx="3047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8316775" y="4457517"/>
            <a:ext cx="328225" cy="7022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27601" y="367003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395773" y="3740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466107" y="510966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2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7.9 -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7.9 - Lim, The Handbook of Technical Analysis (Wiley, 2016)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Multiple bearish forms can contain a volume exception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47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looking at multiple bearish forms, where the intermediate bars are usually quiet but one pattern allows a wide, high-volume exception.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sequence: intermediate volumes are 0.6, 0.8, 3.8, and 0.7 million.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333762" y="3052998"/>
            <a:ext cx="535472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3103" y="2982772"/>
            <a:ext cx="1606417" cy="98316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011125" y="4071274"/>
            <a:ext cx="40160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776709" y="261664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650863" y="261664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58886" y="388071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QF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Multiple bearish forms can contain a volume exception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48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Intermediate volume is normally low, but pattern 2 can be bearish with high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Gold [1] marks a gap, red [2] the intermediate bars, and blue [3] the final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Extremely high or low volume in a wide intermediate bar can also be bearish.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multiple forms reverse that 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49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bullish multiple forms use the same idea in the other direction: intermediate bars are usually quiet, with a possible wide, high-volume exception.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Here is the invented sequence: the two quiet middle volumes are 0.6 and 0.8 million shares; the wide exception is 3.8 million.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601498" y="3860596"/>
            <a:ext cx="468538" cy="45646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72443" y="4597968"/>
            <a:ext cx="803208" cy="70225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144993" y="2842320"/>
            <a:ext cx="40160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910577" y="345935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721809" y="423184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26622" y="23357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QG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multiple forms reverse that 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50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bullish converse normally has one narrow intermediate bar and a final close near its high.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Gold [1] marks that narrow bar, red [2] the high-volume exception, and blue [3] the final close.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pattern 2, a wide-ranging intermediate bar on high or above-average volume can support the bullish reading.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Narrow intermediate bars on very low volume show the quiet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continuation bar can confirm the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Continuation keeps the pattern aligned with an uptrend when a later bar breaks the previous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Invented example: prior high PHP 52.00; second high PHP 53.20, with volume 4.0 million versus 2.0 million.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262816" y="3158337"/>
            <a:ext cx="414991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743389" y="2631643"/>
            <a:ext cx="334670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609520" y="4668194"/>
            <a:ext cx="669340" cy="5266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39632" y="28273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922611" y="282732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QH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continuation bar can confirm the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Gold [1] marks the prior high, red [2] the breach, and blue [3] the high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second bar breaches the previous high on high volume, so intrinsic and trend sentiment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This is continuation, not a reversal. (Lim, p. 216.)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first continuation example breaks the prior high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checking the same continuation rule in the book figure: the second bar takes out the previous high and closes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prior high,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breach,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second bar closing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262816" y="3158337"/>
            <a:ext cx="414991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743389" y="2736982"/>
            <a:ext cx="535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609520" y="3474354"/>
            <a:ext cx="535472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39632" y="28273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792754" y="226551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QT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first continuation example breaks the prior high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book crop has no volume panel; the course chart adds invented volume only to illustrate Lim's surrounding comment.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Lim presents this as a bullish continuation example, where the pattern and trend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bearish reverse uses the same structure downward. (Lim, p. 216.)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7.12, continuation form 1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prior high,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second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its close near the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 presents this as bullish continuation when the pattern agrees with the trend.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second continuation form adds a midpoint retrace.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16088" y="1810512"/>
            <a:ext cx="2920037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34960" y="1929384"/>
            <a:ext cx="268229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34960" y="1929384"/>
            <a:ext cx="268229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09280" y="2203703"/>
            <a:ext cx="213365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07878" y="3123224"/>
            <a:ext cx="965625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444336" y="2210287"/>
            <a:ext cx="482812" cy="77248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90691" y="2210287"/>
            <a:ext cx="536458" cy="77248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15971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932639" y="21952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932639" y="31784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2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50 percent retrace can still continue the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56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second bullish continuation pattern starts with a retracement to the 50 percent level, then asks whether price rebounds through the old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example. The previous bar runs from PHP 48.00 to PHP 52.00, so its 50 percent level is PHP 50.00.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869234" y="3895709"/>
            <a:ext cx="401604" cy="2106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07916" y="3333902"/>
            <a:ext cx="401604" cy="21067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278861" y="2736982"/>
            <a:ext cx="40160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312182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650863" y="303800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26622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QI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50 percent retrace can still continue the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57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next price retraces to PHP 50.00, rebounds to PHP 52.40 on 4.0 million shares, and breaches PHP 52.00.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Gold [1] marks the midpoint, red [2] the rebound, and blue [3] the breach.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Lim says large volume on the second bar may mean the trend remains potentially strong.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bullish continuation pattern 1 show?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lower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second bar closing near its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close below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makes pattern 2 bullish continuation?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It stops at the midpoint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It makes no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It uses only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50% retrace, then breach old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97058" y="1207008"/>
            <a:ext cx="338105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15930" y="1325880"/>
            <a:ext cx="314331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15930" y="1325880"/>
            <a:ext cx="314331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0250" y="1600200"/>
            <a:ext cx="259467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73256" y="2724912"/>
            <a:ext cx="113159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8901918" y="1655064"/>
            <a:ext cx="565796" cy="9052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39052" y="1655064"/>
            <a:ext cx="628662" cy="9052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145" y="23225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500865" y="16642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00865" y="28163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bullish continuation pattern 1 show?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second bar closing near its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7.12 crop shows a second bar closing near its high after the prior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makes pattern 2 bullish continuation?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50% retrace, then breach old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rule is a 50 percent retrace followed by a rebound that breaches the previous high.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23445" y="1207008"/>
            <a:ext cx="3528284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2317" y="1325880"/>
            <a:ext cx="32905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2317" y="1325880"/>
            <a:ext cx="32905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6637" y="1600200"/>
            <a:ext cx="27419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58533" y="2724912"/>
            <a:ext cx="1184595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8916641" y="1655064"/>
            <a:ext cx="592297" cy="9052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50830" y="1655064"/>
            <a:ext cx="658108" cy="9052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44977" y="23225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550923" y="16642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50923" y="28163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second continuation example retraces halfway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58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continuation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midpoint retrace,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rebound above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labels the midpoint as 50% of the first bar. The crop has no volume panel.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96685" y="3404128"/>
            <a:ext cx="669340" cy="56180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6971" y="3614806"/>
            <a:ext cx="535472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144993" y="2807208"/>
            <a:ext cx="535473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5839632" y="416161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052468" y="317845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1060490" y="23357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QU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second continuation example retraces halfway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59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second bar rebounds to the upside. The book crop has no volume panel; the course chart adds invented volume only to illustrate Lim's surrounding comment.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bearish reverse applies the same structure downward. (Lim, p. 216.)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7.12, continuation form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60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50% midpoint retrace,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rebound through the old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crop shows the midpoint level but no volume panel; the course chart supplies invented volume separately.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16 reversal characteristics explain when a move may be losing energy.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54354" y="1810512"/>
            <a:ext cx="2443506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73226" y="1929384"/>
            <a:ext cx="220576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73226" y="1929384"/>
            <a:ext cx="220576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47546" y="2203703"/>
            <a:ext cx="1657122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second simple bullish continuation formation: a second bar retracing to the first bar's midpoint before rebounding.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55531" y="3123224"/>
            <a:ext cx="794074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396683" y="2210287"/>
            <a:ext cx="397037" cy="77248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2568" y="2210287"/>
            <a:ext cx="441152" cy="77248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58930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770618" y="21952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770618" y="31784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characteristics show a move losing energy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are starting the 16 reversal characteristics with the way a price move can lose energy before a reversal or retracement.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1 and 2 are cycle amplitude and cycle period: amplitude decreases from 40 to 30 points, while period decreases from 20 to 12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3 and 4 are bar retracement symmetry and average range: symmetry changes from 28, 30, and 26 bars to 14 bars, while range falls from 3.0 to 2.0.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are invented values showing the direction. The characteristics indicate potential, never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more characteristics describe weaker follow-through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5 to 8 ask whether price persists and bar measures weaken.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 5 is price persistence, whose quality falls; characteristic 6 is bar stochastic, which falls from 0.80 to 0.40.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 7 is BRR, which falls from 0.60 to 0.25; characteristic 8 is angular symmetry and momentum, changing from 20 to 35 degrees.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9902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3560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book's terms stay connected to their earlier FIN1209 definitions.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16 characteristics, first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earlier chapter taught BRR, the real body to range ratio?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Chapter 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Chapter 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Chapter 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book does not name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characteristic names angular symmetry and momentum?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16 characteristics, first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earlier chapter taught BRR, the real body to range ratio?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Chapter 5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Chapter 5 taught the real body to range ratio, recalled here as characteristic 7.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characteristic names angular symmetry and momentum?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8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Characteristic 8 is changes in angular symmetry and momentum.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Location and consolidation add four more warnings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9 to 12 move from bar behaviour to context: barrier proximity, fewer oscillations, larger consolidation, and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 9 is PHP 1.00 below resistance; characteristic 10 is fewer or shallower oscillations, from 6 to 2.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 11 is consolidation becoming larger and longer, from 3 to 12 bars; characteristic 12 is an exhaustion gap at PHP 0.80.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gap and barrier terms keep the meanings taught in Chapters 3 and 5.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location of the pattern matters as much as its shape.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last four characteristics combine range, volume, and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13 to 16 ask whether the move is nearly complete, overextended, unusually active, or diverging.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13 and 14 are range completion at 9 of 10 points and overextension at PHP 1.00 above resistance.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15 and 16 are extreme volume at 5.0 million versus 1.2 million and standard divergence. Chapter 7 gives no oscillator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list ends with range completion, overextension, volume, and divergence.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reversal warnings appear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using this warning chart to see several reversal characteristics on one price path: changing momentum, fewer oscillations, and overextension.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our invented path: price rises from PHP 40.00 to PHP 80.00 in 12 bars, with only two pullbacks.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6664421" y="2912546"/>
            <a:ext cx="2275759" cy="1544971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1" name="Oval 10"/>
          <p:cNvSpPr/>
          <p:nvPr/>
        </p:nvSpPr>
        <p:spPr>
          <a:xfrm>
            <a:off x="8806311" y="3333902"/>
            <a:ext cx="401604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81268" y="2526304"/>
            <a:ext cx="401604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07368" y="43722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320204" y="296777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123413" y="212506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QK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reversal warnings appear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66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Gold [1] marks characteristic 8, changing angular rise and momentum; red [2] marks characteristic 10, the few oscillations.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Blue [3] marks characteristic 14, the overextended bar against the upper band.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 names the Bollinger upper band but never gives its formula here. These are potential warnings, not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7.13: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67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8, the rapid rise and changing momentum; red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10, the fewer oscillations; blue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14, the actual overextended price bar against the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source label is not the target: the blue box sits on the price bar itself. The book names the upper band but gives no formula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Barrier proximity is the next reliability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59" y="1810512"/>
            <a:ext cx="6476694" cy="33572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56631" y="1929384"/>
            <a:ext cx="6238951" cy="3119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56631" y="1929384"/>
            <a:ext cx="6238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0951" y="2203703"/>
            <a:ext cx="5690311" cy="26622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6928317" y="3333147"/>
            <a:ext cx="623895" cy="53031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50444" y="3925848"/>
            <a:ext cx="748674" cy="499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33849" y="2178942"/>
            <a:ext cx="499116" cy="106062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5964" y="298676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545439" y="36730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172870" y="2425263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25917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 figure shows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68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characteristic 8, the exponential rise and changing momentum;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characteristic 10, the few trend oscillations.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characteristic 14, price overextension against the Bollinger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has no separate volume panel, so this reading does not mark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 the chart as potential evidence, then apply the barrier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9654" y="2133222"/>
            <a:ext cx="407676" cy="86631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721510" y="2310963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Barrier proximity is the reliability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69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barrier proximity as one of the most important reversal characteristics: patterns are more reliable at significant barriers.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Figure 7.13, 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characteristic 8,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characteristic 10,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characteristic 14: the overextended bar against the upper band.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6664421" y="2912546"/>
            <a:ext cx="2275759" cy="1544971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1" name="Oval 10"/>
          <p:cNvSpPr/>
          <p:nvPr/>
        </p:nvSpPr>
        <p:spPr>
          <a:xfrm>
            <a:off x="8806311" y="3333902"/>
            <a:ext cx="401604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81268" y="2526304"/>
            <a:ext cx="401604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07368" y="43722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320204" y="296777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123413" y="212506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RF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Barrier proximity is the reliability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70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upper band is the visible barrier in this book figure. The scan does not provide a numeric barrier level.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Check the pattern's barrier context. A barrier raises potential reliability, not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7.13: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8, the rapid rise and changing momentum; red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10, the fewer oscillations; blue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14, the actual overextended price bar against the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source label is not the target: the blue box sits on the price bar itself. The book names the upper band but gives no formula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Barrier proximity is the next reliability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59" y="1810512"/>
            <a:ext cx="6476694" cy="33572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56631" y="1929384"/>
            <a:ext cx="6238951" cy="3119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56631" y="1929384"/>
            <a:ext cx="6238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0951" y="2203703"/>
            <a:ext cx="5690311" cy="26622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6928317" y="3333147"/>
            <a:ext cx="623895" cy="53031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50444" y="3925848"/>
            <a:ext cx="748674" cy="499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33849" y="2178942"/>
            <a:ext cx="499116" cy="106062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5964" y="298676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545439" y="36730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172870" y="2425263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25917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16 characteristics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item is proximity to a price barrier?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10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14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three characteristics do Figure 7.13's marks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8, 10, and 14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1, 2, and 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5, 7, and 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13, 15, and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29511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1" y="1325880"/>
            <a:ext cx="5415991" cy="271342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9591" y="1325880"/>
            <a:ext cx="5415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1" y="1600200"/>
            <a:ext cx="4867351" cy="2256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8" name="Oval 17"/>
          <p:cNvSpPr/>
          <p:nvPr/>
        </p:nvSpPr>
        <p:spPr>
          <a:xfrm>
            <a:off x="7504389" y="2546920"/>
            <a:ext cx="541599" cy="46128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2546" y="3062470"/>
            <a:ext cx="649918" cy="43414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56428" y="1542953"/>
            <a:ext cx="433279" cy="92256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1413" y="222896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759409" y="282591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567891" y="1740548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4249614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8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16 characteristics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item is proximity to a price barrier?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9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Characteristic 9 is proximity to a price barrier.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466344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three characteristics do Figure 7.13's marks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11480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8, 10, and 14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reads characteristic 8, fewer oscillations in 10, and overextension against a barrier in 14.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289785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1" y="1325880"/>
            <a:ext cx="5415991" cy="2660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9591" y="1325880"/>
            <a:ext cx="5415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1" y="1600200"/>
            <a:ext cx="4867351" cy="220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8" name="Oval 17"/>
          <p:cNvSpPr/>
          <p:nvPr/>
        </p:nvSpPr>
        <p:spPr>
          <a:xfrm>
            <a:off x="7504389" y="2522931"/>
            <a:ext cx="541599" cy="4522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2546" y="3028352"/>
            <a:ext cx="649918" cy="42561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56428" y="1538689"/>
            <a:ext cx="433279" cy="904438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1413" y="220870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759409" y="2793932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567891" y="172988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4196305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16 characteristics point to a potential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Item 9 is proximity to a price barrier, one of the most important reversal characteristics.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7.13's marks read characteristics 8, 10, and 14: angular change and momentum, fewer oscillations, and overextension against a barrier.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these are strong indications of a potential trend change or retracement,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Part 3 now applies the context to named reversal bars.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9654" y="2133222"/>
            <a:ext cx="407676" cy="86631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721510" y="2310963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Let us read the first dedicated bearish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We are matching the book's drawing to the generic bearish test: 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points to the final close,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to the opening relationship,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to the large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 crop has no volume panel; the course chart adds invented volume only to illustrate Lim's surrounding comment.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743389" y="3755257"/>
            <a:ext cx="535472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743389" y="2631643"/>
            <a:ext cx="535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475652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9052468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25018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RG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Let us read the first dedicated bearish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book's wording is generally and potentially: context changes reliability.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Next we compare the bullish converse.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7.4, form 1: the key reversal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opening above the previous high. Blue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Lim calls this generally bearish and potentially more reliable when context supports it. The book drawing has no volume panel; the course chart supplies the invented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Next we compare the second bearish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7839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9727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9727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7159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0340" y="2280513"/>
            <a:ext cx="591915" cy="161519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238414" y="3614806"/>
            <a:ext cx="37384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238414" y="2561417"/>
            <a:ext cx="0" cy="133429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677971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50268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50268" y="24059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read the dedicated bullish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76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matching the bullish converse to its book drawing: the formation closes above the prior close or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our course chart,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points to the final close,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to the opening relationship,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to the large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743389" y="2631643"/>
            <a:ext cx="53547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9743389" y="3614806"/>
            <a:ext cx="535472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475652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658886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25018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25018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RH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read the dedicated bullish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77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book crop has no volume panel; the course chart adds invented volume only to illustrate Lim's surrounding comment.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bullish pattern in a downtrend is a potential reversal; the same bias in an uptrend is continuation.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7.5, form 1: the bullish key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78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opening below the previous low.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bullish reading is potential and context-dependent; its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we compare the second bullish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1701" y="1810512"/>
            <a:ext cx="16488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70573" y="1929384"/>
            <a:ext cx="141106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70573" y="1929384"/>
            <a:ext cx="141106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44893" y="2203703"/>
            <a:ext cx="86242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bullish single-bar formation: a large bar opens below the previous low and closes near or above the previous close.</a:t>
            </a:r>
          </a:p>
        </p:txBody>
      </p:sp>
      <p:sp>
        <p:nvSpPr>
          <p:cNvPr id="12" name="Oval 11"/>
          <p:cNvSpPr/>
          <p:nvPr/>
        </p:nvSpPr>
        <p:spPr>
          <a:xfrm>
            <a:off x="8119664" y="4387291"/>
            <a:ext cx="423320" cy="6320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345435" y="3755257"/>
            <a:ext cx="22577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345435" y="3965935"/>
            <a:ext cx="0" cy="129918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738445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28644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28644" y="500432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multiple-bearish figure shows the final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79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reading the multiple-bearish family from left to right: a high first close, narrow intermediate bars, and a final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intermediate sequence,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bearish 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64421" y="3123224"/>
            <a:ext cx="401604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35366" y="2631643"/>
            <a:ext cx="1874154" cy="126406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278861" y="4352178"/>
            <a:ext cx="40160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5973500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46050" y="21952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26622" y="388071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QR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multiple-bearish figure shows the final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80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book crop has no volume panel; the course chart adds invented volume only to illustrate Lim's surrounding comment.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final bar remains the potential decision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7.10: multiple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81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intermediate sequence,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crop has no volume panel. Lim's volume exception belongs to the surrounding explanation, not this mark.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multiple family reverses this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20136" y="1810512"/>
            <a:ext cx="251194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39008" y="1929384"/>
            <a:ext cx="227419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39008" y="1929384"/>
            <a:ext cx="227419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3328" y="2203703"/>
            <a:ext cx="172555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multiple bearish formation: a high first close followed by narrow bars and a final close near its low.</a:t>
            </a:r>
          </a:p>
        </p:txBody>
      </p:sp>
      <p:sp>
        <p:nvSpPr>
          <p:cNvPr id="12" name="Oval 11"/>
          <p:cNvSpPr/>
          <p:nvPr/>
        </p:nvSpPr>
        <p:spPr>
          <a:xfrm>
            <a:off x="7721268" y="2210287"/>
            <a:ext cx="1137098" cy="147474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48687" y="2491191"/>
            <a:ext cx="682259" cy="91293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676430" y="2701869"/>
            <a:ext cx="0" cy="1053388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292916" y="198461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793886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839370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7.10 - Lim, The Handbook of Technical Analysis (Wiley, 2016)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multiple-bullish figure reverses that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82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reading the multiple-bullish family as the directional converse of Figure 7.10.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narrow middle sequence,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close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9131" y="1810512"/>
            <a:ext cx="693115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03" y="1929384"/>
            <a:ext cx="669340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64421" y="3860596"/>
            <a:ext cx="401604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35366" y="3263676"/>
            <a:ext cx="1874154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278861" y="2807208"/>
            <a:ext cx="40160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5973500" y="42318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46050" y="28975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26622" y="23357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multiple-bullish figure reverses that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83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reading: The book crop has no volume panel; the course chart adds invented volume only to illustrate Lim's surrounding comment.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figure supplies a potential reading, not a complete trade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7.11: multiple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84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narrow middle sequence,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close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crop has no volume panel, so its marks do not claim the pattern 2 volume exception.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finish by reading the warning context in Figure 7.13.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9270" y="1810512"/>
            <a:ext cx="167367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58142" y="1929384"/>
            <a:ext cx="1435930" cy="351129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8142" y="1929384"/>
            <a:ext cx="143593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32462" y="2203703"/>
            <a:ext cx="887290" cy="3054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the first multiple bullish formation: a low first close followed by narrow bars and a final close near its high.</a:t>
            </a:r>
          </a:p>
        </p:txBody>
      </p:sp>
      <p:sp>
        <p:nvSpPr>
          <p:cNvPr id="12" name="Oval 11"/>
          <p:cNvSpPr/>
          <p:nvPr/>
        </p:nvSpPr>
        <p:spPr>
          <a:xfrm>
            <a:off x="7774046" y="4106387"/>
            <a:ext cx="890277" cy="126406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3795" y="4387291"/>
            <a:ext cx="459497" cy="98316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578168" y="4457517"/>
            <a:ext cx="0" cy="912937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532443" y="374026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95031" y="40913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95031" y="514478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7.11 -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7.11 - Lim, The Handbook of Technical Analysis (Wiley, 2016)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warning chart keeps the context visible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85 of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checking the same three context clues in the book figure: 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changing angular momentum,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fewer oscillations,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overextension at the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crop has no separate volume panel, so this marked reading does not claim high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Bollinger Bands are named but not defined in Chapter 7, so no formula is imported.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Barrier proximity is the next reliability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9654" y="2133222"/>
            <a:ext cx="407676" cy="86631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721510" y="2310963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Read the prior high and close first.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1. Open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2. New high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3. Close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4. Volume 4.2m versus 2.0m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bearish key reversal, a potential warning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42245" y="2811765"/>
            <a:ext cx="325663" cy="15213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2477069"/>
            <a:ext cx="325663" cy="15213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42245" y="3511585"/>
            <a:ext cx="325663" cy="1521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42245" y="4302686"/>
            <a:ext cx="390796" cy="18256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05204" y="28084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0449982" y="23216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33522" y="36604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38064" y="4460652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89170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25746"/>
            <a:ext cx="610819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41441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810512"/>
            <a:ext cx="3916374" cy="24207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1" y="1929384"/>
            <a:ext cx="3678631" cy="2183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1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203703"/>
            <a:ext cx="3129990" cy="172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9143583" y="3130055"/>
            <a:ext cx="257504" cy="50209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3583" y="3435681"/>
            <a:ext cx="257504" cy="371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06797" y="3632154"/>
            <a:ext cx="349469" cy="4584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85811" y="2974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749024" y="36513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712238" y="391331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322735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675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6990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8877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8877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309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54524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6933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1752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4524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5394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01040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05859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356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650991"/>
            <a:ext cx="36420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key-reversal check, compare two one-bar warnings: exhaustion has no following gap; pin falsely penetrates a barrier.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 O65.40 &gt; prior high65.00; H66.20; next O60.20 means no gap. Pin support40.00; low38.80; C40.60; return.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a tiring trend; pin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7391095" cy="35794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7153351" cy="334171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26322" y="2681269"/>
            <a:ext cx="143067" cy="13366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6322" y="2497474"/>
            <a:ext cx="143067" cy="1336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6322" y="3834159"/>
            <a:ext cx="178833" cy="20050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6805156" y="3867576"/>
            <a:ext cx="715335" cy="66834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131464" y="3934410"/>
            <a:ext cx="250367" cy="2339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31464" y="3165817"/>
            <a:ext cx="250367" cy="20050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0122" y="2349757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976990" y="2316340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6905457" y="405403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763859" y="3653025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9766797" y="4254533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10696733" y="3084934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79" y="5481407"/>
            <a:ext cx="7391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9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9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10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10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557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571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94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7033"/>
            <a:ext cx="45720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47033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2991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61078"/>
            <a:ext cx="40233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consolidation can come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a rapid decline may not follow. The market can hover near the key bar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falling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the key bar closes PHP 50.80, then prices hover at PHP 50.60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declining to PHP 48.90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treat the bar as a potential warning; wait for the surrounding context rather than assuming timing.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wide bar may make follow-through more reliable, but width does not guarantee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199" y="1810512"/>
            <a:ext cx="4099255" cy="32927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4071" y="1929384"/>
            <a:ext cx="3861511" cy="30550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861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03703"/>
            <a:ext cx="3312871" cy="2597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the later consolidation and decline.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212" y="2357091"/>
            <a:ext cx="424766" cy="45825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44054" y="2418192"/>
            <a:ext cx="424766" cy="7943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5120" y="210687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33879" y="317614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5194751"/>
            <a:ext cx="4099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219, Figure 7.15. The PHP path is ours, invented to show consolidation.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the bullish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downtrend, the converse makes a new low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then closes near or above the previous close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the prior low is PHP 42.00 and close PHP 41.00; the new low is PHP 40.50, then the close is PHP 43.20 on 4.0 million shares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Figure 7.14 observes a rapid rebound after a high-volume bullish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0109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direction changes, but the reading still uses the new extreme and the prior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71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342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77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8501675" y="3488197"/>
            <a:ext cx="334313" cy="6518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1675" y="3884986"/>
            <a:ext cx="334313" cy="48181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3915" y="4140065"/>
            <a:ext cx="453711" cy="59518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551" y="333274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035792" y="421135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7988033" y="455145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7390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PHP values are ours, invented.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7.16: context can strengthen the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key reversal is below the lower Bollinger band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with StochRSI oversold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closes near its high and has extreme volume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which Lim calls indicative of a selling climax (p. 220).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gives no formulas here. These labels are context, not a promise of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61081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Use the labels as context, not as a promise of a reversal.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8480" y="1810512"/>
            <a:ext cx="38755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7352" y="1929384"/>
            <a:ext cx="36378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7352" y="1929384"/>
            <a:ext cx="36378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1672" y="2203703"/>
            <a:ext cx="30891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bullish key reversal below the lower volatility band, an oversold StochRSI label, and high volume under the reversal bar.</a:t>
            </a:r>
          </a:p>
        </p:txBody>
      </p:sp>
      <p:sp>
        <p:nvSpPr>
          <p:cNvPr id="14" name="Oval 13"/>
          <p:cNvSpPr/>
          <p:nvPr/>
        </p:nvSpPr>
        <p:spPr>
          <a:xfrm>
            <a:off x="9092484" y="3439241"/>
            <a:ext cx="472917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37997" y="4387291"/>
            <a:ext cx="363782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347132" y="3439241"/>
            <a:ext cx="72757" cy="161519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8737054" y="333719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737054" y="435547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810313" y="3566159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650991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7.16. Bollinger Bands and StochRSI are shown by the book but not defined here.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Two-day reversal: read the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close near high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second near low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51.80, then PHP 49.60; the second range is wider.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potential bearish reversal,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32335" y="2781338"/>
            <a:ext cx="455928" cy="24341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3633293"/>
            <a:ext cx="521061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41044" y="2667038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9970068" y="339728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RA - FIN1209 teaching chart, drawn for this course. Illustrative data, not a real instrument.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220. Chart RA is ours, with invented PHP bars and volume.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7.17: the book adds CCI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212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first close near its high; mark 2 is the second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says wider ranges would be preferable and labels bearish CCI divergence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CCI is not defined in Chapter 7. Treat the label as the book's supporting observation, not as a formula to calculate.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9194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close sequence is the pattern; CCI is context shown by the figure.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95168" y="1810512"/>
            <a:ext cx="453347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4040" y="1929384"/>
            <a:ext cx="429573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14040" y="1929384"/>
            <a:ext cx="429573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8360" y="2203703"/>
            <a:ext cx="374709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the first bar closes near its high, the second near its low, and the lower panel labels bearish CCI divergence.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990779" y="2631643"/>
            <a:ext cx="343658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7395" y="2561417"/>
            <a:ext cx="343658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18248" y="4387291"/>
            <a:ext cx="988018" cy="73737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9960" y="235403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927553" y="242425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583894" y="45310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650991"/>
            <a:ext cx="51050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7.17 -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7.17. The CCI label is reproduced as the book's observation, not taught as a formula.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Bullish three-bar reversal: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volume: strong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quiet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strong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4.0m, 0.6m, then 4.2m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a quiet middle shows uncertainty,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06671" y="4211405"/>
            <a:ext cx="455928" cy="27384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34989" y="4211405"/>
            <a:ext cx="455928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28439" y="4211405"/>
            <a:ext cx="455928" cy="27384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30161" y="344741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53877" y="390382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390382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221 to 223. Chart RB is ours, with invented PHP bars and volume.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7.18: the bearish three-bar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760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clear, strong uptrend, mark 1 is the first bar, mark 2 the middle bar, and mark 3 the third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closes near its high and the third near its low. The figure also labels bearish +DM divergence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read the three bars with trend and volume context; the later decline is not guaranteed.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4681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first and third bars carry the outer close reading; the middle bar separates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999" y="1810512"/>
            <a:ext cx="4556455" cy="3322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1" y="1929384"/>
            <a:ext cx="4318711" cy="3084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76871" y="1929384"/>
            <a:ext cx="43187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1" y="2203703"/>
            <a:ext cx="3770071" cy="2627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847" y="2299559"/>
            <a:ext cx="215935" cy="67865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56782" y="2330407"/>
            <a:ext cx="215935" cy="67865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9352163" y="2669734"/>
            <a:ext cx="950116" cy="160409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396895" y="210984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303824" y="210984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701652" y="350714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999" y="5224489"/>
            <a:ext cx="4556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7.18. +DM is shown as a book label and is not defined in this chapter.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7.19: the volume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bottom reversal has high-volume outer columns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with a below-average middle column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This is the same uncertainty-between-strengthers reading shown in the invented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Volume supports the potential reversal. Lim does not say it guarantees follow-through.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Keep the quiet middle bar between the stronger outer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34364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31987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2741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three-bar bottom reversal with high-volume outer bars and a below-average-volume middle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53137" y="4392396"/>
            <a:ext cx="229651" cy="4478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82788" y="4456371"/>
            <a:ext cx="183721" cy="415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66509" y="4392396"/>
            <a:ext cx="229651" cy="4478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63255" y="411816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35931" y="418213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57443" y="411816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338414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7.19 -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7.19. Volume labels are the book's observations.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7.20:
oversold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three-bar bullish reversal. The full pattern occurs at an oversold StochRSI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close sits between the Bollinger bands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which Lim calls bullish.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links this example to pattern 5 in Figure 7.9. It gives no indicator formula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pattern is read first; the indicator labels add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0105" y="1810512"/>
            <a:ext cx="459792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18977" y="1929384"/>
            <a:ext cx="436018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8977" y="1929384"/>
            <a:ext cx="436018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93297" y="2203703"/>
            <a:ext cx="381154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the three-bar reversal, an oversold StochRSI label, and the final close between the two volatility bands.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2244" y="3263676"/>
            <a:ext cx="610425" cy="87782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0253" y="4562856"/>
            <a:ext cx="566823" cy="59692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3854" y="3404128"/>
            <a:ext cx="392416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9871" y="30562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59536" y="474171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219865" y="3100547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650991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7.20 -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7.20. StochRSI and Bollinger Bands are shown but not defined in Chapter 7.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7.21: a separate outside day follows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06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reversal is marked 1. Its large third bar near its high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adds bullishness.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Later, the outside day engulfs four preceding bars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closes near its low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Keep the two formations separate: the later outside day is a new event and can reverse the preceding move.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1383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Below-average middle volume and high-volume outer bars are the three-bar clue; the outside day is separate.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19" y="1810512"/>
            <a:ext cx="4510735" cy="33006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22591" y="1929384"/>
            <a:ext cx="4272991" cy="30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2259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1" y="2203703"/>
            <a:ext cx="3724351" cy="26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Newmont Mining daily chart: a three-bar bottom reversal, then a separate outside day engulfing four preceding bars, with high volume under the outside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18138" y="3185189"/>
            <a:ext cx="640948" cy="82699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9978" y="3154560"/>
            <a:ext cx="299109" cy="52069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42766" y="2541972"/>
            <a:ext cx="299109" cy="2450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47" y="2235678"/>
            <a:ext cx="470029" cy="918882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24599" y="29561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201991" y="284276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450302" y="2361841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21169" y="3136720"/>
            <a:ext cx="219456" cy="21945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19" y="5202636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7.21. The outside day and volume are the book's observations.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7.22:
the pattern 6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1 is the first-bar volume. Mark 2 is the large middle-bar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3 is the middle-bar volume, lower than the first. Lim links this arrangement to pattern 6 in Figure 7.9.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link recalls the generic pattern; it does not add a new trading rule 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28523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A large price bar can still carry lower volume than the first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19" y="1810512"/>
            <a:ext cx="4739335" cy="3424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93991" y="1929384"/>
            <a:ext cx="4501591" cy="31869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1" y="1929384"/>
            <a:ext cx="45015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1" y="2203703"/>
            <a:ext cx="3952951" cy="27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a bullish three-bar reversal whose large middle bar has lower volume than the first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99771" y="4383348"/>
            <a:ext cx="270095" cy="4780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4819" y="3459128"/>
            <a:ext cx="315111" cy="73300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24851" y="4383348"/>
            <a:ext cx="270095" cy="4780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15376" y="410970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46994" y="317176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40773" y="410970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19" y="5326663"/>
            <a:ext cx="4739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223, Figure 7.22. The reference to pattern 6 is Lim's cross-reference.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Both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First near high, third near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First near low, third near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at the exact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253492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846320" cy="13511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highest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new all-time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No price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Below-average volume between stronger outer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First near high, third near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First near high; third near low (Lim, p. 221).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7438"/>
            <a:ext cx="5303520" cy="27470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7438"/>
            <a:ext cx="91440" cy="274701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60318"/>
            <a:ext cx="475488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75488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Below-average volume between stronger outer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below-average-volume middle bar between high-volume outer bars (pp. 221 to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Island reversal: two gaps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gap up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isolated bars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then gap down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50.00 to 50.80, then PHP 49.40.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two gaps isolate a potential reversal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27733" y="2537923"/>
            <a:ext cx="586194" cy="3042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48794" y="2598777"/>
            <a:ext cx="2475042" cy="912808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33041" y="2537923"/>
            <a:ext cx="651327" cy="30426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6621" y="223034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798655" y="34169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223034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Chart RC is ours, with invented PHP bars and volume; gap meaning points to Chapter 3.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7.23: the book's island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Gap keeps Chapter 3 meaning in ‘Gaps’. Mark 1 is the gap up, mark 2 the island, and mark 3 the gap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observes low volume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an overbought stochastic label </a:t>
            </a:r>
            <a:r>
              <a:rPr sz="1700" b="1" i="0">
                <a:solidFill>
                  <a:srgbClr val="007A33"/>
                </a:solidFill>
                <a:latin typeface="Arial"/>
              </a:rPr>
              <a:t>(5)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calling low volume lack of conviction.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stochastic method is given in Chapter 7. These labels are context; the island is a potential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5595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two gaps do the defining work; volume and stochastic are supporting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6976" y="1810512"/>
            <a:ext cx="408994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55848" y="1929384"/>
            <a:ext cx="385219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55848" y="1929384"/>
            <a:ext cx="38521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0168" y="2203703"/>
            <a:ext cx="330355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4" name="Oval 13"/>
          <p:cNvSpPr/>
          <p:nvPr/>
        </p:nvSpPr>
        <p:spPr>
          <a:xfrm>
            <a:off x="8912293" y="2912546"/>
            <a:ext cx="269653" cy="52669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4903" y="2491191"/>
            <a:ext cx="462263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44211" y="2947659"/>
            <a:ext cx="308175" cy="5266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1161" y="4317065"/>
            <a:ext cx="731917" cy="456468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3425" y="4843759"/>
            <a:ext cx="385219" cy="456468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57717" y="2613538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9674855" y="2192182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10060075" y="2613538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8297207" y="476457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Oval 22"/>
          <p:cNvSpPr/>
          <p:nvPr/>
        </p:nvSpPr>
        <p:spPr>
          <a:xfrm>
            <a:off x="9683999" y="5150815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650991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7.23. Gap meaning points back to Chapter 3; stochastic is shown but not defined here.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resistance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Very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 first, high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Wide and high-volume first, narrow and very-low-volume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021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0215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island is isolated by a gap up and a later gap down (Lim, p. 223).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92043"/>
            <a:ext cx="5029200" cy="2761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92043"/>
            <a:ext cx="91440" cy="2761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7492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899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Wide and high-volume first, narrow and very-low-volume second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bar should be wide on high volume and the second narrow on very low volume (Lim, 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12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Outside bar: containment and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turn from key reversals to containment: an outside bar engulfs preceding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prior 48.00 to 52.00; outside 47.00 to 53.00; close 47.50 near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Larger range and more contained bars generally strengthen; near-edge close and high volume add reliability (pp. 223 to 224).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Continuation is possible when the close follows the existing trend (p. 223).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Trendline break plus bearish outside bar can support a short.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The worked PHP values are ours, invented.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Outside bar: an invented containment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19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71665" y="2561417"/>
            <a:ext cx="1052291" cy="154497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22647" y="2561417"/>
            <a:ext cx="676473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647" y="3860596"/>
            <a:ext cx="676473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40399" y="223040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7894655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7969818" y="433718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SA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SA is ours, with invented PHP bars and million-share volume.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7.24: the outside bar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 defines it: “Outside bars are bars that engulf one or more preceding bars.” (Lim, p. 223).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11 bars contained inside the outside range.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outside bar's high-to-low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close near the low. Meaning/action: a bearish outside bar can support a short entry.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46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0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51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650" y="2170077"/>
            <a:ext cx="950857" cy="102294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993507" y="2170077"/>
            <a:ext cx="0" cy="1022946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8743282" y="2952329"/>
            <a:ext cx="300270" cy="21060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6932" y="19544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38330" y="24358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38330" y="31579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4836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7.24: the outside bar's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same figure keeps the context visible: the marked outside bar contains 11 preceding bars.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those contained bars.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trendline violation at the outside-bar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bearish close near the low. Meaning/action: use the break and close together, not either mark alone.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46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0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51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650" y="2170077"/>
            <a:ext cx="950857" cy="102294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93417" y="2681550"/>
            <a:ext cx="300270" cy="42121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93417" y="3012503"/>
            <a:ext cx="300270" cy="24069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6932" y="19544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38330" y="24358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88375" y="31880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4836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outside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must a bearish outside bar's range contain?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Only the current bar's body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One or more prior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on both sides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volume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close is more reliable for a bearish outside-bar reading?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close near the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close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close near the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close does not matter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738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36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78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932" y="1568772"/>
            <a:ext cx="959543" cy="103229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72476" y="1568772"/>
            <a:ext cx="0" cy="103229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8719965" y="2358171"/>
            <a:ext cx="303013" cy="2125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54470" y="135260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0042" y="183838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25670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7234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13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outside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must a bearish outside bar's range contain?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906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One or more prior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 engulfs preceding bars (Lim, p. 223).
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158363"/>
            <a:ext cx="50292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8363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4124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close is more reliable for a bearish outside-bar reading?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4805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close near the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closes near the low are generally more reliable for the bearish reading (p.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738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36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78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932" y="1568772"/>
            <a:ext cx="959543" cy="103229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72476" y="1568772"/>
            <a:ext cx="0" cy="103229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8719965" y="2358171"/>
            <a:ext cx="303013" cy="2125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54470" y="135260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0042" y="183838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25670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7234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bar: quiet containment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keep the containment idea and reverse it: an inside bar stays within the preceding bar's high and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first range 48.00 to 53.00 on 4.5m; second range 49.20 to 52.50 on 0.5m.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Reliable case: wide, high-volume first bar; narrow, very-low-volume second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same resistance is tested in the next figure, then lower bars add exhaustion context.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Inside means containment. It is not Harami.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224. The worked PHP values are ours, invented.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bar: an invented quiet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23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968392" y="2561417"/>
            <a:ext cx="1578437" cy="203655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647" y="3017885"/>
            <a:ext cx="826800" cy="115872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442246" y="2631643"/>
            <a:ext cx="3683020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4211634" y="223040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7969818" y="275709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195309" y="22655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SB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SB is ours, with invented PHP bars and million-share volume.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7.25: inside bars at resistance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inside bars are considered reversal bars. The first should be wide on high volume; the second narrow on very low volume (p. 224).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 the two inside-bar reversals testing one resistance level.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bearish StochRSI divergence. Meaning/action: repeated failure at resistance warns of a possible reversal; no oscillator formula is taught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9022979" y="2473185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77499" y="2442974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78504" y="4195224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14014" y="219689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78581" y="2227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31093" y="44325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16081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7.25: volume and resistance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two tests again, this time with the book's volume condition.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are the two inside-bar reversals at one resistance.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figure's bearish StochRSI divergence.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prefer the wide, high-volume first bar and narrow, very-low-volume second bar, but keep the oscillator reading contextual.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9022979" y="2473185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77499" y="2442974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78504" y="4195224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14014" y="219689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78581" y="2227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31093" y="44325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16081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ideal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bar should be wide in an ideal inside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first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second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Neither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volume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bar should have very low volume?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first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second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resistance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14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ideal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bar should be wide in an ideal inside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first bar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first bar should be wide (p. 224).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0292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bar should have very low volume?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second bar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second bar should be narrow on very low volume (p.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14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7.26: lower inside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three successively lower inside bars below the lower band.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band context.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later bearish outside bar. Lim says the exhaustion reading is stronger when declines also show bearish volume (p. 225).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lower inside bars can warn of exhaustion, but the book leaves the volume judgement contextual.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710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3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76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Wheaton daily chart. Three successively lower inside bars form below the lower band, followed by a bearish outside 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6951" y="3470388"/>
            <a:ext cx="707032" cy="60300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012932" y="3671389"/>
            <a:ext cx="1161553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134029" y="2353718"/>
            <a:ext cx="454520" cy="33500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07987" y="3225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604973" y="36276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635111" y="217593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7303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7.26 -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7.26.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7.27: three reversal families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an inside-bar reversal;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 outside-bar reversal;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 three-bar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inside range 6.0 points; outside bar contains four bars; outer volumes 4.0m and 4.2m.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slide names the three price-bar families; the indicator panels are outside this slide's scope.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3339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3102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64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2" name="Oval 11"/>
          <p:cNvSpPr/>
          <p:nvPr/>
        </p:nvSpPr>
        <p:spPr>
          <a:xfrm>
            <a:off x="7422660" y="2425729"/>
            <a:ext cx="356716" cy="40328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66797" y="2704924"/>
            <a:ext cx="356716" cy="40328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3364" y="3542507"/>
            <a:ext cx="356716" cy="4963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63374" y="21772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273823" y="245641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458471" y="39764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5241856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226, Figure 7.27.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 versus Harami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describe a smaller formation inside a larger one, but the book keeps their rules separate.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if the preceding candlestick range is 6.0 points, a Harami's narrow range is at most 1.5 to 2.0 points, one-fourth to one-third.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 inside bar has no such one-fourth to one-third restriction (Lim, p. 226).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do not rename every inside bar as Harami; check the internal proportion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names are related, not interchangeable.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226. The 6.0-point example is ours, invented.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15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reversal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Is every inside bar a Harami?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No; Harami has a stricter one-fourth to one-third proportion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Yes; the terms are identical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on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below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proportion does the book give for a Harami body?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One-half to two-thirds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One-fourth to one-third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One to two 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proportion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312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7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61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8" name="Oval 17"/>
          <p:cNvSpPr/>
          <p:nvPr/>
        </p:nvSpPr>
        <p:spPr>
          <a:xfrm>
            <a:off x="7457407" y="1817772"/>
            <a:ext cx="353516" cy="39966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0513" y="2094462"/>
            <a:ext cx="353516" cy="3996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3481" y="2924530"/>
            <a:ext cx="353516" cy="49189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99950" y="157009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81595" y="184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335320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610520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15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reversal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51333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133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Is every inside bar a Harami?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899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No; Harami has a stricter one-fourth to one-third proportion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keeps inside bar and Harami rules separate; Harami has the stricter proportion (p. 226).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03218"/>
            <a:ext cx="502920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0321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8609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proportion does the book give for a Harami body?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65548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One-fourth to one-third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gives one-fourth to one-third of the preceding candlestick range (p. 226).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312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7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61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8" name="Oval 17"/>
          <p:cNvSpPr/>
          <p:nvPr/>
        </p:nvSpPr>
        <p:spPr>
          <a:xfrm>
            <a:off x="7457407" y="1817772"/>
            <a:ext cx="353516" cy="39966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0513" y="2094462"/>
            <a:ext cx="353516" cy="3996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3481" y="2924530"/>
            <a:ext cx="353516" cy="49189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99950" y="157009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81595" y="184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335320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610520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15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16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resistance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Very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 first, high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Wide and high-volume first, narrow and very-low-volume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16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021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0215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island is isolated by a gap up and a later gap down (Lim, p. 223).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92043"/>
            <a:ext cx="5029200" cy="2761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92043"/>
            <a:ext cx="91440" cy="2761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7492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899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Wide and high-volume first, narrow and very-low-volume second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bar should be wide on high volume and the second narrow on very low volume (Lim, 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bar: plain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move from containment to a bar that can exhaust a 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an uptrend, it opens above the previous high, is larger in context, and closes near its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There is no gap between the exhaustion bar and the subsequent bar (Lim, p. 226).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read the larger bar, trend context, close, and next-bar gap together; the pattern is a reversal warning,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bullish exhaustion bar is the converse in a downtrend.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226. The transition wording is ours.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bar: worked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Ours, invented: prior high 65.00; exhaustion O 65.40, H 66.20, L 60.00, C 60.50.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65.40 is above 65.00; the 6.20-point range is large in this uptrend; 60.50 is near low 60.00.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O 60.20 lies inside 60.00 to 66.20, so there is no following gap. Meaning/action: all four observations support the reading; now read Figure 7.28.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Numbers first: compare each value with the named level.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228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2044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1587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4" name="Oval 13"/>
          <p:cNvSpPr/>
          <p:nvPr/>
        </p:nvSpPr>
        <p:spPr>
          <a:xfrm>
            <a:off x="8999067" y="2992398"/>
            <a:ext cx="275581" cy="183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6858" y="3053726"/>
            <a:ext cx="275581" cy="327081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9504300" y="2747087"/>
            <a:ext cx="780816" cy="858589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8659898" y="2796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86643" y="28369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13389" y="25098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418395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The worked PHP values are ours, invented to show Lim's p. 226 rule.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7.28: bullish exhaustion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bullish exhaustion case is in a downtrend. 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gap before the bar,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exhaustion bar,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later rebound.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support PHP 40.00; low PHP 39.60 and close PHP 41.20. The bar closes near its high, the bullish converse.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the larger bar matters in trend context. The prior gap is visible, but the rule concerns no gap after the exhaustion 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50584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26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1810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2" name="Oval 11"/>
          <p:cNvSpPr/>
          <p:nvPr/>
        </p:nvSpPr>
        <p:spPr>
          <a:xfrm>
            <a:off x="8747607" y="3108794"/>
            <a:ext cx="305757" cy="2041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00486" y="3176837"/>
            <a:ext cx="305757" cy="36289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8162" y="2836623"/>
            <a:ext cx="866311" cy="952601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388321" y="290798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305592" y="295334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22863" y="259045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407794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226, Figure 7.28.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17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exhaustion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the next bar help distinguish in an exhaustion reading?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Whether the next bar gaps away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Whether volume is absent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Whether resistance is horizontal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Whether the bar is an inside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Where is the bullish exhaustion converse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the top of a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Only in a flat market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above resistance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the bottom of a downtrend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1974" y="2562141"/>
            <a:ext cx="303013" cy="35963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9325992" y="2224979"/>
            <a:ext cx="858540" cy="944055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39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19796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17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exhaustion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the next bar help distinguish in an exhaustion reading?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Whether the next bar gaps away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requires no gap between the exhaustion bar and the subsequent bar (p. 226).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502920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Where is the bullish exhaustion converse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the bottom of a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appears in a downtrend at a bottom (p. 226).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1974" y="2562141"/>
            <a:ext cx="303013" cy="35963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9325992" y="2224979"/>
            <a:ext cx="858540" cy="944055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39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19796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17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From exhaustion to emotion spike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Next, the book shifts from exhaustion's next-bar gap test to an emotion spike read by range and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chart uses invented values as context, not as a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Read range and volume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Transition wording is ours; the next chart is invented.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Emotion spike: a wide bar on high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33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20029" y="2420965"/>
            <a:ext cx="901964" cy="147474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0029" y="4457517"/>
            <a:ext cx="901964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97156" y="2912546"/>
            <a:ext cx="2555565" cy="1334292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13599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6992691" y="500432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9247601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SC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SC is ours, with invented PHP bars and million-share volume.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7.29: emotion spike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an emotional market, a price spike is usually wide-ranging and accompanied by high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wide spike;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its high volume;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three-bar bearish reversal at the top (Lim, 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ordinary range 3.0 and volume 1.5 million; spike range 8.0 and volume 6.0 million. Treat it as reversal context, not a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9327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555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9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Mad Catz Interactive daily chart. A wide price spike occurs on high volume and a three-bar bearish reversal forms near the top.</a:t>
            </a:r>
          </a:p>
        </p:txBody>
      </p:sp>
      <p:sp>
        <p:nvSpPr>
          <p:cNvPr id="12" name="Oval 11"/>
          <p:cNvSpPr/>
          <p:nvPr/>
        </p:nvSpPr>
        <p:spPr>
          <a:xfrm>
            <a:off x="8292876" y="2540491"/>
            <a:ext cx="350315" cy="100832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92966" y="4373812"/>
            <a:ext cx="300270" cy="45833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94410" y="2112716"/>
            <a:ext cx="400360" cy="42777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37247" y="229337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788014" y="47072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489548" y="220171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9523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7.29 -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227, Figure 7.29.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Pin bar: a false barrier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add a barrier test: a pin bar penetrates a barrier during the interval, then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support PHP 40.00, low PHP 38.80, close PHP 40.60, volume 0.8m.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Book-named barriers are moving averages, support or resistance, and trendlines. Pin bars usually form on low volume (Lim, p. 227).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breach can fool a trader; wait for the return through the barrier.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false impression separates pin from exhaustion.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227. The worked PHP values are ours, invented.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7.30: pin bar at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“single bar misrepresentations of market strength or weakness.” (p.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support,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intra-period penetration,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close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the breach suggests a potential breakout, but the rapid retrace warns that impression was false. The book says pin bars usually form on low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49370" y="3834600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04895" y="3790293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04895" y="2926299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2415" y="381207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897940" y="387853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554470" y="268223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55063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227, Figure 7.30.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18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pin-bar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a pin bar penetrate during the interval?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volume average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prior close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stochastic formula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barrier such as support or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the rapid retrace imply?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barrier break is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apparent breakout may be false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trend must continue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volume is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49370" y="3231096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04895" y="3186789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04895" y="2322795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2415" y="320857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897940" y="327503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54470" y="20787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51559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18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pin-bar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5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504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a pin bar penetrate during the interval?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 barrier such as support or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pin bar as penetrating a barrier and then retracing (p. 227).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40327"/>
            <a:ext cx="5029200" cy="225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40327"/>
            <a:ext cx="91440" cy="2250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320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the rapid retrace imply?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The apparent breakout may be false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retrace shows that the initial impression of breaking the barrier was false (p. 227).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49370" y="3231096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04895" y="3186789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04895" y="2322795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2415" y="320857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897940" y="327503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54470" y="20787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51559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Transition: compare exhaustion with pin's false-barrier story.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Exhaustion: O65.40 &gt; prior high 65.00; H66.20; C60.50; next O60.20 means no gap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open;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no-gap relationship in Figure 7.28.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 next-bar gap separates the exhaustion bar from its next bar (p. 226); trend may tire.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Next: pin definition, barriers, low-volume tendency, marked return.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10512"/>
            <a:ext cx="4830775" cy="228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2551" y="1929384"/>
            <a:ext cx="4593031" cy="2044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1" y="2203703"/>
            <a:ext cx="4044391" cy="1587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2" name="Oval 11"/>
          <p:cNvSpPr/>
          <p:nvPr/>
        </p:nvSpPr>
        <p:spPr>
          <a:xfrm>
            <a:off x="8999067" y="2992398"/>
            <a:ext cx="275581" cy="183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36858" y="3033283"/>
            <a:ext cx="275581" cy="14309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274649" y="3155939"/>
            <a:ext cx="32151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8659898" y="2796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486643" y="28165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670365" y="31640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18395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The comparison values are ours, invented.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Pin bar: the false barrier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calls a pin bar a “single bar misrepresentations of market strength or weakness” (p.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support 40.00; low 38.80; close 40.60; volume 0.8m.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support;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penetration;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Barriers: moving average, support/resistance, or trendline; low volume is usual. Action: wait for return; penetration can look like a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10512"/>
            <a:ext cx="4830775" cy="225255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2551" y="1929384"/>
            <a:ext cx="4593031" cy="2014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1" y="2203703"/>
            <a:ext cx="4044391" cy="15576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69994" y="3662120"/>
            <a:ext cx="284767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575227" y="3621824"/>
            <a:ext cx="229651" cy="18133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75227" y="2836048"/>
            <a:ext cx="275581" cy="2216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76755" y="362756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281988" y="368800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879082" y="26000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15450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227. The worked PHP values are ours, invented.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19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exhaustion and pin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separates an exhaustion bar from a pin bar?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Exhaustion uses no trend context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pin bar gives a false barrier-penetration impression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pin bar must gap from the next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Exhaustion is always narrow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85082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7652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691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Pin bars usually form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same volume as the prior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volume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39664"/>
            <a:ext cx="303013" cy="1573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73481" y="2674529"/>
            <a:ext cx="35351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1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24061" y="26989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19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exhaustion and pin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separates an exhaustion bar from a pin bar?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A pin bar gives a false barrier-penetration impression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exhaustion bars do not usually provide a false impression of penetrating a barrier, while pin bars do (p. 227).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5029200" cy="17392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73926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Pin bars usually form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02658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Low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pin bars are usually breakouts that form on low volume (p. 227).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39664"/>
            <a:ext cx="303013" cy="1573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73481" y="2674529"/>
            <a:ext cx="35351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1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24061" y="26989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19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From pin bar to false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generalise the pin-bar false-barrier read to support and resistance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chart uses invented values to show both returned directions.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Wait for the return through the barrier.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Transition wording is ours; the next chart is invented.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False breakouts: return through the barrier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40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592573" y="2631643"/>
            <a:ext cx="450982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5594" y="4878872"/>
            <a:ext cx="601309" cy="3862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2573" y="3825483"/>
            <a:ext cx="450982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75594" y="3790370"/>
            <a:ext cx="601309" cy="351129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6798" y="23357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594000" y="51447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5339090" y="359980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9022110" y="3529583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SD - FIN1209 teaching chart, drawn for this course. Illustrative data, not a real instrument.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SD is ours, with invented PHP barriers and closes.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7.31: own course drawing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41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3690609" y="3439241"/>
            <a:ext cx="4810476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6922647" y="2420965"/>
            <a:ext cx="977127" cy="49158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647" y="3579693"/>
            <a:ext cx="977127" cy="4213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922647" y="2631643"/>
            <a:ext cx="977128" cy="0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3084179" y="30380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195309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8345637" y="39860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345637" y="2195291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SE - FIN1209 teaching chart, drawn for this course. Illustrative data, not a real instrument.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SE is ours, with invented PHP values; the book's drawing is shown separately.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7.31: false upside breakout (the book's drawing)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92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 non-failure swing and credits Sperandeo's 2B entry (p. 228).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resistance;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false high;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back below;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stop above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This slide reads Lim's drawing; the source drawing supplies no PHP values.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Action: short after return below resistance; stop just above breakout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3950" y="1810512"/>
            <a:ext cx="44158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2822" y="1929384"/>
            <a:ext cx="41781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12822" y="1929384"/>
            <a:ext cx="41781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87142" y="2203703"/>
            <a:ext cx="36294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Bearish non-failure swing. Price breaks above resistance, returns below it, and creates a short entry with a stop above the breakout high.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05291" y="2280513"/>
            <a:ext cx="221440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824480" y="2034722"/>
            <a:ext cx="292469" cy="3160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6949" y="2280513"/>
            <a:ext cx="250687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740917" y="2034722"/>
            <a:ext cx="626720" cy="0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6791625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543688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462876" y="22655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293000" y="1914387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5650991"/>
            <a:ext cx="5425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7.31 -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228, Figure 7.31.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7.32: both breakout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false upside high,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false downside low,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upper close back below resistance, and purple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lower close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upside barrier PHP 60.00 and downside barrier PHP 40.00; returned closes PHP 59.40 and PHP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short below resistance after a false upside break, or long above support after a false downside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280662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25688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111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2" name="Oval 11"/>
          <p:cNvSpPr/>
          <p:nvPr/>
        </p:nvSpPr>
        <p:spPr>
          <a:xfrm>
            <a:off x="7742380" y="2520227"/>
            <a:ext cx="350315" cy="2825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43462" y="3111070"/>
            <a:ext cx="400360" cy="33395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42560" y="2674360"/>
            <a:ext cx="300270" cy="2055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44545" y="3393647"/>
            <a:ext cx="350315" cy="28257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86751" y="22877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488646" y="346939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287563" y="277580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10589638" y="3135444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4708579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7.32.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20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false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a close below resistance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At the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Above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downside breakout, the bullish entry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Below support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At the false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a close above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830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592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13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8" name="Oval 17"/>
          <p:cNvSpPr/>
          <p:nvPr/>
        </p:nvSpPr>
        <p:spPr>
          <a:xfrm>
            <a:off x="7709918" y="1922121"/>
            <a:ext cx="353516" cy="28515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18362"/>
            <a:ext cx="404018" cy="3370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1928" y="2077662"/>
            <a:ext cx="303013" cy="2073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34029" y="2803520"/>
            <a:ext cx="353516" cy="28515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52461" y="16889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28813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8261503" y="218144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584609" y="2544378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4128544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20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false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At a close below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short is normally initiated when price closes below resistance after the false upside breakout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After a false downside breakout, the bullish entry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a close above support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opposite entry is taken when price closes back above support after the false downside breakout (p. 229).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830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592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13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8" name="Oval 17"/>
          <p:cNvSpPr/>
          <p:nvPr/>
        </p:nvSpPr>
        <p:spPr>
          <a:xfrm>
            <a:off x="7709918" y="1922121"/>
            <a:ext cx="353516" cy="28515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18362"/>
            <a:ext cx="404018" cy="3370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1928" y="2077662"/>
            <a:ext cx="303013" cy="2073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34029" y="2803520"/>
            <a:ext cx="353516" cy="28515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52461" y="16889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28813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8261503" y="218144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584609" y="2544378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4128544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20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Double Repo: the named crossings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use a moving average as the crossing level: a bearish Double Repo closes above and below a three-day SMA twice.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Forward-shifted means plotted three days forward (Lim, p. 229). Ours: SMA 50.00; first pair 50.80 above, 49.60 below.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After 9 bullish days, the second pair is 50.70 above and 49.00 below. Lim requires 8 to 10 days first and a top no more than 8 to 10 bars (p. 229).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second pair gives the sell signal; the complete method is in DiNapoli's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229. The worked PHP values are ours, invented.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Double Repo: two crossings of a three-day SMA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45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148139" y="2912546"/>
            <a:ext cx="450982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99121" y="3614806"/>
            <a:ext cx="450982" cy="4213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24612" y="2912546"/>
            <a:ext cx="676473" cy="112361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92036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8044982" y="395093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46291" y="25464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SF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SF is ours, with invented PHP closes and a three-day SMA.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7.33: Double Repo in the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 the first two closes across the forward-shifted three-day SMA.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later decline.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Lim presents a bearish reversal in an uptrend; the reverse applies in a downtrend.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sends the reader to DiNapoli's original text for detailed and complete discussion.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sp>
        <p:nvSpPr>
          <p:cNvPr id="12" name="Oval 11"/>
          <p:cNvSpPr/>
          <p:nvPr/>
        </p:nvSpPr>
        <p:spPr>
          <a:xfrm>
            <a:off x="8164439" y="2380117"/>
            <a:ext cx="303013" cy="2028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0467" y="2380117"/>
            <a:ext cx="303013" cy="2028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224988" y="2830850"/>
            <a:ext cx="909041" cy="631026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7857484" y="215705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20042" y="215705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80591" y="339657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9336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7.33.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7.33: Double Repo limits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forward-shifted three-day SMA.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required 8 to 10 bullish days before the pattern.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topping formation. The book says it should not exceed 8 to 10 bars (Lim, p. 229).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count both limits before treating the two crossings as the named sell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21974" y="2425190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55398" y="2335043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14942" y="2019530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28079" y="21795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48443" y="20894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20042" y="188661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9336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7.33.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Double Repo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How many crossing pairs generate the named Double Repo sell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pair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Three pairs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Two pairs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pairs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Where does Lim place the complete Double Repo method?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DiNapoli's original 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volume panel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Hikkake figure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21974" y="1821686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55398" y="1731539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4942" y="1416026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079" y="15760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948443" y="148594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128311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9857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21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Double Repo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How many crossing pairs generate the named Double Repo sell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Two pairs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named bearish Double Repo has two closes above and below the forward-shifted SMA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0292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Where does Lim place the complete Double Repo method?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DiNapoli's original text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sends readers to DiNapoli's original text for the detailed method (p. 229).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21974" y="1821686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55398" y="1731539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4942" y="1416026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079" y="15760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948443" y="148594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128311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9857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21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Hikkake: trap, then the opposite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finish this reversal group with Hikkake, an inside-bar breakout that fails; take only the opposite re-entry.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 bearish: inside high 52.00, inside low 49.00, false high 53.00, re-entry below 49.00 within 3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“Trap or ensnare” is the meaning. The bullish converse follows a failed downside break (Lim, p. 230).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Action: wait for the opposite re-entry, never the failed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three-bar window is part of the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230. The worked PHP values are ours, invented.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Hikkake: failed breakout, opposite re-entry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49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089300" y="3052998"/>
            <a:ext cx="751636" cy="154497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91264" y="2456078"/>
            <a:ext cx="601309" cy="66714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298466" y="3965935"/>
            <a:ext cx="676473" cy="842711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2" name="Oval 11"/>
          <p:cNvSpPr/>
          <p:nvPr/>
        </p:nvSpPr>
        <p:spPr>
          <a:xfrm>
            <a:off x="2708361" y="272198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737780" y="22304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6992691" y="42318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SG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SG is ours, with invented PHP levels and entries.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own course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50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40282" y="2807208"/>
            <a:ext cx="977127" cy="16503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7737" y="4071274"/>
            <a:ext cx="601309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94538" y="2877433"/>
            <a:ext cx="601309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73630" y="2807208"/>
            <a:ext cx="901964" cy="16503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50757" y="2420965"/>
            <a:ext cx="601309" cy="52669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0757" y="4071274"/>
            <a:ext cx="601309" cy="56180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3852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5414253" y="465319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015563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6917527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9097274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9022110" y="370514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SH - FIN1209 teaching chart, drawn for this course. Illustrative data, not a real instrument.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SH is ours, with invented PHP values; the book's drawing is shown separately.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bullish Hikkake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inside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failed downside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re-entry above the inside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take only the opposite re-entry, within three bars (Lim, p. 230).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4742" y="1810512"/>
            <a:ext cx="401145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83614" y="1929384"/>
            <a:ext cx="3773706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83614" y="1929384"/>
            <a:ext cx="377370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7934" y="2203703"/>
            <a:ext cx="3225066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bullish schematic: an inside bar, a failed downside breakout, and the opposite re-entry above the inside high.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4778" y="2877433"/>
            <a:ext cx="1207585" cy="150985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9519" y="3790370"/>
            <a:ext cx="377370" cy="66714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638419" y="2807208"/>
            <a:ext cx="490582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7407433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43338" y="44074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62238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65099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bearish Hikkake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inside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failed upside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re-entry below the inside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take only the opposite re-entry, within three bars (Lim, p. 230).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4742" y="1810512"/>
            <a:ext cx="401145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83614" y="1929384"/>
            <a:ext cx="3773706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83614" y="1929384"/>
            <a:ext cx="377370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7934" y="2203703"/>
            <a:ext cx="3225066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0985" y="2877433"/>
            <a:ext cx="905689" cy="150985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42148" y="2877433"/>
            <a:ext cx="905689" cy="7022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921415" y="3755257"/>
            <a:ext cx="1056638" cy="7022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6879114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218812" y="25464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62238" y="45829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65099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7.35: bullish Hikkake at a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Hikkake formation at the channel bottom,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its failed downside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upside re-entry.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low PHP 40.00, false low PHP 39.20, re-entry PHP 41.00.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the re-entry is the signal described by the book; this slide does not interpret the indicator panels.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00055" y="1810512"/>
            <a:ext cx="449510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8927" y="1929384"/>
            <a:ext cx="425736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18927" y="1929384"/>
            <a:ext cx="425736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3247" y="2203703"/>
            <a:ext cx="370872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7018" y="3404128"/>
            <a:ext cx="340588" cy="4915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9886" y="3755257"/>
            <a:ext cx="212868" cy="3862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8832754" y="3263676"/>
            <a:ext cx="255442" cy="702259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038702" y="317845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847601" y="40913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03042" y="29677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565099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Hikkake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8348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26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262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Within how many bars must the opposite Hikkake re-entry occur?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2628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Three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Eight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Ten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98348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26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262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direction is taken after the initial Hikkake failure?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2628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failed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No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opposite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trend direction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4188" y="1207008"/>
            <a:ext cx="522683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3060" y="1325880"/>
            <a:ext cx="498909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3060" y="1325880"/>
            <a:ext cx="49890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7380" y="1600200"/>
            <a:ext cx="444045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9" y="3054096"/>
            <a:ext cx="399127" cy="57607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7934" y="3465576"/>
            <a:ext cx="249454" cy="45262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8847389" y="2889504"/>
            <a:ext cx="299346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7943577" y="28163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891505" y="38862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0850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5650992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22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Hikkake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8348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348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Within how many bars must the opposite Hikkake re-entry occur?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3484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Three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breakout must occur within three bars of the initial failed breakout (p. 230).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498348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4348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direction is taken after the initial Hikkake failure?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43484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The opposite direction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Hikkake takes the opposite re-entry after the inside-bar breakout fails (p. 230).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4188" y="1207008"/>
            <a:ext cx="522683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3060" y="1325880"/>
            <a:ext cx="498909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3060" y="1325880"/>
            <a:ext cx="49890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7380" y="1600200"/>
            <a:ext cx="444045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9" y="3054096"/>
            <a:ext cx="399127" cy="57607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7934" y="3465576"/>
            <a:ext cx="249454" cy="45262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8847389" y="2889504"/>
            <a:ext cx="299346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7943577" y="28163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891505" y="38862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0850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5650992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false breakouts and Hikkake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the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support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a close below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Hikkake opposite re-entry must occur within: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Two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Three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Ten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0439" y="1207008"/>
            <a:ext cx="466005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59311" y="1325880"/>
            <a:ext cx="442231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59311" y="1325880"/>
            <a:ext cx="44223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3631" y="1600200"/>
            <a:ext cx="387367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1542" y="2436876"/>
            <a:ext cx="1061354" cy="176936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51343" y="2436876"/>
            <a:ext cx="1061354" cy="8229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947359" y="3465576"/>
            <a:ext cx="1238248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6580756" y="20756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589" y="207568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428167" y="44622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565099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false breakouts and Hikkake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a close below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short is normally initiated when price closes below resistance after the false upside breakout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 Hikkake opposite re-entry must occur within: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Three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breakout must occur within three bars of the initial failed breakout (p. 230).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1993" y="1207008"/>
            <a:ext cx="483694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0865" y="1325880"/>
            <a:ext cx="459920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0865" y="1325880"/>
            <a:ext cx="459920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5185" y="1600200"/>
            <a:ext cx="405056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30785" y="2436876"/>
            <a:ext cx="1103809" cy="176936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6578" y="2436876"/>
            <a:ext cx="1103809" cy="8229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954435" y="3465576"/>
            <a:ext cx="1287777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6499385" y="20756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50892" y="207568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500693" y="44622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565099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23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019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78146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324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39490" y="2909188"/>
            <a:ext cx="217412" cy="23159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3024983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935910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9984918" y="303924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143036" y="26473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143036" y="271858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921159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65099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58968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08253" y="1810512"/>
            <a:ext cx="357598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7125" y="1929384"/>
            <a:ext cx="333824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7125" y="1929384"/>
            <a:ext cx="333824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1445" y="2203703"/>
            <a:ext cx="278960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7125" y="2069835"/>
            <a:ext cx="1435445" cy="280903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8893" y="3825483"/>
            <a:ext cx="233677" cy="73737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6100" y="3825483"/>
            <a:ext cx="767796" cy="87782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92322" y="49523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058940" y="347764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26883" y="365321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5650991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30951" y="1810512"/>
            <a:ext cx="36792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49823" y="1929384"/>
            <a:ext cx="344148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49823" y="1929384"/>
            <a:ext cx="344148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4143" y="2203703"/>
            <a:ext cx="289284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88759" y="3965935"/>
            <a:ext cx="0" cy="561808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019929" y="3825483"/>
            <a:ext cx="309734" cy="73737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7322" y="3825483"/>
            <a:ext cx="791542" cy="87782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79524" y="354787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30162" y="347764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224949" y="365321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650991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8643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62660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169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8950810" y="2889081"/>
            <a:ext cx="141658" cy="17892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53979" y="3360797"/>
            <a:ext cx="920782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127883" y="2222173"/>
            <a:ext cx="177073" cy="8458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25113" y="299591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433407" y="32887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56333" y="203621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66301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8473" y="1207008"/>
            <a:ext cx="414974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7345" y="1325880"/>
            <a:ext cx="391200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7345" y="1325880"/>
            <a:ext cx="391200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1665" y="1600200"/>
            <a:ext cx="336336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7345" y="1490472"/>
            <a:ext cx="1682162" cy="329183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05666" y="3547872"/>
            <a:ext cx="273840" cy="86410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35987" y="3547872"/>
            <a:ext cx="899761" cy="1028700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37947" y="48920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98827" y="316382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15948" y="336956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650992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24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8143" y="1207008"/>
            <a:ext cx="423040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57015" y="1325880"/>
            <a:ext cx="399266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57015" y="1325880"/>
            <a:ext cx="399266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1335" y="1600200"/>
            <a:ext cx="344402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57015" y="1490472"/>
            <a:ext cx="1716845" cy="329183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94374" y="3547872"/>
            <a:ext cx="279486" cy="86410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33567" y="3547872"/>
            <a:ext cx="918312" cy="1028700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36334" y="48920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96407" y="316382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34500" y="336956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650992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24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3273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3035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2578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0935" y="1990090"/>
            <a:ext cx="968541" cy="9713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34708" y="1990090"/>
            <a:ext cx="609822" cy="9713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7910" y="2931038"/>
            <a:ext cx="322847" cy="9105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42031" y="294564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25804" y="294564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021391" y="270281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517501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164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9271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469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18449"/>
            <a:ext cx="193285" cy="46250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18449"/>
            <a:ext cx="193285" cy="4625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259087"/>
            <a:ext cx="225500" cy="3276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8493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849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5458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4066802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4885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225079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7935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572464"/>
            <a:ext cx="810286" cy="24758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36778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390491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