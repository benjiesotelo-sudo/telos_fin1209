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Lim's 15-minute bar: gold 1 the first open, red 2 the highest high, blue 3 the lowest low, purple 4 the last close.</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the same four marks on Lim's 15-minute bar on the question and answer slides.</a:t>
            </a:r>
          </a:p>
          <a:p>
            <a:r>
              <a:rPr sz="1400"/>
              <a:t>- Both answers come from the rule on the Figure 7.2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the same four marks on Lim's 15-minute bar on the question and answer slides.</a:t>
            </a:r>
          </a:p>
          <a:p>
            <a:r>
              <a:rPr sz="1400"/>
              <a:t>- Both answers come from the rule on the Figure 7.2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Patterns are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second classification. Chapter 4 already taught intrinsic bias; Lim points back to it.</a:t>
            </a:r>
          </a:p>
          <a:p>
            <a:r>
              <a:rPr sz="1400"/>
              <a:t>- Use only the book's own example, the head and shoulders and its inverted form.</a:t>
            </a:r>
          </a:p>
          <a:p>
            <a:r>
              <a:rPr sz="1400"/>
              <a:t>- Stress that the lean belongs to the formation, so moving it to another trend does not change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this rule on p. 212, when he starts the generic reversal patterns; we need it now to read a lean from plain bars.</a:t>
            </a:r>
          </a:p>
          <a:p>
            <a:r>
              <a:rPr sz="1400"/>
              <a:t>- Work the example: the close of 47.50 is below the previous low of 47.90, so the pair leans bearish.</a:t>
            </a:r>
          </a:p>
          <a:p>
            <a:r>
              <a:rPr sz="1400"/>
              <a:t>- Keep his wording: it is a general rule, a clue rather than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keeps the two sentiments apart with numbers: the formation stays the same and only the trend around it changes.</a:t>
            </a:r>
          </a:p>
          <a:p>
            <a:r>
              <a:rPr sz="1400"/>
              <a:t>- Work both cases aloud: bullish and bullish agree, continuation; bullish and bearish disagree, potential reversal.</a:t>
            </a:r>
          </a:p>
          <a:p>
            <a:r>
              <a:rPr sz="1400"/>
              <a:t>- The prices are ours,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the two inputs together: there are only four cases, and Lim names them on p. 211.</a:t>
            </a:r>
          </a:p>
          <a:p>
            <a:r>
              <a:rPr sz="1400"/>
              <a:t>- Read each case as agree or disagree first, then name the result.</a:t>
            </a:r>
          </a:p>
          <a:p>
            <a:r>
              <a:rPr sz="1400"/>
              <a:t>- Keep potential on the reversal cases; Lim considers them reversal patterns, not certainties.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gold 1 the rising closes give bullish trend sentiment; red 2 the last two bars are a double formation.</a:t>
            </a:r>
          </a:p>
          <a:p>
            <a:r>
              <a:rPr sz="1400"/>
              <a:t>- Blue 3: bar 4 closes at 47.50, below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gold 1 the rising closes give bullish trend sentiment; red 2 the last two bars are a double formation.</a:t>
            </a:r>
          </a:p>
          <a:p>
            <a:r>
              <a:rPr sz="1400"/>
              <a:t>- Blue 3: bar 4 closes at 47.50, below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percentage cases: two agreements are continuation and two disagreements are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two sentiments before accepting an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for the two sentiments before accepting an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Mark 1 is the close below the prior close; mark 2 is the wide final range; mark 3 is the 4.0 million volume.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gaps of PHP 0.30, PHP 0.60, and PHP 1.10 marked in the sequence.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bearish form with ranges and volumes.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ranges PHP 3.0, PHP 0.8, PHP 3.4 and volumes 0.7m and 4.2m marked.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island reversal form with gaps and volume.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bars with strong outer closes and a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bullish form with ranges and volumes.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invented triple bullish bars, with the quiet middle and strong final close.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triple bullish gap form with ranges and volume.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bars with intermediate volume exceptions and a final bearish bar.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bars with quiet middle bars, a high-volume exception, and a final high close.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the second breaches prior high 52.00 at 53.20 on 4.0 million shares.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continuation form with the prior high and breach.</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invented PHP 48.00 to PHP 52.00 bar, midpoint 50.00, then a rebound through 52.00 to 52.40.</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continuation form with the 50 percent midpoint and rebound.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plain-language recall of BRR and angular symmetry and momentum.</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reversal context chart with rapid rise, pullbacks, high volume, and an upper band.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reversal context chart with rapid rise, pullbacks, high volume, and an upper band.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bearish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bullish single-bar form with values on the bars.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multiple bearish form with intermediate volumes.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invented multiple bullish form with intermediate volumes.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invented numbers in the body, then locate the same three features with the numbered marks.</a:t>
            </a:r>
          </a:p>
          <a:p>
            <a:r>
              <a:rPr sz="1400"/>
              <a:t>- The marks identify only the feature named beside the same number. Keep the book's potentially and generally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plain-language rule first, then ask students to explain the numbers.</a:t>
            </a:r>
          </a:p>
          <a:p>
            <a:r>
              <a:rPr sz="1400"/>
              <a:t>- Keep the book's potential reading separate from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bullish key reversal below the lower band. Mark 2 is the book's oversold StochRSI label.</a:t>
            </a:r>
          </a:p>
          <a:p>
            <a:r>
              <a:rPr sz="1400"/>
              <a:t>- Mark 3 is the high-volume reading.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oversold StochRSI label.</a:t>
            </a:r>
          </a:p>
          <a:p>
            <a:r>
              <a:rPr sz="1400"/>
              <a:t>- Mark 3 points to the last close between the bands, which Lim calls bullish.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 Lim also observes low volume and an overbought stochastic label; no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62.20.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The chart shows both pairs and the limits.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bearish case, the inside high is PHP 52.00, the false high is PHP 53.00, and the short re-entry is below PHP 49.00.</a:t>
            </a:r>
          </a:p>
          <a:p>
            <a:r>
              <a:rPr sz="1400"/>
              <a:t>- The bullish converse uses an inside low of PHP 40.00, a false low of PHP 39.20, and an upside re-entry at PHP 41.00.</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reaches PHP 52.00 and closes at PHP 51.00. The next bar opens at PHP 53.00, above the previous range.</a:t>
            </a:r>
          </a:p>
          <a:p>
            <a:r>
              <a:rPr sz="1400"/>
              <a:t>- The sell-stop is at the previous high, PHP 52.00. The new high and stoploss are PHP 54.00.</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left setup first, then the exact directional converse on the right.</a:t>
            </a:r>
          </a:p>
          <a:p>
            <a:r>
              <a:rPr sz="1400"/>
              <a:t>- Mark 1 is the opening gap, mark 2 is the prior-bar trigger level, and mark 3 is the stoploss at the new extreme.</a:t>
            </a:r>
          </a:p>
          <a:p>
            <a:r>
              <a:rPr sz="1400"/>
              <a:t>- If price reverses through the stoploss, the book says to stop and reverse.</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previous bar's low is PHP 48.00. The next bar opens at PHP 47.00, below that low.</a:t>
            </a:r>
          </a:p>
          <a:p>
            <a:r>
              <a:rPr sz="1400"/>
              <a:t>- The buy-stop is PHP 48.00 and the new low and stoploss are PHP 46.00.</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crop enlarges the Oops annotations and leaves the price sequence visible.</a:t>
            </a:r>
          </a:p>
          <a:p>
            <a:r>
              <a:rPr sz="1400"/>
              <a:t>- The book gives a bearish example; the exact order rule was defined on the previous slide.</a:t>
            </a:r>
          </a:p>
          <a:p>
            <a:r>
              <a:rPr sz="1400"/>
              <a:t>- Keep this as a potential setup. The book does not give a complete trade plan here.</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mark 1 for the buy setup and mark 2 for the sell setup. The exact order levels were defined on the earlier slides.</a:t>
            </a:r>
          </a:p>
          <a:p>
            <a:r>
              <a:rPr sz="1400"/>
              <a:t>- The companion names are not attached to an unrelated mark. Chapter 7 does not define or show them here.</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each range over the same six-bar window. The final bar is inside the fifth bar and has the smallest range.</a:t>
            </a:r>
          </a:p>
          <a:p>
            <a:r>
              <a:rPr sz="1400"/>
              <a:t>- The later breakout can go up or down, so the pattern is neutral before the trigger.</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each range over the same six-bar window. The final bar is inside the fifth bar and has the smallest range.</a:t>
            </a:r>
          </a:p>
          <a:p>
            <a:r>
              <a:rPr sz="1400"/>
              <a:t>- The later breakout can go up or down, so the pattern is neutral before the trigger.</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last six bars in the source schematic, then locate its final inside bar and narrowest range.</a:t>
            </a:r>
          </a:p>
          <a:p>
            <a:r>
              <a:rPr sz="1400"/>
              <a:t>- The blue mark identifies the narrowest inside bar. The two trigger arrows show that direction is not built into ID/NR.</a:t>
            </a:r>
          </a:p>
          <a:p>
            <a:r>
              <a:rPr sz="1400"/>
              <a:t>- The next slide extends the same count to NR4, NR5, NR6, and NR7.</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defines the pattern in words rather than giving these comparative ranges. State that the values are only a worked way to see the windows.</a:t>
            </a:r>
          </a:p>
          <a:p>
            <a:r>
              <a:rPr sz="1400"/>
              <a:t>- The next slide makes the lack of built-in direction explicit on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narrowest final bar and mark 2 boxes its inside relationship with the prior bar.</a:t>
            </a:r>
          </a:p>
          <a:p>
            <a:r>
              <a:rPr sz="1400"/>
              <a:t>- Mark 3's top and bottom edges sit on the printed long and short trigger levels; either direction is possible before the break.</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counted monthly ranges are 12, 10, 9, 7, and 5 PHP; the fifth bar is inside the fourth.</a:t>
            </a:r>
          </a:p>
          <a:p>
            <a:r>
              <a:rPr sz="1400"/>
              <a:t>- The sixth bar moves upward by PHP 8.00 from the prior close. The example is invented to show the extension.</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counted monthly ranges are 12, 10, 9, 7, and 5 PHP; the fifth bar is inside the fourth.</a:t>
            </a:r>
          </a:p>
          <a:p>
            <a:r>
              <a:rPr sz="1400"/>
              <a:t>- The sixth bar moves upward by PHP 8.00 from the prior close. The example is invented to show the extension.</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monthly extension, not an ordinary daily ID/NR example.</a:t>
            </a:r>
          </a:p>
          <a:p>
            <a:r>
              <a:rPr sz="1400"/>
              <a:t>- Mark 1 identifies the inside month, mark 2 spans the five-month range count, and mark 3 is on the first upside breakout bar.</a:t>
            </a:r>
          </a:p>
          <a:p>
            <a:r>
              <a:rPr sz="1400"/>
              <a:t>- The count and neutral direction rule remain the same before breakout.</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Oops order diagram and the marked ID/NR6 slide.</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Oops order diagram and the marked ID/NR6 slide.</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exhaustion bar used in review answer 1.</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pin bar's penetration and retrace area used in review answer 1.</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narrow inside bar that makes the ID/NR idea visible in review answer 2.</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identifies the key reversal day used in review answer 3.</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earlier Chapter 5 terms for the first eight characteristics.</a:t>
            </a:r>
          </a:p>
          <a:p>
            <a:r>
              <a:rPr sz="1400"/>
              <a:t>- Read every name as evidence,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back to the earlier Chapter 5 terms for the remaining definitions the book says to recall.</a:t>
            </a:r>
          </a:p>
          <a:p>
            <a:r>
              <a:rPr sz="1400"/>
              <a:t>- Read barrier proximity as the strongest reliability emphasis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answer 5 before turning to the marked triple-bar structures.</a:t>
            </a:r>
          </a:p>
          <a:p>
            <a:r>
              <a:rPr sz="1400"/>
              <a:t>- Keep the qualification can: volume is context,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mark 1 brackets pattern 1 and red mark 2 brackets pattern 2.</a:t>
            </a:r>
          </a:p>
          <a:p>
            <a:r>
              <a:rPr sz="1400"/>
              <a:t>- Blue mark 3 sits beside the source's uptrend context. Read the source conditions rather than inventing a trade rule.</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mark 1 identifies the wide first bar near resistance; red mark 2 identifies the narrow inside bar.</a:t>
            </a:r>
          </a:p>
          <a:p>
            <a:r>
              <a:rPr sz="1400"/>
              <a:t>- Blue mark 3 identifies the lower oscillator region shown in the source. Chapter 7 does not teach its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the marked overextended bar and the upper price barrier.</a:t>
            </a:r>
          </a:p>
          <a:p>
            <a:r>
              <a:rPr sz="1400"/>
              <a:t>- The book uses this price and volume context in Chapter 7; it does not teach an oscillator formula here.</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means reading price bars to judge what the market is doing.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98448"/>
            <a:ext cx="39319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Everything in this chapter is read from price bars, so we start with what one bar records. Lim's bar keeps four prices from one interval: the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its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7710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313682"/>
            <a:ext cx="36393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Read it by position: its close ends a little below its open.</a:t>
            </a:r>
          </a:p>
        </p:txBody>
      </p:sp>
      <p:sp>
        <p:nvSpPr>
          <p:cNvPr id="9" name="Rectangle 8"/>
          <p:cNvSpPr/>
          <p:nvPr/>
        </p:nvSpPr>
        <p:spPr>
          <a:xfrm>
            <a:off x="4992623" y="1261872"/>
            <a:ext cx="6458407" cy="353850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029199" y="1298448"/>
            <a:ext cx="6385255" cy="3465348"/>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029199" y="1298448"/>
            <a:ext cx="63852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303519" y="1572768"/>
            <a:ext cx="5836615" cy="300814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413385" y="2150923"/>
            <a:ext cx="338418" cy="353466"/>
          </a:xfrm>
          <a:prstGeom prst="line">
            <a:avLst/>
          </a:prstGeom>
          <a:ln w="44450">
            <a:solidFill>
              <a:srgbClr val="E09B00"/>
            </a:solidFill>
            <a:tailEnd type="triangle" w="med" len="med"/>
          </a:ln>
        </p:spPr>
      </p:cxnSp>
      <p:cxnSp>
        <p:nvCxnSpPr>
          <p:cNvPr id="14" name="Connector 13"/>
          <p:cNvCxnSpPr/>
          <p:nvPr/>
        </p:nvCxnSpPr>
        <p:spPr>
          <a:xfrm flipH="1" flipV="1">
            <a:off x="9039140" y="1638052"/>
            <a:ext cx="459738" cy="204455"/>
          </a:xfrm>
          <a:prstGeom prst="line">
            <a:avLst/>
          </a:prstGeom>
          <a:ln w="44450">
            <a:solidFill>
              <a:srgbClr val="C62828"/>
            </a:solidFill>
            <a:tailEnd type="triangle" w="med" len="med"/>
          </a:ln>
        </p:spPr>
      </p:cxnSp>
      <p:cxnSp>
        <p:nvCxnSpPr>
          <p:cNvPr id="15" name="Connector 14"/>
          <p:cNvCxnSpPr/>
          <p:nvPr/>
        </p:nvCxnSpPr>
        <p:spPr>
          <a:xfrm flipH="1">
            <a:off x="9039140" y="3817756"/>
            <a:ext cx="459738" cy="235643"/>
          </a:xfrm>
          <a:prstGeom prst="line">
            <a:avLst/>
          </a:prstGeom>
          <a:ln w="44450">
            <a:solidFill>
              <a:srgbClr val="1F5FAD"/>
            </a:solidFill>
            <a:tailEnd type="triangle" w="med" len="med"/>
          </a:ln>
        </p:spPr>
      </p:cxnSp>
      <p:cxnSp>
        <p:nvCxnSpPr>
          <p:cNvPr id="16" name="Connector 15"/>
          <p:cNvCxnSpPr/>
          <p:nvPr/>
        </p:nvCxnSpPr>
        <p:spPr>
          <a:xfrm flipH="1" flipV="1">
            <a:off x="9243468" y="2930627"/>
            <a:ext cx="383115" cy="339604"/>
          </a:xfrm>
          <a:prstGeom prst="line">
            <a:avLst/>
          </a:prstGeom>
          <a:ln w="44450">
            <a:solidFill>
              <a:srgbClr val="7B3FA0"/>
            </a:solidFill>
            <a:tailEnd type="triangle" w="med" len="med"/>
          </a:ln>
        </p:spPr>
      </p:cxnSp>
      <p:sp>
        <p:nvSpPr>
          <p:cNvPr id="17" name="Oval 16"/>
          <p:cNvSpPr/>
          <p:nvPr/>
        </p:nvSpPr>
        <p:spPr>
          <a:xfrm>
            <a:off x="8276225" y="201376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361718" y="170534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61718" y="3680596"/>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489423" y="3133071"/>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5029199" y="4836948"/>
            <a:ext cx="6385255" cy="22860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crop and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These are the same four prices as the bar we just read.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98448"/>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7710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31368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44491" y="1261872"/>
            <a:ext cx="6788912" cy="4645152"/>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81067" y="1298448"/>
            <a:ext cx="6715760" cy="45720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81067" y="1298448"/>
            <a:ext cx="671576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55387" y="1572768"/>
            <a:ext cx="6167120" cy="41148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17591" y="2487168"/>
            <a:ext cx="181326" cy="388619"/>
          </a:xfrm>
          <a:prstGeom prst="line">
            <a:avLst/>
          </a:prstGeom>
          <a:ln w="44450">
            <a:solidFill>
              <a:srgbClr val="E09B00"/>
            </a:solidFill>
            <a:tailEnd type="triangle" w="med" len="med"/>
          </a:ln>
        </p:spPr>
      </p:cxnSp>
      <p:cxnSp>
        <p:nvCxnSpPr>
          <p:cNvPr id="14" name="Connector 13"/>
          <p:cNvCxnSpPr/>
          <p:nvPr/>
        </p:nvCxnSpPr>
        <p:spPr>
          <a:xfrm flipH="1">
            <a:off x="5755589" y="2189988"/>
            <a:ext cx="503682" cy="13716"/>
          </a:xfrm>
          <a:prstGeom prst="line">
            <a:avLst/>
          </a:prstGeom>
          <a:ln w="44450">
            <a:solidFill>
              <a:srgbClr val="C62828"/>
            </a:solidFill>
            <a:tailEnd type="triangle" w="med" len="med"/>
          </a:ln>
        </p:spPr>
      </p:cxnSp>
      <p:cxnSp>
        <p:nvCxnSpPr>
          <p:cNvPr id="15" name="Connector 14"/>
          <p:cNvCxnSpPr/>
          <p:nvPr/>
        </p:nvCxnSpPr>
        <p:spPr>
          <a:xfrm flipV="1">
            <a:off x="6360007" y="4613148"/>
            <a:ext cx="517114" cy="45720"/>
          </a:xfrm>
          <a:prstGeom prst="line">
            <a:avLst/>
          </a:prstGeom>
          <a:ln w="44450">
            <a:solidFill>
              <a:srgbClr val="1F5FAD"/>
            </a:solidFill>
            <a:tailEnd type="triangle" w="med" len="med"/>
          </a:ln>
        </p:spPr>
      </p:cxnSp>
      <p:cxnSp>
        <p:nvCxnSpPr>
          <p:cNvPr id="16" name="Connector 15"/>
          <p:cNvCxnSpPr/>
          <p:nvPr/>
        </p:nvCxnSpPr>
        <p:spPr>
          <a:xfrm flipH="1" flipV="1">
            <a:off x="8106105" y="3881627"/>
            <a:ext cx="335788" cy="388621"/>
          </a:xfrm>
          <a:prstGeom prst="line">
            <a:avLst/>
          </a:prstGeom>
          <a:ln w="44450">
            <a:solidFill>
              <a:srgbClr val="7B3FA0"/>
            </a:solidFill>
            <a:tailEnd type="triangle" w="med" len="med"/>
          </a:ln>
        </p:spPr>
      </p:cxnSp>
      <p:sp>
        <p:nvSpPr>
          <p:cNvPr id="17" name="Oval 16"/>
          <p:cNvSpPr/>
          <p:nvPr/>
        </p:nvSpPr>
        <p:spPr>
          <a:xfrm>
            <a:off x="4980431" y="235000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22111" y="2052828"/>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22847" y="4521708"/>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4733" y="4133088"/>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4681067" y="5943600"/>
            <a:ext cx="6733387" cy="22860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crop and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98448"/>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Patterns are made of several bars in a row,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77106"/>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313682"/>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521568" y="1261872"/>
            <a:ext cx="3674838" cy="4645152"/>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58144" y="1298448"/>
            <a:ext cx="3601686" cy="45720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58144" y="1298448"/>
            <a:ext cx="3601686"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32464" y="1572768"/>
            <a:ext cx="3053046" cy="41148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238863" y="2999232"/>
            <a:ext cx="0" cy="585216"/>
          </a:xfrm>
          <a:prstGeom prst="line">
            <a:avLst/>
          </a:prstGeom>
          <a:ln w="44450">
            <a:solidFill>
              <a:srgbClr val="E09B00"/>
            </a:solidFill>
            <a:tailEnd type="triangle" w="med" len="med"/>
          </a:ln>
        </p:spPr>
      </p:cxnSp>
      <p:cxnSp>
        <p:nvCxnSpPr>
          <p:cNvPr id="14" name="Connector 13"/>
          <p:cNvCxnSpPr/>
          <p:nvPr/>
        </p:nvCxnSpPr>
        <p:spPr>
          <a:xfrm flipH="1">
            <a:off x="7757505" y="1869948"/>
            <a:ext cx="367372" cy="333756"/>
          </a:xfrm>
          <a:prstGeom prst="line">
            <a:avLst/>
          </a:prstGeom>
          <a:ln w="44450">
            <a:solidFill>
              <a:srgbClr val="C62828"/>
            </a:solidFill>
            <a:tailEnd type="triangle" w="med" len="med"/>
          </a:ln>
        </p:spPr>
      </p:cxnSp>
      <p:cxnSp>
        <p:nvCxnSpPr>
          <p:cNvPr id="15" name="Connector 14"/>
          <p:cNvCxnSpPr/>
          <p:nvPr/>
        </p:nvCxnSpPr>
        <p:spPr>
          <a:xfrm flipV="1">
            <a:off x="7879963" y="4293108"/>
            <a:ext cx="320550" cy="342900"/>
          </a:xfrm>
          <a:prstGeom prst="line">
            <a:avLst/>
          </a:prstGeom>
          <a:ln w="44450">
            <a:solidFill>
              <a:srgbClr val="1F5FAD"/>
            </a:solidFill>
            <a:tailEnd type="triangle" w="med" len="med"/>
          </a:ln>
        </p:spPr>
      </p:cxnSp>
      <p:cxnSp>
        <p:nvCxnSpPr>
          <p:cNvPr id="16" name="Connector 15"/>
          <p:cNvCxnSpPr/>
          <p:nvPr/>
        </p:nvCxnSpPr>
        <p:spPr>
          <a:xfrm flipH="1">
            <a:off x="8546275" y="2212848"/>
            <a:ext cx="126059" cy="676655"/>
          </a:xfrm>
          <a:prstGeom prst="line">
            <a:avLst/>
          </a:prstGeom>
          <a:ln w="44450">
            <a:solidFill>
              <a:srgbClr val="7B3FA0"/>
            </a:solidFill>
            <a:tailEnd type="triangle" w="med" len="med"/>
          </a:ln>
        </p:spPr>
      </p:cxnSp>
      <p:sp>
        <p:nvSpPr>
          <p:cNvPr id="17" name="Oval 16"/>
          <p:cNvSpPr/>
          <p:nvPr/>
        </p:nvSpPr>
        <p:spPr>
          <a:xfrm>
            <a:off x="7101703" y="344728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87717" y="1732788"/>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42803" y="4498848"/>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35174" y="2075688"/>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6558144" y="5943600"/>
            <a:ext cx="4856310" cy="22860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98448"/>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549140"/>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85716"/>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61872"/>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98448"/>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98448"/>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72768"/>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116731"/>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64041"/>
            <a:ext cx="371306" cy="287097"/>
          </a:xfrm>
          <a:prstGeom prst="line">
            <a:avLst/>
          </a:prstGeom>
          <a:ln w="44450">
            <a:solidFill>
              <a:srgbClr val="C62828"/>
            </a:solidFill>
            <a:tailEnd type="triangle" w="med" len="med"/>
          </a:ln>
        </p:spPr>
      </p:cxnSp>
      <p:cxnSp>
        <p:nvCxnSpPr>
          <p:cNvPr id="15" name="Connector 14"/>
          <p:cNvCxnSpPr/>
          <p:nvPr/>
        </p:nvCxnSpPr>
        <p:spPr>
          <a:xfrm>
            <a:off x="5406051" y="4513939"/>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116731"/>
            <a:ext cx="303795" cy="478496"/>
          </a:xfrm>
          <a:prstGeom prst="line">
            <a:avLst/>
          </a:prstGeom>
          <a:ln w="44450">
            <a:solidFill>
              <a:srgbClr val="7B3FA0"/>
            </a:solidFill>
            <a:tailEnd type="triangle" w="med" len="med"/>
          </a:ln>
        </p:spPr>
      </p:cxnSp>
      <p:sp>
        <p:nvSpPr>
          <p:cNvPr id="17" name="Oval 16"/>
          <p:cNvSpPr/>
          <p:nvPr/>
        </p:nvSpPr>
        <p:spPr>
          <a:xfrm>
            <a:off x="5403911" y="345806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92688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76779"/>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58067"/>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4663440" y="5199565"/>
            <a:ext cx="6751014" cy="22860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31343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42569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99516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396727"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second way: the formation's own lean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second way of sorting is the intrinsic bias or sentiment of a formation: whether the formation itself leans bullish or bearish (pp. 210 to 211). Chapter 4 called this intrinsic bias.</a:t>
            </a:r>
          </a:p>
          <a:p>
            <a:pPr algn="l">
              <a:lnSpc>
                <a:spcPct val="118000"/>
              </a:lnSpc>
              <a:spcBef>
                <a:spcPts val="0"/>
              </a:spcBef>
              <a:spcAft>
                <a:spcPts val="1300"/>
              </a:spcAft>
            </a:pPr>
            <a:r>
              <a:rPr sz="2100" b="0" i="0">
                <a:solidFill>
                  <a:srgbClr val="1A1A1A"/>
                </a:solidFill>
                <a:latin typeface="Arial"/>
              </a:rPr>
              <a:t>His example: a standard head and shoulders is intrinsically bearish, and an inverted head and shoulders is intrinsically bullish (p. 211).</a:t>
            </a:r>
          </a:p>
          <a:p>
            <a:pPr algn="l">
              <a:lnSpc>
                <a:spcPct val="118000"/>
              </a:lnSpc>
              <a:spcBef>
                <a:spcPts val="0"/>
              </a:spcBef>
              <a:spcAft>
                <a:spcPts val="1300"/>
              </a:spcAft>
            </a:pPr>
            <a:r>
              <a:rPr sz="2100" b="0" i="0">
                <a:solidFill>
                  <a:srgbClr val="1A1A1A"/>
                </a:solidFill>
                <a:latin typeface="Arial"/>
              </a:rPr>
              <a:t>The lean belongs to the formation, so it stays the same whichever trend the formation appears in.</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Intrinsic sentiment is about the formation, not the trend around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with a pointer to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low leans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a:t>
            </a:r>
          </a:p>
          <a:p>
            <a:pPr algn="l">
              <a:lnSpc>
                <a:spcPct val="118000"/>
              </a:lnSpc>
              <a:spcBef>
                <a:spcPts val="0"/>
              </a:spcBef>
              <a:spcAft>
                <a:spcPts val="1300"/>
              </a:spcAft>
            </a:pPr>
            <a:r>
              <a:rPr sz="2100" b="0" i="0">
                <a:solidFill>
                  <a:srgbClr val="1A1A1A"/>
                </a:solidFill>
                <a:latin typeface="Arial"/>
              </a:rPr>
              <a:t>For example, with prices of ours: one bar has a low of PHP 47.90 and the next bar closes at PHP 47.50. The close is below the previous low, so this two-bar formation leans bearish.</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calls it a general rule, so treat it as a clue, not a certainty.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PHP values are invented for teaching.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which warns of a potential trend change (p. 211).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bullish formation in two different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Here is why we keep the two sentiments apart. In a formation of ours the second bar closes at PHP 48.60, above the first bar's high of PHP 48.30, so it is intrinsically bullish.</a:t>
            </a:r>
          </a:p>
          <a:p>
            <a:pPr algn="l">
              <a:lnSpc>
                <a:spcPct val="118000"/>
              </a:lnSpc>
              <a:spcBef>
                <a:spcPts val="0"/>
              </a:spcBef>
              <a:spcAft>
                <a:spcPts val="1300"/>
              </a:spcAft>
            </a:pPr>
            <a:r>
              <a:rPr sz="2100" b="0" i="0">
                <a:solidFill>
                  <a:srgbClr val="1A1A1A"/>
                </a:solidFill>
                <a:latin typeface="Arial"/>
              </a:rPr>
              <a:t>Suppose prices rose from PHP 45.60 to PHP 48.10 before it. Trend sentiment is bullish, the two agree, and the expectation is continuation.</a:t>
            </a:r>
          </a:p>
          <a:p>
            <a:pPr algn="l">
              <a:lnSpc>
                <a:spcPct val="118000"/>
              </a:lnSpc>
              <a:spcBef>
                <a:spcPts val="0"/>
              </a:spcBef>
              <a:spcAft>
                <a:spcPts val="1300"/>
              </a:spcAft>
            </a:pPr>
            <a:r>
              <a:rPr sz="2100" b="0" i="0">
                <a:solidFill>
                  <a:srgbClr val="1A1A1A"/>
                </a:solidFill>
                <a:latin typeface="Arial"/>
              </a:rPr>
              <a:t>Now suppose prices fell from PHP 50.60 to PHP 48.10 before it. Trend sentiment is bearish, the two disagree, and the expectation is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formation never changed; only the trend around it did.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 The PHP values are invented for teaching.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rule gives four combinations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sentiments together and there are four cases (p. 211).</a:t>
            </a:r>
          </a:p>
          <a:p>
            <a:pPr algn="l">
              <a:lnSpc>
                <a:spcPct val="118000"/>
              </a:lnSpc>
              <a:spcBef>
                <a:spcPts val="0"/>
              </a:spcBef>
              <a:spcAft>
                <a:spcPts val="1300"/>
              </a:spcAft>
            </a:pPr>
            <a:r>
              <a:rPr sz="2100" b="0" i="0">
                <a:solidFill>
                  <a:srgbClr val="1A1A1A"/>
                </a:solidFill>
                <a:latin typeface="Arial"/>
              </a:rPr>
              <a:t>In an uptrend, a bullish formation agrees with the trend, so Lim considers it a continuation. A bearish formation disagrees, so it is a potential reversal.</a:t>
            </a:r>
          </a:p>
          <a:p>
            <a:pPr algn="l">
              <a:lnSpc>
                <a:spcPct val="118000"/>
              </a:lnSpc>
              <a:spcBef>
                <a:spcPts val="0"/>
              </a:spcBef>
              <a:spcAft>
                <a:spcPts val="1300"/>
              </a:spcAft>
            </a:pPr>
            <a:r>
              <a:rPr sz="2100" b="0" i="0">
                <a:solidFill>
                  <a:srgbClr val="1A1A1A"/>
                </a:solidFill>
                <a:latin typeface="Arial"/>
              </a:rPr>
              <a:t>In a downtrend, a bearish formation agrees, so it is a continuation. A bullish formation disagrees, so it is a potential reversal.</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Agreement suggests continuation; disagreement suggests a potential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to PHP 48.10 </a:t>
            </a:r>
            <a:r>
              <a:rPr sz="1700" b="1" i="0">
                <a:solidFill>
                  <a:srgbClr val="E09B00"/>
                </a:solidFill>
                <a:latin typeface="Arial"/>
              </a:rPr>
              <a:t>(1)</a:t>
            </a:r>
            <a:r>
              <a:rPr sz="1700" b="0" i="0">
                <a:solidFill>
                  <a:srgbClr val="1A1A1A"/>
                </a:solidFill>
                <a:latin typeface="Arial"/>
              </a:rPr>
              <a:t>, so trend sentiment is bullish. Next the count: the last two bars make a double formation </a:t>
            </a:r>
            <a:r>
              <a:rPr sz="1700" b="1" i="0">
                <a:solidFill>
                  <a:srgbClr val="C62828"/>
                </a:solidFill>
                <a:latin typeface="Arial"/>
              </a:rPr>
              <a:t>(2)</a:t>
            </a:r>
            <a:r>
              <a:rPr sz="1700" b="0" i="0">
                <a:solidFill>
                  <a:srgbClr val="1A1A1A"/>
                </a:solidFill>
                <a:latin typeface="Arial"/>
              </a:rPr>
              <a:t>. Then the lean: bar 4 closes at PHP 47.50 </a:t>
            </a:r>
            <a:r>
              <a:rPr sz="1700" b="1" i="0">
                <a:solidFill>
                  <a:srgbClr val="1F5FAD"/>
                </a:solidFill>
                <a:latin typeface="Arial"/>
              </a:rPr>
              <a:t>(3)</a:t>
            </a:r>
            <a:r>
              <a:rPr sz="1700" b="0" i="0">
                <a:solidFill>
                  <a:srgbClr val="1A1A1A"/>
                </a:solidFill>
                <a:latin typeface="Arial"/>
              </a:rPr>
              <a:t>, below bar 3's low of PHP 47.90,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C62828"/>
            </a:solidFill>
          </a:ln>
        </p:spPr>
        <p:txBody>
          <a:bodyPr rtlCol="0" anchor="ctr"/>
          <a:lstStyle/>
          <a:p>
            <a:pPr algn="ctr"/>
          </a:p>
        </p:txBody>
      </p:sp>
      <p:sp>
        <p:nvSpPr>
          <p:cNvPr id="10" name="Oval 9"/>
          <p:cNvSpPr/>
          <p:nvPr/>
        </p:nvSpPr>
        <p:spPr>
          <a:xfrm>
            <a:off x="4708855" y="376915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624059" y="395063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838383" y="36094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624730" y="385693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584427" y="370045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17</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C62828"/>
            </a:solidFill>
          </a:ln>
        </p:spPr>
        <p:txBody>
          <a:bodyPr rtlCol="0" anchor="ctr"/>
          <a:lstStyle/>
          <a:p>
            <a:pPr algn="ctr"/>
          </a:p>
        </p:txBody>
      </p:sp>
      <p:sp>
        <p:nvSpPr>
          <p:cNvPr id="10" name="Oval 9"/>
          <p:cNvSpPr/>
          <p:nvPr/>
        </p:nvSpPr>
        <p:spPr>
          <a:xfrm>
            <a:off x="4708855" y="376915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624059" y="395063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838383" y="36094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624730" y="385693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584427" y="370045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17</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 sentiment and intrinsic sentiment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Trend sentiment is the direction of the wider move: bullish in an uptrend and bearish in a downtrend.</a:t>
            </a:r>
          </a:p>
          <a:p>
            <a:pPr algn="l">
              <a:lnSpc>
                <a:spcPct val="118000"/>
              </a:lnSpc>
              <a:spcBef>
                <a:spcPts val="0"/>
              </a:spcBef>
              <a:spcAft>
                <a:spcPts val="1300"/>
              </a:spcAft>
            </a:pPr>
            <a:r>
              <a:rPr sz="2100" b="0" i="0">
                <a:solidFill>
                  <a:srgbClr val="1A1A1A"/>
                </a:solidFill>
                <a:latin typeface="Arial"/>
              </a:rPr>
              <a:t>Pattern polarity means the pattern's own bullish or bearish direction. The book's head and shoulders example is bearish; its inverted head and shoulders example is bullish. (Lim, p. 211.)</a:t>
            </a:r>
          </a:p>
          <a:p>
            <a:pPr algn="l">
              <a:lnSpc>
                <a:spcPct val="118000"/>
              </a:lnSpc>
              <a:spcBef>
                <a:spcPts val="0"/>
              </a:spcBef>
              <a:spcAft>
                <a:spcPts val="1300"/>
              </a:spcAft>
            </a:pPr>
            <a:r>
              <a:rPr sz="2100" b="0" i="0">
                <a:solidFill>
                  <a:srgbClr val="1A1A1A"/>
                </a:solidFill>
                <a:latin typeface="Arial"/>
              </a:rPr>
              <a:t>Use both sentiments before classifying the pattern: agreement suggests continuation, while disagreement suggests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examples supply the polarity used in the next check.</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86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86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86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two-by-two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+4.0% uptrend with +2.0% bullish formation, or -4.0% downtrend with -2.0% bearish formation, suggests continuation. Disagreement: +4.0% with -2.0%, or -4.0% with +2.0%, suggests a potential reversal. These invented values never make certainty. Compare the wider trend with the pattern's own polarity.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t-3.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86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pattern in an uptrend is a:</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Reversal</a:t>
            </a:r>
          </a:p>
          <a:p>
            <a:pPr algn="l">
              <a:lnSpc>
                <a:spcPct val="112000"/>
              </a:lnSpc>
              <a:spcBef>
                <a:spcPts val="0"/>
              </a:spcBef>
              <a:spcAft>
                <a:spcPts val="900"/>
              </a:spcAft>
            </a:pPr>
            <a:r>
              <a:rPr sz="1500" b="0" i="0">
                <a:solidFill>
                  <a:srgbClr val="FFFFFF"/>
                </a:solidFill>
                <a:latin typeface="Arial"/>
              </a:rPr>
              <a:t>B.  Continuation</a:t>
            </a:r>
          </a:p>
          <a:p>
            <a:pPr algn="l">
              <a:lnSpc>
                <a:spcPct val="112000"/>
              </a:lnSpc>
              <a:spcBef>
                <a:spcPts val="0"/>
              </a:spcBef>
              <a:spcAft>
                <a:spcPts val="900"/>
              </a:spcAft>
            </a:pPr>
            <a:r>
              <a:rPr sz="1500" b="0" i="0">
                <a:solidFill>
                  <a:srgbClr val="FFFFFF"/>
                </a:solidFill>
                <a:latin typeface="Arial"/>
              </a:rPr>
              <a:t>C.  Neutral bar</a:t>
            </a:r>
          </a:p>
          <a:p>
            <a:pPr algn="l">
              <a:lnSpc>
                <a:spcPct val="112000"/>
              </a:lnSpc>
              <a:spcBef>
                <a:spcPts val="0"/>
              </a:spcBef>
              <a:spcAft>
                <a:spcPts val="900"/>
              </a:spcAft>
            </a:pPr>
            <a:r>
              <a:rPr sz="1500" b="0" i="0">
                <a:solidFill>
                  <a:srgbClr val="FFFFFF"/>
                </a:solidFill>
                <a:latin typeface="Arial"/>
              </a:rPr>
              <a:t>D.  Volume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inverted head and shoulders in an uptrend is a:</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Reversal</a:t>
            </a:r>
          </a:p>
          <a:p>
            <a:pPr algn="l">
              <a:lnSpc>
                <a:spcPct val="112000"/>
              </a:lnSpc>
              <a:spcBef>
                <a:spcPts val="0"/>
              </a:spcBef>
              <a:spcAft>
                <a:spcPts val="900"/>
              </a:spcAft>
            </a:pPr>
            <a:r>
              <a:rPr sz="1500" b="0" i="0">
                <a:solidFill>
                  <a:srgbClr val="FFFFFF"/>
                </a:solidFill>
                <a:latin typeface="Arial"/>
              </a:rPr>
              <a:t>B.  Continuation</a:t>
            </a:r>
          </a:p>
          <a:p>
            <a:pPr algn="l">
              <a:lnSpc>
                <a:spcPct val="112000"/>
              </a:lnSpc>
              <a:spcBef>
                <a:spcPts val="0"/>
              </a:spcBef>
              <a:spcAft>
                <a:spcPts val="900"/>
              </a:spcAft>
            </a:pPr>
            <a:r>
              <a:rPr sz="1500" b="0" i="0">
                <a:solidFill>
                  <a:srgbClr val="FFFFFF"/>
                </a:solidFill>
                <a:latin typeface="Arial"/>
              </a:rPr>
              <a:t>C.  Bearish pattern</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bearish pattern in an uptrend is a:</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Reversal</a:t>
            </a:r>
          </a:p>
          <a:p>
            <a:pPr algn="l">
              <a:lnSpc>
                <a:spcPct val="115000"/>
              </a:lnSpc>
              <a:spcBef>
                <a:spcPts val="700"/>
              </a:spcBef>
              <a:spcAft>
                <a:spcPts val="0"/>
              </a:spcAft>
            </a:pPr>
            <a:r>
              <a:rPr sz="1600" b="0" i="0">
                <a:solidFill>
                  <a:srgbClr val="1A1A1A"/>
                </a:solidFill>
                <a:latin typeface="Arial"/>
              </a:rPr>
              <a:t>The sentiments disagree: bearish intrinsic sentiment meets bullish trend sentiment.</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inverted head and shoulders in an uptrend is a:</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Continuation</a:t>
            </a:r>
          </a:p>
          <a:p>
            <a:pPr algn="l">
              <a:lnSpc>
                <a:spcPct val="115000"/>
              </a:lnSpc>
              <a:spcBef>
                <a:spcPts val="700"/>
              </a:spcBef>
              <a:spcAft>
                <a:spcPts val="0"/>
              </a:spcAft>
            </a:pPr>
            <a:r>
              <a:rPr sz="1600" b="0" i="0">
                <a:solidFill>
                  <a:srgbClr val="1A1A1A"/>
                </a:solidFill>
                <a:latin typeface="Arial"/>
              </a:rPr>
              <a:t>Both the pattern's intrinsic sentiment and the uptrend are bullish, so they agree.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Answer: continuation or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pattern in an uptrend is a reversal because bearish intrinsic sentiment disagrees with bullish trend sentiment.</a:t>
            </a:r>
          </a:p>
          <a:p>
            <a:pPr algn="l">
              <a:lnSpc>
                <a:spcPct val="118000"/>
              </a:lnSpc>
              <a:spcBef>
                <a:spcPts val="0"/>
              </a:spcBef>
              <a:spcAft>
                <a:spcPts val="1300"/>
              </a:spcAft>
            </a:pPr>
            <a:r>
              <a:rPr sz="2100" b="0" i="0">
                <a:solidFill>
                  <a:srgbClr val="1A1A1A"/>
                </a:solidFill>
                <a:latin typeface="Arial"/>
              </a:rPr>
              <a:t>An inverted head and shoulders in an uptrend is a continuation because both sentiments are bullish.</a:t>
            </a:r>
          </a:p>
          <a:p>
            <a:pPr algn="l">
              <a:lnSpc>
                <a:spcPct val="118000"/>
              </a:lnSpc>
              <a:spcBef>
                <a:spcPts val="0"/>
              </a:spcBef>
              <a:spcAft>
                <a:spcPts val="1300"/>
              </a:spcAft>
            </a:pPr>
            <a:r>
              <a:rPr sz="2100" b="0" i="0">
                <a:solidFill>
                  <a:srgbClr val="1A1A1A"/>
                </a:solidFill>
                <a:latin typeface="Arial"/>
              </a:rPr>
              <a:t>The four cases are a classification rule. They do not forecast with certainty.</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Next, the book assumes an uptrend while it draws bearish reversals.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reversal bar can warn that buying is weakening</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a bearish single-bar reversal: the close turns down, the range is wide, and volume can add confidence to the reading. Here is the same pattern with simple prices. The prior close is PHP 51.10 and the final close is PHP 50.80, below it. Gold </a:t>
            </a:r>
            <a:r>
              <a:rPr sz="1700" b="1" i="0">
                <a:solidFill>
                  <a:srgbClr val="E09B00"/>
                </a:solidFill>
                <a:latin typeface="Arial"/>
              </a:rPr>
              <a:t>(1)</a:t>
            </a:r>
            <a:r>
              <a:rPr sz="1700" b="0" i="0">
                <a:solidFill>
                  <a:srgbClr val="1A1A1A"/>
                </a:solidFill>
                <a:latin typeface="Arial"/>
              </a:rPr>
              <a:t> marks that close.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86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Narrow or low volume is uncertainty; wide, near-low, high volume is potentially more reliable.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Now let us compare the first three bearish forms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comparing the book's first three generic bearish forms, where the final bar turns against the preceding move. On our course chart, gold </a:t>
            </a:r>
            <a:r>
              <a:rPr sz="1700" b="1" i="0">
                <a:solidFill>
                  <a:srgbClr val="E09B00"/>
                </a:solidFill>
                <a:latin typeface="Arial"/>
              </a:rPr>
              <a:t>(1)</a:t>
            </a:r>
            <a:r>
              <a:rPr sz="1700" b="0" i="0">
                <a:solidFill>
                  <a:srgbClr val="1A1A1A"/>
                </a:solidFill>
                <a:latin typeface="Arial"/>
              </a:rPr>
              <a:t> marks the final close near the previous close. Red </a:t>
            </a:r>
            <a:r>
              <a:rPr sz="1700" b="1" i="0">
                <a:solidFill>
                  <a:srgbClr val="C62828"/>
                </a:solidFill>
                <a:latin typeface="Arial"/>
              </a:rPr>
              <a:t>(2)</a:t>
            </a:r>
            <a:r>
              <a:rPr sz="1700" b="0" i="0">
                <a:solidFill>
                  <a:srgbClr val="1A1A1A"/>
                </a:solidFill>
                <a:latin typeface="Arial"/>
              </a:rPr>
              <a:t> marks the final bar opening above the previous high; blue </a:t>
            </a:r>
            <a:r>
              <a:rPr sz="1700" b="1" i="0">
                <a:solidFill>
                  <a:srgbClr val="1F5FAD"/>
                </a:solidFill>
                <a:latin typeface="Arial"/>
              </a:rPr>
              <a:t>(3)</a:t>
            </a:r>
            <a:r>
              <a:rPr sz="1700" b="0" i="0">
                <a:solidFill>
                  <a:srgbClr val="1A1A1A"/>
                </a:solidFill>
                <a:latin typeface="Arial"/>
              </a:rPr>
              <a:t> marks its large range and volume.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434392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81635"/>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418714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42560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86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Lim's first three forms become stronger when the close falls below the previous low;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1: the key reversal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Gold </a:t>
            </a:r>
            <a:r>
              <a:rPr sz="1600" b="1" i="0">
                <a:solidFill>
                  <a:srgbClr val="E09B00"/>
                </a:solidFill>
                <a:latin typeface="Arial"/>
              </a:rPr>
              <a:t>(1)</a:t>
            </a:r>
            <a:r>
              <a:rPr sz="1600" b="0" i="0">
                <a:solidFill>
                  <a:srgbClr val="1A1A1A"/>
                </a:solidFill>
                <a:latin typeface="Arial"/>
              </a:rPr>
              <a:t> marks the final close near the previous close. Red </a:t>
            </a:r>
            <a:r>
              <a:rPr sz="1600" b="1" i="0">
                <a:solidFill>
                  <a:srgbClr val="C62828"/>
                </a:solidFill>
                <a:latin typeface="Arial"/>
              </a:rPr>
              <a:t>(2)</a:t>
            </a:r>
            <a:r>
              <a:rPr sz="1600" b="0" i="0">
                <a:solidFill>
                  <a:srgbClr val="1A1A1A"/>
                </a:solidFill>
                <a:latin typeface="Arial"/>
              </a:rPr>
              <a:t> marks the opening above the previous high. Blue </a:t>
            </a:r>
            <a:r>
              <a:rPr sz="1600" b="1" i="0">
                <a:solidFill>
                  <a:srgbClr val="1F5FAD"/>
                </a:solidFill>
                <a:latin typeface="Arial"/>
              </a:rPr>
              <a:t>(3)</a:t>
            </a:r>
            <a:r>
              <a:rPr sz="1600" b="0" i="0">
                <a:solidFill>
                  <a:srgbClr val="1A1A1A"/>
                </a:solidFill>
                <a:latin typeface="Arial"/>
              </a:rPr>
              <a:t> marks the wide range.</a:t>
            </a:r>
          </a:p>
          <a:p>
            <a:pPr algn="l">
              <a:lnSpc>
                <a:spcPct val="105000"/>
              </a:lnSpc>
              <a:spcBef>
                <a:spcPts val="0"/>
              </a:spcBef>
              <a:spcAft>
                <a:spcPts val="1100"/>
              </a:spcAft>
            </a:pPr>
            <a:r>
              <a:rPr sz="1600" b="0" i="0">
                <a:solidFill>
                  <a:srgbClr val="1A1A1A"/>
                </a:solidFill>
                <a:latin typeface="Arial"/>
              </a:rPr>
              <a:t>Lim calls this generally bearish and potentially more reliable when context supports it. The book drawing has no volume panel; the course chart supplies the invented volume.</a:t>
            </a:r>
          </a:p>
          <a:p>
            <a:pPr algn="l">
              <a:lnSpc>
                <a:spcPct val="105000"/>
              </a:lnSpc>
              <a:spcBef>
                <a:spcPts val="0"/>
              </a:spcBef>
              <a:spcAft>
                <a:spcPts val="1100"/>
              </a:spcAft>
            </a:pPr>
            <a:r>
              <a:rPr sz="1600" b="0" i="0">
                <a:solidFill>
                  <a:srgbClr val="1A1A1A"/>
                </a:solidFill>
                <a:latin typeface="Arial"/>
              </a:rPr>
              <a:t>Next we compare the second bearish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2" name="Rectangle 11"/>
          <p:cNvSpPr/>
          <p:nvPr/>
        </p:nvSpPr>
        <p:spPr>
          <a:xfrm>
            <a:off x="6328826" y="2133039"/>
            <a:ext cx="346032" cy="937516"/>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6456591" y="2909035"/>
            <a:ext cx="218267" cy="0"/>
          </a:xfrm>
          <a:prstGeom prst="line">
            <a:avLst/>
          </a:prstGeom>
          <a:ln w="44450">
            <a:solidFill>
              <a:srgbClr val="C62828"/>
            </a:solidFill>
          </a:ln>
        </p:spPr>
      </p:cxnSp>
      <p:cxnSp>
        <p:nvCxnSpPr>
          <p:cNvPr id="14" name="Connector 13"/>
          <p:cNvCxnSpPr/>
          <p:nvPr/>
        </p:nvCxnSpPr>
        <p:spPr>
          <a:xfrm>
            <a:off x="6456591" y="2298070"/>
            <a:ext cx="0" cy="772485"/>
          </a:xfrm>
          <a:prstGeom prst="line">
            <a:avLst/>
          </a:prstGeom>
          <a:ln w="44450">
            <a:solidFill>
              <a:srgbClr val="1F5FAD"/>
            </a:solidFill>
          </a:ln>
        </p:spPr>
      </p:cxnSp>
      <p:sp>
        <p:nvSpPr>
          <p:cNvPr id="15" name="Oval 14"/>
          <p:cNvSpPr/>
          <p:nvPr/>
        </p:nvSpPr>
        <p:spPr>
          <a:xfrm>
            <a:off x="6050935"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219529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three bearish forms use the same test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These forms still ask whether the final bar turns bearish against the preceding move. Our chart repeats the generic bearish form: gold </a:t>
            </a:r>
            <a:r>
              <a:rPr sz="1700" b="1" i="0">
                <a:solidFill>
                  <a:srgbClr val="E09B00"/>
                </a:solidFill>
                <a:latin typeface="Arial"/>
              </a:rPr>
              <a:t>(1)</a:t>
            </a:r>
            <a:r>
              <a:rPr sz="1700" b="0" i="0">
                <a:solidFill>
                  <a:srgbClr val="1A1A1A"/>
                </a:solidFill>
                <a:latin typeface="Arial"/>
              </a:rPr>
              <a:t> is the final close; red </a:t>
            </a:r>
            <a:r>
              <a:rPr sz="1700" b="1" i="0">
                <a:solidFill>
                  <a:srgbClr val="C62828"/>
                </a:solidFill>
                <a:latin typeface="Arial"/>
              </a:rPr>
              <a:t>(2)</a:t>
            </a:r>
            <a:r>
              <a:rPr sz="1700" b="0" i="0">
                <a:solidFill>
                  <a:srgbClr val="1A1A1A"/>
                </a:solidFill>
                <a:latin typeface="Arial"/>
              </a:rPr>
              <a:t> is the opening relationship; blue </a:t>
            </a:r>
            <a:r>
              <a:rPr sz="1700" b="1" i="0">
                <a:solidFill>
                  <a:srgbClr val="1F5FAD"/>
                </a:solidFill>
                <a:latin typeface="Arial"/>
              </a:rPr>
              <a:t>(3)</a:t>
            </a:r>
            <a:r>
              <a:rPr sz="1700" b="0" i="0">
                <a:solidFill>
                  <a:srgbClr val="1A1A1A"/>
                </a:solidFill>
                <a:latin typeface="Arial"/>
              </a:rPr>
              <a:t> is the wide range and volume.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86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close below the previous low strengthens the bearish reading, while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2: a close near the prior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large bar closing near the previous low. Red </a:t>
            </a:r>
            <a:r>
              <a:rPr sz="2000" b="1" i="0">
                <a:solidFill>
                  <a:srgbClr val="C62828"/>
                </a:solidFill>
                <a:latin typeface="Arial"/>
              </a:rPr>
              <a:t>(2)</a:t>
            </a:r>
            <a:r>
              <a:rPr sz="2000" b="0" i="0">
                <a:solidFill>
                  <a:srgbClr val="1A1A1A"/>
                </a:solidFill>
                <a:latin typeface="Arial"/>
              </a:rPr>
              <a:t> marks the opening relationship, and blue </a:t>
            </a:r>
            <a:r>
              <a:rPr sz="2000" b="1" i="0">
                <a:solidFill>
                  <a:srgbClr val="1F5FAD"/>
                </a:solidFill>
                <a:latin typeface="Arial"/>
              </a:rPr>
              <a:t>(3)</a:t>
            </a:r>
            <a:r>
              <a:rPr sz="2000" b="0" i="0">
                <a:solidFill>
                  <a:srgbClr val="1A1A1A"/>
                </a:solidFill>
                <a:latin typeface="Arial"/>
              </a:rPr>
              <a:t> marks the wide range.</a:t>
            </a:r>
          </a:p>
          <a:p>
            <a:pPr algn="l">
              <a:lnSpc>
                <a:spcPct val="105000"/>
              </a:lnSpc>
              <a:spcBef>
                <a:spcPts val="0"/>
              </a:spcBef>
              <a:spcAft>
                <a:spcPts val="1100"/>
              </a:spcAft>
            </a:pPr>
            <a:r>
              <a:rPr sz="2000" b="0" i="0">
                <a:solidFill>
                  <a:srgbClr val="1A1A1A"/>
                </a:solidFill>
                <a:latin typeface="Arial"/>
              </a:rPr>
              <a:t>The book drawing shows shape and close direction only. Use the course chart for invented prices and volume.</a:t>
            </a:r>
          </a:p>
          <a:p>
            <a:pPr algn="l">
              <a:lnSpc>
                <a:spcPct val="105000"/>
              </a:lnSpc>
              <a:spcBef>
                <a:spcPts val="0"/>
              </a:spcBef>
              <a:spcAft>
                <a:spcPts val="1100"/>
              </a:spcAft>
            </a:pPr>
            <a:r>
              <a:rPr sz="2000" b="0" i="0">
                <a:solidFill>
                  <a:srgbClr val="1A1A1A"/>
                </a:solidFill>
                <a:latin typeface="Arial"/>
              </a:rPr>
              <a:t>Next we read the gap form.</a:t>
            </a:r>
          </a:p>
        </p:txBody>
      </p:sp>
      <p:sp>
        <p:nvSpPr>
          <p:cNvPr id="8" name="Rectangle 7"/>
          <p:cNvSpPr/>
          <p:nvPr/>
        </p:nvSpPr>
        <p:spPr>
          <a:xfrm>
            <a:off x="7370026" y="1810512"/>
            <a:ext cx="16121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88898" y="1929384"/>
            <a:ext cx="13744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88898" y="1929384"/>
            <a:ext cx="13744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763218" y="2203703"/>
            <a:ext cx="8257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300" b="0" i="0">
                <a:solidFill>
                  <a:srgbClr val="1A1A1A"/>
                </a:solidFill>
                <a:latin typeface="Palatino"/>
              </a:rPr>
              <a:t>A readable crop of bearish form 2: a large bar closes near or below the previous low.</a:t>
            </a:r>
          </a:p>
        </p:txBody>
      </p:sp>
      <p:sp>
        <p:nvSpPr>
          <p:cNvPr id="12" name="Oval 11"/>
          <p:cNvSpPr/>
          <p:nvPr/>
        </p:nvSpPr>
        <p:spPr>
          <a:xfrm>
            <a:off x="8121130" y="3263676"/>
            <a:ext cx="357348"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121130" y="2561417"/>
            <a:ext cx="0" cy="842711"/>
          </a:xfrm>
          <a:prstGeom prst="line">
            <a:avLst/>
          </a:prstGeom>
          <a:ln w="44450">
            <a:solidFill>
              <a:srgbClr val="C62828"/>
            </a:solidFill>
          </a:ln>
        </p:spPr>
      </p:cxnSp>
      <p:cxnSp>
        <p:nvCxnSpPr>
          <p:cNvPr id="14" name="Connector 13"/>
          <p:cNvCxnSpPr/>
          <p:nvPr/>
        </p:nvCxnSpPr>
        <p:spPr>
          <a:xfrm>
            <a:off x="8121130" y="3263676"/>
            <a:ext cx="0" cy="1404518"/>
          </a:xfrm>
          <a:prstGeom prst="line">
            <a:avLst/>
          </a:prstGeom>
          <a:ln w="44450">
            <a:solidFill>
              <a:srgbClr val="1F5FAD"/>
            </a:solidFill>
          </a:ln>
        </p:spPr>
      </p:cxnSp>
      <p:sp>
        <p:nvSpPr>
          <p:cNvPr id="15" name="Oval 14"/>
          <p:cNvSpPr/>
          <p:nvPr/>
        </p:nvSpPr>
        <p:spPr>
          <a:xfrm>
            <a:off x="7718287" y="40913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60473"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0473" y="479365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seventh bearish form adds a reliability question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identifying the bearish form, we ask whether its context makes the reading more reliable. Our course chart marks the close, opening relationship, and large range with 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QX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86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Treat the pattern as potentially more reliable, then check its context.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3: a gap before the close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red </a:t>
            </a:r>
            <a:r>
              <a:rPr sz="2000" b="1" i="0">
                <a:solidFill>
                  <a:srgbClr val="C62828"/>
                </a:solidFill>
                <a:latin typeface="Arial"/>
              </a:rPr>
              <a:t>(2)</a:t>
            </a:r>
            <a:r>
              <a:rPr sz="2000" b="0" i="0">
                <a:solidFill>
                  <a:srgbClr val="1A1A1A"/>
                </a:solidFill>
                <a:latin typeface="Arial"/>
              </a:rPr>
              <a:t> the bearish bar, and blue </a:t>
            </a:r>
            <a:r>
              <a:rPr sz="2000" b="1" i="0">
                <a:solidFill>
                  <a:srgbClr val="1F5FAD"/>
                </a:solidFill>
                <a:latin typeface="Arial"/>
              </a:rPr>
              <a:t>(3)</a:t>
            </a:r>
            <a:r>
              <a:rPr sz="2000" b="0" i="0">
                <a:solidFill>
                  <a:srgbClr val="1A1A1A"/>
                </a:solidFill>
                <a:latin typeface="Arial"/>
              </a:rPr>
              <a:t> the close below the gap.</a:t>
            </a:r>
          </a:p>
          <a:p>
            <a:pPr algn="l">
              <a:lnSpc>
                <a:spcPct val="105000"/>
              </a:lnSpc>
              <a:spcBef>
                <a:spcPts val="0"/>
              </a:spcBef>
              <a:spcAft>
                <a:spcPts val="1100"/>
              </a:spcAft>
            </a:pPr>
            <a:r>
              <a:rPr sz="2000" b="0" i="0">
                <a:solidFill>
                  <a:srgbClr val="1A1A1A"/>
                </a:solidFill>
                <a:latin typeface="Arial"/>
              </a:rPr>
              <a:t>This is a potential bearish clue, not a promise. The crop has no volume panel.</a:t>
            </a:r>
          </a:p>
          <a:p>
            <a:pPr algn="l">
              <a:lnSpc>
                <a:spcPct val="105000"/>
              </a:lnSpc>
              <a:spcBef>
                <a:spcPts val="0"/>
              </a:spcBef>
              <a:spcAft>
                <a:spcPts val="1100"/>
              </a:spcAft>
            </a:pPr>
            <a:r>
              <a:rPr sz="2000" b="0" i="0">
                <a:solidFill>
                  <a:srgbClr val="1A1A1A"/>
                </a:solidFill>
                <a:latin typeface="Arial"/>
              </a:rPr>
              <a:t>Now we turn the same test upward for bullish forms.</a:t>
            </a:r>
          </a:p>
        </p:txBody>
      </p:sp>
      <p:sp>
        <p:nvSpPr>
          <p:cNvPr id="8" name="Rectangle 7"/>
          <p:cNvSpPr/>
          <p:nvPr/>
        </p:nvSpPr>
        <p:spPr>
          <a:xfrm>
            <a:off x="7278398" y="1810512"/>
            <a:ext cx="179541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97270" y="1929384"/>
            <a:ext cx="155767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97270" y="1929384"/>
            <a:ext cx="155767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1590" y="2203703"/>
            <a:ext cx="100903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300" b="0" i="0">
                <a:solidFill>
                  <a:srgbClr val="1A1A1A"/>
                </a:solidFill>
                <a:latin typeface="Palatino"/>
              </a:rPr>
              <a:t>A readable crop of bearish form 3: the bar closes below a gap between its open and the prior low.</a:t>
            </a:r>
          </a:p>
        </p:txBody>
      </p:sp>
      <p:cxnSp>
        <p:nvCxnSpPr>
          <p:cNvPr id="12" name="Connector 11"/>
          <p:cNvCxnSpPr/>
          <p:nvPr/>
        </p:nvCxnSpPr>
        <p:spPr>
          <a:xfrm>
            <a:off x="7833419" y="3263676"/>
            <a:ext cx="685376" cy="0"/>
          </a:xfrm>
          <a:prstGeom prst="line">
            <a:avLst/>
          </a:prstGeom>
          <a:ln w="44450">
            <a:solidFill>
              <a:srgbClr val="E09B00"/>
            </a:solidFill>
          </a:ln>
        </p:spPr>
      </p:cxnSp>
      <p:sp>
        <p:nvSpPr>
          <p:cNvPr id="13" name="Oval 12"/>
          <p:cNvSpPr/>
          <p:nvPr/>
        </p:nvSpPr>
        <p:spPr>
          <a:xfrm>
            <a:off x="8113800" y="2561417"/>
            <a:ext cx="373841" cy="1474744"/>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176107" y="3965935"/>
            <a:ext cx="0" cy="912937"/>
          </a:xfrm>
          <a:prstGeom prst="line">
            <a:avLst/>
          </a:prstGeom>
          <a:ln w="44450">
            <a:solidFill>
              <a:srgbClr val="1F5FAD"/>
            </a:solidFill>
          </a:ln>
        </p:spPr>
      </p:cxnSp>
      <p:sp>
        <p:nvSpPr>
          <p:cNvPr id="15" name="Oval 14"/>
          <p:cNvSpPr/>
          <p:nvPr/>
        </p:nvSpPr>
        <p:spPr>
          <a:xfrm>
            <a:off x="7553357" y="27570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19114" y="23357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50268" y="465319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Generic single and double reversals</a:t>
            </a:r>
          </a:p>
        </p:txBody>
      </p:sp>
      <p:sp>
        <p:nvSpPr>
          <p:cNvPr id="6" name="Rectangle 5"/>
          <p:cNvSpPr/>
          <p:nvPr/>
        </p:nvSpPr>
        <p:spPr>
          <a:xfrm>
            <a:off x="777240" y="1207008"/>
            <a:ext cx="466344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final bearish bar is potentially more reliable?</a:t>
            </a:r>
          </a:p>
        </p:txBody>
      </p:sp>
      <p:sp>
        <p:nvSpPr>
          <p:cNvPr id="9" name="TextBox 8"/>
          <p:cNvSpPr txBox="1"/>
          <p:nvPr/>
        </p:nvSpPr>
        <p:spPr>
          <a:xfrm>
            <a:off x="1005840" y="2069338"/>
            <a:ext cx="420624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Overextended, near its low, high volume</a:t>
            </a:r>
          </a:p>
          <a:p>
            <a:pPr algn="l">
              <a:lnSpc>
                <a:spcPct val="105000"/>
              </a:lnSpc>
              <a:spcBef>
                <a:spcPts val="0"/>
              </a:spcBef>
              <a:spcAft>
                <a:spcPts val="200"/>
              </a:spcAft>
            </a:pPr>
            <a:r>
              <a:rPr sz="1700" b="0" i="0">
                <a:solidFill>
                  <a:srgbClr val="FFFFFF"/>
                </a:solidFill>
                <a:latin typeface="Arial"/>
              </a:rPr>
              <a:t>B.  Narrow, low volume</a:t>
            </a:r>
          </a:p>
          <a:p>
            <a:pPr algn="l">
              <a:lnSpc>
                <a:spcPct val="105000"/>
              </a:lnSpc>
              <a:spcBef>
                <a:spcPts val="0"/>
              </a:spcBef>
              <a:spcAft>
                <a:spcPts val="200"/>
              </a:spcAft>
            </a:pPr>
            <a:r>
              <a:rPr sz="1700" b="0" i="0">
                <a:solidFill>
                  <a:srgbClr val="FFFFFF"/>
                </a:solidFill>
                <a:latin typeface="Arial"/>
              </a:rPr>
              <a:t>C.  Near its high, low volume</a:t>
            </a:r>
          </a:p>
          <a:p>
            <a:pPr algn="l">
              <a:lnSpc>
                <a:spcPct val="105000"/>
              </a:lnSpc>
              <a:spcBef>
                <a:spcPts val="0"/>
              </a:spcBef>
              <a:spcAft>
                <a:spcPts val="200"/>
              </a:spcAft>
            </a:pPr>
            <a:r>
              <a:rPr sz="1700" b="0" i="0">
                <a:solidFill>
                  <a:srgbClr val="FFFFFF"/>
                </a:solidFill>
                <a:latin typeface="Arial"/>
              </a:rPr>
              <a:t>D.  Any bar</a:t>
            </a:r>
          </a:p>
        </p:txBody>
      </p:sp>
      <p:sp>
        <p:nvSpPr>
          <p:cNvPr id="10" name="Rectangle 9"/>
          <p:cNvSpPr/>
          <p:nvPr/>
        </p:nvSpPr>
        <p:spPr>
          <a:xfrm>
            <a:off x="777240" y="3585082"/>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narrow or low-volume bar show?</a:t>
            </a:r>
          </a:p>
        </p:txBody>
      </p:sp>
      <p:sp>
        <p:nvSpPr>
          <p:cNvPr id="13" name="TextBox 12"/>
          <p:cNvSpPr txBox="1"/>
          <p:nvPr/>
        </p:nvSpPr>
        <p:spPr>
          <a:xfrm>
            <a:off x="1005840" y="4447413"/>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Uncertainty</a:t>
            </a:r>
          </a:p>
          <a:p>
            <a:pPr algn="l">
              <a:lnSpc>
                <a:spcPct val="105000"/>
              </a:lnSpc>
              <a:spcBef>
                <a:spcPts val="0"/>
              </a:spcBef>
              <a:spcAft>
                <a:spcPts val="200"/>
              </a:spcAft>
            </a:pPr>
            <a:r>
              <a:rPr sz="1700" b="0" i="0">
                <a:solidFill>
                  <a:srgbClr val="FFFFFF"/>
                </a:solidFill>
                <a:latin typeface="Arial"/>
              </a:rPr>
              <a:t>B.  A guaranteed reversal</a:t>
            </a:r>
          </a:p>
          <a:p>
            <a:pPr algn="l">
              <a:lnSpc>
                <a:spcPct val="105000"/>
              </a:lnSpc>
              <a:spcBef>
                <a:spcPts val="0"/>
              </a:spcBef>
              <a:spcAft>
                <a:spcPts val="200"/>
              </a:spcAft>
            </a:pPr>
            <a:r>
              <a:rPr sz="1700" b="0" i="0">
                <a:solidFill>
                  <a:srgbClr val="FFFFFF"/>
                </a:solidFill>
                <a:latin typeface="Arial"/>
              </a:rPr>
              <a:t>C.  High volume</a:t>
            </a:r>
          </a:p>
          <a:p>
            <a:pPr algn="l">
              <a:lnSpc>
                <a:spcPct val="105000"/>
              </a:lnSpc>
              <a:spcBef>
                <a:spcPts val="0"/>
              </a:spcBef>
              <a:spcAft>
                <a:spcPts val="200"/>
              </a:spcAft>
            </a:pPr>
            <a:r>
              <a:rPr sz="1700" b="0" i="0">
                <a:solidFill>
                  <a:srgbClr val="FFFFFF"/>
                </a:solidFill>
                <a:latin typeface="Arial"/>
              </a:rPr>
              <a:t>D.  Trend agreement</a:t>
            </a:r>
          </a:p>
        </p:txBody>
      </p:sp>
      <p:sp>
        <p:nvSpPr>
          <p:cNvPr id="14" name="Rectangle 13"/>
          <p:cNvSpPr/>
          <p:nvPr/>
        </p:nvSpPr>
        <p:spPr>
          <a:xfrm>
            <a:off x="5760719" y="1207008"/>
            <a:ext cx="5653735" cy="3809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3572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3115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8" name="Rectangle 17"/>
          <p:cNvSpPr/>
          <p:nvPr/>
        </p:nvSpPr>
        <p:spPr>
          <a:xfrm>
            <a:off x="8045988" y="1683104"/>
            <a:ext cx="2058076" cy="1643234"/>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8804227" y="3040559"/>
            <a:ext cx="1299837" cy="0"/>
          </a:xfrm>
          <a:prstGeom prst="line">
            <a:avLst/>
          </a:prstGeom>
          <a:ln w="44450">
            <a:solidFill>
              <a:srgbClr val="C62828"/>
            </a:solidFill>
          </a:ln>
        </p:spPr>
      </p:cxnSp>
      <p:cxnSp>
        <p:nvCxnSpPr>
          <p:cNvPr id="20" name="Connector 19"/>
          <p:cNvCxnSpPr/>
          <p:nvPr/>
        </p:nvCxnSpPr>
        <p:spPr>
          <a:xfrm>
            <a:off x="8804227" y="1968884"/>
            <a:ext cx="0" cy="1357455"/>
          </a:xfrm>
          <a:prstGeom prst="line">
            <a:avLst/>
          </a:prstGeom>
          <a:ln w="44450">
            <a:solidFill>
              <a:srgbClr val="1F5FAD"/>
            </a:solidFill>
          </a:ln>
        </p:spPr>
      </p:cxnSp>
      <p:sp>
        <p:nvSpPr>
          <p:cNvPr id="21" name="Oval 20"/>
          <p:cNvSpPr/>
          <p:nvPr/>
        </p:nvSpPr>
        <p:spPr>
          <a:xfrm>
            <a:off x="7240621" y="14562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73576" y="281366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73576" y="18134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10844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Generic single and double reversals</a:t>
            </a:r>
          </a:p>
        </p:txBody>
      </p:sp>
      <p:sp>
        <p:nvSpPr>
          <p:cNvPr id="6" name="Rectangle 5"/>
          <p:cNvSpPr/>
          <p:nvPr/>
        </p:nvSpPr>
        <p:spPr>
          <a:xfrm>
            <a:off x="777240" y="1207008"/>
            <a:ext cx="466344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final bearish bar is potentially more reliable?</a:t>
            </a:r>
          </a:p>
        </p:txBody>
      </p:sp>
      <p:sp>
        <p:nvSpPr>
          <p:cNvPr id="9" name="TextBox 8"/>
          <p:cNvSpPr txBox="1"/>
          <p:nvPr/>
        </p:nvSpPr>
        <p:spPr>
          <a:xfrm>
            <a:off x="1097280" y="206933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Overextended, near its low, high volume</a:t>
            </a:r>
          </a:p>
          <a:p>
            <a:pPr algn="l">
              <a:lnSpc>
                <a:spcPct val="115000"/>
              </a:lnSpc>
              <a:spcBef>
                <a:spcPts val="500"/>
              </a:spcBef>
              <a:spcAft>
                <a:spcPts val="0"/>
              </a:spcAft>
            </a:pPr>
            <a:r>
              <a:rPr sz="1700" b="0" i="0">
                <a:solidFill>
                  <a:srgbClr val="1A1A1A"/>
                </a:solidFill>
                <a:latin typeface="Arial"/>
              </a:rPr>
              <a:t>Lim's reliability qualifiers are an overextended final bar, a close near its low, and high volume.</a:t>
            </a:r>
          </a:p>
        </p:txBody>
      </p:sp>
      <p:sp>
        <p:nvSpPr>
          <p:cNvPr id="10" name="Rectangle 9"/>
          <p:cNvSpPr/>
          <p:nvPr/>
        </p:nvSpPr>
        <p:spPr>
          <a:xfrm>
            <a:off x="777240" y="3888613"/>
            <a:ext cx="466344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a narrow or low-volume bar show?</a:t>
            </a:r>
          </a:p>
        </p:txBody>
      </p:sp>
      <p:sp>
        <p:nvSpPr>
          <p:cNvPr id="13" name="TextBox 12"/>
          <p:cNvSpPr txBox="1"/>
          <p:nvPr/>
        </p:nvSpPr>
        <p:spPr>
          <a:xfrm>
            <a:off x="1097280" y="4750943"/>
            <a:ext cx="411480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Uncertainty</a:t>
            </a:r>
          </a:p>
          <a:p>
            <a:pPr algn="l">
              <a:lnSpc>
                <a:spcPct val="115000"/>
              </a:lnSpc>
              <a:spcBef>
                <a:spcPts val="500"/>
              </a:spcBef>
              <a:spcAft>
                <a:spcPts val="0"/>
              </a:spcAft>
            </a:pPr>
            <a:r>
              <a:rPr sz="1700" b="0" i="0">
                <a:solidFill>
                  <a:srgbClr val="1A1A1A"/>
                </a:solidFill>
                <a:latin typeface="Arial"/>
              </a:rPr>
              <a:t>The preceding reading says a narrow or low-volume bar shows uncertainty.</a:t>
            </a:r>
          </a:p>
        </p:txBody>
      </p:sp>
      <p:sp>
        <p:nvSpPr>
          <p:cNvPr id="14" name="Rectangle 13"/>
          <p:cNvSpPr/>
          <p:nvPr/>
        </p:nvSpPr>
        <p:spPr>
          <a:xfrm>
            <a:off x="5760719" y="1207008"/>
            <a:ext cx="5653735" cy="3809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3572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3115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8" name="Rectangle 17"/>
          <p:cNvSpPr/>
          <p:nvPr/>
        </p:nvSpPr>
        <p:spPr>
          <a:xfrm>
            <a:off x="8045988" y="1683104"/>
            <a:ext cx="2058076" cy="1643234"/>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8804227" y="3040559"/>
            <a:ext cx="1299837" cy="0"/>
          </a:xfrm>
          <a:prstGeom prst="line">
            <a:avLst/>
          </a:prstGeom>
          <a:ln w="44450">
            <a:solidFill>
              <a:srgbClr val="C62828"/>
            </a:solidFill>
          </a:ln>
        </p:spPr>
      </p:cxnSp>
      <p:cxnSp>
        <p:nvCxnSpPr>
          <p:cNvPr id="20" name="Connector 19"/>
          <p:cNvCxnSpPr/>
          <p:nvPr/>
        </p:nvCxnSpPr>
        <p:spPr>
          <a:xfrm>
            <a:off x="8804227" y="1968884"/>
            <a:ext cx="0" cy="1357455"/>
          </a:xfrm>
          <a:prstGeom prst="line">
            <a:avLst/>
          </a:prstGeom>
          <a:ln w="44450">
            <a:solidFill>
              <a:srgbClr val="1F5FAD"/>
            </a:solidFill>
          </a:ln>
        </p:spPr>
      </p:cxnSp>
      <p:sp>
        <p:nvSpPr>
          <p:cNvPr id="21" name="Oval 20"/>
          <p:cNvSpPr/>
          <p:nvPr/>
        </p:nvSpPr>
        <p:spPr>
          <a:xfrm>
            <a:off x="7240621" y="14562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73576" y="281366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73576" y="18134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10844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converse starts with the same question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now looking for the bullish converse: does the final bar close above the previous close or high while the broader trend is down? Gold </a:t>
            </a:r>
            <a:r>
              <a:rPr sz="1700" b="1" i="0">
                <a:solidFill>
                  <a:srgbClr val="E09B00"/>
                </a:solidFill>
                <a:latin typeface="Arial"/>
              </a:rPr>
              <a:t>(1)</a:t>
            </a:r>
            <a:r>
              <a:rPr sz="1700" b="0" i="0">
                <a:solidFill>
                  <a:srgbClr val="1A1A1A"/>
                </a:solidFill>
                <a:latin typeface="Arial"/>
              </a:rPr>
              <a:t> marks the final close above the previous close; red </a:t>
            </a:r>
            <a:r>
              <a:rPr sz="1700" b="1" i="0">
                <a:solidFill>
                  <a:srgbClr val="C62828"/>
                </a:solidFill>
                <a:latin typeface="Arial"/>
              </a:rPr>
              <a:t>(2)</a:t>
            </a:r>
            <a:r>
              <a:rPr sz="1700" b="0" i="0">
                <a:solidFill>
                  <a:srgbClr val="1A1A1A"/>
                </a:solidFill>
                <a:latin typeface="Arial"/>
              </a:rPr>
              <a:t> the opening relationship; blue </a:t>
            </a:r>
            <a:r>
              <a:rPr sz="1700" b="1" i="0">
                <a:solidFill>
                  <a:srgbClr val="1F5FAD"/>
                </a:solidFill>
                <a:latin typeface="Arial"/>
              </a:rPr>
              <a:t>(3)</a:t>
            </a:r>
            <a:r>
              <a:rPr sz="1700" b="0" i="0">
                <a:solidFill>
                  <a:srgbClr val="1A1A1A"/>
                </a:solidFill>
                <a:latin typeface="Arial"/>
              </a:rPr>
              <a:t>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44425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354761"/>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2874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9872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86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close above the previous high strengthens the bullish reading; a narrow or low-volume bar shows uncertainty.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1: the bullish key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final close near the previous close. Red </a:t>
            </a:r>
            <a:r>
              <a:rPr sz="1800" b="1" i="0">
                <a:solidFill>
                  <a:srgbClr val="C62828"/>
                </a:solidFill>
                <a:latin typeface="Arial"/>
              </a:rPr>
              <a:t>(2)</a:t>
            </a:r>
            <a:r>
              <a:rPr sz="1800" b="0" i="0">
                <a:solidFill>
                  <a:srgbClr val="1A1A1A"/>
                </a:solidFill>
                <a:latin typeface="Arial"/>
              </a:rPr>
              <a:t> marks the opening below the previous low. Blue </a:t>
            </a:r>
            <a:r>
              <a:rPr sz="1800" b="1" i="0">
                <a:solidFill>
                  <a:srgbClr val="1F5FAD"/>
                </a:solidFill>
                <a:latin typeface="Arial"/>
              </a:rPr>
              <a:t>(3)</a:t>
            </a:r>
            <a:r>
              <a:rPr sz="1800" b="0" i="0">
                <a:solidFill>
                  <a:srgbClr val="1A1A1A"/>
                </a:solidFill>
                <a:latin typeface="Arial"/>
              </a:rPr>
              <a:t> marks the wide range.</a:t>
            </a:r>
          </a:p>
          <a:p>
            <a:pPr algn="l">
              <a:lnSpc>
                <a:spcPct val="105000"/>
              </a:lnSpc>
              <a:spcBef>
                <a:spcPts val="0"/>
              </a:spcBef>
              <a:spcAft>
                <a:spcPts val="1100"/>
              </a:spcAft>
            </a:pPr>
            <a:r>
              <a:rPr sz="1800" b="0" i="0">
                <a:solidFill>
                  <a:srgbClr val="1A1A1A"/>
                </a:solidFill>
                <a:latin typeface="Arial"/>
              </a:rPr>
              <a:t>The book's bullish reading is potential and context-dependent; its crop has no volume panel.</a:t>
            </a:r>
          </a:p>
          <a:p>
            <a:pPr algn="l">
              <a:lnSpc>
                <a:spcPct val="105000"/>
              </a:lnSpc>
              <a:spcBef>
                <a:spcPts val="0"/>
              </a:spcBef>
              <a:spcAft>
                <a:spcPts val="1100"/>
              </a:spcAft>
            </a:pPr>
            <a:r>
              <a:rPr sz="1800" b="0" i="0">
                <a:solidFill>
                  <a:srgbClr val="1A1A1A"/>
                </a:solidFill>
                <a:latin typeface="Arial"/>
              </a:rPr>
              <a:t>Next we compare the second bullish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A readable crop of one bullish single-bar formation: a large bar opens below the previous low and closes near or above the previous close.</a:t>
            </a:r>
          </a:p>
        </p:txBody>
      </p:sp>
      <p:sp>
        <p:nvSpPr>
          <p:cNvPr id="12" name="Oval 11"/>
          <p:cNvSpPr/>
          <p:nvPr/>
        </p:nvSpPr>
        <p:spPr>
          <a:xfrm>
            <a:off x="6344796" y="4829714"/>
            <a:ext cx="250208" cy="365174"/>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6472562" y="4461028"/>
            <a:ext cx="133090" cy="0"/>
          </a:xfrm>
          <a:prstGeom prst="line">
            <a:avLst/>
          </a:prstGeom>
          <a:ln w="44450">
            <a:solidFill>
              <a:srgbClr val="C62828"/>
            </a:solidFill>
          </a:ln>
        </p:spPr>
      </p:cxnSp>
      <p:cxnSp>
        <p:nvCxnSpPr>
          <p:cNvPr id="14" name="Connector 13"/>
          <p:cNvCxnSpPr/>
          <p:nvPr/>
        </p:nvCxnSpPr>
        <p:spPr>
          <a:xfrm>
            <a:off x="6472562" y="4583923"/>
            <a:ext cx="0" cy="751418"/>
          </a:xfrm>
          <a:prstGeom prst="line">
            <a:avLst/>
          </a:prstGeom>
          <a:ln w="44450">
            <a:solidFill>
              <a:srgbClr val="1F5FAD"/>
            </a:solidFill>
          </a:ln>
        </p:spPr>
      </p:cxnSp>
      <p:sp>
        <p:nvSpPr>
          <p:cNvPr id="15" name="Oval 14"/>
          <p:cNvSpPr/>
          <p:nvPr/>
        </p:nvSpPr>
        <p:spPr>
          <a:xfrm>
            <a:off x="6050935" y="430206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40211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514478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remaining bullish forms turn the close upward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These forms keep the same bullish test: the final close must finish above the prior close or high. Gold </a:t>
            </a:r>
            <a:r>
              <a:rPr sz="1700" b="1" i="0">
                <a:solidFill>
                  <a:srgbClr val="E09B00"/>
                </a:solidFill>
                <a:latin typeface="Arial"/>
              </a:rPr>
              <a:t>(1)</a:t>
            </a:r>
            <a:r>
              <a:rPr sz="1700" b="0" i="0">
                <a:solidFill>
                  <a:srgbClr val="1A1A1A"/>
                </a:solidFill>
                <a:latin typeface="Arial"/>
              </a:rPr>
              <a:t> marks the final close above the prior close or high; red </a:t>
            </a:r>
            <a:r>
              <a:rPr sz="1700" b="1" i="0">
                <a:solidFill>
                  <a:srgbClr val="C62828"/>
                </a:solidFill>
                <a:latin typeface="Arial"/>
              </a:rPr>
              <a:t>(2)</a:t>
            </a:r>
            <a:r>
              <a:rPr sz="1700" b="0" i="0">
                <a:solidFill>
                  <a:srgbClr val="1A1A1A"/>
                </a:solidFill>
                <a:latin typeface="Arial"/>
              </a:rPr>
              <a:t> the opening relationship; blue </a:t>
            </a:r>
            <a:r>
              <a:rPr sz="1700" b="1" i="0">
                <a:solidFill>
                  <a:srgbClr val="1F5FAD"/>
                </a:solidFill>
                <a:latin typeface="Arial"/>
              </a:rPr>
              <a:t>(3)</a:t>
            </a:r>
            <a:r>
              <a:rPr sz="1700" b="0" i="0">
                <a:solidFill>
                  <a:srgbClr val="1A1A1A"/>
                </a:solidFill>
                <a:latin typeface="Arial"/>
              </a:rPr>
              <a:t>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QY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86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Bullish intrinsic sentiment in a downtrend is a potential reversal, not a guarantee.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2: a close near the prior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large bar closing near the previous high. Red </a:t>
            </a:r>
            <a:r>
              <a:rPr sz="1800" b="1" i="0">
                <a:solidFill>
                  <a:srgbClr val="C62828"/>
                </a:solidFill>
                <a:latin typeface="Arial"/>
              </a:rPr>
              <a:t>(2)</a:t>
            </a:r>
            <a:r>
              <a:rPr sz="1800" b="0" i="0">
                <a:solidFill>
                  <a:srgbClr val="1A1A1A"/>
                </a:solidFill>
                <a:latin typeface="Arial"/>
              </a:rPr>
              <a:t> marks the opening relationship, and blue </a:t>
            </a:r>
            <a:r>
              <a:rPr sz="1800" b="1" i="0">
                <a:solidFill>
                  <a:srgbClr val="1F5FAD"/>
                </a:solidFill>
                <a:latin typeface="Arial"/>
              </a:rPr>
              <a:t>(3)</a:t>
            </a:r>
            <a:r>
              <a:rPr sz="1800" b="0" i="0">
                <a:solidFill>
                  <a:srgbClr val="1A1A1A"/>
                </a:solidFill>
                <a:latin typeface="Arial"/>
              </a:rPr>
              <a:t> marks the range.</a:t>
            </a:r>
          </a:p>
          <a:p>
            <a:pPr algn="l">
              <a:lnSpc>
                <a:spcPct val="105000"/>
              </a:lnSpc>
              <a:spcBef>
                <a:spcPts val="0"/>
              </a:spcBef>
              <a:spcAft>
                <a:spcPts val="1100"/>
              </a:spcAft>
            </a:pPr>
            <a:r>
              <a:rPr sz="1800" b="0" i="0">
                <a:solidFill>
                  <a:srgbClr val="1A1A1A"/>
                </a:solidFill>
                <a:latin typeface="Arial"/>
              </a:rPr>
              <a:t>The crop shows the formation, not volume. The course chart carries the invented numerical example.</a:t>
            </a:r>
          </a:p>
          <a:p>
            <a:pPr algn="l">
              <a:lnSpc>
                <a:spcPct val="105000"/>
              </a:lnSpc>
              <a:spcBef>
                <a:spcPts val="0"/>
              </a:spcBef>
              <a:spcAft>
                <a:spcPts val="1100"/>
              </a:spcAft>
            </a:pPr>
            <a:r>
              <a:rPr sz="1800" b="0" i="0">
                <a:solidFill>
                  <a:srgbClr val="1A1A1A"/>
                </a:solidFill>
                <a:latin typeface="Arial"/>
              </a:rPr>
              <a:t>Next we read the bullish gap form.</a:t>
            </a:r>
          </a:p>
        </p:txBody>
      </p:sp>
      <p:sp>
        <p:nvSpPr>
          <p:cNvPr id="8" name="Rectangle 7"/>
          <p:cNvSpPr/>
          <p:nvPr/>
        </p:nvSpPr>
        <p:spPr>
          <a:xfrm>
            <a:off x="7370026" y="1810512"/>
            <a:ext cx="16121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88898" y="1929384"/>
            <a:ext cx="13744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88898" y="1929384"/>
            <a:ext cx="13744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763218" y="2203703"/>
            <a:ext cx="8257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300" b="0" i="0">
                <a:solidFill>
                  <a:srgbClr val="1A1A1A"/>
                </a:solidFill>
                <a:latin typeface="Palatino"/>
              </a:rPr>
              <a:t>A readable crop of bullish form 2: a large bar closes near or above the previous high.</a:t>
            </a:r>
          </a:p>
        </p:txBody>
      </p:sp>
      <p:sp>
        <p:nvSpPr>
          <p:cNvPr id="12" name="Oval 11"/>
          <p:cNvSpPr/>
          <p:nvPr/>
        </p:nvSpPr>
        <p:spPr>
          <a:xfrm>
            <a:off x="8121130" y="3544580"/>
            <a:ext cx="357348"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121130" y="3825483"/>
            <a:ext cx="0" cy="983163"/>
          </a:xfrm>
          <a:prstGeom prst="line">
            <a:avLst/>
          </a:prstGeom>
          <a:ln w="44450">
            <a:solidFill>
              <a:srgbClr val="C62828"/>
            </a:solidFill>
          </a:ln>
        </p:spPr>
      </p:cxnSp>
      <p:cxnSp>
        <p:nvCxnSpPr>
          <p:cNvPr id="14" name="Connector 13"/>
          <p:cNvCxnSpPr/>
          <p:nvPr/>
        </p:nvCxnSpPr>
        <p:spPr>
          <a:xfrm>
            <a:off x="8121130" y="2631643"/>
            <a:ext cx="0" cy="1334292"/>
          </a:xfrm>
          <a:prstGeom prst="line">
            <a:avLst/>
          </a:prstGeom>
          <a:ln w="44450">
            <a:solidFill>
              <a:srgbClr val="1F5FAD"/>
            </a:solidFill>
          </a:ln>
        </p:spPr>
      </p:cxnSp>
      <p:sp>
        <p:nvSpPr>
          <p:cNvPr id="15" name="Oval 14"/>
          <p:cNvSpPr/>
          <p:nvPr/>
        </p:nvSpPr>
        <p:spPr>
          <a:xfrm>
            <a:off x="7718287" y="310822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60473" y="3810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0473" y="479365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seventh bullish form asks whether the close is convincing</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bullish form still depends on the final close finishing above the prior high: the invented prior high is PHP 46.00 and the final close is PHP 47.20. The final bar runs from PHP 44.20 to PHP 47.20, so its range is PHP 3.00; its volume is 4.5 million shares.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QZ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86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Lim's qualifiers apply in the converse direction: potential, not certainty. (Lim, p. 212.)</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3: a gap before the close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red </a:t>
            </a:r>
            <a:r>
              <a:rPr sz="2000" b="1" i="0">
                <a:solidFill>
                  <a:srgbClr val="C62828"/>
                </a:solidFill>
                <a:latin typeface="Arial"/>
              </a:rPr>
              <a:t>(2)</a:t>
            </a:r>
            <a:r>
              <a:rPr sz="2000" b="0" i="0">
                <a:solidFill>
                  <a:srgbClr val="1A1A1A"/>
                </a:solidFill>
                <a:latin typeface="Arial"/>
              </a:rPr>
              <a:t> the bullish bar, and blue </a:t>
            </a:r>
            <a:r>
              <a:rPr sz="2000" b="1" i="0">
                <a:solidFill>
                  <a:srgbClr val="1F5FAD"/>
                </a:solidFill>
                <a:latin typeface="Arial"/>
              </a:rPr>
              <a:t>(3)</a:t>
            </a:r>
            <a:r>
              <a:rPr sz="2000" b="0" i="0">
                <a:solidFill>
                  <a:srgbClr val="1A1A1A"/>
                </a:solidFill>
                <a:latin typeface="Arial"/>
              </a:rPr>
              <a:t> the close above the gap.</a:t>
            </a:r>
          </a:p>
          <a:p>
            <a:pPr algn="l">
              <a:lnSpc>
                <a:spcPct val="105000"/>
              </a:lnSpc>
              <a:spcBef>
                <a:spcPts val="0"/>
              </a:spcBef>
              <a:spcAft>
                <a:spcPts val="1100"/>
              </a:spcAft>
            </a:pPr>
            <a:r>
              <a:rPr sz="2000" b="0" i="0">
                <a:solidFill>
                  <a:srgbClr val="1A1A1A"/>
                </a:solidFill>
                <a:latin typeface="Arial"/>
              </a:rPr>
              <a:t>The shape suggests a potential bullish reversal when the broader trend is down.</a:t>
            </a:r>
          </a:p>
          <a:p>
            <a:pPr algn="l">
              <a:lnSpc>
                <a:spcPct val="105000"/>
              </a:lnSpc>
              <a:spcBef>
                <a:spcPts val="0"/>
              </a:spcBef>
              <a:spcAft>
                <a:spcPts val="1100"/>
              </a:spcAft>
            </a:pPr>
            <a:r>
              <a:rPr sz="2000" b="0" i="0">
                <a:solidFill>
                  <a:srgbClr val="1A1A1A"/>
                </a:solidFill>
                <a:latin typeface="Arial"/>
              </a:rPr>
              <a:t>The triple-bar families add a middle bar next.</a:t>
            </a:r>
          </a:p>
        </p:txBody>
      </p:sp>
      <p:sp>
        <p:nvSpPr>
          <p:cNvPr id="8" name="Rectangle 7"/>
          <p:cNvSpPr/>
          <p:nvPr/>
        </p:nvSpPr>
        <p:spPr>
          <a:xfrm>
            <a:off x="7278398" y="1810512"/>
            <a:ext cx="179541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97270" y="1929384"/>
            <a:ext cx="155767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97270" y="1929384"/>
            <a:ext cx="155767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1590" y="2203703"/>
            <a:ext cx="100903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300" b="0" i="0">
                <a:solidFill>
                  <a:srgbClr val="1A1A1A"/>
                </a:solidFill>
                <a:latin typeface="Palatino"/>
              </a:rPr>
              <a:t>A readable crop of bullish form 3: the bar closes above a gap between its open and the prior high.</a:t>
            </a:r>
          </a:p>
        </p:txBody>
      </p:sp>
      <p:cxnSp>
        <p:nvCxnSpPr>
          <p:cNvPr id="12" name="Connector 11"/>
          <p:cNvCxnSpPr/>
          <p:nvPr/>
        </p:nvCxnSpPr>
        <p:spPr>
          <a:xfrm>
            <a:off x="7833419" y="3895709"/>
            <a:ext cx="685376" cy="0"/>
          </a:xfrm>
          <a:prstGeom prst="line">
            <a:avLst/>
          </a:prstGeom>
          <a:ln w="44450">
            <a:solidFill>
              <a:srgbClr val="E09B00"/>
            </a:solidFill>
          </a:ln>
        </p:spPr>
      </p:cxnSp>
      <p:sp>
        <p:nvSpPr>
          <p:cNvPr id="13" name="Oval 12"/>
          <p:cNvSpPr/>
          <p:nvPr/>
        </p:nvSpPr>
        <p:spPr>
          <a:xfrm>
            <a:off x="8113800" y="3123224"/>
            <a:ext cx="373841" cy="1474744"/>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176107" y="2561417"/>
            <a:ext cx="0" cy="1193840"/>
          </a:xfrm>
          <a:prstGeom prst="line">
            <a:avLst/>
          </a:prstGeom>
          <a:ln w="44450">
            <a:solidFill>
              <a:srgbClr val="1F5FAD"/>
            </a:solidFill>
          </a:ln>
        </p:spPr>
      </p:cxnSp>
      <p:sp>
        <p:nvSpPr>
          <p:cNvPr id="15" name="Oval 14"/>
          <p:cNvSpPr/>
          <p:nvPr/>
        </p:nvSpPr>
        <p:spPr>
          <a:xfrm>
            <a:off x="7553357" y="416161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19114" y="28975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50268" y="23357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 a triple bearish form, the gaps add pressure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a triple bearish form, where gaps between the bars add to the pressure of the reversal reading. Here is an invented three-bar example with successive gaps of PHP 0.30, PHP 0.60, and PHP 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374067"/>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2772460" y="343645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6326276" y="379940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42899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2860243" y="33523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093275" y="362932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86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larger gap adds a stronger bearish clue in the triple pattern; the gap term keeps Chapter 3's meaning.</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first three triple bearish drawings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book's first triple group uses the outer-bar closes and the gaps to frame the reversal. Gold </a:t>
            </a:r>
            <a:r>
              <a:rPr sz="1700" b="1" i="0">
                <a:solidFill>
                  <a:srgbClr val="E09B00"/>
                </a:solidFill>
                <a:latin typeface="Arial"/>
              </a:rPr>
              <a:t>(1)</a:t>
            </a:r>
            <a:r>
              <a:rPr sz="1700" b="0" i="0">
                <a:solidFill>
                  <a:srgbClr val="1A1A1A"/>
                </a:solidFill>
                <a:latin typeface="Arial"/>
              </a:rPr>
              <a:t> marks the first outer close, red </a:t>
            </a:r>
            <a:r>
              <a:rPr sz="1700" b="1" i="0">
                <a:solidFill>
                  <a:srgbClr val="C62828"/>
                </a:solidFill>
                <a:latin typeface="Arial"/>
              </a:rPr>
              <a:t>(2)</a:t>
            </a:r>
            <a:r>
              <a:rPr sz="1700" b="0" i="0">
                <a:solidFill>
                  <a:srgbClr val="1A1A1A"/>
                </a:solidFill>
                <a:latin typeface="Arial"/>
              </a:rPr>
              <a:t> the middle bar, and blue </a:t>
            </a:r>
            <a:r>
              <a:rPr sz="1700" b="1" i="0">
                <a:solidFill>
                  <a:srgbClr val="1F5FAD"/>
                </a:solidFill>
                <a:latin typeface="Arial"/>
              </a:rPr>
              <a:t>(3)</a:t>
            </a:r>
            <a:r>
              <a:rPr sz="1700" b="0" i="0">
                <a:solidFill>
                  <a:srgbClr val="1A1A1A"/>
                </a:solidFill>
                <a:latin typeface="Arial"/>
              </a:rPr>
              <a:t> the final outer close.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64342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4651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355930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083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86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Pattern 1 can be more bearish when the middle bar has larger volume; larger first and third ranges help reliability.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7.6, form 1: three bearish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outer close, red </a:t>
            </a:r>
            <a:r>
              <a:rPr sz="2000" b="1" i="0">
                <a:solidFill>
                  <a:srgbClr val="C62828"/>
                </a:solidFill>
                <a:latin typeface="Arial"/>
              </a:rPr>
              <a:t>(2)</a:t>
            </a:r>
            <a:r>
              <a:rPr sz="2000" b="0" i="0">
                <a:solidFill>
                  <a:srgbClr val="1A1A1A"/>
                </a:solidFill>
                <a:latin typeface="Arial"/>
              </a:rPr>
              <a:t> the middle bar, and blue </a:t>
            </a:r>
            <a:r>
              <a:rPr sz="2000" b="1" i="0">
                <a:solidFill>
                  <a:srgbClr val="1F5FAD"/>
                </a:solidFill>
                <a:latin typeface="Arial"/>
              </a:rPr>
              <a:t>(3)</a:t>
            </a:r>
            <a:r>
              <a:rPr sz="2000" b="0" i="0">
                <a:solidFill>
                  <a:srgbClr val="1A1A1A"/>
                </a:solidFill>
                <a:latin typeface="Arial"/>
              </a:rPr>
              <a:t> the final outer close.</a:t>
            </a:r>
          </a:p>
          <a:p>
            <a:pPr algn="l">
              <a:lnSpc>
                <a:spcPct val="105000"/>
              </a:lnSpc>
              <a:spcBef>
                <a:spcPts val="0"/>
              </a:spcBef>
              <a:spcAft>
                <a:spcPts val="1100"/>
              </a:spcAft>
            </a:pPr>
            <a:r>
              <a:rPr sz="2000" b="0" i="0">
                <a:solidFill>
                  <a:srgbClr val="1A1A1A"/>
                </a:solidFill>
                <a:latin typeface="Arial"/>
              </a:rPr>
              <a:t>The outer closes and the middle bar frame a potential bearish reversal; the crop has no volume panel.</a:t>
            </a:r>
          </a:p>
          <a:p>
            <a:pPr algn="l">
              <a:lnSpc>
                <a:spcPct val="105000"/>
              </a:lnSpc>
              <a:spcBef>
                <a:spcPts val="0"/>
              </a:spcBef>
              <a:spcAft>
                <a:spcPts val="1100"/>
              </a:spcAft>
            </a:pPr>
            <a:r>
              <a:rPr sz="2000" b="0" i="0">
                <a:solidFill>
                  <a:srgbClr val="1A1A1A"/>
                </a:solidFill>
                <a:latin typeface="Arial"/>
              </a:rPr>
              <a:t>The next triple drawing adds an island gap.</a:t>
            </a:r>
          </a:p>
        </p:txBody>
      </p:sp>
      <p:sp>
        <p:nvSpPr>
          <p:cNvPr id="8" name="Rectangle 7"/>
          <p:cNvSpPr/>
          <p:nvPr/>
        </p:nvSpPr>
        <p:spPr>
          <a:xfrm>
            <a:off x="7104628" y="1810512"/>
            <a:ext cx="21429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23500" y="1929384"/>
            <a:ext cx="19052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23500" y="1929384"/>
            <a:ext cx="19052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497820" y="2203703"/>
            <a:ext cx="13565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2" name="Oval 11"/>
          <p:cNvSpPr/>
          <p:nvPr/>
        </p:nvSpPr>
        <p:spPr>
          <a:xfrm>
            <a:off x="7985586" y="2456078"/>
            <a:ext cx="609668" cy="948049"/>
          </a:xfrm>
          <a:prstGeom prst="ellipse">
            <a:avLst/>
          </a:prstGeom>
          <a:noFill/>
          <a:ln w="44450">
            <a:solidFill>
              <a:srgbClr val="E09B00"/>
            </a:solidFill>
          </a:ln>
        </p:spPr>
        <p:txBody>
          <a:bodyPr rtlCol="0" anchor="ctr"/>
          <a:lstStyle/>
          <a:p>
            <a:pPr algn="ctr"/>
          </a:p>
        </p:txBody>
      </p:sp>
      <p:sp>
        <p:nvSpPr>
          <p:cNvPr id="13" name="Oval 12"/>
          <p:cNvSpPr/>
          <p:nvPr/>
        </p:nvSpPr>
        <p:spPr>
          <a:xfrm>
            <a:off x="8157055" y="2912546"/>
            <a:ext cx="247677" cy="94804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023690" y="3755257"/>
            <a:ext cx="685877" cy="0"/>
          </a:xfrm>
          <a:prstGeom prst="line">
            <a:avLst/>
          </a:prstGeom>
          <a:ln w="44450">
            <a:solidFill>
              <a:srgbClr val="1F5FAD"/>
            </a:solidFill>
          </a:ln>
        </p:spPr>
      </p:cxnSp>
      <p:sp>
        <p:nvSpPr>
          <p:cNvPr id="15" name="Oval 14"/>
          <p:cNvSpPr/>
          <p:nvPr/>
        </p:nvSpPr>
        <p:spPr>
          <a:xfrm>
            <a:off x="7525303" y="21250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68432" y="303800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68432" y="395093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7.6 - Lim, The Handbook of Technical Analysis (Wiley, 2016)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triple pattern also compares ranges and volume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triple bearish reading also asks how wide the three ranges are and whether the middle and final bars carry meaningful volume. Here is the invented example: the first range is PHP 3.0, the middle range PHP 0.8, and the final range PHP 3.4.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77715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38573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428533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999584"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468922" y="3773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7090" y="41152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QD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86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Middle volume is 0.7 million; final volume is 4.2 million.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triple bearish drawings add an island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gap above the first bar; red </a:t>
            </a:r>
            <a:r>
              <a:rPr sz="1700" b="1" i="0">
                <a:solidFill>
                  <a:srgbClr val="C62828"/>
                </a:solidFill>
                <a:latin typeface="Arial"/>
              </a:rPr>
              <a:t>(2)</a:t>
            </a:r>
            <a:r>
              <a:rPr sz="1700" b="0" i="0">
                <a:solidFill>
                  <a:srgbClr val="1A1A1A"/>
                </a:solidFill>
                <a:latin typeface="Arial"/>
              </a:rPr>
              <a:t> marks the island bar; blue </a:t>
            </a:r>
            <a:r>
              <a:rPr sz="1700" b="1" i="0">
                <a:solidFill>
                  <a:srgbClr val="1F5FAD"/>
                </a:solidFill>
                <a:latin typeface="Arial"/>
              </a:rPr>
              <a:t>(3)</a:t>
            </a:r>
            <a:r>
              <a:rPr sz="1700" b="0" i="0">
                <a:solidFill>
                  <a:srgbClr val="1A1A1A"/>
                </a:solidFill>
                <a:latin typeface="Arial"/>
              </a:rPr>
              <a:t> marks the final bearish bar. This crop shows the gap structure and the final close near the low. It has no volume panel.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o-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1351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6326276" y="365106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44458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93275" y="33434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6414058" y="356694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7090" y="42757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86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triple pattern is a potential reversal clue, not a trade guarantee. (Lim, p.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7.7, form 4: the island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gap up, red </a:t>
            </a:r>
            <a:r>
              <a:rPr sz="2000" b="1" i="0">
                <a:solidFill>
                  <a:srgbClr val="C62828"/>
                </a:solidFill>
                <a:latin typeface="Arial"/>
              </a:rPr>
              <a:t>(2)</a:t>
            </a:r>
            <a:r>
              <a:rPr sz="2000" b="0" i="0">
                <a:solidFill>
                  <a:srgbClr val="1A1A1A"/>
                </a:solidFill>
                <a:latin typeface="Arial"/>
              </a:rPr>
              <a:t> the island bar, and blue </a:t>
            </a:r>
            <a:r>
              <a:rPr sz="2000" b="1" i="0">
                <a:solidFill>
                  <a:srgbClr val="1F5FAD"/>
                </a:solidFill>
                <a:latin typeface="Arial"/>
              </a:rPr>
              <a:t>(3)</a:t>
            </a:r>
            <a:r>
              <a:rPr sz="2000" b="0" i="0">
                <a:solidFill>
                  <a:srgbClr val="1A1A1A"/>
                </a:solidFill>
                <a:latin typeface="Arial"/>
              </a:rPr>
              <a:t> the gap down into the bearish close.</a:t>
            </a:r>
          </a:p>
          <a:p>
            <a:pPr algn="l">
              <a:lnSpc>
                <a:spcPct val="105000"/>
              </a:lnSpc>
              <a:spcBef>
                <a:spcPts val="0"/>
              </a:spcBef>
              <a:spcAft>
                <a:spcPts val="1100"/>
              </a:spcAft>
            </a:pPr>
            <a:r>
              <a:rPr sz="2000" b="0" i="0">
                <a:solidFill>
                  <a:srgbClr val="1A1A1A"/>
                </a:solidFill>
                <a:latin typeface="Arial"/>
              </a:rPr>
              <a:t>The figure shows the gap structure and close direction. Volume belongs to the invented course chart, not this crop.</a:t>
            </a:r>
          </a:p>
          <a:p>
            <a:pPr algn="l">
              <a:lnSpc>
                <a:spcPct val="105000"/>
              </a:lnSpc>
              <a:spcBef>
                <a:spcPts val="0"/>
              </a:spcBef>
              <a:spcAft>
                <a:spcPts val="1100"/>
              </a:spcAft>
            </a:pPr>
            <a:r>
              <a:rPr sz="2000" b="0" i="0">
                <a:solidFill>
                  <a:srgbClr val="1A1A1A"/>
                </a:solidFill>
                <a:latin typeface="Arial"/>
              </a:rPr>
              <a:t>Now compare the bullish triple forms.</a:t>
            </a:r>
          </a:p>
        </p:txBody>
      </p:sp>
      <p:sp>
        <p:nvSpPr>
          <p:cNvPr id="8" name="Rectangle 7"/>
          <p:cNvSpPr/>
          <p:nvPr/>
        </p:nvSpPr>
        <p:spPr>
          <a:xfrm>
            <a:off x="7109765" y="1810512"/>
            <a:ext cx="213268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28637" y="1929384"/>
            <a:ext cx="189493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28637" y="1929384"/>
            <a:ext cx="189493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02957" y="2203703"/>
            <a:ext cx="1346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A readable crop of the fourth triple bearish formation: a gap up followed by a gap down, the single-island reversal bar.</a:t>
            </a:r>
          </a:p>
        </p:txBody>
      </p:sp>
      <p:sp>
        <p:nvSpPr>
          <p:cNvPr id="12" name="Oval 11"/>
          <p:cNvSpPr/>
          <p:nvPr/>
        </p:nvSpPr>
        <p:spPr>
          <a:xfrm>
            <a:off x="7891866" y="2280513"/>
            <a:ext cx="568481" cy="702259"/>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024512" y="2772095"/>
            <a:ext cx="435836" cy="0"/>
          </a:xfrm>
          <a:prstGeom prst="line">
            <a:avLst/>
          </a:prstGeom>
          <a:ln w="44450">
            <a:solidFill>
              <a:srgbClr val="C62828"/>
            </a:solidFill>
          </a:ln>
        </p:spPr>
      </p:cxnSp>
      <p:cxnSp>
        <p:nvCxnSpPr>
          <p:cNvPr id="14" name="Connector 13"/>
          <p:cNvCxnSpPr/>
          <p:nvPr/>
        </p:nvCxnSpPr>
        <p:spPr>
          <a:xfrm>
            <a:off x="8024512" y="3088111"/>
            <a:ext cx="568482" cy="0"/>
          </a:xfrm>
          <a:prstGeom prst="line">
            <a:avLst/>
          </a:prstGeom>
          <a:ln w="44450">
            <a:solidFill>
              <a:srgbClr val="1F5FAD"/>
            </a:solidFill>
          </a:ln>
        </p:spPr>
      </p:cxnSp>
      <p:sp>
        <p:nvSpPr>
          <p:cNvPr id="15" name="Oval 14"/>
          <p:cNvSpPr/>
          <p:nvPr/>
        </p:nvSpPr>
        <p:spPr>
          <a:xfrm>
            <a:off x="7490076"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64939"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83888" y="317845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7.7 - Lim, The Handbook of Technical Analysis (Wiley, 2016)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Triple and multiple reversals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 larger gaps matter in the triple bearish forms?</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They remove the trend</a:t>
            </a:r>
          </a:p>
          <a:p>
            <a:pPr algn="l">
              <a:lnSpc>
                <a:spcPct val="105000"/>
              </a:lnSpc>
              <a:spcBef>
                <a:spcPts val="0"/>
              </a:spcBef>
              <a:spcAft>
                <a:spcPts val="200"/>
              </a:spcAft>
            </a:pPr>
            <a:r>
              <a:rPr sz="1700" b="0" i="0">
                <a:solidFill>
                  <a:srgbClr val="FFFFFF"/>
                </a:solidFill>
                <a:latin typeface="Arial"/>
              </a:rPr>
              <a:t>B.  They guarantee a top</a:t>
            </a:r>
          </a:p>
          <a:p>
            <a:pPr algn="l">
              <a:lnSpc>
                <a:spcPct val="105000"/>
              </a:lnSpc>
              <a:spcBef>
                <a:spcPts val="0"/>
              </a:spcBef>
              <a:spcAft>
                <a:spcPts val="200"/>
              </a:spcAft>
            </a:pPr>
            <a:r>
              <a:rPr sz="1700" b="0" i="0">
                <a:solidFill>
                  <a:srgbClr val="FFFFFF"/>
                </a:solidFill>
                <a:latin typeface="Arial"/>
              </a:rPr>
              <a:t>C.  They define volume</a:t>
            </a:r>
          </a:p>
          <a:p>
            <a:pPr algn="l">
              <a:lnSpc>
                <a:spcPct val="105000"/>
              </a:lnSpc>
              <a:spcBef>
                <a:spcPts val="0"/>
              </a:spcBef>
              <a:spcAft>
                <a:spcPts val="200"/>
              </a:spcAft>
            </a:pPr>
            <a:r>
              <a:rPr sz="1700" b="0" i="0">
                <a:solidFill>
                  <a:srgbClr val="FFFFFF"/>
                </a:solidFill>
                <a:latin typeface="Arial"/>
              </a:rPr>
              <a:t>D.  They add a stronger bearish clue</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final bearish bar is potentially more reliable?</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Narrow, near high, low volume</a:t>
            </a:r>
          </a:p>
          <a:p>
            <a:pPr algn="l">
              <a:lnSpc>
                <a:spcPct val="105000"/>
              </a:lnSpc>
              <a:spcBef>
                <a:spcPts val="0"/>
              </a:spcBef>
              <a:spcAft>
                <a:spcPts val="200"/>
              </a:spcAft>
            </a:pPr>
            <a:r>
              <a:rPr sz="1700" b="0" i="0">
                <a:solidFill>
                  <a:srgbClr val="FFFFFF"/>
                </a:solidFill>
                <a:latin typeface="Arial"/>
              </a:rPr>
              <a:t>B.  Overextended, near low, high volume</a:t>
            </a:r>
          </a:p>
          <a:p>
            <a:pPr algn="l">
              <a:lnSpc>
                <a:spcPct val="105000"/>
              </a:lnSpc>
              <a:spcBef>
                <a:spcPts val="0"/>
              </a:spcBef>
              <a:spcAft>
                <a:spcPts val="200"/>
              </a:spcAft>
            </a:pPr>
            <a:r>
              <a:rPr sz="1700" b="0" i="0">
                <a:solidFill>
                  <a:srgbClr val="FFFFFF"/>
                </a:solidFill>
                <a:latin typeface="Arial"/>
              </a:rPr>
              <a:t>C.  Any middle bar</a:t>
            </a:r>
          </a:p>
          <a:p>
            <a:pPr algn="l">
              <a:lnSpc>
                <a:spcPct val="105000"/>
              </a:lnSpc>
              <a:spcBef>
                <a:spcPts val="0"/>
              </a:spcBef>
              <a:spcAft>
                <a:spcPts val="200"/>
              </a:spcAft>
            </a:pPr>
            <a:r>
              <a:rPr sz="1700" b="0" i="0">
                <a:solidFill>
                  <a:srgbClr val="FFFFFF"/>
                </a:solidFill>
                <a:latin typeface="Arial"/>
              </a:rPr>
              <a:t>D.  Low range only</a:t>
            </a:r>
          </a:p>
        </p:txBody>
      </p:sp>
      <p:sp>
        <p:nvSpPr>
          <p:cNvPr id="14" name="Rectangle 13"/>
          <p:cNvSpPr/>
          <p:nvPr/>
        </p:nvSpPr>
        <p:spPr>
          <a:xfrm>
            <a:off x="7352378" y="1207008"/>
            <a:ext cx="2470417"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71250" y="1325880"/>
            <a:ext cx="2232673"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471250" y="1325880"/>
            <a:ext cx="2232673"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745570" y="1600200"/>
            <a:ext cx="1684033"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8" name="Oval 17"/>
          <p:cNvSpPr/>
          <p:nvPr/>
        </p:nvSpPr>
        <p:spPr>
          <a:xfrm>
            <a:off x="8364320" y="1943100"/>
            <a:ext cx="714455" cy="1110996"/>
          </a:xfrm>
          <a:prstGeom prst="ellipse">
            <a:avLst/>
          </a:prstGeom>
          <a:noFill/>
          <a:ln w="44450">
            <a:solidFill>
              <a:srgbClr val="E09B00"/>
            </a:solidFill>
          </a:ln>
        </p:spPr>
        <p:txBody>
          <a:bodyPr rtlCol="0" anchor="ctr"/>
          <a:lstStyle/>
          <a:p>
            <a:pPr algn="ctr"/>
          </a:p>
        </p:txBody>
      </p:sp>
      <p:sp>
        <p:nvSpPr>
          <p:cNvPr id="19" name="Oval 18"/>
          <p:cNvSpPr/>
          <p:nvPr/>
        </p:nvSpPr>
        <p:spPr>
          <a:xfrm>
            <a:off x="8565260" y="2478024"/>
            <a:ext cx="290247" cy="1110996"/>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408973" y="3465576"/>
            <a:ext cx="803762" cy="0"/>
          </a:xfrm>
          <a:prstGeom prst="line">
            <a:avLst/>
          </a:prstGeom>
          <a:ln w="44450">
            <a:solidFill>
              <a:srgbClr val="1F5FAD"/>
            </a:solidFill>
          </a:ln>
        </p:spPr>
      </p:cxnSp>
      <p:sp>
        <p:nvSpPr>
          <p:cNvPr id="21" name="Oval 20"/>
          <p:cNvSpPr/>
          <p:nvPr/>
        </p:nvSpPr>
        <p:spPr>
          <a:xfrm>
            <a:off x="7851644" y="15819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191248"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1248" y="37216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Triple and multiple reversals</a:t>
            </a:r>
          </a:p>
        </p:txBody>
      </p:sp>
      <p:sp>
        <p:nvSpPr>
          <p:cNvPr id="6" name="Rectangle 5"/>
          <p:cNvSpPr/>
          <p:nvPr/>
        </p:nvSpPr>
        <p:spPr>
          <a:xfrm>
            <a:off x="777240" y="1207008"/>
            <a:ext cx="466344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Why do larger gaps matter in the triple bearish forms?</a:t>
            </a:r>
          </a:p>
        </p:txBody>
      </p:sp>
      <p:sp>
        <p:nvSpPr>
          <p:cNvPr id="9" name="TextBox 8"/>
          <p:cNvSpPr txBox="1"/>
          <p:nvPr/>
        </p:nvSpPr>
        <p:spPr>
          <a:xfrm>
            <a:off x="1097280" y="2069338"/>
            <a:ext cx="411480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They add a stronger bearish clue</a:t>
            </a:r>
          </a:p>
          <a:p>
            <a:pPr algn="l">
              <a:lnSpc>
                <a:spcPct val="115000"/>
              </a:lnSpc>
              <a:spcBef>
                <a:spcPts val="500"/>
              </a:spcBef>
              <a:spcAft>
                <a:spcPts val="0"/>
              </a:spcAft>
            </a:pPr>
            <a:r>
              <a:rPr sz="1700" b="0" i="0">
                <a:solidFill>
                  <a:srgbClr val="1A1A1A"/>
                </a:solidFill>
                <a:latin typeface="Arial"/>
              </a:rPr>
              <a:t>Lim says larger gaps make the triple pattern more bearish.</a:t>
            </a:r>
          </a:p>
        </p:txBody>
      </p:sp>
      <p:sp>
        <p:nvSpPr>
          <p:cNvPr id="10" name="Rectangle 9"/>
          <p:cNvSpPr/>
          <p:nvPr/>
        </p:nvSpPr>
        <p:spPr>
          <a:xfrm>
            <a:off x="777240" y="3640327"/>
            <a:ext cx="4663440" cy="24987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4987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final bearish bar is potentially more reliable?</a:t>
            </a:r>
          </a:p>
        </p:txBody>
      </p:sp>
      <p:sp>
        <p:nvSpPr>
          <p:cNvPr id="13" name="TextBox 12"/>
          <p:cNvSpPr txBox="1"/>
          <p:nvPr/>
        </p:nvSpPr>
        <p:spPr>
          <a:xfrm>
            <a:off x="1097280" y="450265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Overextended, near low, high volume</a:t>
            </a:r>
          </a:p>
          <a:p>
            <a:pPr algn="l">
              <a:lnSpc>
                <a:spcPct val="115000"/>
              </a:lnSpc>
              <a:spcBef>
                <a:spcPts val="500"/>
              </a:spcBef>
              <a:spcAft>
                <a:spcPts val="0"/>
              </a:spcAft>
            </a:pPr>
            <a:r>
              <a:rPr sz="1700" b="0" i="0">
                <a:solidFill>
                  <a:srgbClr val="1A1A1A"/>
                </a:solidFill>
                <a:latin typeface="Arial"/>
              </a:rPr>
              <a:t>The book's final-bar qualifiers are overextension, a near-low close, and high volume.</a:t>
            </a:r>
          </a:p>
        </p:txBody>
      </p:sp>
      <p:sp>
        <p:nvSpPr>
          <p:cNvPr id="14" name="Rectangle 13"/>
          <p:cNvSpPr/>
          <p:nvPr/>
        </p:nvSpPr>
        <p:spPr>
          <a:xfrm>
            <a:off x="7275917" y="1207008"/>
            <a:ext cx="26233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94789" y="1325880"/>
            <a:ext cx="23855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394789" y="1325880"/>
            <a:ext cx="23855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669109" y="1600200"/>
            <a:ext cx="18369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A readable crop of the first triple bearish formation: a large middle bar closes near its low between two outer bars.</a:t>
            </a:r>
          </a:p>
        </p:txBody>
      </p:sp>
      <p:sp>
        <p:nvSpPr>
          <p:cNvPr id="18" name="Oval 17"/>
          <p:cNvSpPr/>
          <p:nvPr/>
        </p:nvSpPr>
        <p:spPr>
          <a:xfrm>
            <a:off x="8349027" y="1943100"/>
            <a:ext cx="763390" cy="1110996"/>
          </a:xfrm>
          <a:prstGeom prst="ellipse">
            <a:avLst/>
          </a:prstGeom>
          <a:noFill/>
          <a:ln w="44450">
            <a:solidFill>
              <a:srgbClr val="E09B00"/>
            </a:solidFill>
          </a:ln>
        </p:spPr>
        <p:txBody>
          <a:bodyPr rtlCol="0" anchor="ctr"/>
          <a:lstStyle/>
          <a:p>
            <a:pPr algn="ctr"/>
          </a:p>
        </p:txBody>
      </p:sp>
      <p:sp>
        <p:nvSpPr>
          <p:cNvPr id="19" name="Oval 18"/>
          <p:cNvSpPr/>
          <p:nvPr/>
        </p:nvSpPr>
        <p:spPr>
          <a:xfrm>
            <a:off x="8563731" y="2478024"/>
            <a:ext cx="310127" cy="1110996"/>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396739" y="3465576"/>
            <a:ext cx="858815" cy="0"/>
          </a:xfrm>
          <a:prstGeom prst="line">
            <a:avLst/>
          </a:prstGeom>
          <a:ln w="44450">
            <a:solidFill>
              <a:srgbClr val="1F5FAD"/>
            </a:solidFill>
          </a:ln>
        </p:spPr>
      </p:cxnSp>
      <p:sp>
        <p:nvSpPr>
          <p:cNvPr id="21" name="Oval 20"/>
          <p:cNvSpPr/>
          <p:nvPr/>
        </p:nvSpPr>
        <p:spPr>
          <a:xfrm>
            <a:off x="7811884" y="15819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243242"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243242" y="37216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7.6 -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triple pattern reverses the outer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now reading the bullish triple form. Its outer bars reverse the close direction: the first is near its low and the final bar near its high. 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 mark the first, middle, and final bars in the crop.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617012" y="412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449937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532888" y="386886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414058" y="441524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86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same potential range and volume tests apply in the bullish direction.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first three triple bullish drawings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first three bullish drawings reverse the outer-bar close direction.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middle bar, and blue </a:t>
            </a:r>
            <a:r>
              <a:rPr sz="1700" b="1" i="0">
                <a:solidFill>
                  <a:srgbClr val="1F5FAD"/>
                </a:solidFill>
                <a:latin typeface="Arial"/>
              </a:rPr>
              <a:t>(3)</a:t>
            </a:r>
            <a:r>
              <a:rPr sz="1700" b="0" i="0">
                <a:solidFill>
                  <a:srgbClr val="1A1A1A"/>
                </a:solidFill>
                <a:latin typeface="Arial"/>
              </a:rPr>
              <a:t> the final bar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16559"/>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4140141"/>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340653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413243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98336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51415" y="349431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QP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86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Read the next group for the remaining three forms. (Lim, p.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7.8, form 1: three bullish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first bar closing near its low, red </a:t>
            </a:r>
            <a:r>
              <a:rPr sz="1800" b="1" i="0">
                <a:solidFill>
                  <a:srgbClr val="C62828"/>
                </a:solidFill>
                <a:latin typeface="Arial"/>
              </a:rPr>
              <a:t>(2)</a:t>
            </a:r>
            <a:r>
              <a:rPr sz="1800" b="0" i="0">
                <a:solidFill>
                  <a:srgbClr val="1A1A1A"/>
                </a:solidFill>
                <a:latin typeface="Arial"/>
              </a:rPr>
              <a:t> the middle bar closing near its high, and blue </a:t>
            </a:r>
            <a:r>
              <a:rPr sz="1800" b="1" i="0">
                <a:solidFill>
                  <a:srgbClr val="1F5FAD"/>
                </a:solidFill>
                <a:latin typeface="Arial"/>
              </a:rPr>
              <a:t>(3)</a:t>
            </a:r>
            <a:r>
              <a:rPr sz="1800" b="0" i="0">
                <a:solidFill>
                  <a:srgbClr val="1A1A1A"/>
                </a:solidFill>
                <a:latin typeface="Arial"/>
              </a:rPr>
              <a:t> the final bar closing near its high.</a:t>
            </a:r>
          </a:p>
          <a:p>
            <a:pPr algn="l">
              <a:lnSpc>
                <a:spcPct val="105000"/>
              </a:lnSpc>
              <a:spcBef>
                <a:spcPts val="0"/>
              </a:spcBef>
              <a:spcAft>
                <a:spcPts val="1100"/>
              </a:spcAft>
            </a:pPr>
            <a:r>
              <a:rPr sz="1800" b="0" i="0">
                <a:solidFill>
                  <a:srgbClr val="1A1A1A"/>
                </a:solidFill>
                <a:latin typeface="Arial"/>
              </a:rPr>
              <a:t>Those close directions give the formation its potential bullish reading. The crop has no volume panel.</a:t>
            </a:r>
          </a:p>
          <a:p>
            <a:pPr algn="l">
              <a:lnSpc>
                <a:spcPct val="105000"/>
              </a:lnSpc>
              <a:spcBef>
                <a:spcPts val="0"/>
              </a:spcBef>
              <a:spcAft>
                <a:spcPts val="1100"/>
              </a:spcAft>
            </a:pPr>
            <a:r>
              <a:rPr sz="1800" b="0" i="0">
                <a:solidFill>
                  <a:srgbClr val="1A1A1A"/>
                </a:solidFill>
                <a:latin typeface="Arial"/>
              </a:rPr>
              <a:t>The next bullish drawing keeps the same close-direction test.</a:t>
            </a:r>
          </a:p>
        </p:txBody>
      </p:sp>
      <p:sp>
        <p:nvSpPr>
          <p:cNvPr id="8" name="Rectangle 7"/>
          <p:cNvSpPr/>
          <p:nvPr/>
        </p:nvSpPr>
        <p:spPr>
          <a:xfrm>
            <a:off x="7164996" y="1810512"/>
            <a:ext cx="20222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283868" y="1929384"/>
            <a:ext cx="17844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283868" y="1929384"/>
            <a:ext cx="17844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58188" y="2203703"/>
            <a:ext cx="12358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100" b="0" i="0">
                <a:solidFill>
                  <a:srgbClr val="1A1A1A"/>
                </a:solidFill>
                <a:latin typeface="Palatino"/>
              </a:rPr>
              <a:t>A readable crop of the first triple bullish formation: the first bar closes near its low, the middle bar closes near its high, and the third bar closes near its high.</a:t>
            </a:r>
          </a:p>
        </p:txBody>
      </p:sp>
      <p:sp>
        <p:nvSpPr>
          <p:cNvPr id="12" name="Oval 11"/>
          <p:cNvSpPr/>
          <p:nvPr/>
        </p:nvSpPr>
        <p:spPr>
          <a:xfrm>
            <a:off x="7961970" y="4387291"/>
            <a:ext cx="249826" cy="877824"/>
          </a:xfrm>
          <a:prstGeom prst="ellipse">
            <a:avLst/>
          </a:prstGeom>
          <a:noFill/>
          <a:ln w="44450">
            <a:solidFill>
              <a:srgbClr val="E09B00"/>
            </a:solidFill>
          </a:ln>
        </p:spPr>
        <p:txBody>
          <a:bodyPr rtlCol="0" anchor="ctr"/>
          <a:lstStyle/>
          <a:p>
            <a:pPr algn="ctr"/>
          </a:p>
        </p:txBody>
      </p:sp>
      <p:sp>
        <p:nvSpPr>
          <p:cNvPr id="13" name="Oval 12"/>
          <p:cNvSpPr/>
          <p:nvPr/>
        </p:nvSpPr>
        <p:spPr>
          <a:xfrm>
            <a:off x="8283176" y="4387291"/>
            <a:ext cx="214137" cy="983162"/>
          </a:xfrm>
          <a:prstGeom prst="ellipse">
            <a:avLst/>
          </a:prstGeom>
          <a:noFill/>
          <a:ln w="44450">
            <a:solidFill>
              <a:srgbClr val="C62828"/>
            </a:solidFill>
          </a:ln>
        </p:spPr>
        <p:txBody>
          <a:bodyPr rtlCol="0" anchor="ctr"/>
          <a:lstStyle/>
          <a:p>
            <a:pPr algn="ctr"/>
          </a:p>
        </p:txBody>
      </p:sp>
      <p:sp>
        <p:nvSpPr>
          <p:cNvPr id="14" name="Oval 13"/>
          <p:cNvSpPr/>
          <p:nvPr/>
        </p:nvSpPr>
        <p:spPr>
          <a:xfrm>
            <a:off x="8568692" y="4317065"/>
            <a:ext cx="249826" cy="948049"/>
          </a:xfrm>
          <a:prstGeom prst="ellipse">
            <a:avLst/>
          </a:prstGeom>
          <a:noFill/>
          <a:ln w="44450">
            <a:solidFill>
              <a:srgbClr val="1F5FAD"/>
            </a:solidFill>
          </a:ln>
        </p:spPr>
        <p:txBody>
          <a:bodyPr rtlCol="0" anchor="ctr"/>
          <a:lstStyle/>
          <a:p>
            <a:pPr algn="ctr"/>
          </a:p>
        </p:txBody>
      </p:sp>
      <p:sp>
        <p:nvSpPr>
          <p:cNvPr id="15" name="Oval 14"/>
          <p:cNvSpPr/>
          <p:nvPr/>
        </p:nvSpPr>
        <p:spPr>
          <a:xfrm>
            <a:off x="7610229"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56002" y="405627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98760" y="37402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7.8 - Lim, The Handbook of Technical Analysis (Wiley, 2016)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final bullish group uses the same volume test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final bullish group asks whether the middle bar stays quiet while the final bar closes near its high. Here is the invented example: middle volume is 0.7 million and the final bar closes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802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34778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93275" y="41101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107215" y="332107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86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high-volume final bar near its high can make the bullish reversal potentially more reliable.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next triple bullish drawings complete the group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middle bar, red </a:t>
            </a:r>
            <a:r>
              <a:rPr sz="1700" b="1" i="0">
                <a:solidFill>
                  <a:srgbClr val="C62828"/>
                </a:solidFill>
                <a:latin typeface="Arial"/>
              </a:rPr>
              <a:t>(2)</a:t>
            </a:r>
            <a:r>
              <a:rPr sz="1700" b="0" i="0">
                <a:solidFill>
                  <a:srgbClr val="1A1A1A"/>
                </a:solidFill>
                <a:latin typeface="Arial"/>
              </a:rPr>
              <a:t> the final high, and blue </a:t>
            </a:r>
            <a:r>
              <a:rPr sz="1700" b="1" i="0">
                <a:solidFill>
                  <a:srgbClr val="1F5FAD"/>
                </a:solidFill>
                <a:latin typeface="Arial"/>
              </a:rPr>
              <a:t>(3)</a:t>
            </a:r>
            <a:r>
              <a:rPr sz="1700" b="0" i="0">
                <a:solidFill>
                  <a:srgbClr val="1A1A1A"/>
                </a:solidFill>
                <a:latin typeface="Arial"/>
              </a:rPr>
              <a:t> the final volume column. The outer bars carry the bullish direction while the middle bar is commonly quieter.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q-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24007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14058" y="41559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QQ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86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Keep the final-bar rule potential, not certain. (Lim,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7.9, form 4: the bullish island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gap down, red </a:t>
            </a:r>
            <a:r>
              <a:rPr sz="1900" b="1" i="0">
                <a:solidFill>
                  <a:srgbClr val="C62828"/>
                </a:solidFill>
                <a:latin typeface="Arial"/>
              </a:rPr>
              <a:t>(2)</a:t>
            </a:r>
            <a:r>
              <a:rPr sz="1900" b="0" i="0">
                <a:solidFill>
                  <a:srgbClr val="1A1A1A"/>
                </a:solidFill>
                <a:latin typeface="Arial"/>
              </a:rPr>
              <a:t> the middle bar, and blue </a:t>
            </a:r>
            <a:r>
              <a:rPr sz="1900" b="1" i="0">
                <a:solidFill>
                  <a:srgbClr val="1F5FAD"/>
                </a:solidFill>
                <a:latin typeface="Arial"/>
              </a:rPr>
              <a:t>(3)</a:t>
            </a:r>
            <a:r>
              <a:rPr sz="1900" b="0" i="0">
                <a:solidFill>
                  <a:srgbClr val="1A1A1A"/>
                </a:solidFill>
                <a:latin typeface="Arial"/>
              </a:rPr>
              <a:t> the final bar closing near its high after the gap up.</a:t>
            </a:r>
          </a:p>
          <a:p>
            <a:pPr algn="l">
              <a:lnSpc>
                <a:spcPct val="105000"/>
              </a:lnSpc>
              <a:spcBef>
                <a:spcPts val="0"/>
              </a:spcBef>
              <a:spcAft>
                <a:spcPts val="1100"/>
              </a:spcAft>
            </a:pPr>
            <a:r>
              <a:rPr sz="1900" b="0" i="0">
                <a:solidFill>
                  <a:srgbClr val="1A1A1A"/>
                </a:solidFill>
                <a:latin typeface="Arial"/>
              </a:rPr>
              <a:t>The figure shows the bars and gaps only. Use the course chart for invented volume values.</a:t>
            </a:r>
          </a:p>
          <a:p>
            <a:pPr algn="l">
              <a:lnSpc>
                <a:spcPct val="105000"/>
              </a:lnSpc>
              <a:spcBef>
                <a:spcPts val="0"/>
              </a:spcBef>
              <a:spcAft>
                <a:spcPts val="1100"/>
              </a:spcAft>
            </a:pPr>
            <a:r>
              <a:rPr sz="1900" b="0" i="0">
                <a:solidFill>
                  <a:srgbClr val="1A1A1A"/>
                </a:solidFill>
                <a:latin typeface="Arial"/>
              </a:rPr>
              <a:t>Multiple-bar forms now add a longer intermediate sequence.</a:t>
            </a:r>
          </a:p>
        </p:txBody>
      </p:sp>
      <p:sp>
        <p:nvSpPr>
          <p:cNvPr id="8" name="Rectangle 7"/>
          <p:cNvSpPr/>
          <p:nvPr/>
        </p:nvSpPr>
        <p:spPr>
          <a:xfrm>
            <a:off x="5626338" y="1810512"/>
            <a:ext cx="509953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45210" y="1929384"/>
            <a:ext cx="486179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45210" y="1929384"/>
            <a:ext cx="486179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19530" y="2203703"/>
            <a:ext cx="431315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A readable crop of the fourth triple bullish formation: the second bar gaps down and the third bar gaps up and closes near its high.</a:t>
            </a:r>
          </a:p>
        </p:txBody>
      </p:sp>
      <p:sp>
        <p:nvSpPr>
          <p:cNvPr id="12" name="Oval 11"/>
          <p:cNvSpPr/>
          <p:nvPr/>
        </p:nvSpPr>
        <p:spPr>
          <a:xfrm>
            <a:off x="7252366" y="4317065"/>
            <a:ext cx="194471" cy="491581"/>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7398220" y="4457517"/>
            <a:ext cx="194472" cy="0"/>
          </a:xfrm>
          <a:prstGeom prst="line">
            <a:avLst/>
          </a:prstGeom>
          <a:ln w="44450">
            <a:solidFill>
              <a:srgbClr val="C62828"/>
            </a:solidFill>
          </a:ln>
        </p:spPr>
      </p:cxnSp>
      <p:sp>
        <p:nvSpPr>
          <p:cNvPr id="14" name="Oval 13"/>
          <p:cNvSpPr/>
          <p:nvPr/>
        </p:nvSpPr>
        <p:spPr>
          <a:xfrm>
            <a:off x="7641310" y="4317065"/>
            <a:ext cx="194471" cy="561807"/>
          </a:xfrm>
          <a:prstGeom prst="ellipse">
            <a:avLst/>
          </a:prstGeom>
          <a:noFill/>
          <a:ln w="44450">
            <a:solidFill>
              <a:srgbClr val="1F5FAD"/>
            </a:solidFill>
          </a:ln>
        </p:spPr>
        <p:txBody>
          <a:bodyPr rtlCol="0" anchor="ctr"/>
          <a:lstStyle/>
          <a:p>
            <a:pPr algn="ctr"/>
          </a:p>
        </p:txBody>
      </p:sp>
      <p:sp>
        <p:nvSpPr>
          <p:cNvPr id="15" name="Oval 14"/>
          <p:cNvSpPr/>
          <p:nvPr/>
        </p:nvSpPr>
        <p:spPr>
          <a:xfrm>
            <a:off x="6951064" y="416161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31715" y="41265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777569" y="48638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7.9 - Lim, The Handbook of Technical Analysis (Wiley, 2016)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Multiple bearish forms can contain a volume exception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looking at multiple bearish forms, where the intermediate bars are usually quiet but one pattern allows a wide, high-volume exception. Here is the invented sequence: intermediate volumes are 0.6, 0.8, 3.8, and 0.7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363272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84669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44683" y="44458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489399" y="35486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162056" y="36766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811682" y="42757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QF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Intermediate volume is normally low, but pattern 2 can be bearish with high volume.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multiple forms reverse that sequence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multiple forms use the same idea in the other direction: intermediate bars are usually quiet, with a possible wide, high-volume exception. Here is the invented sequence: the two quiet middle volumes are 0.6 and 0.8 million shares; the wide exception is 3.8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g-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4007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522762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44683"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5166548" y="43398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5143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791263" y="326198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86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bullish converse normally has one narrow intermediate bar and a final close near its high.</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continuation bar can confirm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Continuation keeps the pattern aligned with an uptrend when a later bar breaks the previous high. Invented example: prior high PHP 52.00; second high PHP 53.20, with volume 4.0 million versus 2.0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93636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371184" y="377958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86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second bar breaches the previous high on high volume, so intrinsic and trend sentiment agree.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book's first continuation example breaks the prior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checking the same continuation rule in the book figure: the second bar takes out the previous high and closes near its high. Gold </a:t>
            </a:r>
            <a:r>
              <a:rPr sz="1700" b="1" i="0">
                <a:solidFill>
                  <a:srgbClr val="E09B00"/>
                </a:solidFill>
                <a:latin typeface="Arial"/>
              </a:rPr>
              <a:t>(1)</a:t>
            </a:r>
            <a:r>
              <a:rPr sz="1700" b="0" i="0">
                <a:solidFill>
                  <a:srgbClr val="1A1A1A"/>
                </a:solidFill>
                <a:latin typeface="Arial"/>
              </a:rPr>
              <a:t> marks the prior high, red </a:t>
            </a:r>
            <a:r>
              <a:rPr sz="1700" b="1" i="0">
                <a:solidFill>
                  <a:srgbClr val="C62828"/>
                </a:solidFill>
                <a:latin typeface="Arial"/>
              </a:rPr>
              <a:t>(2)</a:t>
            </a:r>
            <a:r>
              <a:rPr sz="1700" b="0" i="0">
                <a:solidFill>
                  <a:srgbClr val="1A1A1A"/>
                </a:solidFill>
                <a:latin typeface="Arial"/>
              </a:rPr>
              <a:t> the breach, and blue </a:t>
            </a:r>
            <a:r>
              <a:rPr sz="1700" b="1" i="0">
                <a:solidFill>
                  <a:srgbClr val="1F5FAD"/>
                </a:solidFill>
                <a:latin typeface="Arial"/>
              </a:rPr>
              <a:t>(3)</a:t>
            </a:r>
            <a:r>
              <a:rPr sz="1700" b="0" i="0">
                <a:solidFill>
                  <a:srgbClr val="1A1A1A"/>
                </a:solidFill>
                <a:latin typeface="Arial"/>
              </a:rPr>
              <a:t> the second bar closing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68163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7785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5975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626671" y="32619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3210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QT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86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Lim presents this as a bullish continuation example, where the pattern and trend agree.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7.12, continuation form 1</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prior high, red </a:t>
            </a:r>
            <a:r>
              <a:rPr sz="2000" b="1" i="0">
                <a:solidFill>
                  <a:srgbClr val="C62828"/>
                </a:solidFill>
                <a:latin typeface="Arial"/>
              </a:rPr>
              <a:t>(2)</a:t>
            </a:r>
            <a:r>
              <a:rPr sz="2000" b="0" i="0">
                <a:solidFill>
                  <a:srgbClr val="1A1A1A"/>
                </a:solidFill>
                <a:latin typeface="Arial"/>
              </a:rPr>
              <a:t> the second bar, and blue </a:t>
            </a:r>
            <a:r>
              <a:rPr sz="2000" b="1" i="0">
                <a:solidFill>
                  <a:srgbClr val="1F5FAD"/>
                </a:solidFill>
                <a:latin typeface="Arial"/>
              </a:rPr>
              <a:t>(3)</a:t>
            </a:r>
            <a:r>
              <a:rPr sz="2000" b="0" i="0">
                <a:solidFill>
                  <a:srgbClr val="1A1A1A"/>
                </a:solidFill>
                <a:latin typeface="Arial"/>
              </a:rPr>
              <a:t> its close near the high.</a:t>
            </a:r>
          </a:p>
          <a:p>
            <a:pPr algn="l">
              <a:lnSpc>
                <a:spcPct val="105000"/>
              </a:lnSpc>
              <a:spcBef>
                <a:spcPts val="0"/>
              </a:spcBef>
              <a:spcAft>
                <a:spcPts val="1100"/>
              </a:spcAft>
            </a:pPr>
            <a:r>
              <a:rPr sz="2000" b="0" i="0">
                <a:solidFill>
                  <a:srgbClr val="1A1A1A"/>
                </a:solidFill>
                <a:latin typeface="Arial"/>
              </a:rPr>
              <a:t>Lim presents this as bullish continuation when the pattern agrees with the trend. The crop has no volume panel.</a:t>
            </a:r>
          </a:p>
          <a:p>
            <a:pPr algn="l">
              <a:lnSpc>
                <a:spcPct val="105000"/>
              </a:lnSpc>
              <a:spcBef>
                <a:spcPts val="0"/>
              </a:spcBef>
              <a:spcAft>
                <a:spcPts val="1100"/>
              </a:spcAft>
            </a:pPr>
            <a:r>
              <a:rPr sz="2000" b="0" i="0">
                <a:solidFill>
                  <a:srgbClr val="1A1A1A"/>
                </a:solidFill>
                <a:latin typeface="Arial"/>
              </a:rPr>
              <a:t>The second continuation form adds a midpoint retrace.</a:t>
            </a:r>
          </a:p>
        </p:txBody>
      </p:sp>
      <p:sp>
        <p:nvSpPr>
          <p:cNvPr id="8" name="Rectangle 7"/>
          <p:cNvSpPr/>
          <p:nvPr/>
        </p:nvSpPr>
        <p:spPr>
          <a:xfrm>
            <a:off x="5783253" y="1810512"/>
            <a:ext cx="478570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2125" y="1929384"/>
            <a:ext cx="454796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2125" y="1929384"/>
            <a:ext cx="454796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76445" y="2203703"/>
            <a:ext cx="399932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2" name="Connector 11"/>
          <p:cNvCxnSpPr/>
          <p:nvPr/>
        </p:nvCxnSpPr>
        <p:spPr>
          <a:xfrm>
            <a:off x="7348377" y="2793162"/>
            <a:ext cx="695839" cy="0"/>
          </a:xfrm>
          <a:prstGeom prst="line">
            <a:avLst/>
          </a:prstGeom>
          <a:ln w="44450">
            <a:solidFill>
              <a:srgbClr val="E09B00"/>
            </a:solidFill>
          </a:ln>
        </p:spPr>
      </p:cxnSp>
      <p:sp>
        <p:nvSpPr>
          <p:cNvPr id="13" name="Oval 12"/>
          <p:cNvSpPr/>
          <p:nvPr/>
        </p:nvSpPr>
        <p:spPr>
          <a:xfrm>
            <a:off x="7734954" y="2133039"/>
            <a:ext cx="350193" cy="558296"/>
          </a:xfrm>
          <a:prstGeom prst="ellipse">
            <a:avLst/>
          </a:prstGeom>
          <a:noFill/>
          <a:ln w="44450">
            <a:solidFill>
              <a:srgbClr val="C62828"/>
            </a:solidFill>
          </a:ln>
        </p:spPr>
        <p:txBody>
          <a:bodyPr rtlCol="0" anchor="ctr"/>
          <a:lstStyle/>
          <a:p>
            <a:pPr algn="ctr"/>
          </a:p>
        </p:txBody>
      </p:sp>
      <p:sp>
        <p:nvSpPr>
          <p:cNvPr id="14" name="Oval 13"/>
          <p:cNvSpPr/>
          <p:nvPr/>
        </p:nvSpPr>
        <p:spPr>
          <a:xfrm>
            <a:off x="7694023" y="2133039"/>
            <a:ext cx="391124" cy="558296"/>
          </a:xfrm>
          <a:prstGeom prst="ellipse">
            <a:avLst/>
          </a:prstGeom>
          <a:noFill/>
          <a:ln w="44450">
            <a:solidFill>
              <a:srgbClr val="1F5FAD"/>
            </a:solidFill>
          </a:ln>
        </p:spPr>
        <p:txBody>
          <a:bodyPr rtlCol="0" anchor="ctr"/>
          <a:lstStyle/>
          <a:p>
            <a:pPr algn="ctr"/>
          </a:p>
        </p:txBody>
      </p:sp>
      <p:sp>
        <p:nvSpPr>
          <p:cNvPr id="15" name="Oval 14"/>
          <p:cNvSpPr/>
          <p:nvPr/>
        </p:nvSpPr>
        <p:spPr>
          <a:xfrm>
            <a:off x="6792709"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111618" y="21952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111618" y="300288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7.12 - Lim, The Handbook of Technical Analysis (Wiley, 2016)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50 percent retrace can still continue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second bullish continuation pattern starts with a retracement to the 50 percent level, then asks whether price rebounds through the old high. Here is the invented example. The previous bar runs from PHP 48.00 to PHP 52.00, so its 50 percent level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23383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4745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497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758655" y="411986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2906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86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next price retraces to PHP 50.00, rebounds to PHP 52.40 on 4.0 million shares, and breaches PHP 52.00.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bullish continuation pattern 1 show?</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down</a:t>
            </a:r>
          </a:p>
          <a:p>
            <a:pPr algn="l">
              <a:lnSpc>
                <a:spcPct val="105000"/>
              </a:lnSpc>
              <a:spcBef>
                <a:spcPts val="0"/>
              </a:spcBef>
              <a:spcAft>
                <a:spcPts val="200"/>
              </a:spcAft>
            </a:pPr>
            <a:r>
              <a:rPr sz="1700" b="0" i="0">
                <a:solidFill>
                  <a:srgbClr val="FFFFFF"/>
                </a:solidFill>
                <a:latin typeface="Arial"/>
              </a:rPr>
              <a:t>B.  A lower close</a:t>
            </a:r>
          </a:p>
          <a:p>
            <a:pPr algn="l">
              <a:lnSpc>
                <a:spcPct val="105000"/>
              </a:lnSpc>
              <a:spcBef>
                <a:spcPts val="0"/>
              </a:spcBef>
              <a:spcAft>
                <a:spcPts val="200"/>
              </a:spcAft>
            </a:pPr>
            <a:r>
              <a:rPr sz="1700" b="0" i="0">
                <a:solidFill>
                  <a:srgbClr val="FFFFFF"/>
                </a:solidFill>
                <a:latin typeface="Arial"/>
              </a:rPr>
              <a:t>C.  A second bar closing near its high</a:t>
            </a:r>
          </a:p>
          <a:p>
            <a:pPr algn="l">
              <a:lnSpc>
                <a:spcPct val="105000"/>
              </a:lnSpc>
              <a:spcBef>
                <a:spcPts val="0"/>
              </a:spcBef>
              <a:spcAft>
                <a:spcPts val="200"/>
              </a:spcAft>
            </a:pPr>
            <a:r>
              <a:rPr sz="1700" b="0" i="0">
                <a:solidFill>
                  <a:srgbClr val="FFFFFF"/>
                </a:solidFill>
                <a:latin typeface="Arial"/>
              </a:rPr>
              <a:t>D.  A close below support</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makes pattern 2 bullish continuation?</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It stops at the midpoint</a:t>
            </a:r>
          </a:p>
          <a:p>
            <a:pPr algn="l">
              <a:lnSpc>
                <a:spcPct val="105000"/>
              </a:lnSpc>
              <a:spcBef>
                <a:spcPts val="0"/>
              </a:spcBef>
              <a:spcAft>
                <a:spcPts val="200"/>
              </a:spcAft>
            </a:pPr>
            <a:r>
              <a:rPr sz="1700" b="0" i="0">
                <a:solidFill>
                  <a:srgbClr val="FFFFFF"/>
                </a:solidFill>
                <a:latin typeface="Arial"/>
              </a:rPr>
              <a:t>B.  It makes no new high</a:t>
            </a:r>
          </a:p>
          <a:p>
            <a:pPr algn="l">
              <a:lnSpc>
                <a:spcPct val="105000"/>
              </a:lnSpc>
              <a:spcBef>
                <a:spcPts val="0"/>
              </a:spcBef>
              <a:spcAft>
                <a:spcPts val="200"/>
              </a:spcAft>
            </a:pPr>
            <a:r>
              <a:rPr sz="1700" b="0" i="0">
                <a:solidFill>
                  <a:srgbClr val="FFFFFF"/>
                </a:solidFill>
                <a:latin typeface="Arial"/>
              </a:rPr>
              <a:t>C.  It uses only volume</a:t>
            </a:r>
          </a:p>
          <a:p>
            <a:pPr algn="l">
              <a:lnSpc>
                <a:spcPct val="105000"/>
              </a:lnSpc>
              <a:spcBef>
                <a:spcPts val="0"/>
              </a:spcBef>
              <a:spcAft>
                <a:spcPts val="200"/>
              </a:spcAft>
            </a:pPr>
            <a:r>
              <a:rPr sz="1700" b="0" i="0">
                <a:solidFill>
                  <a:srgbClr val="FFFFFF"/>
                </a:solidFill>
                <a:latin typeface="Arial"/>
              </a:rPr>
              <a:t>D.  50% retrace, then breach old high</a:t>
            </a:r>
          </a:p>
        </p:txBody>
      </p:sp>
      <p:sp>
        <p:nvSpPr>
          <p:cNvPr id="14" name="Rectangle 13"/>
          <p:cNvSpPr/>
          <p:nvPr/>
        </p:nvSpPr>
        <p:spPr>
          <a:xfrm>
            <a:off x="5803892" y="1207008"/>
            <a:ext cx="556738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922764" y="1325880"/>
            <a:ext cx="532964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922764" y="1325880"/>
            <a:ext cx="532964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97084" y="1600200"/>
            <a:ext cx="478100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8" name="Connector 17"/>
          <p:cNvCxnSpPr/>
          <p:nvPr/>
        </p:nvCxnSpPr>
        <p:spPr>
          <a:xfrm>
            <a:off x="8054622" y="2724912"/>
            <a:ext cx="1918673" cy="0"/>
          </a:xfrm>
          <a:prstGeom prst="line">
            <a:avLst/>
          </a:prstGeom>
          <a:ln w="44450">
            <a:solidFill>
              <a:srgbClr val="E09B00"/>
            </a:solidFill>
          </a:ln>
        </p:spPr>
      </p:cxnSp>
      <p:sp>
        <p:nvSpPr>
          <p:cNvPr id="19" name="Oval 18"/>
          <p:cNvSpPr/>
          <p:nvPr/>
        </p:nvSpPr>
        <p:spPr>
          <a:xfrm>
            <a:off x="9120552" y="1655064"/>
            <a:ext cx="959336" cy="905255"/>
          </a:xfrm>
          <a:prstGeom prst="ellipse">
            <a:avLst/>
          </a:prstGeom>
          <a:noFill/>
          <a:ln w="44450">
            <a:solidFill>
              <a:srgbClr val="C62828"/>
            </a:solidFill>
          </a:ln>
        </p:spPr>
        <p:txBody>
          <a:bodyPr rtlCol="0" anchor="ctr"/>
          <a:lstStyle/>
          <a:p>
            <a:pPr algn="ctr"/>
          </a:p>
        </p:txBody>
      </p:sp>
      <p:sp>
        <p:nvSpPr>
          <p:cNvPr id="20" name="Oval 19"/>
          <p:cNvSpPr/>
          <p:nvPr/>
        </p:nvSpPr>
        <p:spPr>
          <a:xfrm>
            <a:off x="9013959" y="1655064"/>
            <a:ext cx="1065929" cy="905255"/>
          </a:xfrm>
          <a:prstGeom prst="ellipse">
            <a:avLst/>
          </a:prstGeom>
          <a:noFill/>
          <a:ln w="44450">
            <a:solidFill>
              <a:srgbClr val="1F5FAD"/>
            </a:solidFill>
          </a:ln>
        </p:spPr>
        <p:txBody>
          <a:bodyPr rtlCol="0" anchor="ctr"/>
          <a:lstStyle/>
          <a:p>
            <a:pPr algn="ctr"/>
          </a:p>
        </p:txBody>
      </p:sp>
      <p:sp>
        <p:nvSpPr>
          <p:cNvPr id="21" name="Oval 20"/>
          <p:cNvSpPr/>
          <p:nvPr/>
        </p:nvSpPr>
        <p:spPr>
          <a:xfrm>
            <a:off x="6833245" y="2322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44219" y="16642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44219" y="281635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466344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bullish continuation pattern 1 show?</a:t>
            </a:r>
          </a:p>
        </p:txBody>
      </p:sp>
      <p:sp>
        <p:nvSpPr>
          <p:cNvPr id="9" name="TextBox 8"/>
          <p:cNvSpPr txBox="1"/>
          <p:nvPr/>
        </p:nvSpPr>
        <p:spPr>
          <a:xfrm>
            <a:off x="1097280" y="2069338"/>
            <a:ext cx="411480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 second bar closing near its high</a:t>
            </a:r>
          </a:p>
          <a:p>
            <a:pPr algn="l">
              <a:lnSpc>
                <a:spcPct val="115000"/>
              </a:lnSpc>
              <a:spcBef>
                <a:spcPts val="500"/>
              </a:spcBef>
              <a:spcAft>
                <a:spcPts val="0"/>
              </a:spcAft>
            </a:pPr>
            <a:r>
              <a:rPr sz="1700" b="0" i="0">
                <a:solidFill>
                  <a:srgbClr val="1A1A1A"/>
                </a:solidFill>
                <a:latin typeface="Arial"/>
              </a:rPr>
              <a:t>The Figure 7.12 crop shows a second bar closing near its high after the prior bar.</a:t>
            </a:r>
          </a:p>
        </p:txBody>
      </p:sp>
      <p:sp>
        <p:nvSpPr>
          <p:cNvPr id="10" name="Rectangle 9"/>
          <p:cNvSpPr/>
          <p:nvPr/>
        </p:nvSpPr>
        <p:spPr>
          <a:xfrm>
            <a:off x="777240" y="3888613"/>
            <a:ext cx="4663440" cy="22504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22504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makes pattern 2 bullish continuation?</a:t>
            </a:r>
          </a:p>
        </p:txBody>
      </p:sp>
      <p:sp>
        <p:nvSpPr>
          <p:cNvPr id="13" name="TextBox 12"/>
          <p:cNvSpPr txBox="1"/>
          <p:nvPr/>
        </p:nvSpPr>
        <p:spPr>
          <a:xfrm>
            <a:off x="1097280" y="4750943"/>
            <a:ext cx="411480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50% retrace, then breach old high</a:t>
            </a:r>
          </a:p>
          <a:p>
            <a:pPr algn="l">
              <a:lnSpc>
                <a:spcPct val="115000"/>
              </a:lnSpc>
              <a:spcBef>
                <a:spcPts val="500"/>
              </a:spcBef>
              <a:spcAft>
                <a:spcPts val="0"/>
              </a:spcAft>
            </a:pPr>
            <a:r>
              <a:rPr sz="1700" b="0" i="0">
                <a:solidFill>
                  <a:srgbClr val="1A1A1A"/>
                </a:solidFill>
                <a:latin typeface="Arial"/>
              </a:rPr>
              <a:t>Pattern 2 needs a 50 percent retrace, then a rebound above the old high.</a:t>
            </a:r>
          </a:p>
        </p:txBody>
      </p:sp>
      <p:sp>
        <p:nvSpPr>
          <p:cNvPr id="14" name="Rectangle 13"/>
          <p:cNvSpPr/>
          <p:nvPr/>
        </p:nvSpPr>
        <p:spPr>
          <a:xfrm>
            <a:off x="5803892" y="1207008"/>
            <a:ext cx="556738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922764" y="1325880"/>
            <a:ext cx="532964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922764" y="1325880"/>
            <a:ext cx="532964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97084" y="1600200"/>
            <a:ext cx="478100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first simple bullish continuation formation: a second bar closing near its high.</a:t>
            </a:r>
          </a:p>
        </p:txBody>
      </p:sp>
      <p:cxnSp>
        <p:nvCxnSpPr>
          <p:cNvPr id="18" name="Connector 17"/>
          <p:cNvCxnSpPr/>
          <p:nvPr/>
        </p:nvCxnSpPr>
        <p:spPr>
          <a:xfrm>
            <a:off x="8054622" y="2724912"/>
            <a:ext cx="1918673" cy="0"/>
          </a:xfrm>
          <a:prstGeom prst="line">
            <a:avLst/>
          </a:prstGeom>
          <a:ln w="44450">
            <a:solidFill>
              <a:srgbClr val="E09B00"/>
            </a:solidFill>
          </a:ln>
        </p:spPr>
      </p:cxnSp>
      <p:sp>
        <p:nvSpPr>
          <p:cNvPr id="19" name="Oval 18"/>
          <p:cNvSpPr/>
          <p:nvPr/>
        </p:nvSpPr>
        <p:spPr>
          <a:xfrm>
            <a:off x="9120552" y="1655064"/>
            <a:ext cx="959336" cy="905255"/>
          </a:xfrm>
          <a:prstGeom prst="ellipse">
            <a:avLst/>
          </a:prstGeom>
          <a:noFill/>
          <a:ln w="44450">
            <a:solidFill>
              <a:srgbClr val="C62828"/>
            </a:solidFill>
          </a:ln>
        </p:spPr>
        <p:txBody>
          <a:bodyPr rtlCol="0" anchor="ctr"/>
          <a:lstStyle/>
          <a:p>
            <a:pPr algn="ctr"/>
          </a:p>
        </p:txBody>
      </p:sp>
      <p:sp>
        <p:nvSpPr>
          <p:cNvPr id="20" name="Oval 19"/>
          <p:cNvSpPr/>
          <p:nvPr/>
        </p:nvSpPr>
        <p:spPr>
          <a:xfrm>
            <a:off x="9013959" y="1655064"/>
            <a:ext cx="1065929" cy="905255"/>
          </a:xfrm>
          <a:prstGeom prst="ellipse">
            <a:avLst/>
          </a:prstGeom>
          <a:noFill/>
          <a:ln w="44450">
            <a:solidFill>
              <a:srgbClr val="1F5FAD"/>
            </a:solidFill>
          </a:ln>
        </p:spPr>
        <p:txBody>
          <a:bodyPr rtlCol="0" anchor="ctr"/>
          <a:lstStyle/>
          <a:p>
            <a:pPr algn="ctr"/>
          </a:p>
        </p:txBody>
      </p:sp>
      <p:sp>
        <p:nvSpPr>
          <p:cNvPr id="21" name="Oval 20"/>
          <p:cNvSpPr/>
          <p:nvPr/>
        </p:nvSpPr>
        <p:spPr>
          <a:xfrm>
            <a:off x="6833245" y="2322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44219" y="16642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44219" y="281635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5650992"/>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book's second continuation example retraces halfway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first continuation bar, red </a:t>
            </a:r>
            <a:r>
              <a:rPr sz="1700" b="1" i="0">
                <a:solidFill>
                  <a:srgbClr val="C62828"/>
                </a:solidFill>
                <a:latin typeface="Arial"/>
              </a:rPr>
              <a:t>(2)</a:t>
            </a:r>
            <a:r>
              <a:rPr sz="1700" b="0" i="0">
                <a:solidFill>
                  <a:srgbClr val="1A1A1A"/>
                </a:solidFill>
                <a:latin typeface="Arial"/>
              </a:rPr>
              <a:t> the midpoint retrace, and blue </a:t>
            </a:r>
            <a:r>
              <a:rPr sz="1700" b="1" i="0">
                <a:solidFill>
                  <a:srgbClr val="1F5FAD"/>
                </a:solidFill>
                <a:latin typeface="Arial"/>
              </a:rPr>
              <a:t>(3)</a:t>
            </a:r>
            <a:r>
              <a:rPr sz="1700" b="0" i="0">
                <a:solidFill>
                  <a:srgbClr val="1A1A1A"/>
                </a:solidFill>
                <a:latin typeface="Arial"/>
              </a:rPr>
              <a:t> the rebound above it. The book labels the midpoint as 50% of the first bar. The crop has no volume panel.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u-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5951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95951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42459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75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13905" y="372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2678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QU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86</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bearish reverse applies the same structure downward. (Lim, p. 216.)</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7.12, continuation form 2</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first bar, red </a:t>
            </a:r>
            <a:r>
              <a:rPr sz="1800" b="1" i="0">
                <a:solidFill>
                  <a:srgbClr val="C62828"/>
                </a:solidFill>
                <a:latin typeface="Arial"/>
              </a:rPr>
              <a:t>(2)</a:t>
            </a:r>
            <a:r>
              <a:rPr sz="1800" b="0" i="0">
                <a:solidFill>
                  <a:srgbClr val="1A1A1A"/>
                </a:solidFill>
                <a:latin typeface="Arial"/>
              </a:rPr>
              <a:t> the 50% midpoint retrace, and blue </a:t>
            </a:r>
            <a:r>
              <a:rPr sz="1800" b="1" i="0">
                <a:solidFill>
                  <a:srgbClr val="1F5FAD"/>
                </a:solidFill>
                <a:latin typeface="Arial"/>
              </a:rPr>
              <a:t>(3)</a:t>
            </a:r>
            <a:r>
              <a:rPr sz="1800" b="0" i="0">
                <a:solidFill>
                  <a:srgbClr val="1A1A1A"/>
                </a:solidFill>
                <a:latin typeface="Arial"/>
              </a:rPr>
              <a:t> the rebound through the old high.</a:t>
            </a:r>
          </a:p>
          <a:p>
            <a:pPr algn="l">
              <a:lnSpc>
                <a:spcPct val="105000"/>
              </a:lnSpc>
              <a:spcBef>
                <a:spcPts val="0"/>
              </a:spcBef>
              <a:spcAft>
                <a:spcPts val="1100"/>
              </a:spcAft>
            </a:pPr>
            <a:r>
              <a:rPr sz="1800" b="0" i="0">
                <a:solidFill>
                  <a:srgbClr val="1A1A1A"/>
                </a:solidFill>
                <a:latin typeface="Arial"/>
              </a:rPr>
              <a:t>The crop shows the midpoint level but no volume panel; the course chart supplies invented volume separately.</a:t>
            </a:r>
          </a:p>
          <a:p>
            <a:pPr algn="l">
              <a:lnSpc>
                <a:spcPct val="105000"/>
              </a:lnSpc>
              <a:spcBef>
                <a:spcPts val="0"/>
              </a:spcBef>
              <a:spcAft>
                <a:spcPts val="1100"/>
              </a:spcAft>
            </a:pPr>
            <a:r>
              <a:rPr sz="1800" b="0" i="0">
                <a:solidFill>
                  <a:srgbClr val="1A1A1A"/>
                </a:solidFill>
                <a:latin typeface="Arial"/>
              </a:rPr>
              <a:t>The 16 reversal characteristics explain when a move may be losing energy.</a:t>
            </a:r>
          </a:p>
        </p:txBody>
      </p:sp>
      <p:sp>
        <p:nvSpPr>
          <p:cNvPr id="8" name="Rectangle 7"/>
          <p:cNvSpPr/>
          <p:nvPr/>
        </p:nvSpPr>
        <p:spPr>
          <a:xfrm>
            <a:off x="5783253" y="1810512"/>
            <a:ext cx="478570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2125" y="1929384"/>
            <a:ext cx="454796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2125" y="1929384"/>
            <a:ext cx="454796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76445" y="2203703"/>
            <a:ext cx="399932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The second simple bullish continuation formation: a second bar retracing to the first bar's midpoint before rebounding.</a:t>
            </a:r>
          </a:p>
        </p:txBody>
      </p:sp>
      <p:sp>
        <p:nvSpPr>
          <p:cNvPr id="12" name="Oval 11"/>
          <p:cNvSpPr/>
          <p:nvPr/>
        </p:nvSpPr>
        <p:spPr>
          <a:xfrm>
            <a:off x="8630903" y="2736982"/>
            <a:ext cx="363837" cy="1018275"/>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8539944" y="2877433"/>
            <a:ext cx="773154" cy="0"/>
          </a:xfrm>
          <a:prstGeom prst="line">
            <a:avLst/>
          </a:prstGeom>
          <a:ln w="44450">
            <a:solidFill>
              <a:srgbClr val="C62828"/>
            </a:solidFill>
          </a:ln>
        </p:spPr>
      </p:cxnSp>
      <p:sp>
        <p:nvSpPr>
          <p:cNvPr id="14" name="Oval 13"/>
          <p:cNvSpPr/>
          <p:nvPr/>
        </p:nvSpPr>
        <p:spPr>
          <a:xfrm>
            <a:off x="8994741" y="2140061"/>
            <a:ext cx="272877" cy="842711"/>
          </a:xfrm>
          <a:prstGeom prst="ellipse">
            <a:avLst/>
          </a:prstGeom>
          <a:noFill/>
          <a:ln w="44450">
            <a:solidFill>
              <a:srgbClr val="1F5FAD"/>
            </a:solidFill>
          </a:ln>
        </p:spPr>
        <p:txBody>
          <a:bodyPr rtlCol="0" anchor="ctr"/>
          <a:lstStyle/>
          <a:p>
            <a:pPr algn="ctr"/>
          </a:p>
        </p:txBody>
      </p:sp>
      <p:sp>
        <p:nvSpPr>
          <p:cNvPr id="15" name="Oval 14"/>
          <p:cNvSpPr/>
          <p:nvPr/>
        </p:nvSpPr>
        <p:spPr>
          <a:xfrm>
            <a:off x="8248057" y="244108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76008" y="28975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94089" y="191438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7.12 - Lim, The Handbook of Technical Analysis (Wiley, 2016)</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characteristics show a move losing energy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are starting the 16 reversal characteristics with the way a price move can lose energy before a reversal or retracement.</a:t>
            </a:r>
          </a:p>
          <a:p>
            <a:pPr algn="l">
              <a:lnSpc>
                <a:spcPct val="118000"/>
              </a:lnSpc>
              <a:spcBef>
                <a:spcPts val="0"/>
              </a:spcBef>
              <a:spcAft>
                <a:spcPts val="1300"/>
              </a:spcAft>
            </a:pPr>
            <a:r>
              <a:rPr sz="2100" b="0" i="0">
                <a:solidFill>
                  <a:srgbClr val="1A1A1A"/>
                </a:solidFill>
                <a:latin typeface="Arial"/>
              </a:rPr>
              <a:t>Characteristics 1 and 2 are cycle amplitude and cycle period: amplitude decreases from 40 to 30 points, while period decreases from 20 to 12 bars.</a:t>
            </a:r>
          </a:p>
          <a:p>
            <a:pPr algn="l">
              <a:lnSpc>
                <a:spcPct val="118000"/>
              </a:lnSpc>
              <a:spcBef>
                <a:spcPts val="0"/>
              </a:spcBef>
              <a:spcAft>
                <a:spcPts val="1300"/>
              </a:spcAft>
            </a:pPr>
            <a:r>
              <a:rPr sz="2100" b="0" i="0">
                <a:solidFill>
                  <a:srgbClr val="1A1A1A"/>
                </a:solidFill>
                <a:latin typeface="Arial"/>
              </a:rPr>
              <a:t>Characteristics 3 and 4 are bar retracement symmetry and average range: symmetry changes from 28, 30, and 26 bars to 14 bars, while range falls from 3.0 to 2.0.</a:t>
            </a:r>
          </a:p>
          <a:p>
            <a:pPr algn="l">
              <a:lnSpc>
                <a:spcPct val="118000"/>
              </a:lnSpc>
              <a:spcBef>
                <a:spcPts val="0"/>
              </a:spcBef>
              <a:spcAft>
                <a:spcPts val="1300"/>
              </a:spcAft>
            </a:pPr>
            <a:r>
              <a:rPr sz="2100" b="0" i="0">
                <a:solidFill>
                  <a:srgbClr val="1A1A1A"/>
                </a:solidFill>
                <a:latin typeface="Arial"/>
              </a:rPr>
              <a:t>These are invented values showing the direction. The characteristics indicate potential, never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Four more characteristics describe weaker follow-through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Characteristics 5 to 8 ask whether price persists and bar measures weaken. Characteristic 5 is price persistence, whose quality falls; characteristic 6 is bar stochastic, which falls from 0.80 to 0.40. The book's terms stay connected to their earlier FIN1209 definitions.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v-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QV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86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Characteristic 7 is BRR, taught in Chapter 5, and falls from 0.60 to 0.25; characteristic 8 is angular symmetry and momentum, changing from 20 to 35 degrees.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first half</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earlier chapter taught BRR, the real body to range ratio?</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Chapter 8</a:t>
            </a:r>
          </a:p>
          <a:p>
            <a:pPr algn="l">
              <a:lnSpc>
                <a:spcPct val="112000"/>
              </a:lnSpc>
              <a:spcBef>
                <a:spcPts val="0"/>
              </a:spcBef>
              <a:spcAft>
                <a:spcPts val="900"/>
              </a:spcAft>
            </a:pPr>
            <a:r>
              <a:rPr sz="1500" b="0" i="0">
                <a:solidFill>
                  <a:srgbClr val="FFFFFF"/>
                </a:solidFill>
                <a:latin typeface="Arial"/>
              </a:rPr>
              <a:t>B.  Chapter 5</a:t>
            </a:r>
          </a:p>
          <a:p>
            <a:pPr algn="l">
              <a:lnSpc>
                <a:spcPct val="112000"/>
              </a:lnSpc>
              <a:spcBef>
                <a:spcPts val="0"/>
              </a:spcBef>
              <a:spcAft>
                <a:spcPts val="900"/>
              </a:spcAft>
            </a:pPr>
            <a:r>
              <a:rPr sz="1500" b="0" i="0">
                <a:solidFill>
                  <a:srgbClr val="FFFFFF"/>
                </a:solidFill>
                <a:latin typeface="Arial"/>
              </a:rPr>
              <a:t>C.  Chapter 1</a:t>
            </a:r>
          </a:p>
          <a:p>
            <a:pPr algn="l">
              <a:lnSpc>
                <a:spcPct val="112000"/>
              </a:lnSpc>
              <a:spcBef>
                <a:spcPts val="0"/>
              </a:spcBef>
              <a:spcAft>
                <a:spcPts val="900"/>
              </a:spcAft>
            </a:pPr>
            <a:r>
              <a:rPr sz="1500" b="0" i="0">
                <a:solidFill>
                  <a:srgbClr val="FFFFFF"/>
                </a:solidFill>
                <a:latin typeface="Arial"/>
              </a:rPr>
              <a:t>D.  Not named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names angular symmetry and momentum?</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6</a:t>
            </a:r>
          </a:p>
          <a:p>
            <a:pPr algn="l">
              <a:lnSpc>
                <a:spcPct val="112000"/>
              </a:lnSpc>
              <a:spcBef>
                <a:spcPts val="0"/>
              </a:spcBef>
              <a:spcAft>
                <a:spcPts val="900"/>
              </a:spcAft>
            </a:pPr>
            <a:r>
              <a:rPr sz="1500" b="0" i="0">
                <a:solidFill>
                  <a:srgbClr val="FFFFFF"/>
                </a:solidFill>
                <a:latin typeface="Arial"/>
              </a:rPr>
              <a:t>B.  7</a:t>
            </a:r>
          </a:p>
          <a:p>
            <a:pPr algn="l">
              <a:lnSpc>
                <a:spcPct val="112000"/>
              </a:lnSpc>
              <a:spcBef>
                <a:spcPts val="0"/>
              </a:spcBef>
              <a:spcAft>
                <a:spcPts val="900"/>
              </a:spcAft>
            </a:pPr>
            <a:r>
              <a:rPr sz="1500" b="0" i="0">
                <a:solidFill>
                  <a:srgbClr val="FFFFFF"/>
                </a:solidFill>
                <a:latin typeface="Arial"/>
              </a:rPr>
              <a:t>C.  8</a:t>
            </a:r>
          </a:p>
          <a:p>
            <a:pPr algn="l">
              <a:lnSpc>
                <a:spcPct val="112000"/>
              </a:lnSpc>
              <a:spcBef>
                <a:spcPts val="0"/>
              </a:spcBef>
              <a:spcAft>
                <a:spcPts val="900"/>
              </a:spcAft>
            </a:pPr>
            <a:r>
              <a:rPr sz="1500" b="0" i="0">
                <a:solidFill>
                  <a:srgbClr val="FFFFFF"/>
                </a:solidFill>
                <a:latin typeface="Arial"/>
              </a:rPr>
              <a:t>D.  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first half</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earlier chapter taught BRR, the real body to range ratio?</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Chapter 5</a:t>
            </a:r>
          </a:p>
          <a:p>
            <a:pPr algn="l">
              <a:lnSpc>
                <a:spcPct val="115000"/>
              </a:lnSpc>
              <a:spcBef>
                <a:spcPts val="700"/>
              </a:spcBef>
              <a:spcAft>
                <a:spcPts val="0"/>
              </a:spcAft>
            </a:pPr>
            <a:r>
              <a:rPr sz="1600" b="0" i="0">
                <a:solidFill>
                  <a:srgbClr val="1A1A1A"/>
                </a:solidFill>
                <a:latin typeface="Arial"/>
              </a:rPr>
              <a:t>Chapter 5 taught the real body to range ratio, recalled here as characteristic 7.</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characteristic names angular symmetry and momentum?</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8</a:t>
            </a:r>
          </a:p>
          <a:p>
            <a:pPr algn="l">
              <a:lnSpc>
                <a:spcPct val="115000"/>
              </a:lnSpc>
              <a:spcBef>
                <a:spcPts val="700"/>
              </a:spcBef>
              <a:spcAft>
                <a:spcPts val="0"/>
              </a:spcAft>
            </a:pPr>
            <a:r>
              <a:rPr sz="1600" b="0" i="0">
                <a:solidFill>
                  <a:srgbClr val="1A1A1A"/>
                </a:solidFill>
                <a:latin typeface="Arial"/>
              </a:rPr>
              <a:t>Characteristic 8 is changes in angular symmetry and momentum.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Location and consolidation add four more warnings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Characteristics 9 to 12 move from bar behaviour to context: barrier proximity, fewer oscillations, larger consolidation, and an exhaustion gap.</a:t>
            </a:r>
          </a:p>
          <a:p>
            <a:pPr algn="l">
              <a:lnSpc>
                <a:spcPct val="118000"/>
              </a:lnSpc>
              <a:spcBef>
                <a:spcPts val="0"/>
              </a:spcBef>
              <a:spcAft>
                <a:spcPts val="1300"/>
              </a:spcAft>
            </a:pPr>
            <a:r>
              <a:rPr sz="2100" b="0" i="0">
                <a:solidFill>
                  <a:srgbClr val="1A1A1A"/>
                </a:solidFill>
                <a:latin typeface="Arial"/>
              </a:rPr>
              <a:t>Characteristic 9 is PHP 1.00 below resistance; characteristic 10 is fewer or shallower oscillations, from 6 to 2.</a:t>
            </a:r>
          </a:p>
          <a:p>
            <a:pPr algn="l">
              <a:lnSpc>
                <a:spcPct val="118000"/>
              </a:lnSpc>
              <a:spcBef>
                <a:spcPts val="0"/>
              </a:spcBef>
              <a:spcAft>
                <a:spcPts val="1300"/>
              </a:spcAft>
            </a:pPr>
            <a:r>
              <a:rPr sz="2100" b="0" i="0">
                <a:solidFill>
                  <a:srgbClr val="1A1A1A"/>
                </a:solidFill>
                <a:latin typeface="Arial"/>
              </a:rPr>
              <a:t>Characteristic 11 is consolidation becoming larger and longer, from 3 to 12 bars; characteristic 12 is an exhaustion gap at PHP 0.80.</a:t>
            </a:r>
          </a:p>
          <a:p>
            <a:pPr algn="l">
              <a:lnSpc>
                <a:spcPct val="118000"/>
              </a:lnSpc>
              <a:spcBef>
                <a:spcPts val="0"/>
              </a:spcBef>
              <a:spcAft>
                <a:spcPts val="1300"/>
              </a:spcAft>
            </a:pPr>
            <a:r>
              <a:rPr sz="2100" b="0" i="0">
                <a:solidFill>
                  <a:srgbClr val="1A1A1A"/>
                </a:solidFill>
                <a:latin typeface="Arial"/>
              </a:rPr>
              <a:t>The gap and barrier terms keep the meanings taught in Chapters 3 and 5.</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location of the pattern matters as much as its shape.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last four characteristics combine range, volume,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Characteristics 13 to 16 ask whether the move is nearly complete, overextended, unusually active, or diverging.</a:t>
            </a:r>
          </a:p>
          <a:p>
            <a:pPr algn="l">
              <a:lnSpc>
                <a:spcPct val="118000"/>
              </a:lnSpc>
              <a:spcBef>
                <a:spcPts val="0"/>
              </a:spcBef>
              <a:spcAft>
                <a:spcPts val="1300"/>
              </a:spcAft>
            </a:pPr>
            <a:r>
              <a:rPr sz="2100" b="0" i="0">
                <a:solidFill>
                  <a:srgbClr val="1A1A1A"/>
                </a:solidFill>
                <a:latin typeface="Arial"/>
              </a:rPr>
              <a:t>Characteristics 13 and 14 are range completion at 9 of 10 points and overextension at PHP 1.00 above resistance.</a:t>
            </a:r>
          </a:p>
          <a:p>
            <a:pPr algn="l">
              <a:lnSpc>
                <a:spcPct val="118000"/>
              </a:lnSpc>
              <a:spcBef>
                <a:spcPts val="0"/>
              </a:spcBef>
              <a:spcAft>
                <a:spcPts val="1300"/>
              </a:spcAft>
            </a:pPr>
            <a:r>
              <a:rPr sz="2100" b="0" i="0">
                <a:solidFill>
                  <a:srgbClr val="1A1A1A"/>
                </a:solidFill>
                <a:latin typeface="Arial"/>
              </a:rPr>
              <a:t>Characteristics 15 and 16 are extreme volume at 5.0 million versus 1.2 million and standard divergence. Chapter 7 gives no oscillator formula.</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list ends with range completion, overextension, volume, and divergence.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reversal warnings appear together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using this warning chart to see several reversal characteristics on one price path: changing momentum, fewer oscillations, and overextension. Here is our invented path: price rises from PHP 40.00 to PHP 80.00 in 12 bars, with only two pullbacks.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751347" y="375041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272804" y="377715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839130" y="36662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360587" y="369303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86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book names the Bollinger upper band but never gives its formula here. These are potential warnings, not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Gold </a:t>
            </a:r>
            <a:r>
              <a:rPr sz="1500" b="1" i="0">
                <a:solidFill>
                  <a:srgbClr val="E09B00"/>
                </a:solidFill>
                <a:latin typeface="Arial"/>
              </a:rPr>
              <a:t>(1)</a:t>
            </a:r>
            <a:r>
              <a:rPr sz="1500" b="0" i="0">
                <a:solidFill>
                  <a:srgbClr val="1A1A1A"/>
                </a:solidFill>
                <a:latin typeface="Arial"/>
              </a:rPr>
              <a:t> marks characteristic 8, the rapid rise and changing momentum; red </a:t>
            </a:r>
            <a:r>
              <a:rPr sz="1500" b="1" i="0">
                <a:solidFill>
                  <a:srgbClr val="C62828"/>
                </a:solidFill>
                <a:latin typeface="Arial"/>
              </a:rPr>
              <a:t>(2)</a:t>
            </a:r>
            <a:r>
              <a:rPr sz="1500" b="0" i="0">
                <a:solidFill>
                  <a:srgbClr val="1A1A1A"/>
                </a:solidFill>
                <a:latin typeface="Arial"/>
              </a:rPr>
              <a:t> marks characteristic 10, the fewer oscillations; blue </a:t>
            </a:r>
            <a:r>
              <a:rPr sz="1500" b="1" i="0">
                <a:solidFill>
                  <a:srgbClr val="1F5FAD"/>
                </a:solidFill>
                <a:latin typeface="Arial"/>
              </a:rPr>
              <a:t>(3)</a:t>
            </a:r>
            <a:r>
              <a:rPr sz="1500" b="0" i="0">
                <a:solidFill>
                  <a:srgbClr val="1A1A1A"/>
                </a:solidFill>
                <a:latin typeface="Arial"/>
              </a:rPr>
              <a:t> marks characteristic 14, the actual overextended price bar against the upper band.</a:t>
            </a:r>
          </a:p>
          <a:p>
            <a:pPr algn="l">
              <a:lnSpc>
                <a:spcPct val="105000"/>
              </a:lnSpc>
              <a:spcBef>
                <a:spcPts val="0"/>
              </a:spcBef>
              <a:spcAft>
                <a:spcPts val="1100"/>
              </a:spcAft>
            </a:pPr>
            <a:r>
              <a:rPr sz="1500" b="0" i="0">
                <a:solidFill>
                  <a:srgbClr val="1A1A1A"/>
                </a:solidFill>
                <a:latin typeface="Arial"/>
              </a:rPr>
              <a:t>The source label is not the target: the blue box sits on the price bar itself. The book names the upper band but gives no formula here.</a:t>
            </a:r>
          </a:p>
          <a:p>
            <a:pPr algn="l">
              <a:lnSpc>
                <a:spcPct val="105000"/>
              </a:lnSpc>
              <a:spcBef>
                <a:spcPts val="0"/>
              </a:spcBef>
              <a:spcAft>
                <a:spcPts val="1100"/>
              </a:spcAft>
            </a:pPr>
            <a:r>
              <a:rPr sz="1500" b="0" i="0">
                <a:solidFill>
                  <a:srgbClr val="1A1A1A"/>
                </a:solidFill>
                <a:latin typeface="Arial"/>
              </a:rPr>
              <a:t>Barrier proximity is the next reliability rule.</a:t>
            </a:r>
          </a:p>
        </p:txBody>
      </p:sp>
      <p:sp>
        <p:nvSpPr>
          <p:cNvPr id="8" name="Rectangle 7"/>
          <p:cNvSpPr/>
          <p:nvPr/>
        </p:nvSpPr>
        <p:spPr>
          <a:xfrm>
            <a:off x="4937759" y="1810512"/>
            <a:ext cx="6476694" cy="33572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056631" y="1929384"/>
            <a:ext cx="6238951" cy="31194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056631" y="1929384"/>
            <a:ext cx="6238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330951" y="2203703"/>
            <a:ext cx="5690311" cy="26622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6928317" y="3333147"/>
            <a:ext cx="623895" cy="530310"/>
          </a:xfrm>
          <a:prstGeom prst="ellipse">
            <a:avLst/>
          </a:prstGeom>
          <a:noFill/>
          <a:ln w="44450">
            <a:solidFill>
              <a:srgbClr val="E09B00"/>
            </a:solidFill>
          </a:ln>
        </p:spPr>
        <p:txBody>
          <a:bodyPr rtlCol="0" anchor="ctr"/>
          <a:lstStyle/>
          <a:p>
            <a:pPr algn="ctr"/>
          </a:p>
        </p:txBody>
      </p:sp>
      <p:sp>
        <p:nvSpPr>
          <p:cNvPr id="13" name="Oval 12"/>
          <p:cNvSpPr/>
          <p:nvPr/>
        </p:nvSpPr>
        <p:spPr>
          <a:xfrm>
            <a:off x="8550444" y="3925848"/>
            <a:ext cx="748674" cy="499116"/>
          </a:xfrm>
          <a:prstGeom prst="ellipse">
            <a:avLst/>
          </a:prstGeom>
          <a:noFill/>
          <a:ln w="44450">
            <a:solidFill>
              <a:srgbClr val="C62828"/>
            </a:solidFill>
          </a:ln>
        </p:spPr>
        <p:txBody>
          <a:bodyPr rtlCol="0" anchor="ctr"/>
          <a:lstStyle/>
          <a:p>
            <a:pPr algn="ctr"/>
          </a:p>
        </p:txBody>
      </p:sp>
      <p:sp>
        <p:nvSpPr>
          <p:cNvPr id="14" name="Rectangle 13"/>
          <p:cNvSpPr/>
          <p:nvPr/>
        </p:nvSpPr>
        <p:spPr>
          <a:xfrm>
            <a:off x="7333849" y="2178942"/>
            <a:ext cx="499116" cy="1060621"/>
          </a:xfrm>
          <a:prstGeom prst="rect">
            <a:avLst/>
          </a:prstGeom>
          <a:noFill/>
          <a:ln w="44450">
            <a:solidFill>
              <a:srgbClr val="1F5FAD"/>
            </a:solidFill>
          </a:ln>
        </p:spPr>
        <p:txBody>
          <a:bodyPr rtlCol="0" anchor="ctr"/>
          <a:lstStyle/>
          <a:p>
            <a:pPr algn="ctr"/>
          </a:p>
        </p:txBody>
      </p:sp>
      <p:sp>
        <p:nvSpPr>
          <p:cNvPr id="15" name="Oval 14"/>
          <p:cNvSpPr/>
          <p:nvPr/>
        </p:nvSpPr>
        <p:spPr>
          <a:xfrm>
            <a:off x="6425964" y="298676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45439" y="36730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7207" y="32363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25917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7.13 - Lim, The Handbook of Technical Analysis (Wiley, 2016)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 figure shows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characteristic 8, the exponential rise and changing momentum; red </a:t>
            </a:r>
            <a:r>
              <a:rPr sz="1700" b="1" i="0">
                <a:solidFill>
                  <a:srgbClr val="C62828"/>
                </a:solidFill>
                <a:latin typeface="Arial"/>
              </a:rPr>
              <a:t>(2)</a:t>
            </a:r>
            <a:r>
              <a:rPr sz="1700" b="0" i="0">
                <a:solidFill>
                  <a:srgbClr val="1A1A1A"/>
                </a:solidFill>
                <a:latin typeface="Arial"/>
              </a:rPr>
              <a:t> marks characteristic 10, the few trend oscillations.</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characteristic 14, price overextension against the Bollinger upper band.</a:t>
            </a:r>
          </a:p>
          <a:p>
            <a:pPr algn="l">
              <a:lnSpc>
                <a:spcPct val="105000"/>
              </a:lnSpc>
              <a:spcBef>
                <a:spcPts val="0"/>
              </a:spcBef>
              <a:spcAft>
                <a:spcPts val="1100"/>
              </a:spcAft>
            </a:pPr>
            <a:r>
              <a:rPr sz="1700" b="0" i="0">
                <a:solidFill>
                  <a:srgbClr val="1A1A1A"/>
                </a:solidFill>
                <a:latin typeface="Arial"/>
              </a:rPr>
              <a:t>The figure has no separate volume panel, so this reading does not mark volume.</a:t>
            </a:r>
          </a:p>
          <a:p>
            <a:pPr algn="l">
              <a:lnSpc>
                <a:spcPct val="105000"/>
              </a:lnSpc>
              <a:spcBef>
                <a:spcPts val="0"/>
              </a:spcBef>
              <a:spcAft>
                <a:spcPts val="1100"/>
              </a:spcAft>
            </a:pPr>
            <a:r>
              <a:rPr sz="1700" b="0" i="0">
                <a:solidFill>
                  <a:srgbClr val="1A1A1A"/>
                </a:solidFill>
                <a:latin typeface="Arial"/>
              </a:rPr>
              <a:t>Read the chart as potential evidence, then apply the barrier rule.</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Barrier proximity is the reliability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defines barrier proximity as one of the most important reversal characteristics: patterns are more reliable at significant barriers. In Chart RF, gold </a:t>
            </a:r>
            <a:r>
              <a:rPr sz="1700" b="1" i="0">
                <a:solidFill>
                  <a:srgbClr val="E09B00"/>
                </a:solidFill>
                <a:latin typeface="Arial"/>
              </a:rPr>
              <a:t>(1)</a:t>
            </a:r>
            <a:r>
              <a:rPr sz="1700" b="0" i="0">
                <a:solidFill>
                  <a:srgbClr val="1A1A1A"/>
                </a:solidFill>
                <a:latin typeface="Arial"/>
              </a:rPr>
              <a:t> marks the changing rise, red </a:t>
            </a:r>
            <a:r>
              <a:rPr sz="1700" b="1" i="0">
                <a:solidFill>
                  <a:srgbClr val="C62828"/>
                </a:solidFill>
                <a:latin typeface="Arial"/>
              </a:rPr>
              <a:t>(2)</a:t>
            </a:r>
            <a:r>
              <a:rPr sz="1700" b="0" i="0">
                <a:solidFill>
                  <a:srgbClr val="1A1A1A"/>
                </a:solidFill>
                <a:latin typeface="Arial"/>
              </a:rPr>
              <a:t> the visible oscillating segment, and blue </a:t>
            </a:r>
            <a:r>
              <a:rPr sz="1700" b="1" i="0">
                <a:solidFill>
                  <a:srgbClr val="1F5FAD"/>
                </a:solidFill>
                <a:latin typeface="Arial"/>
              </a:rPr>
              <a:t>(3)</a:t>
            </a:r>
            <a:r>
              <a:rPr sz="1700" b="0" i="0">
                <a:solidFill>
                  <a:srgbClr val="1A1A1A"/>
                </a:solidFill>
                <a:latin typeface="Arial"/>
              </a:rPr>
              <a:t> the overextended bar against the upper band.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751347" y="375041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272804" y="377715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839130" y="36662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360587" y="369303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RF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86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Check the pattern's barrier context. A barrier raises potential reliability, not certainty.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reversal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Gold </a:t>
            </a:r>
            <a:r>
              <a:rPr sz="1500" b="1" i="0">
                <a:solidFill>
                  <a:srgbClr val="E09B00"/>
                </a:solidFill>
                <a:latin typeface="Arial"/>
              </a:rPr>
              <a:t>(1)</a:t>
            </a:r>
            <a:r>
              <a:rPr sz="1500" b="0" i="0">
                <a:solidFill>
                  <a:srgbClr val="1A1A1A"/>
                </a:solidFill>
                <a:latin typeface="Arial"/>
              </a:rPr>
              <a:t> marks characteristic 8, the rapid rise and changing momentum; red </a:t>
            </a:r>
            <a:r>
              <a:rPr sz="1500" b="1" i="0">
                <a:solidFill>
                  <a:srgbClr val="C62828"/>
                </a:solidFill>
                <a:latin typeface="Arial"/>
              </a:rPr>
              <a:t>(2)</a:t>
            </a:r>
            <a:r>
              <a:rPr sz="1500" b="0" i="0">
                <a:solidFill>
                  <a:srgbClr val="1A1A1A"/>
                </a:solidFill>
                <a:latin typeface="Arial"/>
              </a:rPr>
              <a:t> marks characteristic 10, the fewer oscillations; blue </a:t>
            </a:r>
            <a:r>
              <a:rPr sz="1500" b="1" i="0">
                <a:solidFill>
                  <a:srgbClr val="1F5FAD"/>
                </a:solidFill>
                <a:latin typeface="Arial"/>
              </a:rPr>
              <a:t>(3)</a:t>
            </a:r>
            <a:r>
              <a:rPr sz="1500" b="0" i="0">
                <a:solidFill>
                  <a:srgbClr val="1A1A1A"/>
                </a:solidFill>
                <a:latin typeface="Arial"/>
              </a:rPr>
              <a:t> marks characteristic 14, the actual overextended price bar against the upper band.</a:t>
            </a:r>
          </a:p>
          <a:p>
            <a:pPr algn="l">
              <a:lnSpc>
                <a:spcPct val="105000"/>
              </a:lnSpc>
              <a:spcBef>
                <a:spcPts val="0"/>
              </a:spcBef>
              <a:spcAft>
                <a:spcPts val="1100"/>
              </a:spcAft>
            </a:pPr>
            <a:r>
              <a:rPr sz="1500" b="0" i="0">
                <a:solidFill>
                  <a:srgbClr val="1A1A1A"/>
                </a:solidFill>
                <a:latin typeface="Arial"/>
              </a:rPr>
              <a:t>The source label is not the target: the blue box sits on the price bar itself. The book names the upper band but gives no formula here.</a:t>
            </a:r>
          </a:p>
          <a:p>
            <a:pPr algn="l">
              <a:lnSpc>
                <a:spcPct val="105000"/>
              </a:lnSpc>
              <a:spcBef>
                <a:spcPts val="0"/>
              </a:spcBef>
              <a:spcAft>
                <a:spcPts val="1100"/>
              </a:spcAft>
            </a:pPr>
            <a:r>
              <a:rPr sz="1500" b="0" i="0">
                <a:solidFill>
                  <a:srgbClr val="1A1A1A"/>
                </a:solidFill>
                <a:latin typeface="Arial"/>
              </a:rPr>
              <a:t>Barrier proximity is the next reliability rule.</a:t>
            </a:r>
          </a:p>
        </p:txBody>
      </p:sp>
      <p:sp>
        <p:nvSpPr>
          <p:cNvPr id="8" name="Rectangle 7"/>
          <p:cNvSpPr/>
          <p:nvPr/>
        </p:nvSpPr>
        <p:spPr>
          <a:xfrm>
            <a:off x="4937759" y="1810512"/>
            <a:ext cx="6476694" cy="33572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056631" y="1929384"/>
            <a:ext cx="6238951" cy="31194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056631" y="1929384"/>
            <a:ext cx="6238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330951" y="2203703"/>
            <a:ext cx="5690311" cy="26622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6928317" y="3333147"/>
            <a:ext cx="623895" cy="530310"/>
          </a:xfrm>
          <a:prstGeom prst="ellipse">
            <a:avLst/>
          </a:prstGeom>
          <a:noFill/>
          <a:ln w="44450">
            <a:solidFill>
              <a:srgbClr val="E09B00"/>
            </a:solidFill>
          </a:ln>
        </p:spPr>
        <p:txBody>
          <a:bodyPr rtlCol="0" anchor="ctr"/>
          <a:lstStyle/>
          <a:p>
            <a:pPr algn="ctr"/>
          </a:p>
        </p:txBody>
      </p:sp>
      <p:sp>
        <p:nvSpPr>
          <p:cNvPr id="13" name="Oval 12"/>
          <p:cNvSpPr/>
          <p:nvPr/>
        </p:nvSpPr>
        <p:spPr>
          <a:xfrm>
            <a:off x="8550444" y="3925848"/>
            <a:ext cx="748674" cy="499116"/>
          </a:xfrm>
          <a:prstGeom prst="ellipse">
            <a:avLst/>
          </a:prstGeom>
          <a:noFill/>
          <a:ln w="44450">
            <a:solidFill>
              <a:srgbClr val="C62828"/>
            </a:solidFill>
          </a:ln>
        </p:spPr>
        <p:txBody>
          <a:bodyPr rtlCol="0" anchor="ctr"/>
          <a:lstStyle/>
          <a:p>
            <a:pPr algn="ctr"/>
          </a:p>
        </p:txBody>
      </p:sp>
      <p:sp>
        <p:nvSpPr>
          <p:cNvPr id="14" name="Rectangle 13"/>
          <p:cNvSpPr/>
          <p:nvPr/>
        </p:nvSpPr>
        <p:spPr>
          <a:xfrm>
            <a:off x="7333849" y="2178942"/>
            <a:ext cx="499116" cy="1060621"/>
          </a:xfrm>
          <a:prstGeom prst="rect">
            <a:avLst/>
          </a:prstGeom>
          <a:noFill/>
          <a:ln w="44450">
            <a:solidFill>
              <a:srgbClr val="1F5FAD"/>
            </a:solidFill>
          </a:ln>
        </p:spPr>
        <p:txBody>
          <a:bodyPr rtlCol="0" anchor="ctr"/>
          <a:lstStyle/>
          <a:p>
            <a:pPr algn="ctr"/>
          </a:p>
        </p:txBody>
      </p:sp>
      <p:sp>
        <p:nvSpPr>
          <p:cNvPr id="15" name="Oval 14"/>
          <p:cNvSpPr/>
          <p:nvPr/>
        </p:nvSpPr>
        <p:spPr>
          <a:xfrm>
            <a:off x="6425964" y="298676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45439" y="36730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7207" y="32363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25917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7.13 - Lim, The Handbook of Technical Analysis (Wiley, 2016)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a:t>
            </a:r>
          </a:p>
        </p:txBody>
      </p:sp>
      <p:sp>
        <p:nvSpPr>
          <p:cNvPr id="6" name="Rectangle 5"/>
          <p:cNvSpPr/>
          <p:nvPr/>
        </p:nvSpPr>
        <p:spPr>
          <a:xfrm>
            <a:off x="777240" y="1207008"/>
            <a:ext cx="466344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item is proximity to a price barrier?</a:t>
            </a:r>
          </a:p>
        </p:txBody>
      </p:sp>
      <p:sp>
        <p:nvSpPr>
          <p:cNvPr id="9" name="TextBox 8"/>
          <p:cNvSpPr txBox="1"/>
          <p:nvPr/>
        </p:nvSpPr>
        <p:spPr>
          <a:xfrm>
            <a:off x="1005840" y="206933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a:t>
            </a:r>
          </a:p>
          <a:p>
            <a:pPr algn="l">
              <a:lnSpc>
                <a:spcPct val="105000"/>
              </a:lnSpc>
              <a:spcBef>
                <a:spcPts val="0"/>
              </a:spcBef>
              <a:spcAft>
                <a:spcPts val="200"/>
              </a:spcAft>
            </a:pPr>
            <a:r>
              <a:rPr sz="1700" b="0" i="0">
                <a:solidFill>
                  <a:srgbClr val="FFFFFF"/>
                </a:solidFill>
                <a:latin typeface="Arial"/>
              </a:rPr>
              <a:t>B.  10</a:t>
            </a:r>
          </a:p>
          <a:p>
            <a:pPr algn="l">
              <a:lnSpc>
                <a:spcPct val="105000"/>
              </a:lnSpc>
              <a:spcBef>
                <a:spcPts val="0"/>
              </a:spcBef>
              <a:spcAft>
                <a:spcPts val="200"/>
              </a:spcAft>
            </a:pPr>
            <a:r>
              <a:rPr sz="1700" b="0" i="0">
                <a:solidFill>
                  <a:srgbClr val="FFFFFF"/>
                </a:solidFill>
                <a:latin typeface="Arial"/>
              </a:rPr>
              <a:t>C.  14</a:t>
            </a:r>
          </a:p>
          <a:p>
            <a:pPr algn="l">
              <a:lnSpc>
                <a:spcPct val="105000"/>
              </a:lnSpc>
              <a:spcBef>
                <a:spcPts val="0"/>
              </a:spcBef>
              <a:spcAft>
                <a:spcPts val="200"/>
              </a:spcAft>
            </a:pPr>
            <a:r>
              <a:rPr sz="1700" b="0" i="0">
                <a:solidFill>
                  <a:srgbClr val="FFFFFF"/>
                </a:solidFill>
                <a:latin typeface="Arial"/>
              </a:rPr>
              <a:t>D.  9</a:t>
            </a:r>
          </a:p>
        </p:txBody>
      </p:sp>
      <p:sp>
        <p:nvSpPr>
          <p:cNvPr id="10" name="Rectangle 9"/>
          <p:cNvSpPr/>
          <p:nvPr/>
        </p:nvSpPr>
        <p:spPr>
          <a:xfrm>
            <a:off x="777240" y="3336798"/>
            <a:ext cx="466344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2062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2062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three characteristics do Figure 7.13's marks show?</a:t>
            </a:r>
          </a:p>
        </p:txBody>
      </p:sp>
      <p:sp>
        <p:nvSpPr>
          <p:cNvPr id="13" name="TextBox 12"/>
          <p:cNvSpPr txBox="1"/>
          <p:nvPr/>
        </p:nvSpPr>
        <p:spPr>
          <a:xfrm>
            <a:off x="1005840" y="4199128"/>
            <a:ext cx="420624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10, and 14</a:t>
            </a:r>
          </a:p>
          <a:p>
            <a:pPr algn="l">
              <a:lnSpc>
                <a:spcPct val="105000"/>
              </a:lnSpc>
              <a:spcBef>
                <a:spcPts val="0"/>
              </a:spcBef>
              <a:spcAft>
                <a:spcPts val="200"/>
              </a:spcAft>
            </a:pPr>
            <a:r>
              <a:rPr sz="1700" b="0" i="0">
                <a:solidFill>
                  <a:srgbClr val="FFFFFF"/>
                </a:solidFill>
                <a:latin typeface="Arial"/>
              </a:rPr>
              <a:t>B.  1, 2, and 3</a:t>
            </a:r>
          </a:p>
          <a:p>
            <a:pPr algn="l">
              <a:lnSpc>
                <a:spcPct val="105000"/>
              </a:lnSpc>
              <a:spcBef>
                <a:spcPts val="0"/>
              </a:spcBef>
              <a:spcAft>
                <a:spcPts val="200"/>
              </a:spcAft>
            </a:pPr>
            <a:r>
              <a:rPr sz="1700" b="0" i="0">
                <a:solidFill>
                  <a:srgbClr val="FFFFFF"/>
                </a:solidFill>
                <a:latin typeface="Arial"/>
              </a:rPr>
              <a:t>C.  5, 7, and 9</a:t>
            </a:r>
          </a:p>
          <a:p>
            <a:pPr algn="l">
              <a:lnSpc>
                <a:spcPct val="105000"/>
              </a:lnSpc>
              <a:spcBef>
                <a:spcPts val="0"/>
              </a:spcBef>
              <a:spcAft>
                <a:spcPts val="200"/>
              </a:spcAft>
            </a:pPr>
            <a:r>
              <a:rPr sz="1700" b="0" i="0">
                <a:solidFill>
                  <a:srgbClr val="FFFFFF"/>
                </a:solidFill>
                <a:latin typeface="Arial"/>
              </a:rPr>
              <a:t>D.  13, 15, and 16</a:t>
            </a:r>
          </a:p>
        </p:txBody>
      </p:sp>
      <p:sp>
        <p:nvSpPr>
          <p:cNvPr id="14" name="Rectangle 13"/>
          <p:cNvSpPr/>
          <p:nvPr/>
        </p:nvSpPr>
        <p:spPr>
          <a:xfrm>
            <a:off x="5760719" y="1207008"/>
            <a:ext cx="5653735" cy="295116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271342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225622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8" name="Oval 17"/>
          <p:cNvSpPr/>
          <p:nvPr/>
        </p:nvSpPr>
        <p:spPr>
          <a:xfrm>
            <a:off x="7504389" y="2546920"/>
            <a:ext cx="541599" cy="461281"/>
          </a:xfrm>
          <a:prstGeom prst="ellipse">
            <a:avLst/>
          </a:prstGeom>
          <a:noFill/>
          <a:ln w="44450">
            <a:solidFill>
              <a:srgbClr val="E09B00"/>
            </a:solidFill>
          </a:ln>
        </p:spPr>
        <p:txBody>
          <a:bodyPr rtlCol="0" anchor="ctr"/>
          <a:lstStyle/>
          <a:p>
            <a:pPr algn="ctr"/>
          </a:p>
        </p:txBody>
      </p:sp>
      <p:sp>
        <p:nvSpPr>
          <p:cNvPr id="19" name="Oval 18"/>
          <p:cNvSpPr/>
          <p:nvPr/>
        </p:nvSpPr>
        <p:spPr>
          <a:xfrm>
            <a:off x="8912546" y="3062470"/>
            <a:ext cx="649918" cy="434147"/>
          </a:xfrm>
          <a:prstGeom prst="ellipse">
            <a:avLst/>
          </a:prstGeom>
          <a:noFill/>
          <a:ln w="44450">
            <a:solidFill>
              <a:srgbClr val="C62828"/>
            </a:solidFill>
          </a:ln>
        </p:spPr>
        <p:txBody>
          <a:bodyPr rtlCol="0" anchor="ctr"/>
          <a:lstStyle/>
          <a:p>
            <a:pPr algn="ctr"/>
          </a:p>
        </p:txBody>
      </p:sp>
      <p:sp>
        <p:nvSpPr>
          <p:cNvPr id="20" name="Rectangle 19"/>
          <p:cNvSpPr/>
          <p:nvPr/>
        </p:nvSpPr>
        <p:spPr>
          <a:xfrm>
            <a:off x="7856428" y="1542953"/>
            <a:ext cx="433279" cy="922563"/>
          </a:xfrm>
          <a:prstGeom prst="rect">
            <a:avLst/>
          </a:prstGeom>
          <a:noFill/>
          <a:ln w="44450">
            <a:solidFill>
              <a:srgbClr val="1F5FAD"/>
            </a:solidFill>
          </a:ln>
        </p:spPr>
        <p:txBody>
          <a:bodyPr rtlCol="0" anchor="ctr"/>
          <a:lstStyle/>
          <a:p>
            <a:pPr algn="ctr"/>
          </a:p>
        </p:txBody>
      </p:sp>
      <p:sp>
        <p:nvSpPr>
          <p:cNvPr id="21" name="Oval 20"/>
          <p:cNvSpPr/>
          <p:nvPr/>
        </p:nvSpPr>
        <p:spPr>
          <a:xfrm>
            <a:off x="7051413" y="22289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759409" y="28259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92850" y="244603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4249614"/>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a:t>
            </a:r>
          </a:p>
        </p:txBody>
      </p:sp>
      <p:sp>
        <p:nvSpPr>
          <p:cNvPr id="6" name="Rectangle 5"/>
          <p:cNvSpPr/>
          <p:nvPr/>
        </p:nvSpPr>
        <p:spPr>
          <a:xfrm>
            <a:off x="777240" y="1207008"/>
            <a:ext cx="466344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item is proximity to a price barrier?</a:t>
            </a:r>
          </a:p>
        </p:txBody>
      </p:sp>
      <p:sp>
        <p:nvSpPr>
          <p:cNvPr id="9" name="TextBox 8"/>
          <p:cNvSpPr txBox="1"/>
          <p:nvPr/>
        </p:nvSpPr>
        <p:spPr>
          <a:xfrm>
            <a:off x="1097280" y="2069338"/>
            <a:ext cx="411480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9</a:t>
            </a:r>
          </a:p>
          <a:p>
            <a:pPr algn="l">
              <a:lnSpc>
                <a:spcPct val="115000"/>
              </a:lnSpc>
              <a:spcBef>
                <a:spcPts val="500"/>
              </a:spcBef>
              <a:spcAft>
                <a:spcPts val="0"/>
              </a:spcAft>
            </a:pPr>
            <a:r>
              <a:rPr sz="1700" b="0" i="0">
                <a:solidFill>
                  <a:srgbClr val="1A1A1A"/>
                </a:solidFill>
                <a:latin typeface="Arial"/>
              </a:rPr>
              <a:t>Characteristic 9 is proximity to a price barrier.</a:t>
            </a:r>
          </a:p>
        </p:txBody>
      </p:sp>
      <p:sp>
        <p:nvSpPr>
          <p:cNvPr id="10" name="Rectangle 9"/>
          <p:cNvSpPr/>
          <p:nvPr/>
        </p:nvSpPr>
        <p:spPr>
          <a:xfrm>
            <a:off x="777240" y="3406647"/>
            <a:ext cx="466344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three characteristics do Figure 7.13's marks show?</a:t>
            </a:r>
          </a:p>
        </p:txBody>
      </p:sp>
      <p:sp>
        <p:nvSpPr>
          <p:cNvPr id="13" name="TextBox 12"/>
          <p:cNvSpPr txBox="1"/>
          <p:nvPr/>
        </p:nvSpPr>
        <p:spPr>
          <a:xfrm>
            <a:off x="1097280" y="4268978"/>
            <a:ext cx="411480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8, 10, and 14</a:t>
            </a:r>
          </a:p>
          <a:p>
            <a:pPr algn="l">
              <a:lnSpc>
                <a:spcPct val="115000"/>
              </a:lnSpc>
              <a:spcBef>
                <a:spcPts val="500"/>
              </a:spcBef>
              <a:spcAft>
                <a:spcPts val="0"/>
              </a:spcAft>
            </a:pPr>
            <a:r>
              <a:rPr sz="1700" b="0" i="0">
                <a:solidFill>
                  <a:srgbClr val="1A1A1A"/>
                </a:solidFill>
                <a:latin typeface="Arial"/>
              </a:rPr>
              <a:t>The figure reads characteristic 8, fewer oscillations in 10, and overextension against a barrier in 14.</a:t>
            </a:r>
          </a:p>
        </p:txBody>
      </p:sp>
      <p:sp>
        <p:nvSpPr>
          <p:cNvPr id="14" name="Rectangle 13"/>
          <p:cNvSpPr/>
          <p:nvPr/>
        </p:nvSpPr>
        <p:spPr>
          <a:xfrm>
            <a:off x="5760719" y="1207008"/>
            <a:ext cx="5653735" cy="2897857"/>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879591" y="1325880"/>
            <a:ext cx="5415991" cy="266011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879591" y="1325880"/>
            <a:ext cx="54159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153911" y="1600200"/>
            <a:ext cx="4867351" cy="220291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8" name="Oval 17"/>
          <p:cNvSpPr/>
          <p:nvPr/>
        </p:nvSpPr>
        <p:spPr>
          <a:xfrm>
            <a:off x="7504389" y="2522931"/>
            <a:ext cx="541599" cy="452219"/>
          </a:xfrm>
          <a:prstGeom prst="ellipse">
            <a:avLst/>
          </a:prstGeom>
          <a:noFill/>
          <a:ln w="44450">
            <a:solidFill>
              <a:srgbClr val="E09B00"/>
            </a:solidFill>
          </a:ln>
        </p:spPr>
        <p:txBody>
          <a:bodyPr rtlCol="0" anchor="ctr"/>
          <a:lstStyle/>
          <a:p>
            <a:pPr algn="ctr"/>
          </a:p>
        </p:txBody>
      </p:sp>
      <p:sp>
        <p:nvSpPr>
          <p:cNvPr id="19" name="Oval 18"/>
          <p:cNvSpPr/>
          <p:nvPr/>
        </p:nvSpPr>
        <p:spPr>
          <a:xfrm>
            <a:off x="8912546" y="3028352"/>
            <a:ext cx="649918" cy="425618"/>
          </a:xfrm>
          <a:prstGeom prst="ellipse">
            <a:avLst/>
          </a:prstGeom>
          <a:noFill/>
          <a:ln w="44450">
            <a:solidFill>
              <a:srgbClr val="C62828"/>
            </a:solidFill>
          </a:ln>
        </p:spPr>
        <p:txBody>
          <a:bodyPr rtlCol="0" anchor="ctr"/>
          <a:lstStyle/>
          <a:p>
            <a:pPr algn="ctr"/>
          </a:p>
        </p:txBody>
      </p:sp>
      <p:sp>
        <p:nvSpPr>
          <p:cNvPr id="20" name="Rectangle 19"/>
          <p:cNvSpPr/>
          <p:nvPr/>
        </p:nvSpPr>
        <p:spPr>
          <a:xfrm>
            <a:off x="7856428" y="1538689"/>
            <a:ext cx="433279" cy="904438"/>
          </a:xfrm>
          <a:prstGeom prst="rect">
            <a:avLst/>
          </a:prstGeom>
          <a:noFill/>
          <a:ln w="44450">
            <a:solidFill>
              <a:srgbClr val="1F5FAD"/>
            </a:solidFill>
          </a:ln>
        </p:spPr>
        <p:txBody>
          <a:bodyPr rtlCol="0" anchor="ctr"/>
          <a:lstStyle/>
          <a:p>
            <a:pPr algn="ctr"/>
          </a:p>
        </p:txBody>
      </p:sp>
      <p:sp>
        <p:nvSpPr>
          <p:cNvPr id="21" name="Oval 20"/>
          <p:cNvSpPr/>
          <p:nvPr/>
        </p:nvSpPr>
        <p:spPr>
          <a:xfrm>
            <a:off x="7051413" y="220870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759409" y="279393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92850" y="24215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760719" y="4196305"/>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16 characteristics point to a potential change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Item 9 is proximity to a price barrier, one of the most important reversal characteristics.</a:t>
            </a:r>
          </a:p>
          <a:p>
            <a:pPr algn="l">
              <a:lnSpc>
                <a:spcPct val="105000"/>
              </a:lnSpc>
              <a:spcBef>
                <a:spcPts val="0"/>
              </a:spcBef>
              <a:spcAft>
                <a:spcPts val="1100"/>
              </a:spcAft>
            </a:pPr>
            <a:r>
              <a:rPr sz="1700" b="0" i="0">
                <a:solidFill>
                  <a:srgbClr val="1A1A1A"/>
                </a:solidFill>
                <a:latin typeface="Arial"/>
              </a:rPr>
              <a:t>Figure 7.13's marks read characteristics 8, 10, and 14: angular change and momentum, fewer oscillations, and overextension against a barrier.</a:t>
            </a:r>
          </a:p>
          <a:p>
            <a:pPr algn="l">
              <a:lnSpc>
                <a:spcPct val="105000"/>
              </a:lnSpc>
              <a:spcBef>
                <a:spcPts val="0"/>
              </a:spcBef>
              <a:spcAft>
                <a:spcPts val="1100"/>
              </a:spcAft>
            </a:pPr>
            <a:r>
              <a:rPr sz="1700" b="0" i="0">
                <a:solidFill>
                  <a:srgbClr val="1A1A1A"/>
                </a:solidFill>
                <a:latin typeface="Arial"/>
              </a:rPr>
              <a:t>The book says these are strong indications of a potential trend change or retracement, not a guarantee.</a:t>
            </a:r>
          </a:p>
          <a:p>
            <a:pPr algn="l">
              <a:lnSpc>
                <a:spcPct val="105000"/>
              </a:lnSpc>
              <a:spcBef>
                <a:spcPts val="0"/>
              </a:spcBef>
              <a:spcAft>
                <a:spcPts val="1100"/>
              </a:spcAft>
            </a:pPr>
            <a:r>
              <a:rPr sz="1700" b="0" i="0">
                <a:solidFill>
                  <a:srgbClr val="1A1A1A"/>
                </a:solidFill>
                <a:latin typeface="Arial"/>
              </a:rPr>
              <a:t>Part 3 now applies the context to named reversal bars.</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Let us read the first dedicated bearish figure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matching the book's drawing to the generic bearish test: gold </a:t>
            </a:r>
            <a:r>
              <a:rPr sz="1700" b="1" i="0">
                <a:solidFill>
                  <a:srgbClr val="E09B00"/>
                </a:solidFill>
                <a:latin typeface="Arial"/>
              </a:rPr>
              <a:t>(1)</a:t>
            </a:r>
            <a:r>
              <a:rPr sz="1700" b="0" i="0">
                <a:solidFill>
                  <a:srgbClr val="1A1A1A"/>
                </a:solidFill>
                <a:latin typeface="Arial"/>
              </a:rPr>
              <a:t> points to the final close, red </a:t>
            </a:r>
            <a:r>
              <a:rPr sz="1700" b="1" i="0">
                <a:solidFill>
                  <a:srgbClr val="C62828"/>
                </a:solidFill>
                <a:latin typeface="Arial"/>
              </a:rPr>
              <a:t>(2)</a:t>
            </a:r>
            <a:r>
              <a:rPr sz="1700" b="0" i="0">
                <a:solidFill>
                  <a:srgbClr val="1A1A1A"/>
                </a:solidFill>
                <a:latin typeface="Arial"/>
              </a:rPr>
              <a:t> to the opening relationship, and blue </a:t>
            </a:r>
            <a:r>
              <a:rPr sz="1700" b="1" i="0">
                <a:solidFill>
                  <a:srgbClr val="1F5FAD"/>
                </a:solidFill>
                <a:latin typeface="Arial"/>
              </a:rPr>
              <a:t>(3)</a:t>
            </a:r>
            <a:r>
              <a:rPr sz="1700" b="0" i="0">
                <a:solidFill>
                  <a:srgbClr val="1A1A1A"/>
                </a:solidFill>
                <a:latin typeface="Arial"/>
              </a:rPr>
              <a:t> to the large range. The book crop has no volume panel; the course chart adds invented volume only to illustrate Lim's surrounding comment.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777157"/>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4342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47090" y="37408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107215" y="36203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8739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86</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book's wording is generally and potentially: context changes reliability.</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7.4, form 1: the key reversal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Gold </a:t>
            </a:r>
            <a:r>
              <a:rPr sz="1600" b="1" i="0">
                <a:solidFill>
                  <a:srgbClr val="E09B00"/>
                </a:solidFill>
                <a:latin typeface="Arial"/>
              </a:rPr>
              <a:t>(1)</a:t>
            </a:r>
            <a:r>
              <a:rPr sz="1600" b="0" i="0">
                <a:solidFill>
                  <a:srgbClr val="1A1A1A"/>
                </a:solidFill>
                <a:latin typeface="Arial"/>
              </a:rPr>
              <a:t> marks the final close near the previous close. Red </a:t>
            </a:r>
            <a:r>
              <a:rPr sz="1600" b="1" i="0">
                <a:solidFill>
                  <a:srgbClr val="C62828"/>
                </a:solidFill>
                <a:latin typeface="Arial"/>
              </a:rPr>
              <a:t>(2)</a:t>
            </a:r>
            <a:r>
              <a:rPr sz="1600" b="0" i="0">
                <a:solidFill>
                  <a:srgbClr val="1A1A1A"/>
                </a:solidFill>
                <a:latin typeface="Arial"/>
              </a:rPr>
              <a:t> marks the opening above the previous high. Blue </a:t>
            </a:r>
            <a:r>
              <a:rPr sz="1600" b="1" i="0">
                <a:solidFill>
                  <a:srgbClr val="1F5FAD"/>
                </a:solidFill>
                <a:latin typeface="Arial"/>
              </a:rPr>
              <a:t>(3)</a:t>
            </a:r>
            <a:r>
              <a:rPr sz="1600" b="0" i="0">
                <a:solidFill>
                  <a:srgbClr val="1A1A1A"/>
                </a:solidFill>
                <a:latin typeface="Arial"/>
              </a:rPr>
              <a:t> marks the wide range.</a:t>
            </a:r>
          </a:p>
          <a:p>
            <a:pPr algn="l">
              <a:lnSpc>
                <a:spcPct val="105000"/>
              </a:lnSpc>
              <a:spcBef>
                <a:spcPts val="0"/>
              </a:spcBef>
              <a:spcAft>
                <a:spcPts val="1100"/>
              </a:spcAft>
            </a:pPr>
            <a:r>
              <a:rPr sz="1600" b="0" i="0">
                <a:solidFill>
                  <a:srgbClr val="1A1A1A"/>
                </a:solidFill>
                <a:latin typeface="Arial"/>
              </a:rPr>
              <a:t>Lim calls this generally bearish and potentially more reliable when context supports it. The book drawing has no volume panel; the course chart supplies the invented volume.</a:t>
            </a:r>
          </a:p>
          <a:p>
            <a:pPr algn="l">
              <a:lnSpc>
                <a:spcPct val="105000"/>
              </a:lnSpc>
              <a:spcBef>
                <a:spcPts val="0"/>
              </a:spcBef>
              <a:spcAft>
                <a:spcPts val="1100"/>
              </a:spcAft>
            </a:pPr>
            <a:r>
              <a:rPr sz="1600" b="0" i="0">
                <a:solidFill>
                  <a:srgbClr val="1A1A1A"/>
                </a:solidFill>
                <a:latin typeface="Arial"/>
              </a:rPr>
              <a:t>Next we compare the second bearish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A readable crop of one bearish single-bar formation: a large bar opens above the previous high and closes near or below the previous close.</a:t>
            </a:r>
          </a:p>
        </p:txBody>
      </p:sp>
      <p:sp>
        <p:nvSpPr>
          <p:cNvPr id="12" name="Rectangle 11"/>
          <p:cNvSpPr/>
          <p:nvPr/>
        </p:nvSpPr>
        <p:spPr>
          <a:xfrm>
            <a:off x="6328826" y="2133039"/>
            <a:ext cx="346032" cy="937516"/>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6456591" y="2909035"/>
            <a:ext cx="218267" cy="0"/>
          </a:xfrm>
          <a:prstGeom prst="line">
            <a:avLst/>
          </a:prstGeom>
          <a:ln w="44450">
            <a:solidFill>
              <a:srgbClr val="C62828"/>
            </a:solidFill>
          </a:ln>
        </p:spPr>
      </p:cxnSp>
      <p:cxnSp>
        <p:nvCxnSpPr>
          <p:cNvPr id="14" name="Connector 13"/>
          <p:cNvCxnSpPr/>
          <p:nvPr/>
        </p:nvCxnSpPr>
        <p:spPr>
          <a:xfrm>
            <a:off x="6456591" y="2298070"/>
            <a:ext cx="0" cy="772485"/>
          </a:xfrm>
          <a:prstGeom prst="line">
            <a:avLst/>
          </a:prstGeom>
          <a:ln w="44450">
            <a:solidFill>
              <a:srgbClr val="1F5FAD"/>
            </a:solidFill>
          </a:ln>
        </p:spPr>
      </p:cxnSp>
      <p:sp>
        <p:nvSpPr>
          <p:cNvPr id="15" name="Oval 14"/>
          <p:cNvSpPr/>
          <p:nvPr/>
        </p:nvSpPr>
        <p:spPr>
          <a:xfrm>
            <a:off x="6050935"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219529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7.4 - Lim, The Handbook of Technical Analysis (Wiley, 2016)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Now let us read the dedicated bullish figure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matching the bullish converse to its book drawing: the formation closes above the prior close or high. On our course chart, gold </a:t>
            </a:r>
            <a:r>
              <a:rPr sz="1700" b="1" i="0">
                <a:solidFill>
                  <a:srgbClr val="E09B00"/>
                </a:solidFill>
                <a:latin typeface="Arial"/>
              </a:rPr>
              <a:t>(1)</a:t>
            </a:r>
            <a:r>
              <a:rPr sz="1700" b="0" i="0">
                <a:solidFill>
                  <a:srgbClr val="1A1A1A"/>
                </a:solidFill>
                <a:latin typeface="Arial"/>
              </a:rPr>
              <a:t> points to the final close, red </a:t>
            </a:r>
            <a:r>
              <a:rPr sz="1700" b="1" i="0">
                <a:solidFill>
                  <a:srgbClr val="C62828"/>
                </a:solidFill>
                <a:latin typeface="Arial"/>
              </a:rPr>
              <a:t>(2)</a:t>
            </a:r>
            <a:r>
              <a:rPr sz="1700" b="0" i="0">
                <a:solidFill>
                  <a:srgbClr val="1A1A1A"/>
                </a:solidFill>
                <a:latin typeface="Arial"/>
              </a:rPr>
              <a:t> to the opening relationship, and blue </a:t>
            </a:r>
            <a:r>
              <a:rPr sz="1700" b="1" i="0">
                <a:solidFill>
                  <a:srgbClr val="1F5FAD"/>
                </a:solidFill>
                <a:latin typeface="Arial"/>
              </a:rPr>
              <a:t>(3)</a:t>
            </a:r>
            <a:r>
              <a:rPr sz="1700" b="0" i="0">
                <a:solidFill>
                  <a:srgbClr val="1A1A1A"/>
                </a:solidFill>
                <a:latin typeface="Arial"/>
              </a:rPr>
              <a:t> to the large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y-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58053"/>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35539" y="337596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36306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967874" y="3673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61914" y="34235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337465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86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A bullish pattern in a downtrend is a potential reversal; the same bias in an uptrend is continuation.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7.5, form 1: the bullish key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final close near the previous close. Red </a:t>
            </a:r>
            <a:r>
              <a:rPr sz="1800" b="1" i="0">
                <a:solidFill>
                  <a:srgbClr val="C62828"/>
                </a:solidFill>
                <a:latin typeface="Arial"/>
              </a:rPr>
              <a:t>(2)</a:t>
            </a:r>
            <a:r>
              <a:rPr sz="1800" b="0" i="0">
                <a:solidFill>
                  <a:srgbClr val="1A1A1A"/>
                </a:solidFill>
                <a:latin typeface="Arial"/>
              </a:rPr>
              <a:t> marks the opening below the previous low. Blue </a:t>
            </a:r>
            <a:r>
              <a:rPr sz="1800" b="1" i="0">
                <a:solidFill>
                  <a:srgbClr val="1F5FAD"/>
                </a:solidFill>
                <a:latin typeface="Arial"/>
              </a:rPr>
              <a:t>(3)</a:t>
            </a:r>
            <a:r>
              <a:rPr sz="1800" b="0" i="0">
                <a:solidFill>
                  <a:srgbClr val="1A1A1A"/>
                </a:solidFill>
                <a:latin typeface="Arial"/>
              </a:rPr>
              <a:t> marks the wide range.</a:t>
            </a:r>
          </a:p>
          <a:p>
            <a:pPr algn="l">
              <a:lnSpc>
                <a:spcPct val="105000"/>
              </a:lnSpc>
              <a:spcBef>
                <a:spcPts val="0"/>
              </a:spcBef>
              <a:spcAft>
                <a:spcPts val="1100"/>
              </a:spcAft>
            </a:pPr>
            <a:r>
              <a:rPr sz="1800" b="0" i="0">
                <a:solidFill>
                  <a:srgbClr val="1A1A1A"/>
                </a:solidFill>
                <a:latin typeface="Arial"/>
              </a:rPr>
              <a:t>The book's bullish reading is potential and context-dependent; its crop has no volume panel.</a:t>
            </a:r>
          </a:p>
          <a:p>
            <a:pPr algn="l">
              <a:lnSpc>
                <a:spcPct val="105000"/>
              </a:lnSpc>
              <a:spcBef>
                <a:spcPts val="0"/>
              </a:spcBef>
              <a:spcAft>
                <a:spcPts val="1100"/>
              </a:spcAft>
            </a:pPr>
            <a:r>
              <a:rPr sz="1800" b="0" i="0">
                <a:solidFill>
                  <a:srgbClr val="1A1A1A"/>
                </a:solidFill>
                <a:latin typeface="Arial"/>
              </a:rPr>
              <a:t>Next we compare the second bullish form.</a:t>
            </a:r>
          </a:p>
        </p:txBody>
      </p:sp>
      <p:sp>
        <p:nvSpPr>
          <p:cNvPr id="8" name="Rectangle 7"/>
          <p:cNvSpPr/>
          <p:nvPr/>
        </p:nvSpPr>
        <p:spPr>
          <a:xfrm>
            <a:off x="5395446" y="1810512"/>
            <a:ext cx="55613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14318" y="1929384"/>
            <a:ext cx="53235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14318" y="1929384"/>
            <a:ext cx="53235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88638" y="2203703"/>
            <a:ext cx="47749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A readable crop of one bullish single-bar formation: a large bar opens below the previous low and closes near or above the previous close.</a:t>
            </a:r>
          </a:p>
        </p:txBody>
      </p:sp>
      <p:sp>
        <p:nvSpPr>
          <p:cNvPr id="12" name="Oval 11"/>
          <p:cNvSpPr/>
          <p:nvPr/>
        </p:nvSpPr>
        <p:spPr>
          <a:xfrm>
            <a:off x="6344796" y="4829714"/>
            <a:ext cx="250208" cy="365174"/>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6472562" y="4461028"/>
            <a:ext cx="133090" cy="0"/>
          </a:xfrm>
          <a:prstGeom prst="line">
            <a:avLst/>
          </a:prstGeom>
          <a:ln w="44450">
            <a:solidFill>
              <a:srgbClr val="C62828"/>
            </a:solidFill>
          </a:ln>
        </p:spPr>
      </p:cxnSp>
      <p:cxnSp>
        <p:nvCxnSpPr>
          <p:cNvPr id="14" name="Connector 13"/>
          <p:cNvCxnSpPr/>
          <p:nvPr/>
        </p:nvCxnSpPr>
        <p:spPr>
          <a:xfrm>
            <a:off x="6472562" y="4583923"/>
            <a:ext cx="0" cy="751418"/>
          </a:xfrm>
          <a:prstGeom prst="line">
            <a:avLst/>
          </a:prstGeom>
          <a:ln w="44450">
            <a:solidFill>
              <a:srgbClr val="1F5FAD"/>
            </a:solidFill>
          </a:ln>
        </p:spPr>
      </p:cxnSp>
      <p:sp>
        <p:nvSpPr>
          <p:cNvPr id="15" name="Oval 14"/>
          <p:cNvSpPr/>
          <p:nvPr/>
        </p:nvSpPr>
        <p:spPr>
          <a:xfrm>
            <a:off x="6050935" y="430206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55943" y="40211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55943" y="514478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7.5 - Lim, The Handbook of Technical Analysis (Wiley, 2016)</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dedicated multiple-bearish figure shows the final turn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reading the multiple-bearish family from left to right: a high first close, narrow intermediate bars, and a final close near its low.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intermediate sequence, and blue </a:t>
            </a:r>
            <a:r>
              <a:rPr sz="1700" b="1" i="0">
                <a:solidFill>
                  <a:srgbClr val="1F5FAD"/>
                </a:solidFill>
                <a:latin typeface="Arial"/>
              </a:rPr>
              <a:t>(3)</a:t>
            </a:r>
            <a:r>
              <a:rPr sz="1700" b="0" i="0">
                <a:solidFill>
                  <a:srgbClr val="1A1A1A"/>
                </a:solidFill>
                <a:latin typeface="Arial"/>
              </a:rPr>
              <a:t> the final bearish bar.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350434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251252" y="348294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36022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33614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67128" y="35707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60499" y="411005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QR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80 of 86</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81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Continuing this rule: The final bar remains the potential decision point.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7.10: multiple bearish forms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82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bar, red </a:t>
            </a:r>
            <a:r>
              <a:rPr sz="2000" b="1" i="0">
                <a:solidFill>
                  <a:srgbClr val="C62828"/>
                </a:solidFill>
                <a:latin typeface="Arial"/>
              </a:rPr>
              <a:t>(2)</a:t>
            </a:r>
            <a:r>
              <a:rPr sz="2000" b="0" i="0">
                <a:solidFill>
                  <a:srgbClr val="1A1A1A"/>
                </a:solidFill>
                <a:latin typeface="Arial"/>
              </a:rPr>
              <a:t> the intermediate sequence, and blue </a:t>
            </a:r>
            <a:r>
              <a:rPr sz="2000" b="1" i="0">
                <a:solidFill>
                  <a:srgbClr val="1F5FAD"/>
                </a:solidFill>
                <a:latin typeface="Arial"/>
              </a:rPr>
              <a:t>(3)</a:t>
            </a:r>
            <a:r>
              <a:rPr sz="2000" b="0" i="0">
                <a:solidFill>
                  <a:srgbClr val="1A1A1A"/>
                </a:solidFill>
                <a:latin typeface="Arial"/>
              </a:rPr>
              <a:t> the final close near its low.</a:t>
            </a:r>
          </a:p>
          <a:p>
            <a:pPr algn="l">
              <a:lnSpc>
                <a:spcPct val="105000"/>
              </a:lnSpc>
              <a:spcBef>
                <a:spcPts val="0"/>
              </a:spcBef>
              <a:spcAft>
                <a:spcPts val="1100"/>
              </a:spcAft>
            </a:pPr>
            <a:r>
              <a:rPr sz="2000" b="0" i="0">
                <a:solidFill>
                  <a:srgbClr val="1A1A1A"/>
                </a:solidFill>
                <a:latin typeface="Arial"/>
              </a:rPr>
              <a:t>The crop has no volume panel. Lim's volume exception belongs to the surrounding explanation, not this mark.</a:t>
            </a:r>
          </a:p>
          <a:p>
            <a:pPr algn="l">
              <a:lnSpc>
                <a:spcPct val="105000"/>
              </a:lnSpc>
              <a:spcBef>
                <a:spcPts val="0"/>
              </a:spcBef>
              <a:spcAft>
                <a:spcPts val="1100"/>
              </a:spcAft>
            </a:pPr>
            <a:r>
              <a:rPr sz="2000" b="0" i="0">
                <a:solidFill>
                  <a:srgbClr val="1A1A1A"/>
                </a:solidFill>
                <a:latin typeface="Arial"/>
              </a:rPr>
              <a:t>The bullish multiple family reverses this direction.</a:t>
            </a:r>
          </a:p>
        </p:txBody>
      </p:sp>
      <p:sp>
        <p:nvSpPr>
          <p:cNvPr id="8" name="Rectangle 7"/>
          <p:cNvSpPr/>
          <p:nvPr/>
        </p:nvSpPr>
        <p:spPr>
          <a:xfrm>
            <a:off x="5283606" y="1810512"/>
            <a:ext cx="578500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02478" y="1929384"/>
            <a:ext cx="554725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02478" y="1929384"/>
            <a:ext cx="554725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76798" y="2203703"/>
            <a:ext cx="499861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A readable crop of the first multiple bearish formation: a high first close followed by narrow bars and a final close near its low.</a:t>
            </a:r>
          </a:p>
        </p:txBody>
      </p:sp>
      <p:sp>
        <p:nvSpPr>
          <p:cNvPr id="12" name="Oval 11"/>
          <p:cNvSpPr/>
          <p:nvPr/>
        </p:nvSpPr>
        <p:spPr>
          <a:xfrm>
            <a:off x="6123622" y="2420965"/>
            <a:ext cx="388308"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6428721" y="2280513"/>
            <a:ext cx="432686" cy="561807"/>
          </a:xfrm>
          <a:prstGeom prst="rect">
            <a:avLst/>
          </a:prstGeom>
          <a:noFill/>
          <a:ln w="44450">
            <a:solidFill>
              <a:srgbClr val="C62828"/>
            </a:solidFill>
          </a:ln>
        </p:spPr>
        <p:txBody>
          <a:bodyPr rtlCol="0" anchor="ctr"/>
          <a:lstStyle/>
          <a:p>
            <a:pPr algn="ctr"/>
          </a:p>
        </p:txBody>
      </p:sp>
      <p:cxnSp>
        <p:nvCxnSpPr>
          <p:cNvPr id="14" name="Connector 13"/>
          <p:cNvCxnSpPr/>
          <p:nvPr/>
        </p:nvCxnSpPr>
        <p:spPr>
          <a:xfrm>
            <a:off x="6894691" y="2410431"/>
            <a:ext cx="0" cy="653101"/>
          </a:xfrm>
          <a:prstGeom prst="line">
            <a:avLst/>
          </a:prstGeom>
          <a:ln w="44450">
            <a:solidFill>
              <a:srgbClr val="1F5FAD"/>
            </a:solidFill>
          </a:ln>
        </p:spPr>
      </p:cxnSp>
      <p:sp>
        <p:nvSpPr>
          <p:cNvPr id="15" name="Oval 14"/>
          <p:cNvSpPr/>
          <p:nvPr/>
        </p:nvSpPr>
        <p:spPr>
          <a:xfrm>
            <a:off x="5857229" y="20548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11207" y="21250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6911207" y="395093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7.10 - Lim, The Handbook of Technical Analysis (Wiley, 2016)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dedicated multiple-bullish figure reverses that direction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are reading the multiple-bullish family as the directional converse of Figure 7.10. Gold </a:t>
            </a:r>
            <a:r>
              <a:rPr sz="1700" b="1" i="0">
                <a:solidFill>
                  <a:srgbClr val="E09B00"/>
                </a:solidFill>
                <a:latin typeface="Arial"/>
              </a:rPr>
              <a:t>(1)</a:t>
            </a:r>
            <a:r>
              <a:rPr sz="1700" b="0" i="0">
                <a:solidFill>
                  <a:srgbClr val="1A1A1A"/>
                </a:solidFill>
                <a:latin typeface="Arial"/>
              </a:rPr>
              <a:t> marks the first bar, red </a:t>
            </a:r>
            <a:r>
              <a:rPr sz="1700" b="1" i="0">
                <a:solidFill>
                  <a:srgbClr val="C62828"/>
                </a:solidFill>
                <a:latin typeface="Arial"/>
              </a:rPr>
              <a:t>(2)</a:t>
            </a:r>
            <a:r>
              <a:rPr sz="1700" b="0" i="0">
                <a:solidFill>
                  <a:srgbClr val="1A1A1A"/>
                </a:solidFill>
                <a:latin typeface="Arial"/>
              </a:rPr>
              <a:t> the narrow middle sequence, and blue </a:t>
            </a:r>
            <a:r>
              <a:rPr sz="1700" b="1" i="0">
                <a:solidFill>
                  <a:srgbClr val="1F5FAD"/>
                </a:solidFill>
                <a:latin typeface="Arial"/>
              </a:rPr>
              <a:t>(3)</a:t>
            </a:r>
            <a:r>
              <a:rPr sz="1700" b="0" i="0">
                <a:solidFill>
                  <a:srgbClr val="1A1A1A"/>
                </a:solidFill>
                <a:latin typeface="Arial"/>
              </a:rPr>
              <a:t> the final close near its high.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b2-qs-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157776"/>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251252" y="4198924"/>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5826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505507" y="396456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11620" y="394875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16007" y="354604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QS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83 of 86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Carry this rule into the next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84 of 86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Carry this rule into the next worked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7.11: multiple bullish forms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85 of 86</a:t>
            </a:r>
          </a:p>
        </p:txBody>
      </p:sp>
      <p:sp>
        <p:nvSpPr>
          <p:cNvPr id="7" name="TextBox 6"/>
          <p:cNvSpPr txBox="1"/>
          <p:nvPr/>
        </p:nvSpPr>
        <p:spPr>
          <a:xfrm>
            <a:off x="777240" y="1965960"/>
            <a:ext cx="3840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first bar, red </a:t>
            </a:r>
            <a:r>
              <a:rPr sz="2000" b="1" i="0">
                <a:solidFill>
                  <a:srgbClr val="C62828"/>
                </a:solidFill>
                <a:latin typeface="Arial"/>
              </a:rPr>
              <a:t>(2)</a:t>
            </a:r>
            <a:r>
              <a:rPr sz="2000" b="0" i="0">
                <a:solidFill>
                  <a:srgbClr val="1A1A1A"/>
                </a:solidFill>
                <a:latin typeface="Arial"/>
              </a:rPr>
              <a:t> the narrow middle sequence, and blue </a:t>
            </a:r>
            <a:r>
              <a:rPr sz="2000" b="1" i="0">
                <a:solidFill>
                  <a:srgbClr val="1F5FAD"/>
                </a:solidFill>
                <a:latin typeface="Arial"/>
              </a:rPr>
              <a:t>(3)</a:t>
            </a:r>
            <a:r>
              <a:rPr sz="2000" b="0" i="0">
                <a:solidFill>
                  <a:srgbClr val="1A1A1A"/>
                </a:solidFill>
                <a:latin typeface="Arial"/>
              </a:rPr>
              <a:t> the final close near its high.</a:t>
            </a:r>
          </a:p>
          <a:p>
            <a:pPr algn="l">
              <a:lnSpc>
                <a:spcPct val="105000"/>
              </a:lnSpc>
              <a:spcBef>
                <a:spcPts val="0"/>
              </a:spcBef>
              <a:spcAft>
                <a:spcPts val="1100"/>
              </a:spcAft>
            </a:pPr>
            <a:r>
              <a:rPr sz="2000" b="0" i="0">
                <a:solidFill>
                  <a:srgbClr val="1A1A1A"/>
                </a:solidFill>
                <a:latin typeface="Arial"/>
              </a:rPr>
              <a:t>The crop has no volume panel, so its marks do not claim the pattern 2 volume exception.</a:t>
            </a:r>
          </a:p>
          <a:p>
            <a:pPr algn="l">
              <a:lnSpc>
                <a:spcPct val="105000"/>
              </a:lnSpc>
              <a:spcBef>
                <a:spcPts val="0"/>
              </a:spcBef>
              <a:spcAft>
                <a:spcPts val="1100"/>
              </a:spcAft>
            </a:pPr>
            <a:r>
              <a:rPr sz="2000" b="0" i="0">
                <a:solidFill>
                  <a:srgbClr val="1A1A1A"/>
                </a:solidFill>
                <a:latin typeface="Arial"/>
              </a:rPr>
              <a:t>We finish by reading the warning context in Figure 7.13.</a:t>
            </a:r>
          </a:p>
        </p:txBody>
      </p:sp>
      <p:sp>
        <p:nvSpPr>
          <p:cNvPr id="8" name="Rectangle 7"/>
          <p:cNvSpPr/>
          <p:nvPr/>
        </p:nvSpPr>
        <p:spPr>
          <a:xfrm>
            <a:off x="5765139" y="1810512"/>
            <a:ext cx="48219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884011" y="1929384"/>
            <a:ext cx="458419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84011" y="1929384"/>
            <a:ext cx="45841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58331" y="2203703"/>
            <a:ext cx="403555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A readable crop of the first multiple bullish formation: a low first close followed by narrow bars and a final close near its high.</a:t>
            </a:r>
          </a:p>
        </p:txBody>
      </p:sp>
      <p:sp>
        <p:nvSpPr>
          <p:cNvPr id="12" name="Oval 11"/>
          <p:cNvSpPr/>
          <p:nvPr/>
        </p:nvSpPr>
        <p:spPr>
          <a:xfrm>
            <a:off x="6617482" y="4106387"/>
            <a:ext cx="137525" cy="456468"/>
          </a:xfrm>
          <a:prstGeom prst="ellipse">
            <a:avLst/>
          </a:prstGeom>
          <a:noFill/>
          <a:ln w="44450">
            <a:solidFill>
              <a:srgbClr val="E09B00"/>
            </a:solidFill>
          </a:ln>
        </p:spPr>
        <p:txBody>
          <a:bodyPr rtlCol="0" anchor="ctr"/>
          <a:lstStyle/>
          <a:p>
            <a:pPr algn="ctr"/>
          </a:p>
        </p:txBody>
      </p:sp>
      <p:sp>
        <p:nvSpPr>
          <p:cNvPr id="13" name="Rectangle 12"/>
          <p:cNvSpPr/>
          <p:nvPr/>
        </p:nvSpPr>
        <p:spPr>
          <a:xfrm>
            <a:off x="6741255" y="4088831"/>
            <a:ext cx="311725" cy="670657"/>
          </a:xfrm>
          <a:prstGeom prst="rect">
            <a:avLst/>
          </a:prstGeom>
          <a:noFill/>
          <a:ln w="44450">
            <a:solidFill>
              <a:srgbClr val="C62828"/>
            </a:solidFill>
          </a:ln>
        </p:spPr>
        <p:txBody>
          <a:bodyPr rtlCol="0" anchor="ctr"/>
          <a:lstStyle/>
          <a:p>
            <a:pPr algn="ctr"/>
          </a:p>
        </p:txBody>
      </p:sp>
      <p:cxnSp>
        <p:nvCxnSpPr>
          <p:cNvPr id="14" name="Connector 13"/>
          <p:cNvCxnSpPr/>
          <p:nvPr/>
        </p:nvCxnSpPr>
        <p:spPr>
          <a:xfrm>
            <a:off x="7130911" y="4137989"/>
            <a:ext cx="0" cy="621499"/>
          </a:xfrm>
          <a:prstGeom prst="line">
            <a:avLst/>
          </a:prstGeom>
          <a:ln w="44450">
            <a:solidFill>
              <a:srgbClr val="1F5FAD"/>
            </a:solidFill>
          </a:ln>
        </p:spPr>
      </p:cxnSp>
      <p:sp>
        <p:nvSpPr>
          <p:cNvPr id="15" name="Oval 14"/>
          <p:cNvSpPr/>
          <p:nvPr/>
        </p:nvSpPr>
        <p:spPr>
          <a:xfrm>
            <a:off x="6278666" y="37753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149663" y="3740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149663" y="48638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937759" y="5650991"/>
            <a:ext cx="6476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Figure 7.11 - Lim, The Handbook of Technical Analysis (Wiley, 2016)</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dedicated warning chart keeps the context visible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86 of 86</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 are checking the same three context clues in the book figure: gold </a:t>
            </a:r>
            <a:r>
              <a:rPr sz="1700" b="1" i="0">
                <a:solidFill>
                  <a:srgbClr val="E09B00"/>
                </a:solidFill>
                <a:latin typeface="Arial"/>
              </a:rPr>
              <a:t>(1)</a:t>
            </a:r>
            <a:r>
              <a:rPr sz="1700" b="0" i="0">
                <a:solidFill>
                  <a:srgbClr val="1A1A1A"/>
                </a:solidFill>
                <a:latin typeface="Arial"/>
              </a:rPr>
              <a:t> marks changing angular momentum, red </a:t>
            </a:r>
            <a:r>
              <a:rPr sz="1700" b="1" i="0">
                <a:solidFill>
                  <a:srgbClr val="C62828"/>
                </a:solidFill>
                <a:latin typeface="Arial"/>
              </a:rPr>
              <a:t>(2)</a:t>
            </a:r>
            <a:r>
              <a:rPr sz="1700" b="0" i="0">
                <a:solidFill>
                  <a:srgbClr val="1A1A1A"/>
                </a:solidFill>
                <a:latin typeface="Arial"/>
              </a:rPr>
              <a:t> fewer oscillations, and blue </a:t>
            </a:r>
            <a:r>
              <a:rPr sz="1700" b="1" i="0">
                <a:solidFill>
                  <a:srgbClr val="1F5FAD"/>
                </a:solidFill>
                <a:latin typeface="Arial"/>
              </a:rPr>
              <a:t>(3)</a:t>
            </a:r>
            <a:r>
              <a:rPr sz="1700" b="0" i="0">
                <a:solidFill>
                  <a:srgbClr val="1A1A1A"/>
                </a:solidFill>
                <a:latin typeface="Arial"/>
              </a:rPr>
              <a:t> overextension at the upper band.</a:t>
            </a:r>
          </a:p>
          <a:p>
            <a:pPr algn="l">
              <a:lnSpc>
                <a:spcPct val="105000"/>
              </a:lnSpc>
              <a:spcBef>
                <a:spcPts val="0"/>
              </a:spcBef>
              <a:spcAft>
                <a:spcPts val="1100"/>
              </a:spcAft>
            </a:pPr>
            <a:r>
              <a:rPr sz="1700" b="0" i="0">
                <a:solidFill>
                  <a:srgbClr val="1A1A1A"/>
                </a:solidFill>
                <a:latin typeface="Arial"/>
              </a:rPr>
              <a:t>The crop has no separate volume panel, so this marked reading does not claim high volume.</a:t>
            </a:r>
          </a:p>
          <a:p>
            <a:pPr algn="l">
              <a:lnSpc>
                <a:spcPct val="105000"/>
              </a:lnSpc>
              <a:spcBef>
                <a:spcPts val="0"/>
              </a:spcBef>
              <a:spcAft>
                <a:spcPts val="1100"/>
              </a:spcAft>
            </a:pPr>
            <a:r>
              <a:rPr sz="1700" b="0" i="0">
                <a:solidFill>
                  <a:srgbClr val="1A1A1A"/>
                </a:solidFill>
                <a:latin typeface="Arial"/>
              </a:rPr>
              <a:t>Bollinger Bands are named but not defined in Chapter 7, so no formula is imported.</a:t>
            </a:r>
          </a:p>
          <a:p>
            <a:pPr algn="l">
              <a:lnSpc>
                <a:spcPct val="105000"/>
              </a:lnSpc>
              <a:spcBef>
                <a:spcPts val="0"/>
              </a:spcBef>
              <a:spcAft>
                <a:spcPts val="1100"/>
              </a:spcAft>
            </a:pPr>
            <a:r>
              <a:rPr sz="1700" b="0" i="0">
                <a:solidFill>
                  <a:srgbClr val="1A1A1A"/>
                </a:solidFill>
                <a:latin typeface="Arial"/>
              </a:rPr>
              <a:t>Barrier proximity is the next reliability rule.</a:t>
            </a:r>
          </a:p>
        </p:txBody>
      </p:sp>
      <p:sp>
        <p:nvSpPr>
          <p:cNvPr id="8" name="Rectangle 7"/>
          <p:cNvSpPr/>
          <p:nvPr/>
        </p:nvSpPr>
        <p:spPr>
          <a:xfrm>
            <a:off x="6080759" y="1810512"/>
            <a:ext cx="5333694" cy="27857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54797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09077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A rapid rise, fewer oscillations, and an overextended bar against the upper band.</a:t>
            </a:r>
          </a:p>
        </p:txBody>
      </p:sp>
      <p:sp>
        <p:nvSpPr>
          <p:cNvPr id="12" name="Oval 11"/>
          <p:cNvSpPr/>
          <p:nvPr/>
        </p:nvSpPr>
        <p:spPr>
          <a:xfrm>
            <a:off x="7728417" y="3075972"/>
            <a:ext cx="509595" cy="433155"/>
          </a:xfrm>
          <a:prstGeom prst="ellipse">
            <a:avLst/>
          </a:prstGeom>
          <a:noFill/>
          <a:ln w="44450">
            <a:solidFill>
              <a:srgbClr val="E09B00"/>
            </a:solidFill>
          </a:ln>
        </p:spPr>
        <p:txBody>
          <a:bodyPr rtlCol="0" anchor="ctr"/>
          <a:lstStyle/>
          <a:p>
            <a:pPr algn="ctr"/>
          </a:p>
        </p:txBody>
      </p:sp>
      <p:sp>
        <p:nvSpPr>
          <p:cNvPr id="13" name="Oval 12"/>
          <p:cNvSpPr/>
          <p:nvPr/>
        </p:nvSpPr>
        <p:spPr>
          <a:xfrm>
            <a:off x="9053364" y="3560088"/>
            <a:ext cx="611514" cy="407676"/>
          </a:xfrm>
          <a:prstGeom prst="ellipse">
            <a:avLst/>
          </a:prstGeom>
          <a:noFill/>
          <a:ln w="44450">
            <a:solidFill>
              <a:srgbClr val="C62828"/>
            </a:solidFill>
          </a:ln>
        </p:spPr>
        <p:txBody>
          <a:bodyPr rtlCol="0" anchor="ctr"/>
          <a:lstStyle/>
          <a:p>
            <a:pPr algn="ctr"/>
          </a:p>
        </p:txBody>
      </p:sp>
      <p:sp>
        <p:nvSpPr>
          <p:cNvPr id="14" name="Rectangle 13"/>
          <p:cNvSpPr/>
          <p:nvPr/>
        </p:nvSpPr>
        <p:spPr>
          <a:xfrm>
            <a:off x="8059654" y="2133222"/>
            <a:ext cx="407676" cy="866311"/>
          </a:xfrm>
          <a:prstGeom prst="rect">
            <a:avLst/>
          </a:prstGeom>
          <a:noFill/>
          <a:ln w="44450">
            <a:solidFill>
              <a:srgbClr val="1F5FAD"/>
            </a:solidFill>
          </a:ln>
        </p:spPr>
        <p:txBody>
          <a:bodyPr rtlCol="0" anchor="ctr"/>
          <a:lstStyle/>
          <a:p>
            <a:pPr algn="ctr"/>
          </a:p>
        </p:txBody>
      </p:sp>
      <p:sp>
        <p:nvSpPr>
          <p:cNvPr id="15" name="Oval 14"/>
          <p:cNvSpPr/>
          <p:nvPr/>
        </p:nvSpPr>
        <p:spPr>
          <a:xfrm>
            <a:off x="7294644" y="276959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42619" y="33301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267" y="29734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68767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worked values are ours, invented to show the rule.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900" b="0" i="0">
                <a:solidFill>
                  <a:srgbClr val="1A1A1A"/>
                </a:solidFill>
                <a:latin typeface="Arial"/>
              </a:rPr>
              <a:t>With simple invented values, the prior low is 42.00, the new low is 40.50 </a:t>
            </a:r>
            <a:r>
              <a:rPr sz="1900" b="1" i="0">
                <a:solidFill>
                  <a:srgbClr val="E09B00"/>
                </a:solidFill>
                <a:latin typeface="Arial"/>
              </a:rPr>
              <a:t>(1)</a:t>
            </a:r>
            <a:r>
              <a:rPr sz="1900" b="0" i="0">
                <a:solidFill>
                  <a:srgbClr val="1A1A1A"/>
                </a:solidFill>
                <a:latin typeface="Arial"/>
              </a:rPr>
              <a:t>, the close is 43.20 </a:t>
            </a:r>
            <a:r>
              <a:rPr sz="1900" b="1" i="0">
                <a:solidFill>
                  <a:srgbClr val="C62828"/>
                </a:solidFill>
                <a:latin typeface="Arial"/>
              </a:rPr>
              <a:t>(2)</a:t>
            </a:r>
            <a:r>
              <a:rPr sz="1900" b="0" i="0">
                <a:solidFill>
                  <a:srgbClr val="1A1A1A"/>
                </a:solidFill>
                <a:latin typeface="Arial"/>
              </a:rPr>
              <a:t>, and volume is 4.0m </a:t>
            </a:r>
            <a:r>
              <a:rPr sz="1900" b="1" i="0">
                <a:solidFill>
                  <a:srgbClr val="1F5FAD"/>
                </a:solidFill>
                <a:latin typeface="Arial"/>
              </a:rPr>
              <a:t>(3)</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A single bar can show sellers losing control after a sustained decline. Lim's rapid rebound is this chart's observation, not a promise.</a:t>
            </a:r>
          </a:p>
        </p:txBody>
      </p:sp>
      <p:sp>
        <p:nvSpPr>
          <p:cNvPr id="8" name="TextBox 7"/>
          <p:cNvSpPr txBox="1"/>
          <p:nvPr/>
        </p:nvSpPr>
        <p:spPr>
          <a:xfrm>
            <a:off x="777240" y="5397246"/>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766559" y="1810512"/>
            <a:ext cx="5105094" cy="312621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867351" cy="288847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86735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4318711" cy="243127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988822" y="3846278"/>
            <a:ext cx="173833" cy="175058"/>
          </a:xfrm>
          <a:prstGeom prst="ellipse">
            <a:avLst/>
          </a:prstGeom>
          <a:noFill/>
          <a:ln w="44450">
            <a:solidFill>
              <a:srgbClr val="E09B00"/>
            </a:solidFill>
          </a:ln>
        </p:spPr>
        <p:txBody>
          <a:bodyPr rtlCol="0" anchor="ctr"/>
          <a:lstStyle/>
          <a:p>
            <a:pPr algn="ctr"/>
          </a:p>
        </p:txBody>
      </p:sp>
      <p:sp>
        <p:nvSpPr>
          <p:cNvPr id="14" name="Oval 13"/>
          <p:cNvSpPr/>
          <p:nvPr/>
        </p:nvSpPr>
        <p:spPr>
          <a:xfrm>
            <a:off x="9040973" y="3741242"/>
            <a:ext cx="173833" cy="140047"/>
          </a:xfrm>
          <a:prstGeom prst="ellipse">
            <a:avLst/>
          </a:prstGeom>
          <a:noFill/>
          <a:ln w="44450">
            <a:solidFill>
              <a:srgbClr val="C62828"/>
            </a:solidFill>
          </a:ln>
        </p:spPr>
        <p:txBody>
          <a:bodyPr rtlCol="0" anchor="ctr"/>
          <a:lstStyle/>
          <a:p>
            <a:pPr algn="ctr"/>
          </a:p>
        </p:txBody>
      </p:sp>
      <p:sp>
        <p:nvSpPr>
          <p:cNvPr id="15" name="Oval 14"/>
          <p:cNvSpPr/>
          <p:nvPr/>
        </p:nvSpPr>
        <p:spPr>
          <a:xfrm>
            <a:off x="8971439" y="4231407"/>
            <a:ext cx="208600" cy="385129"/>
          </a:xfrm>
          <a:prstGeom prst="ellipse">
            <a:avLst/>
          </a:prstGeom>
          <a:noFill/>
          <a:ln w="44450">
            <a:solidFill>
              <a:srgbClr val="1F5FAD"/>
            </a:solidFill>
          </a:ln>
        </p:spPr>
        <p:txBody>
          <a:bodyPr rtlCol="0" anchor="ctr"/>
          <a:lstStyle/>
          <a:p>
            <a:pPr algn="ctr"/>
          </a:p>
        </p:txBody>
      </p:sp>
      <p:sp>
        <p:nvSpPr>
          <p:cNvPr id="16" name="Oval 15"/>
          <p:cNvSpPr/>
          <p:nvPr/>
        </p:nvSpPr>
        <p:spPr>
          <a:xfrm>
            <a:off x="8771317" y="38993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306726" y="34660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306726" y="43615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766559" y="5028166"/>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62</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(1) marks the previous bar's high. Red (2) marks the key reversal day's higher high. Blue (3) marks its close, below the previous close. Purple (4)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05208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7096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7096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528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12482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21170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25514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0084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68843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6416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61889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01683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852159" y="5650991"/>
            <a:ext cx="611093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13</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219).</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13</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14</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14</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62</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1800" b="0" i="0">
                <a:solidFill>
                  <a:srgbClr val="1A1A1A"/>
                </a:solidFill>
                <a:latin typeface="Arial"/>
              </a:rPr>
              <a:t>Lim's Figure 7.15 shows the market hovering near the key bar </a:t>
            </a:r>
            <a:r>
              <a:rPr sz="1800" b="1" i="0">
                <a:solidFill>
                  <a:srgbClr val="E09B00"/>
                </a:solidFill>
                <a:latin typeface="Arial"/>
              </a:rPr>
              <a:t>(1)</a:t>
            </a:r>
            <a:r>
              <a:rPr sz="1800" b="0" i="0">
                <a:solidFill>
                  <a:srgbClr val="1A1A1A"/>
                </a:solidFill>
                <a:latin typeface="Arial"/>
              </a:rPr>
              <a:t> before the later decline </a:t>
            </a:r>
            <a:r>
              <a:rPr sz="1800" b="1" i="0">
                <a:solidFill>
                  <a:srgbClr val="C62828"/>
                </a:solidFill>
                <a:latin typeface="Arial"/>
              </a:rPr>
              <a:t>(2)</a:t>
            </a:r>
            <a:r>
              <a:rPr sz="1800" b="0" i="0">
                <a:solidFill>
                  <a:srgbClr val="1A1A1A"/>
                </a:solidFill>
                <a:latin typeface="Arial"/>
              </a:rPr>
              <a:t> (p. 219).</a:t>
            </a:r>
          </a:p>
          <a:p>
            <a:pPr algn="l">
              <a:lnSpc>
                <a:spcPct val="105000"/>
              </a:lnSpc>
              <a:spcBef>
                <a:spcPts val="0"/>
              </a:spcBef>
              <a:spcAft>
                <a:spcPts val="1100"/>
              </a:spcAft>
            </a:pPr>
            <a:r>
              <a:rPr sz="1800" b="0" i="0">
                <a:solidFill>
                  <a:srgbClr val="1A1A1A"/>
                </a:solidFill>
                <a:latin typeface="Arial"/>
              </a:rPr>
              <a:t>Read the pattern first, then wait for the surrounding context rather than assuming the timing of the move.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wide bar may make follow-through more reliable, but it does not guarantee it.</a:t>
            </a:r>
          </a:p>
        </p:txBody>
      </p:sp>
      <p:sp>
        <p:nvSpPr>
          <p:cNvPr id="10" name="Rectangle 9"/>
          <p:cNvSpPr/>
          <p:nvPr/>
        </p:nvSpPr>
        <p:spPr>
          <a:xfrm>
            <a:off x="7315199" y="1810512"/>
            <a:ext cx="4099255" cy="32927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34071" y="1929384"/>
            <a:ext cx="3861511" cy="305505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8615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708392" y="2203703"/>
            <a:ext cx="3312871" cy="25978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9326212" y="2357091"/>
            <a:ext cx="424766" cy="458258"/>
          </a:xfrm>
          <a:prstGeom prst="rect">
            <a:avLst/>
          </a:prstGeom>
          <a:noFill/>
          <a:ln w="44450">
            <a:solidFill>
              <a:srgbClr val="E09B00"/>
            </a:solidFill>
          </a:ln>
        </p:spPr>
        <p:txBody>
          <a:bodyPr rtlCol="0" anchor="ctr"/>
          <a:lstStyle/>
          <a:p>
            <a:pPr algn="ctr"/>
          </a:p>
        </p:txBody>
      </p:sp>
      <p:sp>
        <p:nvSpPr>
          <p:cNvPr id="15" name="Rectangle 14"/>
          <p:cNvSpPr/>
          <p:nvPr/>
        </p:nvSpPr>
        <p:spPr>
          <a:xfrm>
            <a:off x="9944054" y="2418192"/>
            <a:ext cx="424766" cy="794314"/>
          </a:xfrm>
          <a:prstGeom prst="rect">
            <a:avLst/>
          </a:prstGeom>
          <a:noFill/>
          <a:ln w="44450">
            <a:solidFill>
              <a:srgbClr val="C62828"/>
            </a:solidFill>
          </a:ln>
        </p:spPr>
        <p:txBody>
          <a:bodyPr rtlCol="0" anchor="ctr"/>
          <a:lstStyle/>
          <a:p>
            <a:pPr algn="ctr"/>
          </a:p>
        </p:txBody>
      </p:sp>
      <p:sp>
        <p:nvSpPr>
          <p:cNvPr id="16" name="Oval 15"/>
          <p:cNvSpPr/>
          <p:nvPr/>
        </p:nvSpPr>
        <p:spPr>
          <a:xfrm>
            <a:off x="9005120" y="210687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33879" y="317614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315199" y="519475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PHP path is ours, invented to show consolidation.</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pattern has already been defined. Figure 7.14 adds a later observation: the high-volume reversal bar </a:t>
            </a:r>
            <a:r>
              <a:rPr sz="2000" b="1" i="0">
                <a:solidFill>
                  <a:srgbClr val="1F5FAD"/>
                </a:solidFill>
                <a:latin typeface="Arial"/>
              </a:rPr>
              <a:t>(3)</a:t>
            </a:r>
            <a:r>
              <a:rPr sz="2000" b="0" i="0">
                <a:solidFill>
                  <a:srgbClr val="1A1A1A"/>
                </a:solidFill>
                <a:latin typeface="Arial"/>
              </a:rPr>
              <a:t> is followed by a rapid rebound.</a:t>
            </a:r>
          </a:p>
          <a:p>
            <a:pPr algn="l">
              <a:lnSpc>
                <a:spcPct val="105000"/>
              </a:lnSpc>
              <a:spcBef>
                <a:spcPts val="0"/>
              </a:spcBef>
              <a:spcAft>
                <a:spcPts val="1100"/>
              </a:spcAft>
            </a:pPr>
            <a:r>
              <a:rPr sz="20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2000" b="0" i="0">
                <a:solidFill>
                  <a:srgbClr val="1A1A1A"/>
                </a:solidFill>
                <a:latin typeface="Arial"/>
              </a:rPr>
              <a:t>A reversal warns about changing pressure; timing belongs to later price action.</a:t>
            </a:r>
          </a:p>
        </p:txBody>
      </p:sp>
      <p:sp>
        <p:nvSpPr>
          <p:cNvPr id="8" name="Rectangle 7"/>
          <p:cNvSpPr/>
          <p:nvPr/>
        </p:nvSpPr>
        <p:spPr>
          <a:xfrm>
            <a:off x="6400799" y="1810512"/>
            <a:ext cx="5013655" cy="30719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19671" y="1929384"/>
            <a:ext cx="4775911" cy="28342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93991" y="2203703"/>
            <a:ext cx="4227271" cy="23770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8583547" y="3810266"/>
            <a:ext cx="170568" cy="171770"/>
          </a:xfrm>
          <a:prstGeom prst="ellipse">
            <a:avLst/>
          </a:prstGeom>
          <a:noFill/>
          <a:ln w="44450">
            <a:solidFill>
              <a:srgbClr val="E09B00"/>
            </a:solidFill>
          </a:ln>
        </p:spPr>
        <p:txBody>
          <a:bodyPr rtlCol="0" anchor="ctr"/>
          <a:lstStyle/>
          <a:p>
            <a:pPr algn="ctr"/>
          </a:p>
        </p:txBody>
      </p:sp>
      <p:sp>
        <p:nvSpPr>
          <p:cNvPr id="13" name="Oval 12"/>
          <p:cNvSpPr/>
          <p:nvPr/>
        </p:nvSpPr>
        <p:spPr>
          <a:xfrm>
            <a:off x="8634718" y="3707204"/>
            <a:ext cx="170568" cy="137416"/>
          </a:xfrm>
          <a:prstGeom prst="ellipse">
            <a:avLst/>
          </a:prstGeom>
          <a:noFill/>
          <a:ln w="44450">
            <a:solidFill>
              <a:srgbClr val="C62828"/>
            </a:solidFill>
          </a:ln>
        </p:spPr>
        <p:txBody>
          <a:bodyPr rtlCol="0" anchor="ctr"/>
          <a:lstStyle/>
          <a:p>
            <a:pPr algn="ctr"/>
          </a:p>
        </p:txBody>
      </p:sp>
      <p:sp>
        <p:nvSpPr>
          <p:cNvPr id="14" name="Oval 13"/>
          <p:cNvSpPr/>
          <p:nvPr/>
        </p:nvSpPr>
        <p:spPr>
          <a:xfrm>
            <a:off x="8566490" y="4188160"/>
            <a:ext cx="204681" cy="377894"/>
          </a:xfrm>
          <a:prstGeom prst="ellipse">
            <a:avLst/>
          </a:prstGeom>
          <a:noFill/>
          <a:ln w="44450">
            <a:solidFill>
              <a:srgbClr val="1F5FAD"/>
            </a:solidFill>
          </a:ln>
        </p:spPr>
        <p:txBody>
          <a:bodyPr rtlCol="0" anchor="ctr"/>
          <a:lstStyle/>
          <a:p>
            <a:pPr algn="ctr"/>
          </a:p>
        </p:txBody>
      </p:sp>
      <p:sp>
        <p:nvSpPr>
          <p:cNvPr id="15" name="Oval 14"/>
          <p:cNvSpPr/>
          <p:nvPr/>
        </p:nvSpPr>
        <p:spPr>
          <a:xfrm>
            <a:off x="8368067" y="386028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93417" y="34351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93417" y="431375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497390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figure shows the book's bullish converse.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price pattern sits below the lower Bollinger band </a:t>
            </a:r>
            <a:r>
              <a:rPr sz="1800" b="1" i="0">
                <a:solidFill>
                  <a:srgbClr val="E09B00"/>
                </a:solidFill>
                <a:latin typeface="Arial"/>
              </a:rPr>
              <a:t>(1)</a:t>
            </a:r>
            <a:r>
              <a:rPr sz="1800" b="0" i="0">
                <a:solidFill>
                  <a:srgbClr val="1A1A1A"/>
                </a:solidFill>
                <a:latin typeface="Arial"/>
              </a:rPr>
              <a:t>, with StochRSI oversold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It closes near its high and shows extreme volume </a:t>
            </a:r>
            <a:r>
              <a:rPr sz="1800" b="1" i="0">
                <a:solidFill>
                  <a:srgbClr val="1F5FAD"/>
                </a:solidFill>
                <a:latin typeface="Arial"/>
              </a:rPr>
              <a:t>(3)</a:t>
            </a:r>
            <a:r>
              <a:rPr sz="1800" b="0" i="0">
                <a:solidFill>
                  <a:srgbClr val="1A1A1A"/>
                </a:solidFill>
                <a:latin typeface="Arial"/>
              </a:rPr>
              <a:t>, which Lim calls a possible selling climax (p. 220).</a:t>
            </a:r>
          </a:p>
          <a:p>
            <a:pPr algn="l">
              <a:lnSpc>
                <a:spcPct val="105000"/>
              </a:lnSpc>
              <a:spcBef>
                <a:spcPts val="0"/>
              </a:spcBef>
              <a:spcAft>
                <a:spcPts val="1100"/>
              </a:spcAft>
            </a:pPr>
            <a:r>
              <a:rPr sz="1800" b="0" i="0">
                <a:solidFill>
                  <a:srgbClr val="1A1A1A"/>
                </a:solidFill>
                <a:latin typeface="Arial"/>
              </a:rPr>
              <a:t>The book gives no formulas here. These labels are context, not a promise.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Use the labels as context, not as a promise of a reversal.</a:t>
            </a:r>
          </a:p>
        </p:txBody>
      </p:sp>
      <p:sp>
        <p:nvSpPr>
          <p:cNvPr id="10" name="Rectangle 9"/>
          <p:cNvSpPr/>
          <p:nvPr/>
        </p:nvSpPr>
        <p:spPr>
          <a:xfrm>
            <a:off x="7289880" y="1810512"/>
            <a:ext cx="3875573"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08752" y="1929384"/>
            <a:ext cx="3637829"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08752" y="1929384"/>
            <a:ext cx="3637829"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683072" y="2203703"/>
            <a:ext cx="3089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a bullish key reversal below the lower volatility band, an oversold StochRSI label, and high volume under the reversal bar.</a:t>
            </a:r>
          </a:p>
        </p:txBody>
      </p:sp>
      <p:sp>
        <p:nvSpPr>
          <p:cNvPr id="14" name="Oval 13"/>
          <p:cNvSpPr/>
          <p:nvPr/>
        </p:nvSpPr>
        <p:spPr>
          <a:xfrm>
            <a:off x="8863884" y="3439241"/>
            <a:ext cx="472917" cy="877824"/>
          </a:xfrm>
          <a:prstGeom prst="ellipse">
            <a:avLst/>
          </a:prstGeom>
          <a:noFill/>
          <a:ln w="44450">
            <a:solidFill>
              <a:srgbClr val="E09B00"/>
            </a:solidFill>
          </a:ln>
        </p:spPr>
        <p:txBody>
          <a:bodyPr rtlCol="0" anchor="ctr"/>
          <a:lstStyle/>
          <a:p>
            <a:pPr algn="ctr"/>
          </a:p>
        </p:txBody>
      </p:sp>
      <p:sp>
        <p:nvSpPr>
          <p:cNvPr id="15" name="Oval 14"/>
          <p:cNvSpPr/>
          <p:nvPr/>
        </p:nvSpPr>
        <p:spPr>
          <a:xfrm>
            <a:off x="9009397" y="4387291"/>
            <a:ext cx="363782" cy="561807"/>
          </a:xfrm>
          <a:prstGeom prst="ellipse">
            <a:avLst/>
          </a:prstGeom>
          <a:noFill/>
          <a:ln w="44450">
            <a:solidFill>
              <a:srgbClr val="C62828"/>
            </a:solidFill>
          </a:ln>
        </p:spPr>
        <p:txBody>
          <a:bodyPr rtlCol="0" anchor="ctr"/>
          <a:lstStyle/>
          <a:p>
            <a:pPr algn="ctr"/>
          </a:p>
        </p:txBody>
      </p:sp>
      <p:cxnSp>
        <p:nvCxnSpPr>
          <p:cNvPr id="16" name="Connector 15"/>
          <p:cNvCxnSpPr/>
          <p:nvPr/>
        </p:nvCxnSpPr>
        <p:spPr>
          <a:xfrm>
            <a:off x="9118532" y="3439241"/>
            <a:ext cx="72757" cy="1615196"/>
          </a:xfrm>
          <a:prstGeom prst="line">
            <a:avLst/>
          </a:prstGeom>
          <a:ln w="44450">
            <a:solidFill>
              <a:srgbClr val="1F5FAD"/>
            </a:solidFill>
          </a:ln>
        </p:spPr>
      </p:cxnSp>
      <p:sp>
        <p:nvSpPr>
          <p:cNvPr id="17" name="Oval 16"/>
          <p:cNvSpPr/>
          <p:nvPr/>
        </p:nvSpPr>
        <p:spPr>
          <a:xfrm>
            <a:off x="8508454" y="333719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508454" y="435547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1713" y="3566159"/>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7.16. Bollinger Bands and StochRSI are shown by the book but not defined here.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220).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62</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62</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Mark 1 is the first close near its high; mark 2 is the second close near its low.</a:t>
            </a:r>
          </a:p>
          <a:p>
            <a:pPr algn="l">
              <a:lnSpc>
                <a:spcPct val="105000"/>
              </a:lnSpc>
              <a:spcBef>
                <a:spcPts val="0"/>
              </a:spcBef>
              <a:spcAft>
                <a:spcPts val="1100"/>
              </a:spcAft>
            </a:pPr>
            <a:r>
              <a:rPr sz="1800" b="0" i="0">
                <a:solidFill>
                  <a:srgbClr val="1A1A1A"/>
                </a:solidFill>
                <a:latin typeface="Arial"/>
              </a:rPr>
              <a:t>The book says wider ranges would be preferable and labels bearish CCI divergence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CCI is not defined in Chapter 7. Treat it as the book's supporting label, not a formula to calculate.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close sequence is the pattern; CCI is context shown by the figure.</a:t>
            </a:r>
          </a:p>
        </p:txBody>
      </p:sp>
      <p:sp>
        <p:nvSpPr>
          <p:cNvPr id="10" name="Rectangle 9"/>
          <p:cNvSpPr/>
          <p:nvPr/>
        </p:nvSpPr>
        <p:spPr>
          <a:xfrm>
            <a:off x="6595168" y="1810512"/>
            <a:ext cx="453347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14040" y="1929384"/>
            <a:ext cx="42957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14040" y="1929384"/>
            <a:ext cx="42957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88360" y="2203703"/>
            <a:ext cx="37470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4" name="Oval 13"/>
          <p:cNvSpPr/>
          <p:nvPr/>
        </p:nvSpPr>
        <p:spPr>
          <a:xfrm>
            <a:off x="8990779" y="2631643"/>
            <a:ext cx="343658" cy="421355"/>
          </a:xfrm>
          <a:prstGeom prst="ellipse">
            <a:avLst/>
          </a:prstGeom>
          <a:noFill/>
          <a:ln w="44450">
            <a:solidFill>
              <a:srgbClr val="E09B00"/>
            </a:solidFill>
          </a:ln>
        </p:spPr>
        <p:txBody>
          <a:bodyPr rtlCol="0" anchor="ctr"/>
          <a:lstStyle/>
          <a:p>
            <a:pPr algn="ctr"/>
          </a:p>
        </p:txBody>
      </p:sp>
      <p:sp>
        <p:nvSpPr>
          <p:cNvPr id="15" name="Oval 14"/>
          <p:cNvSpPr/>
          <p:nvPr/>
        </p:nvSpPr>
        <p:spPr>
          <a:xfrm>
            <a:off x="9377395" y="2561417"/>
            <a:ext cx="343658" cy="456468"/>
          </a:xfrm>
          <a:prstGeom prst="ellipse">
            <a:avLst/>
          </a:prstGeom>
          <a:noFill/>
          <a:ln w="44450">
            <a:solidFill>
              <a:srgbClr val="C62828"/>
            </a:solidFill>
          </a:ln>
        </p:spPr>
        <p:txBody>
          <a:bodyPr rtlCol="0" anchor="ctr"/>
          <a:lstStyle/>
          <a:p>
            <a:pPr algn="ctr"/>
          </a:p>
        </p:txBody>
      </p:sp>
      <p:sp>
        <p:nvSpPr>
          <p:cNvPr id="16" name="Oval 15"/>
          <p:cNvSpPr/>
          <p:nvPr/>
        </p:nvSpPr>
        <p:spPr>
          <a:xfrm>
            <a:off x="8518248" y="4387291"/>
            <a:ext cx="988018" cy="737372"/>
          </a:xfrm>
          <a:prstGeom prst="ellipse">
            <a:avLst/>
          </a:prstGeom>
          <a:noFill/>
          <a:ln w="44450">
            <a:solidFill>
              <a:srgbClr val="1F5FAD"/>
            </a:solidFill>
          </a:ln>
        </p:spPr>
        <p:txBody>
          <a:bodyPr rtlCol="0" anchor="ctr"/>
          <a:lstStyle/>
          <a:p>
            <a:pPr algn="ctr"/>
          </a:p>
        </p:txBody>
      </p:sp>
      <p:sp>
        <p:nvSpPr>
          <p:cNvPr id="17" name="Oval 16"/>
          <p:cNvSpPr/>
          <p:nvPr/>
        </p:nvSpPr>
        <p:spPr>
          <a:xfrm>
            <a:off x="8509960" y="235403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927553" y="242425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3894" y="453103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309359" y="5650991"/>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7.17 -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7.17. The CCI label is reproduced as the book's observation, not taught as a formula.</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bullish three-bar reversal uses three bars, and the middle bar can show uncertainty between stronger outer bars. With simple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potential reversal reading, but does not guarantee follow-through (Lim,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522740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530142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860243" y="51432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15226" y="52173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62</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red </a:t>
            </a:r>
            <a:r>
              <a:rPr sz="2000" b="1" i="0">
                <a:solidFill>
                  <a:srgbClr val="C62828"/>
                </a:solidFill>
                <a:latin typeface="Arial"/>
              </a:rPr>
              <a:t>(2)</a:t>
            </a:r>
            <a:r>
              <a:rPr sz="2000" b="0" i="0">
                <a:solidFill>
                  <a:srgbClr val="1A1A1A"/>
                </a:solidFill>
                <a:latin typeface="Arial"/>
              </a:rPr>
              <a:t> and blue </a:t>
            </a:r>
            <a:r>
              <a:rPr sz="2000" b="1" i="0">
                <a:solidFill>
                  <a:srgbClr val="1F5FAD"/>
                </a:solidFill>
                <a:latin typeface="Arial"/>
              </a:rPr>
              <a:t>(3)</a:t>
            </a:r>
            <a:r>
              <a:rPr sz="2000" b="0" i="0">
                <a:solidFill>
                  <a:srgbClr val="1A1A1A"/>
                </a:solidFill>
                <a:latin typeface="Arial"/>
              </a:rPr>
              <a:t> mark the first, middle and third price bars. Purple </a:t>
            </a:r>
            <a:r>
              <a:rPr sz="2000" b="1" i="0">
                <a:solidFill>
                  <a:srgbClr val="7B3FA0"/>
                </a:solidFill>
                <a:latin typeface="Arial"/>
              </a:rPr>
              <a:t>(4)</a:t>
            </a:r>
            <a:r>
              <a:rPr sz="2000" b="0" i="0">
                <a:solidFill>
                  <a:srgbClr val="1A1A1A"/>
                </a:solidFill>
                <a:latin typeface="Arial"/>
              </a:rPr>
              <a:t> marks bearish +DM divergence, a book label not defined here.</a:t>
            </a:r>
          </a:p>
          <a:p>
            <a:pPr algn="l">
              <a:lnSpc>
                <a:spcPct val="105000"/>
              </a:lnSpc>
              <a:spcBef>
                <a:spcPts val="0"/>
              </a:spcBef>
              <a:spcAft>
                <a:spcPts val="1100"/>
              </a:spcAft>
            </a:pPr>
            <a:r>
              <a:rPr sz="2000" b="0" i="0">
                <a:solidFill>
                  <a:srgbClr val="1A1A1A"/>
                </a:solidFill>
                <a:latin typeface="Arial"/>
              </a:rPr>
              <a:t>The pattern can warn of changing pressure; the later decline is not guaranteed (p. 221).</a:t>
            </a:r>
          </a:p>
        </p:txBody>
      </p:sp>
      <p:sp>
        <p:nvSpPr>
          <p:cNvPr id="8" name="Rectangle 7"/>
          <p:cNvSpPr/>
          <p:nvPr/>
        </p:nvSpPr>
        <p:spPr>
          <a:xfrm>
            <a:off x="65594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783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783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526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10119390" y="2280513"/>
            <a:ext cx="172053"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291443" y="2280513"/>
            <a:ext cx="172053" cy="526694"/>
          </a:xfrm>
          <a:prstGeom prst="rect">
            <a:avLst/>
          </a:prstGeom>
          <a:noFill/>
          <a:ln w="44450">
            <a:solidFill>
              <a:srgbClr val="C62828"/>
            </a:solidFill>
          </a:ln>
        </p:spPr>
        <p:txBody>
          <a:bodyPr rtlCol="0" anchor="ctr"/>
          <a:lstStyle/>
          <a:p>
            <a:pPr algn="ctr"/>
          </a:p>
        </p:txBody>
      </p:sp>
      <p:sp>
        <p:nvSpPr>
          <p:cNvPr id="14" name="Rectangle 13"/>
          <p:cNvSpPr/>
          <p:nvPr/>
        </p:nvSpPr>
        <p:spPr>
          <a:xfrm>
            <a:off x="10463497" y="2280513"/>
            <a:ext cx="172053" cy="526694"/>
          </a:xfrm>
          <a:prstGeom prst="rect">
            <a:avLst/>
          </a:prstGeom>
          <a:noFill/>
          <a:ln w="44450">
            <a:solidFill>
              <a:srgbClr val="1F5FAD"/>
            </a:solidFill>
          </a:ln>
        </p:spPr>
        <p:txBody>
          <a:bodyPr rtlCol="0" anchor="ctr"/>
          <a:lstStyle/>
          <a:p>
            <a:pPr algn="ctr"/>
          </a:p>
        </p:txBody>
      </p:sp>
      <p:sp>
        <p:nvSpPr>
          <p:cNvPr id="15" name="Oval 14"/>
          <p:cNvSpPr/>
          <p:nvPr/>
        </p:nvSpPr>
        <p:spPr>
          <a:xfrm>
            <a:off x="101193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611825" y="2166213"/>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594988" y="216621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889936" y="2798246"/>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840778" y="4202765"/>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three-bar reversal can be more convincing when the outer bars carry higher volume </a:t>
            </a:r>
            <a:r>
              <a:rPr sz="2000" b="1" i="0">
                <a:solidFill>
                  <a:srgbClr val="E09B00"/>
                </a:solidFill>
                <a:latin typeface="Arial"/>
              </a:rPr>
              <a:t>(1)</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while the middle bar is quieter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That volume pattern repeats the uncertainty-between-strengthers idea from the worked example. These are observations, not a guarantee.</a:t>
            </a:r>
          </a:p>
        </p:txBody>
      </p:sp>
      <p:sp>
        <p:nvSpPr>
          <p:cNvPr id="8" name="Rectangle 7"/>
          <p:cNvSpPr/>
          <p:nvPr/>
        </p:nvSpPr>
        <p:spPr>
          <a:xfrm>
            <a:off x="6450705" y="1810512"/>
            <a:ext cx="52796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69577" y="1929384"/>
            <a:ext cx="50418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69577" y="1929384"/>
            <a:ext cx="50418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43897" y="2203703"/>
            <a:ext cx="44932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9040088" y="4633081"/>
            <a:ext cx="252093" cy="491581"/>
          </a:xfrm>
          <a:prstGeom prst="ellipse">
            <a:avLst/>
          </a:prstGeom>
          <a:noFill/>
          <a:ln w="44450">
            <a:solidFill>
              <a:srgbClr val="E09B00"/>
            </a:solidFill>
          </a:ln>
        </p:spPr>
        <p:txBody>
          <a:bodyPr rtlCol="0" anchor="ctr"/>
          <a:lstStyle/>
          <a:p>
            <a:pPr algn="ctr"/>
          </a:p>
        </p:txBody>
      </p:sp>
      <p:sp>
        <p:nvSpPr>
          <p:cNvPr id="13" name="Oval 12"/>
          <p:cNvSpPr/>
          <p:nvPr/>
        </p:nvSpPr>
        <p:spPr>
          <a:xfrm>
            <a:off x="9292181" y="4703307"/>
            <a:ext cx="201674" cy="456468"/>
          </a:xfrm>
          <a:prstGeom prst="ellipse">
            <a:avLst/>
          </a:prstGeom>
          <a:noFill/>
          <a:ln w="44450">
            <a:solidFill>
              <a:srgbClr val="C62828"/>
            </a:solidFill>
          </a:ln>
        </p:spPr>
        <p:txBody>
          <a:bodyPr rtlCol="0" anchor="ctr"/>
          <a:lstStyle/>
          <a:p>
            <a:pPr algn="ctr"/>
          </a:p>
        </p:txBody>
      </p:sp>
      <p:sp>
        <p:nvSpPr>
          <p:cNvPr id="14" name="Oval 13"/>
          <p:cNvSpPr/>
          <p:nvPr/>
        </p:nvSpPr>
        <p:spPr>
          <a:xfrm>
            <a:off x="9493856" y="4633081"/>
            <a:ext cx="252093" cy="491581"/>
          </a:xfrm>
          <a:prstGeom prst="ellipse">
            <a:avLst/>
          </a:prstGeom>
          <a:noFill/>
          <a:ln w="44450">
            <a:solidFill>
              <a:srgbClr val="1F5FAD"/>
            </a:solidFill>
          </a:ln>
        </p:spPr>
        <p:txBody>
          <a:bodyPr rtlCol="0" anchor="ctr"/>
          <a:lstStyle/>
          <a:p>
            <a:pPr algn="ctr"/>
          </a:p>
        </p:txBody>
      </p:sp>
      <p:sp>
        <p:nvSpPr>
          <p:cNvPr id="15" name="Oval 14"/>
          <p:cNvSpPr/>
          <p:nvPr/>
        </p:nvSpPr>
        <p:spPr>
          <a:xfrm>
            <a:off x="8623277" y="434321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81230" y="441344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934161" y="4343217"/>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3794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three-bar reversal is the price pattern. Gold </a:t>
            </a:r>
            <a:r>
              <a:rPr sz="1900" b="1" i="0">
                <a:solidFill>
                  <a:srgbClr val="E09B00"/>
                </a:solidFill>
                <a:latin typeface="Arial"/>
              </a:rPr>
              <a:t>(1)</a:t>
            </a:r>
            <a:r>
              <a:rPr sz="1900" b="0" i="0">
                <a:solidFill>
                  <a:srgbClr val="1A1A1A"/>
                </a:solidFill>
                <a:latin typeface="Arial"/>
              </a:rPr>
              <a:t> boxes it, red </a:t>
            </a:r>
            <a:r>
              <a:rPr sz="1900" b="1" i="0">
                <a:solidFill>
                  <a:srgbClr val="C62828"/>
                </a:solidFill>
                <a:latin typeface="Arial"/>
              </a:rPr>
              <a:t>(2)</a:t>
            </a:r>
            <a:r>
              <a:rPr sz="1900" b="0" i="0">
                <a:solidFill>
                  <a:srgbClr val="1A1A1A"/>
                </a:solidFill>
                <a:latin typeface="Arial"/>
              </a:rPr>
              <a:t> marks the oversold StochRSI label, and blue </a:t>
            </a:r>
            <a:r>
              <a:rPr sz="1900" b="1" i="0">
                <a:solidFill>
                  <a:srgbClr val="1F5FAD"/>
                </a:solidFill>
                <a:latin typeface="Arial"/>
              </a:rPr>
              <a:t>(3)</a:t>
            </a:r>
            <a:r>
              <a:rPr sz="1900" b="0" i="0">
                <a:solidFill>
                  <a:srgbClr val="1A1A1A"/>
                </a:solidFill>
                <a:latin typeface="Arial"/>
              </a:rPr>
              <a:t> sits on the final close between the Bollinger bands.</a:t>
            </a:r>
          </a:p>
          <a:p>
            <a:pPr algn="l">
              <a:lnSpc>
                <a:spcPct val="105000"/>
              </a:lnSpc>
              <a:spcBef>
                <a:spcPts val="0"/>
              </a:spcBef>
              <a:spcAft>
                <a:spcPts val="1100"/>
              </a:spcAft>
            </a:pPr>
            <a:r>
              <a:rPr sz="1900" b="0" i="0">
                <a:solidFill>
                  <a:srgbClr val="1A1A1A"/>
                </a:solidFill>
                <a:latin typeface="Arial"/>
              </a:rPr>
              <a:t>Lim calls that location bullish and links the example to pattern 5 in Figure 7.9.</a:t>
            </a:r>
          </a:p>
          <a:p>
            <a:pPr algn="l">
              <a:lnSpc>
                <a:spcPct val="105000"/>
              </a:lnSpc>
              <a:spcBef>
                <a:spcPts val="0"/>
              </a:spcBef>
              <a:spcAft>
                <a:spcPts val="1100"/>
              </a:spcAft>
            </a:pPr>
            <a:r>
              <a:rPr sz="1900" b="0" i="0">
                <a:solidFill>
                  <a:srgbClr val="1A1A1A"/>
                </a:solidFill>
                <a:latin typeface="Arial"/>
              </a:rPr>
              <a:t>The book gives no formula for either indicator here, so these labels are context rather than a method to calculate.</a:t>
            </a:r>
          </a:p>
        </p:txBody>
      </p:sp>
      <p:sp>
        <p:nvSpPr>
          <p:cNvPr id="8" name="Rectangle 7"/>
          <p:cNvSpPr/>
          <p:nvPr/>
        </p:nvSpPr>
        <p:spPr>
          <a:xfrm>
            <a:off x="6837265" y="1810512"/>
            <a:ext cx="459792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56137" y="1929384"/>
            <a:ext cx="436018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56137" y="1929384"/>
            <a:ext cx="436018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30457" y="2203703"/>
            <a:ext cx="381154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the three-bar reversal, an oversold StochRSI label, and the final close between the two volatility bands.</a:t>
            </a:r>
          </a:p>
        </p:txBody>
      </p:sp>
      <p:sp>
        <p:nvSpPr>
          <p:cNvPr id="12" name="Rectangle 11"/>
          <p:cNvSpPr/>
          <p:nvPr/>
        </p:nvSpPr>
        <p:spPr>
          <a:xfrm>
            <a:off x="8569404" y="3685031"/>
            <a:ext cx="305212" cy="772485"/>
          </a:xfrm>
          <a:prstGeom prst="rect">
            <a:avLst/>
          </a:prstGeom>
          <a:noFill/>
          <a:ln w="44450">
            <a:solidFill>
              <a:srgbClr val="E09B00"/>
            </a:solidFill>
          </a:ln>
        </p:spPr>
        <p:txBody>
          <a:bodyPr rtlCol="0" anchor="ctr"/>
          <a:lstStyle/>
          <a:p>
            <a:pPr algn="ctr"/>
          </a:p>
        </p:txBody>
      </p:sp>
      <p:sp>
        <p:nvSpPr>
          <p:cNvPr id="13" name="Oval 12"/>
          <p:cNvSpPr/>
          <p:nvPr/>
        </p:nvSpPr>
        <p:spPr>
          <a:xfrm>
            <a:off x="8613005" y="5019324"/>
            <a:ext cx="348814" cy="368686"/>
          </a:xfrm>
          <a:prstGeom prst="ellipse">
            <a:avLst/>
          </a:prstGeom>
          <a:noFill/>
          <a:ln w="44450">
            <a:solidFill>
              <a:srgbClr val="C62828"/>
            </a:solidFill>
          </a:ln>
        </p:spPr>
        <p:txBody>
          <a:bodyPr rtlCol="0" anchor="ctr"/>
          <a:lstStyle/>
          <a:p>
            <a:pPr algn="ctr"/>
          </a:p>
        </p:txBody>
      </p:sp>
      <p:sp>
        <p:nvSpPr>
          <p:cNvPr id="14" name="Oval 13"/>
          <p:cNvSpPr/>
          <p:nvPr/>
        </p:nvSpPr>
        <p:spPr>
          <a:xfrm>
            <a:off x="8656607" y="3860596"/>
            <a:ext cx="261610" cy="280903"/>
          </a:xfrm>
          <a:prstGeom prst="ellipse">
            <a:avLst/>
          </a:prstGeom>
          <a:noFill/>
          <a:ln w="44450">
            <a:solidFill>
              <a:srgbClr val="1F5FAD"/>
            </a:solidFill>
          </a:ln>
        </p:spPr>
        <p:txBody>
          <a:bodyPr rtlCol="0" anchor="ctr"/>
          <a:lstStyle/>
          <a:p>
            <a:pPr algn="ctr"/>
          </a:p>
        </p:txBody>
      </p:sp>
      <p:sp>
        <p:nvSpPr>
          <p:cNvPr id="15" name="Oval 14"/>
          <p:cNvSpPr/>
          <p:nvPr/>
        </p:nvSpPr>
        <p:spPr>
          <a:xfrm>
            <a:off x="8048971" y="33112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705840" y="475085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66169" y="310969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62</a:t>
            </a:r>
          </a:p>
        </p:txBody>
      </p:sp>
      <p:sp>
        <p:nvSpPr>
          <p:cNvPr id="7" name="TextBox 6"/>
          <p:cNvSpPr txBox="1"/>
          <p:nvPr/>
        </p:nvSpPr>
        <p:spPr>
          <a:xfrm>
            <a:off x="777240" y="1965960"/>
            <a:ext cx="5806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7.21 first shows a bullish three-bar reversal </a:t>
            </a:r>
            <a:r>
              <a:rPr sz="1700" b="1" i="0">
                <a:solidFill>
                  <a:srgbClr val="E09B00"/>
                </a:solidFill>
                <a:latin typeface="Arial"/>
              </a:rPr>
              <a:t>(1)</a:t>
            </a:r>
            <a:r>
              <a:rPr sz="1700" b="0" i="0">
                <a:solidFill>
                  <a:srgbClr val="1A1A1A"/>
                </a:solidFill>
                <a:latin typeface="Arial"/>
              </a:rPr>
              <a:t>, whose large third bar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Later, a separate outside day engulfs four preceding bars </a:t>
            </a:r>
            <a:r>
              <a:rPr sz="1700" b="1" i="0">
                <a:solidFill>
                  <a:srgbClr val="7B3FA0"/>
                </a:solidFill>
                <a:latin typeface="Arial"/>
              </a:rPr>
              <a:t>(4)</a:t>
            </a:r>
            <a:r>
              <a:rPr sz="1700" b="0" i="0">
                <a:solidFill>
                  <a:srgbClr val="1A1A1A"/>
                </a:solidFill>
                <a:latin typeface="Arial"/>
              </a:rPr>
              <a:t> and closes near its low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Keep the two formations separate. The outside day is a new event that can reverse the preceding move, not part of the first three-bar count.</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5138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Below-average middle volume and high-volume outer bars are the three-bar clue; the outside day is separate.</a:t>
            </a:r>
          </a:p>
        </p:txBody>
      </p:sp>
      <p:sp>
        <p:nvSpPr>
          <p:cNvPr id="10" name="Rectangle 9"/>
          <p:cNvSpPr/>
          <p:nvPr/>
        </p:nvSpPr>
        <p:spPr>
          <a:xfrm>
            <a:off x="6903719" y="1810512"/>
            <a:ext cx="4510735" cy="330068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22591" y="1929384"/>
            <a:ext cx="4272991" cy="306294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22591" y="1929384"/>
            <a:ext cx="42729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296911" y="2203703"/>
            <a:ext cx="3724351" cy="260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4" name="Rectangle 13"/>
          <p:cNvSpPr/>
          <p:nvPr/>
        </p:nvSpPr>
        <p:spPr>
          <a:xfrm>
            <a:off x="8518138" y="3185189"/>
            <a:ext cx="640948" cy="826993"/>
          </a:xfrm>
          <a:prstGeom prst="rect">
            <a:avLst/>
          </a:prstGeom>
          <a:noFill/>
          <a:ln w="44450">
            <a:solidFill>
              <a:srgbClr val="E09B00"/>
            </a:solidFill>
          </a:ln>
        </p:spPr>
        <p:txBody>
          <a:bodyPr rtlCol="0" anchor="ctr"/>
          <a:lstStyle/>
          <a:p>
            <a:pPr algn="ctr"/>
          </a:p>
        </p:txBody>
      </p:sp>
      <p:sp>
        <p:nvSpPr>
          <p:cNvPr id="15" name="Oval 14"/>
          <p:cNvSpPr/>
          <p:nvPr/>
        </p:nvSpPr>
        <p:spPr>
          <a:xfrm>
            <a:off x="8859978" y="3154560"/>
            <a:ext cx="299109" cy="520699"/>
          </a:xfrm>
          <a:prstGeom prst="ellipse">
            <a:avLst/>
          </a:prstGeom>
          <a:noFill/>
          <a:ln w="44450">
            <a:solidFill>
              <a:srgbClr val="C62828"/>
            </a:solidFill>
          </a:ln>
        </p:spPr>
        <p:txBody>
          <a:bodyPr rtlCol="0" anchor="ctr"/>
          <a:lstStyle/>
          <a:p>
            <a:pPr algn="ctr"/>
          </a:p>
        </p:txBody>
      </p:sp>
      <p:sp>
        <p:nvSpPr>
          <p:cNvPr id="16" name="Oval 15"/>
          <p:cNvSpPr/>
          <p:nvPr/>
        </p:nvSpPr>
        <p:spPr>
          <a:xfrm>
            <a:off x="9842766" y="2541972"/>
            <a:ext cx="299109" cy="245035"/>
          </a:xfrm>
          <a:prstGeom prst="ellipse">
            <a:avLst/>
          </a:prstGeom>
          <a:noFill/>
          <a:ln w="44450">
            <a:solidFill>
              <a:srgbClr val="1F5FAD"/>
            </a:solidFill>
          </a:ln>
        </p:spPr>
        <p:txBody>
          <a:bodyPr rtlCol="0" anchor="ctr"/>
          <a:lstStyle/>
          <a:p>
            <a:pPr algn="ctr"/>
          </a:p>
        </p:txBody>
      </p:sp>
      <p:sp>
        <p:nvSpPr>
          <p:cNvPr id="17" name="Rectangle 16"/>
          <p:cNvSpPr/>
          <p:nvPr/>
        </p:nvSpPr>
        <p:spPr>
          <a:xfrm>
            <a:off x="9244547" y="2235678"/>
            <a:ext cx="470029" cy="918882"/>
          </a:xfrm>
          <a:prstGeom prst="rect">
            <a:avLst/>
          </a:prstGeom>
          <a:noFill/>
          <a:ln w="44450">
            <a:solidFill>
              <a:srgbClr val="7B3FA0"/>
            </a:solidFill>
          </a:ln>
        </p:spPr>
        <p:txBody>
          <a:bodyPr rtlCol="0" anchor="ctr"/>
          <a:lstStyle/>
          <a:p>
            <a:pPr algn="ctr"/>
          </a:p>
        </p:txBody>
      </p:sp>
      <p:sp>
        <p:nvSpPr>
          <p:cNvPr id="18" name="Oval 17"/>
          <p:cNvSpPr/>
          <p:nvPr/>
        </p:nvSpPr>
        <p:spPr>
          <a:xfrm>
            <a:off x="8124599" y="295614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201991" y="28427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50302" y="236184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8921169" y="3136720"/>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03719" y="5202636"/>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62</a:t>
            </a:r>
          </a:p>
        </p:txBody>
      </p:sp>
      <p:sp>
        <p:nvSpPr>
          <p:cNvPr id="7" name="TextBox 6"/>
          <p:cNvSpPr txBox="1"/>
          <p:nvPr/>
        </p:nvSpPr>
        <p:spPr>
          <a:xfrm>
            <a:off x="777240" y="1965960"/>
            <a:ext cx="55778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 (p. 223).</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2852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large price bar can still carry lower volume than the first bar.</a:t>
            </a:r>
          </a:p>
        </p:txBody>
      </p:sp>
      <p:sp>
        <p:nvSpPr>
          <p:cNvPr id="10" name="Rectangle 9"/>
          <p:cNvSpPr/>
          <p:nvPr/>
        </p:nvSpPr>
        <p:spPr>
          <a:xfrm>
            <a:off x="6675119" y="1810512"/>
            <a:ext cx="4739335" cy="342471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93991" y="1929384"/>
            <a:ext cx="4501591" cy="318696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93991" y="1929384"/>
            <a:ext cx="45015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68311" y="2203703"/>
            <a:ext cx="3952951" cy="27297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4" name="Oval 13"/>
          <p:cNvSpPr/>
          <p:nvPr/>
        </p:nvSpPr>
        <p:spPr>
          <a:xfrm>
            <a:off x="8999771" y="4383348"/>
            <a:ext cx="270095" cy="478045"/>
          </a:xfrm>
          <a:prstGeom prst="ellipse">
            <a:avLst/>
          </a:prstGeom>
          <a:noFill/>
          <a:ln w="44450">
            <a:solidFill>
              <a:srgbClr val="E09B00"/>
            </a:solidFill>
          </a:ln>
        </p:spPr>
        <p:txBody>
          <a:bodyPr rtlCol="0" anchor="ctr"/>
          <a:lstStyle/>
          <a:p>
            <a:pPr algn="ctr"/>
          </a:p>
        </p:txBody>
      </p:sp>
      <p:sp>
        <p:nvSpPr>
          <p:cNvPr id="15" name="Rectangle 14"/>
          <p:cNvSpPr/>
          <p:nvPr/>
        </p:nvSpPr>
        <p:spPr>
          <a:xfrm>
            <a:off x="9134819" y="3459128"/>
            <a:ext cx="315111" cy="733002"/>
          </a:xfrm>
          <a:prstGeom prst="rect">
            <a:avLst/>
          </a:prstGeom>
          <a:noFill/>
          <a:ln w="44450">
            <a:solidFill>
              <a:srgbClr val="C62828"/>
            </a:solidFill>
          </a:ln>
        </p:spPr>
        <p:txBody>
          <a:bodyPr rtlCol="0" anchor="ctr"/>
          <a:lstStyle/>
          <a:p>
            <a:pPr algn="ctr"/>
          </a:p>
        </p:txBody>
      </p:sp>
      <p:sp>
        <p:nvSpPr>
          <p:cNvPr id="16" name="Oval 15"/>
          <p:cNvSpPr/>
          <p:nvPr/>
        </p:nvSpPr>
        <p:spPr>
          <a:xfrm>
            <a:off x="9224851" y="4383348"/>
            <a:ext cx="270095" cy="478045"/>
          </a:xfrm>
          <a:prstGeom prst="ellipse">
            <a:avLst/>
          </a:prstGeom>
          <a:noFill/>
          <a:ln w="44450">
            <a:solidFill>
              <a:srgbClr val="1F5FAD"/>
            </a:solidFill>
          </a:ln>
        </p:spPr>
        <p:txBody>
          <a:bodyPr rtlCol="0" anchor="ctr"/>
          <a:lstStyle/>
          <a:p>
            <a:pPr algn="ctr"/>
          </a:p>
        </p:txBody>
      </p:sp>
      <p:sp>
        <p:nvSpPr>
          <p:cNvPr id="17" name="Oval 16"/>
          <p:cNvSpPr/>
          <p:nvPr/>
        </p:nvSpPr>
        <p:spPr>
          <a:xfrm>
            <a:off x="8615376" y="4109700"/>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546994" y="317176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740773" y="4109700"/>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675119" y="5326663"/>
            <a:ext cx="473933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15</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15</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62</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island's supporting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two gaps do the defining work. Mark 1 is the gap up, mark 2 the isolated island, and mark 3 the gap down.</a:t>
            </a:r>
          </a:p>
          <a:p>
            <a:pPr algn="l">
              <a:lnSpc>
                <a:spcPct val="105000"/>
              </a:lnSpc>
              <a:spcBef>
                <a:spcPts val="0"/>
              </a:spcBef>
              <a:spcAft>
                <a:spcPts val="1100"/>
              </a:spcAft>
            </a:pPr>
            <a:r>
              <a:rPr sz="2000" b="0" i="0">
                <a:solidFill>
                  <a:srgbClr val="1A1A1A"/>
                </a:solidFill>
                <a:latin typeface="Arial"/>
              </a:rPr>
              <a:t>The book also observes low volume </a:t>
            </a:r>
            <a:r>
              <a:rPr sz="2000" b="1" i="0">
                <a:solidFill>
                  <a:srgbClr val="7B3FA0"/>
                </a:solidFill>
                <a:latin typeface="Arial"/>
              </a:rPr>
              <a:t>(4)</a:t>
            </a:r>
            <a:r>
              <a:rPr sz="2000" b="0" i="0">
                <a:solidFill>
                  <a:srgbClr val="1A1A1A"/>
                </a:solidFill>
                <a:latin typeface="Arial"/>
              </a:rPr>
              <a:t> and an overbought stochastic label </a:t>
            </a:r>
            <a:r>
              <a:rPr sz="2000" b="1" i="0">
                <a:solidFill>
                  <a:srgbClr val="007A33"/>
                </a:solidFill>
                <a:latin typeface="Arial"/>
              </a:rPr>
              <a:t>(5)</a:t>
            </a:r>
            <a:r>
              <a:rPr sz="2000" b="0" i="0">
                <a:solidFill>
                  <a:srgbClr val="1A1A1A"/>
                </a:solidFill>
                <a:latin typeface="Arial"/>
              </a:rPr>
              <a:t>, calling low volume a lack of conviction.</a:t>
            </a:r>
          </a:p>
          <a:p>
            <a:pPr algn="l">
              <a:lnSpc>
                <a:spcPct val="105000"/>
              </a:lnSpc>
              <a:spcBef>
                <a:spcPts val="0"/>
              </a:spcBef>
              <a:spcAft>
                <a:spcPts val="1100"/>
              </a:spcAft>
            </a:pPr>
            <a:r>
              <a:rPr sz="2000" b="0" i="0">
                <a:solidFill>
                  <a:srgbClr val="1A1A1A"/>
                </a:solidFill>
                <a:latin typeface="Arial"/>
              </a:rPr>
              <a:t>No stochastic method is given here. These labels are context, and the island remains a potential warning.</a:t>
            </a:r>
          </a:p>
        </p:txBody>
      </p:sp>
      <p:sp>
        <p:nvSpPr>
          <p:cNvPr id="8" name="Rectangle 7"/>
          <p:cNvSpPr/>
          <p:nvPr/>
        </p:nvSpPr>
        <p:spPr>
          <a:xfrm>
            <a:off x="7182696" y="1810512"/>
            <a:ext cx="4089942"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01568" y="1929384"/>
            <a:ext cx="385219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01568" y="1929384"/>
            <a:ext cx="385219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75888" y="2203703"/>
            <a:ext cx="33035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2" name="Oval 11"/>
          <p:cNvSpPr/>
          <p:nvPr/>
        </p:nvSpPr>
        <p:spPr>
          <a:xfrm>
            <a:off x="8958013" y="2912546"/>
            <a:ext cx="269653"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9150623" y="2491191"/>
            <a:ext cx="462263" cy="1123614"/>
          </a:xfrm>
          <a:prstGeom prst="rect">
            <a:avLst/>
          </a:prstGeom>
          <a:noFill/>
          <a:ln w="44450">
            <a:solidFill>
              <a:srgbClr val="C62828"/>
            </a:solidFill>
          </a:ln>
        </p:spPr>
        <p:txBody>
          <a:bodyPr rtlCol="0" anchor="ctr"/>
          <a:lstStyle/>
          <a:p>
            <a:pPr algn="ctr"/>
          </a:p>
        </p:txBody>
      </p:sp>
      <p:sp>
        <p:nvSpPr>
          <p:cNvPr id="14" name="Oval 13"/>
          <p:cNvSpPr/>
          <p:nvPr/>
        </p:nvSpPr>
        <p:spPr>
          <a:xfrm>
            <a:off x="9689931" y="2947659"/>
            <a:ext cx="308175" cy="526694"/>
          </a:xfrm>
          <a:prstGeom prst="ellipse">
            <a:avLst/>
          </a:prstGeom>
          <a:noFill/>
          <a:ln w="44450">
            <a:solidFill>
              <a:srgbClr val="1F5FAD"/>
            </a:solidFill>
          </a:ln>
        </p:spPr>
        <p:txBody>
          <a:bodyPr rtlCol="0" anchor="ctr"/>
          <a:lstStyle/>
          <a:p>
            <a:pPr algn="ctr"/>
          </a:p>
        </p:txBody>
      </p:sp>
      <p:sp>
        <p:nvSpPr>
          <p:cNvPr id="15" name="Rectangle 14"/>
          <p:cNvSpPr/>
          <p:nvPr/>
        </p:nvSpPr>
        <p:spPr>
          <a:xfrm>
            <a:off x="8726881" y="4317065"/>
            <a:ext cx="731917" cy="456468"/>
          </a:xfrm>
          <a:prstGeom prst="rect">
            <a:avLst/>
          </a:prstGeom>
          <a:noFill/>
          <a:ln w="44450">
            <a:solidFill>
              <a:srgbClr val="7B3FA0"/>
            </a:solidFill>
          </a:ln>
        </p:spPr>
        <p:txBody>
          <a:bodyPr rtlCol="0" anchor="ctr"/>
          <a:lstStyle/>
          <a:p>
            <a:pPr algn="ctr"/>
          </a:p>
        </p:txBody>
      </p:sp>
      <p:sp>
        <p:nvSpPr>
          <p:cNvPr id="16" name="Rectangle 15"/>
          <p:cNvSpPr/>
          <p:nvPr/>
        </p:nvSpPr>
        <p:spPr>
          <a:xfrm>
            <a:off x="9189145" y="4843759"/>
            <a:ext cx="385219" cy="456468"/>
          </a:xfrm>
          <a:prstGeom prst="rect">
            <a:avLst/>
          </a:prstGeom>
          <a:noFill/>
          <a:ln w="44450">
            <a:solidFill>
              <a:srgbClr val="007A33"/>
            </a:solidFill>
          </a:ln>
        </p:spPr>
        <p:txBody>
          <a:bodyPr rtlCol="0" anchor="ctr"/>
          <a:lstStyle/>
          <a:p>
            <a:pPr algn="ctr"/>
          </a:p>
        </p:txBody>
      </p:sp>
      <p:sp>
        <p:nvSpPr>
          <p:cNvPr id="17" name="Oval 16"/>
          <p:cNvSpPr/>
          <p:nvPr/>
        </p:nvSpPr>
        <p:spPr>
          <a:xfrm>
            <a:off x="8603437" y="2613538"/>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20575" y="2192182"/>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105795" y="2613538"/>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42927" y="476457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9729719" y="5150815"/>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TextBox 21"/>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7.23. Gap meaning points back to Chapter 3; stochastic is shown but not defined here.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 the stochastic label here?</a:t>
            </a:r>
          </a:p>
        </p:txBody>
      </p:sp>
      <p:sp>
        <p:nvSpPr>
          <p:cNvPr id="13" name="TextBox 12"/>
          <p:cNvSpPr txBox="1"/>
          <p:nvPr/>
        </p:nvSpPr>
        <p:spPr>
          <a:xfrm>
            <a:off x="1005840" y="3702557"/>
            <a:ext cx="41148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605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605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450463"/>
            <a:ext cx="4572000" cy="20605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50463"/>
            <a:ext cx="91440" cy="20605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63334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stochastic label here?</a:t>
            </a:r>
          </a:p>
        </p:txBody>
      </p:sp>
      <p:sp>
        <p:nvSpPr>
          <p:cNvPr id="13" name="TextBox 12"/>
          <p:cNvSpPr txBox="1"/>
          <p:nvPr/>
        </p:nvSpPr>
        <p:spPr>
          <a:xfrm>
            <a:off x="1097280" y="4064508"/>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It is supporting context; Chapter 7 gives no method.</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key reversals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The worked PHP values are ours, invented.</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outside bar contains both earlier ranges: </a:t>
            </a:r>
            <a:r>
              <a:rPr sz="1700" b="1" i="0">
                <a:solidFill>
                  <a:srgbClr val="E09B00"/>
                </a:solidFill>
                <a:latin typeface="Arial"/>
              </a:rPr>
              <a:t>(1)</a:t>
            </a:r>
            <a:r>
              <a:rPr sz="1700" b="0" i="0">
                <a:solidFill>
                  <a:srgbClr val="1A1A1A"/>
                </a:solidFill>
                <a:latin typeface="Arial"/>
              </a:rPr>
              <a:t> marks its range, and </a:t>
            </a:r>
            <a:r>
              <a:rPr sz="1700" b="1" i="0">
                <a:solidFill>
                  <a:srgbClr val="C62828"/>
                </a:solidFill>
                <a:latin typeface="Arial"/>
              </a:rPr>
              <a:t>(2)</a:t>
            </a:r>
            <a:r>
              <a:rPr sz="1700" b="0" i="0">
                <a:solidFill>
                  <a:srgbClr val="1A1A1A"/>
                </a:solidFill>
                <a:latin typeface="Arial"/>
              </a:rPr>
              <a:t> marks its high at PHP 53.00. The earlier bars stay between PHP 48.00 and PHP 52.00. </a:t>
            </a:r>
            <a:r>
              <a:rPr sz="1700" b="1" i="0">
                <a:solidFill>
                  <a:srgbClr val="1F5FAD"/>
                </a:solidFill>
                <a:latin typeface="Arial"/>
              </a:rPr>
              <a:t>(3)</a:t>
            </a:r>
            <a:r>
              <a:rPr sz="1700" b="0" i="0">
                <a:solidFill>
                  <a:srgbClr val="1A1A1A"/>
                </a:solidFill>
                <a:latin typeface="Arial"/>
              </a:rPr>
              <a:t> marks the outside bar's close at PHP 47.50, near its low of PHP 47.00. Those prices show why the wider range and bearish close can support a short reading (pp. 223 to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defines it this way: “Outside bars are bars that engulf one or more preceding bars” (p. 223). That is why traders compare the new range with the bars before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11 bars contained inside the outside range. Red </a:t>
            </a:r>
            <a:r>
              <a:rPr sz="1800" b="1" i="0">
                <a:solidFill>
                  <a:srgbClr val="C62828"/>
                </a:solidFill>
                <a:latin typeface="Arial"/>
              </a:rPr>
              <a:t>(2)</a:t>
            </a:r>
            <a:r>
              <a:rPr sz="1800" b="0" i="0">
                <a:solidFill>
                  <a:srgbClr val="1A1A1A"/>
                </a:solidFill>
                <a:latin typeface="Arial"/>
              </a:rPr>
              <a:t> marks the outside bar's high-to-low range.</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close near the low. A bearish outside bar can support a short reading, but the book does not make it certain.</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Rectangle 12"/>
          <p:cNvSpPr/>
          <p:nvPr/>
        </p:nvSpPr>
        <p:spPr>
          <a:xfrm>
            <a:off x="8793327" y="2170077"/>
            <a:ext cx="500451" cy="1022945"/>
          </a:xfrm>
          <a:prstGeom prst="rect">
            <a:avLst/>
          </a:prstGeom>
          <a:noFill/>
          <a:ln w="44450">
            <a:solidFill>
              <a:srgbClr val="C62828"/>
            </a:solidFill>
          </a:ln>
        </p:spPr>
        <p:txBody>
          <a:bodyPr rtlCol="0" anchor="ctr"/>
          <a:lstStyle/>
          <a:p>
            <a:pPr algn="ctr"/>
          </a:p>
        </p:txBody>
      </p:sp>
      <p:sp>
        <p:nvSpPr>
          <p:cNvPr id="14" name="Oval 13"/>
          <p:cNvSpPr/>
          <p:nvPr/>
        </p:nvSpPr>
        <p:spPr>
          <a:xfrm>
            <a:off x="8743282" y="2952329"/>
            <a:ext cx="300270" cy="210606"/>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38601"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38330" y="31579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contained bars. Red </a:t>
            </a:r>
            <a:r>
              <a:rPr sz="2000" b="1" i="0">
                <a:solidFill>
                  <a:srgbClr val="C62828"/>
                </a:solidFill>
                <a:latin typeface="Arial"/>
              </a:rPr>
              <a:t>(2)</a:t>
            </a:r>
            <a:r>
              <a:rPr sz="2000" b="0" i="0">
                <a:solidFill>
                  <a:srgbClr val="1A1A1A"/>
                </a:solidFill>
                <a:latin typeface="Arial"/>
              </a:rPr>
              <a:t> marks the trendline violation at the outside-bar break.</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Oval 12"/>
          <p:cNvSpPr/>
          <p:nvPr/>
        </p:nvSpPr>
        <p:spPr>
          <a:xfrm>
            <a:off x="8893417" y="2681550"/>
            <a:ext cx="300270" cy="421213"/>
          </a:xfrm>
          <a:prstGeom prst="ellipse">
            <a:avLst/>
          </a:prstGeom>
          <a:noFill/>
          <a:ln w="44450">
            <a:solidFill>
              <a:srgbClr val="C62828"/>
            </a:solidFill>
          </a:ln>
        </p:spPr>
        <p:txBody>
          <a:bodyPr rtlCol="0" anchor="ctr"/>
          <a:lstStyle/>
          <a:p>
            <a:pPr algn="ctr"/>
          </a:p>
        </p:txBody>
      </p:sp>
      <p:sp>
        <p:nvSpPr>
          <p:cNvPr id="14" name="Oval 13"/>
          <p:cNvSpPr/>
          <p:nvPr/>
        </p:nvSpPr>
        <p:spPr>
          <a:xfrm>
            <a:off x="8893417" y="3012503"/>
            <a:ext cx="300270" cy="240693"/>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38330"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88375" y="31880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it as a reversal bar when the first bar is wide on high volume and the second is narrow on very low volume (p. 224), especially at a barrier such as resistance.</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The worked PHP values are ours, invented.</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wide first bar </a:t>
            </a:r>
            <a:r>
              <a:rPr sz="1700" b="1" i="0">
                <a:solidFill>
                  <a:srgbClr val="E09B00"/>
                </a:solidFill>
                <a:latin typeface="Arial"/>
              </a:rPr>
              <a:t>(1)</a:t>
            </a:r>
            <a:r>
              <a:rPr sz="1700" b="0" i="0">
                <a:solidFill>
                  <a:srgbClr val="1A1A1A"/>
                </a:solidFill>
                <a:latin typeface="Arial"/>
              </a:rPr>
              <a:t> runs PHP 48.00 to PHP 53.00 on 4.5 million shares; the narrow second </a:t>
            </a:r>
            <a:r>
              <a:rPr sz="1700" b="1" i="0">
                <a:solidFill>
                  <a:srgbClr val="C62828"/>
                </a:solidFill>
                <a:latin typeface="Arial"/>
              </a:rPr>
              <a:t>(2)</a:t>
            </a:r>
            <a:r>
              <a:rPr sz="1700" b="0" i="0">
                <a:solidFill>
                  <a:srgbClr val="1A1A1A"/>
                </a:solidFill>
                <a:latin typeface="Arial"/>
              </a:rPr>
              <a:t> runs PHP 49.20 to PHP 52.50 on 0.5 million. </a:t>
            </a:r>
            <a:r>
              <a:rPr sz="1700" b="1" i="0">
                <a:solidFill>
                  <a:srgbClr val="C62828"/>
                </a:solidFill>
                <a:latin typeface="Arial"/>
              </a:rPr>
              <a:t>(2)</a:t>
            </a:r>
            <a:r>
              <a:rPr sz="1700" b="0" i="0">
                <a:solidFill>
                  <a:srgbClr val="1A1A1A"/>
                </a:solidFill>
                <a:latin typeface="Arial"/>
              </a:rPr>
              <a:t> stays inside </a:t>
            </a:r>
            <a:r>
              <a:rPr sz="1700" b="1" i="0">
                <a:solidFill>
                  <a:srgbClr val="E09B00"/>
                </a:solidFill>
                <a:latin typeface="Arial"/>
              </a:rPr>
              <a:t>(1)</a:t>
            </a:r>
            <a:r>
              <a:rPr sz="1700" b="0" i="0">
                <a:solidFill>
                  <a:srgbClr val="1A1A1A"/>
                </a:solidFill>
                <a:latin typeface="Arial"/>
              </a:rPr>
              <a:t>. </a:t>
            </a:r>
            <a:r>
              <a:rPr sz="1700" b="1" i="0">
                <a:solidFill>
                  <a:srgbClr val="1F5FAD"/>
                </a:solidFill>
                <a:latin typeface="Arial"/>
              </a:rPr>
              <a:t>(3)</a:t>
            </a:r>
            <a:r>
              <a:rPr sz="1700" b="0" i="0">
                <a:solidFill>
                  <a:srgbClr val="1A1A1A"/>
                </a:solidFill>
                <a:latin typeface="Arial"/>
              </a:rPr>
              <a:t> marks resistance at PHP 53.00. This volume contrast is Lim's ideal relationship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point of the inside-bar reversal is the quiet test of a barrier. Gold </a:t>
            </a:r>
            <a:r>
              <a:rPr sz="1900" b="1" i="0">
                <a:solidFill>
                  <a:srgbClr val="E09B00"/>
                </a:solidFill>
                <a:latin typeface="Arial"/>
              </a:rPr>
              <a:t>(1)</a:t>
            </a:r>
            <a:r>
              <a:rPr sz="1900" b="0" i="0">
                <a:solidFill>
                  <a:srgbClr val="1A1A1A"/>
                </a:solidFill>
                <a:latin typeface="Arial"/>
              </a:rPr>
              <a:t> and red </a:t>
            </a:r>
            <a:r>
              <a:rPr sz="1900" b="1" i="0">
                <a:solidFill>
                  <a:srgbClr val="C62828"/>
                </a:solidFill>
                <a:latin typeface="Arial"/>
              </a:rPr>
              <a:t>(2)</a:t>
            </a:r>
            <a:r>
              <a:rPr sz="1900" b="0" i="0">
                <a:solidFill>
                  <a:srgbClr val="1A1A1A"/>
                </a:solidFill>
                <a:latin typeface="Arial"/>
              </a:rPr>
              <a:t> mark the two inside-bar reversals testing one resistance level.</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900" b="0" i="0">
                <a:solidFill>
                  <a:srgbClr val="1A1A1A"/>
                </a:solidFill>
                <a:latin typeface="Arial"/>
              </a:rPr>
              <a:t>Repeated failure at resistance warns of a possible reversal; it is not a promise.</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pattern gives the inside-bar reading more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Read the same two tests again with the condition Lim gives for an ideal inside reversal.</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are the two inside-bar reversals at one resistance. Blue </a:t>
            </a:r>
            <a:r>
              <a:rPr sz="1800" b="1" i="0">
                <a:solidFill>
                  <a:srgbClr val="1F5FAD"/>
                </a:solidFill>
                <a:latin typeface="Arial"/>
              </a:rPr>
              <a:t>(3)</a:t>
            </a:r>
            <a:r>
              <a:rPr sz="1800" b="0" i="0">
                <a:solidFill>
                  <a:srgbClr val="1A1A1A"/>
                </a:solidFill>
                <a:latin typeface="Arial"/>
              </a:rPr>
              <a:t> is the figure's bearish StochRSI divergence.</a:t>
            </a:r>
          </a:p>
          <a:p>
            <a:pPr algn="l">
              <a:lnSpc>
                <a:spcPct val="105000"/>
              </a:lnSpc>
              <a:spcBef>
                <a:spcPts val="0"/>
              </a:spcBef>
              <a:spcAft>
                <a:spcPts val="1100"/>
              </a:spcAft>
            </a:pPr>
            <a:r>
              <a:rPr sz="1800" b="0" i="0">
                <a:solidFill>
                  <a:srgbClr val="1A1A1A"/>
                </a:solidFill>
                <a:latin typeface="Arial"/>
              </a:rPr>
              <a:t>Prefer a wide, high-volume first bar and a narrow, very-low-volume second bar, while keeping the oscillator reading contextual (p. 224).</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next idea is exhaustion: a run of successively lower inside bars can show a decline losing force. Gold </a:t>
            </a:r>
            <a:r>
              <a:rPr sz="1700" b="1" i="0">
                <a:solidFill>
                  <a:srgbClr val="E09B00"/>
                </a:solidFill>
                <a:latin typeface="Arial"/>
              </a:rPr>
              <a:t>(1)</a:t>
            </a:r>
            <a:r>
              <a:rPr sz="1700" b="0" i="0">
                <a:solidFill>
                  <a:srgbClr val="1A1A1A"/>
                </a:solidFill>
                <a:latin typeface="Arial"/>
              </a:rPr>
              <a:t> marks the three lower inside bars; red </a:t>
            </a:r>
            <a:r>
              <a:rPr sz="1700" b="1" i="0">
                <a:solidFill>
                  <a:srgbClr val="C62828"/>
                </a:solidFill>
                <a:latin typeface="Arial"/>
              </a:rPr>
              <a:t>(2)</a:t>
            </a:r>
            <a:r>
              <a:rPr sz="1700" b="0" i="0">
                <a:solidFill>
                  <a:srgbClr val="1A1A1A"/>
                </a:solidFill>
                <a:latin typeface="Arial"/>
              </a:rPr>
              <a:t> marks the band context.</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the later bearish outside bar. Lim says the exhaustion reading is stronger when declines also show bearish volume (p. 225).</a:t>
            </a:r>
          </a:p>
          <a:p>
            <a:pPr algn="l">
              <a:lnSpc>
                <a:spcPct val="105000"/>
              </a:lnSpc>
              <a:spcBef>
                <a:spcPts val="0"/>
              </a:spcBef>
              <a:spcAft>
                <a:spcPts val="1100"/>
              </a:spcAft>
            </a:pPr>
            <a:r>
              <a:rPr sz="1700" b="0" i="0">
                <a:solidFill>
                  <a:srgbClr val="1A1A1A"/>
                </a:solidFill>
                <a:latin typeface="Arial"/>
              </a:rPr>
              <a:t>Use the formation as a warning, while remembering that the book leaves the volume judgement contextual.</a:t>
            </a:r>
          </a:p>
        </p:txBody>
      </p:sp>
      <p:sp>
        <p:nvSpPr>
          <p:cNvPr id="8" name="Rectangle 7"/>
          <p:cNvSpPr/>
          <p:nvPr/>
        </p:nvSpPr>
        <p:spPr>
          <a:xfrm>
            <a:off x="6126479" y="1810512"/>
            <a:ext cx="5287975" cy="247108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3334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761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416951" y="3470388"/>
            <a:ext cx="707032" cy="603001"/>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8012932" y="3671389"/>
            <a:ext cx="1161553" cy="0"/>
          </a:xfrm>
          <a:prstGeom prst="line">
            <a:avLst/>
          </a:prstGeom>
          <a:ln w="44450">
            <a:solidFill>
              <a:srgbClr val="C62828"/>
            </a:solidFill>
          </a:ln>
        </p:spPr>
      </p:cxnSp>
      <p:sp>
        <p:nvSpPr>
          <p:cNvPr id="14" name="Oval 13"/>
          <p:cNvSpPr/>
          <p:nvPr/>
        </p:nvSpPr>
        <p:spPr>
          <a:xfrm>
            <a:off x="10134029" y="2353718"/>
            <a:ext cx="454520" cy="335001"/>
          </a:xfrm>
          <a:prstGeom prst="ellipse">
            <a:avLst/>
          </a:prstGeom>
          <a:noFill/>
          <a:ln w="44450">
            <a:solidFill>
              <a:srgbClr val="1F5FAD"/>
            </a:solidFill>
          </a:ln>
        </p:spPr>
        <p:txBody>
          <a:bodyPr rtlCol="0" anchor="ctr"/>
          <a:lstStyle/>
          <a:p>
            <a:pPr algn="ctr"/>
          </a:p>
        </p:txBody>
      </p:sp>
      <p:sp>
        <p:nvSpPr>
          <p:cNvPr id="15" name="Oval 14"/>
          <p:cNvSpPr/>
          <p:nvPr/>
        </p:nvSpPr>
        <p:spPr>
          <a:xfrm>
            <a:off x="7907987" y="322560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04973" y="36276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635111" y="21759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7303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 the worked PHP values are ours, invented.</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This figure puts three reversal families beside one another. Gold </a:t>
            </a:r>
            <a:r>
              <a:rPr sz="1700" b="1" i="0">
                <a:solidFill>
                  <a:srgbClr val="E09B00"/>
                </a:solidFill>
                <a:latin typeface="Arial"/>
              </a:rPr>
              <a:t>(1)</a:t>
            </a:r>
            <a:r>
              <a:rPr sz="1700" b="0" i="0">
                <a:solidFill>
                  <a:srgbClr val="1A1A1A"/>
                </a:solidFill>
                <a:latin typeface="Arial"/>
              </a:rPr>
              <a:t> is an inside-bar reversal, red </a:t>
            </a:r>
            <a:r>
              <a:rPr sz="1700" b="1" i="0">
                <a:solidFill>
                  <a:srgbClr val="C62828"/>
                </a:solidFill>
                <a:latin typeface="Arial"/>
              </a:rPr>
              <a:t>(2)</a:t>
            </a:r>
            <a:r>
              <a:rPr sz="1700" b="0" i="0">
                <a:solidFill>
                  <a:srgbClr val="1A1A1A"/>
                </a:solidFill>
                <a:latin typeface="Arial"/>
              </a:rPr>
              <a:t> an outside-bar reversal, and blue </a:t>
            </a:r>
            <a:r>
              <a:rPr sz="1700" b="1" i="0">
                <a:solidFill>
                  <a:srgbClr val="1F5FAD"/>
                </a:solidFill>
                <a:latin typeface="Arial"/>
              </a:rPr>
              <a:t>(3)</a:t>
            </a:r>
            <a:r>
              <a:rPr sz="1700" b="0" i="0">
                <a:solidFill>
                  <a:srgbClr val="1A1A1A"/>
                </a:solidFill>
                <a:latin typeface="Arial"/>
              </a:rPr>
              <a:t> a three-bar reversal.</a:t>
            </a:r>
          </a:p>
          <a:p>
            <a:pPr algn="l">
              <a:lnSpc>
                <a:spcPct val="105000"/>
              </a:lnSpc>
              <a:spcBef>
                <a:spcPts val="0"/>
              </a:spcBef>
              <a:spcAft>
                <a:spcPts val="1100"/>
              </a:spcAft>
            </a:pPr>
            <a:r>
              <a:rPr sz="1700" b="0" i="0">
                <a:solidFill>
                  <a:srgbClr val="1A1A1A"/>
                </a:solidFill>
                <a:latin typeface="Arial"/>
              </a:rPr>
              <a:t>In our comparison, the inside range is 6.0 points, the outside bar contains four bars, and the outer volumes are 4.0 million and 4.2 million shares.</a:t>
            </a:r>
          </a:p>
          <a:p>
            <a:pPr algn="l">
              <a:lnSpc>
                <a:spcPct val="105000"/>
              </a:lnSpc>
              <a:spcBef>
                <a:spcPts val="0"/>
              </a:spcBef>
              <a:spcAft>
                <a:spcPts val="1100"/>
              </a:spcAft>
            </a:pPr>
            <a:r>
              <a:rPr sz="1700" b="0" i="0">
                <a:solidFill>
                  <a:srgbClr val="1A1A1A"/>
                </a:solidFill>
                <a:latin typeface="Arial"/>
              </a:rPr>
              <a:t>The indicator panels are shown by the book but are outside this slide's scope. Keep the three price-bar families separate.</a:t>
            </a:r>
          </a:p>
        </p:txBody>
      </p:sp>
      <p:sp>
        <p:nvSpPr>
          <p:cNvPr id="8" name="Rectangle 7"/>
          <p:cNvSpPr/>
          <p:nvPr/>
        </p:nvSpPr>
        <p:spPr>
          <a:xfrm>
            <a:off x="6080759" y="1810512"/>
            <a:ext cx="5333694" cy="333990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310216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64496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Oval 11"/>
          <p:cNvSpPr/>
          <p:nvPr/>
        </p:nvSpPr>
        <p:spPr>
          <a:xfrm>
            <a:off x="7422660" y="2425729"/>
            <a:ext cx="356716" cy="403280"/>
          </a:xfrm>
          <a:prstGeom prst="ellipse">
            <a:avLst/>
          </a:prstGeom>
          <a:noFill/>
          <a:ln w="44450">
            <a:solidFill>
              <a:srgbClr val="E09B00"/>
            </a:solidFill>
          </a:ln>
        </p:spPr>
        <p:txBody>
          <a:bodyPr rtlCol="0" anchor="ctr"/>
          <a:lstStyle/>
          <a:p>
            <a:pPr algn="ctr"/>
          </a:p>
        </p:txBody>
      </p:sp>
      <p:sp>
        <p:nvSpPr>
          <p:cNvPr id="13" name="Oval 12"/>
          <p:cNvSpPr/>
          <p:nvPr/>
        </p:nvSpPr>
        <p:spPr>
          <a:xfrm>
            <a:off x="9766797" y="2704924"/>
            <a:ext cx="356716" cy="403280"/>
          </a:xfrm>
          <a:prstGeom prst="ellipse">
            <a:avLst/>
          </a:prstGeom>
          <a:noFill/>
          <a:ln w="44450">
            <a:solidFill>
              <a:srgbClr val="C62828"/>
            </a:solidFill>
          </a:ln>
        </p:spPr>
        <p:txBody>
          <a:bodyPr rtlCol="0" anchor="ctr"/>
          <a:lstStyle/>
          <a:p>
            <a:pPr algn="ctr"/>
          </a:p>
        </p:txBody>
      </p:sp>
      <p:sp>
        <p:nvSpPr>
          <p:cNvPr id="14" name="Oval 13"/>
          <p:cNvSpPr/>
          <p:nvPr/>
        </p:nvSpPr>
        <p:spPr>
          <a:xfrm>
            <a:off x="9053364" y="3542507"/>
            <a:ext cx="356716" cy="496345"/>
          </a:xfrm>
          <a:prstGeom prst="ellipse">
            <a:avLst/>
          </a:prstGeom>
          <a:noFill/>
          <a:ln w="44450">
            <a:solidFill>
              <a:srgbClr val="1F5FAD"/>
            </a:solidFill>
          </a:ln>
        </p:spPr>
        <p:txBody>
          <a:bodyPr rtlCol="0" anchor="ctr"/>
          <a:lstStyle/>
          <a:p>
            <a:pPr algn="ctr"/>
          </a:p>
        </p:txBody>
      </p:sp>
      <p:sp>
        <p:nvSpPr>
          <p:cNvPr id="15" name="Oval 14"/>
          <p:cNvSpPr/>
          <p:nvPr/>
        </p:nvSpPr>
        <p:spPr>
          <a:xfrm>
            <a:off x="7063374" y="217721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73823" y="245641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58471" y="39764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241856"/>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 the worked PHP values are ours, invented.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names describe a smaller formation inside a larger one, but Lim keeps their rules separate. A Harami has the stricter body proportion.</a:t>
            </a:r>
          </a:p>
          <a:p>
            <a:pPr algn="l">
              <a:lnSpc>
                <a:spcPct val="118000"/>
              </a:lnSpc>
              <a:spcBef>
                <a:spcPts val="0"/>
              </a:spcBef>
              <a:spcAft>
                <a:spcPts val="1300"/>
              </a:spcAft>
            </a:pPr>
            <a:r>
              <a:rPr sz="2100" b="0" i="0">
                <a:solidFill>
                  <a:srgbClr val="1A1A1A"/>
                </a:solidFill>
                <a:latin typeface="Arial"/>
              </a:rPr>
              <a:t>For a preceding range of 6.0 points, one-fourth to one-third is 1.5 to 2.0 points. That is the Harami proportion given on page 226.</a:t>
            </a:r>
          </a:p>
          <a:p>
            <a:pPr algn="l">
              <a:lnSpc>
                <a:spcPct val="118000"/>
              </a:lnSpc>
              <a:spcBef>
                <a:spcPts val="0"/>
              </a:spcBef>
              <a:spcAft>
                <a:spcPts val="1300"/>
              </a:spcAft>
            </a:pPr>
            <a:r>
              <a:rPr sz="2100" b="0" i="0">
                <a:solidFill>
                  <a:srgbClr val="1A1A1A"/>
                </a:solidFill>
                <a:latin typeface="Arial"/>
              </a:rPr>
              <a:t>An inside bar has no one-fourth to one-third restriction. Check the proportion before using the name Harami.</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6.0-point example is ours, invented.</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proportion does the book give for a Harami body?</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proportion does the book give for a Harami body?</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The book gives one-fourth to one-third of the preceding candlestick range (p.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Mark </a:t>
            </a:r>
            <a:r>
              <a:rPr sz="1700" b="1" i="0">
                <a:solidFill>
                  <a:srgbClr val="E09B00"/>
                </a:solidFill>
                <a:latin typeface="Arial"/>
              </a:rPr>
              <a:t>(1)</a:t>
            </a:r>
            <a:r>
              <a:rPr sz="1700" b="0" i="0">
                <a:solidFill>
                  <a:srgbClr val="1A1A1A"/>
                </a:solidFill>
                <a:latin typeface="Arial"/>
              </a:rPr>
              <a:t> shows the prior high at PHP 65.00. Mark </a:t>
            </a:r>
            <a:r>
              <a:rPr sz="1700" b="1" i="0">
                <a:solidFill>
                  <a:srgbClr val="C62828"/>
                </a:solidFill>
                <a:latin typeface="Arial"/>
              </a:rPr>
              <a:t>(2)</a:t>
            </a:r>
            <a:r>
              <a:rPr sz="1700" b="0" i="0">
                <a:solidFill>
                  <a:srgbClr val="1A1A1A"/>
                </a:solidFill>
                <a:latin typeface="Arial"/>
              </a:rPr>
              <a:t> encloses the exhaustion bar: it opens at PHP 65.40, reaches PHP 66.20, falls to PHP 60.00, and closes at PHP 60.50. Mark </a:t>
            </a:r>
            <a:r>
              <a:rPr sz="1700" b="1" i="0">
                <a:solidFill>
                  <a:srgbClr val="1F5FAD"/>
                </a:solidFill>
                <a:latin typeface="Arial"/>
              </a:rPr>
              <a:t>(3)</a:t>
            </a:r>
            <a:r>
              <a:rPr sz="1700" b="0" i="0">
                <a:solidFill>
                  <a:srgbClr val="1A1A1A"/>
                </a:solidFill>
                <a:latin typeface="Arial"/>
              </a:rPr>
              <a:t> shows the next open at PHP 60.20 inside the range, so there is no gap. This is Lim's exhaustion rule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36593"/>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542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26750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75246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7014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114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book's bullish exhaustion case is in a downtrend. Gold </a:t>
            </a:r>
            <a:r>
              <a:rPr sz="1800" b="1" i="0">
                <a:solidFill>
                  <a:srgbClr val="E09B00"/>
                </a:solidFill>
                <a:latin typeface="Arial"/>
              </a:rPr>
              <a:t>(1)</a:t>
            </a:r>
            <a:r>
              <a:rPr sz="1800" b="0" i="0">
                <a:solidFill>
                  <a:srgbClr val="1A1A1A"/>
                </a:solidFill>
                <a:latin typeface="Arial"/>
              </a:rPr>
              <a:t> marks the gap before the bar, red </a:t>
            </a:r>
            <a:r>
              <a:rPr sz="1800" b="1" i="0">
                <a:solidFill>
                  <a:srgbClr val="C62828"/>
                </a:solidFill>
                <a:latin typeface="Arial"/>
              </a:rPr>
              <a:t>(2)</a:t>
            </a:r>
            <a:r>
              <a:rPr sz="1800" b="0" i="0">
                <a:solidFill>
                  <a:srgbClr val="1A1A1A"/>
                </a:solidFill>
                <a:latin typeface="Arial"/>
              </a:rPr>
              <a:t> the exhaustion bar, and blue </a:t>
            </a:r>
            <a:r>
              <a:rPr sz="1800" b="1" i="0">
                <a:solidFill>
                  <a:srgbClr val="1F5FAD"/>
                </a:solidFill>
                <a:latin typeface="Arial"/>
              </a:rPr>
              <a:t>(3)</a:t>
            </a:r>
            <a:r>
              <a:rPr sz="1800" b="0" i="0">
                <a:solidFill>
                  <a:srgbClr val="1A1A1A"/>
                </a:solidFill>
                <a:latin typeface="Arial"/>
              </a:rPr>
              <a:t> the later rebound.</a:t>
            </a:r>
          </a:p>
          <a:p>
            <a:pPr algn="l">
              <a:lnSpc>
                <a:spcPct val="105000"/>
              </a:lnSpc>
              <a:spcBef>
                <a:spcPts val="0"/>
              </a:spcBef>
              <a:spcAft>
                <a:spcPts val="1100"/>
              </a:spcAft>
            </a:pPr>
            <a:r>
              <a:rPr sz="18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800" b="0" i="0">
                <a:solidFill>
                  <a:srgbClr val="1A1A1A"/>
                </a:solidFill>
                <a:latin typeface="Arial"/>
              </a:rPr>
              <a:t>The prior gap is visible, but Lim's rule concerns the absence of a gap after the exhaustion bar (p. 226).</a:t>
            </a:r>
          </a:p>
        </p:txBody>
      </p:sp>
      <p:sp>
        <p:nvSpPr>
          <p:cNvPr id="8" name="Rectangle 7"/>
          <p:cNvSpPr/>
          <p:nvPr/>
        </p:nvSpPr>
        <p:spPr>
          <a:xfrm>
            <a:off x="6080759" y="1810512"/>
            <a:ext cx="5333694" cy="250584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2680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181089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747607" y="3108794"/>
            <a:ext cx="305757" cy="204128"/>
          </a:xfrm>
          <a:prstGeom prst="ellipse">
            <a:avLst/>
          </a:prstGeom>
          <a:noFill/>
          <a:ln w="44450">
            <a:solidFill>
              <a:srgbClr val="E09B00"/>
            </a:solidFill>
          </a:ln>
        </p:spPr>
        <p:txBody>
          <a:bodyPr rtlCol="0" anchor="ctr"/>
          <a:lstStyle/>
          <a:p>
            <a:pPr algn="ctr"/>
          </a:p>
        </p:txBody>
      </p:sp>
      <p:sp>
        <p:nvSpPr>
          <p:cNvPr id="13" name="Rectangle 12"/>
          <p:cNvSpPr/>
          <p:nvPr/>
        </p:nvSpPr>
        <p:spPr>
          <a:xfrm>
            <a:off x="8900486" y="3176837"/>
            <a:ext cx="305757" cy="362895"/>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9308162" y="2836623"/>
            <a:ext cx="866311" cy="952601"/>
          </a:xfrm>
          <a:prstGeom prst="line">
            <a:avLst/>
          </a:prstGeom>
          <a:ln w="44450">
            <a:solidFill>
              <a:srgbClr val="1F5FAD"/>
            </a:solidFill>
            <a:tailEnd type="triangle" w="med" len="med"/>
          </a:ln>
        </p:spPr>
      </p:cxnSp>
      <p:sp>
        <p:nvSpPr>
          <p:cNvPr id="15" name="Oval 14"/>
          <p:cNvSpPr/>
          <p:nvPr/>
        </p:nvSpPr>
        <p:spPr>
          <a:xfrm>
            <a:off x="8388321" y="290798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305592" y="295334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22863" y="259045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407794"/>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is the bullish exhaustion converse more reliable?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is the bullish exhaustion converse more reliable?</a:t>
            </a:r>
          </a:p>
        </p:txBody>
      </p:sp>
      <p:sp>
        <p:nvSpPr>
          <p:cNvPr id="13" name="TextBox 12"/>
          <p:cNvSpPr txBox="1"/>
          <p:nvPr/>
        </p:nvSpPr>
        <p:spPr>
          <a:xfrm>
            <a:off x="1097280" y="4750943"/>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The bullish converse appears in a downtrend at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middle bar is the spike: </a:t>
            </a:r>
            <a:r>
              <a:rPr sz="1700" b="1" i="0">
                <a:solidFill>
                  <a:srgbClr val="E09B00"/>
                </a:solidFill>
                <a:latin typeface="Arial"/>
              </a:rPr>
              <a:t>(1)</a:t>
            </a:r>
            <a:r>
              <a:rPr sz="1700" b="0" i="0">
                <a:solidFill>
                  <a:srgbClr val="1A1A1A"/>
                </a:solidFill>
                <a:latin typeface="Arial"/>
              </a:rPr>
              <a:t> marks its 8.0-point range, versus 3.0 on ordinary bars. </a:t>
            </a:r>
            <a:r>
              <a:rPr sz="1700" b="1" i="0">
                <a:solidFill>
                  <a:srgbClr val="C62828"/>
                </a:solidFill>
                <a:latin typeface="Arial"/>
              </a:rPr>
              <a:t>(2)</a:t>
            </a:r>
            <a:r>
              <a:rPr sz="1700" b="0" i="0">
                <a:solidFill>
                  <a:srgbClr val="1A1A1A"/>
                </a:solidFill>
                <a:latin typeface="Arial"/>
              </a:rPr>
              <a:t> marks its 6.0 million shares, versus 1.5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2673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67874" y="36426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F5FAD"/>
                </a:solidFill>
                <a:latin typeface="Arial"/>
              </a:rPr>
              <a:t>(3)</a:t>
            </a:r>
            <a:r>
              <a:rPr sz="1700" b="0" i="0">
                <a:solidFill>
                  <a:srgbClr val="1A1A1A"/>
                </a:solidFill>
                <a:latin typeface="Arial"/>
              </a:rPr>
              <a:t> marks the reversal context. This wide range and high volume fit Lim's emotion-spike description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98981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6414058" y="39056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wide spike, red </a:t>
            </a:r>
            <a:r>
              <a:rPr sz="2000" b="1" i="0">
                <a:solidFill>
                  <a:srgbClr val="C62828"/>
                </a:solidFill>
                <a:latin typeface="Arial"/>
              </a:rPr>
              <a:t>(2)</a:t>
            </a:r>
            <a:r>
              <a:rPr sz="2000" b="0" i="0">
                <a:solidFill>
                  <a:srgbClr val="1A1A1A"/>
                </a:solidFill>
                <a:latin typeface="Arial"/>
              </a:rPr>
              <a:t> its high volume, and blue </a:t>
            </a:r>
            <a:r>
              <a:rPr sz="2000" b="1" i="0">
                <a:solidFill>
                  <a:srgbClr val="1F5FAD"/>
                </a:solidFill>
                <a:latin typeface="Arial"/>
              </a:rPr>
              <a:t>(3)</a:t>
            </a:r>
            <a:r>
              <a:rPr sz="2000" b="0" i="0">
                <a:solidFill>
                  <a:srgbClr val="1A1A1A"/>
                </a:solidFill>
                <a:latin typeface="Arial"/>
              </a:rPr>
              <a:t> the three-bar bearish reversal at the top.</a:t>
            </a:r>
          </a:p>
          <a:p>
            <a:pPr algn="l">
              <a:lnSpc>
                <a:spcPct val="105000"/>
              </a:lnSpc>
              <a:spcBef>
                <a:spcPts val="0"/>
              </a:spcBef>
              <a:spcAft>
                <a:spcPts val="1100"/>
              </a:spcAft>
            </a:pPr>
            <a:r>
              <a:rPr sz="2000" b="0" i="0">
                <a:solidFill>
                  <a:srgbClr val="1A1A1A"/>
                </a:solidFill>
                <a:latin typeface="Arial"/>
              </a:rPr>
              <a:t>The wide range and high volume explain the name. The reversal context is a warning, not a prediction.</a:t>
            </a:r>
          </a:p>
        </p:txBody>
      </p:sp>
      <p:sp>
        <p:nvSpPr>
          <p:cNvPr id="8" name="Rectangle 7"/>
          <p:cNvSpPr/>
          <p:nvPr/>
        </p:nvSpPr>
        <p:spPr>
          <a:xfrm>
            <a:off x="6172199" y="1810512"/>
            <a:ext cx="5242255" cy="329327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5553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983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8292876" y="2540491"/>
            <a:ext cx="350315" cy="1008326"/>
          </a:xfrm>
          <a:prstGeom prst="ellipse">
            <a:avLst/>
          </a:prstGeom>
          <a:noFill/>
          <a:ln w="44450">
            <a:solidFill>
              <a:srgbClr val="E09B00"/>
            </a:solidFill>
          </a:ln>
        </p:spPr>
        <p:txBody>
          <a:bodyPr rtlCol="0" anchor="ctr"/>
          <a:lstStyle/>
          <a:p>
            <a:pPr algn="ctr"/>
          </a:p>
        </p:txBody>
      </p:sp>
      <p:sp>
        <p:nvSpPr>
          <p:cNvPr id="13" name="Oval 12"/>
          <p:cNvSpPr/>
          <p:nvPr/>
        </p:nvSpPr>
        <p:spPr>
          <a:xfrm>
            <a:off x="8392966" y="4373812"/>
            <a:ext cx="300270" cy="458330"/>
          </a:xfrm>
          <a:prstGeom prst="ellipse">
            <a:avLst/>
          </a:prstGeom>
          <a:noFill/>
          <a:ln w="44450">
            <a:solidFill>
              <a:srgbClr val="C62828"/>
            </a:solidFill>
          </a:ln>
        </p:spPr>
        <p:txBody>
          <a:bodyPr rtlCol="0" anchor="ctr"/>
          <a:lstStyle/>
          <a:p>
            <a:pPr algn="ctr"/>
          </a:p>
        </p:txBody>
      </p:sp>
      <p:sp>
        <p:nvSpPr>
          <p:cNvPr id="14" name="Oval 13"/>
          <p:cNvSpPr/>
          <p:nvPr/>
        </p:nvSpPr>
        <p:spPr>
          <a:xfrm>
            <a:off x="9994410" y="2112716"/>
            <a:ext cx="400360" cy="427775"/>
          </a:xfrm>
          <a:prstGeom prst="ellipse">
            <a:avLst/>
          </a:prstGeom>
          <a:noFill/>
          <a:ln w="44450">
            <a:solidFill>
              <a:srgbClr val="1F5FAD"/>
            </a:solidFill>
          </a:ln>
        </p:spPr>
        <p:txBody>
          <a:bodyPr rtlCol="0" anchor="ctr"/>
          <a:lstStyle/>
          <a:p>
            <a:pPr algn="ctr"/>
          </a:p>
        </p:txBody>
      </p:sp>
      <p:sp>
        <p:nvSpPr>
          <p:cNvPr id="15" name="Oval 14"/>
          <p:cNvSpPr/>
          <p:nvPr/>
        </p:nvSpPr>
        <p:spPr>
          <a:xfrm>
            <a:off x="7937247" y="229337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8014" y="47072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489548" y="22017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95231"/>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 the worked PHP values are ours, invented.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The worked PHP values are ours, invented.</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pin bar tests support and then returns: </a:t>
            </a:r>
            <a:r>
              <a:rPr sz="1700" b="1" i="0">
                <a:solidFill>
                  <a:srgbClr val="E09B00"/>
                </a:solidFill>
                <a:latin typeface="Arial"/>
              </a:rPr>
              <a:t>(1)</a:t>
            </a:r>
            <a:r>
              <a:rPr sz="1700" b="0" i="0">
                <a:solidFill>
                  <a:srgbClr val="1A1A1A"/>
                </a:solidFill>
                <a:latin typeface="Arial"/>
              </a:rPr>
              <a:t> marks support at PHP 40.00. The bar trades down to PHP 38.80 at </a:t>
            </a:r>
            <a:r>
              <a:rPr sz="1700" b="1" i="0">
                <a:solidFill>
                  <a:srgbClr val="C62828"/>
                </a:solidFill>
                <a:latin typeface="Arial"/>
              </a:rPr>
              <a:t>(2)</a:t>
            </a:r>
            <a:r>
              <a:rPr sz="1700" b="0" i="0">
                <a:solidFill>
                  <a:srgbClr val="1A1A1A"/>
                </a:solidFill>
                <a:latin typeface="Arial"/>
              </a:rPr>
              <a:t>, then closes back above support at PHP 40.60 at </a:t>
            </a:r>
            <a:r>
              <a:rPr sz="1700" b="1" i="0">
                <a:solidFill>
                  <a:srgbClr val="1F5FAD"/>
                </a:solidFill>
                <a:latin typeface="Arial"/>
              </a:rPr>
              <a:t>(3)</a:t>
            </a:r>
            <a:r>
              <a:rPr sz="1700" b="0" i="0">
                <a:solidFill>
                  <a:srgbClr val="1A1A1A"/>
                </a:solidFill>
                <a:latin typeface="Arial"/>
              </a:rPr>
              <a:t> on 0.8 million shares. The low is the bar's lowest price and the close is below its high, so the prices are possible. The return above support is the false-break clue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62</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support, red </a:t>
            </a:r>
            <a:r>
              <a:rPr sz="2000" b="1" i="0">
                <a:solidFill>
                  <a:srgbClr val="C62828"/>
                </a:solidFill>
                <a:latin typeface="Arial"/>
              </a:rPr>
              <a:t>(2)</a:t>
            </a:r>
            <a:r>
              <a:rPr sz="2000" b="0" i="0">
                <a:solidFill>
                  <a:srgbClr val="1A1A1A"/>
                </a:solidFill>
                <a:latin typeface="Arial"/>
              </a:rPr>
              <a:t> the intra-period penetration, and blue </a:t>
            </a:r>
            <a:r>
              <a:rPr sz="2000" b="1" i="0">
                <a:solidFill>
                  <a:srgbClr val="1F5FAD"/>
                </a:solidFill>
                <a:latin typeface="Arial"/>
              </a:rPr>
              <a:t>(3)</a:t>
            </a:r>
            <a:r>
              <a:rPr sz="2000" b="0" i="0">
                <a:solidFill>
                  <a:srgbClr val="1A1A1A"/>
                </a:solidFill>
                <a:latin typeface="Arial"/>
              </a:rPr>
              <a:t> the close back above support.</a:t>
            </a:r>
          </a:p>
          <a:p>
            <a:pPr algn="l">
              <a:lnSpc>
                <a:spcPct val="105000"/>
              </a:lnSpc>
              <a:spcBef>
                <a:spcPts val="0"/>
              </a:spcBef>
              <a:spcAft>
                <a:spcPts val="1100"/>
              </a:spcAft>
            </a:pPr>
            <a:r>
              <a:rPr sz="20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6126479" y="1810512"/>
            <a:ext cx="5287975" cy="2453111"/>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1536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649370" y="3834600"/>
            <a:ext cx="3131143" cy="0"/>
          </a:xfrm>
          <a:prstGeom prst="line">
            <a:avLst/>
          </a:prstGeom>
          <a:ln w="44450">
            <a:solidFill>
              <a:srgbClr val="E09B00"/>
            </a:solidFill>
          </a:ln>
        </p:spPr>
      </p:cxnSp>
      <p:sp>
        <p:nvSpPr>
          <p:cNvPr id="13" name="Oval 12"/>
          <p:cNvSpPr/>
          <p:nvPr/>
        </p:nvSpPr>
        <p:spPr>
          <a:xfrm>
            <a:off x="7204895" y="3790293"/>
            <a:ext cx="252511" cy="199383"/>
          </a:xfrm>
          <a:prstGeom prst="ellipse">
            <a:avLst/>
          </a:prstGeom>
          <a:noFill/>
          <a:ln w="44450">
            <a:solidFill>
              <a:srgbClr val="C62828"/>
            </a:solidFill>
          </a:ln>
        </p:spPr>
        <p:txBody>
          <a:bodyPr rtlCol="0" anchor="ctr"/>
          <a:lstStyle/>
          <a:p>
            <a:pPr algn="ctr"/>
          </a:p>
        </p:txBody>
      </p:sp>
      <p:sp>
        <p:nvSpPr>
          <p:cNvPr id="14" name="Oval 13"/>
          <p:cNvSpPr/>
          <p:nvPr/>
        </p:nvSpPr>
        <p:spPr>
          <a:xfrm>
            <a:off x="7356402" y="3723832"/>
            <a:ext cx="353516" cy="177229"/>
          </a:xfrm>
          <a:prstGeom prst="ellipse">
            <a:avLst/>
          </a:prstGeom>
          <a:noFill/>
          <a:ln w="44450">
            <a:solidFill>
              <a:srgbClr val="1F5FAD"/>
            </a:solidFill>
          </a:ln>
        </p:spPr>
        <p:txBody>
          <a:bodyPr rtlCol="0" anchor="ctr"/>
          <a:lstStyle/>
          <a:p>
            <a:pPr algn="ctr"/>
          </a:p>
        </p:txBody>
      </p:sp>
      <p:sp>
        <p:nvSpPr>
          <p:cNvPr id="15" name="Oval 14"/>
          <p:cNvSpPr/>
          <p:nvPr/>
        </p:nvSpPr>
        <p:spPr>
          <a:xfrm>
            <a:off x="6342415" y="38120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897940" y="38785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806982" y="34797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55063"/>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ends a long run: it opens beyond the prior high </a:t>
            </a:r>
            <a:r>
              <a:rPr sz="1700" b="1" i="0">
                <a:solidFill>
                  <a:srgbClr val="E09B00"/>
                </a:solidFill>
                <a:latin typeface="Arial"/>
              </a:rPr>
              <a:t>(1)</a:t>
            </a:r>
            <a:r>
              <a:rPr sz="1700" b="0" i="0">
                <a:solidFill>
                  <a:srgbClr val="1A1A1A"/>
                </a:solidFill>
                <a:latin typeface="Arial"/>
              </a:rPr>
              <a:t>, reaches a new high </a:t>
            </a:r>
            <a:r>
              <a:rPr sz="1700" b="1" i="0">
                <a:solidFill>
                  <a:srgbClr val="C62828"/>
                </a:solidFill>
                <a:latin typeface="Arial"/>
              </a:rPr>
              <a:t>(2)</a:t>
            </a:r>
            <a:r>
              <a:rPr sz="1700" b="0" i="0">
                <a:solidFill>
                  <a:srgbClr val="1A1A1A"/>
                </a:solidFill>
                <a:latin typeface="Arial"/>
              </a:rPr>
              <a:t>, gives most back, and the next bar does not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pierces support </a:t>
            </a:r>
            <a:r>
              <a:rPr sz="1700" b="1" i="0">
                <a:solidFill>
                  <a:srgbClr val="7B3FA0"/>
                </a:solidFill>
                <a:latin typeface="Arial"/>
              </a:rPr>
              <a:t>(1)</a:t>
            </a:r>
            <a:r>
              <a:rPr sz="1700" b="0" i="0">
                <a:solidFill>
                  <a:srgbClr val="1A1A1A"/>
                </a:solidFill>
                <a:latin typeface="Arial"/>
              </a:rPr>
              <a:t> then snaps back inside </a:t>
            </a:r>
            <a:r>
              <a:rPr sz="1700" b="1" i="0">
                <a:solidFill>
                  <a:srgbClr val="C62828"/>
                </a:solidFill>
                <a:latin typeface="Arial"/>
              </a:rPr>
              <a:t>(2)</a:t>
            </a:r>
            <a:r>
              <a:rPr sz="1700" b="0" i="0">
                <a:solidFill>
                  <a:srgbClr val="1A1A1A"/>
                </a:solidFill>
                <a:latin typeface="Arial"/>
              </a:rPr>
              <a:t>. Lim calls it a "single bar misrepresentation" (p. 227); its volume is low </a:t>
            </a:r>
            <a:r>
              <a:rPr sz="1700" b="1" i="0">
                <a:solidFill>
                  <a:srgbClr val="E09B00"/>
                </a:solidFill>
                <a:latin typeface="Arial"/>
              </a:rPr>
              <a:t>(3)</a:t>
            </a:r>
            <a:r>
              <a:rPr sz="1700" b="0" i="0">
                <a:solidFill>
                  <a:srgbClr val="1A1A1A"/>
                </a:solidFill>
                <a:latin typeface="Arial"/>
              </a:rPr>
              <a:t>. Ask whether the move ended a tiring run or rejected a level.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229).</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two cases show a break that returns inside its barrier. </a:t>
            </a:r>
            <a:r>
              <a:rPr sz="1700" b="1" i="0">
                <a:solidFill>
                  <a:srgbClr val="E09B00"/>
                </a:solidFill>
                <a:latin typeface="Arial"/>
              </a:rPr>
              <a:t>(1)</a:t>
            </a:r>
            <a:r>
              <a:rPr sz="1700" b="0" i="0">
                <a:solidFill>
                  <a:srgbClr val="1A1A1A"/>
                </a:solidFill>
                <a:latin typeface="Arial"/>
              </a:rPr>
              <a:t> marks the PHP 62.00 false high; </a:t>
            </a:r>
            <a:r>
              <a:rPr sz="1700" b="1" i="0">
                <a:solidFill>
                  <a:srgbClr val="1F5FAD"/>
                </a:solidFill>
                <a:latin typeface="Arial"/>
              </a:rPr>
              <a:t>(2)</a:t>
            </a:r>
            <a:r>
              <a:rPr sz="1700" b="0" i="0">
                <a:solidFill>
                  <a:srgbClr val="1A1A1A"/>
                </a:solidFill>
                <a:latin typeface="Arial"/>
              </a:rPr>
              <a:t> marks the PHP 59.40 close below PHP 60.00 resistance.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C62828"/>
                </a:solidFill>
                <a:latin typeface="Arial"/>
              </a:rPr>
              <a:t>(1)</a:t>
            </a:r>
            <a:r>
              <a:rPr sz="1700" b="0" i="0">
                <a:solidFill>
                  <a:srgbClr val="1A1A1A"/>
                </a:solidFill>
                <a:latin typeface="Arial"/>
              </a:rPr>
              <a:t> marks the PHP 38.50 false low; </a:t>
            </a:r>
            <a:r>
              <a:rPr sz="1700" b="1" i="0">
                <a:solidFill>
                  <a:srgbClr val="7B3FA0"/>
                </a:solidFill>
                <a:latin typeface="Arial"/>
              </a:rPr>
              <a:t>(2)</a:t>
            </a:r>
            <a:r>
              <a:rPr sz="1700" b="0" i="0">
                <a:solidFill>
                  <a:srgbClr val="1A1A1A"/>
                </a:solidFill>
                <a:latin typeface="Arial"/>
              </a:rPr>
              <a:t> marks the PHP 40.60 close above PHP 40.00 support (p. 229).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course drawing makes the bearish entry explicit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On the course drawing, </a:t>
            </a:r>
            <a:r>
              <a:rPr sz="1700" b="1" i="0">
                <a:solidFill>
                  <a:srgbClr val="E09B00"/>
                </a:solidFill>
                <a:latin typeface="Arial"/>
              </a:rPr>
              <a:t>(1)</a:t>
            </a:r>
            <a:r>
              <a:rPr sz="1700" b="0" i="0">
                <a:solidFill>
                  <a:srgbClr val="1A1A1A"/>
                </a:solidFill>
                <a:latin typeface="Arial"/>
              </a:rPr>
              <a:t> is PHP 60.00 resistance, </a:t>
            </a:r>
            <a:r>
              <a:rPr sz="1700" b="1" i="0">
                <a:solidFill>
                  <a:srgbClr val="C62828"/>
                </a:solidFill>
                <a:latin typeface="Arial"/>
              </a:rPr>
              <a:t>(2)</a:t>
            </a:r>
            <a:r>
              <a:rPr sz="1700" b="0" i="0">
                <a:solidFill>
                  <a:srgbClr val="1A1A1A"/>
                </a:solidFill>
                <a:latin typeface="Arial"/>
              </a:rPr>
              <a:t> the PHP 62.00 false high, </a:t>
            </a:r>
            <a:r>
              <a:rPr sz="1700" b="1" i="0">
                <a:solidFill>
                  <a:srgbClr val="1F5FAD"/>
                </a:solidFill>
                <a:latin typeface="Arial"/>
              </a:rPr>
              <a:t>(3)</a:t>
            </a:r>
            <a:r>
              <a:rPr sz="1700" b="0" i="0">
                <a:solidFill>
                  <a:srgbClr val="1A1A1A"/>
                </a:solidFill>
                <a:latin typeface="Arial"/>
              </a:rPr>
              <a:t> the PHP 59.40 returned close, and </a:t>
            </a:r>
            <a:r>
              <a:rPr sz="1700" b="1" i="0">
                <a:solidFill>
                  <a:srgbClr val="7B3FA0"/>
                </a:solidFill>
                <a:latin typeface="Arial"/>
              </a:rPr>
              <a:t>(4)</a:t>
            </a:r>
            <a:r>
              <a:rPr sz="1700" b="0" i="0">
                <a:solidFill>
                  <a:srgbClr val="1A1A1A"/>
                </a:solidFill>
                <a:latin typeface="Arial"/>
              </a:rPr>
              <a:t> the PHP 62.20 stop. The short follows </a:t>
            </a:r>
            <a:r>
              <a:rPr sz="1700" b="1" i="0">
                <a:solidFill>
                  <a:srgbClr val="1F5FAD"/>
                </a:solidFill>
                <a:latin typeface="Arial"/>
              </a:rPr>
              <a:t>(3)</a:t>
            </a:r>
            <a:r>
              <a:rPr sz="1700" b="0" i="0">
                <a:solidFill>
                  <a:srgbClr val="1A1A1A"/>
                </a:solidFill>
                <a:latin typeface="Arial"/>
              </a:rPr>
              <a:t> below resistance; </a:t>
            </a:r>
            <a:r>
              <a:rPr sz="1700" b="1" i="0">
                <a:solidFill>
                  <a:srgbClr val="7B3FA0"/>
                </a:solidFill>
                <a:latin typeface="Arial"/>
              </a:rPr>
              <a:t>(4)</a:t>
            </a:r>
            <a:r>
              <a:rPr sz="1700" b="0" i="0">
                <a:solidFill>
                  <a:srgbClr val="1A1A1A"/>
                </a:solidFill>
                <a:latin typeface="Arial"/>
              </a:rPr>
              <a:t> stays above the breakout high. These values are invented, and the book's drawing follows.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4136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4364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2283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39572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352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1062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08661" y="332486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62</a:t>
            </a:r>
          </a:p>
        </p:txBody>
      </p:sp>
      <p:sp>
        <p:nvSpPr>
          <p:cNvPr id="7" name="TextBox 6"/>
          <p:cNvSpPr txBox="1"/>
          <p:nvPr/>
        </p:nvSpPr>
        <p:spPr>
          <a:xfrm>
            <a:off x="777240" y="1965960"/>
            <a:ext cx="4892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this a non-failure swing and credits Sperandeo's 2B entry (p. 228). The book's drawing supplies the pattern, not a PHP price list.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resistance, red </a:t>
            </a:r>
            <a:r>
              <a:rPr sz="1800" b="1" i="0">
                <a:solidFill>
                  <a:srgbClr val="C62828"/>
                </a:solidFill>
                <a:latin typeface="Arial"/>
              </a:rPr>
              <a:t>(2)</a:t>
            </a:r>
            <a:r>
              <a:rPr sz="1800" b="0" i="0">
                <a:solidFill>
                  <a:srgbClr val="1A1A1A"/>
                </a:solidFill>
                <a:latin typeface="Arial"/>
              </a:rPr>
              <a:t> the false high, blue </a:t>
            </a:r>
            <a:r>
              <a:rPr sz="1800" b="1" i="0">
                <a:solidFill>
                  <a:srgbClr val="1F5FAD"/>
                </a:solidFill>
                <a:latin typeface="Arial"/>
              </a:rPr>
              <a:t>(3)</a:t>
            </a:r>
            <a:r>
              <a:rPr sz="1800" b="0" i="0">
                <a:solidFill>
                  <a:srgbClr val="1A1A1A"/>
                </a:solidFill>
                <a:latin typeface="Arial"/>
              </a:rPr>
              <a:t> the close back below, and purple </a:t>
            </a:r>
            <a:r>
              <a:rPr sz="1800" b="1" i="0">
                <a:solidFill>
                  <a:srgbClr val="7B3FA0"/>
                </a:solidFill>
                <a:latin typeface="Arial"/>
              </a:rPr>
              <a:t>(4)</a:t>
            </a:r>
            <a:r>
              <a:rPr sz="1800" b="0" i="0">
                <a:solidFill>
                  <a:srgbClr val="1A1A1A"/>
                </a:solidFill>
                <a:latin typeface="Arial"/>
              </a:rPr>
              <a:t> the stop above the high.</a:t>
            </a:r>
          </a:p>
          <a:p>
            <a:pPr algn="l">
              <a:lnSpc>
                <a:spcPct val="105000"/>
              </a:lnSpc>
              <a:spcBef>
                <a:spcPts val="0"/>
              </a:spcBef>
              <a:spcAft>
                <a:spcPts val="1100"/>
              </a:spcAft>
            </a:pPr>
            <a:r>
              <a:rPr sz="1800" b="0" i="0">
                <a:solidFill>
                  <a:srgbClr val="1A1A1A"/>
                </a:solidFill>
                <a:latin typeface="Arial"/>
              </a:rPr>
              <a:t>The bearish entry comes only after price returns below resistance. The stop belongs just above the breakout high in this drawing.</a:t>
            </a:r>
          </a:p>
        </p:txBody>
      </p:sp>
      <p:sp>
        <p:nvSpPr>
          <p:cNvPr id="8" name="Rectangle 7"/>
          <p:cNvSpPr/>
          <p:nvPr/>
        </p:nvSpPr>
        <p:spPr>
          <a:xfrm>
            <a:off x="64939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28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28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871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6905291" y="2280513"/>
            <a:ext cx="2214409" cy="0"/>
          </a:xfrm>
          <a:prstGeom prst="line">
            <a:avLst/>
          </a:prstGeom>
          <a:ln w="44450">
            <a:solidFill>
              <a:srgbClr val="E09B00"/>
            </a:solidFill>
          </a:ln>
        </p:spPr>
      </p:cxnSp>
      <p:sp>
        <p:nvSpPr>
          <p:cNvPr id="13" name="Oval 12"/>
          <p:cNvSpPr/>
          <p:nvPr/>
        </p:nvSpPr>
        <p:spPr>
          <a:xfrm>
            <a:off x="78244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81169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740917" y="2034722"/>
            <a:ext cx="626720" cy="0"/>
          </a:xfrm>
          <a:prstGeom prst="line">
            <a:avLst/>
          </a:prstGeom>
          <a:ln w="44450">
            <a:solidFill>
              <a:srgbClr val="7B3FA0"/>
            </a:solidFill>
          </a:ln>
        </p:spPr>
      </p:cxnSp>
      <p:sp>
        <p:nvSpPr>
          <p:cNvPr id="16" name="Oval 15"/>
          <p:cNvSpPr/>
          <p:nvPr/>
        </p:nvSpPr>
        <p:spPr>
          <a:xfrm>
            <a:off x="6791625"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543688"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462876" y="22655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293000" y="1914387"/>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989319" y="5650991"/>
            <a:ext cx="54251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 the worked PHP values are ours, invented.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marks the upper close back below resistance; purple </a:t>
            </a:r>
            <a:r>
              <a:rPr sz="1700" b="1" i="0">
                <a:solidFill>
                  <a:srgbClr val="7B3FA0"/>
                </a:solidFill>
                <a:latin typeface="Arial"/>
              </a:rPr>
              <a:t>(4)</a:t>
            </a:r>
            <a:r>
              <a:rPr sz="1700" b="0" i="0">
                <a:solidFill>
                  <a:srgbClr val="1A1A1A"/>
                </a:solidFill>
                <a:latin typeface="Arial"/>
              </a:rPr>
              <a:t> marks the lower close back above support.</a:t>
            </a:r>
          </a:p>
          <a:p>
            <a:pPr algn="l">
              <a:lnSpc>
                <a:spcPct val="105000"/>
              </a:lnSpc>
              <a:spcBef>
                <a:spcPts val="0"/>
              </a:spcBef>
              <a:spcAft>
                <a:spcPts val="1100"/>
              </a:spcAft>
            </a:pPr>
            <a:r>
              <a:rPr sz="1700" b="0" i="0">
                <a:solidFill>
                  <a:srgbClr val="1A1A1A"/>
                </a:solidFill>
                <a:latin typeface="Arial"/>
              </a:rPr>
              <a:t>In our example, resistance is PHP 60.00 and support is PHP 40.00. The returned closes are PHP 59.40 and PHP 40.60, so both prices are back inside their barriers.</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229).</a:t>
            </a:r>
          </a:p>
        </p:txBody>
      </p:sp>
      <p:sp>
        <p:nvSpPr>
          <p:cNvPr id="8" name="Rectangle 7"/>
          <p:cNvSpPr/>
          <p:nvPr/>
        </p:nvSpPr>
        <p:spPr>
          <a:xfrm>
            <a:off x="6172199" y="1810512"/>
            <a:ext cx="5242255" cy="280662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256888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11168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742380" y="2520227"/>
            <a:ext cx="350315" cy="282577"/>
          </a:xfrm>
          <a:prstGeom prst="ellipse">
            <a:avLst/>
          </a:prstGeom>
          <a:noFill/>
          <a:ln w="44450">
            <a:solidFill>
              <a:srgbClr val="E09B00"/>
            </a:solidFill>
          </a:ln>
        </p:spPr>
        <p:txBody>
          <a:bodyPr rtlCol="0" anchor="ctr"/>
          <a:lstStyle/>
          <a:p>
            <a:pPr algn="ctr"/>
          </a:p>
        </p:txBody>
      </p:sp>
      <p:sp>
        <p:nvSpPr>
          <p:cNvPr id="13" name="Oval 12"/>
          <p:cNvSpPr/>
          <p:nvPr/>
        </p:nvSpPr>
        <p:spPr>
          <a:xfrm>
            <a:off x="8943462" y="3111070"/>
            <a:ext cx="400360" cy="333954"/>
          </a:xfrm>
          <a:prstGeom prst="ellipse">
            <a:avLst/>
          </a:prstGeom>
          <a:noFill/>
          <a:ln w="44450">
            <a:solidFill>
              <a:srgbClr val="C62828"/>
            </a:solidFill>
          </a:ln>
        </p:spPr>
        <p:txBody>
          <a:bodyPr rtlCol="0" anchor="ctr"/>
          <a:lstStyle/>
          <a:p>
            <a:pPr algn="ctr"/>
          </a:p>
        </p:txBody>
      </p:sp>
      <p:sp>
        <p:nvSpPr>
          <p:cNvPr id="14" name="Oval 13"/>
          <p:cNvSpPr/>
          <p:nvPr/>
        </p:nvSpPr>
        <p:spPr>
          <a:xfrm>
            <a:off x="7942560" y="2674360"/>
            <a:ext cx="300270" cy="205510"/>
          </a:xfrm>
          <a:prstGeom prst="ellipse">
            <a:avLst/>
          </a:prstGeom>
          <a:noFill/>
          <a:ln w="44450">
            <a:solidFill>
              <a:srgbClr val="1F5FAD"/>
            </a:solidFill>
          </a:ln>
        </p:spPr>
        <p:txBody>
          <a:bodyPr rtlCol="0" anchor="ctr"/>
          <a:lstStyle/>
          <a:p>
            <a:pPr algn="ctr"/>
          </a:p>
        </p:txBody>
      </p:sp>
      <p:sp>
        <p:nvSpPr>
          <p:cNvPr id="15" name="Oval 14"/>
          <p:cNvSpPr/>
          <p:nvPr/>
        </p:nvSpPr>
        <p:spPr>
          <a:xfrm>
            <a:off x="10144545" y="3393647"/>
            <a:ext cx="350315" cy="282577"/>
          </a:xfrm>
          <a:prstGeom prst="ellipse">
            <a:avLst/>
          </a:prstGeom>
          <a:noFill/>
          <a:ln w="44450">
            <a:solidFill>
              <a:srgbClr val="7B3FA0"/>
            </a:solidFill>
          </a:ln>
        </p:spPr>
        <p:txBody>
          <a:bodyPr rtlCol="0" anchor="ctr"/>
          <a:lstStyle/>
          <a:p>
            <a:pPr algn="ctr"/>
          </a:p>
        </p:txBody>
      </p:sp>
      <p:sp>
        <p:nvSpPr>
          <p:cNvPr id="16" name="Oval 15"/>
          <p:cNvSpPr/>
          <p:nvPr/>
        </p:nvSpPr>
        <p:spPr>
          <a:xfrm>
            <a:off x="7386751" y="2287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88646" y="34693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287563" y="27758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589638" y="3135444"/>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172199" y="4708579"/>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7.32. The crop and marks are for teaching; the worked PHP values are ours, invented.</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229).</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229).</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Double Repo closes above and below a three-day SMA twice, so the second pair can mark a sell signal (p. 229). Lim calls the average forward-shifted when it is plotted three days forward.</a:t>
            </a:r>
          </a:p>
          <a:p>
            <a:pPr algn="l">
              <a:lnSpc>
                <a:spcPct val="118000"/>
              </a:lnSpc>
              <a:spcBef>
                <a:spcPts val="0"/>
              </a:spcBef>
              <a:spcAft>
                <a:spcPts val="1300"/>
              </a:spcAft>
            </a:pPr>
            <a:r>
              <a:rPr sz="2100" b="0" i="0">
                <a:solidFill>
                  <a:srgbClr val="1A1A1A"/>
                </a:solidFill>
                <a:latin typeface="Arial"/>
              </a:rPr>
              <a:t>Our SMA is PHP 50.00. The pairs close at PHP 50.80 above and PHP 49.60 below, then PHP 50.70 above and PHP 49.00 below after nine bullish days. Lim gives 8 to 10 days first and a top no more than 8 to 10 bars; the complete method is in DiNapoli's text.</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Count the two crossing pairs and keep the book's limits visible.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The worked PHP values are ours, invented.</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E09B00"/>
                </a:solidFill>
                <a:latin typeface="Arial"/>
              </a:rPr>
              <a:t>(1)</a:t>
            </a:r>
            <a:r>
              <a:rPr sz="1700" b="0" i="0">
                <a:solidFill>
                  <a:srgbClr val="1A1A1A"/>
                </a:solidFill>
                <a:latin typeface="Arial"/>
              </a:rPr>
              <a:t> marks the first close above it at PHP 50.80, and </a:t>
            </a:r>
            <a:r>
              <a:rPr sz="1700" b="1" i="0">
                <a:solidFill>
                  <a:srgbClr val="C62828"/>
                </a:solidFill>
                <a:latin typeface="Arial"/>
              </a:rPr>
              <a:t>(2)</a:t>
            </a:r>
            <a:r>
              <a:rPr sz="1700" b="0" i="0">
                <a:solidFill>
                  <a:srgbClr val="1A1A1A"/>
                </a:solidFill>
                <a:latin typeface="Arial"/>
              </a:rPr>
              <a:t> the first close below it at PHP 49.60.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3.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86406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8946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371184" y="370728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26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nine bullish days, </a:t>
            </a:r>
            <a:r>
              <a:rPr sz="1700" b="1" i="0">
                <a:solidFill>
                  <a:srgbClr val="1F5FAD"/>
                </a:solidFill>
                <a:latin typeface="Arial"/>
              </a:rPr>
              <a:t>(3)</a:t>
            </a:r>
            <a:r>
              <a:rPr sz="1700" b="0" i="0">
                <a:solidFill>
                  <a:srgbClr val="1A1A1A"/>
                </a:solidFill>
                <a:latin typeface="Arial"/>
              </a:rPr>
              <a:t> encloses the second pair: PHP 50.70 above and PHP 49.00 below. The two pairs are the named structure; the full method is in DiNapoli's text.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4.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862072" y="3442243"/>
            <a:ext cx="5519775" cy="1500877"/>
          </a:xfrm>
          <a:prstGeom prst="rect">
            <a:avLst/>
          </a:prstGeom>
          <a:noFill/>
          <a:ln w="44450">
            <a:solidFill>
              <a:srgbClr val="1F5FAD"/>
            </a:solidFill>
          </a:ln>
        </p:spPr>
        <p:txBody>
          <a:bodyPr rtlCol="0" anchor="ctr"/>
          <a:lstStyle/>
          <a:p>
            <a:pPr algn="ctr"/>
          </a:p>
        </p:txBody>
      </p:sp>
      <p:sp>
        <p:nvSpPr>
          <p:cNvPr id="10" name="Oval 9"/>
          <p:cNvSpPr/>
          <p:nvPr/>
        </p:nvSpPr>
        <p:spPr>
          <a:xfrm>
            <a:off x="8381847" y="406466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the first two closes across the forward-shifted three-day SMA. Blue </a:t>
            </a:r>
            <a:r>
              <a:rPr sz="1800" b="1" i="0">
                <a:solidFill>
                  <a:srgbClr val="1F5FAD"/>
                </a:solidFill>
                <a:latin typeface="Arial"/>
              </a:rPr>
              <a:t>(3)</a:t>
            </a:r>
            <a:r>
              <a:rPr sz="1800" b="0" i="0">
                <a:solidFill>
                  <a:srgbClr val="1A1A1A"/>
                </a:solidFill>
                <a:latin typeface="Arial"/>
              </a:rPr>
              <a:t> marks the later decline.</a:t>
            </a:r>
          </a:p>
          <a:p>
            <a:pPr algn="l">
              <a:lnSpc>
                <a:spcPct val="105000"/>
              </a:lnSpc>
              <a:spcBef>
                <a:spcPts val="0"/>
              </a:spcBef>
              <a:spcAft>
                <a:spcPts val="1100"/>
              </a:spcAft>
            </a:pPr>
            <a:r>
              <a:rPr sz="18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800" b="0" i="0">
                <a:solidFill>
                  <a:srgbClr val="1A1A1A"/>
                </a:solidFill>
                <a:latin typeface="Arial"/>
              </a:rPr>
              <a:t>Read the two crossings as the named structure, not as a complete trading system.</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8164439" y="2380117"/>
            <a:ext cx="303013" cy="202829"/>
          </a:xfrm>
          <a:prstGeom prst="ellipse">
            <a:avLst/>
          </a:prstGeom>
          <a:noFill/>
          <a:ln w="44450">
            <a:solidFill>
              <a:srgbClr val="E09B00"/>
            </a:solidFill>
          </a:ln>
        </p:spPr>
        <p:txBody>
          <a:bodyPr rtlCol="0" anchor="ctr"/>
          <a:lstStyle/>
          <a:p>
            <a:pPr algn="ctr"/>
          </a:p>
        </p:txBody>
      </p:sp>
      <p:sp>
        <p:nvSpPr>
          <p:cNvPr id="13" name="Oval 12"/>
          <p:cNvSpPr/>
          <p:nvPr/>
        </p:nvSpPr>
        <p:spPr>
          <a:xfrm>
            <a:off x="8770467" y="2380117"/>
            <a:ext cx="303013" cy="20282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9224988" y="2830850"/>
            <a:ext cx="909041" cy="631026"/>
          </a:xfrm>
          <a:prstGeom prst="line">
            <a:avLst/>
          </a:prstGeom>
          <a:ln w="44450">
            <a:solidFill>
              <a:srgbClr val="1F5FAD"/>
            </a:solidFill>
            <a:tailEnd type="triangle" w="med" len="med"/>
          </a:ln>
        </p:spPr>
      </p:cxnSp>
      <p:sp>
        <p:nvSpPr>
          <p:cNvPr id="15" name="Oval 14"/>
          <p:cNvSpPr/>
          <p:nvPr/>
        </p:nvSpPr>
        <p:spPr>
          <a:xfrm>
            <a:off x="7857484" y="21570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20042" y="215705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80591" y="339657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forward-shifted three-day SMA. Red </a:t>
            </a:r>
            <a:r>
              <a:rPr sz="2000" b="1" i="0">
                <a:solidFill>
                  <a:srgbClr val="C62828"/>
                </a:solidFill>
                <a:latin typeface="Arial"/>
              </a:rPr>
              <a:t>(2)</a:t>
            </a:r>
            <a:r>
              <a:rPr sz="2000" b="0" i="0">
                <a:solidFill>
                  <a:srgbClr val="1A1A1A"/>
                </a:solidFill>
                <a:latin typeface="Arial"/>
              </a:rPr>
              <a:t> marks the required 8 to 10 bullish days before the pattern.</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2000" b="0" i="0">
                <a:solidFill>
                  <a:srgbClr val="1A1A1A"/>
                </a:solidFill>
                <a:latin typeface="Arial"/>
              </a:rPr>
              <a:t>Count both limits before treating the two crossings as the named sell signal.</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921974" y="2425190"/>
            <a:ext cx="1010046" cy="270440"/>
          </a:xfrm>
          <a:prstGeom prst="line">
            <a:avLst/>
          </a:prstGeom>
          <a:ln w="44450">
            <a:solidFill>
              <a:srgbClr val="E09B00"/>
            </a:solidFill>
          </a:ln>
        </p:spPr>
      </p:cxnSp>
      <p:sp>
        <p:nvSpPr>
          <p:cNvPr id="13" name="Oval 12"/>
          <p:cNvSpPr/>
          <p:nvPr/>
        </p:nvSpPr>
        <p:spPr>
          <a:xfrm>
            <a:off x="7255398" y="2335043"/>
            <a:ext cx="1010046" cy="270439"/>
          </a:xfrm>
          <a:prstGeom prst="ellipse">
            <a:avLst/>
          </a:prstGeom>
          <a:noFill/>
          <a:ln w="44450">
            <a:solidFill>
              <a:srgbClr val="C62828"/>
            </a:solidFill>
          </a:ln>
        </p:spPr>
        <p:txBody>
          <a:bodyPr rtlCol="0" anchor="ctr"/>
          <a:lstStyle/>
          <a:p>
            <a:pPr algn="ctr"/>
          </a:p>
        </p:txBody>
      </p:sp>
      <p:sp>
        <p:nvSpPr>
          <p:cNvPr id="14" name="Rectangle 13"/>
          <p:cNvSpPr/>
          <p:nvPr/>
        </p:nvSpPr>
        <p:spPr>
          <a:xfrm>
            <a:off x="8214942" y="2019530"/>
            <a:ext cx="808036" cy="518343"/>
          </a:xfrm>
          <a:prstGeom prst="rect">
            <a:avLst/>
          </a:prstGeom>
          <a:noFill/>
          <a:ln w="44450">
            <a:solidFill>
              <a:srgbClr val="1F5FAD"/>
            </a:solidFill>
          </a:ln>
        </p:spPr>
        <p:txBody>
          <a:bodyPr rtlCol="0" anchor="ctr"/>
          <a:lstStyle/>
          <a:p>
            <a:pPr algn="ctr"/>
          </a:p>
        </p:txBody>
      </p:sp>
      <p:sp>
        <p:nvSpPr>
          <p:cNvPr id="15" name="Oval 14"/>
          <p:cNvSpPr/>
          <p:nvPr/>
        </p:nvSpPr>
        <p:spPr>
          <a:xfrm>
            <a:off x="9928079" y="2179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48443" y="20894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20042" y="188661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Hikkake, a trap or ensnaring in Lim's wording: an inside-bar breakout fails, and the entry is taken only in the opposite direction (p. 230).</a:t>
            </a:r>
          </a:p>
          <a:p>
            <a:pPr algn="l">
              <a:lnSpc>
                <a:spcPct val="118000"/>
              </a:lnSpc>
              <a:spcBef>
                <a:spcPts val="0"/>
              </a:spcBef>
              <a:spcAft>
                <a:spcPts val="1300"/>
              </a:spcAft>
            </a:pPr>
            <a:r>
              <a:rPr sz="2100" b="0" i="0">
                <a:solidFill>
                  <a:srgbClr val="1A1A1A"/>
                </a:solidFill>
                <a:latin typeface="Arial"/>
              </a:rPr>
              <a:t>Our bearish example has inside high PHP 52.00, inside low PHP 49.00, false high PHP 53.00, and re-entry below PHP 49.00 within three bars. The bullish converse follows a failed downside break.</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three-bar window is part of the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The worked PHP values are ours, invented.</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bearish Hikkake begins with an inside bar: </a:t>
            </a:r>
            <a:r>
              <a:rPr sz="1700" b="1" i="0">
                <a:solidFill>
                  <a:srgbClr val="E09B00"/>
                </a:solidFill>
                <a:latin typeface="Arial"/>
              </a:rPr>
              <a:t>(1)</a:t>
            </a:r>
            <a:r>
              <a:rPr sz="1700" b="0" i="0">
                <a:solidFill>
                  <a:srgbClr val="1A1A1A"/>
                </a:solidFill>
                <a:latin typeface="Arial"/>
              </a:rPr>
              <a:t> marks its high of PHP 52.00 and low of PHP 49.00. Price breaks above the inside high to PHP 53.00 at </a:t>
            </a:r>
            <a:r>
              <a:rPr sz="1700" b="1" i="0">
                <a:solidFill>
                  <a:srgbClr val="C62828"/>
                </a:solidFill>
                <a:latin typeface="Arial"/>
              </a:rPr>
              <a:t>(2)</a:t>
            </a:r>
            <a:r>
              <a:rPr sz="1700" b="0" i="0">
                <a:solidFill>
                  <a:srgbClr val="1A1A1A"/>
                </a:solidFill>
                <a:latin typeface="Arial"/>
              </a:rPr>
              <a:t>. Price re-enters below PHP 49.00 at </a:t>
            </a:r>
            <a:r>
              <a:rPr sz="1700" b="1" i="0">
                <a:solidFill>
                  <a:srgbClr val="1F5FAD"/>
                </a:solidFill>
                <a:latin typeface="Arial"/>
              </a:rPr>
              <a:t>(3)</a:t>
            </a:r>
            <a:r>
              <a:rPr sz="1700" b="0" i="0">
                <a:solidFill>
                  <a:srgbClr val="1A1A1A"/>
                </a:solidFill>
                <a:latin typeface="Arial"/>
              </a:rPr>
              <a:t> within three bars. The failed upside break is not the entry; the bearish entry is the opposite re-entry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downside breakout, and </a:t>
            </a:r>
            <a:r>
              <a:rPr sz="1700" b="1" i="0">
                <a:solidFill>
                  <a:srgbClr val="1F5FAD"/>
                </a:solidFill>
                <a:latin typeface="Arial"/>
              </a:rPr>
              <a:t>(3)</a:t>
            </a:r>
            <a:r>
              <a:rPr sz="1700" b="0" i="0">
                <a:solidFill>
                  <a:srgbClr val="1A1A1A"/>
                </a:solidFill>
                <a:latin typeface="Arial"/>
              </a:rPr>
              <a:t> the long re-entry above PHP 43.00. Its invented levels are high 43.00, low 40.00 and false low 39.00.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1623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5337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Bearish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bearish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upside breakout, and </a:t>
            </a:r>
            <a:r>
              <a:rPr sz="1700" b="1" i="0">
                <a:solidFill>
                  <a:srgbClr val="1F5FAD"/>
                </a:solidFill>
                <a:latin typeface="Arial"/>
              </a:rPr>
              <a:t>(3)</a:t>
            </a:r>
            <a:r>
              <a:rPr sz="1700" b="0" i="0">
                <a:solidFill>
                  <a:srgbClr val="1A1A1A"/>
                </a:solidFill>
                <a:latin typeface="Arial"/>
              </a:rPr>
              <a:t> the short re-entry below PHP 49.00. Its invented levels are high 52.00, low 49.00 and false high 53.00.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64778" y="2877433"/>
            <a:ext cx="1207585" cy="1509857"/>
          </a:xfrm>
          <a:prstGeom prst="rect">
            <a:avLst/>
          </a:prstGeom>
          <a:noFill/>
          <a:ln w="44450">
            <a:solidFill>
              <a:srgbClr val="E09B00"/>
            </a:solidFill>
          </a:ln>
        </p:spPr>
        <p:txBody>
          <a:bodyPr rtlCol="0" anchor="ctr"/>
          <a:lstStyle/>
          <a:p>
            <a:pPr algn="ctr"/>
          </a:p>
        </p:txBody>
      </p:sp>
      <p:sp>
        <p:nvSpPr>
          <p:cNvPr id="13" name="Oval 12"/>
          <p:cNvSpPr/>
          <p:nvPr/>
        </p:nvSpPr>
        <p:spPr>
          <a:xfrm>
            <a:off x="8619519" y="3790370"/>
            <a:ext cx="377370" cy="667146"/>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9638419" y="2807208"/>
            <a:ext cx="490582" cy="807598"/>
          </a:xfrm>
          <a:prstGeom prst="line">
            <a:avLst/>
          </a:prstGeom>
          <a:ln w="44450">
            <a:solidFill>
              <a:srgbClr val="1F5FAD"/>
            </a:solidFill>
            <a:tailEnd type="triangle" w="med" len="med"/>
          </a:ln>
        </p:spPr>
      </p:cxnSp>
      <p:sp>
        <p:nvSpPr>
          <p:cNvPr id="15" name="Oval 14"/>
          <p:cNvSpPr/>
          <p:nvPr/>
        </p:nvSpPr>
        <p:spPr>
          <a:xfrm>
            <a:off x="7407433"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43338" y="44074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247619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260985" y="2877433"/>
            <a:ext cx="905689" cy="1509857"/>
          </a:xfrm>
          <a:prstGeom prst="rect">
            <a:avLst/>
          </a:prstGeom>
          <a:noFill/>
          <a:ln w="44450">
            <a:solidFill>
              <a:srgbClr val="E09B00"/>
            </a:solidFill>
          </a:ln>
        </p:spPr>
        <p:txBody>
          <a:bodyPr rtlCol="0" anchor="ctr"/>
          <a:lstStyle/>
          <a:p>
            <a:pPr algn="ctr"/>
          </a:p>
        </p:txBody>
      </p:sp>
      <p:sp>
        <p:nvSpPr>
          <p:cNvPr id="13" name="Oval 12"/>
          <p:cNvSpPr/>
          <p:nvPr/>
        </p:nvSpPr>
        <p:spPr>
          <a:xfrm>
            <a:off x="8242148" y="2877433"/>
            <a:ext cx="905689" cy="70225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921415" y="3755257"/>
            <a:ext cx="1056638" cy="702260"/>
          </a:xfrm>
          <a:prstGeom prst="line">
            <a:avLst/>
          </a:prstGeom>
          <a:ln w="44450">
            <a:solidFill>
              <a:srgbClr val="1F5FAD"/>
            </a:solidFill>
            <a:tailEnd type="triangle" w="med" len="med"/>
          </a:ln>
        </p:spPr>
      </p:cxnSp>
      <p:sp>
        <p:nvSpPr>
          <p:cNvPr id="15" name="Oval 14"/>
          <p:cNvSpPr/>
          <p:nvPr/>
        </p:nvSpPr>
        <p:spPr>
          <a:xfrm>
            <a:off x="6879114"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8812"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45829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Hikkake formation at the channel bottom, red </a:t>
            </a:r>
            <a:r>
              <a:rPr sz="2000" b="1" i="0">
                <a:solidFill>
                  <a:srgbClr val="C62828"/>
                </a:solidFill>
                <a:latin typeface="Arial"/>
              </a:rPr>
              <a:t>(2)</a:t>
            </a:r>
            <a:r>
              <a:rPr sz="2000" b="0" i="0">
                <a:solidFill>
                  <a:srgbClr val="1A1A1A"/>
                </a:solidFill>
                <a:latin typeface="Arial"/>
              </a:rPr>
              <a:t> its failed downside breakout, and blue </a:t>
            </a:r>
            <a:r>
              <a:rPr sz="2000" b="1" i="0">
                <a:solidFill>
                  <a:srgbClr val="1F5FAD"/>
                </a:solidFill>
                <a:latin typeface="Arial"/>
              </a:rPr>
              <a:t>(3)</a:t>
            </a:r>
            <a:r>
              <a:rPr sz="2000" b="0" i="0">
                <a:solidFill>
                  <a:srgbClr val="1A1A1A"/>
                </a:solidFill>
                <a:latin typeface="Arial"/>
              </a:rPr>
              <a:t> the upside re-entry.</a:t>
            </a:r>
          </a:p>
          <a:p>
            <a:pPr algn="l">
              <a:lnSpc>
                <a:spcPct val="105000"/>
              </a:lnSpc>
              <a:spcBef>
                <a:spcPts val="0"/>
              </a:spcBef>
              <a:spcAft>
                <a:spcPts val="1100"/>
              </a:spcAft>
            </a:pPr>
            <a:r>
              <a:rPr sz="2000" b="0" i="0">
                <a:solidFill>
                  <a:srgbClr val="1A1A1A"/>
                </a:solidFill>
                <a:latin typeface="Arial"/>
              </a:rPr>
              <a:t>The re-entry is the signal described by the book. The indicator panels are shown by Lim, but this slide does not interpret their formulas.</a:t>
            </a:r>
          </a:p>
        </p:txBody>
      </p:sp>
      <p:sp>
        <p:nvSpPr>
          <p:cNvPr id="8" name="Rectangle 7"/>
          <p:cNvSpPr/>
          <p:nvPr/>
        </p:nvSpPr>
        <p:spPr>
          <a:xfrm>
            <a:off x="650005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892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892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9324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407018" y="3404128"/>
            <a:ext cx="340588" cy="491581"/>
          </a:xfrm>
          <a:prstGeom prst="rect">
            <a:avLst/>
          </a:prstGeom>
          <a:noFill/>
          <a:ln w="44450">
            <a:solidFill>
              <a:srgbClr val="E09B00"/>
            </a:solidFill>
          </a:ln>
        </p:spPr>
        <p:txBody>
          <a:bodyPr rtlCol="0" anchor="ctr"/>
          <a:lstStyle/>
          <a:p>
            <a:pPr algn="ctr"/>
          </a:p>
        </p:txBody>
      </p:sp>
      <p:sp>
        <p:nvSpPr>
          <p:cNvPr id="13" name="Oval 12"/>
          <p:cNvSpPr/>
          <p:nvPr/>
        </p:nvSpPr>
        <p:spPr>
          <a:xfrm>
            <a:off x="8619886" y="3755257"/>
            <a:ext cx="212868" cy="38624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832754" y="3263676"/>
            <a:ext cx="255442" cy="702259"/>
          </a:xfrm>
          <a:prstGeom prst="line">
            <a:avLst/>
          </a:prstGeom>
          <a:ln w="44450">
            <a:solidFill>
              <a:srgbClr val="1F5FAD"/>
            </a:solidFill>
            <a:tailEnd type="triangle" w="med" len="med"/>
          </a:ln>
        </p:spPr>
      </p:cxnSp>
      <p:sp>
        <p:nvSpPr>
          <p:cNvPr id="15" name="Oval 14"/>
          <p:cNvSpPr/>
          <p:nvPr/>
        </p:nvSpPr>
        <p:spPr>
          <a:xfrm>
            <a:off x="8038702" y="317845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47601" y="40913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03042" y="29677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65099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7.35. The crop and marks are for teaching; the worked PHP values are ours, invented.</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001542" y="2436876"/>
            <a:ext cx="1061354" cy="1769363"/>
          </a:xfrm>
          <a:prstGeom prst="rect">
            <a:avLst/>
          </a:prstGeom>
          <a:noFill/>
          <a:ln w="44450">
            <a:solidFill>
              <a:srgbClr val="E09B00"/>
            </a:solidFill>
          </a:ln>
        </p:spPr>
        <p:txBody>
          <a:bodyPr rtlCol="0" anchor="ctr"/>
          <a:lstStyle/>
          <a:p>
            <a:pPr algn="ctr"/>
          </a:p>
        </p:txBody>
      </p:sp>
      <p:sp>
        <p:nvSpPr>
          <p:cNvPr id="19" name="Oval 18"/>
          <p:cNvSpPr/>
          <p:nvPr/>
        </p:nvSpPr>
        <p:spPr>
          <a:xfrm>
            <a:off x="8151343" y="2436876"/>
            <a:ext cx="1061354"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47359" y="3465576"/>
            <a:ext cx="1238248" cy="822960"/>
          </a:xfrm>
          <a:prstGeom prst="line">
            <a:avLst/>
          </a:prstGeom>
          <a:ln w="44450">
            <a:solidFill>
              <a:srgbClr val="1F5FAD"/>
            </a:solidFill>
            <a:tailEnd type="triangle" w="med" len="med"/>
          </a:ln>
        </p:spPr>
      </p:cxnSp>
      <p:sp>
        <p:nvSpPr>
          <p:cNvPr id="21" name="Oval 20"/>
          <p:cNvSpPr/>
          <p:nvPr/>
        </p:nvSpPr>
        <p:spPr>
          <a:xfrm>
            <a:off x="6580756"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589"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428167"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229).</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6930785" y="2436876"/>
            <a:ext cx="1103809" cy="1769363"/>
          </a:xfrm>
          <a:prstGeom prst="rect">
            <a:avLst/>
          </a:prstGeom>
          <a:noFill/>
          <a:ln w="44450">
            <a:solidFill>
              <a:srgbClr val="E09B00"/>
            </a:solidFill>
          </a:ln>
        </p:spPr>
        <p:txBody>
          <a:bodyPr rtlCol="0" anchor="ctr"/>
          <a:lstStyle/>
          <a:p>
            <a:pPr algn="ctr"/>
          </a:p>
        </p:txBody>
      </p:sp>
      <p:sp>
        <p:nvSpPr>
          <p:cNvPr id="19" name="Oval 18"/>
          <p:cNvSpPr/>
          <p:nvPr/>
        </p:nvSpPr>
        <p:spPr>
          <a:xfrm>
            <a:off x="8126578" y="2436876"/>
            <a:ext cx="1103809"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54435" y="3465576"/>
            <a:ext cx="1287777" cy="822960"/>
          </a:xfrm>
          <a:prstGeom prst="line">
            <a:avLst/>
          </a:prstGeom>
          <a:ln w="44450">
            <a:solidFill>
              <a:srgbClr val="1F5FAD"/>
            </a:solidFill>
            <a:tailEnd type="triangle" w="med" len="med"/>
          </a:ln>
        </p:spPr>
      </p:cxnSp>
      <p:sp>
        <p:nvSpPr>
          <p:cNvPr id="21" name="Oval 20"/>
          <p:cNvSpPr/>
          <p:nvPr/>
        </p:nvSpPr>
        <p:spPr>
          <a:xfrm>
            <a:off x="6499385"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50892"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500693"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Williams' Oops starts with a gap beyond the previous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Oops gaps beyond the prior range. Sell-stop triggers below; buy-stop above; stoploss protects at the new extreme. Yesterday's high was PHP 52.00. Today opened PHP 53.00 </a:t>
            </a:r>
            <a:r>
              <a:rPr sz="1700" b="1" i="0">
                <a:solidFill>
                  <a:srgbClr val="E09B00"/>
                </a:solidFill>
                <a:latin typeface="Arial"/>
              </a:rPr>
              <a:t>(1)</a:t>
            </a:r>
            <a:r>
              <a:rPr sz="1700" b="0" i="0">
                <a:solidFill>
                  <a:srgbClr val="1A1A1A"/>
                </a:solidFill>
                <a:latin typeface="Arial"/>
              </a:rPr>
              <a:t>, reached PHP 54.00 </a:t>
            </a:r>
            <a:r>
              <a:rPr sz="1700" b="1" i="0">
                <a:solidFill>
                  <a:srgbClr val="1F5FAD"/>
                </a:solidFill>
                <a:latin typeface="Arial"/>
              </a:rPr>
              <a:t>(3)</a:t>
            </a:r>
            <a:r>
              <a:rPr sz="1700" b="0" i="0">
                <a:solidFill>
                  <a:srgbClr val="1A1A1A"/>
                </a:solidFill>
                <a:latin typeface="Arial"/>
              </a:rPr>
              <a:t>, then placed sell-stop PHP 52.00 </a:t>
            </a:r>
            <a:r>
              <a:rPr sz="1700" b="1" i="0">
                <a:solidFill>
                  <a:srgbClr val="C62828"/>
                </a:solidFill>
                <a:latin typeface="Arial"/>
              </a:rPr>
              <a:t>(2)</a:t>
            </a:r>
            <a:r>
              <a:rPr sz="1700" b="0" i="0">
                <a:solidFill>
                  <a:srgbClr val="1A1A1A"/>
                </a:solidFill>
                <a:latin typeface="Arial"/>
              </a:rPr>
              <a:t>. Above the stoploss, Lim says stop and reverse. He prefers bearish Oops in a downtrend.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7.36 shows both directions of Williams' Oops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13</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preceding Williams' Oops slide defined a buy-stop above its level and a stoploss at the new extreme.</a:t>
            </a:r>
          </a:p>
          <a:p>
            <a:pPr algn="l">
              <a:lnSpc>
                <a:spcPct val="105000"/>
              </a:lnSpc>
              <a:spcBef>
                <a:spcPts val="0"/>
              </a:spcBef>
              <a:spcAft>
                <a:spcPts val="1100"/>
              </a:spcAft>
            </a:pPr>
            <a:r>
              <a:rPr sz="1800" b="0" i="0">
                <a:solidFill>
                  <a:srgbClr val="1A1A1A"/>
                </a:solidFill>
                <a:latin typeface="Arial"/>
              </a:rPr>
              <a:t>Left: mark 1 is the gap down, mark 2 the buy-stop at the prior low, and mark 3 the stoploss at the new low. Right: the gap-up converse.</a:t>
            </a:r>
          </a:p>
          <a:p>
            <a:pPr algn="l">
              <a:lnSpc>
                <a:spcPct val="105000"/>
              </a:lnSpc>
              <a:spcBef>
                <a:spcPts val="0"/>
              </a:spcBef>
              <a:spcAft>
                <a:spcPts val="1100"/>
              </a:spcAft>
            </a:pPr>
            <a:r>
              <a:rPr sz="1800" b="0" i="0">
                <a:solidFill>
                  <a:srgbClr val="1A1A1A"/>
                </a:solidFill>
                <a:latin typeface="Arial"/>
              </a:rPr>
              <a:t>Lim says to stop and reverse at the stoploss. Figure 7.36 shows sequence, not result.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gap direction changes, but the order locations reverse exactly.</a:t>
            </a:r>
          </a:p>
        </p:txBody>
      </p:sp>
      <p:sp>
        <p:nvSpPr>
          <p:cNvPr id="10" name="TextBox 9"/>
          <p:cNvSpPr txBox="1"/>
          <p:nvPr/>
        </p:nvSpPr>
        <p:spPr>
          <a:xfrm>
            <a:off x="777240" y="5603748"/>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231, Figure 7.36. The marks are for teaching.</a:t>
            </a:r>
          </a:p>
        </p:txBody>
      </p:sp>
      <p:sp>
        <p:nvSpPr>
          <p:cNvPr id="11" name="Rectangle 10"/>
          <p:cNvSpPr/>
          <p:nvPr/>
        </p:nvSpPr>
        <p:spPr>
          <a:xfrm>
            <a:off x="7315199" y="1810512"/>
            <a:ext cx="4190694" cy="217125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952950" cy="1933508"/>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434071" y="1929384"/>
            <a:ext cx="395295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708392" y="2203703"/>
            <a:ext cx="3404310" cy="147630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100" b="0" i="0">
                <a:solidFill>
                  <a:srgbClr val="1A1A1A"/>
                </a:solidFill>
                <a:latin typeface="Palatino"/>
              </a:rPr>
              <a:t>The book's two Williams' Oops schematics: a gap below the prior range with a buy-stop at the prior low, and a gap above it with a sell-stop at the prior high; each stoploss is at the new extreme.</a:t>
            </a:r>
          </a:p>
        </p:txBody>
      </p:sp>
      <p:cxnSp>
        <p:nvCxnSpPr>
          <p:cNvPr id="15" name="Connector 14"/>
          <p:cNvCxnSpPr/>
          <p:nvPr/>
        </p:nvCxnSpPr>
        <p:spPr>
          <a:xfrm>
            <a:off x="7671249" y="3128159"/>
            <a:ext cx="711531" cy="0"/>
          </a:xfrm>
          <a:prstGeom prst="line">
            <a:avLst/>
          </a:prstGeom>
          <a:ln w="44450">
            <a:solidFill>
              <a:srgbClr val="E09B00"/>
            </a:solidFill>
            <a:tailEnd type="triangle" w="med" len="med"/>
          </a:ln>
        </p:spPr>
      </p:cxnSp>
      <p:cxnSp>
        <p:nvCxnSpPr>
          <p:cNvPr id="16" name="Connector 15"/>
          <p:cNvCxnSpPr/>
          <p:nvPr/>
        </p:nvCxnSpPr>
        <p:spPr>
          <a:xfrm>
            <a:off x="8027014" y="2876803"/>
            <a:ext cx="830120" cy="0"/>
          </a:xfrm>
          <a:prstGeom prst="line">
            <a:avLst/>
          </a:prstGeom>
          <a:ln w="44450">
            <a:solidFill>
              <a:srgbClr val="C62828"/>
            </a:solidFill>
          </a:ln>
        </p:spPr>
      </p:cxnSp>
      <p:cxnSp>
        <p:nvCxnSpPr>
          <p:cNvPr id="17" name="Connector 16"/>
          <p:cNvCxnSpPr/>
          <p:nvPr/>
        </p:nvCxnSpPr>
        <p:spPr>
          <a:xfrm>
            <a:off x="8027014" y="3321510"/>
            <a:ext cx="830120" cy="0"/>
          </a:xfrm>
          <a:prstGeom prst="line">
            <a:avLst/>
          </a:prstGeom>
          <a:ln w="44450">
            <a:solidFill>
              <a:srgbClr val="1F5FAD"/>
            </a:solidFill>
          </a:ln>
        </p:spPr>
      </p:cxnSp>
      <p:sp>
        <p:nvSpPr>
          <p:cNvPr id="18" name="Oval 17"/>
          <p:cNvSpPr/>
          <p:nvPr/>
        </p:nvSpPr>
        <p:spPr>
          <a:xfrm>
            <a:off x="7771266" y="281698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996680" y="260429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36210" y="331969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315199" y="4073204"/>
            <a:ext cx="41906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numbered marks are for teaching.</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preceding slide defines buy-stop and stoploss. After a gap down, the bullish Oops reverses the order. Yesterday's low was PHP 48.00. Today opened PHP 47.00 </a:t>
            </a:r>
            <a:r>
              <a:rPr sz="1700" b="1" i="0">
                <a:solidFill>
                  <a:srgbClr val="E09B00"/>
                </a:solidFill>
                <a:latin typeface="Arial"/>
              </a:rPr>
              <a:t>(1)</a:t>
            </a:r>
            <a:r>
              <a:rPr sz="1700" b="0" i="0">
                <a:solidFill>
                  <a:srgbClr val="1A1A1A"/>
                </a:solidFill>
                <a:latin typeface="Arial"/>
              </a:rPr>
              <a:t>, reached PHP 46.00 </a:t>
            </a:r>
            <a:r>
              <a:rPr sz="1700" b="1" i="0">
                <a:solidFill>
                  <a:srgbClr val="1F5FAD"/>
                </a:solidFill>
                <a:latin typeface="Arial"/>
              </a:rPr>
              <a:t>(3)</a:t>
            </a:r>
            <a:r>
              <a:rPr sz="1700" b="0" i="0">
                <a:solidFill>
                  <a:srgbClr val="1A1A1A"/>
                </a:solidFill>
                <a:latin typeface="Arial"/>
              </a:rPr>
              <a:t>, and placed buy-stop PHP 48.00 </a:t>
            </a:r>
            <a:r>
              <a:rPr sz="1700" b="1" i="0">
                <a:solidFill>
                  <a:srgbClr val="C62828"/>
                </a:solidFill>
                <a:latin typeface="Arial"/>
              </a:rPr>
              <a:t>(2)</a:t>
            </a:r>
            <a:r>
              <a:rPr sz="1700" b="0" i="0">
                <a:solidFill>
                  <a:srgbClr val="1A1A1A"/>
                </a:solidFill>
                <a:latin typeface="Arial"/>
              </a:rPr>
              <a:t>. Below the stoploss, Lim says stop and reverse. He prefers bullish Oops in an uptrend.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7.37 applies the bearish Oops rule to a daily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7.37 applies the preceding bearish Oops rule to Dynegy. Marks 1, 2, and 3 show the gap, sell-stop, and stop-and-reverse high.</a:t>
            </a:r>
          </a:p>
          <a:p>
            <a:pPr algn="l">
              <a:lnSpc>
                <a:spcPct val="105000"/>
              </a:lnSpc>
              <a:spcBef>
                <a:spcPts val="0"/>
              </a:spcBef>
              <a:spcAft>
                <a:spcPts val="1100"/>
              </a:spcAft>
            </a:pPr>
            <a:r>
              <a:rPr sz="2000" b="0" i="0">
                <a:solidFill>
                  <a:srgbClr val="1A1A1A"/>
                </a:solidFill>
                <a:latin typeface="Arial"/>
              </a:rPr>
              <a:t>That downside path is the book's example, not a promise; Chapter 7 leaves the four candlestick companions undefined.</a:t>
            </a:r>
          </a:p>
        </p:txBody>
      </p:sp>
      <p:sp>
        <p:nvSpPr>
          <p:cNvPr id="8" name="Rectangle 7"/>
          <p:cNvSpPr/>
          <p:nvPr/>
        </p:nvSpPr>
        <p:spPr>
          <a:xfrm>
            <a:off x="5486399" y="1810512"/>
            <a:ext cx="6019494" cy="284338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605271" y="1929384"/>
            <a:ext cx="5781751" cy="2605642"/>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605271" y="1929384"/>
            <a:ext cx="57817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79591" y="2203703"/>
            <a:ext cx="5233111" cy="214844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daily Dynegy chart marked at the bearish Oops opening gap, sell-stop at the prior high, stop-and-reverse buy level, and expected downside move.</a:t>
            </a:r>
          </a:p>
        </p:txBody>
      </p:sp>
      <p:sp>
        <p:nvSpPr>
          <p:cNvPr id="12" name="Oval 11"/>
          <p:cNvSpPr/>
          <p:nvPr/>
        </p:nvSpPr>
        <p:spPr>
          <a:xfrm>
            <a:off x="9854858" y="3362487"/>
            <a:ext cx="317996" cy="338733"/>
          </a:xfrm>
          <a:prstGeom prst="ellipse">
            <a:avLst/>
          </a:prstGeom>
          <a:noFill/>
          <a:ln w="44450">
            <a:solidFill>
              <a:srgbClr val="E09B00"/>
            </a:solidFill>
          </a:ln>
        </p:spPr>
        <p:txBody>
          <a:bodyPr rtlCol="0" anchor="ctr"/>
          <a:lstStyle/>
          <a:p>
            <a:pPr algn="ctr"/>
          </a:p>
        </p:txBody>
      </p:sp>
      <p:cxnSp>
        <p:nvCxnSpPr>
          <p:cNvPr id="13" name="Connector 12"/>
          <p:cNvCxnSpPr/>
          <p:nvPr/>
        </p:nvCxnSpPr>
        <p:spPr>
          <a:xfrm>
            <a:off x="10115037" y="3531854"/>
            <a:ext cx="751628" cy="0"/>
          </a:xfrm>
          <a:prstGeom prst="line">
            <a:avLst/>
          </a:prstGeom>
          <a:ln w="44450">
            <a:solidFill>
              <a:srgbClr val="C62828"/>
            </a:solidFill>
          </a:ln>
        </p:spPr>
      </p:cxnSp>
      <p:cxnSp>
        <p:nvCxnSpPr>
          <p:cNvPr id="14" name="Connector 13"/>
          <p:cNvCxnSpPr/>
          <p:nvPr/>
        </p:nvCxnSpPr>
        <p:spPr>
          <a:xfrm>
            <a:off x="10115037" y="3401571"/>
            <a:ext cx="751628" cy="0"/>
          </a:xfrm>
          <a:prstGeom prst="line">
            <a:avLst/>
          </a:prstGeom>
          <a:ln w="44450">
            <a:solidFill>
              <a:srgbClr val="1F5FAD"/>
            </a:solidFill>
          </a:ln>
        </p:spPr>
      </p:cxnSp>
      <p:sp>
        <p:nvSpPr>
          <p:cNvPr id="15" name="Oval 14"/>
          <p:cNvSpPr/>
          <p:nvPr/>
        </p:nvSpPr>
        <p:spPr>
          <a:xfrm>
            <a:off x="9399702" y="361617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62242" y="369434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862242" y="2704198"/>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486399" y="4745338"/>
            <a:ext cx="60194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for teaching.</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trend gives Williams' Oops its preferred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13</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gives an Oops context. Figure 7.36 shows bullish buy setup </a:t>
            </a:r>
            <a:r>
              <a:rPr sz="1700" b="1" i="0">
                <a:solidFill>
                  <a:srgbClr val="E09B00"/>
                </a:solidFill>
                <a:latin typeface="Arial"/>
              </a:rPr>
              <a:t>(1)</a:t>
            </a:r>
            <a:r>
              <a:rPr sz="1700" b="0" i="0">
                <a:solidFill>
                  <a:srgbClr val="1A1A1A"/>
                </a:solidFill>
                <a:latin typeface="Arial"/>
              </a:rPr>
              <a:t> and bearish sell setup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Lim prefers bullish Oops in an uptrend and bearish Oops in a downtrend, but those trends are not drawn here.</a:t>
            </a:r>
          </a:p>
          <a:p>
            <a:pPr algn="l">
              <a:lnSpc>
                <a:spcPct val="105000"/>
              </a:lnSpc>
              <a:spcBef>
                <a:spcPts val="0"/>
              </a:spcBef>
              <a:spcAft>
                <a:spcPts val="1100"/>
              </a:spcAft>
            </a:pPr>
            <a:r>
              <a:rPr sz="1700" b="0" i="0">
                <a:solidFill>
                  <a:srgbClr val="1A1A1A"/>
                </a:solidFill>
                <a:latin typeface="Arial"/>
              </a:rPr>
              <a:t>The book names morning star, evening star, piercing line, and dark cloud cover; Chapter 7 defines none of them. Next comes ID/NR.</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9253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trend supplies context, while the chapter leaves the companion definitions open.</a:t>
            </a:r>
          </a:p>
        </p:txBody>
      </p:sp>
      <p:sp>
        <p:nvSpPr>
          <p:cNvPr id="10" name="TextBox 9"/>
          <p:cNvSpPr txBox="1"/>
          <p:nvPr/>
        </p:nvSpPr>
        <p:spPr>
          <a:xfrm>
            <a:off x="777240" y="5461254"/>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231. The named candlestick companions are not defined in this chapter.</a:t>
            </a:r>
          </a:p>
        </p:txBody>
      </p:sp>
      <p:sp>
        <p:nvSpPr>
          <p:cNvPr id="11" name="Rectangle 10"/>
          <p:cNvSpPr/>
          <p:nvPr/>
        </p:nvSpPr>
        <p:spPr>
          <a:xfrm>
            <a:off x="7315199" y="1810512"/>
            <a:ext cx="4144974" cy="214888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907231" cy="191114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434071" y="1929384"/>
            <a:ext cx="39072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708392" y="2203703"/>
            <a:ext cx="3358590" cy="14539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300" b="0" i="0">
                <a:solidFill>
                  <a:srgbClr val="1A1A1A"/>
                </a:solidFill>
                <a:latin typeface="Palatino"/>
              </a:rPr>
              <a:t>Figure 7.36's two Oops panels, with marks on the bullish and bearish setups; the chapter's named candlestick companions are not shown or defined here.</a:t>
            </a:r>
          </a:p>
        </p:txBody>
      </p:sp>
      <p:sp>
        <p:nvSpPr>
          <p:cNvPr id="15" name="Oval 14"/>
          <p:cNvSpPr/>
          <p:nvPr/>
        </p:nvSpPr>
        <p:spPr>
          <a:xfrm>
            <a:off x="8410879" y="2751176"/>
            <a:ext cx="312578" cy="229337"/>
          </a:xfrm>
          <a:prstGeom prst="ellipse">
            <a:avLst/>
          </a:prstGeom>
          <a:noFill/>
          <a:ln w="44450">
            <a:solidFill>
              <a:srgbClr val="E09B00"/>
            </a:solidFill>
          </a:ln>
        </p:spPr>
        <p:txBody>
          <a:bodyPr rtlCol="0" anchor="ctr"/>
          <a:lstStyle/>
          <a:p>
            <a:pPr algn="ctr"/>
          </a:p>
        </p:txBody>
      </p:sp>
      <p:sp>
        <p:nvSpPr>
          <p:cNvPr id="16" name="Oval 15"/>
          <p:cNvSpPr/>
          <p:nvPr/>
        </p:nvSpPr>
        <p:spPr>
          <a:xfrm>
            <a:off x="10130061" y="2751176"/>
            <a:ext cx="312578" cy="229337"/>
          </a:xfrm>
          <a:prstGeom prst="ellipse">
            <a:avLst/>
          </a:prstGeom>
          <a:noFill/>
          <a:ln w="44450">
            <a:solidFill>
              <a:srgbClr val="C62828"/>
            </a:solidFill>
          </a:ln>
        </p:spPr>
        <p:txBody>
          <a:bodyPr rtlCol="0" anchor="ctr"/>
          <a:lstStyle/>
          <a:p>
            <a:pPr algn="ctr"/>
          </a:p>
        </p:txBody>
      </p:sp>
      <p:sp>
        <p:nvSpPr>
          <p:cNvPr id="17" name="Oval 16"/>
          <p:cNvSpPr/>
          <p:nvPr/>
        </p:nvSpPr>
        <p:spPr>
          <a:xfrm>
            <a:off x="8078358" y="251845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78986" y="251845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7315199" y="4050841"/>
            <a:ext cx="41449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7.36 -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numbered marks are for teaching.</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combines an inside day with a narrow recent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Williams' Oops, ID/NR asks whether an inside day stays within the prior range and has the narrowest range in n days. Six invented ranges are 4.0, 3.2, 2.8, 2.1, 1.6, and 1.2 PHP.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13</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combines an inside day with a narrow recent range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6 is inside bar 5 </a:t>
            </a:r>
            <a:r>
              <a:rPr sz="1700" b="1" i="0">
                <a:solidFill>
                  <a:srgbClr val="E09B00"/>
                </a:solidFill>
                <a:latin typeface="Arial"/>
              </a:rPr>
              <a:t>(1)</a:t>
            </a:r>
            <a:r>
              <a:rPr sz="1700" b="0" i="0">
                <a:solidFill>
                  <a:srgbClr val="1A1A1A"/>
                </a:solidFill>
                <a:latin typeface="Arial"/>
              </a:rPr>
              <a:t> and narrowest </a:t>
            </a:r>
            <a:r>
              <a:rPr sz="1700" b="1" i="0">
                <a:solidFill>
                  <a:srgbClr val="C62828"/>
                </a:solidFill>
                <a:latin typeface="Arial"/>
              </a:rPr>
              <a:t>(2)</a:t>
            </a:r>
            <a:r>
              <a:rPr sz="1700" b="0" i="0">
                <a:solidFill>
                  <a:srgbClr val="1A1A1A"/>
                </a:solidFill>
                <a:latin typeface="Arial"/>
              </a:rPr>
              <a:t>. The final bar </a:t>
            </a:r>
            <a:r>
              <a:rPr sz="1700" b="1" i="0">
                <a:solidFill>
                  <a:srgbClr val="1F5FAD"/>
                </a:solidFill>
                <a:latin typeface="Arial"/>
              </a:rPr>
              <a:t>(3)</a:t>
            </a:r>
            <a:r>
              <a:rPr sz="1700" b="0" i="0">
                <a:solidFill>
                  <a:srgbClr val="1A1A1A"/>
                </a:solidFill>
                <a:latin typeface="Arial"/>
              </a:rPr>
              <a:t> can break up or down; ID/NR is neutral before its trigger.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520825"/>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880091" y="339665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0091" y="3644990"/>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15415" y="3332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Oval 12"/>
          <p:cNvSpPr/>
          <p:nvPr/>
        </p:nvSpPr>
        <p:spPr>
          <a:xfrm>
            <a:off x="10058312" y="3289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56086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7.38 names the six-bar ID/NR6 window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13</a:t>
            </a:r>
          </a:p>
        </p:txBody>
      </p:sp>
      <p:sp>
        <p:nvSpPr>
          <p:cNvPr id="7" name="TextBox 6"/>
          <p:cNvSpPr txBox="1"/>
          <p:nvPr/>
        </p:nvSpPr>
        <p:spPr>
          <a:xfrm>
            <a:off x="777240" y="1965960"/>
            <a:ext cx="59436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ID/NR6 is an inside day with the narrowest range in six bars. Mark 1 counts bars, mark 2 shows containment, and mark 3 the narrowest bar.</a:t>
            </a:r>
          </a:p>
          <a:p>
            <a:pPr algn="l">
              <a:lnSpc>
                <a:spcPct val="105000"/>
              </a:lnSpc>
              <a:spcBef>
                <a:spcPts val="0"/>
              </a:spcBef>
              <a:spcAft>
                <a:spcPts val="1100"/>
              </a:spcAft>
            </a:pPr>
            <a:r>
              <a:rPr sz="1700" b="0" i="0">
                <a:solidFill>
                  <a:srgbClr val="1A1A1A"/>
                </a:solidFill>
                <a:latin typeface="Arial"/>
              </a:rPr>
              <a:t>Lim calls this a volatility breakout because recent movement has compressed. Before the breakout it is neutral, so either direction remains possible.</a:t>
            </a:r>
          </a:p>
          <a:p>
            <a:pPr algn="l">
              <a:lnSpc>
                <a:spcPct val="105000"/>
              </a:lnSpc>
              <a:spcBef>
                <a:spcPts val="0"/>
              </a:spcBef>
              <a:spcAft>
                <a:spcPts val="1100"/>
              </a:spcAft>
            </a:pPr>
            <a:r>
              <a:rPr sz="1700" b="0" i="0">
                <a:solidFill>
                  <a:srgbClr val="1A1A1A"/>
                </a:solidFill>
                <a:latin typeface="Arial"/>
              </a:rPr>
              <a:t>Read the window and inside condition first. The number 6 names the count, not the direction.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6509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ID/NR6 names a six-bar count and a compressed range, not a forecast direction.</a:t>
            </a:r>
          </a:p>
        </p:txBody>
      </p:sp>
      <p:sp>
        <p:nvSpPr>
          <p:cNvPr id="10" name="TextBox 9"/>
          <p:cNvSpPr txBox="1"/>
          <p:nvPr/>
        </p:nvSpPr>
        <p:spPr>
          <a:xfrm>
            <a:off x="777240" y="5733288"/>
            <a:ext cx="59436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Figure 7.38.</a:t>
            </a:r>
          </a:p>
        </p:txBody>
      </p:sp>
      <p:sp>
        <p:nvSpPr>
          <p:cNvPr id="11" name="Rectangle 10"/>
          <p:cNvSpPr/>
          <p:nvPr/>
        </p:nvSpPr>
        <p:spPr>
          <a:xfrm>
            <a:off x="7508253" y="1810512"/>
            <a:ext cx="3575988"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27125" y="1929384"/>
            <a:ext cx="3338244"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627125" y="1929384"/>
            <a:ext cx="3338244"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01445" y="2203703"/>
            <a:ext cx="278960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5" name="Rectangle 14"/>
          <p:cNvSpPr/>
          <p:nvPr/>
        </p:nvSpPr>
        <p:spPr>
          <a:xfrm>
            <a:off x="7627125" y="2069835"/>
            <a:ext cx="1435445" cy="2809036"/>
          </a:xfrm>
          <a:prstGeom prst="rect">
            <a:avLst/>
          </a:prstGeom>
          <a:noFill/>
          <a:ln w="44450">
            <a:solidFill>
              <a:srgbClr val="E09B00"/>
            </a:solidFill>
          </a:ln>
        </p:spPr>
        <p:txBody>
          <a:bodyPr rtlCol="0" anchor="ctr"/>
          <a:lstStyle/>
          <a:p>
            <a:pPr algn="ctr"/>
          </a:p>
        </p:txBody>
      </p:sp>
      <p:sp>
        <p:nvSpPr>
          <p:cNvPr id="16" name="Rectangle 15"/>
          <p:cNvSpPr/>
          <p:nvPr/>
        </p:nvSpPr>
        <p:spPr>
          <a:xfrm>
            <a:off x="8828893" y="3825483"/>
            <a:ext cx="233677" cy="737372"/>
          </a:xfrm>
          <a:prstGeom prst="rect">
            <a:avLst/>
          </a:prstGeom>
          <a:noFill/>
          <a:ln w="44450">
            <a:solidFill>
              <a:srgbClr val="C62828"/>
            </a:solidFill>
          </a:ln>
        </p:spPr>
        <p:txBody>
          <a:bodyPr rtlCol="0" anchor="ctr"/>
          <a:lstStyle/>
          <a:p>
            <a:pPr algn="ctr"/>
          </a:p>
        </p:txBody>
      </p:sp>
      <p:sp>
        <p:nvSpPr>
          <p:cNvPr id="17" name="Rectangle 16"/>
          <p:cNvSpPr/>
          <p:nvPr/>
        </p:nvSpPr>
        <p:spPr>
          <a:xfrm>
            <a:off x="8962423" y="3298789"/>
            <a:ext cx="300441" cy="1509857"/>
          </a:xfrm>
          <a:prstGeom prst="rect">
            <a:avLst/>
          </a:prstGeom>
          <a:noFill/>
          <a:ln w="44450">
            <a:solidFill>
              <a:srgbClr val="1F5FAD"/>
            </a:solidFill>
          </a:ln>
        </p:spPr>
        <p:txBody>
          <a:bodyPr rtlCol="0" anchor="ctr"/>
          <a:lstStyle/>
          <a:p>
            <a:pPr algn="ctr"/>
          </a:p>
        </p:txBody>
      </p:sp>
      <p:sp>
        <p:nvSpPr>
          <p:cNvPr id="18" name="Oval 17"/>
          <p:cNvSpPr/>
          <p:nvPr/>
        </p:nvSpPr>
        <p:spPr>
          <a:xfrm>
            <a:off x="9092322" y="495239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58940" y="347764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325999" y="298606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040879" y="5650991"/>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7.38 -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numbered marks are for teaching.</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number in ID/NR tells us how far back to count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ID/NR4 through ID/NR7 use the same idea with different look-back windows. Each version counts its named number of bars and needs an inside day.</a:t>
            </a:r>
          </a:p>
          <a:p>
            <a:pPr algn="l">
              <a:lnSpc>
                <a:spcPct val="118000"/>
              </a:lnSpc>
              <a:spcBef>
                <a:spcPts val="0"/>
              </a:spcBef>
              <a:spcAft>
                <a:spcPts val="1300"/>
              </a:spcAft>
            </a:pPr>
            <a:r>
              <a:rPr sz="2100" b="0" i="0">
                <a:solidFill>
                  <a:srgbClr val="1A1A1A"/>
                </a:solidFill>
                <a:latin typeface="Arial"/>
              </a:rPr>
              <a:t>NR4 counts four bars and its narrowest range is 1.6 PHP. NR5 counts five bars and reaches 1.2 PHP. NR6 counts six bars and remains at 1.2 PHP. NR7 counts seven bars and reaches 1.0 PHP.</a:t>
            </a:r>
          </a:p>
          <a:p>
            <a:pPr algn="l">
              <a:lnSpc>
                <a:spcPct val="118000"/>
              </a:lnSpc>
              <a:spcBef>
                <a:spcPts val="0"/>
              </a:spcBef>
              <a:spcAft>
                <a:spcPts val="1300"/>
              </a:spcAft>
            </a:pPr>
            <a:r>
              <a:rPr sz="2100" b="0" i="0">
                <a:solidFill>
                  <a:srgbClr val="1A1A1A"/>
                </a:solidFill>
                <a:latin typeface="Arial"/>
              </a:rPr>
              <a:t>These are invented comparison values. The later breakout reveals direction.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changes; the neutral-before-breakout rule does not.</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Lim (2016), p. 232. The comparative ranges are invented for teaching.</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The comparative ranges are invented for teaching.</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ID/NR setup has no direction until price breaks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13</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ID/NR shows compressed range, not sentiment. Figure 7.38 mark 1 is narrowest; mark 2 is containment.</a:t>
            </a:r>
          </a:p>
          <a:p>
            <a:pPr algn="l">
              <a:lnSpc>
                <a:spcPct val="105000"/>
              </a:lnSpc>
              <a:spcBef>
                <a:spcPts val="0"/>
              </a:spcBef>
              <a:spcAft>
                <a:spcPts val="1100"/>
              </a:spcAft>
            </a:pPr>
            <a:r>
              <a:rPr sz="2000" b="0" i="0">
                <a:solidFill>
                  <a:srgbClr val="1A1A1A"/>
                </a:solidFill>
                <a:latin typeface="Arial"/>
              </a:rPr>
              <a:t>Before breakout, mark 3 shows either direction. Direction comes later.</a:t>
            </a:r>
          </a:p>
          <a:p>
            <a:pPr algn="l">
              <a:lnSpc>
                <a:spcPct val="105000"/>
              </a:lnSpc>
              <a:spcBef>
                <a:spcPts val="0"/>
              </a:spcBef>
              <a:spcAft>
                <a:spcPts val="1100"/>
              </a:spcAft>
            </a:pPr>
            <a:r>
              <a:rPr sz="2000" b="0" i="0">
                <a:solidFill>
                  <a:srgbClr val="1A1A1A"/>
                </a:solidFill>
                <a:latin typeface="Arial"/>
              </a:rPr>
              <a:t>Count, confirm inside, then wait for the trigger.</a:t>
            </a:r>
          </a:p>
        </p:txBody>
      </p:sp>
      <p:sp>
        <p:nvSpPr>
          <p:cNvPr id="8" name="Rectangle 7"/>
          <p:cNvSpPr/>
          <p:nvPr/>
        </p:nvSpPr>
        <p:spPr>
          <a:xfrm>
            <a:off x="777240" y="426110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9768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ID/NR is neutral first and directional only after the breakout.</a:t>
            </a:r>
          </a:p>
        </p:txBody>
      </p:sp>
      <p:sp>
        <p:nvSpPr>
          <p:cNvPr id="10" name="TextBox 9"/>
          <p:cNvSpPr txBox="1"/>
          <p:nvPr/>
        </p:nvSpPr>
        <p:spPr>
          <a:xfrm>
            <a:off x="777240" y="5248656"/>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ID/NR has no bearish or bullish sentiment before its breakout.</a:t>
            </a:r>
          </a:p>
        </p:txBody>
      </p:sp>
      <p:sp>
        <p:nvSpPr>
          <p:cNvPr id="11" name="Rectangle 10"/>
          <p:cNvSpPr/>
          <p:nvPr/>
        </p:nvSpPr>
        <p:spPr>
          <a:xfrm>
            <a:off x="7730951" y="1810512"/>
            <a:ext cx="3679232"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9823" y="1929384"/>
            <a:ext cx="3441488"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849823" y="1929384"/>
            <a:ext cx="3441488"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124143" y="2203703"/>
            <a:ext cx="289284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schematic, with the narrowest inside bar and both possible trigger directions visible.</a:t>
            </a:r>
          </a:p>
        </p:txBody>
      </p:sp>
      <p:cxnSp>
        <p:nvCxnSpPr>
          <p:cNvPr id="15" name="Connector 14"/>
          <p:cNvCxnSpPr/>
          <p:nvPr/>
        </p:nvCxnSpPr>
        <p:spPr>
          <a:xfrm>
            <a:off x="9088759" y="3965935"/>
            <a:ext cx="0" cy="561808"/>
          </a:xfrm>
          <a:prstGeom prst="line">
            <a:avLst/>
          </a:prstGeom>
          <a:ln w="44450">
            <a:solidFill>
              <a:srgbClr val="E09B00"/>
            </a:solidFill>
          </a:ln>
        </p:spPr>
      </p:cxnSp>
      <p:sp>
        <p:nvSpPr>
          <p:cNvPr id="16" name="Rectangle 15"/>
          <p:cNvSpPr/>
          <p:nvPr/>
        </p:nvSpPr>
        <p:spPr>
          <a:xfrm>
            <a:off x="9019929" y="3825483"/>
            <a:ext cx="309734" cy="737372"/>
          </a:xfrm>
          <a:prstGeom prst="rect">
            <a:avLst/>
          </a:prstGeom>
          <a:noFill/>
          <a:ln w="44450">
            <a:solidFill>
              <a:srgbClr val="C62828"/>
            </a:solidFill>
          </a:ln>
        </p:spPr>
        <p:txBody>
          <a:bodyPr rtlCol="0" anchor="ctr"/>
          <a:lstStyle/>
          <a:p>
            <a:pPr algn="ctr"/>
          </a:p>
        </p:txBody>
      </p:sp>
      <p:sp>
        <p:nvSpPr>
          <p:cNvPr id="17" name="Rectangle 16"/>
          <p:cNvSpPr/>
          <p:nvPr/>
        </p:nvSpPr>
        <p:spPr>
          <a:xfrm>
            <a:off x="9467322" y="3825483"/>
            <a:ext cx="791542" cy="877824"/>
          </a:xfrm>
          <a:prstGeom prst="rect">
            <a:avLst/>
          </a:prstGeom>
          <a:noFill/>
          <a:ln w="44450">
            <a:solidFill>
              <a:srgbClr val="1F5FAD"/>
            </a:solidFill>
          </a:ln>
        </p:spPr>
        <p:txBody>
          <a:bodyPr rtlCol="0" anchor="ctr"/>
          <a:lstStyle/>
          <a:p>
            <a:pPr algn="ctr"/>
          </a:p>
        </p:txBody>
      </p:sp>
      <p:sp>
        <p:nvSpPr>
          <p:cNvPr id="18" name="Oval 17"/>
          <p:cNvSpPr/>
          <p:nvPr/>
        </p:nvSpPr>
        <p:spPr>
          <a:xfrm>
            <a:off x="8779524" y="354787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30162" y="347764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224949" y="365321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680960" y="5650991"/>
            <a:ext cx="37792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7.38 -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numbered marks are for teaching.</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Inside Month/NR5 carries the same range idea to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Inside Month applies ID/NR to monthly bars. The timeframe changes; the rules stay. Invented ranges are 12, 10, 9, 7, and 5 PHP.</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13</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Inside Month/NR5 carries the same range idea to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5 is inside bar 4 and narrowest </a:t>
            </a:r>
            <a:r>
              <a:rPr sz="1700" b="1" i="0">
                <a:solidFill>
                  <a:srgbClr val="E09B00"/>
                </a:solidFill>
                <a:latin typeface="Arial"/>
              </a:rPr>
              <a:t>(1)</a:t>
            </a:r>
            <a:r>
              <a:rPr sz="1700" b="0" i="0">
                <a:solidFill>
                  <a:srgbClr val="1A1A1A"/>
                </a:solidFill>
                <a:latin typeface="Arial"/>
              </a:rPr>
              <a:t> </a:t>
            </a:r>
            <a:r>
              <a:rPr sz="1700" b="1" i="0">
                <a:solidFill>
                  <a:srgbClr val="C62828"/>
                </a:solidFill>
                <a:latin typeface="Arial"/>
              </a:rPr>
              <a:t>(2)</a:t>
            </a:r>
            <a:r>
              <a:rPr sz="1700" b="0" i="0">
                <a:solidFill>
                  <a:srgbClr val="1A1A1A"/>
                </a:solidFill>
                <a:latin typeface="Arial"/>
              </a:rPr>
              <a:t>. Bar 6 moves up PHP 8.00 </a:t>
            </a:r>
            <a:r>
              <a:rPr sz="1700" b="1" i="0">
                <a:solidFill>
                  <a:srgbClr val="1F5FAD"/>
                </a:solidFill>
                <a:latin typeface="Arial"/>
              </a:rPr>
              <a:t>(3)</a:t>
            </a:r>
            <a:r>
              <a:rPr sz="1700" b="0" i="0">
                <a:solidFill>
                  <a:srgbClr val="1A1A1A"/>
                </a:solidFill>
                <a:latin typeface="Arial"/>
              </a:rPr>
              <a:t>. Figure 7.39 is a separate Dynegy example.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90022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33710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25297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5141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777240" y="5961888"/>
            <a:ext cx="10637215"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13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7.39 applies ID/NR to five monthly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13</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7.39 extends neutral ID/NR to monthly bars. Mark 1 is the inside month, mark 2 the five-month count, and mark 3 the later rise.</a:t>
            </a:r>
          </a:p>
          <a:p>
            <a:pPr algn="l">
              <a:lnSpc>
                <a:spcPct val="105000"/>
              </a:lnSpc>
              <a:spcBef>
                <a:spcPts val="0"/>
              </a:spcBef>
              <a:spcAft>
                <a:spcPts val="1100"/>
              </a:spcAft>
            </a:pPr>
            <a:r>
              <a:rPr sz="1800" b="0" i="0">
                <a:solidFill>
                  <a:srgbClr val="1A1A1A"/>
                </a:solidFill>
                <a:latin typeface="Arial"/>
              </a:rPr>
              <a:t>The upside move is this Dynegy example, not a promise for every Inside Month.</a:t>
            </a:r>
          </a:p>
          <a:p>
            <a:pPr algn="l">
              <a:lnSpc>
                <a:spcPct val="105000"/>
              </a:lnSpc>
              <a:spcBef>
                <a:spcPts val="0"/>
              </a:spcBef>
              <a:spcAft>
                <a:spcPts val="1100"/>
              </a:spcAft>
            </a:pPr>
            <a:r>
              <a:rPr sz="1800" b="0" i="0">
                <a:solidFill>
                  <a:srgbClr val="1A1A1A"/>
                </a:solidFill>
                <a:latin typeface="Arial"/>
              </a:rPr>
              <a:t>Stay neutral until the monthly bar breaks, then read direction from price.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monthly figure extends ID/NR without adding a new direction rule.</a:t>
            </a:r>
          </a:p>
        </p:txBody>
      </p:sp>
      <p:sp>
        <p:nvSpPr>
          <p:cNvPr id="10" name="TextBox 9"/>
          <p:cNvSpPr txBox="1"/>
          <p:nvPr/>
        </p:nvSpPr>
        <p:spPr>
          <a:xfrm>
            <a:off x="777240" y="5603748"/>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232, Figure 7.39. The monthly chart is Dynegy Inc.</a:t>
            </a:r>
          </a:p>
        </p:txBody>
      </p:sp>
      <p:sp>
        <p:nvSpPr>
          <p:cNvPr id="11" name="Rectangle 10"/>
          <p:cNvSpPr/>
          <p:nvPr/>
        </p:nvSpPr>
        <p:spPr>
          <a:xfrm>
            <a:off x="7680960" y="1810512"/>
            <a:ext cx="3779214" cy="186434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99832" y="1929384"/>
            <a:ext cx="3541470" cy="162660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99832" y="1929384"/>
            <a:ext cx="35414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074152" y="2203703"/>
            <a:ext cx="2992830" cy="116940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100" b="0" i="0">
                <a:solidFill>
                  <a:srgbClr val="1A1A1A"/>
                </a:solidFill>
                <a:latin typeface="Palatino"/>
              </a:rPr>
              <a:t>The book's monthly Dynegy chart: an inside month after five monthly ranges, followed by an upside breakout.</a:t>
            </a:r>
          </a:p>
        </p:txBody>
      </p:sp>
      <p:sp>
        <p:nvSpPr>
          <p:cNvPr id="15" name="Oval 14"/>
          <p:cNvSpPr/>
          <p:nvPr/>
        </p:nvSpPr>
        <p:spPr>
          <a:xfrm>
            <a:off x="8950810" y="2889081"/>
            <a:ext cx="141658" cy="178926"/>
          </a:xfrm>
          <a:prstGeom prst="ellipse">
            <a:avLst/>
          </a:prstGeom>
          <a:noFill/>
          <a:ln w="44450">
            <a:solidFill>
              <a:srgbClr val="E09B00"/>
            </a:solidFill>
          </a:ln>
        </p:spPr>
        <p:txBody>
          <a:bodyPr rtlCol="0" anchor="ctr"/>
          <a:lstStyle/>
          <a:p>
            <a:pPr algn="ctr"/>
          </a:p>
        </p:txBody>
      </p:sp>
      <p:cxnSp>
        <p:nvCxnSpPr>
          <p:cNvPr id="16" name="Connector 15"/>
          <p:cNvCxnSpPr/>
          <p:nvPr/>
        </p:nvCxnSpPr>
        <p:spPr>
          <a:xfrm>
            <a:off x="8153979" y="3360797"/>
            <a:ext cx="920782" cy="0"/>
          </a:xfrm>
          <a:prstGeom prst="line">
            <a:avLst/>
          </a:prstGeom>
          <a:ln w="44450">
            <a:solidFill>
              <a:srgbClr val="C62828"/>
            </a:solidFill>
            <a:tailEnd type="triangle" w="med" len="med"/>
          </a:ln>
        </p:spPr>
      </p:cxnSp>
      <p:sp>
        <p:nvSpPr>
          <p:cNvPr id="17" name="Oval 16"/>
          <p:cNvSpPr/>
          <p:nvPr/>
        </p:nvSpPr>
        <p:spPr>
          <a:xfrm>
            <a:off x="9127883" y="2222173"/>
            <a:ext cx="177073" cy="845835"/>
          </a:xfrm>
          <a:prstGeom prst="ellipse">
            <a:avLst/>
          </a:prstGeom>
          <a:noFill/>
          <a:ln w="44450">
            <a:solidFill>
              <a:srgbClr val="1F5FAD"/>
            </a:solidFill>
          </a:ln>
        </p:spPr>
        <p:txBody>
          <a:bodyPr rtlCol="0" anchor="ctr"/>
          <a:lstStyle/>
          <a:p>
            <a:pPr algn="ctr"/>
          </a:p>
        </p:txBody>
      </p:sp>
      <p:sp>
        <p:nvSpPr>
          <p:cNvPr id="18" name="Oval 17"/>
          <p:cNvSpPr/>
          <p:nvPr/>
        </p:nvSpPr>
        <p:spPr>
          <a:xfrm>
            <a:off x="8725113" y="299591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433407" y="328870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256333" y="203621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680960" y="3766301"/>
            <a:ext cx="37792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7.39 -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numbered marks are for teaching.</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27</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Williams' Oops and ID/NR</a:t>
            </a:r>
          </a:p>
        </p:txBody>
      </p:sp>
      <p:sp>
        <p:nvSpPr>
          <p:cNvPr id="6" name="Rectangle 5"/>
          <p:cNvSpPr/>
          <p:nvPr/>
        </p:nvSpPr>
        <p:spPr>
          <a:xfrm>
            <a:off x="777240" y="1207008"/>
            <a:ext cx="539496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9377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9377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05840" y="2069338"/>
            <a:ext cx="493776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previous bar's high</a:t>
            </a:r>
          </a:p>
          <a:p>
            <a:pPr algn="l">
              <a:lnSpc>
                <a:spcPct val="105000"/>
              </a:lnSpc>
              <a:spcBef>
                <a:spcPts val="0"/>
              </a:spcBef>
              <a:spcAft>
                <a:spcPts val="200"/>
              </a:spcAft>
            </a:pPr>
            <a:r>
              <a:rPr sz="1700" b="0" i="0">
                <a:solidFill>
                  <a:srgbClr val="FFFFFF"/>
                </a:solidFill>
                <a:latin typeface="Arial"/>
              </a:rPr>
              <a:t>B.  The new bar's high</a:t>
            </a:r>
          </a:p>
          <a:p>
            <a:pPr algn="l">
              <a:lnSpc>
                <a:spcPct val="105000"/>
              </a:lnSpc>
              <a:spcBef>
                <a:spcPts val="0"/>
              </a:spcBef>
              <a:spcAft>
                <a:spcPts val="200"/>
              </a:spcAft>
            </a:pPr>
            <a:r>
              <a:rPr sz="1700" b="0" i="0">
                <a:solidFill>
                  <a:srgbClr val="FFFFFF"/>
                </a:solidFill>
                <a:latin typeface="Arial"/>
              </a:rPr>
              <a:t>C.  The previous bar's low</a:t>
            </a:r>
          </a:p>
          <a:p>
            <a:pPr algn="l">
              <a:lnSpc>
                <a:spcPct val="105000"/>
              </a:lnSpc>
              <a:spcBef>
                <a:spcPts val="0"/>
              </a:spcBef>
              <a:spcAft>
                <a:spcPts val="200"/>
              </a:spcAft>
            </a:pPr>
            <a:r>
              <a:rPr sz="1700" b="0" i="0">
                <a:solidFill>
                  <a:srgbClr val="FFFFFF"/>
                </a:solidFill>
                <a:latin typeface="Arial"/>
              </a:rPr>
              <a:t>D.  The midpoint of both bars</a:t>
            </a:r>
          </a:p>
        </p:txBody>
      </p:sp>
      <p:sp>
        <p:nvSpPr>
          <p:cNvPr id="10" name="Rectangle 9"/>
          <p:cNvSpPr/>
          <p:nvPr/>
        </p:nvSpPr>
        <p:spPr>
          <a:xfrm>
            <a:off x="777240" y="3336798"/>
            <a:ext cx="5394960" cy="2286634"/>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9377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9377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a:t>
            </a:r>
          </a:p>
        </p:txBody>
      </p:sp>
      <p:sp>
        <p:nvSpPr>
          <p:cNvPr id="13" name="TextBox 12"/>
          <p:cNvSpPr txBox="1"/>
          <p:nvPr/>
        </p:nvSpPr>
        <p:spPr>
          <a:xfrm>
            <a:off x="1005840" y="4199128"/>
            <a:ext cx="493776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It always breaks upward</a:t>
            </a:r>
          </a:p>
          <a:p>
            <a:pPr algn="l">
              <a:lnSpc>
                <a:spcPct val="105000"/>
              </a:lnSpc>
              <a:spcBef>
                <a:spcPts val="0"/>
              </a:spcBef>
              <a:spcAft>
                <a:spcPts val="200"/>
              </a:spcAft>
            </a:pPr>
            <a:r>
              <a:rPr sz="1700" b="0" i="0">
                <a:solidFill>
                  <a:srgbClr val="FFFFFF"/>
                </a:solidFill>
                <a:latin typeface="Arial"/>
              </a:rPr>
              <a:t>B.  It combines an inside day with the narrowest range in seven bars</a:t>
            </a:r>
          </a:p>
          <a:p>
            <a:pPr algn="l">
              <a:lnSpc>
                <a:spcPct val="105000"/>
              </a:lnSpc>
              <a:spcBef>
                <a:spcPts val="0"/>
              </a:spcBef>
              <a:spcAft>
                <a:spcPts val="200"/>
              </a:spcAft>
            </a:pPr>
            <a:r>
              <a:rPr sz="1700" b="0" i="0">
                <a:solidFill>
                  <a:srgbClr val="FFFFFF"/>
                </a:solidFill>
                <a:latin typeface="Arial"/>
              </a:rPr>
              <a:t>C.  It counts seven volume readings only</a:t>
            </a:r>
          </a:p>
          <a:p>
            <a:pPr algn="l">
              <a:lnSpc>
                <a:spcPct val="105000"/>
              </a:lnSpc>
              <a:spcBef>
                <a:spcPts val="0"/>
              </a:spcBef>
              <a:spcAft>
                <a:spcPts val="200"/>
              </a:spcAft>
            </a:pPr>
            <a:r>
              <a:rPr sz="1700" b="0" i="0">
                <a:solidFill>
                  <a:srgbClr val="FFFFFF"/>
                </a:solidFill>
                <a:latin typeface="Arial"/>
              </a:rPr>
              <a:t>D.  It requires seven bullish closes</a:t>
            </a:r>
          </a:p>
        </p:txBody>
      </p:sp>
      <p:sp>
        <p:nvSpPr>
          <p:cNvPr id="14" name="Rectangle 13"/>
          <p:cNvSpPr/>
          <p:nvPr/>
        </p:nvSpPr>
        <p:spPr>
          <a:xfrm>
            <a:off x="6878473" y="1207008"/>
            <a:ext cx="41497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97345" y="1325880"/>
            <a:ext cx="39120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997345" y="1325880"/>
            <a:ext cx="39120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271665" y="1600200"/>
            <a:ext cx="33633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8" name="Rectangle 17"/>
          <p:cNvSpPr/>
          <p:nvPr/>
        </p:nvSpPr>
        <p:spPr>
          <a:xfrm>
            <a:off x="6997345" y="1490472"/>
            <a:ext cx="1682162" cy="3291839"/>
          </a:xfrm>
          <a:prstGeom prst="rect">
            <a:avLst/>
          </a:prstGeom>
          <a:noFill/>
          <a:ln w="44450">
            <a:solidFill>
              <a:srgbClr val="E09B00"/>
            </a:solidFill>
          </a:ln>
        </p:spPr>
        <p:txBody>
          <a:bodyPr rtlCol="0" anchor="ctr"/>
          <a:lstStyle/>
          <a:p>
            <a:pPr algn="ctr"/>
          </a:p>
        </p:txBody>
      </p:sp>
      <p:sp>
        <p:nvSpPr>
          <p:cNvPr id="19" name="Rectangle 18"/>
          <p:cNvSpPr/>
          <p:nvPr/>
        </p:nvSpPr>
        <p:spPr>
          <a:xfrm>
            <a:off x="8405666" y="3547872"/>
            <a:ext cx="273840" cy="864107"/>
          </a:xfrm>
          <a:prstGeom prst="rect">
            <a:avLst/>
          </a:prstGeom>
          <a:noFill/>
          <a:ln w="44450">
            <a:solidFill>
              <a:srgbClr val="C62828"/>
            </a:solidFill>
          </a:ln>
        </p:spPr>
        <p:txBody>
          <a:bodyPr rtlCol="0" anchor="ctr"/>
          <a:lstStyle/>
          <a:p>
            <a:pPr algn="ctr"/>
          </a:p>
        </p:txBody>
      </p:sp>
      <p:sp>
        <p:nvSpPr>
          <p:cNvPr id="20" name="Rectangle 19"/>
          <p:cNvSpPr/>
          <p:nvPr/>
        </p:nvSpPr>
        <p:spPr>
          <a:xfrm>
            <a:off x="8562147" y="2930652"/>
            <a:ext cx="352080" cy="1769363"/>
          </a:xfrm>
          <a:prstGeom prst="rect">
            <a:avLst/>
          </a:prstGeom>
          <a:noFill/>
          <a:ln w="44450">
            <a:solidFill>
              <a:srgbClr val="1F5FAD"/>
            </a:solidFill>
          </a:ln>
        </p:spPr>
        <p:txBody>
          <a:bodyPr rtlCol="0" anchor="ctr"/>
          <a:lstStyle/>
          <a:p>
            <a:pPr algn="ctr"/>
          </a:p>
        </p:txBody>
      </p:sp>
      <p:sp>
        <p:nvSpPr>
          <p:cNvPr id="21" name="Oval 20"/>
          <p:cNvSpPr/>
          <p:nvPr/>
        </p:nvSpPr>
        <p:spPr>
          <a:xfrm>
            <a:off x="8737947" y="48920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98827" y="316382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011787" y="258775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27</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Williams' Oops and ID/NR</a:t>
            </a:r>
          </a:p>
        </p:txBody>
      </p:sp>
      <p:sp>
        <p:nvSpPr>
          <p:cNvPr id="6" name="Rectangle 5"/>
          <p:cNvSpPr/>
          <p:nvPr/>
        </p:nvSpPr>
        <p:spPr>
          <a:xfrm>
            <a:off x="777240" y="1207008"/>
            <a:ext cx="539496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97280" y="2069338"/>
            <a:ext cx="484632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The previous bar's high</a:t>
            </a:r>
          </a:p>
          <a:p>
            <a:pPr algn="l">
              <a:lnSpc>
                <a:spcPct val="115000"/>
              </a:lnSpc>
              <a:spcBef>
                <a:spcPts val="500"/>
              </a:spcBef>
              <a:spcAft>
                <a:spcPts val="0"/>
              </a:spcAft>
            </a:pPr>
            <a:r>
              <a:rPr sz="1700" b="0" i="0">
                <a:solidFill>
                  <a:srgbClr val="1A1A1A"/>
                </a:solidFill>
                <a:latin typeface="Arial"/>
              </a:rPr>
              <a:t>Lim places the sell-stop at the previous bar's high after a gap above that high (p. 231).</a:t>
            </a:r>
          </a:p>
        </p:txBody>
      </p:sp>
      <p:sp>
        <p:nvSpPr>
          <p:cNvPr id="10" name="Rectangle 9"/>
          <p:cNvSpPr/>
          <p:nvPr/>
        </p:nvSpPr>
        <p:spPr>
          <a:xfrm>
            <a:off x="777240" y="3625723"/>
            <a:ext cx="5394960" cy="22504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504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a:t>
            </a:r>
          </a:p>
        </p:txBody>
      </p:sp>
      <p:sp>
        <p:nvSpPr>
          <p:cNvPr id="13" name="TextBox 12"/>
          <p:cNvSpPr txBox="1"/>
          <p:nvPr/>
        </p:nvSpPr>
        <p:spPr>
          <a:xfrm>
            <a:off x="1097280" y="4488053"/>
            <a:ext cx="484632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It combines an inside day with the narrowest range in seven bars</a:t>
            </a:r>
          </a:p>
          <a:p>
            <a:pPr algn="l">
              <a:lnSpc>
                <a:spcPct val="115000"/>
              </a:lnSpc>
              <a:spcBef>
                <a:spcPts val="500"/>
              </a:spcBef>
              <a:spcAft>
                <a:spcPts val="0"/>
              </a:spcAft>
            </a:pPr>
            <a:r>
              <a:rPr sz="1700" b="0" i="0">
                <a:solidFill>
                  <a:srgbClr val="1A1A1A"/>
                </a:solidFill>
                <a:latin typeface="Arial"/>
              </a:rPr>
              <a:t>ID/NR7 combines an inside day with the narrowest seven-bar range (p. 232).</a:t>
            </a:r>
          </a:p>
        </p:txBody>
      </p:sp>
      <p:sp>
        <p:nvSpPr>
          <p:cNvPr id="14" name="Rectangle 13"/>
          <p:cNvSpPr/>
          <p:nvPr/>
        </p:nvSpPr>
        <p:spPr>
          <a:xfrm>
            <a:off x="6838143" y="1207008"/>
            <a:ext cx="423040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57015" y="1325880"/>
            <a:ext cx="399266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957015" y="1325880"/>
            <a:ext cx="399266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231335" y="1600200"/>
            <a:ext cx="344402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schematic: six numbered bars, with the sixth bar inside the prior range and the narrowest range, followed by long and short trigger levels.</a:t>
            </a:r>
          </a:p>
        </p:txBody>
      </p:sp>
      <p:sp>
        <p:nvSpPr>
          <p:cNvPr id="18" name="Rectangle 17"/>
          <p:cNvSpPr/>
          <p:nvPr/>
        </p:nvSpPr>
        <p:spPr>
          <a:xfrm>
            <a:off x="6957015" y="1490472"/>
            <a:ext cx="1716845" cy="3291839"/>
          </a:xfrm>
          <a:prstGeom prst="rect">
            <a:avLst/>
          </a:prstGeom>
          <a:noFill/>
          <a:ln w="44450">
            <a:solidFill>
              <a:srgbClr val="E09B00"/>
            </a:solidFill>
          </a:ln>
        </p:spPr>
        <p:txBody>
          <a:bodyPr rtlCol="0" anchor="ctr"/>
          <a:lstStyle/>
          <a:p>
            <a:pPr algn="ctr"/>
          </a:p>
        </p:txBody>
      </p:sp>
      <p:sp>
        <p:nvSpPr>
          <p:cNvPr id="19" name="Rectangle 18"/>
          <p:cNvSpPr/>
          <p:nvPr/>
        </p:nvSpPr>
        <p:spPr>
          <a:xfrm>
            <a:off x="8394374" y="3547872"/>
            <a:ext cx="279486" cy="864107"/>
          </a:xfrm>
          <a:prstGeom prst="rect">
            <a:avLst/>
          </a:prstGeom>
          <a:noFill/>
          <a:ln w="44450">
            <a:solidFill>
              <a:srgbClr val="C62828"/>
            </a:solidFill>
          </a:ln>
        </p:spPr>
        <p:txBody>
          <a:bodyPr rtlCol="0" anchor="ctr"/>
          <a:lstStyle/>
          <a:p>
            <a:pPr algn="ctr"/>
          </a:p>
        </p:txBody>
      </p:sp>
      <p:sp>
        <p:nvSpPr>
          <p:cNvPr id="20" name="Rectangle 19"/>
          <p:cNvSpPr/>
          <p:nvPr/>
        </p:nvSpPr>
        <p:spPr>
          <a:xfrm>
            <a:off x="8554081" y="2930652"/>
            <a:ext cx="359339" cy="1769363"/>
          </a:xfrm>
          <a:prstGeom prst="rect">
            <a:avLst/>
          </a:prstGeom>
          <a:noFill/>
          <a:ln w="44450">
            <a:solidFill>
              <a:srgbClr val="1F5FAD"/>
            </a:solidFill>
          </a:ln>
        </p:spPr>
        <p:txBody>
          <a:bodyPr rtlCol="0" anchor="ctr"/>
          <a:lstStyle/>
          <a:p>
            <a:pPr algn="ctr"/>
          </a:p>
        </p:txBody>
      </p:sp>
      <p:sp>
        <p:nvSpPr>
          <p:cNvPr id="21" name="Oval 20"/>
          <p:cNvSpPr/>
          <p:nvPr/>
        </p:nvSpPr>
        <p:spPr>
          <a:xfrm>
            <a:off x="8736334" y="48920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96407" y="316382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015820" y="258775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27</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1 begins with the exhaustion-bar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exhaustion bar opens beyond the prior extreme and has no following gap. Figure 7.28 mark 1 shows the exhaustion example.</a:t>
            </a:r>
          </a:p>
          <a:p>
            <a:pPr algn="l">
              <a:lnSpc>
                <a:spcPct val="105000"/>
              </a:lnSpc>
              <a:spcBef>
                <a:spcPts val="0"/>
              </a:spcBef>
              <a:spcAft>
                <a:spcPts val="1100"/>
              </a:spcAft>
            </a:pPr>
            <a:r>
              <a:rPr sz="2000" b="0" i="0">
                <a:solidFill>
                  <a:srgbClr val="1A1A1A"/>
                </a:solidFill>
                <a:latin typeface="Arial"/>
              </a:rPr>
              <a:t>1. The pattern warns of a possible reversal; the figure supplies the observed context, not a guarantee.</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exhaustion-bar structure comes before the pin-bar comparison.</a:t>
            </a:r>
          </a:p>
        </p:txBody>
      </p:sp>
      <p:sp>
        <p:nvSpPr>
          <p:cNvPr id="10" name="Rectangle 9"/>
          <p:cNvSpPr/>
          <p:nvPr/>
        </p:nvSpPr>
        <p:spPr>
          <a:xfrm>
            <a:off x="7150854" y="1810512"/>
            <a:ext cx="3787866"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269726" y="1929384"/>
            <a:ext cx="3550122"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269726" y="1929384"/>
            <a:ext cx="3550122"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44046" y="2203703"/>
            <a:ext cx="300148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showing the marked exhaustion bar and the following price action.</a:t>
            </a:r>
          </a:p>
        </p:txBody>
      </p:sp>
      <p:sp>
        <p:nvSpPr>
          <p:cNvPr id="14" name="Oval 13"/>
          <p:cNvSpPr/>
          <p:nvPr/>
        </p:nvSpPr>
        <p:spPr>
          <a:xfrm>
            <a:off x="8441266" y="3755257"/>
            <a:ext cx="497017" cy="667146"/>
          </a:xfrm>
          <a:prstGeom prst="ellipse">
            <a:avLst/>
          </a:prstGeom>
          <a:noFill/>
          <a:ln w="44450">
            <a:solidFill>
              <a:srgbClr val="E09B00"/>
            </a:solidFill>
          </a:ln>
        </p:spPr>
        <p:txBody>
          <a:bodyPr rtlCol="0" anchor="ctr"/>
          <a:lstStyle/>
          <a:p>
            <a:pPr algn="ctr"/>
          </a:p>
        </p:txBody>
      </p:sp>
      <p:sp>
        <p:nvSpPr>
          <p:cNvPr id="15" name="Oval 14"/>
          <p:cNvSpPr/>
          <p:nvPr/>
        </p:nvSpPr>
        <p:spPr>
          <a:xfrm>
            <a:off x="8020096" y="344253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1 continues with the pin-bar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pin bar falsely penetrates a barrier and rapidly retraces. Figure 7.30 mark 1 locates the pin-bar area.</a:t>
            </a:r>
          </a:p>
          <a:p>
            <a:pPr algn="l">
              <a:lnSpc>
                <a:spcPct val="105000"/>
              </a:lnSpc>
              <a:spcBef>
                <a:spcPts val="0"/>
              </a:spcBef>
              <a:spcAft>
                <a:spcPts val="1100"/>
              </a:spcAft>
            </a:pPr>
            <a:r>
              <a:rPr sz="2000" b="0" i="0">
                <a:solidFill>
                  <a:srgbClr val="1A1A1A"/>
                </a:solidFill>
                <a:latin typeface="Arial"/>
              </a:rPr>
              <a:t>1. The pin bar is another potential reversal reading, not a promise of follow-through.</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Both answers describe a structure before judging its reliability.</a:t>
            </a:r>
          </a:p>
        </p:txBody>
      </p:sp>
      <p:sp>
        <p:nvSpPr>
          <p:cNvPr id="10" name="Rectangle 9"/>
          <p:cNvSpPr/>
          <p:nvPr/>
        </p:nvSpPr>
        <p:spPr>
          <a:xfrm>
            <a:off x="6583679" y="1810512"/>
            <a:ext cx="4922214" cy="22926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684470" cy="205492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6844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135831" cy="159772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showing the pin bar at the support barrier.</a:t>
            </a:r>
          </a:p>
        </p:txBody>
      </p:sp>
      <p:sp>
        <p:nvSpPr>
          <p:cNvPr id="14" name="Oval 13"/>
          <p:cNvSpPr/>
          <p:nvPr/>
        </p:nvSpPr>
        <p:spPr>
          <a:xfrm>
            <a:off x="8670029" y="3244533"/>
            <a:ext cx="562136" cy="431533"/>
          </a:xfrm>
          <a:prstGeom prst="ellipse">
            <a:avLst/>
          </a:prstGeom>
          <a:noFill/>
          <a:ln w="44450">
            <a:solidFill>
              <a:srgbClr val="E09B00"/>
            </a:solidFill>
          </a:ln>
        </p:spPr>
        <p:txBody>
          <a:bodyPr rtlCol="0" anchor="ctr"/>
          <a:lstStyle/>
          <a:p>
            <a:pPr algn="ctr"/>
          </a:p>
        </p:txBody>
      </p:sp>
      <p:sp>
        <p:nvSpPr>
          <p:cNvPr id="15" name="Oval 14"/>
          <p:cNvSpPr/>
          <p:nvPr/>
        </p:nvSpPr>
        <p:spPr>
          <a:xfrm>
            <a:off x="8158112" y="29840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4194617"/>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2 names ID/NR7 as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ID/NR7 combines an inside day with the narrowest range in the last seven bars. Figure 7.38 mark 1 shows the narrow inside-bar idea.</a:t>
            </a:r>
          </a:p>
          <a:p>
            <a:pPr algn="l">
              <a:lnSpc>
                <a:spcPct val="105000"/>
              </a:lnSpc>
              <a:spcBef>
                <a:spcPts val="0"/>
              </a:spcBef>
              <a:spcAft>
                <a:spcPts val="1100"/>
              </a:spcAft>
            </a:pPr>
            <a:r>
              <a:rPr sz="1900" b="0" i="0">
                <a:solidFill>
                  <a:srgbClr val="1A1A1A"/>
                </a:solidFill>
                <a:latin typeface="Arial"/>
              </a:rPr>
              <a:t>2. The pattern is a volatility breakout because range has compressed before the later trigger.</a:t>
            </a:r>
          </a:p>
        </p:txBody>
      </p:sp>
      <p:sp>
        <p:nvSpPr>
          <p:cNvPr id="8" name="Rectangle 7"/>
          <p:cNvSpPr/>
          <p:nvPr/>
        </p:nvSpPr>
        <p:spPr>
          <a:xfrm>
            <a:off x="777240" y="4624578"/>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19379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narrow range describes compression; the later break supplies direction.</a:t>
            </a:r>
          </a:p>
        </p:txBody>
      </p:sp>
      <p:sp>
        <p:nvSpPr>
          <p:cNvPr id="10" name="Rectangle 9"/>
          <p:cNvSpPr/>
          <p:nvPr/>
        </p:nvSpPr>
        <p:spPr>
          <a:xfrm>
            <a:off x="7549319" y="1810512"/>
            <a:ext cx="29909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68191" y="1929384"/>
            <a:ext cx="275319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68191" y="1929384"/>
            <a:ext cx="275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42511" y="2203703"/>
            <a:ext cx="220455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showing the final narrow inside bar in the ID/NR6 schematic.</a:t>
            </a:r>
          </a:p>
        </p:txBody>
      </p:sp>
      <p:sp>
        <p:nvSpPr>
          <p:cNvPr id="14" name="Rectangle 13"/>
          <p:cNvSpPr/>
          <p:nvPr/>
        </p:nvSpPr>
        <p:spPr>
          <a:xfrm>
            <a:off x="8218830" y="3825483"/>
            <a:ext cx="247787" cy="737372"/>
          </a:xfrm>
          <a:prstGeom prst="rect">
            <a:avLst/>
          </a:prstGeom>
          <a:noFill/>
          <a:ln w="44450">
            <a:solidFill>
              <a:srgbClr val="E09B00"/>
            </a:solidFill>
          </a:ln>
        </p:spPr>
        <p:txBody>
          <a:bodyPr rtlCol="0" anchor="ctr"/>
          <a:lstStyle/>
          <a:p>
            <a:pPr algn="ctr"/>
          </a:p>
        </p:txBody>
      </p:sp>
      <p:sp>
        <p:nvSpPr>
          <p:cNvPr id="15" name="Oval 14"/>
          <p:cNvSpPr/>
          <p:nvPr/>
        </p:nvSpPr>
        <p:spPr>
          <a:xfrm>
            <a:off x="7944010" y="34776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crop and marks are for teaching; the worked PHP values are ours, invented.</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3 identifies the key-reversal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key reversal makes a higher high and then closes near or below the prior close. Figure 7.15 mark 1 shows the key-reversal day.</a:t>
            </a:r>
          </a:p>
          <a:p>
            <a:pPr algn="l">
              <a:lnSpc>
                <a:spcPct val="105000"/>
              </a:lnSpc>
              <a:spcBef>
                <a:spcPts val="0"/>
              </a:spcBef>
              <a:spcAft>
                <a:spcPts val="1100"/>
              </a:spcAft>
            </a:pPr>
            <a:r>
              <a:rPr sz="1900" b="0" i="0">
                <a:solidFill>
                  <a:srgbClr val="1A1A1A"/>
                </a:solidFill>
                <a:latin typeface="Arial"/>
              </a:rPr>
              <a:t>3. The bullish converse makes a new low and closes near or above the prior close. A wider bar and high volume may strengthen the potential reading.</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Structure comes first; range and volume add context without certainty.</a:t>
            </a:r>
          </a:p>
        </p:txBody>
      </p:sp>
      <p:sp>
        <p:nvSpPr>
          <p:cNvPr id="10" name="Rectangle 9"/>
          <p:cNvSpPr/>
          <p:nvPr/>
        </p:nvSpPr>
        <p:spPr>
          <a:xfrm>
            <a:off x="7721264" y="1810512"/>
            <a:ext cx="264704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40136" y="1929384"/>
            <a:ext cx="240930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0136" y="1929384"/>
            <a:ext cx="240930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114456" y="2203703"/>
            <a:ext cx="18606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showing the key reversal day and its surrounding bars.</a:t>
            </a:r>
          </a:p>
        </p:txBody>
      </p:sp>
      <p:sp>
        <p:nvSpPr>
          <p:cNvPr id="14" name="Oval 13"/>
          <p:cNvSpPr/>
          <p:nvPr/>
        </p:nvSpPr>
        <p:spPr>
          <a:xfrm>
            <a:off x="8996601" y="2157618"/>
            <a:ext cx="192744" cy="140451"/>
          </a:xfrm>
          <a:prstGeom prst="ellipse">
            <a:avLst/>
          </a:prstGeom>
          <a:noFill/>
          <a:ln w="44450">
            <a:solidFill>
              <a:srgbClr val="E09B00"/>
            </a:solidFill>
          </a:ln>
        </p:spPr>
        <p:txBody>
          <a:bodyPr rtlCol="0" anchor="ctr"/>
          <a:lstStyle/>
          <a:p>
            <a:pPr algn="ctr"/>
          </a:p>
        </p:txBody>
      </p:sp>
      <p:sp>
        <p:nvSpPr>
          <p:cNvPr id="15" name="Oval 14"/>
          <p:cNvSpPr/>
          <p:nvPr/>
        </p:nvSpPr>
        <p:spPr>
          <a:xfrm>
            <a:off x="8305302" y="210824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5650991"/>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crop and marks are for teaching; the worked PHP values are ours, invented.</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begins with the first eight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16 reversal characteristics are potential clues that add context to a bar pattern. The first four are a decrease in price-cycle amplitude, a decrease in price-cycle period, a change in bar-retracement symmetry, and a decrease in average bar range.</a:t>
            </a:r>
          </a:p>
          <a:p>
            <a:pPr algn="l">
              <a:lnSpc>
                <a:spcPct val="118000"/>
              </a:lnSpc>
              <a:spcBef>
                <a:spcPts val="0"/>
              </a:spcBef>
              <a:spcAft>
                <a:spcPts val="1300"/>
              </a:spcAft>
            </a:pPr>
            <a:r>
              <a:rPr sz="2100" b="0" i="0">
                <a:solidFill>
                  <a:srgbClr val="1A1A1A"/>
                </a:solidFill>
                <a:latin typeface="Arial"/>
              </a:rPr>
              <a:t>The next four are a lack of the quality of price persistence, a decrease in average bar stochastic ratio, a decrease in average candlestick real-body-to-range ratio, and changes in angular symmetry and momentum.</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These first eight are potential reversal clues, not guarantees. Chapter 5 gives the detailed discussion.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218; the 16 names follow the book's order.</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continues with the remaining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the frequency and depth of trend-based oscillations, larger and longer-lasting consolidations, and an exhaustion gap.</a:t>
            </a:r>
          </a:p>
          <a:p>
            <a:pPr algn="l">
              <a:lnSpc>
                <a:spcPct val="118000"/>
              </a:lnSpc>
              <a:spcBef>
                <a:spcPts val="0"/>
              </a:spcBef>
              <a:spcAft>
                <a:spcPts val="1300"/>
              </a:spcAft>
            </a:pPr>
            <a:r>
              <a:rPr sz="2100" b="0" i="0">
                <a:solidFill>
                  <a:srgbClr val="1A1A1A"/>
                </a:solidFill>
                <a:latin typeface="Arial"/>
              </a:rPr>
              <a:t>The final four are completion of the average range for the period under observation, overextended price action with respect to a price barrier, price accompanied by extremely high or low volume, and standard divergences between price, volume, and oscillators.</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Barrier proximity is the especially important context; these clues still do not guarantee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218; the 16 names follow the book's order.</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explains how volume adds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can strengthen or weaken a reversal read.</a:t>
            </a:r>
          </a:p>
          <a:p>
            <a:pPr algn="l">
              <a:lnSpc>
                <a:spcPct val="118000"/>
              </a:lnSpc>
              <a:spcBef>
                <a:spcPts val="0"/>
              </a:spcBef>
              <a:spcAft>
                <a:spcPts val="1300"/>
              </a:spcAft>
            </a:pPr>
            <a:r>
              <a:rPr sz="2100" b="0" i="0">
                <a:solidFill>
                  <a:srgbClr val="1A1A1A"/>
                </a:solidFill>
                <a:latin typeface="Arial"/>
              </a:rPr>
              <a:t>5. High volume can strengthen a wide final reversal bar; low volume can signal uncertainty.</a:t>
            </a:r>
          </a:p>
        </p:txBody>
      </p:sp>
      <p:sp>
        <p:nvSpPr>
          <p:cNvPr id="8" name="Rectangle 7"/>
          <p:cNvSpPr/>
          <p:nvPr/>
        </p:nvSpPr>
        <p:spPr>
          <a:xfrm>
            <a:off x="777240" y="358673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62331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context to a pattern;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Review answer 5 is written from the preceding volume slides.</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6 returns to triple-bar structure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Triple-bar structure separates the examples. 6. Figure 7.6 shows pattern 1 </a:t>
            </a:r>
            <a:r>
              <a:rPr sz="2000" b="1" i="0">
                <a:solidFill>
                  <a:srgbClr val="E09B00"/>
                </a:solidFill>
                <a:latin typeface="Arial"/>
              </a:rPr>
              <a:t>(1)</a:t>
            </a:r>
            <a:r>
              <a:rPr sz="2000" b="0" i="0">
                <a:solidFill>
                  <a:srgbClr val="1A1A1A"/>
                </a:solidFill>
                <a:latin typeface="Arial"/>
              </a:rPr>
              <a:t> with a large middle bar and pattern 2 </a:t>
            </a:r>
            <a:r>
              <a:rPr sz="2000" b="1" i="0">
                <a:solidFill>
                  <a:srgbClr val="C62828"/>
                </a:solidFill>
                <a:latin typeface="Arial"/>
              </a:rPr>
              <a:t>(2)</a:t>
            </a:r>
            <a:r>
              <a:rPr sz="2000" b="0" i="0">
                <a:solidFill>
                  <a:srgbClr val="1A1A1A"/>
                </a:solidFill>
                <a:latin typeface="Arial"/>
              </a:rPr>
              <a:t> with a narrow, low-volume middle bar. Blue mark 3 points to pattern 1's uptrend.</a:t>
            </a:r>
          </a:p>
          <a:p>
            <a:pPr algn="l">
              <a:lnSpc>
                <a:spcPct val="105000"/>
              </a:lnSpc>
              <a:spcBef>
                <a:spcPts val="0"/>
              </a:spcBef>
              <a:spcAft>
                <a:spcPts val="1100"/>
              </a:spcAft>
            </a:pPr>
            <a:r>
              <a:rPr sz="2000" b="0" i="0">
                <a:solidFill>
                  <a:srgbClr val="1A1A1A"/>
                </a:solidFill>
                <a:latin typeface="Arial"/>
              </a:rPr>
              <a:t>Wider ranges and gaps may add reliability; Chapter 7 gives no complete trade plan.</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Pattern evidence does not make a complete trade plan.</a:t>
            </a:r>
          </a:p>
        </p:txBody>
      </p:sp>
      <p:sp>
        <p:nvSpPr>
          <p:cNvPr id="10" name="Rectangle 9"/>
          <p:cNvSpPr/>
          <p:nvPr/>
        </p:nvSpPr>
        <p:spPr>
          <a:xfrm>
            <a:off x="8105150" y="1810512"/>
            <a:ext cx="297655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8224022" y="1929384"/>
            <a:ext cx="273881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8224022" y="1929384"/>
            <a:ext cx="273881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498342" y="2203703"/>
            <a:ext cx="219017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7.6's first two bearish triple-bar schematics, marked for the review answer.</a:t>
            </a:r>
          </a:p>
        </p:txBody>
      </p:sp>
      <p:sp>
        <p:nvSpPr>
          <p:cNvPr id="14" name="Rectangle 13"/>
          <p:cNvSpPr/>
          <p:nvPr/>
        </p:nvSpPr>
        <p:spPr>
          <a:xfrm>
            <a:off x="8525291" y="1999609"/>
            <a:ext cx="1122912" cy="1123614"/>
          </a:xfrm>
          <a:prstGeom prst="rect">
            <a:avLst/>
          </a:prstGeom>
          <a:noFill/>
          <a:ln w="44450">
            <a:solidFill>
              <a:srgbClr val="E09B00"/>
            </a:solidFill>
          </a:ln>
        </p:spPr>
        <p:txBody>
          <a:bodyPr rtlCol="0" anchor="ctr"/>
          <a:lstStyle/>
          <a:p>
            <a:pPr algn="ctr"/>
          </a:p>
        </p:txBody>
      </p:sp>
      <p:sp>
        <p:nvSpPr>
          <p:cNvPr id="15" name="Rectangle 14"/>
          <p:cNvSpPr/>
          <p:nvPr/>
        </p:nvSpPr>
        <p:spPr>
          <a:xfrm>
            <a:off x="9894696" y="1999609"/>
            <a:ext cx="684702" cy="1123614"/>
          </a:xfrm>
          <a:prstGeom prst="rect">
            <a:avLst/>
          </a:prstGeom>
          <a:noFill/>
          <a:ln w="44450">
            <a:solidFill>
              <a:srgbClr val="C62828"/>
            </a:solidFill>
          </a:ln>
        </p:spPr>
        <p:txBody>
          <a:bodyPr rtlCol="0" anchor="ctr"/>
          <a:lstStyle/>
          <a:p>
            <a:pPr algn="ctr"/>
          </a:p>
        </p:txBody>
      </p:sp>
      <p:sp>
        <p:nvSpPr>
          <p:cNvPr id="16" name="Oval 15"/>
          <p:cNvSpPr/>
          <p:nvPr/>
        </p:nvSpPr>
        <p:spPr>
          <a:xfrm>
            <a:off x="8853948" y="3088111"/>
            <a:ext cx="356045" cy="1053388"/>
          </a:xfrm>
          <a:prstGeom prst="ellipse">
            <a:avLst/>
          </a:prstGeom>
          <a:noFill/>
          <a:ln w="44450">
            <a:solidFill>
              <a:srgbClr val="1F5FAD"/>
            </a:solidFill>
          </a:ln>
        </p:spPr>
        <p:txBody>
          <a:bodyPr rtlCol="0" anchor="ctr"/>
          <a:lstStyle/>
          <a:p>
            <a:pPr algn="ctr"/>
          </a:p>
        </p:txBody>
      </p:sp>
      <p:sp>
        <p:nvSpPr>
          <p:cNvPr id="17" name="Oval 16"/>
          <p:cNvSpPr/>
          <p:nvPr/>
        </p:nvSpPr>
        <p:spPr>
          <a:xfrm>
            <a:off x="8223802" y="312651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647984" y="312651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552459" y="2845612"/>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7680960" y="5650991"/>
            <a:ext cx="382493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numbered marks are for teaching.</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7 describes an ideal inside-bar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6949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inside-bar reversal begins when the inside bar stays within the prior high and low, then breaks in reversal direction.</a:t>
            </a:r>
          </a:p>
          <a:p>
            <a:pPr algn="l">
              <a:lnSpc>
                <a:spcPct val="105000"/>
              </a:lnSpc>
              <a:spcBef>
                <a:spcPts val="0"/>
              </a:spcBef>
              <a:spcAft>
                <a:spcPts val="1100"/>
              </a:spcAft>
            </a:pPr>
            <a:r>
              <a:rPr sz="2000" b="0" i="0">
                <a:solidFill>
                  <a:srgbClr val="1A1A1A"/>
                </a:solidFill>
                <a:latin typeface="Arial"/>
              </a:rPr>
              <a:t>7. Ideal conditions are a wide, high-volume first bar and a narrow, very-low-volume second bar. Figure 7.25 marks them </a:t>
            </a:r>
            <a:r>
              <a:rPr sz="2000" b="1" i="0">
                <a:solidFill>
                  <a:srgbClr val="E09B00"/>
                </a:solidFill>
                <a:latin typeface="Arial"/>
              </a:rPr>
              <a:t>(1)</a:t>
            </a:r>
            <a:r>
              <a:rPr sz="2000" b="0" i="0">
                <a:solidFill>
                  <a:srgbClr val="1A1A1A"/>
                </a:solidFill>
                <a:latin typeface="Arial"/>
              </a:rPr>
              <a:t> </a:t>
            </a:r>
            <a:r>
              <a:rPr sz="2000" b="1" i="0">
                <a:solidFill>
                  <a:srgbClr val="C62828"/>
                </a:solidFill>
                <a:latin typeface="Arial"/>
              </a:rPr>
              <a:t>(2)</a:t>
            </a:r>
            <a:r>
              <a:rPr sz="2000" b="0" i="0">
                <a:solidFill>
                  <a:srgbClr val="1A1A1A"/>
                </a:solidFill>
                <a:latin typeface="Arial"/>
              </a:rPr>
              <a:t>, with oscillator label </a:t>
            </a:r>
            <a:r>
              <a:rPr sz="2000" b="1" i="0">
                <a:solidFill>
                  <a:srgbClr val="1F5FAD"/>
                </a:solidFill>
                <a:latin typeface="Arial"/>
              </a:rPr>
              <a:t>(3)</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Lim says the narrow candlestick in a Harami is no more than one-fourth to one-third the range of the larger preceding candlestick, while an inside bar has no such size restriction.</a:t>
            </a:r>
          </a:p>
        </p:txBody>
      </p:sp>
      <p:sp>
        <p:nvSpPr>
          <p:cNvPr id="8" name="Rectangle 7"/>
          <p:cNvSpPr/>
          <p:nvPr/>
        </p:nvSpPr>
        <p:spPr>
          <a:xfrm>
            <a:off x="8046719" y="1810512"/>
            <a:ext cx="3459174" cy="21648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8165592" y="1929384"/>
            <a:ext cx="3221431" cy="19271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8165592" y="1929384"/>
            <a:ext cx="32214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439912" y="2203703"/>
            <a:ext cx="2672790" cy="14699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300" b="0" i="0">
                <a:solidFill>
                  <a:srgbClr val="1A1A1A"/>
                </a:solidFill>
                <a:latin typeface="Palatino"/>
              </a:rPr>
              <a:t>Figure 7.25's ITC Holdings chart, with the wide first bar, the narrow inside bar, and the lower oscillator region marked.</a:t>
            </a:r>
          </a:p>
        </p:txBody>
      </p:sp>
      <p:sp>
        <p:nvSpPr>
          <p:cNvPr id="12" name="Oval 11"/>
          <p:cNvSpPr/>
          <p:nvPr/>
        </p:nvSpPr>
        <p:spPr>
          <a:xfrm>
            <a:off x="10001807" y="2218449"/>
            <a:ext cx="193285" cy="462505"/>
          </a:xfrm>
          <a:prstGeom prst="ellipse">
            <a:avLst/>
          </a:prstGeom>
          <a:noFill/>
          <a:ln w="44450">
            <a:solidFill>
              <a:srgbClr val="E09B00"/>
            </a:solidFill>
          </a:ln>
        </p:spPr>
        <p:txBody>
          <a:bodyPr rtlCol="0" anchor="ctr"/>
          <a:lstStyle/>
          <a:p>
            <a:pPr algn="ctr"/>
          </a:p>
        </p:txBody>
      </p:sp>
      <p:sp>
        <p:nvSpPr>
          <p:cNvPr id="13" name="Oval 12"/>
          <p:cNvSpPr/>
          <p:nvPr/>
        </p:nvSpPr>
        <p:spPr>
          <a:xfrm>
            <a:off x="10323950" y="2218449"/>
            <a:ext cx="193285" cy="462505"/>
          </a:xfrm>
          <a:prstGeom prst="ellipse">
            <a:avLst/>
          </a:prstGeom>
          <a:noFill/>
          <a:ln w="44450">
            <a:solidFill>
              <a:srgbClr val="C62828"/>
            </a:solidFill>
          </a:ln>
        </p:spPr>
        <p:txBody>
          <a:bodyPr rtlCol="0" anchor="ctr"/>
          <a:lstStyle/>
          <a:p>
            <a:pPr algn="ctr"/>
          </a:p>
        </p:txBody>
      </p:sp>
      <p:sp>
        <p:nvSpPr>
          <p:cNvPr id="14" name="Oval 13"/>
          <p:cNvSpPr/>
          <p:nvPr/>
        </p:nvSpPr>
        <p:spPr>
          <a:xfrm>
            <a:off x="10034021" y="3259087"/>
            <a:ext cx="225500" cy="327608"/>
          </a:xfrm>
          <a:prstGeom prst="ellipse">
            <a:avLst/>
          </a:prstGeom>
          <a:noFill/>
          <a:ln w="44450">
            <a:solidFill>
              <a:srgbClr val="1F5FAD"/>
            </a:solidFill>
          </a:ln>
        </p:spPr>
        <p:txBody>
          <a:bodyPr rtlCol="0" anchor="ctr"/>
          <a:lstStyle/>
          <a:p>
            <a:pPr algn="ctr"/>
          </a:p>
        </p:txBody>
      </p:sp>
      <p:sp>
        <p:nvSpPr>
          <p:cNvPr id="15" name="Oval 14"/>
          <p:cNvSpPr/>
          <p:nvPr/>
        </p:nvSpPr>
        <p:spPr>
          <a:xfrm>
            <a:off x="9735790" y="198493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508933" y="198493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347862" y="354589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8046719" y="4066802"/>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numbered marks are for teaching.</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8 belongs to Chapter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book asks how oscillators can help gauge bullishness or bearishness in bar reversal patterns.</a:t>
            </a:r>
          </a:p>
          <a:p>
            <a:pPr algn="l">
              <a:lnSpc>
                <a:spcPct val="105000"/>
              </a:lnSpc>
              <a:spcBef>
                <a:spcPts val="0"/>
              </a:spcBef>
              <a:spcAft>
                <a:spcPts val="1100"/>
              </a:spcAft>
            </a:pPr>
            <a:r>
              <a:rPr sz="2000" b="0" i="0">
                <a:solidFill>
                  <a:srgbClr val="1A1A1A"/>
                </a:solidFill>
                <a:latin typeface="Arial"/>
              </a:rPr>
              <a:t>8. Figure 7.13 shows an overextended bar above its upper price barrier </a:t>
            </a:r>
            <a:r>
              <a:rPr sz="2000" b="1" i="0">
                <a:solidFill>
                  <a:srgbClr val="E09B00"/>
                </a:solidFill>
                <a:latin typeface="Arial"/>
              </a:rPr>
              <a:t>(1)</a:t>
            </a:r>
            <a:r>
              <a:rPr sz="2000" b="0" i="0">
                <a:solidFill>
                  <a:srgbClr val="1A1A1A"/>
                </a:solidFill>
                <a:latin typeface="Arial"/>
              </a:rPr>
              <a:t>, not an oscillator method.</a:t>
            </a:r>
          </a:p>
          <a:p>
            <a:pPr algn="l">
              <a:lnSpc>
                <a:spcPct val="105000"/>
              </a:lnSpc>
              <a:spcBef>
                <a:spcPts val="0"/>
              </a:spcBef>
              <a:spcAft>
                <a:spcPts val="1100"/>
              </a:spcAft>
            </a:pPr>
            <a:r>
              <a:rPr sz="2000" b="0" i="0">
                <a:solidFill>
                  <a:srgbClr val="1A1A1A"/>
                </a:solidFill>
                <a:latin typeface="Arial"/>
              </a:rPr>
              <a:t>The full treatment belongs to Chapter 8, so this slide adds no unassessed method.</a:t>
            </a:r>
          </a:p>
        </p:txBody>
      </p:sp>
      <p:sp>
        <p:nvSpPr>
          <p:cNvPr id="8" name="TextBox 7"/>
          <p:cNvSpPr txBox="1"/>
          <p:nvPr/>
        </p:nvSpPr>
        <p:spPr>
          <a:xfrm>
            <a:off x="777240" y="5221223"/>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233, review question 8; Figure 7.13, p. 217. The price-bar context is shown here; oscillator method is deferred to Chapter 8.</a:t>
            </a:r>
          </a:p>
        </p:txBody>
      </p:sp>
      <p:sp>
        <p:nvSpPr>
          <p:cNvPr id="9" name="Rectangle 8"/>
          <p:cNvSpPr/>
          <p:nvPr/>
        </p:nvSpPr>
        <p:spPr>
          <a:xfrm>
            <a:off x="6766559" y="1810512"/>
            <a:ext cx="4739334" cy="24885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501590" cy="22507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50159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3952950" cy="17935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7.13's overextension chart, with mark 1 on the bar that extends above the upper price barrier after the parabolic rise.</a:t>
            </a:r>
          </a:p>
        </p:txBody>
      </p:sp>
      <p:sp>
        <p:nvSpPr>
          <p:cNvPr id="13" name="Rectangle 12"/>
          <p:cNvSpPr/>
          <p:nvPr/>
        </p:nvSpPr>
        <p:spPr>
          <a:xfrm>
            <a:off x="8596036" y="2086939"/>
            <a:ext cx="225079" cy="1012857"/>
          </a:xfrm>
          <a:prstGeom prst="rect">
            <a:avLst/>
          </a:prstGeom>
          <a:noFill/>
          <a:ln w="44450">
            <a:solidFill>
              <a:srgbClr val="E09B00"/>
            </a:solidFill>
          </a:ln>
        </p:spPr>
        <p:txBody>
          <a:bodyPr rtlCol="0" anchor="ctr"/>
          <a:lstStyle/>
          <a:p>
            <a:pPr algn="ctr"/>
          </a:p>
        </p:txBody>
      </p:sp>
      <p:sp>
        <p:nvSpPr>
          <p:cNvPr id="14" name="Oval 13"/>
          <p:cNvSpPr/>
          <p:nvPr/>
        </p:nvSpPr>
        <p:spPr>
          <a:xfrm>
            <a:off x="8864019" y="1882255"/>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6766559" y="4390491"/>
            <a:ext cx="473933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7.13 - Lim, The Handbook of Technical Analysis (Wiley, 2016)</a:t>
            </a:r>
          </a:p>
        </p:txBody>
      </p:sp>
      <p:sp>
        <p:nvSpPr>
          <p:cNvPr id="16" name="TextBox 1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Figure 7.13. The numbered mark is for teaching.</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233. The closing synthesis follows the approved outline.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