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objectives in plain words. The title slide has already introduced the four retained prices.</a:t>
            </a:r>
          </a:p>
          <a:p>
            <a:r>
              <a:rPr sz="1400"/>
              <a:t>- Keep potential visible: the chapter teaches warnings and expectations,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four parts, not six. The checks are for reading the room, not for marks.</a:t>
            </a:r>
          </a:p>
          <a:p>
            <a:r>
              <a:rPr sz="1400"/>
              <a:t>- Point to Part 1 as the first stop: one interval becomes one bar before patterns are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Start with the book's definition and the invented arithmetic. The figure shows the same four prices as a compact record.</a:t>
            </a:r>
          </a:p>
          <a:p>
            <a:r>
              <a:rPr sz="1400"/>
              <a:t>- Point to gold 1, red 2 and blue 3 in the figure as the open, high and low. The close is named in the body and shown on the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construction panel so the sequence can be read. Gold 1 is the first trade, red 2 the highest trade, blue 3 the last trade, and purple 4 the lowest trade.</a:t>
            </a:r>
          </a:p>
          <a:p>
            <a:r>
              <a:rPr sz="1400"/>
              <a:t>- The lowest trade is also retained as the low, even though this crop's three teaching marks focus on first, highest and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isolates the higher-timeframe bar. Gold 1 is the first open, red 2 the highest high, blue 3 the lowest low, and purple 4 the last close.</a:t>
            </a:r>
          </a:p>
          <a:p>
            <a:r>
              <a:rPr sz="1400"/>
              <a:t>- The labels show what survives when three lower-timeframe intervals are combined. No intermediate open or close survives in the composite.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one interval at a time from left to right. Gold 1 identifies the first interval, red 2 a later sequence, and blue 3 the corresponding OHLC bars below.</a:t>
            </a:r>
          </a:p>
          <a:p>
            <a:r>
              <a:rPr sz="1400"/>
              <a:t>- The figure shows the book's sequence, not a new trading signal. Classification comes only after the intervals have been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first classification question in Lim's list on p. 210.</a:t>
            </a:r>
          </a:p>
          <a:p>
            <a:r>
              <a:rPr sz="1400"/>
              <a:t>- Use the invented counts to separate structure from direction. A count does not predict price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intrinsic sentiment separate from trend sentiment. Chapter 4 is the named pointer for the earlier term.</a:t>
            </a:r>
          </a:p>
          <a:p>
            <a:r>
              <a:rPr sz="1400"/>
              <a:t>- The invented example is only a classification test, not a claim that every bullish pattern works in every trend.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Lim states the agreement rule on p. 211. Keep the word potential because a classification is not a guarantee.</a:t>
            </a:r>
          </a:p>
          <a:p>
            <a:r>
              <a:rPr sz="1400"/>
              <a:t>- The full four-cell table and the book's head and shoulders examples begin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worked read combines the three classification questions without introducing a new pattern name.</a:t>
            </a:r>
          </a:p>
          <a:p>
            <a:r>
              <a:rPr sz="1400"/>
              <a:t>- Say potential reversal, not reversal certainty. The next slide checks the construction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book's explicit distinction on p. 211. Chapter 4 supplies the earlier intrinsic-bias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cases as a table even though the text is linear. Keep potential for every directional expectation.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plan folder PDF, not to an unbuilt slide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A price bar records opening, highest, lowest and closing prices; it can warn of a possible top or bottom. First, make one bar from the trades that made it.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this chapter lets you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price bar is a compact record of opening, highest, lowest, and closing prices. This chapter teaches how to read that record as price action.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calculate a bar, classify a formation by its number of bars and its own bullish or bearish bias, and judge a possible continuation or reversal.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also recall the book's 16 price and volume reversal characteristics. Every signal is a potential warning, not a promise.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route follows the book from one bar to the full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209 to 217. The plain-language objectives follow the book's four learning objectives.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parts, one reading habit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makes and combines the four prices in a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compares continuation and reversal using trend sentiment and intrinsic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reads popular reversal patterns. Part 4 reads volatility breakouts.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check follows key ideas, and each part stops cleanly. The route follows the book from one bar to the full pattern.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2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8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Part 1 starts with the four prices every bar keeps.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 sections 7.1 to 7.4. The four-part route follows the approved outline.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prices in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1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First recall Chapter 3's OHLC. Lim writes, "A standard price bar comprises an open (O), high (H), low (L), and close (C) price" (p. 209).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Lim defines range as the absolute high-to-low distance, |H - L| (p. 209). Ours, invented: O 50.00, H 52.40, L 49.60, C 51.10; range = PHP 2.80.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Meaning/action: read these four retained prices before interpreting a pattern. The figure marks the close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6644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010912" cy="664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Now show how five trades become these four prices.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68322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344547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9882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4" name="Oval 13"/>
          <p:cNvSpPr/>
          <p:nvPr/>
        </p:nvSpPr>
        <p:spPr>
          <a:xfrm>
            <a:off x="9480736" y="3238665"/>
            <a:ext cx="334313" cy="27563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80736" y="2618479"/>
            <a:ext cx="334313" cy="27563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80736" y="4272309"/>
            <a:ext cx="334313" cy="27563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15050" y="3479849"/>
            <a:ext cx="334313" cy="27563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04781" y="310150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12204" y="230904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12204" y="4617516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0346518" y="3618327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585174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7.1. The marks and worked PHP values are ours, added for teaching.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Five minutes become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2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663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Now trace the five invented trades that the book's Figure 7.1 filters into one bar: 50.00, 50.80, 49.60, 52.40, and 51.10 Philippine pesos.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first trade becomes O 50.00 </a:t>
            </a:r>
            <a:r>
              <a:rPr sz="15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. The highest trade becomes H 52.40 </a:t>
            </a:r>
            <a:r>
              <a:rPr sz="15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, and the last trade becomes C 51.10 </a:t>
            </a:r>
            <a:r>
              <a:rPr sz="15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lowest trade, 49.60, supplies L </a:t>
            </a:r>
            <a:r>
              <a:rPr sz="15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. Meaning/action: keep first, highest, lowest, and last; do not keep every trade.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21174"/>
            <a:ext cx="82296" cy="6339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57750"/>
            <a:ext cx="4370832" cy="633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One interval is one OHLC bar. Next, combine several intervals.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1189" y="1810512"/>
            <a:ext cx="319279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10061" y="1929384"/>
            <a:ext cx="295505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10061" y="1929384"/>
            <a:ext cx="295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4381" y="2203703"/>
            <a:ext cx="240641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 construction panel, cropped to the five-minute price path. The first trade, highest trade and last trade become the bar's open, high and close; the lowest trade supplies the low.</a:t>
            </a:r>
          </a:p>
        </p:txBody>
      </p:sp>
      <p:sp>
        <p:nvSpPr>
          <p:cNvPr id="14" name="Oval 13"/>
          <p:cNvSpPr/>
          <p:nvPr/>
        </p:nvSpPr>
        <p:spPr>
          <a:xfrm>
            <a:off x="7789723" y="3193450"/>
            <a:ext cx="295505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2981" y="2456078"/>
            <a:ext cx="295505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87587" y="3404128"/>
            <a:ext cx="295505" cy="45646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69385" y="4317065"/>
            <a:ext cx="295505" cy="421355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04811" y="347764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539079" y="210824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893685" y="382877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745932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19" y="5650991"/>
            <a:ext cx="5653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7.1, construction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small bars become one larger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3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Now extend the same rule to three invented five-minute bars. Their first open is 50.00, highest high 50.90, lowest low 49.40, and last close 50.30.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Figure 7.2 keeps first O </a:t>
            </a:r>
            <a:r>
              <a:rPr sz="15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, highest H </a:t>
            </a:r>
            <a:r>
              <a:rPr sz="15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, lowest L </a:t>
            </a:r>
            <a:r>
              <a:rPr sz="15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, and last C </a:t>
            </a:r>
            <a:r>
              <a:rPr sz="15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in the 15-minute composite.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Meaning/action: a higher-timeframe bar preserves first, extreme, and last values. It does not average intermediate opens or closes.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61204"/>
            <a:ext cx="82296" cy="6339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97780"/>
            <a:ext cx="4279392" cy="633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The book's composite rule is the same four-price rule at a longer interval.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50226" y="1810512"/>
            <a:ext cx="358328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69098" y="1929384"/>
            <a:ext cx="334553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69098" y="1929384"/>
            <a:ext cx="334553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43418" y="2203703"/>
            <a:ext cx="279689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7.2 composite-bar panel, cropped to the 15-minute bar. Three five-minute bars are summarized by the first open, highest high, lowest low and last close.</a:t>
            </a:r>
          </a:p>
        </p:txBody>
      </p:sp>
      <p:sp>
        <p:nvSpPr>
          <p:cNvPr id="14" name="Oval 13"/>
          <p:cNvSpPr/>
          <p:nvPr/>
        </p:nvSpPr>
        <p:spPr>
          <a:xfrm>
            <a:off x="8809510" y="3193450"/>
            <a:ext cx="46837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09510" y="2456078"/>
            <a:ext cx="468375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09510" y="4949098"/>
            <a:ext cx="468375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09510" y="4001048"/>
            <a:ext cx="468375" cy="386242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52245" y="3175345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689727" y="2157069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689727" y="524701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552245" y="3982943"/>
            <a:ext cx="246888" cy="24688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79" y="5650991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7.2, composite-bar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 each interval before naming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4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617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book next shows a series of five-minute intervals before it classifies any formation (Lim, p. 210).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the first interval, red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a later price sequence, and blue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the OHLC bars made from those intervals.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Meaning/action: read each interval first; only then count bars, identify intrinsic sentiment, and ask continuation or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6644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4325112" cy="664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The three classification questions come after the interval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4999" y="1810512"/>
            <a:ext cx="5699455" cy="344267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33871" y="1929384"/>
            <a:ext cx="5461711" cy="32049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33871" y="1929384"/>
            <a:ext cx="54617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1" y="2203703"/>
            <a:ext cx="4913071" cy="2747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shows a series of five-minute price intervals above the corresponding OHLC bars below. Each interval becomes one bar before a formation is classified.</a:t>
            </a:r>
          </a:p>
        </p:txBody>
      </p:sp>
      <p:sp>
        <p:nvSpPr>
          <p:cNvPr id="14" name="Oval 13"/>
          <p:cNvSpPr/>
          <p:nvPr/>
        </p:nvSpPr>
        <p:spPr>
          <a:xfrm>
            <a:off x="6025031" y="2826765"/>
            <a:ext cx="382319" cy="48074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92430" y="2890864"/>
            <a:ext cx="382319" cy="48074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47047" y="4044641"/>
            <a:ext cx="382319" cy="44869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15090" y="2538503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365202" y="2602601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419819" y="4493513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4999" y="5344631"/>
            <a:ext cx="5699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7.3. Marks are ours, added for teaching.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First question: how many bars?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5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intervals read, first count the bars in the formation. The book's four categories are single, double, triple, and multiple (Lim, p. 210).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one bar is single, two are double, three are triple, and five are multiple.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count describes structure, not direction. A triple formation is not automatically bullish or bearish.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Count first. Next ask what bias the formation carries.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210. The counts and examples are ours, invented to show the classification.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Second question: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6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Now identify intrinsic sentiment, the formation's own bullish or bearish bias. Lim points back to Chapter 4 for intrinsic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an intrinsically bullish formation stays bullish in either an uptrend or a downtrend; location does not rename 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separate the formation's own bias from what the surrounding trend expects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pattern's own bias comes before the trend-context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211, with a pointer to Chapter 4. The placement example is 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Third question: continuation or reversal?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7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Finally ask whether intrinsic sentiment agrees with trend sentiment. Agreement is continuation; disagreement is reversal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bearish intrinsic sentiment in an uptrend disagrees, so it is a potential reversal; bullish intrinsic sentiment agrees, so it is a potential continuation.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these are directional expectations, not certainties. Part 2 makes the agreement rule explicit.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suggests continuation; disagreement suggests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two invented placements illustrate the book's agreement rule.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Part 1 in one worked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8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892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Now combine the questions. Ours, invented: two bars make a double formation; the second closes at 49.80 below the first low of 50.20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second bar is intrinsically bearish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Prices rise into the pair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, so trend sentiment is bullish and the sentiments disagree.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Read: a double-bar potential reversal, not a promise of a fall.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6644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4599432" cy="664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Count, intrinsic bias, and trend expectation now have one worked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5071" y="1810512"/>
            <a:ext cx="115363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3943" y="1929384"/>
            <a:ext cx="91588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43943" y="1929384"/>
            <a:ext cx="91588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8263" y="2203703"/>
            <a:ext cx="36724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1A1A"/>
                </a:solidFill>
                <a:latin typeface="Palatino"/>
              </a:rPr>
              <a:t>Figure 7.3 crop showing two later intervals, their OHLC bars, and the rising price context used in the worked read.</a:t>
            </a:r>
          </a:p>
        </p:txBody>
      </p:sp>
      <p:sp>
        <p:nvSpPr>
          <p:cNvPr id="14" name="Oval 13"/>
          <p:cNvSpPr/>
          <p:nvPr/>
        </p:nvSpPr>
        <p:spPr>
          <a:xfrm>
            <a:off x="8317214" y="2912546"/>
            <a:ext cx="146541" cy="66714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65252" y="2561417"/>
            <a:ext cx="146541" cy="737372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85064" y="2280513"/>
            <a:ext cx="146541" cy="7022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43404" y="2573853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8729572" y="2257836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8940226" y="2047158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5650991"/>
            <a:ext cx="5425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210 to 211, Figure 7.3. The PHP values and classification are ours, invented to show the sequence.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PHP 1.40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PHP 2.80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PHP 3.80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PHP 102.00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Open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High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Low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Close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PHP 2.80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Range is the absolute distance from high to low: |52.40 - 49.60| = PHP 2.80 (Lim, p. 209).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Close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last trade becomes the close. The first trade becomes the open; extremes become high and low (Lim, p. 210).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Number of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Trading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high price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trend duration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wider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potential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new timeframe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86342" y="1207008"/>
            <a:ext cx="131104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5214" y="1325880"/>
            <a:ext cx="107330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5214" y="1325880"/>
            <a:ext cx="107330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9534" y="1600200"/>
            <a:ext cx="52466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Palatino"/>
              </a:rPr>
              <a:t>Figure 7.3 crop showing two later intervals, their OHLC bars, and the rising price context used in the worked read.</a:t>
            </a:r>
          </a:p>
        </p:txBody>
      </p:sp>
      <p:sp>
        <p:nvSpPr>
          <p:cNvPr id="18" name="Oval 17"/>
          <p:cNvSpPr/>
          <p:nvPr/>
        </p:nvSpPr>
        <p:spPr>
          <a:xfrm>
            <a:off x="8091079" y="2478024"/>
            <a:ext cx="171728" cy="78181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98935" y="2066544"/>
            <a:ext cx="171728" cy="86410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56528" y="1737360"/>
            <a:ext cx="171728" cy="8229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09397" y="210312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596313" y="173278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843173" y="1485900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Number of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classification asks for the number of bars in the formation (Lim, p. 210).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potential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agreement indicates continuation and disagreement indicates reversal (Lim, 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4789" y="1207008"/>
            <a:ext cx="145415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33661" y="1325880"/>
            <a:ext cx="121641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33661" y="1325880"/>
            <a:ext cx="121641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7981" y="1600200"/>
            <a:ext cx="66777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Figure 7.3 crop showing two later intervals, their OHLC bars, and the rising price context used in the worked read.</a:t>
            </a:r>
          </a:p>
        </p:txBody>
      </p:sp>
      <p:sp>
        <p:nvSpPr>
          <p:cNvPr id="18" name="Oval 17"/>
          <p:cNvSpPr/>
          <p:nvPr/>
        </p:nvSpPr>
        <p:spPr>
          <a:xfrm>
            <a:off x="8030974" y="2478024"/>
            <a:ext cx="194626" cy="78181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93210" y="2066544"/>
            <a:ext cx="194626" cy="86410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85150" y="1737360"/>
            <a:ext cx="194626" cy="8229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42137" y="210312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620641" y="173278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8900416" y="1485900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Trend sentiment and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three questions in place, define the sentiments that decide the expectation.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sentiment is bullish in an uptrend and bearish in a downtrend. Intrinsic sentiment is the formation's own bullish or bearish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bullish formation plus uptrend means both sentiments are bullish and agree.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compare both before calling continuation or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gives continuation; disagreement gives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placement example is ours, invented to show agreement.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two-by-two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Now apply the rule to four invented cases: bullish plus bullish is continuation; bearish plus bearish is continuation.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Bullish trend plus bearish intrinsic is potential reversal. Bearish trend plus bullish intrinsic is also potential reversal.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book says agreement means continuation and disagreement means reversal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use both sentiments; neither alone gives the classification.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1318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247894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generic formations begin with this two-by-two reading.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four cases are ours, invented to show the rule.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Continuation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Reversal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Higher timeframe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Range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bullish formation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Reversal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Single bar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Low volume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Continuation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Reversal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bearish intrinsic bias disagrees with bullish trend sentiment in an uptrend, so Lim classifies it as a potential reversal (p. 211).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15716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15716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55346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A bullish formation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4317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Continuation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bullish intrinsic bias agrees with bullish trend sentiment in an uptrend, so Lim classifies it as a potential continuation (p. 211).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86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1. Prior bar: open 50.80, high 52.00, low 50.60, close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2. It opens at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3. It makes a new high of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4. It closes at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5. Volume is 4.2 million versus 2.0 million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That is a bearish key reversal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79" y="1810512"/>
            <a:ext cx="6430975" cy="31309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1" y="1929384"/>
            <a:ext cx="6193231" cy="28931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66019" y="2768408"/>
            <a:ext cx="309661" cy="1446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66019" y="2450157"/>
            <a:ext cx="309661" cy="1446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66019" y="3433841"/>
            <a:ext cx="309661" cy="1446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66019" y="4186070"/>
            <a:ext cx="371593" cy="17359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67384" y="275761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9715691" y="21500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15691" y="35677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10632" y="4329085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5032884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86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873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6873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05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22520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4929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748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2520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3390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69036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973855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47352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91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Exhaustion: in an uptrend, it opens at 65.40 above prior high 65.00, reaches 66.20, and closes at 60.50; the next bar opens at 60.20 with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bar: it penetrates support at 40.00 to 38.80, then rapidly retraces and closes at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88455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8455" y="3860596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6639" y="350946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55879" y="25815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5255879" y="419673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6831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650991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4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5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Foundation build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full Chapter 7 deck follows the approved outline in four parts.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samples establish the five-step teaching pattern, readable figures, numbered marks, and separate question and answer slides.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Approval of the outline and samples is the gate for the full 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Foundation scaffold for the approved Chapter 7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