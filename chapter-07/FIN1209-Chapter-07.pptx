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mark 1 for the hover and mark 2 for the later decline. The book's point is delayed follow-through.</a:t>
            </a:r>
          </a:p>
          <a:p>
            <a:r>
              <a:rPr sz="1400"/>
              <a:t>- Separate the pattern definition from the later price path. The latter is a caveat, not part of the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converse with the invented prices before reading the figure.</a:t>
            </a:r>
          </a:p>
          <a:p>
            <a:r>
              <a:rPr sz="1400"/>
              <a:t>- The rapid rebound is the book's observation in Figure 7.14, not a promise for every bullish key reversal.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bullish key reversal below the lower band. Mark 2 is the book's oversold StochRSI label.</a:t>
            </a:r>
          </a:p>
          <a:p>
            <a:r>
              <a:rPr sz="1400"/>
              <a:t>- Mark 3 is the high-volume reading. Lim calls these conditions greater potential,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first close near the high, then the second near the low.</a:t>
            </a:r>
          </a:p>
          <a:p>
            <a:r>
              <a:rPr sz="1400"/>
              <a:t>- The values and volume are ours, invented. The wider-range preference comes from Lim, p. 220.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marks 1 and 2 as the two closing positions. The book prefers wider ranges for both bars.</a:t>
            </a:r>
          </a:p>
          <a:p>
            <a:r>
              <a:rPr sz="1400"/>
              <a:t>- CCI is a label in Lim's figure. Chapter 7 does not define its formula, so do not infer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volumes left to right: strong, quiet, strong.</a:t>
            </a:r>
          </a:p>
          <a:p>
            <a:r>
              <a:rPr sz="1400"/>
              <a:t>- The arithmetic and volume are ours, invented; the interpretation follows Lim, pp. 221 to 223.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Marks 1, 2 and 3 identify the first, middle and third bars. The first closes near its high and the third near its low.</a:t>
            </a:r>
          </a:p>
          <a:p>
            <a:r>
              <a:rPr sz="1400"/>
              <a:t>- The figure also labels bearish +DM divergence and shows rapid later decline, not a guaranteed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first outer volume bar, mark 2 is the quiet middle volume bar, and mark 3 is the final outer bar.</a:t>
            </a:r>
          </a:p>
          <a:p>
            <a:r>
              <a:rPr sz="1400"/>
              <a:t>- The volume relationship is the book's clue. It does not make the reversal 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three-bar group. Mark 2 is the oversold StochRSI label.</a:t>
            </a:r>
          </a:p>
          <a:p>
            <a:r>
              <a:rPr sz="1400"/>
              <a:t>- Mark 3 points to the last close between the bands, which Lim calls bullish. The formulas are not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keeps the first three-bar reversal separate. Mark 2 identifies its large third bar near its high.</a:t>
            </a:r>
          </a:p>
          <a:p>
            <a:r>
              <a:rPr sz="1400"/>
              <a:t>- Mark 3 boxes the later outside day and its close near the low. Lim says the third bar adds bullishness,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first bar, mark 2 identifies the lower-volume middle bar, and mark 3 identifies the third bar.</a:t>
            </a:r>
          </a:p>
          <a:p>
            <a:r>
              <a:rPr sz="1400"/>
              <a:t>- Lim links this arrangement to pattern 6 in Figure 7.9. That link recalls the earlier generic pattern; it adds no new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gap up, the isolated bars, then the gap down.</a:t>
            </a:r>
          </a:p>
          <a:p>
            <a:r>
              <a:rPr sz="1400"/>
              <a:t>- Gap meaning points back to Chapter 3. The prices and volume are ours,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 island is isolated by two gaps: mark 1 is the gap up and mark 3 the gap down.</a:t>
            </a:r>
          </a:p>
          <a:p>
            <a:r>
              <a:rPr sz="1400"/>
              <a:t>- Mark 2 is the isolated formation. Lim also observes low volume and an overbought stochastic label; no formula is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Define containment before naming direction. Keep the book's generally and can qualifiers.</a:t>
            </a:r>
          </a:p>
          <a:p>
            <a:r>
              <a:rPr sz="1400"/>
              <a:t>- The next chart puts the invented values on the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first two bars run from PHP 48.00 to PHP 52.00. The outside bar runs from PHP 47.00 to PHP 53.00 and closes at PHP 47.50.</a:t>
            </a:r>
          </a:p>
          <a:p>
            <a:r>
              <a:rPr sz="1400"/>
              <a:t>- Its 5.0 million volume is invented to show the book's high-volume reliability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first to the 11 contained bars, then to the outside high and low.</a:t>
            </a:r>
          </a:p>
          <a:p>
            <a:r>
              <a:rPr sz="1400"/>
              <a:t>- The book says a trendline violation with the bearish breakout should be a reliable short-entry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11 preceding bars contained in the outside range.</a:t>
            </a:r>
          </a:p>
          <a:p>
            <a:r>
              <a:rPr sz="1400"/>
              <a:t>- Red [2] marks the trendline violation at the outside-bar break. Blue [3] marks the bearish close near the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Answer from the preceding outside-bar definition and marked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Answer from the preceding outside-bar definition and marked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inside bar separate from outside bar: the second bar is contained rather than engulfing.</a:t>
            </a:r>
          </a:p>
          <a:p>
            <a:r>
              <a:rPr sz="1400"/>
              <a:t>- The next chart shows the volume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first bar is O 50.00, H 53.00, L 48.00, C 52.40 on 4.5 million shares.</a:t>
            </a:r>
          </a:p>
          <a:p>
            <a:r>
              <a:rPr sz="1400"/>
              <a:t>- The second is O 51.80, H 52.50, L 49.20, C 50.10 on 0.5 million shares. It stays inside the first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dark bars are the inside-bar reversals at the same resistance.</a:t>
            </a:r>
          </a:p>
          <a:p>
            <a:r>
              <a:rPr sz="1400"/>
              <a:t>- The figure labels the oscillator as StochRSI and shows bearish divergence; this deck does not define its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dark bars are the inside-bar reversals at the same resistance.</a:t>
            </a:r>
          </a:p>
          <a:p>
            <a:r>
              <a:rPr sz="1400"/>
              <a:t>- The figure labels the oscillator as StochRSI and shows bearish divergence; this deck does not define its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two tests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two tests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three nested bars from left to right, then the later outside bar.</a:t>
            </a:r>
          </a:p>
          <a:p>
            <a:r>
              <a:rPr sz="1400"/>
              <a:t>- The book says the exhaustion reading is especially strong when the declines also have bearish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places three named reversal families on one chart.</a:t>
            </a:r>
          </a:p>
          <a:p>
            <a:r>
              <a:rPr sz="1400"/>
              <a:t>- This slide names the three price-bar families; the indicator panels are outside this slide's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State the proportion arithmetic. It is the distinction the book gives.</a:t>
            </a:r>
          </a:p>
          <a:p>
            <a:r>
              <a:rPr sz="1400"/>
              <a:t>- The check now returns to the containment and volume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stays visible while the check tests the stricter Harami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stays visible while the check tests the stricter Harami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all four book conditions visible before the figure.</a:t>
            </a:r>
          </a:p>
          <a:p>
            <a:r>
              <a:rPr sz="1400"/>
              <a:t>- The next slide works the numbers without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comparison aloud: 65.40 &gt; 65.00 and 60.20 lies between 60.00 and 66.20.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marked bar is the bullish converse of the uptrend case: it closes near its high in a downtrend.</a:t>
            </a:r>
          </a:p>
          <a:p>
            <a:r>
              <a:rPr sz="1400"/>
              <a:t>- There is a gap before the marked bar in this figure, but the book's rule concerns no gap between an exhaustion bar and the subsequent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gap and later rebound marks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gap and later rebound marks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line to signal the shift from the gap test to the range-and-volume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ordinary bars have a PHP 3.0 range and 1.5 million shares. The spike has an 8.0 range and 6.0 million shares.</a:t>
            </a:r>
          </a:p>
          <a:p>
            <a:r>
              <a:rPr sz="1400"/>
              <a:t>- The numbers are invented to make Lim's wide-range and high-volume description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price panel shows the wide spike; the lower panel shows its high volume.</a:t>
            </a:r>
          </a:p>
          <a:p>
            <a:r>
              <a:rPr sz="1400"/>
              <a:t>- Lim also identifies a typical three-bar bearish reversal at the top of the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exact plural definition on the next slide.</a:t>
            </a:r>
          </a:p>
          <a:p>
            <a:r>
              <a:rPr sz="1400"/>
              <a:t>- The next figure places the barrier and retrace on the real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support barrier, mark 2 the penetration, and mark 3 the rapid retrace.</a:t>
            </a:r>
          </a:p>
          <a:p>
            <a:r>
              <a:rPr sz="1400"/>
              <a:t>- The book says pin bars are usually breakouts formed on low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support, penetration, and close-back-above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support, penetration, and close-back-above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exhaustion bar's open context, red [2] its close near the trend-side extreme, and blue [3] the no-gap relationship to the following bar.</a:t>
            </a:r>
          </a:p>
          <a:p>
            <a:r>
              <a:rPr sz="1400"/>
              <a:t>- The crop is read with the invented numbers on the left, not as a second definition of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support barrier, mark 2 the penetration, and mark 3 the rapid retrace.</a:t>
            </a:r>
          </a:p>
          <a:p>
            <a:r>
              <a:rPr sz="1400"/>
              <a:t>- The book says pin bars are usually breakouts formed on low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key difference is the false impression of breaking a barrier. The pin-bar volume tendency is a separate book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key difference is the false impression of breaking a barrier. The pin-bar volume tendency is a separate book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transition before showing the two-direction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upper barrier is resistance at PHP 60.00; the false high is PHP 62.00 and the short close is PHP 59.40.</a:t>
            </a:r>
          </a:p>
          <a:p>
            <a:r>
              <a:rPr sz="1400"/>
              <a:t>- The lower barrier is support at PHP 40.00; the false low is PHP 38.50 and the long close is PHP 40.60.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course drawing labels resistance PHP 60.00, high PHP 62.00, close PHP 59.40, and stop PHP 62.20.</a:t>
            </a:r>
          </a:p>
          <a:p>
            <a:r>
              <a:rPr sz="1400"/>
              <a:t>- The book's drawing follows on its own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calls this a non-failure swing and attributes the setup to a 2B entry.</a:t>
            </a:r>
          </a:p>
          <a:p>
            <a:r>
              <a:rPr sz="1400"/>
              <a:t>- The short begins after the close returns below resistance; the stop sits just above the breakout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separately: short below resistance after a false upside break, long above support after a false downside break.</a:t>
            </a:r>
          </a:p>
          <a:p>
            <a:r>
              <a:rPr sz="1400"/>
              <a:t>- The book does not give a complete trade plan beyond these entry and stop descriptions.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both barrier directions visible; the question asks for the returned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both barrier directions visible; the question asks for the returned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import a formula beyond the book's wording. The chart shows both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forward-shifted three-day SMA is PHP 50.00. Invented closes cross above at 50.80, below at 49.60, then repeat after nine bullish days.</a:t>
            </a:r>
          </a:p>
          <a:p>
            <a:r>
              <a:rPr sz="1400"/>
              <a:t>- The book says the full method belongs in DiNapoli's original text, so this chart teaches only the named Chapter 7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crossings are the pattern's named structure; the later decline is the observed follow-through.</a:t>
            </a:r>
          </a:p>
          <a:p>
            <a:r>
              <a:rPr sz="1400"/>
              <a:t>- Lim directs readers to DiNapoli's original text for a complete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forward-shifted three-day SMA. Red [2] marks the long bullish run before the pattern.</a:t>
            </a:r>
          </a:p>
          <a:p>
            <a:r>
              <a:rPr sz="1400"/>
              <a:t>- Blue [3] marks the topping formation, which the book limits to eight to ten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SMA, bullish-day run, and topping formation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SMA, bullish-day run, and topping formation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Define the term before showing both directions.</a:t>
            </a:r>
          </a:p>
          <a:p>
            <a:r>
              <a:rPr sz="1400"/>
              <a:t>- The next chart puts the levels on an invented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In the bearish case, the inside high is PHP 52.00, the false high is PHP 53.00, and the short re-entry is below PHP 49.00.</a:t>
            </a:r>
          </a:p>
          <a:p>
            <a:r>
              <a:rPr sz="1400"/>
              <a:t>- The bullish converse uses an inside low of PHP 40.00, a false low of PHP 39.20, and an upside re-entry at PHP 41.00.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Left: inside high 43.00, inside low 40.00, false low 39.00, long re-entry at 43.00.</a:t>
            </a:r>
          </a:p>
          <a:p>
            <a:r>
              <a:rPr sz="1400"/>
              <a:t>- Right: inside high 52.00, inside low 49.00, false high 53.00, short re-entry at 49.00.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inside bar, red [2] the failed downside breakout, and blue [3] the bullish re-entry above the inside high.</a:t>
            </a:r>
          </a:p>
          <a:p>
            <a:r>
              <a:rPr sz="1400"/>
              <a:t>- Only the opposite re-entry is taken, and it must occur within three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inside bar, red [2] the failed upside breakout, and blue [3] the bearish re-entry below the inside low.</a:t>
            </a:r>
          </a:p>
          <a:p>
            <a:r>
              <a:rPr sz="1400"/>
              <a:t>- Only the opposite re-entry is taken, and it must occur within three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includes indicator panels, but this slide does not interpret their formulas.</a:t>
            </a:r>
          </a:p>
          <a:p>
            <a:r>
              <a:rPr sz="1400"/>
              <a:t>- Read the formation, failed downside breakout, and upside re-entry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formation, failed downside breakout, and upside re-entry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formation, failed downside breakout, and upside re-entry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separately, then reveal the timing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separately, then reveal the timing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cells: uptrend plus bullish formation and downtrend plus bearish formation are continuation; the mixed pairs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rows first: an uptrend has bullish trend sentiment; a downtrend has bearish trend sentiment. Columns show bullish or bearish formation.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two agreement cells are continuation; the two mixed cells are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7065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523" y="1929384"/>
            <a:ext cx="5504688" cy="3511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43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788151" y="1325880"/>
            <a:ext cx="5507431" cy="35165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52754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Read the prior high and close first.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1. Open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2. New high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3. Close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4. Volume 4.2m versus 2.0m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Meaning/action: bearish key reversal, a potential warning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42245" y="2811765"/>
            <a:ext cx="325663" cy="15213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2477069"/>
            <a:ext cx="325663" cy="15213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42245" y="3511585"/>
            <a:ext cx="325663" cy="1521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42245" y="4302686"/>
            <a:ext cx="390796" cy="18256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05204" y="28084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0449982" y="23216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33522" y="36604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38064" y="4460652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89170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25746"/>
            <a:ext cx="610819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41441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810512"/>
            <a:ext cx="3916374" cy="24207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1" y="1929384"/>
            <a:ext cx="3678631" cy="2183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1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203703"/>
            <a:ext cx="3129990" cy="172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9143583" y="3130055"/>
            <a:ext cx="257504" cy="50209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3583" y="3435681"/>
            <a:ext cx="257504" cy="371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06797" y="3632154"/>
            <a:ext cx="349469" cy="45843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85811" y="2974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749024" y="36513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712238" y="391331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322735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675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6990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8877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8877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309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54524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6933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1752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4524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5394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01040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05859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79356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650991"/>
            <a:ext cx="36420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key-reversal check, compare two one-bar warnings: exhaustion has no following gap; pin falsely penetrates a barrier.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 O65.40 &gt; prior high65.00; H66.20; next O60.20 means no gap. Pin support40.00; low38.80; C40.60; return.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a tiring trend; pin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7391095" cy="35794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7153351" cy="334171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26322" y="2681269"/>
            <a:ext cx="143067" cy="13366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26322" y="2497474"/>
            <a:ext cx="143067" cy="1336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6322" y="3834159"/>
            <a:ext cx="178833" cy="20050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6805156" y="3867576"/>
            <a:ext cx="715335" cy="66834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131464" y="3934410"/>
            <a:ext cx="250367" cy="2339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31464" y="3165817"/>
            <a:ext cx="250367" cy="20050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90122" y="2349757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6976990" y="2316340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6905457" y="405403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763859" y="3653025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9766797" y="4254533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10696733" y="3084934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79" y="5481407"/>
            <a:ext cx="7391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557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571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94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47033"/>
            <a:ext cx="45720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47033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2991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61078"/>
            <a:ext cx="40233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consolidation can come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a rapid decline may not follow. The market can hover near the key bar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falling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(p.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the key bar closes PHP 50.80, then prices hover at PHP 50.60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declining to PHP 48.90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treat the bar as a potential warning; wait for the surrounding context rather than assuming timing.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wide bar may make follow-through more reliable, but width does not guarantee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199" y="1810512"/>
            <a:ext cx="4099255" cy="32927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4071" y="1929384"/>
            <a:ext cx="3861511" cy="30550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861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8392" y="2203703"/>
            <a:ext cx="3312871" cy="2597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the later consolidation and decline.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212" y="2357091"/>
            <a:ext cx="424766" cy="45825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44054" y="2418192"/>
            <a:ext cx="424766" cy="7943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5120" y="2106873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33879" y="317614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5194751"/>
            <a:ext cx="4099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219, Figure 7.15. The PHP path is ours, invented to show consolidation.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the bullish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downtrend, the converse makes a new low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then closes near or above the previous close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the prior low is PHP 42.00 and close PHP 41.00; the new low is PHP 40.50, then the close is PHP 43.20 on 4.0 million shares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Figure 7.14 observes a rapid rebound after a high-volume bullish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0109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direction changes, but the reading still uses the new extreme and the prior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71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342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77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4" name="Oval 13"/>
          <p:cNvSpPr/>
          <p:nvPr/>
        </p:nvSpPr>
        <p:spPr>
          <a:xfrm>
            <a:off x="8501675" y="3488197"/>
            <a:ext cx="334313" cy="6518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1675" y="3884986"/>
            <a:ext cx="334313" cy="48181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3915" y="4140065"/>
            <a:ext cx="453711" cy="59518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551" y="333274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035792" y="421135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7988033" y="455145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7390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PHP values are ours, invented.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7.16: context can strengthen the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key reversal is below the lower Bollinger band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with StochRSI oversold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closes near its high and has extreme volume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which Lim calls indicative of a selling climax (p. 220).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gives no formulas here. These labels are context, not a promise of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61081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Use the labels as context, not as a promise of a reversal.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8480" y="1810512"/>
            <a:ext cx="38755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7352" y="1929384"/>
            <a:ext cx="36378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7352" y="1929384"/>
            <a:ext cx="36378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1672" y="2203703"/>
            <a:ext cx="30891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bullish key reversal below the lower volatility band, an oversold StochRSI label, and high volume under the reversal bar.</a:t>
            </a:r>
          </a:p>
        </p:txBody>
      </p:sp>
      <p:sp>
        <p:nvSpPr>
          <p:cNvPr id="14" name="Oval 13"/>
          <p:cNvSpPr/>
          <p:nvPr/>
        </p:nvSpPr>
        <p:spPr>
          <a:xfrm>
            <a:off x="9092484" y="3439241"/>
            <a:ext cx="472917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37997" y="4387291"/>
            <a:ext cx="363782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347132" y="3439241"/>
            <a:ext cx="72757" cy="161519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8737054" y="333719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737054" y="435547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810313" y="3566159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650991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7.16. Bollinger Bands and StochRSI are shown by the book but not defined here.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Two-day reversal: read the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close near high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second near low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51.80, then PHP 49.60; the second range is wider.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potential bearish reversal,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32335" y="2781338"/>
            <a:ext cx="455928" cy="24341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3633293"/>
            <a:ext cx="521061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41044" y="2667038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9970068" y="339728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RA - FIN1209 teaching chart, drawn for this course. Illustrative data, not a real instrument.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220. Chart RA is ours, with invented PHP bars and volume.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7.17: the book adds CCI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212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first close near its high; mark 2 is the second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says wider ranges would be preferable and labels bearish CCI divergence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CCI is not defined in Chapter 7. Treat the label as the book's supporting observation, not as a formula to calculate.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9194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close sequence is the pattern; CCI is context shown by the figure.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95168" y="1810512"/>
            <a:ext cx="453347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4040" y="1929384"/>
            <a:ext cx="429573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14040" y="1929384"/>
            <a:ext cx="429573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8360" y="2203703"/>
            <a:ext cx="374709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the first bar closes near its high, the second near its low, and the lower panel labels bearish CCI divergence.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990779" y="2631643"/>
            <a:ext cx="343658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77395" y="2561417"/>
            <a:ext cx="343658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18248" y="4387291"/>
            <a:ext cx="988018" cy="73737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9960" y="235403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927553" y="2424257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583894" y="45310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650991"/>
            <a:ext cx="51050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7.17 -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7.17. The CCI label is reproduced as the book's observation, not taught as a formula.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Bullish three-bar reversal: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volume: strong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quiet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strong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4.0m, 0.6m, then 4.2m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a quiet middle shows uncertainty,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06671" y="4211405"/>
            <a:ext cx="455928" cy="27384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34989" y="4211405"/>
            <a:ext cx="455928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28439" y="4211405"/>
            <a:ext cx="455928" cy="27384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30161" y="344741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53877" y="390382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390382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221 to 223. Chart RB is ours, with invented PHP bars and volume.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7.18: the bearish three-bar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760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clear, strong uptrend, mark 1 is the first bar, mark 2 the middle bar, and mark 3 the third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closes near its high and the third near its low. The figure also labels bearish +DM divergence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read the three bars with trend and volume context; the later decline is not guaranteed.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4681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first and third bars carry the outer close reading; the middle bar separates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7999" y="1810512"/>
            <a:ext cx="4556455" cy="3322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1" y="1929384"/>
            <a:ext cx="4318711" cy="3084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76871" y="1929384"/>
            <a:ext cx="43187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1" y="2203703"/>
            <a:ext cx="3770071" cy="2627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847" y="2299559"/>
            <a:ext cx="215935" cy="67865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56782" y="2330407"/>
            <a:ext cx="215935" cy="67865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9352163" y="2669734"/>
            <a:ext cx="950116" cy="1604093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396895" y="2109847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303824" y="210984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701652" y="350714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999" y="5224489"/>
            <a:ext cx="4556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7.18. +DM is shown as a book label and is not defined in this chapter.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7.19: the volume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bottom reversal has high-volume outer columns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with a below-average middle column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This is the same uncertainty-between-strengthers reading shown in the invented example.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Volume supports the potential reversal. Lim does not say it guarantees follow-through.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Keep the quiet middle bar between the stronger outer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34364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31987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2741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three-bar bottom reversal with high-volume outer bars and a below-average-volume middle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53137" y="4392396"/>
            <a:ext cx="229651" cy="4478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82788" y="4456371"/>
            <a:ext cx="183721" cy="415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66509" y="4392396"/>
            <a:ext cx="229651" cy="4478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63255" y="411816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35931" y="418213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57443" y="411816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338414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7.19 -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7.19. Volume labels are the book's observations.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7.20:
oversold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three-bar bullish reversal. The full pattern occurs at an oversold StochRSI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last close sits between the Bollinger bands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which Lim calls bullish.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links this example to pattern 5 in Figure 7.9. It gives no indicator formula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89120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25696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pattern is read first; the indicator labels add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0105" y="1810512"/>
            <a:ext cx="459792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18977" y="1929384"/>
            <a:ext cx="436018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8977" y="1929384"/>
            <a:ext cx="436018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93297" y="2203703"/>
            <a:ext cx="381154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the three-bar reversal, an oversold StochRSI label, and the final close between the two volatility bands.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2244" y="3263676"/>
            <a:ext cx="610425" cy="87782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50253" y="4562856"/>
            <a:ext cx="566823" cy="59692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3854" y="3404128"/>
            <a:ext cx="392416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9871" y="30562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59536" y="474171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219865" y="3100547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650991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7.20 -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7.20. StochRSI and Bollinger Bands are shown but not defined in Chapter 7.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7.21: a separate outside day follows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06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reversal is marked 1. Its large third bar near its high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adds bullishness.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Later, the outside day engulfs four preceding bars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closes near its low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Keep the two formations separate: the later outside day is a new event and can reverse the preceding move.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1383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Below-average middle volume and high-volume outer bars are the three-bar clue; the outside day is separate.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19" y="1810512"/>
            <a:ext cx="4510735" cy="33006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22591" y="1929384"/>
            <a:ext cx="4272991" cy="30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2259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1" y="2203703"/>
            <a:ext cx="3724351" cy="26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Newmont Mining daily chart: a three-bar bottom reversal, then a separate outside day engulfing four preceding bars, with high volume under the outside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18138" y="3185189"/>
            <a:ext cx="640948" cy="82699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9978" y="3154560"/>
            <a:ext cx="299109" cy="52069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42766" y="2541972"/>
            <a:ext cx="299109" cy="2450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44547" y="2235678"/>
            <a:ext cx="470029" cy="918882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24599" y="29561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201991" y="284276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450302" y="2361841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21169" y="3136720"/>
            <a:ext cx="219456" cy="21945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19" y="5202636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7.21. The outside day and volume are the book's observations.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7.22:
the pattern 6 link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1 is the first-bar volume. Mark 2 is the large middle-bar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3 is the middle-bar volume, lower than the first. Lim links this arrangement to pattern 6 in Figure 7.9.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link recalls the generic pattern; it does not add a new trading rule 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28523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A large price bar can still carry lower volume than the first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19" y="1810512"/>
            <a:ext cx="4739335" cy="34247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93991" y="1929384"/>
            <a:ext cx="4501591" cy="31869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93991" y="1929384"/>
            <a:ext cx="45015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1" y="2203703"/>
            <a:ext cx="3952951" cy="27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a bullish three-bar reversal whose large middle bar has lower volume than the first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99771" y="4383348"/>
            <a:ext cx="270095" cy="4780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4819" y="3459128"/>
            <a:ext cx="315111" cy="73300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24851" y="4383348"/>
            <a:ext cx="270095" cy="4780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15376" y="410970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46994" y="317176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40773" y="410970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19" y="5326663"/>
            <a:ext cx="4739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223, Figure 7.22. The reference to pattern 6 is Lim's cross-reference.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Both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First near high, third near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First near low, third near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at the exact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253492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846320" cy="13511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highest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new all-time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No price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Below-average volume between stronger outer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First near high, third near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First near high; third near low (Lim, p. 221).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7438"/>
            <a:ext cx="5303520" cy="27470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7438"/>
            <a:ext cx="91440" cy="274701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60318"/>
            <a:ext cx="475488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75488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Below-average volume between stronger outer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below-average-volume middle bar between high-volume outer bars (pp. 221 to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Island reversal: two gaps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gap up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isolated bars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then gap down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50.00 to 50.80, then PHP 49.40.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two gaps isolate a potential reversal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27733" y="2537923"/>
            <a:ext cx="586194" cy="3042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48794" y="2598777"/>
            <a:ext cx="2475042" cy="912808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33041" y="2537923"/>
            <a:ext cx="651327" cy="30426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6621" y="223034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798655" y="34169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223034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RC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Chart RC is ours, with invented PHP bars and volume; gap meaning points to Chapter 3.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7.23: the book's island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Gap keeps Chapter 3 meaning in ‘Gaps’. Mark 1 is the gap up, mark 2 the island, and mark 3 the gap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observes low volume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an overbought stochastic label </a:t>
            </a:r>
            <a:r>
              <a:rPr sz="1700" b="1" i="0">
                <a:solidFill>
                  <a:srgbClr val="007A33"/>
                </a:solidFill>
                <a:latin typeface="Arial"/>
              </a:rPr>
              <a:t>(5)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calling low volume lack of conviction.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 stochastic method is given in Chapter 7. These labels are context; the island is a potential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5595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two gaps do the defining work; volume and stochastic are supporting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6976" y="1810512"/>
            <a:ext cx="408994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55848" y="1929384"/>
            <a:ext cx="385219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55848" y="1929384"/>
            <a:ext cx="385219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0168" y="2203703"/>
            <a:ext cx="330355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4" name="Oval 13"/>
          <p:cNvSpPr/>
          <p:nvPr/>
        </p:nvSpPr>
        <p:spPr>
          <a:xfrm>
            <a:off x="8912293" y="2912546"/>
            <a:ext cx="269653" cy="52669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04903" y="2491191"/>
            <a:ext cx="462263" cy="11236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44211" y="2947659"/>
            <a:ext cx="308175" cy="5266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1161" y="4317065"/>
            <a:ext cx="731917" cy="456468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3425" y="4843759"/>
            <a:ext cx="385219" cy="456468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57717" y="2613538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9674855" y="2192182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10060075" y="2613538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8297207" y="476457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Oval 22"/>
          <p:cNvSpPr/>
          <p:nvPr/>
        </p:nvSpPr>
        <p:spPr>
          <a:xfrm>
            <a:off x="9683999" y="5150815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650991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7.23. Gap meaning points back to Chapter 3; stochastic is shown but not defined here.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resistance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Very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 first, high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Wide and high-volume first, narrow and very-low-volume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021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0215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island is isolated by a gap up and a later gap down (Lim, p. 223).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92043"/>
            <a:ext cx="5029200" cy="2761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92043"/>
            <a:ext cx="91440" cy="2761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7492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899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Wide and high-volume first, narrow and very-low-volume second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bar should be wide on high volume and the second narrow on very low volume (Lim, 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Outside bar: containment and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turn from key reversals to containment: an outside bar engulfs preceding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prior 48.00 to 52.00; outside 47.00 to 53.00; close 47.50 near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Larger range and more contained bars generally strengthen; near-edge close and high volume add reliability (pp. 223 to 224).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Continuation is possible when the close follows the existing trend (p. 223).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Trendline break plus bearish outside bar can support a short.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The worked PHP values are ours, invented.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Outside bar: an invented containment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19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71665" y="2561417"/>
            <a:ext cx="1052291" cy="154497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22647" y="2561417"/>
            <a:ext cx="676473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22647" y="3860596"/>
            <a:ext cx="676473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40399" y="223040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7894655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7969818" y="433718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SA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SA is ours, with invented PHP bars and million-share volume.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7.24: the outside bar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 defines it: “Outside bars are bars that engulf one or more preceding bars.” (Lim, p. 223).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11 bars contained inside the outside range.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outside bar's high-to-low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close near the low. Meaning/action: a bearish outside bar can support a short entry.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46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08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51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2650" y="2170077"/>
            <a:ext cx="950857" cy="102294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993507" y="2170077"/>
            <a:ext cx="0" cy="1022946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8743282" y="2952329"/>
            <a:ext cx="300270" cy="21060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6932" y="19544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38330" y="243584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38330" y="31579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48360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7.24: the outside bar's 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same figure keeps the context visible: the marked outside bar contains 11 preceding bars.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those contained bars.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trendline violation at the outside-bar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bearish close near the low. Meaning/action: use the break and close together, not either mark alone.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46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08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51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2650" y="2170077"/>
            <a:ext cx="950857" cy="102294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93417" y="2681550"/>
            <a:ext cx="300270" cy="42121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93417" y="3012503"/>
            <a:ext cx="300270" cy="24069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6932" y="19544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38330" y="243584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88375" y="31880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48360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outside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must a bearish outside bar's range contain?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Only the current bar's body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One or more prior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on both sides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volume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close is more reliable for a bearish outside-bar reading?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close near the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close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close near the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close does not matter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738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361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78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932" y="1568772"/>
            <a:ext cx="959543" cy="103229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72476" y="1568772"/>
            <a:ext cx="0" cy="103229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8719965" y="2358171"/>
            <a:ext cx="303013" cy="2125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54470" y="135260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0042" y="183838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25670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7234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outside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must a bearish outside bar's range contain?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906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One or more prior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 engulfs preceding bars (Lim, p. 223).
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158363"/>
            <a:ext cx="502920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8363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4124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close is more reliable for a bearish outside-bar reading?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48056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close near the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closes near the low are generally more reliable for the bearish reading (p.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738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361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78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932" y="1568772"/>
            <a:ext cx="959543" cy="103229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72476" y="1568772"/>
            <a:ext cx="0" cy="103229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8719965" y="2358171"/>
            <a:ext cx="303013" cy="2125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54470" y="135260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0042" y="183838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25670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7234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bar: quiet containment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keep the containment idea and reverse it: an inside bar stays within the preceding bar's high and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first range 48.00 to 53.00 on 4.5m; second range 49.20 to 52.50 on 0.5m.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Reliable case: wide, high-volume first bar; narrow, very-low-volume second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same resistance is tested in the next figure, then lower bars add exhaustion context.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Inside means containment. It is not Harami.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224. The worked PHP values are ours, invented.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bar: an invented quiet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23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968392" y="2561417"/>
            <a:ext cx="1578437" cy="203655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647" y="3017885"/>
            <a:ext cx="826800" cy="115872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442246" y="2631643"/>
            <a:ext cx="3683020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4211634" y="223040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7969818" y="275709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195309" y="22655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SB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SB is ours, with invented PHP bars and million-share volume.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7.25: inside bars at resistance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inside bars are considered reversal bars. The first should be wide on high volume; the second narrow on very low volume (p. 224).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 the two inside-bar reversals testing one resistance level.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bearish StochRSI divergence. Meaning/action: repeated failure at resistance warns of a possible reversal; no oscillator formula is taught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9022979" y="2473185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77499" y="2442974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78504" y="4195224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14014" y="219689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978581" y="22271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31093" y="44325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16081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7.25: volume and resistance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two tests again, this time with the book's volume condition.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are the two inside-bar reversals at one resistance.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figure's bearish StochRSI divergence.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prefer the wide, high-volume first bar and narrow, very-low-volume second bar, but keep the oscillator reading contextual.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9022979" y="2473185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77499" y="2442974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78504" y="4195224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14014" y="219689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978581" y="22271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31093" y="44325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16081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9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ideal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bar should be wide in an ideal inside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first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second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Neither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volume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bar should have very low volume?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first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second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resistance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ideal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bar should be wide in an ideal inside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first bar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first bar should be wide (p. 224).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0292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bar should have very low volume?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second bar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second bar should be narrow on very low volume (p.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7.26: lower inside bars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three successively lower inside bars below the lower band.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band context.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later bearish outside bar. Lim says the exhaustion reading is stronger when declines also show bearish volume (p. 225).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lower inside bars can warn of exhaustion, but the book leaves the volume judgement contextual.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710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3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76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Wheaton daily chart. Three successively lower inside bars form below the lower band, followed by a bearish outside 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6951" y="3470388"/>
            <a:ext cx="707032" cy="60300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012932" y="3671389"/>
            <a:ext cx="1161553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134029" y="2353718"/>
            <a:ext cx="454520" cy="33500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07987" y="3225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604973" y="36276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635111" y="217593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7303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7.26 -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7.26.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7.27: three reversal families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an inside-bar reversal;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 outside-bar reversal;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 three-bar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inside range 6.0 points; outside bar contains four bars; outer volumes 4.0m and 4.2m.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slide names the three price-bar families; the indicator panels are outside this slide's scope.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3339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3102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64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2" name="Oval 11"/>
          <p:cNvSpPr/>
          <p:nvPr/>
        </p:nvSpPr>
        <p:spPr>
          <a:xfrm>
            <a:off x="7422660" y="2425729"/>
            <a:ext cx="356716" cy="40328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66797" y="2704924"/>
            <a:ext cx="356716" cy="40328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3364" y="3542507"/>
            <a:ext cx="356716" cy="4963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63374" y="21772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273823" y="245641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458471" y="39764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5241856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226, Figure 7.27.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 versus Harami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describe a smaller formation inside a larger one, but the book keeps their rules separate.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if the preceding candlestick range is 6.0 points, a Harami's narrow range is at most 1.5 to 2.0 points, one-fourth to one-third.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 inside bar has no such one-fourth to one-third restriction (Lim, p. 226).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do not rename every inside bar as Harami; check the internal proportion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names are related, not interchangeable.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226. The 6.0-point example is ours, invented.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10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reversal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Is every inside bar a Harami?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No; Harami has a stricter one-fourth to one-third proportion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Yes; the terms are identical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on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below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proportion does the book give for a Harami body?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One-half to two-thirds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One-fourth to one-third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One to two 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proportion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312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74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61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8" name="Oval 17"/>
          <p:cNvSpPr/>
          <p:nvPr/>
        </p:nvSpPr>
        <p:spPr>
          <a:xfrm>
            <a:off x="7457407" y="1817772"/>
            <a:ext cx="353516" cy="39966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0513" y="2094462"/>
            <a:ext cx="353516" cy="3996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3481" y="2924530"/>
            <a:ext cx="353516" cy="49189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99950" y="157009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81595" y="184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335320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610520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reversal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51333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133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Is every inside bar a Harami?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899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No; Harami has a stricter one-fourth to one-third proportion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keeps inside bar and Harami rules separate; Harami has the stricter proportion (p. 226).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03218"/>
            <a:ext cx="502920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0321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8609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proportion does the book give for a Harami body?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65548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One-fourth to one-third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gives one-fourth to one-third of the preceding candlestick range (p. 226).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312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74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61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8" name="Oval 17"/>
          <p:cNvSpPr/>
          <p:nvPr/>
        </p:nvSpPr>
        <p:spPr>
          <a:xfrm>
            <a:off x="7457407" y="1817772"/>
            <a:ext cx="353516" cy="39966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0513" y="2094462"/>
            <a:ext cx="353516" cy="3996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3481" y="2924530"/>
            <a:ext cx="353516" cy="49189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99950" y="157009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81595" y="184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335320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610520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11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resistance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Very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 first, high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Wide and high-volume first, narrow and very-low-volume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021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0215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island is isolated by a gap up and a later gap down (Lim, p. 223).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92043"/>
            <a:ext cx="5029200" cy="2761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92043"/>
            <a:ext cx="91440" cy="2761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7492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899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Wide and high-volume first, narrow and very-low-volume second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bar should be wide on high volume and the second narrow on very low volume (Lim, 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bar: plain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move from containment to a bar that can exhaust a trend.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 an uptrend, it opens above the previous high, is larger in context, and closes near its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There is no gap between the exhaustion bar and the subsequent bar (Lim, p. 226).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read the larger bar, trend context, close, and next-bar gap together; the pattern is a reversal warning,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bullish exhaustion bar is the converse in a downtrend.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226. The transition wording is ours.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bar: worked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prior high 65.00; exhaustion O 65.40, H 66.20, L 60.00, C 60.50.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65.40 is above 65.00; the 6.20-point range is large in this uptrend; 60.50 is near low 60.00.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Next O 60.20 lies inside 60.00 to 66.20, so there is no following gap. Meaning/action: all four observations support the reading; now read Figure 7.28.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Numbers first: compare each value with the named level.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The worked PHP values are ours, invented to show Lim's p. 226 rule.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7.28: bullish exhaustion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bullish exhaustion case is in a downtrend. 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gap before the bar,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exhaustion bar,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later rebound.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support PHP 40.00; low PHP 39.60 and close PHP 41.20. The bar closes near its high, the bullish converse.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the larger bar matters in trend context. The prior gap is visible, but the rule concerns no gap after the exhaustion 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50584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26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1810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2" name="Oval 11"/>
          <p:cNvSpPr/>
          <p:nvPr/>
        </p:nvSpPr>
        <p:spPr>
          <a:xfrm>
            <a:off x="8747607" y="3108794"/>
            <a:ext cx="305757" cy="2041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00486" y="3176837"/>
            <a:ext cx="305757" cy="36289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8162" y="2836623"/>
            <a:ext cx="866311" cy="952601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8388321" y="290798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305592" y="295334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22863" y="259045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407794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226, Figure 7.28.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12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exhaustion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the next bar help distinguish in an exhaustion reading?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Whether the next bar gaps away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Whether volume is absent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Whether resistance is horizontal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Whether the bar is an inside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Where is the bullish exhaustion converse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the top of a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Only in a flat market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above resistance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the bottom of a downtrend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1974" y="2562141"/>
            <a:ext cx="303013" cy="35963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9325992" y="2224979"/>
            <a:ext cx="858540" cy="944055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39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19796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exhaustion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the next bar help distinguish in an exhaustion reading?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Whether the next bar gaps away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requires no gap between the exhaustion bar and the subsequent bar (p. 226).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502920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Where is the bullish exhaustion converse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the bottom of a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appears in a downtrend at a bottom (p. 226).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1974" y="2562141"/>
            <a:ext cx="303013" cy="35963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9325992" y="2224979"/>
            <a:ext cx="858540" cy="944055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39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19796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From exhaustion to emotion spike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Next, the book shifts from exhaustion's next-bar gap test to an emotion spike read by range and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chart uses invented values as context, not as a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Read range and volume together.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Transition wording is ours; the next chart is invented.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Emotion spike: a wide bar on high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33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20029" y="2420965"/>
            <a:ext cx="901964" cy="147474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20029" y="4457517"/>
            <a:ext cx="901964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97156" y="2912546"/>
            <a:ext cx="2555565" cy="1334292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13599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6992691" y="500432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9247601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SC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SC is ours, with invented PHP bars and million-share volume.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7.29: emotion spike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an emotional market, a price spike is usually wide-ranging and accompanied by high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wide spike;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its high volume;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three-bar bearish reversal at the top (Lim, 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ordinary range 3.0 and volume 1.5 million; spike range 8.0 and volume 6.0 million. Treat it as reversal context, not a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9327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555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9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Mad Catz Interactive daily chart. A wide price spike occurs on high volume and a three-bar bearish reversal forms near the top.</a:t>
            </a:r>
          </a:p>
        </p:txBody>
      </p:sp>
      <p:sp>
        <p:nvSpPr>
          <p:cNvPr id="12" name="Oval 11"/>
          <p:cNvSpPr/>
          <p:nvPr/>
        </p:nvSpPr>
        <p:spPr>
          <a:xfrm>
            <a:off x="8292876" y="2540491"/>
            <a:ext cx="350315" cy="100832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92966" y="4373812"/>
            <a:ext cx="300270" cy="45833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94410" y="2112716"/>
            <a:ext cx="400360" cy="42777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37247" y="229337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788014" y="47072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489548" y="220171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9523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7.29 -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227, Figure 7.29.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Pin bar: a false barrier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add a barrier test: a pin bar penetrates a barrier during the interval, then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support PHP 40.00, low PHP 38.80, close PHP 40.60, volume 0.8m.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Book-named barriers are moving averages, support or resistance, and trendlines. Pin bars usually form on low volume (Lim, p. 227).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breach can fool a trader; wait for the return through the barrier.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false impression separates pin from exhaustion.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227. The worked PHP values are ours, invented.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7.30: pin bar at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“single bar misrepresentations of market strength or weakness.” (p.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support,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intra-period penetration, and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close back above support.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the breach suggests a potential breakout, but the rapid retrace warns that impression was false. The book says pin bars usually form on low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49370" y="3834600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04895" y="3790293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04895" y="2926299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2415" y="381207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897940" y="387853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554470" y="268223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55063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227, Figure 7.30.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13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pin-bar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a pin bar penetrate during the interval?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volume average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prior close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stochastic formula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barrier such as support or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the rapid retrace imply?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barrier break is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apparent breakout may be false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trend must continue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volume is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49370" y="3231096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04895" y="3186789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04895" y="2322795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2415" y="320857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897940" y="327503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54470" y="20787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51559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pin-bar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5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504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a pin bar penetrate during the interval?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 barrier such as support or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pin bar as penetrating a barrier and then retracing (p. 227).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40327"/>
            <a:ext cx="5029200" cy="225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40327"/>
            <a:ext cx="91440" cy="2250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320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the rapid retrace imply?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The apparent breakout may be false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retrace shows that the initial impression of breaking the barrier was false (p. 227).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49370" y="3231096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04895" y="3186789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04895" y="2322795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2415" y="320857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897940" y="327503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54470" y="20787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51559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Transition: compare exhaustion with pin's false-barrier story.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Exhaustion: O65.40 &gt; prior high 65.00; H66.20; C60.50; next O60.20 means no gap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open;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no-gap relationship in Figure 7.28.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 next-bar gap separates the exhaustion bar from its next bar (p. 226); trend may tire.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Next: pin definition, barriers, low-volume tendency, marked return.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10512"/>
            <a:ext cx="4830775" cy="22820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02551" y="1929384"/>
            <a:ext cx="4593031" cy="20442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1" y="2203703"/>
            <a:ext cx="4044391" cy="1587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2" name="Oval 11"/>
          <p:cNvSpPr/>
          <p:nvPr/>
        </p:nvSpPr>
        <p:spPr>
          <a:xfrm>
            <a:off x="8999067" y="2992398"/>
            <a:ext cx="275581" cy="183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36858" y="3033283"/>
            <a:ext cx="275581" cy="14309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274649" y="3155939"/>
            <a:ext cx="32151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8659898" y="2796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486643" y="28165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670365" y="31640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18395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The comparison values are ours, invented.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Pin bar: the false barrier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calls a pin bar a “single bar misrepresentations of market strength or weakness” (p.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support 40.00; low 38.80; close 40.60; volume 0.8m.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support;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penetration;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Barriers: moving average, support/resistance, or trendline; low volume is usual. Action: wait for return; penetration can look like a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10512"/>
            <a:ext cx="4830775" cy="225255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02551" y="1929384"/>
            <a:ext cx="4593031" cy="2014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1" y="2203703"/>
            <a:ext cx="4044391" cy="15576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69994" y="3662120"/>
            <a:ext cx="284767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575227" y="3621824"/>
            <a:ext cx="229651" cy="18133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75227" y="2836048"/>
            <a:ext cx="275581" cy="2216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76755" y="362756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281988" y="368800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879082" y="26000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15450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227. The worked PHP values are ours, invented.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14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exhaustion and pin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separates an exhaustion bar from a pin bar?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Exhaustion uses no trend context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pin bar gives a false barrier-penetration impression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pin bar must gap from the next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Exhaustion is always narrow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85082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7652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691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Pin bars usually form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same volume as the prior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volume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39664"/>
            <a:ext cx="303013" cy="1573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73481" y="2674529"/>
            <a:ext cx="35351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1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24061" y="269890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exhaustion and pin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separates an exhaustion bar from a pin bar?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A pin bar gives a false barrier-penetration impression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exhaustion bars do not usually provide a false impression of penetrating a barrier, while pin bars do (p. 227).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5029200" cy="17392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73926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Pin bars usually form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02658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Low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pin bars are usually breakouts that form on low volume (p. 227).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39664"/>
            <a:ext cx="303013" cy="1573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73481" y="2674529"/>
            <a:ext cx="35351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1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24061" y="269890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From pin bar to false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generalise the pin-bar false-barrier read to support and resistance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chart uses invented values to show both returned directions.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Wait for the return through the barrier.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Transition wording is ours; the next chart is invented.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False breakouts: return through the barrier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40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592573" y="2631643"/>
            <a:ext cx="450982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5594" y="4878872"/>
            <a:ext cx="601309" cy="3862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2573" y="3825483"/>
            <a:ext cx="450982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75594" y="3790370"/>
            <a:ext cx="601309" cy="351129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6798" y="233574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594000" y="51447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5339090" y="359980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9022110" y="3529583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SD - FIN1209 teaching chart, drawn for this course. Illustrative data, not a real instrument.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SD is ours, with invented PHP barriers and closes.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7.31: own course drawing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41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3690609" y="3439241"/>
            <a:ext cx="4810476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6922647" y="2420965"/>
            <a:ext cx="977127" cy="49158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22647" y="3579693"/>
            <a:ext cx="977127" cy="4213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922647" y="2631643"/>
            <a:ext cx="977128" cy="0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3084179" y="30380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195309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8345637" y="39860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345637" y="2195291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SE - FIN1209 teaching chart, drawn for this course. Illustrative data, not a real instrument.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SE is ours, with invented PHP values; the book's drawing is shown separately.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7.31: false upside breakout (the book's drawing)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92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 non-failure swing and credits Sperandeo's 2B entry (p. 228).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resistance;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false high;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back below;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stop above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This slide reads Lim's drawing; the source drawing supplies no PHP values.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Action: short after return below resistance; stop just above breakout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3950" y="1810512"/>
            <a:ext cx="44158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2822" y="1929384"/>
            <a:ext cx="41781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12822" y="1929384"/>
            <a:ext cx="41781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87142" y="2203703"/>
            <a:ext cx="36294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Bearish non-failure swing. Price breaks above resistance, returns below it, and creates a short entry with a stop above the breakout high.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05291" y="2280513"/>
            <a:ext cx="221440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824480" y="2034722"/>
            <a:ext cx="292469" cy="3160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6949" y="2280513"/>
            <a:ext cx="250687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740917" y="2034722"/>
            <a:ext cx="626720" cy="0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6791625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7543688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462876" y="22655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293000" y="1914387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5650991"/>
            <a:ext cx="5425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7.31 -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228, Figure 7.31.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7.32: both breakout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false upside high,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false downside low,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upper close back below resistance, and purple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lower close back above support.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upside barrier PHP 60.00 and downside barrier PHP 40.00; returned closes PHP 59.40 and PHP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short below resistance after a false upside break, or long above support after a false downside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280662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25688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111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2" name="Oval 11"/>
          <p:cNvSpPr/>
          <p:nvPr/>
        </p:nvSpPr>
        <p:spPr>
          <a:xfrm>
            <a:off x="7742380" y="2520227"/>
            <a:ext cx="350315" cy="2825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43462" y="3111070"/>
            <a:ext cx="400360" cy="33395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42560" y="2674360"/>
            <a:ext cx="300270" cy="2055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44545" y="3393647"/>
            <a:ext cx="350315" cy="28257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86751" y="22877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488646" y="346939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287563" y="277580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10589638" y="3135444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199" y="4708579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7.32.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15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false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a close below resistance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At the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Above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downside breakout, the bullish entry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Below support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At the false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up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a close above 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830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592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13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8" name="Oval 17"/>
          <p:cNvSpPr/>
          <p:nvPr/>
        </p:nvSpPr>
        <p:spPr>
          <a:xfrm>
            <a:off x="7709918" y="1922121"/>
            <a:ext cx="353516" cy="28515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18362"/>
            <a:ext cx="404018" cy="3370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1928" y="2077662"/>
            <a:ext cx="303013" cy="20738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34029" y="2803520"/>
            <a:ext cx="353516" cy="28515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52461" y="16889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28813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8261503" y="218144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584609" y="2544378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4128544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false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At a close below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short is normally initiated when price closes below resistance after the false upside breakout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After a false downside breakout, the bullish entry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a close above support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opposite entry is taken when price closes back above support after the false downside breakout (p. 229).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830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592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13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8" name="Oval 17"/>
          <p:cNvSpPr/>
          <p:nvPr/>
        </p:nvSpPr>
        <p:spPr>
          <a:xfrm>
            <a:off x="7709918" y="1922121"/>
            <a:ext cx="353516" cy="28515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18362"/>
            <a:ext cx="404018" cy="3370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1928" y="2077662"/>
            <a:ext cx="303013" cy="20738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34029" y="2803520"/>
            <a:ext cx="353516" cy="28515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52461" y="16889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28813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8261503" y="218144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584609" y="2544378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4128544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Double Repo: the named crossings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use a moving average as the crossing level: a bearish Double Repo closes above and below a three-day SMA twice.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Forward-shifted means plotted three days forward (Lim, p. 229). Ours: SMA 50.00; first pair 50.80 above, 49.60 below.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After 9 bullish days, the second pair is 50.70 above and 49.00 below. Lim requires 8 to 10 days first and a top no more than 8 to 10 bars (p. 229).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second pair gives the sell signal; the complete method is in DiNapoli's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229. The worked PHP values are ours, invented.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Double Repo: two crossings of a three-day SMA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45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148139" y="2912546"/>
            <a:ext cx="450982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99121" y="3614806"/>
            <a:ext cx="450982" cy="4213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24612" y="2912546"/>
            <a:ext cx="676473" cy="112361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92036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8044982" y="395093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46291" y="25464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SF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SF is ours, with invented PHP closes and a three-day SMA.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7.33: Double Repo in the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 the first two closes across the forward-shifted three-day SMA.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later decline.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Lim presents a bearish reversal in an uptrend; the reverse applies in a downtrend.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sends the reader to DiNapoli's original text for detailed and complete discussion.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sp>
        <p:nvSpPr>
          <p:cNvPr id="12" name="Oval 11"/>
          <p:cNvSpPr/>
          <p:nvPr/>
        </p:nvSpPr>
        <p:spPr>
          <a:xfrm>
            <a:off x="8164439" y="2380117"/>
            <a:ext cx="303013" cy="2028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0467" y="2380117"/>
            <a:ext cx="303013" cy="2028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224988" y="2830850"/>
            <a:ext cx="909041" cy="631026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7857484" y="215705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20042" y="215705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80591" y="339657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9336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7.33.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7.33: Double Repo limits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forward-shifted three-day SMA.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required 8 to 10 bullish days before the pattern.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topping formation. The book says it should not exceed 8 to 10 bars (Lim, p. 229).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count both limits before treating the two crossings as the named sell signal.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21974" y="2425190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55398" y="2335043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14942" y="2019530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28079" y="21795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948443" y="20894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20042" y="188661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9336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7.33.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16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Double Repo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How many crossing pairs generate the named Double Repo sell signal?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pair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Three pairs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Two pairs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pairs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Where does Lim place the complete Double Repo method?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DiNapoli's original 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volume panel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Hikkake figure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21974" y="1821686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55398" y="1731539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4942" y="1416026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079" y="15760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948443" y="148594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128311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9857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Double Repo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How many crossing pairs generate the named Double Repo sell signal?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Two pairs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named bearish Double Repo has two closes above and below the forward-shifted SMA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02920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Where does Lim place the complete Double Repo method?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17263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DiNapoli's original text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sends readers to DiNapoli's original text for the detailed method (p. 229).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21974" y="1821686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55398" y="1731539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4942" y="1416026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079" y="15760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948443" y="148594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128311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9857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Hikkake: trap, then the opposite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finish this reversal group with Hikkake, an inside-bar breakout that fails; take only the opposite re-entry.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 bearish: inside high 52.00, inside low 49.00, false high 53.00, re-entry below 49.00 within 3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“Trap or ensnare” is the meaning. The bullish converse follows a failed downside break (Lim, p. 230).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Action: wait for the opposite re-entry, never the failed direction.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three-bar window is part of the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230. The worked PHP values are ours, invented.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Hikkake: failed breakout, opposite re-entry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49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089300" y="3052998"/>
            <a:ext cx="751636" cy="154497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91264" y="2456078"/>
            <a:ext cx="601309" cy="66714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298466" y="3965935"/>
            <a:ext cx="676473" cy="842711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2" name="Oval 11"/>
          <p:cNvSpPr/>
          <p:nvPr/>
        </p:nvSpPr>
        <p:spPr>
          <a:xfrm>
            <a:off x="2708361" y="272198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737780" y="22304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6992691" y="42318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SG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SG is ours, with invented PHP levels and entries.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own course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50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40282" y="2807208"/>
            <a:ext cx="977127" cy="16503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7737" y="4071274"/>
            <a:ext cx="601309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94538" y="2877433"/>
            <a:ext cx="601309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73630" y="2807208"/>
            <a:ext cx="901964" cy="16503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50757" y="2420965"/>
            <a:ext cx="601309" cy="52669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0757" y="4071274"/>
            <a:ext cx="601309" cy="56180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3852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5414253" y="465319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015563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6917527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9097274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9022110" y="370514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SH - FIN1209 teaching chart, drawn for this course. Illustrative data, not a real instrument.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SH is ours, with invented PHP values; the book's drawing is shown separately.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bullish Hikkake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inside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failed downside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re-entry above the inside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take only the opposite re-entry, within three bars (Lim, p. 230).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4742" y="1810512"/>
            <a:ext cx="401145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83614" y="1929384"/>
            <a:ext cx="3773706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83614" y="1929384"/>
            <a:ext cx="377370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7934" y="2203703"/>
            <a:ext cx="3225066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bullish schematic: an inside bar, a failed downside breakout, and the opposite re-entry above the inside high.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4778" y="2877433"/>
            <a:ext cx="1207585" cy="150985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19519" y="3790370"/>
            <a:ext cx="377370" cy="66714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638419" y="2807208"/>
            <a:ext cx="490582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7407433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43338" y="44074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62238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65099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bearish Hikkake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inside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failed upside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re-entry below the inside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take only the opposite re-entry, within three bars (Lim, p. 230).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4742" y="1810512"/>
            <a:ext cx="401145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83614" y="1929384"/>
            <a:ext cx="3773706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83614" y="1929384"/>
            <a:ext cx="377370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7934" y="2203703"/>
            <a:ext cx="3225066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0985" y="2877433"/>
            <a:ext cx="905689" cy="150985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42148" y="2877433"/>
            <a:ext cx="905689" cy="7022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921415" y="3755257"/>
            <a:ext cx="1056638" cy="7022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6879114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218812" y="25464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62238" y="45829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65099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7.35: bullish Hikkake at a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Hikkake formation at the channel bottom,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its failed downside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upside re-entry.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low PHP 40.00, false low PHP 39.20, re-entry PHP 41.00.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the re-entry is the signal described by the book; this slide does not interpret the indicator panels.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00055" y="1810512"/>
            <a:ext cx="449510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8927" y="1929384"/>
            <a:ext cx="425736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18927" y="1929384"/>
            <a:ext cx="425736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3247" y="2203703"/>
            <a:ext cx="370872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7018" y="3404128"/>
            <a:ext cx="340588" cy="4915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19886" y="3755257"/>
            <a:ext cx="212868" cy="3862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8832754" y="3263676"/>
            <a:ext cx="255442" cy="702259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8038702" y="317845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847601" y="40913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03042" y="29677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565099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17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Hikkake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8348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26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262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Within how many bars must the opposite Hikkake re-entry occur?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2628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Three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Eight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Ten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98348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26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262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direction is taken after the initial Hikkake failure?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2628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failed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No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opposite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trend direction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4188" y="1207008"/>
            <a:ext cx="522683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3060" y="1325880"/>
            <a:ext cx="498909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3060" y="1325880"/>
            <a:ext cx="49890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7380" y="1600200"/>
            <a:ext cx="444045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9" y="3054096"/>
            <a:ext cx="399127" cy="57607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7934" y="3465576"/>
            <a:ext cx="249454" cy="45262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8847389" y="2889504"/>
            <a:ext cx="299346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7943577" y="28163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891505" y="38862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0850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59" y="5650992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17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Hikkake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8348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348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Within how many bars must the opposite Hikkake re-entry occur?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3484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Three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breakout must occur within three bars of the initial failed breakout (p. 230).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498348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4348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direction is taken after the initial Hikkake failure?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17263"/>
            <a:ext cx="443484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The opposite direction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Hikkake takes the opposite re-entry after the inside-bar breakout fails (p. 230).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4188" y="1207008"/>
            <a:ext cx="522683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3060" y="1325880"/>
            <a:ext cx="498909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3060" y="1325880"/>
            <a:ext cx="49890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7380" y="1600200"/>
            <a:ext cx="444045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9" y="3054096"/>
            <a:ext cx="399127" cy="57607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7934" y="3465576"/>
            <a:ext cx="249454" cy="45262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8847389" y="2889504"/>
            <a:ext cx="299346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7943577" y="28163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891505" y="38862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0850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59" y="5650992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17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18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false breakouts and Hikkake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the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support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a close below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Hikkake opposite re-entry must occur within: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Two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Three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Ten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0439" y="1207008"/>
            <a:ext cx="466005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59311" y="1325880"/>
            <a:ext cx="442231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59311" y="1325880"/>
            <a:ext cx="44223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3631" y="1600200"/>
            <a:ext cx="387367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1542" y="2436876"/>
            <a:ext cx="1061354" cy="176936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51343" y="2436876"/>
            <a:ext cx="1061354" cy="8229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947359" y="3465576"/>
            <a:ext cx="1238248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6580756" y="20756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589" y="207568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428167" y="44622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565099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18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false breakouts and Hikkake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a close below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short is normally initiated when price closes below resistance after the false upside breakout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 Hikkake opposite re-entry must occur within: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Three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breakout must occur within three bars of the initial failed breakout (p. 230).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1993" y="1207008"/>
            <a:ext cx="483694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0865" y="1325880"/>
            <a:ext cx="459920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0865" y="1325880"/>
            <a:ext cx="459920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45185" y="1600200"/>
            <a:ext cx="405056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30785" y="2436876"/>
            <a:ext cx="1103809" cy="176936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6578" y="2436876"/>
            <a:ext cx="1103809" cy="8229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954435" y="3465576"/>
            <a:ext cx="1287777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6499385" y="20756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50892" y="207568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500693" y="44622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565099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18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TA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TA is ours, with invented PHP values to show Lim (2016), p. 231.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TB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TB is ours, with invented PHP ranges to show Lim (2016), p. 232.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65099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58968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79" y="1810512"/>
            <a:ext cx="4510735" cy="2776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9751" y="1929384"/>
            <a:ext cx="4272991" cy="2538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975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1" y="2203703"/>
            <a:ext cx="3724351" cy="2081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3459" y="2081697"/>
            <a:ext cx="1196437" cy="233547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96247" y="3350976"/>
            <a:ext cx="213649" cy="99003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424437" y="3376362"/>
            <a:ext cx="0" cy="96465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663540" y="38738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500926" y="40769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13685" y="407692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678254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76811" y="3092667"/>
            <a:ext cx="0" cy="775522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70567" y="3072258"/>
            <a:ext cx="177073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3885" y="3174301"/>
            <a:ext cx="247902" cy="34694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2139" y="36289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16725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49995" y="354735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19 OF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92860"/>
            <a:ext cx="1311651" cy="256037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84369"/>
            <a:ext cx="234223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912199"/>
            <a:ext cx="0" cy="105754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7079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934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934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19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89487"/>
            <a:ext cx="1311651" cy="25086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52884"/>
            <a:ext cx="234223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880152"/>
            <a:ext cx="0" cy="10361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246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428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428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19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164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9271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469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18449"/>
            <a:ext cx="193285" cy="46250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18449"/>
            <a:ext cx="193285" cy="4625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259087"/>
            <a:ext cx="225500" cy="3276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8493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849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5458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4066802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