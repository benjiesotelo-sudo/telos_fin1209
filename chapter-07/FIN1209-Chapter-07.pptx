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these out once, slowly. These are the exact learning objectives in the course booklet for this week.</a:t>
            </a:r>
          </a:p>
          <a:p>
            <a:r>
              <a:rPr sz="1400"/>
              <a:t>- Tell them every one of these is examinable.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shape of the session out loud: six parts, roughly twenty five minutes each.</a:t>
            </a:r>
          </a:p>
          <a:p>
            <a:r>
              <a:rPr sz="1400"/>
              <a:t>- Tell them the checks are for reading the room, not for 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1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2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3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prior high and prior close lines before reading marks 1 to 4.</a:t>
            </a:r>
          </a:p>
          <a:p>
            <a:r>
              <a:rPr sz="1400"/>
              <a:t>- The second bar opens above 52.00, reaches a new high of 53.20, and closes at 50.80, below the prior close of 51.10. Mark 4 identifies the 4.2 million-share volume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definition first, then explain marks 1 to 4 in the same order: gap/open, new high, close, and above-average volume.</a:t>
            </a:r>
          </a:p>
          <a:p>
            <a:r>
              <a:rPr sz="1400"/>
              <a:t>- The figure shows consolidation before the later decline. Keep the word potentially: this is a warning,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exact converse: a new low, then a close above the previous close, in a downtrend.</a:t>
            </a:r>
          </a:p>
          <a:p>
            <a:r>
              <a:rPr sz="1400"/>
              <a:t>- The book says the bullish key reversal occurs on high volume and price rebounds rapidly in this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left to right. The exhaustion bar opens beyond the previous high, but its distinction is the absence of a following gap.</a:t>
            </a:r>
          </a:p>
          <a:p>
            <a:r>
              <a:rPr sz="1400"/>
              <a:t>- The pin bar gives a false impression of breaking support, then retraces back above it. Its volume is low in the invented example.</a:t>
            </a:r>
          </a:p>
          <a:p>
            <a:r>
              <a:rPr sz="1400"/>
              <a:t>- The book's difference is the false barrier penetration, not the size of the bar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4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previous bar closes at 51.00 and has a high of 52.00. The next bar opens at 53.00, so it gaps above the prior range.</a:t>
            </a:r>
          </a:p>
          <a:p>
            <a:r>
              <a:rPr sz="1400"/>
              <a:t>- The sell-stop is 52.00, the prior high. The stoploss is 54.00, the new bar's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left setup first, then the exact directional converse on the right.</a:t>
            </a:r>
          </a:p>
          <a:p>
            <a:r>
              <a:rPr sz="1400"/>
              <a:t>- Mark 1 is the opening gap, mark 2 is the prior-bar trigger level, and mark 3 is the stoploss at the new extreme.</a:t>
            </a:r>
          </a:p>
          <a:p>
            <a:r>
              <a:rPr sz="1400"/>
              <a:t>- If price reverses through the stoploss, the book says to stop and reverse.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Oops annotations and leaves the price sequence visible.</a:t>
            </a:r>
          </a:p>
          <a:p>
            <a:r>
              <a:rPr sz="1400"/>
              <a:t>- The book gives a bearish example; the exact order rule was defined on the previous slide.</a:t>
            </a:r>
          </a:p>
          <a:p>
            <a:r>
              <a:rPr sz="1400"/>
              <a:t>- Keep this as a potential setup. The book does not give a complete trade plan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Oops annotations and leaves the price sequence visible.</a:t>
            </a:r>
          </a:p>
          <a:p>
            <a:r>
              <a:rPr sz="1400"/>
              <a:t>- The book gives a bearish example; the exact order rule was defined on the previous slide.</a:t>
            </a:r>
          </a:p>
          <a:p>
            <a:r>
              <a:rPr sz="1400"/>
              <a:t>- Keep this as a potential setup. The book does not give a complete trade plan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mark 1 for the buy setup and mark 2 for the sell setup. The exact order levels were defined on the earlier slides.</a:t>
            </a:r>
          </a:p>
          <a:p>
            <a:r>
              <a:rPr sz="1400"/>
              <a:t>- The companion names are not attached to an unrelated mark. Chapter 7 does not define or show them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six range labels are invented teaching numbers. Compare each with the same six-bar window.</a:t>
            </a:r>
          </a:p>
          <a:p>
            <a:r>
              <a:rPr sz="1400"/>
              <a:t>- The last bar is the narrowest and remains inside the prior bar. A later break can go up or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Count the last six bars in the source schematic, then locate its final inside bar and narrowest range.</a:t>
            </a:r>
          </a:p>
          <a:p>
            <a:r>
              <a:rPr sz="1400"/>
              <a:t>- The two trigger arrows show that direction is not built into ID/NR.</a:t>
            </a:r>
          </a:p>
          <a:p>
            <a:r>
              <a:rPr sz="1400"/>
              <a:t>- The next slide extends the same count to NR4, NR5, NR6, and NR7.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the marked schematic as the anchor, then read the four window lengths from the body.</a:t>
            </a:r>
          </a:p>
          <a:p>
            <a:r>
              <a:rPr sz="1400"/>
              <a:t>- The book defines the pattern in words rather than giving these comparative ranges; they are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narrowest bar and mark 2 is its inside condition.</a:t>
            </a:r>
          </a:p>
          <a:p>
            <a:r>
              <a:rPr sz="1400"/>
              <a:t>- The blue box contains both printed trigger arrows; either direction is possible before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monthly extension, not an ordinary daily ID/NR example.</a:t>
            </a:r>
          </a:p>
          <a:p>
            <a:r>
              <a:rPr sz="1400"/>
              <a:t>- Mark 1 identifies the inside month, mark 2 spans the five-month range count, and mark 3 is on the first upside breakout bar.</a:t>
            </a:r>
          </a:p>
          <a:p>
            <a:r>
              <a:rPr sz="1400"/>
              <a:t>- The count and neutral direction rule remain the same before breakout.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monthly extension, not an ordinary daily ID/NR example.</a:t>
            </a:r>
          </a:p>
          <a:p>
            <a:r>
              <a:rPr sz="1400"/>
              <a:t>- Mark 1 identifies the inside month, mark 2 spans the five-month range count, and mark 3 is on the first upside breakout bar.</a:t>
            </a:r>
          </a:p>
          <a:p>
            <a:r>
              <a:rPr sz="1400"/>
              <a:t>- The count and neutral direction rule remain the same before breakout.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order diagram and marked ID/NR6 slide.</a:t>
            </a:r>
          </a:p>
          <a:p>
            <a:r>
              <a:rPr sz="1400"/>
              <a:t>- Do not reveal the answers here; the next slide gives the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order diagram and marked ID/NR6 slide.</a:t>
            </a:r>
          </a:p>
          <a:p>
            <a:r>
              <a:rPr sz="1400"/>
              <a:t>- Do not reveal the answers here; the next slide gives the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summary on p. 233 as the scope of the chapter.</a:t>
            </a:r>
          </a:p>
          <a:p>
            <a:r>
              <a:rPr sz="1400"/>
              <a:t>- Emphasise that potential evidence is not a guarantee or a complete trading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students to say the difference before reading the answer text.</a:t>
            </a:r>
          </a:p>
          <a:p>
            <a:r>
              <a:rPr sz="1400"/>
              <a:t>- Keep the words may and potential: the book does not promise follow-through.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earlier Chapter 5 terms for the definitions the book says to recall.</a:t>
            </a:r>
          </a:p>
          <a:p>
            <a:r>
              <a:rPr sz="1400"/>
              <a:t>- Read barrier proximity as the strongest reliability emphasis in this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mark 1 brackets pattern 1 and red mark 2 brackets pattern 2.</a:t>
            </a:r>
          </a:p>
          <a:p>
            <a:r>
              <a:rPr sz="1400"/>
              <a:t>- Blue mark 3 sits beside the source's uptrend context. Read the source conditions rather than inventing a trade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mark 1 identifies the wide first bar near resistance; red mark 2 identifies the narrow inside bar.</a:t>
            </a:r>
          </a:p>
          <a:p>
            <a:r>
              <a:rPr sz="1400"/>
              <a:t>- Blue mark 3 identifies the lower oscillator region shown in the source. Chapter 7 does not teach its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to the lower labelled oscillator region, not to a formula.</a:t>
            </a:r>
          </a:p>
          <a:p>
            <a:r>
              <a:rPr sz="1400"/>
              <a:t>- The book uses the label as context in Chapter 7; the method is deferred to Chapter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7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Bar Chart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How a bar can warn of a potential reversal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Faculty of Economics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OHLC construction and the range of a price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Separate intrinsic sentiment from trend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the book’s bar reversal patterns with numbers and figures.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Use the 16 reversal characteristics as context, not certainty.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How today is laid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 The price bar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 Reading a pattern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 Popular reversal patterns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4  Volatility-based breakouts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Six parts, a check every few terms, and a clean stop at every boundary.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1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The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OHLC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range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higher timeframe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>16 minutes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2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Reading a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continuation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reversal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16 characteristics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3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Popular Reversal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key reversal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exhaustion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pin bar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Bearish key reversal: the numbers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86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1. Prior bar: open 50.80, high 52.00, low 50.60, close 51.10.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2. It opens at 52.30 above prior high 52.00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3. It makes a new high of 53.20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4. It closes at 50.80 below prior close 51.10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5. Volume is 4.2 million versus 2.0 million </a:t>
            </a:r>
            <a:r>
              <a:rPr sz="16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That is a bearish key reversal (Lim, p. 218).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83479" y="1810512"/>
            <a:ext cx="6430975" cy="31309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1" y="1929384"/>
            <a:ext cx="6193231" cy="2893188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066019" y="2768408"/>
            <a:ext cx="309661" cy="1446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66019" y="2450157"/>
            <a:ext cx="309661" cy="1446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66019" y="3433841"/>
            <a:ext cx="309661" cy="14465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66019" y="4186070"/>
            <a:ext cx="371593" cy="173591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67384" y="275761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9715691" y="21500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9715691" y="35677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9910632" y="4329085"/>
            <a:ext cx="292608" cy="29260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79" y="5032884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B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B is ours, with invented PHP bars and million-share volume.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7.15: the same reading on a real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035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it: “A bearish key reversal bar forms a higher high than the previous bar and closes near or below the close of the previous bar.” (Lim, p. 218).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key reversal day opening above the prior high.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close below the prior close. Purple </a:t>
            </a:r>
            <a:r>
              <a:rPr sz="17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above-average volume under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a potential warning, not a promise. The book's chart shows consolidation before the decline. Check the 16 characteristics and barrier proximity.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864" y="1810512"/>
            <a:ext cx="264704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68736" y="1929384"/>
            <a:ext cx="240930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68736" y="1929384"/>
            <a:ext cx="240930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056" y="2203703"/>
            <a:ext cx="186066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day opens above the previous high, forms a new high, closes below the previous close, and has above average volume.</a:t>
            </a:r>
          </a:p>
        </p:txBody>
      </p:sp>
      <p:sp>
        <p:nvSpPr>
          <p:cNvPr id="12" name="Oval 11"/>
          <p:cNvSpPr/>
          <p:nvPr/>
        </p:nvSpPr>
        <p:spPr>
          <a:xfrm>
            <a:off x="9225201" y="2157618"/>
            <a:ext cx="192744" cy="14045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49294" y="2052279"/>
            <a:ext cx="144558" cy="14045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97480" y="2456078"/>
            <a:ext cx="192744" cy="15800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25201" y="4633081"/>
            <a:ext cx="192744" cy="280903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33902" y="210824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9690366" y="200290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9738552" y="256470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9473529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19" y="5650991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219, Figure 7.15. The crop and marks are for teaching; no invented example is on this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In a downtrend, a bullish key reversal makes a new low, then closes near or above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previous low PHP 42.00 and close PHP 41.00. New bar reaches PHP 40.50 and closes PHP 43.20 on 4.0 million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New low.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above the previous close.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High volume supports the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435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559552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Same five-step reading, reversed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141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Book p. 218 and Figure 7.14. The values are ours, invented to show the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465014" cy="2746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68312" y="1929384"/>
            <a:ext cx="4227270" cy="250862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68312" y="1929384"/>
            <a:ext cx="42272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03703"/>
            <a:ext cx="3678631" cy="20514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5" name="Oval 14"/>
          <p:cNvSpPr/>
          <p:nvPr/>
        </p:nvSpPr>
        <p:spPr>
          <a:xfrm>
            <a:off x="8822629" y="3309126"/>
            <a:ext cx="295908" cy="5769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22629" y="3660333"/>
            <a:ext cx="295908" cy="42646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0356" y="3886109"/>
            <a:ext cx="401590" cy="52681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34681" y="315367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92408" y="393135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350136" y="423238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648319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worked PHP values are ours, invented to show the converse.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291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Exhaustion: in an uptrend, it opens at 65.40 above prior high 65.00, reaches 66.20, and closes at 60.50; the next bar opens at 60.20 with no gap.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Pin bar: it penetrates support at 40.00 to 38.80, then rapidly retraces and closes at 40.60.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exhaustion warns of a tiring trend; a pin bar warns of a false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04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363" y="1929384"/>
            <a:ext cx="751636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388455" y="2947659"/>
            <a:ext cx="375818" cy="17556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88455" y="3860596"/>
            <a:ext cx="375818" cy="17556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46639" y="3509467"/>
            <a:ext cx="375818" cy="17556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55879" y="258153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5255879" y="419673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68319" y="381048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5650991"/>
            <a:ext cx="7756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Chart A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Chart A is ours, with invented PHP bars and volume to answer review question 1.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Near or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prior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Below prior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Close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Later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Near or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the bearish pattern as a higher high followed by a close near or below the previous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03520" cy="2016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1676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Close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slide maps blue mark 3 to the close below the previous close (Lim, p. 219).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Impossible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Always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Unrelated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Potentially more reliable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Monthly chart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Flat market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Volume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Potentially more reliable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wider bar makes follow-through potentially more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06647"/>
            <a:ext cx="530352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06647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89528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693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key reversal is the converse in a downtrend.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4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Volatility-Based Breakouts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Williams’ Oops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ID/NR4 to NR7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>16 minutes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Williams' Oops: gap up and reverse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Plain words: an Oops begins when a bar opens beyond the previous bar's range. After a gap up, the bearish setup places a sell-stop at the previous high and the stoploss at the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prior high PHP 52.00; new open PHP 53.00; sell-stop PHP 52.00; new high and stoploss PHP 54.00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If price reverses through the stoploss, stop and reverse there. Lim says to seek this bearish Oops in a downtrend.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Gap up means bearish Oops; gap down is its bullish converse.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Values are ours, invented to show the order sequence.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282135" cy="212709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1" y="1929384"/>
            <a:ext cx="4044391" cy="188935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9901150" y="2401721"/>
            <a:ext cx="242663" cy="11336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901150" y="2779591"/>
            <a:ext cx="242663" cy="11336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01150" y="2156106"/>
            <a:ext cx="242663" cy="11336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399995" y="2340135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330205" y="273689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330205" y="205673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29046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T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T is ours, with invented PHP values to show Lim (2016), p. 231.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7.36: both Oops directions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2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Definition: an Oops opens beyond the previous bar's range. Left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gaps down: buy-stop at previous low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stoploss at new low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Right is the converse: gap up, sell-stop at previous high, stoploss at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Action: if price reverses, stop and reverse at the stoploss. The book promises no result.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Read the bearish and bullish order locations as exact opposites.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The four named candlestick companions are not defined in Chapter 7.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90694" cy="21712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52950" cy="19335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5295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404310" cy="14763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two Williams' Oops schematics: a gap below the prior range with a buy-stop at the prior low, and a gap above it with a sell-stop at the prior high; each stoploss is at the new extreme.</a:t>
            </a:r>
          </a:p>
        </p:txBody>
      </p:sp>
      <p:sp>
        <p:nvSpPr>
          <p:cNvPr id="15" name="Oval 14"/>
          <p:cNvSpPr/>
          <p:nvPr/>
        </p:nvSpPr>
        <p:spPr>
          <a:xfrm>
            <a:off x="8422309" y="2760792"/>
            <a:ext cx="316236" cy="23202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40898" y="2973478"/>
            <a:ext cx="395295" cy="19335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40898" y="3321510"/>
            <a:ext cx="395295" cy="23202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87502" y="2526957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957151" y="2816983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957151" y="3455041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4073204"/>
            <a:ext cx="4190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7.36 -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7.36. The numbered marks are for teaching.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Williams' Oops: gap down and reverse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3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converse opens below the previous low. Ours: prior low PHP 48.00; new open PHP 47.00; buy-stop PHP 48.00; new low and stoploss PHP 46.00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If price reverses through PHP 46.00, stop and reverse at that stoploss. Lim says to seek this bullish Oops in an uptrend.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Morning star, evening star, piercing line, and dark cloud cover are named as possible companions, not defined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Gap down means bullish Oops; gap up is its bearish converse.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Values are ours, invented to show the bearish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236415" cy="1844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98671" cy="1606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9867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450031" cy="114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daily Dynegy chart marked at the bearish Oops opening gap, sell-stop at the prior high, stop-and-reverse buy level, and expected downside move.</a:t>
            </a:r>
          </a:p>
        </p:txBody>
      </p:sp>
      <p:sp>
        <p:nvSpPr>
          <p:cNvPr id="15" name="Oval 14"/>
          <p:cNvSpPr/>
          <p:nvPr/>
        </p:nvSpPr>
        <p:spPr>
          <a:xfrm>
            <a:off x="10353101" y="2829084"/>
            <a:ext cx="279906" cy="160660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473061" y="2925481"/>
            <a:ext cx="279906" cy="16066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473061" y="2716622"/>
            <a:ext cx="279906" cy="16066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5994" y="2900784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775755" y="299718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815742" y="248306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3746304"/>
            <a:ext cx="4236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7.37 -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7.37. The crop and marks are for teaching.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7.37: a bearish Oops on a daily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4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Dynegy shows a bearish Oops: mark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is the opening gap,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sell-stop at the previous high, and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current high where stop-and-reverse buys.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expected downside is the book's chart annotation, not a guarantee.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four companion names remain undefined here; import no outside formula.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9253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example applies the rule; it does not complete a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0374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231, Figure 7.37. The figure is a Dynegy daily chart.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90694" cy="182598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52950" cy="15882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5295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404310" cy="1131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daily Dynegy chart marked at the bearish Oops opening gap, sell-stop at the prior high, stop-and-reverse buy level, and expected downside move.</a:t>
            </a:r>
          </a:p>
        </p:txBody>
      </p:sp>
      <p:sp>
        <p:nvSpPr>
          <p:cNvPr id="15" name="Oval 14"/>
          <p:cNvSpPr/>
          <p:nvPr/>
        </p:nvSpPr>
        <p:spPr>
          <a:xfrm>
            <a:off x="10319726" y="2818797"/>
            <a:ext cx="276706" cy="15882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438314" y="2914092"/>
            <a:ext cx="276706" cy="15882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438314" y="2707621"/>
            <a:ext cx="276706" cy="15882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24448" y="288810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735979" y="2983403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775508" y="2475166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3727935"/>
            <a:ext cx="4190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7.37 -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7.37. The crop and marks are for teaching.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Oops context and undefined companions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5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Prefer bullish Oops in an uptrend and bearish Oops in a downtrend. Figure 7.36 shows the directions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names morning star, evening star, piercing line, and dark cloud cover, but Figure 7.36 does not show them.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Chapter 7 defines none of the four; they are context names only.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93108"/>
            <a:ext cx="82296" cy="96926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29684"/>
            <a:ext cx="5925312" cy="969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Context chooses which Oops direction to study; the chapter leaves the companion definitions open.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3540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The named candlestick companions are not defined in this chapter.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44974" cy="214888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07231" cy="19111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07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358590" cy="1453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Figure 7.36's two Oops panels, with marks on the bullish and bearish setups; the chapter's named candlestick companions are not shown or defined here.</a:t>
            </a:r>
          </a:p>
        </p:txBody>
      </p:sp>
      <p:sp>
        <p:nvSpPr>
          <p:cNvPr id="15" name="Oval 14"/>
          <p:cNvSpPr/>
          <p:nvPr/>
        </p:nvSpPr>
        <p:spPr>
          <a:xfrm>
            <a:off x="8410879" y="2751176"/>
            <a:ext cx="312578" cy="22933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30061" y="2751176"/>
            <a:ext cx="312578" cy="22933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78358" y="251845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578986" y="251845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50841"/>
            <a:ext cx="41449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7.36 - Lim, The Handbook of Technical Analysis (Wiley, 2016)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7.36. The numbered marks are for teaching.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ID/NR: inside day plus narrowest range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6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Plain words: ID/NR means an inside-day breakout from the narrowest bar in the last n days. An inside day stays within the previous day's high and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six ranges are 4.0, 3.2, 2.8, 2.1, 1.6, and 1.2 PHP. Bar 6 is inside bar 5 and has the narrowest range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 later breakout can occur in either direction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pattern is a volatility breakout, not a bullish or bearish signal by itself.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Count the window first, then wait for direction from the breakout.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Ranges are ours, invented to show the six-bar count.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916374" cy="19562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2" y="1929384"/>
            <a:ext cx="3678631" cy="171848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0742736" y="2290265"/>
            <a:ext cx="147145" cy="206218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42736" y="2204341"/>
            <a:ext cx="294290" cy="10310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926668" y="2359005"/>
            <a:ext cx="0" cy="309327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10458431" y="2445248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1010226" y="203281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1010226" y="2617096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858180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U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U is ours, with invented PHP ranges to show Lim (2016), p. 232.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7.38: ID/NR6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7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book's schematic shows the last six bars counted for ID/NR6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. The final bar is inside the prior range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and is the narrowest of those six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Lim calls this an ID/NR6 volatility breakout. It has no bearish or bullish sentiment before the breakout, so either trigger direction remains possible.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Meaning/action: identify the exact n-day window and the inside condition before reading the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93208"/>
            <a:ext cx="82296" cy="45110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129784"/>
            <a:ext cx="6291072" cy="451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  <a:latin typeface="Arial"/>
              </a:rPr>
              <a:t>The number 6 names the count, not a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45480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232, Figure 7.38.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824934" cy="236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87190" cy="2131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871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3038550" cy="1673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875989" y="3826088"/>
            <a:ext cx="932669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6" name="Rectangle 15"/>
          <p:cNvSpPr/>
          <p:nvPr/>
        </p:nvSpPr>
        <p:spPr>
          <a:xfrm>
            <a:off x="9665171" y="2845769"/>
            <a:ext cx="215231" cy="83114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65171" y="3122816"/>
            <a:ext cx="251103" cy="29835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667085" y="3774173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850858" y="2644675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958474" y="3347947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270824"/>
            <a:ext cx="38249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7.38. The numbered marks are for teaching.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ID/NR4, NR5, NR6, and NR7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8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n in ID/NR n is the number of bars counted: ID/NR4 counts four, NR5 counts five, NR6 counts six, and NR7 counts seven.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separate invented windows make the arithmetic visible: NR4 ranges 3.1, 2.4, 2.0, 1.6 PHP; NR5 adds 1.2 PHP; NR6 adds 1.8 PHP; NR7 adds 1.0 PHP.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Every version still needs the inside-day condition. The label says how far back to count, not which way price must break.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 volatility breakout compresses recent range; direction comes later.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19089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Lim (2016), p. 232. The comparative ranges are ours, invented to show the n-day windows.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232. The comparative ranges are ours, invented.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 has no built-in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9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inside and narrowest-range conditions describe compression, not sentiment. Figure 7.38 marks the narrowest bar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its inside condition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Before the breakout, the same setup can trigger long or short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direction comes from the later price break.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do not label ID/NR bullish or bearish before the trigger; count the window and wait.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42062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Neutral first, directional only after the breakout.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8693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ID/NR has no bearish or bullish sentiment before its breakout.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779214" cy="2278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41470" cy="204084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41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2992830" cy="1583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7.38's ID/NR6 schematic, with the narrowest inside bar and both possible trigger directions visible.</a:t>
            </a:r>
          </a:p>
        </p:txBody>
      </p:sp>
      <p:sp>
        <p:nvSpPr>
          <p:cNvPr id="15" name="Oval 14"/>
          <p:cNvSpPr/>
          <p:nvPr/>
        </p:nvSpPr>
        <p:spPr>
          <a:xfrm>
            <a:off x="9641396" y="3072258"/>
            <a:ext cx="247902" cy="28571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41396" y="2806948"/>
            <a:ext cx="212488" cy="79593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924714" y="3153892"/>
            <a:ext cx="0" cy="448987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9964628" y="328204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822969" y="2608563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920825" y="3506536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180543"/>
            <a:ext cx="3779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7.38. The numbered marks are for teaching.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Inside Month/NR5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10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Inside month applies the idea to monthly bars. Ours: ranges 12, 10, 9, 7, 5 PHP; the fifth is inside the fourth and narrowest. Invented, not the book figure.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invented bar breaks upward at PHP 8.00. Before the break, the pattern is neutral.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7.39 is a separate Dynegy extension, not a source for these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timeframe changes; the inside plus narrowest-range logic stays.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Monthly ranges and breakout are ours, invented to show the extension.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916374" cy="168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678631" cy="144517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6786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3129990" cy="987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monthly Dynegy chart: an inside month after five monthly ranges, followed by an upside breakout.</a:t>
            </a:r>
          </a:p>
        </p:txBody>
      </p:sp>
      <p:sp>
        <p:nvSpPr>
          <p:cNvPr id="15" name="Oval 14"/>
          <p:cNvSpPr/>
          <p:nvPr/>
        </p:nvSpPr>
        <p:spPr>
          <a:xfrm>
            <a:off x="9418429" y="2753134"/>
            <a:ext cx="220717" cy="26013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8609130" y="3143332"/>
            <a:ext cx="919658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7" name="Oval 16"/>
          <p:cNvSpPr/>
          <p:nvPr/>
        </p:nvSpPr>
        <p:spPr>
          <a:xfrm>
            <a:off x="9675933" y="2175063"/>
            <a:ext cx="220717" cy="592522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34124" y="2933913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61611" y="307843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906636" y="196564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584872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7.39 -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7.39. The numbered marks are for teaching.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7.39: Inside Month/NR5 breakout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book's monthly chart shows the inside-month setup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the five-month range count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and the later upside breakout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observed breakout is the book's example, not a promise that every inside month breaks upward.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keep the pattern neutral until the monthly bar actually breaks, then read direction from price.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monthly figure extends ID/NR without adding a new direction rule.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232, Figure 7.39. The monthly chart is Dynegy Inc.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779214" cy="162903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41470" cy="13912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41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2992830" cy="934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monthly Dynegy chart: an inside month after five monthly ranges, followed by an upside breakout.</a:t>
            </a:r>
          </a:p>
        </p:txBody>
      </p:sp>
      <p:sp>
        <p:nvSpPr>
          <p:cNvPr id="15" name="Oval 14"/>
          <p:cNvSpPr/>
          <p:nvPr/>
        </p:nvSpPr>
        <p:spPr>
          <a:xfrm>
            <a:off x="9358079" y="2722420"/>
            <a:ext cx="212488" cy="250432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8578955" y="3098069"/>
            <a:ext cx="885368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7" name="Oval 16"/>
          <p:cNvSpPr/>
          <p:nvPr/>
        </p:nvSpPr>
        <p:spPr>
          <a:xfrm>
            <a:off x="9605982" y="2165903"/>
            <a:ext cx="212488" cy="57042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79260" y="2891344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35551" y="303047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822969" y="195917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530988"/>
            <a:ext cx="3779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7.39 -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7.39. The numbered marks are for teaching.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3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Williams' Oops and ID/NR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9496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9377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After a gap up, the Williams' Oops sell-stop is placed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93776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previous bar's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new bar's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previous bar's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midpoint of both bars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9496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9377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ID/NR6 count?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93776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Six months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Six bars and the narrowest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Six volume readings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Six bullish closes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207008"/>
            <a:ext cx="4922214" cy="3020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11112" y="1325880"/>
            <a:ext cx="4684470" cy="278301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11112" y="1325880"/>
            <a:ext cx="4684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5431" y="1600200"/>
            <a:ext cx="4135831" cy="2325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016453" y="3802764"/>
            <a:ext cx="1217962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9047036" y="2522576"/>
            <a:ext cx="281068" cy="1085376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047036" y="2884369"/>
            <a:ext cx="327912" cy="389622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85603" y="3776925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331479" y="2301926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72013" y="3220321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319208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4 of 4 - 7.4 Volatility breakouts  |  Check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Williams' Oops and ID/NR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9496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After a gap up, the Williams' Oops sell-stop is placed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84632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The previous bar's high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places the sell-stop at the previous bar's high after a gap above that high (p. 231).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94960" cy="2060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605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does ID/NR6 count?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846320" cy="1446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Six bars and the narrowest range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ID/NR6 uses an inside day and the narrowest bar over the last six days (p. 232).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207008"/>
            <a:ext cx="4922214" cy="296453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11112" y="1325880"/>
            <a:ext cx="4684470" cy="27267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11112" y="1325880"/>
            <a:ext cx="4684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5431" y="1600200"/>
            <a:ext cx="4135831" cy="2269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016453" y="3752726"/>
            <a:ext cx="1217962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9047036" y="2498401"/>
            <a:ext cx="281068" cy="1063449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047036" y="2852884"/>
            <a:ext cx="327912" cy="38175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85603" y="3724638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331479" y="2279437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72013" y="317927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262985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Check 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Summary: read the bar, then the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Bar action, indicator action, and volume action may indicate future price activity, especially when significant indicator and volume action accompanies the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Chapter 7 reads OHLC, formation count, sentiment, gaps, barriers, volume, and the 16 reversal characteristics.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Breakout patterns may catch continuations or reversals, but readings remain potential. Oscillator method is deferred to Chapter 8.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summary is a reading habit, not a complete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233. The chapter summary is paraphrased for teaching.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answers 1 to 3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Exhaustion versus pin bar: exhaustion opens beyond the prior extreme and has no following gap; a pin bar falsely penetrates a barrier and rapidly retraces.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ID/NR7 is a volatility breakout because it combines an inside day with the narrowest range in the last seven days.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A key reversal makes a higher high then closes near or below the prior close, or the bullish converse in a downtrend. A wider bar and high volume may strengthen the potential reading.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first three answers distinguish pattern structure from reliability context.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232. Review answers are written from the preceding slides.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4: the 16 characteristics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 to 4: decrease in price cycle amplitude; decrease in price cycle period; change in bar retracement symmetry; decrease in average bar range.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5 to 8: lack of the quality of price persistence; decrease in average bar stochastic ratio; decrease in average candlestick real body to range ratio; changes in angular symmetry and momentum.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9 to 12: proximity to a price barrier; reduction in frequency and decrease in depth of trend-based oscillations; appearance of relatively larger and longer lasting consolidations; appearance of an exhaustion gap.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13 to 16: completion of the average range for the period under observation; overextended price action with respect to a price barrier; price accompanied by extremely high or low volume; standard divergences between price, volume, and oscillators.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6784847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6821423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These are potential reversal clues, not guarantees. Chapter 5 gives the detailed discussion.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216 to 218; the 16 names follow the book's order.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answers 5 and 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5. Volume: high volume can strengthen a wide final reversal bar; low volume can signal uncertainty. Pattern 1 allows larger middle volume to be more bearish.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6. Figure 7.6: pattern 1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has first and third closes near low with a large middle bar; pattern 2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has a narrow, low-volume middle bar.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shared uptrend.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Wider outer ranges and gaps add potential reliability. Chapter 7 supplies evidence, not a complete trade plan.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Pattern evidence does not make a complete trade plan.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810512"/>
            <a:ext cx="3824934" cy="242266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9832" y="1929384"/>
            <a:ext cx="3587190" cy="218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871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74152" y="2203703"/>
            <a:ext cx="3038550" cy="1727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7.06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7.6's three bearish triple-bar schematics, with the first two structures marked for the review answer.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89014" y="1973082"/>
            <a:ext cx="645694" cy="144205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14067" y="1973082"/>
            <a:ext cx="645694" cy="144205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60757" y="2978148"/>
            <a:ext cx="286975" cy="26219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72494" y="2535098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097548" y="253509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8236622" y="305948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324621"/>
            <a:ext cx="38249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7.06 -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213, Figure 7.6. The numbered marks are for teaching.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7: ideal inside-bar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949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Inside reversal: the inside bar stays within the prior high and low, then breaks in the reversal direction.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Ideal: first bar wide on high volume; second narrow on very low volume. Barrier and trend context strengthen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7.25 marks wide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narrow inside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and oscillator region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Chapter 7 gives no formula.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Harami is one-fourth to one-third the prior range; an inside bar has no restriction.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01768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38344"/>
            <a:ext cx="665683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inside condition comes first; reversal direction comes from the later break.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19" y="1810512"/>
            <a:ext cx="3459174" cy="207011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65592" y="1929384"/>
            <a:ext cx="3221431" cy="183237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65592" y="1929384"/>
            <a:ext cx="3221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2" y="2203703"/>
            <a:ext cx="2672790" cy="1375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Figure 7.25's ITC Holdings chart, with the wide first bar, the narrow inside bar, and the lower oscillator region marked.</a:t>
            </a:r>
          </a:p>
        </p:txBody>
      </p:sp>
      <p:sp>
        <p:nvSpPr>
          <p:cNvPr id="14" name="Oval 13"/>
          <p:cNvSpPr/>
          <p:nvPr/>
        </p:nvSpPr>
        <p:spPr>
          <a:xfrm>
            <a:off x="10001807" y="2204240"/>
            <a:ext cx="193285" cy="43976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323950" y="2204240"/>
            <a:ext cx="193285" cy="43976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34021" y="3193721"/>
            <a:ext cx="225500" cy="31150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35790" y="197546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508933" y="197546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0347862" y="345968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9" y="3972069"/>
            <a:ext cx="34591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225, Figure 7.25. The numbered marks are for teaching.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8: the Chapter 8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asks how oscillators can help gauge bullishness or bearishness in bar reversal patterns.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7.13 labels an oscillator region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but Chapter 7 does not teach the method or a formula for using oscillators.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full treatment belongs to Chapter 8. This is a forward pointer, not an assessed Chapter 7 method.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3766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Use the figure as context only; do not import a method the chapter does not teach.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233, review question 8; Figure 7.13, p. 218. Oscillator method is deferred to Chapter 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59" y="1810512"/>
            <a:ext cx="4739334" cy="21487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85431" y="1929384"/>
            <a:ext cx="4501590" cy="19110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85431" y="1929384"/>
            <a:ext cx="45015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1" y="2203703"/>
            <a:ext cx="3952950" cy="14538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7.13's overextension chart, with mark 1 on the lower labelled oscillator region.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06641" y="3343563"/>
            <a:ext cx="765270" cy="458652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24783" y="312996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4050748"/>
            <a:ext cx="47393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7.13. The numbered mark is for teaching.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7 - Bar Chart Analysis</dc:title>
  <dc:subject>Technical Analysis in Investment</dc:subject>
  <dc:creator>Faculty of Economics University</dc:creator>
  <cp:keywords/>
  <dc:description>generated using python-pptx</dc:description>
  <cp:lastModifiedBy>Faculty of Economics University</cp:lastModifiedBy>
  <cp:revision>1</cp:revision>
  <dcterms:created xsi:type="dcterms:W3CDTF">2020-01-01T00:00:00Z</dcterms:created>
  <dcterms:modified xsi:type="dcterms:W3CDTF">2020-01-01T00:00:00Z</dcterms:modified>
  <cp:category/>
</cp:coreProperties>
</file>