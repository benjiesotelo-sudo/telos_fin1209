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Greet the room, then say what today buys them: after this session they can read a chart argument and say what it does and does not claim.</a:t>
            </a:r>
          </a:p>
          <a:p>
            <a:r>
              <a:rPr sz="1400"/>
              <a:t>- Point at the roadmap slide next and promise a clean stopping point every twenty five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four objectives in plain words. The title slide has already introduced the four retained prices.</a:t>
            </a:r>
          </a:p>
          <a:p>
            <a:r>
              <a:rPr sz="1400"/>
              <a:t>- Keep potential visible: the chapter teaches warnings and expectations, not 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four parts, not six. The checks are for reading the room, not for marks.</a:t>
            </a:r>
          </a:p>
          <a:p>
            <a:r>
              <a:rPr sz="1400"/>
              <a:t>- Point to Part 1 as the first stop: one interval becomes one bar before patterns are named.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Start with the book's definition and the invented arithmetic. The figure shows the same four prices as a compact record.</a:t>
            </a:r>
          </a:p>
          <a:p>
            <a:r>
              <a:rPr sz="1400"/>
              <a:t>- Point to gold 1, red 2 and blue 3 in the figure as the open, high and low. The close is named in the body and shown on the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crop enlarges the construction panel so the sequence can be read. Gold 1 is the first trade, red 2 the highest trade, blue 3 the last trade, and purple 4 the lowest trade.</a:t>
            </a:r>
          </a:p>
          <a:p>
            <a:r>
              <a:rPr sz="1400"/>
              <a:t>- The lowest trade is also retained as the low, even though this crop's three teaching marks focus on first, highest and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crop isolates the higher-timeframe bar. Gold 1 is the first open, red 2 the highest high, blue 3 the lowest low, and purple 4 the last close.</a:t>
            </a:r>
          </a:p>
          <a:p>
            <a:r>
              <a:rPr sz="1400"/>
              <a:t>- The labels show what survives when three lower-timeframe intervals are combined. No intermediate open or close survives in the composite.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one interval at a time from left to right. Gold 1 identifies the first interval, red 2 a later sequence, and blue 3 the corresponding OHLC bars below.</a:t>
            </a:r>
          </a:p>
          <a:p>
            <a:r>
              <a:rPr sz="1400"/>
              <a:t>- The figure shows the book's sequence, not a new trading signal. Classification comes only after the intervals have been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first classification question in Lim's list on p. 210.</a:t>
            </a:r>
          </a:p>
          <a:p>
            <a:r>
              <a:rPr sz="1400"/>
              <a:t>- Use the invented counts to separate structure from direction. A count does not predict price by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intrinsic sentiment separate from trend sentiment. Chapter 4 is the named pointer for the earlier term.</a:t>
            </a:r>
          </a:p>
          <a:p>
            <a:r>
              <a:rPr sz="1400"/>
              <a:t>- The invented example is only a classification test, not a claim that every bullish pattern works in every trend.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Lim states the agreement rule on p. 211. Keep the word potential because a classification is not a guarantee.</a:t>
            </a:r>
          </a:p>
          <a:p>
            <a:r>
              <a:rPr sz="1400"/>
              <a:t>- The full four-cell table and the book's head and shoulders examples begin in Part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worked read combines the three classification questions without introducing a new pattern name.</a:t>
            </a:r>
          </a:p>
          <a:p>
            <a:r>
              <a:rPr sz="1400"/>
              <a:t>- Say potential reversal, not reversal certainty. The next slide checks the construction arithmetic.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students calculate before revealing. Both answers are stated in the preceding worked slides and the marked bar remains visible.</a:t>
            </a:r>
          </a:p>
          <a:p>
            <a:r>
              <a:rPr sz="1400"/>
              <a:t>- Remind the room that range is a distance, not a fourth OHLC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students calculate before revealing. Both answers are stated in the preceding worked slides and the marked bar remains visible.</a:t>
            </a:r>
          </a:p>
          <a:p>
            <a:r>
              <a:rPr sz="1400"/>
              <a:t>- Remind the room that range is a distance, not a fourth OHLC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the room to separate count, intrinsic bias, and expected direction.</a:t>
            </a:r>
          </a:p>
          <a:p>
            <a:r>
              <a:rPr sz="1400"/>
              <a:t>- The crop keeps the three classification cues visible. Part 2 adds the four-cell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the room to separate count, intrinsic bias, and expected direction.</a:t>
            </a:r>
          </a:p>
          <a:p>
            <a:r>
              <a:rPr sz="1400"/>
              <a:t>- The crop keeps the three classification cues visible. Part 2 adds the four-cell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book's explicit distinction on p. 211. Chapter 4 supplies the earlier intrinsic-bias meaning.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four cases as a table. Keep potential for every directional expectation.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check is the first Part 2 question. Its answers are stated on the two preceding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check is the first Part 2 question. Its answers are stated on the two preceding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prior high and prior close lines before reading marks 1 to 4.</a:t>
            </a:r>
          </a:p>
          <a:p>
            <a:r>
              <a:rPr sz="1400"/>
              <a:t>- The second bar opens above 52.00, reaches a new high of 53.20, and closes at 50.80, below the prior close of 51.10. Mark 4 identifies the 4.2 million-share volume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exact converse: a new low, then a close above the previous close, in a downtrend.</a:t>
            </a:r>
          </a:p>
          <a:p>
            <a:r>
              <a:rPr sz="1400"/>
              <a:t>- The book says the bullish key reversal occurs on high volume and price rebounds rapidly in this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book's definition first, then explain marks 1 to 4 in the same order: gap/open, new high, close, and above-average volume.</a:t>
            </a:r>
          </a:p>
          <a:p>
            <a:r>
              <a:rPr sz="1400"/>
              <a:t>- The figure shows consolidation before the later decline. Keep the word potentially: this is a warning, not a promise.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left to right. The exhaustion bar opens beyond the previous high, but its distinction is the absence of a following gap.</a:t>
            </a:r>
          </a:p>
          <a:p>
            <a:r>
              <a:rPr sz="1400"/>
              <a:t>- The pin bar gives a false impression of breaking support, then retraces back above it. Its volume is low in the invented example.</a:t>
            </a:r>
          </a:p>
          <a:p>
            <a:r>
              <a:rPr sz="1400"/>
              <a:t>- The book's difference is the false barrier penetration, not the size of the bar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to mark 1 for the hover and mark 2 for the later decline. The book's point is delayed follow-through.</a:t>
            </a:r>
          </a:p>
          <a:p>
            <a:r>
              <a:rPr sz="1400"/>
              <a:t>- Separate the pattern definition from the later price path. The latter is a caveat, not part of the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Walk the converse with the invented prices before reading the figure.</a:t>
            </a:r>
          </a:p>
          <a:p>
            <a:r>
              <a:rPr sz="1400"/>
              <a:t>- The rapid rebound is the book's observation in Figure 7.14, not a promise for every bullish key reversal.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is the bullish key reversal below the lower band. Mark 2 is the book's oversold StochRSI label.</a:t>
            </a:r>
          </a:p>
          <a:p>
            <a:r>
              <a:rPr sz="1400"/>
              <a:t>- Mark 3 is the high-volume reading. Lim calls these conditions greater potential, not 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first close near the high, then the second near the low.</a:t>
            </a:r>
          </a:p>
          <a:p>
            <a:r>
              <a:rPr sz="1400"/>
              <a:t>- The values and volume are ours, invented. The wider-range preference comes from Lim, p. 220.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marks 1 and 2 as the two closing positions. The book prefers wider ranges for both bars.</a:t>
            </a:r>
          </a:p>
          <a:p>
            <a:r>
              <a:rPr sz="1400"/>
              <a:t>- CCI is a label in Lim's figure. Chapter 7 does not define its formula, so do not infer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volumes left to right: strong, quiet, strong.</a:t>
            </a:r>
          </a:p>
          <a:p>
            <a:r>
              <a:rPr sz="1400"/>
              <a:t>- The arithmetic and volume are ours, invented; the interpretation follows Lim, pp. 221 to 223.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Marks 1, 2 and 3 identify the first, middle and third bars. The first closes near its high and the third near its low.</a:t>
            </a:r>
          </a:p>
          <a:p>
            <a:r>
              <a:rPr sz="1400"/>
              <a:t>- The figure also labels bearish +DM divergence and shows rapid later decline, not a guaranteed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is the first outer volume bar, mark 2 is the quiet middle volume bar, and mark 3 is the final outer bar.</a:t>
            </a:r>
          </a:p>
          <a:p>
            <a:r>
              <a:rPr sz="1400"/>
              <a:t>- The volume relationship is the book's clue. It does not make the reversal certain.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boxes the three-bar group. Mark 2 is the oversold StochRSI label.</a:t>
            </a:r>
          </a:p>
          <a:p>
            <a:r>
              <a:rPr sz="1400"/>
              <a:t>- Mark 3 points to the last close between the bands, which Lim calls bullish. The formulas are not taught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keeps the first three-bar reversal separate. Mark 2 identifies its large third bar near its high.</a:t>
            </a:r>
          </a:p>
          <a:p>
            <a:r>
              <a:rPr sz="1400"/>
              <a:t>- Mark 3 boxes the later outside day and its close near the low. Lim says the third bar adds bullishness, not 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boxes the first bar, mark 2 identifies the lower-volume middle bar, and mark 3 identifies the third bar.</a:t>
            </a:r>
          </a:p>
          <a:p>
            <a:r>
              <a:rPr sz="1400"/>
              <a:t>- Lim links this arrangement to pattern 6 in Figure 7.9. That link recalls the earlier generic pattern; it adds no new formula.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students use the marked Figure 7.18 and the prior body text, not speaker cues.</a:t>
            </a:r>
          </a:p>
          <a:p>
            <a:r>
              <a:rPr sz="1400"/>
              <a:t>- Reveal the close positions first, then explain that the middle bar's low volume signals uncertainty in the bullish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students use the marked Figure 7.18 and the prior body text, not speaker cues.</a:t>
            </a:r>
          </a:p>
          <a:p>
            <a:r>
              <a:rPr sz="1400"/>
              <a:t>- Reveal the close positions first, then explain that the middle bar's low volume signals uncertainty in the bullish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gap up, the isolated bars, then the gap down.</a:t>
            </a:r>
          </a:p>
          <a:p>
            <a:r>
              <a:rPr sz="1400"/>
              <a:t>- Gap meaning points back to Chapter 3. The prices and volume are ours, invented.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An island is isolated by two gaps: mark 1 is the gap up and mark 3 the gap down.</a:t>
            </a:r>
          </a:p>
          <a:p>
            <a:r>
              <a:rPr sz="1400"/>
              <a:t>- Mark 2 is the isolated formation. Lim also observes low volume and an overbought stochastic label; no formula is taught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students answer from the preceding island slides. The two gaps define the formation; the stochastic label is not a Chapter 7 formula.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students answer from the preceding island slides. The two gaps define the formation; the stochastic label is not a Chapter 7 formula.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previous bar closes at 51.00 and has a high of 52.00. The next bar opens at 53.00, so it gaps above the prior range.</a:t>
            </a:r>
          </a:p>
          <a:p>
            <a:r>
              <a:rPr sz="1400"/>
              <a:t>- The sell-stop is 52.00, the prior high. The stoploss is 54.00, the new bar's high.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left setup first, then the exact directional converse on the right.</a:t>
            </a:r>
          </a:p>
          <a:p>
            <a:r>
              <a:rPr sz="1400"/>
              <a:t>- Mark 1 is the opening gap, mark 2 is the prior-bar trigger level, and mark 3 is the stoploss at the new extreme.</a:t>
            </a:r>
          </a:p>
          <a:p>
            <a:r>
              <a:rPr sz="1400"/>
              <a:t>- If price reverses through the stoploss, the book says to stop and reverse.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previous bar's low is PHP 48.00. The next bar opens at PHP 47.00, below that low.</a:t>
            </a:r>
          </a:p>
          <a:p>
            <a:r>
              <a:rPr sz="1400"/>
              <a:t>- The buy-stop is PHP 48.00 and the new low and stoploss are PHP 46.00.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crop enlarges the Oops annotations and leaves the price sequence visible.</a:t>
            </a:r>
          </a:p>
          <a:p>
            <a:r>
              <a:rPr sz="1400"/>
              <a:t>- The book gives a bearish example; the exact order rule was defined on the previous slide.</a:t>
            </a:r>
          </a:p>
          <a:p>
            <a:r>
              <a:rPr sz="1400"/>
              <a:t>- Keep this as a potential setup. The book does not give a complete trade plan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mark 1 for the buy setup and mark 2 for the sell setup. The exact order levels were defined on the earlier slides.</a:t>
            </a:r>
          </a:p>
          <a:p>
            <a:r>
              <a:rPr sz="1400"/>
              <a:t>- The companion names are not attached to an unrelated mark. Chapter 7 does not define or show them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six range labels are invented teaching numbers. Compare each with the same six-bar window.</a:t>
            </a:r>
          </a:p>
          <a:p>
            <a:r>
              <a:rPr sz="1400"/>
              <a:t>- The last bar is the narrowest and remains inside the prior bar. A later break can go up or 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Count the last six bars in the source schematic, then locate its final inside bar and narrowest range.</a:t>
            </a:r>
          </a:p>
          <a:p>
            <a:r>
              <a:rPr sz="1400"/>
              <a:t>- The two trigger arrows show that direction is not built into ID/NR.</a:t>
            </a:r>
          </a:p>
          <a:p>
            <a:r>
              <a:rPr sz="1400"/>
              <a:t>- The next slide extends the same count to NR4, NR5, NR6, and NR7.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the marked schematic as the anchor, then read the four window lengths from the body.</a:t>
            </a:r>
          </a:p>
          <a:p>
            <a:r>
              <a:rPr sz="1400"/>
              <a:t>- The book defines the pattern in words rather than giving these comparative ranges; they are 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is the narrowest final bar and mark 2 boxes its inside relationship with the prior bar.</a:t>
            </a:r>
          </a:p>
          <a:p>
            <a:r>
              <a:rPr sz="1400"/>
              <a:t>- Mark 3's top and bottom edges sit on the printed long and short trigger levels; either direction is possible before the break.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five counted monthly ranges are 12, 10, 9, 7, and 5 PHP; the fifth bar is inside the fourth.</a:t>
            </a:r>
          </a:p>
          <a:p>
            <a:r>
              <a:rPr sz="1400"/>
              <a:t>- The sixth bar breaks above PHP 31.00. The example is invented to show the extension.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monthly extension, not an ordinary daily ID/NR example.</a:t>
            </a:r>
          </a:p>
          <a:p>
            <a:r>
              <a:rPr sz="1400"/>
              <a:t>- Mark 1 identifies the inside month, mark 2 spans the five-month range count, and mark 3 is on the first upside breakout bar.</a:t>
            </a:r>
          </a:p>
          <a:p>
            <a:r>
              <a:rPr sz="1400"/>
              <a:t>- The count and neutral direction rule remain the same before breakout.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order diagram and marked ID/NR6 slide.</a:t>
            </a:r>
          </a:p>
          <a:p>
            <a:r>
              <a:rPr sz="1400"/>
              <a:t>- Do not reveal the answers here; the next slide gives the reasons.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order diagram and marked ID/NR6 slide.</a:t>
            </a:r>
          </a:p>
          <a:p>
            <a:r>
              <a:rPr sz="1400"/>
              <a:t>- Do not reveal the answers here; the next slide gives the reasons.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book's summary on p. 233 as the scope of the chapter.</a:t>
            </a:r>
          </a:p>
          <a:p>
            <a:r>
              <a:rPr sz="1400"/>
              <a:t>- Emphasise that potential evidence is not a guarantee or a complete trading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students to say the difference before reading the answer text.</a:t>
            </a:r>
          </a:p>
          <a:p>
            <a:r>
              <a:rPr sz="1400"/>
              <a:t>- Keep the words may and potential: the book does not promise follow-through.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back to the earlier Chapter 5 terms for the first eight characteristics.</a:t>
            </a:r>
          </a:p>
          <a:p>
            <a:r>
              <a:rPr sz="1400"/>
              <a:t>- Read every name as evidence, not 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back to the earlier Chapter 5 terms for the remaining definitions the book says to recall.</a:t>
            </a:r>
          </a:p>
          <a:p>
            <a:r>
              <a:rPr sz="1400"/>
              <a:t>- Read barrier proximity as the strongest reliability emphasis in this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Gold mark 1 brackets pattern 1 and red mark 2 brackets pattern 2.</a:t>
            </a:r>
          </a:p>
          <a:p>
            <a:r>
              <a:rPr sz="1400"/>
              <a:t>- Blue mark 3 sits beside the source's uptrend context. Read the source conditions rather than inventing a trade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Gold mark 1 identifies the wide first bar near resistance; red mark 2 identifies the narrow inside bar.</a:t>
            </a:r>
          </a:p>
          <a:p>
            <a:r>
              <a:rPr sz="1400"/>
              <a:t>- Blue mark 3 identifies the lower oscillator region shown in the source. Chapter 7 does not teach its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to the lower labelled oscillator region, not to a formula.</a:t>
            </a:r>
          </a:p>
          <a:p>
            <a:r>
              <a:rPr sz="1400"/>
              <a:t>- The book uses the label as context in Chapter 7; the method is deferred to Chapter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FIN1209  Technical Analysis in 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57400"/>
            <a:ext cx="146304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63721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Palatino"/>
              </a:rPr>
              <a:t>Chapter 7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</a:pPr>
            <a:r>
              <a:rPr sz="4400" b="0" i="0">
                <a:solidFill>
                  <a:srgbClr val="FFFFFF"/>
                </a:solidFill>
                <a:latin typeface="Palatino"/>
              </a:rPr>
              <a:t>Bar Chart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89204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 price bar records opening, highest, lowest and closing prices; it can warn of a possible top or bottom. First, make one bar from the trades that made it.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 i="0">
                <a:solidFill>
                  <a:srgbClr val="F2A900"/>
                </a:solidFill>
                <a:latin typeface="Arial"/>
              </a:rPr>
              <a:t>Faculty of Economics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this chapter lets you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Opening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price bar is a compact record of opening, highest, lowest, and closing prices. This chapter teaches how to read that four-price record.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You will calculate a bar, classify a formation by its number of bars and its own bullish or bearish bias, and judge a possible continuation or reversal.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You will also recall the book's 16 price and volume reversal characteristics. Every signal is a potential warning, not a promise.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route follows the book from one bar to the full pattern.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209 to 217. The plain-language objectives follow the book's four learning objectives.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Four parts, one reading habit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Opening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1 makes and combines the four prices in a bar.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2 compares continuation and reversal using trend sentiment and intrinsic sentiment.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3 reads popular reversal patterns. Part 4 reads volatility breakouts.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check follows key ideas, and each part stops cleanly. The route follows the book from one bar to the full pattern.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96612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33188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Part 1 starts with the four prices every bar keeps.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 sections 7.1 to 7.4. The four-part route follows the approved outline.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four prices in one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1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6692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Lim writes, "A standard price bar comprises an open (O), high (H), low (L), and close (C) price" (p. 209).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Lim defines range as |H - L| (p. 209). Ours, invented: O 50.00, H 52.40, L 49.60, C 51.10; range = Philippine pesos (PHP) 2.80.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Action: read these four prices before a pattern. Figure 7.1 marks the close (4).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65192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01768"/>
            <a:ext cx="537667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Now show how five trades become these four prices.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6559" y="1810512"/>
            <a:ext cx="4647894" cy="3419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85431" y="1929384"/>
            <a:ext cx="4410151" cy="31816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85431" y="1929384"/>
            <a:ext cx="44101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59751" y="2203703"/>
            <a:ext cx="3861511" cy="2724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7.1: five minutes of changing price are filtered into one bar that keeps only the open, high, low and close. The range is the distance from high to low.</a:t>
            </a:r>
          </a:p>
        </p:txBody>
      </p:sp>
      <p:sp>
        <p:nvSpPr>
          <p:cNvPr id="14" name="Oval 13"/>
          <p:cNvSpPr/>
          <p:nvPr/>
        </p:nvSpPr>
        <p:spPr>
          <a:xfrm>
            <a:off x="9619725" y="3138395"/>
            <a:ext cx="308710" cy="254528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19725" y="2565705"/>
            <a:ext cx="308710" cy="254528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19725" y="4092878"/>
            <a:ext cx="308710" cy="25452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8436" y="3361108"/>
            <a:ext cx="308710" cy="254528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62058" y="3001235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0099986" y="2269465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099986" y="440114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10408697" y="3478476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59" y="5321304"/>
            <a:ext cx="4647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7.1. The marks and worked PHP values are ours, added for teaching.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Five minutes become one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2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303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Now trace Figure 7.1's five invented trades: 50.00, 50.80, 49.60, 52.40, and 51.10 Philippine pesos.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First becomes O 50.00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; highest H 52.40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; last C 51.10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Lowest 49.60 supplies L </a:t>
            </a:r>
            <a:r>
              <a:rPr sz="20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. Keep first, highest, lowest, and last.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01183"/>
            <a:ext cx="82296" cy="7863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37759"/>
            <a:ext cx="501091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1A1A"/>
                </a:solidFill>
                <a:latin typeface="Arial"/>
              </a:rPr>
              <a:t>One interval is one OHLC bar. Next, combine several intervals.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1229" y="1810512"/>
            <a:ext cx="3192795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30101" y="1929384"/>
            <a:ext cx="2955051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0101" y="1929384"/>
            <a:ext cx="29550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04421" y="2203703"/>
            <a:ext cx="2406411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 construction panel, cropped to the five-minute price path. The first trade, highest trade and last trade become the bar's open, high and close; the lowest trade supplies the low.</a:t>
            </a:r>
          </a:p>
        </p:txBody>
      </p:sp>
      <p:sp>
        <p:nvSpPr>
          <p:cNvPr id="14" name="Oval 13"/>
          <p:cNvSpPr/>
          <p:nvPr/>
        </p:nvSpPr>
        <p:spPr>
          <a:xfrm>
            <a:off x="8109763" y="3193450"/>
            <a:ext cx="295505" cy="42135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53021" y="2456078"/>
            <a:ext cx="295505" cy="456468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907627" y="3404128"/>
            <a:ext cx="295505" cy="45646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89425" y="4317065"/>
            <a:ext cx="295505" cy="421355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824851" y="3477646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859119" y="2108240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213725" y="3828775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9065972" y="4741712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799" y="5650991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7.1, construction panel. The crop, marks and worked PHP values are ours, added for teaching.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Three small bars become one larger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3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303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Now extend the same rule to three invented five-minute bars: first O 50.00, highest H 50.90, lowest L 49.40, last C 50.30.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Figure 7.2 keeps O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H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L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and C </a:t>
            </a:r>
            <a:r>
              <a:rPr sz="18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in the 15-minute composite.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Action: a higher-timeframe bar preserves first, extreme, and last values; it does not average intermediate opens or closes.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65192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01768"/>
            <a:ext cx="501091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book's composite rule is the same four-price rule at a longer interval.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15986" y="1810512"/>
            <a:ext cx="3583281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34858" y="1929384"/>
            <a:ext cx="3345537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34858" y="1929384"/>
            <a:ext cx="334553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09178" y="2203703"/>
            <a:ext cx="2796897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7.2 composite-bar panel, cropped to the 15-minute bar. Three five-minute bars are summarized by the first open, highest high, lowest low and last close.</a:t>
            </a:r>
          </a:p>
        </p:txBody>
      </p:sp>
      <p:sp>
        <p:nvSpPr>
          <p:cNvPr id="14" name="Oval 13"/>
          <p:cNvSpPr/>
          <p:nvPr/>
        </p:nvSpPr>
        <p:spPr>
          <a:xfrm>
            <a:off x="9175270" y="3193450"/>
            <a:ext cx="468375" cy="35112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75270" y="2456078"/>
            <a:ext cx="468375" cy="35112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75270" y="4949098"/>
            <a:ext cx="468375" cy="35112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75270" y="4001048"/>
            <a:ext cx="468375" cy="386242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918005" y="3175345"/>
            <a:ext cx="246888" cy="246888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0055487" y="2157069"/>
            <a:ext cx="246888" cy="24688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055487" y="5247010"/>
            <a:ext cx="246888" cy="246888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8918005" y="3982943"/>
            <a:ext cx="246888" cy="246888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799" y="5650991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7.2 - Lim, The Handbook of Technical Analysis (Wiley, 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7.2, composite-bar panel. The crop, marks and worked PHP values are ours, added for teaching.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Read each interval before naming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4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303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next shows five-minute intervals before it classifies a formation (Lim, p. 210).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first interval, red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a later interval, and 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the OHLC bar below one interval.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Action: read each interval first; then count bars, identify intrinsic sentiment, and ask continuation or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50109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three classification questions come after the interval read.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799" y="1810512"/>
            <a:ext cx="5013655" cy="3040251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19671" y="1929384"/>
            <a:ext cx="4775911" cy="280250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9671" y="1929384"/>
            <a:ext cx="47759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93991" y="2203703"/>
            <a:ext cx="4227271" cy="23453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 shows a series of five-minute price intervals above the corresponding OHLC bars below. Each interval becomes one bar before a formation is classified.</a:t>
            </a:r>
          </a:p>
        </p:txBody>
      </p:sp>
      <p:sp>
        <p:nvSpPr>
          <p:cNvPr id="14" name="Oval 13"/>
          <p:cNvSpPr/>
          <p:nvPr/>
        </p:nvSpPr>
        <p:spPr>
          <a:xfrm>
            <a:off x="6686828" y="2714086"/>
            <a:ext cx="334313" cy="420376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94182" y="2770136"/>
            <a:ext cx="334313" cy="420376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241941" y="3779038"/>
            <a:ext cx="334313" cy="39235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87174" y="2445944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591516" y="2501994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9639275" y="4155474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799" y="4942203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7.3 -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7.3. Marks are ours, added for teaching.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First question: how many bars?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5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With the intervals read, first count the bars in the formation. The book's four categories are single, double, triple, and multiple (Lim, p. 210).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Ours, invented: one bar is single, two are double, three are triple, and five are multiple.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Meaning/action: the count describes structure, not direction. A triple formation is not automatically bullish or bearish.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Count first. Next ask what bias the formation carries.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210. The counts and examples are ours, invented to show the classification.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Second question: intrinsic sentiment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6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Now identify intrinsic sentiment, the formation's own bullish or bearish bias. Lim points back to Chapter 4 for intrinsic bias (Lim, 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Ours, invented: an intrinsically bullish formation stays bullish in either an uptrend or a downtrend; location does not rename it.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Meaning/action: separate the formation's own bias from what the surrounding trend expects next.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pattern's own bias comes before the trend-context question.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211, with a pointer to Chapter 4. The placement example is ours.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Third question: continuation or reversal?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7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Trend sentiment is bullish in an uptrend and bearish in a downtrend (Lim, 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Compare intrinsic sentiment: agreement suggests continuation; disagreement suggests potential reversal (p.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Ours: bearish formation plus uptrend means potential reversal; bullish plus uptrend means potential continuation, not certainty.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Agreement suggests continuation; disagreement suggests reversal.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211. The two invented placements illustrate the book's agreement rule.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Part 1 in one worked read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8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74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Ours, invented: two bars make a double formation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second closes at 49.80 below first low 50.20.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second bar's intrinsic sentiment is bearish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rising upper price sequence beside the pair is bullish trend context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Read: potential reversal, not a promise of a fall.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4782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Count, intrinsic bias, and trend expectation now have one worked read.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3571" y="1810512"/>
            <a:ext cx="52395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chart-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2443" y="1929384"/>
            <a:ext cx="5001768" cy="351129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9293504" y="2315626"/>
            <a:ext cx="1150406" cy="667146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993751" y="2736982"/>
            <a:ext cx="300106" cy="245790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V="1">
            <a:off x="7642920" y="3404128"/>
            <a:ext cx="1450513" cy="807598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15" name="Oval 14"/>
          <p:cNvSpPr/>
          <p:nvPr/>
        </p:nvSpPr>
        <p:spPr>
          <a:xfrm>
            <a:off x="9001993" y="2399751"/>
            <a:ext cx="182880" cy="18288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0411632" y="2654686"/>
            <a:ext cx="164592" cy="16459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9202064" y="3172236"/>
            <a:ext cx="182880" cy="18288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199" y="5650991"/>
            <a:ext cx="52422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U - FIN1209 teaching chart, drawn for this course. Illustrative data, not a real instrument.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FIN1209 teaching chart U. All PHP values, marks and labels are ours, invented.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 OF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Building a price 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With H 52.40 and L 49.60, what is the range?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PHP 1.40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PHP 2.80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PHP 3.80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PHP 102.00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price comes from the last trade in the interval?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Open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Close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1207008"/>
            <a:ext cx="5745175" cy="421096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88151" y="1325880"/>
            <a:ext cx="5507431" cy="397321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88151" y="1325880"/>
            <a:ext cx="55074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62471" y="1600200"/>
            <a:ext cx="4958791" cy="35160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7.1: five minutes of changing price are filtered into one bar that keeps only the open, high, low and close. The range is the distance from high to low.</a:t>
            </a:r>
          </a:p>
        </p:txBody>
      </p:sp>
      <p:sp>
        <p:nvSpPr>
          <p:cNvPr id="18" name="Oval 17"/>
          <p:cNvSpPr/>
          <p:nvPr/>
        </p:nvSpPr>
        <p:spPr>
          <a:xfrm>
            <a:off x="9202759" y="2835702"/>
            <a:ext cx="385520" cy="31785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202759" y="2120523"/>
            <a:ext cx="385520" cy="31785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202759" y="4027668"/>
            <a:ext cx="385520" cy="317857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588279" y="3113828"/>
            <a:ext cx="385520" cy="317857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90227" y="2698542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Oval 22"/>
          <p:cNvSpPr/>
          <p:nvPr/>
        </p:nvSpPr>
        <p:spPr>
          <a:xfrm>
            <a:off x="9836639" y="1784702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Oval 23"/>
          <p:cNvSpPr/>
          <p:nvPr/>
        </p:nvSpPr>
        <p:spPr>
          <a:xfrm>
            <a:off x="9836639" y="4446758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Oval 24"/>
          <p:cNvSpPr/>
          <p:nvPr/>
        </p:nvSpPr>
        <p:spPr>
          <a:xfrm>
            <a:off x="10222159" y="3294525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79" y="5509410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1 of 4 - 7.1 Price bar  |  Check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Building a price 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With H 52.40 and L 49.60, what is the range?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PHP 2.80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Range is the absolute distance from high to low: |52.40 - 49.60| = PHP 2.80 (Lim, p. 209).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25723"/>
            <a:ext cx="4572000" cy="2484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25723"/>
            <a:ext cx="91440" cy="24841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08603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Which price comes from the last trade in the interval?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488053"/>
            <a:ext cx="4023360" cy="16217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last trade becomes the close. The first trade becomes the open; extremes become high and low (Lim, p. 210).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1207008"/>
            <a:ext cx="5745175" cy="421096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88151" y="1325880"/>
            <a:ext cx="5507431" cy="397321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88151" y="1325880"/>
            <a:ext cx="55074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62471" y="1600200"/>
            <a:ext cx="4958791" cy="35160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7.1: five minutes of changing price are filtered into one bar that keeps only the open, high, low and close. The range is the distance from high to low.</a:t>
            </a:r>
          </a:p>
        </p:txBody>
      </p:sp>
      <p:sp>
        <p:nvSpPr>
          <p:cNvPr id="18" name="Oval 17"/>
          <p:cNvSpPr/>
          <p:nvPr/>
        </p:nvSpPr>
        <p:spPr>
          <a:xfrm>
            <a:off x="9202759" y="2835702"/>
            <a:ext cx="385520" cy="31785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202759" y="2120523"/>
            <a:ext cx="385520" cy="31785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202759" y="4027668"/>
            <a:ext cx="385520" cy="317857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588279" y="3113828"/>
            <a:ext cx="385520" cy="317857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90227" y="2698542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Oval 22"/>
          <p:cNvSpPr/>
          <p:nvPr/>
        </p:nvSpPr>
        <p:spPr>
          <a:xfrm>
            <a:off x="9836639" y="1784702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Oval 23"/>
          <p:cNvSpPr/>
          <p:nvPr/>
        </p:nvSpPr>
        <p:spPr>
          <a:xfrm>
            <a:off x="9836639" y="4446758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Oval 24"/>
          <p:cNvSpPr/>
          <p:nvPr/>
        </p:nvSpPr>
        <p:spPr>
          <a:xfrm>
            <a:off x="10222159" y="3294525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79" y="5509410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Check 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 OF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Classifying a 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Single, double, triple and multiple describe what?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Number of bars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Trading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The high price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The trend duration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When intrinsic and trend sentiments disagree, the expectation is: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A continuation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 wider range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A potential reversal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A new timeframe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06582" y="1207008"/>
            <a:ext cx="2670569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25454" y="1325880"/>
            <a:ext cx="2432825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25454" y="1325880"/>
            <a:ext cx="243282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99774" y="1600200"/>
            <a:ext cx="1884185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 crop showing the two counted OHLC bars, the second bar's location, and the rising price context used in the worked read.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2019" y="3547872"/>
            <a:ext cx="1192084" cy="1728215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66195" y="3794760"/>
            <a:ext cx="413580" cy="139903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63508" y="1655064"/>
            <a:ext cx="608206" cy="144018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489377" y="3337560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949073" y="3584448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241012" y="1403604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1 of 4 - 7.1 Price bar  |  Check 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Classifying a 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Single, double, triple and multiple describe what?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A.  Number of bars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first classification asks for the number of bars in the formation (Lim, p. 210).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25723"/>
            <a:ext cx="4572000" cy="2484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25723"/>
            <a:ext cx="91440" cy="24841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08603"/>
            <a:ext cx="4023360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When intrinsic and trend sentiments disagree, the expectation is: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736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C.  A potential reversal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says agreement indicates continuation and disagreement indicates reversal (Lim, p. 211).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5028" y="1207008"/>
            <a:ext cx="2813677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253900" y="1325880"/>
            <a:ext cx="2575933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53900" y="1325880"/>
            <a:ext cx="2575933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28220" y="1600200"/>
            <a:ext cx="2027293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 crop showing the two counted OHLC bars, the second bar's location, and the rising price context used in the worked read.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69087" y="3547872"/>
            <a:ext cx="1262207" cy="1728215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67626" y="3794760"/>
            <a:ext cx="437908" cy="139903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70664" y="1655064"/>
            <a:ext cx="643983" cy="144018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434996" y="3337560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980556" y="3584448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289668" y="1403604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Check 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Trend sentiment and intrinsic sentiment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1 of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With the three questions in place, define trend sentiment: bullish in an uptrend, bearish in a downtrend. Intrinsic sentiment is a formation's own bullish or bearish bias (Lim, 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Chapter 4 defines an inverted head and shoulders as bullish; in an uptrend, bullish biases agree.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Four invented cells: uptrend plus bullish formation and downtrend plus bearish formation are continuation; the mixed pairs are potential reversals.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28437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65013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Agreement gives continuation; disagreement gives reversal.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211. The placement example is ours, invented to show agreement.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two-by-two rule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2 of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5720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Read the rows first: an uptrend has bullish trend sentiment; a downtrend has bearish trend sentiment. Columns show bullish or bearish formation.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two agreement cells are continuation; the two mixed cells are potential reversal.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Lim's rule: agreement means continuation; disagreement means reversal (p. 211). Compare both sentiments.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70651" y="1810512"/>
            <a:ext cx="574243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9523" y="1929384"/>
            <a:ext cx="5504688" cy="35112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79" y="5650991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S - FIN1209 teaching chart, drawn for this course. Illustrative data, not a real instrument.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211. The four cases are ours, invented to show the rule.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3 OF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Continuation or reversal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bearish formation in an uptrend is a potential: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Continuation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Reversal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Higher timeframe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Range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An inverted head and shoulders in an uptrend is a potential: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Reversal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Single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Low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Continuation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1207008"/>
            <a:ext cx="5745175" cy="375078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chart-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8151" y="1325880"/>
            <a:ext cx="5507431" cy="351304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79" y="5049237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S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2 of 4 - 7.2 Pattern reading  |  Check 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Continuation or reversal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484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4841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bearish formation in an uptrend is a potential: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6217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Reversal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bearish intrinsic bias disagrees with bullish trend sentiment in an uptrend, so Lim classifies it as a potential reversal (p. 211).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874008"/>
            <a:ext cx="45720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874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056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An inverted head and shoulders in an uptrend is a potential: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736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Continuation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Chapter 4 calls it bullish. In an uptrend, bullish biases agree: potential continuation (p. 211).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1207008"/>
            <a:ext cx="5745175" cy="375430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chart-s.png"/>
          <p:cNvPicPr>
            <a:picLocks noChangeAspect="1"/>
          </p:cNvPicPr>
          <p:nvPr/>
        </p:nvPicPr>
        <p:blipFill>
          <a:blip r:embed="rId2"/>
          <a:srcRect l="50" r="50"/>
          <a:stretch>
            <a:fillRect/>
          </a:stretch>
        </p:blipFill>
        <p:spPr>
          <a:xfrm>
            <a:off x="5788151" y="1325880"/>
            <a:ext cx="5507431" cy="351656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79" y="5052754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S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Check 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Bearish key reversal: the numbers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943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With the agreement rule in place, now read a named reversal bar in five steps.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Step 1. Prior bar: open 50.80, high 52.00, low 50.60, close 51.10.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Step 2. It opens at 52.30 above prior high 52.00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Step 3. It makes a new high of 53.20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Step 4. It closes at 50.80 below prior close 51.10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Step 5. Volume is 4.2 million versus 2.0 million </a:t>
            </a:r>
            <a:r>
              <a:rPr sz="17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That is a bearish key reversal (Lim, p. 218).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0879" y="1810512"/>
            <a:ext cx="4373575" cy="2169811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9751" y="1929384"/>
            <a:ext cx="4135831" cy="1932067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806683" y="2489683"/>
            <a:ext cx="206791" cy="9660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806683" y="2277156"/>
            <a:ext cx="206791" cy="96603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06683" y="2934058"/>
            <a:ext cx="206791" cy="9660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806683" y="3436396"/>
            <a:ext cx="248149" cy="115924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154936" y="243083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Oval 14"/>
          <p:cNvSpPr/>
          <p:nvPr/>
        </p:nvSpPr>
        <p:spPr>
          <a:xfrm>
            <a:off x="10188893" y="2025104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10188893" y="297181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Oval 16"/>
          <p:cNvSpPr/>
          <p:nvPr/>
        </p:nvSpPr>
        <p:spPr>
          <a:xfrm>
            <a:off x="10322112" y="3483298"/>
            <a:ext cx="292608" cy="292608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79" y="4071763"/>
            <a:ext cx="43735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B - FIN1209 teaching chart, drawn for this course. Illustrative data, not a real instrument.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B is ours, with invented PHP bars and million-share volume.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bullish converse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4008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In a downtrend, a bullish key reversal makes a new low, then closes near or above the previous close.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Ours: previous low PHP 42.00 and close PHP 41.00. New bar reaches PHP 40.50 and closes PHP 43.20 on 4.0 million shares.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New low. </a:t>
            </a:r>
            <a:r>
              <a:rPr sz="19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Close above the previous close. </a:t>
            </a:r>
            <a:r>
              <a:rPr sz="19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High volume supports the potential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89170"/>
            <a:ext cx="82296" cy="45110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25746"/>
            <a:ext cx="6108192" cy="451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A1A1A"/>
                </a:solidFill>
                <a:latin typeface="Arial"/>
              </a:rPr>
              <a:t>Same five-step reading, reversed direction.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41441"/>
            <a:ext cx="6400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Book p. 218 and Figure 7.14. The values are ours, invented to show the converse.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79" y="1810512"/>
            <a:ext cx="3916374" cy="242078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16951" y="1929384"/>
            <a:ext cx="3678631" cy="2183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16951" y="1929384"/>
            <a:ext cx="36786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91271" y="2203703"/>
            <a:ext cx="3129990" cy="1725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Apple daily chart. The marked bar makes a new low, closes above the previous close, and is followed by a rapid rebound on high volume.</a:t>
            </a:r>
          </a:p>
        </p:txBody>
      </p:sp>
      <p:sp>
        <p:nvSpPr>
          <p:cNvPr id="15" name="Oval 14"/>
          <p:cNvSpPr/>
          <p:nvPr/>
        </p:nvSpPr>
        <p:spPr>
          <a:xfrm>
            <a:off x="9143583" y="3130055"/>
            <a:ext cx="257504" cy="50209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43583" y="3435681"/>
            <a:ext cx="257504" cy="371116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06797" y="3632154"/>
            <a:ext cx="349469" cy="45843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785811" y="2974607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749024" y="3651349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8712238" y="3913314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4322735"/>
            <a:ext cx="39163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7.14 -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218, Figure 7.14. The worked PHP values are ours, invented to show the converse.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7.15: the same reading on a real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6751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Lim defines it: “A bearish key reversal bar forms a higher high than the previous bar and closes near or below the close of the previous bar.” (Lim, p. 218).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9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marks the key reversal day opening above the prior high. Red </a:t>
            </a:r>
            <a:r>
              <a:rPr sz="19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marks its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Blue </a:t>
            </a:r>
            <a:r>
              <a:rPr sz="19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marks its close below the prior close. Purple </a:t>
            </a:r>
            <a:r>
              <a:rPr sz="19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marks the above-average volume under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Meaning/action: a potential warning, not a promise. The book's chart shows consolidation before the decline. Check the 16 characteristics and barrier proximity.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69904" y="1810512"/>
            <a:ext cx="2647045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388776" y="1929384"/>
            <a:ext cx="2409301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388776" y="1929384"/>
            <a:ext cx="240930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63096" y="2203703"/>
            <a:ext cx="1860661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day opens above the previous high, forms a new high, closes below the previous close, and has above average volume.</a:t>
            </a:r>
          </a:p>
        </p:txBody>
      </p:sp>
      <p:sp>
        <p:nvSpPr>
          <p:cNvPr id="12" name="Oval 11"/>
          <p:cNvSpPr/>
          <p:nvPr/>
        </p:nvSpPr>
        <p:spPr>
          <a:xfrm>
            <a:off x="9545241" y="2157618"/>
            <a:ext cx="192744" cy="140451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569334" y="2052279"/>
            <a:ext cx="144558" cy="14045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617520" y="2456078"/>
            <a:ext cx="192744" cy="15800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545241" y="4633081"/>
            <a:ext cx="192744" cy="280903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853942" y="210824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010406" y="200290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0058592" y="2564709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Oval 18"/>
          <p:cNvSpPr/>
          <p:nvPr/>
        </p:nvSpPr>
        <p:spPr>
          <a:xfrm>
            <a:off x="9793569" y="4741712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5650991"/>
            <a:ext cx="364205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218 to 219, Figure 7.15. The crop and marks are for teaching; no invented example is on this slide.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Exhaustion bar versus pin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0233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Exhaustion: in an uptrend, it opens at 65.40 above prior high 65.00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reaches 66.20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and closes at 60.50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; the next bar opens at 60.20 with no gap </a:t>
            </a:r>
            <a:r>
              <a:rPr sz="18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Pin bar: it penetrates support at 40.00 to 38.80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(5)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then rapidly retraces and closes at 40.60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(6)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Meaning/action: exhaustion warns of a tiring trend; a pin bar warns of a false breakout.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39" y="1810512"/>
            <a:ext cx="7025335" cy="340858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9511" y="1929384"/>
            <a:ext cx="6787591" cy="3170845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902471" y="2642824"/>
            <a:ext cx="135751" cy="12683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902471" y="2468427"/>
            <a:ext cx="135751" cy="126833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902471" y="3736765"/>
            <a:ext cx="169689" cy="19025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V="1">
            <a:off x="7072161" y="3768474"/>
            <a:ext cx="678759" cy="63417"/>
          </a:xfrm>
          <a:prstGeom prst="line">
            <a:avLst/>
          </a:prstGeom>
          <a:ln w="44450">
            <a:solidFill>
              <a:srgbClr val="7B3FA0"/>
            </a:solidFill>
          </a:ln>
        </p:spPr>
      </p:cxnSp>
      <p:sp>
        <p:nvSpPr>
          <p:cNvPr id="14" name="Oval 13"/>
          <p:cNvSpPr/>
          <p:nvPr/>
        </p:nvSpPr>
        <p:spPr>
          <a:xfrm>
            <a:off x="10228391" y="3831891"/>
            <a:ext cx="237565" cy="22195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228391" y="3102596"/>
            <a:ext cx="237565" cy="190250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2730" y="2322419"/>
            <a:ext cx="228600" cy="22860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7229365" y="2290710"/>
            <a:ext cx="228600" cy="22860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7161489" y="3939550"/>
            <a:ext cx="228600" cy="22860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Oval 18"/>
          <p:cNvSpPr/>
          <p:nvPr/>
        </p:nvSpPr>
        <p:spPr>
          <a:xfrm>
            <a:off x="7976000" y="3559048"/>
            <a:ext cx="228600" cy="22860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Oval 19"/>
          <p:cNvSpPr/>
          <p:nvPr/>
        </p:nvSpPr>
        <p:spPr>
          <a:xfrm>
            <a:off x="9876525" y="4129801"/>
            <a:ext cx="228600" cy="22860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1" name="Oval 20"/>
          <p:cNvSpPr/>
          <p:nvPr/>
        </p:nvSpPr>
        <p:spPr>
          <a:xfrm>
            <a:off x="10758912" y="3020005"/>
            <a:ext cx="228600" cy="22860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5310541"/>
            <a:ext cx="70253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A - FIN1209 teaching chart, drawn for this course. Illustrative data, not a real instrument.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226 to 227. Chart A is ours, with invented PHP bars and volume to answer review question 1.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4 OF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Near or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Above prior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Below prior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On low volume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New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Close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Later bars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50469" y="1207008"/>
            <a:ext cx="5582795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69341" y="1325880"/>
            <a:ext cx="5345051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69341" y="1325880"/>
            <a:ext cx="53450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43661" y="1600200"/>
            <a:ext cx="4796411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114263" y="1737360"/>
            <a:ext cx="267252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74614" y="1408176"/>
            <a:ext cx="213802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81515" y="2313432"/>
            <a:ext cx="267252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638112" y="1417320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653672" y="121158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8867474" y="261061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A.  Near or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defines the bearish pattern as a higher high followed by a close near or below the previous close.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25723"/>
            <a:ext cx="45720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25723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08603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488053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C.  Close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preceding slide maps blue mark 3 to the close below the previous close (Lim, p. 219).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79202" y="1207008"/>
            <a:ext cx="5725330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98074" y="1325880"/>
            <a:ext cx="5487586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98074" y="1325880"/>
            <a:ext cx="5487586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72394" y="1600200"/>
            <a:ext cx="4938946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102860" y="1737360"/>
            <a:ext cx="27437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67488" y="1408176"/>
            <a:ext cx="219503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77239" y="2313432"/>
            <a:ext cx="27437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618157" y="1417320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660798" y="121158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8880302" y="261061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5 OF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Impossible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Always certain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Unrelated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Potentially more reliable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11480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Monthly chart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Downtrend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Flat market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Volume panel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50469" y="1207008"/>
            <a:ext cx="5582795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69341" y="1325880"/>
            <a:ext cx="5345051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69341" y="1325880"/>
            <a:ext cx="53450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43661" y="1600200"/>
            <a:ext cx="4796411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114263" y="1737360"/>
            <a:ext cx="267252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74614" y="1408176"/>
            <a:ext cx="213802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81515" y="2313432"/>
            <a:ext cx="267252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638112" y="1417320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653672" y="121158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8867474" y="261061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5571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5571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6948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Potentially more reliable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says a wider bar makes follow-through potentially more reliable.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47033"/>
            <a:ext cx="4572000" cy="17684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947033"/>
            <a:ext cx="91440" cy="17684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129913"/>
            <a:ext cx="402336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561078"/>
            <a:ext cx="402336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Downtrend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bullish key reversal is the converse in a downtrend.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79202" y="1207008"/>
            <a:ext cx="5725330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98074" y="1325880"/>
            <a:ext cx="5487586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98074" y="1325880"/>
            <a:ext cx="5487586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72394" y="1600200"/>
            <a:ext cx="4938946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102860" y="1737360"/>
            <a:ext cx="27437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67488" y="1408176"/>
            <a:ext cx="219503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77239" y="2313432"/>
            <a:ext cx="27437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618157" y="1417320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660798" y="121158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8880302" y="261061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Key reversal: consolidation can come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5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Lim says a rapid decline may not follow. The market can hover near the key bar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before falling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(p. 219).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Ours: the key bar closes PHP 50.80, then prices hover at PHP 50.60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before declining to PHP 48.90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Meaning/action: treat the bar as a potential warning; wait for the surrounding context rather than assuming timing.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65192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01768"/>
            <a:ext cx="592531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A wide bar may make follow-through more reliable, but width does not guarantee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199" y="1810512"/>
            <a:ext cx="4099255" cy="329279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34071" y="1929384"/>
            <a:ext cx="3861511" cy="305505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4071" y="1929384"/>
            <a:ext cx="38615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08392" y="2203703"/>
            <a:ext cx="3312871" cy="25978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the later consolidation and decline.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212" y="2357091"/>
            <a:ext cx="424766" cy="458258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944054" y="2418192"/>
            <a:ext cx="424766" cy="794314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005120" y="2106873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433879" y="3176143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199" y="5194751"/>
            <a:ext cx="40992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219, Figure 7.15. The PHP path is ours, invented to show consolidation.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Key reversal: the bullish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6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303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In a downtrend, the converse makes a new low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then closes near or above the previous close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Ours: the prior low is PHP 42.00 and close PHP 41.00; the new low is PHP 40.50, then the close is PHP 43.20 on 4.0 million shares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Lim's Figure 7.14 observes a rapid rebound after a high-volume bullish key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96926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5010912" cy="9692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direction changes, but the reading still uses the new extreme and the prior close.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799" y="1810512"/>
            <a:ext cx="5013655" cy="307195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19671" y="1929384"/>
            <a:ext cx="4775911" cy="283420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9671" y="1929384"/>
            <a:ext cx="47759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93991" y="2203703"/>
            <a:ext cx="4227271" cy="23770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Apple daily chart. The marked bar makes a new low, closes above the previous close, and is followed by a rapid rebound on high volume.</a:t>
            </a:r>
          </a:p>
        </p:txBody>
      </p:sp>
      <p:sp>
        <p:nvSpPr>
          <p:cNvPr id="14" name="Oval 13"/>
          <p:cNvSpPr/>
          <p:nvPr/>
        </p:nvSpPr>
        <p:spPr>
          <a:xfrm>
            <a:off x="8501675" y="3488197"/>
            <a:ext cx="334313" cy="65186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01675" y="3884986"/>
            <a:ext cx="334313" cy="48181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53915" y="4140065"/>
            <a:ext cx="453711" cy="59518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551" y="3332749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8035792" y="4211353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7988033" y="4551458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799" y="497390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7.14 -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218, Figure 7.14. The PHP values are ours, invented.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7.16: context can strengthen the warning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7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4008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bullish key reversal is below the lower Bollinger band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, with StochRSI oversold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It closes near its high and has extreme volume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, which Lim calls indicative of a selling climax (p. 220).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book gives no formulas here. These labels are context, not a promise of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01183"/>
            <a:ext cx="82296" cy="7863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37759"/>
            <a:ext cx="610819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1A1A"/>
                </a:solidFill>
                <a:latin typeface="Arial"/>
              </a:rPr>
              <a:t>Use the labels as context, not as a promise of a reversal.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18480" y="1810512"/>
            <a:ext cx="3875573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37352" y="1929384"/>
            <a:ext cx="3637829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37352" y="1929384"/>
            <a:ext cx="363782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11672" y="2203703"/>
            <a:ext cx="3089189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ITC Holdings daily chart: a bullish key reversal below the lower volatility band, an oversold StochRSI label, and high volume under the reversal bar.</a:t>
            </a:r>
          </a:p>
        </p:txBody>
      </p:sp>
      <p:sp>
        <p:nvSpPr>
          <p:cNvPr id="14" name="Oval 13"/>
          <p:cNvSpPr/>
          <p:nvPr/>
        </p:nvSpPr>
        <p:spPr>
          <a:xfrm>
            <a:off x="9092484" y="3439241"/>
            <a:ext cx="472917" cy="87782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237997" y="4387291"/>
            <a:ext cx="363782" cy="56180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9347132" y="3439241"/>
            <a:ext cx="72757" cy="1615196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7" name="Oval 16"/>
          <p:cNvSpPr/>
          <p:nvPr/>
        </p:nvSpPr>
        <p:spPr>
          <a:xfrm>
            <a:off x="8737054" y="3337194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8737054" y="4355470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9810313" y="3566159"/>
            <a:ext cx="237744" cy="237744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5650991"/>
            <a:ext cx="39163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7.16 -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220, Figure 7.16. Bollinger Bands and StochRSI are shown by the book but not defined here.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Two-day reversal: read the two closes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8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9494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Now move from one-bar to a two-day pattern: read the first close near its high and the second near its low.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Ours: bar 1 ranges PHP 49.70 to 52.20 and closes PHP 51.80 near its high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Bar 2 ranges PHP 49.00 to 52.00 and closes PHP 49.60 near its low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Its range is wider, which Lim prefers.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two-bar close sequence warns of a bearish reversal; the later decline is not guaranteed.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01768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38344"/>
            <a:ext cx="665683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pattern is defined by the two closing positions; wider ranges are a preference, not a requirement.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19" y="1810512"/>
            <a:ext cx="3367734" cy="169992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chart-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5592" y="1929384"/>
            <a:ext cx="3129990" cy="1462185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9010689" y="2338795"/>
            <a:ext cx="219099" cy="11697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168786" y="2748207"/>
            <a:ext cx="250399" cy="131596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739890" y="2136764"/>
            <a:ext cx="228600" cy="22860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Oval 14"/>
          <p:cNvSpPr/>
          <p:nvPr/>
        </p:nvSpPr>
        <p:spPr>
          <a:xfrm>
            <a:off x="10555284" y="2575420"/>
            <a:ext cx="228600" cy="22860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9" y="3601881"/>
            <a:ext cx="33677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RA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220. Chart RA is ours, with invented PHP bars and volume.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7.17: the book adds CCI divergence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9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2120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Mark 1 is the first close near its high; mark 2 is the second close near its low.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book says wider ranges would be preferable and labels bearish CCI divergence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CCI is not defined in Chapter 7. Treat the label as the book's supporting observation, not as a formula to calculate.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65192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01768"/>
            <a:ext cx="491947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close sequence is the pattern; CCI is context shown by the figure.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95168" y="1810512"/>
            <a:ext cx="4533478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714040" y="1929384"/>
            <a:ext cx="4295734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14040" y="1929384"/>
            <a:ext cx="4295734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88360" y="2203703"/>
            <a:ext cx="3747094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7.17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TSX Composite daily chart: the first bar closes near its high, the second near its low, and the lower panel labels bearish CCI divergence.</a:t>
            </a:r>
          </a:p>
        </p:txBody>
      </p:sp>
      <p:sp>
        <p:nvSpPr>
          <p:cNvPr id="14" name="Oval 13"/>
          <p:cNvSpPr/>
          <p:nvPr/>
        </p:nvSpPr>
        <p:spPr>
          <a:xfrm>
            <a:off x="8990779" y="2631643"/>
            <a:ext cx="343658" cy="42135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77395" y="2561417"/>
            <a:ext cx="343658" cy="456468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518248" y="4387291"/>
            <a:ext cx="988018" cy="737372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509960" y="2354031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927553" y="2424257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9583894" y="4531034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5650991"/>
            <a:ext cx="51050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7.17 -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220, Figure 7.17. The CCI label is reproduced as the book's observation, not taught as a formula.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Bullish three-bar reversal: volume around the middle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10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4008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Three bars add a middle bar whose volume matters.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First bar ranges PHP 41.00 to 44.00. Volume: 4.0 million </a:t>
            </a:r>
            <a:r>
              <a:rPr sz="19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Middle ranges PHP 43.20 to 44.10. Volume: 0.6 million </a:t>
            </a:r>
            <a:r>
              <a:rPr sz="19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. Third closes PHP 46.50. Volume: 4.2 million </a:t>
            </a:r>
            <a:r>
              <a:rPr sz="19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The quiet middle is below average and shows uncertainty inside a potential bullish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53762"/>
            <a:ext cx="82296" cy="7559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90338"/>
            <a:ext cx="6108192" cy="755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A1A1A"/>
                </a:solidFill>
                <a:latin typeface="Arial"/>
              </a:rPr>
              <a:t>Strong outer volumes and a quiet middle are a clue, not a guarantee.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79" y="1810512"/>
            <a:ext cx="3916374" cy="19562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chart-r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6951" y="1929384"/>
            <a:ext cx="3678631" cy="1718484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8426250" y="3218247"/>
            <a:ext cx="257504" cy="15466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345908" y="3218247"/>
            <a:ext cx="257504" cy="154663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302352" y="3218247"/>
            <a:ext cx="257504" cy="15466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60443" y="297687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006529" y="297687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10625126" y="2976875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3858180"/>
            <a:ext cx="39163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RB - FIN1209 teaching chart, drawn for this course. Illustrative data, not a real instrument.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221 to 223. Chart RB is ours, with invented PHP bars and volume.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7.18: the bearish three-bar 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11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7607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In a clear, strong uptrend, mark 1 is the first bar, mark 2 the middle bar, and mark 3 the third bar.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first closes near its high and the third near its low. The figure also labels bearish +DM divergence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read the three bars with trend and volume context; the later decline is not guaranteed.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54681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first and third bars carry the outer close reading; the middle bar separates them.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7999" y="1810512"/>
            <a:ext cx="4556455" cy="332253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76871" y="1929384"/>
            <a:ext cx="4318711" cy="308479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76871" y="1929384"/>
            <a:ext cx="43187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51191" y="2203703"/>
            <a:ext cx="3770071" cy="2627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 in a clear, strong uptrend: the first of three bars closes near its high, the third near its low, and the lower panel labels bearish +DM divergence.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40847" y="2299559"/>
            <a:ext cx="215935" cy="678654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956782" y="2330407"/>
            <a:ext cx="215935" cy="678654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H="1">
            <a:off x="9352163" y="2669734"/>
            <a:ext cx="950116" cy="1604093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7" name="Oval 16"/>
          <p:cNvSpPr/>
          <p:nvPr/>
        </p:nvSpPr>
        <p:spPr>
          <a:xfrm>
            <a:off x="9396895" y="2109847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10303824" y="2109847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10701652" y="3507148"/>
            <a:ext cx="237744" cy="237744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7999" y="5224489"/>
            <a:ext cx="4556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7.18 -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221, Figure 7.18. +DM is shown as a book label and is not defined in this chapter.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7.19: the volume pattern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12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4864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three-bar bottom reversal has high-volume outer columns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and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with a below-average middle column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This is the same uncertainty-between-strengthers reading shown in the invented example.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Volume supports the potential reversal. Lim does not say it guarantees follow-through.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519379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Keep the quiet middle bar between the stronger outer bars.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79" y="1810512"/>
            <a:ext cx="4830775" cy="343646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702551" y="1929384"/>
            <a:ext cx="4593031" cy="319871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02551" y="1929384"/>
            <a:ext cx="45930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76871" y="2203703"/>
            <a:ext cx="4044391" cy="27415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7.19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ITC Holdings daily chart: a three-bar bottom reversal with high-volume outer bars and a below-average-volume middle bar.</a:t>
            </a:r>
          </a:p>
        </p:txBody>
      </p:sp>
      <p:sp>
        <p:nvSpPr>
          <p:cNvPr id="14" name="Oval 13"/>
          <p:cNvSpPr/>
          <p:nvPr/>
        </p:nvSpPr>
        <p:spPr>
          <a:xfrm>
            <a:off x="8953137" y="4392396"/>
            <a:ext cx="229651" cy="447820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82788" y="4456371"/>
            <a:ext cx="183721" cy="415833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366509" y="4392396"/>
            <a:ext cx="229651" cy="44782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563255" y="4118160"/>
            <a:ext cx="228600" cy="22860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435931" y="4182135"/>
            <a:ext cx="228600" cy="22860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9757443" y="4118160"/>
            <a:ext cx="228600" cy="22860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79" y="5338414"/>
            <a:ext cx="4830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7.19 -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221, Figure 7.19. Volume labels are the book's observations.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7.20:
oversold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13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4864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Mark 1 is the three-bar bullish reversal. The full pattern occurs at an oversold StochRSI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last close sits between the Bollinger bands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which Lim calls bullish.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book links this example to pattern 5 in Figure 7.9. It gives no indicator formula here.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389120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425696"/>
            <a:ext cx="519379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pattern is read first; the indicator labels add context.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00105" y="1810512"/>
            <a:ext cx="4597924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18977" y="1929384"/>
            <a:ext cx="4360180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18977" y="1929384"/>
            <a:ext cx="436018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93297" y="2203703"/>
            <a:ext cx="3811540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ITC Holdings daily chart: the three-bar reversal, an oversold StochRSI label, and the final close between the two volatility bands.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32244" y="3263676"/>
            <a:ext cx="610425" cy="877824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650253" y="4562856"/>
            <a:ext cx="566823" cy="596920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93854" y="3404128"/>
            <a:ext cx="392416" cy="49158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89871" y="305629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559536" y="4741712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9219865" y="3100547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79" y="5650991"/>
            <a:ext cx="4830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7.20 -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222, Figure 7.20. StochRSI and Bollinger Bands are shown but not defined in Chapter 7.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7.21: a separate outside day follows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14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8064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three-bar reversal is marked 1. Its large third bar near its high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adds bullishness.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Later, the outside day engulfs four preceding bars </a:t>
            </a:r>
            <a:r>
              <a:rPr sz="18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and closes near its low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Keep the two formations separate: the later outside day is a new event and can reverse the preceding move.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101498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5513832" cy="10149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Below-average middle volume and high-volume outer bars are the three-bar clue; the outside day is separate.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19" y="1810512"/>
            <a:ext cx="4510735" cy="330068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022591" y="1929384"/>
            <a:ext cx="4272991" cy="3062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22591" y="1929384"/>
            <a:ext cx="427299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96911" y="2203703"/>
            <a:ext cx="3724351" cy="26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Newmont Mining daily chart: a three-bar bottom reversal, then a separate outside day engulfing four preceding bars, with high volume under the outside bar.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18138" y="3185189"/>
            <a:ext cx="640948" cy="826993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859978" y="3154560"/>
            <a:ext cx="299109" cy="52069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42766" y="2541972"/>
            <a:ext cx="299109" cy="245035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244547" y="2235678"/>
            <a:ext cx="470029" cy="918882"/>
          </a:xfrm>
          <a:prstGeom prst="rect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124599" y="2956141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201991" y="2842767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450302" y="2361841"/>
            <a:ext cx="237744" cy="237744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8921169" y="3136720"/>
            <a:ext cx="219456" cy="219456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19" y="5202636"/>
            <a:ext cx="4510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7.21 - Lim, The Handbook of Technical Analysis (Wiley, 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222, Figure 7.21. The outside day and volume are the book's observations.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7.22:
the pattern 6 link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15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5778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Mark 1 is the first-bar volume. Mark 2 is the large middle-bar range.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Mark 3 is the middle-bar volume, lower than the first. Lim links this arrangement to pattern 6 in Figure 7.9.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link recalls the generic pattern; it does not add a new trading rule or formula.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01183"/>
            <a:ext cx="82296" cy="7863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37759"/>
            <a:ext cx="528523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1A1A"/>
                </a:solidFill>
                <a:latin typeface="Arial"/>
              </a:rPr>
              <a:t>A large price bar can still carry lower volume than the first bar.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19" y="1810512"/>
            <a:ext cx="4739335" cy="3424711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793991" y="1929384"/>
            <a:ext cx="4501591" cy="318696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93991" y="1929384"/>
            <a:ext cx="450159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68311" y="2203703"/>
            <a:ext cx="3952951" cy="27297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TSX Composite daily chart: a bullish three-bar reversal whose large middle bar has lower volume than the first bar.</a:t>
            </a:r>
          </a:p>
        </p:txBody>
      </p:sp>
      <p:sp>
        <p:nvSpPr>
          <p:cNvPr id="14" name="Oval 13"/>
          <p:cNvSpPr/>
          <p:nvPr/>
        </p:nvSpPr>
        <p:spPr>
          <a:xfrm>
            <a:off x="8999771" y="4383348"/>
            <a:ext cx="270095" cy="47804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34819" y="3459128"/>
            <a:ext cx="315111" cy="733002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224851" y="4383348"/>
            <a:ext cx="270095" cy="478045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15376" y="4109700"/>
            <a:ext cx="228600" cy="22860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546994" y="3171763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9740773" y="4109700"/>
            <a:ext cx="228600" cy="22860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19" y="5326663"/>
            <a:ext cx="47393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7.22 -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223, Figure 7.22. The reference to pattern 6 is Lim's cross-reference.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6 OF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the two-day and three-bar reversal readings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In the bearish three-bar reversal, the outer closes are: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84632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Both near the middle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First near high, third near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First near low, third near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Both at the exact high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03520" cy="253492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846320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In the bullish three-bar examples, the middle bar can support the reading when it has: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47413"/>
            <a:ext cx="4846320" cy="13511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The highest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 new all-time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No price range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Below-average volume between stronger outer bars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799" y="1207008"/>
            <a:ext cx="5013655" cy="364910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19671" y="1325880"/>
            <a:ext cx="4775911" cy="341136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19671" y="1325880"/>
            <a:ext cx="47759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93991" y="1600200"/>
            <a:ext cx="4227271" cy="29541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 in a clear, strong uptrend: the first of three bars closes near its high, the third near its low, and the lower panel labels bearish +DM divergence.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76255" y="1735243"/>
            <a:ext cx="238795" cy="750500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815050" y="1769357"/>
            <a:ext cx="238795" cy="750500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H="1">
            <a:off x="9146423" y="2144607"/>
            <a:ext cx="1050700" cy="177391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21" name="Oval 20"/>
          <p:cNvSpPr/>
          <p:nvPr/>
        </p:nvSpPr>
        <p:spPr>
          <a:xfrm>
            <a:off x="9209443" y="1539000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10212384" y="1539000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651360" y="3083258"/>
            <a:ext cx="237744" cy="237744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4947557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the two-day and three-bar reversal readings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198755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98755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7548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In the bearish three-bar reversal, the outer closes are: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754880" cy="1125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First near high, third near low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First near high; third near low (Lim, p. 221).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77438"/>
            <a:ext cx="5303520" cy="274701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377438"/>
            <a:ext cx="91440" cy="274701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560318"/>
            <a:ext cx="4754880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In the bullish three-bar examples, the middle bar can support the reading when it has: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488053"/>
            <a:ext cx="4754880" cy="16363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Below-average volume between stronger outer bars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describes a below-average-volume middle bar between high-volume outer bars (pp. 221 to 223).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799" y="1207008"/>
            <a:ext cx="5013655" cy="364910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19671" y="1325880"/>
            <a:ext cx="4775911" cy="341136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19671" y="1325880"/>
            <a:ext cx="47759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93991" y="1600200"/>
            <a:ext cx="4227271" cy="29541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 in a clear, strong uptrend: the first of three bars closes near its high, the third near its low, and the lower panel labels bearish +DM divergence.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76255" y="1735243"/>
            <a:ext cx="238795" cy="750500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815050" y="1769357"/>
            <a:ext cx="238795" cy="750500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H="1">
            <a:off x="9146423" y="2144607"/>
            <a:ext cx="1050700" cy="177391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21" name="Oval 20"/>
          <p:cNvSpPr/>
          <p:nvPr/>
        </p:nvSpPr>
        <p:spPr>
          <a:xfrm>
            <a:off x="9209443" y="1539000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10212384" y="1539000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651360" y="3083258"/>
            <a:ext cx="237744" cy="237744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4947557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Island reversal: two gaps isolate the bars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16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3093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Next, gaps can separate several bars from the surrounding trend into an island reversal.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Ours: price gaps up from PHP 50.00 to an open of PHP 50.80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Two bars sit alone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It later gaps down to PHP 49.40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gaps isolate the formation from surrounding bars.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Gap keeps Chapter 3's meaning in ‘Gaps’. The book shows an overbought stochastic label but gives no method here.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01768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38344"/>
            <a:ext cx="601675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Island means isolation by a gap up and a gap down, not merely several bars at a turning point.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810512"/>
            <a:ext cx="4007814" cy="19989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chart-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5512" y="1929384"/>
            <a:ext cx="3770070" cy="1761201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8656533" y="2281624"/>
            <a:ext cx="339306" cy="176120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5146" y="2422520"/>
            <a:ext cx="603211" cy="352240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164561" y="2281624"/>
            <a:ext cx="377007" cy="17612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12581" y="2038116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933712" y="2214236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10612325" y="203811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0" y="3900897"/>
            <a:ext cx="40078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RC - FIN1209 teaching chart, drawn for this course. Illustrative data, not a real instrument.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223 to 224. Chart RC is ours, with invented PHP bars and volume; gap meaning points to Chapter 3.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7.23: the book's island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17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852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Gap keeps Chapter 3 meaning in ‘Gaps’. Mark 1 is the gap up, mark 2 the island, and mark 3 the gap down.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observes low volume </a:t>
            </a:r>
            <a:r>
              <a:rPr sz="17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and an overbought stochastic label </a:t>
            </a:r>
            <a:r>
              <a:rPr sz="1700" b="1" i="0">
                <a:solidFill>
                  <a:srgbClr val="007A33"/>
                </a:solidFill>
                <a:latin typeface="Arial"/>
              </a:rPr>
              <a:t>(5)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calling low volume lack of conviction.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No stochastic method is given in Chapter 7. These labels are context; the island is a potential warning.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555955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two gaps do the defining work; volume and stochastic are supporting context.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6976" y="1810512"/>
            <a:ext cx="408994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55848" y="1929384"/>
            <a:ext cx="3852198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55848" y="1929384"/>
            <a:ext cx="3852198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30168" y="2203703"/>
            <a:ext cx="3303558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Direxion Gold Miners daily chart: a gap up, an isolated group of bars, a gap down, low volume, and an overbought stochastic label.</a:t>
            </a:r>
          </a:p>
        </p:txBody>
      </p:sp>
      <p:sp>
        <p:nvSpPr>
          <p:cNvPr id="14" name="Oval 13"/>
          <p:cNvSpPr/>
          <p:nvPr/>
        </p:nvSpPr>
        <p:spPr>
          <a:xfrm>
            <a:off x="8912293" y="2912546"/>
            <a:ext cx="269653" cy="52669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04903" y="2491191"/>
            <a:ext cx="462263" cy="1123614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44211" y="2947659"/>
            <a:ext cx="308175" cy="52669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1161" y="4317065"/>
            <a:ext cx="731917" cy="456468"/>
          </a:xfrm>
          <a:prstGeom prst="rect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3425" y="4843759"/>
            <a:ext cx="385219" cy="456468"/>
          </a:xfrm>
          <a:prstGeom prst="rect">
            <a:avLst/>
          </a:prstGeom>
          <a:noFill/>
          <a:ln w="44450">
            <a:solidFill>
              <a:srgbClr val="007A3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57717" y="2613538"/>
            <a:ext cx="246888" cy="246888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0" name="Oval 19"/>
          <p:cNvSpPr/>
          <p:nvPr/>
        </p:nvSpPr>
        <p:spPr>
          <a:xfrm>
            <a:off x="9674855" y="2192182"/>
            <a:ext cx="246888" cy="24688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Oval 20"/>
          <p:cNvSpPr/>
          <p:nvPr/>
        </p:nvSpPr>
        <p:spPr>
          <a:xfrm>
            <a:off x="10060075" y="2613538"/>
            <a:ext cx="246888" cy="246888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Oval 21"/>
          <p:cNvSpPr/>
          <p:nvPr/>
        </p:nvSpPr>
        <p:spPr>
          <a:xfrm>
            <a:off x="8297207" y="4764572"/>
            <a:ext cx="228600" cy="22860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Oval 22"/>
          <p:cNvSpPr/>
          <p:nvPr/>
        </p:nvSpPr>
        <p:spPr>
          <a:xfrm>
            <a:off x="9683999" y="5150815"/>
            <a:ext cx="228600" cy="228600"/>
          </a:xfrm>
          <a:prstGeom prst="ellipse">
            <a:avLst/>
          </a:prstGeom>
          <a:solidFill>
            <a:srgbClr val="007A33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5650991"/>
            <a:ext cx="4465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7.23 -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224, Figure 7.23. Gap meaning points back to Chapter 3; stochastic is shown but not defined here.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7 OF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the island reversal reading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isolates an island reversal?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821053"/>
            <a:ext cx="411480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A gap up followed by a gap down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 single wide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A high-volume middle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A trendline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8513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179953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381121"/>
            <a:ext cx="411480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is the stochastic label here?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702557"/>
            <a:ext cx="4114800" cy="1351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As the island definition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As a formula taught in this chapter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As supporting context; Chapter 7 gives no method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As a guaranteed reversal signal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65847" y="1207008"/>
            <a:ext cx="4752039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4719" y="1325880"/>
            <a:ext cx="4514295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84719" y="1325880"/>
            <a:ext cx="451429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9039" y="1600200"/>
            <a:ext cx="3965655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Direxion Gold Miners daily chart: a gap up, an isolated group of bars, a gap down, low volume, and an overbought stochastic label.</a:t>
            </a:r>
          </a:p>
        </p:txBody>
      </p:sp>
      <p:sp>
        <p:nvSpPr>
          <p:cNvPr id="18" name="Oval 17"/>
          <p:cNvSpPr/>
          <p:nvPr/>
        </p:nvSpPr>
        <p:spPr>
          <a:xfrm>
            <a:off x="8225866" y="2478024"/>
            <a:ext cx="316000" cy="61721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51581" y="1984248"/>
            <a:ext cx="541715" cy="1316735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083582" y="2519172"/>
            <a:ext cx="361143" cy="61722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55009" y="4123944"/>
            <a:ext cx="857716" cy="534924"/>
          </a:xfrm>
          <a:prstGeom prst="rect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96724" y="4741164"/>
            <a:ext cx="451429" cy="534924"/>
          </a:xfrm>
          <a:prstGeom prst="rect">
            <a:avLst/>
          </a:prstGeom>
          <a:noFill/>
          <a:ln w="44450">
            <a:solidFill>
              <a:srgbClr val="007A3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831565" y="2148840"/>
            <a:ext cx="246888" cy="246888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Oval 23"/>
          <p:cNvSpPr/>
          <p:nvPr/>
        </p:nvSpPr>
        <p:spPr>
          <a:xfrm>
            <a:off x="9140710" y="1655064"/>
            <a:ext cx="246888" cy="24688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5" name="Oval 24"/>
          <p:cNvSpPr/>
          <p:nvPr/>
        </p:nvSpPr>
        <p:spPr>
          <a:xfrm>
            <a:off x="9592140" y="2148840"/>
            <a:ext cx="246888" cy="246888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Oval 25"/>
          <p:cNvSpPr/>
          <p:nvPr/>
        </p:nvSpPr>
        <p:spPr>
          <a:xfrm>
            <a:off x="7524708" y="4668012"/>
            <a:ext cx="228600" cy="22860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Oval 26"/>
          <p:cNvSpPr/>
          <p:nvPr/>
        </p:nvSpPr>
        <p:spPr>
          <a:xfrm>
            <a:off x="9149854" y="5120640"/>
            <a:ext cx="228600" cy="228600"/>
          </a:xfrm>
          <a:prstGeom prst="ellipse">
            <a:avLst/>
          </a:prstGeom>
          <a:solidFill>
            <a:srgbClr val="007A33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7.23 - Lim, The Handbook of Technical Analysis (Wiley, 2016)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the island reversal reading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605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0605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What isolates an island reversal?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21053"/>
            <a:ext cx="4023360" cy="1446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A gap up followed by a gap down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Figure 7.23 shows a gap up before and a gap down after the island.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450463"/>
            <a:ext cx="4572000" cy="20605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450463"/>
            <a:ext cx="91440" cy="20605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633343"/>
            <a:ext cx="402336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What is the stochastic label here?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064508"/>
            <a:ext cx="4023360" cy="1446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As supporting context; Chapter 7 gives no method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It is supporting context; Chapter 7 gives no method.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65847" y="1207008"/>
            <a:ext cx="4752039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4719" y="1325880"/>
            <a:ext cx="4514295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84719" y="1325880"/>
            <a:ext cx="451429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9039" y="1600200"/>
            <a:ext cx="3965655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Direxion Gold Miners daily chart: a gap up, an isolated group of bars, a gap down, low volume, and an overbought stochastic label.</a:t>
            </a:r>
          </a:p>
        </p:txBody>
      </p:sp>
      <p:sp>
        <p:nvSpPr>
          <p:cNvPr id="18" name="Oval 17"/>
          <p:cNvSpPr/>
          <p:nvPr/>
        </p:nvSpPr>
        <p:spPr>
          <a:xfrm>
            <a:off x="8225866" y="2478024"/>
            <a:ext cx="316000" cy="61721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51581" y="1984248"/>
            <a:ext cx="541715" cy="1316735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083582" y="2519172"/>
            <a:ext cx="361143" cy="61722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55009" y="4123944"/>
            <a:ext cx="857716" cy="534924"/>
          </a:xfrm>
          <a:prstGeom prst="rect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96724" y="4741164"/>
            <a:ext cx="451429" cy="534924"/>
          </a:xfrm>
          <a:prstGeom prst="rect">
            <a:avLst/>
          </a:prstGeom>
          <a:noFill/>
          <a:ln w="44450">
            <a:solidFill>
              <a:srgbClr val="007A3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831565" y="2148840"/>
            <a:ext cx="246888" cy="246888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Oval 23"/>
          <p:cNvSpPr/>
          <p:nvPr/>
        </p:nvSpPr>
        <p:spPr>
          <a:xfrm>
            <a:off x="9140710" y="1655064"/>
            <a:ext cx="246888" cy="24688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5" name="Oval 24"/>
          <p:cNvSpPr/>
          <p:nvPr/>
        </p:nvSpPr>
        <p:spPr>
          <a:xfrm>
            <a:off x="9592140" y="2148840"/>
            <a:ext cx="246888" cy="246888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Oval 25"/>
          <p:cNvSpPr/>
          <p:nvPr/>
        </p:nvSpPr>
        <p:spPr>
          <a:xfrm>
            <a:off x="7524708" y="4668012"/>
            <a:ext cx="228600" cy="22860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Oval 26"/>
          <p:cNvSpPr/>
          <p:nvPr/>
        </p:nvSpPr>
        <p:spPr>
          <a:xfrm>
            <a:off x="9149854" y="5120640"/>
            <a:ext cx="228600" cy="228600"/>
          </a:xfrm>
          <a:prstGeom prst="ellipse">
            <a:avLst/>
          </a:prstGeom>
          <a:solidFill>
            <a:srgbClr val="007A33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7.23 - Lim, The Handbook of Technical Analysis (Wiley, 2016)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Williams' Oops: gap up and reverse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1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Plain words: an Oops begins when a bar opens beyond the previous bar's range. After a gap up, the bearish setup places a sell-stop at the previous high and the stoploss at the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Ours: prior high PHP 52.00; new open PHP 53.00; sell-stop PHP 52.00; new high and stoploss PHP 54.00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If price reverses through the stoploss, stop and reverse there. Lim says to seek this bearish Oops in a downtrend.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5925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Gap up means bearish Oops; gap down is its bullish converse.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33288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Values are ours, invented to show the order sequence.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282135" cy="212709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071" y="1929384"/>
            <a:ext cx="4044391" cy="1889350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 flipV="1">
            <a:off x="10143813" y="2628443"/>
            <a:ext cx="0" cy="245616"/>
          </a:xfrm>
          <a:prstGeom prst="line">
            <a:avLst/>
          </a:prstGeom>
          <a:ln w="44450">
            <a:solidFill>
              <a:srgbClr val="E09B00"/>
            </a:solidFill>
            <a:tailEnd type="triangle" w="med" len="med"/>
          </a:ln>
        </p:spPr>
      </p:cxnSp>
      <p:sp>
        <p:nvSpPr>
          <p:cNvPr id="14" name="Oval 13"/>
          <p:cNvSpPr/>
          <p:nvPr/>
        </p:nvSpPr>
        <p:spPr>
          <a:xfrm>
            <a:off x="9901150" y="2779591"/>
            <a:ext cx="242663" cy="11336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01150" y="2156106"/>
            <a:ext cx="242663" cy="11336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330205" y="2604644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330205" y="2736899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0330205" y="205673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99" y="4029046"/>
            <a:ext cx="4282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TA - FIN1209 teaching chart, drawn for this course. Illustrative data, not a real instrument.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TA is ours, with invented PHP values to show Lim (2016), p. 231.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7.36: both Oops directions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2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Definition: an Oops opens beyond the previous bar's range. Left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gaps down: buy-stop at previous low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stoploss at new low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Right is the unmarked converse: gap up, sell-stop at previous high, stoploss at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Action: if price reverses, stop and reverse at the stoploss. The book promises no result.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5925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Read the bearish and bullish order locations as exact opposites.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The four named candlestick companions are not defined in Chapter 7.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190694" cy="21712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4071" y="1929384"/>
            <a:ext cx="3952950" cy="19335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34071" y="1929384"/>
            <a:ext cx="395295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08392" y="2203703"/>
            <a:ext cx="3404310" cy="14763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The book's two Williams' Oops schematics: a gap below the prior range with a buy-stop at the prior low, and a gap above it with a sell-stop at the prior high; each stoploss is at the new extreme.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066544" y="3205499"/>
            <a:ext cx="513883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8619957" y="3031483"/>
            <a:ext cx="632472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8619957" y="3379515"/>
            <a:ext cx="711531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8" name="Oval 17"/>
          <p:cNvSpPr/>
          <p:nvPr/>
        </p:nvSpPr>
        <p:spPr>
          <a:xfrm>
            <a:off x="7771266" y="2855653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312917" y="2797648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391976" y="3358365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199" y="4073204"/>
            <a:ext cx="4190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7.36 -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231, Figure 7.36. The numbered marks are for teaching.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Williams' Oops: gap down and reverse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3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bullish converse opens below the previous low. Ours: prior low PHP 48.00; new open PHP 47.00; buy-stop PHP 48.00; new low and stoploss PHP 46.00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If price reverses through PHP 46.00, stop and reverse at that stoploss. Lim says to seek this bullish Oops in an uptrend.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Morning star, evening star, piercing line, and dark cloud cover are named as possible companions, not defined here.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5925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Gap down means bullish Oops; gap up is its bearish converse.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33288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Values are ours, invented to show the bearish converse.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236415" cy="210573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071" y="1929384"/>
            <a:ext cx="3998671" cy="1867992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>
            <a:off x="10113181" y="2956779"/>
            <a:ext cx="0" cy="186799"/>
          </a:xfrm>
          <a:prstGeom prst="line">
            <a:avLst/>
          </a:prstGeom>
          <a:ln w="44450">
            <a:solidFill>
              <a:srgbClr val="E09B00"/>
            </a:solidFill>
            <a:tailEnd type="triangle" w="med" len="med"/>
          </a:ln>
        </p:spPr>
      </p:cxnSp>
      <p:cxnSp>
        <p:nvCxnSpPr>
          <p:cNvPr id="14" name="Connector 13"/>
          <p:cNvCxnSpPr/>
          <p:nvPr/>
        </p:nvCxnSpPr>
        <p:spPr>
          <a:xfrm>
            <a:off x="8993553" y="2938099"/>
            <a:ext cx="959681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8993553" y="3498497"/>
            <a:ext cx="959681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6" name="Oval 15"/>
          <p:cNvSpPr/>
          <p:nvPr/>
        </p:nvSpPr>
        <p:spPr>
          <a:xfrm>
            <a:off x="10335901" y="2875659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415875" y="2670180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0495848" y="3417377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99" y="4007688"/>
            <a:ext cx="4236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V - FIN1209 teaching chart, drawn for this course. Illustrative data, not a real instrument.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V is ours, with invented PHP values to show Lim (2016), p. 231.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7.37: a bearish Oops on a daily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4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Dynegy shows a bearish Oops: mark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is the opening gap,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sell-stop at the previous high, and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current high where stop-and-reverse buys.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expected downside is the book's chart annotation, not a guarantee.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four companion names remain undefined here; import no outside formula.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592531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example applies the rule; it does not complete a trade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03748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231, Figure 7.37. The figure is a Dynegy daily chart.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190694" cy="182598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4071" y="1929384"/>
            <a:ext cx="3952950" cy="15882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34071" y="1929384"/>
            <a:ext cx="395295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08392" y="2203703"/>
            <a:ext cx="3404310" cy="1131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7.37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The book's daily Dynegy chart marked at the bearish Oops opening gap, sell-stop at the prior high, stop-and-reverse buy level, and expected downside move.</a:t>
            </a:r>
          </a:p>
        </p:txBody>
      </p:sp>
      <p:sp>
        <p:nvSpPr>
          <p:cNvPr id="15" name="Oval 14"/>
          <p:cNvSpPr/>
          <p:nvPr/>
        </p:nvSpPr>
        <p:spPr>
          <a:xfrm>
            <a:off x="10359255" y="2882327"/>
            <a:ext cx="237177" cy="12705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10517373" y="2977621"/>
            <a:ext cx="513884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10517373" y="2898209"/>
            <a:ext cx="513884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8" name="Oval 17"/>
          <p:cNvSpPr/>
          <p:nvPr/>
        </p:nvSpPr>
        <p:spPr>
          <a:xfrm>
            <a:off x="10024448" y="2935756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0063977" y="2951638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1012685" y="258634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199" y="3727935"/>
            <a:ext cx="4190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7.37 -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231, Figure 7.37. The crop and marks are for teaching.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Oops context and undefined companions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5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Prefer bullish Oops in an uptrend and bearish Oops in a downtrend. Figure 7.36 shows the directions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names morning star, evening star, piercing line, and dark cloud cover, but Figure 7.36 does not show them.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Chapter 7 defines none of the four; they are context names only.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93108"/>
            <a:ext cx="82296" cy="96926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29684"/>
            <a:ext cx="5925312" cy="9692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Context chooses which Oops direction to study; the chapter leaves the companion definitions open.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3540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The named candlestick companions are not defined in this chapter.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144974" cy="214888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4071" y="1929384"/>
            <a:ext cx="3907231" cy="19111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34071" y="1929384"/>
            <a:ext cx="3907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08392" y="2203703"/>
            <a:ext cx="3358590" cy="1453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Figure 7.36's two Oops panels, with marks on the bullish and bearish setups; the chapter's named candlestick companions are not shown or defined here.</a:t>
            </a:r>
          </a:p>
        </p:txBody>
      </p:sp>
      <p:sp>
        <p:nvSpPr>
          <p:cNvPr id="15" name="Oval 14"/>
          <p:cNvSpPr/>
          <p:nvPr/>
        </p:nvSpPr>
        <p:spPr>
          <a:xfrm>
            <a:off x="8410879" y="2751176"/>
            <a:ext cx="312578" cy="22933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130061" y="2751176"/>
            <a:ext cx="312578" cy="22933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78358" y="2518459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10578986" y="2518459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99" y="4050841"/>
            <a:ext cx="41449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7.36 - Lim, The Handbook of Technical Analysis (Wiley, 2016)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231, Figure 7.36. The numbered marks are for teaching.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ID/NR: inside day plus narrowest range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6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Plain words: ID/NR means an inside-day breakout from the narrowest bar in the last n days. An inside day stays within the previous day's high and low.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Ours: six ranges are 4.0, 3.2, 2.8, 2.1, 1.6, and 1.2 PHP. Bar 6 is inside bar 5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and has the narrowest range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A later breakout can occur in either direction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pattern is a volatility breakout, not a bullish or bearish signal by itself.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Count the window first, then wait for direction from the breakout.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33288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232. Ranges are ours, invented to show the six-bar count.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916374" cy="19562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t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9832" y="1929384"/>
            <a:ext cx="3678631" cy="171848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10301301" y="2359005"/>
            <a:ext cx="588580" cy="309327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0742736" y="2307450"/>
            <a:ext cx="0" cy="360882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10485232" y="2290265"/>
            <a:ext cx="0" cy="326512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6" name="Oval 15"/>
          <p:cNvSpPr/>
          <p:nvPr/>
        </p:nvSpPr>
        <p:spPr>
          <a:xfrm>
            <a:off x="9980209" y="2617096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899867" y="259991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0164141" y="2737390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3858180"/>
            <a:ext cx="39163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TB - FIN1209 teaching chart, drawn for this course. Illustrative data, not a real instrument.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TB is ours, with invented PHP ranges to show Lim (2016), p. 232.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7.38: ID/NR6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7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943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book's schematic shows the last six bars counted for ID/NR6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final bar is inside the prior range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and is the narrowest of those six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calls this an ID/NR6 volatility breakout. It has no bearish or bullish sentiment before the breakout, so either trigger direction remains possible.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identify the exact n-day window and the inside condition before reading the breakout.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42062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5650992" cy="4206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number 6 names the count, not a direction.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58968"/>
            <a:ext cx="5943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232, Figure 7.38.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79" y="1810512"/>
            <a:ext cx="4510735" cy="277630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9751" y="1929384"/>
            <a:ext cx="4272991" cy="2538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9751" y="1929384"/>
            <a:ext cx="427299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34071" y="2203703"/>
            <a:ext cx="3724351" cy="2081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book's ID/NR6 schematic: six numbered bars, with the sixth bar inside the prior range and the narrowest range, followed by long and short trigger levels.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13459" y="2081697"/>
            <a:ext cx="1196437" cy="2335473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296247" y="3350976"/>
            <a:ext cx="213649" cy="990037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9424437" y="3376362"/>
            <a:ext cx="0" cy="964652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8" name="Oval 17"/>
          <p:cNvSpPr/>
          <p:nvPr/>
        </p:nvSpPr>
        <p:spPr>
          <a:xfrm>
            <a:off x="7663540" y="3873841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500926" y="4076926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013685" y="4076926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79" y="4678254"/>
            <a:ext cx="4510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232, Figure 7.38. The numbered marks are for teaching.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ID/NR4, NR5, NR6, and NR7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8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n in ID/NR n is the number of bars counted: ID/NR4 counts four, NR5 counts five, NR6 counts six, and NR7 counts seven.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Ours: separate invented windows make the arithmetic visible: NR4 ranges 3.1, 2.4, 2.0, 1.6 PHP; NR5 adds 1.2 PHP; NR6 adds 1.8 PHP; NR7 adds 1.0 PHP.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Every version still needs the inside-day condition. The label says how far back to count, not which way price must break.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 volatility breakout compresses recent range; direction comes later.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19089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Lim (2016), p. 232. The comparative ranges are ours, invented to show the n-day windows.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232. The comparative ranges are ours, invented.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ID/NR has no built-in direction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9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inside and narrowest-range conditions describe compression, not sentiment. Figure 7.38 marks the narrowest bar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and its inside condition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Before the breakout, the same setup can trigger long or short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direction comes from the later price break.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do not label ID/NR bullish or bearish before the trigger; count the window and wait.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42062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6291072" cy="4206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Neutral first, directional only after the breakout.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186934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232. ID/NR has no bearish or bullish sentiment before its breakout.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779214" cy="2278591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99832" y="1929384"/>
            <a:ext cx="3541470" cy="204084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99832" y="1929384"/>
            <a:ext cx="35414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74152" y="2203703"/>
            <a:ext cx="2992830" cy="1583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7.38's ID/NR6 schematic, with the narrowest inside bar and both possible trigger directions visible.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676811" y="3092667"/>
            <a:ext cx="0" cy="775522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6" name="Rectangle 15"/>
          <p:cNvSpPr/>
          <p:nvPr/>
        </p:nvSpPr>
        <p:spPr>
          <a:xfrm>
            <a:off x="9570567" y="3072258"/>
            <a:ext cx="177073" cy="795930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853885" y="3174301"/>
            <a:ext cx="247902" cy="346944"/>
          </a:xfrm>
          <a:prstGeom prst="rect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752139" y="3628986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716725" y="2608563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849995" y="354735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180543"/>
            <a:ext cx="3779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232, Figure 7.38. The numbered marks are for teaching.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Inside Month/NR5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10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Inside month applies the idea to monthly bars. Ours: ranges 12, 10, 9, 7, 5 PHP; the fifth is inside the fourth and narrowest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Invented, not the book figure.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sixth invented bar breaks upward through PHP 31.00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Before the break, the pattern is neutral.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Figure 7.39 is a separate Dynegy extension, not a source for these values.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timeframe changes; the inside plus narrowest-range logic stays.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232. Monthly ranges and breakout are ours, invented to show the extension.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916374" cy="19562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9832" y="1929384"/>
            <a:ext cx="3678631" cy="171848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9749506" y="2582408"/>
            <a:ext cx="625367" cy="360881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0264514" y="2599592"/>
            <a:ext cx="0" cy="274958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sp>
        <p:nvSpPr>
          <p:cNvPr id="15" name="Oval 14"/>
          <p:cNvSpPr/>
          <p:nvPr/>
        </p:nvSpPr>
        <p:spPr>
          <a:xfrm>
            <a:off x="10669164" y="2238711"/>
            <a:ext cx="220717" cy="53273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465201" y="2874869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384858" y="2874869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1010226" y="2737390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3858180"/>
            <a:ext cx="39163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W - FIN1209 teaching chart, drawn for this course. Illustrative data, not a real instrument.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W is ours, with invented monthly PHP values to show Lim (2016), p. 232.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7.39: Inside Month/NR5 breakout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11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book's monthly chart shows the inside-month setup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the five-month range count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and the later upside breakout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observed breakout is the book's example, not a promise that every inside month breaks upward.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keep the pattern neutral until the monthly bar actually breaks, then read direction from price.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monthly figure extends ID/NR without adding a new direction rule.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232, Figure 7.39. The monthly chart is Dynegy Inc.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779214" cy="162903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99832" y="1929384"/>
            <a:ext cx="3541470" cy="13912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99832" y="1929384"/>
            <a:ext cx="35414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74152" y="2203703"/>
            <a:ext cx="2992830" cy="934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7.39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The book's monthly Dynegy chart: an inside month after five monthly ranges, followed by an upside breakout.</a:t>
            </a:r>
          </a:p>
        </p:txBody>
      </p:sp>
      <p:sp>
        <p:nvSpPr>
          <p:cNvPr id="15" name="Oval 14"/>
          <p:cNvSpPr/>
          <p:nvPr/>
        </p:nvSpPr>
        <p:spPr>
          <a:xfrm>
            <a:off x="9464323" y="2791985"/>
            <a:ext cx="212488" cy="250432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8578955" y="3153721"/>
            <a:ext cx="1133271" cy="0"/>
          </a:xfrm>
          <a:prstGeom prst="line">
            <a:avLst/>
          </a:prstGeom>
          <a:ln w="44450">
            <a:solidFill>
              <a:srgbClr val="C62828"/>
            </a:solidFill>
            <a:tailEnd type="triangle" w="med" len="med"/>
          </a:ln>
        </p:spPr>
      </p:cxnSp>
      <p:sp>
        <p:nvSpPr>
          <p:cNvPr id="17" name="Oval 16"/>
          <p:cNvSpPr/>
          <p:nvPr/>
        </p:nvSpPr>
        <p:spPr>
          <a:xfrm>
            <a:off x="9676811" y="2165903"/>
            <a:ext cx="212488" cy="34782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50089" y="2960909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300136" y="3086125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893798" y="1959179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530988"/>
            <a:ext cx="3779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7.39 -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232, Figure 7.39. The numbered marks are for teaching.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8 OF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Williams' Oops and ID/NR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9496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937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9377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After a gap up, the Williams' Oops sell-stop is placed at: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93776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The previous bar's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The new bar's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The previous bar's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The midpoint of both bars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9496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937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93776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does ID/NR6 count?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93776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Six months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Six bars and the narrowest range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Six volume readings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Six bullish closes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1207008"/>
            <a:ext cx="4922214" cy="3020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11112" y="1325880"/>
            <a:ext cx="4684470" cy="278301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11112" y="1325880"/>
            <a:ext cx="46844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85431" y="1600200"/>
            <a:ext cx="4135831" cy="2325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book's ID/NR6 schematic: six numbered bars, with the sixth bar inside the prior range and the narrowest range, followed by long and short trigger levels.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75919" y="1492860"/>
            <a:ext cx="1311651" cy="2560374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53347" y="2884369"/>
            <a:ext cx="234223" cy="1085376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9093881" y="2912199"/>
            <a:ext cx="0" cy="1057546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21" name="Oval 20"/>
          <p:cNvSpPr/>
          <p:nvPr/>
        </p:nvSpPr>
        <p:spPr>
          <a:xfrm>
            <a:off x="7176622" y="3470793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0945" y="3693434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753081" y="3693434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319208"/>
            <a:ext cx="4922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4 of 4 - 7.4 Volatility breakouts  |  Check 8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Williams' Oops and ID/NR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94960" cy="22650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6504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After a gap up, the Williams' Oops sell-stop is placed at: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84632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The previous bar's high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places the sell-stop at the previous bar's high after a gap above that high (p. 231).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54933"/>
            <a:ext cx="5394960" cy="20605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54933"/>
            <a:ext cx="91440" cy="20605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37813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What does ID/NR6 count?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68978"/>
            <a:ext cx="4846320" cy="1446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Six bars and the narrowest range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ID/NR6 uses an inside day and the narrowest bar over the last six days (p. 232).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1207008"/>
            <a:ext cx="4922214" cy="296453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11112" y="1325880"/>
            <a:ext cx="4684470" cy="272679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11112" y="1325880"/>
            <a:ext cx="46844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85431" y="1600200"/>
            <a:ext cx="4135831" cy="2269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book's ID/NR6 schematic: six numbered bars, with the sixth bar inside the prior range and the narrowest range, followed by long and short trigger levels.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75919" y="1489487"/>
            <a:ext cx="1311651" cy="2508650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53347" y="2852884"/>
            <a:ext cx="234223" cy="1063449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9093881" y="2880152"/>
            <a:ext cx="0" cy="1036181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21" name="Oval 20"/>
          <p:cNvSpPr/>
          <p:nvPr/>
        </p:nvSpPr>
        <p:spPr>
          <a:xfrm>
            <a:off x="7176622" y="342469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0945" y="3642834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753081" y="3642834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262985"/>
            <a:ext cx="4922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Check 8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Summary: read the bar, then the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Bar action, indicator action, and volume action may indicate future price activity, especially when significant indicator and volume action accompanies the bar.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Chapter 7 reads OHLC, formation count, sentiment, gaps, barriers, volume, and the 16 reversal characteristics.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Breakout patterns may catch continuations or reversals, but readings remain potential. Oscillator method is deferred to Chapter 8.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28437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65013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summary is a reading habit, not a complete trade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233. The chapter summary is paraphrased for teaching.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answers 1 to 3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1. Exhaustion versus pin bar: exhaustion opens beyond the prior extreme and has no following gap; a pin bar falsely penetrates a barrier and rapidly retraces.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2. ID/NR7 is a volatility breakout because it combines an inside day with the narrowest range in the last seven days.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3. A key reversal makes a higher high then closes near or below the prior close, or the bullish converse in a downtrend. A wider bar and high volume may strengthen the potential reading.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28437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65013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first three answers distinguish pattern structure from reliability context.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218 to 232. Review answers are written from the preceding slides.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4: the 16 characteristics (1 of 2)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 to 4: decrease in price cycle amplitude; decrease in price cycle period; change in bar retracement symmetry; decrease in average bar range.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5 to 8: lack of the quality of price persistence; decrease in average bar stochastic ratio; decrease in average candlestick real body to range ratio; changes in angular symmetry and momentum.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16145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252721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These first eight are potential reversal clues, not guarantees. Chapter 5 gives the detailed discussion.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216 to 218; the 16 names follow the book's order.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4: the 16 characteristics (2 of 2)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9 to 12: proximity to a price barrier; reduction in frequency and decrease in depth of trend-based oscillations; appearance of relatively larger and longer lasting consolidations; appearance of an exhaustion gap.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13 to 16: completion of the average range for the period under observation; overextended price action with respect to a price barrier; price accompanied by extremely high or low volume; standard divergences between price, volume, and oscillators.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45558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82134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Barrier proximity is the especially important context; these clues still do not guarantee reversal.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216 to 218; the 16 names follow the book's order.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answers 5 and 6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5. Volume: high volume can strengthen a wide final reversal bar; low volume can signal uncertainty. Pattern 1 allows larger middle volume to be more bearish.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6. Figure 7.6: pattern 1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has first and third closes near low with a large middle bar; pattern 2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has a narrow, low-volume middle bar. 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shared uptrend.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Wider outer ranges and gaps add potential reliability. Chapter 7 supplies evidence, not a complete trade plan.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Pattern evidence does not make a complete trade plan.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0" y="1810512"/>
            <a:ext cx="3824934" cy="242266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99832" y="1929384"/>
            <a:ext cx="3587190" cy="218492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99832" y="1929384"/>
            <a:ext cx="358719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74152" y="2203703"/>
            <a:ext cx="3038550" cy="1727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7.06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7.6's three bearish triple-bar schematics, with the first two structures marked for the review answer.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89014" y="1973082"/>
            <a:ext cx="645694" cy="1442050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414067" y="1973082"/>
            <a:ext cx="645694" cy="1442050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60757" y="2978148"/>
            <a:ext cx="286975" cy="26219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72494" y="2535098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097548" y="2535098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8236622" y="3059480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324621"/>
            <a:ext cx="38249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7.06 -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213, Figure 7.6. The numbered marks are for teaching.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7: ideal inside-bar reversal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9494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Inside reversal: the inside bar stays within the prior high and low, then breaks in the reversal direction.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Ideal: wide/high-volume first bar; narrow/very-low-volume second bar. Barrier and trend context add weight.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Figure 7.25 marks wide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narrow inside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and oscillator region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Chapter 7 gives no formula.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Harami is one-fourth to one-third the prior range; an inside bar has no restriction.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01768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38344"/>
            <a:ext cx="665683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inside condition comes first; reversal direction comes from the later break.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19" y="1810512"/>
            <a:ext cx="3459174" cy="207011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65592" y="1929384"/>
            <a:ext cx="3221431" cy="183237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65592" y="1929384"/>
            <a:ext cx="32214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39912" y="2203703"/>
            <a:ext cx="2672790" cy="13751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Figure 7.25's ITC Holdings chart, with the wide first bar, the narrow inside bar, and the lower oscillator region marked.</a:t>
            </a:r>
          </a:p>
        </p:txBody>
      </p:sp>
      <p:sp>
        <p:nvSpPr>
          <p:cNvPr id="14" name="Oval 13"/>
          <p:cNvSpPr/>
          <p:nvPr/>
        </p:nvSpPr>
        <p:spPr>
          <a:xfrm>
            <a:off x="10001807" y="2204240"/>
            <a:ext cx="193285" cy="43976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323950" y="2204240"/>
            <a:ext cx="193285" cy="43976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34021" y="3193721"/>
            <a:ext cx="225500" cy="31150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735790" y="1975461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10508933" y="197546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10347862" y="345968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9" y="3972069"/>
            <a:ext cx="34591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7.25 -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225, Figure 7.25. The numbered marks are for teaching.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8: the Chapter 8 boundary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6692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asks how oscillators can help gauge bullishness or bearishness in bar reversal patterns.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Figure 7.13 labels an oscillator region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but Chapter 7 does not teach the method or a formula for using oscillators.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full treatment belongs to Chapter 8. This is a forward pointer, not an assessed Chapter 7 method.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53766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Use the figure as context only; do not import a method the chapter does not teach.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233, review question 8; Figure 7.13, p. 218. Oscillator method is deferred to Chapter 8.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59" y="1810512"/>
            <a:ext cx="4739334" cy="21487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85431" y="1929384"/>
            <a:ext cx="4501590" cy="19110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85431" y="1929384"/>
            <a:ext cx="450159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59751" y="2203703"/>
            <a:ext cx="3952950" cy="14538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7.13's overextension chart, with mark 1 on the lower labelled oscillator region.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306641" y="3343563"/>
            <a:ext cx="765270" cy="458652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024783" y="312996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59" y="4050748"/>
            <a:ext cx="47393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7.13 - Lim, The Handbook of Technical Analysis (Wiley, 2016)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218, Figure 7.13. The numbered mark is for teaching.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FIN1209 Chapter 7 - Bar Chart Analysis</dc:title>
  <dc:subject>Technical Analysis in Investment</dc:subject>
  <dc:creator>Faculty of Economics University</dc:creator>
  <cp:keywords/>
  <dc:description>generated using python-pptx</dc:description>
  <cp:lastModifiedBy>Faculty of Economics University</cp:lastModifiedBy>
  <cp:revision>1</cp:revision>
  <dcterms:created xsi:type="dcterms:W3CDTF">2020-01-01T00:00:00Z</dcterms:created>
  <dcterms:modified xsi:type="dcterms:W3CDTF">2020-01-01T00:00:00Z</dcterms:modified>
  <cp:category/>
</cp:coreProperties>
</file>