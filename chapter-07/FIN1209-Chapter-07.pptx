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65</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65</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65</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800" b="0" i="0">
                <a:solidFill>
                  <a:srgbClr val="1A1A1A"/>
                </a:solidFill>
                <a:latin typeface="Arial"/>
              </a:rPr>
              <a:t>With simple invented prices: yesterday's low was 41.00 and its close 41.50. Today it falls to a new low of 40.50 </a:t>
            </a:r>
            <a:r>
              <a:rPr sz="1800" b="1" i="0">
                <a:solidFill>
                  <a:srgbClr val="E09B00"/>
                </a:solidFill>
                <a:latin typeface="Arial"/>
              </a:rPr>
              <a:t>(1)</a:t>
            </a:r>
            <a:r>
              <a:rPr sz="1800" b="0" i="0">
                <a:solidFill>
                  <a:srgbClr val="1A1A1A"/>
                </a:solidFill>
                <a:latin typeface="Arial"/>
              </a:rPr>
              <a:t>, then closes at 43.20 </a:t>
            </a:r>
            <a:r>
              <a:rPr sz="1800" b="1" i="0">
                <a:solidFill>
                  <a:srgbClr val="C62828"/>
                </a:solidFill>
                <a:latin typeface="Arial"/>
              </a:rPr>
              <a:t>(2)</a:t>
            </a:r>
            <a:r>
              <a:rPr sz="1800" b="0" i="0">
                <a:solidFill>
                  <a:srgbClr val="1A1A1A"/>
                </a:solidFill>
                <a:latin typeface="Arial"/>
              </a:rPr>
              <a:t>, above yesterday's close of 41.50, on 4.0 million shares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In Lim's chart price then rebounds rapidly, but that is not a promise (p. 218).</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217919" y="1810512"/>
            <a:ext cx="5653735" cy="34517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336791" y="1929384"/>
            <a:ext cx="5415991" cy="321405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541599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11111" y="2203703"/>
            <a:ext cx="4867351" cy="275685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692748" y="4066730"/>
            <a:ext cx="189559" cy="160702"/>
          </a:xfrm>
          <a:prstGeom prst="ellipse">
            <a:avLst/>
          </a:prstGeom>
          <a:noFill/>
          <a:ln w="44450">
            <a:solidFill>
              <a:srgbClr val="E09B00"/>
            </a:solidFill>
          </a:ln>
        </p:spPr>
        <p:txBody>
          <a:bodyPr rtlCol="0" anchor="ctr"/>
          <a:lstStyle/>
          <a:p>
            <a:pPr algn="ctr"/>
          </a:p>
        </p:txBody>
      </p:sp>
      <p:sp>
        <p:nvSpPr>
          <p:cNvPr id="14" name="Oval 13"/>
          <p:cNvSpPr/>
          <p:nvPr/>
        </p:nvSpPr>
        <p:spPr>
          <a:xfrm>
            <a:off x="8746907" y="3873887"/>
            <a:ext cx="178727" cy="160702"/>
          </a:xfrm>
          <a:prstGeom prst="ellipse">
            <a:avLst/>
          </a:prstGeom>
          <a:noFill/>
          <a:ln w="44450">
            <a:solidFill>
              <a:srgbClr val="C62828"/>
            </a:solidFill>
          </a:ln>
        </p:spPr>
        <p:txBody>
          <a:bodyPr rtlCol="0" anchor="ctr"/>
          <a:lstStyle/>
          <a:p>
            <a:pPr algn="ctr"/>
          </a:p>
        </p:txBody>
      </p:sp>
      <p:sp>
        <p:nvSpPr>
          <p:cNvPr id="15" name="Oval 14"/>
          <p:cNvSpPr/>
          <p:nvPr/>
        </p:nvSpPr>
        <p:spPr>
          <a:xfrm>
            <a:off x="8708996" y="4323854"/>
            <a:ext cx="162479" cy="771373"/>
          </a:xfrm>
          <a:prstGeom prst="ellipse">
            <a:avLst/>
          </a:prstGeom>
          <a:noFill/>
          <a:ln w="44450">
            <a:solidFill>
              <a:srgbClr val="1F5FAD"/>
            </a:solidFill>
          </a:ln>
        </p:spPr>
        <p:txBody>
          <a:bodyPr rtlCol="0" anchor="ctr"/>
          <a:lstStyle/>
          <a:p>
            <a:pPr algn="ctr"/>
          </a:p>
        </p:txBody>
      </p:sp>
      <p:sp>
        <p:nvSpPr>
          <p:cNvPr id="16" name="Oval 15"/>
          <p:cNvSpPr/>
          <p:nvPr/>
        </p:nvSpPr>
        <p:spPr>
          <a:xfrm>
            <a:off x="8447620" y="406949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35059" y="37320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935059" y="439089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217919" y="5353750"/>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700" b="0" i="0">
                <a:solidFill>
                  <a:srgbClr val="1A1A1A"/>
                </a:solidFill>
                <a:latin typeface="Arial"/>
              </a:rPr>
              <a:t>The bar forms below the lower Bollinger band </a:t>
            </a:r>
            <a:r>
              <a:rPr sz="1700" b="1" i="0">
                <a:solidFill>
                  <a:srgbClr val="E09B00"/>
                </a:solidFill>
                <a:latin typeface="Arial"/>
              </a:rPr>
              <a:t>(1)</a:t>
            </a:r>
            <a:r>
              <a:rPr sz="1700" b="0" i="0">
                <a:solidFill>
                  <a:srgbClr val="1A1A1A"/>
                </a:solidFill>
                <a:latin typeface="Arial"/>
              </a:rPr>
              <a:t>, which Lim reads as an overextended or oversold condition. It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65</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three-bar reversal with simple prices.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 Bar 3 falls from PHP 52.10 to PHP 48.70 and closes near its low, at PHP 48.80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and Lim adds a point about volume (p. 221).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660904" y="5069694"/>
            <a:ext cx="310895" cy="316121"/>
          </a:xfrm>
          <a:prstGeom prst="rect">
            <a:avLst/>
          </a:prstGeom>
          <a:noFill/>
          <a:ln w="44450">
            <a:solidFill>
              <a:srgbClr val="E09B00"/>
            </a:solidFill>
          </a:ln>
        </p:spPr>
        <p:txBody>
          <a:bodyPr rtlCol="0" anchor="ctr"/>
          <a:lstStyle/>
          <a:p>
            <a:pPr algn="ctr"/>
          </a:p>
        </p:txBody>
      </p:sp>
      <p:sp>
        <p:nvSpPr>
          <p:cNvPr id="10" name="Rectangle 9"/>
          <p:cNvSpPr/>
          <p:nvPr/>
        </p:nvSpPr>
        <p:spPr>
          <a:xfrm>
            <a:off x="6214719" y="5291763"/>
            <a:ext cx="310895" cy="94052"/>
          </a:xfrm>
          <a:prstGeom prst="rect">
            <a:avLst/>
          </a:prstGeom>
          <a:noFill/>
          <a:ln w="44450">
            <a:solidFill>
              <a:srgbClr val="C62828"/>
            </a:solidFill>
          </a:ln>
        </p:spPr>
        <p:txBody>
          <a:bodyPr rtlCol="0" anchor="ctr"/>
          <a:lstStyle/>
          <a:p>
            <a:pPr algn="ctr"/>
          </a:p>
        </p:txBody>
      </p:sp>
      <p:sp>
        <p:nvSpPr>
          <p:cNvPr id="11" name="Rectangle 10"/>
          <p:cNvSpPr/>
          <p:nvPr/>
        </p:nvSpPr>
        <p:spPr>
          <a:xfrm>
            <a:off x="9768535" y="5056631"/>
            <a:ext cx="310895" cy="329184"/>
          </a:xfrm>
          <a:prstGeom prst="rect">
            <a:avLst/>
          </a:prstGeom>
          <a:noFill/>
          <a:ln w="44450">
            <a:solidFill>
              <a:srgbClr val="1F5FAD"/>
            </a:solidFill>
          </a:ln>
        </p:spPr>
        <p:txBody>
          <a:bodyPr rtlCol="0" anchor="ctr"/>
          <a:lstStyle/>
          <a:p>
            <a:pPr algn="ctr"/>
          </a:p>
        </p:txBody>
      </p:sp>
      <p:sp>
        <p:nvSpPr>
          <p:cNvPr id="12" name="Oval 11"/>
          <p:cNvSpPr/>
          <p:nvPr/>
        </p:nvSpPr>
        <p:spPr>
          <a:xfrm>
            <a:off x="2971800" y="50997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53631" y="52107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9431" y="5093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5759121" y="1810512"/>
            <a:ext cx="583981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77993" y="1929384"/>
            <a:ext cx="560206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77993" y="1929384"/>
            <a:ext cx="560206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2313" y="2203703"/>
            <a:ext cx="50534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768660"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925518"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9082376" y="4271418"/>
            <a:ext cx="123245" cy="1130637"/>
          </a:xfrm>
          <a:prstGeom prst="ellipse">
            <a:avLst/>
          </a:prstGeom>
          <a:noFill/>
          <a:ln w="44450">
            <a:solidFill>
              <a:srgbClr val="1F5FAD"/>
            </a:solidFill>
          </a:ln>
        </p:spPr>
        <p:txBody>
          <a:bodyPr rtlCol="0" anchor="ctr"/>
          <a:lstStyle/>
          <a:p>
            <a:pPr algn="ctr"/>
          </a:p>
        </p:txBody>
      </p:sp>
      <p:sp>
        <p:nvSpPr>
          <p:cNvPr id="15" name="Oval 14"/>
          <p:cNvSpPr/>
          <p:nvPr/>
        </p:nvSpPr>
        <p:spPr>
          <a:xfrm>
            <a:off x="8502074"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70973"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9139"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7.21 first shows a bullish three-bar reversal </a:t>
            </a:r>
            <a:r>
              <a:rPr sz="2000" b="1" i="0">
                <a:solidFill>
                  <a:srgbClr val="E09B00"/>
                </a:solidFill>
                <a:latin typeface="Arial"/>
              </a:rPr>
              <a:t>(1)</a:t>
            </a:r>
            <a:r>
              <a:rPr sz="2000" b="0" i="0">
                <a:solidFill>
                  <a:srgbClr val="1A1A1A"/>
                </a:solidFill>
                <a:latin typeface="Arial"/>
              </a:rPr>
              <a:t>, whose large third bar closes near its high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Later, a separate outside day engulfs four preceding bars </a:t>
            </a:r>
            <a:r>
              <a:rPr sz="2000" b="1" i="0">
                <a:solidFill>
                  <a:srgbClr val="7B3FA0"/>
                </a:solidFill>
                <a:latin typeface="Arial"/>
              </a:rPr>
              <a:t>(4)</a:t>
            </a:r>
            <a:r>
              <a:rPr sz="2000" b="0" i="0">
                <a:solidFill>
                  <a:srgbClr val="1A1A1A"/>
                </a:solidFill>
                <a:latin typeface="Arial"/>
              </a:rPr>
              <a:t> and closes near its low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island reversal is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199128"/>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0215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0215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392043"/>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9204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74923"/>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502658"/>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outside bar with simple prices. The first two bars stay between PHP 48.00 and PHP 52.00. The third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earlier bars. It closes at PHP 47.50 </a:t>
            </a:r>
            <a:r>
              <a:rPr sz="1700" b="1" i="0">
                <a:solidFill>
                  <a:srgbClr val="1F5FAD"/>
                </a:solidFill>
                <a:latin typeface="Arial"/>
              </a:rPr>
              <a:t>(3)</a:t>
            </a:r>
            <a:r>
              <a:rPr sz="1700" b="0" i="0">
                <a:solidFill>
                  <a:srgbClr val="1A1A1A"/>
                </a:solidFill>
                <a:latin typeface="Arial"/>
              </a:rPr>
              <a:t>, near its low. 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631375" y="3419856"/>
            <a:ext cx="0" cy="1069848"/>
          </a:xfrm>
          <a:prstGeom prst="line">
            <a:avLst/>
          </a:prstGeom>
          <a:ln w="44450">
            <a:solidFill>
              <a:srgbClr val="E09B00"/>
            </a:solidFill>
          </a:ln>
        </p:spPr>
      </p:cxn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010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inside bar with simple prices. The first bar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The first bar also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exhaustion bar with simple prices.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there is no gap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941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7656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00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92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pin bar with simple prices. Support sits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comes at the end of a run. It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gives most of it back,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ended a tiring run,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65</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crossings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two crossings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228).</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