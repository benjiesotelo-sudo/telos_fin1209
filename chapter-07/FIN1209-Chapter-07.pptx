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mark 1 for the hover and mark 2 for the later decline. The book's point is delayed follow-through.</a:t>
            </a:r>
          </a:p>
          <a:p>
            <a:r>
              <a:rPr sz="1400"/>
              <a:t>- Separate the pattern definition from the later price path. The latter is a caveat, not part of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converse with the invented prices before reading the figure.</a:t>
            </a:r>
          </a:p>
          <a:p>
            <a:r>
              <a:rPr sz="1400"/>
              <a:t>- The rapid rebound is the book's observation in Figure 7.14, not a promise for every bullish key reversal.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bullish key reversal below the lower band. Mark 2 is the book's oversold StochRSI label.</a:t>
            </a:r>
          </a:p>
          <a:p>
            <a:r>
              <a:rPr sz="1400"/>
              <a:t>- Mark 3 is the high-volume reading. Lim calls these conditions greater potential,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first close near the high, then the second near the low.</a:t>
            </a:r>
          </a:p>
          <a:p>
            <a:r>
              <a:rPr sz="1400"/>
              <a:t>- The values and volume are ours, invented. The wider-range preference comes from Lim, p. 220.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marks 1 and 2 as the two closing positions. The book prefers wider ranges for both bars.</a:t>
            </a:r>
          </a:p>
          <a:p>
            <a:r>
              <a:rPr sz="1400"/>
              <a:t>- CCI is a label in Lim's figure. Chapter 7 does not define its formula, so do not infer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volumes left to right: strong, quiet, strong.</a:t>
            </a:r>
          </a:p>
          <a:p>
            <a:r>
              <a:rPr sz="1400"/>
              <a:t>- The arithmetic and volume are ours, invented; the interpretation follows Lim, pp. 221 to 223.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Marks 1, 2 and 3 identify the first, middle and third bars. The first closes near its high and the third near its low.</a:t>
            </a:r>
          </a:p>
          <a:p>
            <a:r>
              <a:rPr sz="1400"/>
              <a:t>- The figure also labels bearish +DM divergence and shows rapid later decline, not a guaranteed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first outer volume bar, mark 2 is the quiet middle volume bar, and mark 3 is the final outer bar.</a:t>
            </a:r>
          </a:p>
          <a:p>
            <a:r>
              <a:rPr sz="1400"/>
              <a:t>- The volume relationship is the book's clue. It does not make the reversal 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three-bar group. Mark 2 is the oversold StochRSI label.</a:t>
            </a:r>
          </a:p>
          <a:p>
            <a:r>
              <a:rPr sz="1400"/>
              <a:t>- Mark 3 points to the last close between the bands, which Lim calls bullish. The formulas are not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keeps the first three-bar reversal separate. Mark 2 identifies its large third bar near its high.</a:t>
            </a:r>
          </a:p>
          <a:p>
            <a:r>
              <a:rPr sz="1400"/>
              <a:t>- Mark 3 boxes the later outside day and its close near the low. Lim says the third bar adds bullishness,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boxes the first bar, mark 2 identifies the lower-volume middle bar, and mark 3 identifies the third bar.</a:t>
            </a:r>
          </a:p>
          <a:p>
            <a:r>
              <a:rPr sz="1400"/>
              <a:t>- Lim links this arrangement to pattern 6 in Figure 7.9. That link recalls the earlier generic pattern; it adds no new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use the marked Figure 7.18 and the prior body text, not speaker cues.</a:t>
            </a:r>
          </a:p>
          <a:p>
            <a:r>
              <a:rPr sz="1400"/>
              <a:t>- Reveal the close positions first, then explain that the middle bar's low volume signals uncertainty in the bullish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gap up, the isolated bars, then the gap down.</a:t>
            </a:r>
          </a:p>
          <a:p>
            <a:r>
              <a:rPr sz="1400"/>
              <a:t>- Gap meaning points back to Chapter 3. The prices and volume are ours,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An island is isolated by two gaps: mark 1 is the gap up and mark 3 the gap down.</a:t>
            </a:r>
          </a:p>
          <a:p>
            <a:r>
              <a:rPr sz="1400"/>
              <a:t>- Mark 2 is the isolated formation. Lim also observes low volume and an overbought stochastic label; no formula is taught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answer from the preceding island slides. The two gaps define the formation; the stochastic label is not a Chapter 7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answer from the preceding island slides. The two gaps define the formation; the stochastic label is not a Chapter 7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 the prior high and close first.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1. Open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2. New high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3. Close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4. Volume 4.2m versus 2.0m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bearish key reversal, a potential warning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42245" y="2811765"/>
            <a:ext cx="325663" cy="15213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2477069"/>
            <a:ext cx="325663" cy="15213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42245" y="3511585"/>
            <a:ext cx="325663" cy="15213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42245" y="4302686"/>
            <a:ext cx="390796" cy="18256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05204" y="2808452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10449982" y="232162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33522" y="366040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38064" y="4460652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89170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25746"/>
            <a:ext cx="610819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41441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810512"/>
            <a:ext cx="3916374" cy="24207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1" y="1929384"/>
            <a:ext cx="3678631" cy="2183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6951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203703"/>
            <a:ext cx="3129990" cy="172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9143583" y="3130055"/>
            <a:ext cx="257504" cy="50209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3583" y="3435681"/>
            <a:ext cx="257504" cy="37111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06797" y="3632154"/>
            <a:ext cx="349469" cy="4584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85811" y="297460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749024" y="3651349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712238" y="391331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322735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675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9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6990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8877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8877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309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54524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6933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1752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4524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5394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01040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05859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79356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650991"/>
            <a:ext cx="36420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023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Exhaustion: in an uptrend, it opens at 65.40 above prior high 65.00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reaches 66.20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closes at 60.50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; the next bar opens at 60.20 with no gap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Pin bar: it penetrates support at 40.00 to 38.80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(5)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then rapidly retraces and closes at 40.60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(6)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39" y="1810512"/>
            <a:ext cx="7025335" cy="34085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511" y="1929384"/>
            <a:ext cx="6787591" cy="317084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902471" y="2642824"/>
            <a:ext cx="135751" cy="12683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02471" y="2468427"/>
            <a:ext cx="135751" cy="126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02471" y="3736765"/>
            <a:ext cx="169689" cy="19025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7072161" y="3768474"/>
            <a:ext cx="678759" cy="63417"/>
          </a:xfrm>
          <a:prstGeom prst="line">
            <a:avLst/>
          </a:prstGeom>
          <a:ln w="44450">
            <a:solidFill>
              <a:srgbClr val="7B3FA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0228391" y="3831891"/>
            <a:ext cx="237565" cy="2219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28391" y="3102596"/>
            <a:ext cx="237565" cy="19025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2730" y="2322419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229365" y="2290710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7161489" y="393955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7976000" y="3559048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9876525" y="4129801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10758912" y="302000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310541"/>
            <a:ext cx="7025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50469" y="1207008"/>
            <a:ext cx="5582795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69341" y="1325880"/>
            <a:ext cx="5345051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69341" y="1325880"/>
            <a:ext cx="534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3661" y="1600200"/>
            <a:ext cx="479641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14263" y="1737360"/>
            <a:ext cx="26725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614" y="1408176"/>
            <a:ext cx="213802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1515" y="2313432"/>
            <a:ext cx="26725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38112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53672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67474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557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5571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94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7033"/>
            <a:ext cx="457200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47033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2991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61078"/>
            <a:ext cx="402336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79202" y="1207008"/>
            <a:ext cx="5725330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8074" y="1325880"/>
            <a:ext cx="54875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8074" y="1325880"/>
            <a:ext cx="5487586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394" y="1600200"/>
            <a:ext cx="4938946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102860" y="1737360"/>
            <a:ext cx="27437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7488" y="1408176"/>
            <a:ext cx="21950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7239" y="2313432"/>
            <a:ext cx="27437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18157" y="141732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60798" y="121158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80302" y="26106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consolidation can come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5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says a rapid decline may not follow. The market can hover near the key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falling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(p.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the key bar closes PHP 50.80, then prices hover at PHP 50.60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before declining to PHP 48.90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treat the bar as a potential warning; wait for the surrounding context rather than assuming timing.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wide bar may make follow-through more reliable, but width does not guarantee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199" y="1810512"/>
            <a:ext cx="4099255" cy="329279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4071" y="1929384"/>
            <a:ext cx="3861511" cy="305505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8615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8392" y="2203703"/>
            <a:ext cx="3312871" cy="2597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the later consolidation and decline.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212" y="2357091"/>
            <a:ext cx="424766" cy="45825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44054" y="2418192"/>
            <a:ext cx="424766" cy="7943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5120" y="210687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33879" y="317614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5194751"/>
            <a:ext cx="4099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219, Figure 7.15. The PHP path is ours, invented to show consolidation.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Key reversal: the bullish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downtrend, the converse makes a new low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then closes near or above the previous close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the prior low is PHP 42.00 and close PHP 41.00; the new low is PHP 40.50, then the close is PHP 43.20 on 4.0 million shares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Lim's Figure 7.14 observes a rapid rebound after a high-volume bullish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0109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direction changes, but the reading still uses the new extreme and the prior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719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342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77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501675" y="3488197"/>
            <a:ext cx="334313" cy="65186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1675" y="3884986"/>
            <a:ext cx="334313" cy="48181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3915" y="4140065"/>
            <a:ext cx="453711" cy="59518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551" y="333274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035792" y="421135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7988033" y="4551458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7390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PHP values are ours, invented.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7.16: context can strengthen the warning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7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400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bullish key reversal is below the lower Bollinger band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with StochRSI oversold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 closes near its high and has extreme volume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which Lim calls indicative of a selling climax (p. 220).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book gives no formulas here. These labels are context, not a promise of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61081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Use the labels as context, not as a promise of a reversal.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8480" y="1810512"/>
            <a:ext cx="3875573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7352" y="1929384"/>
            <a:ext cx="3637829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7352" y="1929384"/>
            <a:ext cx="3637829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1672" y="2203703"/>
            <a:ext cx="3089189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bullish key reversal below the lower volatility band, an oversold StochRSI label, and high volume under the reversal bar.</a:t>
            </a:r>
          </a:p>
        </p:txBody>
      </p:sp>
      <p:sp>
        <p:nvSpPr>
          <p:cNvPr id="14" name="Oval 13"/>
          <p:cNvSpPr/>
          <p:nvPr/>
        </p:nvSpPr>
        <p:spPr>
          <a:xfrm>
            <a:off x="9092484" y="3439241"/>
            <a:ext cx="472917" cy="87782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37997" y="4387291"/>
            <a:ext cx="363782" cy="56180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347132" y="3439241"/>
            <a:ext cx="72757" cy="161519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8737054" y="333719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37054" y="435547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810313" y="3566159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5650991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7.16 -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7.16. Bollinger Bands and StochRSI are shown by the book but not defined here.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Two-day reversal: read the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8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close near high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second near low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51.80, then PHP 49.60; the second range is wider.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potential bearish reversal,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632335" y="2781338"/>
            <a:ext cx="455928" cy="24341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42245" y="3633293"/>
            <a:ext cx="521061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41044" y="2667038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9970068" y="339728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RA - FIN1209 teaching chart, drawn for this course. Illustrative data, not a real instrument.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220. Chart RA is ours, with invented PHP bars and volume.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7.17: the book adds CCI divergence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9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212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first close near its high; mark 2 is the second close near its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says wider ranges would be preferable and labels bearish CCI divergence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CCI is not defined in Chapter 7. Treat the label as the book's supporting observation, not as a formula to calculate.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9194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close sequence is the pattern; CCI is context shown by the figure.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95168" y="1810512"/>
            <a:ext cx="4533478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4040" y="1929384"/>
            <a:ext cx="4295734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14040" y="1929384"/>
            <a:ext cx="429573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8360" y="2203703"/>
            <a:ext cx="3747094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the first bar closes near its high, the second near its low, and the lower panel labels bearish CCI divergence.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990779" y="2631643"/>
            <a:ext cx="343658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77395" y="2561417"/>
            <a:ext cx="343658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18248" y="4387291"/>
            <a:ext cx="988018" cy="73737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9960" y="235403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927553" y="2424257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583894" y="45310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650991"/>
            <a:ext cx="51050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7.17 -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220, Figure 7.17. The CCI label is reproduced as the book's observation, not taught as a formula.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Bullish three-bar reversal: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10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volume: strong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quiet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strong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4.0m, 0.6m, then 4.2m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a quiet middle shows uncertainty, not a guarantee.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06671" y="4211405"/>
            <a:ext cx="455928" cy="27384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4989" y="4211405"/>
            <a:ext cx="455928" cy="27384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28439" y="4211405"/>
            <a:ext cx="455928" cy="273842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0161" y="344741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453877" y="390382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390382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221 to 223. Chart RB is ours, with invented PHP bars and volume.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7.18: the bearish three-bar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11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760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a clear, strong uptrend, mark 1 is the first bar, mark 2 the middle bar, and mark 3 the third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closes near its high and the third near its low. The figure also labels bearish +DM divergence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read the three bars with trend and volume context; the later decline is not guaranteed.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4681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first and third bars carry the outer close reading; the middle bar separates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999" y="1810512"/>
            <a:ext cx="4556455" cy="3322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1" y="1929384"/>
            <a:ext cx="4318711" cy="3084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76871" y="1929384"/>
            <a:ext cx="4318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1" y="2203703"/>
            <a:ext cx="3770071" cy="2627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847" y="2299559"/>
            <a:ext cx="215935" cy="67865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956782" y="2330407"/>
            <a:ext cx="215935" cy="67865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9352163" y="2669734"/>
            <a:ext cx="950116" cy="160409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7" name="Oval 16"/>
          <p:cNvSpPr/>
          <p:nvPr/>
        </p:nvSpPr>
        <p:spPr>
          <a:xfrm>
            <a:off x="9396895" y="2109847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303824" y="210984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701652" y="350714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7999" y="5224489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7.18. +DM is shown as a book label and is not defined in this chapter.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7.19: the volume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12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bottom reversal has high-volume outer columns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with a below-average middle column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This is the same uncertainty-between-strengthers reading shown in the invented example.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supports the potential reversal. Lim does not say it guarantees follow-through.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Keep the quiet middle bar between the stronger outer bars.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79" y="1810512"/>
            <a:ext cx="4830775" cy="34364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02551" y="1929384"/>
            <a:ext cx="4593031" cy="3198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02551" y="1929384"/>
            <a:ext cx="45930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1" y="2203703"/>
            <a:ext cx="4044391" cy="2741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a three-bar bottom reversal with high-volume outer bars and a below-average-volume middle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53137" y="4392396"/>
            <a:ext cx="229651" cy="44782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82788" y="4456371"/>
            <a:ext cx="183721" cy="41583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66509" y="4392396"/>
            <a:ext cx="229651" cy="4478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63255" y="411816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435931" y="4182135"/>
            <a:ext cx="228600" cy="2286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57443" y="411816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338414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7.19 -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221, Figure 7.19. Volume labels are the book's observations.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7.20:
oversold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13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486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Mark 1 is the three-bar bullish reversal. The full pattern occurs at an oversold StochRSI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close sits between the Bollinger bands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which Lim calls bullish.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 links this example to pattern 5 in Figure 7.9. It gives no indicator formula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19379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pattern is read first; the indicator labels add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0105" y="1810512"/>
            <a:ext cx="459792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8977" y="1929384"/>
            <a:ext cx="436018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8977" y="1929384"/>
            <a:ext cx="436018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93297" y="2203703"/>
            <a:ext cx="381154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ITC Holdings daily chart: the three-bar reversal, an oversold StochRSI label, and the final close between the two volatility bands.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2244" y="3263676"/>
            <a:ext cx="610425" cy="87782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50253" y="4562856"/>
            <a:ext cx="566823" cy="59692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93854" y="3404128"/>
            <a:ext cx="392416" cy="49158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9871" y="30562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59536" y="474171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219865" y="3100547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5650991"/>
            <a:ext cx="4830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7.20 -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7.20. StochRSI and Bollinger Bands are shown but not defined in Chapter 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7.21: a separate outside day follows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14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06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three-bar reversal is marked 1. Its large third bar near its high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adds bullishness.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Later, the outside day engulfs four preceding bars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and closes near its low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Keep the two formations separate: the later outside day is a new event and can reverse the preceding move.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138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Below-average middle volume and high-volume outer bars are the three-bar clue; the outside day is separate.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19" y="1810512"/>
            <a:ext cx="4510735" cy="33006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2591" y="1929384"/>
            <a:ext cx="4272991" cy="3062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2259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6911" y="2203703"/>
            <a:ext cx="3724351" cy="26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Newmont Mining daily chart: a three-bar bottom reversal, then a separate outside day engulfing four preceding bars, with high volume under the outside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18138" y="3185189"/>
            <a:ext cx="640948" cy="82699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9978" y="3154560"/>
            <a:ext cx="299109" cy="52069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766" y="2541972"/>
            <a:ext cx="299109" cy="24503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47" y="2235678"/>
            <a:ext cx="470029" cy="918882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24599" y="29561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201991" y="2842767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450302" y="2361841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21169" y="3136720"/>
            <a:ext cx="219456" cy="21945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19" y="5202636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222, Figure 7.21. The outside day and volume are the book's observations.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7.22:
the pattern 6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15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1 is the first-bar volume. Mark 2 is the large middle-bar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Mark 3 is the middle-bar volume, lower than the first. Lim links this arrangement to pattern 6 in Figure 7.9.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link recalls the generic pattern; it does not add a new trading rule or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28523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A large price bar can still carry lower volume than the first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19" y="1810512"/>
            <a:ext cx="4739335" cy="3424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93991" y="1929384"/>
            <a:ext cx="4501591" cy="31869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93991" y="1929384"/>
            <a:ext cx="45015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1" y="2203703"/>
            <a:ext cx="3952951" cy="27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TSX Composite daily chart: a bullish three-bar reversal whose large middle bar has lower volume than the first bar.</a:t>
            </a:r>
          </a:p>
        </p:txBody>
      </p:sp>
      <p:sp>
        <p:nvSpPr>
          <p:cNvPr id="14" name="Oval 13"/>
          <p:cNvSpPr/>
          <p:nvPr/>
        </p:nvSpPr>
        <p:spPr>
          <a:xfrm>
            <a:off x="8999771" y="4383348"/>
            <a:ext cx="270095" cy="4780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34819" y="3459128"/>
            <a:ext cx="315111" cy="733002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24851" y="4383348"/>
            <a:ext cx="270095" cy="47804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15376" y="4109700"/>
            <a:ext cx="228600" cy="22860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46994" y="3171763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40773" y="4109700"/>
            <a:ext cx="228600" cy="22860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19" y="5326663"/>
            <a:ext cx="4739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7.22 -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223, Figure 7.22. The reference to pattern 6 is Lim's cross-reference.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Both near the middle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First near high, third near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First near low, third near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Both at the exact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253492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7413"/>
            <a:ext cx="4846320" cy="1351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highest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new all-time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No price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Below-average volume between stronger outer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two-day and three-bar reversal readings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8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8755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In the bearish three-bar reversal, the outer closes are: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First near high, third near low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First near high; third near low (Lim, p. 221).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77438"/>
            <a:ext cx="5303520" cy="2747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77438"/>
            <a:ext cx="91440" cy="27470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60318"/>
            <a:ext cx="475488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In the bullish three-bar examples, the middle bar can support the reading when it has: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754880" cy="1636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Below-average volume between stronger outer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describes a below-average-volume middle bar between high-volume outer bars (pp. 221 to 223).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799" y="1207008"/>
            <a:ext cx="5013655" cy="364910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1" y="1325880"/>
            <a:ext cx="4775911" cy="341136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9671" y="1325880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1" y="1600200"/>
            <a:ext cx="4227271" cy="2954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 in a clear, strong uptrend: the first of three bars closes near its high, the third near its low, and the lower panel labels bearish +DM divergence.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76255" y="1735243"/>
            <a:ext cx="238795" cy="75050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15050" y="1769357"/>
            <a:ext cx="238795" cy="75050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>
            <a:off x="9146423" y="2144607"/>
            <a:ext cx="1050700" cy="177391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9209443" y="153900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10212384" y="1539000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0651360" y="3083258"/>
            <a:ext cx="237744" cy="237744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947557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Island reversal: two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16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657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Read the gap up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isolated bars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, then gap down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Ours: PHP 50.00 to 50.80, then PHP 49.40.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Meaning/action: two gaps isolate a potential reversal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810512"/>
            <a:ext cx="6751014" cy="32804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1929384"/>
            <a:ext cx="6513270" cy="304269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27733" y="2537923"/>
            <a:ext cx="586194" cy="3042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48794" y="2598777"/>
            <a:ext cx="2475042" cy="912808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33041" y="2537923"/>
            <a:ext cx="651327" cy="3042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46621" y="2230340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798655" y="341699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319717" y="2230340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182391"/>
            <a:ext cx="6751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RC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223 to 224. Chart RC is ours, with invented PHP bars and volume; gap meaning points to Chapter 3.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7.23: the book's island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17 of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Gap keeps Chapter 3 meaning in ‘Gaps’. Mark 1 is the gap up, mark 2 the island, and mark 3 the gap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observes low volume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an overbought stochastic label </a:t>
            </a:r>
            <a:r>
              <a:rPr sz="1700" b="1" i="0">
                <a:solidFill>
                  <a:srgbClr val="007A33"/>
                </a:solidFill>
                <a:latin typeface="Arial"/>
              </a:rPr>
              <a:t>(5)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calling low volume lack of conviction.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stochastic method is given in Chapter 7. These labels are context; the island is a potential warning.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5595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two gaps do the defining work; volume and stochastic are supporting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6976" y="1810512"/>
            <a:ext cx="408994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55848" y="1929384"/>
            <a:ext cx="3852198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55848" y="1929384"/>
            <a:ext cx="3852198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168" y="2203703"/>
            <a:ext cx="3303558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4" name="Oval 13"/>
          <p:cNvSpPr/>
          <p:nvPr/>
        </p:nvSpPr>
        <p:spPr>
          <a:xfrm>
            <a:off x="8912293" y="2912546"/>
            <a:ext cx="269653" cy="52669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4903" y="2491191"/>
            <a:ext cx="462263" cy="1123614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4211" y="2947659"/>
            <a:ext cx="308175" cy="5266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1161" y="4317065"/>
            <a:ext cx="731917" cy="456468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3425" y="4843759"/>
            <a:ext cx="385219" cy="456468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57717" y="2613538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9674855" y="2192182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10060075" y="2613538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8297207" y="476457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Oval 22"/>
          <p:cNvSpPr/>
          <p:nvPr/>
        </p:nvSpPr>
        <p:spPr>
          <a:xfrm>
            <a:off x="9683999" y="5150815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650991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224, Figure 7.23. Gap meaning points back to Chapter 3; stochastic is shown but not defined here.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the island reversal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1053"/>
            <a:ext cx="411480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gap up followed by a gap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single wide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high-volume middle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trendline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8513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79953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81121"/>
            <a:ext cx="411480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is the stochastic label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02557"/>
            <a:ext cx="4114800" cy="135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As the island definition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As a formula taught in this chapter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As supporting context; Chapter 7 gives no method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As a guaranteed reversal signal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5847" y="1207008"/>
            <a:ext cx="47520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4719" y="1325880"/>
            <a:ext cx="45142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4719" y="1325880"/>
            <a:ext cx="45142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9039" y="1600200"/>
            <a:ext cx="39656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8225866" y="2478024"/>
            <a:ext cx="316000" cy="617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1581" y="1984248"/>
            <a:ext cx="541715" cy="131673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83582" y="2519172"/>
            <a:ext cx="361143" cy="6172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009" y="4123944"/>
            <a:ext cx="857716" cy="534924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6724" y="4741164"/>
            <a:ext cx="451429" cy="534924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1565" y="2148840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140710" y="1655064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9592140" y="214884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7524708" y="466801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9149854" y="5120640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the island reversal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What isolates an island reversal?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1053"/>
            <a:ext cx="402336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A gap up followed by a gap down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7.23 shows a gap up before and a gap down after the island.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50463"/>
            <a:ext cx="457200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5046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33343"/>
            <a:ext cx="40233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is the stochastic label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64508"/>
            <a:ext cx="402336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As supporting context; Chapter 7 gives no method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It is supporting context; Chapter 7 gives no method.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5847" y="1207008"/>
            <a:ext cx="475203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4719" y="1325880"/>
            <a:ext cx="451429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4719" y="1325880"/>
            <a:ext cx="45142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9039" y="1600200"/>
            <a:ext cx="396565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Direxion Gold Miners daily chart: a gap up, an isolated group of bars, a gap down, low volume, and an overbought stochastic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8225866" y="2478024"/>
            <a:ext cx="316000" cy="61721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1581" y="1984248"/>
            <a:ext cx="541715" cy="131673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83582" y="2519172"/>
            <a:ext cx="361143" cy="61722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009" y="4123944"/>
            <a:ext cx="857716" cy="534924"/>
          </a:xfrm>
          <a:prstGeom prst="rect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96724" y="4741164"/>
            <a:ext cx="451429" cy="534924"/>
          </a:xfrm>
          <a:prstGeom prst="rect">
            <a:avLst/>
          </a:prstGeom>
          <a:noFill/>
          <a:ln w="44450">
            <a:solidFill>
              <a:srgbClr val="007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1565" y="2148840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140710" y="1655064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9592140" y="214884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7524708" y="4668012"/>
            <a:ext cx="228600" cy="22860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9149854" y="5120640"/>
            <a:ext cx="228600" cy="228600"/>
          </a:xfrm>
          <a:prstGeom prst="ellipse">
            <a:avLst/>
          </a:prstGeom>
          <a:solidFill>
            <a:srgbClr val="007A33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7.23 - Lim, The Handbook of Technical Analysis (Wiley, 2016)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79" y="1810512"/>
            <a:ext cx="4510735" cy="2776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9751" y="1929384"/>
            <a:ext cx="4272991" cy="2538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975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1" y="2203703"/>
            <a:ext cx="3724351" cy="208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3459" y="2081697"/>
            <a:ext cx="1196437" cy="233547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6247" y="3350976"/>
            <a:ext cx="213649" cy="99003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424437" y="3376362"/>
            <a:ext cx="0" cy="96465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663540" y="38738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00926" y="4076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13685" y="407692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678254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92860"/>
            <a:ext cx="1311651" cy="256037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89487"/>
            <a:ext cx="1311651" cy="25086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