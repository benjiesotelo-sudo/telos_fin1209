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Lim's 15-minute bar: gold 1 the first open, red 2 the highest high, blue 3 the lowest low, purple 4 the last close.</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same four marks on Lim's 15-minute bar on the question and answer slides.</a:t>
            </a:r>
          </a:p>
          <a:p>
            <a:r>
              <a:rPr sz="1400"/>
              <a:t>- Both answers come from the rule on the Figure 7.2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same four marks on Lim's 15-minute bar on the question and answer slides.</a:t>
            </a:r>
          </a:p>
          <a:p>
            <a:r>
              <a:rPr sz="1400"/>
              <a:t>- Both answers come from the rule on the Figure 7.2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Patterns are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four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agreeing cases first: gold 1, uptrend with a bullish formation, and red 2, downtrend with a bearish formation. Both are continuations.</a:t>
            </a:r>
          </a:p>
          <a:p>
            <a:r>
              <a:rPr sz="1400"/>
              <a:t>- Then the two disagreeing cases: blue 3, uptrend with a bearish formation, and purple 4, downtrend with a bullish formation. Both are potential reversals.</a:t>
            </a:r>
          </a:p>
          <a:p>
            <a:r>
              <a:rPr sz="1400"/>
              <a:t>- The percentage moves are invented; only the agreement rule is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blue 1 the rising closes give bullish trend sentiment; gold 2 the last two bars are a double formation.</a:t>
            </a:r>
          </a:p>
          <a:p>
            <a:r>
              <a:rPr sz="1400"/>
              <a:t>- Red 3: bar 4 closes at 47.50, below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blue 1 the rising closes give bullish trend sentiment; gold 2 the last two bars are a double formation.</a:t>
            </a:r>
          </a:p>
          <a:p>
            <a:r>
              <a:rPr sz="1400"/>
              <a:t>- Red 3: bar 4 closes at 47.50, below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Mark 1 is the close below the prior close; mark 2 is the wide final range; mark 3 is the 4.0 million volume.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gaps of PHP 0.30, PHP 0.60, and PHP 1.10 marked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bearish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ranges PHP 3.0, PHP 0.8, PHP 3.4 and volumes 0.7m and 4.2m marked.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island reversal form with gaps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strong outer closes and a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invented triple bullish bars, with the quiet middle and strong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gap form with ranges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intermediate volume exceptions and a final bearish bar.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quiet middle bars, a high-volume exception, and a final high close.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the second breaches prior high 52.00 at 53.20 on 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prior high and breach.</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invented PHP 48.00 to PHP 52.00 bar, midpoint 50.00, then a rebound through 52.00 to 52.40.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50 percent midpoint and rebound.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plain-language recall of BRR and angular symmetry and momentum.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bearish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bullish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means reading price bars to judge what the market is doing.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price bar keeps four prices from one interval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16</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Everything in this chapter is read from price bars, so we start with what one bar records. Lim's bar keeps four prices from one interval: the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gold </a:t>
            </a:r>
            <a:r>
              <a:rPr sz="1700" b="1" i="0">
                <a:solidFill>
                  <a:srgbClr val="E09B00"/>
                </a:solidFill>
                <a:latin typeface="Arial"/>
              </a:rPr>
              <a:t>(1)</a:t>
            </a:r>
            <a:r>
              <a:rPr sz="1700" b="0" i="0">
                <a:solidFill>
                  <a:srgbClr val="1A1A1A"/>
                </a:solidFill>
                <a:latin typeface="Arial"/>
              </a:rPr>
              <a:t>, high red </a:t>
            </a:r>
            <a:r>
              <a:rPr sz="1700" b="1" i="0">
                <a:solidFill>
                  <a:srgbClr val="C62828"/>
                </a:solidFill>
                <a:latin typeface="Arial"/>
              </a:rPr>
              <a:t>(2)</a:t>
            </a:r>
            <a:r>
              <a:rPr sz="1700" b="0" i="0">
                <a:solidFill>
                  <a:srgbClr val="1A1A1A"/>
                </a:solidFill>
                <a:latin typeface="Arial"/>
              </a:rPr>
              <a:t>, low blue </a:t>
            </a:r>
            <a:r>
              <a:rPr sz="1700" b="1" i="0">
                <a:solidFill>
                  <a:srgbClr val="1F5FAD"/>
                </a:solidFill>
                <a:latin typeface="Arial"/>
              </a:rPr>
              <a:t>(3)</a:t>
            </a:r>
            <a:r>
              <a:rPr sz="1700" b="0" i="0">
                <a:solidFill>
                  <a:srgbClr val="1A1A1A"/>
                </a:solidFill>
                <a:latin typeface="Arial"/>
              </a:rPr>
              <a:t>, close purple </a:t>
            </a:r>
            <a:r>
              <a:rPr sz="1700" b="1" i="0">
                <a:solidFill>
                  <a:srgbClr val="7B3FA0"/>
                </a:solidFill>
                <a:latin typeface="Arial"/>
              </a:rPr>
              <a:t>(4)</a:t>
            </a:r>
            <a:r>
              <a:rPr sz="1700" b="0" i="0">
                <a:solidFill>
                  <a:srgbClr val="1A1A1A"/>
                </a:solidFill>
                <a:latin typeface="Arial"/>
              </a:rPr>
              <a:t>.</a:t>
            </a:r>
          </a:p>
        </p:txBody>
      </p:sp>
      <p:sp>
        <p:nvSpPr>
          <p:cNvPr id="8" name="Rectangle 7"/>
          <p:cNvSpPr/>
          <p:nvPr/>
        </p:nvSpPr>
        <p:spPr>
          <a:xfrm>
            <a:off x="777240" y="4672583"/>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Read it by position: its close ends a little below its open.</a:t>
            </a:r>
          </a:p>
        </p:txBody>
      </p:sp>
      <p:sp>
        <p:nvSpPr>
          <p:cNvPr id="10" name="Rectangle 9"/>
          <p:cNvSpPr/>
          <p:nvPr/>
        </p:nvSpPr>
        <p:spPr>
          <a:xfrm>
            <a:off x="5852159" y="1810512"/>
            <a:ext cx="5562294" cy="307505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71031" y="1929384"/>
            <a:ext cx="5324551" cy="283731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71031" y="1929384"/>
            <a:ext cx="53245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45351" y="2203703"/>
            <a:ext cx="4775911" cy="23801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sp>
        <p:nvSpPr>
          <p:cNvPr id="14" name="Oval 13"/>
          <p:cNvSpPr/>
          <p:nvPr/>
        </p:nvSpPr>
        <p:spPr>
          <a:xfrm>
            <a:off x="8936806" y="2823137"/>
            <a:ext cx="266227" cy="266707"/>
          </a:xfrm>
          <a:prstGeom prst="ellipse">
            <a:avLst/>
          </a:prstGeom>
          <a:noFill/>
          <a:ln w="44450">
            <a:solidFill>
              <a:srgbClr val="E09B00"/>
            </a:solidFill>
          </a:ln>
        </p:spPr>
        <p:txBody>
          <a:bodyPr rtlCol="0" anchor="ctr"/>
          <a:lstStyle/>
          <a:p>
            <a:pPr algn="ctr"/>
          </a:p>
        </p:txBody>
      </p:sp>
      <p:sp>
        <p:nvSpPr>
          <p:cNvPr id="15" name="Oval 14"/>
          <p:cNvSpPr/>
          <p:nvPr/>
        </p:nvSpPr>
        <p:spPr>
          <a:xfrm>
            <a:off x="9149788" y="2091110"/>
            <a:ext cx="266227" cy="272381"/>
          </a:xfrm>
          <a:prstGeom prst="ellipse">
            <a:avLst/>
          </a:prstGeom>
          <a:noFill/>
          <a:ln w="44450">
            <a:solidFill>
              <a:srgbClr val="C62828"/>
            </a:solidFill>
          </a:ln>
        </p:spPr>
        <p:txBody>
          <a:bodyPr rtlCol="0" anchor="ctr"/>
          <a:lstStyle/>
          <a:p>
            <a:pPr algn="ctr"/>
          </a:p>
        </p:txBody>
      </p:sp>
      <p:sp>
        <p:nvSpPr>
          <p:cNvPr id="16" name="Oval 15"/>
          <p:cNvSpPr/>
          <p:nvPr/>
        </p:nvSpPr>
        <p:spPr>
          <a:xfrm>
            <a:off x="9149788" y="4099927"/>
            <a:ext cx="266227" cy="266707"/>
          </a:xfrm>
          <a:prstGeom prst="ellipse">
            <a:avLst/>
          </a:prstGeom>
          <a:noFill/>
          <a:ln w="44450">
            <a:solidFill>
              <a:srgbClr val="1F5FAD"/>
            </a:solidFill>
          </a:ln>
        </p:spPr>
        <p:txBody>
          <a:bodyPr rtlCol="0" anchor="ctr"/>
          <a:lstStyle/>
          <a:p>
            <a:pPr algn="ctr"/>
          </a:p>
        </p:txBody>
      </p:sp>
      <p:sp>
        <p:nvSpPr>
          <p:cNvPr id="17" name="Oval 16"/>
          <p:cNvSpPr/>
          <p:nvPr/>
        </p:nvSpPr>
        <p:spPr>
          <a:xfrm>
            <a:off x="9288227" y="3149427"/>
            <a:ext cx="266227" cy="266707"/>
          </a:xfrm>
          <a:prstGeom prst="ellipse">
            <a:avLst/>
          </a:prstGeom>
          <a:noFill/>
          <a:ln w="44450">
            <a:solidFill>
              <a:srgbClr val="7B3FA0"/>
            </a:solidFill>
          </a:ln>
        </p:spPr>
        <p:txBody>
          <a:bodyPr rtlCol="0" anchor="ctr"/>
          <a:lstStyle/>
          <a:p>
            <a:pPr algn="ctr"/>
          </a:p>
        </p:txBody>
      </p:sp>
      <p:sp>
        <p:nvSpPr>
          <p:cNvPr id="18" name="Oval 17"/>
          <p:cNvSpPr/>
          <p:nvPr/>
        </p:nvSpPr>
        <p:spPr>
          <a:xfrm>
            <a:off x="8602638" y="250155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61057" y="221782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561057" y="3863461"/>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74039" y="2955521"/>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852159" y="4977007"/>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crop and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Lim's bar sums up an interval with its first price, its highest, its lowest and its last, and lets every other trade go (p. 209).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860243" y="463992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190966"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41405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These are the same four prices as the bar we just read.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860243" y="463992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190966"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41405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trade supplies the close of the bar we just built?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trade supplies the close of the bar we just built?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The last trade in the interval becomes the close; the first becomes the open, and the highest and lowest become the high and low (Lim, p. 209).</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five-minute bars can make one 15-minute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Sometimes we want one bar for a longer stretch of time, such as 15 minutes. Lim calls this a higher timeframe bar (p. 210).</a:t>
            </a:r>
          </a:p>
          <a:p>
            <a:pPr algn="l">
              <a:lnSpc>
                <a:spcPct val="105000"/>
              </a:lnSpc>
              <a:spcBef>
                <a:spcPts val="0"/>
              </a:spcBef>
              <a:spcAft>
                <a:spcPts val="1100"/>
              </a:spcAft>
            </a:pPr>
            <a:r>
              <a:rPr sz="1800" b="0" i="0">
                <a:solidFill>
                  <a:srgbClr val="1A1A1A"/>
                </a:solidFill>
                <a:latin typeface="Arial"/>
              </a:rPr>
              <a:t>His rule: keep the open of the first interval </a:t>
            </a:r>
            <a:r>
              <a:rPr sz="1800" b="1" i="0">
                <a:solidFill>
                  <a:srgbClr val="E09B00"/>
                </a:solidFill>
                <a:latin typeface="Arial"/>
              </a:rPr>
              <a:t>(1)</a:t>
            </a:r>
            <a:r>
              <a:rPr sz="1800" b="0" i="0">
                <a:solidFill>
                  <a:srgbClr val="1A1A1A"/>
                </a:solidFill>
                <a:latin typeface="Arial"/>
              </a:rPr>
              <a:t>, the highest high </a:t>
            </a:r>
            <a:r>
              <a:rPr sz="1800" b="1" i="0">
                <a:solidFill>
                  <a:srgbClr val="C62828"/>
                </a:solidFill>
                <a:latin typeface="Arial"/>
              </a:rPr>
              <a:t>(2)</a:t>
            </a:r>
            <a:r>
              <a:rPr sz="1800" b="0" i="0">
                <a:solidFill>
                  <a:srgbClr val="1A1A1A"/>
                </a:solidFill>
                <a:latin typeface="Arial"/>
              </a:rPr>
              <a:t> and the lowest low </a:t>
            </a:r>
            <a:r>
              <a:rPr sz="1800" b="1" i="0">
                <a:solidFill>
                  <a:srgbClr val="1F5FAD"/>
                </a:solidFill>
                <a:latin typeface="Arial"/>
              </a:rPr>
              <a:t>(3)</a:t>
            </a:r>
            <a:r>
              <a:rPr sz="1800" b="0" i="0">
                <a:solidFill>
                  <a:srgbClr val="1A1A1A"/>
                </a:solidFill>
                <a:latin typeface="Arial"/>
              </a:rPr>
              <a:t> of the whole stretch, and the close of the last interval </a:t>
            </a:r>
            <a:r>
              <a:rPr sz="1800" b="1" i="0">
                <a:solidFill>
                  <a:srgbClr val="7B3FA0"/>
                </a:solidFill>
                <a:latin typeface="Arial"/>
              </a:rPr>
              <a:t>(4)</a:t>
            </a:r>
            <a:r>
              <a:rPr sz="1800" b="0" i="0">
                <a:solidFill>
                  <a:srgbClr val="1A1A1A"/>
                </a:solidFill>
                <a:latin typeface="Arial"/>
              </a:rPr>
              <a:t> (p. 209).</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Lim's 15-minute bar has no prices either; in his drawing it closes below its open.</a:t>
            </a:r>
          </a:p>
        </p:txBody>
      </p:sp>
      <p:sp>
        <p:nvSpPr>
          <p:cNvPr id="10" name="Rectangle 9"/>
          <p:cNvSpPr/>
          <p:nvPr/>
        </p:nvSpPr>
        <p:spPr>
          <a:xfrm>
            <a:off x="7072841" y="1810512"/>
            <a:ext cx="348669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191713" y="1929384"/>
            <a:ext cx="3248947" cy="351129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191713" y="1929384"/>
            <a:ext cx="324894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466033" y="2203703"/>
            <a:ext cx="270030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cropped to the 15-minute bar. It keeps the first open, the highest high, the lowest low and the last close of three five-minute intervals.</a:t>
            </a:r>
          </a:p>
        </p:txBody>
      </p:sp>
      <p:sp>
        <p:nvSpPr>
          <p:cNvPr id="14" name="Oval 13"/>
          <p:cNvSpPr/>
          <p:nvPr/>
        </p:nvSpPr>
        <p:spPr>
          <a:xfrm>
            <a:off x="8653740" y="2909035"/>
            <a:ext cx="324894" cy="330061"/>
          </a:xfrm>
          <a:prstGeom prst="ellipse">
            <a:avLst/>
          </a:prstGeom>
          <a:noFill/>
          <a:ln w="44450">
            <a:solidFill>
              <a:srgbClr val="E09B00"/>
            </a:solidFill>
          </a:ln>
        </p:spPr>
        <p:txBody>
          <a:bodyPr rtlCol="0" anchor="ctr"/>
          <a:lstStyle/>
          <a:p>
            <a:pPr algn="ctr"/>
          </a:p>
        </p:txBody>
      </p:sp>
      <p:sp>
        <p:nvSpPr>
          <p:cNvPr id="15" name="Oval 14"/>
          <p:cNvSpPr/>
          <p:nvPr/>
        </p:nvSpPr>
        <p:spPr>
          <a:xfrm>
            <a:off x="8767453" y="2017166"/>
            <a:ext cx="324894" cy="330061"/>
          </a:xfrm>
          <a:prstGeom prst="ellipse">
            <a:avLst/>
          </a:prstGeom>
          <a:noFill/>
          <a:ln w="44450">
            <a:solidFill>
              <a:srgbClr val="C62828"/>
            </a:solidFill>
          </a:ln>
        </p:spPr>
        <p:txBody>
          <a:bodyPr rtlCol="0" anchor="ctr"/>
          <a:lstStyle/>
          <a:p>
            <a:pPr algn="ctr"/>
          </a:p>
        </p:txBody>
      </p:sp>
      <p:sp>
        <p:nvSpPr>
          <p:cNvPr id="16" name="Oval 15"/>
          <p:cNvSpPr/>
          <p:nvPr/>
        </p:nvSpPr>
        <p:spPr>
          <a:xfrm>
            <a:off x="8767453" y="4949098"/>
            <a:ext cx="324894" cy="330061"/>
          </a:xfrm>
          <a:prstGeom prst="ellipse">
            <a:avLst/>
          </a:prstGeom>
          <a:noFill/>
          <a:ln w="44450">
            <a:solidFill>
              <a:srgbClr val="1F5FAD"/>
            </a:solidFill>
          </a:ln>
        </p:spPr>
        <p:txBody>
          <a:bodyPr rtlCol="0" anchor="ctr"/>
          <a:lstStyle/>
          <a:p>
            <a:pPr algn="ctr"/>
          </a:p>
        </p:txBody>
      </p:sp>
      <p:sp>
        <p:nvSpPr>
          <p:cNvPr id="17" name="Oval 16"/>
          <p:cNvSpPr/>
          <p:nvPr/>
        </p:nvSpPr>
        <p:spPr>
          <a:xfrm>
            <a:off x="8881166" y="4015093"/>
            <a:ext cx="324894" cy="330061"/>
          </a:xfrm>
          <a:prstGeom prst="ellipse">
            <a:avLst/>
          </a:prstGeom>
          <a:noFill/>
          <a:ln w="44450">
            <a:solidFill>
              <a:srgbClr val="7B3FA0"/>
            </a:solidFill>
          </a:ln>
        </p:spPr>
        <p:txBody>
          <a:bodyPr rtlCol="0" anchor="ctr"/>
          <a:lstStyle/>
          <a:p>
            <a:pPr algn="ctr"/>
          </a:p>
        </p:txBody>
      </p:sp>
      <p:sp>
        <p:nvSpPr>
          <p:cNvPr id="18" name="Oval 17"/>
          <p:cNvSpPr/>
          <p:nvPr/>
        </p:nvSpPr>
        <p:spPr>
          <a:xfrm>
            <a:off x="8159195" y="259982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63837" y="2283805"/>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63837" y="470659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458774" y="3758549"/>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crop and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Reading a higher timeframe bar</a:t>
            </a:r>
          </a:p>
        </p:txBody>
      </p:sp>
      <p:sp>
        <p:nvSpPr>
          <p:cNvPr id="6" name="Rectangle 5"/>
          <p:cNvSpPr/>
          <p:nvPr/>
        </p:nvSpPr>
        <p:spPr>
          <a:xfrm>
            <a:off x="777240" y="1207008"/>
            <a:ext cx="4937760" cy="228663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open survives when three five-minute bars become one 15-minute bar?</a:t>
            </a:r>
          </a:p>
        </p:txBody>
      </p:sp>
      <p:sp>
        <p:nvSpPr>
          <p:cNvPr id="9" name="TextBox 8"/>
          <p:cNvSpPr txBox="1"/>
          <p:nvPr/>
        </p:nvSpPr>
        <p:spPr>
          <a:xfrm>
            <a:off x="1005840" y="2317623"/>
            <a:ext cx="448056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five-minute open</a:t>
            </a:r>
          </a:p>
          <a:p>
            <a:pPr algn="l">
              <a:lnSpc>
                <a:spcPct val="105000"/>
              </a:lnSpc>
              <a:spcBef>
                <a:spcPts val="0"/>
              </a:spcBef>
              <a:spcAft>
                <a:spcPts val="200"/>
              </a:spcAft>
            </a:pPr>
            <a:r>
              <a:rPr sz="1700" b="0" i="0">
                <a:solidFill>
                  <a:srgbClr val="FFFFFF"/>
                </a:solidFill>
                <a:latin typeface="Arial"/>
              </a:rPr>
              <a:t>B.  The second open</a:t>
            </a:r>
          </a:p>
          <a:p>
            <a:pPr algn="l">
              <a:lnSpc>
                <a:spcPct val="105000"/>
              </a:lnSpc>
              <a:spcBef>
                <a:spcPts val="0"/>
              </a:spcBef>
              <a:spcAft>
                <a:spcPts val="200"/>
              </a:spcAft>
            </a:pPr>
            <a:r>
              <a:rPr sz="1700" b="0" i="0">
                <a:solidFill>
                  <a:srgbClr val="FFFFFF"/>
                </a:solidFill>
                <a:latin typeface="Arial"/>
              </a:rPr>
              <a:t>C.  The highest high</a:t>
            </a:r>
          </a:p>
          <a:p>
            <a:pPr algn="l">
              <a:lnSpc>
                <a:spcPct val="105000"/>
              </a:lnSpc>
              <a:spcBef>
                <a:spcPts val="0"/>
              </a:spcBef>
              <a:spcAft>
                <a:spcPts val="200"/>
              </a:spcAft>
            </a:pPr>
            <a:r>
              <a:rPr sz="1700" b="0" i="0">
                <a:solidFill>
                  <a:srgbClr val="FFFFFF"/>
                </a:solidFill>
                <a:latin typeface="Arial"/>
              </a:rPr>
              <a:t>D.  The last close</a:t>
            </a:r>
          </a:p>
        </p:txBody>
      </p:sp>
      <p:sp>
        <p:nvSpPr>
          <p:cNvPr id="10" name="Rectangle 9"/>
          <p:cNvSpPr/>
          <p:nvPr/>
        </p:nvSpPr>
        <p:spPr>
          <a:xfrm>
            <a:off x="777240" y="3585083"/>
            <a:ext cx="493776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3"/>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high survives in the 15-minute bar?</a:t>
            </a:r>
          </a:p>
        </p:txBody>
      </p:sp>
      <p:sp>
        <p:nvSpPr>
          <p:cNvPr id="13" name="TextBox 12"/>
          <p:cNvSpPr txBox="1"/>
          <p:nvPr/>
        </p:nvSpPr>
        <p:spPr>
          <a:xfrm>
            <a:off x="1005840" y="4447413"/>
            <a:ext cx="44805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high</a:t>
            </a:r>
          </a:p>
          <a:p>
            <a:pPr algn="l">
              <a:lnSpc>
                <a:spcPct val="105000"/>
              </a:lnSpc>
              <a:spcBef>
                <a:spcPts val="0"/>
              </a:spcBef>
              <a:spcAft>
                <a:spcPts val="200"/>
              </a:spcAft>
            </a:pPr>
            <a:r>
              <a:rPr sz="1700" b="0" i="0">
                <a:solidFill>
                  <a:srgbClr val="FFFFFF"/>
                </a:solidFill>
                <a:latin typeface="Arial"/>
              </a:rPr>
              <a:t>B.  The highest high</a:t>
            </a:r>
          </a:p>
          <a:p>
            <a:pPr algn="l">
              <a:lnSpc>
                <a:spcPct val="105000"/>
              </a:lnSpc>
              <a:spcBef>
                <a:spcPts val="0"/>
              </a:spcBef>
              <a:spcAft>
                <a:spcPts val="200"/>
              </a:spcAft>
            </a:pPr>
            <a:r>
              <a:rPr sz="1700" b="0" i="0">
                <a:solidFill>
                  <a:srgbClr val="FFFFFF"/>
                </a:solidFill>
                <a:latin typeface="Arial"/>
              </a:rPr>
              <a:t>C.  The last close</a:t>
            </a:r>
          </a:p>
          <a:p>
            <a:pPr algn="l">
              <a:lnSpc>
                <a:spcPct val="105000"/>
              </a:lnSpc>
              <a:spcBef>
                <a:spcPts val="0"/>
              </a:spcBef>
              <a:spcAft>
                <a:spcPts val="200"/>
              </a:spcAft>
            </a:pPr>
            <a:r>
              <a:rPr sz="1700" b="0" i="0">
                <a:solidFill>
                  <a:srgbClr val="FFFFFF"/>
                </a:solidFill>
                <a:latin typeface="Arial"/>
              </a:rPr>
              <a:t>D.  Every intermediate high</a:t>
            </a:r>
          </a:p>
        </p:txBody>
      </p:sp>
      <p:sp>
        <p:nvSpPr>
          <p:cNvPr id="14" name="Rectangle 13"/>
          <p:cNvSpPr/>
          <p:nvPr/>
        </p:nvSpPr>
        <p:spPr>
          <a:xfrm>
            <a:off x="6702195" y="1207008"/>
            <a:ext cx="4045103"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21067" y="1325880"/>
            <a:ext cx="3807360"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21067" y="1325880"/>
            <a:ext cx="380736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095387" y="1600200"/>
            <a:ext cx="3258720"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cropped to the 15-minute bar. It keeps the first open, the highest high, the lowest low and the last close of three five-minute intervals.</a:t>
            </a:r>
          </a:p>
        </p:txBody>
      </p:sp>
      <p:sp>
        <p:nvSpPr>
          <p:cNvPr id="18" name="Oval 17"/>
          <p:cNvSpPr/>
          <p:nvPr/>
        </p:nvSpPr>
        <p:spPr>
          <a:xfrm>
            <a:off x="8534379" y="2473909"/>
            <a:ext cx="380736" cy="386791"/>
          </a:xfrm>
          <a:prstGeom prst="ellipse">
            <a:avLst/>
          </a:prstGeom>
          <a:noFill/>
          <a:ln w="44450">
            <a:solidFill>
              <a:srgbClr val="E09B00"/>
            </a:solidFill>
          </a:ln>
        </p:spPr>
        <p:txBody>
          <a:bodyPr rtlCol="0" anchor="ctr"/>
          <a:lstStyle/>
          <a:p>
            <a:pPr algn="ctr"/>
          </a:p>
        </p:txBody>
      </p:sp>
      <p:sp>
        <p:nvSpPr>
          <p:cNvPr id="19" name="Oval 18"/>
          <p:cNvSpPr/>
          <p:nvPr/>
        </p:nvSpPr>
        <p:spPr>
          <a:xfrm>
            <a:off x="8667637" y="1428750"/>
            <a:ext cx="380735" cy="386791"/>
          </a:xfrm>
          <a:prstGeom prst="ellipse">
            <a:avLst/>
          </a:prstGeom>
          <a:noFill/>
          <a:ln w="44450">
            <a:solidFill>
              <a:srgbClr val="C62828"/>
            </a:solidFill>
          </a:ln>
        </p:spPr>
        <p:txBody>
          <a:bodyPr rtlCol="0" anchor="ctr"/>
          <a:lstStyle/>
          <a:p>
            <a:pPr algn="ctr"/>
          </a:p>
        </p:txBody>
      </p:sp>
      <p:sp>
        <p:nvSpPr>
          <p:cNvPr id="20" name="Oval 19"/>
          <p:cNvSpPr/>
          <p:nvPr/>
        </p:nvSpPr>
        <p:spPr>
          <a:xfrm>
            <a:off x="8667637" y="4864608"/>
            <a:ext cx="380735" cy="386791"/>
          </a:xfrm>
          <a:prstGeom prst="ellipse">
            <a:avLst/>
          </a:prstGeom>
          <a:noFill/>
          <a:ln w="44450">
            <a:solidFill>
              <a:srgbClr val="1F5FAD"/>
            </a:solidFill>
          </a:ln>
        </p:spPr>
        <p:txBody>
          <a:bodyPr rtlCol="0" anchor="ctr"/>
          <a:lstStyle/>
          <a:p>
            <a:pPr algn="ctr"/>
          </a:p>
        </p:txBody>
      </p:sp>
      <p:sp>
        <p:nvSpPr>
          <p:cNvPr id="21" name="Oval 20"/>
          <p:cNvSpPr/>
          <p:nvPr/>
        </p:nvSpPr>
        <p:spPr>
          <a:xfrm>
            <a:off x="8800894" y="3770071"/>
            <a:ext cx="380735" cy="386791"/>
          </a:xfrm>
          <a:prstGeom prst="ellipse">
            <a:avLst/>
          </a:prstGeom>
          <a:noFill/>
          <a:ln w="44450">
            <a:solidFill>
              <a:srgbClr val="7B3FA0"/>
            </a:solidFill>
          </a:ln>
        </p:spPr>
        <p:txBody>
          <a:bodyPr rtlCol="0" anchor="ctr"/>
          <a:lstStyle/>
          <a:p>
            <a:pPr algn="ctr"/>
          </a:p>
        </p:txBody>
      </p:sp>
      <p:sp>
        <p:nvSpPr>
          <p:cNvPr id="22" name="Oval 21"/>
          <p:cNvSpPr/>
          <p:nvPr/>
        </p:nvSpPr>
        <p:spPr>
          <a:xfrm>
            <a:off x="7978409" y="213512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72912" y="176479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72912" y="46040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01353" y="3493008"/>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Reading a higher timeframe bar</a:t>
            </a:r>
          </a:p>
        </p:txBody>
      </p:sp>
      <p:sp>
        <p:nvSpPr>
          <p:cNvPr id="6" name="Rectangle 5"/>
          <p:cNvSpPr/>
          <p:nvPr/>
        </p:nvSpPr>
        <p:spPr>
          <a:xfrm>
            <a:off x="777240" y="1207008"/>
            <a:ext cx="49377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097280" y="2317623"/>
            <a:ext cx="438912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first five-minute open</a:t>
            </a:r>
          </a:p>
          <a:p>
            <a:pPr algn="l">
              <a:lnSpc>
                <a:spcPct val="115000"/>
              </a:lnSpc>
              <a:spcBef>
                <a:spcPts val="5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625723"/>
            <a:ext cx="493776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097280" y="4488053"/>
            <a:ext cx="438912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highest high</a:t>
            </a:r>
          </a:p>
          <a:p>
            <a:pPr algn="l">
              <a:lnSpc>
                <a:spcPct val="115000"/>
              </a:lnSpc>
              <a:spcBef>
                <a:spcPts val="500"/>
              </a:spcBef>
              <a:spcAft>
                <a:spcPts val="0"/>
              </a:spcAft>
            </a:pPr>
            <a:r>
              <a:rPr sz="1700" b="0" i="0">
                <a:solidFill>
                  <a:srgbClr val="1A1A1A"/>
                </a:solidFill>
                <a:latin typeface="Arial"/>
              </a:rPr>
              <a:t>It keeps the highest high of the whole stretch (Lim, p. 209).</a:t>
            </a:r>
          </a:p>
        </p:txBody>
      </p:sp>
      <p:sp>
        <p:nvSpPr>
          <p:cNvPr id="14" name="Rectangle 13"/>
          <p:cNvSpPr/>
          <p:nvPr/>
        </p:nvSpPr>
        <p:spPr>
          <a:xfrm>
            <a:off x="6607011" y="1207008"/>
            <a:ext cx="4235472"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25883" y="1325880"/>
            <a:ext cx="3997728"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725883" y="1325880"/>
            <a:ext cx="3997728"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000203" y="1600200"/>
            <a:ext cx="3449088"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cropped to the 15-minute bar. It keeps the first open, the highest high, the lowest low and the last close of three five-minute intervals.</a:t>
            </a:r>
          </a:p>
        </p:txBody>
      </p:sp>
      <p:sp>
        <p:nvSpPr>
          <p:cNvPr id="18" name="Oval 17"/>
          <p:cNvSpPr/>
          <p:nvPr/>
        </p:nvSpPr>
        <p:spPr>
          <a:xfrm>
            <a:off x="8524861" y="2473909"/>
            <a:ext cx="399772" cy="386791"/>
          </a:xfrm>
          <a:prstGeom prst="ellipse">
            <a:avLst/>
          </a:prstGeom>
          <a:noFill/>
          <a:ln w="44450">
            <a:solidFill>
              <a:srgbClr val="E09B00"/>
            </a:solidFill>
          </a:ln>
        </p:spPr>
        <p:txBody>
          <a:bodyPr rtlCol="0" anchor="ctr"/>
          <a:lstStyle/>
          <a:p>
            <a:pPr algn="ctr"/>
          </a:p>
        </p:txBody>
      </p:sp>
      <p:sp>
        <p:nvSpPr>
          <p:cNvPr id="19" name="Oval 18"/>
          <p:cNvSpPr/>
          <p:nvPr/>
        </p:nvSpPr>
        <p:spPr>
          <a:xfrm>
            <a:off x="8664781" y="1428750"/>
            <a:ext cx="399772" cy="386791"/>
          </a:xfrm>
          <a:prstGeom prst="ellipse">
            <a:avLst/>
          </a:prstGeom>
          <a:noFill/>
          <a:ln w="44450">
            <a:solidFill>
              <a:srgbClr val="C62828"/>
            </a:solidFill>
          </a:ln>
        </p:spPr>
        <p:txBody>
          <a:bodyPr rtlCol="0" anchor="ctr"/>
          <a:lstStyle/>
          <a:p>
            <a:pPr algn="ctr"/>
          </a:p>
        </p:txBody>
      </p:sp>
      <p:sp>
        <p:nvSpPr>
          <p:cNvPr id="20" name="Oval 19"/>
          <p:cNvSpPr/>
          <p:nvPr/>
        </p:nvSpPr>
        <p:spPr>
          <a:xfrm>
            <a:off x="8664781" y="4864608"/>
            <a:ext cx="399772" cy="386791"/>
          </a:xfrm>
          <a:prstGeom prst="ellipse">
            <a:avLst/>
          </a:prstGeom>
          <a:noFill/>
          <a:ln w="44450">
            <a:solidFill>
              <a:srgbClr val="1F5FAD"/>
            </a:solidFill>
          </a:ln>
        </p:spPr>
        <p:txBody>
          <a:bodyPr rtlCol="0" anchor="ctr"/>
          <a:lstStyle/>
          <a:p>
            <a:pPr algn="ctr"/>
          </a:p>
        </p:txBody>
      </p:sp>
      <p:sp>
        <p:nvSpPr>
          <p:cNvPr id="21" name="Oval 20"/>
          <p:cNvSpPr/>
          <p:nvPr/>
        </p:nvSpPr>
        <p:spPr>
          <a:xfrm>
            <a:off x="8804702" y="3770071"/>
            <a:ext cx="399772" cy="386791"/>
          </a:xfrm>
          <a:prstGeom prst="ellipse">
            <a:avLst/>
          </a:prstGeom>
          <a:noFill/>
          <a:ln w="44450">
            <a:solidFill>
              <a:srgbClr val="7B3FA0"/>
            </a:solidFill>
          </a:ln>
        </p:spPr>
        <p:txBody>
          <a:bodyPr rtlCol="0" anchor="ctr"/>
          <a:lstStyle/>
          <a:p>
            <a:pPr algn="ctr"/>
          </a:p>
        </p:txBody>
      </p:sp>
      <p:sp>
        <p:nvSpPr>
          <p:cNvPr id="22" name="Oval 21"/>
          <p:cNvSpPr/>
          <p:nvPr/>
        </p:nvSpPr>
        <p:spPr>
          <a:xfrm>
            <a:off x="7947951" y="213512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307178" y="176479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307178" y="46040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47042" y="3493008"/>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 follows price through several intervals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16</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Patterns are made of several bars in a row, so Lim next follows price through a run of five-minute intervals (p. 210). This crop shows the first four of the figure's eight intervals.</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42793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10" name="Rectangle 9"/>
          <p:cNvSpPr/>
          <p:nvPr/>
        </p:nvSpPr>
        <p:spPr>
          <a:xfrm>
            <a:off x="5910929" y="1810512"/>
            <a:ext cx="526187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29801" y="1929384"/>
            <a:ext cx="502413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29801" y="1929384"/>
            <a:ext cx="502413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304121" y="2203703"/>
            <a:ext cx="44754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four five-minute intervals. Each interval has its own open, high, low and close.</a:t>
            </a:r>
          </a:p>
        </p:txBody>
      </p:sp>
      <p:sp>
        <p:nvSpPr>
          <p:cNvPr id="14" name="Oval 13"/>
          <p:cNvSpPr/>
          <p:nvPr/>
        </p:nvSpPr>
        <p:spPr>
          <a:xfrm>
            <a:off x="6431732" y="3084600"/>
            <a:ext cx="251206" cy="252813"/>
          </a:xfrm>
          <a:prstGeom prst="ellipse">
            <a:avLst/>
          </a:prstGeom>
          <a:noFill/>
          <a:ln w="44450">
            <a:solidFill>
              <a:srgbClr val="E09B00"/>
            </a:solidFill>
          </a:ln>
        </p:spPr>
        <p:txBody>
          <a:bodyPr rtlCol="0" anchor="ctr"/>
          <a:lstStyle/>
          <a:p>
            <a:pPr algn="ctr"/>
          </a:p>
        </p:txBody>
      </p:sp>
      <p:sp>
        <p:nvSpPr>
          <p:cNvPr id="15" name="Oval 14"/>
          <p:cNvSpPr/>
          <p:nvPr/>
        </p:nvSpPr>
        <p:spPr>
          <a:xfrm>
            <a:off x="6798493" y="2452567"/>
            <a:ext cx="251206" cy="252813"/>
          </a:xfrm>
          <a:prstGeom prst="ellipse">
            <a:avLst/>
          </a:prstGeom>
          <a:noFill/>
          <a:ln w="44450">
            <a:solidFill>
              <a:srgbClr val="C62828"/>
            </a:solidFill>
          </a:ln>
        </p:spPr>
        <p:txBody>
          <a:bodyPr rtlCol="0" anchor="ctr"/>
          <a:lstStyle/>
          <a:p>
            <a:pPr algn="ctr"/>
          </a:p>
        </p:txBody>
      </p:sp>
      <p:sp>
        <p:nvSpPr>
          <p:cNvPr id="16" name="Oval 15"/>
          <p:cNvSpPr/>
          <p:nvPr/>
        </p:nvSpPr>
        <p:spPr>
          <a:xfrm>
            <a:off x="7210472" y="4120432"/>
            <a:ext cx="251206" cy="252813"/>
          </a:xfrm>
          <a:prstGeom prst="ellipse">
            <a:avLst/>
          </a:prstGeom>
          <a:noFill/>
          <a:ln w="44450">
            <a:solidFill>
              <a:srgbClr val="1F5FAD"/>
            </a:solidFill>
          </a:ln>
        </p:spPr>
        <p:txBody>
          <a:bodyPr rtlCol="0" anchor="ctr"/>
          <a:lstStyle/>
          <a:p>
            <a:pPr algn="ctr"/>
          </a:p>
        </p:txBody>
      </p:sp>
      <p:sp>
        <p:nvSpPr>
          <p:cNvPr id="17" name="Oval 16"/>
          <p:cNvSpPr/>
          <p:nvPr/>
        </p:nvSpPr>
        <p:spPr>
          <a:xfrm>
            <a:off x="7376268" y="3049487"/>
            <a:ext cx="251206" cy="252813"/>
          </a:xfrm>
          <a:prstGeom prst="ellipse">
            <a:avLst/>
          </a:prstGeom>
          <a:noFill/>
          <a:ln w="44450">
            <a:solidFill>
              <a:srgbClr val="7B3FA0"/>
            </a:solidFill>
          </a:ln>
        </p:spPr>
        <p:txBody>
          <a:bodyPr rtlCol="0" anchor="ctr"/>
          <a:lstStyle/>
          <a:p>
            <a:pPr algn="ctr"/>
          </a:p>
        </p:txBody>
      </p:sp>
      <p:sp>
        <p:nvSpPr>
          <p:cNvPr id="18" name="Oval 17"/>
          <p:cNvSpPr/>
          <p:nvPr/>
        </p:nvSpPr>
        <p:spPr>
          <a:xfrm>
            <a:off x="606848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073312" y="23540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972829" y="442569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324519" y="2670048"/>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65099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Below each interval, Lim draws the bar it becomes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16</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and 2.</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8" name="Rectangle 7"/>
          <p:cNvSpPr/>
          <p:nvPr/>
        </p:nvSpPr>
        <p:spPr>
          <a:xfrm>
            <a:off x="777240" y="467258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2793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formation.</a:t>
            </a:r>
          </a:p>
        </p:txBody>
      </p:sp>
      <p:sp>
        <p:nvSpPr>
          <p:cNvPr id="10" name="Rectangle 9"/>
          <p:cNvSpPr/>
          <p:nvPr/>
        </p:nvSpPr>
        <p:spPr>
          <a:xfrm>
            <a:off x="6683519" y="1810512"/>
            <a:ext cx="371669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391" y="1929384"/>
            <a:ext cx="347895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391" y="1929384"/>
            <a:ext cx="347895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11" y="2203703"/>
            <a:ext cx="293031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two intervals. Each interval becomes one OHLC bar directly below it.</a:t>
            </a:r>
          </a:p>
        </p:txBody>
      </p:sp>
      <p:sp>
        <p:nvSpPr>
          <p:cNvPr id="14" name="Oval 13"/>
          <p:cNvSpPr/>
          <p:nvPr/>
        </p:nvSpPr>
        <p:spPr>
          <a:xfrm>
            <a:off x="7637339" y="3491910"/>
            <a:ext cx="208737" cy="210677"/>
          </a:xfrm>
          <a:prstGeom prst="ellipse">
            <a:avLst/>
          </a:prstGeom>
          <a:noFill/>
          <a:ln w="44450">
            <a:solidFill>
              <a:srgbClr val="E09B00"/>
            </a:solidFill>
          </a:ln>
        </p:spPr>
        <p:txBody>
          <a:bodyPr rtlCol="0" anchor="ctr"/>
          <a:lstStyle/>
          <a:p>
            <a:pPr algn="ctr"/>
          </a:p>
        </p:txBody>
      </p:sp>
      <p:sp>
        <p:nvSpPr>
          <p:cNvPr id="15" name="Oval 14"/>
          <p:cNvSpPr/>
          <p:nvPr/>
        </p:nvSpPr>
        <p:spPr>
          <a:xfrm>
            <a:off x="7811287" y="2807208"/>
            <a:ext cx="208737" cy="210677"/>
          </a:xfrm>
          <a:prstGeom prst="ellipse">
            <a:avLst/>
          </a:prstGeom>
          <a:noFill/>
          <a:ln w="44450">
            <a:solidFill>
              <a:srgbClr val="C62828"/>
            </a:solidFill>
          </a:ln>
        </p:spPr>
        <p:txBody>
          <a:bodyPr rtlCol="0" anchor="ctr"/>
          <a:lstStyle/>
          <a:p>
            <a:pPr algn="ctr"/>
          </a:p>
        </p:txBody>
      </p:sp>
      <p:sp>
        <p:nvSpPr>
          <p:cNvPr id="16" name="Oval 15"/>
          <p:cNvSpPr/>
          <p:nvPr/>
        </p:nvSpPr>
        <p:spPr>
          <a:xfrm>
            <a:off x="7811287" y="4896429"/>
            <a:ext cx="208737" cy="210677"/>
          </a:xfrm>
          <a:prstGeom prst="ellipse">
            <a:avLst/>
          </a:prstGeom>
          <a:noFill/>
          <a:ln w="44450">
            <a:solidFill>
              <a:srgbClr val="1F5FAD"/>
            </a:solidFill>
          </a:ln>
        </p:spPr>
        <p:txBody>
          <a:bodyPr rtlCol="0" anchor="ctr"/>
          <a:lstStyle/>
          <a:p>
            <a:pPr algn="ctr"/>
          </a:p>
        </p:txBody>
      </p:sp>
      <p:sp>
        <p:nvSpPr>
          <p:cNvPr id="17" name="Oval 16"/>
          <p:cNvSpPr/>
          <p:nvPr/>
        </p:nvSpPr>
        <p:spPr>
          <a:xfrm>
            <a:off x="7967840" y="3491910"/>
            <a:ext cx="208737" cy="210677"/>
          </a:xfrm>
          <a:prstGeom prst="ellipse">
            <a:avLst/>
          </a:prstGeom>
          <a:noFill/>
          <a:ln w="44450">
            <a:solidFill>
              <a:srgbClr val="7B3FA0"/>
            </a:solidFill>
          </a:ln>
        </p:spPr>
        <p:txBody>
          <a:bodyPr rtlCol="0" anchor="ctr"/>
          <a:lstStyle/>
          <a:p>
            <a:pPr algn="ctr"/>
          </a:p>
        </p:txBody>
      </p:sp>
      <p:sp>
        <p:nvSpPr>
          <p:cNvPr id="18" name="Oval 17"/>
          <p:cNvSpPr/>
          <p:nvPr/>
        </p:nvSpPr>
        <p:spPr>
          <a:xfrm>
            <a:off x="7361021"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56812" y="267004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500179" y="4847051"/>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230759" y="3161629"/>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65099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With each interval turned into a bar, we can start naming patterns. A formation is the bar, or group of bars, that we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which warns of a potential trend change (p. 211).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Put the two sentiments together and there are four cases (p. 211); the percentage moves are invented. An uptrend with a bullish formation </a:t>
            </a:r>
            <a:r>
              <a:rPr sz="1700" b="1" i="0">
                <a:solidFill>
                  <a:srgbClr val="E09B00"/>
                </a:solidFill>
                <a:latin typeface="Arial"/>
              </a:rPr>
              <a:t>(1)</a:t>
            </a:r>
            <a:r>
              <a:rPr sz="1700" b="0" i="0">
                <a:solidFill>
                  <a:srgbClr val="1A1A1A"/>
                </a:solidFill>
                <a:latin typeface="Arial"/>
              </a:rPr>
              <a:t> and a downtrend with a bearish one </a:t>
            </a:r>
            <a:r>
              <a:rPr sz="1700" b="1" i="0">
                <a:solidFill>
                  <a:srgbClr val="C62828"/>
                </a:solidFill>
                <a:latin typeface="Arial"/>
              </a:rPr>
              <a:t>(2)</a:t>
            </a:r>
            <a:r>
              <a:rPr sz="1700" b="0" i="0">
                <a:solidFill>
                  <a:srgbClr val="1A1A1A"/>
                </a:solidFill>
                <a:latin typeface="Arial"/>
              </a:rPr>
              <a:t> agree, so each is a continuation. An uptrend with a bearish formation </a:t>
            </a:r>
            <a:r>
              <a:rPr sz="1700" b="1" i="0">
                <a:solidFill>
                  <a:srgbClr val="1F5FAD"/>
                </a:solidFill>
                <a:latin typeface="Arial"/>
              </a:rPr>
              <a:t>(3)</a:t>
            </a:r>
            <a:r>
              <a:rPr sz="1700" b="0" i="0">
                <a:solidFill>
                  <a:srgbClr val="1A1A1A"/>
                </a:solidFill>
                <a:latin typeface="Arial"/>
              </a:rPr>
              <a:t> and a downtrend with a bullish one </a:t>
            </a:r>
            <a:r>
              <a:rPr sz="1700" b="1" i="0">
                <a:solidFill>
                  <a:srgbClr val="7B3FA0"/>
                </a:solidFill>
                <a:latin typeface="Arial"/>
              </a:rPr>
              <a:t>(4)</a:t>
            </a:r>
            <a:r>
              <a:rPr sz="1700" b="0" i="0">
                <a:solidFill>
                  <a:srgbClr val="1A1A1A"/>
                </a:solidFill>
                <a:latin typeface="Arial"/>
              </a:rPr>
              <a:t> disagree, so each is a potential reversal.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583740" y="353141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612940"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612940" y="35314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583740" y="494873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671523" y="34472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700723"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700723" y="34472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671523" y="486460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U. The percentage changes are invented for teaching; Lim, p. 211.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to PHP 48.10 </a:t>
            </a:r>
            <a:r>
              <a:rPr sz="1700" b="1" i="0">
                <a:solidFill>
                  <a:srgbClr val="1F5FAD"/>
                </a:solidFill>
                <a:latin typeface="Arial"/>
              </a:rPr>
              <a:t>(1)</a:t>
            </a:r>
            <a:r>
              <a:rPr sz="1700" b="0" i="0">
                <a:solidFill>
                  <a:srgbClr val="1A1A1A"/>
                </a:solidFill>
                <a:latin typeface="Arial"/>
              </a:rPr>
              <a:t>, so trend sentiment is bullish. Next the count: the last two bars make a double formation </a:t>
            </a:r>
            <a:r>
              <a:rPr sz="1700" b="1" i="0">
                <a:solidFill>
                  <a:srgbClr val="E09B00"/>
                </a:solidFill>
                <a:latin typeface="Arial"/>
              </a:rPr>
              <a:t>(2)</a:t>
            </a:r>
            <a:r>
              <a:rPr sz="1700" b="0" i="0">
                <a:solidFill>
                  <a:srgbClr val="1A1A1A"/>
                </a:solidFill>
                <a:latin typeface="Arial"/>
              </a:rPr>
              <a:t>. Then the lean: bar 4 closes at PHP 47.50 </a:t>
            </a:r>
            <a:r>
              <a:rPr sz="1700" b="1" i="0">
                <a:solidFill>
                  <a:srgbClr val="C62828"/>
                </a:solidFill>
                <a:latin typeface="Arial"/>
              </a:rPr>
              <a:t>(3)</a:t>
            </a:r>
            <a:r>
              <a:rPr sz="1700" b="0" i="0">
                <a:solidFill>
                  <a:srgbClr val="1A1A1A"/>
                </a:solidFill>
                <a:latin typeface="Arial"/>
              </a:rPr>
              <a:t>, below bar 3's low of PHP 47.90,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113068" y="3008375"/>
            <a:ext cx="5136794" cy="1458116"/>
          </a:xfrm>
          <a:prstGeom prst="rect">
            <a:avLst/>
          </a:prstGeom>
          <a:noFill/>
          <a:ln w="44450">
            <a:solidFill>
              <a:srgbClr val="E09B00"/>
            </a:solidFill>
          </a:ln>
        </p:spPr>
        <p:txBody>
          <a:bodyPr rtlCol="0" anchor="ctr"/>
          <a:lstStyle/>
          <a:p>
            <a:pPr algn="ctr"/>
          </a:p>
        </p:txBody>
      </p:sp>
      <p:sp>
        <p:nvSpPr>
          <p:cNvPr id="10" name="Oval 9"/>
          <p:cNvSpPr/>
          <p:nvPr/>
        </p:nvSpPr>
        <p:spPr>
          <a:xfrm>
            <a:off x="4900879" y="3769156"/>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10200131" y="395063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1023781" y="35271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816754" y="385693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370045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113068" y="3008375"/>
            <a:ext cx="5136794" cy="1458116"/>
          </a:xfrm>
          <a:prstGeom prst="rect">
            <a:avLst/>
          </a:prstGeom>
          <a:noFill/>
          <a:ln w="44450">
            <a:solidFill>
              <a:srgbClr val="E09B00"/>
            </a:solidFill>
          </a:ln>
        </p:spPr>
        <p:txBody>
          <a:bodyPr rtlCol="0" anchor="ctr"/>
          <a:lstStyle/>
          <a:p>
            <a:pPr algn="ctr"/>
          </a:p>
        </p:txBody>
      </p:sp>
      <p:sp>
        <p:nvSpPr>
          <p:cNvPr id="10" name="Oval 9"/>
          <p:cNvSpPr/>
          <p:nvPr/>
        </p:nvSpPr>
        <p:spPr>
          <a:xfrm>
            <a:off x="4900879" y="3769156"/>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10200131" y="395063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1023781" y="35271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816754" y="385693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370045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sentiment and intrinsic sentiment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 sentiment is the direction of the wider move: bullish in an uptrend and bearish in a downtrend.</a:t>
            </a:r>
          </a:p>
          <a:p>
            <a:pPr algn="l">
              <a:lnSpc>
                <a:spcPct val="118000"/>
              </a:lnSpc>
              <a:spcBef>
                <a:spcPts val="0"/>
              </a:spcBef>
              <a:spcAft>
                <a:spcPts val="1300"/>
              </a:spcAft>
            </a:pPr>
            <a:r>
              <a:rPr sz="2100" b="0" i="0">
                <a:solidFill>
                  <a:srgbClr val="1A1A1A"/>
                </a:solidFill>
                <a:latin typeface="Arial"/>
              </a:rPr>
              <a:t>Pattern polarity means the pattern's own bullish or bearish direction. The book's head and shoulders example is bearish; its inverted head and shoulders example is bullish. (Lim, p. 211.)</a:t>
            </a:r>
          </a:p>
          <a:p>
            <a:pPr algn="l">
              <a:lnSpc>
                <a:spcPct val="118000"/>
              </a:lnSpc>
              <a:spcBef>
                <a:spcPts val="0"/>
              </a:spcBef>
              <a:spcAft>
                <a:spcPts val="1300"/>
              </a:spcAft>
            </a:pPr>
            <a:r>
              <a:rPr sz="2100" b="0" i="0">
                <a:solidFill>
                  <a:srgbClr val="1A1A1A"/>
                </a:solidFill>
                <a:latin typeface="Arial"/>
              </a:rPr>
              <a:t>Use both sentiments before classifying the pattern: agreement suggests continuation, while disagreement suggests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examples supply the polarity used in the next check.</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3.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pattern in an uptrend is a:</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Neutral bar</a:t>
            </a:r>
          </a:p>
          <a:p>
            <a:pPr algn="l">
              <a:lnSpc>
                <a:spcPct val="112000"/>
              </a:lnSpc>
              <a:spcBef>
                <a:spcPts val="0"/>
              </a:spcBef>
              <a:spcAft>
                <a:spcPts val="900"/>
              </a:spcAft>
            </a:pPr>
            <a:r>
              <a:rPr sz="1500" b="0" i="0">
                <a:solidFill>
                  <a:srgbClr val="FFFFFF"/>
                </a:solidFill>
                <a:latin typeface="Arial"/>
              </a:rPr>
              <a:t>D.  Volume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inverted head and shoulders in an uptrend is a:</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Bearish pattern</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bearish pattern in an uptrend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Reversal</a:t>
            </a:r>
          </a:p>
          <a:p>
            <a:pPr algn="l">
              <a:lnSpc>
                <a:spcPct val="115000"/>
              </a:lnSpc>
              <a:spcBef>
                <a:spcPts val="700"/>
              </a:spcBef>
              <a:spcAft>
                <a:spcPts val="0"/>
              </a:spcAft>
            </a:pPr>
            <a:r>
              <a:rPr sz="1600" b="0" i="0">
                <a:solidFill>
                  <a:srgbClr val="1A1A1A"/>
                </a:solidFill>
                <a:latin typeface="Arial"/>
              </a:rPr>
              <a:t>The sentiments disagree: bearish intrinsic sentiment meets bullish trend sentiment.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inverted head and shoulders in an uptrend is a:</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Continuation</a:t>
            </a:r>
          </a:p>
          <a:p>
            <a:pPr algn="l">
              <a:lnSpc>
                <a:spcPct val="115000"/>
              </a:lnSpc>
              <a:spcBef>
                <a:spcPts val="700"/>
              </a:spcBef>
              <a:spcAft>
                <a:spcPts val="0"/>
              </a:spcAft>
            </a:pPr>
            <a:r>
              <a:rPr sz="1600" b="0" i="0">
                <a:solidFill>
                  <a:srgbClr val="1A1A1A"/>
                </a:solidFill>
                <a:latin typeface="Arial"/>
              </a:rPr>
              <a:t>Both the pattern's intrinsic sentiment and the uptrend are bullish, so they agree.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Answer: continuation or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pattern in an uptrend is a reversal because bearish intrinsic sentiment disagrees with bullish trend sentiment.</a:t>
            </a:r>
          </a:p>
          <a:p>
            <a:pPr algn="l">
              <a:lnSpc>
                <a:spcPct val="118000"/>
              </a:lnSpc>
              <a:spcBef>
                <a:spcPts val="0"/>
              </a:spcBef>
              <a:spcAft>
                <a:spcPts val="1300"/>
              </a:spcAft>
            </a:pPr>
            <a:r>
              <a:rPr sz="2100" b="0" i="0">
                <a:solidFill>
                  <a:srgbClr val="1A1A1A"/>
                </a:solidFill>
                <a:latin typeface="Arial"/>
              </a:rPr>
              <a:t>An inverted head and shoulders in an uptrend is a continuation because both sentiments are bullish.</a:t>
            </a:r>
          </a:p>
          <a:p>
            <a:pPr algn="l">
              <a:lnSpc>
                <a:spcPct val="118000"/>
              </a:lnSpc>
              <a:spcBef>
                <a:spcPts val="0"/>
              </a:spcBef>
              <a:spcAft>
                <a:spcPts val="1300"/>
              </a:spcAft>
            </a:pPr>
            <a:r>
              <a:rPr sz="2100" b="0" i="0">
                <a:solidFill>
                  <a:srgbClr val="1A1A1A"/>
                </a:solidFill>
                <a:latin typeface="Arial"/>
              </a:rPr>
              <a:t>The four cases are a classification rule. They do not forecast with certainty.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Next, the book assumes an uptrend while it draws bearish reversals.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reversal bar can warn that buying is weakening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bearish single-bar reversal: the close turns down, the range is wide, and volume can add confidence to the reading. Here is the same pattern with simple prices. The prior close is PHP 51.10 and the final close is PHP 50.80, below it. Gold </a:t>
            </a:r>
            <a:r>
              <a:rPr sz="1700" b="1" i="0">
                <a:solidFill>
                  <a:srgbClr val="E09B00"/>
                </a:solidFill>
                <a:latin typeface="Arial"/>
              </a:rPr>
              <a:t>(1)</a:t>
            </a:r>
            <a:r>
              <a:rPr sz="1700" b="0" i="0">
                <a:solidFill>
                  <a:srgbClr val="1A1A1A"/>
                </a:solidFill>
                <a:latin typeface="Arial"/>
              </a:rPr>
              <a:t> marks that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Narrow or low volume is uncertainty; wide, near-low, high volume is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compare the first three bearish forms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comparing the book's first three generic bearish forms, where the final bar turns against the preceding move. On our course chart, gold </a:t>
            </a:r>
            <a:r>
              <a:rPr sz="1700" b="1" i="0">
                <a:solidFill>
                  <a:srgbClr val="E09B00"/>
                </a:solidFill>
                <a:latin typeface="Arial"/>
              </a:rPr>
              <a:t>(1)</a:t>
            </a:r>
            <a:r>
              <a:rPr sz="1700" b="0" i="0">
                <a:solidFill>
                  <a:srgbClr val="1A1A1A"/>
                </a:solidFill>
                <a:latin typeface="Arial"/>
              </a:rPr>
              <a:t> marks the final close near the previous close. Red </a:t>
            </a:r>
            <a:r>
              <a:rPr sz="1700" b="1" i="0">
                <a:solidFill>
                  <a:srgbClr val="C62828"/>
                </a:solidFill>
                <a:latin typeface="Arial"/>
              </a:rPr>
              <a:t>(2)</a:t>
            </a:r>
            <a:r>
              <a:rPr sz="1700" b="0" i="0">
                <a:solidFill>
                  <a:srgbClr val="1A1A1A"/>
                </a:solidFill>
                <a:latin typeface="Arial"/>
              </a:rPr>
              <a:t> marks the final bar opening above the previous high; blue </a:t>
            </a:r>
            <a:r>
              <a:rPr sz="1700" b="1" i="0">
                <a:solidFill>
                  <a:srgbClr val="1F5FAD"/>
                </a:solidFill>
                <a:latin typeface="Arial"/>
              </a:rPr>
              <a:t>(3)</a:t>
            </a:r>
            <a:r>
              <a:rPr sz="1700" b="0" i="0">
                <a:solidFill>
                  <a:srgbClr val="1A1A1A"/>
                </a:solidFill>
                <a:latin typeface="Arial"/>
              </a:rPr>
              <a:t> marks its large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434392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81635"/>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418714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42560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first three forms become stronger when the close falls below the previous low;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three bearish forms use the same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still ask whether the final bar turns bearish against the preceding move. Our chart repeats the generic bearish form: gold </a:t>
            </a:r>
            <a:r>
              <a:rPr sz="1700" b="1" i="0">
                <a:solidFill>
                  <a:srgbClr val="E09B00"/>
                </a:solidFill>
                <a:latin typeface="Arial"/>
              </a:rPr>
              <a:t>(1)</a:t>
            </a:r>
            <a:r>
              <a:rPr sz="1700" b="0" i="0">
                <a:solidFill>
                  <a:srgbClr val="1A1A1A"/>
                </a:solidFill>
                <a:latin typeface="Arial"/>
              </a:rPr>
              <a:t> is the final close; red </a:t>
            </a:r>
            <a:r>
              <a:rPr sz="1700" b="1" i="0">
                <a:solidFill>
                  <a:srgbClr val="C62828"/>
                </a:solidFill>
                <a:latin typeface="Arial"/>
              </a:rPr>
              <a:t>(2)</a:t>
            </a:r>
            <a:r>
              <a:rPr sz="1700" b="0" i="0">
                <a:solidFill>
                  <a:srgbClr val="1A1A1A"/>
                </a:solidFill>
                <a:latin typeface="Arial"/>
              </a:rPr>
              <a:t> is the opening relationship; blue </a:t>
            </a:r>
            <a:r>
              <a:rPr sz="1700" b="1" i="0">
                <a:solidFill>
                  <a:srgbClr val="1F5FAD"/>
                </a:solidFill>
                <a:latin typeface="Arial"/>
              </a:rPr>
              <a:t>(3)</a:t>
            </a:r>
            <a:r>
              <a:rPr sz="1700" b="0" i="0">
                <a:solidFill>
                  <a:srgbClr val="1A1A1A"/>
                </a:solidFill>
                <a:latin typeface="Arial"/>
              </a:rPr>
              <a:t> is the wide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below the previous low strengthens the bearish reading, while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2: a close near the prior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large bar closing near the previous low. Red </a:t>
            </a:r>
            <a:r>
              <a:rPr sz="2000" b="1" i="0">
                <a:solidFill>
                  <a:srgbClr val="C62828"/>
                </a:solidFill>
                <a:latin typeface="Arial"/>
              </a:rPr>
              <a:t>(2)</a:t>
            </a:r>
            <a:r>
              <a:rPr sz="2000" b="0" i="0">
                <a:solidFill>
                  <a:srgbClr val="1A1A1A"/>
                </a:solidFill>
                <a:latin typeface="Arial"/>
              </a:rPr>
              <a:t> marks the opening relationship, and blue </a:t>
            </a:r>
            <a:r>
              <a:rPr sz="2000" b="1" i="0">
                <a:solidFill>
                  <a:srgbClr val="1F5FAD"/>
                </a:solidFill>
                <a:latin typeface="Arial"/>
              </a:rPr>
              <a:t>(3)</a:t>
            </a:r>
            <a:r>
              <a:rPr sz="2000" b="0" i="0">
                <a:solidFill>
                  <a:srgbClr val="1A1A1A"/>
                </a:solidFill>
                <a:latin typeface="Arial"/>
              </a:rPr>
              <a:t> marks the wide range.</a:t>
            </a:r>
          </a:p>
          <a:p>
            <a:pPr algn="l">
              <a:lnSpc>
                <a:spcPct val="105000"/>
              </a:lnSpc>
              <a:spcBef>
                <a:spcPts val="0"/>
              </a:spcBef>
              <a:spcAft>
                <a:spcPts val="1100"/>
              </a:spcAft>
            </a:pPr>
            <a:r>
              <a:rPr sz="2000" b="0" i="0">
                <a:solidFill>
                  <a:srgbClr val="1A1A1A"/>
                </a:solidFill>
                <a:latin typeface="Arial"/>
              </a:rPr>
              <a:t>The book drawing shows shape and close direction only. Use the course chart for invented prices and volume.</a:t>
            </a:r>
          </a:p>
          <a:p>
            <a:pPr algn="l">
              <a:lnSpc>
                <a:spcPct val="105000"/>
              </a:lnSpc>
              <a:spcBef>
                <a:spcPts val="0"/>
              </a:spcBef>
              <a:spcAft>
                <a:spcPts val="1100"/>
              </a:spcAft>
            </a:pPr>
            <a:r>
              <a:rPr sz="2000" b="0" i="0">
                <a:solidFill>
                  <a:srgbClr val="1A1A1A"/>
                </a:solidFill>
                <a:latin typeface="Arial"/>
              </a:rPr>
              <a:t>Next we read the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2: a large bar closes near or below the previous low.</a:t>
            </a:r>
          </a:p>
        </p:txBody>
      </p:sp>
      <p:sp>
        <p:nvSpPr>
          <p:cNvPr id="12" name="Oval 11"/>
          <p:cNvSpPr/>
          <p:nvPr/>
        </p:nvSpPr>
        <p:spPr>
          <a:xfrm>
            <a:off x="8121130" y="3263676"/>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2561417"/>
            <a:ext cx="0" cy="842711"/>
          </a:xfrm>
          <a:prstGeom prst="line">
            <a:avLst/>
          </a:prstGeom>
          <a:ln w="44450">
            <a:solidFill>
              <a:srgbClr val="C62828"/>
            </a:solidFill>
          </a:ln>
        </p:spPr>
      </p:cxnSp>
      <p:cxnSp>
        <p:nvCxnSpPr>
          <p:cNvPr id="14" name="Connector 13"/>
          <p:cNvCxnSpPr/>
          <p:nvPr/>
        </p:nvCxnSpPr>
        <p:spPr>
          <a:xfrm>
            <a:off x="8121130" y="3263676"/>
            <a:ext cx="0" cy="1404518"/>
          </a:xfrm>
          <a:prstGeom prst="line">
            <a:avLst/>
          </a:prstGeom>
          <a:ln w="44450">
            <a:solidFill>
              <a:srgbClr val="1F5FAD"/>
            </a:solidFill>
          </a:ln>
        </p:spPr>
      </p:cxnSp>
      <p:sp>
        <p:nvSpPr>
          <p:cNvPr id="15" name="Oval 14"/>
          <p:cNvSpPr/>
          <p:nvPr/>
        </p:nvSpPr>
        <p:spPr>
          <a:xfrm>
            <a:off x="7718287" y="40913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bearish form adds a reliability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identifying the bearish form, we ask whether its context makes the reading more reliable. Our course chart marks the close, opening relationship, and large range with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QX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Treat the pattern as potentially more reliable, then check its context.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bearish bar, and blue </a:t>
            </a:r>
            <a:r>
              <a:rPr sz="2000" b="1" i="0">
                <a:solidFill>
                  <a:srgbClr val="1F5FAD"/>
                </a:solidFill>
                <a:latin typeface="Arial"/>
              </a:rPr>
              <a:t>(3)</a:t>
            </a:r>
            <a:r>
              <a:rPr sz="2000" b="0" i="0">
                <a:solidFill>
                  <a:srgbClr val="1A1A1A"/>
                </a:solidFill>
                <a:latin typeface="Arial"/>
              </a:rPr>
              <a:t> the close below the gap.</a:t>
            </a:r>
          </a:p>
          <a:p>
            <a:pPr algn="l">
              <a:lnSpc>
                <a:spcPct val="105000"/>
              </a:lnSpc>
              <a:spcBef>
                <a:spcPts val="0"/>
              </a:spcBef>
              <a:spcAft>
                <a:spcPts val="1100"/>
              </a:spcAft>
            </a:pPr>
            <a:r>
              <a:rPr sz="2000" b="0" i="0">
                <a:solidFill>
                  <a:srgbClr val="1A1A1A"/>
                </a:solidFill>
                <a:latin typeface="Arial"/>
              </a:rPr>
              <a:t>This is a potential bearish clue, not a promise. The crop has no volume panel.</a:t>
            </a:r>
          </a:p>
          <a:p>
            <a:pPr algn="l">
              <a:lnSpc>
                <a:spcPct val="105000"/>
              </a:lnSpc>
              <a:spcBef>
                <a:spcPts val="0"/>
              </a:spcBef>
              <a:spcAft>
                <a:spcPts val="1100"/>
              </a:spcAft>
            </a:pPr>
            <a:r>
              <a:rPr sz="2000" b="0" i="0">
                <a:solidFill>
                  <a:srgbClr val="1A1A1A"/>
                </a:solidFill>
                <a:latin typeface="Arial"/>
              </a:rPr>
              <a:t>Now we turn the same test upward for bullish forms.</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3: the bar closes below a gap between its open and the prior low.</a:t>
            </a:r>
          </a:p>
        </p:txBody>
      </p:sp>
      <p:cxnSp>
        <p:nvCxnSpPr>
          <p:cNvPr id="12" name="Connector 11"/>
          <p:cNvCxnSpPr/>
          <p:nvPr/>
        </p:nvCxnSpPr>
        <p:spPr>
          <a:xfrm>
            <a:off x="7833419" y="3263676"/>
            <a:ext cx="685376" cy="0"/>
          </a:xfrm>
          <a:prstGeom prst="line">
            <a:avLst/>
          </a:prstGeom>
          <a:ln w="44450">
            <a:solidFill>
              <a:srgbClr val="E09B00"/>
            </a:solidFill>
          </a:ln>
        </p:spPr>
      </p:cxnSp>
      <p:sp>
        <p:nvSpPr>
          <p:cNvPr id="13" name="Oval 12"/>
          <p:cNvSpPr/>
          <p:nvPr/>
        </p:nvSpPr>
        <p:spPr>
          <a:xfrm>
            <a:off x="8113800" y="2561417"/>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3965935"/>
            <a:ext cx="0" cy="912937"/>
          </a:xfrm>
          <a:prstGeom prst="line">
            <a:avLst/>
          </a:prstGeom>
          <a:ln w="44450">
            <a:solidFill>
              <a:srgbClr val="1F5FAD"/>
            </a:solidFill>
          </a:ln>
        </p:spPr>
      </p:cxnSp>
      <p:sp>
        <p:nvSpPr>
          <p:cNvPr id="15" name="Oval 14"/>
          <p:cNvSpPr/>
          <p:nvPr/>
        </p:nvSpPr>
        <p:spPr>
          <a:xfrm>
            <a:off x="7553357" y="2757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3357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465319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Generic single and double reversals</a:t>
            </a:r>
          </a:p>
        </p:txBody>
      </p:sp>
      <p:sp>
        <p:nvSpPr>
          <p:cNvPr id="6" name="Rectangle 5"/>
          <p:cNvSpPr/>
          <p:nvPr/>
        </p:nvSpPr>
        <p:spPr>
          <a:xfrm>
            <a:off x="777240" y="1207008"/>
            <a:ext cx="466344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9" name="TextBox 8"/>
          <p:cNvSpPr txBox="1"/>
          <p:nvPr/>
        </p:nvSpPr>
        <p:spPr>
          <a:xfrm>
            <a:off x="1005840" y="2069338"/>
            <a:ext cx="420624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Overextended, near its low, high volume</a:t>
            </a:r>
          </a:p>
          <a:p>
            <a:pPr algn="l">
              <a:lnSpc>
                <a:spcPct val="105000"/>
              </a:lnSpc>
              <a:spcBef>
                <a:spcPts val="0"/>
              </a:spcBef>
              <a:spcAft>
                <a:spcPts val="200"/>
              </a:spcAft>
            </a:pPr>
            <a:r>
              <a:rPr sz="1700" b="0" i="0">
                <a:solidFill>
                  <a:srgbClr val="FFFFFF"/>
                </a:solidFill>
                <a:latin typeface="Arial"/>
              </a:rPr>
              <a:t>B.  Narrow, low volume</a:t>
            </a:r>
          </a:p>
          <a:p>
            <a:pPr algn="l">
              <a:lnSpc>
                <a:spcPct val="105000"/>
              </a:lnSpc>
              <a:spcBef>
                <a:spcPts val="0"/>
              </a:spcBef>
              <a:spcAft>
                <a:spcPts val="200"/>
              </a:spcAft>
            </a:pPr>
            <a:r>
              <a:rPr sz="1700" b="0" i="0">
                <a:solidFill>
                  <a:srgbClr val="FFFFFF"/>
                </a:solidFill>
                <a:latin typeface="Arial"/>
              </a:rPr>
              <a:t>C.  Near its high, low volume</a:t>
            </a:r>
          </a:p>
          <a:p>
            <a:pPr algn="l">
              <a:lnSpc>
                <a:spcPct val="105000"/>
              </a:lnSpc>
              <a:spcBef>
                <a:spcPts val="0"/>
              </a:spcBef>
              <a:spcAft>
                <a:spcPts val="200"/>
              </a:spcAft>
            </a:pPr>
            <a:r>
              <a:rPr sz="1700" b="0" i="0">
                <a:solidFill>
                  <a:srgbClr val="FFFFFF"/>
                </a:solidFill>
                <a:latin typeface="Arial"/>
              </a:rPr>
              <a:t>D.  Any bar</a:t>
            </a:r>
          </a:p>
        </p:txBody>
      </p:sp>
      <p:sp>
        <p:nvSpPr>
          <p:cNvPr id="10" name="Rectangle 9"/>
          <p:cNvSpPr/>
          <p:nvPr/>
        </p:nvSpPr>
        <p:spPr>
          <a:xfrm>
            <a:off x="777240" y="3585082"/>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narrow or low-volume bar show?</a:t>
            </a:r>
          </a:p>
        </p:txBody>
      </p:sp>
      <p:sp>
        <p:nvSpPr>
          <p:cNvPr id="13" name="TextBox 12"/>
          <p:cNvSpPr txBox="1"/>
          <p:nvPr/>
        </p:nvSpPr>
        <p:spPr>
          <a:xfrm>
            <a:off x="1005840" y="4447413"/>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Uncertainty</a:t>
            </a:r>
          </a:p>
          <a:p>
            <a:pPr algn="l">
              <a:lnSpc>
                <a:spcPct val="105000"/>
              </a:lnSpc>
              <a:spcBef>
                <a:spcPts val="0"/>
              </a:spcBef>
              <a:spcAft>
                <a:spcPts val="200"/>
              </a:spcAft>
            </a:pPr>
            <a:r>
              <a:rPr sz="1700" b="0" i="0">
                <a:solidFill>
                  <a:srgbClr val="FFFFFF"/>
                </a:solidFill>
                <a:latin typeface="Arial"/>
              </a:rPr>
              <a:t>B.  A guaranteed reversal</a:t>
            </a:r>
          </a:p>
          <a:p>
            <a:pPr algn="l">
              <a:lnSpc>
                <a:spcPct val="105000"/>
              </a:lnSpc>
              <a:spcBef>
                <a:spcPts val="0"/>
              </a:spcBef>
              <a:spcAft>
                <a:spcPts val="200"/>
              </a:spcAft>
            </a:pPr>
            <a:r>
              <a:rPr sz="1700" b="0" i="0">
                <a:solidFill>
                  <a:srgbClr val="FFFFFF"/>
                </a:solidFill>
                <a:latin typeface="Arial"/>
              </a:rPr>
              <a:t>C.  High volume</a:t>
            </a:r>
          </a:p>
          <a:p>
            <a:pPr algn="l">
              <a:lnSpc>
                <a:spcPct val="105000"/>
              </a:lnSpc>
              <a:spcBef>
                <a:spcPts val="0"/>
              </a:spcBef>
              <a:spcAft>
                <a:spcPts val="200"/>
              </a:spcAft>
            </a:pPr>
            <a:r>
              <a:rPr sz="1700" b="0" i="0">
                <a:solidFill>
                  <a:srgbClr val="FFFFFF"/>
                </a:solidFill>
                <a:latin typeface="Arial"/>
              </a:rPr>
              <a:t>D.  Trend agreement</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Generic single and double reversals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final bearish bar is potentially more reliable?</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Overextended, near its low, high volume</a:t>
            </a:r>
          </a:p>
          <a:p>
            <a:pPr algn="l">
              <a:lnSpc>
                <a:spcPct val="115000"/>
              </a:lnSpc>
              <a:spcBef>
                <a:spcPts val="500"/>
              </a:spcBef>
              <a:spcAft>
                <a:spcPts val="0"/>
              </a:spcAft>
            </a:pPr>
            <a:r>
              <a:rPr sz="1700" b="0" i="0">
                <a:solidFill>
                  <a:srgbClr val="1A1A1A"/>
                </a:solidFill>
                <a:latin typeface="Arial"/>
              </a:rPr>
              <a:t>Lim's reliability qualifiers are an overextended final bar, a close near its low, and high volume.</a:t>
            </a:r>
          </a:p>
        </p:txBody>
      </p:sp>
      <p:sp>
        <p:nvSpPr>
          <p:cNvPr id="10" name="Rectangle 9"/>
          <p:cNvSpPr/>
          <p:nvPr/>
        </p:nvSpPr>
        <p:spPr>
          <a:xfrm>
            <a:off x="777240" y="3888613"/>
            <a:ext cx="46634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a narrow or low-volume bar show?</a:t>
            </a:r>
          </a:p>
        </p:txBody>
      </p:sp>
      <p:sp>
        <p:nvSpPr>
          <p:cNvPr id="13" name="TextBox 12"/>
          <p:cNvSpPr txBox="1"/>
          <p:nvPr/>
        </p:nvSpPr>
        <p:spPr>
          <a:xfrm>
            <a:off x="1097280" y="4750943"/>
            <a:ext cx="411480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Uncertainty</a:t>
            </a:r>
          </a:p>
          <a:p>
            <a:pPr algn="l">
              <a:lnSpc>
                <a:spcPct val="115000"/>
              </a:lnSpc>
              <a:spcBef>
                <a:spcPts val="500"/>
              </a:spcBef>
              <a:spcAft>
                <a:spcPts val="0"/>
              </a:spcAft>
            </a:pPr>
            <a:r>
              <a:rPr sz="1700" b="0" i="0">
                <a:solidFill>
                  <a:srgbClr val="1A1A1A"/>
                </a:solidFill>
                <a:latin typeface="Arial"/>
              </a:rPr>
              <a:t>The preceding reading says a narrow or low-volume bar shows uncertainty.</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converse starts with the same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looking for the bullish converse: does the final bar close above the previous close or high while the broader trend is down? Gold </a:t>
            </a:r>
            <a:r>
              <a:rPr sz="1700" b="1" i="0">
                <a:solidFill>
                  <a:srgbClr val="E09B00"/>
                </a:solidFill>
                <a:latin typeface="Arial"/>
              </a:rPr>
              <a:t>(1)</a:t>
            </a:r>
            <a:r>
              <a:rPr sz="1700" b="0" i="0">
                <a:solidFill>
                  <a:srgbClr val="1A1A1A"/>
                </a:solidFill>
                <a:latin typeface="Arial"/>
              </a:rPr>
              <a:t> marks the final close above the previous close;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44425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5476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2874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987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above the previous high strengthens the bullish reading;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remaining bullish forms turn the close upward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keep the same bullish test: the final close must finish above the prior close or high. Gold </a:t>
            </a:r>
            <a:r>
              <a:rPr sz="1700" b="1" i="0">
                <a:solidFill>
                  <a:srgbClr val="E09B00"/>
                </a:solidFill>
                <a:latin typeface="Arial"/>
              </a:rPr>
              <a:t>(1)</a:t>
            </a:r>
            <a:r>
              <a:rPr sz="1700" b="0" i="0">
                <a:solidFill>
                  <a:srgbClr val="1A1A1A"/>
                </a:solidFill>
                <a:latin typeface="Arial"/>
              </a:rPr>
              <a:t> marks the final close above the prior close or high;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QY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Bullish intrinsic sentiment in a downtrend is a potential reversal, not a guarantee.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2: a close near the prior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large bar closing near the previous high. Red </a:t>
            </a:r>
            <a:r>
              <a:rPr sz="1800" b="1" i="0">
                <a:solidFill>
                  <a:srgbClr val="C62828"/>
                </a:solidFill>
                <a:latin typeface="Arial"/>
              </a:rPr>
              <a:t>(2)</a:t>
            </a:r>
            <a:r>
              <a:rPr sz="1800" b="0" i="0">
                <a:solidFill>
                  <a:srgbClr val="1A1A1A"/>
                </a:solidFill>
                <a:latin typeface="Arial"/>
              </a:rPr>
              <a:t> marks the opening relationship, and blue </a:t>
            </a:r>
            <a:r>
              <a:rPr sz="1800" b="1" i="0">
                <a:solidFill>
                  <a:srgbClr val="1F5FAD"/>
                </a:solidFill>
                <a:latin typeface="Arial"/>
              </a:rPr>
              <a:t>(3)</a:t>
            </a:r>
            <a:r>
              <a:rPr sz="1800" b="0" i="0">
                <a:solidFill>
                  <a:srgbClr val="1A1A1A"/>
                </a:solidFill>
                <a:latin typeface="Arial"/>
              </a:rPr>
              <a:t> marks the range.</a:t>
            </a:r>
          </a:p>
          <a:p>
            <a:pPr algn="l">
              <a:lnSpc>
                <a:spcPct val="105000"/>
              </a:lnSpc>
              <a:spcBef>
                <a:spcPts val="0"/>
              </a:spcBef>
              <a:spcAft>
                <a:spcPts val="1100"/>
              </a:spcAft>
            </a:pPr>
            <a:r>
              <a:rPr sz="1800" b="0" i="0">
                <a:solidFill>
                  <a:srgbClr val="1A1A1A"/>
                </a:solidFill>
                <a:latin typeface="Arial"/>
              </a:rPr>
              <a:t>The crop shows the formation, not volume. The course chart carries the invented numerical example.</a:t>
            </a:r>
          </a:p>
          <a:p>
            <a:pPr algn="l">
              <a:lnSpc>
                <a:spcPct val="105000"/>
              </a:lnSpc>
              <a:spcBef>
                <a:spcPts val="0"/>
              </a:spcBef>
              <a:spcAft>
                <a:spcPts val="1100"/>
              </a:spcAft>
            </a:pPr>
            <a:r>
              <a:rPr sz="1800" b="0" i="0">
                <a:solidFill>
                  <a:srgbClr val="1A1A1A"/>
                </a:solidFill>
                <a:latin typeface="Arial"/>
              </a:rPr>
              <a:t>Next we read the bullish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2: a large bar closes near or above the previous high.</a:t>
            </a:r>
          </a:p>
        </p:txBody>
      </p:sp>
      <p:sp>
        <p:nvSpPr>
          <p:cNvPr id="12" name="Oval 11"/>
          <p:cNvSpPr/>
          <p:nvPr/>
        </p:nvSpPr>
        <p:spPr>
          <a:xfrm>
            <a:off x="8121130" y="3544580"/>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3825483"/>
            <a:ext cx="0" cy="983163"/>
          </a:xfrm>
          <a:prstGeom prst="line">
            <a:avLst/>
          </a:prstGeom>
          <a:ln w="44450">
            <a:solidFill>
              <a:srgbClr val="C62828"/>
            </a:solidFill>
          </a:ln>
        </p:spPr>
      </p:cxnSp>
      <p:cxnSp>
        <p:nvCxnSpPr>
          <p:cNvPr id="14" name="Connector 13"/>
          <p:cNvCxnSpPr/>
          <p:nvPr/>
        </p:nvCxnSpPr>
        <p:spPr>
          <a:xfrm>
            <a:off x="8121130" y="2631643"/>
            <a:ext cx="0" cy="1334292"/>
          </a:xfrm>
          <a:prstGeom prst="line">
            <a:avLst/>
          </a:prstGeom>
          <a:ln w="44450">
            <a:solidFill>
              <a:srgbClr val="1F5FAD"/>
            </a:solidFill>
          </a:ln>
        </p:spPr>
      </p:cxnSp>
      <p:sp>
        <p:nvSpPr>
          <p:cNvPr id="15" name="Oval 14"/>
          <p:cNvSpPr/>
          <p:nvPr/>
        </p:nvSpPr>
        <p:spPr>
          <a:xfrm>
            <a:off x="7718287" y="31082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3810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bullish form asks whether the close is convincing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bullish form still depends on the final close finishing above the prior high: the invented prior high is PHP 46.00 and the final close is PHP 47.20. The final bar runs from PHP 44.20 to PHP 47.20, so its range is PHP 3.00; its volume is 4.5 million shares.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QZ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qualifiers apply in the converse direction: potential, not certainty. (Lim, p. 212.)</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bullish bar, and blue </a:t>
            </a:r>
            <a:r>
              <a:rPr sz="2000" b="1" i="0">
                <a:solidFill>
                  <a:srgbClr val="1F5FAD"/>
                </a:solidFill>
                <a:latin typeface="Arial"/>
              </a:rPr>
              <a:t>(3)</a:t>
            </a:r>
            <a:r>
              <a:rPr sz="2000" b="0" i="0">
                <a:solidFill>
                  <a:srgbClr val="1A1A1A"/>
                </a:solidFill>
                <a:latin typeface="Arial"/>
              </a:rPr>
              <a:t> the close above the gap.</a:t>
            </a:r>
          </a:p>
          <a:p>
            <a:pPr algn="l">
              <a:lnSpc>
                <a:spcPct val="105000"/>
              </a:lnSpc>
              <a:spcBef>
                <a:spcPts val="0"/>
              </a:spcBef>
              <a:spcAft>
                <a:spcPts val="1100"/>
              </a:spcAft>
            </a:pPr>
            <a:r>
              <a:rPr sz="2000" b="0" i="0">
                <a:solidFill>
                  <a:srgbClr val="1A1A1A"/>
                </a:solidFill>
                <a:latin typeface="Arial"/>
              </a:rPr>
              <a:t>The shape suggests a potential bullish reversal when the broader trend is down.</a:t>
            </a:r>
          </a:p>
          <a:p>
            <a:pPr algn="l">
              <a:lnSpc>
                <a:spcPct val="105000"/>
              </a:lnSpc>
              <a:spcBef>
                <a:spcPts val="0"/>
              </a:spcBef>
              <a:spcAft>
                <a:spcPts val="1100"/>
              </a:spcAft>
            </a:pPr>
            <a:r>
              <a:rPr sz="2000" b="0" i="0">
                <a:solidFill>
                  <a:srgbClr val="1A1A1A"/>
                </a:solidFill>
                <a:latin typeface="Arial"/>
              </a:rPr>
              <a:t>The triple-bar families add a middle bar next.</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3: the bar closes above a gap between its open and the prior high.</a:t>
            </a:r>
          </a:p>
        </p:txBody>
      </p:sp>
      <p:cxnSp>
        <p:nvCxnSpPr>
          <p:cNvPr id="12" name="Connector 11"/>
          <p:cNvCxnSpPr/>
          <p:nvPr/>
        </p:nvCxnSpPr>
        <p:spPr>
          <a:xfrm>
            <a:off x="7833419" y="3895709"/>
            <a:ext cx="685376" cy="0"/>
          </a:xfrm>
          <a:prstGeom prst="line">
            <a:avLst/>
          </a:prstGeom>
          <a:ln w="44450">
            <a:solidFill>
              <a:srgbClr val="E09B00"/>
            </a:solidFill>
          </a:ln>
        </p:spPr>
      </p:cxnSp>
      <p:sp>
        <p:nvSpPr>
          <p:cNvPr id="13" name="Oval 12"/>
          <p:cNvSpPr/>
          <p:nvPr/>
        </p:nvSpPr>
        <p:spPr>
          <a:xfrm>
            <a:off x="8113800" y="3123224"/>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2561417"/>
            <a:ext cx="0" cy="1193840"/>
          </a:xfrm>
          <a:prstGeom prst="line">
            <a:avLst/>
          </a:prstGeom>
          <a:ln w="44450">
            <a:solidFill>
              <a:srgbClr val="1F5FAD"/>
            </a:solidFill>
          </a:ln>
        </p:spPr>
      </p:cxnSp>
      <p:sp>
        <p:nvSpPr>
          <p:cNvPr id="15" name="Oval 14"/>
          <p:cNvSpPr/>
          <p:nvPr/>
        </p:nvSpPr>
        <p:spPr>
          <a:xfrm>
            <a:off x="7553357"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23357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triple bearish form, the gaps add pressure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triple bearish form, where gaps between the bars add to the pressure of the reversal reading. Here is an invented three-bar example with successive gaps of PHP 0.30, PHP 0.60, and PHP 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374067"/>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2772460" y="343645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6326276" y="379940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42899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2860243" y="33523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093275" y="362932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larger gap adds a stronger bearish clue in the triple pattern; the gap term keeps Chapter 3's meaning.</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bearish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book's first triple group uses the outer-bar closes and the gaps to frame the reversal. Gold </a:t>
            </a:r>
            <a:r>
              <a:rPr sz="1700" b="1" i="0">
                <a:solidFill>
                  <a:srgbClr val="E09B00"/>
                </a:solidFill>
                <a:latin typeface="Arial"/>
              </a:rPr>
              <a:t>(1)</a:t>
            </a:r>
            <a:r>
              <a:rPr sz="1700" b="0" i="0">
                <a:solidFill>
                  <a:srgbClr val="1A1A1A"/>
                </a:solidFill>
                <a:latin typeface="Arial"/>
              </a:rPr>
              <a:t> marks the first outer close,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outer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64342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4651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355930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083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Pattern 1 can be more bearish when the middle bar has larger volume; larger first and third ranges help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7.6, form 1: three bearish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outer close, red </a:t>
            </a:r>
            <a:r>
              <a:rPr sz="2000" b="1" i="0">
                <a:solidFill>
                  <a:srgbClr val="C62828"/>
                </a:solidFill>
                <a:latin typeface="Arial"/>
              </a:rPr>
              <a:t>(2)</a:t>
            </a:r>
            <a:r>
              <a:rPr sz="2000" b="0" i="0">
                <a:solidFill>
                  <a:srgbClr val="1A1A1A"/>
                </a:solidFill>
                <a:latin typeface="Arial"/>
              </a:rPr>
              <a:t> the middle bar, and blue </a:t>
            </a:r>
            <a:r>
              <a:rPr sz="2000" b="1" i="0">
                <a:solidFill>
                  <a:srgbClr val="1F5FAD"/>
                </a:solidFill>
                <a:latin typeface="Arial"/>
              </a:rPr>
              <a:t>(3)</a:t>
            </a:r>
            <a:r>
              <a:rPr sz="2000" b="0" i="0">
                <a:solidFill>
                  <a:srgbClr val="1A1A1A"/>
                </a:solidFill>
                <a:latin typeface="Arial"/>
              </a:rPr>
              <a:t> the final outer close.</a:t>
            </a:r>
          </a:p>
          <a:p>
            <a:pPr algn="l">
              <a:lnSpc>
                <a:spcPct val="105000"/>
              </a:lnSpc>
              <a:spcBef>
                <a:spcPts val="0"/>
              </a:spcBef>
              <a:spcAft>
                <a:spcPts val="1100"/>
              </a:spcAft>
            </a:pPr>
            <a:r>
              <a:rPr sz="2000" b="0" i="0">
                <a:solidFill>
                  <a:srgbClr val="1A1A1A"/>
                </a:solidFill>
                <a:latin typeface="Arial"/>
              </a:rPr>
              <a:t>The outer closes and the middle bar frame a potential bearish reversal; the crop has no volume panel.</a:t>
            </a:r>
          </a:p>
          <a:p>
            <a:pPr algn="l">
              <a:lnSpc>
                <a:spcPct val="105000"/>
              </a:lnSpc>
              <a:spcBef>
                <a:spcPts val="0"/>
              </a:spcBef>
              <a:spcAft>
                <a:spcPts val="1100"/>
              </a:spcAft>
            </a:pPr>
            <a:r>
              <a:rPr sz="2000" b="0" i="0">
                <a:solidFill>
                  <a:srgbClr val="1A1A1A"/>
                </a:solidFill>
                <a:latin typeface="Arial"/>
              </a:rPr>
              <a:t>The next triple drawing adds an island gap.</a:t>
            </a:r>
          </a:p>
        </p:txBody>
      </p:sp>
      <p:sp>
        <p:nvSpPr>
          <p:cNvPr id="8" name="Rectangle 7"/>
          <p:cNvSpPr/>
          <p:nvPr/>
        </p:nvSpPr>
        <p:spPr>
          <a:xfrm>
            <a:off x="7104628" y="1810512"/>
            <a:ext cx="21429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3500" y="1929384"/>
            <a:ext cx="19052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3500" y="1929384"/>
            <a:ext cx="19052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497820" y="2203703"/>
            <a:ext cx="13565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2" name="Oval 11"/>
          <p:cNvSpPr/>
          <p:nvPr/>
        </p:nvSpPr>
        <p:spPr>
          <a:xfrm>
            <a:off x="7985586" y="2456078"/>
            <a:ext cx="609668" cy="948049"/>
          </a:xfrm>
          <a:prstGeom prst="ellipse">
            <a:avLst/>
          </a:prstGeom>
          <a:noFill/>
          <a:ln w="44450">
            <a:solidFill>
              <a:srgbClr val="E09B00"/>
            </a:solidFill>
          </a:ln>
        </p:spPr>
        <p:txBody>
          <a:bodyPr rtlCol="0" anchor="ctr"/>
          <a:lstStyle/>
          <a:p>
            <a:pPr algn="ctr"/>
          </a:p>
        </p:txBody>
      </p:sp>
      <p:sp>
        <p:nvSpPr>
          <p:cNvPr id="13" name="Oval 12"/>
          <p:cNvSpPr/>
          <p:nvPr/>
        </p:nvSpPr>
        <p:spPr>
          <a:xfrm>
            <a:off x="8157055" y="2912546"/>
            <a:ext cx="247677" cy="94804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023690" y="3755257"/>
            <a:ext cx="685877" cy="0"/>
          </a:xfrm>
          <a:prstGeom prst="line">
            <a:avLst/>
          </a:prstGeom>
          <a:ln w="44450">
            <a:solidFill>
              <a:srgbClr val="1F5FAD"/>
            </a:solidFill>
          </a:ln>
        </p:spPr>
      </p:cxnSp>
      <p:sp>
        <p:nvSpPr>
          <p:cNvPr id="15" name="Oval 14"/>
          <p:cNvSpPr/>
          <p:nvPr/>
        </p:nvSpPr>
        <p:spPr>
          <a:xfrm>
            <a:off x="7525303"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8432"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68432"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7.6 - Lim, The Handbook of Technical Analysis (Wiley, 2016)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triple pattern also compares ranges and volume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triple bearish reading also asks how wide the three ranges are and whether the middle and final bars carry meaningful volume. Here is the invented example: the first range is PHP 3.0, the middle range PHP 0.8, and the final range PHP 3.4.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77715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8573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28533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999584"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68922" y="3773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7090" y="41152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QD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Middle volume is 0.7 million; final volume is 4.2 million.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bearish drawings add an island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gap above the first bar; red </a:t>
            </a:r>
            <a:r>
              <a:rPr sz="1700" b="1" i="0">
                <a:solidFill>
                  <a:srgbClr val="C62828"/>
                </a:solidFill>
                <a:latin typeface="Arial"/>
              </a:rPr>
              <a:t>(2)</a:t>
            </a:r>
            <a:r>
              <a:rPr sz="1700" b="0" i="0">
                <a:solidFill>
                  <a:srgbClr val="1A1A1A"/>
                </a:solidFill>
                <a:latin typeface="Arial"/>
              </a:rPr>
              <a:t> marks the island bar; blue </a:t>
            </a:r>
            <a:r>
              <a:rPr sz="1700" b="1" i="0">
                <a:solidFill>
                  <a:srgbClr val="1F5FAD"/>
                </a:solidFill>
                <a:latin typeface="Arial"/>
              </a:rPr>
              <a:t>(3)</a:t>
            </a:r>
            <a:r>
              <a:rPr sz="1700" b="0" i="0">
                <a:solidFill>
                  <a:srgbClr val="1A1A1A"/>
                </a:solidFill>
                <a:latin typeface="Arial"/>
              </a:rPr>
              <a:t> marks the final bearish bar. This crop shows the gap structure and the final close near the low. It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1351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6326276" y="365106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33434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6414058" y="356694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7090"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triple pattern is a potential reversal clue, not a trade guarantee.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7.7, form 4: the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up, red </a:t>
            </a:r>
            <a:r>
              <a:rPr sz="2000" b="1" i="0">
                <a:solidFill>
                  <a:srgbClr val="C62828"/>
                </a:solidFill>
                <a:latin typeface="Arial"/>
              </a:rPr>
              <a:t>(2)</a:t>
            </a:r>
            <a:r>
              <a:rPr sz="2000" b="0" i="0">
                <a:solidFill>
                  <a:srgbClr val="1A1A1A"/>
                </a:solidFill>
                <a:latin typeface="Arial"/>
              </a:rPr>
              <a:t> the island bar, and blue </a:t>
            </a:r>
            <a:r>
              <a:rPr sz="2000" b="1" i="0">
                <a:solidFill>
                  <a:srgbClr val="1F5FAD"/>
                </a:solidFill>
                <a:latin typeface="Arial"/>
              </a:rPr>
              <a:t>(3)</a:t>
            </a:r>
            <a:r>
              <a:rPr sz="2000" b="0" i="0">
                <a:solidFill>
                  <a:srgbClr val="1A1A1A"/>
                </a:solidFill>
                <a:latin typeface="Arial"/>
              </a:rPr>
              <a:t> the gap down into the bearish close.</a:t>
            </a:r>
          </a:p>
          <a:p>
            <a:pPr algn="l">
              <a:lnSpc>
                <a:spcPct val="105000"/>
              </a:lnSpc>
              <a:spcBef>
                <a:spcPts val="0"/>
              </a:spcBef>
              <a:spcAft>
                <a:spcPts val="1100"/>
              </a:spcAft>
            </a:pPr>
            <a:r>
              <a:rPr sz="2000" b="0" i="0">
                <a:solidFill>
                  <a:srgbClr val="1A1A1A"/>
                </a:solidFill>
                <a:latin typeface="Arial"/>
              </a:rPr>
              <a:t>The figure shows the gap structure and close direction. Volume belongs to the invented course chart, not this crop.</a:t>
            </a:r>
          </a:p>
          <a:p>
            <a:pPr algn="l">
              <a:lnSpc>
                <a:spcPct val="105000"/>
              </a:lnSpc>
              <a:spcBef>
                <a:spcPts val="0"/>
              </a:spcBef>
              <a:spcAft>
                <a:spcPts val="1100"/>
              </a:spcAft>
            </a:pPr>
            <a:r>
              <a:rPr sz="2000" b="0" i="0">
                <a:solidFill>
                  <a:srgbClr val="1A1A1A"/>
                </a:solidFill>
                <a:latin typeface="Arial"/>
              </a:rPr>
              <a:t>Now compare the bullish triple forms.</a:t>
            </a:r>
          </a:p>
        </p:txBody>
      </p:sp>
      <p:sp>
        <p:nvSpPr>
          <p:cNvPr id="8" name="Rectangle 7"/>
          <p:cNvSpPr/>
          <p:nvPr/>
        </p:nvSpPr>
        <p:spPr>
          <a:xfrm>
            <a:off x="7109765" y="1810512"/>
            <a:ext cx="213268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8637" y="1929384"/>
            <a:ext cx="189493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8637" y="1929384"/>
            <a:ext cx="189493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02957" y="2203703"/>
            <a:ext cx="1346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A readable crop of the fourth triple bearish formation: a gap up followed by a gap down, the single-island reversal bar.</a:t>
            </a:r>
          </a:p>
        </p:txBody>
      </p:sp>
      <p:sp>
        <p:nvSpPr>
          <p:cNvPr id="12" name="Oval 11"/>
          <p:cNvSpPr/>
          <p:nvPr/>
        </p:nvSpPr>
        <p:spPr>
          <a:xfrm>
            <a:off x="7891866" y="2280513"/>
            <a:ext cx="568481"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024512" y="2772095"/>
            <a:ext cx="435836" cy="0"/>
          </a:xfrm>
          <a:prstGeom prst="line">
            <a:avLst/>
          </a:prstGeom>
          <a:ln w="44450">
            <a:solidFill>
              <a:srgbClr val="C62828"/>
            </a:solidFill>
          </a:ln>
        </p:spPr>
      </p:cxnSp>
      <p:cxnSp>
        <p:nvCxnSpPr>
          <p:cNvPr id="14" name="Connector 13"/>
          <p:cNvCxnSpPr/>
          <p:nvPr/>
        </p:nvCxnSpPr>
        <p:spPr>
          <a:xfrm>
            <a:off x="8024512" y="3088111"/>
            <a:ext cx="568482" cy="0"/>
          </a:xfrm>
          <a:prstGeom prst="line">
            <a:avLst/>
          </a:prstGeom>
          <a:ln w="44450">
            <a:solidFill>
              <a:srgbClr val="1F5FAD"/>
            </a:solidFill>
          </a:ln>
        </p:spPr>
      </p:cxnSp>
      <p:sp>
        <p:nvSpPr>
          <p:cNvPr id="15" name="Oval 14"/>
          <p:cNvSpPr/>
          <p:nvPr/>
        </p:nvSpPr>
        <p:spPr>
          <a:xfrm>
            <a:off x="7490076"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4939"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83888" y="317845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7.7 - Lim, The Handbook of Technical Analysis (Wiley, 2016)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Triple and multiple reversals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 larger gaps matter in the triple bearish forms?</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They remove the trend</a:t>
            </a:r>
          </a:p>
          <a:p>
            <a:pPr algn="l">
              <a:lnSpc>
                <a:spcPct val="105000"/>
              </a:lnSpc>
              <a:spcBef>
                <a:spcPts val="0"/>
              </a:spcBef>
              <a:spcAft>
                <a:spcPts val="200"/>
              </a:spcAft>
            </a:pPr>
            <a:r>
              <a:rPr sz="1700" b="0" i="0">
                <a:solidFill>
                  <a:srgbClr val="FFFFFF"/>
                </a:solidFill>
                <a:latin typeface="Arial"/>
              </a:rPr>
              <a:t>B.  They guarantee a top</a:t>
            </a:r>
          </a:p>
          <a:p>
            <a:pPr algn="l">
              <a:lnSpc>
                <a:spcPct val="105000"/>
              </a:lnSpc>
              <a:spcBef>
                <a:spcPts val="0"/>
              </a:spcBef>
              <a:spcAft>
                <a:spcPts val="200"/>
              </a:spcAft>
            </a:pPr>
            <a:r>
              <a:rPr sz="1700" b="0" i="0">
                <a:solidFill>
                  <a:srgbClr val="FFFFFF"/>
                </a:solidFill>
                <a:latin typeface="Arial"/>
              </a:rPr>
              <a:t>C.  They define volume</a:t>
            </a:r>
          </a:p>
          <a:p>
            <a:pPr algn="l">
              <a:lnSpc>
                <a:spcPct val="105000"/>
              </a:lnSpc>
              <a:spcBef>
                <a:spcPts val="0"/>
              </a:spcBef>
              <a:spcAft>
                <a:spcPts val="200"/>
              </a:spcAft>
            </a:pPr>
            <a:r>
              <a:rPr sz="1700" b="0" i="0">
                <a:solidFill>
                  <a:srgbClr val="FFFFFF"/>
                </a:solidFill>
                <a:latin typeface="Arial"/>
              </a:rPr>
              <a:t>D.  They add a stronger bearish clue</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Narrow, near high, low volume</a:t>
            </a:r>
          </a:p>
          <a:p>
            <a:pPr algn="l">
              <a:lnSpc>
                <a:spcPct val="105000"/>
              </a:lnSpc>
              <a:spcBef>
                <a:spcPts val="0"/>
              </a:spcBef>
              <a:spcAft>
                <a:spcPts val="200"/>
              </a:spcAft>
            </a:pPr>
            <a:r>
              <a:rPr sz="1700" b="0" i="0">
                <a:solidFill>
                  <a:srgbClr val="FFFFFF"/>
                </a:solidFill>
                <a:latin typeface="Arial"/>
              </a:rPr>
              <a:t>B.  Overextended, near low, high volume</a:t>
            </a:r>
          </a:p>
          <a:p>
            <a:pPr algn="l">
              <a:lnSpc>
                <a:spcPct val="105000"/>
              </a:lnSpc>
              <a:spcBef>
                <a:spcPts val="0"/>
              </a:spcBef>
              <a:spcAft>
                <a:spcPts val="200"/>
              </a:spcAft>
            </a:pPr>
            <a:r>
              <a:rPr sz="1700" b="0" i="0">
                <a:solidFill>
                  <a:srgbClr val="FFFFFF"/>
                </a:solidFill>
                <a:latin typeface="Arial"/>
              </a:rPr>
              <a:t>C.  Any middle bar</a:t>
            </a:r>
          </a:p>
          <a:p>
            <a:pPr algn="l">
              <a:lnSpc>
                <a:spcPct val="105000"/>
              </a:lnSpc>
              <a:spcBef>
                <a:spcPts val="0"/>
              </a:spcBef>
              <a:spcAft>
                <a:spcPts val="200"/>
              </a:spcAft>
            </a:pPr>
            <a:r>
              <a:rPr sz="1700" b="0" i="0">
                <a:solidFill>
                  <a:srgbClr val="FFFFFF"/>
                </a:solidFill>
                <a:latin typeface="Arial"/>
              </a:rPr>
              <a:t>D.  Low range only</a:t>
            </a:r>
          </a:p>
        </p:txBody>
      </p:sp>
      <p:sp>
        <p:nvSpPr>
          <p:cNvPr id="14" name="Rectangle 13"/>
          <p:cNvSpPr/>
          <p:nvPr/>
        </p:nvSpPr>
        <p:spPr>
          <a:xfrm>
            <a:off x="7352378" y="1207008"/>
            <a:ext cx="2470417"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71250" y="1325880"/>
            <a:ext cx="2232673"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71250" y="1325880"/>
            <a:ext cx="2232673"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45570" y="1600200"/>
            <a:ext cx="1684033"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64320" y="1943100"/>
            <a:ext cx="714455"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5260" y="2478024"/>
            <a:ext cx="29024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408973" y="3465576"/>
            <a:ext cx="803762" cy="0"/>
          </a:xfrm>
          <a:prstGeom prst="line">
            <a:avLst/>
          </a:prstGeom>
          <a:ln w="44450">
            <a:solidFill>
              <a:srgbClr val="1F5FAD"/>
            </a:solidFill>
          </a:ln>
        </p:spPr>
      </p:cxnSp>
      <p:sp>
        <p:nvSpPr>
          <p:cNvPr id="21" name="Oval 20"/>
          <p:cNvSpPr/>
          <p:nvPr/>
        </p:nvSpPr>
        <p:spPr>
          <a:xfrm>
            <a:off x="785164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91248"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1248"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Triple and multiple reversals</a:t>
            </a:r>
          </a:p>
        </p:txBody>
      </p:sp>
      <p:sp>
        <p:nvSpPr>
          <p:cNvPr id="6" name="Rectangle 5"/>
          <p:cNvSpPr/>
          <p:nvPr/>
        </p:nvSpPr>
        <p:spPr>
          <a:xfrm>
            <a:off x="777240" y="1207008"/>
            <a:ext cx="466344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Why do larger gaps matter in the triple bearish forms?</a:t>
            </a:r>
          </a:p>
        </p:txBody>
      </p:sp>
      <p:sp>
        <p:nvSpPr>
          <p:cNvPr id="9" name="TextBox 8"/>
          <p:cNvSpPr txBox="1"/>
          <p:nvPr/>
        </p:nvSpPr>
        <p:spPr>
          <a:xfrm>
            <a:off x="1097280" y="2069338"/>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They add a stronger bearish clue</a:t>
            </a:r>
          </a:p>
          <a:p>
            <a:pPr algn="l">
              <a:lnSpc>
                <a:spcPct val="115000"/>
              </a:lnSpc>
              <a:spcBef>
                <a:spcPts val="500"/>
              </a:spcBef>
              <a:spcAft>
                <a:spcPts val="0"/>
              </a:spcAft>
            </a:pPr>
            <a:r>
              <a:rPr sz="1700" b="0" i="0">
                <a:solidFill>
                  <a:srgbClr val="1A1A1A"/>
                </a:solidFill>
                <a:latin typeface="Arial"/>
              </a:rPr>
              <a:t>Lim says larger gaps make the triple pattern more bearish.</a:t>
            </a:r>
          </a:p>
        </p:txBody>
      </p:sp>
      <p:sp>
        <p:nvSpPr>
          <p:cNvPr id="10" name="Rectangle 9"/>
          <p:cNvSpPr/>
          <p:nvPr/>
        </p:nvSpPr>
        <p:spPr>
          <a:xfrm>
            <a:off x="777240" y="3640327"/>
            <a:ext cx="4663440" cy="24987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4987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final bearish bar is potentially more reliable?</a:t>
            </a:r>
          </a:p>
        </p:txBody>
      </p:sp>
      <p:sp>
        <p:nvSpPr>
          <p:cNvPr id="13" name="TextBox 12"/>
          <p:cNvSpPr txBox="1"/>
          <p:nvPr/>
        </p:nvSpPr>
        <p:spPr>
          <a:xfrm>
            <a:off x="1097280" y="450265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Overextended, near low, high volume</a:t>
            </a:r>
          </a:p>
          <a:p>
            <a:pPr algn="l">
              <a:lnSpc>
                <a:spcPct val="115000"/>
              </a:lnSpc>
              <a:spcBef>
                <a:spcPts val="500"/>
              </a:spcBef>
              <a:spcAft>
                <a:spcPts val="0"/>
              </a:spcAft>
            </a:pPr>
            <a:r>
              <a:rPr sz="1700" b="0" i="0">
                <a:solidFill>
                  <a:srgbClr val="1A1A1A"/>
                </a:solidFill>
                <a:latin typeface="Arial"/>
              </a:rPr>
              <a:t>The book's final-bar qualifiers are overextension, a near-low close, and high volume.</a:t>
            </a:r>
          </a:p>
        </p:txBody>
      </p:sp>
      <p:sp>
        <p:nvSpPr>
          <p:cNvPr id="14" name="Rectangle 13"/>
          <p:cNvSpPr/>
          <p:nvPr/>
        </p:nvSpPr>
        <p:spPr>
          <a:xfrm>
            <a:off x="7275917" y="1207008"/>
            <a:ext cx="26233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94789" y="1325880"/>
            <a:ext cx="23855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394789" y="1325880"/>
            <a:ext cx="23855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669109" y="1600200"/>
            <a:ext cx="18369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49027" y="1943100"/>
            <a:ext cx="763390"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3731" y="2478024"/>
            <a:ext cx="31012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396739" y="3465576"/>
            <a:ext cx="858815" cy="0"/>
          </a:xfrm>
          <a:prstGeom prst="line">
            <a:avLst/>
          </a:prstGeom>
          <a:ln w="44450">
            <a:solidFill>
              <a:srgbClr val="1F5FAD"/>
            </a:solidFill>
          </a:ln>
        </p:spPr>
      </p:cxnSp>
      <p:sp>
        <p:nvSpPr>
          <p:cNvPr id="21" name="Oval 20"/>
          <p:cNvSpPr/>
          <p:nvPr/>
        </p:nvSpPr>
        <p:spPr>
          <a:xfrm>
            <a:off x="781188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243242"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243242"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triple pattern reverses the outer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reading the bullish triple form. Its outer bars reverse the close direction: the first is near its low and the final bar near its high.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final bars in the crop.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617012" y="412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449937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532888" y="386886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441524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same potential range and volume tests apply in the bullish direction.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bullish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first three bullish drawings reverse the outer-bar close direction.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bar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1655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414014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340653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3243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98336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51415" y="349431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QP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Read the next group for the remaining three forms.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7.8, form 1: three bullish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closing near its low, red </a:t>
            </a:r>
            <a:r>
              <a:rPr sz="1800" b="1" i="0">
                <a:solidFill>
                  <a:srgbClr val="C62828"/>
                </a:solidFill>
                <a:latin typeface="Arial"/>
              </a:rPr>
              <a:t>(2)</a:t>
            </a:r>
            <a:r>
              <a:rPr sz="1800" b="0" i="0">
                <a:solidFill>
                  <a:srgbClr val="1A1A1A"/>
                </a:solidFill>
                <a:latin typeface="Arial"/>
              </a:rPr>
              <a:t> the middle bar closing near its high, and blue </a:t>
            </a:r>
            <a:r>
              <a:rPr sz="1800" b="1" i="0">
                <a:solidFill>
                  <a:srgbClr val="1F5FAD"/>
                </a:solidFill>
                <a:latin typeface="Arial"/>
              </a:rPr>
              <a:t>(3)</a:t>
            </a:r>
            <a:r>
              <a:rPr sz="1800" b="0" i="0">
                <a:solidFill>
                  <a:srgbClr val="1A1A1A"/>
                </a:solidFill>
                <a:latin typeface="Arial"/>
              </a:rPr>
              <a:t> the final bar closing near its high.</a:t>
            </a:r>
          </a:p>
          <a:p>
            <a:pPr algn="l">
              <a:lnSpc>
                <a:spcPct val="105000"/>
              </a:lnSpc>
              <a:spcBef>
                <a:spcPts val="0"/>
              </a:spcBef>
              <a:spcAft>
                <a:spcPts val="1100"/>
              </a:spcAft>
            </a:pPr>
            <a:r>
              <a:rPr sz="1800" b="0" i="0">
                <a:solidFill>
                  <a:srgbClr val="1A1A1A"/>
                </a:solidFill>
                <a:latin typeface="Arial"/>
              </a:rPr>
              <a:t>Those close directions give the formation its potential bullish reading. The crop has no volume panel.</a:t>
            </a:r>
          </a:p>
          <a:p>
            <a:pPr algn="l">
              <a:lnSpc>
                <a:spcPct val="105000"/>
              </a:lnSpc>
              <a:spcBef>
                <a:spcPts val="0"/>
              </a:spcBef>
              <a:spcAft>
                <a:spcPts val="1100"/>
              </a:spcAft>
            </a:pPr>
            <a:r>
              <a:rPr sz="1800" b="0" i="0">
                <a:solidFill>
                  <a:srgbClr val="1A1A1A"/>
                </a:solidFill>
                <a:latin typeface="Arial"/>
              </a:rPr>
              <a:t>The next bullish drawing keeps the same close-direction test.</a:t>
            </a:r>
          </a:p>
        </p:txBody>
      </p:sp>
      <p:sp>
        <p:nvSpPr>
          <p:cNvPr id="8" name="Rectangle 7"/>
          <p:cNvSpPr/>
          <p:nvPr/>
        </p:nvSpPr>
        <p:spPr>
          <a:xfrm>
            <a:off x="7164996" y="1810512"/>
            <a:ext cx="20222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83868" y="1929384"/>
            <a:ext cx="17844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83868" y="1929384"/>
            <a:ext cx="17844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58188" y="2203703"/>
            <a:ext cx="12358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100" b="0" i="0">
                <a:solidFill>
                  <a:srgbClr val="1A1A1A"/>
                </a:solidFill>
                <a:latin typeface="Palatino"/>
              </a:rPr>
              <a:t>A readable crop of the first triple bullish formation: the first bar closes near its low, the middle bar closes near its high, and the third bar closes near its high.</a:t>
            </a:r>
          </a:p>
        </p:txBody>
      </p:sp>
      <p:sp>
        <p:nvSpPr>
          <p:cNvPr id="12" name="Oval 11"/>
          <p:cNvSpPr/>
          <p:nvPr/>
        </p:nvSpPr>
        <p:spPr>
          <a:xfrm>
            <a:off x="7961970" y="4387291"/>
            <a:ext cx="249826" cy="877824"/>
          </a:xfrm>
          <a:prstGeom prst="ellipse">
            <a:avLst/>
          </a:prstGeom>
          <a:noFill/>
          <a:ln w="44450">
            <a:solidFill>
              <a:srgbClr val="E09B00"/>
            </a:solidFill>
          </a:ln>
        </p:spPr>
        <p:txBody>
          <a:bodyPr rtlCol="0" anchor="ctr"/>
          <a:lstStyle/>
          <a:p>
            <a:pPr algn="ctr"/>
          </a:p>
        </p:txBody>
      </p:sp>
      <p:sp>
        <p:nvSpPr>
          <p:cNvPr id="13" name="Oval 12"/>
          <p:cNvSpPr/>
          <p:nvPr/>
        </p:nvSpPr>
        <p:spPr>
          <a:xfrm>
            <a:off x="8283176" y="4387291"/>
            <a:ext cx="214137" cy="983162"/>
          </a:xfrm>
          <a:prstGeom prst="ellipse">
            <a:avLst/>
          </a:prstGeom>
          <a:noFill/>
          <a:ln w="44450">
            <a:solidFill>
              <a:srgbClr val="C62828"/>
            </a:solidFill>
          </a:ln>
        </p:spPr>
        <p:txBody>
          <a:bodyPr rtlCol="0" anchor="ctr"/>
          <a:lstStyle/>
          <a:p>
            <a:pPr algn="ctr"/>
          </a:p>
        </p:txBody>
      </p:sp>
      <p:sp>
        <p:nvSpPr>
          <p:cNvPr id="14" name="Oval 13"/>
          <p:cNvSpPr/>
          <p:nvPr/>
        </p:nvSpPr>
        <p:spPr>
          <a:xfrm>
            <a:off x="8568692" y="4317065"/>
            <a:ext cx="249826" cy="948049"/>
          </a:xfrm>
          <a:prstGeom prst="ellipse">
            <a:avLst/>
          </a:prstGeom>
          <a:noFill/>
          <a:ln w="44450">
            <a:solidFill>
              <a:srgbClr val="1F5FAD"/>
            </a:solidFill>
          </a:ln>
        </p:spPr>
        <p:txBody>
          <a:bodyPr rtlCol="0" anchor="ctr"/>
          <a:lstStyle/>
          <a:p>
            <a:pPr algn="ctr"/>
          </a:p>
        </p:txBody>
      </p:sp>
      <p:sp>
        <p:nvSpPr>
          <p:cNvPr id="15" name="Oval 14"/>
          <p:cNvSpPr/>
          <p:nvPr/>
        </p:nvSpPr>
        <p:spPr>
          <a:xfrm>
            <a:off x="7610229"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56002" y="405627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98760" y="3740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7.8 -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final bullish group uses the same volume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final bullish group asks whether the middle bar stays quiet while the final bar closes near its high. Here is the invented example: middle volume is 0.7 million and the final bar closes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802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34778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41101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07215" y="332107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high-volume final bar near its high can make the bullish reversal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bullish drawings complete the group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middle bar, red </a:t>
            </a:r>
            <a:r>
              <a:rPr sz="1700" b="1" i="0">
                <a:solidFill>
                  <a:srgbClr val="C62828"/>
                </a:solidFill>
                <a:latin typeface="Arial"/>
              </a:rPr>
              <a:t>(2)</a:t>
            </a:r>
            <a:r>
              <a:rPr sz="1700" b="0" i="0">
                <a:solidFill>
                  <a:srgbClr val="1A1A1A"/>
                </a:solidFill>
                <a:latin typeface="Arial"/>
              </a:rPr>
              <a:t> the final high, and blue </a:t>
            </a:r>
            <a:r>
              <a:rPr sz="1700" b="1" i="0">
                <a:solidFill>
                  <a:srgbClr val="1F5FAD"/>
                </a:solidFill>
                <a:latin typeface="Arial"/>
              </a:rPr>
              <a:t>(3)</a:t>
            </a:r>
            <a:r>
              <a:rPr sz="1700" b="0" i="0">
                <a:solidFill>
                  <a:srgbClr val="1A1A1A"/>
                </a:solidFill>
                <a:latin typeface="Arial"/>
              </a:rPr>
              <a:t> the final volume column. The outer bars carry the bullish direction while the middle bar is commonly quieter.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q-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559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QQ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Keep the final-bar rule potential, not certain. (Lim,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7.9, form 4: the bullish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gap down, red </a:t>
            </a:r>
            <a:r>
              <a:rPr sz="1900" b="1" i="0">
                <a:solidFill>
                  <a:srgbClr val="C62828"/>
                </a:solidFill>
                <a:latin typeface="Arial"/>
              </a:rPr>
              <a:t>(2)</a:t>
            </a:r>
            <a:r>
              <a:rPr sz="1900" b="0" i="0">
                <a:solidFill>
                  <a:srgbClr val="1A1A1A"/>
                </a:solidFill>
                <a:latin typeface="Arial"/>
              </a:rPr>
              <a:t> the middle bar, and blue </a:t>
            </a:r>
            <a:r>
              <a:rPr sz="1900" b="1" i="0">
                <a:solidFill>
                  <a:srgbClr val="1F5FAD"/>
                </a:solidFill>
                <a:latin typeface="Arial"/>
              </a:rPr>
              <a:t>(3)</a:t>
            </a:r>
            <a:r>
              <a:rPr sz="1900" b="0" i="0">
                <a:solidFill>
                  <a:srgbClr val="1A1A1A"/>
                </a:solidFill>
                <a:latin typeface="Arial"/>
              </a:rPr>
              <a:t> the final bar closing near its high after the gap up.</a:t>
            </a:r>
          </a:p>
          <a:p>
            <a:pPr algn="l">
              <a:lnSpc>
                <a:spcPct val="105000"/>
              </a:lnSpc>
              <a:spcBef>
                <a:spcPts val="0"/>
              </a:spcBef>
              <a:spcAft>
                <a:spcPts val="1100"/>
              </a:spcAft>
            </a:pPr>
            <a:r>
              <a:rPr sz="1900" b="0" i="0">
                <a:solidFill>
                  <a:srgbClr val="1A1A1A"/>
                </a:solidFill>
                <a:latin typeface="Arial"/>
              </a:rPr>
              <a:t>The figure shows the bars and gaps only. Use the course chart for invented volume values.</a:t>
            </a:r>
          </a:p>
          <a:p>
            <a:pPr algn="l">
              <a:lnSpc>
                <a:spcPct val="105000"/>
              </a:lnSpc>
              <a:spcBef>
                <a:spcPts val="0"/>
              </a:spcBef>
              <a:spcAft>
                <a:spcPts val="1100"/>
              </a:spcAft>
            </a:pPr>
            <a:r>
              <a:rPr sz="1900" b="0" i="0">
                <a:solidFill>
                  <a:srgbClr val="1A1A1A"/>
                </a:solidFill>
                <a:latin typeface="Arial"/>
              </a:rPr>
              <a:t>Multiple-bar forms now add a longer intermediate sequence.</a:t>
            </a:r>
          </a:p>
        </p:txBody>
      </p:sp>
      <p:sp>
        <p:nvSpPr>
          <p:cNvPr id="8" name="Rectangle 7"/>
          <p:cNvSpPr/>
          <p:nvPr/>
        </p:nvSpPr>
        <p:spPr>
          <a:xfrm>
            <a:off x="5626338" y="1810512"/>
            <a:ext cx="509953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45210" y="1929384"/>
            <a:ext cx="486179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45210" y="1929384"/>
            <a:ext cx="48617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19530" y="2203703"/>
            <a:ext cx="43131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A readable crop of the fourth triple bullish formation: the second bar gaps down and the third bar gaps up and closes near its high.</a:t>
            </a:r>
          </a:p>
        </p:txBody>
      </p:sp>
      <p:sp>
        <p:nvSpPr>
          <p:cNvPr id="12" name="Oval 11"/>
          <p:cNvSpPr/>
          <p:nvPr/>
        </p:nvSpPr>
        <p:spPr>
          <a:xfrm>
            <a:off x="7252366" y="4317065"/>
            <a:ext cx="194471" cy="491581"/>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7398220" y="4457517"/>
            <a:ext cx="194472" cy="0"/>
          </a:xfrm>
          <a:prstGeom prst="line">
            <a:avLst/>
          </a:prstGeom>
          <a:ln w="44450">
            <a:solidFill>
              <a:srgbClr val="C62828"/>
            </a:solidFill>
          </a:ln>
        </p:spPr>
      </p:cxnSp>
      <p:sp>
        <p:nvSpPr>
          <p:cNvPr id="14" name="Oval 13"/>
          <p:cNvSpPr/>
          <p:nvPr/>
        </p:nvSpPr>
        <p:spPr>
          <a:xfrm>
            <a:off x="7641310" y="4317065"/>
            <a:ext cx="194471" cy="561807"/>
          </a:xfrm>
          <a:prstGeom prst="ellipse">
            <a:avLst/>
          </a:prstGeom>
          <a:noFill/>
          <a:ln w="44450">
            <a:solidFill>
              <a:srgbClr val="1F5FAD"/>
            </a:solidFill>
          </a:ln>
        </p:spPr>
        <p:txBody>
          <a:bodyPr rtlCol="0" anchor="ctr"/>
          <a:lstStyle/>
          <a:p>
            <a:pPr algn="ctr"/>
          </a:p>
        </p:txBody>
      </p:sp>
      <p:sp>
        <p:nvSpPr>
          <p:cNvPr id="15" name="Oval 14"/>
          <p:cNvSpPr/>
          <p:nvPr/>
        </p:nvSpPr>
        <p:spPr>
          <a:xfrm>
            <a:off x="6951064"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31715" y="41265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777569"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7.9 - Lim, The Handbook of Technical Analysis (Wiley, 2016)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bearish forms can contain a volume exception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multiple bearish forms, where the intermediate bars are usually quiet but one pattern allows a wide, high-volume exception. Here is the invented sequence: intermediate volumes are 0.6, 0.8, 3.8, and 0.7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63272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84669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489399" y="35486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36766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811682"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Intermediate volume is normally low, but pattern 2 can be bearish with high volume.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multiple forms reverse that sequence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multiple forms use the same idea in the other direction: intermediate bars are usually quiet, with a possible wide, high-volume exception. Here is the invented sequence: the two quiet middle volumes are 0.6 and 0.8 million shares; the wide exception is 3.8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762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5166548" y="43398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5143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91263"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bullish converse normally has one narrow intermediate bar and a final close near its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continuation bar can confirm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Continuation keeps the pattern aligned with an uptrend when a later bar breaks the previous high. Invented example: prior high PHP 52.00; second high PHP 53.20, with volume 4.0 million versus 2.0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93636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371184" y="377958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second bar breaches the previous high on high volume, so intrinsic and trend sentiment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first continuation example breaks the prior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checking the same continuation rule in the book figure: the second bar takes out the previous high and closes near its high. Gold </a:t>
            </a:r>
            <a:r>
              <a:rPr sz="1700" b="1" i="0">
                <a:solidFill>
                  <a:srgbClr val="E09B00"/>
                </a:solidFill>
                <a:latin typeface="Arial"/>
              </a:rPr>
              <a:t>(1)</a:t>
            </a:r>
            <a:r>
              <a:rPr sz="1700" b="0" i="0">
                <a:solidFill>
                  <a:srgbClr val="1A1A1A"/>
                </a:solidFill>
                <a:latin typeface="Arial"/>
              </a:rPr>
              <a:t> marks the prior high, red </a:t>
            </a:r>
            <a:r>
              <a:rPr sz="1700" b="1" i="0">
                <a:solidFill>
                  <a:srgbClr val="C62828"/>
                </a:solidFill>
                <a:latin typeface="Arial"/>
              </a:rPr>
              <a:t>(2)</a:t>
            </a:r>
            <a:r>
              <a:rPr sz="1700" b="0" i="0">
                <a:solidFill>
                  <a:srgbClr val="1A1A1A"/>
                </a:solidFill>
                <a:latin typeface="Arial"/>
              </a:rPr>
              <a:t> the breach, and blue </a:t>
            </a:r>
            <a:r>
              <a:rPr sz="1700" b="1" i="0">
                <a:solidFill>
                  <a:srgbClr val="1F5FAD"/>
                </a:solidFill>
                <a:latin typeface="Arial"/>
              </a:rPr>
              <a:t>(3)</a:t>
            </a:r>
            <a:r>
              <a:rPr sz="1700" b="0" i="0">
                <a:solidFill>
                  <a:srgbClr val="1A1A1A"/>
                </a:solidFill>
                <a:latin typeface="Arial"/>
              </a:rPr>
              <a:t> the second bar closing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68163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7785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5975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3210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QT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 presents this as a bullish continuation example, where the pattern and trend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prior high, red </a:t>
            </a:r>
            <a:r>
              <a:rPr sz="2000" b="1" i="0">
                <a:solidFill>
                  <a:srgbClr val="C62828"/>
                </a:solidFill>
                <a:latin typeface="Arial"/>
              </a:rPr>
              <a:t>(2)</a:t>
            </a:r>
            <a:r>
              <a:rPr sz="2000" b="0" i="0">
                <a:solidFill>
                  <a:srgbClr val="1A1A1A"/>
                </a:solidFill>
                <a:latin typeface="Arial"/>
              </a:rPr>
              <a:t> the second bar, and blue </a:t>
            </a:r>
            <a:r>
              <a:rPr sz="2000" b="1" i="0">
                <a:solidFill>
                  <a:srgbClr val="1F5FAD"/>
                </a:solidFill>
                <a:latin typeface="Arial"/>
              </a:rPr>
              <a:t>(3)</a:t>
            </a:r>
            <a:r>
              <a:rPr sz="2000" b="0" i="0">
                <a:solidFill>
                  <a:srgbClr val="1A1A1A"/>
                </a:solidFill>
                <a:latin typeface="Arial"/>
              </a:rPr>
              <a:t> its close near the high.</a:t>
            </a:r>
          </a:p>
          <a:p>
            <a:pPr algn="l">
              <a:lnSpc>
                <a:spcPct val="105000"/>
              </a:lnSpc>
              <a:spcBef>
                <a:spcPts val="0"/>
              </a:spcBef>
              <a:spcAft>
                <a:spcPts val="1100"/>
              </a:spcAft>
            </a:pPr>
            <a:r>
              <a:rPr sz="2000" b="0" i="0">
                <a:solidFill>
                  <a:srgbClr val="1A1A1A"/>
                </a:solidFill>
                <a:latin typeface="Arial"/>
              </a:rPr>
              <a:t>Lim presents this as bullish continuation when the pattern agrees with the trend. The crop has no volume panel.</a:t>
            </a:r>
          </a:p>
          <a:p>
            <a:pPr algn="l">
              <a:lnSpc>
                <a:spcPct val="105000"/>
              </a:lnSpc>
              <a:spcBef>
                <a:spcPts val="0"/>
              </a:spcBef>
              <a:spcAft>
                <a:spcPts val="1100"/>
              </a:spcAft>
            </a:pPr>
            <a:r>
              <a:rPr sz="2000" b="0" i="0">
                <a:solidFill>
                  <a:srgbClr val="1A1A1A"/>
                </a:solidFill>
                <a:latin typeface="Arial"/>
              </a:rPr>
              <a:t>The second continuation form adds a midpoint retrace.</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2" name="Connector 11"/>
          <p:cNvCxnSpPr/>
          <p:nvPr/>
        </p:nvCxnSpPr>
        <p:spPr>
          <a:xfrm>
            <a:off x="7348377" y="2793162"/>
            <a:ext cx="695839" cy="0"/>
          </a:xfrm>
          <a:prstGeom prst="line">
            <a:avLst/>
          </a:prstGeom>
          <a:ln w="44450">
            <a:solidFill>
              <a:srgbClr val="E09B00"/>
            </a:solidFill>
          </a:ln>
        </p:spPr>
      </p:cxnSp>
      <p:sp>
        <p:nvSpPr>
          <p:cNvPr id="13" name="Oval 12"/>
          <p:cNvSpPr/>
          <p:nvPr/>
        </p:nvSpPr>
        <p:spPr>
          <a:xfrm>
            <a:off x="7734954" y="2133039"/>
            <a:ext cx="350193" cy="558296"/>
          </a:xfrm>
          <a:prstGeom prst="ellipse">
            <a:avLst/>
          </a:prstGeom>
          <a:noFill/>
          <a:ln w="44450">
            <a:solidFill>
              <a:srgbClr val="C62828"/>
            </a:solidFill>
          </a:ln>
        </p:spPr>
        <p:txBody>
          <a:bodyPr rtlCol="0" anchor="ctr"/>
          <a:lstStyle/>
          <a:p>
            <a:pPr algn="ctr"/>
          </a:p>
        </p:txBody>
      </p:sp>
      <p:sp>
        <p:nvSpPr>
          <p:cNvPr id="14" name="Oval 13"/>
          <p:cNvSpPr/>
          <p:nvPr/>
        </p:nvSpPr>
        <p:spPr>
          <a:xfrm>
            <a:off x="7694023" y="2133039"/>
            <a:ext cx="391124" cy="558296"/>
          </a:xfrm>
          <a:prstGeom prst="ellipse">
            <a:avLst/>
          </a:prstGeom>
          <a:noFill/>
          <a:ln w="44450">
            <a:solidFill>
              <a:srgbClr val="1F5FAD"/>
            </a:solidFill>
          </a:ln>
        </p:spPr>
        <p:txBody>
          <a:bodyPr rtlCol="0" anchor="ctr"/>
          <a:lstStyle/>
          <a:p>
            <a:pPr algn="ctr"/>
          </a:p>
        </p:txBody>
      </p:sp>
      <p:sp>
        <p:nvSpPr>
          <p:cNvPr id="15" name="Oval 14"/>
          <p:cNvSpPr/>
          <p:nvPr/>
        </p:nvSpPr>
        <p:spPr>
          <a:xfrm>
            <a:off x="6792709"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1161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11618" y="30028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50 percent retrace can still continue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second bullish continuation pattern starts with a retracement to the 50 percent level, then asks whether price rebounds through the old high. Here is the invented example. The previous bar runs from PHP 48.00 to PHP 52.00, so its 50 percent level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23383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4745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758655" y="411986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906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next price retraces to PHP 50.00, rebounds to PHP 52.40 on 4.0 million shares, and breaches PHP 52.00.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bullish continuation pattern 1 show?</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down</a:t>
            </a:r>
          </a:p>
          <a:p>
            <a:pPr algn="l">
              <a:lnSpc>
                <a:spcPct val="105000"/>
              </a:lnSpc>
              <a:spcBef>
                <a:spcPts val="0"/>
              </a:spcBef>
              <a:spcAft>
                <a:spcPts val="200"/>
              </a:spcAft>
            </a:pPr>
            <a:r>
              <a:rPr sz="1700" b="0" i="0">
                <a:solidFill>
                  <a:srgbClr val="FFFFFF"/>
                </a:solidFill>
                <a:latin typeface="Arial"/>
              </a:rPr>
              <a:t>B.  A lower close</a:t>
            </a:r>
          </a:p>
          <a:p>
            <a:pPr algn="l">
              <a:lnSpc>
                <a:spcPct val="105000"/>
              </a:lnSpc>
              <a:spcBef>
                <a:spcPts val="0"/>
              </a:spcBef>
              <a:spcAft>
                <a:spcPts val="200"/>
              </a:spcAft>
            </a:pPr>
            <a:r>
              <a:rPr sz="1700" b="0" i="0">
                <a:solidFill>
                  <a:srgbClr val="FFFFFF"/>
                </a:solidFill>
                <a:latin typeface="Arial"/>
              </a:rPr>
              <a:t>C.  A second bar closing near its high</a:t>
            </a:r>
          </a:p>
          <a:p>
            <a:pPr algn="l">
              <a:lnSpc>
                <a:spcPct val="105000"/>
              </a:lnSpc>
              <a:spcBef>
                <a:spcPts val="0"/>
              </a:spcBef>
              <a:spcAft>
                <a:spcPts val="200"/>
              </a:spcAft>
            </a:pPr>
            <a:r>
              <a:rPr sz="1700" b="0" i="0">
                <a:solidFill>
                  <a:srgbClr val="FFFFFF"/>
                </a:solidFill>
                <a:latin typeface="Arial"/>
              </a:rPr>
              <a:t>D.  A close below support</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makes pattern 2 bullish continuation?</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stops at the midpoint</a:t>
            </a:r>
          </a:p>
          <a:p>
            <a:pPr algn="l">
              <a:lnSpc>
                <a:spcPct val="105000"/>
              </a:lnSpc>
              <a:spcBef>
                <a:spcPts val="0"/>
              </a:spcBef>
              <a:spcAft>
                <a:spcPts val="200"/>
              </a:spcAft>
            </a:pPr>
            <a:r>
              <a:rPr sz="1700" b="0" i="0">
                <a:solidFill>
                  <a:srgbClr val="FFFFFF"/>
                </a:solidFill>
                <a:latin typeface="Arial"/>
              </a:rPr>
              <a:t>B.  It makes no new high</a:t>
            </a:r>
          </a:p>
          <a:p>
            <a:pPr algn="l">
              <a:lnSpc>
                <a:spcPct val="105000"/>
              </a:lnSpc>
              <a:spcBef>
                <a:spcPts val="0"/>
              </a:spcBef>
              <a:spcAft>
                <a:spcPts val="200"/>
              </a:spcAft>
            </a:pPr>
            <a:r>
              <a:rPr sz="1700" b="0" i="0">
                <a:solidFill>
                  <a:srgbClr val="FFFFFF"/>
                </a:solidFill>
                <a:latin typeface="Arial"/>
              </a:rPr>
              <a:t>C.  It uses only volume</a:t>
            </a:r>
          </a:p>
          <a:p>
            <a:pPr algn="l">
              <a:lnSpc>
                <a:spcPct val="105000"/>
              </a:lnSpc>
              <a:spcBef>
                <a:spcPts val="0"/>
              </a:spcBef>
              <a:spcAft>
                <a:spcPts val="200"/>
              </a:spcAft>
            </a:pPr>
            <a:r>
              <a:rPr sz="1700" b="0" i="0">
                <a:solidFill>
                  <a:srgbClr val="FFFFFF"/>
                </a:solidFill>
                <a:latin typeface="Arial"/>
              </a:rPr>
              <a:t>D.  50% retrace, then breach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bullish continuation pattern 1 show?</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 second bar closing near its high</a:t>
            </a:r>
          </a:p>
          <a:p>
            <a:pPr algn="l">
              <a:lnSpc>
                <a:spcPct val="115000"/>
              </a:lnSpc>
              <a:spcBef>
                <a:spcPts val="500"/>
              </a:spcBef>
              <a:spcAft>
                <a:spcPts val="0"/>
              </a:spcAft>
            </a:pPr>
            <a:r>
              <a:rPr sz="1700" b="0" i="0">
                <a:solidFill>
                  <a:srgbClr val="1A1A1A"/>
                </a:solidFill>
                <a:latin typeface="Arial"/>
              </a:rPr>
              <a:t>The Figure 7.12 crop shows a second bar closing near its high after the prior bar.</a:t>
            </a:r>
          </a:p>
        </p:txBody>
      </p:sp>
      <p:sp>
        <p:nvSpPr>
          <p:cNvPr id="10" name="Rectangle 9"/>
          <p:cNvSpPr/>
          <p:nvPr/>
        </p:nvSpPr>
        <p:spPr>
          <a:xfrm>
            <a:off x="777240" y="3888613"/>
            <a:ext cx="466344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makes pattern 2 bullish continuation?</a:t>
            </a:r>
          </a:p>
        </p:txBody>
      </p:sp>
      <p:sp>
        <p:nvSpPr>
          <p:cNvPr id="13" name="TextBox 12"/>
          <p:cNvSpPr txBox="1"/>
          <p:nvPr/>
        </p:nvSpPr>
        <p:spPr>
          <a:xfrm>
            <a:off x="1097280" y="4750943"/>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50% retrace, then breach old high</a:t>
            </a:r>
          </a:p>
          <a:p>
            <a:pPr algn="l">
              <a:lnSpc>
                <a:spcPct val="115000"/>
              </a:lnSpc>
              <a:spcBef>
                <a:spcPts val="500"/>
              </a:spcBef>
              <a:spcAft>
                <a:spcPts val="0"/>
              </a:spcAft>
            </a:pPr>
            <a:r>
              <a:rPr sz="1700" b="0" i="0">
                <a:solidFill>
                  <a:srgbClr val="1A1A1A"/>
                </a:solidFill>
                <a:latin typeface="Arial"/>
              </a:rPr>
              <a:t>Pattern 2 needs a 50 percent retrace, then a rebound above the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second continuation example retraces halfway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continuation bar, red </a:t>
            </a:r>
            <a:r>
              <a:rPr sz="1700" b="1" i="0">
                <a:solidFill>
                  <a:srgbClr val="C62828"/>
                </a:solidFill>
                <a:latin typeface="Arial"/>
              </a:rPr>
              <a:t>(2)</a:t>
            </a:r>
            <a:r>
              <a:rPr sz="1700" b="0" i="0">
                <a:solidFill>
                  <a:srgbClr val="1A1A1A"/>
                </a:solidFill>
                <a:latin typeface="Arial"/>
              </a:rPr>
              <a:t> the midpoint retrace, and blue </a:t>
            </a:r>
            <a:r>
              <a:rPr sz="1700" b="1" i="0">
                <a:solidFill>
                  <a:srgbClr val="1F5FAD"/>
                </a:solidFill>
                <a:latin typeface="Arial"/>
              </a:rPr>
              <a:t>(3)</a:t>
            </a:r>
            <a:r>
              <a:rPr sz="1700" b="0" i="0">
                <a:solidFill>
                  <a:srgbClr val="1A1A1A"/>
                </a:solidFill>
                <a:latin typeface="Arial"/>
              </a:rPr>
              <a:t> the rebound above it. The book labels the midpoint as 50% of the first bar. The crop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59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959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2459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75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13905" y="372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678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QU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bearish reverse applies the same structure downward. (Lim,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2</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red </a:t>
            </a:r>
            <a:r>
              <a:rPr sz="1800" b="1" i="0">
                <a:solidFill>
                  <a:srgbClr val="C62828"/>
                </a:solidFill>
                <a:latin typeface="Arial"/>
              </a:rPr>
              <a:t>(2)</a:t>
            </a:r>
            <a:r>
              <a:rPr sz="1800" b="0" i="0">
                <a:solidFill>
                  <a:srgbClr val="1A1A1A"/>
                </a:solidFill>
                <a:latin typeface="Arial"/>
              </a:rPr>
              <a:t> the 50% midpoint retrace, and blue </a:t>
            </a:r>
            <a:r>
              <a:rPr sz="1800" b="1" i="0">
                <a:solidFill>
                  <a:srgbClr val="1F5FAD"/>
                </a:solidFill>
                <a:latin typeface="Arial"/>
              </a:rPr>
              <a:t>(3)</a:t>
            </a:r>
            <a:r>
              <a:rPr sz="1800" b="0" i="0">
                <a:solidFill>
                  <a:srgbClr val="1A1A1A"/>
                </a:solidFill>
                <a:latin typeface="Arial"/>
              </a:rPr>
              <a:t> the rebound through the old high.</a:t>
            </a:r>
          </a:p>
          <a:p>
            <a:pPr algn="l">
              <a:lnSpc>
                <a:spcPct val="105000"/>
              </a:lnSpc>
              <a:spcBef>
                <a:spcPts val="0"/>
              </a:spcBef>
              <a:spcAft>
                <a:spcPts val="1100"/>
              </a:spcAft>
            </a:pPr>
            <a:r>
              <a:rPr sz="1800" b="0" i="0">
                <a:solidFill>
                  <a:srgbClr val="1A1A1A"/>
                </a:solidFill>
                <a:latin typeface="Arial"/>
              </a:rPr>
              <a:t>The crop shows the midpoint level but no volume panel; the course chart supplies invented volume separately.</a:t>
            </a:r>
          </a:p>
          <a:p>
            <a:pPr algn="l">
              <a:lnSpc>
                <a:spcPct val="105000"/>
              </a:lnSpc>
              <a:spcBef>
                <a:spcPts val="0"/>
              </a:spcBef>
              <a:spcAft>
                <a:spcPts val="1100"/>
              </a:spcAft>
            </a:pPr>
            <a:r>
              <a:rPr sz="1800" b="0" i="0">
                <a:solidFill>
                  <a:srgbClr val="1A1A1A"/>
                </a:solidFill>
                <a:latin typeface="Arial"/>
              </a:rPr>
              <a:t>The 16 reversal characteristics explain when a move may be losing energy.</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second simple bullish continuation formation: a second bar retracing to the first bar's midpoint before rebounding.</a:t>
            </a:r>
          </a:p>
        </p:txBody>
      </p:sp>
      <p:sp>
        <p:nvSpPr>
          <p:cNvPr id="12" name="Oval 11"/>
          <p:cNvSpPr/>
          <p:nvPr/>
        </p:nvSpPr>
        <p:spPr>
          <a:xfrm>
            <a:off x="8630903" y="2736982"/>
            <a:ext cx="363837" cy="1018275"/>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539944" y="2877433"/>
            <a:ext cx="773154" cy="0"/>
          </a:xfrm>
          <a:prstGeom prst="line">
            <a:avLst/>
          </a:prstGeom>
          <a:ln w="44450">
            <a:solidFill>
              <a:srgbClr val="C62828"/>
            </a:solidFill>
          </a:ln>
        </p:spPr>
      </p:cxnSp>
      <p:sp>
        <p:nvSpPr>
          <p:cNvPr id="14" name="Oval 13"/>
          <p:cNvSpPr/>
          <p:nvPr/>
        </p:nvSpPr>
        <p:spPr>
          <a:xfrm>
            <a:off x="8994741" y="2140061"/>
            <a:ext cx="272877" cy="842711"/>
          </a:xfrm>
          <a:prstGeom prst="ellipse">
            <a:avLst/>
          </a:prstGeom>
          <a:noFill/>
          <a:ln w="44450">
            <a:solidFill>
              <a:srgbClr val="1F5FAD"/>
            </a:solidFill>
          </a:ln>
        </p:spPr>
        <p:txBody>
          <a:bodyPr rtlCol="0" anchor="ctr"/>
          <a:lstStyle/>
          <a:p>
            <a:pPr algn="ctr"/>
          </a:p>
        </p:txBody>
      </p:sp>
      <p:sp>
        <p:nvSpPr>
          <p:cNvPr id="15" name="Oval 14"/>
          <p:cNvSpPr/>
          <p:nvPr/>
        </p:nvSpPr>
        <p:spPr>
          <a:xfrm>
            <a:off x="8248057" y="244108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76008"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94089" y="191438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characteristics show a move losing energy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are starting the 16 reversal characteristics with the way a price move can lose energy before a reversal or retracement.</a:t>
            </a:r>
          </a:p>
          <a:p>
            <a:pPr algn="l">
              <a:lnSpc>
                <a:spcPct val="118000"/>
              </a:lnSpc>
              <a:spcBef>
                <a:spcPts val="0"/>
              </a:spcBef>
              <a:spcAft>
                <a:spcPts val="1300"/>
              </a:spcAft>
            </a:pPr>
            <a:r>
              <a:rPr sz="2100" b="0" i="0">
                <a:solidFill>
                  <a:srgbClr val="1A1A1A"/>
                </a:solidFill>
                <a:latin typeface="Arial"/>
              </a:rPr>
              <a:t>Characteristics 1 and 2 are cycle amplitude and cycle period: amplitude decreases from 40 to 30 points, while period decreases from 20 to 12 bars.</a:t>
            </a:r>
          </a:p>
          <a:p>
            <a:pPr algn="l">
              <a:lnSpc>
                <a:spcPct val="118000"/>
              </a:lnSpc>
              <a:spcBef>
                <a:spcPts val="0"/>
              </a:spcBef>
              <a:spcAft>
                <a:spcPts val="1300"/>
              </a:spcAft>
            </a:pPr>
            <a:r>
              <a:rPr sz="2100" b="0" i="0">
                <a:solidFill>
                  <a:srgbClr val="1A1A1A"/>
                </a:solidFill>
                <a:latin typeface="Arial"/>
              </a:rPr>
              <a:t>Characteristics 3 and 4 are bar retracement symmetry and average range: symmetry changes from 28, 30, and 26 bars to 14 bars, while range falls from 3.0 to 2.0.</a:t>
            </a:r>
          </a:p>
          <a:p>
            <a:pPr algn="l">
              <a:lnSpc>
                <a:spcPct val="118000"/>
              </a:lnSpc>
              <a:spcBef>
                <a:spcPts val="0"/>
              </a:spcBef>
              <a:spcAft>
                <a:spcPts val="1300"/>
              </a:spcAft>
            </a:pPr>
            <a:r>
              <a:rPr sz="2100" b="0" i="0">
                <a:solidFill>
                  <a:srgbClr val="1A1A1A"/>
                </a:solidFill>
                <a:latin typeface="Arial"/>
              </a:rPr>
              <a:t>These are invented values showing the direction. The characteristics indicate potential, never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Four more characteristics describe weaker follow-through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Characteristics 5 to 8 ask whether price persists and bar measures weaken. Characteristic 5 is price persistence, whose quality falls; characteristic 6 is bar stochastic, which falls from 0.80 to 0.40. The book's terms stay connected to their earlier FIN1209 definitions.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Characteristic 7 is BRR, taught in Chapter 5, and falls from 0.60 to 0.25; characteristic 8 is angular symmetry and momentum, changing from 20 to 35 degrees.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first half</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earlier chapter taught BRR, the real body to range ratio?</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Chapter 8</a:t>
            </a:r>
          </a:p>
          <a:p>
            <a:pPr algn="l">
              <a:lnSpc>
                <a:spcPct val="112000"/>
              </a:lnSpc>
              <a:spcBef>
                <a:spcPts val="0"/>
              </a:spcBef>
              <a:spcAft>
                <a:spcPts val="900"/>
              </a:spcAft>
            </a:pPr>
            <a:r>
              <a:rPr sz="1500" b="0" i="0">
                <a:solidFill>
                  <a:srgbClr val="FFFFFF"/>
                </a:solidFill>
                <a:latin typeface="Arial"/>
              </a:rPr>
              <a:t>B.  Chapter 5</a:t>
            </a:r>
          </a:p>
          <a:p>
            <a:pPr algn="l">
              <a:lnSpc>
                <a:spcPct val="112000"/>
              </a:lnSpc>
              <a:spcBef>
                <a:spcPts val="0"/>
              </a:spcBef>
              <a:spcAft>
                <a:spcPts val="900"/>
              </a:spcAft>
            </a:pPr>
            <a:r>
              <a:rPr sz="1500" b="0" i="0">
                <a:solidFill>
                  <a:srgbClr val="FFFFFF"/>
                </a:solidFill>
                <a:latin typeface="Arial"/>
              </a:rPr>
              <a:t>C.  Chapter 1</a:t>
            </a:r>
          </a:p>
          <a:p>
            <a:pPr algn="l">
              <a:lnSpc>
                <a:spcPct val="112000"/>
              </a:lnSpc>
              <a:spcBef>
                <a:spcPts val="0"/>
              </a:spcBef>
              <a:spcAft>
                <a:spcPts val="900"/>
              </a:spcAft>
            </a:pPr>
            <a:r>
              <a:rPr sz="1500" b="0" i="0">
                <a:solidFill>
                  <a:srgbClr val="FFFFFF"/>
                </a:solidFill>
                <a:latin typeface="Arial"/>
              </a:rPr>
              <a:t>D.  Not named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names angular symmetry and momentum?</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6</a:t>
            </a:r>
          </a:p>
          <a:p>
            <a:pPr algn="l">
              <a:lnSpc>
                <a:spcPct val="112000"/>
              </a:lnSpc>
              <a:spcBef>
                <a:spcPts val="0"/>
              </a:spcBef>
              <a:spcAft>
                <a:spcPts val="900"/>
              </a:spcAft>
            </a:pPr>
            <a:r>
              <a:rPr sz="1500" b="0" i="0">
                <a:solidFill>
                  <a:srgbClr val="FFFFFF"/>
                </a:solidFill>
                <a:latin typeface="Arial"/>
              </a:rPr>
              <a:t>B.  7</a:t>
            </a:r>
          </a:p>
          <a:p>
            <a:pPr algn="l">
              <a:lnSpc>
                <a:spcPct val="112000"/>
              </a:lnSpc>
              <a:spcBef>
                <a:spcPts val="0"/>
              </a:spcBef>
              <a:spcAft>
                <a:spcPts val="900"/>
              </a:spcAft>
            </a:pPr>
            <a:r>
              <a:rPr sz="1500" b="0" i="0">
                <a:solidFill>
                  <a:srgbClr val="FFFFFF"/>
                </a:solidFill>
                <a:latin typeface="Arial"/>
              </a:rPr>
              <a:t>C.  8</a:t>
            </a:r>
          </a:p>
          <a:p>
            <a:pPr algn="l">
              <a:lnSpc>
                <a:spcPct val="112000"/>
              </a:lnSpc>
              <a:spcBef>
                <a:spcPts val="0"/>
              </a:spcBef>
              <a:spcAft>
                <a:spcPts val="900"/>
              </a:spcAft>
            </a:pPr>
            <a:r>
              <a:rPr sz="1500" b="0" i="0">
                <a:solidFill>
                  <a:srgbClr val="FFFFFF"/>
                </a:solidFill>
                <a:latin typeface="Arial"/>
              </a:rPr>
              <a:t>D.  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first half</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earlier chapter taught BRR, the real body to range ratio?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Chapter 5</a:t>
            </a:r>
          </a:p>
          <a:p>
            <a:pPr algn="l">
              <a:lnSpc>
                <a:spcPct val="115000"/>
              </a:lnSpc>
              <a:spcBef>
                <a:spcPts val="700"/>
              </a:spcBef>
              <a:spcAft>
                <a:spcPts val="0"/>
              </a:spcAft>
            </a:pPr>
            <a:r>
              <a:rPr sz="1600" b="0" i="0">
                <a:solidFill>
                  <a:srgbClr val="1A1A1A"/>
                </a:solidFill>
                <a:latin typeface="Arial"/>
              </a:rPr>
              <a:t>Chapter 5 taught the real body to range ratio, recalled here as characteristic 7.</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characteristic names angular symmetry and momentum?</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8</a:t>
            </a:r>
          </a:p>
          <a:p>
            <a:pPr algn="l">
              <a:lnSpc>
                <a:spcPct val="115000"/>
              </a:lnSpc>
              <a:spcBef>
                <a:spcPts val="700"/>
              </a:spcBef>
              <a:spcAft>
                <a:spcPts val="0"/>
              </a:spcAft>
            </a:pPr>
            <a:r>
              <a:rPr sz="1600" b="0" i="0">
                <a:solidFill>
                  <a:srgbClr val="1A1A1A"/>
                </a:solidFill>
                <a:latin typeface="Arial"/>
              </a:rPr>
              <a:t>Characteristic 8 is changes in angular symmetry and momentum.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Location and consolidation add four more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9 to 12 move from bar behaviour to context: barrier proximity, fewer oscillations, larger consolidation, and an exhaustion gap.</a:t>
            </a:r>
          </a:p>
          <a:p>
            <a:pPr algn="l">
              <a:lnSpc>
                <a:spcPct val="118000"/>
              </a:lnSpc>
              <a:spcBef>
                <a:spcPts val="0"/>
              </a:spcBef>
              <a:spcAft>
                <a:spcPts val="1300"/>
              </a:spcAft>
            </a:pPr>
            <a:r>
              <a:rPr sz="2100" b="0" i="0">
                <a:solidFill>
                  <a:srgbClr val="1A1A1A"/>
                </a:solidFill>
                <a:latin typeface="Arial"/>
              </a:rPr>
              <a:t>Characteristic 9 is PHP 1.00 below resistance; characteristic 10 is fewer or shallower oscillations, from 6 to 2.</a:t>
            </a:r>
          </a:p>
          <a:p>
            <a:pPr algn="l">
              <a:lnSpc>
                <a:spcPct val="118000"/>
              </a:lnSpc>
              <a:spcBef>
                <a:spcPts val="0"/>
              </a:spcBef>
              <a:spcAft>
                <a:spcPts val="1300"/>
              </a:spcAft>
            </a:pPr>
            <a:r>
              <a:rPr sz="2100" b="0" i="0">
                <a:solidFill>
                  <a:srgbClr val="1A1A1A"/>
                </a:solidFill>
                <a:latin typeface="Arial"/>
              </a:rPr>
              <a:t>Characteristic 11 is consolidation becoming larger and longer, from 3 to 12 bars; characteristic 12 is an exhaustion gap at PHP 0.80.</a:t>
            </a:r>
          </a:p>
          <a:p>
            <a:pPr algn="l">
              <a:lnSpc>
                <a:spcPct val="118000"/>
              </a:lnSpc>
              <a:spcBef>
                <a:spcPts val="0"/>
              </a:spcBef>
              <a:spcAft>
                <a:spcPts val="1300"/>
              </a:spcAft>
            </a:pPr>
            <a:r>
              <a:rPr sz="2100" b="0" i="0">
                <a:solidFill>
                  <a:srgbClr val="1A1A1A"/>
                </a:solidFill>
                <a:latin typeface="Arial"/>
              </a:rPr>
              <a:t>The gap and barrier terms keep the meanings taught in Chapters 3 and 5.</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location of the pattern matters as much as its shape.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last four characteristics combine range,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13 to 16 ask whether the move is nearly complete, overextended, unusually active, or diverging.</a:t>
            </a:r>
          </a:p>
          <a:p>
            <a:pPr algn="l">
              <a:lnSpc>
                <a:spcPct val="118000"/>
              </a:lnSpc>
              <a:spcBef>
                <a:spcPts val="0"/>
              </a:spcBef>
              <a:spcAft>
                <a:spcPts val="1300"/>
              </a:spcAft>
            </a:pPr>
            <a:r>
              <a:rPr sz="2100" b="0" i="0">
                <a:solidFill>
                  <a:srgbClr val="1A1A1A"/>
                </a:solidFill>
                <a:latin typeface="Arial"/>
              </a:rPr>
              <a:t>Characteristics 13 and 14 are range completion at 9 of 10 points and overextension at PHP 1.00 above resistance.</a:t>
            </a:r>
          </a:p>
          <a:p>
            <a:pPr algn="l">
              <a:lnSpc>
                <a:spcPct val="118000"/>
              </a:lnSpc>
              <a:spcBef>
                <a:spcPts val="0"/>
              </a:spcBef>
              <a:spcAft>
                <a:spcPts val="1300"/>
              </a:spcAft>
            </a:pPr>
            <a:r>
              <a:rPr sz="2100" b="0" i="0">
                <a:solidFill>
                  <a:srgbClr val="1A1A1A"/>
                </a:solidFill>
                <a:latin typeface="Arial"/>
              </a:rPr>
              <a:t>Characteristics 15 and 16 are extreme volume at 5.0 million versus 1.2 million and standard divergence. Chapter 7 gives no oscillator formula.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list ends with range completion, overextension, volume, and divergence.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reversal warnings appear together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using this warning chart to see several reversal characteristics on one price path: changing momentum, fewer oscillations, and overextension. Here is our invented path: price rises from PHP 40.00 to PHP 80.00 in 12 bars, with only two pullbacks.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 names the Bollinger upper band but never gives its formula here. These are potential warnings,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 figure shows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characteristic 8, the exponential rise and changing momentum; red </a:t>
            </a:r>
            <a:r>
              <a:rPr sz="1700" b="1" i="0">
                <a:solidFill>
                  <a:srgbClr val="C62828"/>
                </a:solidFill>
                <a:latin typeface="Arial"/>
              </a:rPr>
              <a:t>(2)</a:t>
            </a:r>
            <a:r>
              <a:rPr sz="1700" b="0" i="0">
                <a:solidFill>
                  <a:srgbClr val="1A1A1A"/>
                </a:solidFill>
                <a:latin typeface="Arial"/>
              </a:rPr>
              <a:t> marks characteristic 10, the few trend oscillations.</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characteristic 14, price overextension against the Bollinger upper band.</a:t>
            </a:r>
          </a:p>
          <a:p>
            <a:pPr algn="l">
              <a:lnSpc>
                <a:spcPct val="105000"/>
              </a:lnSpc>
              <a:spcBef>
                <a:spcPts val="0"/>
              </a:spcBef>
              <a:spcAft>
                <a:spcPts val="1100"/>
              </a:spcAft>
            </a:pPr>
            <a:r>
              <a:rPr sz="1700" b="0" i="0">
                <a:solidFill>
                  <a:srgbClr val="1A1A1A"/>
                </a:solidFill>
                <a:latin typeface="Arial"/>
              </a:rPr>
              <a:t>The figure has no separate volume panel, so this reading does not mark volume.</a:t>
            </a:r>
          </a:p>
          <a:p>
            <a:pPr algn="l">
              <a:lnSpc>
                <a:spcPct val="105000"/>
              </a:lnSpc>
              <a:spcBef>
                <a:spcPts val="0"/>
              </a:spcBef>
              <a:spcAft>
                <a:spcPts val="1100"/>
              </a:spcAft>
            </a:pPr>
            <a:r>
              <a:rPr sz="1700" b="0" i="0">
                <a:solidFill>
                  <a:srgbClr val="1A1A1A"/>
                </a:solidFill>
                <a:latin typeface="Arial"/>
              </a:rPr>
              <a:t>Read the chart as potential evidence, then apply the barrier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Barrier proximity is the reliability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defines barrier proximity as one of the most important reversal characteristics: patterns are more reliable at significant barriers. In Chart RF, gold </a:t>
            </a:r>
            <a:r>
              <a:rPr sz="1700" b="1" i="0">
                <a:solidFill>
                  <a:srgbClr val="E09B00"/>
                </a:solidFill>
                <a:latin typeface="Arial"/>
              </a:rPr>
              <a:t>(1)</a:t>
            </a:r>
            <a:r>
              <a:rPr sz="1700" b="0" i="0">
                <a:solidFill>
                  <a:srgbClr val="1A1A1A"/>
                </a:solidFill>
                <a:latin typeface="Arial"/>
              </a:rPr>
              <a:t> marks the changing rise, red </a:t>
            </a:r>
            <a:r>
              <a:rPr sz="1700" b="1" i="0">
                <a:solidFill>
                  <a:srgbClr val="C62828"/>
                </a:solidFill>
                <a:latin typeface="Arial"/>
              </a:rPr>
              <a:t>(2)</a:t>
            </a:r>
            <a:r>
              <a:rPr sz="1700" b="0" i="0">
                <a:solidFill>
                  <a:srgbClr val="1A1A1A"/>
                </a:solidFill>
                <a:latin typeface="Arial"/>
              </a:rPr>
              <a:t> the visible oscillating segment, and blue </a:t>
            </a:r>
            <a:r>
              <a:rPr sz="1700" b="1" i="0">
                <a:solidFill>
                  <a:srgbClr val="1F5FAD"/>
                </a:solidFill>
                <a:latin typeface="Arial"/>
              </a:rPr>
              <a:t>(3)</a:t>
            </a:r>
            <a:r>
              <a:rPr sz="1700" b="0" i="0">
                <a:solidFill>
                  <a:srgbClr val="1A1A1A"/>
                </a:solidFill>
                <a:latin typeface="Arial"/>
              </a:rPr>
              <a:t> the overextended bar against the upper band.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Check the pattern's barrier context. A barrier raises potential reliability,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item is proximity to a price barrier?</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a:t>
            </a:r>
          </a:p>
          <a:p>
            <a:pPr algn="l">
              <a:lnSpc>
                <a:spcPct val="105000"/>
              </a:lnSpc>
              <a:spcBef>
                <a:spcPts val="0"/>
              </a:spcBef>
              <a:spcAft>
                <a:spcPts val="200"/>
              </a:spcAft>
            </a:pPr>
            <a:r>
              <a:rPr sz="1700" b="0" i="0">
                <a:solidFill>
                  <a:srgbClr val="FFFFFF"/>
                </a:solidFill>
                <a:latin typeface="Arial"/>
              </a:rPr>
              <a:t>B.  10</a:t>
            </a:r>
          </a:p>
          <a:p>
            <a:pPr algn="l">
              <a:lnSpc>
                <a:spcPct val="105000"/>
              </a:lnSpc>
              <a:spcBef>
                <a:spcPts val="0"/>
              </a:spcBef>
              <a:spcAft>
                <a:spcPts val="200"/>
              </a:spcAft>
            </a:pPr>
            <a:r>
              <a:rPr sz="1700" b="0" i="0">
                <a:solidFill>
                  <a:srgbClr val="FFFFFF"/>
                </a:solidFill>
                <a:latin typeface="Arial"/>
              </a:rPr>
              <a:t>C.  14</a:t>
            </a:r>
          </a:p>
          <a:p>
            <a:pPr algn="l">
              <a:lnSpc>
                <a:spcPct val="105000"/>
              </a:lnSpc>
              <a:spcBef>
                <a:spcPts val="0"/>
              </a:spcBef>
              <a:spcAft>
                <a:spcPts val="200"/>
              </a:spcAft>
            </a:pPr>
            <a:r>
              <a:rPr sz="1700" b="0" i="0">
                <a:solidFill>
                  <a:srgbClr val="FFFFFF"/>
                </a:solidFill>
                <a:latin typeface="Arial"/>
              </a:rPr>
              <a:t>D.  9</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three characteristics do Figure 7.13's marks show?</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10, and 14</a:t>
            </a:r>
          </a:p>
          <a:p>
            <a:pPr algn="l">
              <a:lnSpc>
                <a:spcPct val="105000"/>
              </a:lnSpc>
              <a:spcBef>
                <a:spcPts val="0"/>
              </a:spcBef>
              <a:spcAft>
                <a:spcPts val="200"/>
              </a:spcAft>
            </a:pPr>
            <a:r>
              <a:rPr sz="1700" b="0" i="0">
                <a:solidFill>
                  <a:srgbClr val="FFFFFF"/>
                </a:solidFill>
                <a:latin typeface="Arial"/>
              </a:rPr>
              <a:t>B.  1, 2, and 3</a:t>
            </a:r>
          </a:p>
          <a:p>
            <a:pPr algn="l">
              <a:lnSpc>
                <a:spcPct val="105000"/>
              </a:lnSpc>
              <a:spcBef>
                <a:spcPts val="0"/>
              </a:spcBef>
              <a:spcAft>
                <a:spcPts val="200"/>
              </a:spcAft>
            </a:pPr>
            <a:r>
              <a:rPr sz="1700" b="0" i="0">
                <a:solidFill>
                  <a:srgbClr val="FFFFFF"/>
                </a:solidFill>
                <a:latin typeface="Arial"/>
              </a:rPr>
              <a:t>C.  5, 7, and 9</a:t>
            </a:r>
          </a:p>
          <a:p>
            <a:pPr algn="l">
              <a:lnSpc>
                <a:spcPct val="105000"/>
              </a:lnSpc>
              <a:spcBef>
                <a:spcPts val="0"/>
              </a:spcBef>
              <a:spcAft>
                <a:spcPts val="200"/>
              </a:spcAft>
            </a:pPr>
            <a:r>
              <a:rPr sz="1700" b="0" i="0">
                <a:solidFill>
                  <a:srgbClr val="FFFFFF"/>
                </a:solidFill>
                <a:latin typeface="Arial"/>
              </a:rPr>
              <a:t>D.  13, 15, and 16</a:t>
            </a:r>
          </a:p>
        </p:txBody>
      </p:sp>
      <p:sp>
        <p:nvSpPr>
          <p:cNvPr id="14" name="Rectangle 13"/>
          <p:cNvSpPr/>
          <p:nvPr/>
        </p:nvSpPr>
        <p:spPr>
          <a:xfrm>
            <a:off x="5760719" y="1207008"/>
            <a:ext cx="5653735" cy="295116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71342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5622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46920"/>
            <a:ext cx="541599" cy="461281"/>
          </a:xfrm>
          <a:prstGeom prst="ellipse">
            <a:avLst/>
          </a:prstGeom>
          <a:noFill/>
          <a:ln w="44450">
            <a:solidFill>
              <a:srgbClr val="E09B00"/>
            </a:solidFill>
          </a:ln>
        </p:spPr>
        <p:txBody>
          <a:bodyPr rtlCol="0" anchor="ctr"/>
          <a:lstStyle/>
          <a:p>
            <a:pPr algn="ctr"/>
          </a:p>
        </p:txBody>
      </p:sp>
      <p:sp>
        <p:nvSpPr>
          <p:cNvPr id="19" name="Oval 18"/>
          <p:cNvSpPr/>
          <p:nvPr/>
        </p:nvSpPr>
        <p:spPr>
          <a:xfrm>
            <a:off x="8912546" y="3062470"/>
            <a:ext cx="649918" cy="434147"/>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42953"/>
            <a:ext cx="433279" cy="922563"/>
          </a:xfrm>
          <a:prstGeom prst="rect">
            <a:avLst/>
          </a:prstGeom>
          <a:noFill/>
          <a:ln w="44450">
            <a:solidFill>
              <a:srgbClr val="1F5FAD"/>
            </a:solidFill>
          </a:ln>
        </p:spPr>
        <p:txBody>
          <a:bodyPr rtlCol="0" anchor="ctr"/>
          <a:lstStyle/>
          <a:p>
            <a:pPr algn="ctr"/>
          </a:p>
        </p:txBody>
      </p:sp>
      <p:sp>
        <p:nvSpPr>
          <p:cNvPr id="21" name="Oval 20"/>
          <p:cNvSpPr/>
          <p:nvPr/>
        </p:nvSpPr>
        <p:spPr>
          <a:xfrm>
            <a:off x="7051413" y="22289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8259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4603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249614"/>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a:t>
            </a:r>
          </a:p>
        </p:txBody>
      </p:sp>
      <p:sp>
        <p:nvSpPr>
          <p:cNvPr id="6" name="Rectangle 5"/>
          <p:cNvSpPr/>
          <p:nvPr/>
        </p:nvSpPr>
        <p:spPr>
          <a:xfrm>
            <a:off x="777240" y="1207008"/>
            <a:ext cx="466344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item is proximity to a price barrier?</a:t>
            </a:r>
          </a:p>
        </p:txBody>
      </p:sp>
      <p:sp>
        <p:nvSpPr>
          <p:cNvPr id="9" name="TextBox 8"/>
          <p:cNvSpPr txBox="1"/>
          <p:nvPr/>
        </p:nvSpPr>
        <p:spPr>
          <a:xfrm>
            <a:off x="1097280" y="2069338"/>
            <a:ext cx="411480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9</a:t>
            </a:r>
          </a:p>
          <a:p>
            <a:pPr algn="l">
              <a:lnSpc>
                <a:spcPct val="115000"/>
              </a:lnSpc>
              <a:spcBef>
                <a:spcPts val="500"/>
              </a:spcBef>
              <a:spcAft>
                <a:spcPts val="0"/>
              </a:spcAft>
            </a:pPr>
            <a:r>
              <a:rPr sz="1700" b="0" i="0">
                <a:solidFill>
                  <a:srgbClr val="1A1A1A"/>
                </a:solidFill>
                <a:latin typeface="Arial"/>
              </a:rPr>
              <a:t>Characteristic 9 is proximity to a price barrier.</a:t>
            </a:r>
          </a:p>
        </p:txBody>
      </p:sp>
      <p:sp>
        <p:nvSpPr>
          <p:cNvPr id="10" name="Rectangle 9"/>
          <p:cNvSpPr/>
          <p:nvPr/>
        </p:nvSpPr>
        <p:spPr>
          <a:xfrm>
            <a:off x="777240" y="3406647"/>
            <a:ext cx="466344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three characteristics do Figure 7.13's marks show?</a:t>
            </a:r>
          </a:p>
        </p:txBody>
      </p:sp>
      <p:sp>
        <p:nvSpPr>
          <p:cNvPr id="13" name="TextBox 12"/>
          <p:cNvSpPr txBox="1"/>
          <p:nvPr/>
        </p:nvSpPr>
        <p:spPr>
          <a:xfrm>
            <a:off x="1097280" y="4268978"/>
            <a:ext cx="411480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8, 10, and 14</a:t>
            </a:r>
          </a:p>
          <a:p>
            <a:pPr algn="l">
              <a:lnSpc>
                <a:spcPct val="115000"/>
              </a:lnSpc>
              <a:spcBef>
                <a:spcPts val="500"/>
              </a:spcBef>
              <a:spcAft>
                <a:spcPts val="0"/>
              </a:spcAft>
            </a:pPr>
            <a:r>
              <a:rPr sz="1700" b="0" i="0">
                <a:solidFill>
                  <a:srgbClr val="1A1A1A"/>
                </a:solidFill>
                <a:latin typeface="Arial"/>
              </a:rPr>
              <a:t>The figure reads characteristic 8, fewer oscillations in 10, and overextension against a barrier in 14.</a:t>
            </a:r>
          </a:p>
        </p:txBody>
      </p:sp>
      <p:sp>
        <p:nvSpPr>
          <p:cNvPr id="14" name="Rectangle 13"/>
          <p:cNvSpPr/>
          <p:nvPr/>
        </p:nvSpPr>
        <p:spPr>
          <a:xfrm>
            <a:off x="5760719" y="1207008"/>
            <a:ext cx="5653735" cy="2897857"/>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66011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0291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22931"/>
            <a:ext cx="541599" cy="452219"/>
          </a:xfrm>
          <a:prstGeom prst="ellipse">
            <a:avLst/>
          </a:prstGeom>
          <a:noFill/>
          <a:ln w="44450">
            <a:solidFill>
              <a:srgbClr val="E09B00"/>
            </a:solidFill>
          </a:ln>
        </p:spPr>
        <p:txBody>
          <a:bodyPr rtlCol="0" anchor="ctr"/>
          <a:lstStyle/>
          <a:p>
            <a:pPr algn="ctr"/>
          </a:p>
        </p:txBody>
      </p:sp>
      <p:sp>
        <p:nvSpPr>
          <p:cNvPr id="19" name="Oval 18"/>
          <p:cNvSpPr/>
          <p:nvPr/>
        </p:nvSpPr>
        <p:spPr>
          <a:xfrm>
            <a:off x="8912546" y="3028352"/>
            <a:ext cx="649918" cy="425618"/>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38689"/>
            <a:ext cx="433279" cy="904438"/>
          </a:xfrm>
          <a:prstGeom prst="rect">
            <a:avLst/>
          </a:prstGeom>
          <a:noFill/>
          <a:ln w="44450">
            <a:solidFill>
              <a:srgbClr val="1F5FAD"/>
            </a:solidFill>
          </a:ln>
        </p:spPr>
        <p:txBody>
          <a:bodyPr rtlCol="0" anchor="ctr"/>
          <a:lstStyle/>
          <a:p>
            <a:pPr algn="ctr"/>
          </a:p>
        </p:txBody>
      </p:sp>
      <p:sp>
        <p:nvSpPr>
          <p:cNvPr id="21" name="Oval 20"/>
          <p:cNvSpPr/>
          <p:nvPr/>
        </p:nvSpPr>
        <p:spPr>
          <a:xfrm>
            <a:off x="7051413" y="22087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79393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215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196305"/>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16 characteristics point to a potential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Item 9 is proximity to a price barrier, one of the most important reversal characteristics.</a:t>
            </a:r>
          </a:p>
          <a:p>
            <a:pPr algn="l">
              <a:lnSpc>
                <a:spcPct val="105000"/>
              </a:lnSpc>
              <a:spcBef>
                <a:spcPts val="0"/>
              </a:spcBef>
              <a:spcAft>
                <a:spcPts val="1100"/>
              </a:spcAft>
            </a:pPr>
            <a:r>
              <a:rPr sz="1700" b="0" i="0">
                <a:solidFill>
                  <a:srgbClr val="1A1A1A"/>
                </a:solidFill>
                <a:latin typeface="Arial"/>
              </a:rPr>
              <a:t>Figure 7.13's marks read characteristics 8, 10, and 14: angular change and momentum, fewer oscillations, and overextension against a barrier.</a:t>
            </a:r>
          </a:p>
          <a:p>
            <a:pPr algn="l">
              <a:lnSpc>
                <a:spcPct val="105000"/>
              </a:lnSpc>
              <a:spcBef>
                <a:spcPts val="0"/>
              </a:spcBef>
              <a:spcAft>
                <a:spcPts val="1100"/>
              </a:spcAft>
            </a:pPr>
            <a:r>
              <a:rPr sz="1700" b="0" i="0">
                <a:solidFill>
                  <a:srgbClr val="1A1A1A"/>
                </a:solidFill>
                <a:latin typeface="Arial"/>
              </a:rPr>
              <a:t>The book says these are strong indications of a potential trend change or retracement, not a guarantee.</a:t>
            </a:r>
          </a:p>
          <a:p>
            <a:pPr algn="l">
              <a:lnSpc>
                <a:spcPct val="105000"/>
              </a:lnSpc>
              <a:spcBef>
                <a:spcPts val="0"/>
              </a:spcBef>
              <a:spcAft>
                <a:spcPts val="1100"/>
              </a:spcAft>
            </a:pPr>
            <a:r>
              <a:rPr sz="1700" b="0" i="0">
                <a:solidFill>
                  <a:srgbClr val="1A1A1A"/>
                </a:solidFill>
                <a:latin typeface="Arial"/>
              </a:rPr>
              <a:t>Part 3 now applies the context to named reversal bars.</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Let us read the first dedicated bearish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book's drawing to the generic bearish test: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 The book crop has no volume panel; the course chart adds invented volume only to illustrate Lim's surrounding comment.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book's wording is generally and potentially: context changes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read the dedicated bullish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bullish converse to its book drawing: the formation closes above the prior close or high. On our course chart,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bullish pattern in a downtrend is a potential reversal; the same bias in an uptrend is continuation.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multiple-bearish figure shows the final turn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multiple-bearish family from left to right: a high first close, narrow intermediate bars, and a final close near its low.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intermediate sequence, and blue </a:t>
            </a:r>
            <a:r>
              <a:rPr sz="1700" b="1" i="0">
                <a:solidFill>
                  <a:srgbClr val="1F5FAD"/>
                </a:solidFill>
                <a:latin typeface="Arial"/>
              </a:rPr>
              <a:t>(3)</a:t>
            </a:r>
            <a:r>
              <a:rPr sz="1700" b="0" i="0">
                <a:solidFill>
                  <a:srgbClr val="1A1A1A"/>
                </a:solidFill>
                <a:latin typeface="Arial"/>
              </a:rPr>
              <a:t> the final bearish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50434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348294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36022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33614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67128" y="35707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411005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QR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final bar remains the potential decision point.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7.10: multiple bearish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intermediate sequence, and blue </a:t>
            </a:r>
            <a:r>
              <a:rPr sz="2000" b="1" i="0">
                <a:solidFill>
                  <a:srgbClr val="1F5FAD"/>
                </a:solidFill>
                <a:latin typeface="Arial"/>
              </a:rPr>
              <a:t>(3)</a:t>
            </a:r>
            <a:r>
              <a:rPr sz="2000" b="0" i="0">
                <a:solidFill>
                  <a:srgbClr val="1A1A1A"/>
                </a:solidFill>
                <a:latin typeface="Arial"/>
              </a:rPr>
              <a:t> the final close near its low.</a:t>
            </a:r>
          </a:p>
          <a:p>
            <a:pPr algn="l">
              <a:lnSpc>
                <a:spcPct val="105000"/>
              </a:lnSpc>
              <a:spcBef>
                <a:spcPts val="0"/>
              </a:spcBef>
              <a:spcAft>
                <a:spcPts val="1100"/>
              </a:spcAft>
            </a:pPr>
            <a:r>
              <a:rPr sz="2000" b="0" i="0">
                <a:solidFill>
                  <a:srgbClr val="1A1A1A"/>
                </a:solidFill>
                <a:latin typeface="Arial"/>
              </a:rPr>
              <a:t>The crop has no volume panel. Lim's volume exception belongs to the surrounding explanation, not this mark.</a:t>
            </a:r>
          </a:p>
          <a:p>
            <a:pPr algn="l">
              <a:lnSpc>
                <a:spcPct val="105000"/>
              </a:lnSpc>
              <a:spcBef>
                <a:spcPts val="0"/>
              </a:spcBef>
              <a:spcAft>
                <a:spcPts val="1100"/>
              </a:spcAft>
            </a:pPr>
            <a:r>
              <a:rPr sz="2000" b="0" i="0">
                <a:solidFill>
                  <a:srgbClr val="1A1A1A"/>
                </a:solidFill>
                <a:latin typeface="Arial"/>
              </a:rPr>
              <a:t>The bullish multiple family reverses this direction.</a:t>
            </a:r>
          </a:p>
        </p:txBody>
      </p:sp>
      <p:sp>
        <p:nvSpPr>
          <p:cNvPr id="8" name="Rectangle 7"/>
          <p:cNvSpPr/>
          <p:nvPr/>
        </p:nvSpPr>
        <p:spPr>
          <a:xfrm>
            <a:off x="5283606" y="1810512"/>
            <a:ext cx="578500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02478" y="1929384"/>
            <a:ext cx="554725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02478" y="1929384"/>
            <a:ext cx="554725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76798" y="2203703"/>
            <a:ext cx="499861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A readable crop of the first multiple bearish formation: a high first close followed by narrow bars and a final close near its low.</a:t>
            </a:r>
          </a:p>
        </p:txBody>
      </p:sp>
      <p:sp>
        <p:nvSpPr>
          <p:cNvPr id="12" name="Oval 11"/>
          <p:cNvSpPr/>
          <p:nvPr/>
        </p:nvSpPr>
        <p:spPr>
          <a:xfrm>
            <a:off x="6123622" y="2420965"/>
            <a:ext cx="388308"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6428721" y="2280513"/>
            <a:ext cx="432686" cy="56180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6894691" y="2410431"/>
            <a:ext cx="0" cy="653101"/>
          </a:xfrm>
          <a:prstGeom prst="line">
            <a:avLst/>
          </a:prstGeom>
          <a:ln w="44450">
            <a:solidFill>
              <a:srgbClr val="1F5FAD"/>
            </a:solidFill>
          </a:ln>
        </p:spPr>
      </p:cxnSp>
      <p:sp>
        <p:nvSpPr>
          <p:cNvPr id="15" name="Oval 14"/>
          <p:cNvSpPr/>
          <p:nvPr/>
        </p:nvSpPr>
        <p:spPr>
          <a:xfrm>
            <a:off x="5857229"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11207"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11207"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7.10 -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multiple-bullish figure reverses that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multiple-bullish family as the directional converse of Figure 7.10.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narrow middle sequence, and blue </a:t>
            </a:r>
            <a:r>
              <a:rPr sz="1700" b="1" i="0">
                <a:solidFill>
                  <a:srgbClr val="1F5FAD"/>
                </a:solidFill>
                <a:latin typeface="Arial"/>
              </a:rPr>
              <a:t>(3)</a:t>
            </a:r>
            <a:r>
              <a:rPr sz="1700" b="0" i="0">
                <a:solidFill>
                  <a:srgbClr val="1A1A1A"/>
                </a:solidFill>
                <a:latin typeface="Arial"/>
              </a:rPr>
              <a:t> the final close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s-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15777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419892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5826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505507" y="396456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11620" y="39487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16007" y="35460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Carry this rule into the next worked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7.11: multiple bullish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narrow middle sequence, and blue </a:t>
            </a:r>
            <a:r>
              <a:rPr sz="2000" b="1" i="0">
                <a:solidFill>
                  <a:srgbClr val="1F5FAD"/>
                </a:solidFill>
                <a:latin typeface="Arial"/>
              </a:rPr>
              <a:t>(3)</a:t>
            </a:r>
            <a:r>
              <a:rPr sz="2000" b="0" i="0">
                <a:solidFill>
                  <a:srgbClr val="1A1A1A"/>
                </a:solidFill>
                <a:latin typeface="Arial"/>
              </a:rPr>
              <a:t> the final close near its high.</a:t>
            </a:r>
          </a:p>
          <a:p>
            <a:pPr algn="l">
              <a:lnSpc>
                <a:spcPct val="105000"/>
              </a:lnSpc>
              <a:spcBef>
                <a:spcPts val="0"/>
              </a:spcBef>
              <a:spcAft>
                <a:spcPts val="1100"/>
              </a:spcAft>
            </a:pPr>
            <a:r>
              <a:rPr sz="2000" b="0" i="0">
                <a:solidFill>
                  <a:srgbClr val="1A1A1A"/>
                </a:solidFill>
                <a:latin typeface="Arial"/>
              </a:rPr>
              <a:t>The crop has no volume panel, so its marks do not claim the pattern 2 volume exception.</a:t>
            </a:r>
          </a:p>
          <a:p>
            <a:pPr algn="l">
              <a:lnSpc>
                <a:spcPct val="105000"/>
              </a:lnSpc>
              <a:spcBef>
                <a:spcPts val="0"/>
              </a:spcBef>
              <a:spcAft>
                <a:spcPts val="1100"/>
              </a:spcAft>
            </a:pPr>
            <a:r>
              <a:rPr sz="2000" b="0" i="0">
                <a:solidFill>
                  <a:srgbClr val="1A1A1A"/>
                </a:solidFill>
                <a:latin typeface="Arial"/>
              </a:rPr>
              <a:t>We finish by reading the warning context in Figure 7.13.</a:t>
            </a:r>
          </a:p>
        </p:txBody>
      </p:sp>
      <p:sp>
        <p:nvSpPr>
          <p:cNvPr id="8" name="Rectangle 7"/>
          <p:cNvSpPr/>
          <p:nvPr/>
        </p:nvSpPr>
        <p:spPr>
          <a:xfrm>
            <a:off x="5765139" y="1810512"/>
            <a:ext cx="48219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84011" y="1929384"/>
            <a:ext cx="458419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84011" y="1929384"/>
            <a:ext cx="45841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8331" y="2203703"/>
            <a:ext cx="40355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A readable crop of the first multiple bullish formation: a low first close followed by narrow bars and a final close near its high.</a:t>
            </a:r>
          </a:p>
        </p:txBody>
      </p:sp>
      <p:sp>
        <p:nvSpPr>
          <p:cNvPr id="12" name="Oval 11"/>
          <p:cNvSpPr/>
          <p:nvPr/>
        </p:nvSpPr>
        <p:spPr>
          <a:xfrm>
            <a:off x="6617482" y="4106387"/>
            <a:ext cx="137525" cy="456468"/>
          </a:xfrm>
          <a:prstGeom prst="ellipse">
            <a:avLst/>
          </a:prstGeom>
          <a:noFill/>
          <a:ln w="44450">
            <a:solidFill>
              <a:srgbClr val="E09B00"/>
            </a:solidFill>
          </a:ln>
        </p:spPr>
        <p:txBody>
          <a:bodyPr rtlCol="0" anchor="ctr"/>
          <a:lstStyle/>
          <a:p>
            <a:pPr algn="ctr"/>
          </a:p>
        </p:txBody>
      </p:sp>
      <p:sp>
        <p:nvSpPr>
          <p:cNvPr id="13" name="Rectangle 12"/>
          <p:cNvSpPr/>
          <p:nvPr/>
        </p:nvSpPr>
        <p:spPr>
          <a:xfrm>
            <a:off x="6741255" y="4088831"/>
            <a:ext cx="311725" cy="67065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7130911" y="4137989"/>
            <a:ext cx="0" cy="621499"/>
          </a:xfrm>
          <a:prstGeom prst="line">
            <a:avLst/>
          </a:prstGeom>
          <a:ln w="44450">
            <a:solidFill>
              <a:srgbClr val="1F5FAD"/>
            </a:solidFill>
          </a:ln>
        </p:spPr>
      </p:cxnSp>
      <p:sp>
        <p:nvSpPr>
          <p:cNvPr id="15" name="Oval 14"/>
          <p:cNvSpPr/>
          <p:nvPr/>
        </p:nvSpPr>
        <p:spPr>
          <a:xfrm>
            <a:off x="6278666"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149663" y="3740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149663"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7.11 -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dedicated warning chart keeps the context visible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 are checking the same three context clues in the book figure: gold </a:t>
            </a:r>
            <a:r>
              <a:rPr sz="1700" b="1" i="0">
                <a:solidFill>
                  <a:srgbClr val="E09B00"/>
                </a:solidFill>
                <a:latin typeface="Arial"/>
              </a:rPr>
              <a:t>(1)</a:t>
            </a:r>
            <a:r>
              <a:rPr sz="1700" b="0" i="0">
                <a:solidFill>
                  <a:srgbClr val="1A1A1A"/>
                </a:solidFill>
                <a:latin typeface="Arial"/>
              </a:rPr>
              <a:t> marks changing angular momentum, red </a:t>
            </a:r>
            <a:r>
              <a:rPr sz="1700" b="1" i="0">
                <a:solidFill>
                  <a:srgbClr val="C62828"/>
                </a:solidFill>
                <a:latin typeface="Arial"/>
              </a:rPr>
              <a:t>(2)</a:t>
            </a:r>
            <a:r>
              <a:rPr sz="1700" b="0" i="0">
                <a:solidFill>
                  <a:srgbClr val="1A1A1A"/>
                </a:solidFill>
                <a:latin typeface="Arial"/>
              </a:rPr>
              <a:t> fewer oscillations, and blue </a:t>
            </a:r>
            <a:r>
              <a:rPr sz="1700" b="1" i="0">
                <a:solidFill>
                  <a:srgbClr val="1F5FAD"/>
                </a:solidFill>
                <a:latin typeface="Arial"/>
              </a:rPr>
              <a:t>(3)</a:t>
            </a:r>
            <a:r>
              <a:rPr sz="1700" b="0" i="0">
                <a:solidFill>
                  <a:srgbClr val="1A1A1A"/>
                </a:solidFill>
                <a:latin typeface="Arial"/>
              </a:rPr>
              <a:t> overextension at the upper band.</a:t>
            </a:r>
          </a:p>
          <a:p>
            <a:pPr algn="l">
              <a:lnSpc>
                <a:spcPct val="105000"/>
              </a:lnSpc>
              <a:spcBef>
                <a:spcPts val="0"/>
              </a:spcBef>
              <a:spcAft>
                <a:spcPts val="1100"/>
              </a:spcAft>
            </a:pPr>
            <a:r>
              <a:rPr sz="1700" b="0" i="0">
                <a:solidFill>
                  <a:srgbClr val="1A1A1A"/>
                </a:solidFill>
                <a:latin typeface="Arial"/>
              </a:rPr>
              <a:t>The crop has no separate volume panel, so this marked reading does not claim high volume.</a:t>
            </a:r>
          </a:p>
          <a:p>
            <a:pPr algn="l">
              <a:lnSpc>
                <a:spcPct val="105000"/>
              </a:lnSpc>
              <a:spcBef>
                <a:spcPts val="0"/>
              </a:spcBef>
              <a:spcAft>
                <a:spcPts val="1100"/>
              </a:spcAft>
            </a:pPr>
            <a:r>
              <a:rPr sz="1700" b="0" i="0">
                <a:solidFill>
                  <a:srgbClr val="1A1A1A"/>
                </a:solidFill>
                <a:latin typeface="Arial"/>
              </a:rPr>
              <a:t>Bollinger Bands are named but not defined in Chapter 7, so no formula is imported.</a:t>
            </a:r>
          </a:p>
          <a:p>
            <a:pPr algn="l">
              <a:lnSpc>
                <a:spcPct val="105000"/>
              </a:lnSpc>
              <a:spcBef>
                <a:spcPts val="0"/>
              </a:spcBef>
              <a:spcAft>
                <a:spcPts val="1100"/>
              </a:spcAft>
            </a:pPr>
            <a:r>
              <a:rPr sz="1700" b="0" i="0">
                <a:solidFill>
                  <a:srgbClr val="1A1A1A"/>
                </a:solidFill>
                <a:latin typeface="Arial"/>
              </a:rPr>
              <a:t>Barrier proximity is the next reliability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13</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14</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15</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26</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26</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26</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