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after this session they can read a chart argument and say what it does and does not claim.</a:t>
            </a:r>
          </a:p>
          <a:p>
            <a:r>
              <a:rPr sz="1400"/>
              <a:t>- Point at the roadmap slide next and promise a clean stopping point every twenty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these out once, slowly. These are the exact learning objectives in the course booklet for this week.</a:t>
            </a:r>
          </a:p>
          <a:p>
            <a:r>
              <a:rPr sz="1400"/>
              <a:t>- Tell them every one of these is examinable.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shape of the session out loud: six parts, roughly twenty five minutes each.</a:t>
            </a:r>
          </a:p>
          <a:p>
            <a:r>
              <a:rPr sz="1400"/>
              <a:t>- Tell them the checks are for reading the room, not for 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1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2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3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prior high and prior close lines before reading marks 1 to 3.</a:t>
            </a:r>
          </a:p>
          <a:p>
            <a:r>
              <a:rPr sz="1400"/>
              <a:t>- The second bar opens above 52.00, reaches a new high of 53.20, and closes at 50.80, below the prior close of 51.10.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worked PHP example first. Then use the crop to locate the same three actions in the book's chart.</a:t>
            </a:r>
          </a:p>
          <a:p>
            <a:r>
              <a:rPr sz="1400"/>
              <a:t>- The blue mark is the above-average volume panel below the marked bar. The later bars show that the decline does not have to be immediate.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exact converse: a new low, then a close above the previous close, in a downtrend.</a:t>
            </a:r>
          </a:p>
          <a:p>
            <a:r>
              <a:rPr sz="1400"/>
              <a:t>- The book says the bullish key reversal occurs on high volume and price rebounds rapidly in this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left to right. The exhaustion bar opens beyond the previous high, but its distinction is the absence of a following gap.</a:t>
            </a:r>
          </a:p>
          <a:p>
            <a:r>
              <a:rPr sz="1400"/>
              <a:t>- The pin bar gives a false impression of breaking support, then retraces back above it. Its volume is low in the invented example.</a:t>
            </a:r>
          </a:p>
          <a:p>
            <a:r>
              <a:rPr sz="1400"/>
              <a:t>- The book's difference is the false barrier penetration, not the size of the bar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4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plan folder PDF, not to an unbuilt slide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7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Bar Chart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How a bar can warn of a potential reversal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Faculty of Economics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 OHLC construction and the range of a price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Separate intrinsic sentiment from trend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 the book’s bar reversal patterns with numbers and figures.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Use the 16 reversal characteristics as context, not certainty.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How today is laid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1  The price bar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2  Reading a pattern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3  Popular reversal patterns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4  Volatility-based breakouts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Six parts, a check every few terms, and a clean stop at every boundary.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1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The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OHLC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range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higher timeframe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2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Reading a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continuation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reversal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16 characteristics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3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Popular Reversal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key reversal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exhaustion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pin bar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Bearish key reversal: numbers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Prior bar: open 50.80, high 52.00, low 50.60, close 51.10, volume 2.0 million.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New bar: open 52.30, high 53.20, low 49.90, close 50.80, volume 4.2 million.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[1] Open above the old high. [2] Make a new high. [3] Close below the old close. Then compare volume.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The wider bar can make downside follow-through potentially more reliable, but the decline may wait through consolidation.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85766"/>
            <a:ext cx="82296" cy="6339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22342"/>
            <a:ext cx="5010912" cy="633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Arial"/>
              </a:rPr>
              <a:t>A warning of potential reversal, not a promise of immediate decline.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2171" y="1810512"/>
            <a:ext cx="50109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043" y="1929384"/>
            <a:ext cx="4773168" cy="35112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799" y="5650991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B - FIN1209 teaching chart, drawn for this course. Illustrative data, not a real instrument.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B is ours, with invented PHP bars and million-share volume.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Bearish key reversal: definition and figure reading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6235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Definition (p. 218): "A bearish key reversal forms a higher high, then closes near or below the previous close."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Figure 7.15: </a:t>
            </a:r>
            <a:r>
              <a:rPr sz="15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 opens above the prior high, </a:t>
            </a:r>
            <a:r>
              <a:rPr sz="15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 forms a new high, and </a:t>
            </a:r>
            <a:r>
              <a:rPr sz="15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 closes below the prior close. Volume is above average.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Meaning: a potential downside warning. Consolidation may come before decline.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Action: check the 16 reversal characteristics and a significant resistance barrier.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85766"/>
            <a:ext cx="82296" cy="6339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22342"/>
            <a:ext cx="5330952" cy="633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Arial"/>
              </a:rPr>
              <a:t>The five steps identify a warning; context decides how much weight to give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28405" y="1810512"/>
            <a:ext cx="3278484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47277" y="1929384"/>
            <a:ext cx="3040740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47277" y="1929384"/>
            <a:ext cx="30407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21597" y="2203703"/>
            <a:ext cx="2492100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closes below the previous close, and has above average volume.</a:t>
            </a:r>
          </a:p>
        </p:txBody>
      </p:sp>
      <p:sp>
        <p:nvSpPr>
          <p:cNvPr id="14" name="Oval 13"/>
          <p:cNvSpPr/>
          <p:nvPr/>
        </p:nvSpPr>
        <p:spPr>
          <a:xfrm>
            <a:off x="8854795" y="1999609"/>
            <a:ext cx="547333" cy="80759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54795" y="2666756"/>
            <a:ext cx="547333" cy="80759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24388" y="4492630"/>
            <a:ext cx="608148" cy="912936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77088" y="1914387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398717" y="3283793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398717" y="486387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5650991"/>
            <a:ext cx="46936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219, Figure 7.15.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In a downtrend, a bullish key reversal makes a new low, then closes near or above the previous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previous low PHP 42.00 and close PHP 41.00. New bar reaches PHP 40.50 and closes PHP 43.20 on 4.0 million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New low.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 above the previous close.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High volume supports the potential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435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559552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Same five-step reading, reversed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141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Book p. 218 and Figure 7.14. The values are ours, invented to show the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10512"/>
            <a:ext cx="4465014" cy="2746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68312" y="1929384"/>
            <a:ext cx="4227270" cy="250862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68312" y="1929384"/>
            <a:ext cx="42272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2203703"/>
            <a:ext cx="3678631" cy="20514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5" name="Oval 14"/>
          <p:cNvSpPr/>
          <p:nvPr/>
        </p:nvSpPr>
        <p:spPr>
          <a:xfrm>
            <a:off x="8822629" y="3309126"/>
            <a:ext cx="295908" cy="5769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22629" y="3660333"/>
            <a:ext cx="295908" cy="42646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0356" y="3886109"/>
            <a:ext cx="401590" cy="52681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34681" y="315367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92408" y="393135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8350136" y="423238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648319"/>
            <a:ext cx="4465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worked PHP values are ours, invented to show the converse.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 versus pin bar: numbers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Left values: prior high 65.00; O 65.40, H 66.20, L 60.00, C 60.50; next O 60.20, no gap.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Right values: support 40.00; low 38.80, close 40.60, volume 0.8 million; price closes back above support.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[1] and [2] label price action. [3] marks the no-gap test on the left and the pin bar on the right.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Lim: "Exhaustion bars are regarded as reversal bars." (p. 226) A pin bar is a "single bar misrepresentation." (p. 227)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Exhaustion warns of a tiring trend; pin warns of a false breakout. No gap separates exhaustion from an island formation. Wait for close, barrier, and volume context.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0" y="1810512"/>
            <a:ext cx="4465014" cy="297975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8312" y="1929384"/>
            <a:ext cx="4227270" cy="274201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49440" y="4881709"/>
            <a:ext cx="4465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A - FIN1209 teaching chart, drawn for this course. Illustrative data, not a real instrument.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Chart A is ours, with invented PHP bars and volume to answer review question 1.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Key reversal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293112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371600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618488"/>
            <a:ext cx="4846320" cy="5003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A bearish key reversal bar must make a higher high than the previous bar and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92020"/>
            <a:ext cx="4846320" cy="13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A.  Close near or below the previous close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B.  Close above the previous high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C.  Open below the previous low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D.  Trade on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64712"/>
            <a:ext cx="5303520" cy="2088642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829304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076192"/>
            <a:ext cx="4846320" cy="2959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On Figure 7.15, what does blue mark 3 identify?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45254"/>
            <a:ext cx="4846320" cy="13355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A.  The previous bar's close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B.  The new high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C.  The above-average volume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D.  The later consolidation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closes below the previous close, and has above average volume.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408176"/>
            <a:ext cx="641406" cy="94640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58191" y="2189988"/>
            <a:ext cx="641406" cy="94640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22558" y="4329684"/>
            <a:ext cx="712673" cy="106984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79783" y="133502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322318" y="2939796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322318" y="479145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Key reversal bars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3526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3526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29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8181"/>
                </a:solidFill>
                <a:latin typeface="Arial"/>
              </a:rPr>
              <a:t>Q1   A bearish key reversal bar must make a higher high than the previous bar and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10918"/>
            <a:ext cx="4754880" cy="15487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Close near or below the previous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Lim defines the bearish pattern as a higher high followed by a close near or below the previous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742563"/>
            <a:ext cx="5303520" cy="18707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742563"/>
            <a:ext cx="91440" cy="187071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925443"/>
            <a:ext cx="4754880" cy="5295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8181"/>
                </a:solidFill>
                <a:latin typeface="Arial"/>
              </a:rPr>
              <a:t>Q2   On Figure 7.15, what does blue mark 3 identify?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546473"/>
            <a:ext cx="4754880" cy="106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The above-average volume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Blue mark 3 identifies the above-average volume below the key reversal bar.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closes below the previous close, and has above average volume.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408176"/>
            <a:ext cx="641406" cy="94640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58191" y="2189988"/>
            <a:ext cx="641406" cy="94640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22558" y="4329684"/>
            <a:ext cx="712673" cy="106984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79783" y="133502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322318" y="2939796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322318" y="479145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Key reversal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293112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371600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618488"/>
            <a:ext cx="4846320" cy="5003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92020"/>
            <a:ext cx="4846320" cy="13355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A.  Impossible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B.  Always certain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C.  Unrelated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D.  Potentially more reliable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64712"/>
            <a:ext cx="5303520" cy="2088642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829304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076192"/>
            <a:ext cx="4846320" cy="2959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45254"/>
            <a:ext cx="4846320" cy="13355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A.  Downtrend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B.  Flat market only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C.  Monthly chart only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D.  Volume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closes below the previous close, and has above average volume.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408176"/>
            <a:ext cx="641406" cy="94640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58191" y="2189988"/>
            <a:ext cx="641406" cy="94640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22558" y="4329684"/>
            <a:ext cx="712673" cy="106984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79783" y="133502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322318" y="2939796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322318" y="479145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Key reversal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1958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9583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40128"/>
            <a:ext cx="4754880" cy="1125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Potentially more reliable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book says a wider bar makes follow-through potentially more reliable.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48228"/>
            <a:ext cx="5303520" cy="17246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48228"/>
            <a:ext cx="91440" cy="172466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31108"/>
            <a:ext cx="4754880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947668"/>
            <a:ext cx="4754880" cy="1125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Flat market only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bullish key reversal is the converse in a downtrend.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closes below the previous close, and has above average volume.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408176"/>
            <a:ext cx="641406" cy="94640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58191" y="2189988"/>
            <a:ext cx="641406" cy="94640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22558" y="4329684"/>
            <a:ext cx="712673" cy="106984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79783" y="133502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322318" y="2939796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322318" y="479145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4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Volatility-Based Breakouts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Williams’ Oops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ID/NR4 to NR7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Foundation build close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full Chapter 7 deck follows the approved outline in four parts.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These samples establish the five-step teaching pattern, readable figures, numbered marks, and separate question and answer slides.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58673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62331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Approval of the outline and samples is the gate for the full build.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Foundation scaffold for the approved Chapter 7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7 - Bar Chart Analysis</dc:title>
  <dc:subject>Technical Analysis in Investment</dc:subject>
  <dc:creator>Faculty of Economics University</dc:creator>
  <cp:keywords/>
  <dc:description>generated using python-pptx</dc:description>
  <cp:lastModifiedBy>Faculty of Economics University</cp:lastModifiedBy>
  <cp:revision>1</cp:revision>
  <dcterms:created xsi:type="dcterms:W3CDTF">2020-01-01T00:00:00Z</dcterms:created>
  <dcterms:modified xsi:type="dcterms:W3CDTF">2020-01-01T00:00:00Z</dcterms:modified>
  <cp:category/>
</cp:coreProperties>
</file>