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Greet the room, then say what today buys them: after this session they can read a chart argument and say what it does and does not claim.</a:t>
            </a:r>
          </a:p>
          <a:p>
            <a:r>
              <a:rPr sz="1400"/>
              <a:t>- Point at the roadmap slide next and promise a clean stopping point every twenty five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these out once, slowly. These are the exact learning objectives in the course booklet for this week.</a:t>
            </a:r>
          </a:p>
          <a:p>
            <a:r>
              <a:rPr sz="1400"/>
              <a:t>- Tell them every one of these is examinable.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shape of the session out loud: six parts, roughly twenty five minutes each.</a:t>
            </a:r>
          </a:p>
          <a:p>
            <a:r>
              <a:rPr sz="1400"/>
              <a:t>- Tell them the checks are for reading the room, not for marks.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1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2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3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prior high and prior close lines before reading marks 1 to 4.</a:t>
            </a:r>
          </a:p>
          <a:p>
            <a:r>
              <a:rPr sz="1400"/>
              <a:t>- The second bar opens above 52.00, reaches a new high of 53.20, and closes at 50.80, below the prior close of 51.10. Mark 4 identifies the 4.2 million-share volume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book's definition first, then explain marks 1 to 4 in the same order: gap/open, new high, close, and above-average volume.</a:t>
            </a:r>
          </a:p>
          <a:p>
            <a:r>
              <a:rPr sz="1400"/>
              <a:t>- The figure shows consolidation before the later decline. Keep the word potentially: this is a warning, not a promise.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exact converse: a new low, then a close above the previous close, in a downtrend.</a:t>
            </a:r>
          </a:p>
          <a:p>
            <a:r>
              <a:rPr sz="1400"/>
              <a:t>- The book says the bullish key reversal occurs on high volume and price rebounds rapidly in this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left to right. The exhaustion bar opens beyond the previous high, but its distinction is the absence of a following gap.</a:t>
            </a:r>
          </a:p>
          <a:p>
            <a:r>
              <a:rPr sz="1400"/>
              <a:t>- The pin bar gives a false impression of breaking support, then retraces back above it. Its volume is low in the invented example.</a:t>
            </a:r>
          </a:p>
          <a:p>
            <a:r>
              <a:rPr sz="1400"/>
              <a:t>- The book's difference is the false barrier penetration, not the size of the bar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4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back to the plan folder PDF, not to an unbuilt slide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FIN1209  Technical Analysis in 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57400"/>
            <a:ext cx="146304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63721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Palatino"/>
              </a:rPr>
              <a:t>Chapter 7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</a:pPr>
            <a:r>
              <a:rPr sz="4400" b="0" i="0">
                <a:solidFill>
                  <a:srgbClr val="FFFFFF"/>
                </a:solidFill>
                <a:latin typeface="Palatino"/>
              </a:rPr>
              <a:t>Bar Chart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89204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How a bar can warn of a potential reversal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 i="0">
                <a:solidFill>
                  <a:srgbClr val="F2A900"/>
                </a:solidFill>
                <a:latin typeface="Arial"/>
              </a:rPr>
              <a:t>Faculty of Economics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Learning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Read OHLC construction and the range of a price bar.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Separate intrinsic sentiment from trend sentiment.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Read the book’s bar reversal patterns with numbers and figures.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Use the 16 reversal characteristics as context, not certainty.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How today is laid 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1  The price bar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2  Reading a pattern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3  Popular reversal patterns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4  Volatility-based breakouts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67199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03775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Six parts, a check every few terms, and a clean stop at every boundary.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1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The Price 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OHLC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range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higher timeframe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2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Reading a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continuation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reversal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16 characteristics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3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Popular Reversal Patterns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key reversal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exhaustion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pin bar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Bearish key reversal: the numbers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862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1. Prior bar: open 50.80, high 52.00, low 50.60, close 51.10.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2. It opens at 52.30 above prior high 52.00 </a:t>
            </a:r>
            <a:r>
              <a:rPr sz="16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3. It makes a new high of 53.20 </a:t>
            </a:r>
            <a:r>
              <a:rPr sz="16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4. It closes at 50.80 below prior close 51.10 </a:t>
            </a:r>
            <a:r>
              <a:rPr sz="16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5. Volume is 4.2 million versus 2.0 million </a:t>
            </a:r>
            <a:r>
              <a:rPr sz="16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 That is a bearish key reversal (Lim, p. 218).</a:t>
            </a:r>
          </a:p>
        </p:txBody>
      </p:sp>
      <p:sp>
        <p:nvSpPr>
          <p:cNvPr id="8" name="Rectangle 7"/>
          <p:cNvSpPr/>
          <p:nvPr/>
        </p:nvSpPr>
        <p:spPr>
          <a:xfrm>
            <a:off x="4983479" y="1810512"/>
            <a:ext cx="6430975" cy="31309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2351" y="1929384"/>
            <a:ext cx="6193231" cy="2893188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9066019" y="2768408"/>
            <a:ext cx="309661" cy="14465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066019" y="2450157"/>
            <a:ext cx="309661" cy="14465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066019" y="3433841"/>
            <a:ext cx="309661" cy="14465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066019" y="4186070"/>
            <a:ext cx="371593" cy="173591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167384" y="2757619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Oval 14"/>
          <p:cNvSpPr/>
          <p:nvPr/>
        </p:nvSpPr>
        <p:spPr>
          <a:xfrm>
            <a:off x="9715691" y="215005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Oval 15"/>
          <p:cNvSpPr/>
          <p:nvPr/>
        </p:nvSpPr>
        <p:spPr>
          <a:xfrm>
            <a:off x="9715691" y="356771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Oval 16"/>
          <p:cNvSpPr/>
          <p:nvPr/>
        </p:nvSpPr>
        <p:spPr>
          <a:xfrm>
            <a:off x="9910632" y="4329085"/>
            <a:ext cx="292608" cy="292608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83479" y="5032884"/>
            <a:ext cx="6430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B - FIN1209 teaching chart, drawn for this course. Illustrative data, not a real instrument.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B is ours, with invented PHP bars and million-share volume.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7.15: the same reading on a real chart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0350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defines it: “A bearish key reversal bar forms a higher high than the previous bar and closes near or below the close of the previous bar.” (Lim, p. 218).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the key reversal day opening above the prior high. Red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its new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its close below the prior close. Purple </a:t>
            </a:r>
            <a:r>
              <a:rPr sz="17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the above-average volume under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a potential warning, not a promise. The book's chart shows consolidation before the decline. Check the 16 characteristics and barrier proximity.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49864" y="1810512"/>
            <a:ext cx="2647045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68736" y="1929384"/>
            <a:ext cx="2409301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68736" y="1929384"/>
            <a:ext cx="240930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43056" y="2203703"/>
            <a:ext cx="1860661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day opens above the previous high, forms a new high, closes below the previous close, and has above average volume.</a:t>
            </a:r>
          </a:p>
        </p:txBody>
      </p:sp>
      <p:sp>
        <p:nvSpPr>
          <p:cNvPr id="12" name="Oval 11"/>
          <p:cNvSpPr/>
          <p:nvPr/>
        </p:nvSpPr>
        <p:spPr>
          <a:xfrm>
            <a:off x="9225201" y="2157618"/>
            <a:ext cx="192744" cy="140451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249294" y="2052279"/>
            <a:ext cx="144558" cy="14045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97480" y="2456078"/>
            <a:ext cx="192744" cy="15800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225201" y="4633081"/>
            <a:ext cx="192744" cy="280903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533902" y="210824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9690366" y="2002901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9738552" y="2564709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Oval 18"/>
          <p:cNvSpPr/>
          <p:nvPr/>
        </p:nvSpPr>
        <p:spPr>
          <a:xfrm>
            <a:off x="9473529" y="4741712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19" y="5650991"/>
            <a:ext cx="4282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218 to 219, Figure 7.15. The crop and marks are for teaching; no invented example is on this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bullish converse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8521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In a downtrend, a bullish key reversal makes a new low, then closes near or above the previous close.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Ours: previous low PHP 42.00 and close PHP 41.00. New bar reaches PHP 40.50 and closes PHP 43.20 on 4.0 million shares.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New low.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Close above the previous close.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High volume supports the potential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7156"/>
            <a:ext cx="82296" cy="435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13732"/>
            <a:ext cx="5559552" cy="435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Same five-step reading, reversed direction.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314188"/>
            <a:ext cx="5852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Book p. 218 and Figure 7.14. The values are ours, invented to show the converse.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0" y="1810512"/>
            <a:ext cx="4465014" cy="274636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68312" y="1929384"/>
            <a:ext cx="4227270" cy="250862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68312" y="1929384"/>
            <a:ext cx="42272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2203703"/>
            <a:ext cx="3678631" cy="20514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Apple daily chart. The marked bar makes a new low, closes above the previous close, and is followed by a rapid rebound on high volume.</a:t>
            </a:r>
          </a:p>
        </p:txBody>
      </p:sp>
      <p:sp>
        <p:nvSpPr>
          <p:cNvPr id="15" name="Oval 14"/>
          <p:cNvSpPr/>
          <p:nvPr/>
        </p:nvSpPr>
        <p:spPr>
          <a:xfrm>
            <a:off x="8822629" y="3309126"/>
            <a:ext cx="295908" cy="5769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822629" y="3660333"/>
            <a:ext cx="295908" cy="42646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80356" y="3886109"/>
            <a:ext cx="401590" cy="52681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434681" y="315367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392408" y="393135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8350136" y="4232386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648319"/>
            <a:ext cx="4465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7.14 -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218, Figure 7.14. The worked PHP values are ours, invented to show the converse.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Exhaustion bar versus pin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2918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Exhaustion: in an uptrend, it opens at 65.40 above prior high 65.00, reaches 66.20, and closes at 60.50; the next bar opens at 60.20 with no gap.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Pin bar: it penetrates support at 40.00 to 38.80, then rapidly retraces and closes at 40.60.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exhaustion warns of a tiring trend; a pin bar warns of a false breakout.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90491" y="1810512"/>
            <a:ext cx="77541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9363" y="1929384"/>
            <a:ext cx="751636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388455" y="2947659"/>
            <a:ext cx="375818" cy="175564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88455" y="3860596"/>
            <a:ext cx="375818" cy="17556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146639" y="3509467"/>
            <a:ext cx="375818" cy="17556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255879" y="2581534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5255879" y="419673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968319" y="381048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5650991"/>
            <a:ext cx="7756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Chart A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226 to 227. Chart A is ours, with invented PHP bars and volume to answer review question 1.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bearish key reversal makes a higher high,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84632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Near or below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Above prior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Below prior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On low volume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0352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On Figure 7.15, blue mark 3 identifies: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84632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New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Close below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Later bars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7071" y="1207008"/>
            <a:ext cx="3801111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25943" y="1325880"/>
            <a:ext cx="3563367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25943" y="1325880"/>
            <a:ext cx="356336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0263" y="1600200"/>
            <a:ext cx="30147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58191" y="1737360"/>
            <a:ext cx="28506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800726" y="1408176"/>
            <a:ext cx="249435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8506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59180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2557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06359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2650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6504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7548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bearish key reversal makes a higher high,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75488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Near or below prior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defines the bearish pattern as a higher high followed by a close near or below the previous close.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54933"/>
            <a:ext cx="5303520" cy="2016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54933"/>
            <a:ext cx="91440" cy="201676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37813"/>
            <a:ext cx="475488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On Figure 7.15, blue mark 3 identifies: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68978"/>
            <a:ext cx="475488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Close below prior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preceding slide maps blue mark 3 to the close below the previous close (Lim, p. 219).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35804" y="1207008"/>
            <a:ext cx="3943646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54676" y="1325880"/>
            <a:ext cx="3705902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054676" y="1325880"/>
            <a:ext cx="3705902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28996" y="1600200"/>
            <a:ext cx="3157262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48214" y="1737360"/>
            <a:ext cx="296472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796450" y="1408176"/>
            <a:ext cx="259413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96472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36375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211086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33440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84632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Impossible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Always certain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Unrelated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Potentially more reliable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0352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84632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Monthly chart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Downtrend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Flat market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Volume panel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7071" y="1207008"/>
            <a:ext cx="3801111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25943" y="1325880"/>
            <a:ext cx="3563367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25943" y="1325880"/>
            <a:ext cx="356336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0263" y="1600200"/>
            <a:ext cx="30147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58191" y="1737360"/>
            <a:ext cx="28506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800726" y="1408176"/>
            <a:ext cx="249435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8506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59180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2557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06359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1675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01675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7548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75488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Potentially more reliable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says a wider bar makes follow-through potentially more reliable.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406647"/>
            <a:ext cx="5303520" cy="17684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406647"/>
            <a:ext cx="91440" cy="17684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589528"/>
            <a:ext cx="475488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020693"/>
            <a:ext cx="475488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Downtrend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bullish key reversal is the converse in a downtrend.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35804" y="1207008"/>
            <a:ext cx="3943646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54676" y="1325880"/>
            <a:ext cx="3705902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054676" y="1325880"/>
            <a:ext cx="3705902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28996" y="1600200"/>
            <a:ext cx="3157262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48214" y="1737360"/>
            <a:ext cx="296472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796450" y="1408176"/>
            <a:ext cx="259413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96472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36375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211086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33440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4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Volatility-Based Breakouts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Williams’ Oops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ID/NR4 to NR7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Foundation build close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full Chapter 7 deck follows the approved outline in four parts.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These samples establish the five-step teaching pattern, readable figures, numbered marks, and separate question and answer slides.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586734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623310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Approval of the outline and samples is the gate for the full build.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Foundation scaffold for the approved Chapter 7 plan.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FIN1209 Chapter 7 - Bar Chart Analysis</dc:title>
  <dc:subject>Technical Analysis in Investment</dc:subject>
  <dc:creator>Faculty of Economics University</dc:creator>
  <cp:keywords/>
  <dc:description>generated using python-pptx</dc:description>
  <cp:lastModifiedBy>Faculty of Economics University</cp:lastModifiedBy>
  <cp:revision>1</cp:revision>
  <dcterms:created xsi:type="dcterms:W3CDTF">2020-01-01T00:00:00Z</dcterms:created>
  <dcterms:modified xsi:type="dcterms:W3CDTF">2020-01-01T00:00:00Z</dcterms:modified>
  <cp:category/>
</cp:coreProperties>
</file>