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Open with what the chapter is about: reading price bars, the most basic skill in technical analysis, as Lim puts it on p. 209.</a:t>
            </a:r>
          </a:p>
          <a:p>
            <a:r>
              <a:rPr sz="1400"/>
              <a:t>- Say the route in one breath: one bar, then formations, then named reversal patterns, then breakouts.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what bar chart analysis is and why it matters: Lim calls it the most fundamental skill a technician should have (p. 209).</a:t>
            </a:r>
          </a:p>
          <a:p>
            <a:r>
              <a:rPr sz="1400"/>
              <a:t>- Keep the word potential. The chapter teaches warnings to weigh,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last two objectives, in plain words.</a:t>
            </a:r>
          </a:p>
          <a:p>
            <a:r>
              <a:rPr sz="1400"/>
              <a:t>- Chapter 5 taught the 16 characteristics; this chapter uses them again to read bars, rather than teaching them from the start.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four parts as one route: from one bar, to formations, to named patterns, to breakouts.</a:t>
            </a:r>
          </a:p>
          <a:p>
            <a:r>
              <a:rPr sz="1400"/>
              <a:t>- Part 1 starts where the book starts, with what one price bar records.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why: every pattern in this chapter is read from price bars, so first we need to know what one bar keeps.</a:t>
            </a:r>
          </a:p>
          <a:p>
            <a:r>
              <a:rPr sz="1400"/>
              <a:t>- Point to the four marks on Lim's bar: gold 1 the open, red 2 the high, blue 3 the low, purple 4 the close.</a:t>
            </a:r>
          </a:p>
          <a:p>
            <a:r>
              <a:rPr sz="1400"/>
              <a:t>- The book's drawing has no price scale. Say only what it shows by position; the prices come on the next slide, on our own chart.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numbers from the chart itself: gold 1 the open at 50.00, red 2 the high at 52.40, blue 3 the low at 49.60, purple 4 the close at 51.10.</a:t>
            </a:r>
          </a:p>
          <a:p>
            <a:r>
              <a:rPr sz="1400"/>
              <a:t>- Then work the range out loud: high minus low, 52.40 minus 49.60, is PHP 2.80.</a:t>
            </a:r>
          </a:p>
          <a:p>
            <a:r>
              <a:rPr sz="1400"/>
              <a:t>- The prices are ours and the bar is possible: the low is the lowest price and the high the highest.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five trades left to right: 50.00, 50.80, 49.60, 52.40, 51.10.</a:t>
            </a:r>
          </a:p>
          <a:p>
            <a:r>
              <a:rPr sz="1400"/>
              <a:t>- Gold 1 is the first trade and becomes the open; red 2 is the highest and blue 3 the lowest; purple 4 is the last and becomes the close.</a:t>
            </a:r>
          </a:p>
          <a:p>
            <a:r>
              <a:rPr sz="1400"/>
              <a:t>- Ask the class what happened to the trade at 50.80. It is real trading, but the bar does not keep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five trades left to right: 50.00, 50.80, 49.60, 52.40, 51.10.</a:t>
            </a:r>
          </a:p>
          <a:p>
            <a:r>
              <a:rPr sz="1400"/>
              <a:t>- Gold 1 is the first trade and becomes the open; red 2 is the highest and blue 3 the lowest; purple 4 is the last and becomes the close.</a:t>
            </a:r>
          </a:p>
          <a:p>
            <a:r>
              <a:rPr sz="1400"/>
              <a:t>- Ask the class what happened to the trade at 50.80. It is real trading, but the bar does not keep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five trades and the range sentence before advancing.</a:t>
            </a:r>
          </a:p>
          <a:p>
            <a:r>
              <a:rPr sz="1400"/>
              <a:t>- The second question is the range of the same bar.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five trades and the range sentence before advancing.</a:t>
            </a:r>
          </a:p>
          <a:p>
            <a:r>
              <a:rPr sz="1400"/>
              <a:t>- The second question is the range of the same bar.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Move from one interval to a longer stretch: a 15-minute bar built from three five-minute intervals.</a:t>
            </a:r>
          </a:p>
          <a:p>
            <a:r>
              <a:rPr sz="1400"/>
              <a:t>- Point to the marks on the five-minute trace: gold 1 where the first interval opens, red 2 the highest high, blue 3 the lowest low, purple 4 where the last interval closes. Then follow each dashed line across to the 15-minute bar.</a:t>
            </a:r>
          </a:p>
          <a:p>
            <a:r>
              <a:rPr sz="1400"/>
              <a:t>- Again the drawing has no prices; our own numbers come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each mark from the bar it comes from: gold 1 is bar 1 open, red 2 and blue 3 are both on bar 2, purple 4 is bar 3 close.</a:t>
            </a:r>
          </a:p>
          <a:p>
            <a:r>
              <a:rPr sz="1400"/>
              <a:t>- Then show that bar 4 carries exactly those four numbers: 50.00, 50.90, 49.40 and 50.30.</a:t>
            </a:r>
          </a:p>
          <a:p>
            <a:r>
              <a:rPr sz="1400"/>
              <a:t>- Every bar is possible: each low is its lowest price and each high its highest.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rule on the Figure 7.2 slide: first open, highest high, lowest low, last close.</a:t>
            </a:r>
          </a:p>
          <a:p>
            <a:r>
              <a:rPr sz="1400"/>
              <a:t>- Ask which prices drop out before revealing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rule on the Figure 7.2 slide: first open, highest high, lowest low, last close.</a:t>
            </a:r>
          </a:p>
          <a:p>
            <a:r>
              <a:rPr sz="1400"/>
              <a:t>- Ask which prices drop out before revealing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Many patterns use several bars in a row, so the book now follows price through several intervals.</a:t>
            </a:r>
          </a:p>
          <a:p>
            <a:r>
              <a:rPr sz="1400"/>
              <a:t>- Trace interval 1 with your finger: gold 1 where it opens, red 2 its high, blue 3 its low, purple 4 where it ends.</a:t>
            </a:r>
          </a:p>
          <a:p>
            <a:r>
              <a:rPr sz="1400"/>
              <a:t>- The full figure has eight intervals; this crop shows the first two so the letters can be read.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figure, lower half: under each interval Lim draws the bar it becomes.</a:t>
            </a:r>
          </a:p>
          <a:p>
            <a:r>
              <a:rPr sz="1400"/>
              <a:t>- Bar 1 keeps the four prices of interval 1: gold 1 open, red 2 high, blue 3 low, purple 4 close.</a:t>
            </a:r>
          </a:p>
          <a:p>
            <a:r>
              <a:rPr sz="1400"/>
              <a:t>- Its open and close ticks are level because interval 1 ended about where it began.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first of Lim's three ways to classify a formation, on p. 210.</a:t>
            </a:r>
          </a:p>
          <a:p>
            <a:r>
              <a:rPr sz="1400"/>
              <a:t>- Say plainly that the book never says where multiple begins, so we do not set a number for it.</a:t>
            </a:r>
          </a:p>
          <a:p>
            <a:r>
              <a:rPr sz="1400"/>
              <a:t>- A count describes shape only; it predicts nothing by itself.</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each group aloud: gold 1 has one bar, red 2 two, blue 3 three and purple 4 five.</a:t>
            </a:r>
          </a:p>
          <a:p>
            <a:r>
              <a:rPr sz="1400"/>
              <a:t>- The shapes are only for counting. Whether a group leans bullish or bearish is the next question, not this one.</a:t>
            </a:r>
          </a:p>
          <a:p>
            <a:r>
              <a:rPr sz="1400"/>
              <a:t>- Lim gives no number at which multiple begins; five is simply our example.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shape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shape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second classification. Chapter 4 already taught intrinsic bias; Lim points back to it.</a:t>
            </a:r>
          </a:p>
          <a:p>
            <a:r>
              <a:rPr sz="1400"/>
              <a:t>- Use only the book's own example, the head and shoulders and its inverted form.</a:t>
            </a:r>
          </a:p>
          <a:p>
            <a:r>
              <a:rPr sz="1400"/>
              <a:t>- Stress that the lean belongs to the formation, so moving it to another trend does not change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this rule on p. 212, when he starts the generic reversal patterns; we need it now to read a lean from plain bars.</a:t>
            </a:r>
          </a:p>
          <a:p>
            <a:r>
              <a:rPr sz="1400"/>
              <a:t>- Work the example: the close of 47.50 is below the previous low of 47.90, so the pair leans bearish.</a:t>
            </a:r>
          </a:p>
          <a:p>
            <a:r>
              <a:rPr sz="1400"/>
              <a:t>- Keep his wording: it is a general rule, a clue rather than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lean separate from the trend around it.</a:t>
            </a:r>
          </a:p>
          <a:p>
            <a:r>
              <a:rPr sz="1400"/>
              <a:t>- The second question applies the p. 212 rule to new prices.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lean separate from the trend around it.</a:t>
            </a:r>
          </a:p>
          <a:p>
            <a:r>
              <a:rPr sz="1400"/>
              <a:t>- The second question applies the p. 212 rule to new prices.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third classification is the directional expectation: continuation or reversal. It is not trend sentiment.</a:t>
            </a:r>
          </a:p>
          <a:p>
            <a:r>
              <a:rPr sz="1400"/>
              <a:t>- Trend sentiment and intrinsic sentiment are the two inputs; the expectation is the result.</a:t>
            </a:r>
          </a:p>
          <a:p>
            <a:r>
              <a:rPr sz="1400"/>
              <a:t>- Keep the word potential on a reversal: the book calls these patterns, not promises.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keeps the two sentiments apart with numbers: the formation stays the same and only the trend around it changes.</a:t>
            </a:r>
          </a:p>
          <a:p>
            <a:r>
              <a:rPr sz="1400"/>
              <a:t>- Work both cases aloud: bullish and bullish agree, continuation; bullish and bearish disagree, potential reversal.</a:t>
            </a:r>
          </a:p>
          <a:p>
            <a:r>
              <a:rPr sz="1400"/>
              <a:t>- The prices are ours,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Put the two inputs together: there are only four cases, and Lim names them on p. 211.</a:t>
            </a:r>
          </a:p>
          <a:p>
            <a:r>
              <a:rPr sz="1400"/>
              <a:t>- Read each case as agree or disagree first, then name the result.</a:t>
            </a:r>
          </a:p>
          <a:p>
            <a:r>
              <a:rPr sz="1400"/>
              <a:t>- Keep potential on the reversal cases; Lim considers them reversal patterns, not certainties.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 sentiment describes the surrounding trend, not the formation.</a:t>
            </a:r>
          </a:p>
          <a:p>
            <a:r>
              <a:rPr sz="1400"/>
              <a:t>- The second question applies the rule to new prices: a bullish formation after a fall.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 sentiment describes the surrounding trend, not the formation.</a:t>
            </a:r>
          </a:p>
          <a:p>
            <a:r>
              <a:rPr sz="1400"/>
              <a:t>- The second question applies the rule to new prices: a bullish formation after a fall.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 three questions in order: the closes rise from gold 1 at 45.60 to red 2 at 48.10, so trend sentiment is bullish; blue 3 boxes the double formation.</a:t>
            </a:r>
          </a:p>
          <a:p>
            <a:r>
              <a:rPr sz="1400"/>
              <a:t>- Purple 4: bar 4 closes at 47.50, below the dashed line at bar 3's low of 47.90, so the formation leans bearish.</a:t>
            </a:r>
          </a:p>
          <a:p>
            <a:r>
              <a:rPr sz="1400"/>
              <a:t>- Bullish against bearish disagree, so the reading is a potential reversal. Every bar is possible: each low is its lowest price.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 three questions in order: the closes rise from gold 1 at 45.60 to red 2 at 48.10, so trend sentiment is bullish; blue 3 boxes the double formation.</a:t>
            </a:r>
          </a:p>
          <a:p>
            <a:r>
              <a:rPr sz="1400"/>
              <a:t>- Purple 4: bar 4 closes at 47.50, below the dashed line at bar 3's low of 47.90, so the formation leans bearish.</a:t>
            </a:r>
          </a:p>
          <a:p>
            <a:r>
              <a:rPr sz="1400"/>
              <a:t>- Bullish against bearish disagree, so the reading is a potential reversal. Every bar is possible: each low is its lowest price.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Part 1: all three ways of sorting a formation.</a:t>
            </a:r>
          </a:p>
          <a:p>
            <a:r>
              <a:rPr sz="1400"/>
              <a:t>- Both answers come from the classification slides, not from any one chart.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Part 1: all three ways of sorting a formation.</a:t>
            </a:r>
          </a:p>
          <a:p>
            <a:r>
              <a:rPr sz="1400"/>
              <a:t>- Both answers come from the classification slides, not from any one chart.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Recall Part 1 in one breath: two sentiments, then the agreement rule.</a:t>
            </a:r>
          </a:p>
          <a:p>
            <a:r>
              <a:rPr sz="1400"/>
              <a:t>- Stress that the trend is read first; the same pattern changes meaning with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book's own example, so it is safe to test.</a:t>
            </a:r>
          </a:p>
          <a:p>
            <a:r>
              <a:rPr sz="1400"/>
              <a:t>- Walk the two cases: same place, same trend, opposite patterns, opposite readings.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two slides before. Do not reveal them on the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two slides before. Do not reveal them on the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ahead: every drawing from Figure 7.4 to 7.11 carries this arrow.</a:t>
            </a:r>
          </a:p>
          <a:p>
            <a:r>
              <a:rPr sz="1400"/>
              <a:t>- Students should say the trend before they name the pattern.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Lim's word: generally. The rule is a clue, not a law.</a:t>
            </a:r>
          </a:p>
          <a:p>
            <a:r>
              <a:rPr sz="1400"/>
              <a:t>- Do the two closes slowly: one below the close, one below the low.</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Show the whole sheet once so students see the family; every later slide crops one drawing.</a:t>
            </a:r>
          </a:p>
          <a:p>
            <a:r>
              <a:rPr sz="1400"/>
              <a:t>- Point at the arrow and the label under form 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label, then walk the three marks in order.</a:t>
            </a:r>
          </a:p>
          <a:p>
            <a:r>
              <a:rPr sz="1400"/>
              <a:t>- Part 3 comes back to the key reversal bar with the book's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form 1: here the close goes below the previous low, not just the previous close.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would call a gap measured from the previous low to the open a Type 2 gap.</a:t>
            </a:r>
          </a:p>
          <a:p>
            <a:r>
              <a:rPr sz="1400"/>
              <a:t>- The gap is open price space: nothing traded between 50.60 and 51.00.</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bearish clue is the sudden hesitation after a strong up bar.</a:t>
            </a:r>
          </a:p>
          <a:p>
            <a:r>
              <a:rPr sz="1400"/>
              <a:t>- Part 3 returns to inside bars and compares them with the Harami.</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Overextended means the bar stretches far beyond what the bars before it did.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Form 4 sits inside the previous bar; form 6 reaches beyond both ends of it.</a:t>
            </a:r>
          </a:p>
          <a:p>
            <a:r>
              <a:rPr sz="1400"/>
              <a:t>- Part 3 reads outside bars on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which close matters more: the second, because it is the most recent word on the trend.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volume habits behind the seven drawings.</a:t>
            </a:r>
          </a:p>
          <a:p>
            <a:r>
              <a:rPr sz="1400"/>
              <a:t>- Keep Lim's caveat: some practitioners read them as continuations in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All three conditions together; any one alone is weaker.</a:t>
            </a:r>
          </a:p>
          <a:p>
            <a:r>
              <a:rPr sz="1400"/>
              <a:t>- Potentially more reliable, never certain.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last two slides.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last two slides.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seven shapes, upside down, at the bottom of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Show the whole sheet once; every later slide crops one drawing.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1: sellers open it weakly, buyers win the day.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2.</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3: nothing traded between 39.00 and 39.40.</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shape as bearish form 4; the trend before it is what changes.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5.</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6.</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7.</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Note Lim's words: in most cases, and potentially.</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bullish slides.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bullish slides.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bars now: a first bar, a middle bar, a last bar.</a:t>
            </a:r>
          </a:p>
          <a:p>
            <a:r>
              <a:rPr sz="1400"/>
              <a:t>- Gap keeps its Chapter 3 meaning: prices where nothing traded.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Pattern 1 is the one exception to the quiet middle.</a:t>
            </a:r>
          </a:p>
          <a:p>
            <a:r>
              <a:rPr sz="1400"/>
              <a:t>- Lim gives the reason: the buyers could not hold the close near the bar's midpoint.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Wide outer bars, a quiet middle, a heavy last bar: every rule on the slide before.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pattern where heavy middle volume is more bearish, not less.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usual quiet middle bar.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gap that held the buyers up is given back by bar 3.</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leave bar 2 alone on an island. Part 3 reads island reversals on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Engulfs means the third bar trades beyond both the high and the low of the second.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preferred case closes below both levels, as here.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rule slides that opened the triple patterns.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rule slides that opened the triple patterns.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six shapes, turned over, at the bottom of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1.</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2.</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3.</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4.</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5.</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6.</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bullish triple slides.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bullish triple slides.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Multiple means several bars between the first and the last.</a:t>
            </a:r>
          </a:p>
          <a:p>
            <a:r>
              <a:rPr sz="1400"/>
              <a:t>- Our charts draw two middle bars so every price stays readable.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Lim's summary sentence slowly: extremely high OR low volume, on the wide bars.</a:t>
            </a:r>
          </a:p>
          <a:p>
            <a:r>
              <a:rPr sz="1400"/>
              <a:t>- This is the one place where both high and low volume point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drawing left to right: first, middle, last.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buyers hold the price up for a while, then lose it in one bar.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drawing for the volume exception.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what would 0.4 million on the wide bars mean? Also bearish (p. 215).</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form 1: here the narrow bars sit inside the first bar, not up at its high.</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Inside the first bar: the same containment idea as an inside bar, stretched over several bars.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isolate the middle group, the same island idea as triple form 4.</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as in triple form 4; only the middle is longer.</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side keeps both volume readings, now pointing up.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1.</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sellers hold the price down for a while, then lose it in one bar.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2.</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volume as the bearish form 2, now read the other way because the closes sit at the highs.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3.</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3.</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it plainly: the book's last bar is off the page. Our chart supplies it.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4.</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multiple pattern rule slides.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multiple pattern rule slides.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Continuation is agreement: a bullish pattern inside an uptrend.</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Breach means trade above. Here the close is above the old high as well.</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retrace looks weak; the rebound through the old high on volume is what matters.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continuation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continuation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Chapter 5 terms. Recall each by its slide name; do not re-teach the formulas.</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three marks in time order: the run-up, then the top.</a:t>
            </a:r>
          </a:p>
          <a:p>
            <a:r>
              <a:rPr sz="1400"/>
              <a:t>- Red sits on the run-up, before the top, where Lim says the oscillations are missing.</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why the three marks matter: each one is a reason to doubt the run-up.</a:t>
            </a:r>
          </a:p>
          <a:p>
            <a:r>
              <a:rPr sz="1400"/>
              <a:t>- State the silence plainly: no Bollinger formula in Chapter 7.</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Numbers make the three warnings concrete; none of them is a sell signal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one Lim singles out.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bar shape as form 1 of Figure 7.4; the barrier is what adds weight.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room which of the last two bars they would trust more, and why.</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Part 3 begins with key reversal bars on real charts, where this barrier idea returns.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Figure 7.13 slides. The figure is on the question and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Figure 7.13 slides. The figure is on the question and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barrier proximity slides.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barrier proximity slides.</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Close Part 2 and open Part 3 by name.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unmarked chart while introducing the key reversal. The next worked reading identifies the same features with teaching marks.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exact converse: a new low, then a close above the previous close, in a downtrend.</a:t>
            </a:r>
          </a:p>
          <a:p>
            <a:r>
              <a:rPr sz="1400"/>
              <a:t>- The book says the bullish key reversal occurs on high volume and price rebounds rapidly in this example.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definition first, then explain marks 1 to 4 in the same order: previous high, new high and opening area, close, and above-average volume.</a:t>
            </a:r>
          </a:p>
          <a:p>
            <a:r>
              <a:rPr sz="1400"/>
              <a:t>- The figure shows consolidation before the later decline. Keep the word potentially: this is a warning, not a promise.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mark 1 for the hover and mark 2 for the later decline. The book's point is delayed follow-through.</a:t>
            </a:r>
          </a:p>
          <a:p>
            <a:r>
              <a:rPr sz="1400"/>
              <a:t>- Separate the pattern definition from the later price path. The latter is a caveat, not part of the definition.</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converse from the new low to the close above the previous close before reading the figure.</a:t>
            </a:r>
          </a:p>
          <a:p>
            <a:r>
              <a:rPr sz="1400"/>
              <a:t>- The rapid rebound is the book's observation in Figure 7.14, not a promise for every bullish key reversal.</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bullish key reversal below the lower band. Mark 2 is the book's oversold StochRSI label.</a:t>
            </a:r>
          </a:p>
          <a:p>
            <a:r>
              <a:rPr sz="1400"/>
              <a:t>- Mark 3 is the high-volume reading. Lim calls these conditions greater potential,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OHLC values, closing positions and million-share volume labelled. Mark 1 is the first close near the high and mark 2 the second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marks 1 and 2 as the two closing positions. The book prefers wider ranges for both bars.</a:t>
            </a:r>
          </a:p>
          <a:p>
            <a:r>
              <a:rPr sz="1400"/>
              <a:t>- CCI is a label in Lim's figure. Chapter 7 does not define its formula, so do not infer one.</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PHP bars with OHLC values and volumes labelled. Marks 1, 2 and 3 identify the first, middle and third volume readings.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Marks 1, 2 and 3 identify the first, middle and third bars. The first closes near its high and the third near its low.</a:t>
            </a:r>
          </a:p>
          <a:p>
            <a:r>
              <a:rPr sz="1400"/>
              <a:t>- The figure also labels bearish +DM divergence and shows rapid later decline, not a guaranteed result.</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first outer volume bar, mark 2 is the quiet middle volume bar, and mark 3 is the final outer bar.</a:t>
            </a:r>
          </a:p>
          <a:p>
            <a:r>
              <a:rPr sz="1400"/>
              <a:t>- The volume relationship is the book's clue. It does not make the reversal certain.</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three-bar group. Mark 2 is the oversold StochRSI label.</a:t>
            </a:r>
          </a:p>
          <a:p>
            <a:r>
              <a:rPr sz="1400"/>
              <a:t>- Mark 3 points to the last close between the bands, which Lim calls bullish. The formulas are not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keeps the first three-bar reversal separate. Mark 2 identifies its large third bar near its high.</a:t>
            </a:r>
          </a:p>
          <a:p>
            <a:r>
              <a:rPr sz="1400"/>
              <a:t>- Mark 3 boxes the later outside day and its close near the low. Lim says the third bar adds bullishness,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first bar, mark 2 identifies the lower-volume middle bar, and mark 3 identifies the third bar.</a:t>
            </a:r>
          </a:p>
          <a:p>
            <a:r>
              <a:rPr sz="1400"/>
              <a:t>- Lim links this arrangement to pattern 6 in Figure 7.9. That link recalls the earlier generic pattern; it adds no new formula.</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PHP bars with the prior high, gap-up open, isolated bars, gap-down open and volume values labelled. Marks 1, 2 and 3 identify the two gaps and the island.</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 island is isolated by two gaps: mark 1 is the gap up and mark 3 the gap down.</a:t>
            </a:r>
          </a:p>
          <a:p>
            <a:r>
              <a:rPr sz="1400"/>
              <a:t>- Mark 2 is the isolated formation. Lim also observes low volume and an overbought stochastic label; no formula is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formation and its purpose before showing the invented prices.</a:t>
            </a:r>
          </a:p>
          <a:p>
            <a:r>
              <a:rPr sz="1400"/>
              <a:t>- Keep Lim's generally and can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bars run from PHP 48.00 to PHP 52.00. The outside bar runs from PHP 47.00 to PHP 53.00 and closes at PHP 47.50.</a:t>
            </a:r>
          </a:p>
          <a:p>
            <a:r>
              <a:rPr sz="1400"/>
              <a:t>- Its 5.0 million volume is invented to show the book's high-volume reliability condition.</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first to the 11 contained bars, then to the outside high and low.</a:t>
            </a:r>
          </a:p>
          <a:p>
            <a:r>
              <a:rPr sz="1400"/>
              <a:t>- The book says a trendline violation with the bearish breakout should be a reliable short-entry signal.</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11 preceding bars contained in the outside range.</a:t>
            </a:r>
          </a:p>
          <a:p>
            <a:r>
              <a:rPr sz="1400"/>
              <a:t>- Red [2] marks the trendline violation at the outside-bar break. Blue [3] marks the bearish close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inside bar before giving its invented values.</a:t>
            </a:r>
          </a:p>
          <a:p>
            <a:r>
              <a:rPr sz="1400"/>
              <a:t>- Keep the first wide and high-volume, second narrow and very-low-volume condition.</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bar is O 50.00, H 53.00, L 48.00, C 52.40 on 4.5 million shares.</a:t>
            </a:r>
          </a:p>
          <a:p>
            <a:r>
              <a:rPr sz="1400"/>
              <a:t>- The second is O 51.80, H 52.50, L 49.20, C 50.10 on 0.5 million shares. It stays inside the first range.</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three nested bars from left to right, then the later outside bar.</a:t>
            </a:r>
          </a:p>
          <a:p>
            <a:r>
              <a:rPr sz="1400"/>
              <a:t>- The book says the exhaustion reading is especially strong when the declines also have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places three named reversal families on one chart.</a:t>
            </a:r>
          </a:p>
          <a:p>
            <a:r>
              <a:rPr sz="1400"/>
              <a:t>- This slide names the three price-bar families; the indicator panels are outside this slide's scope.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State the proportion arithmetic after naming the distinction.</a:t>
            </a:r>
          </a:p>
          <a:p>
            <a:r>
              <a:rPr sz="1400"/>
              <a:t>- Do not rename every inside bar as Harami.</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pattern and why the next-bar gap matters before the example.</a:t>
            </a:r>
          </a:p>
          <a:p>
            <a:r>
              <a:rPr sz="1400"/>
              <a:t>- The invented chart will walk through each condition.</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prior high is PHP 65.00. The exhaustion bar opens at 65.40, reaches 66.20, falls to 60.00, and closes at 60.50.</a:t>
            </a:r>
          </a:p>
          <a:p>
            <a:r>
              <a:rPr sz="1400"/>
              <a:t>- The next bar opens at 60.20, inside the exhaustion bar's range, so there is no following gap.</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marked bar is the bullish converse of the uptrend case: it closes near its high in a downtrend.</a:t>
            </a:r>
          </a:p>
          <a:p>
            <a:r>
              <a:rPr sz="1400"/>
              <a:t>- There is a gap before the marked bar in this figure, but the book's rule concerns no gap between an exhaustion bar and the subsequent bar.</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Make the shift explicit: this pattern is about range and volume, not the next-bar gap.</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ordinary bars have a PHP 3.0 range and 1.5 million shares. The spike has an 8.0 range and 6.0 million shares.</a:t>
            </a:r>
          </a:p>
          <a:p>
            <a:r>
              <a:rPr sz="1400"/>
              <a:t>- The numbers are invented to make Lim's wide-range and high-volume description visible.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ordinary bars have a PHP 3.0 range and 1.5 million shares. The spike has an 8.0 range and 6.0 million shares.</a:t>
            </a:r>
          </a:p>
          <a:p>
            <a:r>
              <a:rPr sz="1400"/>
              <a:t>- The numbers are invented to make Lim's wide-range and high-volume description visible.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price panel shows the wide spike; the lower panel shows its high volume.</a:t>
            </a:r>
          </a:p>
          <a:p>
            <a:r>
              <a:rPr sz="1400"/>
              <a:t>- Lim also identifies a typical three-bar bearish reversal at the top of the move.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the pin bar before showing the invented prices.</a:t>
            </a:r>
          </a:p>
          <a:p>
            <a:r>
              <a:rPr sz="1400"/>
              <a:t>- Keep the named barriers and low-volume tendency tied to Lim's wording.</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support line first, then the penetration and the close back above it.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support barrier, mark 2 the penetration, and mark 3 the rapid retrace.</a:t>
            </a:r>
          </a:p>
          <a:p>
            <a:r>
              <a:rPr sz="1400"/>
              <a:t>- The book says pin bars are usually breakouts formed on low volume.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Connect false breakouts to the pin-bar barrier idea before showing both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course drawing labels resistance PHP 60.00, high PHP 62.00, close PHP 59.40, and stop PHP 62.20.</a:t>
            </a:r>
          </a:p>
          <a:p>
            <a:r>
              <a:rPr sz="1400"/>
              <a:t>- The book's drawing follows on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calls this a non-failure swing and attributes the setup to a 2B entry.</a:t>
            </a:r>
          </a:p>
          <a:p>
            <a:r>
              <a:rPr sz="1400"/>
              <a:t>- The short begins after the close returns below resistance; the stop sits just above the breakout high.</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short below resistance after a false upside break, long above support after a false downside break.</a:t>
            </a:r>
          </a:p>
          <a:p>
            <a:r>
              <a:rPr sz="1400"/>
              <a:t>- The book does not give a complete trade plan beyond these entry and stop descriptions.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import a formula beyond the book's wording.</a:t>
            </a:r>
          </a:p>
          <a:p>
            <a:r>
              <a:rPr sz="1400"/>
              <a:t>- The chart shows both pairs and the limits.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crossings are the pattern's named structure; the later decline is the observed follow-through.</a:t>
            </a:r>
          </a:p>
          <a:p>
            <a:r>
              <a:rPr sz="1400"/>
              <a:t>- Lim directs readers to DiNapoli's original text for a complete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forward-shifted three-day SMA. Red [2] marks the long bullish run before the pattern.</a:t>
            </a:r>
          </a:p>
          <a:p>
            <a:r>
              <a:rPr sz="1400"/>
              <a:t>- Blue [3] marks the topping formation, which the book limits to eight to ten bars.</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Hikkake before showing the invented levels.</a:t>
            </a:r>
          </a:p>
          <a:p>
            <a:r>
              <a:rPr sz="1400"/>
              <a:t>- Keep the failed direction separate from the opposite entry.</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In the bearish case, the inside high is PHP 52.00, the false high is PHP 53.00, and the short re-entry is below PHP 49.00.</a:t>
            </a:r>
          </a:p>
          <a:p>
            <a:r>
              <a:rPr sz="1400"/>
              <a:t>- The bullish converse uses an inside low of PHP 40.00, a false low of PHP 39.20, and an upside re-entry at PHP 41.00.</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inside high 43.00, inside low 40.00, false low 39.00, long re-entry at 43.00.</a:t>
            </a:r>
          </a:p>
          <a:p>
            <a:r>
              <a:rPr sz="1400"/>
              <a:t>- Right: inside high 52.00, inside low 49.00, false high 53.00, short re-entry at 49.00.</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inside high 43.00, inside low 40.00, false low 39.00, long re-entry at 43.00.</a:t>
            </a:r>
          </a:p>
          <a:p>
            <a:r>
              <a:rPr sz="1400"/>
              <a:t>- Right: inside high 52.00, inside low 49.00, false high 53.00, short re-entry at 49.00.</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downside breakout, and blue [3] the bullish re-entry above the inside high.</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upside breakout, and blue [3] the bearish re-entry below the inside low.</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includes indicator panels, but this slide does not interpret their formulas.</a:t>
            </a:r>
          </a:p>
          <a:p>
            <a:r>
              <a:rPr sz="1400"/>
              <a:t>- Read the formation, failed downside breakout, and upside re-entry only.</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section first: Lim's 7.4 is volatility-based breakout patterns. It opens with the Hikkake, already read at the end of Part 3.</a:t>
            </a:r>
          </a:p>
          <a:p>
            <a:r>
              <a:rPr sz="1400"/>
              <a:t>- Recall Chapter 5 before any number: a sell-stop fills only if price falls to it, a buy-stop only if price rises to it, and a stoploss closes a position that moves against us.</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the Oops in the book's words, then name the gap-up case: it is the bearish Oops.</a:t>
            </a:r>
          </a:p>
          <a:p>
            <a:r>
              <a:rPr sz="1400"/>
              <a:t>- The point: the order fills only if price comes back against the gap.</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bars in time order: the open first, then the high, then the fall.</a:t>
            </a:r>
          </a:p>
          <a:p>
            <a:r>
              <a:rPr sz="1400"/>
              <a:t>- Gold 1 is the open above bar 1, red 2 the sell-stop at 52.00, blue 3 the new high where the stoploss sits.</a:t>
            </a:r>
          </a:p>
          <a:p>
            <a:r>
              <a:rPr sz="1400"/>
              <a:t>- Then say the stop and reverse in words: once short, close the short and go long.</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bars in time order: the open first, then the high, then the fall.</a:t>
            </a:r>
          </a:p>
          <a:p>
            <a:r>
              <a:rPr sz="1400"/>
              <a:t>- Gold 1 is the open above bar 1, red 2 the sell-stop at 52.00, blue 3 the new high where the stoploss sits.</a:t>
            </a:r>
          </a:p>
          <a:p>
            <a:r>
              <a:rPr sz="1400"/>
              <a:t>- Then say the stop and reverse in words: once short, close the short and go long.</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on the right-hand drawing, the sell setup: gold 1 the gap-up open, red 2 the sell-stop level, blue 3 the stop and reverse level.</a:t>
            </a:r>
          </a:p>
          <a:p>
            <a:r>
              <a:rPr sz="1400"/>
              <a:t>- Then the left-hand drawing, the buy setup: purple 4 the gap down, red 5 the buy-stop at the previous low, blue 6 the stop and reverse level at the new low.</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Oops is the mirror image: gap down, buy-stop at the previous low, stoploss at the new low.</a:t>
            </a:r>
          </a:p>
          <a:p>
            <a:r>
              <a:rPr sz="1400"/>
              <a:t>- Gold 1 the open below bar 1, red 2 the buy-stop at 48.00, blue 3 the new low where the stoploss sits.</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Oops is the mirror image: gap down, buy-stop at the previous low, stoploss at the new low.</a:t>
            </a:r>
          </a:p>
          <a:p>
            <a:r>
              <a:rPr sz="1400"/>
              <a:t>- Gold 1 the open below bar 1, red 2 the buy-stop at 48.00, blue 3 the new low where the stoploss sits.</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Oops slides: the buy-stop at the previous low, and stop and reverse once the entry has filled.</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Oops slides: the buy-stop at the previous low, and stop and reverse once the entry has filled.</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book's own bearish Oops. Gold 1 is the Oops bar, which opens above the previous bar's high.</a:t>
            </a:r>
          </a:p>
          <a:p>
            <a:r>
              <a:rPr sz="1400"/>
              <a:t>- Red 2 is the sell-stop at the previous high and blue 3 the stop and reverse buy-stop at the current bar's high, both as the book labels them.</a:t>
            </a:r>
          </a:p>
          <a:p>
            <a:r>
              <a:rPr sz="1400"/>
              <a:t>- Keep it honest: the arrow is the expected move in this example, not a promise.</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says where to look: a bullish Oops in an uptrend, a bearish Oops in a downtrend.</a:t>
            </a:r>
          </a:p>
          <a:p>
            <a:r>
              <a:rPr sz="1400"/>
              <a:t>- Gold 1 is the steep fall at the start of the chart; red 2 is the bearish Oops bar.</a:t>
            </a:r>
          </a:p>
          <a:p>
            <a:r>
              <a:rPr sz="1400"/>
              <a:t>- The four candlestick names are only named in Chapter 7. Do not define them.</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pattern and its two parts before any number: an inside day, and the narrowest range of the last n bars.</a:t>
            </a:r>
          </a:p>
          <a:p>
            <a:r>
              <a:rPr sz="1400"/>
              <a:t>- Both parts are already known: the inside bar from Part 3 and the range from Part 1.</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the name but no reason; say plainly that the plain reading is ours.</a:t>
            </a:r>
          </a:p>
          <a:p>
            <a:r>
              <a:rPr sz="1400"/>
              <a:t>- Neutrality is in the book: no bearish or bullish sentiment.</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six ranges first: each bar is quieter than the one before.</a:t>
            </a:r>
          </a:p>
          <a:p>
            <a:r>
              <a:rPr sz="1400"/>
              <a:t>- Gold 1 is bar 6's range, inside bar 5. Red 2 and blue 3 are bar 5's high and low, the two trigger levels, as the book's drawing on the next slide places them.</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six ranges first: each bar is quieter than the one before.</a:t>
            </a:r>
          </a:p>
          <a:p>
            <a:r>
              <a:rPr sz="1400"/>
              <a:t>- Gold 1 is bar 6's range, inside bar 5. Red 2 and blue 3 are bar 5's high and low, the two trigger levels, as the book's drawing on the next slide places them.</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counts the six bars, 2 to 7. Red 2 holds bars 6 and 7: the book's arrow names bar 7 the inside bar with the narrowest range.</a:t>
            </a:r>
          </a:p>
          <a:p>
            <a:r>
              <a:rPr sz="1400"/>
              <a:t>- Blue 3 and purple 4 are the book's long and short trigger levels, drawn from bar 6's high and low.</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 is how many bars we count back, the inside bar included.</a:t>
            </a:r>
          </a:p>
          <a:p>
            <a:r>
              <a:rPr sz="1400"/>
              <a:t>- Gold 1: counting four, five or six bars, bar 7 is the narrowest. Red 2: counting seven brings in bar 1's 1.0, so not an NR7.</a:t>
            </a:r>
          </a:p>
          <a:p>
            <a:r>
              <a:rPr sz="1400"/>
              <a:t>- Say the point: one bar can carry several NR numbers at once.</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 is how many bars we count back, the inside bar included.</a:t>
            </a:r>
          </a:p>
          <a:p>
            <a:r>
              <a:rPr sz="1400"/>
              <a:t>- Gold 1: counting four, five or six bars, bar 7 is the narrowest. Red 2: counting seven brings in bar 1's 1.0, so not an NR7.</a:t>
            </a:r>
          </a:p>
          <a:p>
            <a:r>
              <a:rPr sz="1400"/>
              <a:t>- Say the point: one bar can carry several NR numbers at once.</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the n counts the last n bars, and Lim gives ID/NR no sentiment.</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the n counts the last n bars, and Lim gives ID/NR no sentiment.</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no bearish or bullish sentiment, and the breakout can go either way.</a:t>
            </a:r>
          </a:p>
          <a:p>
            <a:r>
              <a:rPr sz="1400"/>
              <a:t>- Gold 1 and red 2 are the two triggers. Blue 3 is the long arrow in this drawing, which runs down through the short trigger.</a:t>
            </a:r>
          </a:p>
          <a:p>
            <a:r>
              <a:rPr sz="1400"/>
              <a:t>- The practical rule: count, confirm the inside bar, then wait.</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rule, one bar a month. Gold 1 is bar 5, the inside month and the narrowest of five.</a:t>
            </a:r>
          </a:p>
          <a:p>
            <a:r>
              <a:rPr sz="1400"/>
              <a:t>- Red 2 is bar 5's high, PHP 30.00; blue 3 is bar 6's close, PHP 36.00, after the upward breakout.</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rule, one bar a month. Gold 1 is bar 5, the inside month and the narrowest of five.</a:t>
            </a:r>
          </a:p>
          <a:p>
            <a:r>
              <a:rPr sz="1400"/>
              <a:t>- Red 2 is bar 5's high, PHP 30.00; blue 3 is bar 6's close, PHP 36.00, after the upward breakout.</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February, inside January and the narrowest of the five months in red 2, October to February.</a:t>
            </a:r>
          </a:p>
          <a:p>
            <a:r>
              <a:rPr sz="1400"/>
              <a:t>- Blue 3 is March, the upside breakout the book labels.</a:t>
            </a:r>
          </a:p>
          <a:p>
            <a:r>
              <a:rPr sz="1400"/>
              <a:t>- Say plainly that the two figures draw the trigger lines in different places and the text does not settle it; here March clears both.</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of the monthly slides: the timeframe changes, the inside-and-narrowest rule stays.</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of the monthly slides: the timeframe changes, the inside-and-narrowest rule stays.</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body of the Part 4 slides: the Oops order rule and the ID/NR definition.</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body of the Part 4 slides: the Oops order rule and the ID/NR definition.</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summary on p. 233 as the scope of the chapter.</a:t>
            </a:r>
          </a:p>
          <a:p>
            <a:r>
              <a:rPr sz="1400"/>
              <a:t>- Emphasise that potential evidence is not a guarantee or a complete trading system.</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question first, then answer it in two halves: the exhaustion bar on this slide, the pin bar and the difference on the next.</a:t>
            </a:r>
          </a:p>
          <a:p>
            <a:r>
              <a:rPr sz="1400"/>
              <a:t>- Gold 1 is the bullish exhaustion bar the book labels in Figure 7.28.</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the pin bar's tail below support; red 2 is the support line it breaches.</a:t>
            </a:r>
          </a:p>
          <a:p>
            <a:r>
              <a:rPr sz="1400"/>
              <a:t>- Then give Lim's own answer to the question, from p. 227: the false impression and the low volume.</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the name and the definition but no further reason; say plainly which sentence is our reading.</a:t>
            </a:r>
          </a:p>
          <a:p>
            <a:r>
              <a:rPr sz="1400"/>
              <a:t>- Gold 1 is the inside bar the book's arrow names in Figure 7.38.</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Apple's key reversal day; red 2 is its above-average volume bar.</a:t>
            </a:r>
          </a:p>
          <a:p>
            <a:r>
              <a:rPr sz="1400"/>
              <a:t>- Keep the follow-through honest: the book says the market may hover before it falls.</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first eight as names; Chapter 5 gave the detail.</a:t>
            </a:r>
          </a:p>
          <a:p>
            <a:r>
              <a:rPr sz="1400"/>
              <a:t>- Read every name as evidence of a potential reversal,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Finish the list, then stress barrier proximity, which Lim singles out.</a:t>
            </a:r>
          </a:p>
          <a:p>
            <a:r>
              <a:rPr sz="1400"/>
              <a:t>- These are clues to a potential reversal, not guarantees.</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book's volume sentences on pp. 212 to 214.</a:t>
            </a:r>
          </a:p>
          <a:p>
            <a:r>
              <a:rPr sz="1400"/>
              <a:t>- Keep the qualification: volume adds weight, it does not guarantee.</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pattern 1, red 2 is pattern 2; read the book's captions for each.</a:t>
            </a:r>
          </a:p>
          <a:p>
            <a:r>
              <a:rPr sz="1400"/>
              <a:t>- For the trading half, say honestly that Chapter 7 gives reliability conditions, not entry and exit rules.</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are the book's two inside bars, each with the wider bar that holds it, both at resistance.</a:t>
            </a:r>
          </a:p>
          <a:p>
            <a:r>
              <a:rPr sz="1400"/>
              <a:t>- The figure has no volume panel, so the volume half of the rule is read from the text, not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only what Chapter 7 shows: oscillators agreeing with a bar reversal. The method is Chapter 8.</a:t>
            </a:r>
          </a:p>
          <a:p>
            <a:r>
              <a:rPr sz="1400"/>
              <a:t>- Gold 1 is inside bar 2; red 2 is the bearish divergence the book labels in the oscillator panel.</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as the final synthesis, not as a new method.</a:t>
            </a:r>
          </a:p>
          <a:p>
            <a:r>
              <a:rPr sz="1400"/>
              <a:t>- Close by naming the chapter's boundary: a reading is not a complete trade plan.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7</a:t>
            </a:r>
          </a:p>
          <a:p>
            <a:pPr algn="l">
              <a:lnSpc>
                <a:spcPct val="105000"/>
              </a:lnSpc>
              <a:spcBef>
                <a:spcPts val="1000"/>
              </a:spcBef>
              <a:spcAft>
                <a:spcPts val="0"/>
              </a:spcAft>
            </a:pPr>
            <a:r>
              <a:rPr sz="4400" b="0" i="0">
                <a:solidFill>
                  <a:srgbClr val="FFFFFF"/>
                </a:solidFill>
                <a:latin typeface="Palatino"/>
              </a:rPr>
              <a:t>Bar Chart Analysis</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FFFFFF"/>
                </a:solidFill>
                <a:latin typeface="Arial"/>
              </a:rPr>
              <a:t>A price bar records the opening, highest, lowest and closing prices in one interval. Learn to read those four prices first, then ask whether a bar formation may continue or reverse.</a:t>
            </a:r>
          </a:p>
          <a:p>
            <a:pPr algn="l">
              <a:lnSpc>
                <a:spcPct val="100000"/>
              </a:lnSpc>
              <a:spcBef>
                <a:spcPts val="800"/>
              </a:spcBef>
              <a:spcAft>
                <a:spcPts val="0"/>
              </a:spcAft>
            </a:pPr>
            <a:r>
              <a:rPr sz="1400" b="0" i="0">
                <a:solidFill>
                  <a:srgbClr val="F2A900"/>
                </a:solidFill>
                <a:latin typeface="Arial"/>
              </a:rPr>
              <a:t>Faculty of Economics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will teach you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chart analysis is the study of bar chart patterns. Lim calls it the basis of pure price action analysis and the most fundamental skill every technician should have (p. 209).</a:t>
            </a:r>
          </a:p>
          <a:p>
            <a:pPr algn="l">
              <a:lnSpc>
                <a:spcPct val="118000"/>
              </a:lnSpc>
              <a:spcBef>
                <a:spcPts val="0"/>
              </a:spcBef>
              <a:spcAft>
                <a:spcPts val="1300"/>
              </a:spcAft>
            </a:pPr>
            <a:r>
              <a:rPr sz="2100" b="0" i="0">
                <a:solidFill>
                  <a:srgbClr val="1A1A1A"/>
                </a:solidFill>
                <a:latin typeface="Arial"/>
              </a:rPr>
              <a:t>By the end of the chapter you should be able to explain how bar patterns help us forecast potential tops and bottoms, and recognise early signs that a trend may be about to change (p. 209).</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Everything here is read from price bars, one bar at a time.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209, the chapter's learning objectives.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will teach you to do,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You should also be able to pick out buy and sell signals from single, double, triple and multiple bar formations, both bullish and bearish (p. 209).</a:t>
            </a:r>
          </a:p>
          <a:p>
            <a:pPr algn="l">
              <a:lnSpc>
                <a:spcPct val="118000"/>
              </a:lnSpc>
              <a:spcBef>
                <a:spcPts val="0"/>
              </a:spcBef>
              <a:spcAft>
                <a:spcPts val="1300"/>
              </a:spcAft>
            </a:pPr>
            <a:r>
              <a:rPr sz="2100" b="0" i="0">
                <a:solidFill>
                  <a:srgbClr val="1A1A1A"/>
                </a:solidFill>
                <a:latin typeface="Arial"/>
              </a:rPr>
              <a:t>And you should be able to read bar behaviour more carefully with Lim's 16 price and volume reversal characteristics, which we met in Chapter 5 (p. 209).</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pattern is evidence to weigh, not a promise about the next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209, the chapter's learning objectives.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We will read the chapter in four parts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starts with one price bar: the four prices it keeps, and the three ways Lim sorts a group of bars into a formation.</a:t>
            </a:r>
          </a:p>
          <a:p>
            <a:pPr algn="l">
              <a:lnSpc>
                <a:spcPct val="118000"/>
              </a:lnSpc>
              <a:spcBef>
                <a:spcPts val="0"/>
              </a:spcBef>
              <a:spcAft>
                <a:spcPts val="1300"/>
              </a:spcAft>
            </a:pPr>
            <a:r>
              <a:rPr sz="2100" b="0" i="0">
                <a:solidFill>
                  <a:srgbClr val="1A1A1A"/>
                </a:solidFill>
                <a:latin typeface="Arial"/>
              </a:rPr>
              <a:t>Part 2 asks when a formation suggests the trend will carry on and when it warns of a reversal, and reads the book's generic patterns.</a:t>
            </a:r>
          </a:p>
          <a:p>
            <a:pPr algn="l">
              <a:lnSpc>
                <a:spcPct val="118000"/>
              </a:lnSpc>
              <a:spcBef>
                <a:spcPts val="0"/>
              </a:spcBef>
              <a:spcAft>
                <a:spcPts val="1300"/>
              </a:spcAft>
            </a:pPr>
            <a:r>
              <a:rPr sz="2100" b="0" i="0">
                <a:solidFill>
                  <a:srgbClr val="1A1A1A"/>
                </a:solidFill>
                <a:latin typeface="Arial"/>
              </a:rPr>
              <a:t>Part 3 covers the popular named reversal patterns, such as the key reversal and the pin bar. Part 4 reads the volatility-based breakout patterns that close the chapter.</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We start where the book starts: what one price bar records.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sections 7.1 to 7.4.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price bar keeps four prices from one interval</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4747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Every pattern here is read from price bars. Lim's bar keeps four prices from one interval: open (O), high (H), low (L) and close (C), or OHLC (p. 209).</a:t>
            </a:r>
          </a:p>
          <a:p>
            <a:pPr algn="l">
              <a:lnSpc>
                <a:spcPct val="105000"/>
              </a:lnSpc>
              <a:spcBef>
                <a:spcPts val="0"/>
              </a:spcBef>
              <a:spcAft>
                <a:spcPts val="1100"/>
              </a:spcAft>
            </a:pPr>
            <a:r>
              <a:rPr sz="1700" b="0" i="0">
                <a:solidFill>
                  <a:srgbClr val="1A1A1A"/>
                </a:solidFill>
                <a:latin typeface="Arial"/>
              </a:rPr>
              <a:t>In Figure 7.1, five minutes of price become one bar: open </a:t>
            </a:r>
            <a:r>
              <a:rPr sz="1700" b="1" i="0">
                <a:solidFill>
                  <a:srgbClr val="E09B00"/>
                </a:solidFill>
                <a:latin typeface="Arial"/>
              </a:rPr>
              <a:t>(1)</a:t>
            </a:r>
            <a:r>
              <a:rPr sz="1700" b="0" i="0">
                <a:solidFill>
                  <a:srgbClr val="1A1A1A"/>
                </a:solidFill>
                <a:latin typeface="Arial"/>
              </a:rPr>
              <a:t>, high </a:t>
            </a:r>
            <a:r>
              <a:rPr sz="1700" b="1" i="0">
                <a:solidFill>
                  <a:srgbClr val="C62828"/>
                </a:solidFill>
                <a:latin typeface="Arial"/>
              </a:rPr>
              <a:t>(2)</a:t>
            </a:r>
            <a:r>
              <a:rPr sz="1700" b="0" i="0">
                <a:solidFill>
                  <a:srgbClr val="1A1A1A"/>
                </a:solidFill>
                <a:latin typeface="Arial"/>
              </a:rPr>
              <a:t>, low </a:t>
            </a:r>
            <a:r>
              <a:rPr sz="1700" b="1" i="0">
                <a:solidFill>
                  <a:srgbClr val="1F5FAD"/>
                </a:solidFill>
                <a:latin typeface="Arial"/>
              </a:rPr>
              <a:t>(3)</a:t>
            </a:r>
            <a:r>
              <a:rPr sz="1700" b="0" i="0">
                <a:solidFill>
                  <a:srgbClr val="1A1A1A"/>
                </a:solidFill>
                <a:latin typeface="Arial"/>
              </a:rPr>
              <a:t>, close </a:t>
            </a:r>
            <a:r>
              <a:rPr sz="1700" b="1" i="0">
                <a:solidFill>
                  <a:srgbClr val="7B3FA0"/>
                </a:solidFill>
                <a:latin typeface="Arial"/>
              </a:rPr>
              <a:t>(4)</a:t>
            </a:r>
            <a:r>
              <a:rPr sz="1700" b="0" i="0">
                <a:solidFill>
                  <a:srgbClr val="1A1A1A"/>
                </a:solidFill>
                <a:latin typeface="Arial"/>
              </a:rPr>
              <a:t>. Lim's caption calls it four pieces of information.</a:t>
            </a:r>
          </a:p>
        </p:txBody>
      </p:sp>
      <p:sp>
        <p:nvSpPr>
          <p:cNvPr id="7" name="Rectangle 6"/>
          <p:cNvSpPr/>
          <p:nvPr/>
        </p:nvSpPr>
        <p:spPr>
          <a:xfrm>
            <a:off x="777240" y="4494276"/>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1821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drawing has no prices; its close ends below its open.</a:t>
            </a:r>
          </a:p>
        </p:txBody>
      </p:sp>
      <p:sp>
        <p:nvSpPr>
          <p:cNvPr id="9" name="Rectangle 8"/>
          <p:cNvSpPr/>
          <p:nvPr/>
        </p:nvSpPr>
        <p:spPr>
          <a:xfrm>
            <a:off x="4585141" y="1207008"/>
            <a:ext cx="6816172"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21717" y="1243584"/>
            <a:ext cx="6743020"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21717" y="1243584"/>
            <a:ext cx="6743020"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896037" y="1517904"/>
            <a:ext cx="6194380"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a:t>
            </a:r>
          </a:p>
          <a:p>
            <a:pPr algn="l">
              <a:lnSpc>
                <a:spcPct val="115000"/>
              </a:lnSpc>
              <a:spcBef>
                <a:spcPts val="0"/>
              </a:spcBef>
              <a:spcAft>
                <a:spcPts val="0"/>
              </a:spcAft>
            </a:pPr>
            <a:r>
              <a:rPr sz="1500" b="0" i="0">
                <a:solidFill>
                  <a:srgbClr val="1A1A1A"/>
                </a:solidFill>
                <a:latin typeface="Palatino"/>
              </a:rPr>
              <a:t>Figure 7.1: five minutes of price action on the left are summarized by one bar on the right, which keeps only its open, high, low and close.</a:t>
            </a:r>
          </a:p>
        </p:txBody>
      </p:sp>
      <p:cxnSp>
        <p:nvCxnSpPr>
          <p:cNvPr id="13" name="Connector 12"/>
          <p:cNvCxnSpPr/>
          <p:nvPr/>
        </p:nvCxnSpPr>
        <p:spPr>
          <a:xfrm>
            <a:off x="8667529" y="2800258"/>
            <a:ext cx="236006" cy="428086"/>
          </a:xfrm>
          <a:prstGeom prst="line">
            <a:avLst/>
          </a:prstGeom>
          <a:ln w="44450">
            <a:solidFill>
              <a:srgbClr val="E09B00"/>
            </a:solidFill>
            <a:tailEnd type="triangle" w="med" len="med"/>
          </a:ln>
        </p:spPr>
      </p:cxnSp>
      <p:cxnSp>
        <p:nvCxnSpPr>
          <p:cNvPr id="14" name="Connector 13"/>
          <p:cNvCxnSpPr/>
          <p:nvPr/>
        </p:nvCxnSpPr>
        <p:spPr>
          <a:xfrm flipH="1" flipV="1">
            <a:off x="9153027" y="2411089"/>
            <a:ext cx="458525" cy="243231"/>
          </a:xfrm>
          <a:prstGeom prst="line">
            <a:avLst/>
          </a:prstGeom>
          <a:ln w="44450">
            <a:solidFill>
              <a:srgbClr val="C62828"/>
            </a:solidFill>
            <a:tailEnd type="triangle" w="med" len="med"/>
          </a:ln>
        </p:spPr>
      </p:cxnSp>
      <p:cxnSp>
        <p:nvCxnSpPr>
          <p:cNvPr id="15" name="Connector 14"/>
          <p:cNvCxnSpPr/>
          <p:nvPr/>
        </p:nvCxnSpPr>
        <p:spPr>
          <a:xfrm flipH="1">
            <a:off x="9153027" y="4454225"/>
            <a:ext cx="458525" cy="218907"/>
          </a:xfrm>
          <a:prstGeom prst="line">
            <a:avLst/>
          </a:prstGeom>
          <a:ln w="44450">
            <a:solidFill>
              <a:srgbClr val="1F5FAD"/>
            </a:solidFill>
            <a:tailEnd type="triangle" w="med" len="med"/>
          </a:ln>
        </p:spPr>
      </p:cxnSp>
      <p:cxnSp>
        <p:nvCxnSpPr>
          <p:cNvPr id="16" name="Connector 15"/>
          <p:cNvCxnSpPr/>
          <p:nvPr/>
        </p:nvCxnSpPr>
        <p:spPr>
          <a:xfrm flipH="1" flipV="1">
            <a:off x="9341831" y="3651564"/>
            <a:ext cx="404581" cy="413492"/>
          </a:xfrm>
          <a:prstGeom prst="line">
            <a:avLst/>
          </a:prstGeom>
          <a:ln w="44450">
            <a:solidFill>
              <a:srgbClr val="7B3FA0"/>
            </a:solidFill>
            <a:tailEnd type="triangle" w="med" len="med"/>
          </a:ln>
        </p:spPr>
      </p:cxnSp>
      <p:sp>
        <p:nvSpPr>
          <p:cNvPr id="17" name="Oval 16"/>
          <p:cNvSpPr/>
          <p:nvPr/>
        </p:nvSpPr>
        <p:spPr>
          <a:xfrm>
            <a:off x="8530369" y="266309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474392" y="251716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474392" y="431706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9609252" y="3927896"/>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4747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210, Figure 7.1. The marks are ours, added for teaching.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Reading one bar of ours,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the same four prices with numbers. This bar of ours opens at PHP 50.00 </a:t>
            </a:r>
            <a:r>
              <a:rPr sz="1700" b="1" i="0">
                <a:solidFill>
                  <a:srgbClr val="E09B00"/>
                </a:solidFill>
                <a:latin typeface="Arial"/>
              </a:rPr>
              <a:t>(1)</a:t>
            </a:r>
            <a:r>
              <a:rPr sz="1700" b="0" i="0">
                <a:solidFill>
                  <a:srgbClr val="1A1A1A"/>
                </a:solidFill>
                <a:latin typeface="Arial"/>
              </a:rPr>
              <a:t>, rises as high as PHP 52.40 </a:t>
            </a:r>
            <a:r>
              <a:rPr sz="1700" b="1" i="0">
                <a:solidFill>
                  <a:srgbClr val="C62828"/>
                </a:solidFill>
                <a:latin typeface="Arial"/>
              </a:rPr>
              <a:t>(2)</a:t>
            </a:r>
            <a:r>
              <a:rPr sz="1700" b="0" i="0">
                <a:solidFill>
                  <a:srgbClr val="1A1A1A"/>
                </a:solidFill>
                <a:latin typeface="Arial"/>
              </a:rPr>
              <a:t>, dips as low as PHP 49.60 </a:t>
            </a:r>
            <a:r>
              <a:rPr sz="1700" b="1" i="0">
                <a:solidFill>
                  <a:srgbClr val="1F5FAD"/>
                </a:solidFill>
                <a:latin typeface="Arial"/>
              </a:rPr>
              <a:t>(3)</a:t>
            </a:r>
            <a:r>
              <a:rPr sz="1700" b="0" i="0">
                <a:solidFill>
                  <a:srgbClr val="1A1A1A"/>
                </a:solidFill>
                <a:latin typeface="Arial"/>
              </a:rPr>
              <a:t> and closes at PHP 51.10 </a:t>
            </a:r>
            <a:r>
              <a:rPr sz="1700" b="1" i="0">
                <a:solidFill>
                  <a:srgbClr val="7B3FA0"/>
                </a:solidFill>
                <a:latin typeface="Arial"/>
              </a:rPr>
              <a:t>(4)</a:t>
            </a:r>
            <a:r>
              <a:rPr sz="1700" b="0" i="0">
                <a:solidFill>
                  <a:srgbClr val="1A1A1A"/>
                </a:solidFill>
                <a:latin typeface="Arial"/>
              </a:rPr>
              <a:t>. Lim calls the distance from the high to the low the range of the bar, |H - L| (p. 209). For this bar it is 52.40 - 49.60 = PHP 2.80.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5896508"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05195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05195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207404"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5812383" y="446801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13973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139738"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6279080" y="394940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J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2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J. The PHP values are invented for teaching.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Five minutes of trades become one price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Why only four prices? As Chapter 3 put it, the open and close are the prices at the start and end of the interval, and the high and low are its extremes; every other trade drops out. Here are five trades of ours inside one five-minute interval. The first trade, PHP 50.00 </a:t>
            </a:r>
            <a:r>
              <a:rPr sz="1700" b="1" i="0">
                <a:solidFill>
                  <a:srgbClr val="E09B00"/>
                </a:solidFill>
                <a:latin typeface="Arial"/>
              </a:rPr>
              <a:t>(1)</a:t>
            </a:r>
            <a:r>
              <a:rPr sz="1700" b="0" i="0">
                <a:solidFill>
                  <a:srgbClr val="1A1A1A"/>
                </a:solidFill>
                <a:latin typeface="Arial"/>
              </a:rPr>
              <a:t>, becomes the open. The highest, PHP 52.40 </a:t>
            </a:r>
            <a:r>
              <a:rPr sz="1700" b="1" i="0">
                <a:solidFill>
                  <a:srgbClr val="C62828"/>
                </a:solidFill>
                <a:latin typeface="Arial"/>
              </a:rPr>
              <a:t>(2)</a:t>
            </a:r>
            <a:r>
              <a:rPr sz="1700" b="0" i="0">
                <a:solidFill>
                  <a:srgbClr val="1A1A1A"/>
                </a:solidFill>
                <a:latin typeface="Arial"/>
              </a:rPr>
              <a:t>, is the high, and the lowest, PHP 49.60 </a:t>
            </a:r>
            <a:r>
              <a:rPr sz="1700" b="1" i="0">
                <a:solidFill>
                  <a:srgbClr val="1F5FAD"/>
                </a:solidFill>
                <a:latin typeface="Arial"/>
              </a:rPr>
              <a:t>(3)</a:t>
            </a:r>
            <a:r>
              <a:rPr sz="1700" b="0" i="0">
                <a:solidFill>
                  <a:srgbClr val="1A1A1A"/>
                </a:solidFill>
                <a:latin typeface="Arial"/>
              </a:rPr>
              <a:t>, is the low.</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103184"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519040" y="461007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035635" y="3481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225574" y="4675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402205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3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P. The PHP values are invented for teaching.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Five minutes of trades become one price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last, PHP 51.10 </a:t>
            </a:r>
            <a:r>
              <a:rPr sz="1700" b="1" i="0">
                <a:solidFill>
                  <a:srgbClr val="7B3FA0"/>
                </a:solidFill>
                <a:latin typeface="Arial"/>
              </a:rPr>
              <a:t>(4)</a:t>
            </a:r>
            <a:r>
              <a:rPr sz="1700" b="0" i="0">
                <a:solidFill>
                  <a:srgbClr val="1A1A1A"/>
                </a:solidFill>
                <a:latin typeface="Arial"/>
              </a:rPr>
              <a:t>, becomes the close. The trade at PHP 50.80 leaves no mark on the bar. So this interval's bar is open 50.00, high 52.40, low 49.60 and close 51.10.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103184"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519040" y="461007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035635" y="3481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225574" y="4675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402205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4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P. The PHP values are invented for teaching.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Building a price bar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In one interval, which trade supplies the bar's close?</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trade</a:t>
            </a:r>
          </a:p>
          <a:p>
            <a:pPr algn="l">
              <a:lnSpc>
                <a:spcPct val="112000"/>
              </a:lnSpc>
              <a:spcBef>
                <a:spcPts val="0"/>
              </a:spcBef>
              <a:spcAft>
                <a:spcPts val="900"/>
              </a:spcAft>
            </a:pPr>
            <a:r>
              <a:rPr sz="1700" b="0" i="0">
                <a:solidFill>
                  <a:srgbClr val="FFFFFF"/>
                </a:solidFill>
                <a:latin typeface="Arial"/>
              </a:rPr>
              <a:t>B.  The highest trade</a:t>
            </a:r>
          </a:p>
          <a:p>
            <a:pPr algn="l">
              <a:lnSpc>
                <a:spcPct val="112000"/>
              </a:lnSpc>
              <a:spcBef>
                <a:spcPts val="0"/>
              </a:spcBef>
              <a:spcAft>
                <a:spcPts val="900"/>
              </a:spcAft>
            </a:pPr>
            <a:r>
              <a:rPr sz="1700" b="0" i="0">
                <a:solidFill>
                  <a:srgbClr val="FFFFFF"/>
                </a:solidFill>
                <a:latin typeface="Arial"/>
              </a:rPr>
              <a:t>C.  The lowest trade</a:t>
            </a:r>
          </a:p>
          <a:p>
            <a:pPr algn="l">
              <a:lnSpc>
                <a:spcPct val="112000"/>
              </a:lnSpc>
              <a:spcBef>
                <a:spcPts val="0"/>
              </a:spcBef>
              <a:spcAft>
                <a:spcPts val="900"/>
              </a:spcAft>
            </a:pPr>
            <a:r>
              <a:rPr sz="1700" b="0" i="0">
                <a:solidFill>
                  <a:srgbClr val="FFFFFF"/>
                </a:solidFill>
                <a:latin typeface="Arial"/>
              </a:rPr>
              <a:t>D.  The last trade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is the range when H is PHP 52.40 and L is PHP 49.60?</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PHP 1.40</a:t>
            </a:r>
          </a:p>
          <a:p>
            <a:pPr algn="l">
              <a:lnSpc>
                <a:spcPct val="112000"/>
              </a:lnSpc>
              <a:spcBef>
                <a:spcPts val="0"/>
              </a:spcBef>
              <a:spcAft>
                <a:spcPts val="900"/>
              </a:spcAft>
            </a:pPr>
            <a:r>
              <a:rPr sz="1700" b="0" i="0">
                <a:solidFill>
                  <a:srgbClr val="FFFFFF"/>
                </a:solidFill>
                <a:latin typeface="Arial"/>
              </a:rPr>
              <a:t>B.  PHP 2.80</a:t>
            </a:r>
          </a:p>
          <a:p>
            <a:pPr algn="l">
              <a:lnSpc>
                <a:spcPct val="112000"/>
              </a:lnSpc>
              <a:spcBef>
                <a:spcPts val="0"/>
              </a:spcBef>
              <a:spcAft>
                <a:spcPts val="900"/>
              </a:spcAft>
            </a:pPr>
            <a:r>
              <a:rPr sz="1700" b="0" i="0">
                <a:solidFill>
                  <a:srgbClr val="FFFFFF"/>
                </a:solidFill>
                <a:latin typeface="Arial"/>
              </a:rPr>
              <a:t>C.  PHP 3.80</a:t>
            </a:r>
          </a:p>
          <a:p>
            <a:pPr algn="l">
              <a:lnSpc>
                <a:spcPct val="112000"/>
              </a:lnSpc>
              <a:spcBef>
                <a:spcPts val="0"/>
              </a:spcBef>
              <a:spcAft>
                <a:spcPts val="900"/>
              </a:spcAft>
            </a:pPr>
            <a:r>
              <a:rPr sz="1700" b="0" i="0">
                <a:solidFill>
                  <a:srgbClr val="FFFFFF"/>
                </a:solidFill>
                <a:latin typeface="Arial"/>
              </a:rPr>
              <a:t>D.  PHP 102.00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Building a price bar</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one interval, which trade supplies the bar's close?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last trade</a:t>
            </a:r>
          </a:p>
          <a:p>
            <a:pPr algn="l">
              <a:lnSpc>
                <a:spcPct val="115000"/>
              </a:lnSpc>
              <a:spcBef>
                <a:spcPts val="700"/>
              </a:spcBef>
              <a:spcAft>
                <a:spcPts val="0"/>
              </a:spcAft>
            </a:pPr>
            <a:r>
              <a:rPr sz="1700" b="0" i="0">
                <a:solidFill>
                  <a:srgbClr val="1A1A1A"/>
                </a:solidFill>
                <a:latin typeface="Arial"/>
              </a:rPr>
              <a:t>As Chapter 3 put it, the price at the end of the interval is the close; the first trade is the open, and the highest and lowest are the high and low.</a:t>
            </a:r>
          </a:p>
        </p:txBody>
      </p:sp>
      <p:sp>
        <p:nvSpPr>
          <p:cNvPr id="10" name="Rectangle 9"/>
          <p:cNvSpPr/>
          <p:nvPr/>
        </p:nvSpPr>
        <p:spPr>
          <a:xfrm>
            <a:off x="777240" y="3359531"/>
            <a:ext cx="10637215" cy="16573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6573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is the range when H is PHP 52.40 and L is PHP 49.60?</a:t>
            </a:r>
          </a:p>
        </p:txBody>
      </p:sp>
      <p:sp>
        <p:nvSpPr>
          <p:cNvPr id="13" name="TextBox 12"/>
          <p:cNvSpPr txBox="1"/>
          <p:nvPr/>
        </p:nvSpPr>
        <p:spPr>
          <a:xfrm>
            <a:off x="1143000" y="41015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2.80</a:t>
            </a:r>
          </a:p>
          <a:p>
            <a:pPr algn="l">
              <a:lnSpc>
                <a:spcPct val="115000"/>
              </a:lnSpc>
              <a:spcBef>
                <a:spcPts val="700"/>
              </a:spcBef>
              <a:spcAft>
                <a:spcPts val="0"/>
              </a:spcAft>
            </a:pPr>
            <a:r>
              <a:rPr sz="1700" b="0" i="0">
                <a:solidFill>
                  <a:srgbClr val="1A1A1A"/>
                </a:solidFill>
                <a:latin typeface="Arial"/>
              </a:rPr>
              <a:t>The range is the high minus the low: 52.40 - 49.60 = PHP 2.80 (Lim, p. 209).</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Three five-minute bars can make one 15-minute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566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One bar for a longer stretch is a higher timeframe bar (Lim, p. 210).</a:t>
            </a:r>
          </a:p>
          <a:p>
            <a:pPr algn="l">
              <a:lnSpc>
                <a:spcPct val="105000"/>
              </a:lnSpc>
              <a:spcBef>
                <a:spcPts val="0"/>
              </a:spcBef>
              <a:spcAft>
                <a:spcPts val="1100"/>
              </a:spcAft>
            </a:pPr>
            <a:r>
              <a:rPr sz="1700" b="0" i="0">
                <a:solidFill>
                  <a:srgbClr val="1A1A1A"/>
                </a:solidFill>
                <a:latin typeface="Arial"/>
              </a:rPr>
              <a:t>It keeps the first interval's open </a:t>
            </a:r>
            <a:r>
              <a:rPr sz="1700" b="1" i="0">
                <a:solidFill>
                  <a:srgbClr val="E09B00"/>
                </a:solidFill>
                <a:latin typeface="Arial"/>
              </a:rPr>
              <a:t>(1)</a:t>
            </a:r>
            <a:r>
              <a:rPr sz="1700" b="0" i="0">
                <a:solidFill>
                  <a:srgbClr val="1A1A1A"/>
                </a:solidFill>
                <a:latin typeface="Arial"/>
              </a:rPr>
              <a:t>, the highest high </a:t>
            </a:r>
            <a:r>
              <a:rPr sz="1700" b="1" i="0">
                <a:solidFill>
                  <a:srgbClr val="C62828"/>
                </a:solidFill>
                <a:latin typeface="Arial"/>
              </a:rPr>
              <a:t>(2)</a:t>
            </a:r>
            <a:r>
              <a:rPr sz="1700" b="0" i="0">
                <a:solidFill>
                  <a:srgbClr val="1A1A1A"/>
                </a:solidFill>
                <a:latin typeface="Arial"/>
              </a:rPr>
              <a:t>, the lowest low </a:t>
            </a:r>
            <a:r>
              <a:rPr sz="1700" b="1" i="0">
                <a:solidFill>
                  <a:srgbClr val="1F5FAD"/>
                </a:solidFill>
                <a:latin typeface="Arial"/>
              </a:rPr>
              <a:t>(3)</a:t>
            </a:r>
            <a:r>
              <a:rPr sz="1700" b="0" i="0">
                <a:solidFill>
                  <a:srgbClr val="1A1A1A"/>
                </a:solidFill>
                <a:latin typeface="Arial"/>
              </a:rPr>
              <a:t> and the last interval's close </a:t>
            </a:r>
            <a:r>
              <a:rPr sz="1700" b="1" i="0">
                <a:solidFill>
                  <a:srgbClr val="7B3FA0"/>
                </a:solidFill>
                <a:latin typeface="Arial"/>
              </a:rPr>
              <a:t>(4)</a:t>
            </a:r>
            <a:r>
              <a:rPr sz="1700" b="0" i="0">
                <a:solidFill>
                  <a:srgbClr val="1A1A1A"/>
                </a:solidFill>
                <a:latin typeface="Arial"/>
              </a:rPr>
              <a:t> (p. 209). Dashed lines carry each to the 15-minute bar.</a:t>
            </a:r>
          </a:p>
        </p:txBody>
      </p:sp>
      <p:sp>
        <p:nvSpPr>
          <p:cNvPr id="7" name="Rectangle 6"/>
          <p:cNvSpPr/>
          <p:nvPr/>
        </p:nvSpPr>
        <p:spPr>
          <a:xfrm>
            <a:off x="777240" y="4222242"/>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32735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drawing has no prices; its 15-minute bar closes below its open.</a:t>
            </a:r>
          </a:p>
        </p:txBody>
      </p:sp>
      <p:sp>
        <p:nvSpPr>
          <p:cNvPr id="9" name="Rectangle 8"/>
          <p:cNvSpPr/>
          <p:nvPr/>
        </p:nvSpPr>
        <p:spPr>
          <a:xfrm>
            <a:off x="4626864" y="1207008"/>
            <a:ext cx="6824166" cy="466915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63440" y="1243584"/>
            <a:ext cx="6751014" cy="459600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63440" y="1243584"/>
            <a:ext cx="6751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937759" y="1517904"/>
            <a:ext cx="6202375" cy="413880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a:t>
            </a:r>
          </a:p>
          <a:p>
            <a:pPr algn="l">
              <a:lnSpc>
                <a:spcPct val="115000"/>
              </a:lnSpc>
              <a:spcBef>
                <a:spcPts val="0"/>
              </a:spcBef>
              <a:spcAft>
                <a:spcPts val="0"/>
              </a:spcAft>
            </a:pPr>
            <a:r>
              <a:rPr sz="1500" b="0" i="0">
                <a:solidFill>
                  <a:srgbClr val="1A1A1A"/>
                </a:solidFill>
                <a:latin typeface="Palatino"/>
              </a:rPr>
              <a:t>Figure 7.2: three five-minute intervals on the left are summarized by one 15-minute bar on the right, which keeps the first open, the highest high, the lowest low and the last close.</a:t>
            </a:r>
          </a:p>
        </p:txBody>
      </p:sp>
      <p:cxnSp>
        <p:nvCxnSpPr>
          <p:cNvPr id="13" name="Connector 12"/>
          <p:cNvCxnSpPr/>
          <p:nvPr/>
        </p:nvCxnSpPr>
        <p:spPr>
          <a:xfrm>
            <a:off x="5102255" y="2438544"/>
            <a:ext cx="209282" cy="432024"/>
          </a:xfrm>
          <a:prstGeom prst="line">
            <a:avLst/>
          </a:prstGeom>
          <a:ln w="44450">
            <a:solidFill>
              <a:srgbClr val="E09B00"/>
            </a:solidFill>
            <a:tailEnd type="triangle" w="med" len="med"/>
          </a:ln>
        </p:spPr>
      </p:cxnSp>
      <p:cxnSp>
        <p:nvCxnSpPr>
          <p:cNvPr id="14" name="Connector 13"/>
          <p:cNvCxnSpPr/>
          <p:nvPr/>
        </p:nvCxnSpPr>
        <p:spPr>
          <a:xfrm flipH="1">
            <a:off x="5682843" y="2139804"/>
            <a:ext cx="567085" cy="55152"/>
          </a:xfrm>
          <a:prstGeom prst="line">
            <a:avLst/>
          </a:prstGeom>
          <a:ln w="44450">
            <a:solidFill>
              <a:srgbClr val="C62828"/>
            </a:solidFill>
            <a:tailEnd type="triangle" w="med" len="med"/>
          </a:ln>
        </p:spPr>
      </p:cxnSp>
      <p:cxnSp>
        <p:nvCxnSpPr>
          <p:cNvPr id="15" name="Connector 14"/>
          <p:cNvCxnSpPr/>
          <p:nvPr/>
        </p:nvCxnSpPr>
        <p:spPr>
          <a:xfrm flipV="1">
            <a:off x="6351193" y="4561896"/>
            <a:ext cx="580588" cy="59748"/>
          </a:xfrm>
          <a:prstGeom prst="line">
            <a:avLst/>
          </a:prstGeom>
          <a:ln w="44450">
            <a:solidFill>
              <a:srgbClr val="1F5FAD"/>
            </a:solidFill>
            <a:tailEnd type="triangle" w="med" len="med"/>
          </a:ln>
        </p:spPr>
      </p:cxnSp>
      <p:cxnSp>
        <p:nvCxnSpPr>
          <p:cNvPr id="16" name="Connector 15"/>
          <p:cNvCxnSpPr/>
          <p:nvPr/>
        </p:nvCxnSpPr>
        <p:spPr>
          <a:xfrm flipH="1" flipV="1">
            <a:off x="8052449" y="3798960"/>
            <a:ext cx="391559" cy="432024"/>
          </a:xfrm>
          <a:prstGeom prst="line">
            <a:avLst/>
          </a:prstGeom>
          <a:ln w="44450">
            <a:solidFill>
              <a:srgbClr val="7B3FA0"/>
            </a:solidFill>
            <a:tailEnd type="triangle" w="med" len="med"/>
          </a:ln>
        </p:spPr>
      </p:cxnSp>
      <p:sp>
        <p:nvSpPr>
          <p:cNvPr id="17" name="Oval 16"/>
          <p:cNvSpPr/>
          <p:nvPr/>
        </p:nvSpPr>
        <p:spPr>
          <a:xfrm>
            <a:off x="4965095" y="2301384"/>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112768" y="2002644"/>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214033" y="448448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306848" y="4093824"/>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566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5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210, Figure 7.2. The marks are ours, added for teaching.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Building a 15-minute bar from our own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rule with prices of ours. Bars 1 to 3 are three five-minute bars in a row, and bar 4 is the 15-minute bar they make. Bar 4 opens where bar 1 opened, PHP 50.00 </a:t>
            </a:r>
            <a:r>
              <a:rPr sz="1700" b="1" i="0">
                <a:solidFill>
                  <a:srgbClr val="E09B00"/>
                </a:solidFill>
                <a:latin typeface="Arial"/>
              </a:rPr>
              <a:t>(1)</a:t>
            </a:r>
            <a:r>
              <a:rPr sz="1700" b="0" i="0">
                <a:solidFill>
                  <a:srgbClr val="1A1A1A"/>
                </a:solidFill>
                <a:latin typeface="Arial"/>
              </a:rPr>
              <a:t>. Its high is the highest high, PHP 50.90 from bar 2 </a:t>
            </a:r>
            <a:r>
              <a:rPr sz="1700" b="1" i="0">
                <a:solidFill>
                  <a:srgbClr val="C62828"/>
                </a:solidFill>
                <a:latin typeface="Arial"/>
              </a:rPr>
              <a:t>(2)</a:t>
            </a:r>
            <a:r>
              <a:rPr sz="1700" b="0" i="0">
                <a:solidFill>
                  <a:srgbClr val="1A1A1A"/>
                </a:solidFill>
                <a:latin typeface="Arial"/>
              </a:rPr>
              <a:t>, and its low the lowest low, PHP 49.40, also from bar 2 </a:t>
            </a:r>
            <a:r>
              <a:rPr sz="1700" b="1" i="0">
                <a:solidFill>
                  <a:srgbClr val="1F5FAD"/>
                </a:solidFill>
                <a:latin typeface="Arial"/>
              </a:rPr>
              <a:t>(3)</a:t>
            </a:r>
            <a:r>
              <a:rPr sz="1700" b="0" i="0">
                <a:solidFill>
                  <a:srgbClr val="1A1A1A"/>
                </a:solidFill>
                <a:latin typeface="Arial"/>
              </a:rPr>
              <a:t>. It closes where bar 3 closed, PHP 50.30 </a:t>
            </a:r>
            <a:r>
              <a:rPr sz="1700" b="1" i="0">
                <a:solidFill>
                  <a:srgbClr val="7B3FA0"/>
                </a:solidFill>
                <a:latin typeface="Arial"/>
              </a:rPr>
              <a:t>(4)</a:t>
            </a:r>
            <a:r>
              <a:rPr sz="1700" b="0" i="0">
                <a:solidFill>
                  <a:srgbClr val="1A1A1A"/>
                </a:solidFill>
                <a:latin typeface="Arial"/>
              </a:rPr>
              <a:t>. The opens and closes in between drop out.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r-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1940356" y="431962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74543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745431"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550505" y="400507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856232" y="40635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833213"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4833213"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10873" y="375489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6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R. The PHP values are invented for teaching.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Reading a higher timeframe bar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open survives when three five-minute bars become one 15-minute bar?</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five-minute open</a:t>
            </a:r>
          </a:p>
          <a:p>
            <a:pPr algn="l">
              <a:lnSpc>
                <a:spcPct val="112000"/>
              </a:lnSpc>
              <a:spcBef>
                <a:spcPts val="0"/>
              </a:spcBef>
              <a:spcAft>
                <a:spcPts val="900"/>
              </a:spcAft>
            </a:pPr>
            <a:r>
              <a:rPr sz="1700" b="0" i="0">
                <a:solidFill>
                  <a:srgbClr val="FFFFFF"/>
                </a:solidFill>
                <a:latin typeface="Arial"/>
              </a:rPr>
              <a:t>B.  The second open</a:t>
            </a:r>
          </a:p>
          <a:p>
            <a:pPr algn="l">
              <a:lnSpc>
                <a:spcPct val="112000"/>
              </a:lnSpc>
              <a:spcBef>
                <a:spcPts val="0"/>
              </a:spcBef>
              <a:spcAft>
                <a:spcPts val="900"/>
              </a:spcAft>
            </a:pPr>
            <a:r>
              <a:rPr sz="1700" b="0" i="0">
                <a:solidFill>
                  <a:srgbClr val="FFFFFF"/>
                </a:solidFill>
                <a:latin typeface="Arial"/>
              </a:rPr>
              <a:t>C.  The highest high</a:t>
            </a:r>
          </a:p>
          <a:p>
            <a:pPr algn="l">
              <a:lnSpc>
                <a:spcPct val="112000"/>
              </a:lnSpc>
              <a:spcBef>
                <a:spcPts val="0"/>
              </a:spcBef>
              <a:spcAft>
                <a:spcPts val="900"/>
              </a:spcAft>
            </a:pPr>
            <a:r>
              <a:rPr sz="1700" b="0" i="0">
                <a:solidFill>
                  <a:srgbClr val="FFFFFF"/>
                </a:solidFill>
                <a:latin typeface="Arial"/>
              </a:rPr>
              <a:t>D.  The last close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high survives in the 15-minute bar?</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high</a:t>
            </a:r>
          </a:p>
          <a:p>
            <a:pPr algn="l">
              <a:lnSpc>
                <a:spcPct val="112000"/>
              </a:lnSpc>
              <a:spcBef>
                <a:spcPts val="0"/>
              </a:spcBef>
              <a:spcAft>
                <a:spcPts val="900"/>
              </a:spcAft>
            </a:pPr>
            <a:r>
              <a:rPr sz="1700" b="0" i="0">
                <a:solidFill>
                  <a:srgbClr val="FFFFFF"/>
                </a:solidFill>
                <a:latin typeface="Arial"/>
              </a:rPr>
              <a:t>B.  The highest high</a:t>
            </a:r>
          </a:p>
          <a:p>
            <a:pPr algn="l">
              <a:lnSpc>
                <a:spcPct val="112000"/>
              </a:lnSpc>
              <a:spcBef>
                <a:spcPts val="0"/>
              </a:spcBef>
              <a:spcAft>
                <a:spcPts val="900"/>
              </a:spcAft>
            </a:pPr>
            <a:r>
              <a:rPr sz="1700" b="0" i="0">
                <a:solidFill>
                  <a:srgbClr val="FFFFFF"/>
                </a:solidFill>
                <a:latin typeface="Arial"/>
              </a:rPr>
              <a:t>C.  The last close</a:t>
            </a:r>
          </a:p>
          <a:p>
            <a:pPr algn="l">
              <a:lnSpc>
                <a:spcPct val="112000"/>
              </a:lnSpc>
              <a:spcBef>
                <a:spcPts val="0"/>
              </a:spcBef>
              <a:spcAft>
                <a:spcPts val="900"/>
              </a:spcAft>
            </a:pPr>
            <a:r>
              <a:rPr sz="1700" b="0" i="0">
                <a:solidFill>
                  <a:srgbClr val="FFFFFF"/>
                </a:solidFill>
                <a:latin typeface="Arial"/>
              </a:rPr>
              <a:t>D.  Every intermediate high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Reading a higher timeframe bar</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open survives when three five-minute bars become one 15-minute bar?</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first five-minute open</a:t>
            </a:r>
          </a:p>
          <a:p>
            <a:pPr algn="l">
              <a:lnSpc>
                <a:spcPct val="115000"/>
              </a:lnSpc>
              <a:spcBef>
                <a:spcPts val="700"/>
              </a:spcBef>
              <a:spcAft>
                <a:spcPts val="0"/>
              </a:spcAft>
            </a:pPr>
            <a:r>
              <a:rPr sz="1700" b="0" i="0">
                <a:solidFill>
                  <a:srgbClr val="1A1A1A"/>
                </a:solidFill>
                <a:latin typeface="Arial"/>
              </a:rPr>
              <a:t>It keeps the first interval's open (Lim, p. 209).</a:t>
            </a:r>
          </a:p>
        </p:txBody>
      </p:sp>
      <p:sp>
        <p:nvSpPr>
          <p:cNvPr id="10" name="Rectangle 9"/>
          <p:cNvSpPr/>
          <p:nvPr/>
        </p:nvSpPr>
        <p:spPr>
          <a:xfrm>
            <a:off x="777240" y="3111246"/>
            <a:ext cx="10637215" cy="16573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16573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high survives in the 15-minute bar?</a:t>
            </a:r>
          </a:p>
        </p:txBody>
      </p:sp>
      <p:sp>
        <p:nvSpPr>
          <p:cNvPr id="13" name="TextBox 12"/>
          <p:cNvSpPr txBox="1"/>
          <p:nvPr/>
        </p:nvSpPr>
        <p:spPr>
          <a:xfrm>
            <a:off x="1143000" y="3853306"/>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highest high</a:t>
            </a:r>
          </a:p>
          <a:p>
            <a:pPr algn="l">
              <a:lnSpc>
                <a:spcPct val="115000"/>
              </a:lnSpc>
              <a:spcBef>
                <a:spcPts val="700"/>
              </a:spcBef>
              <a:spcAft>
                <a:spcPts val="0"/>
              </a:spcAft>
            </a:pPr>
            <a:r>
              <a:rPr sz="1700" b="0" i="0">
                <a:solidFill>
                  <a:srgbClr val="1A1A1A"/>
                </a:solidFill>
                <a:latin typeface="Arial"/>
              </a:rPr>
              <a:t>It keeps the highest high of the whole stretch (Lim, p. 209).</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 follows price through several intervals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Many patterns use more than one bar, so Lim next follows price through a run of five-minute intervals (p. 210). This crop shows the first two of the figure's eight.</a:t>
            </a:r>
          </a:p>
          <a:p>
            <a:pPr algn="l">
              <a:lnSpc>
                <a:spcPct val="105000"/>
              </a:lnSpc>
              <a:spcBef>
                <a:spcPts val="0"/>
              </a:spcBef>
              <a:spcAft>
                <a:spcPts val="1100"/>
              </a:spcAft>
            </a:pPr>
            <a:r>
              <a:rPr sz="1700" b="0" i="0">
                <a:solidFill>
                  <a:srgbClr val="1A1A1A"/>
                </a:solidFill>
                <a:latin typeface="Arial"/>
              </a:rPr>
              <a:t>Take interval 1. Price opens at O </a:t>
            </a:r>
            <a:r>
              <a:rPr sz="1700" b="1" i="0">
                <a:solidFill>
                  <a:srgbClr val="E09B00"/>
                </a:solidFill>
                <a:latin typeface="Arial"/>
              </a:rPr>
              <a:t>(1)</a:t>
            </a:r>
            <a:r>
              <a:rPr sz="1700" b="0" i="0">
                <a:solidFill>
                  <a:srgbClr val="1A1A1A"/>
                </a:solidFill>
                <a:latin typeface="Arial"/>
              </a:rPr>
              <a:t>, climbs to its high H </a:t>
            </a:r>
            <a:r>
              <a:rPr sz="1700" b="1" i="0">
                <a:solidFill>
                  <a:srgbClr val="C62828"/>
                </a:solidFill>
                <a:latin typeface="Arial"/>
              </a:rPr>
              <a:t>(2)</a:t>
            </a:r>
            <a:r>
              <a:rPr sz="1700" b="0" i="0">
                <a:solidFill>
                  <a:srgbClr val="1A1A1A"/>
                </a:solidFill>
                <a:latin typeface="Arial"/>
              </a:rPr>
              <a:t>, drops to its low L </a:t>
            </a:r>
            <a:r>
              <a:rPr sz="1700" b="1" i="0">
                <a:solidFill>
                  <a:srgbClr val="1F5FAD"/>
                </a:solidFill>
                <a:latin typeface="Arial"/>
              </a:rPr>
              <a:t>(3)</a:t>
            </a:r>
            <a:r>
              <a:rPr sz="1700" b="0" i="0">
                <a:solidFill>
                  <a:srgbClr val="1A1A1A"/>
                </a:solidFill>
                <a:latin typeface="Arial"/>
              </a:rPr>
              <a:t> and ends the interval at C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77240" y="422224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3913631"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interval is read on its own, just like one bar.</a:t>
            </a:r>
          </a:p>
        </p:txBody>
      </p:sp>
      <p:sp>
        <p:nvSpPr>
          <p:cNvPr id="9" name="Rectangle 8"/>
          <p:cNvSpPr/>
          <p:nvPr/>
        </p:nvSpPr>
        <p:spPr>
          <a:xfrm>
            <a:off x="6406314" y="1207008"/>
            <a:ext cx="3905346"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42890" y="1243584"/>
            <a:ext cx="3832194"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42890" y="1243584"/>
            <a:ext cx="38321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717210" y="1517904"/>
            <a:ext cx="3283554"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cropped to the price trace of its first two five-minute intervals. Each interval has its own open, high, low and close.</a:t>
            </a:r>
          </a:p>
        </p:txBody>
      </p:sp>
      <p:cxnSp>
        <p:nvCxnSpPr>
          <p:cNvPr id="13" name="Connector 12"/>
          <p:cNvCxnSpPr/>
          <p:nvPr/>
        </p:nvCxnSpPr>
        <p:spPr>
          <a:xfrm flipV="1">
            <a:off x="7167175" y="2994842"/>
            <a:ext cx="0" cy="681045"/>
          </a:xfrm>
          <a:prstGeom prst="line">
            <a:avLst/>
          </a:prstGeom>
          <a:ln w="44450">
            <a:solidFill>
              <a:srgbClr val="E09B00"/>
            </a:solidFill>
            <a:tailEnd type="triangle" w="med" len="med"/>
          </a:ln>
        </p:spPr>
      </p:cxnSp>
      <p:cxnSp>
        <p:nvCxnSpPr>
          <p:cNvPr id="14" name="Connector 13"/>
          <p:cNvCxnSpPr/>
          <p:nvPr/>
        </p:nvCxnSpPr>
        <p:spPr>
          <a:xfrm flipH="1">
            <a:off x="7719011" y="1851660"/>
            <a:ext cx="390883" cy="355116"/>
          </a:xfrm>
          <a:prstGeom prst="line">
            <a:avLst/>
          </a:prstGeom>
          <a:ln w="44450">
            <a:solidFill>
              <a:srgbClr val="C62828"/>
            </a:solidFill>
            <a:tailEnd type="triangle" w="med" len="med"/>
          </a:ln>
        </p:spPr>
      </p:cxnSp>
      <p:cxnSp>
        <p:nvCxnSpPr>
          <p:cNvPr id="15" name="Connector 14"/>
          <p:cNvCxnSpPr/>
          <p:nvPr/>
        </p:nvCxnSpPr>
        <p:spPr>
          <a:xfrm flipV="1">
            <a:off x="7849305" y="4429902"/>
            <a:ext cx="341065" cy="364845"/>
          </a:xfrm>
          <a:prstGeom prst="line">
            <a:avLst/>
          </a:prstGeom>
          <a:ln w="44450">
            <a:solidFill>
              <a:srgbClr val="1F5FAD"/>
            </a:solidFill>
            <a:tailEnd type="triangle" w="med" len="med"/>
          </a:ln>
        </p:spPr>
      </p:cxnSp>
      <p:cxnSp>
        <p:nvCxnSpPr>
          <p:cNvPr id="16" name="Connector 15"/>
          <p:cNvCxnSpPr/>
          <p:nvPr/>
        </p:nvCxnSpPr>
        <p:spPr>
          <a:xfrm flipH="1">
            <a:off x="8558261" y="2216505"/>
            <a:ext cx="134127" cy="719962"/>
          </a:xfrm>
          <a:prstGeom prst="line">
            <a:avLst/>
          </a:prstGeom>
          <a:ln w="44450">
            <a:solidFill>
              <a:srgbClr val="7B3FA0"/>
            </a:solidFill>
            <a:tailEnd type="triangle" w="med" len="med"/>
          </a:ln>
        </p:spPr>
      </p:cxnSp>
      <p:sp>
        <p:nvSpPr>
          <p:cNvPr id="17" name="Oval 16"/>
          <p:cNvSpPr/>
          <p:nvPr/>
        </p:nvSpPr>
        <p:spPr>
          <a:xfrm>
            <a:off x="7030015" y="3538727"/>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72734" y="171450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7712145" y="4657587"/>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555228" y="2079345"/>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7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Figure 7.3. The crop and marks are ours, added for teaching.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Below each interval, Lim draws the bar it becomes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566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Under the price trace, Figure 7.3 draws one OHLC bar for each interval, directly below it (p. 210). This crop shows the bars for intervals 1 to 4.</a:t>
            </a:r>
          </a:p>
          <a:p>
            <a:pPr algn="l">
              <a:lnSpc>
                <a:spcPct val="105000"/>
              </a:lnSpc>
              <a:spcBef>
                <a:spcPts val="0"/>
              </a:spcBef>
              <a:spcAft>
                <a:spcPts val="1100"/>
              </a:spcAft>
            </a:pPr>
            <a:r>
              <a:rPr sz="1700" b="0" i="0">
                <a:solidFill>
                  <a:srgbClr val="1A1A1A"/>
                </a:solidFill>
                <a:latin typeface="Arial"/>
              </a:rPr>
              <a:t>Bar 1 keeps interval 1's open </a:t>
            </a:r>
            <a:r>
              <a:rPr sz="1700" b="1" i="0">
                <a:solidFill>
                  <a:srgbClr val="E09B00"/>
                </a:solidFill>
                <a:latin typeface="Arial"/>
              </a:rPr>
              <a:t>(1)</a:t>
            </a:r>
            <a:r>
              <a:rPr sz="1700" b="0" i="0">
                <a:solidFill>
                  <a:srgbClr val="1A1A1A"/>
                </a:solidFill>
                <a:latin typeface="Arial"/>
              </a:rPr>
              <a:t>, high </a:t>
            </a:r>
            <a:r>
              <a:rPr sz="1700" b="1" i="0">
                <a:solidFill>
                  <a:srgbClr val="C62828"/>
                </a:solidFill>
                <a:latin typeface="Arial"/>
              </a:rPr>
              <a:t>(2)</a:t>
            </a:r>
            <a:r>
              <a:rPr sz="1700" b="0" i="0">
                <a:solidFill>
                  <a:srgbClr val="1A1A1A"/>
                </a:solidFill>
                <a:latin typeface="Arial"/>
              </a:rPr>
              <a:t>, low </a:t>
            </a:r>
            <a:r>
              <a:rPr sz="1700" b="1" i="0">
                <a:solidFill>
                  <a:srgbClr val="1F5FAD"/>
                </a:solidFill>
                <a:latin typeface="Arial"/>
              </a:rPr>
              <a:t>(3)</a:t>
            </a:r>
            <a:r>
              <a:rPr sz="1700" b="0" i="0">
                <a:solidFill>
                  <a:srgbClr val="1A1A1A"/>
                </a:solidFill>
                <a:latin typeface="Arial"/>
              </a:rPr>
              <a:t> and close </a:t>
            </a:r>
            <a:r>
              <a:rPr sz="1700" b="1" i="0">
                <a:solidFill>
                  <a:srgbClr val="7B3FA0"/>
                </a:solidFill>
                <a:latin typeface="Arial"/>
              </a:rPr>
              <a:t>(4)</a:t>
            </a:r>
            <a:r>
              <a:rPr sz="1700" b="0" i="0">
                <a:solidFill>
                  <a:srgbClr val="1A1A1A"/>
                </a:solidFill>
                <a:latin typeface="Arial"/>
              </a:rPr>
              <a:t>. Its open and close ticks sit level, because interval 1 ended about where it began.</a:t>
            </a:r>
          </a:p>
        </p:txBody>
      </p:sp>
      <p:sp>
        <p:nvSpPr>
          <p:cNvPr id="7" name="Rectangle 6"/>
          <p:cNvSpPr/>
          <p:nvPr/>
        </p:nvSpPr>
        <p:spPr>
          <a:xfrm>
            <a:off x="777240" y="4494276"/>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2735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Read every interval as a bar first; only then name the pattern.</a:t>
            </a:r>
          </a:p>
        </p:txBody>
      </p:sp>
      <p:sp>
        <p:nvSpPr>
          <p:cNvPr id="9" name="Rectangle 8"/>
          <p:cNvSpPr/>
          <p:nvPr/>
        </p:nvSpPr>
        <p:spPr>
          <a:xfrm>
            <a:off x="4626864" y="1207008"/>
            <a:ext cx="6824166" cy="390111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63440" y="1243584"/>
            <a:ext cx="6751014" cy="38279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63440" y="1243584"/>
            <a:ext cx="6751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937759" y="1517904"/>
            <a:ext cx="6202375" cy="33707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cropped to the price bars drawn under its first four intervals. Each interval becomes one OHLC bar directly below it.</a:t>
            </a:r>
          </a:p>
        </p:txBody>
      </p:sp>
      <p:cxnSp>
        <p:nvCxnSpPr>
          <p:cNvPr id="13" name="Connector 12"/>
          <p:cNvCxnSpPr/>
          <p:nvPr/>
        </p:nvCxnSpPr>
        <p:spPr>
          <a:xfrm flipV="1">
            <a:off x="5541071" y="3061867"/>
            <a:ext cx="202531" cy="478496"/>
          </a:xfrm>
          <a:prstGeom prst="line">
            <a:avLst/>
          </a:prstGeom>
          <a:ln w="44450">
            <a:solidFill>
              <a:srgbClr val="E09B00"/>
            </a:solidFill>
            <a:tailEnd type="triangle" w="med" len="med"/>
          </a:ln>
        </p:spPr>
      </p:cxnSp>
      <p:cxnSp>
        <p:nvCxnSpPr>
          <p:cNvPr id="14" name="Connector 13"/>
          <p:cNvCxnSpPr/>
          <p:nvPr/>
        </p:nvCxnSpPr>
        <p:spPr>
          <a:xfrm flipH="1">
            <a:off x="5912377" y="2009177"/>
            <a:ext cx="371306" cy="287097"/>
          </a:xfrm>
          <a:prstGeom prst="line">
            <a:avLst/>
          </a:prstGeom>
          <a:ln w="44450">
            <a:solidFill>
              <a:srgbClr val="C62828"/>
            </a:solidFill>
            <a:tailEnd type="triangle" w="med" len="med"/>
          </a:ln>
        </p:spPr>
      </p:cxnSp>
      <p:cxnSp>
        <p:nvCxnSpPr>
          <p:cNvPr id="15" name="Connector 14"/>
          <p:cNvCxnSpPr/>
          <p:nvPr/>
        </p:nvCxnSpPr>
        <p:spPr>
          <a:xfrm>
            <a:off x="5406051" y="4459075"/>
            <a:ext cx="452318" cy="107183"/>
          </a:xfrm>
          <a:prstGeom prst="line">
            <a:avLst/>
          </a:prstGeom>
          <a:ln w="44450">
            <a:solidFill>
              <a:srgbClr val="1F5FAD"/>
            </a:solidFill>
            <a:tailEnd type="triangle" w="med" len="med"/>
          </a:ln>
        </p:spPr>
      </p:cxnSp>
      <p:cxnSp>
        <p:nvCxnSpPr>
          <p:cNvPr id="16" name="Connector 15"/>
          <p:cNvCxnSpPr/>
          <p:nvPr/>
        </p:nvCxnSpPr>
        <p:spPr>
          <a:xfrm flipH="1" flipV="1">
            <a:off x="6047398" y="3061867"/>
            <a:ext cx="303795" cy="478496"/>
          </a:xfrm>
          <a:prstGeom prst="line">
            <a:avLst/>
          </a:prstGeom>
          <a:ln w="44450">
            <a:solidFill>
              <a:srgbClr val="7B3FA0"/>
            </a:solidFill>
            <a:tailEnd type="triangle" w="med" len="med"/>
          </a:ln>
        </p:spPr>
      </p:cxnSp>
      <p:sp>
        <p:nvSpPr>
          <p:cNvPr id="17" name="Oval 16"/>
          <p:cNvSpPr/>
          <p:nvPr/>
        </p:nvSpPr>
        <p:spPr>
          <a:xfrm>
            <a:off x="5403911" y="340320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146523" y="1872017"/>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5268891" y="432191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6214033" y="3403203"/>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566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8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Figure 7.3. The crop and marks are ours, added for teaching.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first way to sort a formation: count its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9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Now we can name patterns. Lim never defines formation; here it means the bar, or group of bars, read as one pattern.</a:t>
            </a:r>
          </a:p>
          <a:p>
            <a:pPr algn="l">
              <a:lnSpc>
                <a:spcPct val="118000"/>
              </a:lnSpc>
              <a:spcBef>
                <a:spcPts val="0"/>
              </a:spcBef>
              <a:spcAft>
                <a:spcPts val="1300"/>
              </a:spcAft>
            </a:pPr>
            <a:r>
              <a:rPr sz="2100" b="0" i="0">
                <a:solidFill>
                  <a:srgbClr val="1A1A1A"/>
                </a:solidFill>
                <a:latin typeface="Arial"/>
              </a:rPr>
              <a:t>Lim sorts formations in three ways, and the first is the number of bars that make it up (p. 210). One bar is a single formation, two a double and three a triple.</a:t>
            </a:r>
          </a:p>
          <a:p>
            <a:pPr algn="l">
              <a:lnSpc>
                <a:spcPct val="118000"/>
              </a:lnSpc>
              <a:spcBef>
                <a:spcPts val="0"/>
              </a:spcBef>
              <a:spcAft>
                <a:spcPts val="1300"/>
              </a:spcAft>
            </a:pPr>
            <a:r>
              <a:rPr sz="2100" b="0" i="0">
                <a:solidFill>
                  <a:srgbClr val="1A1A1A"/>
                </a:solidFill>
                <a:latin typeface="Arial"/>
              </a:rPr>
              <a:t>Longer groups are multiple formations; Lim does not say where multiple begins.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count describes shape only; it does not make a formation bullish or bearish.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What single, double, triple and multiple look like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what those names look like, drawn by us. One bar on its own </a:t>
            </a:r>
            <a:r>
              <a:rPr sz="1700" b="1" i="0">
                <a:solidFill>
                  <a:srgbClr val="E09B00"/>
                </a:solidFill>
                <a:latin typeface="Arial"/>
              </a:rPr>
              <a:t>(1)</a:t>
            </a:r>
            <a:r>
              <a:rPr sz="1700" b="0" i="0">
                <a:solidFill>
                  <a:srgbClr val="1A1A1A"/>
                </a:solidFill>
                <a:latin typeface="Arial"/>
              </a:rPr>
              <a:t> is a single formation, two bars </a:t>
            </a:r>
            <a:r>
              <a:rPr sz="1700" b="1" i="0">
                <a:solidFill>
                  <a:srgbClr val="C62828"/>
                </a:solidFill>
                <a:latin typeface="Arial"/>
              </a:rPr>
              <a:t>(2)</a:t>
            </a:r>
            <a:r>
              <a:rPr sz="1700" b="0" i="0">
                <a:solidFill>
                  <a:srgbClr val="1A1A1A"/>
                </a:solidFill>
                <a:latin typeface="Arial"/>
              </a:rPr>
              <a:t> a double and three bars </a:t>
            </a:r>
            <a:r>
              <a:rPr sz="1700" b="1" i="0">
                <a:solidFill>
                  <a:srgbClr val="1F5FAD"/>
                </a:solidFill>
                <a:latin typeface="Arial"/>
              </a:rPr>
              <a:t>(3)</a:t>
            </a:r>
            <a:r>
              <a:rPr sz="1700" b="0" i="0">
                <a:solidFill>
                  <a:srgbClr val="1A1A1A"/>
                </a:solidFill>
                <a:latin typeface="Arial"/>
              </a:rPr>
              <a:t> a triple. We drew five bars </a:t>
            </a:r>
            <a:r>
              <a:rPr sz="1700" b="1" i="0">
                <a:solidFill>
                  <a:srgbClr val="7B3FA0"/>
                </a:solidFill>
                <a:latin typeface="Arial"/>
              </a:rPr>
              <a:t>(4)</a:t>
            </a:r>
            <a:r>
              <a:rPr sz="1700" b="0" i="0">
                <a:solidFill>
                  <a:srgbClr val="1A1A1A"/>
                </a:solidFill>
                <a:latin typeface="Arial"/>
              </a:rPr>
              <a:t> for a multiple formation, since Lim does not say where multiple begins. The bars carry no prices: only how many there are matters here.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673352" y="3392424"/>
            <a:ext cx="640079" cy="1371600"/>
          </a:xfrm>
          <a:prstGeom prst="rect">
            <a:avLst/>
          </a:prstGeom>
          <a:noFill/>
          <a:ln w="44450">
            <a:solidFill>
              <a:srgbClr val="E09B00"/>
            </a:solidFill>
          </a:ln>
        </p:spPr>
        <p:txBody>
          <a:bodyPr rtlCol="0" anchor="ctr"/>
          <a:lstStyle/>
          <a:p>
            <a:pPr algn="ctr"/>
          </a:p>
        </p:txBody>
      </p:sp>
      <p:sp>
        <p:nvSpPr>
          <p:cNvPr id="10" name="Rectangle 9"/>
          <p:cNvSpPr/>
          <p:nvPr/>
        </p:nvSpPr>
        <p:spPr>
          <a:xfrm>
            <a:off x="3401568" y="3392424"/>
            <a:ext cx="1024128" cy="1371600"/>
          </a:xfrm>
          <a:prstGeom prst="rect">
            <a:avLst/>
          </a:prstGeom>
          <a:noFill/>
          <a:ln w="44450">
            <a:solidFill>
              <a:srgbClr val="C62828"/>
            </a:solidFill>
          </a:ln>
        </p:spPr>
        <p:txBody>
          <a:bodyPr rtlCol="0" anchor="ctr"/>
          <a:lstStyle/>
          <a:p>
            <a:pPr algn="ctr"/>
          </a:p>
        </p:txBody>
      </p:sp>
      <p:sp>
        <p:nvSpPr>
          <p:cNvPr id="11" name="Rectangle 10"/>
          <p:cNvSpPr/>
          <p:nvPr/>
        </p:nvSpPr>
        <p:spPr>
          <a:xfrm>
            <a:off x="5586984" y="3392424"/>
            <a:ext cx="1408175" cy="1371600"/>
          </a:xfrm>
          <a:prstGeom prst="rect">
            <a:avLst/>
          </a:prstGeom>
          <a:noFill/>
          <a:ln w="44450">
            <a:solidFill>
              <a:srgbClr val="1F5FAD"/>
            </a:solidFill>
          </a:ln>
        </p:spPr>
        <p:txBody>
          <a:bodyPr rtlCol="0" anchor="ctr"/>
          <a:lstStyle/>
          <a:p>
            <a:pPr algn="ctr"/>
          </a:p>
        </p:txBody>
      </p:sp>
      <p:sp>
        <p:nvSpPr>
          <p:cNvPr id="12" name="Rectangle 11"/>
          <p:cNvSpPr/>
          <p:nvPr/>
        </p:nvSpPr>
        <p:spPr>
          <a:xfrm>
            <a:off x="8220456" y="3392424"/>
            <a:ext cx="2176271" cy="1371600"/>
          </a:xfrm>
          <a:prstGeom prst="rect">
            <a:avLst/>
          </a:prstGeom>
          <a:noFill/>
          <a:ln w="44450">
            <a:solidFill>
              <a:srgbClr val="7B3FA0"/>
            </a:solidFill>
          </a:ln>
        </p:spPr>
        <p:txBody>
          <a:bodyPr rtlCol="0" anchor="ctr"/>
          <a:lstStyle/>
          <a:p>
            <a:pPr algn="ctr"/>
          </a:p>
        </p:txBody>
      </p:sp>
      <p:sp>
        <p:nvSpPr>
          <p:cNvPr id="13" name="Oval 12"/>
          <p:cNvSpPr/>
          <p:nvPr/>
        </p:nvSpPr>
        <p:spPr>
          <a:xfrm>
            <a:off x="2404872" y="39502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517136" y="395020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7086600" y="39502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488168" y="395020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G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10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G, drawn to show the four counts; Lim, p. 210.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Counting bars in a formation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formation uses three bars?</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Single</a:t>
            </a:r>
          </a:p>
          <a:p>
            <a:pPr algn="l">
              <a:lnSpc>
                <a:spcPct val="112000"/>
              </a:lnSpc>
              <a:spcBef>
                <a:spcPts val="0"/>
              </a:spcBef>
              <a:spcAft>
                <a:spcPts val="900"/>
              </a:spcAft>
            </a:pPr>
            <a:r>
              <a:rPr sz="1700" b="0" i="0">
                <a:solidFill>
                  <a:srgbClr val="FFFFFF"/>
                </a:solidFill>
                <a:latin typeface="Arial"/>
              </a:rPr>
              <a:t>B.  Double</a:t>
            </a:r>
          </a:p>
          <a:p>
            <a:pPr algn="l">
              <a:lnSpc>
                <a:spcPct val="112000"/>
              </a:lnSpc>
              <a:spcBef>
                <a:spcPts val="0"/>
              </a:spcBef>
              <a:spcAft>
                <a:spcPts val="900"/>
              </a:spcAft>
            </a:pPr>
            <a:r>
              <a:rPr sz="1700" b="0" i="0">
                <a:solidFill>
                  <a:srgbClr val="FFFFFF"/>
                </a:solidFill>
                <a:latin typeface="Arial"/>
              </a:rPr>
              <a:t>C.  Triple</a:t>
            </a:r>
          </a:p>
          <a:p>
            <a:pPr algn="l">
              <a:lnSpc>
                <a:spcPct val="112000"/>
              </a:lnSpc>
              <a:spcBef>
                <a:spcPts val="0"/>
              </a:spcBef>
              <a:spcAft>
                <a:spcPts val="900"/>
              </a:spcAft>
            </a:pPr>
            <a:r>
              <a:rPr sz="1700" b="0" i="0">
                <a:solidFill>
                  <a:srgbClr val="FFFFFF"/>
                </a:solidFill>
                <a:latin typeface="Arial"/>
              </a:rPr>
              <a:t>D.  Multiple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Does the number of bars by itself make a formation bullish?</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 the count only describes the shape</a:t>
            </a:r>
          </a:p>
          <a:p>
            <a:pPr algn="l">
              <a:lnSpc>
                <a:spcPct val="112000"/>
              </a:lnSpc>
              <a:spcBef>
                <a:spcPts val="0"/>
              </a:spcBef>
              <a:spcAft>
                <a:spcPts val="900"/>
              </a:spcAft>
            </a:pPr>
            <a:r>
              <a:rPr sz="1700" b="0" i="0">
                <a:solidFill>
                  <a:srgbClr val="FFFFFF"/>
                </a:solidFill>
                <a:latin typeface="Arial"/>
              </a:rPr>
              <a:t>B.  Yes, always</a:t>
            </a:r>
          </a:p>
          <a:p>
            <a:pPr algn="l">
              <a:lnSpc>
                <a:spcPct val="112000"/>
              </a:lnSpc>
              <a:spcBef>
                <a:spcPts val="0"/>
              </a:spcBef>
              <a:spcAft>
                <a:spcPts val="900"/>
              </a:spcAft>
            </a:pPr>
            <a:r>
              <a:rPr sz="1700" b="0" i="0">
                <a:solidFill>
                  <a:srgbClr val="FFFFFF"/>
                </a:solidFill>
                <a:latin typeface="Arial"/>
              </a:rPr>
              <a:t>C.  Only in an uptrend</a:t>
            </a:r>
          </a:p>
          <a:p>
            <a:pPr algn="l">
              <a:lnSpc>
                <a:spcPct val="112000"/>
              </a:lnSpc>
              <a:spcBef>
                <a:spcPts val="0"/>
              </a:spcBef>
              <a:spcAft>
                <a:spcPts val="900"/>
              </a:spcAft>
            </a:pPr>
            <a:r>
              <a:rPr sz="1700" b="0" i="0">
                <a:solidFill>
                  <a:srgbClr val="FFFFFF"/>
                </a:solidFill>
                <a:latin typeface="Arial"/>
              </a:rPr>
              <a:t>D.  Only with high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Counting bars in a formation</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formation uses three bars?</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Triple</a:t>
            </a:r>
          </a:p>
          <a:p>
            <a:pPr algn="l">
              <a:lnSpc>
                <a:spcPct val="115000"/>
              </a:lnSpc>
              <a:spcBef>
                <a:spcPts val="700"/>
              </a:spcBef>
              <a:spcAft>
                <a:spcPts val="0"/>
              </a:spcAft>
            </a:pPr>
            <a:r>
              <a:rPr sz="1700" b="0" i="0">
                <a:solidFill>
                  <a:srgbClr val="1A1A1A"/>
                </a:solidFill>
                <a:latin typeface="Arial"/>
              </a:rPr>
              <a:t>Three bars make a triple formation (Lim, p. 210).</a:t>
            </a:r>
          </a:p>
        </p:txBody>
      </p:sp>
      <p:sp>
        <p:nvSpPr>
          <p:cNvPr id="10" name="Rectangle 9"/>
          <p:cNvSpPr/>
          <p:nvPr/>
        </p:nvSpPr>
        <p:spPr>
          <a:xfrm>
            <a:off x="777240" y="3111246"/>
            <a:ext cx="10637215" cy="19056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190563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Does the number of bars by itself make a formation bullish?</a:t>
            </a:r>
          </a:p>
        </p:txBody>
      </p:sp>
      <p:sp>
        <p:nvSpPr>
          <p:cNvPr id="13" name="TextBox 12"/>
          <p:cNvSpPr txBox="1"/>
          <p:nvPr/>
        </p:nvSpPr>
        <p:spPr>
          <a:xfrm>
            <a:off x="1143000" y="3853306"/>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No, the count only describes the shape</a:t>
            </a:r>
          </a:p>
          <a:p>
            <a:pPr algn="l">
              <a:lnSpc>
                <a:spcPct val="115000"/>
              </a:lnSpc>
              <a:spcBef>
                <a:spcPts val="700"/>
              </a:spcBef>
              <a:spcAft>
                <a:spcPts val="0"/>
              </a:spcAft>
            </a:pPr>
            <a:r>
              <a:rPr sz="1700" b="0" i="0">
                <a:solidFill>
                  <a:srgbClr val="1A1A1A"/>
                </a:solidFill>
                <a:latin typeface="Arial"/>
              </a:rPr>
              <a:t>The count sorts formations by size only; whether a formation leans bullish or bearish is a separate question (Lim, p. 210).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second way: the formation's own lean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11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Lim's second way of sorting is the intrinsic bias or sentiment of a formation: whether the formation itself leans bullish or bearish (pp. 210 to 211). Chapter 4 called this intrinsic bias.</a:t>
            </a:r>
          </a:p>
          <a:p>
            <a:pPr algn="l">
              <a:lnSpc>
                <a:spcPct val="118000"/>
              </a:lnSpc>
              <a:spcBef>
                <a:spcPts val="0"/>
              </a:spcBef>
              <a:spcAft>
                <a:spcPts val="1300"/>
              </a:spcAft>
            </a:pPr>
            <a:r>
              <a:rPr sz="2100" b="0" i="0">
                <a:solidFill>
                  <a:srgbClr val="1A1A1A"/>
                </a:solidFill>
                <a:latin typeface="Arial"/>
              </a:rPr>
              <a:t>His example: a standard head and shoulders is intrinsically bearish, and an inverted head and shoulders is intrinsically bullish (p. 211).</a:t>
            </a:r>
          </a:p>
          <a:p>
            <a:pPr algn="l">
              <a:lnSpc>
                <a:spcPct val="118000"/>
              </a:lnSpc>
              <a:spcBef>
                <a:spcPts val="0"/>
              </a:spcBef>
              <a:spcAft>
                <a:spcPts val="1300"/>
              </a:spcAft>
            </a:pPr>
            <a:r>
              <a:rPr sz="2100" b="0" i="0">
                <a:solidFill>
                  <a:srgbClr val="1A1A1A"/>
                </a:solidFill>
                <a:latin typeface="Arial"/>
              </a:rPr>
              <a:t>The lean belongs to the formation, so it stays the same whichever trend the formation appears in.</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Intrinsic sentiment is about the formation, not the trend around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with a pointer to Chapter 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close below the previous low leans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12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How do we see that lean in plain bars? Lim gives a general rule: a close below the previous bar's close or low is considered bearish, and a close above the previous bar's close or high is considered bullish (p. 212).</a:t>
            </a:r>
          </a:p>
          <a:p>
            <a:pPr algn="l">
              <a:lnSpc>
                <a:spcPct val="118000"/>
              </a:lnSpc>
              <a:spcBef>
                <a:spcPts val="0"/>
              </a:spcBef>
              <a:spcAft>
                <a:spcPts val="1300"/>
              </a:spcAft>
            </a:pPr>
            <a:r>
              <a:rPr sz="2100" b="0" i="0">
                <a:solidFill>
                  <a:srgbClr val="1A1A1A"/>
                </a:solidFill>
                <a:latin typeface="Arial"/>
              </a:rPr>
              <a:t>For example, with prices of ours: one bar has a low of PHP 47.90 and the next bar closes at PHP 47.50. The close is below the previous low, so this two-bar formation leans bearish.</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Lim calls it a general rule, so treat it as a clue, not a certainty.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The PHP values are invented for teaching.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Reading intrinsic sentiment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intrinsic sentiment describe?</a:t>
            </a:r>
          </a:p>
        </p:txBody>
      </p:sp>
      <p:sp>
        <p:nvSpPr>
          <p:cNvPr id="9" name="TextBox 8"/>
          <p:cNvSpPr txBox="1"/>
          <p:nvPr/>
        </p:nvSpPr>
        <p:spPr>
          <a:xfrm>
            <a:off x="1051560" y="308152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formation's own bullish or bearish lean</a:t>
            </a:r>
          </a:p>
          <a:p>
            <a:pPr algn="l">
              <a:lnSpc>
                <a:spcPct val="112000"/>
              </a:lnSpc>
              <a:spcBef>
                <a:spcPts val="0"/>
              </a:spcBef>
              <a:spcAft>
                <a:spcPts val="900"/>
              </a:spcAft>
            </a:pPr>
            <a:r>
              <a:rPr sz="1700" b="0" i="0">
                <a:solidFill>
                  <a:srgbClr val="FFFFFF"/>
                </a:solidFill>
                <a:latin typeface="Arial"/>
              </a:rPr>
              <a:t>B.  The direction of the surrounding trend</a:t>
            </a:r>
          </a:p>
          <a:p>
            <a:pPr algn="l">
              <a:lnSpc>
                <a:spcPct val="112000"/>
              </a:lnSpc>
              <a:spcBef>
                <a:spcPts val="0"/>
              </a:spcBef>
              <a:spcAft>
                <a:spcPts val="900"/>
              </a:spcAft>
            </a:pPr>
            <a:r>
              <a:rPr sz="1700" b="0" i="0">
                <a:solidFill>
                  <a:srgbClr val="FFFFFF"/>
                </a:solidFill>
                <a:latin typeface="Arial"/>
              </a:rPr>
              <a:t>C.  The trading volume</a:t>
            </a:r>
          </a:p>
          <a:p>
            <a:pPr algn="l">
              <a:lnSpc>
                <a:spcPct val="112000"/>
              </a:lnSpc>
              <a:spcBef>
                <a:spcPts val="0"/>
              </a:spcBef>
              <a:spcAft>
                <a:spcPts val="900"/>
              </a:spcAft>
            </a:pPr>
            <a:r>
              <a:rPr sz="17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14300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One bar has a low of PHP 61.20 and the next bar closes at PHP 60.80. By Lim's general rule, how does this two-bar formation lean?</a:t>
            </a:r>
          </a:p>
        </p:txBody>
      </p:sp>
      <p:sp>
        <p:nvSpPr>
          <p:cNvPr id="13" name="TextBox 12"/>
          <p:cNvSpPr txBox="1"/>
          <p:nvPr/>
        </p:nvSpPr>
        <p:spPr>
          <a:xfrm>
            <a:off x="6690207" y="308152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Bullish</a:t>
            </a:r>
          </a:p>
          <a:p>
            <a:pPr algn="l">
              <a:lnSpc>
                <a:spcPct val="112000"/>
              </a:lnSpc>
              <a:spcBef>
                <a:spcPts val="0"/>
              </a:spcBef>
              <a:spcAft>
                <a:spcPts val="900"/>
              </a:spcAft>
            </a:pPr>
            <a:r>
              <a:rPr sz="1700" b="0" i="0">
                <a:solidFill>
                  <a:srgbClr val="FFFFFF"/>
                </a:solidFill>
                <a:latin typeface="Arial"/>
              </a:rPr>
              <a:t>B.  Neither; only volume decides</a:t>
            </a:r>
          </a:p>
          <a:p>
            <a:pPr algn="l">
              <a:lnSpc>
                <a:spcPct val="112000"/>
              </a:lnSpc>
              <a:spcBef>
                <a:spcPts val="0"/>
              </a:spcBef>
              <a:spcAft>
                <a:spcPts val="900"/>
              </a:spcAft>
            </a:pPr>
            <a:r>
              <a:rPr sz="1700" b="0" i="0">
                <a:solidFill>
                  <a:srgbClr val="FFFFFF"/>
                </a:solidFill>
                <a:latin typeface="Arial"/>
              </a:rPr>
              <a:t>C.  Bearish</a:t>
            </a:r>
          </a:p>
          <a:p>
            <a:pPr algn="l">
              <a:lnSpc>
                <a:spcPct val="112000"/>
              </a:lnSpc>
              <a:spcBef>
                <a:spcPts val="0"/>
              </a:spcBef>
              <a:spcAft>
                <a:spcPts val="900"/>
              </a:spcAft>
            </a:pPr>
            <a:r>
              <a:rPr sz="1700" b="0" i="0">
                <a:solidFill>
                  <a:srgbClr val="FFFFFF"/>
                </a:solidFill>
                <a:latin typeface="Arial"/>
              </a:rPr>
              <a:t>D.  It depends on the number of bars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Reading intrinsic sentiment</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intrinsic sentiment describe?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formation's own bullish or bearish lean</a:t>
            </a:r>
          </a:p>
          <a:p>
            <a:pPr algn="l">
              <a:lnSpc>
                <a:spcPct val="115000"/>
              </a:lnSpc>
              <a:spcBef>
                <a:spcPts val="700"/>
              </a:spcBef>
              <a:spcAft>
                <a:spcPts val="0"/>
              </a:spcAft>
            </a:pPr>
            <a:r>
              <a:rPr sz="1700" b="0" i="0">
                <a:solidFill>
                  <a:srgbClr val="1A1A1A"/>
                </a:solidFill>
                <a:latin typeface="Arial"/>
              </a:rPr>
              <a:t>Intrinsic sentiment is the bullish or bearish lean of the formation itself (Lim, p. 211).</a:t>
            </a:r>
          </a:p>
        </p:txBody>
      </p:sp>
      <p:sp>
        <p:nvSpPr>
          <p:cNvPr id="10" name="Rectangle 9"/>
          <p:cNvSpPr/>
          <p:nvPr/>
        </p:nvSpPr>
        <p:spPr>
          <a:xfrm>
            <a:off x="777240" y="311124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One bar has a low of PHP 61.20 and the next bar closes at PHP 60.80. By Lim's general rule, how does this two-bar formation lean?</a:t>
            </a:r>
          </a:p>
        </p:txBody>
      </p:sp>
      <p:sp>
        <p:nvSpPr>
          <p:cNvPr id="13" name="TextBox 12"/>
          <p:cNvSpPr txBox="1"/>
          <p:nvPr/>
        </p:nvSpPr>
        <p:spPr>
          <a:xfrm>
            <a:off x="1143000" y="4101591"/>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Bearish</a:t>
            </a:r>
          </a:p>
          <a:p>
            <a:pPr algn="l">
              <a:lnSpc>
                <a:spcPct val="115000"/>
              </a:lnSpc>
              <a:spcBef>
                <a:spcPts val="700"/>
              </a:spcBef>
              <a:spcAft>
                <a:spcPts val="0"/>
              </a:spcAft>
            </a:pPr>
            <a:r>
              <a:rPr sz="1700" b="0" i="0">
                <a:solidFill>
                  <a:srgbClr val="1A1A1A"/>
                </a:solidFill>
                <a:latin typeface="Arial"/>
              </a:rPr>
              <a:t>The close of PHP 60.80 is below the previous low of PHP 61.20, and Lim considers a close below the previous low bearish (p. 212).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third way: will the trend continue or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13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Lim's third way of sorting is the directional expectation: does the formation suggest the trend will carry on, a continuation, or turn, a reversal (p. 211)?</a:t>
            </a:r>
          </a:p>
          <a:p>
            <a:pPr algn="l">
              <a:lnSpc>
                <a:spcPct val="118000"/>
              </a:lnSpc>
              <a:spcBef>
                <a:spcPts val="0"/>
              </a:spcBef>
              <a:spcAft>
                <a:spcPts val="1300"/>
              </a:spcAft>
            </a:pPr>
            <a:r>
              <a:rPr sz="2100" b="0" i="0">
                <a:solidFill>
                  <a:srgbClr val="1A1A1A"/>
                </a:solidFill>
                <a:latin typeface="Arial"/>
              </a:rPr>
              <a:t>To decide, compare its intrinsic sentiment with the trend sentiment, which is bullish in an uptrend and bearish in a downtrend (p. 211).</a:t>
            </a:r>
          </a:p>
          <a:p>
            <a:pPr algn="l">
              <a:lnSpc>
                <a:spcPct val="118000"/>
              </a:lnSpc>
              <a:spcBef>
                <a:spcPts val="0"/>
              </a:spcBef>
              <a:spcAft>
                <a:spcPts val="1300"/>
              </a:spcAft>
            </a:pPr>
            <a:r>
              <a:rPr sz="2100" b="0" i="0">
                <a:solidFill>
                  <a:srgbClr val="1A1A1A"/>
                </a:solidFill>
                <a:latin typeface="Arial"/>
              </a:rPr>
              <a:t>If the two agree, Lim considers it a continuation; if they disagree, a reversal (p. 211), an early sign of the potential trend change the chapter promised (p. 209).</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the two sentiments to get the expectation.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bullish formation in two different trends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14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Here is why we keep the two sentiments apart. In a formation of ours the second bar closes at PHP 48.60, above the first bar's high of PHP 48.30, so it is intrinsically bullish.</a:t>
            </a:r>
          </a:p>
          <a:p>
            <a:pPr algn="l">
              <a:lnSpc>
                <a:spcPct val="118000"/>
              </a:lnSpc>
              <a:spcBef>
                <a:spcPts val="0"/>
              </a:spcBef>
              <a:spcAft>
                <a:spcPts val="1300"/>
              </a:spcAft>
            </a:pPr>
            <a:r>
              <a:rPr sz="2100" b="0" i="0">
                <a:solidFill>
                  <a:srgbClr val="1A1A1A"/>
                </a:solidFill>
                <a:latin typeface="Arial"/>
              </a:rPr>
              <a:t>Suppose prices rose from PHP 45.60 to PHP 48.10 before it. Trend sentiment is bullish, the two agree, and the expectation is continuation.</a:t>
            </a:r>
          </a:p>
          <a:p>
            <a:pPr algn="l">
              <a:lnSpc>
                <a:spcPct val="118000"/>
              </a:lnSpc>
              <a:spcBef>
                <a:spcPts val="0"/>
              </a:spcBef>
              <a:spcAft>
                <a:spcPts val="1300"/>
              </a:spcAft>
            </a:pPr>
            <a:r>
              <a:rPr sz="2100" b="0" i="0">
                <a:solidFill>
                  <a:srgbClr val="1A1A1A"/>
                </a:solidFill>
                <a:latin typeface="Arial"/>
              </a:rPr>
              <a:t>Now suppose prices fell from PHP 50.60 to PHP 48.10 before it. Trend sentiment is bearish, the two disagree, and the expectation is a potential reversal.</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formation never changed; only the trend around it did.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212. The PHP values are invented for teaching.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Lim's rule gives four combinations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15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Put the two sentiments together and there are four cases (p. 211).</a:t>
            </a:r>
          </a:p>
          <a:p>
            <a:pPr algn="l">
              <a:lnSpc>
                <a:spcPct val="118000"/>
              </a:lnSpc>
              <a:spcBef>
                <a:spcPts val="0"/>
              </a:spcBef>
              <a:spcAft>
                <a:spcPts val="1300"/>
              </a:spcAft>
            </a:pPr>
            <a:r>
              <a:rPr sz="2100" b="0" i="0">
                <a:solidFill>
                  <a:srgbClr val="1A1A1A"/>
                </a:solidFill>
                <a:latin typeface="Arial"/>
              </a:rPr>
              <a:t>In an uptrend, a bullish formation agrees with the trend, so Lim considers it a continuation. A bearish formation disagrees, so it is a potential reversal.</a:t>
            </a:r>
          </a:p>
          <a:p>
            <a:pPr algn="l">
              <a:lnSpc>
                <a:spcPct val="118000"/>
              </a:lnSpc>
              <a:spcBef>
                <a:spcPts val="0"/>
              </a:spcBef>
              <a:spcAft>
                <a:spcPts val="1300"/>
              </a:spcAft>
            </a:pPr>
            <a:r>
              <a:rPr sz="2100" b="0" i="0">
                <a:solidFill>
                  <a:srgbClr val="1A1A1A"/>
                </a:solidFill>
                <a:latin typeface="Arial"/>
              </a:rPr>
              <a:t>In a downtrend, a bearish formation agrees, so it is a continuation. A bullish formation disagrees, so it is a potential reversal.</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Agreement suggests continuation; disagreement suggests a potential reversal.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Comparing the two sentiments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trend sentiment describe?</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formation's own lean</a:t>
            </a:r>
          </a:p>
          <a:p>
            <a:pPr algn="l">
              <a:lnSpc>
                <a:spcPct val="112000"/>
              </a:lnSpc>
              <a:spcBef>
                <a:spcPts val="0"/>
              </a:spcBef>
              <a:spcAft>
                <a:spcPts val="900"/>
              </a:spcAft>
            </a:pPr>
            <a:r>
              <a:rPr sz="1700" b="0" i="0">
                <a:solidFill>
                  <a:srgbClr val="FFFFFF"/>
                </a:solidFill>
                <a:latin typeface="Arial"/>
              </a:rPr>
              <a:t>B.  Whether the surrounding trend is up or down</a:t>
            </a:r>
          </a:p>
          <a:p>
            <a:pPr algn="l">
              <a:lnSpc>
                <a:spcPct val="112000"/>
              </a:lnSpc>
              <a:spcBef>
                <a:spcPts val="0"/>
              </a:spcBef>
              <a:spcAft>
                <a:spcPts val="900"/>
              </a:spcAft>
            </a:pPr>
            <a:r>
              <a:rPr sz="1700" b="0" i="0">
                <a:solidFill>
                  <a:srgbClr val="FFFFFF"/>
                </a:solidFill>
                <a:latin typeface="Arial"/>
              </a:rPr>
              <a:t>C.  The bar's range</a:t>
            </a:r>
          </a:p>
          <a:p>
            <a:pPr algn="l">
              <a:lnSpc>
                <a:spcPct val="112000"/>
              </a:lnSpc>
              <a:spcBef>
                <a:spcPts val="0"/>
              </a:spcBef>
              <a:spcAft>
                <a:spcPts val="900"/>
              </a:spcAft>
            </a:pPr>
            <a:r>
              <a:rPr sz="17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 bullish formation appears after prices fell from PHP 72.00 to PHP 66.50. What is the expectation?</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Continuation</a:t>
            </a:r>
          </a:p>
          <a:p>
            <a:pPr algn="l">
              <a:lnSpc>
                <a:spcPct val="112000"/>
              </a:lnSpc>
              <a:spcBef>
                <a:spcPts val="0"/>
              </a:spcBef>
              <a:spcAft>
                <a:spcPts val="900"/>
              </a:spcAft>
            </a:pPr>
            <a:r>
              <a:rPr sz="1700" b="0" i="0">
                <a:solidFill>
                  <a:srgbClr val="FFFFFF"/>
                </a:solidFill>
                <a:latin typeface="Arial"/>
              </a:rPr>
              <a:t>B.  A higher timeframe bar</a:t>
            </a:r>
          </a:p>
          <a:p>
            <a:pPr algn="l">
              <a:lnSpc>
                <a:spcPct val="112000"/>
              </a:lnSpc>
              <a:spcBef>
                <a:spcPts val="0"/>
              </a:spcBef>
              <a:spcAft>
                <a:spcPts val="900"/>
              </a:spcAft>
            </a:pPr>
            <a:r>
              <a:rPr sz="1700" b="0" i="0">
                <a:solidFill>
                  <a:srgbClr val="FFFFFF"/>
                </a:solidFill>
                <a:latin typeface="Arial"/>
              </a:rPr>
              <a:t>C.  A wider range</a:t>
            </a:r>
          </a:p>
          <a:p>
            <a:pPr algn="l">
              <a:lnSpc>
                <a:spcPct val="112000"/>
              </a:lnSpc>
              <a:spcBef>
                <a:spcPts val="0"/>
              </a:spcBef>
              <a:spcAft>
                <a:spcPts val="900"/>
              </a:spcAft>
            </a:pPr>
            <a:r>
              <a:rPr sz="1700" b="0" i="0">
                <a:solidFill>
                  <a:srgbClr val="FFFFFF"/>
                </a:solidFill>
                <a:latin typeface="Arial"/>
              </a:rPr>
              <a:t>D.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Comparing the two sentiments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trend sentiment describe?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Whether the surrounding trend is up or down</a:t>
            </a:r>
          </a:p>
          <a:p>
            <a:pPr algn="l">
              <a:lnSpc>
                <a:spcPct val="115000"/>
              </a:lnSpc>
              <a:spcBef>
                <a:spcPts val="700"/>
              </a:spcBef>
              <a:spcAft>
                <a:spcPts val="0"/>
              </a:spcAft>
            </a:pPr>
            <a:r>
              <a:rPr sz="1700" b="0" i="0">
                <a:solidFill>
                  <a:srgbClr val="1A1A1A"/>
                </a:solidFill>
                <a:latin typeface="Arial"/>
              </a:rPr>
              <a:t>Trend sentiment is bullish in an uptrend and bearish in a downtrend, so it describes the surrounding trend (Lim, p. 211).</a:t>
            </a:r>
          </a:p>
        </p:txBody>
      </p:sp>
      <p:sp>
        <p:nvSpPr>
          <p:cNvPr id="10" name="Rectangle 9"/>
          <p:cNvSpPr/>
          <p:nvPr/>
        </p:nvSpPr>
        <p:spPr>
          <a:xfrm>
            <a:off x="777240" y="3359531"/>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bullish formation appears after prices fell from PHP 72.00 to PHP 66.50. What is the expectation?</a:t>
            </a:r>
          </a:p>
        </p:txBody>
      </p:sp>
      <p:sp>
        <p:nvSpPr>
          <p:cNvPr id="13" name="TextBox 12"/>
          <p:cNvSpPr txBox="1"/>
          <p:nvPr/>
        </p:nvSpPr>
        <p:spPr>
          <a:xfrm>
            <a:off x="1143000" y="4349877"/>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potential reversal</a:t>
            </a:r>
          </a:p>
          <a:p>
            <a:pPr algn="l">
              <a:lnSpc>
                <a:spcPct val="115000"/>
              </a:lnSpc>
              <a:spcBef>
                <a:spcPts val="700"/>
              </a:spcBef>
              <a:spcAft>
                <a:spcPts val="0"/>
              </a:spcAft>
            </a:pPr>
            <a:r>
              <a:rPr sz="1700" b="0" i="0">
                <a:solidFill>
                  <a:srgbClr val="1A1A1A"/>
                </a:solidFill>
                <a:latin typeface="Arial"/>
              </a:rPr>
              <a:t>The fall gives bearish trend sentiment and the formation is bullish. They disagree, so it is a potential reversal (Lim,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Using all three questions on one example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we use all three questions together on an example of ours. First the trend: the closes rose from PHP 45.60 </a:t>
            </a:r>
            <a:r>
              <a:rPr sz="1700" b="1" i="0">
                <a:solidFill>
                  <a:srgbClr val="E09B00"/>
                </a:solidFill>
                <a:latin typeface="Arial"/>
              </a:rPr>
              <a:t>(1)</a:t>
            </a:r>
            <a:r>
              <a:rPr sz="1700" b="0" i="0">
                <a:solidFill>
                  <a:srgbClr val="1A1A1A"/>
                </a:solidFill>
                <a:latin typeface="Arial"/>
              </a:rPr>
              <a:t> to PHP 48.10 </a:t>
            </a:r>
            <a:r>
              <a:rPr sz="1700" b="1" i="0">
                <a:solidFill>
                  <a:srgbClr val="C62828"/>
                </a:solidFill>
                <a:latin typeface="Arial"/>
              </a:rPr>
              <a:t>(2)</a:t>
            </a:r>
            <a:r>
              <a:rPr sz="1700" b="0" i="0">
                <a:solidFill>
                  <a:srgbClr val="1A1A1A"/>
                </a:solidFill>
                <a:latin typeface="Arial"/>
              </a:rPr>
              <a:t>, so trend sentiment is bullish. Next the count: the last two bars make a double formation </a:t>
            </a:r>
            <a:r>
              <a:rPr sz="1700" b="1" i="0">
                <a:solidFill>
                  <a:srgbClr val="1F5FAD"/>
                </a:solidFill>
                <a:latin typeface="Arial"/>
              </a:rPr>
              <a:t>(3)</a:t>
            </a:r>
            <a:r>
              <a:rPr sz="1700" b="0" i="0">
                <a:solidFill>
                  <a:srgbClr val="1A1A1A"/>
                </a:solidFill>
                <a:latin typeface="Arial"/>
              </a:rPr>
              <a:t>. Then the lean: bar 4 closes at PHP 47.50 </a:t>
            </a:r>
            <a:r>
              <a:rPr sz="1700" b="1" i="0">
                <a:solidFill>
                  <a:srgbClr val="7B3FA0"/>
                </a:solidFill>
                <a:latin typeface="Arial"/>
              </a:rPr>
              <a:t>(4)</a:t>
            </a:r>
            <a:r>
              <a:rPr sz="1700" b="0" i="0">
                <a:solidFill>
                  <a:srgbClr val="1A1A1A"/>
                </a:solidFill>
                <a:latin typeface="Arial"/>
              </a:rPr>
              <a:t>, below bar 3's low of PHP 47.90 on the dashed line, so by Lim's rule the formation leans bearish (p. 212).</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5729020" y="3008375"/>
            <a:ext cx="5109362" cy="1458116"/>
          </a:xfrm>
          <a:prstGeom prst="rect">
            <a:avLst/>
          </a:prstGeom>
          <a:noFill/>
          <a:ln w="44450">
            <a:solidFill>
              <a:srgbClr val="1F5FAD"/>
            </a:solidFill>
          </a:ln>
        </p:spPr>
        <p:txBody>
          <a:bodyPr rtlCol="0" anchor="ctr"/>
          <a:lstStyle/>
          <a:p>
            <a:pPr algn="ctr"/>
          </a:p>
        </p:txBody>
      </p:sp>
      <p:sp>
        <p:nvSpPr>
          <p:cNvPr id="10" name="Oval 9"/>
          <p:cNvSpPr/>
          <p:nvPr/>
        </p:nvSpPr>
        <p:spPr>
          <a:xfrm>
            <a:off x="2251252" y="452529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4708855" y="376915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24059" y="39506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0929823" y="36094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2167128" y="4613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4624730" y="38569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584427" y="37004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S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16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S. The PHP values are invented for teaching.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Using all three questions on one example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Bullish trend sentiment against bearish intrinsic sentiment: they disagree, so this is a potential reversal (p. 211). Part 2 reads the book's own reversal patterns the same way.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5729020" y="3008375"/>
            <a:ext cx="5109362" cy="1458116"/>
          </a:xfrm>
          <a:prstGeom prst="rect">
            <a:avLst/>
          </a:prstGeom>
          <a:noFill/>
          <a:ln w="44450">
            <a:solidFill>
              <a:srgbClr val="1F5FAD"/>
            </a:solidFill>
          </a:ln>
        </p:spPr>
        <p:txBody>
          <a:bodyPr rtlCol="0" anchor="ctr"/>
          <a:lstStyle/>
          <a:p>
            <a:pPr algn="ctr"/>
          </a:p>
        </p:txBody>
      </p:sp>
      <p:sp>
        <p:nvSpPr>
          <p:cNvPr id="10" name="Oval 9"/>
          <p:cNvSpPr/>
          <p:nvPr/>
        </p:nvSpPr>
        <p:spPr>
          <a:xfrm>
            <a:off x="2251252" y="452529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4708855" y="376915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24059" y="39506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0929823" y="36094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2167128" y="4613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4624730" y="38569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584427" y="37004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S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17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S. The PHP values are invented for teaching.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The three classifications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 single, double, triple and multiple measure?</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trend direction</a:t>
            </a:r>
          </a:p>
          <a:p>
            <a:pPr algn="l">
              <a:lnSpc>
                <a:spcPct val="112000"/>
              </a:lnSpc>
              <a:spcBef>
                <a:spcPts val="0"/>
              </a:spcBef>
              <a:spcAft>
                <a:spcPts val="900"/>
              </a:spcAft>
            </a:pPr>
            <a:r>
              <a:rPr sz="1700" b="0" i="0">
                <a:solidFill>
                  <a:srgbClr val="FFFFFF"/>
                </a:solidFill>
                <a:latin typeface="Arial"/>
              </a:rPr>
              <a:t>B.  The intrinsic sentiment</a:t>
            </a:r>
          </a:p>
          <a:p>
            <a:pPr algn="l">
              <a:lnSpc>
                <a:spcPct val="112000"/>
              </a:lnSpc>
              <a:spcBef>
                <a:spcPts val="0"/>
              </a:spcBef>
              <a:spcAft>
                <a:spcPts val="900"/>
              </a:spcAft>
            </a:pPr>
            <a:r>
              <a:rPr sz="1700" b="0" i="0">
                <a:solidFill>
                  <a:srgbClr val="FFFFFF"/>
                </a:solidFill>
                <a:latin typeface="Arial"/>
              </a:rPr>
              <a:t>C.  The number of bars in the formation</a:t>
            </a:r>
          </a:p>
          <a:p>
            <a:pPr algn="l">
              <a:lnSpc>
                <a:spcPct val="112000"/>
              </a:lnSpc>
              <a:spcBef>
                <a:spcPts val="0"/>
              </a:spcBef>
              <a:spcAft>
                <a:spcPts val="900"/>
              </a:spcAft>
            </a:pPr>
            <a:r>
              <a:rPr sz="1700" b="0" i="0">
                <a:solidFill>
                  <a:srgbClr val="FFFFFF"/>
                </a:solidFill>
                <a:latin typeface="Arial"/>
              </a:rPr>
              <a:t>D.  The size of the range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When does Lim consider a formation a reversal pattern?</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When it has three bars</a:t>
            </a:r>
          </a:p>
          <a:p>
            <a:pPr algn="l">
              <a:lnSpc>
                <a:spcPct val="112000"/>
              </a:lnSpc>
              <a:spcBef>
                <a:spcPts val="0"/>
              </a:spcBef>
              <a:spcAft>
                <a:spcPts val="900"/>
              </a:spcAft>
            </a:pPr>
            <a:r>
              <a:rPr sz="1700" b="0" i="0">
                <a:solidFill>
                  <a:srgbClr val="FFFFFF"/>
                </a:solidFill>
                <a:latin typeface="Arial"/>
              </a:rPr>
              <a:t>B.  When its range is wide</a:t>
            </a:r>
          </a:p>
          <a:p>
            <a:pPr algn="l">
              <a:lnSpc>
                <a:spcPct val="112000"/>
              </a:lnSpc>
              <a:spcBef>
                <a:spcPts val="0"/>
              </a:spcBef>
              <a:spcAft>
                <a:spcPts val="900"/>
              </a:spcAft>
            </a:pPr>
            <a:r>
              <a:rPr sz="1700" b="0" i="0">
                <a:solidFill>
                  <a:srgbClr val="FFFFFF"/>
                </a:solidFill>
                <a:latin typeface="Arial"/>
              </a:rPr>
              <a:t>C.  When it closes where it opened</a:t>
            </a:r>
          </a:p>
          <a:p>
            <a:pPr algn="l">
              <a:lnSpc>
                <a:spcPct val="112000"/>
              </a:lnSpc>
              <a:spcBef>
                <a:spcPts val="0"/>
              </a:spcBef>
              <a:spcAft>
                <a:spcPts val="900"/>
              </a:spcAft>
            </a:pPr>
            <a:r>
              <a:rPr sz="1700" b="0" i="0">
                <a:solidFill>
                  <a:srgbClr val="FFFFFF"/>
                </a:solidFill>
                <a:latin typeface="Arial"/>
              </a:rPr>
              <a:t>D.  When its intrinsic sentiment disagrees with the trend sentiment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The three classifications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 single, double, triple and multiple measure?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number of bars in the formation</a:t>
            </a:r>
          </a:p>
          <a:p>
            <a:pPr algn="l">
              <a:lnSpc>
                <a:spcPct val="115000"/>
              </a:lnSpc>
              <a:spcBef>
                <a:spcPts val="700"/>
              </a:spcBef>
              <a:spcAft>
                <a:spcPts val="0"/>
              </a:spcAft>
            </a:pPr>
            <a:r>
              <a:rPr sz="1700" b="0" i="0">
                <a:solidFill>
                  <a:srgbClr val="1A1A1A"/>
                </a:solidFill>
                <a:latin typeface="Arial"/>
              </a:rPr>
              <a:t>They are the first of Lim's three classifications: the number of bars that make up the formation (p. 210).</a:t>
            </a:r>
          </a:p>
        </p:txBody>
      </p:sp>
      <p:sp>
        <p:nvSpPr>
          <p:cNvPr id="10" name="Rectangle 9"/>
          <p:cNvSpPr/>
          <p:nvPr/>
        </p:nvSpPr>
        <p:spPr>
          <a:xfrm>
            <a:off x="777240" y="3359531"/>
            <a:ext cx="10637215" cy="194944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94944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When does Lim consider a formation a reversal pattern?</a:t>
            </a:r>
          </a:p>
        </p:txBody>
      </p:sp>
      <p:sp>
        <p:nvSpPr>
          <p:cNvPr id="13" name="TextBox 12"/>
          <p:cNvSpPr txBox="1"/>
          <p:nvPr/>
        </p:nvSpPr>
        <p:spPr>
          <a:xfrm>
            <a:off x="1143000" y="41015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When its intrinsic sentiment disagrees with the trend sentiment</a:t>
            </a:r>
          </a:p>
          <a:p>
            <a:pPr algn="l">
              <a:lnSpc>
                <a:spcPct val="115000"/>
              </a:lnSpc>
              <a:spcBef>
                <a:spcPts val="700"/>
              </a:spcBef>
              <a:spcAft>
                <a:spcPts val="0"/>
              </a:spcAft>
            </a:pPr>
            <a:r>
              <a:rPr sz="1700" b="0" i="0">
                <a:solidFill>
                  <a:srgbClr val="1A1A1A"/>
                </a:solidFill>
                <a:latin typeface="Arial"/>
              </a:rPr>
              <a:t>When intrinsic and trend sentiment disagree, Lim considers the pattern a reversal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Section 7.2 reads each bar pattern against the trend around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Part 1 every formation had two sentiments. Its intrinsic sentiment is its own bullish or bearish lean; the trend sentiment is bullish in an uptrend and bearish in a downtrend (p. 211).</a:t>
            </a:r>
          </a:p>
          <a:p>
            <a:pPr algn="l">
              <a:lnSpc>
                <a:spcPct val="118000"/>
              </a:lnSpc>
              <a:spcBef>
                <a:spcPts val="0"/>
              </a:spcBef>
              <a:spcAft>
                <a:spcPts val="1300"/>
              </a:spcAft>
            </a:pPr>
            <a:r>
              <a:rPr sz="2100" b="0" i="0">
                <a:solidFill>
                  <a:srgbClr val="1A1A1A"/>
                </a:solidFill>
                <a:latin typeface="Arial"/>
              </a:rPr>
              <a:t>Section 7.2 puts the two together. When they agree, Lim calls the pattern a continuation pattern; when they disagree, he calls it a reversal pattern (p. 211).</a:t>
            </a:r>
          </a:p>
        </p:txBody>
      </p:sp>
      <p:sp>
        <p:nvSpPr>
          <p:cNvPr id="8" name="Rectangle 7"/>
          <p:cNvSpPr/>
          <p:nvPr/>
        </p:nvSpPr>
        <p:spPr>
          <a:xfrm>
            <a:off x="777240" y="453085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the same pattern can mean different things in different trends: read the trend first.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Lim's own example is the head and shoulders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head and shoulders has bearish intrinsic sentiment and an inverted head and shoulders bullish, as Chapter 4's "Intrinsic bias" explains (p. 211).</a:t>
            </a:r>
          </a:p>
          <a:p>
            <a:pPr algn="l">
              <a:lnSpc>
                <a:spcPct val="118000"/>
              </a:lnSpc>
              <a:spcBef>
                <a:spcPts val="0"/>
              </a:spcBef>
              <a:spcAft>
                <a:spcPts val="1300"/>
              </a:spcAft>
            </a:pPr>
            <a:r>
              <a:rPr sz="2100" b="0" i="0">
                <a:solidFill>
                  <a:srgbClr val="1A1A1A"/>
                </a:solidFill>
                <a:latin typeface="Arial"/>
              </a:rPr>
              <a:t>Let us put invented prices on it. A stock climbs from PHP 40 to PHP 50 over ten days, so the trend sentiment is bullish.</a:t>
            </a:r>
          </a:p>
          <a:p>
            <a:pPr algn="l">
              <a:lnSpc>
                <a:spcPct val="118000"/>
              </a:lnSpc>
              <a:spcBef>
                <a:spcPts val="0"/>
              </a:spcBef>
              <a:spcAft>
                <a:spcPts val="1300"/>
              </a:spcAft>
            </a:pPr>
            <a:r>
              <a:rPr sz="2100" b="0" i="0">
                <a:solidFill>
                  <a:srgbClr val="1A1A1A"/>
                </a:solidFill>
                <a:latin typeface="Arial"/>
              </a:rPr>
              <a:t>An inverted head and shoulders at PHP 50 agrees with that trend, so Lim calls it a continuation pattern. A head and shoulders in the same place disagrees, so it is a reversal pattern.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 Chapter 4, "Intrinsic bias". The prices are invented for teaching.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or reversal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stock climbs from PHP 40 to PHP 50, and then a bearish pattern forms. What does Lim call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continuation pattern</a:t>
            </a:r>
          </a:p>
          <a:p>
            <a:pPr algn="l">
              <a:lnSpc>
                <a:spcPct val="112000"/>
              </a:lnSpc>
              <a:spcBef>
                <a:spcPts val="0"/>
              </a:spcBef>
              <a:spcAft>
                <a:spcPts val="900"/>
              </a:spcAft>
            </a:pPr>
            <a:r>
              <a:rPr sz="1700" b="0" i="0">
                <a:solidFill>
                  <a:srgbClr val="FFFFFF"/>
                </a:solidFill>
                <a:latin typeface="Arial"/>
              </a:rPr>
              <a:t>B.  A reversal pattern</a:t>
            </a:r>
          </a:p>
          <a:p>
            <a:pPr algn="l">
              <a:lnSpc>
                <a:spcPct val="112000"/>
              </a:lnSpc>
              <a:spcBef>
                <a:spcPts val="0"/>
              </a:spcBef>
              <a:spcAft>
                <a:spcPts val="900"/>
              </a:spcAft>
            </a:pPr>
            <a:r>
              <a:rPr sz="1700" b="0" i="0">
                <a:solidFill>
                  <a:srgbClr val="FFFFFF"/>
                </a:solidFill>
                <a:latin typeface="Arial"/>
              </a:rPr>
              <a:t>C.  A higher timeframe bar</a:t>
            </a:r>
          </a:p>
          <a:p>
            <a:pPr algn="l">
              <a:lnSpc>
                <a:spcPct val="112000"/>
              </a:lnSpc>
              <a:spcBef>
                <a:spcPts val="0"/>
              </a:spcBef>
              <a:spcAft>
                <a:spcPts val="900"/>
              </a:spcAft>
            </a:pPr>
            <a:r>
              <a:rPr sz="1700" b="0" i="0">
                <a:solidFill>
                  <a:srgbClr val="FFFFFF"/>
                </a:solidFill>
                <a:latin typeface="Arial"/>
              </a:rPr>
              <a:t>D.  A neutral pattern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an inverted head and shoulders in an uptrend a continuation pattern?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It has three peaks</a:t>
            </a:r>
          </a:p>
          <a:p>
            <a:pPr algn="l">
              <a:lnSpc>
                <a:spcPct val="112000"/>
              </a:lnSpc>
              <a:spcBef>
                <a:spcPts val="0"/>
              </a:spcBef>
              <a:spcAft>
                <a:spcPts val="900"/>
              </a:spcAft>
            </a:pPr>
            <a:r>
              <a:rPr sz="1700" b="0" i="0">
                <a:solidFill>
                  <a:srgbClr val="FFFFFF"/>
                </a:solidFill>
                <a:latin typeface="Arial"/>
              </a:rPr>
              <a:t>B.  Its volume is high</a:t>
            </a:r>
          </a:p>
          <a:p>
            <a:pPr algn="l">
              <a:lnSpc>
                <a:spcPct val="112000"/>
              </a:lnSpc>
              <a:spcBef>
                <a:spcPts val="0"/>
              </a:spcBef>
              <a:spcAft>
                <a:spcPts val="900"/>
              </a:spcAft>
            </a:pPr>
            <a:r>
              <a:rPr sz="1700" b="0" i="0">
                <a:solidFill>
                  <a:srgbClr val="FFFFFF"/>
                </a:solidFill>
                <a:latin typeface="Arial"/>
              </a:rPr>
              <a:t>C.  Both sentiments are bullish</a:t>
            </a:r>
          </a:p>
          <a:p>
            <a:pPr algn="l">
              <a:lnSpc>
                <a:spcPct val="112000"/>
              </a:lnSpc>
              <a:spcBef>
                <a:spcPts val="0"/>
              </a:spcBef>
              <a:spcAft>
                <a:spcPts val="900"/>
              </a:spcAft>
            </a:pPr>
            <a:r>
              <a:rPr sz="1700" b="0" i="0">
                <a:solidFill>
                  <a:srgbClr val="FFFFFF"/>
                </a:solidFill>
                <a:latin typeface="Arial"/>
              </a:rPr>
              <a:t>D.  The trend is down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or reversal</a:t>
            </a:r>
          </a:p>
        </p:txBody>
      </p:sp>
      <p:sp>
        <p:nvSpPr>
          <p:cNvPr id="6" name="Rectangle 5"/>
          <p:cNvSpPr/>
          <p:nvPr/>
        </p:nvSpPr>
        <p:spPr>
          <a:xfrm>
            <a:off x="777240" y="1207008"/>
            <a:ext cx="10637215" cy="212471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12471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stock climbs from PHP 40 to PHP 50, and then a bearish pattern forms. What does Lim call it?</a:t>
            </a:r>
          </a:p>
        </p:txBody>
      </p:sp>
      <p:sp>
        <p:nvSpPr>
          <p:cNvPr id="9" name="TextBox 8"/>
          <p:cNvSpPr txBox="1"/>
          <p:nvPr/>
        </p:nvSpPr>
        <p:spPr>
          <a:xfrm>
            <a:off x="1143000" y="2197354"/>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reversal pattern</a:t>
            </a:r>
          </a:p>
          <a:p>
            <a:pPr algn="l">
              <a:lnSpc>
                <a:spcPct val="115000"/>
              </a:lnSpc>
              <a:spcBef>
                <a:spcPts val="700"/>
              </a:spcBef>
              <a:spcAft>
                <a:spcPts val="0"/>
              </a:spcAft>
            </a:pPr>
            <a:r>
              <a:rPr sz="1700" b="0" i="0">
                <a:solidFill>
                  <a:srgbClr val="1A1A1A"/>
                </a:solidFill>
                <a:latin typeface="Arial"/>
              </a:rPr>
              <a:t>The uptrend's trend sentiment is bullish and the pattern's intrinsic sentiment is bearish. They disagree, so it is a reversal pattern (p. 211).</a:t>
            </a:r>
          </a:p>
        </p:txBody>
      </p:sp>
      <p:sp>
        <p:nvSpPr>
          <p:cNvPr id="10" name="Rectangle 9"/>
          <p:cNvSpPr/>
          <p:nvPr/>
        </p:nvSpPr>
        <p:spPr>
          <a:xfrm>
            <a:off x="777240" y="357860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7860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81634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is an inverted head and shoulders in an uptrend a continuation pattern?</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Both sentiments are bullish</a:t>
            </a:r>
          </a:p>
          <a:p>
            <a:pPr algn="l">
              <a:lnSpc>
                <a:spcPct val="115000"/>
              </a:lnSpc>
              <a:spcBef>
                <a:spcPts val="700"/>
              </a:spcBef>
              <a:spcAft>
                <a:spcPts val="0"/>
              </a:spcAft>
            </a:pPr>
            <a:r>
              <a:rPr sz="1700" b="0" i="0">
                <a:solidFill>
                  <a:srgbClr val="1A1A1A"/>
                </a:solidFill>
                <a:latin typeface="Arial"/>
              </a:rPr>
              <a:t>Its intrinsic sentiment is bullish and the uptrend makes the trend sentiment bullish too, so they agree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So Lim draws each bearish reversal at the top of an uptrend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reversal needs the two sentiments to disagree. So when Lim draws bearish reversal patterns he assumes the existing trend is up, and for bullish ones he assumes it is down (pp. 211 to 212). The book actually prints "bearish" twice in that sentence; the second must mean bullish, as his bullish drawings show.</a:t>
            </a:r>
          </a:p>
          <a:p>
            <a:pPr algn="l">
              <a:lnSpc>
                <a:spcPct val="118000"/>
              </a:lnSpc>
              <a:spcBef>
                <a:spcPts val="0"/>
              </a:spcBef>
              <a:spcAft>
                <a:spcPts val="1300"/>
              </a:spcAft>
            </a:pPr>
            <a:r>
              <a:rPr sz="2100" b="0" i="0">
                <a:solidFill>
                  <a:srgbClr val="1A1A1A"/>
                </a:solidFill>
                <a:latin typeface="Arial"/>
              </a:rPr>
              <a:t>In each drawing that follows, an arrow labelled "Existing uptrend" leads into a bearish pattern, and "Existing downtrend" into a bullish one.</a:t>
            </a:r>
          </a:p>
          <a:p>
            <a:pPr algn="l">
              <a:lnSpc>
                <a:spcPct val="118000"/>
              </a:lnSpc>
              <a:spcBef>
                <a:spcPts val="0"/>
              </a:spcBef>
              <a:spcAft>
                <a:spcPts val="1300"/>
              </a:spcAft>
            </a:pPr>
            <a:r>
              <a:rPr sz="2100" b="0" i="0">
                <a:solidFill>
                  <a:srgbClr val="1A1A1A"/>
                </a:solidFill>
                <a:latin typeface="Arial"/>
              </a:rPr>
              <a:t>We start with the smallest patterns, made of one or two bars.</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arrow in each drawing is the trend the pattern has to fight.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close below the previous bar is Lim's basic bearish clue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For one-bar and two-bar patterns in an uptrend, Lim's general rule is that a close below the previous bar's close or low is bearish, especially when that previous bar is large or wide-ranging (p. 212).</a:t>
            </a:r>
          </a:p>
          <a:p>
            <a:pPr algn="l">
              <a:lnSpc>
                <a:spcPct val="118000"/>
              </a:lnSpc>
              <a:spcBef>
                <a:spcPts val="0"/>
              </a:spcBef>
              <a:spcAft>
                <a:spcPts val="1300"/>
              </a:spcAft>
            </a:pPr>
            <a:r>
              <a:rPr sz="2100" b="0" i="0">
                <a:solidFill>
                  <a:srgbClr val="1A1A1A"/>
                </a:solidFill>
                <a:latin typeface="Arial"/>
              </a:rPr>
              <a:t>Here it is with invented prices. Yesterday's bar ran from PHP 49.00 to PHP 52.00 and closed at PHP 51.80. A close today at PHP 51.20 is below yesterday's close; a close at PHP 48.80 is below yesterday's low as well.</a:t>
            </a:r>
          </a:p>
          <a:p>
            <a:pPr algn="l">
              <a:lnSpc>
                <a:spcPct val="118000"/>
              </a:lnSpc>
              <a:spcBef>
                <a:spcPts val="0"/>
              </a:spcBef>
              <a:spcAft>
                <a:spcPts val="1300"/>
              </a:spcAft>
            </a:pPr>
            <a:r>
              <a:rPr sz="2100" b="0" i="0">
                <a:solidFill>
                  <a:srgbClr val="1A1A1A"/>
                </a:solidFill>
                <a:latin typeface="Arial"/>
              </a:rPr>
              <a:t>Yesterday's PHP 3.00 range is wide, the case Lim says counts for more.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The prices are invented for teaching.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 draws seven of these bearish forms in Figure 7.4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 of 79</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Figure 7.4 collects the seven basic bearish single and double bar reversal patterns of uptrending markets (p. 212). Here is the first drawing, cut out and drawn large.</a:t>
            </a:r>
          </a:p>
          <a:p>
            <a:pPr algn="l">
              <a:lnSpc>
                <a:spcPct val="105000"/>
              </a:lnSpc>
              <a:spcBef>
                <a:spcPts val="0"/>
              </a:spcBef>
              <a:spcAft>
                <a:spcPts val="1100"/>
              </a:spcAft>
            </a:pPr>
            <a:r>
              <a:rPr sz="1900" b="0" i="0">
                <a:solidFill>
                  <a:srgbClr val="1A1A1A"/>
                </a:solidFill>
                <a:latin typeface="Arial"/>
              </a:rPr>
              <a:t>Each form sits on an existing uptrend </a:t>
            </a:r>
            <a:r>
              <a:rPr sz="1900" b="1" i="0">
                <a:solidFill>
                  <a:srgbClr val="E09B00"/>
                </a:solidFill>
                <a:latin typeface="Arial"/>
              </a:rPr>
              <a:t>(1)</a:t>
            </a:r>
            <a:r>
              <a:rPr sz="1900" b="0" i="0">
                <a:solidFill>
                  <a:srgbClr val="1A1A1A"/>
                </a:solidFill>
                <a:latin typeface="Arial"/>
              </a:rPr>
              <a:t> and carries a number </a:t>
            </a:r>
            <a:r>
              <a:rPr sz="1900" b="1" i="0">
                <a:solidFill>
                  <a:srgbClr val="C62828"/>
                </a:solidFill>
                <a:latin typeface="Arial"/>
              </a:rPr>
              <a:t>(2)</a:t>
            </a:r>
            <a:r>
              <a:rPr sz="1900" b="0" i="0">
                <a:solidFill>
                  <a:srgbClr val="1A1A1A"/>
                </a:solidFill>
                <a:latin typeface="Arial"/>
              </a:rPr>
              <a:t>; the next seven slides take them one at a time, each quoting its label.</a:t>
            </a:r>
          </a:p>
        </p:txBody>
      </p:sp>
      <p:sp>
        <p:nvSpPr>
          <p:cNvPr id="8" name="Rectangle 7"/>
          <p:cNvSpPr/>
          <p:nvPr/>
        </p:nvSpPr>
        <p:spPr>
          <a:xfrm>
            <a:off x="7670656" y="1810512"/>
            <a:ext cx="137666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89528" y="1929384"/>
            <a:ext cx="113891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789528" y="1929384"/>
            <a:ext cx="113891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8063848" y="2203703"/>
            <a:ext cx="59027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1: the drawing on its arrow, with its number.</a:t>
            </a:r>
          </a:p>
        </p:txBody>
      </p:sp>
      <p:sp>
        <p:nvSpPr>
          <p:cNvPr id="12" name="Rectangle 11"/>
          <p:cNvSpPr/>
          <p:nvPr/>
        </p:nvSpPr>
        <p:spPr>
          <a:xfrm>
            <a:off x="7944835" y="3608204"/>
            <a:ext cx="897329" cy="1422729"/>
          </a:xfrm>
          <a:prstGeom prst="rect">
            <a:avLst/>
          </a:prstGeom>
          <a:noFill/>
          <a:ln w="44450">
            <a:solidFill>
              <a:srgbClr val="E09B00"/>
            </a:solidFill>
          </a:ln>
        </p:spPr>
        <p:txBody>
          <a:bodyPr rtlCol="0" anchor="ctr"/>
          <a:lstStyle/>
          <a:p>
            <a:pPr algn="ctr"/>
          </a:p>
        </p:txBody>
      </p:sp>
      <p:sp>
        <p:nvSpPr>
          <p:cNvPr id="13" name="Oval 12"/>
          <p:cNvSpPr/>
          <p:nvPr/>
        </p:nvSpPr>
        <p:spPr>
          <a:xfrm>
            <a:off x="8186424" y="5104915"/>
            <a:ext cx="327870" cy="284545"/>
          </a:xfrm>
          <a:prstGeom prst="ellipse">
            <a:avLst/>
          </a:prstGeom>
          <a:noFill/>
          <a:ln w="44450">
            <a:solidFill>
              <a:srgbClr val="C62828"/>
            </a:solidFill>
          </a:ln>
        </p:spPr>
        <p:txBody>
          <a:bodyPr rtlCol="0" anchor="ctr"/>
          <a:lstStyle/>
          <a:p>
            <a:pPr algn="ctr"/>
          </a:p>
        </p:txBody>
      </p:sp>
      <p:sp>
        <p:nvSpPr>
          <p:cNvPr id="14" name="Oval 13"/>
          <p:cNvSpPr/>
          <p:nvPr/>
        </p:nvSpPr>
        <p:spPr>
          <a:xfrm>
            <a:off x="7816819" y="348018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8662379" y="511917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1, the key reversal bar: it opens high and closes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1: "A large bar opening above a previous high and closing near or below a previous close," a key reversal bar (Figure 7.4, p. 212). Let us put invented prices on it. The previous bar reached PHP 51.00 and closed at PHP 50.80. Form 1 opens at PHP 51.40, above that high </a:t>
            </a:r>
            <a:r>
              <a:rPr sz="1700" b="1" i="0">
                <a:solidFill>
                  <a:srgbClr val="E09B00"/>
                </a:solidFill>
                <a:latin typeface="Arial"/>
              </a:rPr>
              <a:t>(1)</a:t>
            </a:r>
            <a:r>
              <a:rPr sz="1700" b="0" i="0">
                <a:solidFill>
                  <a:srgbClr val="1A1A1A"/>
                </a:solidFill>
                <a:latin typeface="Arial"/>
              </a:rPr>
              <a:t>, swings through PHP 2.20 </a:t>
            </a:r>
            <a:r>
              <a:rPr sz="1700" b="1" i="0">
                <a:solidFill>
                  <a:srgbClr val="C62828"/>
                </a:solidFill>
                <a:latin typeface="Arial"/>
              </a:rPr>
              <a:t>(2)</a:t>
            </a:r>
            <a:r>
              <a:rPr sz="1700" b="0" i="0">
                <a:solidFill>
                  <a:srgbClr val="1A1A1A"/>
                </a:solidFill>
                <a:latin typeface="Arial"/>
              </a:rPr>
              <a:t>, and closes at PHP 50.30, below the previous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28959" y="2395728"/>
            <a:ext cx="197732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28959" y="2395728"/>
            <a:ext cx="197732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03279" y="2670048"/>
            <a:ext cx="142868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1: a key reversal bar after an uptrend.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a-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9971531" y="3804901"/>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4591285"/>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854379" y="353347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31330" y="469446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2 closes near or below the previous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2: "A large bar closing near or below a previous low" (Figure 7.4, p. 212). By the close, price has fallen through everything the previous bar traded. Here it is with invented prices. The previous bar's low is PHP 50.20 </a:t>
            </a:r>
            <a:r>
              <a:rPr sz="1700" b="1" i="0">
                <a:solidFill>
                  <a:srgbClr val="E09B00"/>
                </a:solidFill>
                <a:latin typeface="Arial"/>
              </a:rPr>
              <a:t>(1)</a:t>
            </a:r>
            <a:r>
              <a:rPr sz="1700" b="0" i="0">
                <a:solidFill>
                  <a:srgbClr val="1A1A1A"/>
                </a:solidFill>
                <a:latin typeface="Arial"/>
              </a:rPr>
              <a:t>. Form 2 is a large bar with a PHP 2.10 range </a:t>
            </a:r>
            <a:r>
              <a:rPr sz="1700" b="1" i="0">
                <a:solidFill>
                  <a:srgbClr val="C62828"/>
                </a:solidFill>
                <a:latin typeface="Arial"/>
              </a:rPr>
              <a:t>(2)</a:t>
            </a:r>
            <a:r>
              <a:rPr sz="1700" b="0" i="0">
                <a:solidFill>
                  <a:srgbClr val="1A1A1A"/>
                </a:solidFill>
                <a:latin typeface="Arial"/>
              </a:rPr>
              <a:t> that closes at PHP 49.60, below that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2: a large bar closing below the previous low.</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5518403" y="4349583"/>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4798945"/>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5621584" y="42324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47529" y="453110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3 closes below a gap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3: "A bar closing below a gap formed between the current bar's open and a previous bar's low" (Figure 7.4, p. 212). Chapter 3's "Gap" is a range of prices where no trading took place. Say the previous low is PHP 51.00. Form 3 opens at PHP 50.60 </a:t>
            </a:r>
            <a:r>
              <a:rPr sz="1700" b="1" i="0">
                <a:solidFill>
                  <a:srgbClr val="E09B00"/>
                </a:solidFill>
                <a:latin typeface="Arial"/>
              </a:rPr>
              <a:t>(1)</a:t>
            </a:r>
            <a:r>
              <a:rPr sz="1700" b="0" i="0">
                <a:solidFill>
                  <a:srgbClr val="1A1A1A"/>
                </a:solidFill>
                <a:latin typeface="Arial"/>
              </a:rPr>
              <a:t>, leaving a PHP 0.40 gap above its open </a:t>
            </a:r>
            <a:r>
              <a:rPr sz="1700" b="1" i="0">
                <a:solidFill>
                  <a:srgbClr val="C62828"/>
                </a:solidFill>
                <a:latin typeface="Arial"/>
              </a:rPr>
              <a:t>(2)</a:t>
            </a:r>
            <a:r>
              <a:rPr sz="1700" b="0" i="0">
                <a:solidFill>
                  <a:srgbClr val="1A1A1A"/>
                </a:solidFill>
                <a:latin typeface="Arial"/>
              </a:rPr>
              <a:t>, and closes at PHP 49.80, below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3: a bar closing below a gap.</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c-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9971531" y="4293412"/>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784287" y="4075176"/>
            <a:ext cx="164592" cy="262127"/>
          </a:xfrm>
          <a:prstGeom prst="rect">
            <a:avLst/>
          </a:prstGeom>
          <a:noFill/>
          <a:ln w="44450">
            <a:solidFill>
              <a:srgbClr val="C62828"/>
            </a:solidFill>
          </a:ln>
        </p:spPr>
        <p:txBody>
          <a:bodyPr rtlCol="0" anchor="ctr"/>
          <a:lstStyle/>
          <a:p>
            <a:pPr algn="ctr"/>
          </a:p>
        </p:txBody>
      </p:sp>
      <p:sp>
        <p:nvSpPr>
          <p:cNvPr id="16" name="Oval 15"/>
          <p:cNvSpPr/>
          <p:nvPr/>
        </p:nvSpPr>
        <p:spPr>
          <a:xfrm>
            <a:off x="10282427" y="4817668"/>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9952457" y="403056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48879"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54982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Chapter 3, "Gap". The prices are invented for teaching.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4 is the inside bar: a narrow bar inside a larger one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4: "Narrow range bar closing within a larger previous bar's range," an inside bar (Figure 7.4, p. 212). Say the previous bar ranges PHP 3.00 </a:t>
            </a:r>
            <a:r>
              <a:rPr sz="1700" b="1" i="0">
                <a:solidFill>
                  <a:srgbClr val="E09B00"/>
                </a:solidFill>
                <a:latin typeface="Arial"/>
              </a:rPr>
              <a:t>(1)</a:t>
            </a:r>
            <a:r>
              <a:rPr sz="1700" b="0" i="0">
                <a:solidFill>
                  <a:srgbClr val="1A1A1A"/>
                </a:solidFill>
                <a:latin typeface="Arial"/>
              </a:rPr>
              <a:t>; the inside bar ranges only PHP 1.00 </a:t>
            </a:r>
            <a:r>
              <a:rPr sz="1700" b="1" i="0">
                <a:solidFill>
                  <a:srgbClr val="C62828"/>
                </a:solidFill>
                <a:latin typeface="Arial"/>
              </a:rPr>
              <a:t>(2)</a:t>
            </a:r>
            <a:r>
              <a:rPr sz="1700" b="0" i="0">
                <a:solidFill>
                  <a:srgbClr val="1A1A1A"/>
                </a:solidFill>
                <a:latin typeface="Arial"/>
              </a:rPr>
              <a:t>, on 0.9 million shares against 3.0 million </a:t>
            </a:r>
            <a:r>
              <a:rPr sz="1700" b="1" i="0">
                <a:solidFill>
                  <a:srgbClr val="1F5FAD"/>
                </a:solidFill>
                <a:latin typeface="Arial"/>
              </a:rPr>
              <a:t>(3)</a:t>
            </a:r>
            <a:r>
              <a:rPr sz="1700" b="0" i="0">
                <a:solidFill>
                  <a:srgbClr val="1A1A1A"/>
                </a:solidFill>
                <a:latin typeface="Arial"/>
              </a:rPr>
              <a:t>. Lim says such narrow bars should generally form on low volume, showing uncertainty in an uptrend (p. 212).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66984" y="2395728"/>
            <a:ext cx="190127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66984" y="2395728"/>
            <a:ext cx="190127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41304" y="2670048"/>
            <a:ext cx="13526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4: a narrow inside bar after a large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392424"/>
            <a:ext cx="109728" cy="1124712"/>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463747"/>
            <a:ext cx="109728" cy="411479"/>
          </a:xfrm>
          <a:prstGeom prst="rect">
            <a:avLst/>
          </a:prstGeom>
          <a:noFill/>
          <a:ln w="44450">
            <a:solidFill>
              <a:srgbClr val="C62828"/>
            </a:solidFill>
          </a:ln>
        </p:spPr>
        <p:txBody>
          <a:bodyPr rtlCol="0" anchor="ctr"/>
          <a:lstStyle/>
          <a:p>
            <a:pPr algn="ctr"/>
          </a:p>
        </p:txBody>
      </p:sp>
      <p:sp>
        <p:nvSpPr>
          <p:cNvPr id="16" name="Rectangle 15"/>
          <p:cNvSpPr/>
          <p:nvPr/>
        </p:nvSpPr>
        <p:spPr>
          <a:xfrm>
            <a:off x="10015422" y="5276088"/>
            <a:ext cx="310896" cy="109728"/>
          </a:xfrm>
          <a:prstGeom prst="rect">
            <a:avLst/>
          </a:prstGeom>
          <a:noFill/>
          <a:ln w="44450">
            <a:solidFill>
              <a:srgbClr val="1F5FAD"/>
            </a:solidFill>
          </a:ln>
        </p:spPr>
        <p:txBody>
          <a:bodyPr rtlCol="0" anchor="ctr"/>
          <a:lstStyle/>
          <a:p>
            <a:pPr algn="ctr"/>
          </a:p>
        </p:txBody>
      </p:sp>
      <p:sp>
        <p:nvSpPr>
          <p:cNvPr id="17" name="Oval 16"/>
          <p:cNvSpPr/>
          <p:nvPr/>
        </p:nvSpPr>
        <p:spPr>
          <a:xfrm>
            <a:off x="475762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4421" y="346831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436047" y="52029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BD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9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Prices and volume are invented for teaching.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5 is one overextended bar that closes near its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5: "An overextended bar closes at or near its low" (Figure 7.4, p. 212). It is the one form drawn as a single bar: it stretches far up, then gives almost all of it back. Beside an ordinary PHP 1.00 bar, form 5 stretches up to PHP 53.60 </a:t>
            </a:r>
            <a:r>
              <a:rPr sz="1700" b="1" i="0">
                <a:solidFill>
                  <a:srgbClr val="E09B00"/>
                </a:solidFill>
                <a:latin typeface="Arial"/>
              </a:rPr>
              <a:t>(1)</a:t>
            </a:r>
            <a:r>
              <a:rPr sz="1700" b="0" i="0">
                <a:solidFill>
                  <a:srgbClr val="1A1A1A"/>
                </a:solidFill>
                <a:latin typeface="Arial"/>
              </a:rPr>
              <a:t> and closes at PHP 51.00, only PHP 0.20 above its low of PHP 50.80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5: one overextended bar closing near its low.</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e-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10126979" y="3375964"/>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4452069"/>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33050"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47529" y="418422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BE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10 of 79</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6 is the outside bar: it engulfs the bar before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6: "Bar engulfing a previous narrow range bar and closing near or at its low," which he calls an outside bar (Figure 7.4, p. 212). Let us put invented prices on it. The previous bar is narrow, from PHP 50.80 to PHP 51.40 </a:t>
            </a:r>
            <a:r>
              <a:rPr sz="1700" b="1" i="0">
                <a:solidFill>
                  <a:srgbClr val="E09B00"/>
                </a:solidFill>
                <a:latin typeface="Arial"/>
              </a:rPr>
              <a:t>(1)</a:t>
            </a:r>
            <a:r>
              <a:rPr sz="1700" b="0" i="0">
                <a:solidFill>
                  <a:srgbClr val="1A1A1A"/>
                </a:solidFill>
                <a:latin typeface="Arial"/>
              </a:rPr>
              <a:t>. The outside bar runs from PHP 49.90 to PHP 51.90 </a:t>
            </a:r>
            <a:r>
              <a:rPr sz="1700" b="1" i="0">
                <a:solidFill>
                  <a:srgbClr val="C62828"/>
                </a:solidFill>
                <a:latin typeface="Arial"/>
              </a:rPr>
              <a:t>(2)</a:t>
            </a:r>
            <a:r>
              <a:rPr sz="1700" b="0" i="0">
                <a:solidFill>
                  <a:srgbClr val="1A1A1A"/>
                </a:solidFill>
                <a:latin typeface="Arial"/>
              </a:rPr>
              <a:t>, beyond both ends, and closes at PHP 50.00, near its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6: an outside bar engulfing a narrow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f-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785616"/>
            <a:ext cx="109728" cy="526694"/>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6" name="Oval 15"/>
          <p:cNvSpPr/>
          <p:nvPr/>
        </p:nvSpPr>
        <p:spPr>
          <a:xfrm>
            <a:off x="10282427" y="487009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55691" y="40267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60225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11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7 is two large bars that close at opposite ends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7: "1st large bar closing at its high followed by a large bar closing at or near its low" (Figure 7.4, p. 212). The buyers' strong finish is undone by the very next bar. Here it is with invented prices. The first bar closes at PHP 51.60, right at its high </a:t>
            </a:r>
            <a:r>
              <a:rPr sz="1700" b="1" i="0">
                <a:solidFill>
                  <a:srgbClr val="E09B00"/>
                </a:solidFill>
                <a:latin typeface="Arial"/>
              </a:rPr>
              <a:t>(1)</a:t>
            </a:r>
            <a:r>
              <a:rPr sz="1700" b="0" i="0">
                <a:solidFill>
                  <a:srgbClr val="1A1A1A"/>
                </a:solidFill>
                <a:latin typeface="Arial"/>
              </a:rPr>
              <a:t>. The second bar, just as large, closes at PHP 49.40, only PHP 0.20 above its low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66984" y="2395728"/>
            <a:ext cx="190127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66984" y="2395728"/>
            <a:ext cx="190127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41304" y="2670048"/>
            <a:ext cx="13526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7: two large bars closing at opposite ends.</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3488305"/>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4724051"/>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4763218" y="359148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47529" y="445621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BG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12 of 79</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tells us how much weight a bearish pattern gets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13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adds two volume habits. Narrow range bars in a two-bar pattern should generally form on low volume, showing uncertainty in an uptrend (p. 212).</a:t>
            </a:r>
          </a:p>
          <a:p>
            <a:pPr algn="l">
              <a:lnSpc>
                <a:spcPct val="118000"/>
              </a:lnSpc>
              <a:spcBef>
                <a:spcPts val="0"/>
              </a:spcBef>
              <a:spcAft>
                <a:spcPts val="1300"/>
              </a:spcAft>
            </a:pPr>
            <a:r>
              <a:rPr sz="2100" b="0" i="0">
                <a:solidFill>
                  <a:srgbClr val="1A1A1A"/>
                </a:solidFill>
                <a:latin typeface="Arial"/>
              </a:rPr>
              <a:t>Large bars closing at or near their lows should generally form on high volume in an uptrend (p. 212).</a:t>
            </a:r>
          </a:p>
          <a:p>
            <a:pPr algn="l">
              <a:lnSpc>
                <a:spcPct val="118000"/>
              </a:lnSpc>
              <a:spcBef>
                <a:spcPts val="0"/>
              </a:spcBef>
              <a:spcAft>
                <a:spcPts val="1300"/>
              </a:spcAft>
            </a:pPr>
            <a:r>
              <a:rPr sz="2100" b="0" i="0">
                <a:solidFill>
                  <a:srgbClr val="1A1A1A"/>
                </a:solidFill>
                <a:latin typeface="Arial"/>
              </a:rPr>
              <a:t>He also notes that some practitioners treat these same patterns as continuation patterns when they occur in a downtrend (p. 212).</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Quiet narrow bars show doubt; heavy large bars show conviction.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bearish last bar we can trust more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says a bearish two-bar pattern is potentially more reliable if the last bar is an overextended bar that closes at or near its low on high volume (p. 212). Let us put invented prices on it. The last bar stretches PHP 4.00 against PHP 1.00 before it </a:t>
            </a:r>
            <a:r>
              <a:rPr sz="1700" b="1" i="0">
                <a:solidFill>
                  <a:srgbClr val="E09B00"/>
                </a:solidFill>
                <a:latin typeface="Arial"/>
              </a:rPr>
              <a:t>(1)</a:t>
            </a:r>
            <a:r>
              <a:rPr sz="1700" b="0" i="0">
                <a:solidFill>
                  <a:srgbClr val="1A1A1A"/>
                </a:solidFill>
                <a:latin typeface="Arial"/>
              </a:rPr>
              <a:t>, closes at PHP 47.80, near its low of PHP 47.60 </a:t>
            </a:r>
            <a:r>
              <a:rPr sz="1700" b="1" i="0">
                <a:solidFill>
                  <a:srgbClr val="C62828"/>
                </a:solidFill>
                <a:latin typeface="Arial"/>
              </a:rPr>
              <a:t>(2)</a:t>
            </a:r>
            <a:r>
              <a:rPr sz="1700" b="0" i="0">
                <a:solidFill>
                  <a:srgbClr val="1A1A1A"/>
                </a:solidFill>
                <a:latin typeface="Arial"/>
              </a:rPr>
              <a:t>, and trades 4.5 million shares against 1.5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l-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9869119" y="3392424"/>
            <a:ext cx="109728" cy="1124712"/>
          </a:xfrm>
          <a:prstGeom prst="rect">
            <a:avLst/>
          </a:prstGeom>
          <a:noFill/>
          <a:ln w="44450">
            <a:solidFill>
              <a:srgbClr val="E09B00"/>
            </a:solidFill>
          </a:ln>
        </p:spPr>
        <p:txBody>
          <a:bodyPr rtlCol="0" anchor="ctr"/>
          <a:lstStyle/>
          <a:p>
            <a:pPr algn="ctr"/>
          </a:p>
        </p:txBody>
      </p:sp>
      <p:sp>
        <p:nvSpPr>
          <p:cNvPr id="10" name="Oval 9"/>
          <p:cNvSpPr/>
          <p:nvPr/>
        </p:nvSpPr>
        <p:spPr>
          <a:xfrm>
            <a:off x="10035539" y="4392320"/>
            <a:ext cx="87782" cy="87782"/>
          </a:xfrm>
          <a:prstGeom prst="ellipse">
            <a:avLst/>
          </a:prstGeom>
          <a:noFill/>
          <a:ln w="44450">
            <a:solidFill>
              <a:srgbClr val="C62828"/>
            </a:solidFill>
          </a:ln>
        </p:spPr>
        <p:txBody>
          <a:bodyPr rtlCol="0" anchor="ctr"/>
          <a:lstStyle/>
          <a:p>
            <a:pPr algn="ctr"/>
          </a:p>
        </p:txBody>
      </p:sp>
      <p:sp>
        <p:nvSpPr>
          <p:cNvPr id="11" name="Rectangle 10"/>
          <p:cNvSpPr/>
          <p:nvPr/>
        </p:nvSpPr>
        <p:spPr>
          <a:xfrm>
            <a:off x="9768535" y="5148072"/>
            <a:ext cx="310895" cy="237744"/>
          </a:xfrm>
          <a:prstGeom prst="rect">
            <a:avLst/>
          </a:prstGeom>
          <a:noFill/>
          <a:ln w="44450">
            <a:solidFill>
              <a:srgbClr val="1F5FAD"/>
            </a:solidFill>
          </a:ln>
        </p:spPr>
        <p:txBody>
          <a:bodyPr rtlCol="0" anchor="ctr"/>
          <a:lstStyle/>
          <a:p>
            <a:pPr algn="ctr"/>
          </a:p>
        </p:txBody>
      </p:sp>
      <p:sp>
        <p:nvSpPr>
          <p:cNvPr id="12" name="Oval 11"/>
          <p:cNvSpPr/>
          <p:nvPr/>
        </p:nvSpPr>
        <p:spPr>
          <a:xfrm>
            <a:off x="9978847"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10073670" y="41624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97162"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RL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14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Prices and volume are invented for teaching.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Bearish single and double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last bar makes a bearish two-bar pattern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narrow bar closing near its high</a:t>
            </a:r>
          </a:p>
          <a:p>
            <a:pPr algn="l">
              <a:lnSpc>
                <a:spcPct val="112000"/>
              </a:lnSpc>
              <a:spcBef>
                <a:spcPts val="0"/>
              </a:spcBef>
              <a:spcAft>
                <a:spcPts val="900"/>
              </a:spcAft>
            </a:pPr>
            <a:r>
              <a:rPr sz="1700" b="0" i="0">
                <a:solidFill>
                  <a:srgbClr val="FFFFFF"/>
                </a:solidFill>
                <a:latin typeface="Arial"/>
              </a:rPr>
              <a:t>B.  Any bar on low volume</a:t>
            </a:r>
          </a:p>
          <a:p>
            <a:pPr algn="l">
              <a:lnSpc>
                <a:spcPct val="112000"/>
              </a:lnSpc>
              <a:spcBef>
                <a:spcPts val="0"/>
              </a:spcBef>
              <a:spcAft>
                <a:spcPts val="900"/>
              </a:spcAft>
            </a:pPr>
            <a:r>
              <a:rPr sz="1700" b="0" i="0">
                <a:solidFill>
                  <a:srgbClr val="FFFFFF"/>
                </a:solidFill>
                <a:latin typeface="Arial"/>
              </a:rPr>
              <a:t>C.  A bar that gaps up and closes high</a:t>
            </a:r>
          </a:p>
          <a:p>
            <a:pPr algn="l">
              <a:lnSpc>
                <a:spcPct val="112000"/>
              </a:lnSpc>
              <a:spcBef>
                <a:spcPts val="0"/>
              </a:spcBef>
              <a:spcAft>
                <a:spcPts val="900"/>
              </a:spcAft>
            </a:pPr>
            <a:r>
              <a:rPr sz="1700" b="0" i="0">
                <a:solidFill>
                  <a:srgbClr val="FFFFFF"/>
                </a:solidFill>
                <a:latin typeface="Arial"/>
              </a:rPr>
              <a:t>D.  An overextended bar closing near its low on high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what does a narrow range bar on low volume within a two-bar pattern show?</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guaranteed reversal</a:t>
            </a:r>
          </a:p>
          <a:p>
            <a:pPr algn="l">
              <a:lnSpc>
                <a:spcPct val="112000"/>
              </a:lnSpc>
              <a:spcBef>
                <a:spcPts val="0"/>
              </a:spcBef>
              <a:spcAft>
                <a:spcPts val="900"/>
              </a:spcAft>
            </a:pPr>
            <a:r>
              <a:rPr sz="1700" b="0" i="0">
                <a:solidFill>
                  <a:srgbClr val="FFFFFF"/>
                </a:solidFill>
                <a:latin typeface="Arial"/>
              </a:rPr>
              <a:t>B.  Uncertainty</a:t>
            </a:r>
          </a:p>
          <a:p>
            <a:pPr algn="l">
              <a:lnSpc>
                <a:spcPct val="112000"/>
              </a:lnSpc>
              <a:spcBef>
                <a:spcPts val="0"/>
              </a:spcBef>
              <a:spcAft>
                <a:spcPts val="900"/>
              </a:spcAft>
            </a:pPr>
            <a:r>
              <a:rPr sz="1700" b="0" i="0">
                <a:solidFill>
                  <a:srgbClr val="FFFFFF"/>
                </a:solidFill>
                <a:latin typeface="Arial"/>
              </a:rPr>
              <a:t>C.  A continuation</a:t>
            </a:r>
          </a:p>
          <a:p>
            <a:pPr algn="l">
              <a:lnSpc>
                <a:spcPct val="112000"/>
              </a:lnSpc>
              <a:spcBef>
                <a:spcPts val="0"/>
              </a:spcBef>
              <a:spcAft>
                <a:spcPts val="900"/>
              </a:spcAft>
            </a:pPr>
            <a:r>
              <a:rPr sz="1700" b="0" i="0">
                <a:solidFill>
                  <a:srgbClr val="FFFFFF"/>
                </a:solidFill>
                <a:latin typeface="Arial"/>
              </a:rPr>
              <a:t>D.  A wider range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8</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Bearish single and double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last bar makes a bearish two-bar pattern potentially more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An overextended bar closing near its low on high volume</a:t>
            </a:r>
          </a:p>
          <a:p>
            <a:pPr algn="l">
              <a:lnSpc>
                <a:spcPct val="115000"/>
              </a:lnSpc>
              <a:spcBef>
                <a:spcPts val="700"/>
              </a:spcBef>
              <a:spcAft>
                <a:spcPts val="0"/>
              </a:spcAft>
            </a:pPr>
            <a:r>
              <a:rPr sz="1700" b="0" i="0">
                <a:solidFill>
                  <a:srgbClr val="1A1A1A"/>
                </a:solidFill>
                <a:latin typeface="Arial"/>
              </a:rPr>
              <a:t>Lim says the pattern is potentially more reliable if the last bar is overextended and closes at or near its low on high volume (p. 212).</a:t>
            </a:r>
          </a:p>
        </p:txBody>
      </p:sp>
      <p:sp>
        <p:nvSpPr>
          <p:cNvPr id="10" name="Rectangle 9"/>
          <p:cNvSpPr/>
          <p:nvPr/>
        </p:nvSpPr>
        <p:spPr>
          <a:xfrm>
            <a:off x="777240" y="3330321"/>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an uptrend, what does a narrow range bar on low volume within a two-bar pattern show?</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Uncertainty</a:t>
            </a:r>
          </a:p>
          <a:p>
            <a:pPr algn="l">
              <a:lnSpc>
                <a:spcPct val="115000"/>
              </a:lnSpc>
              <a:spcBef>
                <a:spcPts val="700"/>
              </a:spcBef>
              <a:spcAft>
                <a:spcPts val="0"/>
              </a:spcAft>
            </a:pPr>
            <a:r>
              <a:rPr sz="1700" b="0" i="0">
                <a:solidFill>
                  <a:srgbClr val="1A1A1A"/>
                </a:solidFill>
                <a:latin typeface="Arial"/>
              </a:rPr>
              <a:t>Lim says such narrow range bars should generally form on low volume, indicating uncertainty in an uptrend (p. 212).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8</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 a downtrend Lim's close rule turns around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15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a downtrend Lim's general rule is the mirror image: a close above the previous bar's close or high is bullish, especially if the previous bar is large or wide-ranging (p. 212).</a:t>
            </a:r>
          </a:p>
          <a:p>
            <a:pPr algn="l">
              <a:lnSpc>
                <a:spcPct val="118000"/>
              </a:lnSpc>
              <a:spcBef>
                <a:spcPts val="0"/>
              </a:spcBef>
              <a:spcAft>
                <a:spcPts val="1300"/>
              </a:spcAft>
            </a:pPr>
            <a:r>
              <a:rPr sz="2100" b="0" i="0">
                <a:solidFill>
                  <a:srgbClr val="1A1A1A"/>
                </a:solidFill>
                <a:latin typeface="Arial"/>
              </a:rPr>
              <a:t>Here it is with invented prices. Yesterday's bar ran from PHP 38.00 to PHP 41.00 and closed at PHP 38.20. A close today at PHP 38.80 is above yesterday's close; a close at PHP 41.20 is above yesterday's high as well.</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Now the close has to climb past yesterday's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The prices are invented for teaching.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 draws the seven bullish forms in Figure 7.5</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16 of 79</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7.5 draws the seven basic bullish single and double bar reversal patterns in a downtrend (p. 213). Here is the first drawing, cut out and drawn large.</a:t>
            </a:r>
          </a:p>
          <a:p>
            <a:pPr algn="l">
              <a:lnSpc>
                <a:spcPct val="105000"/>
              </a:lnSpc>
              <a:spcBef>
                <a:spcPts val="0"/>
              </a:spcBef>
              <a:spcAft>
                <a:spcPts val="1100"/>
              </a:spcAft>
            </a:pPr>
            <a:r>
              <a:rPr sz="2000" b="0" i="0">
                <a:solidFill>
                  <a:srgbClr val="1A1A1A"/>
                </a:solidFill>
                <a:latin typeface="Arial"/>
              </a:rPr>
              <a:t>Each form sits under an existing downtrend </a:t>
            </a:r>
            <a:r>
              <a:rPr sz="2000" b="1" i="0">
                <a:solidFill>
                  <a:srgbClr val="E09B00"/>
                </a:solidFill>
                <a:latin typeface="Arial"/>
              </a:rPr>
              <a:t>(1)</a:t>
            </a:r>
            <a:r>
              <a:rPr sz="2000" b="0" i="0">
                <a:solidFill>
                  <a:srgbClr val="1A1A1A"/>
                </a:solidFill>
                <a:latin typeface="Arial"/>
              </a:rPr>
              <a:t> and carries a number </a:t>
            </a:r>
            <a:r>
              <a:rPr sz="2000" b="1" i="0">
                <a:solidFill>
                  <a:srgbClr val="C62828"/>
                </a:solidFill>
                <a:latin typeface="Arial"/>
              </a:rPr>
              <a:t>(2)</a:t>
            </a:r>
            <a:r>
              <a:rPr sz="2000" b="0" i="0">
                <a:solidFill>
                  <a:srgbClr val="1A1A1A"/>
                </a:solidFill>
                <a:latin typeface="Arial"/>
              </a:rPr>
              <a:t>; the next seven slides take them one at a time, each quoting its label.</a:t>
            </a:r>
          </a:p>
        </p:txBody>
      </p:sp>
      <p:sp>
        <p:nvSpPr>
          <p:cNvPr id="8" name="Rectangle 7"/>
          <p:cNvSpPr/>
          <p:nvPr/>
        </p:nvSpPr>
        <p:spPr>
          <a:xfrm>
            <a:off x="7586970" y="1810512"/>
            <a:ext cx="1544033" cy="374904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05842" y="1929384"/>
            <a:ext cx="130628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705842" y="1929384"/>
            <a:ext cx="130628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980162" y="2203703"/>
            <a:ext cx="75764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1: the number, its arrow and the drawing.</a:t>
            </a:r>
          </a:p>
        </p:txBody>
      </p:sp>
      <p:sp>
        <p:nvSpPr>
          <p:cNvPr id="12" name="Rectangle 11"/>
          <p:cNvSpPr/>
          <p:nvPr/>
        </p:nvSpPr>
        <p:spPr>
          <a:xfrm>
            <a:off x="7866892" y="2283464"/>
            <a:ext cx="1113925" cy="1563854"/>
          </a:xfrm>
          <a:prstGeom prst="rect">
            <a:avLst/>
          </a:prstGeom>
          <a:noFill/>
          <a:ln w="44450">
            <a:solidFill>
              <a:srgbClr val="E09B00"/>
            </a:solidFill>
          </a:ln>
        </p:spPr>
        <p:txBody>
          <a:bodyPr rtlCol="0" anchor="ctr"/>
          <a:lstStyle/>
          <a:p>
            <a:pPr algn="ctr"/>
          </a:p>
        </p:txBody>
      </p:sp>
      <p:sp>
        <p:nvSpPr>
          <p:cNvPr id="13" name="Oval 12"/>
          <p:cNvSpPr/>
          <p:nvPr/>
        </p:nvSpPr>
        <p:spPr>
          <a:xfrm>
            <a:off x="8117413" y="1935285"/>
            <a:ext cx="322098" cy="306869"/>
          </a:xfrm>
          <a:prstGeom prst="ellipse">
            <a:avLst/>
          </a:prstGeom>
          <a:noFill/>
          <a:ln w="44450">
            <a:solidFill>
              <a:srgbClr val="C62828"/>
            </a:solidFill>
          </a:ln>
        </p:spPr>
        <p:txBody>
          <a:bodyPr rtlCol="0" anchor="ctr"/>
          <a:lstStyle/>
          <a:p>
            <a:pPr algn="ctr"/>
          </a:p>
        </p:txBody>
      </p:sp>
      <p:sp>
        <p:nvSpPr>
          <p:cNvPr id="14" name="Oval 13"/>
          <p:cNvSpPr/>
          <p:nvPr/>
        </p:nvSpPr>
        <p:spPr>
          <a:xfrm>
            <a:off x="7738876" y="21554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8597806" y="19607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650992"/>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7.5 -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1 opens below the previous low and closes back up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large bar opening below a previous low and closing near or above a previous close," again a key reversal bar (Figure 7.5, p. 213). Here it is with invented prices. The previous bar fell to PHP 39.00 and closed at PHP 39.20. Form 1 opens at PHP 38.60 </a:t>
            </a:r>
            <a:r>
              <a:rPr sz="1700" b="1" i="0">
                <a:solidFill>
                  <a:srgbClr val="E09B00"/>
                </a:solidFill>
                <a:latin typeface="Arial"/>
              </a:rPr>
              <a:t>(1)</a:t>
            </a:r>
            <a:r>
              <a:rPr sz="1700" b="0" i="0">
                <a:solidFill>
                  <a:srgbClr val="1A1A1A"/>
                </a:solidFill>
                <a:latin typeface="Arial"/>
              </a:rPr>
              <a:t>, swings through PHP 2.20 </a:t>
            </a:r>
            <a:r>
              <a:rPr sz="1700" b="1" i="0">
                <a:solidFill>
                  <a:srgbClr val="C62828"/>
                </a:solidFill>
                <a:latin typeface="Arial"/>
              </a:rPr>
              <a:t>(2)</a:t>
            </a:r>
            <a:r>
              <a:rPr sz="1700" b="0" i="0">
                <a:solidFill>
                  <a:srgbClr val="1A1A1A"/>
                </a:solidFill>
                <a:latin typeface="Arial"/>
              </a:rPr>
              <a:t>, and closes at PHP 39.70, above the previous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999880" y="2395728"/>
            <a:ext cx="2035485"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999880" y="2395728"/>
            <a:ext cx="203548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274200" y="2670048"/>
            <a:ext cx="1486845"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1: a bullish key reversal bar after a downtrend.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a-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9971531" y="4519796"/>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373341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854379" y="42483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47529" y="346557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17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2 closes near or above the previous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large bar closing near or above a previous high" (Figure 7.5, p. 213). Let us put invented prices on it. The previous bar's high is PHP 39.80 </a:t>
            </a:r>
            <a:r>
              <a:rPr sz="1700" b="1" i="0">
                <a:solidFill>
                  <a:srgbClr val="E09B00"/>
                </a:solidFill>
                <a:latin typeface="Arial"/>
              </a:rPr>
              <a:t>(1)</a:t>
            </a:r>
            <a:r>
              <a:rPr sz="1700" b="0" i="0">
                <a:solidFill>
                  <a:srgbClr val="1A1A1A"/>
                </a:solidFill>
                <a:latin typeface="Arial"/>
              </a:rPr>
              <a:t>. Form 2 is a large bar with a PHP 2.10 range </a:t>
            </a:r>
            <a:r>
              <a:rPr sz="1700" b="1" i="0">
                <a:solidFill>
                  <a:srgbClr val="C62828"/>
                </a:solidFill>
                <a:latin typeface="Arial"/>
              </a:rPr>
              <a:t>(2)</a:t>
            </a:r>
            <a:r>
              <a:rPr sz="1700" b="0" i="0">
                <a:solidFill>
                  <a:srgbClr val="1A1A1A"/>
                </a:solidFill>
                <a:latin typeface="Arial"/>
              </a:rPr>
              <a:t> that closes at PHP 40.40, above that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2: a large bar closing above the previous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5518403" y="3975114"/>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352575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5613004" y="39560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31330" y="362893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18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3 closes above a gap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bar closing above a gap formed between the current bar's open and a previous bar's high" (Figure 7.5, p. 213). Here it is with invented prices. The previous high is PHP 39.00. Form 3 opens at PHP 39.40 </a:t>
            </a:r>
            <a:r>
              <a:rPr sz="1700" b="1" i="0">
                <a:solidFill>
                  <a:srgbClr val="E09B00"/>
                </a:solidFill>
                <a:latin typeface="Arial"/>
              </a:rPr>
              <a:t>(1)</a:t>
            </a:r>
            <a:r>
              <a:rPr sz="1700" b="0" i="0">
                <a:solidFill>
                  <a:srgbClr val="1A1A1A"/>
                </a:solidFill>
                <a:latin typeface="Arial"/>
              </a:rPr>
              <a:t>, leaving a PHP 0.40 gap below its open </a:t>
            </a:r>
            <a:r>
              <a:rPr sz="1700" b="1" i="0">
                <a:solidFill>
                  <a:srgbClr val="C62828"/>
                </a:solidFill>
                <a:latin typeface="Arial"/>
              </a:rPr>
              <a:t>(2)</a:t>
            </a:r>
            <a:r>
              <a:rPr sz="1700" b="0" i="0">
                <a:solidFill>
                  <a:srgbClr val="1A1A1A"/>
                </a:solidFill>
                <a:latin typeface="Arial"/>
              </a:rPr>
              <a:t>, and closes at PHP 40.20, above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3: a bar closing above a gap.</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c-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9971531" y="4031284"/>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784287" y="4075176"/>
            <a:ext cx="164592" cy="262127"/>
          </a:xfrm>
          <a:prstGeom prst="rect">
            <a:avLst/>
          </a:prstGeom>
          <a:noFill/>
          <a:ln w="44450">
            <a:solidFill>
              <a:srgbClr val="C62828"/>
            </a:solidFill>
          </a:ln>
        </p:spPr>
        <p:txBody>
          <a:bodyPr rtlCol="0" anchor="ctr"/>
          <a:lstStyle/>
          <a:p>
            <a:pPr algn="ctr"/>
          </a:p>
        </p:txBody>
      </p:sp>
      <p:sp>
        <p:nvSpPr>
          <p:cNvPr id="16" name="Oval 15"/>
          <p:cNvSpPr/>
          <p:nvPr/>
        </p:nvSpPr>
        <p:spPr>
          <a:xfrm>
            <a:off x="10282427" y="3507028"/>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9854379" y="375985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48879"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61020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19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Chapter 3, "Gap". The prices are invented for teaching.</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4 is the inside bar after a large down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"Narrow range bar closing within a larger previous bar's range," again an inside bar (Figure 7.5, p. 213). Say the previous bar ranges PHP 3.00 </a:t>
            </a:r>
            <a:r>
              <a:rPr sz="1700" b="1" i="0">
                <a:solidFill>
                  <a:srgbClr val="E09B00"/>
                </a:solidFill>
                <a:latin typeface="Arial"/>
              </a:rPr>
              <a:t>(1)</a:t>
            </a:r>
            <a:r>
              <a:rPr sz="1700" b="0" i="0">
                <a:solidFill>
                  <a:srgbClr val="1A1A1A"/>
                </a:solidFill>
                <a:latin typeface="Arial"/>
              </a:rPr>
              <a:t>; the inside bar ranges only PHP 1.00 </a:t>
            </a:r>
            <a:r>
              <a:rPr sz="1700" b="1" i="0">
                <a:solidFill>
                  <a:srgbClr val="C62828"/>
                </a:solidFill>
                <a:latin typeface="Arial"/>
              </a:rPr>
              <a:t>(2)</a:t>
            </a:r>
            <a:r>
              <a:rPr sz="1700" b="0" i="0">
                <a:solidFill>
                  <a:srgbClr val="1A1A1A"/>
                </a:solidFill>
                <a:latin typeface="Arial"/>
              </a:rPr>
              <a:t>, on 0.9 million shares against 3.0 million </a:t>
            </a:r>
            <a:r>
              <a:rPr sz="1700" b="1" i="0">
                <a:solidFill>
                  <a:srgbClr val="1F5FAD"/>
                </a:solidFill>
                <a:latin typeface="Arial"/>
              </a:rPr>
              <a:t>(3)</a:t>
            </a:r>
            <a:r>
              <a:rPr sz="1700" b="0" i="0">
                <a:solidFill>
                  <a:srgbClr val="1A1A1A"/>
                </a:solidFill>
                <a:latin typeface="Arial"/>
              </a:rPr>
              <a:t>. Lim says such narrow bars should generally form on low volume, showing uncertainty in a downtrend (p. 212).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39024" y="2395728"/>
            <a:ext cx="1957197"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39024" y="2395728"/>
            <a:ext cx="195719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13344" y="2670048"/>
            <a:ext cx="1408557"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4: a narrow inside bar after a large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392424"/>
            <a:ext cx="109728" cy="1124712"/>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4034332"/>
            <a:ext cx="109728" cy="411479"/>
          </a:xfrm>
          <a:prstGeom prst="rect">
            <a:avLst/>
          </a:prstGeom>
          <a:noFill/>
          <a:ln w="44450">
            <a:solidFill>
              <a:srgbClr val="C62828"/>
            </a:solidFill>
          </a:ln>
        </p:spPr>
        <p:txBody>
          <a:bodyPr rtlCol="0" anchor="ctr"/>
          <a:lstStyle/>
          <a:p>
            <a:pPr algn="ctr"/>
          </a:p>
        </p:txBody>
      </p:sp>
      <p:sp>
        <p:nvSpPr>
          <p:cNvPr id="16" name="Rectangle 15"/>
          <p:cNvSpPr/>
          <p:nvPr/>
        </p:nvSpPr>
        <p:spPr>
          <a:xfrm>
            <a:off x="10015422" y="5276088"/>
            <a:ext cx="310896" cy="109728"/>
          </a:xfrm>
          <a:prstGeom prst="rect">
            <a:avLst/>
          </a:prstGeom>
          <a:noFill/>
          <a:ln w="44450">
            <a:solidFill>
              <a:srgbClr val="1F5FAD"/>
            </a:solidFill>
          </a:ln>
        </p:spPr>
        <p:txBody>
          <a:bodyPr rtlCol="0" anchor="ctr"/>
          <a:lstStyle/>
          <a:p>
            <a:pPr algn="ctr"/>
          </a:p>
        </p:txBody>
      </p:sp>
      <p:sp>
        <p:nvSpPr>
          <p:cNvPr id="17" name="Oval 16"/>
          <p:cNvSpPr/>
          <p:nvPr/>
        </p:nvSpPr>
        <p:spPr>
          <a:xfrm>
            <a:off x="475762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4421" y="418520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436047" y="52029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UD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20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212 to 213, Figure 7.5. Prices and volume are invented for teaching.</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5 is one overextended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"An overextended bar closes at or near its high" (Figure 7.5, p. 213). Let us put invented prices on it, beside an ordinary PHP 1.00 bar for comparison. Form 5 stretches down to PHP 36.40 </a:t>
            </a:r>
            <a:r>
              <a:rPr sz="1700" b="1" i="0">
                <a:solidFill>
                  <a:srgbClr val="E09B00"/>
                </a:solidFill>
                <a:latin typeface="Arial"/>
              </a:rPr>
              <a:t>(1)</a:t>
            </a:r>
            <a:r>
              <a:rPr sz="1700" b="0" i="0">
                <a:solidFill>
                  <a:srgbClr val="1A1A1A"/>
                </a:solidFill>
                <a:latin typeface="Arial"/>
              </a:rPr>
              <a:t> and closes at PHP 39.00, only PHP 0.20 below its high of PHP 39.20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5: one overextended bar closing near its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e-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10126979" y="4948732"/>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3872628"/>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30160" y="483158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31330" y="397580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UE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21 of 79</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6 is the outside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"Bar engulfing a previous narrow range bar and closing near or at its high," again called an outside bar (Figure 7.5, p. 213). Here it is with invented prices. The previous bar is narrow, from PHP 38.60 to PHP 39.20 </a:t>
            </a:r>
            <a:r>
              <a:rPr sz="1700" b="1" i="0">
                <a:solidFill>
                  <a:srgbClr val="E09B00"/>
                </a:solidFill>
                <a:latin typeface="Arial"/>
              </a:rPr>
              <a:t>(1)</a:t>
            </a:r>
            <a:r>
              <a:rPr sz="1700" b="0" i="0">
                <a:solidFill>
                  <a:srgbClr val="1A1A1A"/>
                </a:solidFill>
                <a:latin typeface="Arial"/>
              </a:rPr>
              <a:t>. The outside bar runs from PHP 38.10 to PHP 40.10 </a:t>
            </a:r>
            <a:r>
              <a:rPr sz="1700" b="1" i="0">
                <a:solidFill>
                  <a:srgbClr val="C62828"/>
                </a:solidFill>
                <a:latin typeface="Arial"/>
              </a:rPr>
              <a:t>(2)</a:t>
            </a:r>
            <a:r>
              <a:rPr sz="1700" b="0" i="0">
                <a:solidFill>
                  <a:srgbClr val="1A1A1A"/>
                </a:solidFill>
                <a:latin typeface="Arial"/>
              </a:rPr>
              <a:t>, beyond both ends, and closes at PHP 40.00, near its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6: an outside bar engulfing a narrow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f-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4100169"/>
            <a:ext cx="109728" cy="526694"/>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6" name="Oval 15"/>
          <p:cNvSpPr/>
          <p:nvPr/>
        </p:nvSpPr>
        <p:spPr>
          <a:xfrm>
            <a:off x="10282427" y="345460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64432" y="414109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55778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22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7 is two large bars, the second closing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large bar closing at its low followed by a large bar closing at or near its high" (Figure 7.5, p. 213). Let us put invented prices on it. The first bar closes at PHP 38.40, right at its low </a:t>
            </a:r>
            <a:r>
              <a:rPr sz="1700" b="1" i="0">
                <a:solidFill>
                  <a:srgbClr val="E09B00"/>
                </a:solidFill>
                <a:latin typeface="Arial"/>
              </a:rPr>
              <a:t>(1)</a:t>
            </a:r>
            <a:r>
              <a:rPr sz="1700" b="0" i="0">
                <a:solidFill>
                  <a:srgbClr val="1A1A1A"/>
                </a:solidFill>
                <a:latin typeface="Arial"/>
              </a:rPr>
              <a:t>. The second bar, just as large, closes at PHP 40.60, only PHP 0.20 below its high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39024" y="2395728"/>
            <a:ext cx="1957197"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39024" y="2395728"/>
            <a:ext cx="195719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13344" y="2670048"/>
            <a:ext cx="1408557"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7: two large bars closing at opposite ends.</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4836392"/>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3600645"/>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4779417" y="456855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31330" y="370382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UG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23 of 79</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bullish last bar we can trust more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most cases, Lim says, a bullish two-bar pattern is potentially more reliable if the last bar is overextended and closes at or near its high on high volume (p. 212). Here it is with invented prices. The last bar stretches PHP 4.00 against PHP 1.00 </a:t>
            </a:r>
            <a:r>
              <a:rPr sz="1700" b="1" i="0">
                <a:solidFill>
                  <a:srgbClr val="E09B00"/>
                </a:solidFill>
                <a:latin typeface="Arial"/>
              </a:rPr>
              <a:t>(1)</a:t>
            </a:r>
            <a:r>
              <a:rPr sz="1700" b="0" i="0">
                <a:solidFill>
                  <a:srgbClr val="1A1A1A"/>
                </a:solidFill>
                <a:latin typeface="Arial"/>
              </a:rPr>
              <a:t>, closes at PHP 42.20, near its PHP 42.40 high </a:t>
            </a:r>
            <a:r>
              <a:rPr sz="1700" b="1" i="0">
                <a:solidFill>
                  <a:srgbClr val="C62828"/>
                </a:solidFill>
                <a:latin typeface="Arial"/>
              </a:rPr>
              <a:t>(2)</a:t>
            </a:r>
            <a:r>
              <a:rPr sz="1700" b="0" i="0">
                <a:solidFill>
                  <a:srgbClr val="1A1A1A"/>
                </a:solidFill>
                <a:latin typeface="Arial"/>
              </a:rPr>
              <a:t>, on 4.5 million shares against 1.5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9869119" y="3392424"/>
            <a:ext cx="109728" cy="1124712"/>
          </a:xfrm>
          <a:prstGeom prst="rect">
            <a:avLst/>
          </a:prstGeom>
          <a:noFill/>
          <a:ln w="44450">
            <a:solidFill>
              <a:srgbClr val="E09B00"/>
            </a:solidFill>
          </a:ln>
        </p:spPr>
        <p:txBody>
          <a:bodyPr rtlCol="0" anchor="ctr"/>
          <a:lstStyle/>
          <a:p>
            <a:pPr algn="ctr"/>
          </a:p>
        </p:txBody>
      </p:sp>
      <p:sp>
        <p:nvSpPr>
          <p:cNvPr id="10" name="Oval 9"/>
          <p:cNvSpPr/>
          <p:nvPr/>
        </p:nvSpPr>
        <p:spPr>
          <a:xfrm>
            <a:off x="10035539" y="3429457"/>
            <a:ext cx="87782" cy="87782"/>
          </a:xfrm>
          <a:prstGeom prst="ellipse">
            <a:avLst/>
          </a:prstGeom>
          <a:noFill/>
          <a:ln w="44450">
            <a:solidFill>
              <a:srgbClr val="C62828"/>
            </a:solidFill>
          </a:ln>
        </p:spPr>
        <p:txBody>
          <a:bodyPr rtlCol="0" anchor="ctr"/>
          <a:lstStyle/>
          <a:p>
            <a:pPr algn="ctr"/>
          </a:p>
        </p:txBody>
      </p:sp>
      <p:sp>
        <p:nvSpPr>
          <p:cNvPr id="11" name="Rectangle 10"/>
          <p:cNvSpPr/>
          <p:nvPr/>
        </p:nvSpPr>
        <p:spPr>
          <a:xfrm>
            <a:off x="9768535" y="5148072"/>
            <a:ext cx="310895" cy="237744"/>
          </a:xfrm>
          <a:prstGeom prst="rect">
            <a:avLst/>
          </a:prstGeom>
          <a:noFill/>
          <a:ln w="44450">
            <a:solidFill>
              <a:srgbClr val="1F5FAD"/>
            </a:solidFill>
          </a:ln>
        </p:spPr>
        <p:txBody>
          <a:bodyPr rtlCol="0" anchor="ctr"/>
          <a:lstStyle/>
          <a:p>
            <a:pPr algn="ctr"/>
          </a:p>
        </p:txBody>
      </p:sp>
      <p:sp>
        <p:nvSpPr>
          <p:cNvPr id="12" name="Oval 11"/>
          <p:cNvSpPr/>
          <p:nvPr/>
        </p:nvSpPr>
        <p:spPr>
          <a:xfrm>
            <a:off x="9978847"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4442" y="35326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97162"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24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Prices and volume are invented for teaching.</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single and double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downtrend, which close does Lim's general rule treat as bullish?</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close above the previous bar's close or high</a:t>
            </a:r>
          </a:p>
          <a:p>
            <a:pPr algn="l">
              <a:lnSpc>
                <a:spcPct val="112000"/>
              </a:lnSpc>
              <a:spcBef>
                <a:spcPts val="0"/>
              </a:spcBef>
              <a:spcAft>
                <a:spcPts val="900"/>
              </a:spcAft>
            </a:pPr>
            <a:r>
              <a:rPr sz="1700" b="0" i="0">
                <a:solidFill>
                  <a:srgbClr val="FFFFFF"/>
                </a:solidFill>
                <a:latin typeface="Arial"/>
              </a:rPr>
              <a:t>B.  A close below the previous bar's low</a:t>
            </a:r>
          </a:p>
          <a:p>
            <a:pPr algn="l">
              <a:lnSpc>
                <a:spcPct val="112000"/>
              </a:lnSpc>
              <a:spcBef>
                <a:spcPts val="0"/>
              </a:spcBef>
              <a:spcAft>
                <a:spcPts val="900"/>
              </a:spcAft>
            </a:pPr>
            <a:r>
              <a:rPr sz="1700" b="0" i="0">
                <a:solidFill>
                  <a:srgbClr val="FFFFFF"/>
                </a:solidFill>
                <a:latin typeface="Arial"/>
              </a:rPr>
              <a:t>C.  A close inside the previous range</a:t>
            </a:r>
          </a:p>
          <a:p>
            <a:pPr algn="l">
              <a:lnSpc>
                <a:spcPct val="112000"/>
              </a:lnSpc>
              <a:spcBef>
                <a:spcPts val="0"/>
              </a:spcBef>
              <a:spcAft>
                <a:spcPts val="900"/>
              </a:spcAft>
            </a:pPr>
            <a:r>
              <a:rPr sz="1700" b="0" i="0">
                <a:solidFill>
                  <a:srgbClr val="FFFFFF"/>
                </a:solidFill>
                <a:latin typeface="Arial"/>
              </a:rPr>
              <a:t>D.  A close at the open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call a bar that engulfs a previous narrow range bar and closes near its high?</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An inside bar</a:t>
            </a:r>
          </a:p>
          <a:p>
            <a:pPr algn="l">
              <a:lnSpc>
                <a:spcPct val="112000"/>
              </a:lnSpc>
              <a:spcBef>
                <a:spcPts val="0"/>
              </a:spcBef>
              <a:spcAft>
                <a:spcPts val="900"/>
              </a:spcAft>
            </a:pPr>
            <a:r>
              <a:rPr sz="1700" b="0" i="0">
                <a:solidFill>
                  <a:srgbClr val="FFFFFF"/>
                </a:solidFill>
                <a:latin typeface="Arial"/>
              </a:rPr>
              <a:t>B.  A key reversal bar</a:t>
            </a:r>
          </a:p>
          <a:p>
            <a:pPr algn="l">
              <a:lnSpc>
                <a:spcPct val="112000"/>
              </a:lnSpc>
              <a:spcBef>
                <a:spcPts val="0"/>
              </a:spcBef>
              <a:spcAft>
                <a:spcPts val="900"/>
              </a:spcAft>
            </a:pPr>
            <a:r>
              <a:rPr sz="1700" b="0" i="0">
                <a:solidFill>
                  <a:srgbClr val="FFFFFF"/>
                </a:solidFill>
                <a:latin typeface="Arial"/>
              </a:rPr>
              <a:t>C.  An outside bar</a:t>
            </a:r>
          </a:p>
          <a:p>
            <a:pPr algn="l">
              <a:lnSpc>
                <a:spcPct val="112000"/>
              </a:lnSpc>
              <a:spcBef>
                <a:spcPts val="0"/>
              </a:spcBef>
              <a:spcAft>
                <a:spcPts val="900"/>
              </a:spcAft>
            </a:pPr>
            <a:r>
              <a:rPr sz="1700" b="0" i="0">
                <a:solidFill>
                  <a:srgbClr val="FFFFFF"/>
                </a:solidFill>
                <a:latin typeface="Arial"/>
              </a:rPr>
              <a:t>D.  An overextended bar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9</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single and double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a downtrend, which close does Lim's general rule treat as bullish?</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 close above the previous bar's close or high</a:t>
            </a:r>
          </a:p>
          <a:p>
            <a:pPr algn="l">
              <a:lnSpc>
                <a:spcPct val="115000"/>
              </a:lnSpc>
              <a:spcBef>
                <a:spcPts val="700"/>
              </a:spcBef>
              <a:spcAft>
                <a:spcPts val="0"/>
              </a:spcAft>
            </a:pPr>
            <a:r>
              <a:rPr sz="1700" b="0" i="0">
                <a:solidFill>
                  <a:srgbClr val="1A1A1A"/>
                </a:solidFill>
                <a:latin typeface="Arial"/>
              </a:rPr>
              <a:t>Lim's rule: a close above a previous bar's close or high is considered bullish, especially after a large or wide-ranging bar (p. 212).</a:t>
            </a:r>
          </a:p>
        </p:txBody>
      </p:sp>
      <p:sp>
        <p:nvSpPr>
          <p:cNvPr id="10" name="Rectangle 9"/>
          <p:cNvSpPr/>
          <p:nvPr/>
        </p:nvSpPr>
        <p:spPr>
          <a:xfrm>
            <a:off x="777240" y="3330321"/>
            <a:ext cx="10637215" cy="187642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87642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Lim call a bar that engulfs a previous narrow range bar and closes near its high?</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An outside bar</a:t>
            </a:r>
          </a:p>
          <a:p>
            <a:pPr algn="l">
              <a:lnSpc>
                <a:spcPct val="115000"/>
              </a:lnSpc>
              <a:spcBef>
                <a:spcPts val="700"/>
              </a:spcBef>
              <a:spcAft>
                <a:spcPts val="0"/>
              </a:spcAft>
            </a:pPr>
            <a:r>
              <a:rPr sz="1700" b="0" i="0">
                <a:solidFill>
                  <a:srgbClr val="1A1A1A"/>
                </a:solidFill>
                <a:latin typeface="Arial"/>
              </a:rPr>
              <a:t>That is bullish form 6, which Lim's label calls an outside bar (p. 213).</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9</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Three-bar patterns add a middle bar, and sometimes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25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six basic triple bar bearish reversal patterns in an uptrend (p. 213). Each has a first bar, a middle bar and a last bar.</a:t>
            </a:r>
          </a:p>
          <a:p>
            <a:pPr algn="l">
              <a:lnSpc>
                <a:spcPct val="118000"/>
              </a:lnSpc>
              <a:spcBef>
                <a:spcPts val="0"/>
              </a:spcBef>
              <a:spcAft>
                <a:spcPts val="1300"/>
              </a:spcAft>
            </a:pPr>
            <a:r>
              <a:rPr sz="2100" b="0" i="0">
                <a:solidFill>
                  <a:srgbClr val="1A1A1A"/>
                </a:solidFill>
                <a:latin typeface="Arial"/>
              </a:rPr>
              <a:t>His first rule is about gaps: the larger the gaps, the more bearish the pattern once it is complete (p. 213).</a:t>
            </a:r>
          </a:p>
          <a:p>
            <a:pPr algn="l">
              <a:lnSpc>
                <a:spcPct val="118000"/>
              </a:lnSpc>
              <a:spcBef>
                <a:spcPts val="0"/>
              </a:spcBef>
              <a:spcAft>
                <a:spcPts val="1300"/>
              </a:spcAft>
            </a:pPr>
            <a:r>
              <a:rPr sz="2100" b="0" i="0">
                <a:solidFill>
                  <a:srgbClr val="1A1A1A"/>
                </a:solidFill>
                <a:latin typeface="Arial"/>
              </a:rPr>
              <a:t>Let us put invented prices on it. If the first bar's high is PHP 50.00 and the middle bar's low is PHP 50.40, the gap is PHP 0.40. A middle bar whose low is PHP 51.00 would leave a PHP 1.00 gap, and Lim would read that pattern as more bearish.</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Chapter 3, "Gap". The prices are invented for teaching.</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outer bars should be wide and the middle bar quiet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26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larger the range of the first and third bars, the more reliable the reversal pattern, Lim says (p. 213).</a:t>
            </a:r>
          </a:p>
          <a:p>
            <a:pPr algn="l">
              <a:lnSpc>
                <a:spcPct val="118000"/>
              </a:lnSpc>
              <a:spcBef>
                <a:spcPts val="0"/>
              </a:spcBef>
              <a:spcAft>
                <a:spcPts val="1300"/>
              </a:spcAft>
            </a:pPr>
            <a:r>
              <a:rPr sz="2100" b="0" i="0">
                <a:solidFill>
                  <a:srgbClr val="1A1A1A"/>
                </a:solidFill>
                <a:latin typeface="Arial"/>
              </a:rPr>
              <a:t>For most triple patterns the middle bar usually trades on low volume. Pattern 1 is possibly the exception: there larger middle volume is also considered more bearish, because the buyers failed to keep the close near or above the middle of the bar (p. 213).</a:t>
            </a:r>
          </a:p>
          <a:p>
            <a:pPr algn="l">
              <a:lnSpc>
                <a:spcPct val="118000"/>
              </a:lnSpc>
              <a:spcBef>
                <a:spcPts val="0"/>
              </a:spcBef>
              <a:spcAft>
                <a:spcPts val="1300"/>
              </a:spcAft>
            </a:pPr>
            <a:r>
              <a:rPr sz="2100" b="0" i="0">
                <a:solidFill>
                  <a:srgbClr val="1A1A1A"/>
                </a:solidFill>
                <a:latin typeface="Arial"/>
              </a:rPr>
              <a:t>As before, the pattern is generally more reliable if the last bar is overextended and closes at or near its low on high volume (pp. 213 to 214).</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triple pattern that meets those rules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Let us put invented prices on it. Bar 1 spans PHP 3.00 </a:t>
            </a:r>
            <a:r>
              <a:rPr sz="1700" b="1" i="0">
                <a:solidFill>
                  <a:srgbClr val="E09B00"/>
                </a:solidFill>
                <a:latin typeface="Arial"/>
              </a:rPr>
              <a:t>(1)</a:t>
            </a:r>
            <a:r>
              <a:rPr sz="1700" b="0" i="0">
                <a:solidFill>
                  <a:srgbClr val="1A1A1A"/>
                </a:solidFill>
                <a:latin typeface="Arial"/>
              </a:rPr>
              <a:t>; the middle bar spans only PHP 0.80 </a:t>
            </a:r>
            <a:r>
              <a:rPr sz="1700" b="1" i="0">
                <a:solidFill>
                  <a:srgbClr val="C62828"/>
                </a:solidFill>
                <a:latin typeface="Arial"/>
              </a:rPr>
              <a:t>(2)</a:t>
            </a:r>
            <a:r>
              <a:rPr sz="1700" b="0" i="0">
                <a:solidFill>
                  <a:srgbClr val="1A1A1A"/>
                </a:solidFill>
                <a:latin typeface="Arial"/>
              </a:rPr>
              <a:t> on 0.7 million shares </a:t>
            </a:r>
            <a:r>
              <a:rPr sz="1700" b="1" i="0">
                <a:solidFill>
                  <a:srgbClr val="1F5FAD"/>
                </a:solidFill>
                <a:latin typeface="Arial"/>
              </a:rPr>
              <a:t>(3)</a:t>
            </a:r>
            <a:r>
              <a:rPr sz="1700" b="0" i="0">
                <a:solidFill>
                  <a:srgbClr val="1A1A1A"/>
                </a:solidFill>
                <a:latin typeface="Arial"/>
              </a:rPr>
              <a:t>; and bar 3 spans PHP 3.40 </a:t>
            </a:r>
            <a:r>
              <a:rPr sz="1700" b="1" i="0">
                <a:solidFill>
                  <a:srgbClr val="7B3FA0"/>
                </a:solidFill>
                <a:latin typeface="Arial"/>
              </a:rPr>
              <a:t>(4)</a:t>
            </a:r>
            <a:r>
              <a:rPr sz="1700" b="0" i="0">
                <a:solidFill>
                  <a:srgbClr val="1A1A1A"/>
                </a:solidFill>
                <a:latin typeface="Arial"/>
              </a:rPr>
              <a:t>. Bar 3 also closes at PHP 47.20, near its PHP 47.00 low, on 4.2 million shares: the overextended, near-low, high-volume last bar Lim prefers.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tr-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761488" y="3392424"/>
            <a:ext cx="109727" cy="857250"/>
          </a:xfrm>
          <a:prstGeom prst="rect">
            <a:avLst/>
          </a:prstGeom>
          <a:noFill/>
          <a:ln w="44450">
            <a:solidFill>
              <a:srgbClr val="E09B00"/>
            </a:solidFill>
          </a:ln>
        </p:spPr>
        <p:txBody>
          <a:bodyPr rtlCol="0" anchor="ctr"/>
          <a:lstStyle/>
          <a:p>
            <a:pPr algn="ctr"/>
          </a:p>
        </p:txBody>
      </p:sp>
      <p:sp>
        <p:nvSpPr>
          <p:cNvPr id="10" name="Rectangle 9"/>
          <p:cNvSpPr/>
          <p:nvPr/>
        </p:nvSpPr>
        <p:spPr>
          <a:xfrm>
            <a:off x="6315303" y="3419170"/>
            <a:ext cx="109727" cy="268833"/>
          </a:xfrm>
          <a:prstGeom prst="rect">
            <a:avLst/>
          </a:prstGeom>
          <a:noFill/>
          <a:ln w="44450">
            <a:solidFill>
              <a:srgbClr val="C62828"/>
            </a:solidFill>
          </a:ln>
        </p:spPr>
        <p:txBody>
          <a:bodyPr rtlCol="0" anchor="ctr"/>
          <a:lstStyle/>
          <a:p>
            <a:pPr algn="ctr"/>
          </a:p>
        </p:txBody>
      </p:sp>
      <p:sp>
        <p:nvSpPr>
          <p:cNvPr id="11" name="Rectangle 10"/>
          <p:cNvSpPr/>
          <p:nvPr/>
        </p:nvSpPr>
        <p:spPr>
          <a:xfrm>
            <a:off x="9869119" y="3552901"/>
            <a:ext cx="109728" cy="964234"/>
          </a:xfrm>
          <a:prstGeom prst="rect">
            <a:avLst/>
          </a:prstGeom>
          <a:noFill/>
          <a:ln w="44450">
            <a:solidFill>
              <a:srgbClr val="7B3FA0"/>
            </a:solidFill>
          </a:ln>
        </p:spPr>
        <p:txBody>
          <a:bodyPr rtlCol="0" anchor="ctr"/>
          <a:lstStyle/>
          <a:p>
            <a:pPr algn="ctr"/>
          </a:p>
        </p:txBody>
      </p:sp>
      <p:sp>
        <p:nvSpPr>
          <p:cNvPr id="12" name="Rectangle 11"/>
          <p:cNvSpPr/>
          <p:nvPr/>
        </p:nvSpPr>
        <p:spPr>
          <a:xfrm>
            <a:off x="6214719" y="5300472"/>
            <a:ext cx="310895" cy="85344"/>
          </a:xfrm>
          <a:prstGeom prst="rect">
            <a:avLst/>
          </a:prstGeom>
          <a:noFill/>
          <a:ln w="44450">
            <a:solidFill>
              <a:srgbClr val="1F5FAD"/>
            </a:solidFill>
          </a:ln>
        </p:spPr>
        <p:txBody>
          <a:bodyPr rtlCol="0" anchor="ctr"/>
          <a:lstStyle/>
          <a:p>
            <a:pPr algn="ctr"/>
          </a:p>
        </p:txBody>
      </p:sp>
      <p:sp>
        <p:nvSpPr>
          <p:cNvPr id="13" name="Oval 12"/>
          <p:cNvSpPr/>
          <p:nvPr/>
        </p:nvSpPr>
        <p:spPr>
          <a:xfrm>
            <a:off x="2871216" y="369303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520421" y="334425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78847" y="390700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6" name="Oval 15"/>
          <p:cNvSpPr/>
          <p:nvPr/>
        </p:nvSpPr>
        <p:spPr>
          <a:xfrm>
            <a:off x="6653631" y="52151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TR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27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 Prices and volume are invented for teaching.</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1: a large middle bar that closes near its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high followed by a large middle bar closing near its low. The 3rd bar closes at or near its low" (Figure 7.6, p. 213). Here it is with invented prices. Bar 1 closes at PHP 50.50 </a:t>
            </a:r>
            <a:r>
              <a:rPr sz="1700" b="1" i="0">
                <a:solidFill>
                  <a:srgbClr val="E09B00"/>
                </a:solidFill>
                <a:latin typeface="Arial"/>
              </a:rPr>
              <a:t>(1)</a:t>
            </a:r>
            <a:r>
              <a:rPr sz="1700" b="0" i="0">
                <a:solidFill>
                  <a:srgbClr val="1A1A1A"/>
                </a:solidFill>
                <a:latin typeface="Arial"/>
              </a:rPr>
              <a:t>; the large middle bar closes at PHP 50.60, near its low </a:t>
            </a:r>
            <a:r>
              <a:rPr sz="1700" b="1" i="0">
                <a:solidFill>
                  <a:srgbClr val="C62828"/>
                </a:solidFill>
                <a:latin typeface="Arial"/>
              </a:rPr>
              <a:t>(2)</a:t>
            </a:r>
            <a:r>
              <a:rPr sz="1700" b="0" i="0">
                <a:solidFill>
                  <a:srgbClr val="1A1A1A"/>
                </a:solidFill>
                <a:latin typeface="Arial"/>
              </a:rPr>
              <a:t>, on 3.6 million shares </a:t>
            </a:r>
            <a:r>
              <a:rPr sz="1700" b="1" i="0">
                <a:solidFill>
                  <a:srgbClr val="1F5FAD"/>
                </a:solidFill>
                <a:latin typeface="Arial"/>
              </a:rPr>
              <a:t>(3)</a:t>
            </a:r>
            <a:r>
              <a:rPr sz="1700" b="0" i="0">
                <a:solidFill>
                  <a:srgbClr val="1A1A1A"/>
                </a:solidFill>
                <a:latin typeface="Arial"/>
              </a:rPr>
              <a:t>; bar 3 closes at PHP 49.00, near its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56842" y="2395728"/>
            <a:ext cx="152156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56842" y="2395728"/>
            <a:ext cx="152156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31162" y="2670048"/>
            <a:ext cx="97292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1: three bars with a large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a-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3991127"/>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7548371" y="3964381"/>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7281367" y="5148072"/>
            <a:ext cx="310895" cy="237744"/>
          </a:xfrm>
          <a:prstGeom prst="rect">
            <a:avLst/>
          </a:prstGeom>
          <a:noFill/>
          <a:ln w="44450">
            <a:solidFill>
              <a:srgbClr val="1F5FAD"/>
            </a:solidFill>
          </a:ln>
        </p:spPr>
        <p:txBody>
          <a:bodyPr rtlCol="0" anchor="ctr"/>
          <a:lstStyle/>
          <a:p>
            <a:pPr algn="ctr"/>
          </a:p>
        </p:txBody>
      </p:sp>
      <p:sp>
        <p:nvSpPr>
          <p:cNvPr id="17" name="Oval 16"/>
          <p:cNvSpPr/>
          <p:nvPr/>
        </p:nvSpPr>
        <p:spPr>
          <a:xfrm>
            <a:off x="10282427" y="4392320"/>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4763218" y="40943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513473" y="369654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609994"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12448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TA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28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Prices and volume are invented for teaching.</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2: a narrow, quiet middle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high followed by a narrow range middle bar closing within its range on low volume. The 3rd bar closes at or near its low" (Figure 7.6, p. 213). Let us put invented prices on it. Bar 1 closes at PHP 51.00 </a:t>
            </a:r>
            <a:r>
              <a:rPr sz="1700" b="1" i="0">
                <a:solidFill>
                  <a:srgbClr val="E09B00"/>
                </a:solidFill>
                <a:latin typeface="Arial"/>
              </a:rPr>
              <a:t>(1)</a:t>
            </a:r>
            <a:r>
              <a:rPr sz="1700" b="0" i="0">
                <a:solidFill>
                  <a:srgbClr val="1A1A1A"/>
                </a:solidFill>
                <a:latin typeface="Arial"/>
              </a:rPr>
              <a:t>; the middle bar spans only PHP 0.60 inside it </a:t>
            </a:r>
            <a:r>
              <a:rPr sz="1700" b="1" i="0">
                <a:solidFill>
                  <a:srgbClr val="C62828"/>
                </a:solidFill>
                <a:latin typeface="Arial"/>
              </a:rPr>
              <a:t>(2)</a:t>
            </a:r>
            <a:r>
              <a:rPr sz="1700" b="0" i="0">
                <a:solidFill>
                  <a:srgbClr val="1A1A1A"/>
                </a:solidFill>
                <a:latin typeface="Arial"/>
              </a:rPr>
              <a:t>, on 0.8 million shares </a:t>
            </a:r>
            <a:r>
              <a:rPr sz="1700" b="1" i="0">
                <a:solidFill>
                  <a:srgbClr val="1F5FAD"/>
                </a:solidFill>
                <a:latin typeface="Arial"/>
              </a:rPr>
              <a:t>(3)</a:t>
            </a:r>
            <a:r>
              <a:rPr sz="1700" b="0" i="0">
                <a:solidFill>
                  <a:srgbClr val="1A1A1A"/>
                </a:solidFill>
                <a:latin typeface="Arial"/>
              </a:rPr>
              <a:t>; bar 3 closes at PHP 48.60, near its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3130" y="2395728"/>
            <a:ext cx="150898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3130" y="2395728"/>
            <a:ext cx="150898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37450" y="2670048"/>
            <a:ext cx="96034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2: a narrow middle bar inside the first.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7381950" y="3507050"/>
            <a:ext cx="109727" cy="284117"/>
          </a:xfrm>
          <a:prstGeom prst="rect">
            <a:avLst/>
          </a:prstGeom>
          <a:noFill/>
          <a:ln w="44450">
            <a:solidFill>
              <a:srgbClr val="C62828"/>
            </a:solidFill>
          </a:ln>
        </p:spPr>
        <p:txBody>
          <a:bodyPr rtlCol="0" anchor="ctr"/>
          <a:lstStyle/>
          <a:p>
            <a:pPr algn="ctr"/>
          </a:p>
        </p:txBody>
      </p:sp>
      <p:sp>
        <p:nvSpPr>
          <p:cNvPr id="15" name="Oval 14"/>
          <p:cNvSpPr/>
          <p:nvPr/>
        </p:nvSpPr>
        <p:spPr>
          <a:xfrm>
            <a:off x="4814315" y="3452382"/>
            <a:ext cx="87782" cy="87782"/>
          </a:xfrm>
          <a:prstGeom prst="ellipse">
            <a:avLst/>
          </a:prstGeom>
          <a:noFill/>
          <a:ln w="44450">
            <a:solidFill>
              <a:srgbClr val="E09B00"/>
            </a:solidFill>
          </a:ln>
        </p:spPr>
        <p:txBody>
          <a:bodyPr rtlCol="0" anchor="ctr"/>
          <a:lstStyle/>
          <a:p>
            <a:pPr algn="ctr"/>
          </a:p>
        </p:txBody>
      </p:sp>
      <p:sp>
        <p:nvSpPr>
          <p:cNvPr id="16" name="Rectangle 15"/>
          <p:cNvSpPr/>
          <p:nvPr/>
        </p:nvSpPr>
        <p:spPr>
          <a:xfrm>
            <a:off x="7281367" y="5285231"/>
            <a:ext cx="310895" cy="100584"/>
          </a:xfrm>
          <a:prstGeom prst="rect">
            <a:avLst/>
          </a:prstGeom>
          <a:noFill/>
          <a:ln w="44450">
            <a:solidFill>
              <a:srgbClr val="1F5FAD"/>
            </a:solidFill>
          </a:ln>
        </p:spPr>
        <p:txBody>
          <a:bodyPr rtlCol="0" anchor="ctr"/>
          <a:lstStyle/>
          <a:p>
            <a:pPr algn="ctr"/>
          </a:p>
        </p:txBody>
      </p:sp>
      <p:sp>
        <p:nvSpPr>
          <p:cNvPr id="17" name="Oval 16"/>
          <p:cNvSpPr/>
          <p:nvPr/>
        </p:nvSpPr>
        <p:spPr>
          <a:xfrm>
            <a:off x="10282427" y="4369395"/>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7877474" y="32814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4763218" y="35555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075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1015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TB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29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Prices and volume are invented for teaching.</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3: a gap up, then a close back below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up and closes above the gap. The 3rd bar closes below the gap" (Figure 7.6, p. 213). Here it is with invented prices. Bar 1 tops out at PHP 50.00 and bar 2's low is PHP 50.40, leaving a PHP 0.40 gap </a:t>
            </a:r>
            <a:r>
              <a:rPr sz="1700" b="1" i="0">
                <a:solidFill>
                  <a:srgbClr val="E09B00"/>
                </a:solidFill>
                <a:latin typeface="Arial"/>
              </a:rPr>
              <a:t>(1)</a:t>
            </a:r>
            <a:r>
              <a:rPr sz="1700" b="0" i="0">
                <a:solidFill>
                  <a:srgbClr val="1A1A1A"/>
                </a:solidFill>
                <a:latin typeface="Arial"/>
              </a:rPr>
              <a:t>; bar 2 closes above it at PHP 51.20 </a:t>
            </a:r>
            <a:r>
              <a:rPr sz="1700" b="1" i="0">
                <a:solidFill>
                  <a:srgbClr val="C62828"/>
                </a:solidFill>
                <a:latin typeface="Arial"/>
              </a:rPr>
              <a:t>(2)</a:t>
            </a:r>
            <a:r>
              <a:rPr sz="1700" b="0" i="0">
                <a:solidFill>
                  <a:srgbClr val="1A1A1A"/>
                </a:solidFill>
                <a:latin typeface="Arial"/>
              </a:rPr>
              <a:t>; bar 3 closes at PHP 49.60, below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87680" y="2395728"/>
            <a:ext cx="1659885"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87680" y="2395728"/>
            <a:ext cx="165988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462000" y="2670048"/>
            <a:ext cx="1111245"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3: a gap up, then a close below it.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c-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024766"/>
            <a:ext cx="164591" cy="241964"/>
          </a:xfrm>
          <a:prstGeom prst="rect">
            <a:avLst/>
          </a:prstGeom>
          <a:noFill/>
          <a:ln w="44450">
            <a:solidFill>
              <a:srgbClr val="E09B00"/>
            </a:solidFill>
          </a:ln>
        </p:spPr>
        <p:txBody>
          <a:bodyPr rtlCol="0" anchor="ctr"/>
          <a:lstStyle/>
          <a:p>
            <a:pPr algn="ctr"/>
          </a:p>
        </p:txBody>
      </p:sp>
      <p:sp>
        <p:nvSpPr>
          <p:cNvPr id="15" name="Oval 14"/>
          <p:cNvSpPr/>
          <p:nvPr/>
        </p:nvSpPr>
        <p:spPr>
          <a:xfrm>
            <a:off x="7548371" y="3496946"/>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446480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6147720" y="40508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497274" y="360012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1969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30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The prices are invented for teaching.</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4: a single island reversal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up on low volume. The 3rd bar gaps down and closes at or near its low. Also referred to as a single island reversal bar" (Figure 7.7, p. 214). Let us put invented prices on it. Bar 2 gaps up PHP 0.40 </a:t>
            </a:r>
            <a:r>
              <a:rPr sz="1700" b="1" i="0">
                <a:solidFill>
                  <a:srgbClr val="E09B00"/>
                </a:solidFill>
                <a:latin typeface="Arial"/>
              </a:rPr>
              <a:t>(1)</a:t>
            </a:r>
            <a:r>
              <a:rPr sz="1700" b="0" i="0">
                <a:solidFill>
                  <a:srgbClr val="1A1A1A"/>
                </a:solidFill>
                <a:latin typeface="Arial"/>
              </a:rPr>
              <a:t> on 0.7 million shares </a:t>
            </a:r>
            <a:r>
              <a:rPr sz="1700" b="1" i="0">
                <a:solidFill>
                  <a:srgbClr val="C62828"/>
                </a:solidFill>
                <a:latin typeface="Arial"/>
              </a:rPr>
              <a:t>(2)</a:t>
            </a:r>
            <a:r>
              <a:rPr sz="1700" b="0" i="0">
                <a:solidFill>
                  <a:srgbClr val="1A1A1A"/>
                </a:solidFill>
                <a:latin typeface="Arial"/>
              </a:rPr>
              <a:t>; bar 3 gaps down PHP 0.40 below it </a:t>
            </a:r>
            <a:r>
              <a:rPr sz="1700" b="1" i="0">
                <a:solidFill>
                  <a:srgbClr val="1F5FAD"/>
                </a:solidFill>
                <a:latin typeface="Arial"/>
              </a:rPr>
              <a:t>(3)</a:t>
            </a:r>
            <a:r>
              <a:rPr sz="1700" b="0" i="0">
                <a:solidFill>
                  <a:srgbClr val="1A1A1A"/>
                </a:solidFill>
                <a:latin typeface="Arial"/>
              </a:rPr>
              <a:t> and closes at PHP 48.60, near its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3272" y="2395728"/>
            <a:ext cx="144870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3272" y="2395728"/>
            <a:ext cx="144870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67592" y="2670048"/>
            <a:ext cx="90006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4: a single island reversal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3666744"/>
            <a:ext cx="164591" cy="164591"/>
          </a:xfrm>
          <a:prstGeom prst="rect">
            <a:avLst/>
          </a:prstGeom>
          <a:noFill/>
          <a:ln w="44450">
            <a:solidFill>
              <a:srgbClr val="E09B00"/>
            </a:solidFill>
          </a:ln>
        </p:spPr>
        <p:txBody>
          <a:bodyPr rtlCol="0" anchor="ctr"/>
          <a:lstStyle/>
          <a:p>
            <a:pPr algn="ctr"/>
          </a:p>
        </p:txBody>
      </p:sp>
      <p:sp>
        <p:nvSpPr>
          <p:cNvPr id="15" name="Rectangle 14"/>
          <p:cNvSpPr/>
          <p:nvPr/>
        </p:nvSpPr>
        <p:spPr>
          <a:xfrm>
            <a:off x="7281367" y="5281715"/>
            <a:ext cx="310895" cy="104100"/>
          </a:xfrm>
          <a:prstGeom prst="rect">
            <a:avLst/>
          </a:prstGeom>
          <a:noFill/>
          <a:ln w="44450">
            <a:solidFill>
              <a:srgbClr val="C62828"/>
            </a:solidFill>
          </a:ln>
        </p:spPr>
        <p:txBody>
          <a:bodyPr rtlCol="0" anchor="ctr"/>
          <a:lstStyle/>
          <a:p>
            <a:pPr algn="ctr"/>
          </a:p>
        </p:txBody>
      </p:sp>
      <p:sp>
        <p:nvSpPr>
          <p:cNvPr id="16" name="Rectangle 15"/>
          <p:cNvSpPr/>
          <p:nvPr/>
        </p:nvSpPr>
        <p:spPr>
          <a:xfrm>
            <a:off x="8721546" y="3666744"/>
            <a:ext cx="164591" cy="164591"/>
          </a:xfrm>
          <a:prstGeom prst="rect">
            <a:avLst/>
          </a:prstGeom>
          <a:noFill/>
          <a:ln w="44450">
            <a:solidFill>
              <a:srgbClr val="1F5FAD"/>
            </a:solidFill>
          </a:ln>
        </p:spPr>
        <p:txBody>
          <a:bodyPr rtlCol="0" anchor="ctr"/>
          <a:lstStyle/>
          <a:p>
            <a:pPr algn="ctr"/>
          </a:p>
        </p:txBody>
      </p:sp>
      <p:sp>
        <p:nvSpPr>
          <p:cNvPr id="17" name="Oval 16"/>
          <p:cNvSpPr/>
          <p:nvPr/>
        </p:nvSpPr>
        <p:spPr>
          <a:xfrm>
            <a:off x="10282427" y="4363516"/>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6150151" y="372682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720279" y="520574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884207" y="351522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09567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TD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31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5: the third bar engulfs the second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up on low volume. The 3rd bar engulfs the 2nd bar and closes below the gap" (Figure 7.7, p. 214). Here it is with invented prices. Bar 2 gaps up above PHP 50.00 </a:t>
            </a:r>
            <a:r>
              <a:rPr sz="1700" b="1" i="0">
                <a:solidFill>
                  <a:srgbClr val="E09B00"/>
                </a:solidFill>
                <a:latin typeface="Arial"/>
              </a:rPr>
              <a:t>(1)</a:t>
            </a:r>
            <a:r>
              <a:rPr sz="1700" b="0" i="0">
                <a:solidFill>
                  <a:srgbClr val="1A1A1A"/>
                </a:solidFill>
                <a:latin typeface="Arial"/>
              </a:rPr>
              <a:t> on 0.6 million shares </a:t>
            </a:r>
            <a:r>
              <a:rPr sz="1700" b="1" i="0">
                <a:solidFill>
                  <a:srgbClr val="C62828"/>
                </a:solidFill>
                <a:latin typeface="Arial"/>
              </a:rPr>
              <a:t>(2)</a:t>
            </a:r>
            <a:r>
              <a:rPr sz="1700" b="0" i="0">
                <a:solidFill>
                  <a:srgbClr val="1A1A1A"/>
                </a:solidFill>
                <a:latin typeface="Arial"/>
              </a:rPr>
              <a:t>; bar 3 runs from PHP 49.20 to PHP 51.20, beyond both ends of bar 2 </a:t>
            </a:r>
            <a:r>
              <a:rPr sz="1700" b="1" i="0">
                <a:solidFill>
                  <a:srgbClr val="1F5FAD"/>
                </a:solidFill>
                <a:latin typeface="Arial"/>
              </a:rPr>
              <a:t>(3)</a:t>
            </a:r>
            <a:r>
              <a:rPr sz="1700" b="0" i="0">
                <a:solidFill>
                  <a:srgbClr val="1A1A1A"/>
                </a:solidFill>
                <a:latin typeface="Arial"/>
              </a:rPr>
              <a:t>, and closes at PHP 49.40, below the gap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59122" y="2395728"/>
            <a:ext cx="131700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59122" y="2395728"/>
            <a:ext cx="131700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633442" y="2670048"/>
            <a:ext cx="76836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5: a third bar engulfing the second.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e-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027453"/>
          </a:xfrm>
          <a:prstGeom prst="rect">
            <a:avLst/>
          </a:prstGeom>
          <a:noFill/>
          <a:ln w="44450">
            <a:solidFill>
              <a:srgbClr val="1F5FAD"/>
            </a:solidFill>
          </a:ln>
        </p:spPr>
        <p:txBody>
          <a:bodyPr rtlCol="0" anchor="ctr"/>
          <a:lstStyle/>
          <a:p>
            <a:pPr algn="ctr"/>
          </a:p>
        </p:txBody>
      </p:sp>
      <p:sp>
        <p:nvSpPr>
          <p:cNvPr id="15" name="Rectangle 14"/>
          <p:cNvSpPr/>
          <p:nvPr/>
        </p:nvSpPr>
        <p:spPr>
          <a:xfrm>
            <a:off x="5987491" y="3808891"/>
            <a:ext cx="164591" cy="194517"/>
          </a:xfrm>
          <a:prstGeom prst="rect">
            <a:avLst/>
          </a:prstGeom>
          <a:noFill/>
          <a:ln w="44450">
            <a:solidFill>
              <a:srgbClr val="E09B00"/>
            </a:solidFill>
          </a:ln>
        </p:spPr>
        <p:txBody>
          <a:bodyPr rtlCol="0" anchor="ctr"/>
          <a:lstStyle/>
          <a:p>
            <a:pPr algn="ctr"/>
          </a:p>
        </p:txBody>
      </p:sp>
      <p:sp>
        <p:nvSpPr>
          <p:cNvPr id="16" name="Rectangle 15"/>
          <p:cNvSpPr/>
          <p:nvPr/>
        </p:nvSpPr>
        <p:spPr>
          <a:xfrm>
            <a:off x="7281367" y="5294376"/>
            <a:ext cx="310895" cy="91439"/>
          </a:xfrm>
          <a:prstGeom prst="rect">
            <a:avLst/>
          </a:prstGeom>
          <a:noFill/>
          <a:ln w="44450">
            <a:solidFill>
              <a:srgbClr val="C62828"/>
            </a:solidFill>
          </a:ln>
        </p:spPr>
        <p:txBody>
          <a:bodyPr rtlCol="0" anchor="ctr"/>
          <a:lstStyle/>
          <a:p>
            <a:pPr algn="ctr"/>
          </a:p>
        </p:txBody>
      </p:sp>
      <p:sp>
        <p:nvSpPr>
          <p:cNvPr id="17" name="Oval 16"/>
          <p:cNvSpPr/>
          <p:nvPr/>
        </p:nvSpPr>
        <p:spPr>
          <a:xfrm>
            <a:off x="10282427" y="4251294"/>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10225734" y="377813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6141619" y="39182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120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475038" y="389043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TE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32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6: a close below the middle bar's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the 2nd bar "closes at or near its high on low volume followed by a 3rd bar closing below the low of the 2nd bar (and preferably below the close of the 1st bar as well)" (Figure 7.7, p. 214). Say bar 2 closes at PHP 51.30 </a:t>
            </a:r>
            <a:r>
              <a:rPr sz="1700" b="1" i="0">
                <a:solidFill>
                  <a:srgbClr val="E09B00"/>
                </a:solidFill>
                <a:latin typeface="Arial"/>
              </a:rPr>
              <a:t>(1)</a:t>
            </a:r>
            <a:r>
              <a:rPr sz="1700" b="0" i="0">
                <a:solidFill>
                  <a:srgbClr val="1A1A1A"/>
                </a:solidFill>
                <a:latin typeface="Arial"/>
              </a:rPr>
              <a:t> on 0.8 million shares </a:t>
            </a:r>
            <a:r>
              <a:rPr sz="1700" b="1" i="0">
                <a:solidFill>
                  <a:srgbClr val="C62828"/>
                </a:solidFill>
                <a:latin typeface="Arial"/>
              </a:rPr>
              <a:t>(2)</a:t>
            </a:r>
            <a:r>
              <a:rPr sz="1700" b="0" i="0">
                <a:solidFill>
                  <a:srgbClr val="1A1A1A"/>
                </a:solidFill>
                <a:latin typeface="Arial"/>
              </a:rPr>
              <a:t>; bar 3 closes at PHP 49.80 </a:t>
            </a:r>
            <a:r>
              <a:rPr sz="1700" b="1" i="0">
                <a:solidFill>
                  <a:srgbClr val="1F5FAD"/>
                </a:solidFill>
                <a:latin typeface="Arial"/>
              </a:rPr>
              <a:t>(3)</a:t>
            </a:r>
            <a:r>
              <a:rPr sz="1700" b="0" i="0">
                <a:solidFill>
                  <a:srgbClr val="1A1A1A"/>
                </a:solidFill>
                <a:latin typeface="Arial"/>
              </a:rPr>
              <a:t>, below bar 2's PHP 50.10 low and bar 1's PHP 50.20 close.</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05549" y="2395728"/>
            <a:ext cx="142414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05549" y="2395728"/>
            <a:ext cx="142414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9869" y="2670048"/>
            <a:ext cx="87550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6: a close below the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f-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7548371" y="3417112"/>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281367" y="5278700"/>
            <a:ext cx="310895" cy="107115"/>
          </a:xfrm>
          <a:prstGeom prst="rect">
            <a:avLst/>
          </a:prstGeom>
          <a:noFill/>
          <a:ln w="44450">
            <a:solidFill>
              <a:srgbClr val="C62828"/>
            </a:solidFill>
          </a:ln>
        </p:spPr>
        <p:txBody>
          <a:bodyPr rtlCol="0" anchor="ctr"/>
          <a:lstStyle/>
          <a:p>
            <a:pPr algn="ctr"/>
          </a:p>
        </p:txBody>
      </p:sp>
      <p:sp>
        <p:nvSpPr>
          <p:cNvPr id="16" name="Oval 15"/>
          <p:cNvSpPr/>
          <p:nvPr/>
        </p:nvSpPr>
        <p:spPr>
          <a:xfrm>
            <a:off x="10282427" y="403433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7497274" y="35202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701991" y="520424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376649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33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Bearish triple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say larger gaps do to a triple bearish pattern?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Make it a continuation pattern</a:t>
            </a:r>
          </a:p>
          <a:p>
            <a:pPr algn="l">
              <a:lnSpc>
                <a:spcPct val="112000"/>
              </a:lnSpc>
              <a:spcBef>
                <a:spcPts val="0"/>
              </a:spcBef>
              <a:spcAft>
                <a:spcPts val="900"/>
              </a:spcAft>
            </a:pPr>
            <a:r>
              <a:rPr sz="1700" b="0" i="0">
                <a:solidFill>
                  <a:srgbClr val="FFFFFF"/>
                </a:solidFill>
                <a:latin typeface="Arial"/>
              </a:rPr>
              <a:t>B.  Make no difference</a:t>
            </a:r>
          </a:p>
          <a:p>
            <a:pPr algn="l">
              <a:lnSpc>
                <a:spcPct val="112000"/>
              </a:lnSpc>
              <a:spcBef>
                <a:spcPts val="0"/>
              </a:spcBef>
              <a:spcAft>
                <a:spcPts val="900"/>
              </a:spcAft>
            </a:pPr>
            <a:r>
              <a:rPr sz="1700" b="0" i="0">
                <a:solidFill>
                  <a:srgbClr val="FFFFFF"/>
                </a:solidFill>
                <a:latin typeface="Arial"/>
              </a:rPr>
              <a:t>C.  Make it more bearish once complete</a:t>
            </a:r>
          </a:p>
          <a:p>
            <a:pPr algn="l">
              <a:lnSpc>
                <a:spcPct val="112000"/>
              </a:lnSpc>
              <a:spcBef>
                <a:spcPts val="0"/>
              </a:spcBef>
              <a:spcAft>
                <a:spcPts val="900"/>
              </a:spcAft>
            </a:pPr>
            <a:r>
              <a:rPr sz="1700" b="0" i="0">
                <a:solidFill>
                  <a:srgbClr val="FFFFFF"/>
                </a:solidFill>
                <a:latin typeface="Arial"/>
              </a:rPr>
              <a:t>D.  Make the middle bar quieter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which triple pattern can larger middle-bar volume count as more bearish?</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Pattern 1</a:t>
            </a:r>
          </a:p>
          <a:p>
            <a:pPr algn="l">
              <a:lnSpc>
                <a:spcPct val="112000"/>
              </a:lnSpc>
              <a:spcBef>
                <a:spcPts val="0"/>
              </a:spcBef>
              <a:spcAft>
                <a:spcPts val="900"/>
              </a:spcAft>
            </a:pPr>
            <a:r>
              <a:rPr sz="1700" b="0" i="0">
                <a:solidFill>
                  <a:srgbClr val="FFFFFF"/>
                </a:solidFill>
                <a:latin typeface="Arial"/>
              </a:rPr>
              <a:t>B.  Pattern 2</a:t>
            </a:r>
          </a:p>
          <a:p>
            <a:pPr algn="l">
              <a:lnSpc>
                <a:spcPct val="112000"/>
              </a:lnSpc>
              <a:spcBef>
                <a:spcPts val="0"/>
              </a:spcBef>
              <a:spcAft>
                <a:spcPts val="900"/>
              </a:spcAft>
            </a:pPr>
            <a:r>
              <a:rPr sz="1700" b="0" i="0">
                <a:solidFill>
                  <a:srgbClr val="FFFFFF"/>
                </a:solidFill>
                <a:latin typeface="Arial"/>
              </a:rPr>
              <a:t>C.  Pattern 4</a:t>
            </a:r>
          </a:p>
          <a:p>
            <a:pPr algn="l">
              <a:lnSpc>
                <a:spcPct val="112000"/>
              </a:lnSpc>
              <a:spcBef>
                <a:spcPts val="0"/>
              </a:spcBef>
              <a:spcAft>
                <a:spcPts val="900"/>
              </a:spcAft>
            </a:pPr>
            <a:r>
              <a:rPr sz="1700" b="0" i="0">
                <a:solidFill>
                  <a:srgbClr val="FFFFFF"/>
                </a:solidFill>
                <a:latin typeface="Arial"/>
              </a:rPr>
              <a:t>D.  None of them</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10</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Bearish triple bar patterns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Lim say larger gaps do to a triple bearish pattern?</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Make it more bearish once complete</a:t>
            </a:r>
          </a:p>
          <a:p>
            <a:pPr algn="l">
              <a:lnSpc>
                <a:spcPct val="115000"/>
              </a:lnSpc>
              <a:spcBef>
                <a:spcPts val="700"/>
              </a:spcBef>
              <a:spcAft>
                <a:spcPts val="0"/>
              </a:spcAft>
            </a:pPr>
            <a:r>
              <a:rPr sz="1700" b="0" i="0">
                <a:solidFill>
                  <a:srgbClr val="1A1A1A"/>
                </a:solidFill>
                <a:latin typeface="Arial"/>
              </a:rPr>
              <a:t>The larger the gaps, the more bearish the pattern upon completion (p. 213).</a:t>
            </a:r>
          </a:p>
        </p:txBody>
      </p:sp>
      <p:sp>
        <p:nvSpPr>
          <p:cNvPr id="10" name="Rectangle 9"/>
          <p:cNvSpPr/>
          <p:nvPr/>
        </p:nvSpPr>
        <p:spPr>
          <a:xfrm>
            <a:off x="777240" y="308203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which triple pattern can larger middle-bar volume count as more bearish?</a:t>
            </a:r>
          </a:p>
        </p:txBody>
      </p:sp>
      <p:sp>
        <p:nvSpPr>
          <p:cNvPr id="13" name="TextBox 12"/>
          <p:cNvSpPr txBox="1"/>
          <p:nvPr/>
        </p:nvSpPr>
        <p:spPr>
          <a:xfrm>
            <a:off x="1143000" y="3824096"/>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Pattern 1</a:t>
            </a:r>
          </a:p>
          <a:p>
            <a:pPr algn="l">
              <a:lnSpc>
                <a:spcPct val="115000"/>
              </a:lnSpc>
              <a:spcBef>
                <a:spcPts val="700"/>
              </a:spcBef>
              <a:spcAft>
                <a:spcPts val="0"/>
              </a:spcAft>
            </a:pPr>
            <a:r>
              <a:rPr sz="1700" b="0" i="0">
                <a:solidFill>
                  <a:srgbClr val="1A1A1A"/>
                </a:solidFill>
                <a:latin typeface="Arial"/>
              </a:rPr>
              <a:t>The middle bar usually trades on low volume, except possibly in pattern 1, where larger volume is also considered more bearish (p. 213).</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10</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six bullish triple forms mirror them in a downtrend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34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six basic triple bar bullish reversal patterns in a downtrend (p. 214).</a:t>
            </a:r>
          </a:p>
          <a:p>
            <a:pPr algn="l">
              <a:lnSpc>
                <a:spcPct val="118000"/>
              </a:lnSpc>
              <a:spcBef>
                <a:spcPts val="0"/>
              </a:spcBef>
              <a:spcAft>
                <a:spcPts val="1300"/>
              </a:spcAft>
            </a:pPr>
            <a:r>
              <a:rPr sz="2100" b="0" i="0">
                <a:solidFill>
                  <a:srgbClr val="1A1A1A"/>
                </a:solidFill>
                <a:latin typeface="Arial"/>
              </a:rPr>
              <a:t>Lim's reliability rule turns around: a bullish three-bar pattern is potentially more reliable if the last bar is overextended and closes at or near its high on high volume (p. 214).</a:t>
            </a:r>
          </a:p>
          <a:p>
            <a:pPr algn="l">
              <a:lnSpc>
                <a:spcPct val="118000"/>
              </a:lnSpc>
              <a:spcBef>
                <a:spcPts val="0"/>
              </a:spcBef>
              <a:spcAft>
                <a:spcPts val="1300"/>
              </a:spcAft>
            </a:pPr>
            <a:r>
              <a:rPr sz="2100" b="0" i="0">
                <a:solidFill>
                  <a:srgbClr val="1A1A1A"/>
                </a:solidFill>
                <a:latin typeface="Arial"/>
              </a:rPr>
              <a:t>Our six charts are the bearish ones turned upside down about PHP 45, so a close at PHP 50.50 becomes PHP 39.50.</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The prices are invented for teaching.</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1: a large middle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low followed by a large middle bar closing near its high. The 3rd bar closes at or near its high" (Figure 7.8, p. 214). Here it is with invented prices. Bar 1 closes at PHP 39.50, near its low </a:t>
            </a:r>
            <a:r>
              <a:rPr sz="1700" b="1" i="0">
                <a:solidFill>
                  <a:srgbClr val="E09B00"/>
                </a:solidFill>
                <a:latin typeface="Arial"/>
              </a:rPr>
              <a:t>(1)</a:t>
            </a:r>
            <a:r>
              <a:rPr sz="1700" b="0" i="0">
                <a:solidFill>
                  <a:srgbClr val="1A1A1A"/>
                </a:solidFill>
                <a:latin typeface="Arial"/>
              </a:rPr>
              <a:t>; the large middle bar closes at PHP 39.40, near its high </a:t>
            </a:r>
            <a:r>
              <a:rPr sz="1700" b="1" i="0">
                <a:solidFill>
                  <a:srgbClr val="C62828"/>
                </a:solidFill>
                <a:latin typeface="Arial"/>
              </a:rPr>
              <a:t>(2)</a:t>
            </a:r>
            <a:r>
              <a:rPr sz="1700" b="0" i="0">
                <a:solidFill>
                  <a:srgbClr val="1A1A1A"/>
                </a:solidFill>
                <a:latin typeface="Arial"/>
              </a:rPr>
              <a:t>; bar 3 closes at PHP 41.00, near its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7653" y="2395728"/>
            <a:ext cx="1439939"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7653" y="2395728"/>
            <a:ext cx="143993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1973" y="2670048"/>
            <a:ext cx="89129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1: three bars with a large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4044391"/>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7548371" y="4083710"/>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345460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79417" y="377655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497274" y="418689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55778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TG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35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The prices are invented for teaching.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2: a narrow, quiet middle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low followed by a narrow range middle bar closing within its range on low volume. The 3rd bar closes at or near its high" (Figure 7.8, p. 214). Let us put invented prices on it. Bar 1 closes at PHP 39.00 </a:t>
            </a:r>
            <a:r>
              <a:rPr sz="1700" b="1" i="0">
                <a:solidFill>
                  <a:srgbClr val="E09B00"/>
                </a:solidFill>
                <a:latin typeface="Arial"/>
              </a:rPr>
              <a:t>(1)</a:t>
            </a:r>
            <a:r>
              <a:rPr sz="1700" b="0" i="0">
                <a:solidFill>
                  <a:srgbClr val="1A1A1A"/>
                </a:solidFill>
                <a:latin typeface="Arial"/>
              </a:rPr>
              <a:t>; the middle bar spans only PHP 0.60 inside it </a:t>
            </a:r>
            <a:r>
              <a:rPr sz="1700" b="1" i="0">
                <a:solidFill>
                  <a:srgbClr val="C62828"/>
                </a:solidFill>
                <a:latin typeface="Arial"/>
              </a:rPr>
              <a:t>(2)</a:t>
            </a:r>
            <a:r>
              <a:rPr sz="1700" b="0" i="0">
                <a:solidFill>
                  <a:srgbClr val="1A1A1A"/>
                </a:solidFill>
                <a:latin typeface="Arial"/>
              </a:rPr>
              <a:t>, on 0.8 million shares </a:t>
            </a:r>
            <a:r>
              <a:rPr sz="1700" b="1" i="0">
                <a:solidFill>
                  <a:srgbClr val="1F5FAD"/>
                </a:solidFill>
                <a:latin typeface="Arial"/>
              </a:rPr>
              <a:t>(3)</a:t>
            </a:r>
            <a:r>
              <a:rPr sz="1700" b="0" i="0">
                <a:solidFill>
                  <a:srgbClr val="1A1A1A"/>
                </a:solidFill>
                <a:latin typeface="Arial"/>
              </a:rPr>
              <a:t>; bar 3 closes at PHP 41.40, near its high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9603" y="2395728"/>
            <a:ext cx="1496040"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9603" y="2395728"/>
            <a:ext cx="1496040"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43923" y="2670048"/>
            <a:ext cx="94740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2: a narrow middle bar inside the first.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h-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7381950" y="4118392"/>
            <a:ext cx="109727" cy="284117"/>
          </a:xfrm>
          <a:prstGeom prst="rect">
            <a:avLst/>
          </a:prstGeom>
          <a:noFill/>
          <a:ln w="44450">
            <a:solidFill>
              <a:srgbClr val="C62828"/>
            </a:solidFill>
          </a:ln>
        </p:spPr>
        <p:txBody>
          <a:bodyPr rtlCol="0" anchor="ctr"/>
          <a:lstStyle/>
          <a:p>
            <a:pPr algn="ctr"/>
          </a:p>
        </p:txBody>
      </p:sp>
      <p:sp>
        <p:nvSpPr>
          <p:cNvPr id="15" name="Oval 14"/>
          <p:cNvSpPr/>
          <p:nvPr/>
        </p:nvSpPr>
        <p:spPr>
          <a:xfrm>
            <a:off x="4814315" y="4369395"/>
            <a:ext cx="87782" cy="87782"/>
          </a:xfrm>
          <a:prstGeom prst="ellipse">
            <a:avLst/>
          </a:prstGeom>
          <a:noFill/>
          <a:ln w="44450">
            <a:solidFill>
              <a:srgbClr val="E09B00"/>
            </a:solidFill>
          </a:ln>
        </p:spPr>
        <p:txBody>
          <a:bodyPr rtlCol="0" anchor="ctr"/>
          <a:lstStyle/>
          <a:p>
            <a:pPr algn="ctr"/>
          </a:p>
        </p:txBody>
      </p:sp>
      <p:sp>
        <p:nvSpPr>
          <p:cNvPr id="16" name="Rectangle 15"/>
          <p:cNvSpPr/>
          <p:nvPr/>
        </p:nvSpPr>
        <p:spPr>
          <a:xfrm>
            <a:off x="7281367" y="5285231"/>
            <a:ext cx="310895" cy="100584"/>
          </a:xfrm>
          <a:prstGeom prst="rect">
            <a:avLst/>
          </a:prstGeom>
          <a:noFill/>
          <a:ln w="44450">
            <a:solidFill>
              <a:srgbClr val="1F5FAD"/>
            </a:solidFill>
          </a:ln>
        </p:spPr>
        <p:txBody>
          <a:bodyPr rtlCol="0" anchor="ctr"/>
          <a:lstStyle/>
          <a:p>
            <a:pPr algn="ctr"/>
          </a:p>
        </p:txBody>
      </p:sp>
      <p:sp>
        <p:nvSpPr>
          <p:cNvPr id="17" name="Oval 16"/>
          <p:cNvSpPr/>
          <p:nvPr/>
        </p:nvSpPr>
        <p:spPr>
          <a:xfrm>
            <a:off x="10282427" y="3452382"/>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7838799" y="440675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4779417" y="410155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075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31330" y="355556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TH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36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Prices and volume are invented for teaching.</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3: a gap down, then a close back above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down and closes below the gap. The 3rd bar closes above the gap" (Figure 7.8, p. 214). Here it is with invented prices. Bar 1's low is PHP 40.00 and bar 2's high only PHP 39.60, leaving a PHP 0.40 gap </a:t>
            </a:r>
            <a:r>
              <a:rPr sz="1700" b="1" i="0">
                <a:solidFill>
                  <a:srgbClr val="E09B00"/>
                </a:solidFill>
                <a:latin typeface="Arial"/>
              </a:rPr>
              <a:t>(1)</a:t>
            </a:r>
            <a:r>
              <a:rPr sz="1700" b="0" i="0">
                <a:solidFill>
                  <a:srgbClr val="1A1A1A"/>
                </a:solidFill>
                <a:latin typeface="Arial"/>
              </a:rPr>
              <a:t>; bar 2 closes below it at PHP 38.80 </a:t>
            </a:r>
            <a:r>
              <a:rPr sz="1700" b="1" i="0">
                <a:solidFill>
                  <a:srgbClr val="C62828"/>
                </a:solidFill>
                <a:latin typeface="Arial"/>
              </a:rPr>
              <a:t>(2)</a:t>
            </a:r>
            <a:r>
              <a:rPr sz="1700" b="0" i="0">
                <a:solidFill>
                  <a:srgbClr val="1A1A1A"/>
                </a:solidFill>
                <a:latin typeface="Arial"/>
              </a:rPr>
              <a:t>; bar 3 closes at PHP 40.40, above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23174" y="2395728"/>
            <a:ext cx="158889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23174" y="2395728"/>
            <a:ext cx="158889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497494" y="2670048"/>
            <a:ext cx="104025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3: a gap down, then a close above it.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i-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145748"/>
            <a:ext cx="164591" cy="241964"/>
          </a:xfrm>
          <a:prstGeom prst="rect">
            <a:avLst/>
          </a:prstGeom>
          <a:noFill/>
          <a:ln w="44450">
            <a:solidFill>
              <a:srgbClr val="E09B00"/>
            </a:solidFill>
          </a:ln>
        </p:spPr>
        <p:txBody>
          <a:bodyPr rtlCol="0" anchor="ctr"/>
          <a:lstStyle/>
          <a:p>
            <a:pPr algn="ctr"/>
          </a:p>
        </p:txBody>
      </p:sp>
      <p:sp>
        <p:nvSpPr>
          <p:cNvPr id="15" name="Oval 14"/>
          <p:cNvSpPr/>
          <p:nvPr/>
        </p:nvSpPr>
        <p:spPr>
          <a:xfrm>
            <a:off x="7548371" y="4827750"/>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385989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6147720" y="410558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513473" y="45599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96307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TI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37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The prices are invented for teaching.</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4: a single island reversal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down on low volume. The 3rd bar gaps up and closes at or near its high. Also referred to as a single island reversal bar" (Figure 7.9, p. 215). Let us put invented prices on it. Bar 2 gaps down PHP 0.40 </a:t>
            </a:r>
            <a:r>
              <a:rPr sz="1700" b="1" i="0">
                <a:solidFill>
                  <a:srgbClr val="E09B00"/>
                </a:solidFill>
                <a:latin typeface="Arial"/>
              </a:rPr>
              <a:t>(1)</a:t>
            </a:r>
            <a:r>
              <a:rPr sz="1700" b="0" i="0">
                <a:solidFill>
                  <a:srgbClr val="1A1A1A"/>
                </a:solidFill>
                <a:latin typeface="Arial"/>
              </a:rPr>
              <a:t> on 0.7 million shares </a:t>
            </a:r>
            <a:r>
              <a:rPr sz="1700" b="1" i="0">
                <a:solidFill>
                  <a:srgbClr val="C62828"/>
                </a:solidFill>
                <a:latin typeface="Arial"/>
              </a:rPr>
              <a:t>(2)</a:t>
            </a:r>
            <a:r>
              <a:rPr sz="1700" b="0" i="0">
                <a:solidFill>
                  <a:srgbClr val="1A1A1A"/>
                </a:solidFill>
                <a:latin typeface="Arial"/>
              </a:rPr>
              <a:t>; bar 3 gaps up PHP 0.40 above it </a:t>
            </a:r>
            <a:r>
              <a:rPr sz="1700" b="1" i="0">
                <a:solidFill>
                  <a:srgbClr val="1F5FAD"/>
                </a:solidFill>
                <a:latin typeface="Arial"/>
              </a:rPr>
              <a:t>(3)</a:t>
            </a:r>
            <a:r>
              <a:rPr sz="1700" b="0" i="0">
                <a:solidFill>
                  <a:srgbClr val="1A1A1A"/>
                </a:solidFill>
                <a:latin typeface="Arial"/>
              </a:rPr>
              <a:t> and closes at PHP 41.40, near its high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9655" y="2395728"/>
            <a:ext cx="149593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9655" y="2395728"/>
            <a:ext cx="149593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43975" y="2670048"/>
            <a:ext cx="94729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4: a single island reversal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j-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078224"/>
            <a:ext cx="164591" cy="164591"/>
          </a:xfrm>
          <a:prstGeom prst="rect">
            <a:avLst/>
          </a:prstGeom>
          <a:noFill/>
          <a:ln w="44450">
            <a:solidFill>
              <a:srgbClr val="E09B00"/>
            </a:solidFill>
          </a:ln>
        </p:spPr>
        <p:txBody>
          <a:bodyPr rtlCol="0" anchor="ctr"/>
          <a:lstStyle/>
          <a:p>
            <a:pPr algn="ctr"/>
          </a:p>
        </p:txBody>
      </p:sp>
      <p:sp>
        <p:nvSpPr>
          <p:cNvPr id="15" name="Rectangle 14"/>
          <p:cNvSpPr/>
          <p:nvPr/>
        </p:nvSpPr>
        <p:spPr>
          <a:xfrm>
            <a:off x="7281367" y="5281715"/>
            <a:ext cx="310895" cy="104100"/>
          </a:xfrm>
          <a:prstGeom prst="rect">
            <a:avLst/>
          </a:prstGeom>
          <a:noFill/>
          <a:ln w="44450">
            <a:solidFill>
              <a:srgbClr val="C62828"/>
            </a:solidFill>
          </a:ln>
        </p:spPr>
        <p:txBody>
          <a:bodyPr rtlCol="0" anchor="ctr"/>
          <a:lstStyle/>
          <a:p>
            <a:pPr algn="ctr"/>
          </a:p>
        </p:txBody>
      </p:sp>
      <p:sp>
        <p:nvSpPr>
          <p:cNvPr id="16" name="Rectangle 15"/>
          <p:cNvSpPr/>
          <p:nvPr/>
        </p:nvSpPr>
        <p:spPr>
          <a:xfrm>
            <a:off x="8721546" y="4078224"/>
            <a:ext cx="164591" cy="164591"/>
          </a:xfrm>
          <a:prstGeom prst="rect">
            <a:avLst/>
          </a:prstGeom>
          <a:noFill/>
          <a:ln w="44450">
            <a:solidFill>
              <a:srgbClr val="1F5FAD"/>
            </a:solidFill>
          </a:ln>
        </p:spPr>
        <p:txBody>
          <a:bodyPr rtlCol="0" anchor="ctr"/>
          <a:lstStyle/>
          <a:p>
            <a:pPr algn="ctr"/>
          </a:p>
        </p:txBody>
      </p:sp>
      <p:sp>
        <p:nvSpPr>
          <p:cNvPr id="17" name="Oval 16"/>
          <p:cNvSpPr/>
          <p:nvPr/>
        </p:nvSpPr>
        <p:spPr>
          <a:xfrm>
            <a:off x="10282427" y="3458260"/>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6150151" y="392670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720279" y="520574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884207" y="413830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31330" y="356144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TJ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38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5: the third bar engulfs the second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down on low volume. The 3rd bar engulfs the 2nd bar and closes above the gap" (Figure 7.9, p. 215). Here it is with invented prices. Bar 2 gaps down below PHP 40.00 </a:t>
            </a:r>
            <a:r>
              <a:rPr sz="1700" b="1" i="0">
                <a:solidFill>
                  <a:srgbClr val="E09B00"/>
                </a:solidFill>
                <a:latin typeface="Arial"/>
              </a:rPr>
              <a:t>(1)</a:t>
            </a:r>
            <a:r>
              <a:rPr sz="1700" b="0" i="0">
                <a:solidFill>
                  <a:srgbClr val="1A1A1A"/>
                </a:solidFill>
                <a:latin typeface="Arial"/>
              </a:rPr>
              <a:t> on 0.6 million shares </a:t>
            </a:r>
            <a:r>
              <a:rPr sz="1700" b="1" i="0">
                <a:solidFill>
                  <a:srgbClr val="C62828"/>
                </a:solidFill>
                <a:latin typeface="Arial"/>
              </a:rPr>
              <a:t>(2)</a:t>
            </a:r>
            <a:r>
              <a:rPr sz="1700" b="0" i="0">
                <a:solidFill>
                  <a:srgbClr val="1A1A1A"/>
                </a:solidFill>
                <a:latin typeface="Arial"/>
              </a:rPr>
              <a:t>; bar 3 runs from PHP 38.80 to PHP 40.80, beyond both ends of bar 2 </a:t>
            </a:r>
            <a:r>
              <a:rPr sz="1700" b="1" i="0">
                <a:solidFill>
                  <a:srgbClr val="1F5FAD"/>
                </a:solidFill>
                <a:latin typeface="Arial"/>
              </a:rPr>
              <a:t>(3)</a:t>
            </a:r>
            <a:r>
              <a:rPr sz="1700" b="0" i="0">
                <a:solidFill>
                  <a:srgbClr val="1A1A1A"/>
                </a:solidFill>
                <a:latin typeface="Arial"/>
              </a:rPr>
              <a:t>, and closes at PHP 40.60, above the gap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16403" y="2395728"/>
            <a:ext cx="1402440"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16403" y="2395728"/>
            <a:ext cx="1402440"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90723" y="2670048"/>
            <a:ext cx="85380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5: a third bar engulfing the second.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k-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489682"/>
            <a:ext cx="109728" cy="1027453"/>
          </a:xfrm>
          <a:prstGeom prst="rect">
            <a:avLst/>
          </a:prstGeom>
          <a:noFill/>
          <a:ln w="44450">
            <a:solidFill>
              <a:srgbClr val="1F5FAD"/>
            </a:solidFill>
          </a:ln>
        </p:spPr>
        <p:txBody>
          <a:bodyPr rtlCol="0" anchor="ctr"/>
          <a:lstStyle/>
          <a:p>
            <a:pPr algn="ctr"/>
          </a:p>
        </p:txBody>
      </p:sp>
      <p:sp>
        <p:nvSpPr>
          <p:cNvPr id="15" name="Rectangle 14"/>
          <p:cNvSpPr/>
          <p:nvPr/>
        </p:nvSpPr>
        <p:spPr>
          <a:xfrm>
            <a:off x="5987491" y="3906150"/>
            <a:ext cx="164591" cy="194517"/>
          </a:xfrm>
          <a:prstGeom prst="rect">
            <a:avLst/>
          </a:prstGeom>
          <a:noFill/>
          <a:ln w="44450">
            <a:solidFill>
              <a:srgbClr val="E09B00"/>
            </a:solidFill>
          </a:ln>
        </p:spPr>
        <p:txBody>
          <a:bodyPr rtlCol="0" anchor="ctr"/>
          <a:lstStyle/>
          <a:p>
            <a:pPr algn="ctr"/>
          </a:p>
        </p:txBody>
      </p:sp>
      <p:sp>
        <p:nvSpPr>
          <p:cNvPr id="16" name="Rectangle 15"/>
          <p:cNvSpPr/>
          <p:nvPr/>
        </p:nvSpPr>
        <p:spPr>
          <a:xfrm>
            <a:off x="7281367" y="5294376"/>
            <a:ext cx="310895" cy="91439"/>
          </a:xfrm>
          <a:prstGeom prst="rect">
            <a:avLst/>
          </a:prstGeom>
          <a:noFill/>
          <a:ln w="44450">
            <a:solidFill>
              <a:srgbClr val="C62828"/>
            </a:solidFill>
          </a:ln>
        </p:spPr>
        <p:txBody>
          <a:bodyPr rtlCol="0" anchor="ctr"/>
          <a:lstStyle/>
          <a:p>
            <a:pPr algn="ctr"/>
          </a:p>
        </p:txBody>
      </p:sp>
      <p:sp>
        <p:nvSpPr>
          <p:cNvPr id="17" name="Oval 16"/>
          <p:cNvSpPr/>
          <p:nvPr/>
        </p:nvSpPr>
        <p:spPr>
          <a:xfrm>
            <a:off x="10282427" y="3570482"/>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10225734" y="387539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6153382" y="3746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120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475038" y="37630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TK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39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6: a close above the middle bar's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the 2nd bar "closes at or near its low on low volume followed by a 3rd bar closing above the high of the 2nd bar (and preferably above the close of the 1st bar as well)" (Figure 7.9, p. 215). Say bar 2 closes at PHP 38.70 </a:t>
            </a:r>
            <a:r>
              <a:rPr sz="1700" b="1" i="0">
                <a:solidFill>
                  <a:srgbClr val="E09B00"/>
                </a:solidFill>
                <a:latin typeface="Arial"/>
              </a:rPr>
              <a:t>(1)</a:t>
            </a:r>
            <a:r>
              <a:rPr sz="1700" b="0" i="0">
                <a:solidFill>
                  <a:srgbClr val="1A1A1A"/>
                </a:solidFill>
                <a:latin typeface="Arial"/>
              </a:rPr>
              <a:t> on 0.8 million shares </a:t>
            </a:r>
            <a:r>
              <a:rPr sz="1700" b="1" i="0">
                <a:solidFill>
                  <a:srgbClr val="C62828"/>
                </a:solidFill>
                <a:latin typeface="Arial"/>
              </a:rPr>
              <a:t>(2)</a:t>
            </a:r>
            <a:r>
              <a:rPr sz="1700" b="0" i="0">
                <a:solidFill>
                  <a:srgbClr val="1A1A1A"/>
                </a:solidFill>
                <a:latin typeface="Arial"/>
              </a:rPr>
              <a:t>; bar 3 closes at PHP 40.20 </a:t>
            </a:r>
            <a:r>
              <a:rPr sz="1700" b="1" i="0">
                <a:solidFill>
                  <a:srgbClr val="1F5FAD"/>
                </a:solidFill>
                <a:latin typeface="Arial"/>
              </a:rPr>
              <a:t>(3)</a:t>
            </a:r>
            <a:r>
              <a:rPr sz="1700" b="0" i="0">
                <a:solidFill>
                  <a:srgbClr val="1A1A1A"/>
                </a:solidFill>
                <a:latin typeface="Arial"/>
              </a:rPr>
              <a:t>, above bar 2's PHP 39.90 high and bar 1's PHP 39.80 close.</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7357" y="2395728"/>
            <a:ext cx="144053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7357" y="2395728"/>
            <a:ext cx="144053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1677" y="2670048"/>
            <a:ext cx="89189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6: a close above the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l-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7548371" y="4404664"/>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281367" y="5278700"/>
            <a:ext cx="310895" cy="107115"/>
          </a:xfrm>
          <a:prstGeom prst="rect">
            <a:avLst/>
          </a:prstGeom>
          <a:noFill/>
          <a:ln w="44450">
            <a:solidFill>
              <a:srgbClr val="C62828"/>
            </a:solidFill>
          </a:ln>
        </p:spPr>
        <p:txBody>
          <a:bodyPr rtlCol="0" anchor="ctr"/>
          <a:lstStyle/>
          <a:p>
            <a:pPr algn="ctr"/>
          </a:p>
        </p:txBody>
      </p:sp>
      <p:sp>
        <p:nvSpPr>
          <p:cNvPr id="16" name="Oval 15"/>
          <p:cNvSpPr/>
          <p:nvPr/>
        </p:nvSpPr>
        <p:spPr>
          <a:xfrm>
            <a:off x="10282427" y="378744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7513473" y="413682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701991" y="520424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89062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TL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40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triple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last bar makes a bullish three-bar pattern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narrow bar on low volume</a:t>
            </a:r>
          </a:p>
          <a:p>
            <a:pPr algn="l">
              <a:lnSpc>
                <a:spcPct val="112000"/>
              </a:lnSpc>
              <a:spcBef>
                <a:spcPts val="0"/>
              </a:spcBef>
              <a:spcAft>
                <a:spcPts val="900"/>
              </a:spcAft>
            </a:pPr>
            <a:r>
              <a:rPr sz="1700" b="0" i="0">
                <a:solidFill>
                  <a:srgbClr val="FFFFFF"/>
                </a:solidFill>
                <a:latin typeface="Arial"/>
              </a:rPr>
              <a:t>B.  A bar that gaps down</a:t>
            </a:r>
          </a:p>
          <a:p>
            <a:pPr algn="l">
              <a:lnSpc>
                <a:spcPct val="112000"/>
              </a:lnSpc>
              <a:spcBef>
                <a:spcPts val="0"/>
              </a:spcBef>
              <a:spcAft>
                <a:spcPts val="900"/>
              </a:spcAft>
            </a:pPr>
            <a:r>
              <a:rPr sz="1700" b="0" i="0">
                <a:solidFill>
                  <a:srgbClr val="FFFFFF"/>
                </a:solidFill>
                <a:latin typeface="Arial"/>
              </a:rPr>
              <a:t>C.  A bar closing near its low</a:t>
            </a:r>
          </a:p>
          <a:p>
            <a:pPr algn="l">
              <a:lnSpc>
                <a:spcPct val="112000"/>
              </a:lnSpc>
              <a:spcBef>
                <a:spcPts val="0"/>
              </a:spcBef>
              <a:spcAft>
                <a:spcPts val="900"/>
              </a:spcAft>
            </a:pPr>
            <a:r>
              <a:rPr sz="1700" b="0" i="0">
                <a:solidFill>
                  <a:srgbClr val="FFFFFF"/>
                </a:solidFill>
                <a:latin typeface="Arial"/>
              </a:rPr>
              <a:t>D.  An overextended bar closing near its high on high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call bullish triple pattern 4?</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An inside bar</a:t>
            </a:r>
          </a:p>
          <a:p>
            <a:pPr algn="l">
              <a:lnSpc>
                <a:spcPct val="112000"/>
              </a:lnSpc>
              <a:spcBef>
                <a:spcPts val="0"/>
              </a:spcBef>
              <a:spcAft>
                <a:spcPts val="900"/>
              </a:spcAft>
            </a:pPr>
            <a:r>
              <a:rPr sz="1700" b="0" i="0">
                <a:solidFill>
                  <a:srgbClr val="FFFFFF"/>
                </a:solidFill>
                <a:latin typeface="Arial"/>
              </a:rPr>
              <a:t>B.  A single island reversal bar</a:t>
            </a:r>
          </a:p>
          <a:p>
            <a:pPr algn="l">
              <a:lnSpc>
                <a:spcPct val="112000"/>
              </a:lnSpc>
              <a:spcBef>
                <a:spcPts val="0"/>
              </a:spcBef>
              <a:spcAft>
                <a:spcPts val="900"/>
              </a:spcAft>
            </a:pPr>
            <a:r>
              <a:rPr sz="1700" b="0" i="0">
                <a:solidFill>
                  <a:srgbClr val="FFFFFF"/>
                </a:solidFill>
                <a:latin typeface="Arial"/>
              </a:rPr>
              <a:t>C.  A key reversal bar</a:t>
            </a:r>
          </a:p>
          <a:p>
            <a:pPr algn="l">
              <a:lnSpc>
                <a:spcPct val="112000"/>
              </a:lnSpc>
              <a:spcBef>
                <a:spcPts val="0"/>
              </a:spcBef>
              <a:spcAft>
                <a:spcPts val="900"/>
              </a:spcAft>
            </a:pPr>
            <a:r>
              <a:rPr sz="1700" b="0" i="0">
                <a:solidFill>
                  <a:srgbClr val="FFFFFF"/>
                </a:solidFill>
                <a:latin typeface="Arial"/>
              </a:rPr>
              <a:t>D.  An outside bar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triple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last bar makes a bullish three-bar pattern potentially more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An overextended bar closing near its high on high volume</a:t>
            </a:r>
          </a:p>
          <a:p>
            <a:pPr algn="l">
              <a:lnSpc>
                <a:spcPct val="115000"/>
              </a:lnSpc>
              <a:spcBef>
                <a:spcPts val="700"/>
              </a:spcBef>
              <a:spcAft>
                <a:spcPts val="0"/>
              </a:spcAft>
            </a:pPr>
            <a:r>
              <a:rPr sz="1700" b="0" i="0">
                <a:solidFill>
                  <a:srgbClr val="1A1A1A"/>
                </a:solidFill>
                <a:latin typeface="Arial"/>
              </a:rPr>
              <a:t>Lim says a bullish three-bar pattern is potentially more reliable if the last bar is overextended and closes at or near its high on high volume (p. 214).</a:t>
            </a:r>
          </a:p>
        </p:txBody>
      </p:sp>
      <p:sp>
        <p:nvSpPr>
          <p:cNvPr id="10" name="Rectangle 9"/>
          <p:cNvSpPr/>
          <p:nvPr/>
        </p:nvSpPr>
        <p:spPr>
          <a:xfrm>
            <a:off x="777240" y="3330321"/>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Lim call bullish triple pattern 4?</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single island reversal bar</a:t>
            </a:r>
          </a:p>
          <a:p>
            <a:pPr algn="l">
              <a:lnSpc>
                <a:spcPct val="115000"/>
              </a:lnSpc>
              <a:spcBef>
                <a:spcPts val="700"/>
              </a:spcBef>
              <a:spcAft>
                <a:spcPts val="0"/>
              </a:spcAft>
            </a:pPr>
            <a:r>
              <a:rPr sz="1700" b="0" i="0">
                <a:solidFill>
                  <a:srgbClr val="1A1A1A"/>
                </a:solidFill>
                <a:latin typeface="Arial"/>
              </a:rPr>
              <a:t>Its label ends "Also referred to as a single island reversal bar" (p. 215).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11</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bar patterns stretch the middle across several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41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four basic multiple bar bearish reversal patterns in an uptrend (p. 214). Between the first and the last bar sit several bars, where a triple pattern had one.</a:t>
            </a:r>
          </a:p>
          <a:p>
            <a:pPr algn="l">
              <a:lnSpc>
                <a:spcPct val="118000"/>
              </a:lnSpc>
              <a:spcBef>
                <a:spcPts val="0"/>
              </a:spcBef>
              <a:spcAft>
                <a:spcPts val="1300"/>
              </a:spcAft>
            </a:pPr>
            <a:r>
              <a:rPr sz="2100" b="0" i="0">
                <a:solidFill>
                  <a:srgbClr val="1A1A1A"/>
                </a:solidFill>
                <a:latin typeface="Arial"/>
              </a:rPr>
              <a:t>The gap rule carries over: the larger the gaps, the more bearish the pattern. And the bars between the first and last should generally trade on low volume (p. 214).</a:t>
            </a:r>
          </a:p>
          <a:p>
            <a:pPr algn="l">
              <a:lnSpc>
                <a:spcPct val="118000"/>
              </a:lnSpc>
              <a:spcBef>
                <a:spcPts val="0"/>
              </a:spcBef>
              <a:spcAft>
                <a:spcPts val="1300"/>
              </a:spcAft>
            </a:pPr>
            <a:r>
              <a:rPr sz="2100" b="0" i="0">
                <a:solidFill>
                  <a:srgbClr val="1A1A1A"/>
                </a:solidFill>
                <a:latin typeface="Arial"/>
              </a:rPr>
              <a:t>The last bar matters most again: an overextended last bar closing near or at its low on high volume makes the pattern potentially more reliable (p. 215).</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Pattern 2 is possibly the exception; either extreme warns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42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pattern 2 the middle bars are wide, each closing near its low. There, Lim says, high volume is possibly also bearish: the sellers are working to keep each close near the low (pp. 214 to 215).</a:t>
            </a:r>
          </a:p>
          <a:p>
            <a:pPr algn="l">
              <a:lnSpc>
                <a:spcPct val="118000"/>
              </a:lnSpc>
              <a:spcBef>
                <a:spcPts val="0"/>
              </a:spcBef>
              <a:spcAft>
                <a:spcPts val="1300"/>
              </a:spcAft>
            </a:pPr>
            <a:r>
              <a:rPr sz="2100" b="0" i="0">
                <a:solidFill>
                  <a:srgbClr val="1A1A1A"/>
                </a:solidFill>
                <a:latin typeface="Arial"/>
              </a:rPr>
              <a:t>Low volume on those wide bars is bearish too: it shows they are not supported by enough demand (p. 215).</a:t>
            </a:r>
          </a:p>
          <a:p>
            <a:pPr algn="l">
              <a:lnSpc>
                <a:spcPct val="118000"/>
              </a:lnSpc>
              <a:spcBef>
                <a:spcPts val="0"/>
              </a:spcBef>
              <a:spcAft>
                <a:spcPts val="1300"/>
              </a:spcAft>
            </a:pPr>
            <a:r>
              <a:rPr sz="2100" b="0" i="0">
                <a:solidFill>
                  <a:srgbClr val="1A1A1A"/>
                </a:solidFill>
                <a:latin typeface="Arial"/>
              </a:rPr>
              <a:t>Lim sums it up: extremely high or low volume on the wide middle bars indicates bearishness in an uptrend (p. 215). So 3.8 million or 0.4 million shares, against an ordinary 2.0 million, would both warn.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The volumes are invented for teaching.</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1: narrow bars hold near the first high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43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narrow range bars closing near the 1st bar's high.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00908" y="1810512"/>
            <a:ext cx="386479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19780" y="1929384"/>
            <a:ext cx="362705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19780" y="1929384"/>
            <a:ext cx="362705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094100" y="2203703"/>
            <a:ext cx="307841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1: narrow bars near the first high, then a low close.</a:t>
            </a:r>
          </a:p>
        </p:txBody>
      </p:sp>
      <p:sp>
        <p:nvSpPr>
          <p:cNvPr id="12" name="Rectangle 11"/>
          <p:cNvSpPr/>
          <p:nvPr/>
        </p:nvSpPr>
        <p:spPr>
          <a:xfrm>
            <a:off x="7481184" y="2645148"/>
            <a:ext cx="512054" cy="2147292"/>
          </a:xfrm>
          <a:prstGeom prst="rect">
            <a:avLst/>
          </a:prstGeom>
          <a:noFill/>
          <a:ln w="44450">
            <a:solidFill>
              <a:srgbClr val="E09B00"/>
            </a:solidFill>
          </a:ln>
        </p:spPr>
        <p:txBody>
          <a:bodyPr rtlCol="0" anchor="ctr"/>
          <a:lstStyle/>
          <a:p>
            <a:pPr algn="ctr"/>
          </a:p>
        </p:txBody>
      </p:sp>
      <p:sp>
        <p:nvSpPr>
          <p:cNvPr id="13" name="Rectangle 12"/>
          <p:cNvSpPr/>
          <p:nvPr/>
        </p:nvSpPr>
        <p:spPr>
          <a:xfrm>
            <a:off x="7993239" y="2334533"/>
            <a:ext cx="1536163" cy="1012873"/>
          </a:xfrm>
          <a:prstGeom prst="rect">
            <a:avLst/>
          </a:prstGeom>
          <a:noFill/>
          <a:ln w="44450">
            <a:solidFill>
              <a:srgbClr val="C62828"/>
            </a:solidFill>
          </a:ln>
        </p:spPr>
        <p:txBody>
          <a:bodyPr rtlCol="0" anchor="ctr"/>
          <a:lstStyle/>
          <a:p>
            <a:pPr algn="ctr"/>
          </a:p>
        </p:txBody>
      </p:sp>
      <p:sp>
        <p:nvSpPr>
          <p:cNvPr id="14" name="Rectangle 13"/>
          <p:cNvSpPr/>
          <p:nvPr/>
        </p:nvSpPr>
        <p:spPr>
          <a:xfrm>
            <a:off x="9529402" y="2604633"/>
            <a:ext cx="490718" cy="2160797"/>
          </a:xfrm>
          <a:prstGeom prst="rect">
            <a:avLst/>
          </a:prstGeom>
          <a:noFill/>
          <a:ln w="44450">
            <a:solidFill>
              <a:srgbClr val="1F5FAD"/>
            </a:solidFill>
          </a:ln>
        </p:spPr>
        <p:txBody>
          <a:bodyPr rtlCol="0" anchor="ctr"/>
          <a:lstStyle/>
          <a:p>
            <a:pPr algn="ctr"/>
          </a:p>
        </p:txBody>
      </p:sp>
      <p:sp>
        <p:nvSpPr>
          <p:cNvPr id="15" name="Oval 14"/>
          <p:cNvSpPr/>
          <p:nvPr/>
        </p:nvSpPr>
        <p:spPr>
          <a:xfrm>
            <a:off x="7353168" y="251713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65223" y="22065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01386" y="247661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1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draws several narrow bars; our chart uses two so every price stays readable. Bar 1 closes at PHP 50.00, near its high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close at PHP 50.10 and PHP 50.20, still near that high. The last bar closes at PHP 48.20, near its PHP 48.00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a-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263335"/>
          </a:xfrm>
          <a:prstGeom prst="rect">
            <a:avLst/>
          </a:prstGeom>
          <a:noFill/>
          <a:ln w="44450">
            <a:solidFill>
              <a:srgbClr val="C62828"/>
            </a:solidFill>
          </a:ln>
        </p:spPr>
        <p:txBody>
          <a:bodyPr rtlCol="0" anchor="ctr"/>
          <a:lstStyle/>
          <a:p>
            <a:pPr algn="ctr"/>
          </a:p>
        </p:txBody>
      </p:sp>
      <p:sp>
        <p:nvSpPr>
          <p:cNvPr id="10" name="Oval 9"/>
          <p:cNvSpPr/>
          <p:nvPr/>
        </p:nvSpPr>
        <p:spPr>
          <a:xfrm>
            <a:off x="2251252" y="3690518"/>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482291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32902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186892" y="383230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55385" y="45154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44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2: wide bars that all close near their lows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45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wide range bars, all closing near their lows.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wide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7281711" y="1810512"/>
            <a:ext cx="270319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00583" y="1929384"/>
            <a:ext cx="246544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00583" y="1929384"/>
            <a:ext cx="246544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4903" y="2203703"/>
            <a:ext cx="191680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2: wide middle bars closing near their lows.</a:t>
            </a:r>
          </a:p>
        </p:txBody>
      </p:sp>
      <p:sp>
        <p:nvSpPr>
          <p:cNvPr id="12" name="Rectangle 11"/>
          <p:cNvSpPr/>
          <p:nvPr/>
        </p:nvSpPr>
        <p:spPr>
          <a:xfrm>
            <a:off x="7724173" y="3441192"/>
            <a:ext cx="369817" cy="1560576"/>
          </a:xfrm>
          <a:prstGeom prst="rect">
            <a:avLst/>
          </a:prstGeom>
          <a:noFill/>
          <a:ln w="44450">
            <a:solidFill>
              <a:srgbClr val="E09B00"/>
            </a:solidFill>
          </a:ln>
        </p:spPr>
        <p:txBody>
          <a:bodyPr rtlCol="0" anchor="ctr"/>
          <a:lstStyle/>
          <a:p>
            <a:pPr algn="ctr"/>
          </a:p>
        </p:txBody>
      </p:sp>
      <p:sp>
        <p:nvSpPr>
          <p:cNvPr id="13" name="Rectangle 12"/>
          <p:cNvSpPr/>
          <p:nvPr/>
        </p:nvSpPr>
        <p:spPr>
          <a:xfrm>
            <a:off x="8016945" y="2124456"/>
            <a:ext cx="1109451" cy="1853184"/>
          </a:xfrm>
          <a:prstGeom prst="rect">
            <a:avLst/>
          </a:prstGeom>
          <a:noFill/>
          <a:ln w="44450">
            <a:solidFill>
              <a:srgbClr val="C62828"/>
            </a:solidFill>
          </a:ln>
        </p:spPr>
        <p:txBody>
          <a:bodyPr rtlCol="0" anchor="ctr"/>
          <a:lstStyle/>
          <a:p>
            <a:pPr algn="ctr"/>
          </a:p>
        </p:txBody>
      </p:sp>
      <p:sp>
        <p:nvSpPr>
          <p:cNvPr id="14" name="Rectangle 13"/>
          <p:cNvSpPr/>
          <p:nvPr/>
        </p:nvSpPr>
        <p:spPr>
          <a:xfrm>
            <a:off x="9172624" y="3411931"/>
            <a:ext cx="354408" cy="1589836"/>
          </a:xfrm>
          <a:prstGeom prst="rect">
            <a:avLst/>
          </a:prstGeom>
          <a:noFill/>
          <a:ln w="44450">
            <a:solidFill>
              <a:srgbClr val="1F5FAD"/>
            </a:solidFill>
          </a:ln>
        </p:spPr>
        <p:txBody>
          <a:bodyPr rtlCol="0" anchor="ctr"/>
          <a:lstStyle/>
          <a:p>
            <a:pPr algn="ctr"/>
          </a:p>
        </p:txBody>
      </p:sp>
      <p:sp>
        <p:nvSpPr>
          <p:cNvPr id="15" name="Oval 14"/>
          <p:cNvSpPr/>
          <p:nvPr/>
        </p:nvSpPr>
        <p:spPr>
          <a:xfrm>
            <a:off x="7596157" y="331317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88929" y="19964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44608" y="32839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Figure 7.10.</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2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50.00, near its high </a:t>
            </a:r>
            <a:r>
              <a:rPr sz="1700" b="1" i="0">
                <a:solidFill>
                  <a:srgbClr val="E09B00"/>
                </a:solidFill>
                <a:latin typeface="Arial"/>
              </a:rPr>
              <a:t>(1)</a:t>
            </a:r>
            <a:r>
              <a:rPr sz="1700" b="0" i="0">
                <a:solidFill>
                  <a:srgbClr val="1A1A1A"/>
                </a:solidFill>
                <a:latin typeface="Arial"/>
              </a:rPr>
              <a:t>. The two wide bars </a:t>
            </a:r>
            <a:r>
              <a:rPr sz="1700" b="1" i="0">
                <a:solidFill>
                  <a:srgbClr val="C62828"/>
                </a:solidFill>
                <a:latin typeface="Arial"/>
              </a:rPr>
              <a:t>(2)</a:t>
            </a:r>
            <a:r>
              <a:rPr sz="1700" b="0" i="0">
                <a:solidFill>
                  <a:srgbClr val="1A1A1A"/>
                </a:solidFill>
                <a:latin typeface="Arial"/>
              </a:rPr>
              <a:t> each span about PHP 2.00 and close near their lows, at PHP 50.20 and PHP 50.30, on 3.8 and 3.6 million shares </a:t>
            </a:r>
            <a:r>
              <a:rPr sz="1700" b="1" i="0">
                <a:solidFill>
                  <a:srgbClr val="1F5FAD"/>
                </a:solidFill>
                <a:latin typeface="Arial"/>
              </a:rPr>
              <a:t>(3)</a:t>
            </a:r>
            <a:r>
              <a:rPr sz="1700" b="0" i="0">
                <a:solidFill>
                  <a:srgbClr val="1A1A1A"/>
                </a:solidFill>
                <a:latin typeface="Arial"/>
              </a:rPr>
              <a:t>. The last bar closes at PHP 48.20, near its low </a:t>
            </a:r>
            <a:r>
              <a:rPr sz="1700" b="1" i="0">
                <a:solidFill>
                  <a:srgbClr val="7B3FA0"/>
                </a:solidFill>
                <a:latin typeface="Arial"/>
              </a:rPr>
              <a:t>(4)</a:t>
            </a:r>
            <a:r>
              <a:rPr sz="1700" b="0" i="0">
                <a:solidFill>
                  <a:srgbClr val="1A1A1A"/>
                </a:solidFill>
                <a:latin typeface="Arial"/>
              </a:rPr>
              <a:t>. That heavy middle volume is possibly the pattern 2 exception: sellers pressing every close down (pp. 214 to 215).</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b-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383356"/>
          </a:xfrm>
          <a:prstGeom prst="rect">
            <a:avLst/>
          </a:prstGeom>
          <a:noFill/>
          <a:ln w="44450">
            <a:solidFill>
              <a:srgbClr val="C62828"/>
            </a:solidFill>
          </a:ln>
        </p:spPr>
        <p:txBody>
          <a:bodyPr rtlCol="0" anchor="ctr"/>
          <a:lstStyle/>
          <a:p>
            <a:pPr algn="ctr"/>
          </a:p>
        </p:txBody>
      </p:sp>
      <p:sp>
        <p:nvSpPr>
          <p:cNvPr id="10" name="Oval 9"/>
          <p:cNvSpPr/>
          <p:nvPr/>
        </p:nvSpPr>
        <p:spPr>
          <a:xfrm>
            <a:off x="2251252" y="3936361"/>
            <a:ext cx="87782" cy="87782"/>
          </a:xfrm>
          <a:prstGeom prst="ellipse">
            <a:avLst/>
          </a:prstGeom>
          <a:noFill/>
          <a:ln w="44450">
            <a:solidFill>
              <a:srgbClr val="E09B00"/>
            </a:solidFill>
          </a:ln>
        </p:spPr>
        <p:txBody>
          <a:bodyPr rtlCol="0" anchor="ctr"/>
          <a:lstStyle/>
          <a:p>
            <a:pPr algn="ctr"/>
          </a:p>
        </p:txBody>
      </p:sp>
      <p:sp>
        <p:nvSpPr>
          <p:cNvPr id="11" name="Rectangle 10"/>
          <p:cNvSpPr/>
          <p:nvPr/>
        </p:nvSpPr>
        <p:spPr>
          <a:xfrm>
            <a:off x="4633874" y="5148072"/>
            <a:ext cx="2960522" cy="237744"/>
          </a:xfrm>
          <a:prstGeom prst="rect">
            <a:avLst/>
          </a:prstGeom>
          <a:noFill/>
          <a:ln w="44450">
            <a:solidFill>
              <a:srgbClr val="1F5FAD"/>
            </a:solidFill>
          </a:ln>
        </p:spPr>
        <p:txBody>
          <a:bodyPr rtlCol="0" anchor="ctr"/>
          <a:lstStyle/>
          <a:p>
            <a:pPr algn="ctr"/>
          </a:p>
        </p:txBody>
      </p:sp>
      <p:sp>
        <p:nvSpPr>
          <p:cNvPr id="12" name="Oval 11"/>
          <p:cNvSpPr/>
          <p:nvPr/>
        </p:nvSpPr>
        <p:spPr>
          <a:xfrm>
            <a:off x="10200131" y="4394867"/>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35720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2186892" y="40781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7630346" y="51532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55385" y="4087416"/>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XB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46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Figure 7.10. Prices and volume are invented for teaching.</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3: narrow bars stay inside the first bar's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47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narrow range bars closing within its range.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807587" y="1810512"/>
            <a:ext cx="365144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26459" y="1929384"/>
            <a:ext cx="341369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926459" y="1929384"/>
            <a:ext cx="341369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00779" y="2203703"/>
            <a:ext cx="286505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3: narrow bars inside the first bar.</a:t>
            </a:r>
          </a:p>
        </p:txBody>
      </p:sp>
      <p:sp>
        <p:nvSpPr>
          <p:cNvPr id="12" name="Rectangle 11"/>
          <p:cNvSpPr/>
          <p:nvPr/>
        </p:nvSpPr>
        <p:spPr>
          <a:xfrm>
            <a:off x="7459849" y="2672158"/>
            <a:ext cx="512054" cy="2093272"/>
          </a:xfrm>
          <a:prstGeom prst="rect">
            <a:avLst/>
          </a:prstGeom>
          <a:noFill/>
          <a:ln w="44450">
            <a:solidFill>
              <a:srgbClr val="E09B00"/>
            </a:solidFill>
          </a:ln>
        </p:spPr>
        <p:txBody>
          <a:bodyPr rtlCol="0" anchor="ctr"/>
          <a:lstStyle/>
          <a:p>
            <a:pPr algn="ctr"/>
          </a:p>
        </p:txBody>
      </p:sp>
      <p:sp>
        <p:nvSpPr>
          <p:cNvPr id="13" name="Rectangle 12"/>
          <p:cNvSpPr/>
          <p:nvPr/>
        </p:nvSpPr>
        <p:spPr>
          <a:xfrm>
            <a:off x="7907896" y="3144832"/>
            <a:ext cx="1514828" cy="1080398"/>
          </a:xfrm>
          <a:prstGeom prst="rect">
            <a:avLst/>
          </a:prstGeom>
          <a:noFill/>
          <a:ln w="44450">
            <a:solidFill>
              <a:srgbClr val="C62828"/>
            </a:solidFill>
          </a:ln>
        </p:spPr>
        <p:txBody>
          <a:bodyPr rtlCol="0" anchor="ctr"/>
          <a:lstStyle/>
          <a:p>
            <a:pPr algn="ctr"/>
          </a:p>
        </p:txBody>
      </p:sp>
      <p:sp>
        <p:nvSpPr>
          <p:cNvPr id="14" name="Rectangle 13"/>
          <p:cNvSpPr/>
          <p:nvPr/>
        </p:nvSpPr>
        <p:spPr>
          <a:xfrm>
            <a:off x="9486731" y="2604633"/>
            <a:ext cx="512054" cy="2160797"/>
          </a:xfrm>
          <a:prstGeom prst="rect">
            <a:avLst/>
          </a:prstGeom>
          <a:noFill/>
          <a:ln w="44450">
            <a:solidFill>
              <a:srgbClr val="1F5FAD"/>
            </a:solidFill>
          </a:ln>
        </p:spPr>
        <p:txBody>
          <a:bodyPr rtlCol="0" anchor="ctr"/>
          <a:lstStyle/>
          <a:p>
            <a:pPr algn="ctr"/>
          </a:p>
        </p:txBody>
      </p:sp>
      <p:sp>
        <p:nvSpPr>
          <p:cNvPr id="15" name="Oval 14"/>
          <p:cNvSpPr/>
          <p:nvPr/>
        </p:nvSpPr>
        <p:spPr>
          <a:xfrm>
            <a:off x="7331833" y="254414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779880" y="301681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358715" y="247661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3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runs from PHP 48.00 to PHP 50.40 and closes at PHP 50.20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stay inside that range, between PHP 49.20 and PHP 49.80. The last bar closes at PHP 48.00, near its PHP 47.80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c-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371322"/>
            <a:ext cx="5301386" cy="1185906"/>
          </a:xfrm>
          <a:prstGeom prst="rect">
            <a:avLst/>
          </a:prstGeom>
          <a:noFill/>
          <a:ln w="44450">
            <a:solidFill>
              <a:srgbClr val="C62828"/>
            </a:solidFill>
          </a:ln>
        </p:spPr>
        <p:txBody>
          <a:bodyPr rtlCol="0" anchor="ctr"/>
          <a:lstStyle/>
          <a:p>
            <a:pPr algn="ctr"/>
          </a:p>
        </p:txBody>
      </p:sp>
      <p:sp>
        <p:nvSpPr>
          <p:cNvPr id="10" name="Oval 9"/>
          <p:cNvSpPr/>
          <p:nvPr/>
        </p:nvSpPr>
        <p:spPr>
          <a:xfrm>
            <a:off x="2251252" y="3496946"/>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482775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383625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186892" y="363873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55385" y="452029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48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4: an island reversal formation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49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bars forming above a gap. The last bar gaps down and closes at or near its low. Referred to as an island reversal formation"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bars above the gap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882889" y="1810512"/>
            <a:ext cx="350083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001761" y="1929384"/>
            <a:ext cx="3263092" cy="351129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001761" y="1929384"/>
            <a:ext cx="326309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76081" y="2203703"/>
            <a:ext cx="2714452"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4: an island reversal formation.</a:t>
            </a:r>
          </a:p>
        </p:txBody>
      </p:sp>
      <p:sp>
        <p:nvSpPr>
          <p:cNvPr id="12" name="Rectangle 11"/>
          <p:cNvSpPr/>
          <p:nvPr/>
        </p:nvSpPr>
        <p:spPr>
          <a:xfrm>
            <a:off x="7540171" y="3323575"/>
            <a:ext cx="391571" cy="1704011"/>
          </a:xfrm>
          <a:prstGeom prst="rect">
            <a:avLst/>
          </a:prstGeom>
          <a:noFill/>
          <a:ln w="44450">
            <a:solidFill>
              <a:srgbClr val="E09B00"/>
            </a:solidFill>
          </a:ln>
        </p:spPr>
        <p:txBody>
          <a:bodyPr rtlCol="0" anchor="ctr"/>
          <a:lstStyle/>
          <a:p>
            <a:pPr algn="ctr"/>
          </a:p>
        </p:txBody>
      </p:sp>
      <p:sp>
        <p:nvSpPr>
          <p:cNvPr id="13" name="Rectangle 12"/>
          <p:cNvSpPr/>
          <p:nvPr/>
        </p:nvSpPr>
        <p:spPr>
          <a:xfrm>
            <a:off x="7817534" y="2187567"/>
            <a:ext cx="1827331" cy="1084370"/>
          </a:xfrm>
          <a:prstGeom prst="rect">
            <a:avLst/>
          </a:prstGeom>
          <a:noFill/>
          <a:ln w="44450">
            <a:solidFill>
              <a:srgbClr val="C62828"/>
            </a:solidFill>
          </a:ln>
        </p:spPr>
        <p:txBody>
          <a:bodyPr rtlCol="0" anchor="ctr"/>
          <a:lstStyle/>
          <a:p>
            <a:pPr algn="ctr"/>
          </a:p>
        </p:txBody>
      </p:sp>
      <p:sp>
        <p:nvSpPr>
          <p:cNvPr id="14" name="Rectangle 13"/>
          <p:cNvSpPr/>
          <p:nvPr/>
        </p:nvSpPr>
        <p:spPr>
          <a:xfrm>
            <a:off x="9693812" y="3323575"/>
            <a:ext cx="407886" cy="1652374"/>
          </a:xfrm>
          <a:prstGeom prst="rect">
            <a:avLst/>
          </a:prstGeom>
          <a:noFill/>
          <a:ln w="44450">
            <a:solidFill>
              <a:srgbClr val="1F5FAD"/>
            </a:solidFill>
          </a:ln>
        </p:spPr>
        <p:txBody>
          <a:bodyPr rtlCol="0" anchor="ctr"/>
          <a:lstStyle/>
          <a:p>
            <a:pPr algn="ctr"/>
          </a:p>
        </p:txBody>
      </p:sp>
      <p:sp>
        <p:nvSpPr>
          <p:cNvPr id="15" name="Oval 14"/>
          <p:cNvSpPr/>
          <p:nvPr/>
        </p:nvSpPr>
        <p:spPr>
          <a:xfrm>
            <a:off x="7412155" y="319555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689518" y="205955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65796" y="319555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Chapter 3, "Gap".</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4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tops out at PHP 50.00 </a:t>
            </a:r>
            <a:r>
              <a:rPr sz="1700" b="1" i="0">
                <a:solidFill>
                  <a:srgbClr val="E09B00"/>
                </a:solidFill>
                <a:latin typeface="Arial"/>
              </a:rPr>
              <a:t>(1)</a:t>
            </a:r>
            <a:r>
              <a:rPr sz="1700" b="0" i="0">
                <a:solidFill>
                  <a:srgbClr val="1A1A1A"/>
                </a:solidFill>
                <a:latin typeface="Arial"/>
              </a:rPr>
              <a:t>, and the isolated bars </a:t>
            </a:r>
            <a:r>
              <a:rPr sz="1700" b="1" i="0">
                <a:solidFill>
                  <a:srgbClr val="C62828"/>
                </a:solidFill>
                <a:latin typeface="Arial"/>
              </a:rPr>
              <a:t>(2)</a:t>
            </a:r>
            <a:r>
              <a:rPr sz="1700" b="0" i="0">
                <a:solidFill>
                  <a:srgbClr val="1A1A1A"/>
                </a:solidFill>
                <a:latin typeface="Arial"/>
              </a:rPr>
              <a:t> trade above a gap, between PHP 50.40 and PHP 51.00. The last bar tops out at PHP 50.00 </a:t>
            </a:r>
            <a:r>
              <a:rPr sz="1700" b="1" i="0">
                <a:solidFill>
                  <a:srgbClr val="1F5FAD"/>
                </a:solidFill>
                <a:latin typeface="Arial"/>
              </a:rPr>
              <a:t>(3)</a:t>
            </a:r>
            <a:r>
              <a:rPr sz="1700" b="0" i="0">
                <a:solidFill>
                  <a:srgbClr val="1A1A1A"/>
                </a:solidFill>
                <a:latin typeface="Arial"/>
              </a:rPr>
              <a:t>, so it gaps down below them, and closes at PHP 48.40, near its PHP 48.20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d-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137513"/>
          </a:xfrm>
          <a:prstGeom prst="rect">
            <a:avLst/>
          </a:prstGeom>
          <a:noFill/>
          <a:ln w="44450">
            <a:solidFill>
              <a:srgbClr val="C62828"/>
            </a:solidFill>
          </a:ln>
        </p:spPr>
        <p:txBody>
          <a:bodyPr rtlCol="0" anchor="ctr"/>
          <a:lstStyle/>
          <a:p>
            <a:pPr algn="ctr"/>
          </a:p>
        </p:txBody>
      </p:sp>
      <p:sp>
        <p:nvSpPr>
          <p:cNvPr id="10" name="Oval 9"/>
          <p:cNvSpPr/>
          <p:nvPr/>
        </p:nvSpPr>
        <p:spPr>
          <a:xfrm>
            <a:off x="2095804" y="3900220"/>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44683" y="390022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10200131" y="47390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344911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821484" y="381609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106256" y="3693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55385" y="4431579"/>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XD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50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bullish multiple forms mirror the bearish ones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51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four basic multiple bar bullish reversal patterns in a downtrend (p. 215).</a:t>
            </a:r>
          </a:p>
          <a:p>
            <a:pPr algn="l">
              <a:lnSpc>
                <a:spcPct val="118000"/>
              </a:lnSpc>
              <a:spcBef>
                <a:spcPts val="0"/>
              </a:spcBef>
              <a:spcAft>
                <a:spcPts val="1300"/>
              </a:spcAft>
            </a:pPr>
            <a:r>
              <a:rPr sz="2100" b="0" i="0">
                <a:solidFill>
                  <a:srgbClr val="1A1A1A"/>
                </a:solidFill>
                <a:latin typeface="Arial"/>
              </a:rPr>
              <a:t>In pattern 2 the wide middle bars can occur on high or above average volume, indicating bullishness. Narrow middle bars on low volume are also a sign of potential bullishness (p. 216).</a:t>
            </a:r>
          </a:p>
          <a:p>
            <a:pPr algn="l">
              <a:lnSpc>
                <a:spcPct val="118000"/>
              </a:lnSpc>
              <a:spcBef>
                <a:spcPts val="0"/>
              </a:spcBef>
              <a:spcAft>
                <a:spcPts val="1300"/>
              </a:spcAft>
            </a:pPr>
            <a:r>
              <a:rPr sz="2100" b="0" i="0">
                <a:solidFill>
                  <a:srgbClr val="1A1A1A"/>
                </a:solidFill>
                <a:latin typeface="Arial"/>
              </a:rPr>
              <a:t>And a bullish pattern is potentially more reliable if the last bar is overextended and closes near or at its high on high volume (p. 216).</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215 to 216.</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1: narrow bars hold near the first low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52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narrow range bars closing near the 1st bar's low.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42162" y="1810512"/>
            <a:ext cx="378229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61034" y="1929384"/>
            <a:ext cx="354454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61034" y="1929384"/>
            <a:ext cx="354454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35354" y="2203703"/>
            <a:ext cx="299590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1: narrow bars near the first low, then a high close.</a:t>
            </a:r>
          </a:p>
        </p:txBody>
      </p:sp>
      <p:sp>
        <p:nvSpPr>
          <p:cNvPr id="12" name="Rectangle 11"/>
          <p:cNvSpPr/>
          <p:nvPr/>
        </p:nvSpPr>
        <p:spPr>
          <a:xfrm>
            <a:off x="7595879" y="2647603"/>
            <a:ext cx="486294" cy="2154658"/>
          </a:xfrm>
          <a:prstGeom prst="rect">
            <a:avLst/>
          </a:prstGeom>
          <a:noFill/>
          <a:ln w="44450">
            <a:solidFill>
              <a:srgbClr val="E09B00"/>
            </a:solidFill>
          </a:ln>
        </p:spPr>
        <p:txBody>
          <a:bodyPr rtlCol="0" anchor="ctr"/>
          <a:lstStyle/>
          <a:p>
            <a:pPr algn="ctr"/>
          </a:p>
        </p:txBody>
      </p:sp>
      <p:sp>
        <p:nvSpPr>
          <p:cNvPr id="13" name="Rectangle 12"/>
          <p:cNvSpPr/>
          <p:nvPr/>
        </p:nvSpPr>
        <p:spPr>
          <a:xfrm>
            <a:off x="8103786" y="4323449"/>
            <a:ext cx="1512916" cy="670338"/>
          </a:xfrm>
          <a:prstGeom prst="rect">
            <a:avLst/>
          </a:prstGeom>
          <a:noFill/>
          <a:ln w="44450">
            <a:solidFill>
              <a:srgbClr val="C62828"/>
            </a:solidFill>
          </a:ln>
        </p:spPr>
        <p:txBody>
          <a:bodyPr rtlCol="0" anchor="ctr"/>
          <a:lstStyle/>
          <a:p>
            <a:pPr algn="ctr"/>
          </a:p>
        </p:txBody>
      </p:sp>
      <p:sp>
        <p:nvSpPr>
          <p:cNvPr id="14" name="Rectangle 13"/>
          <p:cNvSpPr/>
          <p:nvPr/>
        </p:nvSpPr>
        <p:spPr>
          <a:xfrm>
            <a:off x="9638316" y="2647603"/>
            <a:ext cx="486294" cy="2154658"/>
          </a:xfrm>
          <a:prstGeom prst="rect">
            <a:avLst/>
          </a:prstGeom>
          <a:noFill/>
          <a:ln w="44450">
            <a:solidFill>
              <a:srgbClr val="1F5FAD"/>
            </a:solidFill>
          </a:ln>
        </p:spPr>
        <p:txBody>
          <a:bodyPr rtlCol="0" anchor="ctr"/>
          <a:lstStyle/>
          <a:p>
            <a:pPr algn="ctr"/>
          </a:p>
        </p:txBody>
      </p:sp>
      <p:sp>
        <p:nvSpPr>
          <p:cNvPr id="15" name="Oval 14"/>
          <p:cNvSpPr/>
          <p:nvPr/>
        </p:nvSpPr>
        <p:spPr>
          <a:xfrm>
            <a:off x="7467863" y="251958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21422" y="51211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10300" y="25195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1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40.00, near its low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close at PHP 39.90 and PHP 39.80, still near that low. The last bar closes at PHP 41.80, near its PHP 42.00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e-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4140768"/>
            <a:ext cx="5301386" cy="1263335"/>
          </a:xfrm>
          <a:prstGeom prst="rect">
            <a:avLst/>
          </a:prstGeom>
          <a:noFill/>
          <a:ln w="44450">
            <a:solidFill>
              <a:srgbClr val="C62828"/>
            </a:solidFill>
          </a:ln>
        </p:spPr>
        <p:txBody>
          <a:bodyPr rtlCol="0" anchor="ctr"/>
          <a:lstStyle/>
          <a:p>
            <a:pPr algn="ctr"/>
          </a:p>
        </p:txBody>
      </p:sp>
      <p:sp>
        <p:nvSpPr>
          <p:cNvPr id="10" name="Oval 9"/>
          <p:cNvSpPr/>
          <p:nvPr/>
        </p:nvSpPr>
        <p:spPr>
          <a:xfrm>
            <a:off x="2251252" y="4634179"/>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350178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486615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206506" y="43267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35771" y="364356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XE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53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2: wide bars closing near their highs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54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wide range bars, all closing near their highs.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wide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7286091" y="1810512"/>
            <a:ext cx="269443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04963" y="1929384"/>
            <a:ext cx="2456688"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04963" y="1929384"/>
            <a:ext cx="2456688"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9283" y="2203703"/>
            <a:ext cx="190804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2: wide middle bars closing near their highs.</a:t>
            </a:r>
          </a:p>
        </p:txBody>
      </p:sp>
      <p:sp>
        <p:nvSpPr>
          <p:cNvPr id="12" name="Rectangle 11"/>
          <p:cNvSpPr/>
          <p:nvPr/>
        </p:nvSpPr>
        <p:spPr>
          <a:xfrm>
            <a:off x="7769504" y="2456078"/>
            <a:ext cx="364540" cy="1580083"/>
          </a:xfrm>
          <a:prstGeom prst="rect">
            <a:avLst/>
          </a:prstGeom>
          <a:noFill/>
          <a:ln w="44450">
            <a:solidFill>
              <a:srgbClr val="E09B00"/>
            </a:solidFill>
          </a:ln>
        </p:spPr>
        <p:txBody>
          <a:bodyPr rtlCol="0" anchor="ctr"/>
          <a:lstStyle/>
          <a:p>
            <a:pPr algn="ctr"/>
          </a:p>
        </p:txBody>
      </p:sp>
      <p:sp>
        <p:nvSpPr>
          <p:cNvPr id="13" name="Rectangle 12"/>
          <p:cNvSpPr/>
          <p:nvPr/>
        </p:nvSpPr>
        <p:spPr>
          <a:xfrm>
            <a:off x="8197443" y="3509467"/>
            <a:ext cx="1077772" cy="1814169"/>
          </a:xfrm>
          <a:prstGeom prst="rect">
            <a:avLst/>
          </a:prstGeom>
          <a:noFill/>
          <a:ln w="44450">
            <a:solidFill>
              <a:srgbClr val="C62828"/>
            </a:solidFill>
          </a:ln>
        </p:spPr>
        <p:txBody>
          <a:bodyPr rtlCol="0" anchor="ctr"/>
          <a:lstStyle/>
          <a:p>
            <a:pPr algn="ctr"/>
          </a:p>
        </p:txBody>
      </p:sp>
      <p:sp>
        <p:nvSpPr>
          <p:cNvPr id="14" name="Rectangle 13"/>
          <p:cNvSpPr/>
          <p:nvPr/>
        </p:nvSpPr>
        <p:spPr>
          <a:xfrm>
            <a:off x="9291065" y="2456078"/>
            <a:ext cx="364540" cy="1580083"/>
          </a:xfrm>
          <a:prstGeom prst="rect">
            <a:avLst/>
          </a:prstGeom>
          <a:noFill/>
          <a:ln w="44450">
            <a:solidFill>
              <a:srgbClr val="1F5FAD"/>
            </a:solidFill>
          </a:ln>
        </p:spPr>
        <p:txBody>
          <a:bodyPr rtlCol="0" anchor="ctr"/>
          <a:lstStyle/>
          <a:p>
            <a:pPr algn="ctr"/>
          </a:p>
        </p:txBody>
      </p:sp>
      <p:sp>
        <p:nvSpPr>
          <p:cNvPr id="15" name="Oval 14"/>
          <p:cNvSpPr/>
          <p:nvPr/>
        </p:nvSpPr>
        <p:spPr>
          <a:xfrm>
            <a:off x="7641488" y="232806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069427" y="338145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63049" y="232806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2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40.00, near its low </a:t>
            </a:r>
            <a:r>
              <a:rPr sz="1700" b="1" i="0">
                <a:solidFill>
                  <a:srgbClr val="E09B00"/>
                </a:solidFill>
                <a:latin typeface="Arial"/>
              </a:rPr>
              <a:t>(1)</a:t>
            </a:r>
            <a:r>
              <a:rPr sz="1700" b="0" i="0">
                <a:solidFill>
                  <a:srgbClr val="1A1A1A"/>
                </a:solidFill>
                <a:latin typeface="Arial"/>
              </a:rPr>
              <a:t>. The two wide bars </a:t>
            </a:r>
            <a:r>
              <a:rPr sz="1700" b="1" i="0">
                <a:solidFill>
                  <a:srgbClr val="C62828"/>
                </a:solidFill>
                <a:latin typeface="Arial"/>
              </a:rPr>
              <a:t>(2)</a:t>
            </a:r>
            <a:r>
              <a:rPr sz="1700" b="0" i="0">
                <a:solidFill>
                  <a:srgbClr val="1A1A1A"/>
                </a:solidFill>
                <a:latin typeface="Arial"/>
              </a:rPr>
              <a:t> close near their highs, at PHP 39.80 and PHP 39.70, on 3.8 and 3.6 million shares </a:t>
            </a:r>
            <a:r>
              <a:rPr sz="1700" b="1" i="0">
                <a:solidFill>
                  <a:srgbClr val="1F5FAD"/>
                </a:solidFill>
                <a:latin typeface="Arial"/>
              </a:rPr>
              <a:t>(3)</a:t>
            </a:r>
            <a:r>
              <a:rPr sz="1700" b="0" i="0">
                <a:solidFill>
                  <a:srgbClr val="1A1A1A"/>
                </a:solidFill>
                <a:latin typeface="Arial"/>
              </a:rPr>
              <a:t>. The last bar closes at PHP 41.80, near its high </a:t>
            </a:r>
            <a:r>
              <a:rPr sz="1700" b="1" i="0">
                <a:solidFill>
                  <a:srgbClr val="7B3FA0"/>
                </a:solidFill>
                <a:latin typeface="Arial"/>
              </a:rPr>
              <a:t>(4)</a:t>
            </a:r>
            <a:r>
              <a:rPr sz="1700" b="0" i="0">
                <a:solidFill>
                  <a:srgbClr val="1A1A1A"/>
                </a:solidFill>
                <a:latin typeface="Arial"/>
              </a:rPr>
              <a:t>. High volume on these wide bars indicates bullishness here (p. 216).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f-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517827"/>
            <a:ext cx="5301386" cy="1383356"/>
          </a:xfrm>
          <a:prstGeom prst="rect">
            <a:avLst/>
          </a:prstGeom>
          <a:noFill/>
          <a:ln w="44450">
            <a:solidFill>
              <a:srgbClr val="C62828"/>
            </a:solidFill>
          </a:ln>
        </p:spPr>
        <p:txBody>
          <a:bodyPr rtlCol="0" anchor="ctr"/>
          <a:lstStyle/>
          <a:p>
            <a:pPr algn="ctr"/>
          </a:p>
        </p:txBody>
      </p:sp>
      <p:sp>
        <p:nvSpPr>
          <p:cNvPr id="10" name="Oval 9"/>
          <p:cNvSpPr/>
          <p:nvPr/>
        </p:nvSpPr>
        <p:spPr>
          <a:xfrm>
            <a:off x="2251252" y="3885416"/>
            <a:ext cx="87782" cy="87782"/>
          </a:xfrm>
          <a:prstGeom prst="ellipse">
            <a:avLst/>
          </a:prstGeom>
          <a:noFill/>
          <a:ln w="44450">
            <a:solidFill>
              <a:srgbClr val="E09B00"/>
            </a:solidFill>
          </a:ln>
        </p:spPr>
        <p:txBody>
          <a:bodyPr rtlCol="0" anchor="ctr"/>
          <a:lstStyle/>
          <a:p>
            <a:pPr algn="ctr"/>
          </a:p>
        </p:txBody>
      </p:sp>
      <p:sp>
        <p:nvSpPr>
          <p:cNvPr id="11" name="Rectangle 10"/>
          <p:cNvSpPr/>
          <p:nvPr/>
        </p:nvSpPr>
        <p:spPr>
          <a:xfrm>
            <a:off x="4633874" y="5148072"/>
            <a:ext cx="2960522" cy="237744"/>
          </a:xfrm>
          <a:prstGeom prst="rect">
            <a:avLst/>
          </a:prstGeom>
          <a:noFill/>
          <a:ln w="44450">
            <a:solidFill>
              <a:srgbClr val="1F5FAD"/>
            </a:solidFill>
          </a:ln>
        </p:spPr>
        <p:txBody>
          <a:bodyPr rtlCol="0" anchor="ctr"/>
          <a:lstStyle/>
          <a:p>
            <a:pPr algn="ctr"/>
          </a:p>
        </p:txBody>
      </p:sp>
      <p:sp>
        <p:nvSpPr>
          <p:cNvPr id="12" name="Oval 11"/>
          <p:cNvSpPr/>
          <p:nvPr/>
        </p:nvSpPr>
        <p:spPr>
          <a:xfrm>
            <a:off x="10200131" y="3426909"/>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408148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2206506" y="35779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7630346" y="51532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35771" y="35686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55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Prices and volume are invented for teaching.</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3: narrow bars inside the first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56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narrow range bars closing within its range.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59658" y="1810512"/>
            <a:ext cx="374729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78530" y="1929384"/>
            <a:ext cx="350955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78530" y="1929384"/>
            <a:ext cx="350955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52850" y="2203703"/>
            <a:ext cx="296091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3: narrow bars inside the first bar.</a:t>
            </a:r>
          </a:p>
        </p:txBody>
      </p:sp>
      <p:sp>
        <p:nvSpPr>
          <p:cNvPr id="12" name="Rectangle 11"/>
          <p:cNvSpPr/>
          <p:nvPr/>
        </p:nvSpPr>
        <p:spPr>
          <a:xfrm>
            <a:off x="7467229" y="2681804"/>
            <a:ext cx="520772" cy="2340864"/>
          </a:xfrm>
          <a:prstGeom prst="rect">
            <a:avLst/>
          </a:prstGeom>
          <a:noFill/>
          <a:ln w="44450">
            <a:solidFill>
              <a:srgbClr val="E09B00"/>
            </a:solidFill>
          </a:ln>
        </p:spPr>
        <p:txBody>
          <a:bodyPr rtlCol="0" anchor="ctr"/>
          <a:lstStyle/>
          <a:p>
            <a:pPr algn="ctr"/>
          </a:p>
        </p:txBody>
      </p:sp>
      <p:sp>
        <p:nvSpPr>
          <p:cNvPr id="13" name="Rectangle 12"/>
          <p:cNvSpPr/>
          <p:nvPr/>
        </p:nvSpPr>
        <p:spPr>
          <a:xfrm>
            <a:off x="7942717" y="3267020"/>
            <a:ext cx="1720813" cy="1170432"/>
          </a:xfrm>
          <a:prstGeom prst="rect">
            <a:avLst/>
          </a:prstGeom>
          <a:noFill/>
          <a:ln w="44450">
            <a:solidFill>
              <a:srgbClr val="C62828"/>
            </a:solidFill>
          </a:ln>
        </p:spPr>
        <p:txBody>
          <a:bodyPr rtlCol="0" anchor="ctr"/>
          <a:lstStyle/>
          <a:p>
            <a:pPr algn="ctr"/>
          </a:p>
        </p:txBody>
      </p:sp>
      <p:sp>
        <p:nvSpPr>
          <p:cNvPr id="14" name="Rectangle 13"/>
          <p:cNvSpPr/>
          <p:nvPr/>
        </p:nvSpPr>
        <p:spPr>
          <a:xfrm>
            <a:off x="9572962" y="2765406"/>
            <a:ext cx="520772" cy="2257261"/>
          </a:xfrm>
          <a:prstGeom prst="rect">
            <a:avLst/>
          </a:prstGeom>
          <a:noFill/>
          <a:ln w="44450">
            <a:solidFill>
              <a:srgbClr val="1F5FAD"/>
            </a:solidFill>
          </a:ln>
        </p:spPr>
        <p:txBody>
          <a:bodyPr rtlCol="0" anchor="ctr"/>
          <a:lstStyle/>
          <a:p>
            <a:pPr algn="ctr"/>
          </a:p>
        </p:txBody>
      </p:sp>
      <p:sp>
        <p:nvSpPr>
          <p:cNvPr id="15" name="Oval 14"/>
          <p:cNvSpPr/>
          <p:nvPr/>
        </p:nvSpPr>
        <p:spPr>
          <a:xfrm>
            <a:off x="7339213" y="255378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14701" y="31390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44946" y="263739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3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runs from PHP 39.60 to PHP 42.00 and closes at PHP 39.80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stay inside that range, between PHP 40.20 and PHP 40.80. The last bar closes at PHP 42.00, near its PHP 42.20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855251"/>
            <a:ext cx="5301386" cy="1185906"/>
          </a:xfrm>
          <a:prstGeom prst="rect">
            <a:avLst/>
          </a:prstGeom>
          <a:noFill/>
          <a:ln w="44450">
            <a:solidFill>
              <a:srgbClr val="C62828"/>
            </a:solidFill>
          </a:ln>
        </p:spPr>
        <p:txBody>
          <a:bodyPr rtlCol="0" anchor="ctr"/>
          <a:lstStyle/>
          <a:p>
            <a:pPr algn="ctr"/>
          </a:p>
        </p:txBody>
      </p:sp>
      <p:sp>
        <p:nvSpPr>
          <p:cNvPr id="10" name="Oval 9"/>
          <p:cNvSpPr/>
          <p:nvPr/>
        </p:nvSpPr>
        <p:spPr>
          <a:xfrm>
            <a:off x="2251252" y="4827750"/>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349694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43201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206506" y="452029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35771" y="363873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XG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57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4: an island reversal formation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58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Lim's label: "1st bar closes near its low followed by multiple bars forming below a gap. The last bar gaps up and closes at or near its high. Referred to as an island reversal formation" (Figure 7.11, p. 216).</a:t>
            </a:r>
          </a:p>
          <a:p>
            <a:pPr algn="l">
              <a:lnSpc>
                <a:spcPct val="105000"/>
              </a:lnSpc>
              <a:spcBef>
                <a:spcPts val="0"/>
              </a:spcBef>
              <a:spcAft>
                <a:spcPts val="1100"/>
              </a:spcAft>
            </a:pPr>
            <a:r>
              <a:rPr sz="1900" b="0" i="0">
                <a:solidFill>
                  <a:srgbClr val="1A1A1A"/>
                </a:solidFill>
                <a:latin typeface="Arial"/>
              </a:rPr>
              <a:t>In the drawing, </a:t>
            </a:r>
            <a:r>
              <a:rPr sz="1900" b="1" i="0">
                <a:solidFill>
                  <a:srgbClr val="E09B00"/>
                </a:solidFill>
                <a:latin typeface="Arial"/>
              </a:rPr>
              <a:t>(1)</a:t>
            </a:r>
            <a:r>
              <a:rPr sz="1900" b="0" i="0">
                <a:solidFill>
                  <a:srgbClr val="1A1A1A"/>
                </a:solidFill>
                <a:latin typeface="Arial"/>
              </a:rPr>
              <a:t> is the first bar, </a:t>
            </a:r>
            <a:r>
              <a:rPr sz="1900" b="1" i="0">
                <a:solidFill>
                  <a:srgbClr val="C62828"/>
                </a:solidFill>
                <a:latin typeface="Arial"/>
              </a:rPr>
              <a:t>(2)</a:t>
            </a:r>
            <a:r>
              <a:rPr sz="1900" b="0" i="0">
                <a:solidFill>
                  <a:srgbClr val="1A1A1A"/>
                </a:solidFill>
                <a:latin typeface="Arial"/>
              </a:rPr>
              <a:t> the bars below the gap and </a:t>
            </a:r>
            <a:r>
              <a:rPr sz="1900" b="1" i="0">
                <a:solidFill>
                  <a:srgbClr val="1F5FAD"/>
                </a:solidFill>
                <a:latin typeface="Arial"/>
              </a:rPr>
              <a:t>(3)</a:t>
            </a:r>
            <a:r>
              <a:rPr sz="1900" b="0" i="0">
                <a:solidFill>
                  <a:srgbClr val="1A1A1A"/>
                </a:solidFill>
                <a:latin typeface="Arial"/>
              </a:rPr>
              <a:t> the last bar at the right edge of Lim's drawing. Our chart on the next slide draws it with prices.</a:t>
            </a:r>
          </a:p>
        </p:txBody>
      </p:sp>
      <p:sp>
        <p:nvSpPr>
          <p:cNvPr id="8" name="Rectangle 7"/>
          <p:cNvSpPr/>
          <p:nvPr/>
        </p:nvSpPr>
        <p:spPr>
          <a:xfrm>
            <a:off x="6753368" y="1810512"/>
            <a:ext cx="375987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72240" y="1929384"/>
            <a:ext cx="352213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72240" y="1929384"/>
            <a:ext cx="352213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46560" y="2203703"/>
            <a:ext cx="297349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4: bars isolated below a gap.</a:t>
            </a:r>
          </a:p>
        </p:txBody>
      </p:sp>
      <p:sp>
        <p:nvSpPr>
          <p:cNvPr id="12" name="Rectangle 11"/>
          <p:cNvSpPr/>
          <p:nvPr/>
        </p:nvSpPr>
        <p:spPr>
          <a:xfrm>
            <a:off x="7259675" y="2384552"/>
            <a:ext cx="422656" cy="1820671"/>
          </a:xfrm>
          <a:prstGeom prst="rect">
            <a:avLst/>
          </a:prstGeom>
          <a:noFill/>
          <a:ln w="44450">
            <a:solidFill>
              <a:srgbClr val="E09B00"/>
            </a:solidFill>
          </a:ln>
        </p:spPr>
        <p:txBody>
          <a:bodyPr rtlCol="0" anchor="ctr"/>
          <a:lstStyle/>
          <a:p>
            <a:pPr algn="ctr"/>
          </a:p>
        </p:txBody>
      </p:sp>
      <p:sp>
        <p:nvSpPr>
          <p:cNvPr id="13" name="Rectangle 12"/>
          <p:cNvSpPr/>
          <p:nvPr/>
        </p:nvSpPr>
        <p:spPr>
          <a:xfrm>
            <a:off x="7647110" y="4400296"/>
            <a:ext cx="1866730" cy="975359"/>
          </a:xfrm>
          <a:prstGeom prst="rect">
            <a:avLst/>
          </a:prstGeom>
          <a:noFill/>
          <a:ln w="44450">
            <a:solidFill>
              <a:srgbClr val="C62828"/>
            </a:solidFill>
          </a:ln>
        </p:spPr>
        <p:txBody>
          <a:bodyPr rtlCol="0" anchor="ctr"/>
          <a:lstStyle/>
          <a:p>
            <a:pPr algn="ctr"/>
          </a:p>
        </p:txBody>
      </p:sp>
      <p:sp>
        <p:nvSpPr>
          <p:cNvPr id="14" name="Rectangle 13"/>
          <p:cNvSpPr/>
          <p:nvPr/>
        </p:nvSpPr>
        <p:spPr>
          <a:xfrm>
            <a:off x="9654726" y="2384552"/>
            <a:ext cx="563541" cy="1690623"/>
          </a:xfrm>
          <a:prstGeom prst="rect">
            <a:avLst/>
          </a:prstGeom>
          <a:noFill/>
          <a:ln w="44450">
            <a:solidFill>
              <a:srgbClr val="1F5FAD"/>
            </a:solidFill>
          </a:ln>
        </p:spPr>
        <p:txBody>
          <a:bodyPr rtlCol="0" anchor="ctr"/>
          <a:lstStyle/>
          <a:p>
            <a:pPr algn="ctr"/>
          </a:p>
        </p:txBody>
      </p:sp>
      <p:sp>
        <p:nvSpPr>
          <p:cNvPr id="15" name="Oval 14"/>
          <p:cNvSpPr/>
          <p:nvPr/>
        </p:nvSpPr>
        <p:spPr>
          <a:xfrm>
            <a:off x="7131659" y="22565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519094" y="42722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26710" y="22565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4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1's low is PHP 40.00 </a:t>
            </a:r>
            <a:r>
              <a:rPr sz="1700" b="1" i="0">
                <a:solidFill>
                  <a:srgbClr val="E09B00"/>
                </a:solidFill>
                <a:latin typeface="Arial"/>
              </a:rPr>
              <a:t>(1)</a:t>
            </a:r>
            <a:r>
              <a:rPr sz="1700" b="0" i="0">
                <a:solidFill>
                  <a:srgbClr val="1A1A1A"/>
                </a:solidFill>
                <a:latin typeface="Arial"/>
              </a:rPr>
              <a:t>, and the isolated bars </a:t>
            </a:r>
            <a:r>
              <a:rPr sz="1700" b="1" i="0">
                <a:solidFill>
                  <a:srgbClr val="C62828"/>
                </a:solidFill>
                <a:latin typeface="Arial"/>
              </a:rPr>
              <a:t>(2)</a:t>
            </a:r>
            <a:r>
              <a:rPr sz="1700" b="0" i="0">
                <a:solidFill>
                  <a:srgbClr val="1A1A1A"/>
                </a:solidFill>
                <a:latin typeface="Arial"/>
              </a:rPr>
              <a:t> trade below a gap, between PHP 39.00 and PHP 39.60. The last bar's low is PHP 40.00 </a:t>
            </a:r>
            <a:r>
              <a:rPr sz="1700" b="1" i="0">
                <a:solidFill>
                  <a:srgbClr val="1F5FAD"/>
                </a:solidFill>
                <a:latin typeface="Arial"/>
              </a:rPr>
              <a:t>(3)</a:t>
            </a:r>
            <a:r>
              <a:rPr sz="1700" b="0" i="0">
                <a:solidFill>
                  <a:srgbClr val="1A1A1A"/>
                </a:solidFill>
                <a:latin typeface="Arial"/>
              </a:rPr>
              <a:t>, so it gaps up above them, and closes at PHP 41.60, near its PHP 41.80 high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h-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4266590"/>
            <a:ext cx="5301386" cy="1137513"/>
          </a:xfrm>
          <a:prstGeom prst="rect">
            <a:avLst/>
          </a:prstGeom>
          <a:noFill/>
          <a:ln w="44450">
            <a:solidFill>
              <a:srgbClr val="C62828"/>
            </a:solidFill>
          </a:ln>
        </p:spPr>
        <p:txBody>
          <a:bodyPr rtlCol="0" anchor="ctr"/>
          <a:lstStyle/>
          <a:p>
            <a:pPr algn="ctr"/>
          </a:p>
        </p:txBody>
      </p:sp>
      <p:sp>
        <p:nvSpPr>
          <p:cNvPr id="10" name="Oval 9"/>
          <p:cNvSpPr/>
          <p:nvPr/>
        </p:nvSpPr>
        <p:spPr>
          <a:xfrm>
            <a:off x="2095804" y="4424476"/>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44683" y="442447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10200131" y="3585667"/>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470733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832954" y="427530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788183" y="442073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35771" y="3727450"/>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XH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59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Multiple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bearish multiple pattern, what volume does Lim generally expect on the bars between the first and the last?</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Low volume</a:t>
            </a:r>
          </a:p>
          <a:p>
            <a:pPr algn="l">
              <a:lnSpc>
                <a:spcPct val="112000"/>
              </a:lnSpc>
              <a:spcBef>
                <a:spcPts val="0"/>
              </a:spcBef>
              <a:spcAft>
                <a:spcPts val="900"/>
              </a:spcAft>
            </a:pPr>
            <a:r>
              <a:rPr sz="1700" b="0" i="0">
                <a:solidFill>
                  <a:srgbClr val="FFFFFF"/>
                </a:solidFill>
                <a:latin typeface="Arial"/>
              </a:rPr>
              <a:t>B.  Steadily rising volume</a:t>
            </a:r>
          </a:p>
          <a:p>
            <a:pPr algn="l">
              <a:lnSpc>
                <a:spcPct val="112000"/>
              </a:lnSpc>
              <a:spcBef>
                <a:spcPts val="0"/>
              </a:spcBef>
              <a:spcAft>
                <a:spcPts val="900"/>
              </a:spcAft>
            </a:pPr>
            <a:r>
              <a:rPr sz="1700" b="0" i="0">
                <a:solidFill>
                  <a:srgbClr val="FFFFFF"/>
                </a:solidFill>
                <a:latin typeface="Arial"/>
              </a:rPr>
              <a:t>C.  The same volume as the first bar</a:t>
            </a:r>
          </a:p>
          <a:p>
            <a:pPr algn="l">
              <a:lnSpc>
                <a:spcPct val="112000"/>
              </a:lnSpc>
              <a:spcBef>
                <a:spcPts val="0"/>
              </a:spcBef>
              <a:spcAft>
                <a:spcPts val="900"/>
              </a:spcAft>
            </a:pPr>
            <a:r>
              <a:rPr sz="1700" b="0" i="0">
                <a:solidFill>
                  <a:srgbClr val="FFFFFF"/>
                </a:solidFill>
                <a:latin typeface="Arial"/>
              </a:rPr>
              <a:t>D.  Volume does not matter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bullish multiple pattern 2, what can high volume on the wide middle bars indicate?</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Bearishness</a:t>
            </a:r>
          </a:p>
          <a:p>
            <a:pPr algn="l">
              <a:lnSpc>
                <a:spcPct val="112000"/>
              </a:lnSpc>
              <a:spcBef>
                <a:spcPts val="0"/>
              </a:spcBef>
              <a:spcAft>
                <a:spcPts val="900"/>
              </a:spcAft>
            </a:pPr>
            <a:r>
              <a:rPr sz="1700" b="0" i="0">
                <a:solidFill>
                  <a:srgbClr val="FFFFFF"/>
                </a:solidFill>
                <a:latin typeface="Arial"/>
              </a:rPr>
              <a:t>B.  Bullishness</a:t>
            </a:r>
          </a:p>
          <a:p>
            <a:pPr algn="l">
              <a:lnSpc>
                <a:spcPct val="112000"/>
              </a:lnSpc>
              <a:spcBef>
                <a:spcPts val="0"/>
              </a:spcBef>
              <a:spcAft>
                <a:spcPts val="900"/>
              </a:spcAft>
            </a:pPr>
            <a:r>
              <a:rPr sz="1700" b="0" i="0">
                <a:solidFill>
                  <a:srgbClr val="FFFFFF"/>
                </a:solidFill>
                <a:latin typeface="Arial"/>
              </a:rPr>
              <a:t>C.  A continuation pattern</a:t>
            </a:r>
          </a:p>
          <a:p>
            <a:pPr algn="l">
              <a:lnSpc>
                <a:spcPct val="112000"/>
              </a:lnSpc>
              <a:spcBef>
                <a:spcPts val="0"/>
              </a:spcBef>
              <a:spcAft>
                <a:spcPts val="900"/>
              </a:spcAft>
            </a:pPr>
            <a:r>
              <a:rPr sz="1700" b="0" i="0">
                <a:solidFill>
                  <a:srgbClr val="FFFFFF"/>
                </a:solidFill>
                <a:latin typeface="Arial"/>
              </a:rPr>
              <a:t>D.  Nothing at all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Multiple bar patterns</a:t>
            </a:r>
          </a:p>
        </p:txBody>
      </p:sp>
      <p:sp>
        <p:nvSpPr>
          <p:cNvPr id="6" name="Rectangle 5"/>
          <p:cNvSpPr/>
          <p:nvPr/>
        </p:nvSpPr>
        <p:spPr>
          <a:xfrm>
            <a:off x="777240" y="1207008"/>
            <a:ext cx="10637215" cy="212471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12471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a bearish multiple pattern, what volume does Lim generally expect on the bars between the first and the last?</a:t>
            </a:r>
          </a:p>
        </p:txBody>
      </p:sp>
      <p:sp>
        <p:nvSpPr>
          <p:cNvPr id="9" name="TextBox 8"/>
          <p:cNvSpPr txBox="1"/>
          <p:nvPr/>
        </p:nvSpPr>
        <p:spPr>
          <a:xfrm>
            <a:off x="1143000" y="2197354"/>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Low volume</a:t>
            </a:r>
          </a:p>
          <a:p>
            <a:pPr algn="l">
              <a:lnSpc>
                <a:spcPct val="115000"/>
              </a:lnSpc>
              <a:spcBef>
                <a:spcPts val="700"/>
              </a:spcBef>
              <a:spcAft>
                <a:spcPts val="0"/>
              </a:spcAft>
            </a:pPr>
            <a:r>
              <a:rPr sz="1700" b="0" i="0">
                <a:solidFill>
                  <a:srgbClr val="1A1A1A"/>
                </a:solidFill>
                <a:latin typeface="Arial"/>
              </a:rPr>
              <a:t>The numerous bars between the first and last bars should generally occur on low volume, with pattern 2 possibly the exception (p. 214).</a:t>
            </a:r>
          </a:p>
        </p:txBody>
      </p:sp>
      <p:sp>
        <p:nvSpPr>
          <p:cNvPr id="10" name="Rectangle 9"/>
          <p:cNvSpPr/>
          <p:nvPr/>
        </p:nvSpPr>
        <p:spPr>
          <a:xfrm>
            <a:off x="777240" y="357860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7860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81634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bullish multiple pattern 2, what can high volume on the wide middle bars indicate?</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Bullishness</a:t>
            </a:r>
          </a:p>
          <a:p>
            <a:pPr algn="l">
              <a:lnSpc>
                <a:spcPct val="115000"/>
              </a:lnSpc>
              <a:spcBef>
                <a:spcPts val="700"/>
              </a:spcBef>
              <a:spcAft>
                <a:spcPts val="0"/>
              </a:spcAft>
            </a:pPr>
            <a:r>
              <a:rPr sz="1700" b="0" i="0">
                <a:solidFill>
                  <a:srgbClr val="1A1A1A"/>
                </a:solidFill>
                <a:latin typeface="Arial"/>
              </a:rPr>
              <a:t>Wide-ranging bars between the first and last bar in pattern 2 can occur on high or above average volume, indicating bullishness (p. 216).</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12</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Continuation bars show the trend is still strong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60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So far every pattern disagreed with its trend. Lim also draws two patterns where a bullish continuation is expected instead: bullish bars inside an uptrend (p. 216).</a:t>
            </a:r>
          </a:p>
          <a:p>
            <a:pPr algn="l">
              <a:lnSpc>
                <a:spcPct val="118000"/>
              </a:lnSpc>
              <a:spcBef>
                <a:spcPts val="0"/>
              </a:spcBef>
              <a:spcAft>
                <a:spcPts val="1300"/>
              </a:spcAft>
            </a:pPr>
            <a:r>
              <a:rPr sz="2100" b="0" i="0">
                <a:solidFill>
                  <a:srgbClr val="1A1A1A"/>
                </a:solidFill>
                <a:latin typeface="Arial"/>
              </a:rPr>
              <a:t>Lim adds that large volume on a bullish second bar indicates the trend may still be potentially strong (p. 216).</a:t>
            </a:r>
          </a:p>
          <a:p>
            <a:pPr algn="l">
              <a:lnSpc>
                <a:spcPct val="118000"/>
              </a:lnSpc>
              <a:spcBef>
                <a:spcPts val="0"/>
              </a:spcBef>
              <a:spcAft>
                <a:spcPts val="1300"/>
              </a:spcAft>
            </a:pPr>
            <a:r>
              <a:rPr sz="2100" b="0" i="0">
                <a:solidFill>
                  <a:srgbClr val="1A1A1A"/>
                </a:solidFill>
                <a:latin typeface="Arial"/>
              </a:rPr>
              <a:t>For bearish continuation bars he says only that the reverse applies (p. 217); he draws no bearish example.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Continuation pattern 1: the second bar breaks the previous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"the second bar breaches the high of the previous bar on high volume" (p. 217); his label adds that it closes at or near its high (Figure 7.12, p. 216). Here it is with invented prices. The previous high is PHP 51.00 </a:t>
            </a:r>
            <a:r>
              <a:rPr sz="1700" b="1" i="0">
                <a:solidFill>
                  <a:srgbClr val="E09B00"/>
                </a:solidFill>
                <a:latin typeface="Arial"/>
              </a:rPr>
              <a:t>(1)</a:t>
            </a:r>
            <a:r>
              <a:rPr sz="1700" b="0" i="0">
                <a:solidFill>
                  <a:srgbClr val="1A1A1A"/>
                </a:solidFill>
                <a:latin typeface="Arial"/>
              </a:rPr>
              <a:t>. Bar 2 reaches PHP 53.40 and closes at PHP 53.20, near its high </a:t>
            </a:r>
            <a:r>
              <a:rPr sz="1700" b="1" i="0">
                <a:solidFill>
                  <a:srgbClr val="C62828"/>
                </a:solidFill>
                <a:latin typeface="Arial"/>
              </a:rPr>
              <a:t>(2)</a:t>
            </a:r>
            <a:r>
              <a:rPr sz="1700" b="0" i="0">
                <a:solidFill>
                  <a:srgbClr val="1A1A1A"/>
                </a:solidFill>
                <a:latin typeface="Arial"/>
              </a:rPr>
              <a:t>, on 4.0 million shares against 2.0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67914" y="2395728"/>
            <a:ext cx="129941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67914" y="2395728"/>
            <a:ext cx="129941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642234" y="2670048"/>
            <a:ext cx="75077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Figure 7.12, pattern 1: a second bar closing near its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7.12,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ca-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5518403" y="3869740"/>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3417112"/>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10015422" y="5148072"/>
            <a:ext cx="310896" cy="237744"/>
          </a:xfrm>
          <a:prstGeom prst="rect">
            <a:avLst/>
          </a:prstGeom>
          <a:noFill/>
          <a:ln w="44450">
            <a:solidFill>
              <a:srgbClr val="1F5FAD"/>
            </a:solidFill>
          </a:ln>
        </p:spPr>
        <p:txBody>
          <a:bodyPr rtlCol="0" anchor="ctr"/>
          <a:lstStyle/>
          <a:p>
            <a:pPr algn="ctr"/>
          </a:p>
        </p:txBody>
      </p:sp>
      <p:sp>
        <p:nvSpPr>
          <p:cNvPr id="17" name="Oval 16"/>
          <p:cNvSpPr/>
          <p:nvPr/>
        </p:nvSpPr>
        <p:spPr>
          <a:xfrm>
            <a:off x="5244807" y="380219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31330" y="352029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326318"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CA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61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 Figure 7.12. Prices and volume are invented for teaching.</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Continuation pattern 2: a halfway retrace, then a breach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"price retraces to the 50 percent level of the previous bar and subsequently rebounds on high volume, breaching the previous bar's high" (p. 217). Say bar 1 runs from PHP 48.00 to PHP 52.00, so its 50 percent level is (48.00 + 52.00) / 2 = PHP 50.00. Bar 2 dips to PHP 50.00 </a:t>
            </a:r>
            <a:r>
              <a:rPr sz="1700" b="1" i="0">
                <a:solidFill>
                  <a:srgbClr val="E09B00"/>
                </a:solidFill>
                <a:latin typeface="Arial"/>
              </a:rPr>
              <a:t>(1)</a:t>
            </a:r>
            <a:r>
              <a:rPr sz="1700" b="0" i="0">
                <a:solidFill>
                  <a:srgbClr val="1A1A1A"/>
                </a:solidFill>
                <a:latin typeface="Arial"/>
              </a:rPr>
              <a:t>, then rebounds to PHP 52.80, above the old high </a:t>
            </a:r>
            <a:r>
              <a:rPr sz="1700" b="1" i="0">
                <a:solidFill>
                  <a:srgbClr val="C62828"/>
                </a:solidFill>
                <a:latin typeface="Arial"/>
              </a:rPr>
              <a:t>(2)</a:t>
            </a:r>
            <a:r>
              <a:rPr sz="1700" b="0" i="0">
                <a:solidFill>
                  <a:srgbClr val="1A1A1A"/>
                </a:solidFill>
                <a:latin typeface="Arial"/>
              </a:rPr>
              <a:t>, on 4.2 million shares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777240" y="2555294"/>
            <a:ext cx="2480766" cy="3192163"/>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7240" y="2555294"/>
            <a:ext cx="248076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051560" y="2829614"/>
            <a:ext cx="1932126" cy="273496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Figure 7.12, pattern 2: a retrace to the midpoint, then a rebound.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7.12,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cb-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10126979" y="4000042"/>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126979" y="3375964"/>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10015422" y="5148072"/>
            <a:ext cx="310896" cy="237744"/>
          </a:xfrm>
          <a:prstGeom prst="rect">
            <a:avLst/>
          </a:prstGeom>
          <a:noFill/>
          <a:ln w="44450">
            <a:solidFill>
              <a:srgbClr val="1F5FAD"/>
            </a:solidFill>
          </a:ln>
        </p:spPr>
        <p:txBody>
          <a:bodyPr rtlCol="0" anchor="ctr"/>
          <a:lstStyle/>
          <a:p>
            <a:pPr algn="ctr"/>
          </a:p>
        </p:txBody>
      </p:sp>
      <p:sp>
        <p:nvSpPr>
          <p:cNvPr id="17" name="Oval 16"/>
          <p:cNvSpPr/>
          <p:nvPr/>
        </p:nvSpPr>
        <p:spPr>
          <a:xfrm>
            <a:off x="10230160" y="388289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852659"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344050"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CB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62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 Figure 7.12. Prices and volume are invented for teaching.</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bars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continuation pattern 1, what does the second bar do?</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Gaps down below the first bar</a:t>
            </a:r>
          </a:p>
          <a:p>
            <a:pPr algn="l">
              <a:lnSpc>
                <a:spcPct val="112000"/>
              </a:lnSpc>
              <a:spcBef>
                <a:spcPts val="0"/>
              </a:spcBef>
              <a:spcAft>
                <a:spcPts val="900"/>
              </a:spcAft>
            </a:pPr>
            <a:r>
              <a:rPr sz="1700" b="0" i="0">
                <a:solidFill>
                  <a:srgbClr val="FFFFFF"/>
                </a:solidFill>
                <a:latin typeface="Arial"/>
              </a:rPr>
              <a:t>B.  Breaches the previous high on high volume</a:t>
            </a:r>
          </a:p>
          <a:p>
            <a:pPr algn="l">
              <a:lnSpc>
                <a:spcPct val="112000"/>
              </a:lnSpc>
              <a:spcBef>
                <a:spcPts val="0"/>
              </a:spcBef>
              <a:spcAft>
                <a:spcPts val="900"/>
              </a:spcAft>
            </a:pPr>
            <a:r>
              <a:rPr sz="1700" b="0" i="0">
                <a:solidFill>
                  <a:srgbClr val="FFFFFF"/>
                </a:solidFill>
                <a:latin typeface="Arial"/>
              </a:rPr>
              <a:t>C.  Closes near its low</a:t>
            </a:r>
          </a:p>
          <a:p>
            <a:pPr algn="l">
              <a:lnSpc>
                <a:spcPct val="112000"/>
              </a:lnSpc>
              <a:spcBef>
                <a:spcPts val="0"/>
              </a:spcBef>
              <a:spcAft>
                <a:spcPts val="900"/>
              </a:spcAft>
            </a:pPr>
            <a:r>
              <a:rPr sz="1700" b="0" i="0">
                <a:solidFill>
                  <a:srgbClr val="FFFFFF"/>
                </a:solidFill>
                <a:latin typeface="Arial"/>
              </a:rPr>
              <a:t>D.  Stays inside the first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first bar runs from PHP 48.00 to PHP 52.00. To what level does pattern 2 retrace?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PHP 49.00</a:t>
            </a:r>
          </a:p>
          <a:p>
            <a:pPr algn="l">
              <a:lnSpc>
                <a:spcPct val="112000"/>
              </a:lnSpc>
              <a:spcBef>
                <a:spcPts val="0"/>
              </a:spcBef>
              <a:spcAft>
                <a:spcPts val="900"/>
              </a:spcAft>
            </a:pPr>
            <a:r>
              <a:rPr sz="1700" b="0" i="0">
                <a:solidFill>
                  <a:srgbClr val="FFFFFF"/>
                </a:solidFill>
                <a:latin typeface="Arial"/>
              </a:rPr>
              <a:t>B.  PHP 51.00</a:t>
            </a:r>
          </a:p>
          <a:p>
            <a:pPr algn="l">
              <a:lnSpc>
                <a:spcPct val="112000"/>
              </a:lnSpc>
              <a:spcBef>
                <a:spcPts val="0"/>
              </a:spcBef>
              <a:spcAft>
                <a:spcPts val="900"/>
              </a:spcAft>
            </a:pPr>
            <a:r>
              <a:rPr sz="1700" b="0" i="0">
                <a:solidFill>
                  <a:srgbClr val="FFFFFF"/>
                </a:solidFill>
                <a:latin typeface="Arial"/>
              </a:rPr>
              <a:t>C.  PHP 52.00</a:t>
            </a:r>
          </a:p>
          <a:p>
            <a:pPr algn="l">
              <a:lnSpc>
                <a:spcPct val="112000"/>
              </a:lnSpc>
              <a:spcBef>
                <a:spcPts val="0"/>
              </a:spcBef>
              <a:spcAft>
                <a:spcPts val="900"/>
              </a:spcAft>
            </a:pPr>
            <a:r>
              <a:rPr sz="1700" b="0" i="0">
                <a:solidFill>
                  <a:srgbClr val="FFFFFF"/>
                </a:solidFill>
                <a:latin typeface="Arial"/>
              </a:rPr>
              <a:t>D.  PHP 50.00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13</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bars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continuation pattern 1, what does the second bar do?</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Breaches the previous high on high volume</a:t>
            </a:r>
          </a:p>
          <a:p>
            <a:pPr algn="l">
              <a:lnSpc>
                <a:spcPct val="115000"/>
              </a:lnSpc>
              <a:spcBef>
                <a:spcPts val="700"/>
              </a:spcBef>
              <a:spcAft>
                <a:spcPts val="0"/>
              </a:spcAft>
            </a:pPr>
            <a:r>
              <a:rPr sz="1700" b="0" i="0">
                <a:solidFill>
                  <a:srgbClr val="1A1A1A"/>
                </a:solidFill>
                <a:latin typeface="Arial"/>
              </a:rPr>
              <a:t>In pattern 1 the second bar breaches the high of the previous bar on high volume (p. 217).</a:t>
            </a:r>
          </a:p>
        </p:txBody>
      </p:sp>
      <p:sp>
        <p:nvSpPr>
          <p:cNvPr id="10" name="Rectangle 9"/>
          <p:cNvSpPr/>
          <p:nvPr/>
        </p:nvSpPr>
        <p:spPr>
          <a:xfrm>
            <a:off x="777240" y="308203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first bar runs from PHP 48.00 to PHP 52.00. To what level does pattern 2 retrace?</a:t>
            </a:r>
          </a:p>
        </p:txBody>
      </p:sp>
      <p:sp>
        <p:nvSpPr>
          <p:cNvPr id="13" name="TextBox 12"/>
          <p:cNvSpPr txBox="1"/>
          <p:nvPr/>
        </p:nvSpPr>
        <p:spPr>
          <a:xfrm>
            <a:off x="1143000" y="3824096"/>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PHP 50.00</a:t>
            </a:r>
          </a:p>
          <a:p>
            <a:pPr algn="l">
              <a:lnSpc>
                <a:spcPct val="115000"/>
              </a:lnSpc>
              <a:spcBef>
                <a:spcPts val="700"/>
              </a:spcBef>
              <a:spcAft>
                <a:spcPts val="0"/>
              </a:spcAft>
            </a:pPr>
            <a:r>
              <a:rPr sz="1700" b="0" i="0">
                <a:solidFill>
                  <a:srgbClr val="1A1A1A"/>
                </a:solidFill>
                <a:latin typeface="Arial"/>
              </a:rPr>
              <a:t>Pattern 2 retraces to the 50 percent level of the previous bar: (48.00 + 52.00) / 2 = PHP 50.00 (p. 217).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13</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Every pattern is read against the 16 reversal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63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Besides each pattern's own behaviour, Lim asks us to watch 16 basic price and volume characteristics that indicate a potential reversal (p. 217).</a:t>
            </a:r>
          </a:p>
          <a:p>
            <a:pPr algn="l">
              <a:lnSpc>
                <a:spcPct val="118000"/>
              </a:lnSpc>
              <a:spcBef>
                <a:spcPts val="0"/>
              </a:spcBef>
              <a:spcAft>
                <a:spcPts val="1300"/>
              </a:spcAft>
            </a:pPr>
            <a:r>
              <a:rPr sz="2100" b="0" i="0">
                <a:solidFill>
                  <a:srgbClr val="1A1A1A"/>
                </a:solidFill>
                <a:latin typeface="Arial"/>
              </a:rPr>
              <a:t>They apply equally to Japanese candlestick analysis (Chapter 3, "Japanese candlestick"). Lim calls them strong indications of a potential change in trend or a price retracement, and refers us to Chapter 5 for the detail (p. 217).</a:t>
            </a:r>
          </a:p>
          <a:p>
            <a:pPr algn="l">
              <a:lnSpc>
                <a:spcPct val="118000"/>
              </a:lnSpc>
              <a:spcBef>
                <a:spcPts val="0"/>
              </a:spcBef>
              <a:spcAft>
                <a:spcPts val="1300"/>
              </a:spcAft>
            </a:pPr>
            <a:r>
              <a:rPr sz="2100" b="0" i="0">
                <a:solidFill>
                  <a:srgbClr val="1A1A1A"/>
                </a:solidFill>
                <a:latin typeface="Arial"/>
              </a:rPr>
              <a:t>We met all 16 in Chapter 5. The next eight slides recall them in the book's own words and order, each with invented numbers to show the change.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Chapter 3, "Japanese candlestick"; Chapter 5.</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1 and 2: the swings get smaller and shorter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64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1, decrease in price cycle amplitude: each swing covers less ground, say rises of 40 points shrinking to 30 (Chapter 5, "1 Cycle amplitude").</a:t>
            </a:r>
          </a:p>
          <a:p>
            <a:pPr algn="l">
              <a:lnSpc>
                <a:spcPct val="118000"/>
              </a:lnSpc>
              <a:spcBef>
                <a:spcPts val="0"/>
              </a:spcBef>
              <a:spcAft>
                <a:spcPts val="1300"/>
              </a:spcAft>
            </a:pPr>
            <a:r>
              <a:rPr sz="2100" b="0" i="0">
                <a:solidFill>
                  <a:srgbClr val="1A1A1A"/>
                </a:solidFill>
                <a:latin typeface="Arial"/>
              </a:rPr>
              <a:t>Characteristic 2, decrease in price cycle period: each swing takes less time, say 20 bars falling to 12 (Chapter 5, "2 Cycle period").</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3 and 4: pullbacks change and bars shrink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65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3, change in bar retracement symmetry: pullbacks that took 6, 6 and 5 bars suddenly take 2 (Chapter 5, "3 Bar retracement symmetry").</a:t>
            </a:r>
          </a:p>
          <a:p>
            <a:pPr algn="l">
              <a:lnSpc>
                <a:spcPct val="118000"/>
              </a:lnSpc>
              <a:spcBef>
                <a:spcPts val="0"/>
              </a:spcBef>
              <a:spcAft>
                <a:spcPts val="1300"/>
              </a:spcAft>
            </a:pPr>
            <a:r>
              <a:rPr sz="2100" b="0" i="0">
                <a:solidFill>
                  <a:srgbClr val="1A1A1A"/>
                </a:solidFill>
                <a:latin typeface="Arial"/>
              </a:rPr>
              <a:t>Characteristic 4, decrease in average bar range: bars that averaged PHP 3.00 from low to high now average PHP 2.00 (Chapter 5, "4 Average bar range").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5 and 6: the bars lose their quality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66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5, lack of the quality of price persistence: small, even bars of about PHP 1.00 give way to uneven ones of PHP 0.40, 2.50 and 0.80 (Chapter 5, "5 Price persistence").</a:t>
            </a:r>
          </a:p>
          <a:p>
            <a:pPr algn="l">
              <a:lnSpc>
                <a:spcPct val="118000"/>
              </a:lnSpc>
              <a:spcBef>
                <a:spcPts val="0"/>
              </a:spcBef>
              <a:spcAft>
                <a:spcPts val="1300"/>
              </a:spcAft>
            </a:pPr>
            <a:r>
              <a:rPr sz="2100" b="0" i="0">
                <a:solidFill>
                  <a:srgbClr val="1A1A1A"/>
                </a:solidFill>
                <a:latin typeface="Arial"/>
              </a:rPr>
              <a:t>Characteristic 6, decrease in average bar stochastic ratio: on average, closes sit lower inside their bars, say 0.80 falling to 0.40 (Chapter 5, "6 The average bar stochastic ratio").</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7 and 8: bodies shrink and the angle changes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67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7, decrease in average candlestick real body to range ratio: on average the bodies shrink inside their bars, say 0.60 falling to 0.25 (Chapter 5, "7 Real body to range ratio, BRR").</a:t>
            </a:r>
          </a:p>
          <a:p>
            <a:pPr algn="l">
              <a:lnSpc>
                <a:spcPct val="118000"/>
              </a:lnSpc>
              <a:spcBef>
                <a:spcPts val="0"/>
              </a:spcBef>
              <a:spcAft>
                <a:spcPts val="1300"/>
              </a:spcAft>
            </a:pPr>
            <a:r>
              <a:rPr sz="2100" b="0" i="0">
                <a:solidFill>
                  <a:srgbClr val="1A1A1A"/>
                </a:solidFill>
                <a:latin typeface="Arial"/>
              </a:rPr>
              <a:t>Characteristic 8, changes in angular symmetry and momentum: the trend's angle changes, say from 20 to 35 degrees. Chapter 5 said a steeper climb is generally bullish; Lim adds that a sudden parabolic jump is usually unsustainable and so potentially bearish (p. 218). He gives no cutoff angle (Chapter 5, "8 Angular symmetry and momentum").</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9 and 10: a barrier is near and the dips fade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68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9, proximity to a price barrier: price is near a strong support or resistance, say at PHP 59 under resistance at PHP 60 (Chapter 5, "9 Barrier proximity").</a:t>
            </a:r>
          </a:p>
          <a:p>
            <a:pPr algn="l">
              <a:lnSpc>
                <a:spcPct val="118000"/>
              </a:lnSpc>
              <a:spcBef>
                <a:spcPts val="0"/>
              </a:spcBef>
              <a:spcAft>
                <a:spcPts val="1300"/>
              </a:spcAft>
            </a:pPr>
            <a:r>
              <a:rPr sz="2100" b="0" i="0">
                <a:solidFill>
                  <a:srgbClr val="1A1A1A"/>
                </a:solidFill>
                <a:latin typeface="Arial"/>
              </a:rPr>
              <a:t>Characteristic 10, reduction in frequency and decrease in depth of trend-based oscillations: six dips of about 3 points become two dips of 1 point (Chapter 5, "10 Frequency and depth of oscillations").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11 and 12: longer pauses and a third gap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69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11, appearance of relatively larger and longer lasting consolidations: pauses of 3 bars give way to one of 12 bars (Chapter 5, "11 Size and duration of a consolidation").</a:t>
            </a:r>
          </a:p>
          <a:p>
            <a:pPr algn="l">
              <a:lnSpc>
                <a:spcPct val="118000"/>
              </a:lnSpc>
              <a:spcBef>
                <a:spcPts val="0"/>
              </a:spcBef>
              <a:spcAft>
                <a:spcPts val="1300"/>
              </a:spcAft>
            </a:pPr>
            <a:r>
              <a:rPr sz="2100" b="0" i="0">
                <a:solidFill>
                  <a:srgbClr val="1A1A1A"/>
                </a:solidFill>
                <a:latin typeface="Arial"/>
              </a:rPr>
              <a:t>Characteristic 12, appearance of an exhaustion gap: a third gap in the trend, say of PHP 0.80, after two earlier ones (Chapter 5, "12 Third gap exhaustion").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13 and 14: the range is spent, price overshoots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70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13, completion of the average range for the period under observation: the day has already travelled its whole average range, say all PHP 3.00 of it (Chapter 5, "13 Average period range").</a:t>
            </a:r>
          </a:p>
          <a:p>
            <a:pPr algn="l">
              <a:lnSpc>
                <a:spcPct val="118000"/>
              </a:lnSpc>
              <a:spcBef>
                <a:spcPts val="0"/>
              </a:spcBef>
              <a:spcAft>
                <a:spcPts val="1300"/>
              </a:spcAft>
            </a:pPr>
            <a:r>
              <a:rPr sz="2100" b="0" i="0">
                <a:solidFill>
                  <a:srgbClr val="1A1A1A"/>
                </a:solidFill>
                <a:latin typeface="Arial"/>
              </a:rPr>
              <a:t>Characteristic 14, overextended price action with respect to a price barrier: price spikes to PHP 61 above an uptrending overlay line at PHP 60, or above an upper band, as the next chart shows (Chapter 5, "14 Overextension past an overlay barrier").</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15 and 16: extreme volume and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71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15, price accompanied by extremely high or low volume: say 5.0 million shares against an average of 1.2 million (Chapter 5, "15 Volume spread action").</a:t>
            </a:r>
          </a:p>
          <a:p>
            <a:pPr algn="l">
              <a:lnSpc>
                <a:spcPct val="118000"/>
              </a:lnSpc>
              <a:spcBef>
                <a:spcPts val="0"/>
              </a:spcBef>
              <a:spcAft>
                <a:spcPts val="1300"/>
              </a:spcAft>
            </a:pPr>
            <a:r>
              <a:rPr sz="2100" b="0" i="0">
                <a:solidFill>
                  <a:srgbClr val="1A1A1A"/>
                </a:solidFill>
                <a:latin typeface="Arial"/>
              </a:rPr>
              <a:t>Characteristic 16, standard divergences between price, volume, and oscillators: price makes a higher high while volume falls from 3.0 to 1.8 million (Chapter 5, "16 Volume and oscillator divergence").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7.13 shows three of the characteristics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72 of 79</a:t>
            </a:r>
          </a:p>
        </p:txBody>
      </p:sp>
      <p:sp>
        <p:nvSpPr>
          <p:cNvPr id="7" name="TextBox 6"/>
          <p:cNvSpPr txBox="1"/>
          <p:nvPr/>
        </p:nvSpPr>
        <p:spPr>
          <a:xfrm>
            <a:off x="777240" y="1965960"/>
            <a:ext cx="3931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7.13, a daily chart of the National Bank of Greece, shows three at once (pp. 217 to 218).</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The run-up's last days climb far more steeply: characteristic 8, angular momentum.</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Through the run-up price barely dips: characteristic 10, oscillations.</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The overextended bar pokes above the upper band: characteristic 14.</a:t>
            </a:r>
          </a:p>
        </p:txBody>
      </p:sp>
      <p:sp>
        <p:nvSpPr>
          <p:cNvPr id="8" name="Rectangle 7"/>
          <p:cNvSpPr/>
          <p:nvPr/>
        </p:nvSpPr>
        <p:spPr>
          <a:xfrm>
            <a:off x="5249038" y="1810512"/>
            <a:ext cx="631133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367910" y="1929384"/>
            <a:ext cx="607359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367910" y="1929384"/>
            <a:ext cx="607359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42230" y="2203703"/>
            <a:ext cx="552495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2" name="Rectangle 11"/>
          <p:cNvSpPr/>
          <p:nvPr/>
        </p:nvSpPr>
        <p:spPr>
          <a:xfrm>
            <a:off x="8518587" y="2641133"/>
            <a:ext cx="275209" cy="948998"/>
          </a:xfrm>
          <a:prstGeom prst="rect">
            <a:avLst/>
          </a:prstGeom>
          <a:noFill/>
          <a:ln w="44450">
            <a:solidFill>
              <a:srgbClr val="E09B00"/>
            </a:solidFill>
          </a:ln>
        </p:spPr>
        <p:txBody>
          <a:bodyPr rtlCol="0" anchor="ctr"/>
          <a:lstStyle/>
          <a:p>
            <a:pPr algn="ctr"/>
          </a:p>
        </p:txBody>
      </p:sp>
      <p:sp>
        <p:nvSpPr>
          <p:cNvPr id="13" name="Rectangle 12"/>
          <p:cNvSpPr/>
          <p:nvPr/>
        </p:nvSpPr>
        <p:spPr>
          <a:xfrm>
            <a:off x="7939698" y="3424057"/>
            <a:ext cx="578889" cy="806649"/>
          </a:xfrm>
          <a:prstGeom prst="rect">
            <a:avLst/>
          </a:prstGeom>
          <a:noFill/>
          <a:ln w="44450">
            <a:solidFill>
              <a:srgbClr val="C62828"/>
            </a:solidFill>
          </a:ln>
        </p:spPr>
        <p:txBody>
          <a:bodyPr rtlCol="0" anchor="ctr"/>
          <a:lstStyle/>
          <a:p>
            <a:pPr algn="ctr"/>
          </a:p>
        </p:txBody>
      </p:sp>
      <p:sp>
        <p:nvSpPr>
          <p:cNvPr id="14" name="Oval 13"/>
          <p:cNvSpPr/>
          <p:nvPr/>
        </p:nvSpPr>
        <p:spPr>
          <a:xfrm>
            <a:off x="8727367" y="2119183"/>
            <a:ext cx="208779" cy="545674"/>
          </a:xfrm>
          <a:prstGeom prst="ellipse">
            <a:avLst/>
          </a:prstGeom>
          <a:noFill/>
          <a:ln w="44450">
            <a:solidFill>
              <a:srgbClr val="1F5FAD"/>
            </a:solidFill>
          </a:ln>
        </p:spPr>
        <p:txBody>
          <a:bodyPr rtlCol="0" anchor="ctr"/>
          <a:lstStyle/>
          <a:p>
            <a:pPr algn="ctr"/>
          </a:p>
        </p:txBody>
      </p:sp>
      <p:sp>
        <p:nvSpPr>
          <p:cNvPr id="15" name="Oval 14"/>
          <p:cNvSpPr/>
          <p:nvPr/>
        </p:nvSpPr>
        <p:spPr>
          <a:xfrm>
            <a:off x="8390571" y="25131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11682" y="329604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66491" y="208606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029199" y="565099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 Figure 7.13.</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those three marks are warnings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73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says such rapid increases are usually unsustainable, so potentially bearish (p. 218).</a:t>
            </a:r>
          </a:p>
          <a:p>
            <a:pPr algn="l">
              <a:lnSpc>
                <a:spcPct val="118000"/>
              </a:lnSpc>
              <a:spcBef>
                <a:spcPts val="0"/>
              </a:spcBef>
              <a:spcAft>
                <a:spcPts val="1300"/>
              </a:spcAft>
            </a:pPr>
            <a:r>
              <a:rPr sz="2100" b="0" i="0">
                <a:solidFill>
                  <a:srgbClr val="1A1A1A"/>
                </a:solidFill>
                <a:latin typeface="Arial"/>
              </a:rPr>
              <a:t>A lack of oscillations is potentially bearish because there is little healthy profit-taking (p. 218).</a:t>
            </a:r>
          </a:p>
          <a:p>
            <a:pPr algn="l">
              <a:lnSpc>
                <a:spcPct val="118000"/>
              </a:lnSpc>
              <a:spcBef>
                <a:spcPts val="0"/>
              </a:spcBef>
              <a:spcAft>
                <a:spcPts val="1300"/>
              </a:spcAft>
            </a:pPr>
            <a:r>
              <a:rPr sz="2100" b="0" i="0">
                <a:solidFill>
                  <a:srgbClr val="1A1A1A"/>
                </a:solidFill>
                <a:latin typeface="Arial"/>
              </a:rPr>
              <a:t>The overextended bar is stretched past a volatility barrier, the Bollinger upper band, and would be even more bearish with extreme volume (p. 217). Chapter 7 names the Bollinger upper band but does not define it; read it as the overlay barrier from Chapter 5, "14 Overextension past an overlay barrier", and take no formula from this chapter.</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are the same three warnings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Our invented price climbs from PHP 40 to PHP 80 in twelve bars. Early bars rise about PHP 1 each; late ones jump PHP 8, to PHP 66 </a:t>
            </a:r>
            <a:r>
              <a:rPr sz="1700" b="1" i="0">
                <a:solidFill>
                  <a:srgbClr val="E09B00"/>
                </a:solidFill>
                <a:latin typeface="Arial"/>
              </a:rPr>
              <a:t>(1)</a:t>
            </a:r>
            <a:r>
              <a:rPr sz="1700" b="0" i="0">
                <a:solidFill>
                  <a:srgbClr val="1A1A1A"/>
                </a:solidFill>
                <a:latin typeface="Arial"/>
              </a:rPr>
              <a:t>, and then PHP 14: a change in angular momentum. The only dips are one point each, the last to PHP 52 </a:t>
            </a:r>
            <a:r>
              <a:rPr sz="1700" b="1" i="0">
                <a:solidFill>
                  <a:srgbClr val="C62828"/>
                </a:solidFill>
                <a:latin typeface="Arial"/>
              </a:rPr>
              <a:t>(2)</a:t>
            </a:r>
            <a:r>
              <a:rPr sz="1700" b="0" i="0">
                <a:solidFill>
                  <a:srgbClr val="1A1A1A"/>
                </a:solidFill>
                <a:latin typeface="Arial"/>
              </a:rPr>
              <a:t>. The final PHP 80 sits PHP 3 above an invented upper band at PHP 77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w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358634" y="3926433"/>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315719" y="447690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446416" y="38423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403502" y="439277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74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 The prices and the band are invented for teaching.</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Barrier proximity ranks among the most important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75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calls barrier proximity, item 9, one of the most important reversal characteristics: reversal patterns are most reliable at significant price barriers (p. 217).</a:t>
            </a:r>
          </a:p>
          <a:p>
            <a:pPr algn="l">
              <a:lnSpc>
                <a:spcPct val="118000"/>
              </a:lnSpc>
              <a:spcBef>
                <a:spcPts val="0"/>
              </a:spcBef>
              <a:spcAft>
                <a:spcPts val="1300"/>
              </a:spcAft>
            </a:pPr>
            <a:r>
              <a:rPr sz="2100" b="0" i="0">
                <a:solidFill>
                  <a:srgbClr val="1A1A1A"/>
                </a:solidFill>
                <a:latin typeface="Arial"/>
              </a:rPr>
              <a:t>His examples: a bearish key reversal day is more reliable at a significant resistance level, and a bullish exhaustion bar at a significant support level (p. 217). The exhaustion bar is a Part 3 pattern; for now, read it as a bullish bar at support.</a:t>
            </a:r>
          </a:p>
          <a:p>
            <a:pPr algn="l">
              <a:lnSpc>
                <a:spcPct val="118000"/>
              </a:lnSpc>
              <a:spcBef>
                <a:spcPts val="0"/>
              </a:spcBef>
              <a:spcAft>
                <a:spcPts val="1300"/>
              </a:spcAft>
            </a:pPr>
            <a:r>
              <a:rPr sz="2100" b="0" i="0">
                <a:solidFill>
                  <a:srgbClr val="1A1A1A"/>
                </a:solidFill>
                <a:latin typeface="Arial"/>
              </a:rPr>
              <a:t>So he advises reading every bar formation against all 16 characteristics (p. 218).</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Chapter 5, "9 Barrier proximity".</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key reversal bar at resistance is more reliable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key reversal bar where Lim says it counts most. Resistance sits at PHP 60.00 </a:t>
            </a:r>
            <a:r>
              <a:rPr sz="1700" b="1" i="0">
                <a:solidFill>
                  <a:srgbClr val="E09B00"/>
                </a:solidFill>
                <a:latin typeface="Arial"/>
              </a:rPr>
              <a:t>(1)</a:t>
            </a:r>
            <a:r>
              <a:rPr sz="1700" b="0" i="0">
                <a:solidFill>
                  <a:srgbClr val="1A1A1A"/>
                </a:solidFill>
                <a:latin typeface="Arial"/>
              </a:rPr>
              <a:t>. The bar opens at PHP 60.20, pushes up to PHP 60.60 into that barrier </a:t>
            </a:r>
            <a:r>
              <a:rPr sz="1700" b="1" i="0">
                <a:solidFill>
                  <a:srgbClr val="C62828"/>
                </a:solidFill>
                <a:latin typeface="Arial"/>
              </a:rPr>
              <a:t>(2)</a:t>
            </a:r>
            <a:r>
              <a:rPr sz="1700" b="0" i="0">
                <a:solidFill>
                  <a:srgbClr val="1A1A1A"/>
                </a:solidFill>
                <a:latin typeface="Arial"/>
              </a:rPr>
              <a:t>, then closes at PHP 59.00, below the previous close of PHP 59.60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80490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51979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86162" y="372077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6162"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73670" y="42899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76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bar with no barrier nearby is less reliable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the identical two bars with no resistance anywhere near: the bar still reaches PHP 60.60 </a:t>
            </a:r>
            <a:r>
              <a:rPr sz="1700" b="1" i="0">
                <a:solidFill>
                  <a:srgbClr val="E09B00"/>
                </a:solidFill>
                <a:latin typeface="Arial"/>
              </a:rPr>
              <a:t>(1)</a:t>
            </a:r>
            <a:r>
              <a:rPr sz="1700" b="0" i="0">
                <a:solidFill>
                  <a:srgbClr val="1A1A1A"/>
                </a:solidFill>
                <a:latin typeface="Arial"/>
              </a:rPr>
              <a:t> and still closes at PHP 59.00 </a:t>
            </a:r>
            <a:r>
              <a:rPr sz="1700" b="1" i="0">
                <a:solidFill>
                  <a:srgbClr val="C62828"/>
                </a:solidFill>
                <a:latin typeface="Arial"/>
              </a:rPr>
              <a:t>(2)</a:t>
            </a:r>
            <a:r>
              <a:rPr sz="1700" b="0" i="0">
                <a:solidFill>
                  <a:srgbClr val="1A1A1A"/>
                </a:solidFill>
                <a:latin typeface="Arial"/>
              </a:rPr>
              <a:t>. The pattern is the same; only its location changed. By Lim's rule this one is the less reliable reading, though neither is a certainty.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51979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986162"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073670" y="428997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RB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77 of 79</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rule works the other way at support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second example is a bullish exhaustion bar at support, a bar Part 3 teaches. The same rule covers the bullish key reversal of Figure 7.5. With support at PHP 40.00 </a:t>
            </a:r>
            <a:r>
              <a:rPr sz="1700" b="1" i="0">
                <a:solidFill>
                  <a:srgbClr val="E09B00"/>
                </a:solidFill>
                <a:latin typeface="Arial"/>
              </a:rPr>
              <a:t>(1)</a:t>
            </a:r>
            <a:r>
              <a:rPr sz="1700" b="0" i="0">
                <a:solidFill>
                  <a:srgbClr val="1A1A1A"/>
                </a:solidFill>
                <a:latin typeface="Arial"/>
              </a:rPr>
              <a:t>, the bar dips to PHP 39.40 </a:t>
            </a:r>
            <a:r>
              <a:rPr sz="1700" b="1" i="0">
                <a:solidFill>
                  <a:srgbClr val="C62828"/>
                </a:solidFill>
                <a:latin typeface="Arial"/>
              </a:rPr>
              <a:t>(2)</a:t>
            </a:r>
            <a:r>
              <a:rPr sz="1700" b="0" i="0">
                <a:solidFill>
                  <a:srgbClr val="1A1A1A"/>
                </a:solidFill>
                <a:latin typeface="Arial"/>
              </a:rPr>
              <a:t> and closes at PHP 41.00, above the previous close of PHP 40.40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519796"/>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94873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80490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86162" y="443567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3272" y="48315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73670" y="357507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78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16 characteristics on Figure 7.13</a:t>
            </a:r>
          </a:p>
        </p:txBody>
      </p:sp>
      <p:sp>
        <p:nvSpPr>
          <p:cNvPr id="6" name="Rectangle 5"/>
          <p:cNvSpPr/>
          <p:nvPr/>
        </p:nvSpPr>
        <p:spPr>
          <a:xfrm>
            <a:off x="777240" y="1207008"/>
            <a:ext cx="4937760" cy="203047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4805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480560" cy="387807"/>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characteristic is mark 3?</a:t>
            </a:r>
          </a:p>
        </p:txBody>
      </p:sp>
      <p:sp>
        <p:nvSpPr>
          <p:cNvPr id="9" name="TextBox 8"/>
          <p:cNvSpPr txBox="1"/>
          <p:nvPr/>
        </p:nvSpPr>
        <p:spPr>
          <a:xfrm>
            <a:off x="1005840" y="1869135"/>
            <a:ext cx="4480560" cy="1295196"/>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8, momentum</a:t>
            </a:r>
          </a:p>
          <a:p>
            <a:pPr algn="l">
              <a:lnSpc>
                <a:spcPct val="105000"/>
              </a:lnSpc>
              <a:spcBef>
                <a:spcPts val="0"/>
              </a:spcBef>
              <a:spcAft>
                <a:spcPts val="200"/>
              </a:spcAft>
            </a:pPr>
            <a:r>
              <a:rPr sz="1700" b="0" i="0">
                <a:solidFill>
                  <a:srgbClr val="FFFFFF"/>
                </a:solidFill>
                <a:latin typeface="Arial"/>
              </a:rPr>
              <a:t>B.  10, oscillations</a:t>
            </a:r>
          </a:p>
          <a:p>
            <a:pPr algn="l">
              <a:lnSpc>
                <a:spcPct val="105000"/>
              </a:lnSpc>
              <a:spcBef>
                <a:spcPts val="0"/>
              </a:spcBef>
              <a:spcAft>
                <a:spcPts val="200"/>
              </a:spcAft>
            </a:pPr>
            <a:r>
              <a:rPr sz="1700" b="0" i="0">
                <a:solidFill>
                  <a:srgbClr val="FFFFFF"/>
                </a:solidFill>
                <a:latin typeface="Arial"/>
              </a:rPr>
              <a:t>C.  14, overextension</a:t>
            </a:r>
          </a:p>
          <a:p>
            <a:pPr algn="l">
              <a:lnSpc>
                <a:spcPct val="105000"/>
              </a:lnSpc>
              <a:spcBef>
                <a:spcPts val="0"/>
              </a:spcBef>
              <a:spcAft>
                <a:spcPts val="200"/>
              </a:spcAft>
            </a:pPr>
            <a:r>
              <a:rPr sz="1700" b="0" i="0">
                <a:solidFill>
                  <a:srgbClr val="FFFFFF"/>
                </a:solidFill>
                <a:latin typeface="Arial"/>
              </a:rPr>
              <a:t>D.  12, exhaustion gap</a:t>
            </a:r>
          </a:p>
        </p:txBody>
      </p:sp>
      <p:sp>
        <p:nvSpPr>
          <p:cNvPr id="10" name="Rectangle 9"/>
          <p:cNvSpPr/>
          <p:nvPr/>
        </p:nvSpPr>
        <p:spPr>
          <a:xfrm>
            <a:off x="777240" y="3328924"/>
            <a:ext cx="4937760" cy="230855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0364"/>
            <a:ext cx="44805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1531"/>
            <a:ext cx="4480560" cy="665886"/>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are few oscillations in a run-up bearish?</a:t>
            </a:r>
          </a:p>
        </p:txBody>
      </p:sp>
      <p:sp>
        <p:nvSpPr>
          <p:cNvPr id="13" name="TextBox 12"/>
          <p:cNvSpPr txBox="1"/>
          <p:nvPr/>
        </p:nvSpPr>
        <p:spPr>
          <a:xfrm>
            <a:off x="1005840" y="4269130"/>
            <a:ext cx="4480560" cy="1295196"/>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Low volume</a:t>
            </a:r>
          </a:p>
          <a:p>
            <a:pPr algn="l">
              <a:lnSpc>
                <a:spcPct val="105000"/>
              </a:lnSpc>
              <a:spcBef>
                <a:spcPts val="0"/>
              </a:spcBef>
              <a:spcAft>
                <a:spcPts val="200"/>
              </a:spcAft>
            </a:pPr>
            <a:r>
              <a:rPr sz="1700" b="0" i="0">
                <a:solidFill>
                  <a:srgbClr val="FFFFFF"/>
                </a:solidFill>
                <a:latin typeface="Arial"/>
              </a:rPr>
              <a:t>B.  Little profit-taking</a:t>
            </a:r>
          </a:p>
          <a:p>
            <a:pPr algn="l">
              <a:lnSpc>
                <a:spcPct val="105000"/>
              </a:lnSpc>
              <a:spcBef>
                <a:spcPts val="0"/>
              </a:spcBef>
              <a:spcAft>
                <a:spcPts val="200"/>
              </a:spcAft>
            </a:pPr>
            <a:r>
              <a:rPr sz="1700" b="0" i="0">
                <a:solidFill>
                  <a:srgbClr val="FFFFFF"/>
                </a:solidFill>
                <a:latin typeface="Arial"/>
              </a:rPr>
              <a:t>C.  No band formula</a:t>
            </a:r>
          </a:p>
          <a:p>
            <a:pPr algn="l">
              <a:lnSpc>
                <a:spcPct val="105000"/>
              </a:lnSpc>
              <a:spcBef>
                <a:spcPts val="0"/>
              </a:spcBef>
              <a:spcAft>
                <a:spcPts val="200"/>
              </a:spcAft>
            </a:pPr>
            <a:r>
              <a:rPr sz="1700" b="0" i="0">
                <a:solidFill>
                  <a:srgbClr val="FFFFFF"/>
                </a:solidFill>
                <a:latin typeface="Arial"/>
              </a:rPr>
              <a:t>D.  A downtrend</a:t>
            </a:r>
          </a:p>
        </p:txBody>
      </p:sp>
      <p:sp>
        <p:nvSpPr>
          <p:cNvPr id="14" name="Rectangle 13"/>
          <p:cNvSpPr/>
          <p:nvPr/>
        </p:nvSpPr>
        <p:spPr>
          <a:xfrm>
            <a:off x="6035040" y="1207008"/>
            <a:ext cx="5379414" cy="32102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153912" y="1325880"/>
            <a:ext cx="5141670" cy="29725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153912" y="1325880"/>
            <a:ext cx="514167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428231" y="1600200"/>
            <a:ext cx="4593031" cy="25153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8" name="Rectangle 17"/>
          <p:cNvSpPr/>
          <p:nvPr/>
        </p:nvSpPr>
        <p:spPr>
          <a:xfrm>
            <a:off x="8821153" y="1928419"/>
            <a:ext cx="232981" cy="803386"/>
          </a:xfrm>
          <a:prstGeom prst="rect">
            <a:avLst/>
          </a:prstGeom>
          <a:noFill/>
          <a:ln w="44450">
            <a:solidFill>
              <a:srgbClr val="E09B00"/>
            </a:solidFill>
          </a:ln>
        </p:spPr>
        <p:txBody>
          <a:bodyPr rtlCol="0" anchor="ctr"/>
          <a:lstStyle/>
          <a:p>
            <a:pPr algn="ctr"/>
          </a:p>
        </p:txBody>
      </p:sp>
      <p:sp>
        <p:nvSpPr>
          <p:cNvPr id="19" name="Rectangle 18"/>
          <p:cNvSpPr/>
          <p:nvPr/>
        </p:nvSpPr>
        <p:spPr>
          <a:xfrm>
            <a:off x="8331088" y="2591213"/>
            <a:ext cx="490065" cy="682878"/>
          </a:xfrm>
          <a:prstGeom prst="rect">
            <a:avLst/>
          </a:prstGeom>
          <a:noFill/>
          <a:ln w="44450">
            <a:solidFill>
              <a:srgbClr val="C62828"/>
            </a:solidFill>
          </a:ln>
        </p:spPr>
        <p:txBody>
          <a:bodyPr rtlCol="0" anchor="ctr"/>
          <a:lstStyle/>
          <a:p>
            <a:pPr algn="ctr"/>
          </a:p>
        </p:txBody>
      </p:sp>
      <p:sp>
        <p:nvSpPr>
          <p:cNvPr id="20" name="Oval 19"/>
          <p:cNvSpPr/>
          <p:nvPr/>
        </p:nvSpPr>
        <p:spPr>
          <a:xfrm>
            <a:off x="8997898" y="1486557"/>
            <a:ext cx="176744" cy="461947"/>
          </a:xfrm>
          <a:prstGeom prst="ellipse">
            <a:avLst/>
          </a:prstGeom>
          <a:noFill/>
          <a:ln w="44450">
            <a:solidFill>
              <a:srgbClr val="1F5FAD"/>
            </a:solidFill>
          </a:ln>
        </p:spPr>
        <p:txBody>
          <a:bodyPr rtlCol="0" anchor="ctr"/>
          <a:lstStyle/>
          <a:p>
            <a:pPr algn="ctr"/>
          </a:p>
        </p:txBody>
      </p:sp>
      <p:sp>
        <p:nvSpPr>
          <p:cNvPr id="21" name="Oval 20"/>
          <p:cNvSpPr/>
          <p:nvPr/>
        </p:nvSpPr>
        <p:spPr>
          <a:xfrm>
            <a:off x="8693137" y="180040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203072" y="24631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757408" y="14388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35040" y="4508720"/>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14</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16 characteristics on Figure 7.13</a:t>
            </a:r>
          </a:p>
        </p:txBody>
      </p:sp>
      <p:sp>
        <p:nvSpPr>
          <p:cNvPr id="6" name="Rectangle 5"/>
          <p:cNvSpPr/>
          <p:nvPr/>
        </p:nvSpPr>
        <p:spPr>
          <a:xfrm>
            <a:off x="777240" y="1207008"/>
            <a:ext cx="4937760" cy="17684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7684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38912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characteristic is mark 3?</a:t>
            </a:r>
          </a:p>
        </p:txBody>
      </p:sp>
      <p:sp>
        <p:nvSpPr>
          <p:cNvPr id="9" name="TextBox 8"/>
          <p:cNvSpPr txBox="1"/>
          <p:nvPr/>
        </p:nvSpPr>
        <p:spPr>
          <a:xfrm>
            <a:off x="1097280" y="1821053"/>
            <a:ext cx="438912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14, overextension</a:t>
            </a:r>
          </a:p>
          <a:p>
            <a:pPr algn="l">
              <a:lnSpc>
                <a:spcPct val="115000"/>
              </a:lnSpc>
              <a:spcBef>
                <a:spcPts val="500"/>
              </a:spcBef>
              <a:spcAft>
                <a:spcPts val="0"/>
              </a:spcAft>
            </a:pPr>
            <a:r>
              <a:rPr sz="1700" b="0" i="0">
                <a:solidFill>
                  <a:srgbClr val="1A1A1A"/>
                </a:solidFill>
                <a:latin typeface="Arial"/>
              </a:rPr>
              <a:t>The overextended bar above the band is characteristic 14 (p. 217).</a:t>
            </a:r>
          </a:p>
        </p:txBody>
      </p:sp>
      <p:sp>
        <p:nvSpPr>
          <p:cNvPr id="10" name="Rectangle 9"/>
          <p:cNvSpPr/>
          <p:nvPr/>
        </p:nvSpPr>
        <p:spPr>
          <a:xfrm>
            <a:off x="777240" y="3158363"/>
            <a:ext cx="493776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5836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341243"/>
            <a:ext cx="43891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are few oscillations in a run-up bearish?</a:t>
            </a:r>
          </a:p>
        </p:txBody>
      </p:sp>
      <p:sp>
        <p:nvSpPr>
          <p:cNvPr id="13" name="TextBox 12"/>
          <p:cNvSpPr txBox="1"/>
          <p:nvPr/>
        </p:nvSpPr>
        <p:spPr>
          <a:xfrm>
            <a:off x="1097280" y="4020693"/>
            <a:ext cx="438912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Little profit-taking</a:t>
            </a:r>
          </a:p>
          <a:p>
            <a:pPr algn="l">
              <a:lnSpc>
                <a:spcPct val="115000"/>
              </a:lnSpc>
              <a:spcBef>
                <a:spcPts val="500"/>
              </a:spcBef>
              <a:spcAft>
                <a:spcPts val="0"/>
              </a:spcAft>
            </a:pPr>
            <a:r>
              <a:rPr sz="1700" b="0" i="0">
                <a:solidFill>
                  <a:srgbClr val="1A1A1A"/>
                </a:solidFill>
                <a:latin typeface="Arial"/>
              </a:rPr>
              <a:t>Lim: a lack of healthy profit-taking makes it potentially bearish (p. 218).</a:t>
            </a:r>
          </a:p>
        </p:txBody>
      </p:sp>
      <p:sp>
        <p:nvSpPr>
          <p:cNvPr id="14" name="Rectangle 13"/>
          <p:cNvSpPr/>
          <p:nvPr/>
        </p:nvSpPr>
        <p:spPr>
          <a:xfrm>
            <a:off x="6035040" y="1207008"/>
            <a:ext cx="5379414" cy="312019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153912" y="1325880"/>
            <a:ext cx="5141670" cy="288245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153912" y="1325880"/>
            <a:ext cx="514167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428232" y="1600200"/>
            <a:ext cx="4593030" cy="242525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8" name="Rectangle 17"/>
          <p:cNvSpPr/>
          <p:nvPr/>
        </p:nvSpPr>
        <p:spPr>
          <a:xfrm>
            <a:off x="8821153" y="1910160"/>
            <a:ext cx="232981" cy="779041"/>
          </a:xfrm>
          <a:prstGeom prst="rect">
            <a:avLst/>
          </a:prstGeom>
          <a:noFill/>
          <a:ln w="44450">
            <a:solidFill>
              <a:srgbClr val="E09B00"/>
            </a:solidFill>
          </a:ln>
        </p:spPr>
        <p:txBody>
          <a:bodyPr rtlCol="0" anchor="ctr"/>
          <a:lstStyle/>
          <a:p>
            <a:pPr algn="ctr"/>
          </a:p>
        </p:txBody>
      </p:sp>
      <p:sp>
        <p:nvSpPr>
          <p:cNvPr id="19" name="Rectangle 18"/>
          <p:cNvSpPr/>
          <p:nvPr/>
        </p:nvSpPr>
        <p:spPr>
          <a:xfrm>
            <a:off x="8331088" y="2552869"/>
            <a:ext cx="490065" cy="662184"/>
          </a:xfrm>
          <a:prstGeom prst="rect">
            <a:avLst/>
          </a:prstGeom>
          <a:noFill/>
          <a:ln w="44450">
            <a:solidFill>
              <a:srgbClr val="C62828"/>
            </a:solidFill>
          </a:ln>
        </p:spPr>
        <p:txBody>
          <a:bodyPr rtlCol="0" anchor="ctr"/>
          <a:lstStyle/>
          <a:p>
            <a:pPr algn="ctr"/>
          </a:p>
        </p:txBody>
      </p:sp>
      <p:sp>
        <p:nvSpPr>
          <p:cNvPr id="20" name="Oval 19"/>
          <p:cNvSpPr/>
          <p:nvPr/>
        </p:nvSpPr>
        <p:spPr>
          <a:xfrm>
            <a:off x="8997898" y="1481688"/>
            <a:ext cx="176744" cy="447948"/>
          </a:xfrm>
          <a:prstGeom prst="ellipse">
            <a:avLst/>
          </a:prstGeom>
          <a:noFill/>
          <a:ln w="44450">
            <a:solidFill>
              <a:srgbClr val="1F5FAD"/>
            </a:solidFill>
          </a:ln>
        </p:spPr>
        <p:txBody>
          <a:bodyPr rtlCol="0" anchor="ctr"/>
          <a:lstStyle/>
          <a:p>
            <a:pPr algn="ctr"/>
          </a:p>
        </p:txBody>
      </p:sp>
      <p:sp>
        <p:nvSpPr>
          <p:cNvPr id="21" name="Oval 20"/>
          <p:cNvSpPr/>
          <p:nvPr/>
        </p:nvSpPr>
        <p:spPr>
          <a:xfrm>
            <a:off x="8693137" y="17821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203072" y="24248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757408" y="143157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35040" y="4418643"/>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14</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Barrier proximity</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Lim say reversal patterns are most reliable?</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At significant price barriers</a:t>
            </a:r>
          </a:p>
          <a:p>
            <a:pPr algn="l">
              <a:lnSpc>
                <a:spcPct val="112000"/>
              </a:lnSpc>
              <a:spcBef>
                <a:spcPts val="0"/>
              </a:spcBef>
              <a:spcAft>
                <a:spcPts val="900"/>
              </a:spcAft>
            </a:pPr>
            <a:r>
              <a:rPr sz="1700" b="0" i="0">
                <a:solidFill>
                  <a:srgbClr val="FFFFFF"/>
                </a:solidFill>
                <a:latin typeface="Arial"/>
              </a:rPr>
              <a:t>B.  Far from any barrier</a:t>
            </a:r>
          </a:p>
          <a:p>
            <a:pPr algn="l">
              <a:lnSpc>
                <a:spcPct val="112000"/>
              </a:lnSpc>
              <a:spcBef>
                <a:spcPts val="0"/>
              </a:spcBef>
              <a:spcAft>
                <a:spcPts val="900"/>
              </a:spcAft>
            </a:pPr>
            <a:r>
              <a:rPr sz="1700" b="0" i="0">
                <a:solidFill>
                  <a:srgbClr val="FFFFFF"/>
                </a:solidFill>
                <a:latin typeface="Arial"/>
              </a:rPr>
              <a:t>C.  Only on low volume</a:t>
            </a:r>
          </a:p>
          <a:p>
            <a:pPr algn="l">
              <a:lnSpc>
                <a:spcPct val="112000"/>
              </a:lnSpc>
              <a:spcBef>
                <a:spcPts val="0"/>
              </a:spcBef>
              <a:spcAft>
                <a:spcPts val="900"/>
              </a:spcAft>
            </a:pPr>
            <a:r>
              <a:rPr sz="1700" b="0" i="0">
                <a:solidFill>
                  <a:srgbClr val="FFFFFF"/>
                </a:solidFill>
                <a:latin typeface="Arial"/>
              </a:rPr>
              <a:t>D.  Only in a downtrend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Two identical key reversal bars: one at resistance, one far from any barrier. Which reading is more reliable?</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one far from a barrier</a:t>
            </a:r>
          </a:p>
          <a:p>
            <a:pPr algn="l">
              <a:lnSpc>
                <a:spcPct val="112000"/>
              </a:lnSpc>
              <a:spcBef>
                <a:spcPts val="0"/>
              </a:spcBef>
              <a:spcAft>
                <a:spcPts val="900"/>
              </a:spcAft>
            </a:pPr>
            <a:r>
              <a:rPr sz="1700" b="0" i="0">
                <a:solidFill>
                  <a:srgbClr val="FFFFFF"/>
                </a:solidFill>
                <a:latin typeface="Arial"/>
              </a:rPr>
              <a:t>B.  They are equally reliable</a:t>
            </a:r>
          </a:p>
          <a:p>
            <a:pPr algn="l">
              <a:lnSpc>
                <a:spcPct val="112000"/>
              </a:lnSpc>
              <a:spcBef>
                <a:spcPts val="0"/>
              </a:spcBef>
              <a:spcAft>
                <a:spcPts val="900"/>
              </a:spcAft>
            </a:pPr>
            <a:r>
              <a:rPr sz="1700" b="0" i="0">
                <a:solidFill>
                  <a:srgbClr val="FFFFFF"/>
                </a:solidFill>
                <a:latin typeface="Arial"/>
              </a:rPr>
              <a:t>C.  Neither can be read</a:t>
            </a:r>
          </a:p>
          <a:p>
            <a:pPr algn="l">
              <a:lnSpc>
                <a:spcPct val="112000"/>
              </a:lnSpc>
              <a:spcBef>
                <a:spcPts val="0"/>
              </a:spcBef>
              <a:spcAft>
                <a:spcPts val="900"/>
              </a:spcAft>
            </a:pPr>
            <a:r>
              <a:rPr sz="1700" b="0" i="0">
                <a:solidFill>
                  <a:srgbClr val="FFFFFF"/>
                </a:solidFill>
                <a:latin typeface="Arial"/>
              </a:rPr>
              <a:t>D.  The one at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15</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Barrier proximity</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Where does Lim say reversal patterns are most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At significant price barriers</a:t>
            </a:r>
          </a:p>
          <a:p>
            <a:pPr algn="l">
              <a:lnSpc>
                <a:spcPct val="115000"/>
              </a:lnSpc>
              <a:spcBef>
                <a:spcPts val="700"/>
              </a:spcBef>
              <a:spcAft>
                <a:spcPts val="0"/>
              </a:spcAft>
            </a:pPr>
            <a:r>
              <a:rPr sz="1700" b="0" i="0">
                <a:solidFill>
                  <a:srgbClr val="1A1A1A"/>
                </a:solidFill>
                <a:latin typeface="Arial"/>
              </a:rPr>
              <a:t>Reversal patterns are most reliable at significant price barriers (p. 217).</a:t>
            </a:r>
          </a:p>
        </p:txBody>
      </p:sp>
      <p:sp>
        <p:nvSpPr>
          <p:cNvPr id="10" name="Rectangle 9"/>
          <p:cNvSpPr/>
          <p:nvPr/>
        </p:nvSpPr>
        <p:spPr>
          <a:xfrm>
            <a:off x="777240" y="3082036"/>
            <a:ext cx="10637215" cy="21247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247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Two identical key reversal bars: one at resistance, one far from any barrier. Which reading is more reliable?</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The one at resistance</a:t>
            </a:r>
          </a:p>
          <a:p>
            <a:pPr algn="l">
              <a:lnSpc>
                <a:spcPct val="115000"/>
              </a:lnSpc>
              <a:spcBef>
                <a:spcPts val="700"/>
              </a:spcBef>
              <a:spcAft>
                <a:spcPts val="0"/>
              </a:spcAft>
            </a:pPr>
            <a:r>
              <a:rPr sz="1700" b="0" i="0">
                <a:solidFill>
                  <a:srgbClr val="1A1A1A"/>
                </a:solidFill>
                <a:latin typeface="Arial"/>
              </a:rPr>
              <a:t>A bearish key reversal day is more reliable when it occurs at a significant resistance level (p. 217).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15</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Part 2 in one breath, and where Part 3 begins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79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Read the trend first; a pattern that disagrees with it is a potential reversal. Lim drew seven one- and two-bar forms, six three-bar forms and four multiple-bar forms, each in both directions.</a:t>
            </a:r>
          </a:p>
          <a:p>
            <a:pPr algn="l">
              <a:lnSpc>
                <a:spcPct val="118000"/>
              </a:lnSpc>
              <a:spcBef>
                <a:spcPts val="0"/>
              </a:spcBef>
              <a:spcAft>
                <a:spcPts val="1300"/>
              </a:spcAft>
            </a:pPr>
            <a:r>
              <a:rPr sz="2100" b="0" i="0">
                <a:solidFill>
                  <a:srgbClr val="1A1A1A"/>
                </a:solidFill>
                <a:latin typeface="Arial"/>
              </a:rPr>
              <a:t>The last bar, its volume and the gaps decide how much weight a reading gets, and the 16 characteristics, above all barrier proximity, decide the rest.</a:t>
            </a:r>
          </a:p>
          <a:p>
            <a:pPr algn="l">
              <a:lnSpc>
                <a:spcPct val="118000"/>
              </a:lnSpc>
              <a:spcBef>
                <a:spcPts val="0"/>
              </a:spcBef>
              <a:spcAft>
                <a:spcPts val="1300"/>
              </a:spcAft>
            </a:pPr>
            <a:r>
              <a:rPr sz="2100" b="0" i="0">
                <a:solidFill>
                  <a:srgbClr val="1A1A1A"/>
                </a:solidFill>
                <a:latin typeface="Arial"/>
              </a:rPr>
              <a:t>Part 3 starts with the first form we drew, the key reversal bar, now on the book's real charts.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218.</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key reversal is when a strong move suddenly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 an uptrend, buyers push price higher. A bearish key reversal breaks that habit: it makes a new high, then closes near or below the previous close.</a:t>
            </a:r>
          </a:p>
          <a:p>
            <a:pPr algn="l">
              <a:lnSpc>
                <a:spcPct val="105000"/>
              </a:lnSpc>
              <a:spcBef>
                <a:spcPts val="0"/>
              </a:spcBef>
              <a:spcAft>
                <a:spcPts val="1100"/>
              </a:spcAft>
            </a:pPr>
            <a:r>
              <a:rPr sz="1700" b="0" i="0">
                <a:solidFill>
                  <a:srgbClr val="1A1A1A"/>
                </a:solidFill>
                <a:latin typeface="Arial"/>
              </a:rPr>
              <a:t>Lim defines it this way: "A bearish key reversal bar forms a higher high than the previous bar and closes near or below the close of the previous bar" (p. 218).</a:t>
            </a:r>
          </a:p>
          <a:p>
            <a:pPr algn="l">
              <a:lnSpc>
                <a:spcPct val="105000"/>
              </a:lnSpc>
              <a:spcBef>
                <a:spcPts val="0"/>
              </a:spcBef>
              <a:spcAft>
                <a:spcPts val="1100"/>
              </a:spcAft>
            </a:pPr>
            <a:r>
              <a:rPr sz="1700" b="0" i="0">
                <a:solidFill>
                  <a:srgbClr val="1A1A1A"/>
                </a:solidFill>
                <a:latin typeface="Arial"/>
              </a:rPr>
              <a:t>Why it matters: it warns an uptrend may be running out of buyers. Lim says a wider bar may improve follow-through, but it is not a promise (p. 218).</a:t>
            </a:r>
          </a:p>
        </p:txBody>
      </p:sp>
      <p:sp>
        <p:nvSpPr>
          <p:cNvPr id="8" name="Rectangle 7"/>
          <p:cNvSpPr/>
          <p:nvPr/>
        </p:nvSpPr>
        <p:spPr>
          <a:xfrm>
            <a:off x="6126479" y="1810512"/>
            <a:ext cx="5379414" cy="353626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141670" cy="329852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14167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93031" cy="284132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TextBox 11"/>
          <p:cNvSpPr txBox="1"/>
          <p:nvPr/>
        </p:nvSpPr>
        <p:spPr>
          <a:xfrm>
            <a:off x="6126479" y="543822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is for teaching; no invented example is on this slide.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pattern with simple prices, so you can see each step. Yesterday the stock reached 52.00 and closed at 51.10. Today it opens higher, at 52.30, already above yesterday's high </a:t>
            </a:r>
            <a:r>
              <a:rPr sz="1700" b="1" i="0">
                <a:solidFill>
                  <a:srgbClr val="E09B00"/>
                </a:solidFill>
                <a:latin typeface="Arial"/>
              </a:rPr>
              <a:t>(1)</a:t>
            </a:r>
            <a:r>
              <a:rPr sz="1700" b="0" i="0">
                <a:solidFill>
                  <a:srgbClr val="1A1A1A"/>
                </a:solidFill>
                <a:latin typeface="Arial"/>
              </a:rPr>
              <a:t>. Buyers push it to 53.20, a new high </a:t>
            </a:r>
            <a:r>
              <a:rPr sz="1700" b="1" i="0">
                <a:solidFill>
                  <a:srgbClr val="C62828"/>
                </a:solidFill>
                <a:latin typeface="Arial"/>
              </a:rPr>
              <a:t>(2)</a:t>
            </a:r>
            <a:r>
              <a:rPr sz="1700" b="0" i="0">
                <a:solidFill>
                  <a:srgbClr val="1A1A1A"/>
                </a:solidFill>
                <a:latin typeface="Arial"/>
              </a:rPr>
              <a:t>. Then the selling starts, and by the close it has fallen to 50.80, below yesterday's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6677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1540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640519" y="34117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07215" y="39972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 of 62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Volume more than doubles, from 2.0 to 4.2 million shares </a:t>
            </a:r>
            <a:r>
              <a:rPr sz="1700" b="1" i="0">
                <a:solidFill>
                  <a:srgbClr val="7B3FA0"/>
                </a:solidFill>
                <a:latin typeface="Arial"/>
              </a:rPr>
              <a:t>(4)</a:t>
            </a:r>
            <a:r>
              <a:rPr sz="1700" b="0" i="0">
                <a:solidFill>
                  <a:srgbClr val="1A1A1A"/>
                </a:solidFill>
                <a:latin typeface="Arial"/>
              </a:rPr>
              <a:t>, so many traders took part in that turn.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6677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1540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640519" y="34117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07215" y="39972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 of 62</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bullish key reversal is the same rule in the opposite direction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 of 62</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In a downtrend, a bullish key reversal makes a new low, then closes near or above the previous close.</a:t>
            </a:r>
          </a:p>
          <a:p>
            <a:pPr algn="l">
              <a:lnSpc>
                <a:spcPct val="105000"/>
              </a:lnSpc>
              <a:spcBef>
                <a:spcPts val="0"/>
              </a:spcBef>
              <a:spcAft>
                <a:spcPts val="1100"/>
              </a:spcAft>
            </a:pPr>
            <a:r>
              <a:rPr sz="1900" b="0" i="0">
                <a:solidFill>
                  <a:srgbClr val="1A1A1A"/>
                </a:solidFill>
                <a:latin typeface="Arial"/>
              </a:rPr>
              <a:t>With simple invented values, the prior low is 42.00, the new low is 40.50 </a:t>
            </a:r>
            <a:r>
              <a:rPr sz="1900" b="1" i="0">
                <a:solidFill>
                  <a:srgbClr val="E09B00"/>
                </a:solidFill>
                <a:latin typeface="Arial"/>
              </a:rPr>
              <a:t>(1)</a:t>
            </a:r>
            <a:r>
              <a:rPr sz="1900" b="0" i="0">
                <a:solidFill>
                  <a:srgbClr val="1A1A1A"/>
                </a:solidFill>
                <a:latin typeface="Arial"/>
              </a:rPr>
              <a:t>, the close is 43.20 </a:t>
            </a:r>
            <a:r>
              <a:rPr sz="1900" b="1" i="0">
                <a:solidFill>
                  <a:srgbClr val="C62828"/>
                </a:solidFill>
                <a:latin typeface="Arial"/>
              </a:rPr>
              <a:t>(2)</a:t>
            </a:r>
            <a:r>
              <a:rPr sz="1900" b="0" i="0">
                <a:solidFill>
                  <a:srgbClr val="1A1A1A"/>
                </a:solidFill>
                <a:latin typeface="Arial"/>
              </a:rPr>
              <a:t>, and volume is 4.0m </a:t>
            </a:r>
            <a:r>
              <a:rPr sz="1900" b="1" i="0">
                <a:solidFill>
                  <a:srgbClr val="1F5FAD"/>
                </a:solidFill>
                <a:latin typeface="Arial"/>
              </a:rPr>
              <a:t>(3)</a:t>
            </a:r>
            <a:r>
              <a:rPr sz="1900" b="0" i="0">
                <a:solidFill>
                  <a:srgbClr val="1A1A1A"/>
                </a:solidFill>
                <a:latin typeface="Arial"/>
              </a:rPr>
              <a:t>.</a:t>
            </a:r>
          </a:p>
          <a:p>
            <a:pPr algn="l">
              <a:lnSpc>
                <a:spcPct val="105000"/>
              </a:lnSpc>
              <a:spcBef>
                <a:spcPts val="0"/>
              </a:spcBef>
              <a:spcAft>
                <a:spcPts val="1100"/>
              </a:spcAft>
            </a:pPr>
            <a:r>
              <a:rPr sz="1900" b="0" i="0">
                <a:solidFill>
                  <a:srgbClr val="1A1A1A"/>
                </a:solidFill>
                <a:latin typeface="Arial"/>
              </a:rPr>
              <a:t>A single bar can show sellers losing control after a sustained decline. Lim's rapid rebound is this chart's observation, not a promise.</a:t>
            </a:r>
          </a:p>
        </p:txBody>
      </p:sp>
      <p:sp>
        <p:nvSpPr>
          <p:cNvPr id="8" name="TextBox 7"/>
          <p:cNvSpPr txBox="1"/>
          <p:nvPr/>
        </p:nvSpPr>
        <p:spPr>
          <a:xfrm>
            <a:off x="777240" y="5397246"/>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218, Figure 7.14. The figure shows the book's bullish converse.</a:t>
            </a:r>
          </a:p>
        </p:txBody>
      </p:sp>
      <p:sp>
        <p:nvSpPr>
          <p:cNvPr id="9" name="Rectangle 8"/>
          <p:cNvSpPr/>
          <p:nvPr/>
        </p:nvSpPr>
        <p:spPr>
          <a:xfrm>
            <a:off x="6766559" y="1810512"/>
            <a:ext cx="5105094" cy="312621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5431" y="1929384"/>
            <a:ext cx="4867351" cy="288847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867351"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159751" y="2203703"/>
            <a:ext cx="4318711" cy="243127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7.14</a:t>
            </a:r>
          </a:p>
          <a:p>
            <a:pPr algn="l">
              <a:lnSpc>
                <a:spcPct val="115000"/>
              </a:lnSpc>
              <a:spcBef>
                <a:spcPts val="0"/>
              </a:spcBef>
              <a:spcAft>
                <a:spcPts val="0"/>
              </a:spcAft>
            </a:pPr>
            <a:r>
              <a:rPr sz="1500" b="0" i="0">
                <a:solidFill>
                  <a:srgbClr val="1A1A1A"/>
                </a:solidFill>
                <a:latin typeface="Palatino"/>
              </a:rPr>
              <a:t>Apple daily chart. The marked bar makes a new low, closes above the previous close, and is followed by a rapid rebound on high volume.</a:t>
            </a:r>
          </a:p>
        </p:txBody>
      </p:sp>
      <p:sp>
        <p:nvSpPr>
          <p:cNvPr id="13" name="Oval 12"/>
          <p:cNvSpPr/>
          <p:nvPr/>
        </p:nvSpPr>
        <p:spPr>
          <a:xfrm>
            <a:off x="8988822" y="3846278"/>
            <a:ext cx="173833" cy="175058"/>
          </a:xfrm>
          <a:prstGeom prst="ellipse">
            <a:avLst/>
          </a:prstGeom>
          <a:noFill/>
          <a:ln w="44450">
            <a:solidFill>
              <a:srgbClr val="E09B00"/>
            </a:solidFill>
          </a:ln>
        </p:spPr>
        <p:txBody>
          <a:bodyPr rtlCol="0" anchor="ctr"/>
          <a:lstStyle/>
          <a:p>
            <a:pPr algn="ctr"/>
          </a:p>
        </p:txBody>
      </p:sp>
      <p:sp>
        <p:nvSpPr>
          <p:cNvPr id="14" name="Oval 13"/>
          <p:cNvSpPr/>
          <p:nvPr/>
        </p:nvSpPr>
        <p:spPr>
          <a:xfrm>
            <a:off x="9040973" y="3741242"/>
            <a:ext cx="173833" cy="140047"/>
          </a:xfrm>
          <a:prstGeom prst="ellipse">
            <a:avLst/>
          </a:prstGeom>
          <a:noFill/>
          <a:ln w="44450">
            <a:solidFill>
              <a:srgbClr val="C62828"/>
            </a:solidFill>
          </a:ln>
        </p:spPr>
        <p:txBody>
          <a:bodyPr rtlCol="0" anchor="ctr"/>
          <a:lstStyle/>
          <a:p>
            <a:pPr algn="ctr"/>
          </a:p>
        </p:txBody>
      </p:sp>
      <p:sp>
        <p:nvSpPr>
          <p:cNvPr id="15" name="Oval 14"/>
          <p:cNvSpPr/>
          <p:nvPr/>
        </p:nvSpPr>
        <p:spPr>
          <a:xfrm>
            <a:off x="8971439" y="4231407"/>
            <a:ext cx="208600" cy="385129"/>
          </a:xfrm>
          <a:prstGeom prst="ellipse">
            <a:avLst/>
          </a:prstGeom>
          <a:noFill/>
          <a:ln w="44450">
            <a:solidFill>
              <a:srgbClr val="1F5FAD"/>
            </a:solidFill>
          </a:ln>
        </p:spPr>
        <p:txBody>
          <a:bodyPr rtlCol="0" anchor="ctr"/>
          <a:lstStyle/>
          <a:p>
            <a:pPr algn="ctr"/>
          </a:p>
        </p:txBody>
      </p:sp>
      <p:sp>
        <p:nvSpPr>
          <p:cNvPr id="16" name="Oval 15"/>
          <p:cNvSpPr/>
          <p:nvPr/>
        </p:nvSpPr>
        <p:spPr>
          <a:xfrm>
            <a:off x="8771317" y="389935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306726" y="346608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306726" y="436151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TextBox 18"/>
          <p:cNvSpPr txBox="1"/>
          <p:nvPr/>
        </p:nvSpPr>
        <p:spPr>
          <a:xfrm>
            <a:off x="6766559" y="5028166"/>
            <a:ext cx="51050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7.14 -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7.14. The worked PHP values are ours, invented to show the converse.</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7.15 shows the key reversal on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 of 62</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chart shows the same rule: a higher high, then a close near or below the prior close (p. 218).</a:t>
            </a:r>
          </a:p>
          <a:p>
            <a:pPr algn="l">
              <a:lnSpc>
                <a:spcPct val="105000"/>
              </a:lnSpc>
              <a:spcBef>
                <a:spcPts val="0"/>
              </a:spcBef>
              <a:spcAft>
                <a:spcPts val="1100"/>
              </a:spcAft>
            </a:pPr>
            <a:r>
              <a:rPr sz="1700" b="0" i="0">
                <a:solidFill>
                  <a:srgbClr val="1A1A1A"/>
                </a:solidFill>
                <a:latin typeface="Arial"/>
              </a:rPr>
              <a:t>Gold (1) marks the previous bar's high. Red (2) marks the key reversal day's higher high. Blue (3) marks its close, below the previous close. Purple (4) marks the above-average volume beneath it.</a:t>
            </a:r>
          </a:p>
          <a:p>
            <a:pPr algn="l">
              <a:lnSpc>
                <a:spcPct val="105000"/>
              </a:lnSpc>
              <a:spcBef>
                <a:spcPts val="0"/>
              </a:spcBef>
              <a:spcAft>
                <a:spcPts val="1100"/>
              </a:spcAft>
            </a:pPr>
            <a:r>
              <a:rPr sz="1700" b="0" i="0">
                <a:solidFill>
                  <a:srgbClr val="1A1A1A"/>
                </a:solidFill>
                <a:latin typeface="Arial"/>
              </a:rPr>
              <a:t>Why it matters: a key reversal is a warning, not a promise. In the book's example, the market drifts sideways before it falls.</a:t>
            </a:r>
          </a:p>
        </p:txBody>
      </p:sp>
      <p:sp>
        <p:nvSpPr>
          <p:cNvPr id="8" name="Rectangle 7"/>
          <p:cNvSpPr/>
          <p:nvPr/>
        </p:nvSpPr>
        <p:spPr>
          <a:xfrm>
            <a:off x="6052089" y="1810512"/>
            <a:ext cx="571107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70961" y="1929384"/>
            <a:ext cx="5473332"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70961" y="1929384"/>
            <a:ext cx="547333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45281" y="2203703"/>
            <a:ext cx="492469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Oval 11"/>
          <p:cNvSpPr/>
          <p:nvPr/>
        </p:nvSpPr>
        <p:spPr>
          <a:xfrm>
            <a:off x="9124823" y="2493970"/>
            <a:ext cx="195476" cy="173719"/>
          </a:xfrm>
          <a:prstGeom prst="ellipse">
            <a:avLst/>
          </a:prstGeom>
          <a:noFill/>
          <a:ln w="44450">
            <a:solidFill>
              <a:srgbClr val="E09B00"/>
            </a:solidFill>
          </a:ln>
        </p:spPr>
        <p:txBody>
          <a:bodyPr rtlCol="0" anchor="ctr"/>
          <a:lstStyle/>
          <a:p>
            <a:pPr algn="ctr"/>
          </a:p>
        </p:txBody>
      </p:sp>
      <p:sp>
        <p:nvSpPr>
          <p:cNvPr id="13" name="Oval 12"/>
          <p:cNvSpPr/>
          <p:nvPr/>
        </p:nvSpPr>
        <p:spPr>
          <a:xfrm>
            <a:off x="9211701" y="2331109"/>
            <a:ext cx="217195" cy="173719"/>
          </a:xfrm>
          <a:prstGeom prst="ellipse">
            <a:avLst/>
          </a:prstGeom>
          <a:noFill/>
          <a:ln w="44450">
            <a:solidFill>
              <a:srgbClr val="C62828"/>
            </a:solidFill>
          </a:ln>
        </p:spPr>
        <p:txBody>
          <a:bodyPr rtlCol="0" anchor="ctr"/>
          <a:lstStyle/>
          <a:p>
            <a:pPr algn="ctr"/>
          </a:p>
        </p:txBody>
      </p:sp>
      <p:sp>
        <p:nvSpPr>
          <p:cNvPr id="14" name="Oval 13"/>
          <p:cNvSpPr/>
          <p:nvPr/>
        </p:nvSpPr>
        <p:spPr>
          <a:xfrm>
            <a:off x="9255140" y="2732834"/>
            <a:ext cx="217195" cy="173719"/>
          </a:xfrm>
          <a:prstGeom prst="ellipse">
            <a:avLst/>
          </a:prstGeom>
          <a:noFill/>
          <a:ln w="44450">
            <a:solidFill>
              <a:srgbClr val="1F5FAD"/>
            </a:solidFill>
          </a:ln>
        </p:spPr>
        <p:txBody>
          <a:bodyPr rtlCol="0" anchor="ctr"/>
          <a:lstStyle/>
          <a:p>
            <a:pPr algn="ctr"/>
          </a:p>
        </p:txBody>
      </p:sp>
      <p:sp>
        <p:nvSpPr>
          <p:cNvPr id="15" name="Oval 14"/>
          <p:cNvSpPr/>
          <p:nvPr/>
        </p:nvSpPr>
        <p:spPr>
          <a:xfrm>
            <a:off x="9200841" y="5056326"/>
            <a:ext cx="238915" cy="260578"/>
          </a:xfrm>
          <a:prstGeom prst="ellipse">
            <a:avLst/>
          </a:prstGeom>
          <a:noFill/>
          <a:ln w="44450">
            <a:solidFill>
              <a:srgbClr val="7B3FA0"/>
            </a:solidFill>
          </a:ln>
        </p:spPr>
        <p:txBody>
          <a:bodyPr rtlCol="0" anchor="ctr"/>
          <a:lstStyle/>
          <a:p>
            <a:pPr algn="ctr"/>
          </a:p>
        </p:txBody>
      </p:sp>
      <p:sp>
        <p:nvSpPr>
          <p:cNvPr id="16" name="Oval 15"/>
          <p:cNvSpPr/>
          <p:nvPr/>
        </p:nvSpPr>
        <p:spPr>
          <a:xfrm>
            <a:off x="8688432" y="2451689"/>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564166" y="2170785"/>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618899" y="273259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9016832" y="462869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852159" y="5650991"/>
            <a:ext cx="611093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and marks are for teaching; no invented example is on this slide.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“Figure 7.15: three observations”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bearish key reversal makes a higher high, then:</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Near or below prior close</a:t>
            </a:r>
          </a:p>
          <a:p>
            <a:pPr algn="l">
              <a:lnSpc>
                <a:spcPct val="105000"/>
              </a:lnSpc>
              <a:spcBef>
                <a:spcPts val="0"/>
              </a:spcBef>
              <a:spcAft>
                <a:spcPts val="200"/>
              </a:spcAft>
            </a:pPr>
            <a:r>
              <a:rPr sz="1700" b="0" i="0">
                <a:solidFill>
                  <a:srgbClr val="FFFFFF"/>
                </a:solidFill>
                <a:latin typeface="Arial"/>
              </a:rPr>
              <a:t>B.  Above prior high</a:t>
            </a:r>
          </a:p>
          <a:p>
            <a:pPr algn="l">
              <a:lnSpc>
                <a:spcPct val="105000"/>
              </a:lnSpc>
              <a:spcBef>
                <a:spcPts val="0"/>
              </a:spcBef>
              <a:spcAft>
                <a:spcPts val="200"/>
              </a:spcAft>
            </a:pPr>
            <a:r>
              <a:rPr sz="1700" b="0" i="0">
                <a:solidFill>
                  <a:srgbClr val="FFFFFF"/>
                </a:solidFill>
                <a:latin typeface="Arial"/>
              </a:rPr>
              <a:t>C.  Below prior low</a:t>
            </a:r>
          </a:p>
          <a:p>
            <a:pPr algn="l">
              <a:lnSpc>
                <a:spcPct val="105000"/>
              </a:lnSpc>
              <a:spcBef>
                <a:spcPts val="0"/>
              </a:spcBef>
              <a:spcAft>
                <a:spcPts val="200"/>
              </a:spcAft>
            </a:pPr>
            <a:r>
              <a:rPr sz="1700" b="0" i="0">
                <a:solidFill>
                  <a:srgbClr val="FFFFFF"/>
                </a:solidFill>
                <a:latin typeface="Arial"/>
              </a:rPr>
              <a:t>D.  On low volume only</a:t>
            </a:r>
          </a:p>
        </p:txBody>
      </p:sp>
      <p:sp>
        <p:nvSpPr>
          <p:cNvPr id="10" name="Rectangle 9"/>
          <p:cNvSpPr/>
          <p:nvPr/>
        </p:nvSpPr>
        <p:spPr>
          <a:xfrm>
            <a:off x="777240" y="3336798"/>
            <a:ext cx="45720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7.15, blue mark 3 identifies:</a:t>
            </a:r>
          </a:p>
        </p:txBody>
      </p:sp>
      <p:sp>
        <p:nvSpPr>
          <p:cNvPr id="13" name="TextBox 12"/>
          <p:cNvSpPr txBox="1"/>
          <p:nvPr/>
        </p:nvSpPr>
        <p:spPr>
          <a:xfrm>
            <a:off x="1005840" y="419912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Prior close</a:t>
            </a:r>
          </a:p>
          <a:p>
            <a:pPr algn="l">
              <a:lnSpc>
                <a:spcPct val="105000"/>
              </a:lnSpc>
              <a:spcBef>
                <a:spcPts val="0"/>
              </a:spcBef>
              <a:spcAft>
                <a:spcPts val="200"/>
              </a:spcAft>
            </a:pPr>
            <a:r>
              <a:rPr sz="1700" b="0" i="0">
                <a:solidFill>
                  <a:srgbClr val="FFFFFF"/>
                </a:solidFill>
                <a:latin typeface="Arial"/>
              </a:rPr>
              <a:t>B.  New high</a:t>
            </a:r>
          </a:p>
          <a:p>
            <a:pPr algn="l">
              <a:lnSpc>
                <a:spcPct val="105000"/>
              </a:lnSpc>
              <a:spcBef>
                <a:spcPts val="0"/>
              </a:spcBef>
              <a:spcAft>
                <a:spcPts val="200"/>
              </a:spcAft>
            </a:pPr>
            <a:r>
              <a:rPr sz="1700" b="0" i="0">
                <a:solidFill>
                  <a:srgbClr val="FFFFFF"/>
                </a:solidFill>
                <a:latin typeface="Arial"/>
              </a:rPr>
              <a:t>C.  Close below prior close</a:t>
            </a:r>
          </a:p>
          <a:p>
            <a:pPr algn="l">
              <a:lnSpc>
                <a:spcPct val="105000"/>
              </a:lnSpc>
              <a:spcBef>
                <a:spcPts val="0"/>
              </a:spcBef>
              <a:spcAft>
                <a:spcPts val="200"/>
              </a:spcAft>
            </a:pPr>
            <a:r>
              <a:rPr sz="1700" b="0" i="0">
                <a:solidFill>
                  <a:srgbClr val="FFFFFF"/>
                </a:solidFill>
                <a:latin typeface="Arial"/>
              </a:rPr>
              <a:t>D.  Later bars</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“Figure 7.15: three observations”</a:t>
            </a:r>
          </a:p>
        </p:txBody>
      </p:sp>
      <p:sp>
        <p:nvSpPr>
          <p:cNvPr id="6" name="Rectangle 5"/>
          <p:cNvSpPr/>
          <p:nvPr/>
        </p:nvSpPr>
        <p:spPr>
          <a:xfrm>
            <a:off x="777240" y="1207008"/>
            <a:ext cx="45720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bearish key reversal makes a higher high, then:</a:t>
            </a:r>
          </a:p>
        </p:txBody>
      </p:sp>
      <p:sp>
        <p:nvSpPr>
          <p:cNvPr id="9" name="TextBox 8"/>
          <p:cNvSpPr txBox="1"/>
          <p:nvPr/>
        </p:nvSpPr>
        <p:spPr>
          <a:xfrm>
            <a:off x="1097280" y="2069338"/>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Near or below prior close</a:t>
            </a:r>
          </a:p>
          <a:p>
            <a:pPr algn="l">
              <a:lnSpc>
                <a:spcPct val="115000"/>
              </a:lnSpc>
              <a:spcBef>
                <a:spcPts val="500"/>
              </a:spcBef>
              <a:spcAft>
                <a:spcPts val="0"/>
              </a:spcAft>
            </a:pPr>
            <a:r>
              <a:rPr sz="1700" b="0" i="0">
                <a:solidFill>
                  <a:srgbClr val="1A1A1A"/>
                </a:solidFill>
                <a:latin typeface="Arial"/>
              </a:rPr>
              <a:t>Lim defines the bearish pattern as a higher high followed by a close near or below the previous close.</a:t>
            </a:r>
          </a:p>
        </p:txBody>
      </p:sp>
      <p:sp>
        <p:nvSpPr>
          <p:cNvPr id="10" name="Rectangle 9"/>
          <p:cNvSpPr/>
          <p:nvPr/>
        </p:nvSpPr>
        <p:spPr>
          <a:xfrm>
            <a:off x="777240" y="3625723"/>
            <a:ext cx="45720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On Figure 7.15, blue mark 3 identifies:</a:t>
            </a:r>
          </a:p>
        </p:txBody>
      </p:sp>
      <p:sp>
        <p:nvSpPr>
          <p:cNvPr id="13" name="TextBox 12"/>
          <p:cNvSpPr txBox="1"/>
          <p:nvPr/>
        </p:nvSpPr>
        <p:spPr>
          <a:xfrm>
            <a:off x="1097280" y="4488053"/>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Close below prior close</a:t>
            </a:r>
          </a:p>
          <a:p>
            <a:pPr algn="l">
              <a:lnSpc>
                <a:spcPct val="115000"/>
              </a:lnSpc>
              <a:spcBef>
                <a:spcPts val="500"/>
              </a:spcBef>
              <a:spcAft>
                <a:spcPts val="0"/>
              </a:spcAft>
            </a:pPr>
            <a:r>
              <a:rPr sz="1700" b="0" i="0">
                <a:solidFill>
                  <a:srgbClr val="1A1A1A"/>
                </a:solidFill>
                <a:latin typeface="Arial"/>
              </a:rPr>
              <a:t>The preceding slide maps blue mark 3 to the close below the previous close (Lim, p. 219).</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“Figure 7.15: three observations”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wider key reversal bar makes downside follow-through:</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Impossible</a:t>
            </a:r>
          </a:p>
          <a:p>
            <a:pPr algn="l">
              <a:lnSpc>
                <a:spcPct val="105000"/>
              </a:lnSpc>
              <a:spcBef>
                <a:spcPts val="0"/>
              </a:spcBef>
              <a:spcAft>
                <a:spcPts val="200"/>
              </a:spcAft>
            </a:pPr>
            <a:r>
              <a:rPr sz="1700" b="0" i="0">
                <a:solidFill>
                  <a:srgbClr val="FFFFFF"/>
                </a:solidFill>
                <a:latin typeface="Arial"/>
              </a:rPr>
              <a:t>B.  Always certain</a:t>
            </a:r>
          </a:p>
          <a:p>
            <a:pPr algn="l">
              <a:lnSpc>
                <a:spcPct val="105000"/>
              </a:lnSpc>
              <a:spcBef>
                <a:spcPts val="0"/>
              </a:spcBef>
              <a:spcAft>
                <a:spcPts val="200"/>
              </a:spcAft>
            </a:pPr>
            <a:r>
              <a:rPr sz="1700" b="0" i="0">
                <a:solidFill>
                  <a:srgbClr val="FFFFFF"/>
                </a:solidFill>
                <a:latin typeface="Arial"/>
              </a:rPr>
              <a:t>C.  Unrelated</a:t>
            </a:r>
          </a:p>
          <a:p>
            <a:pPr algn="l">
              <a:lnSpc>
                <a:spcPct val="105000"/>
              </a:lnSpc>
              <a:spcBef>
                <a:spcPts val="0"/>
              </a:spcBef>
              <a:spcAft>
                <a:spcPts val="200"/>
              </a:spcAft>
            </a:pPr>
            <a:r>
              <a:rPr sz="1700" b="0" i="0">
                <a:solidFill>
                  <a:srgbClr val="FFFFFF"/>
                </a:solidFill>
                <a:latin typeface="Arial"/>
              </a:rPr>
              <a:t>D.  Potentially more reliable</a:t>
            </a:r>
          </a:p>
        </p:txBody>
      </p:sp>
      <p:sp>
        <p:nvSpPr>
          <p:cNvPr id="10" name="Rectangle 9"/>
          <p:cNvSpPr/>
          <p:nvPr/>
        </p:nvSpPr>
        <p:spPr>
          <a:xfrm>
            <a:off x="777240" y="3336798"/>
            <a:ext cx="45720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bullish converse is read in a:</a:t>
            </a:r>
          </a:p>
        </p:txBody>
      </p:sp>
      <p:sp>
        <p:nvSpPr>
          <p:cNvPr id="13" name="TextBox 12"/>
          <p:cNvSpPr txBox="1"/>
          <p:nvPr/>
        </p:nvSpPr>
        <p:spPr>
          <a:xfrm>
            <a:off x="1005840" y="3950843"/>
            <a:ext cx="41148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Monthly chart only</a:t>
            </a:r>
          </a:p>
          <a:p>
            <a:pPr algn="l">
              <a:lnSpc>
                <a:spcPct val="105000"/>
              </a:lnSpc>
              <a:spcBef>
                <a:spcPts val="0"/>
              </a:spcBef>
              <a:spcAft>
                <a:spcPts val="200"/>
              </a:spcAft>
            </a:pPr>
            <a:r>
              <a:rPr sz="1700" b="0" i="0">
                <a:solidFill>
                  <a:srgbClr val="FFFFFF"/>
                </a:solidFill>
                <a:latin typeface="Arial"/>
              </a:rPr>
              <a:t>B.  Downtrend</a:t>
            </a:r>
          </a:p>
          <a:p>
            <a:pPr algn="l">
              <a:lnSpc>
                <a:spcPct val="105000"/>
              </a:lnSpc>
              <a:spcBef>
                <a:spcPts val="0"/>
              </a:spcBef>
              <a:spcAft>
                <a:spcPts val="200"/>
              </a:spcAft>
            </a:pPr>
            <a:r>
              <a:rPr sz="1700" b="0" i="0">
                <a:solidFill>
                  <a:srgbClr val="FFFFFF"/>
                </a:solidFill>
                <a:latin typeface="Arial"/>
              </a:rPr>
              <a:t>C.  Flat market only</a:t>
            </a:r>
          </a:p>
          <a:p>
            <a:pPr algn="l">
              <a:lnSpc>
                <a:spcPct val="105000"/>
              </a:lnSpc>
              <a:spcBef>
                <a:spcPts val="0"/>
              </a:spcBef>
              <a:spcAft>
                <a:spcPts val="200"/>
              </a:spcAft>
            </a:pPr>
            <a:r>
              <a:rPr sz="1700" b="0" i="0">
                <a:solidFill>
                  <a:srgbClr val="FFFFFF"/>
                </a:solidFill>
                <a:latin typeface="Arial"/>
              </a:rPr>
              <a:t>D.  Volume panel</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17</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“Figure 7.15: three observations”</a:t>
            </a:r>
          </a:p>
        </p:txBody>
      </p:sp>
      <p:sp>
        <p:nvSpPr>
          <p:cNvPr id="6" name="Rectangle 5"/>
          <p:cNvSpPr/>
          <p:nvPr/>
        </p:nvSpPr>
        <p:spPr>
          <a:xfrm>
            <a:off x="777240" y="1207008"/>
            <a:ext cx="4572000" cy="255714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571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wider key reversal bar makes downside follow-through:</a:t>
            </a:r>
          </a:p>
        </p:txBody>
      </p:sp>
      <p:sp>
        <p:nvSpPr>
          <p:cNvPr id="9" name="TextBox 8"/>
          <p:cNvSpPr txBox="1"/>
          <p:nvPr/>
        </p:nvSpPr>
        <p:spPr>
          <a:xfrm>
            <a:off x="1097280" y="2069338"/>
            <a:ext cx="4023360" cy="169481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Potentially more reliable</a:t>
            </a:r>
          </a:p>
          <a:p>
            <a:pPr algn="l">
              <a:lnSpc>
                <a:spcPct val="115000"/>
              </a:lnSpc>
              <a:spcBef>
                <a:spcPts val="500"/>
              </a:spcBef>
              <a:spcAft>
                <a:spcPts val="0"/>
              </a:spcAft>
            </a:pPr>
            <a:r>
              <a:rPr sz="1700" b="0" i="0">
                <a:solidFill>
                  <a:srgbClr val="1A1A1A"/>
                </a:solidFill>
                <a:latin typeface="Arial"/>
              </a:rPr>
              <a:t>The book says a wider bar makes follow-through potentially more reliable.</a:t>
            </a:r>
          </a:p>
        </p:txBody>
      </p:sp>
      <p:sp>
        <p:nvSpPr>
          <p:cNvPr id="10" name="Rectangle 9"/>
          <p:cNvSpPr/>
          <p:nvPr/>
        </p:nvSpPr>
        <p:spPr>
          <a:xfrm>
            <a:off x="777240" y="3947033"/>
            <a:ext cx="45720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47033"/>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129913"/>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The bullish converse is read in a:</a:t>
            </a:r>
          </a:p>
        </p:txBody>
      </p:sp>
      <p:sp>
        <p:nvSpPr>
          <p:cNvPr id="13" name="TextBox 12"/>
          <p:cNvSpPr txBox="1"/>
          <p:nvPr/>
        </p:nvSpPr>
        <p:spPr>
          <a:xfrm>
            <a:off x="1097280" y="4561078"/>
            <a:ext cx="40233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Downtrend</a:t>
            </a:r>
          </a:p>
          <a:p>
            <a:pPr algn="l">
              <a:lnSpc>
                <a:spcPct val="115000"/>
              </a:lnSpc>
              <a:spcBef>
                <a:spcPts val="500"/>
              </a:spcBef>
              <a:spcAft>
                <a:spcPts val="0"/>
              </a:spcAft>
            </a:pPr>
            <a:r>
              <a:rPr sz="1700" b="0" i="0">
                <a:solidFill>
                  <a:srgbClr val="1A1A1A"/>
                </a:solidFill>
                <a:latin typeface="Arial"/>
              </a:rPr>
              <a:t>The bullish key reversal is the converse in a downtrend.</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17</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key reversal can warn early without starting an immediate fall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 of 62</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key reversal is a warning about changing pressure, not a promise that price will fall at once.</a:t>
            </a:r>
          </a:p>
          <a:p>
            <a:pPr algn="l">
              <a:lnSpc>
                <a:spcPct val="105000"/>
              </a:lnSpc>
              <a:spcBef>
                <a:spcPts val="0"/>
              </a:spcBef>
              <a:spcAft>
                <a:spcPts val="1100"/>
              </a:spcAft>
            </a:pPr>
            <a:r>
              <a:rPr sz="1800" b="0" i="0">
                <a:solidFill>
                  <a:srgbClr val="1A1A1A"/>
                </a:solidFill>
                <a:latin typeface="Arial"/>
              </a:rPr>
              <a:t>Lim's Figure 7.15 shows the market hovering near the key bar </a:t>
            </a:r>
            <a:r>
              <a:rPr sz="1800" b="1" i="0">
                <a:solidFill>
                  <a:srgbClr val="E09B00"/>
                </a:solidFill>
                <a:latin typeface="Arial"/>
              </a:rPr>
              <a:t>(1)</a:t>
            </a:r>
            <a:r>
              <a:rPr sz="1800" b="0" i="0">
                <a:solidFill>
                  <a:srgbClr val="1A1A1A"/>
                </a:solidFill>
                <a:latin typeface="Arial"/>
              </a:rPr>
              <a:t> before the later decline </a:t>
            </a:r>
            <a:r>
              <a:rPr sz="1800" b="1" i="0">
                <a:solidFill>
                  <a:srgbClr val="C62828"/>
                </a:solidFill>
                <a:latin typeface="Arial"/>
              </a:rPr>
              <a:t>(2)</a:t>
            </a:r>
            <a:r>
              <a:rPr sz="1800" b="0" i="0">
                <a:solidFill>
                  <a:srgbClr val="1A1A1A"/>
                </a:solidFill>
                <a:latin typeface="Arial"/>
              </a:rPr>
              <a:t> (p. 219).</a:t>
            </a:r>
          </a:p>
          <a:p>
            <a:pPr algn="l">
              <a:lnSpc>
                <a:spcPct val="105000"/>
              </a:lnSpc>
              <a:spcBef>
                <a:spcPts val="0"/>
              </a:spcBef>
              <a:spcAft>
                <a:spcPts val="1100"/>
              </a:spcAft>
            </a:pPr>
            <a:r>
              <a:rPr sz="1800" b="0" i="0">
                <a:solidFill>
                  <a:srgbClr val="1A1A1A"/>
                </a:solidFill>
                <a:latin typeface="Arial"/>
              </a:rPr>
              <a:t>Read the pattern first, then wait for the surrounding context rather than assuming the timing of the move.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9253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wide bar may make follow-through more reliable, but it does not guarantee it.</a:t>
            </a:r>
          </a:p>
        </p:txBody>
      </p:sp>
      <p:sp>
        <p:nvSpPr>
          <p:cNvPr id="10" name="Rectangle 9"/>
          <p:cNvSpPr/>
          <p:nvPr/>
        </p:nvSpPr>
        <p:spPr>
          <a:xfrm>
            <a:off x="7315199" y="1810512"/>
            <a:ext cx="4099255" cy="32927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34071" y="1929384"/>
            <a:ext cx="3861511" cy="305505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34071" y="1929384"/>
            <a:ext cx="386151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708392" y="2203703"/>
            <a:ext cx="3312871" cy="25978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the later consolidation and decline.</a:t>
            </a:r>
          </a:p>
        </p:txBody>
      </p:sp>
      <p:sp>
        <p:nvSpPr>
          <p:cNvPr id="14" name="Rectangle 13"/>
          <p:cNvSpPr/>
          <p:nvPr/>
        </p:nvSpPr>
        <p:spPr>
          <a:xfrm>
            <a:off x="9326212" y="2357091"/>
            <a:ext cx="424766" cy="458258"/>
          </a:xfrm>
          <a:prstGeom prst="rect">
            <a:avLst/>
          </a:prstGeom>
          <a:noFill/>
          <a:ln w="44450">
            <a:solidFill>
              <a:srgbClr val="E09B00"/>
            </a:solidFill>
          </a:ln>
        </p:spPr>
        <p:txBody>
          <a:bodyPr rtlCol="0" anchor="ctr"/>
          <a:lstStyle/>
          <a:p>
            <a:pPr algn="ctr"/>
          </a:p>
        </p:txBody>
      </p:sp>
      <p:sp>
        <p:nvSpPr>
          <p:cNvPr id="15" name="Rectangle 14"/>
          <p:cNvSpPr/>
          <p:nvPr/>
        </p:nvSpPr>
        <p:spPr>
          <a:xfrm>
            <a:off x="9944054" y="2418192"/>
            <a:ext cx="424766" cy="794314"/>
          </a:xfrm>
          <a:prstGeom prst="rect">
            <a:avLst/>
          </a:prstGeom>
          <a:noFill/>
          <a:ln w="44450">
            <a:solidFill>
              <a:srgbClr val="C62828"/>
            </a:solidFill>
          </a:ln>
        </p:spPr>
        <p:txBody>
          <a:bodyPr rtlCol="0" anchor="ctr"/>
          <a:lstStyle/>
          <a:p>
            <a:pPr algn="ctr"/>
          </a:p>
        </p:txBody>
      </p:sp>
      <p:sp>
        <p:nvSpPr>
          <p:cNvPr id="16" name="Oval 15"/>
          <p:cNvSpPr/>
          <p:nvPr/>
        </p:nvSpPr>
        <p:spPr>
          <a:xfrm>
            <a:off x="9005120" y="210687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33879" y="317614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7315199" y="5194751"/>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219, Figure 7.15. The PHP path is ours, invented to show consolidation.</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7.14 shows what happened after the bullish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7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pattern has already been defined. Figure 7.14 adds a later observation: the high-volume reversal bar </a:t>
            </a:r>
            <a:r>
              <a:rPr sz="2000" b="1" i="0">
                <a:solidFill>
                  <a:srgbClr val="1F5FAD"/>
                </a:solidFill>
                <a:latin typeface="Arial"/>
              </a:rPr>
              <a:t>(3)</a:t>
            </a:r>
            <a:r>
              <a:rPr sz="2000" b="0" i="0">
                <a:solidFill>
                  <a:srgbClr val="1A1A1A"/>
                </a:solidFill>
                <a:latin typeface="Arial"/>
              </a:rPr>
              <a:t> is followed by a rapid rebound.</a:t>
            </a:r>
          </a:p>
          <a:p>
            <a:pPr algn="l">
              <a:lnSpc>
                <a:spcPct val="105000"/>
              </a:lnSpc>
              <a:spcBef>
                <a:spcPts val="0"/>
              </a:spcBef>
              <a:spcAft>
                <a:spcPts val="1100"/>
              </a:spcAft>
            </a:pPr>
            <a:r>
              <a:rPr sz="2000" b="0" i="0">
                <a:solidFill>
                  <a:srgbClr val="1A1A1A"/>
                </a:solidFill>
                <a:latin typeface="Arial"/>
              </a:rPr>
              <a:t>Lim presents that rebound as this chart's outcome, not a promise for every bullish key reversal (p. 218).</a:t>
            </a:r>
          </a:p>
          <a:p>
            <a:pPr algn="l">
              <a:lnSpc>
                <a:spcPct val="105000"/>
              </a:lnSpc>
              <a:spcBef>
                <a:spcPts val="0"/>
              </a:spcBef>
              <a:spcAft>
                <a:spcPts val="1100"/>
              </a:spcAft>
            </a:pPr>
            <a:r>
              <a:rPr sz="2000" b="0" i="0">
                <a:solidFill>
                  <a:srgbClr val="1A1A1A"/>
                </a:solidFill>
                <a:latin typeface="Arial"/>
              </a:rPr>
              <a:t>A reversal warns about changing pressure; timing belongs to later price action.</a:t>
            </a:r>
          </a:p>
        </p:txBody>
      </p:sp>
      <p:sp>
        <p:nvSpPr>
          <p:cNvPr id="8" name="Rectangle 7"/>
          <p:cNvSpPr/>
          <p:nvPr/>
        </p:nvSpPr>
        <p:spPr>
          <a:xfrm>
            <a:off x="6400799" y="1810512"/>
            <a:ext cx="5013655" cy="307195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519671" y="1929384"/>
            <a:ext cx="4775911" cy="283420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519671" y="1929384"/>
            <a:ext cx="47759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793991" y="2203703"/>
            <a:ext cx="4227271" cy="237700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7.14</a:t>
            </a:r>
          </a:p>
          <a:p>
            <a:pPr algn="l">
              <a:lnSpc>
                <a:spcPct val="115000"/>
              </a:lnSpc>
              <a:spcBef>
                <a:spcPts val="0"/>
              </a:spcBef>
              <a:spcAft>
                <a:spcPts val="0"/>
              </a:spcAft>
            </a:pPr>
            <a:r>
              <a:rPr sz="1500" b="0" i="0">
                <a:solidFill>
                  <a:srgbClr val="1A1A1A"/>
                </a:solidFill>
                <a:latin typeface="Palatino"/>
              </a:rPr>
              <a:t>Apple daily chart. The marked bar makes a new low, closes above the previous close, and is followed by a rapid rebound on high volume.</a:t>
            </a:r>
          </a:p>
        </p:txBody>
      </p:sp>
      <p:sp>
        <p:nvSpPr>
          <p:cNvPr id="12" name="Oval 11"/>
          <p:cNvSpPr/>
          <p:nvPr/>
        </p:nvSpPr>
        <p:spPr>
          <a:xfrm>
            <a:off x="8583547" y="3810266"/>
            <a:ext cx="170568" cy="171770"/>
          </a:xfrm>
          <a:prstGeom prst="ellipse">
            <a:avLst/>
          </a:prstGeom>
          <a:noFill/>
          <a:ln w="44450">
            <a:solidFill>
              <a:srgbClr val="E09B00"/>
            </a:solidFill>
          </a:ln>
        </p:spPr>
        <p:txBody>
          <a:bodyPr rtlCol="0" anchor="ctr"/>
          <a:lstStyle/>
          <a:p>
            <a:pPr algn="ctr"/>
          </a:p>
        </p:txBody>
      </p:sp>
      <p:sp>
        <p:nvSpPr>
          <p:cNvPr id="13" name="Oval 12"/>
          <p:cNvSpPr/>
          <p:nvPr/>
        </p:nvSpPr>
        <p:spPr>
          <a:xfrm>
            <a:off x="8634718" y="3707204"/>
            <a:ext cx="170568" cy="137416"/>
          </a:xfrm>
          <a:prstGeom prst="ellipse">
            <a:avLst/>
          </a:prstGeom>
          <a:noFill/>
          <a:ln w="44450">
            <a:solidFill>
              <a:srgbClr val="C62828"/>
            </a:solidFill>
          </a:ln>
        </p:spPr>
        <p:txBody>
          <a:bodyPr rtlCol="0" anchor="ctr"/>
          <a:lstStyle/>
          <a:p>
            <a:pPr algn="ctr"/>
          </a:p>
        </p:txBody>
      </p:sp>
      <p:sp>
        <p:nvSpPr>
          <p:cNvPr id="14" name="Oval 13"/>
          <p:cNvSpPr/>
          <p:nvPr/>
        </p:nvSpPr>
        <p:spPr>
          <a:xfrm>
            <a:off x="8566490" y="4188160"/>
            <a:ext cx="204681" cy="377894"/>
          </a:xfrm>
          <a:prstGeom prst="ellipse">
            <a:avLst/>
          </a:prstGeom>
          <a:noFill/>
          <a:ln w="44450">
            <a:solidFill>
              <a:srgbClr val="1F5FAD"/>
            </a:solidFill>
          </a:ln>
        </p:spPr>
        <p:txBody>
          <a:bodyPr rtlCol="0" anchor="ctr"/>
          <a:lstStyle/>
          <a:p>
            <a:pPr algn="ctr"/>
          </a:p>
        </p:txBody>
      </p:sp>
      <p:sp>
        <p:nvSpPr>
          <p:cNvPr id="15" name="Oval 14"/>
          <p:cNvSpPr/>
          <p:nvPr/>
        </p:nvSpPr>
        <p:spPr>
          <a:xfrm>
            <a:off x="8368067" y="386028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893417" y="343515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893417" y="4313757"/>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497390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7.14. The figure shows the book's bullish converse.</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7.16: context can strengthen the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8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price pattern sits below the lower Bollinger band </a:t>
            </a:r>
            <a:r>
              <a:rPr sz="1800" b="1" i="0">
                <a:solidFill>
                  <a:srgbClr val="E09B00"/>
                </a:solidFill>
                <a:latin typeface="Arial"/>
              </a:rPr>
              <a:t>(1)</a:t>
            </a:r>
            <a:r>
              <a:rPr sz="1800" b="0" i="0">
                <a:solidFill>
                  <a:srgbClr val="1A1A1A"/>
                </a:solidFill>
                <a:latin typeface="Arial"/>
              </a:rPr>
              <a:t>, with StochRSI oversold </a:t>
            </a:r>
            <a:r>
              <a:rPr sz="1800" b="1" i="0">
                <a:solidFill>
                  <a:srgbClr val="C62828"/>
                </a:solidFill>
                <a:latin typeface="Arial"/>
              </a:rPr>
              <a:t>(2)</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It closes near its high and shows extreme volume </a:t>
            </a:r>
            <a:r>
              <a:rPr sz="1800" b="1" i="0">
                <a:solidFill>
                  <a:srgbClr val="1F5FAD"/>
                </a:solidFill>
                <a:latin typeface="Arial"/>
              </a:rPr>
              <a:t>(3)</a:t>
            </a:r>
            <a:r>
              <a:rPr sz="1800" b="0" i="0">
                <a:solidFill>
                  <a:srgbClr val="1A1A1A"/>
                </a:solidFill>
                <a:latin typeface="Arial"/>
              </a:rPr>
              <a:t>, which Lim calls a possible selling climax (p. 220).</a:t>
            </a:r>
          </a:p>
          <a:p>
            <a:pPr algn="l">
              <a:lnSpc>
                <a:spcPct val="105000"/>
              </a:lnSpc>
              <a:spcBef>
                <a:spcPts val="0"/>
              </a:spcBef>
              <a:spcAft>
                <a:spcPts val="1100"/>
              </a:spcAft>
            </a:pPr>
            <a:r>
              <a:rPr sz="1800" b="0" i="0">
                <a:solidFill>
                  <a:srgbClr val="1A1A1A"/>
                </a:solidFill>
                <a:latin typeface="Arial"/>
              </a:rPr>
              <a:t>The book gives no formulas here. These labels are context, not a promise.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Use the labels as context, not as a promise of a reversal.</a:t>
            </a:r>
          </a:p>
        </p:txBody>
      </p:sp>
      <p:sp>
        <p:nvSpPr>
          <p:cNvPr id="10" name="Rectangle 9"/>
          <p:cNvSpPr/>
          <p:nvPr/>
        </p:nvSpPr>
        <p:spPr>
          <a:xfrm>
            <a:off x="7289880" y="1810512"/>
            <a:ext cx="3875573"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08752" y="1929384"/>
            <a:ext cx="3637829"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08752" y="1929384"/>
            <a:ext cx="3637829"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683072" y="2203703"/>
            <a:ext cx="30891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7.16</a:t>
            </a:r>
          </a:p>
          <a:p>
            <a:pPr algn="l">
              <a:lnSpc>
                <a:spcPct val="115000"/>
              </a:lnSpc>
              <a:spcBef>
                <a:spcPts val="0"/>
              </a:spcBef>
              <a:spcAft>
                <a:spcPts val="0"/>
              </a:spcAft>
            </a:pPr>
            <a:r>
              <a:rPr sz="1500" b="0" i="0">
                <a:solidFill>
                  <a:srgbClr val="1A1A1A"/>
                </a:solidFill>
                <a:latin typeface="Palatino"/>
              </a:rPr>
              <a:t>The ITC Holdings daily chart: a bullish key reversal below the lower volatility band, an oversold StochRSI label, and high volume under the reversal bar.</a:t>
            </a:r>
          </a:p>
        </p:txBody>
      </p:sp>
      <p:sp>
        <p:nvSpPr>
          <p:cNvPr id="14" name="Oval 13"/>
          <p:cNvSpPr/>
          <p:nvPr/>
        </p:nvSpPr>
        <p:spPr>
          <a:xfrm>
            <a:off x="8863884" y="3439241"/>
            <a:ext cx="472917" cy="877824"/>
          </a:xfrm>
          <a:prstGeom prst="ellipse">
            <a:avLst/>
          </a:prstGeom>
          <a:noFill/>
          <a:ln w="44450">
            <a:solidFill>
              <a:srgbClr val="E09B00"/>
            </a:solidFill>
          </a:ln>
        </p:spPr>
        <p:txBody>
          <a:bodyPr rtlCol="0" anchor="ctr"/>
          <a:lstStyle/>
          <a:p>
            <a:pPr algn="ctr"/>
          </a:p>
        </p:txBody>
      </p:sp>
      <p:sp>
        <p:nvSpPr>
          <p:cNvPr id="15" name="Oval 14"/>
          <p:cNvSpPr/>
          <p:nvPr/>
        </p:nvSpPr>
        <p:spPr>
          <a:xfrm>
            <a:off x="9009397" y="4387291"/>
            <a:ext cx="363782" cy="561807"/>
          </a:xfrm>
          <a:prstGeom prst="ellipse">
            <a:avLst/>
          </a:prstGeom>
          <a:noFill/>
          <a:ln w="44450">
            <a:solidFill>
              <a:srgbClr val="C62828"/>
            </a:solidFill>
          </a:ln>
        </p:spPr>
        <p:txBody>
          <a:bodyPr rtlCol="0" anchor="ctr"/>
          <a:lstStyle/>
          <a:p>
            <a:pPr algn="ctr"/>
          </a:p>
        </p:txBody>
      </p:sp>
      <p:cxnSp>
        <p:nvCxnSpPr>
          <p:cNvPr id="16" name="Connector 15"/>
          <p:cNvCxnSpPr/>
          <p:nvPr/>
        </p:nvCxnSpPr>
        <p:spPr>
          <a:xfrm>
            <a:off x="9118532" y="3439241"/>
            <a:ext cx="72757" cy="1615196"/>
          </a:xfrm>
          <a:prstGeom prst="line">
            <a:avLst/>
          </a:prstGeom>
          <a:ln w="44450">
            <a:solidFill>
              <a:srgbClr val="1F5FAD"/>
            </a:solidFill>
          </a:ln>
        </p:spPr>
      </p:cxnSp>
      <p:sp>
        <p:nvSpPr>
          <p:cNvPr id="17" name="Oval 16"/>
          <p:cNvSpPr/>
          <p:nvPr/>
        </p:nvSpPr>
        <p:spPr>
          <a:xfrm>
            <a:off x="8508454" y="3337194"/>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508454" y="435547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581713" y="3566159"/>
            <a:ext cx="237744" cy="237744"/>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400799" y="565099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220, Figure 7.16. Bollinger Bands and StochRSI are shown by the book but not defined here.</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two-day reversal compares the two closing positions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bearish two-day reversal uses two closing positions: first near the high, second near the low. With simple invented prices, the first closes at PHP 51.80 near its high </a:t>
            </a:r>
            <a:r>
              <a:rPr sz="1700" b="1" i="0">
                <a:solidFill>
                  <a:srgbClr val="E09B00"/>
                </a:solidFill>
                <a:latin typeface="Arial"/>
              </a:rPr>
              <a:t>(1)</a:t>
            </a:r>
            <a:r>
              <a:rPr sz="1700" b="0" i="0">
                <a:solidFill>
                  <a:srgbClr val="1A1A1A"/>
                </a:solidFill>
                <a:latin typeface="Arial"/>
              </a:rPr>
              <a:t>, and the second at PHP 49.60 near its low </a:t>
            </a:r>
            <a:r>
              <a:rPr sz="1700" b="1" i="0">
                <a:solidFill>
                  <a:srgbClr val="C62828"/>
                </a:solidFill>
                <a:latin typeface="Arial"/>
              </a:rPr>
              <a:t>(2)</a:t>
            </a:r>
            <a:r>
              <a:rPr sz="1700" b="0" i="0">
                <a:solidFill>
                  <a:srgbClr val="1A1A1A"/>
                </a:solidFill>
                <a:latin typeface="Arial"/>
              </a:rPr>
              <a:t>. Lim prefers wider ranges for both bars. The pair is a potential warning, not a guarantee (p. 220).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l-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927908" y="350969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24521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2999584" y="335291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884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9 of 62</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7.17: the book adds CCI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10 of 62</a:t>
            </a:r>
          </a:p>
        </p:txBody>
      </p:sp>
      <p:sp>
        <p:nvSpPr>
          <p:cNvPr id="7" name="TextBox 6"/>
          <p:cNvSpPr txBox="1"/>
          <p:nvPr/>
        </p:nvSpPr>
        <p:spPr>
          <a:xfrm>
            <a:off x="777240" y="1965960"/>
            <a:ext cx="52120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Mark 1 is the first close near its high; mark 2 is the second close near its low.</a:t>
            </a:r>
          </a:p>
          <a:p>
            <a:pPr algn="l">
              <a:lnSpc>
                <a:spcPct val="105000"/>
              </a:lnSpc>
              <a:spcBef>
                <a:spcPts val="0"/>
              </a:spcBef>
              <a:spcAft>
                <a:spcPts val="1100"/>
              </a:spcAft>
            </a:pPr>
            <a:r>
              <a:rPr sz="1800" b="0" i="0">
                <a:solidFill>
                  <a:srgbClr val="1A1A1A"/>
                </a:solidFill>
                <a:latin typeface="Arial"/>
              </a:rPr>
              <a:t>The book says wider ranges would be preferable and labels bearish CCI divergence </a:t>
            </a:r>
            <a:r>
              <a:rPr sz="1800" b="1" i="0">
                <a:solidFill>
                  <a:srgbClr val="1F5FAD"/>
                </a:solidFill>
                <a:latin typeface="Arial"/>
              </a:rPr>
              <a:t>(3)</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CCI is not defined in Chapter 7. Treat it as the book's supporting label, not a formula to calculate.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9194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close sequence is the pattern; CCI is context shown by the figure.</a:t>
            </a:r>
          </a:p>
        </p:txBody>
      </p:sp>
      <p:sp>
        <p:nvSpPr>
          <p:cNvPr id="10" name="Rectangle 9"/>
          <p:cNvSpPr/>
          <p:nvPr/>
        </p:nvSpPr>
        <p:spPr>
          <a:xfrm>
            <a:off x="6595168" y="1810512"/>
            <a:ext cx="4533478"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14040" y="1929384"/>
            <a:ext cx="4295734"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14040" y="1929384"/>
            <a:ext cx="429573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88360" y="2203703"/>
            <a:ext cx="374709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7.17</a:t>
            </a:r>
          </a:p>
          <a:p>
            <a:pPr algn="l">
              <a:lnSpc>
                <a:spcPct val="115000"/>
              </a:lnSpc>
              <a:spcBef>
                <a:spcPts val="0"/>
              </a:spcBef>
              <a:spcAft>
                <a:spcPts val="0"/>
              </a:spcAft>
            </a:pPr>
            <a:r>
              <a:rPr sz="1500" b="0" i="0">
                <a:solidFill>
                  <a:srgbClr val="1A1A1A"/>
                </a:solidFill>
                <a:latin typeface="Palatino"/>
              </a:rPr>
              <a:t>The TSX Composite daily chart: the first bar closes near its high, the second near its low, and the lower panel labels bearish CCI divergence.</a:t>
            </a:r>
          </a:p>
        </p:txBody>
      </p:sp>
      <p:sp>
        <p:nvSpPr>
          <p:cNvPr id="14" name="Oval 13"/>
          <p:cNvSpPr/>
          <p:nvPr/>
        </p:nvSpPr>
        <p:spPr>
          <a:xfrm>
            <a:off x="8990779" y="2631643"/>
            <a:ext cx="343658" cy="421355"/>
          </a:xfrm>
          <a:prstGeom prst="ellipse">
            <a:avLst/>
          </a:prstGeom>
          <a:noFill/>
          <a:ln w="44450">
            <a:solidFill>
              <a:srgbClr val="E09B00"/>
            </a:solidFill>
          </a:ln>
        </p:spPr>
        <p:txBody>
          <a:bodyPr rtlCol="0" anchor="ctr"/>
          <a:lstStyle/>
          <a:p>
            <a:pPr algn="ctr"/>
          </a:p>
        </p:txBody>
      </p:sp>
      <p:sp>
        <p:nvSpPr>
          <p:cNvPr id="15" name="Oval 14"/>
          <p:cNvSpPr/>
          <p:nvPr/>
        </p:nvSpPr>
        <p:spPr>
          <a:xfrm>
            <a:off x="9377395" y="2561417"/>
            <a:ext cx="343658" cy="456468"/>
          </a:xfrm>
          <a:prstGeom prst="ellipse">
            <a:avLst/>
          </a:prstGeom>
          <a:noFill/>
          <a:ln w="44450">
            <a:solidFill>
              <a:srgbClr val="C62828"/>
            </a:solidFill>
          </a:ln>
        </p:spPr>
        <p:txBody>
          <a:bodyPr rtlCol="0" anchor="ctr"/>
          <a:lstStyle/>
          <a:p>
            <a:pPr algn="ctr"/>
          </a:p>
        </p:txBody>
      </p:sp>
      <p:sp>
        <p:nvSpPr>
          <p:cNvPr id="16" name="Oval 15"/>
          <p:cNvSpPr/>
          <p:nvPr/>
        </p:nvSpPr>
        <p:spPr>
          <a:xfrm>
            <a:off x="8518248" y="4387291"/>
            <a:ext cx="988018" cy="737372"/>
          </a:xfrm>
          <a:prstGeom prst="ellipse">
            <a:avLst/>
          </a:prstGeom>
          <a:noFill/>
          <a:ln w="44450">
            <a:solidFill>
              <a:srgbClr val="1F5FAD"/>
            </a:solidFill>
          </a:ln>
        </p:spPr>
        <p:txBody>
          <a:bodyPr rtlCol="0" anchor="ctr"/>
          <a:lstStyle/>
          <a:p>
            <a:pPr algn="ctr"/>
          </a:p>
        </p:txBody>
      </p:sp>
      <p:sp>
        <p:nvSpPr>
          <p:cNvPr id="17" name="Oval 16"/>
          <p:cNvSpPr/>
          <p:nvPr/>
        </p:nvSpPr>
        <p:spPr>
          <a:xfrm>
            <a:off x="8509960" y="235403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927553" y="2424257"/>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583894" y="453103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309359" y="5650991"/>
            <a:ext cx="51050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7.17 -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220, Figure 7.17. The CCI label is reproduced as the book's observation, not taught as a formula.</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bullish three-bar reversal can show uncertainty in the middle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bullish three-bar reversal uses three bars, and the middle bar can show uncertainty between stronger outer bars. With simple invented values, volume is 4.0m on the first bar </a:t>
            </a:r>
            <a:r>
              <a:rPr sz="1700" b="1" i="0">
                <a:solidFill>
                  <a:srgbClr val="E09B00"/>
                </a:solidFill>
                <a:latin typeface="Arial"/>
              </a:rPr>
              <a:t>(1)</a:t>
            </a:r>
            <a:r>
              <a:rPr sz="1700" b="0" i="0">
                <a:solidFill>
                  <a:srgbClr val="1A1A1A"/>
                </a:solidFill>
                <a:latin typeface="Arial"/>
              </a:rPr>
              <a:t>, 0.6m on the middle </a:t>
            </a:r>
            <a:r>
              <a:rPr sz="1700" b="1" i="0">
                <a:solidFill>
                  <a:srgbClr val="C62828"/>
                </a:solidFill>
                <a:latin typeface="Arial"/>
              </a:rPr>
              <a:t>(2)</a:t>
            </a:r>
            <a:r>
              <a:rPr sz="1700" b="0" i="0">
                <a:solidFill>
                  <a:srgbClr val="1A1A1A"/>
                </a:solidFill>
                <a:latin typeface="Arial"/>
              </a:rPr>
              <a:t>, and 4.2m on the third </a:t>
            </a:r>
            <a:r>
              <a:rPr sz="1700" b="1" i="0">
                <a:solidFill>
                  <a:srgbClr val="1F5FAD"/>
                </a:solidFill>
                <a:latin typeface="Arial"/>
              </a:rPr>
              <a:t>(3)</a:t>
            </a:r>
            <a:r>
              <a:rPr sz="1700" b="0" i="0">
                <a:solidFill>
                  <a:srgbClr val="1A1A1A"/>
                </a:solidFill>
                <a:latin typeface="Arial"/>
              </a:rPr>
              <a:t>. A quiet middle supports the potential reversal reading, but does not guarantee follow-through (Lim, pp. 221 to 223).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m-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5227407"/>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326276" y="530142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2860243" y="514328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615226" y="521730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11 of 62</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three-bar reversal changes from a strong close to a weak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12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bearish three-bar reversal appears in a clear uptrend when the first bar closes near its high and the third near its low.</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red </a:t>
            </a:r>
            <a:r>
              <a:rPr sz="2000" b="1" i="0">
                <a:solidFill>
                  <a:srgbClr val="C62828"/>
                </a:solidFill>
                <a:latin typeface="Arial"/>
              </a:rPr>
              <a:t>(2)</a:t>
            </a:r>
            <a:r>
              <a:rPr sz="2000" b="0" i="0">
                <a:solidFill>
                  <a:srgbClr val="1A1A1A"/>
                </a:solidFill>
                <a:latin typeface="Arial"/>
              </a:rPr>
              <a:t> and blue </a:t>
            </a:r>
            <a:r>
              <a:rPr sz="2000" b="1" i="0">
                <a:solidFill>
                  <a:srgbClr val="1F5FAD"/>
                </a:solidFill>
                <a:latin typeface="Arial"/>
              </a:rPr>
              <a:t>(3)</a:t>
            </a:r>
            <a:r>
              <a:rPr sz="2000" b="0" i="0">
                <a:solidFill>
                  <a:srgbClr val="1A1A1A"/>
                </a:solidFill>
                <a:latin typeface="Arial"/>
              </a:rPr>
              <a:t> mark the first, middle and third price bars. Purple </a:t>
            </a:r>
            <a:r>
              <a:rPr sz="2000" b="1" i="0">
                <a:solidFill>
                  <a:srgbClr val="7B3FA0"/>
                </a:solidFill>
                <a:latin typeface="Arial"/>
              </a:rPr>
              <a:t>(4)</a:t>
            </a:r>
            <a:r>
              <a:rPr sz="2000" b="0" i="0">
                <a:solidFill>
                  <a:srgbClr val="1A1A1A"/>
                </a:solidFill>
                <a:latin typeface="Arial"/>
              </a:rPr>
              <a:t> marks bearish +DM divergence, a book label not defined here.</a:t>
            </a:r>
          </a:p>
          <a:p>
            <a:pPr algn="l">
              <a:lnSpc>
                <a:spcPct val="105000"/>
              </a:lnSpc>
              <a:spcBef>
                <a:spcPts val="0"/>
              </a:spcBef>
              <a:spcAft>
                <a:spcPts val="1100"/>
              </a:spcAft>
            </a:pPr>
            <a:r>
              <a:rPr sz="2000" b="0" i="0">
                <a:solidFill>
                  <a:srgbClr val="1A1A1A"/>
                </a:solidFill>
                <a:latin typeface="Arial"/>
              </a:rPr>
              <a:t>The pattern can warn of changing pressure; the later decline is not guaranteed (p. 221).</a:t>
            </a:r>
          </a:p>
        </p:txBody>
      </p:sp>
      <p:sp>
        <p:nvSpPr>
          <p:cNvPr id="8" name="Rectangle 7"/>
          <p:cNvSpPr/>
          <p:nvPr/>
        </p:nvSpPr>
        <p:spPr>
          <a:xfrm>
            <a:off x="6559448" y="1810512"/>
            <a:ext cx="515355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78320" y="1929384"/>
            <a:ext cx="491581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78320" y="1929384"/>
            <a:ext cx="491581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952640" y="2203703"/>
            <a:ext cx="436717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2" name="Rectangle 11"/>
          <p:cNvSpPr/>
          <p:nvPr/>
        </p:nvSpPr>
        <p:spPr>
          <a:xfrm>
            <a:off x="10119390" y="2280513"/>
            <a:ext cx="172053" cy="526694"/>
          </a:xfrm>
          <a:prstGeom prst="rect">
            <a:avLst/>
          </a:prstGeom>
          <a:noFill/>
          <a:ln w="44450">
            <a:solidFill>
              <a:srgbClr val="E09B00"/>
            </a:solidFill>
          </a:ln>
        </p:spPr>
        <p:txBody>
          <a:bodyPr rtlCol="0" anchor="ctr"/>
          <a:lstStyle/>
          <a:p>
            <a:pPr algn="ctr"/>
          </a:p>
        </p:txBody>
      </p:sp>
      <p:sp>
        <p:nvSpPr>
          <p:cNvPr id="13" name="Rectangle 12"/>
          <p:cNvSpPr/>
          <p:nvPr/>
        </p:nvSpPr>
        <p:spPr>
          <a:xfrm>
            <a:off x="10291443" y="2280513"/>
            <a:ext cx="172053" cy="526694"/>
          </a:xfrm>
          <a:prstGeom prst="rect">
            <a:avLst/>
          </a:prstGeom>
          <a:noFill/>
          <a:ln w="44450">
            <a:solidFill>
              <a:srgbClr val="C62828"/>
            </a:solidFill>
          </a:ln>
        </p:spPr>
        <p:txBody>
          <a:bodyPr rtlCol="0" anchor="ctr"/>
          <a:lstStyle/>
          <a:p>
            <a:pPr algn="ctr"/>
          </a:p>
        </p:txBody>
      </p:sp>
      <p:sp>
        <p:nvSpPr>
          <p:cNvPr id="14" name="Rectangle 13"/>
          <p:cNvSpPr/>
          <p:nvPr/>
        </p:nvSpPr>
        <p:spPr>
          <a:xfrm>
            <a:off x="10463497" y="2280513"/>
            <a:ext cx="172053" cy="526694"/>
          </a:xfrm>
          <a:prstGeom prst="rect">
            <a:avLst/>
          </a:prstGeom>
          <a:noFill/>
          <a:ln w="44450">
            <a:solidFill>
              <a:srgbClr val="1F5FAD"/>
            </a:solidFill>
          </a:ln>
        </p:spPr>
        <p:txBody>
          <a:bodyPr rtlCol="0" anchor="ctr"/>
          <a:lstStyle/>
          <a:p>
            <a:pPr algn="ctr"/>
          </a:p>
        </p:txBody>
      </p:sp>
      <p:sp>
        <p:nvSpPr>
          <p:cNvPr id="15" name="Oval 14"/>
          <p:cNvSpPr/>
          <p:nvPr/>
        </p:nvSpPr>
        <p:spPr>
          <a:xfrm>
            <a:off x="10119390" y="4492630"/>
            <a:ext cx="491581" cy="386242"/>
          </a:xfrm>
          <a:prstGeom prst="ellipse">
            <a:avLst/>
          </a:prstGeom>
          <a:noFill/>
          <a:ln w="44450">
            <a:solidFill>
              <a:srgbClr val="7B3FA0"/>
            </a:solidFill>
          </a:ln>
        </p:spPr>
        <p:txBody>
          <a:bodyPr rtlCol="0" anchor="ctr"/>
          <a:lstStyle/>
          <a:p>
            <a:pPr algn="ctr"/>
          </a:p>
        </p:txBody>
      </p:sp>
      <p:sp>
        <p:nvSpPr>
          <p:cNvPr id="16" name="Oval 15"/>
          <p:cNvSpPr/>
          <p:nvPr/>
        </p:nvSpPr>
        <p:spPr>
          <a:xfrm>
            <a:off x="9611825" y="2166213"/>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594988" y="2166213"/>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10889936" y="2798246"/>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10840778" y="4202765"/>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6400799" y="5650991"/>
            <a:ext cx="54708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7.18 -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7.18. +DM is shown as a book label and is not defined in this chapter.</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bullish three-bar examples use stronger outer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13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bullish three-bar reversal can be more convincing when the outer bars carry higher volume </a:t>
            </a:r>
            <a:r>
              <a:rPr sz="2000" b="1" i="0">
                <a:solidFill>
                  <a:srgbClr val="E09B00"/>
                </a:solidFill>
                <a:latin typeface="Arial"/>
              </a:rPr>
              <a:t>(1)</a:t>
            </a:r>
            <a:r>
              <a:rPr sz="2000" b="0" i="0">
                <a:solidFill>
                  <a:srgbClr val="1A1A1A"/>
                </a:solidFill>
                <a:latin typeface="Arial"/>
              </a:rPr>
              <a:t> and </a:t>
            </a:r>
            <a:r>
              <a:rPr sz="2000" b="1" i="0">
                <a:solidFill>
                  <a:srgbClr val="1F5FAD"/>
                </a:solidFill>
                <a:latin typeface="Arial"/>
              </a:rPr>
              <a:t>(3)</a:t>
            </a:r>
            <a:r>
              <a:rPr sz="2000" b="0" i="0">
                <a:solidFill>
                  <a:srgbClr val="1A1A1A"/>
                </a:solidFill>
                <a:latin typeface="Arial"/>
              </a:rPr>
              <a:t>, while the middle bar is quieter </a:t>
            </a:r>
            <a:r>
              <a:rPr sz="2000" b="1" i="0">
                <a:solidFill>
                  <a:srgbClr val="C62828"/>
                </a:solidFill>
                <a:latin typeface="Arial"/>
              </a:rPr>
              <a:t>(2)</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That volume pattern repeats the uncertainty-between-strengthers idea from the worked example. These are observations, not a guarantee.</a:t>
            </a:r>
          </a:p>
        </p:txBody>
      </p:sp>
      <p:sp>
        <p:nvSpPr>
          <p:cNvPr id="8" name="Rectangle 7"/>
          <p:cNvSpPr/>
          <p:nvPr/>
        </p:nvSpPr>
        <p:spPr>
          <a:xfrm>
            <a:off x="6450705" y="1810512"/>
            <a:ext cx="52796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569577" y="1929384"/>
            <a:ext cx="50418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569577" y="1929384"/>
            <a:ext cx="50418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43897" y="2203703"/>
            <a:ext cx="44932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7.19</a:t>
            </a:r>
          </a:p>
          <a:p>
            <a:pPr algn="l">
              <a:lnSpc>
                <a:spcPct val="115000"/>
              </a:lnSpc>
              <a:spcBef>
                <a:spcPts val="0"/>
              </a:spcBef>
              <a:spcAft>
                <a:spcPts val="0"/>
              </a:spcAft>
            </a:pPr>
            <a:r>
              <a:rPr sz="1500" b="0" i="0">
                <a:solidFill>
                  <a:srgbClr val="1A1A1A"/>
                </a:solidFill>
                <a:latin typeface="Palatino"/>
              </a:rPr>
              <a:t>The ITC Holdings daily chart: a three-bar bottom reversal with high-volume outer bars and a below-average-volume middle bar.</a:t>
            </a:r>
          </a:p>
        </p:txBody>
      </p:sp>
      <p:sp>
        <p:nvSpPr>
          <p:cNvPr id="12" name="Oval 11"/>
          <p:cNvSpPr/>
          <p:nvPr/>
        </p:nvSpPr>
        <p:spPr>
          <a:xfrm>
            <a:off x="9040088" y="4633081"/>
            <a:ext cx="252093" cy="491581"/>
          </a:xfrm>
          <a:prstGeom prst="ellipse">
            <a:avLst/>
          </a:prstGeom>
          <a:noFill/>
          <a:ln w="44450">
            <a:solidFill>
              <a:srgbClr val="E09B00"/>
            </a:solidFill>
          </a:ln>
        </p:spPr>
        <p:txBody>
          <a:bodyPr rtlCol="0" anchor="ctr"/>
          <a:lstStyle/>
          <a:p>
            <a:pPr algn="ctr"/>
          </a:p>
        </p:txBody>
      </p:sp>
      <p:sp>
        <p:nvSpPr>
          <p:cNvPr id="13" name="Oval 12"/>
          <p:cNvSpPr/>
          <p:nvPr/>
        </p:nvSpPr>
        <p:spPr>
          <a:xfrm>
            <a:off x="9292181" y="4703307"/>
            <a:ext cx="201674" cy="456468"/>
          </a:xfrm>
          <a:prstGeom prst="ellipse">
            <a:avLst/>
          </a:prstGeom>
          <a:noFill/>
          <a:ln w="44450">
            <a:solidFill>
              <a:srgbClr val="C62828"/>
            </a:solidFill>
          </a:ln>
        </p:spPr>
        <p:txBody>
          <a:bodyPr rtlCol="0" anchor="ctr"/>
          <a:lstStyle/>
          <a:p>
            <a:pPr algn="ctr"/>
          </a:p>
        </p:txBody>
      </p:sp>
      <p:sp>
        <p:nvSpPr>
          <p:cNvPr id="14" name="Oval 13"/>
          <p:cNvSpPr/>
          <p:nvPr/>
        </p:nvSpPr>
        <p:spPr>
          <a:xfrm>
            <a:off x="9493856" y="4633081"/>
            <a:ext cx="252093" cy="491581"/>
          </a:xfrm>
          <a:prstGeom prst="ellipse">
            <a:avLst/>
          </a:prstGeom>
          <a:noFill/>
          <a:ln w="44450">
            <a:solidFill>
              <a:srgbClr val="1F5FAD"/>
            </a:solidFill>
          </a:ln>
        </p:spPr>
        <p:txBody>
          <a:bodyPr rtlCol="0" anchor="ctr"/>
          <a:lstStyle/>
          <a:p>
            <a:pPr algn="ctr"/>
          </a:p>
        </p:txBody>
      </p:sp>
      <p:sp>
        <p:nvSpPr>
          <p:cNvPr id="15" name="Oval 14"/>
          <p:cNvSpPr/>
          <p:nvPr/>
        </p:nvSpPr>
        <p:spPr>
          <a:xfrm>
            <a:off x="8623277" y="4343217"/>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581230" y="4413443"/>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934161" y="4343217"/>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5650991"/>
            <a:ext cx="53794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7.19. Volume labels are the book's observations.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Context can strengthen a bullish three-bar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14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three-bar reversal is the price pattern. Gold </a:t>
            </a:r>
            <a:r>
              <a:rPr sz="1900" b="1" i="0">
                <a:solidFill>
                  <a:srgbClr val="E09B00"/>
                </a:solidFill>
                <a:latin typeface="Arial"/>
              </a:rPr>
              <a:t>(1)</a:t>
            </a:r>
            <a:r>
              <a:rPr sz="1900" b="0" i="0">
                <a:solidFill>
                  <a:srgbClr val="1A1A1A"/>
                </a:solidFill>
                <a:latin typeface="Arial"/>
              </a:rPr>
              <a:t> boxes it, red </a:t>
            </a:r>
            <a:r>
              <a:rPr sz="1900" b="1" i="0">
                <a:solidFill>
                  <a:srgbClr val="C62828"/>
                </a:solidFill>
                <a:latin typeface="Arial"/>
              </a:rPr>
              <a:t>(2)</a:t>
            </a:r>
            <a:r>
              <a:rPr sz="1900" b="0" i="0">
                <a:solidFill>
                  <a:srgbClr val="1A1A1A"/>
                </a:solidFill>
                <a:latin typeface="Arial"/>
              </a:rPr>
              <a:t> marks the oversold StochRSI label, and blue </a:t>
            </a:r>
            <a:r>
              <a:rPr sz="1900" b="1" i="0">
                <a:solidFill>
                  <a:srgbClr val="1F5FAD"/>
                </a:solidFill>
                <a:latin typeface="Arial"/>
              </a:rPr>
              <a:t>(3)</a:t>
            </a:r>
            <a:r>
              <a:rPr sz="1900" b="0" i="0">
                <a:solidFill>
                  <a:srgbClr val="1A1A1A"/>
                </a:solidFill>
                <a:latin typeface="Arial"/>
              </a:rPr>
              <a:t> sits on the final close between the Bollinger bands.</a:t>
            </a:r>
          </a:p>
          <a:p>
            <a:pPr algn="l">
              <a:lnSpc>
                <a:spcPct val="105000"/>
              </a:lnSpc>
              <a:spcBef>
                <a:spcPts val="0"/>
              </a:spcBef>
              <a:spcAft>
                <a:spcPts val="1100"/>
              </a:spcAft>
            </a:pPr>
            <a:r>
              <a:rPr sz="1900" b="0" i="0">
                <a:solidFill>
                  <a:srgbClr val="1A1A1A"/>
                </a:solidFill>
                <a:latin typeface="Arial"/>
              </a:rPr>
              <a:t>Lim calls that location bullish and links the example to pattern 5 in Figure 7.9.</a:t>
            </a:r>
          </a:p>
          <a:p>
            <a:pPr algn="l">
              <a:lnSpc>
                <a:spcPct val="105000"/>
              </a:lnSpc>
              <a:spcBef>
                <a:spcPts val="0"/>
              </a:spcBef>
              <a:spcAft>
                <a:spcPts val="1100"/>
              </a:spcAft>
            </a:pPr>
            <a:r>
              <a:rPr sz="1900" b="0" i="0">
                <a:solidFill>
                  <a:srgbClr val="1A1A1A"/>
                </a:solidFill>
                <a:latin typeface="Arial"/>
              </a:rPr>
              <a:t>The book gives no formula for either indicator here, so these labels are context rather than a method to calculate.</a:t>
            </a:r>
          </a:p>
        </p:txBody>
      </p:sp>
      <p:sp>
        <p:nvSpPr>
          <p:cNvPr id="8" name="Rectangle 7"/>
          <p:cNvSpPr/>
          <p:nvPr/>
        </p:nvSpPr>
        <p:spPr>
          <a:xfrm>
            <a:off x="6837265" y="1810512"/>
            <a:ext cx="459792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56137" y="1929384"/>
            <a:ext cx="436018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956137" y="1929384"/>
            <a:ext cx="436018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30457" y="2203703"/>
            <a:ext cx="381154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7.20</a:t>
            </a:r>
          </a:p>
          <a:p>
            <a:pPr algn="l">
              <a:lnSpc>
                <a:spcPct val="115000"/>
              </a:lnSpc>
              <a:spcBef>
                <a:spcPts val="0"/>
              </a:spcBef>
              <a:spcAft>
                <a:spcPts val="0"/>
              </a:spcAft>
            </a:pPr>
            <a:r>
              <a:rPr sz="1500" b="0" i="0">
                <a:solidFill>
                  <a:srgbClr val="1A1A1A"/>
                </a:solidFill>
                <a:latin typeface="Palatino"/>
              </a:rPr>
              <a:t>The ITC Holdings daily chart: the three-bar reversal, an oversold StochRSI label, and the final close between the two volatility bands.</a:t>
            </a:r>
          </a:p>
        </p:txBody>
      </p:sp>
      <p:sp>
        <p:nvSpPr>
          <p:cNvPr id="12" name="Rectangle 11"/>
          <p:cNvSpPr/>
          <p:nvPr/>
        </p:nvSpPr>
        <p:spPr>
          <a:xfrm>
            <a:off x="8569404" y="3685031"/>
            <a:ext cx="305212" cy="772485"/>
          </a:xfrm>
          <a:prstGeom prst="rect">
            <a:avLst/>
          </a:prstGeom>
          <a:noFill/>
          <a:ln w="44450">
            <a:solidFill>
              <a:srgbClr val="E09B00"/>
            </a:solidFill>
          </a:ln>
        </p:spPr>
        <p:txBody>
          <a:bodyPr rtlCol="0" anchor="ctr"/>
          <a:lstStyle/>
          <a:p>
            <a:pPr algn="ctr"/>
          </a:p>
        </p:txBody>
      </p:sp>
      <p:sp>
        <p:nvSpPr>
          <p:cNvPr id="13" name="Oval 12"/>
          <p:cNvSpPr/>
          <p:nvPr/>
        </p:nvSpPr>
        <p:spPr>
          <a:xfrm>
            <a:off x="8613005" y="5019324"/>
            <a:ext cx="348814" cy="368686"/>
          </a:xfrm>
          <a:prstGeom prst="ellipse">
            <a:avLst/>
          </a:prstGeom>
          <a:noFill/>
          <a:ln w="44450">
            <a:solidFill>
              <a:srgbClr val="C62828"/>
            </a:solidFill>
          </a:ln>
        </p:spPr>
        <p:txBody>
          <a:bodyPr rtlCol="0" anchor="ctr"/>
          <a:lstStyle/>
          <a:p>
            <a:pPr algn="ctr"/>
          </a:p>
        </p:txBody>
      </p:sp>
      <p:sp>
        <p:nvSpPr>
          <p:cNvPr id="14" name="Oval 13"/>
          <p:cNvSpPr/>
          <p:nvPr/>
        </p:nvSpPr>
        <p:spPr>
          <a:xfrm>
            <a:off x="8656607" y="3860596"/>
            <a:ext cx="261610" cy="280903"/>
          </a:xfrm>
          <a:prstGeom prst="ellipse">
            <a:avLst/>
          </a:prstGeom>
          <a:noFill/>
          <a:ln w="44450">
            <a:solidFill>
              <a:srgbClr val="1F5FAD"/>
            </a:solidFill>
          </a:ln>
        </p:spPr>
        <p:txBody>
          <a:bodyPr rtlCol="0" anchor="ctr"/>
          <a:lstStyle/>
          <a:p>
            <a:pPr algn="ctr"/>
          </a:p>
        </p:txBody>
      </p:sp>
      <p:sp>
        <p:nvSpPr>
          <p:cNvPr id="15" name="Oval 14"/>
          <p:cNvSpPr/>
          <p:nvPr/>
        </p:nvSpPr>
        <p:spPr>
          <a:xfrm>
            <a:off x="8048971" y="331122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705840" y="475085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366169" y="3109691"/>
            <a:ext cx="237744" cy="237744"/>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5650991"/>
            <a:ext cx="54708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7.20. StochRSI and Bollinger Bands are shown but not defined in Chapter 7.</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later outside day is a separate event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15 of 62</a:t>
            </a:r>
          </a:p>
        </p:txBody>
      </p:sp>
      <p:sp>
        <p:nvSpPr>
          <p:cNvPr id="7" name="TextBox 6"/>
          <p:cNvSpPr txBox="1"/>
          <p:nvPr/>
        </p:nvSpPr>
        <p:spPr>
          <a:xfrm>
            <a:off x="777240" y="1965960"/>
            <a:ext cx="58064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7.21 first shows a bullish three-bar reversal </a:t>
            </a:r>
            <a:r>
              <a:rPr sz="1700" b="1" i="0">
                <a:solidFill>
                  <a:srgbClr val="E09B00"/>
                </a:solidFill>
                <a:latin typeface="Arial"/>
              </a:rPr>
              <a:t>(1)</a:t>
            </a:r>
            <a:r>
              <a:rPr sz="1700" b="0" i="0">
                <a:solidFill>
                  <a:srgbClr val="1A1A1A"/>
                </a:solidFill>
                <a:latin typeface="Arial"/>
              </a:rPr>
              <a:t>, whose large third bar closes near its high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Later, a separate outside day engulfs four preceding bars </a:t>
            </a:r>
            <a:r>
              <a:rPr sz="1700" b="1" i="0">
                <a:solidFill>
                  <a:srgbClr val="7B3FA0"/>
                </a:solidFill>
                <a:latin typeface="Arial"/>
              </a:rPr>
              <a:t>(4)</a:t>
            </a:r>
            <a:r>
              <a:rPr sz="1700" b="0" i="0">
                <a:solidFill>
                  <a:srgbClr val="1A1A1A"/>
                </a:solidFill>
                <a:latin typeface="Arial"/>
              </a:rPr>
              <a:t> and closes near its low </a:t>
            </a:r>
            <a:r>
              <a:rPr sz="1700" b="1" i="0">
                <a:solidFill>
                  <a:srgbClr val="1F5FAD"/>
                </a:solidFill>
                <a:latin typeface="Arial"/>
              </a:rPr>
              <a:t>(3)</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Keep the two formations separate. The outside day is a new event that can reverse the preceding move, not part of the first three-bar count.</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5138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Below-average middle volume and high-volume outer bars are the three-bar clue; the outside day is separate.</a:t>
            </a:r>
          </a:p>
        </p:txBody>
      </p:sp>
      <p:sp>
        <p:nvSpPr>
          <p:cNvPr id="10" name="Rectangle 9"/>
          <p:cNvSpPr/>
          <p:nvPr/>
        </p:nvSpPr>
        <p:spPr>
          <a:xfrm>
            <a:off x="6903719" y="1810512"/>
            <a:ext cx="4510735" cy="330068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022591" y="1929384"/>
            <a:ext cx="4272991" cy="306294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022591" y="1929384"/>
            <a:ext cx="42729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296911" y="2203703"/>
            <a:ext cx="3724351" cy="260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7.21</a:t>
            </a:r>
          </a:p>
          <a:p>
            <a:pPr algn="l">
              <a:lnSpc>
                <a:spcPct val="115000"/>
              </a:lnSpc>
              <a:spcBef>
                <a:spcPts val="0"/>
              </a:spcBef>
              <a:spcAft>
                <a:spcPts val="0"/>
              </a:spcAft>
            </a:pPr>
            <a:r>
              <a:rPr sz="1500" b="0" i="0">
                <a:solidFill>
                  <a:srgbClr val="1A1A1A"/>
                </a:solidFill>
                <a:latin typeface="Palatino"/>
              </a:rPr>
              <a:t>The Newmont Mining daily chart: a three-bar bottom reversal, then a separate outside day engulfing four preceding bars, with high volume under the outside bar.</a:t>
            </a:r>
          </a:p>
        </p:txBody>
      </p:sp>
      <p:sp>
        <p:nvSpPr>
          <p:cNvPr id="14" name="Rectangle 13"/>
          <p:cNvSpPr/>
          <p:nvPr/>
        </p:nvSpPr>
        <p:spPr>
          <a:xfrm>
            <a:off x="8518138" y="3185189"/>
            <a:ext cx="640948" cy="826993"/>
          </a:xfrm>
          <a:prstGeom prst="rect">
            <a:avLst/>
          </a:prstGeom>
          <a:noFill/>
          <a:ln w="44450">
            <a:solidFill>
              <a:srgbClr val="E09B00"/>
            </a:solidFill>
          </a:ln>
        </p:spPr>
        <p:txBody>
          <a:bodyPr rtlCol="0" anchor="ctr"/>
          <a:lstStyle/>
          <a:p>
            <a:pPr algn="ctr"/>
          </a:p>
        </p:txBody>
      </p:sp>
      <p:sp>
        <p:nvSpPr>
          <p:cNvPr id="15" name="Oval 14"/>
          <p:cNvSpPr/>
          <p:nvPr/>
        </p:nvSpPr>
        <p:spPr>
          <a:xfrm>
            <a:off x="8859978" y="3154560"/>
            <a:ext cx="299109" cy="520699"/>
          </a:xfrm>
          <a:prstGeom prst="ellipse">
            <a:avLst/>
          </a:prstGeom>
          <a:noFill/>
          <a:ln w="44450">
            <a:solidFill>
              <a:srgbClr val="C62828"/>
            </a:solidFill>
          </a:ln>
        </p:spPr>
        <p:txBody>
          <a:bodyPr rtlCol="0" anchor="ctr"/>
          <a:lstStyle/>
          <a:p>
            <a:pPr algn="ctr"/>
          </a:p>
        </p:txBody>
      </p:sp>
      <p:sp>
        <p:nvSpPr>
          <p:cNvPr id="16" name="Oval 15"/>
          <p:cNvSpPr/>
          <p:nvPr/>
        </p:nvSpPr>
        <p:spPr>
          <a:xfrm>
            <a:off x="9842766" y="2541972"/>
            <a:ext cx="299109" cy="245035"/>
          </a:xfrm>
          <a:prstGeom prst="ellipse">
            <a:avLst/>
          </a:prstGeom>
          <a:noFill/>
          <a:ln w="44450">
            <a:solidFill>
              <a:srgbClr val="1F5FAD"/>
            </a:solidFill>
          </a:ln>
        </p:spPr>
        <p:txBody>
          <a:bodyPr rtlCol="0" anchor="ctr"/>
          <a:lstStyle/>
          <a:p>
            <a:pPr algn="ctr"/>
          </a:p>
        </p:txBody>
      </p:sp>
      <p:sp>
        <p:nvSpPr>
          <p:cNvPr id="17" name="Rectangle 16"/>
          <p:cNvSpPr/>
          <p:nvPr/>
        </p:nvSpPr>
        <p:spPr>
          <a:xfrm>
            <a:off x="9244547" y="2235678"/>
            <a:ext cx="470029" cy="918882"/>
          </a:xfrm>
          <a:prstGeom prst="rect">
            <a:avLst/>
          </a:prstGeom>
          <a:noFill/>
          <a:ln w="44450">
            <a:solidFill>
              <a:srgbClr val="7B3FA0"/>
            </a:solidFill>
          </a:ln>
        </p:spPr>
        <p:txBody>
          <a:bodyPr rtlCol="0" anchor="ctr"/>
          <a:lstStyle/>
          <a:p>
            <a:pPr algn="ctr"/>
          </a:p>
        </p:txBody>
      </p:sp>
      <p:sp>
        <p:nvSpPr>
          <p:cNvPr id="18" name="Oval 17"/>
          <p:cNvSpPr/>
          <p:nvPr/>
        </p:nvSpPr>
        <p:spPr>
          <a:xfrm>
            <a:off x="8124599" y="295614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201991" y="284276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450302" y="2361841"/>
            <a:ext cx="237744" cy="237744"/>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8921169" y="3136720"/>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903719" y="5202636"/>
            <a:ext cx="45107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7.21 -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7.21. The outside day and volume are the book's observations.</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7.22 links this volume arrangement to pattern 6</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16 of 62</a:t>
            </a:r>
          </a:p>
        </p:txBody>
      </p:sp>
      <p:sp>
        <p:nvSpPr>
          <p:cNvPr id="7" name="TextBox 6"/>
          <p:cNvSpPr txBox="1"/>
          <p:nvPr/>
        </p:nvSpPr>
        <p:spPr>
          <a:xfrm>
            <a:off x="777240" y="1965960"/>
            <a:ext cx="55778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figure shows a bullish three-bar reversal with a large middle-bar range </a:t>
            </a:r>
            <a:r>
              <a:rPr sz="1800" b="1" i="0">
                <a:solidFill>
                  <a:srgbClr val="C62828"/>
                </a:solidFill>
                <a:latin typeface="Arial"/>
              </a:rPr>
              <a:t>(2)</a:t>
            </a:r>
            <a:r>
              <a:rPr sz="1800" b="0" i="0">
                <a:solidFill>
                  <a:srgbClr val="1A1A1A"/>
                </a:solidFill>
                <a:latin typeface="Arial"/>
              </a:rPr>
              <a:t> and middle-bar volume </a:t>
            </a:r>
            <a:r>
              <a:rPr sz="1800" b="1" i="0">
                <a:solidFill>
                  <a:srgbClr val="1F5FAD"/>
                </a:solidFill>
                <a:latin typeface="Arial"/>
              </a:rPr>
              <a:t>(3)</a:t>
            </a:r>
            <a:r>
              <a:rPr sz="1800" b="0" i="0">
                <a:solidFill>
                  <a:srgbClr val="1A1A1A"/>
                </a:solidFill>
                <a:latin typeface="Arial"/>
              </a:rPr>
              <a:t> lower than the first bar </a:t>
            </a:r>
            <a:r>
              <a:rPr sz="1800" b="1" i="0">
                <a:solidFill>
                  <a:srgbClr val="E09B00"/>
                </a:solidFill>
                <a:latin typeface="Arial"/>
              </a:rPr>
              <a:t>(1)</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Lim links this arrangement to pattern 6 in Figure 7.9.</a:t>
            </a:r>
          </a:p>
          <a:p>
            <a:pPr algn="l">
              <a:lnSpc>
                <a:spcPct val="105000"/>
              </a:lnSpc>
              <a:spcBef>
                <a:spcPts val="0"/>
              </a:spcBef>
              <a:spcAft>
                <a:spcPts val="1100"/>
              </a:spcAft>
            </a:pPr>
            <a:r>
              <a:rPr sz="1800" b="0" i="0">
                <a:solidFill>
                  <a:srgbClr val="1A1A1A"/>
                </a:solidFill>
                <a:latin typeface="Arial"/>
              </a:rPr>
              <a:t>That link recalls the generic pattern; it does not add a new trading rule or formula (p. 223).</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2852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large price bar can still carry lower volume than the first bar.</a:t>
            </a:r>
          </a:p>
        </p:txBody>
      </p:sp>
      <p:sp>
        <p:nvSpPr>
          <p:cNvPr id="10" name="Rectangle 9"/>
          <p:cNvSpPr/>
          <p:nvPr/>
        </p:nvSpPr>
        <p:spPr>
          <a:xfrm>
            <a:off x="6675119" y="1810512"/>
            <a:ext cx="4739335" cy="342471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93991" y="1929384"/>
            <a:ext cx="4501591" cy="3186967"/>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93991" y="1929384"/>
            <a:ext cx="45015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68311" y="2203703"/>
            <a:ext cx="3952951" cy="27297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7.22</a:t>
            </a:r>
          </a:p>
          <a:p>
            <a:pPr algn="l">
              <a:lnSpc>
                <a:spcPct val="115000"/>
              </a:lnSpc>
              <a:spcBef>
                <a:spcPts val="0"/>
              </a:spcBef>
              <a:spcAft>
                <a:spcPts val="0"/>
              </a:spcAft>
            </a:pPr>
            <a:r>
              <a:rPr sz="1500" b="0" i="0">
                <a:solidFill>
                  <a:srgbClr val="1A1A1A"/>
                </a:solidFill>
                <a:latin typeface="Palatino"/>
              </a:rPr>
              <a:t>The TSX Composite daily chart: a bullish three-bar reversal whose large middle bar has lower volume than the first bar.</a:t>
            </a:r>
          </a:p>
        </p:txBody>
      </p:sp>
      <p:sp>
        <p:nvSpPr>
          <p:cNvPr id="14" name="Oval 13"/>
          <p:cNvSpPr/>
          <p:nvPr/>
        </p:nvSpPr>
        <p:spPr>
          <a:xfrm>
            <a:off x="8999771" y="4383348"/>
            <a:ext cx="270095" cy="478045"/>
          </a:xfrm>
          <a:prstGeom prst="ellipse">
            <a:avLst/>
          </a:prstGeom>
          <a:noFill/>
          <a:ln w="44450">
            <a:solidFill>
              <a:srgbClr val="E09B00"/>
            </a:solidFill>
          </a:ln>
        </p:spPr>
        <p:txBody>
          <a:bodyPr rtlCol="0" anchor="ctr"/>
          <a:lstStyle/>
          <a:p>
            <a:pPr algn="ctr"/>
          </a:p>
        </p:txBody>
      </p:sp>
      <p:sp>
        <p:nvSpPr>
          <p:cNvPr id="15" name="Rectangle 14"/>
          <p:cNvSpPr/>
          <p:nvPr/>
        </p:nvSpPr>
        <p:spPr>
          <a:xfrm>
            <a:off x="9134819" y="3459128"/>
            <a:ext cx="315111" cy="733002"/>
          </a:xfrm>
          <a:prstGeom prst="rect">
            <a:avLst/>
          </a:prstGeom>
          <a:noFill/>
          <a:ln w="44450">
            <a:solidFill>
              <a:srgbClr val="C62828"/>
            </a:solidFill>
          </a:ln>
        </p:spPr>
        <p:txBody>
          <a:bodyPr rtlCol="0" anchor="ctr"/>
          <a:lstStyle/>
          <a:p>
            <a:pPr algn="ctr"/>
          </a:p>
        </p:txBody>
      </p:sp>
      <p:sp>
        <p:nvSpPr>
          <p:cNvPr id="16" name="Oval 15"/>
          <p:cNvSpPr/>
          <p:nvPr/>
        </p:nvSpPr>
        <p:spPr>
          <a:xfrm>
            <a:off x="9224851" y="4383348"/>
            <a:ext cx="270095" cy="478045"/>
          </a:xfrm>
          <a:prstGeom prst="ellipse">
            <a:avLst/>
          </a:prstGeom>
          <a:noFill/>
          <a:ln w="44450">
            <a:solidFill>
              <a:srgbClr val="1F5FAD"/>
            </a:solidFill>
          </a:ln>
        </p:spPr>
        <p:txBody>
          <a:bodyPr rtlCol="0" anchor="ctr"/>
          <a:lstStyle/>
          <a:p>
            <a:pPr algn="ctr"/>
          </a:p>
        </p:txBody>
      </p:sp>
      <p:sp>
        <p:nvSpPr>
          <p:cNvPr id="17" name="Oval 16"/>
          <p:cNvSpPr/>
          <p:nvPr/>
        </p:nvSpPr>
        <p:spPr>
          <a:xfrm>
            <a:off x="8615376" y="4109700"/>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546994" y="317176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740773" y="4109700"/>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675119" y="5326663"/>
            <a:ext cx="473933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223, Figure 7.22. The reference to pattern 6 is Lim's cross-reference.</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two-day and three-bar reversal readings</a:t>
            </a:r>
          </a:p>
        </p:txBody>
      </p:sp>
      <p:sp>
        <p:nvSpPr>
          <p:cNvPr id="6" name="Rectangle 5"/>
          <p:cNvSpPr/>
          <p:nvPr/>
        </p:nvSpPr>
        <p:spPr>
          <a:xfrm>
            <a:off x="777240" y="1207008"/>
            <a:ext cx="530352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8463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bearish three-bar reversal, the outer closes are:</a:t>
            </a:r>
          </a:p>
        </p:txBody>
      </p:sp>
      <p:sp>
        <p:nvSpPr>
          <p:cNvPr id="9" name="TextBox 8"/>
          <p:cNvSpPr txBox="1"/>
          <p:nvPr/>
        </p:nvSpPr>
        <p:spPr>
          <a:xfrm>
            <a:off x="1005840" y="2069338"/>
            <a:ext cx="484632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Both near the middle</a:t>
            </a:r>
          </a:p>
          <a:p>
            <a:pPr algn="l">
              <a:lnSpc>
                <a:spcPct val="105000"/>
              </a:lnSpc>
              <a:spcBef>
                <a:spcPts val="0"/>
              </a:spcBef>
              <a:spcAft>
                <a:spcPts val="200"/>
              </a:spcAft>
            </a:pPr>
            <a:r>
              <a:rPr sz="1700" b="0" i="0">
                <a:solidFill>
                  <a:srgbClr val="FFFFFF"/>
                </a:solidFill>
                <a:latin typeface="Arial"/>
              </a:rPr>
              <a:t>B.  First near high, third near low</a:t>
            </a:r>
          </a:p>
          <a:p>
            <a:pPr algn="l">
              <a:lnSpc>
                <a:spcPct val="105000"/>
              </a:lnSpc>
              <a:spcBef>
                <a:spcPts val="0"/>
              </a:spcBef>
              <a:spcAft>
                <a:spcPts val="200"/>
              </a:spcAft>
            </a:pPr>
            <a:r>
              <a:rPr sz="1700" b="0" i="0">
                <a:solidFill>
                  <a:srgbClr val="FFFFFF"/>
                </a:solidFill>
                <a:latin typeface="Arial"/>
              </a:rPr>
              <a:t>C.  First near low, third near high</a:t>
            </a:r>
          </a:p>
          <a:p>
            <a:pPr algn="l">
              <a:lnSpc>
                <a:spcPct val="105000"/>
              </a:lnSpc>
              <a:spcBef>
                <a:spcPts val="0"/>
              </a:spcBef>
              <a:spcAft>
                <a:spcPts val="200"/>
              </a:spcAft>
            </a:pPr>
            <a:r>
              <a:rPr sz="1700" b="0" i="0">
                <a:solidFill>
                  <a:srgbClr val="FFFFFF"/>
                </a:solidFill>
                <a:latin typeface="Arial"/>
              </a:rPr>
              <a:t>D.  Both at the exact high</a:t>
            </a:r>
          </a:p>
        </p:txBody>
      </p:sp>
      <p:sp>
        <p:nvSpPr>
          <p:cNvPr id="10" name="Rectangle 9"/>
          <p:cNvSpPr/>
          <p:nvPr/>
        </p:nvSpPr>
        <p:spPr>
          <a:xfrm>
            <a:off x="777240" y="3336798"/>
            <a:ext cx="5303520" cy="2534920"/>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84632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bullish three-bar examples, the middle bar can support the reading when it has:</a:t>
            </a:r>
          </a:p>
        </p:txBody>
      </p:sp>
      <p:sp>
        <p:nvSpPr>
          <p:cNvPr id="13" name="TextBox 12"/>
          <p:cNvSpPr txBox="1"/>
          <p:nvPr/>
        </p:nvSpPr>
        <p:spPr>
          <a:xfrm>
            <a:off x="1005840" y="4447413"/>
            <a:ext cx="4846320" cy="1351153"/>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highest volume</a:t>
            </a:r>
          </a:p>
          <a:p>
            <a:pPr algn="l">
              <a:lnSpc>
                <a:spcPct val="105000"/>
              </a:lnSpc>
              <a:spcBef>
                <a:spcPts val="0"/>
              </a:spcBef>
              <a:spcAft>
                <a:spcPts val="200"/>
              </a:spcAft>
            </a:pPr>
            <a:r>
              <a:rPr sz="1700" b="0" i="0">
                <a:solidFill>
                  <a:srgbClr val="FFFFFF"/>
                </a:solidFill>
                <a:latin typeface="Arial"/>
              </a:rPr>
              <a:t>B.  A new all-time high</a:t>
            </a:r>
          </a:p>
          <a:p>
            <a:pPr algn="l">
              <a:lnSpc>
                <a:spcPct val="105000"/>
              </a:lnSpc>
              <a:spcBef>
                <a:spcPts val="0"/>
              </a:spcBef>
              <a:spcAft>
                <a:spcPts val="200"/>
              </a:spcAft>
            </a:pPr>
            <a:r>
              <a:rPr sz="1700" b="0" i="0">
                <a:solidFill>
                  <a:srgbClr val="FFFFFF"/>
                </a:solidFill>
                <a:latin typeface="Arial"/>
              </a:rPr>
              <a:t>C.  No price range</a:t>
            </a:r>
          </a:p>
          <a:p>
            <a:pPr algn="l">
              <a:lnSpc>
                <a:spcPct val="105000"/>
              </a:lnSpc>
              <a:spcBef>
                <a:spcPts val="0"/>
              </a:spcBef>
              <a:spcAft>
                <a:spcPts val="200"/>
              </a:spcAft>
            </a:pPr>
            <a:r>
              <a:rPr sz="1700" b="0" i="0">
                <a:solidFill>
                  <a:srgbClr val="FFFFFF"/>
                </a:solidFill>
                <a:latin typeface="Arial"/>
              </a:rPr>
              <a:t>D.  Below-average volume between stronger outer bars</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862809" y="1667016"/>
            <a:ext cx="167156" cy="511704"/>
          </a:xfrm>
          <a:prstGeom prst="rect">
            <a:avLst/>
          </a:prstGeom>
          <a:noFill/>
          <a:ln w="44450">
            <a:solidFill>
              <a:srgbClr val="E09B00"/>
            </a:solidFill>
          </a:ln>
        </p:spPr>
        <p:txBody>
          <a:bodyPr rtlCol="0" anchor="ctr"/>
          <a:lstStyle/>
          <a:p>
            <a:pPr algn="ctr"/>
          </a:p>
        </p:txBody>
      </p:sp>
      <p:sp>
        <p:nvSpPr>
          <p:cNvPr id="19" name="Rectangle 18"/>
          <p:cNvSpPr/>
          <p:nvPr/>
        </p:nvSpPr>
        <p:spPr>
          <a:xfrm>
            <a:off x="10029966" y="1667016"/>
            <a:ext cx="167156" cy="511704"/>
          </a:xfrm>
          <a:prstGeom prst="rect">
            <a:avLst/>
          </a:prstGeom>
          <a:noFill/>
          <a:ln w="44450">
            <a:solidFill>
              <a:srgbClr val="C62828"/>
            </a:solidFill>
          </a:ln>
        </p:spPr>
        <p:txBody>
          <a:bodyPr rtlCol="0" anchor="ctr"/>
          <a:lstStyle/>
          <a:p>
            <a:pPr algn="ctr"/>
          </a:p>
        </p:txBody>
      </p:sp>
      <p:sp>
        <p:nvSpPr>
          <p:cNvPr id="20" name="Rectangle 19"/>
          <p:cNvSpPr/>
          <p:nvPr/>
        </p:nvSpPr>
        <p:spPr>
          <a:xfrm>
            <a:off x="10197123" y="1667016"/>
            <a:ext cx="167156" cy="511704"/>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366436" y="1552716"/>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10321619" y="1552716"/>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608173" y="2166762"/>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60414" y="3531308"/>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18</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two-day and three-bar reversal readings</a:t>
            </a:r>
          </a:p>
        </p:txBody>
      </p:sp>
      <p:sp>
        <p:nvSpPr>
          <p:cNvPr id="6" name="Rectangle 5"/>
          <p:cNvSpPr/>
          <p:nvPr/>
        </p:nvSpPr>
        <p:spPr>
          <a:xfrm>
            <a:off x="777240" y="1207008"/>
            <a:ext cx="5303520" cy="19875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875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7548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the bearish three-bar reversal, the outer closes are:</a:t>
            </a:r>
          </a:p>
        </p:txBody>
      </p:sp>
      <p:sp>
        <p:nvSpPr>
          <p:cNvPr id="9" name="TextBox 8"/>
          <p:cNvSpPr txBox="1"/>
          <p:nvPr/>
        </p:nvSpPr>
        <p:spPr>
          <a:xfrm>
            <a:off x="1097280" y="2069338"/>
            <a:ext cx="475488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First near high, third near low</a:t>
            </a:r>
          </a:p>
          <a:p>
            <a:pPr algn="l">
              <a:lnSpc>
                <a:spcPct val="115000"/>
              </a:lnSpc>
              <a:spcBef>
                <a:spcPts val="500"/>
              </a:spcBef>
              <a:spcAft>
                <a:spcPts val="0"/>
              </a:spcAft>
            </a:pPr>
            <a:r>
              <a:rPr sz="1700" b="0" i="0">
                <a:solidFill>
                  <a:srgbClr val="1A1A1A"/>
                </a:solidFill>
                <a:latin typeface="Arial"/>
              </a:rPr>
              <a:t>First near high; third near low (Lim, p. 221).</a:t>
            </a:r>
          </a:p>
        </p:txBody>
      </p:sp>
      <p:sp>
        <p:nvSpPr>
          <p:cNvPr id="10" name="Rectangle 9"/>
          <p:cNvSpPr/>
          <p:nvPr/>
        </p:nvSpPr>
        <p:spPr>
          <a:xfrm>
            <a:off x="777240" y="3377438"/>
            <a:ext cx="5303520" cy="27470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77438"/>
            <a:ext cx="91440" cy="27470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60318"/>
            <a:ext cx="475488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the bullish three-bar examples, the middle bar can support the reading when it has:</a:t>
            </a:r>
          </a:p>
        </p:txBody>
      </p:sp>
      <p:sp>
        <p:nvSpPr>
          <p:cNvPr id="13" name="TextBox 12"/>
          <p:cNvSpPr txBox="1"/>
          <p:nvPr/>
        </p:nvSpPr>
        <p:spPr>
          <a:xfrm>
            <a:off x="1097280" y="4488053"/>
            <a:ext cx="475488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Below-average volume between stronger outer bars</a:t>
            </a:r>
          </a:p>
          <a:p>
            <a:pPr algn="l">
              <a:lnSpc>
                <a:spcPct val="115000"/>
              </a:lnSpc>
              <a:spcBef>
                <a:spcPts val="500"/>
              </a:spcBef>
              <a:spcAft>
                <a:spcPts val="0"/>
              </a:spcAft>
            </a:pPr>
            <a:r>
              <a:rPr sz="1700" b="0" i="0">
                <a:solidFill>
                  <a:srgbClr val="1A1A1A"/>
                </a:solidFill>
                <a:latin typeface="Arial"/>
              </a:rPr>
              <a:t>Lim describes a below-average-volume middle bar between high-volume outer bars (pp. 221 to 223).</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862809" y="1667016"/>
            <a:ext cx="167156" cy="511704"/>
          </a:xfrm>
          <a:prstGeom prst="rect">
            <a:avLst/>
          </a:prstGeom>
          <a:noFill/>
          <a:ln w="44450">
            <a:solidFill>
              <a:srgbClr val="E09B00"/>
            </a:solidFill>
          </a:ln>
        </p:spPr>
        <p:txBody>
          <a:bodyPr rtlCol="0" anchor="ctr"/>
          <a:lstStyle/>
          <a:p>
            <a:pPr algn="ctr"/>
          </a:p>
        </p:txBody>
      </p:sp>
      <p:sp>
        <p:nvSpPr>
          <p:cNvPr id="19" name="Rectangle 18"/>
          <p:cNvSpPr/>
          <p:nvPr/>
        </p:nvSpPr>
        <p:spPr>
          <a:xfrm>
            <a:off x="10029966" y="1667016"/>
            <a:ext cx="167156" cy="511704"/>
          </a:xfrm>
          <a:prstGeom prst="rect">
            <a:avLst/>
          </a:prstGeom>
          <a:noFill/>
          <a:ln w="44450">
            <a:solidFill>
              <a:srgbClr val="C62828"/>
            </a:solidFill>
          </a:ln>
        </p:spPr>
        <p:txBody>
          <a:bodyPr rtlCol="0" anchor="ctr"/>
          <a:lstStyle/>
          <a:p>
            <a:pPr algn="ctr"/>
          </a:p>
        </p:txBody>
      </p:sp>
      <p:sp>
        <p:nvSpPr>
          <p:cNvPr id="20" name="Rectangle 19"/>
          <p:cNvSpPr/>
          <p:nvPr/>
        </p:nvSpPr>
        <p:spPr>
          <a:xfrm>
            <a:off x="10197123" y="1667016"/>
            <a:ext cx="167156" cy="511704"/>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366436" y="1552716"/>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10321619" y="1552716"/>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608173" y="2166762"/>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60414" y="3531308"/>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18</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island reversal is isolated by two gaps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island reversal is a group of bars separated from surrounding price action by a gap up and a gap down. With simple invented prices, price gaps up from PHP 50.00 to PHP 50.80 </a:t>
            </a:r>
            <a:r>
              <a:rPr sz="1700" b="1" i="0">
                <a:solidFill>
                  <a:srgbClr val="E09B00"/>
                </a:solidFill>
                <a:latin typeface="Arial"/>
              </a:rPr>
              <a:t>(1)</a:t>
            </a:r>
            <a:r>
              <a:rPr sz="1700" b="0" i="0">
                <a:solidFill>
                  <a:srgbClr val="1A1A1A"/>
                </a:solidFill>
                <a:latin typeface="Arial"/>
              </a:rPr>
              <a:t>, forms the isolated bars </a:t>
            </a:r>
            <a:r>
              <a:rPr sz="1700" b="1" i="0">
                <a:solidFill>
                  <a:srgbClr val="C62828"/>
                </a:solidFill>
                <a:latin typeface="Arial"/>
              </a:rPr>
              <a:t>(2)</a:t>
            </a:r>
            <a:r>
              <a:rPr sz="1700" b="0" i="0">
                <a:solidFill>
                  <a:srgbClr val="1A1A1A"/>
                </a:solidFill>
                <a:latin typeface="Arial"/>
              </a:rPr>
              <a:t>, then gaps down to PHP 49.40 </a:t>
            </a:r>
            <a:r>
              <a:rPr sz="1700" b="1" i="0">
                <a:solidFill>
                  <a:srgbClr val="1F5FAD"/>
                </a:solidFill>
                <a:latin typeface="Arial"/>
              </a:rPr>
              <a:t>(3)</a:t>
            </a:r>
            <a:r>
              <a:rPr sz="1700" b="0" i="0">
                <a:solidFill>
                  <a:srgbClr val="1A1A1A"/>
                </a:solidFill>
                <a:latin typeface="Arial"/>
              </a:rPr>
              <a:t>. The two gaps create a potential warning. Gap terminology follows Chapter 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395057" y="352392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4589983" y="369464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89235" y="401332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76982" y="33953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505858" y="343861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760618" y="376314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17 of 62</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7.23 shows the island's supporting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18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two gaps do the defining work. Mark 1 is the gap up, mark 2 the isolated island, and mark 3 the gap down.</a:t>
            </a:r>
          </a:p>
          <a:p>
            <a:pPr algn="l">
              <a:lnSpc>
                <a:spcPct val="105000"/>
              </a:lnSpc>
              <a:spcBef>
                <a:spcPts val="0"/>
              </a:spcBef>
              <a:spcAft>
                <a:spcPts val="1100"/>
              </a:spcAft>
            </a:pPr>
            <a:r>
              <a:rPr sz="2000" b="0" i="0">
                <a:solidFill>
                  <a:srgbClr val="1A1A1A"/>
                </a:solidFill>
                <a:latin typeface="Arial"/>
              </a:rPr>
              <a:t>The book also observes low volume </a:t>
            </a:r>
            <a:r>
              <a:rPr sz="2000" b="1" i="0">
                <a:solidFill>
                  <a:srgbClr val="7B3FA0"/>
                </a:solidFill>
                <a:latin typeface="Arial"/>
              </a:rPr>
              <a:t>(4)</a:t>
            </a:r>
            <a:r>
              <a:rPr sz="2000" b="0" i="0">
                <a:solidFill>
                  <a:srgbClr val="1A1A1A"/>
                </a:solidFill>
                <a:latin typeface="Arial"/>
              </a:rPr>
              <a:t> and an overbought stochastic label </a:t>
            </a:r>
            <a:r>
              <a:rPr sz="2000" b="1" i="0">
                <a:solidFill>
                  <a:srgbClr val="007A33"/>
                </a:solidFill>
                <a:latin typeface="Arial"/>
              </a:rPr>
              <a:t>(5)</a:t>
            </a:r>
            <a:r>
              <a:rPr sz="2000" b="0" i="0">
                <a:solidFill>
                  <a:srgbClr val="1A1A1A"/>
                </a:solidFill>
                <a:latin typeface="Arial"/>
              </a:rPr>
              <a:t>, calling low volume a lack of conviction.</a:t>
            </a:r>
          </a:p>
          <a:p>
            <a:pPr algn="l">
              <a:lnSpc>
                <a:spcPct val="105000"/>
              </a:lnSpc>
              <a:spcBef>
                <a:spcPts val="0"/>
              </a:spcBef>
              <a:spcAft>
                <a:spcPts val="1100"/>
              </a:spcAft>
            </a:pPr>
            <a:r>
              <a:rPr sz="2000" b="0" i="0">
                <a:solidFill>
                  <a:srgbClr val="1A1A1A"/>
                </a:solidFill>
                <a:latin typeface="Arial"/>
              </a:rPr>
              <a:t>No stochastic method is given here. These labels are context, and the island remains a potential warning.</a:t>
            </a:r>
          </a:p>
        </p:txBody>
      </p:sp>
      <p:sp>
        <p:nvSpPr>
          <p:cNvPr id="8" name="Rectangle 7"/>
          <p:cNvSpPr/>
          <p:nvPr/>
        </p:nvSpPr>
        <p:spPr>
          <a:xfrm>
            <a:off x="7182696" y="1810512"/>
            <a:ext cx="4089942"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301568" y="1929384"/>
            <a:ext cx="3852198"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301568" y="1929384"/>
            <a:ext cx="3852198"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575888" y="2203703"/>
            <a:ext cx="330355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2" name="Oval 11"/>
          <p:cNvSpPr/>
          <p:nvPr/>
        </p:nvSpPr>
        <p:spPr>
          <a:xfrm>
            <a:off x="8958013" y="2912546"/>
            <a:ext cx="269653" cy="526694"/>
          </a:xfrm>
          <a:prstGeom prst="ellipse">
            <a:avLst/>
          </a:prstGeom>
          <a:noFill/>
          <a:ln w="44450">
            <a:solidFill>
              <a:srgbClr val="E09B00"/>
            </a:solidFill>
          </a:ln>
        </p:spPr>
        <p:txBody>
          <a:bodyPr rtlCol="0" anchor="ctr"/>
          <a:lstStyle/>
          <a:p>
            <a:pPr algn="ctr"/>
          </a:p>
        </p:txBody>
      </p:sp>
      <p:sp>
        <p:nvSpPr>
          <p:cNvPr id="13" name="Rectangle 12"/>
          <p:cNvSpPr/>
          <p:nvPr/>
        </p:nvSpPr>
        <p:spPr>
          <a:xfrm>
            <a:off x="9150623" y="2491191"/>
            <a:ext cx="462263" cy="1123614"/>
          </a:xfrm>
          <a:prstGeom prst="rect">
            <a:avLst/>
          </a:prstGeom>
          <a:noFill/>
          <a:ln w="44450">
            <a:solidFill>
              <a:srgbClr val="C62828"/>
            </a:solidFill>
          </a:ln>
        </p:spPr>
        <p:txBody>
          <a:bodyPr rtlCol="0" anchor="ctr"/>
          <a:lstStyle/>
          <a:p>
            <a:pPr algn="ctr"/>
          </a:p>
        </p:txBody>
      </p:sp>
      <p:sp>
        <p:nvSpPr>
          <p:cNvPr id="14" name="Oval 13"/>
          <p:cNvSpPr/>
          <p:nvPr/>
        </p:nvSpPr>
        <p:spPr>
          <a:xfrm>
            <a:off x="9689931" y="2947659"/>
            <a:ext cx="308175" cy="526694"/>
          </a:xfrm>
          <a:prstGeom prst="ellipse">
            <a:avLst/>
          </a:prstGeom>
          <a:noFill/>
          <a:ln w="44450">
            <a:solidFill>
              <a:srgbClr val="1F5FAD"/>
            </a:solidFill>
          </a:ln>
        </p:spPr>
        <p:txBody>
          <a:bodyPr rtlCol="0" anchor="ctr"/>
          <a:lstStyle/>
          <a:p>
            <a:pPr algn="ctr"/>
          </a:p>
        </p:txBody>
      </p:sp>
      <p:sp>
        <p:nvSpPr>
          <p:cNvPr id="15" name="Rectangle 14"/>
          <p:cNvSpPr/>
          <p:nvPr/>
        </p:nvSpPr>
        <p:spPr>
          <a:xfrm>
            <a:off x="8726881" y="4317065"/>
            <a:ext cx="731917" cy="456468"/>
          </a:xfrm>
          <a:prstGeom prst="rect">
            <a:avLst/>
          </a:prstGeom>
          <a:noFill/>
          <a:ln w="44450">
            <a:solidFill>
              <a:srgbClr val="7B3FA0"/>
            </a:solidFill>
          </a:ln>
        </p:spPr>
        <p:txBody>
          <a:bodyPr rtlCol="0" anchor="ctr"/>
          <a:lstStyle/>
          <a:p>
            <a:pPr algn="ctr"/>
          </a:p>
        </p:txBody>
      </p:sp>
      <p:sp>
        <p:nvSpPr>
          <p:cNvPr id="16" name="Rectangle 15"/>
          <p:cNvSpPr/>
          <p:nvPr/>
        </p:nvSpPr>
        <p:spPr>
          <a:xfrm>
            <a:off x="9189145" y="4843759"/>
            <a:ext cx="385219" cy="456468"/>
          </a:xfrm>
          <a:prstGeom prst="rect">
            <a:avLst/>
          </a:prstGeom>
          <a:noFill/>
          <a:ln w="44450">
            <a:solidFill>
              <a:srgbClr val="007A33"/>
            </a:solidFill>
          </a:ln>
        </p:spPr>
        <p:txBody>
          <a:bodyPr rtlCol="0" anchor="ctr"/>
          <a:lstStyle/>
          <a:p>
            <a:pPr algn="ctr"/>
          </a:p>
        </p:txBody>
      </p:sp>
      <p:sp>
        <p:nvSpPr>
          <p:cNvPr id="17" name="Oval 16"/>
          <p:cNvSpPr/>
          <p:nvPr/>
        </p:nvSpPr>
        <p:spPr>
          <a:xfrm>
            <a:off x="8603437" y="2613538"/>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720575" y="2192182"/>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105795" y="2613538"/>
            <a:ext cx="246888" cy="24688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342927" y="4764572"/>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Oval 20"/>
          <p:cNvSpPr/>
          <p:nvPr/>
        </p:nvSpPr>
        <p:spPr>
          <a:xfrm>
            <a:off x="9729719" y="5150815"/>
            <a:ext cx="228600" cy="228600"/>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2" name="TextBox 21"/>
          <p:cNvSpPr txBox="1"/>
          <p:nvPr/>
        </p:nvSpPr>
        <p:spPr>
          <a:xfrm>
            <a:off x="6400799" y="565099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7.23. Gap meaning points back to Chapter 3; stochastic is shown but not defined here.</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island reversal reading</a:t>
            </a:r>
          </a:p>
        </p:txBody>
      </p:sp>
      <p:sp>
        <p:nvSpPr>
          <p:cNvPr id="6" name="Rectangle 5"/>
          <p:cNvSpPr/>
          <p:nvPr/>
        </p:nvSpPr>
        <p:spPr>
          <a:xfrm>
            <a:off x="777240" y="1207008"/>
            <a:ext cx="4572000" cy="179006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isolates an island reversal?</a:t>
            </a:r>
          </a:p>
        </p:txBody>
      </p:sp>
      <p:sp>
        <p:nvSpPr>
          <p:cNvPr id="9" name="TextBox 8"/>
          <p:cNvSpPr txBox="1"/>
          <p:nvPr/>
        </p:nvSpPr>
        <p:spPr>
          <a:xfrm>
            <a:off x="1005840" y="1821053"/>
            <a:ext cx="41148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gap up followed by a gap down</a:t>
            </a:r>
          </a:p>
          <a:p>
            <a:pPr algn="l">
              <a:lnSpc>
                <a:spcPct val="105000"/>
              </a:lnSpc>
              <a:spcBef>
                <a:spcPts val="0"/>
              </a:spcBef>
              <a:spcAft>
                <a:spcPts val="200"/>
              </a:spcAft>
            </a:pPr>
            <a:r>
              <a:rPr sz="1700" b="0" i="0">
                <a:solidFill>
                  <a:srgbClr val="FFFFFF"/>
                </a:solidFill>
                <a:latin typeface="Arial"/>
              </a:rPr>
              <a:t>B.  A single wide bar</a:t>
            </a:r>
          </a:p>
          <a:p>
            <a:pPr algn="l">
              <a:lnSpc>
                <a:spcPct val="105000"/>
              </a:lnSpc>
              <a:spcBef>
                <a:spcPts val="0"/>
              </a:spcBef>
              <a:spcAft>
                <a:spcPts val="200"/>
              </a:spcAft>
            </a:pPr>
            <a:r>
              <a:rPr sz="1700" b="0" i="0">
                <a:solidFill>
                  <a:srgbClr val="FFFFFF"/>
                </a:solidFill>
                <a:latin typeface="Arial"/>
              </a:rPr>
              <a:t>C.  A high-volume middle bar</a:t>
            </a:r>
          </a:p>
          <a:p>
            <a:pPr algn="l">
              <a:lnSpc>
                <a:spcPct val="105000"/>
              </a:lnSpc>
              <a:spcBef>
                <a:spcPts val="0"/>
              </a:spcBef>
              <a:spcAft>
                <a:spcPts val="200"/>
              </a:spcAft>
            </a:pPr>
            <a:r>
              <a:rPr sz="1700" b="0" i="0">
                <a:solidFill>
                  <a:srgbClr val="FFFFFF"/>
                </a:solidFill>
                <a:latin typeface="Arial"/>
              </a:rPr>
              <a:t>D.  A trendline only</a:t>
            </a:r>
          </a:p>
        </p:txBody>
      </p:sp>
      <p:sp>
        <p:nvSpPr>
          <p:cNvPr id="10" name="Rectangle 9"/>
          <p:cNvSpPr/>
          <p:nvPr/>
        </p:nvSpPr>
        <p:spPr>
          <a:xfrm>
            <a:off x="777240" y="3088513"/>
            <a:ext cx="45720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179953"/>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381121"/>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is the stochastic label here?</a:t>
            </a:r>
          </a:p>
        </p:txBody>
      </p:sp>
      <p:sp>
        <p:nvSpPr>
          <p:cNvPr id="13" name="TextBox 12"/>
          <p:cNvSpPr txBox="1"/>
          <p:nvPr/>
        </p:nvSpPr>
        <p:spPr>
          <a:xfrm>
            <a:off x="1005840" y="3702557"/>
            <a:ext cx="41148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As the island definition</a:t>
            </a:r>
          </a:p>
          <a:p>
            <a:pPr algn="l">
              <a:lnSpc>
                <a:spcPct val="105000"/>
              </a:lnSpc>
              <a:spcBef>
                <a:spcPts val="0"/>
              </a:spcBef>
              <a:spcAft>
                <a:spcPts val="200"/>
              </a:spcAft>
            </a:pPr>
            <a:r>
              <a:rPr sz="1700" b="0" i="0">
                <a:solidFill>
                  <a:srgbClr val="FFFFFF"/>
                </a:solidFill>
                <a:latin typeface="Arial"/>
              </a:rPr>
              <a:t>B.  As a formula taught in this chapter</a:t>
            </a:r>
          </a:p>
          <a:p>
            <a:pPr algn="l">
              <a:lnSpc>
                <a:spcPct val="105000"/>
              </a:lnSpc>
              <a:spcBef>
                <a:spcPts val="0"/>
              </a:spcBef>
              <a:spcAft>
                <a:spcPts val="200"/>
              </a:spcAft>
            </a:pPr>
            <a:r>
              <a:rPr sz="1700" b="0" i="0">
                <a:solidFill>
                  <a:srgbClr val="FFFFFF"/>
                </a:solidFill>
                <a:latin typeface="Arial"/>
              </a:rPr>
              <a:t>C.  As supporting context; Chapter 7 gives no method</a:t>
            </a:r>
          </a:p>
          <a:p>
            <a:pPr algn="l">
              <a:lnSpc>
                <a:spcPct val="105000"/>
              </a:lnSpc>
              <a:spcBef>
                <a:spcPts val="0"/>
              </a:spcBef>
              <a:spcAft>
                <a:spcPts val="200"/>
              </a:spcAft>
            </a:pPr>
            <a:r>
              <a:rPr sz="1700" b="0" i="0">
                <a:solidFill>
                  <a:srgbClr val="FFFFFF"/>
                </a:solidFill>
                <a:latin typeface="Arial"/>
              </a:rPr>
              <a:t>D.  As a guaranteed reversal signal</a:t>
            </a:r>
          </a:p>
        </p:txBody>
      </p:sp>
      <p:sp>
        <p:nvSpPr>
          <p:cNvPr id="14" name="Rectangle 13"/>
          <p:cNvSpPr/>
          <p:nvPr/>
        </p:nvSpPr>
        <p:spPr>
          <a:xfrm>
            <a:off x="6165847" y="1207008"/>
            <a:ext cx="475203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84719" y="1325880"/>
            <a:ext cx="451429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84719" y="1325880"/>
            <a:ext cx="451429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59039" y="1600200"/>
            <a:ext cx="396565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8225866" y="2478024"/>
            <a:ext cx="316000" cy="617219"/>
          </a:xfrm>
          <a:prstGeom prst="ellipse">
            <a:avLst/>
          </a:prstGeom>
          <a:noFill/>
          <a:ln w="44450">
            <a:solidFill>
              <a:srgbClr val="E09B00"/>
            </a:solidFill>
          </a:ln>
        </p:spPr>
        <p:txBody>
          <a:bodyPr rtlCol="0" anchor="ctr"/>
          <a:lstStyle/>
          <a:p>
            <a:pPr algn="ctr"/>
          </a:p>
        </p:txBody>
      </p:sp>
      <p:sp>
        <p:nvSpPr>
          <p:cNvPr id="19" name="Rectangle 18"/>
          <p:cNvSpPr/>
          <p:nvPr/>
        </p:nvSpPr>
        <p:spPr>
          <a:xfrm>
            <a:off x="8451581" y="1984248"/>
            <a:ext cx="541715" cy="1316735"/>
          </a:xfrm>
          <a:prstGeom prst="rect">
            <a:avLst/>
          </a:prstGeom>
          <a:noFill/>
          <a:ln w="44450">
            <a:solidFill>
              <a:srgbClr val="C62828"/>
            </a:solidFill>
          </a:ln>
        </p:spPr>
        <p:txBody>
          <a:bodyPr rtlCol="0" anchor="ctr"/>
          <a:lstStyle/>
          <a:p>
            <a:pPr algn="ctr"/>
          </a:p>
        </p:txBody>
      </p:sp>
      <p:sp>
        <p:nvSpPr>
          <p:cNvPr id="20" name="Oval 19"/>
          <p:cNvSpPr/>
          <p:nvPr/>
        </p:nvSpPr>
        <p:spPr>
          <a:xfrm>
            <a:off x="9083582" y="2519172"/>
            <a:ext cx="361143" cy="617220"/>
          </a:xfrm>
          <a:prstGeom prst="ellipse">
            <a:avLst/>
          </a:prstGeom>
          <a:noFill/>
          <a:ln w="44450">
            <a:solidFill>
              <a:srgbClr val="1F5FAD"/>
            </a:solidFill>
          </a:ln>
        </p:spPr>
        <p:txBody>
          <a:bodyPr rtlCol="0" anchor="ctr"/>
          <a:lstStyle/>
          <a:p>
            <a:pPr algn="ctr"/>
          </a:p>
        </p:txBody>
      </p:sp>
      <p:sp>
        <p:nvSpPr>
          <p:cNvPr id="21" name="Rectangle 20"/>
          <p:cNvSpPr/>
          <p:nvPr/>
        </p:nvSpPr>
        <p:spPr>
          <a:xfrm>
            <a:off x="7955009" y="4123944"/>
            <a:ext cx="857716" cy="534924"/>
          </a:xfrm>
          <a:prstGeom prst="rect">
            <a:avLst/>
          </a:prstGeom>
          <a:noFill/>
          <a:ln w="44450">
            <a:solidFill>
              <a:srgbClr val="7B3FA0"/>
            </a:solidFill>
          </a:ln>
        </p:spPr>
        <p:txBody>
          <a:bodyPr rtlCol="0" anchor="ctr"/>
          <a:lstStyle/>
          <a:p>
            <a:pPr algn="ctr"/>
          </a:p>
        </p:txBody>
      </p:sp>
      <p:sp>
        <p:nvSpPr>
          <p:cNvPr id="22" name="Rectangle 21"/>
          <p:cNvSpPr/>
          <p:nvPr/>
        </p:nvSpPr>
        <p:spPr>
          <a:xfrm>
            <a:off x="8496724" y="4741164"/>
            <a:ext cx="451429" cy="534924"/>
          </a:xfrm>
          <a:prstGeom prst="rect">
            <a:avLst/>
          </a:prstGeom>
          <a:noFill/>
          <a:ln w="44450">
            <a:solidFill>
              <a:srgbClr val="007A33"/>
            </a:solidFill>
          </a:ln>
        </p:spPr>
        <p:txBody>
          <a:bodyPr rtlCol="0" anchor="ctr"/>
          <a:lstStyle/>
          <a:p>
            <a:pPr algn="ctr"/>
          </a:p>
        </p:txBody>
      </p:sp>
      <p:sp>
        <p:nvSpPr>
          <p:cNvPr id="23" name="Oval 22"/>
          <p:cNvSpPr/>
          <p:nvPr/>
        </p:nvSpPr>
        <p:spPr>
          <a:xfrm>
            <a:off x="7831565" y="2148840"/>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4" name="Oval 23"/>
          <p:cNvSpPr/>
          <p:nvPr/>
        </p:nvSpPr>
        <p:spPr>
          <a:xfrm>
            <a:off x="9140710" y="1655064"/>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5" name="Oval 24"/>
          <p:cNvSpPr/>
          <p:nvPr/>
        </p:nvSpPr>
        <p:spPr>
          <a:xfrm>
            <a:off x="9592140" y="2148840"/>
            <a:ext cx="246888" cy="24688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6" name="Oval 25"/>
          <p:cNvSpPr/>
          <p:nvPr/>
        </p:nvSpPr>
        <p:spPr>
          <a:xfrm>
            <a:off x="7524708" y="4668012"/>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7" name="Oval 26"/>
          <p:cNvSpPr/>
          <p:nvPr/>
        </p:nvSpPr>
        <p:spPr>
          <a:xfrm>
            <a:off x="9149854" y="5120640"/>
            <a:ext cx="228600" cy="228600"/>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8" name="TextBox 27"/>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9" name="TextBox 2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19</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island reversal reading</a:t>
            </a:r>
          </a:p>
        </p:txBody>
      </p:sp>
      <p:sp>
        <p:nvSpPr>
          <p:cNvPr id="6" name="Rectangle 5"/>
          <p:cNvSpPr/>
          <p:nvPr/>
        </p:nvSpPr>
        <p:spPr>
          <a:xfrm>
            <a:off x="777240" y="1207008"/>
            <a:ext cx="4572000" cy="20605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605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isolates an island reversal?</a:t>
            </a:r>
          </a:p>
        </p:txBody>
      </p:sp>
      <p:sp>
        <p:nvSpPr>
          <p:cNvPr id="9" name="TextBox 8"/>
          <p:cNvSpPr txBox="1"/>
          <p:nvPr/>
        </p:nvSpPr>
        <p:spPr>
          <a:xfrm>
            <a:off x="1097280" y="1821053"/>
            <a:ext cx="4023360" cy="144653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gap up followed by a gap down</a:t>
            </a:r>
          </a:p>
          <a:p>
            <a:pPr algn="l">
              <a:lnSpc>
                <a:spcPct val="115000"/>
              </a:lnSpc>
              <a:spcBef>
                <a:spcPts val="500"/>
              </a:spcBef>
              <a:spcAft>
                <a:spcPts val="0"/>
              </a:spcAft>
            </a:pPr>
            <a:r>
              <a:rPr sz="1700" b="0" i="0">
                <a:solidFill>
                  <a:srgbClr val="1A1A1A"/>
                </a:solidFill>
                <a:latin typeface="Arial"/>
              </a:rPr>
              <a:t>Figure 7.23 shows a gap up before and a gap down after the island.</a:t>
            </a:r>
          </a:p>
        </p:txBody>
      </p:sp>
      <p:sp>
        <p:nvSpPr>
          <p:cNvPr id="10" name="Rectangle 9"/>
          <p:cNvSpPr/>
          <p:nvPr/>
        </p:nvSpPr>
        <p:spPr>
          <a:xfrm>
            <a:off x="777240" y="3450463"/>
            <a:ext cx="4572000" cy="20605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50463"/>
            <a:ext cx="91440" cy="20605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633343"/>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is the stochastic label here?</a:t>
            </a:r>
          </a:p>
        </p:txBody>
      </p:sp>
      <p:sp>
        <p:nvSpPr>
          <p:cNvPr id="13" name="TextBox 12"/>
          <p:cNvSpPr txBox="1"/>
          <p:nvPr/>
        </p:nvSpPr>
        <p:spPr>
          <a:xfrm>
            <a:off x="1097280" y="4064508"/>
            <a:ext cx="4023360" cy="144653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As supporting context; Chapter 7 gives no method</a:t>
            </a:r>
          </a:p>
          <a:p>
            <a:pPr algn="l">
              <a:lnSpc>
                <a:spcPct val="115000"/>
              </a:lnSpc>
              <a:spcBef>
                <a:spcPts val="500"/>
              </a:spcBef>
              <a:spcAft>
                <a:spcPts val="0"/>
              </a:spcAft>
            </a:pPr>
            <a:r>
              <a:rPr sz="1700" b="0" i="0">
                <a:solidFill>
                  <a:srgbClr val="1A1A1A"/>
                </a:solidFill>
                <a:latin typeface="Arial"/>
              </a:rPr>
              <a:t>It is supporting context; Chapter 7 gives no method.</a:t>
            </a:r>
          </a:p>
        </p:txBody>
      </p:sp>
      <p:sp>
        <p:nvSpPr>
          <p:cNvPr id="14" name="Rectangle 13"/>
          <p:cNvSpPr/>
          <p:nvPr/>
        </p:nvSpPr>
        <p:spPr>
          <a:xfrm>
            <a:off x="6165847" y="1207008"/>
            <a:ext cx="475203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84719" y="1325880"/>
            <a:ext cx="451429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84719" y="1325880"/>
            <a:ext cx="451429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59039" y="1600200"/>
            <a:ext cx="396565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8225866" y="2478024"/>
            <a:ext cx="316000" cy="617219"/>
          </a:xfrm>
          <a:prstGeom prst="ellipse">
            <a:avLst/>
          </a:prstGeom>
          <a:noFill/>
          <a:ln w="44450">
            <a:solidFill>
              <a:srgbClr val="E09B00"/>
            </a:solidFill>
          </a:ln>
        </p:spPr>
        <p:txBody>
          <a:bodyPr rtlCol="0" anchor="ctr"/>
          <a:lstStyle/>
          <a:p>
            <a:pPr algn="ctr"/>
          </a:p>
        </p:txBody>
      </p:sp>
      <p:sp>
        <p:nvSpPr>
          <p:cNvPr id="19" name="Rectangle 18"/>
          <p:cNvSpPr/>
          <p:nvPr/>
        </p:nvSpPr>
        <p:spPr>
          <a:xfrm>
            <a:off x="8451581" y="1984248"/>
            <a:ext cx="541715" cy="1316735"/>
          </a:xfrm>
          <a:prstGeom prst="rect">
            <a:avLst/>
          </a:prstGeom>
          <a:noFill/>
          <a:ln w="44450">
            <a:solidFill>
              <a:srgbClr val="C62828"/>
            </a:solidFill>
          </a:ln>
        </p:spPr>
        <p:txBody>
          <a:bodyPr rtlCol="0" anchor="ctr"/>
          <a:lstStyle/>
          <a:p>
            <a:pPr algn="ctr"/>
          </a:p>
        </p:txBody>
      </p:sp>
      <p:sp>
        <p:nvSpPr>
          <p:cNvPr id="20" name="Oval 19"/>
          <p:cNvSpPr/>
          <p:nvPr/>
        </p:nvSpPr>
        <p:spPr>
          <a:xfrm>
            <a:off x="9083582" y="2519172"/>
            <a:ext cx="361143" cy="617220"/>
          </a:xfrm>
          <a:prstGeom prst="ellipse">
            <a:avLst/>
          </a:prstGeom>
          <a:noFill/>
          <a:ln w="44450">
            <a:solidFill>
              <a:srgbClr val="1F5FAD"/>
            </a:solidFill>
          </a:ln>
        </p:spPr>
        <p:txBody>
          <a:bodyPr rtlCol="0" anchor="ctr"/>
          <a:lstStyle/>
          <a:p>
            <a:pPr algn="ctr"/>
          </a:p>
        </p:txBody>
      </p:sp>
      <p:sp>
        <p:nvSpPr>
          <p:cNvPr id="21" name="Rectangle 20"/>
          <p:cNvSpPr/>
          <p:nvPr/>
        </p:nvSpPr>
        <p:spPr>
          <a:xfrm>
            <a:off x="7955009" y="4123944"/>
            <a:ext cx="857716" cy="534924"/>
          </a:xfrm>
          <a:prstGeom prst="rect">
            <a:avLst/>
          </a:prstGeom>
          <a:noFill/>
          <a:ln w="44450">
            <a:solidFill>
              <a:srgbClr val="7B3FA0"/>
            </a:solidFill>
          </a:ln>
        </p:spPr>
        <p:txBody>
          <a:bodyPr rtlCol="0" anchor="ctr"/>
          <a:lstStyle/>
          <a:p>
            <a:pPr algn="ctr"/>
          </a:p>
        </p:txBody>
      </p:sp>
      <p:sp>
        <p:nvSpPr>
          <p:cNvPr id="22" name="Rectangle 21"/>
          <p:cNvSpPr/>
          <p:nvPr/>
        </p:nvSpPr>
        <p:spPr>
          <a:xfrm>
            <a:off x="8496724" y="4741164"/>
            <a:ext cx="451429" cy="534924"/>
          </a:xfrm>
          <a:prstGeom prst="rect">
            <a:avLst/>
          </a:prstGeom>
          <a:noFill/>
          <a:ln w="44450">
            <a:solidFill>
              <a:srgbClr val="007A33"/>
            </a:solidFill>
          </a:ln>
        </p:spPr>
        <p:txBody>
          <a:bodyPr rtlCol="0" anchor="ctr"/>
          <a:lstStyle/>
          <a:p>
            <a:pPr algn="ctr"/>
          </a:p>
        </p:txBody>
      </p:sp>
      <p:sp>
        <p:nvSpPr>
          <p:cNvPr id="23" name="Oval 22"/>
          <p:cNvSpPr/>
          <p:nvPr/>
        </p:nvSpPr>
        <p:spPr>
          <a:xfrm>
            <a:off x="7831565" y="2148840"/>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4" name="Oval 23"/>
          <p:cNvSpPr/>
          <p:nvPr/>
        </p:nvSpPr>
        <p:spPr>
          <a:xfrm>
            <a:off x="9140710" y="1655064"/>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5" name="Oval 24"/>
          <p:cNvSpPr/>
          <p:nvPr/>
        </p:nvSpPr>
        <p:spPr>
          <a:xfrm>
            <a:off x="9592140" y="2148840"/>
            <a:ext cx="246888" cy="24688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6" name="Oval 25"/>
          <p:cNvSpPr/>
          <p:nvPr/>
        </p:nvSpPr>
        <p:spPr>
          <a:xfrm>
            <a:off x="7524708" y="4668012"/>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7" name="Oval 26"/>
          <p:cNvSpPr/>
          <p:nvPr/>
        </p:nvSpPr>
        <p:spPr>
          <a:xfrm>
            <a:off x="9149854" y="5120640"/>
            <a:ext cx="228600" cy="228600"/>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8" name="TextBox 27"/>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9" name="TextBox 2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19</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outside bar takes over the whole recent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19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turn from key reversals to outside bars. An outside bar engulfs one or more preceding bars, so its range tells us that the recent balance has been broken.</a:t>
            </a:r>
          </a:p>
          <a:p>
            <a:pPr algn="l">
              <a:lnSpc>
                <a:spcPct val="118000"/>
              </a:lnSpc>
              <a:spcBef>
                <a:spcPts val="0"/>
              </a:spcBef>
              <a:spcAft>
                <a:spcPts val="1300"/>
              </a:spcAft>
            </a:pPr>
            <a:r>
              <a:rPr sz="2100" b="0" i="0">
                <a:solidFill>
                  <a:srgbClr val="1A1A1A"/>
                </a:solidFill>
                <a:latin typeface="Arial"/>
              </a:rPr>
              <a:t>Lim says a larger range, more contained bars, a close near an edge, and high volume can make the reading more reliable (pp. 223 to 224).</a:t>
            </a:r>
          </a:p>
          <a:p>
            <a:pPr algn="l">
              <a:lnSpc>
                <a:spcPct val="118000"/>
              </a:lnSpc>
              <a:spcBef>
                <a:spcPts val="0"/>
              </a:spcBef>
              <a:spcAft>
                <a:spcPts val="1300"/>
              </a:spcAft>
            </a:pPr>
            <a:r>
              <a:rPr sz="2100" b="0" i="0">
                <a:solidFill>
                  <a:srgbClr val="1A1A1A"/>
                </a:solidFill>
                <a:latin typeface="Arial"/>
              </a:rPr>
              <a:t>The close also matters for direction: a bearish close near the low can support a reversal, while a close with the trend can support continuation (p. 223).</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First see the outside range. Then read its close and context.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223 to 224. The worked PHP values are ours, invented.</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outside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outside bar contains both earlier ranges: </a:t>
            </a:r>
            <a:r>
              <a:rPr sz="1700" b="1" i="0">
                <a:solidFill>
                  <a:srgbClr val="E09B00"/>
                </a:solidFill>
                <a:latin typeface="Arial"/>
              </a:rPr>
              <a:t>(1)</a:t>
            </a:r>
            <a:r>
              <a:rPr sz="1700" b="0" i="0">
                <a:solidFill>
                  <a:srgbClr val="1A1A1A"/>
                </a:solidFill>
                <a:latin typeface="Arial"/>
              </a:rPr>
              <a:t> marks its range, and </a:t>
            </a:r>
            <a:r>
              <a:rPr sz="1700" b="1" i="0">
                <a:solidFill>
                  <a:srgbClr val="C62828"/>
                </a:solidFill>
                <a:latin typeface="Arial"/>
              </a:rPr>
              <a:t>(2)</a:t>
            </a:r>
            <a:r>
              <a:rPr sz="1700" b="0" i="0">
                <a:solidFill>
                  <a:srgbClr val="1A1A1A"/>
                </a:solidFill>
                <a:latin typeface="Arial"/>
              </a:rPr>
              <a:t> marks its high at PHP 53.00. The earlier bars stay between PHP 48.00 and PHP 52.00. </a:t>
            </a:r>
            <a:r>
              <a:rPr sz="1700" b="1" i="0">
                <a:solidFill>
                  <a:srgbClr val="1F5FAD"/>
                </a:solidFill>
                <a:latin typeface="Arial"/>
              </a:rPr>
              <a:t>(3)</a:t>
            </a:r>
            <a:r>
              <a:rPr sz="1700" b="0" i="0">
                <a:solidFill>
                  <a:srgbClr val="1A1A1A"/>
                </a:solidFill>
                <a:latin typeface="Arial"/>
              </a:rPr>
              <a:t> marks the outside bar's close at PHP 47.50, near its low of PHP 47.00. Those prices show why the wider range and bearish close can support a short reading (pp. 223 to 224).</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35665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67874"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19988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20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LA: invented PHP bars and million-share volume.</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7.24 shows the outside bar taking control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21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Lim defines it this way: “Outside bars are bars that engulf one or more preceding bars” (p. 223). That is why traders compare the new range with the bars before it.</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11 bars contained inside the outside range. Red </a:t>
            </a:r>
            <a:r>
              <a:rPr sz="1800" b="1" i="0">
                <a:solidFill>
                  <a:srgbClr val="C62828"/>
                </a:solidFill>
                <a:latin typeface="Arial"/>
              </a:rPr>
              <a:t>(2)</a:t>
            </a:r>
            <a:r>
              <a:rPr sz="1800" b="0" i="0">
                <a:solidFill>
                  <a:srgbClr val="1A1A1A"/>
                </a:solidFill>
                <a:latin typeface="Arial"/>
              </a:rPr>
              <a:t> marks the outside bar's high-to-low range.</a:t>
            </a:r>
          </a:p>
          <a:p>
            <a:pPr algn="l">
              <a:lnSpc>
                <a:spcPct val="105000"/>
              </a:lnSpc>
              <a:spcBef>
                <a:spcPts val="0"/>
              </a:spcBef>
              <a:spcAft>
                <a:spcPts val="1100"/>
              </a:spcAft>
            </a:pPr>
            <a:r>
              <a:rPr sz="1800" b="0" i="0">
                <a:solidFill>
                  <a:srgbClr val="1A1A1A"/>
                </a:solidFill>
                <a:latin typeface="Arial"/>
              </a:rPr>
              <a:t>Blue </a:t>
            </a:r>
            <a:r>
              <a:rPr sz="1800" b="1" i="0">
                <a:solidFill>
                  <a:srgbClr val="1F5FAD"/>
                </a:solidFill>
                <a:latin typeface="Arial"/>
              </a:rPr>
              <a:t>(3)</a:t>
            </a:r>
            <a:r>
              <a:rPr sz="1800" b="0" i="0">
                <a:solidFill>
                  <a:srgbClr val="1A1A1A"/>
                </a:solidFill>
                <a:latin typeface="Arial"/>
              </a:rPr>
              <a:t> marks the close near the low. A bearish outside bar can support a short reading, but the book does not make it certain.</a:t>
            </a:r>
          </a:p>
        </p:txBody>
      </p:sp>
      <p:sp>
        <p:nvSpPr>
          <p:cNvPr id="8" name="Rectangle 7"/>
          <p:cNvSpPr/>
          <p:nvPr/>
        </p:nvSpPr>
        <p:spPr>
          <a:xfrm>
            <a:off x="6172199" y="1810512"/>
            <a:ext cx="5242255" cy="324640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300866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55146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8042650" y="2170077"/>
            <a:ext cx="950857" cy="1022945"/>
          </a:xfrm>
          <a:prstGeom prst="rect">
            <a:avLst/>
          </a:prstGeom>
          <a:noFill/>
          <a:ln w="44450">
            <a:solidFill>
              <a:srgbClr val="E09B00"/>
            </a:solidFill>
          </a:ln>
        </p:spPr>
        <p:txBody>
          <a:bodyPr rtlCol="0" anchor="ctr"/>
          <a:lstStyle/>
          <a:p>
            <a:pPr algn="ctr"/>
          </a:p>
        </p:txBody>
      </p:sp>
      <p:sp>
        <p:nvSpPr>
          <p:cNvPr id="13" name="Rectangle 12"/>
          <p:cNvSpPr/>
          <p:nvPr/>
        </p:nvSpPr>
        <p:spPr>
          <a:xfrm>
            <a:off x="8793327" y="2170077"/>
            <a:ext cx="500451" cy="1022945"/>
          </a:xfrm>
          <a:prstGeom prst="rect">
            <a:avLst/>
          </a:prstGeom>
          <a:noFill/>
          <a:ln w="44450">
            <a:solidFill>
              <a:srgbClr val="C62828"/>
            </a:solidFill>
          </a:ln>
        </p:spPr>
        <p:txBody>
          <a:bodyPr rtlCol="0" anchor="ctr"/>
          <a:lstStyle/>
          <a:p>
            <a:pPr algn="ctr"/>
          </a:p>
        </p:txBody>
      </p:sp>
      <p:sp>
        <p:nvSpPr>
          <p:cNvPr id="14" name="Oval 13"/>
          <p:cNvSpPr/>
          <p:nvPr/>
        </p:nvSpPr>
        <p:spPr>
          <a:xfrm>
            <a:off x="8743282" y="2952329"/>
            <a:ext cx="300270" cy="210606"/>
          </a:xfrm>
          <a:prstGeom prst="ellipse">
            <a:avLst/>
          </a:prstGeom>
          <a:noFill/>
          <a:ln w="44450">
            <a:solidFill>
              <a:srgbClr val="1F5FAD"/>
            </a:solidFill>
          </a:ln>
        </p:spPr>
        <p:txBody>
          <a:bodyPr rtlCol="0" anchor="ctr"/>
          <a:lstStyle/>
          <a:p>
            <a:pPr algn="ctr"/>
          </a:p>
        </p:txBody>
      </p:sp>
      <p:sp>
        <p:nvSpPr>
          <p:cNvPr id="15" name="Oval 14"/>
          <p:cNvSpPr/>
          <p:nvPr/>
        </p:nvSpPr>
        <p:spPr>
          <a:xfrm>
            <a:off x="7586932" y="195445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438601" y="243584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38330" y="31579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72199" y="5148360"/>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 the worked PHP values are ours, invented.</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outside bar matters more when the surrounding trend breaks too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22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figure keeps the context visible because a bar pattern is read with the trend around it.</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contained bars. Red </a:t>
            </a:r>
            <a:r>
              <a:rPr sz="2000" b="1" i="0">
                <a:solidFill>
                  <a:srgbClr val="C62828"/>
                </a:solidFill>
                <a:latin typeface="Arial"/>
              </a:rPr>
              <a:t>(2)</a:t>
            </a:r>
            <a:r>
              <a:rPr sz="2000" b="0" i="0">
                <a:solidFill>
                  <a:srgbClr val="1A1A1A"/>
                </a:solidFill>
                <a:latin typeface="Arial"/>
              </a:rPr>
              <a:t> marks the trendline violation at the outside-bar break.</a:t>
            </a:r>
          </a:p>
          <a:p>
            <a:pPr algn="l">
              <a:lnSpc>
                <a:spcPct val="105000"/>
              </a:lnSpc>
              <a:spcBef>
                <a:spcPts val="0"/>
              </a:spcBef>
              <a:spcAft>
                <a:spcPts val="1100"/>
              </a:spcAft>
            </a:pPr>
            <a:r>
              <a:rPr sz="2000" b="0" i="0">
                <a:solidFill>
                  <a:srgbClr val="1A1A1A"/>
                </a:solidFill>
                <a:latin typeface="Arial"/>
              </a:rPr>
              <a:t>Blue </a:t>
            </a:r>
            <a:r>
              <a:rPr sz="2000" b="1" i="0">
                <a:solidFill>
                  <a:srgbClr val="1F5FAD"/>
                </a:solidFill>
                <a:latin typeface="Arial"/>
              </a:rPr>
              <a:t>(3)</a:t>
            </a:r>
            <a:r>
              <a:rPr sz="2000" b="0" i="0">
                <a:solidFill>
                  <a:srgbClr val="1A1A1A"/>
                </a:solidFill>
                <a:latin typeface="Arial"/>
              </a:rPr>
              <a:t> marks the bearish close near the low. Read the trendline break and the close together, not either mark alone.</a:t>
            </a:r>
          </a:p>
        </p:txBody>
      </p:sp>
      <p:sp>
        <p:nvSpPr>
          <p:cNvPr id="8" name="Rectangle 7"/>
          <p:cNvSpPr/>
          <p:nvPr/>
        </p:nvSpPr>
        <p:spPr>
          <a:xfrm>
            <a:off x="6172199" y="1810512"/>
            <a:ext cx="5242255" cy="324640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300866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55146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8042650" y="2170077"/>
            <a:ext cx="950857" cy="1022945"/>
          </a:xfrm>
          <a:prstGeom prst="rect">
            <a:avLst/>
          </a:prstGeom>
          <a:noFill/>
          <a:ln w="44450">
            <a:solidFill>
              <a:srgbClr val="E09B00"/>
            </a:solidFill>
          </a:ln>
        </p:spPr>
        <p:txBody>
          <a:bodyPr rtlCol="0" anchor="ctr"/>
          <a:lstStyle/>
          <a:p>
            <a:pPr algn="ctr"/>
          </a:p>
        </p:txBody>
      </p:sp>
      <p:sp>
        <p:nvSpPr>
          <p:cNvPr id="13" name="Oval 12"/>
          <p:cNvSpPr/>
          <p:nvPr/>
        </p:nvSpPr>
        <p:spPr>
          <a:xfrm>
            <a:off x="8893417" y="2681550"/>
            <a:ext cx="300270" cy="421213"/>
          </a:xfrm>
          <a:prstGeom prst="ellipse">
            <a:avLst/>
          </a:prstGeom>
          <a:noFill/>
          <a:ln w="44450">
            <a:solidFill>
              <a:srgbClr val="C62828"/>
            </a:solidFill>
          </a:ln>
        </p:spPr>
        <p:txBody>
          <a:bodyPr rtlCol="0" anchor="ctr"/>
          <a:lstStyle/>
          <a:p>
            <a:pPr algn="ctr"/>
          </a:p>
        </p:txBody>
      </p:sp>
      <p:sp>
        <p:nvSpPr>
          <p:cNvPr id="14" name="Oval 13"/>
          <p:cNvSpPr/>
          <p:nvPr/>
        </p:nvSpPr>
        <p:spPr>
          <a:xfrm>
            <a:off x="8893417" y="3012503"/>
            <a:ext cx="300270" cy="240693"/>
          </a:xfrm>
          <a:prstGeom prst="ellipse">
            <a:avLst/>
          </a:prstGeom>
          <a:noFill/>
          <a:ln w="44450">
            <a:solidFill>
              <a:srgbClr val="1F5FAD"/>
            </a:solidFill>
          </a:ln>
        </p:spPr>
        <p:txBody>
          <a:bodyPr rtlCol="0" anchor="ctr"/>
          <a:lstStyle/>
          <a:p>
            <a:pPr algn="ctr"/>
          </a:p>
        </p:txBody>
      </p:sp>
      <p:sp>
        <p:nvSpPr>
          <p:cNvPr id="15" name="Oval 14"/>
          <p:cNvSpPr/>
          <p:nvPr/>
        </p:nvSpPr>
        <p:spPr>
          <a:xfrm>
            <a:off x="7586932" y="195445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138330" y="243584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88375" y="318800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72199" y="5148360"/>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 the worked PHP values are ours, invented.</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20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outside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must a bearish outside bar's range contain?</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Only the current bar's body</a:t>
            </a:r>
          </a:p>
          <a:p>
            <a:pPr algn="l">
              <a:lnSpc>
                <a:spcPct val="105000"/>
              </a:lnSpc>
              <a:spcBef>
                <a:spcPts val="0"/>
              </a:spcBef>
              <a:spcAft>
                <a:spcPts val="200"/>
              </a:spcAft>
            </a:pPr>
            <a:r>
              <a:rPr sz="1700" b="0" i="0">
                <a:solidFill>
                  <a:srgbClr val="FFFFFF"/>
                </a:solidFill>
                <a:latin typeface="Arial"/>
              </a:rPr>
              <a:t>B.  One or more prior bars</a:t>
            </a:r>
          </a:p>
          <a:p>
            <a:pPr algn="l">
              <a:lnSpc>
                <a:spcPct val="105000"/>
              </a:lnSpc>
              <a:spcBef>
                <a:spcPts val="0"/>
              </a:spcBef>
              <a:spcAft>
                <a:spcPts val="200"/>
              </a:spcAft>
            </a:pPr>
            <a:r>
              <a:rPr sz="1700" b="0" i="0">
                <a:solidFill>
                  <a:srgbClr val="FFFFFF"/>
                </a:solidFill>
                <a:latin typeface="Arial"/>
              </a:rPr>
              <a:t>C.  A gap on both sides</a:t>
            </a:r>
          </a:p>
          <a:p>
            <a:pPr algn="l">
              <a:lnSpc>
                <a:spcPct val="105000"/>
              </a:lnSpc>
              <a:spcBef>
                <a:spcPts val="0"/>
              </a:spcBef>
              <a:spcAft>
                <a:spcPts val="200"/>
              </a:spcAft>
            </a:pPr>
            <a:r>
              <a:rPr sz="1700" b="0" i="0">
                <a:solidFill>
                  <a:srgbClr val="FFFFFF"/>
                </a:solidFill>
                <a:latin typeface="Arial"/>
              </a:rPr>
              <a:t>D.  Only the volume bars</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close is more reliable for a bearish outside-bar reading?</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close near the low</a:t>
            </a:r>
          </a:p>
          <a:p>
            <a:pPr algn="l">
              <a:lnSpc>
                <a:spcPct val="105000"/>
              </a:lnSpc>
              <a:spcBef>
                <a:spcPts val="0"/>
              </a:spcBef>
              <a:spcAft>
                <a:spcPts val="200"/>
              </a:spcAft>
            </a:pPr>
            <a:r>
              <a:rPr sz="1700" b="0" i="0">
                <a:solidFill>
                  <a:srgbClr val="FFFFFF"/>
                </a:solidFill>
                <a:latin typeface="Arial"/>
              </a:rPr>
              <a:t>B.  A close near the middle</a:t>
            </a:r>
          </a:p>
          <a:p>
            <a:pPr algn="l">
              <a:lnSpc>
                <a:spcPct val="105000"/>
              </a:lnSpc>
              <a:spcBef>
                <a:spcPts val="0"/>
              </a:spcBef>
              <a:spcAft>
                <a:spcPts val="200"/>
              </a:spcAft>
            </a:pPr>
            <a:r>
              <a:rPr sz="1700" b="0" i="0">
                <a:solidFill>
                  <a:srgbClr val="FFFFFF"/>
                </a:solidFill>
                <a:latin typeface="Arial"/>
              </a:rPr>
              <a:t>C.  A close near the high</a:t>
            </a:r>
          </a:p>
          <a:p>
            <a:pPr algn="l">
              <a:lnSpc>
                <a:spcPct val="105000"/>
              </a:lnSpc>
              <a:spcBef>
                <a:spcPts val="0"/>
              </a:spcBef>
              <a:spcAft>
                <a:spcPts val="200"/>
              </a:spcAft>
            </a:pPr>
            <a:r>
              <a:rPr sz="1700" b="0" i="0">
                <a:solidFill>
                  <a:srgbClr val="FFFFFF"/>
                </a:solidFill>
                <a:latin typeface="Arial"/>
              </a:rPr>
              <a:t>D.  The close does not matter</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12932" y="1568772"/>
            <a:ext cx="959543" cy="1032291"/>
          </a:xfrm>
          <a:prstGeom prst="rect">
            <a:avLst/>
          </a:prstGeom>
          <a:noFill/>
          <a:ln w="44450">
            <a:solidFill>
              <a:srgbClr val="E09B00"/>
            </a:solidFill>
          </a:ln>
        </p:spPr>
        <p:txBody>
          <a:bodyPr rtlCol="0" anchor="ctr"/>
          <a:lstStyle/>
          <a:p>
            <a:pPr algn="ctr"/>
          </a:p>
        </p:txBody>
      </p:sp>
      <p:sp>
        <p:nvSpPr>
          <p:cNvPr id="19" name="Rectangle 18"/>
          <p:cNvSpPr/>
          <p:nvPr/>
        </p:nvSpPr>
        <p:spPr>
          <a:xfrm>
            <a:off x="8770467" y="1568772"/>
            <a:ext cx="505023" cy="1032291"/>
          </a:xfrm>
          <a:prstGeom prst="rect">
            <a:avLst/>
          </a:prstGeom>
          <a:noFill/>
          <a:ln w="44450">
            <a:solidFill>
              <a:srgbClr val="C62828"/>
            </a:solidFill>
          </a:ln>
        </p:spPr>
        <p:txBody>
          <a:bodyPr rtlCol="0" anchor="ctr"/>
          <a:lstStyle/>
          <a:p>
            <a:pPr algn="ctr"/>
          </a:p>
        </p:txBody>
      </p:sp>
      <p:sp>
        <p:nvSpPr>
          <p:cNvPr id="20" name="Oval 19"/>
          <p:cNvSpPr/>
          <p:nvPr/>
        </p:nvSpPr>
        <p:spPr>
          <a:xfrm>
            <a:off x="8719965" y="2358171"/>
            <a:ext cx="303013" cy="212530"/>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23056" y="183838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256706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20</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outside bars</a:t>
            </a:r>
          </a:p>
        </p:txBody>
      </p:sp>
      <p:sp>
        <p:nvSpPr>
          <p:cNvPr id="6" name="Rectangle 5"/>
          <p:cNvSpPr/>
          <p:nvPr/>
        </p:nvSpPr>
        <p:spPr>
          <a:xfrm>
            <a:off x="777240" y="1207008"/>
            <a:ext cx="5029200" cy="17684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7684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must a bearish outside bar's range contain?</a:t>
            </a:r>
          </a:p>
        </p:txBody>
      </p:sp>
      <p:sp>
        <p:nvSpPr>
          <p:cNvPr id="9" name="TextBox 8"/>
          <p:cNvSpPr txBox="1"/>
          <p:nvPr/>
        </p:nvSpPr>
        <p:spPr>
          <a:xfrm>
            <a:off x="1097280" y="2069338"/>
            <a:ext cx="4480560" cy="90614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One or more prior bars</a:t>
            </a:r>
          </a:p>
          <a:p>
            <a:pPr algn="l">
              <a:lnSpc>
                <a:spcPct val="115000"/>
              </a:lnSpc>
              <a:spcBef>
                <a:spcPts val="500"/>
              </a:spcBef>
              <a:spcAft>
                <a:spcPts val="0"/>
              </a:spcAft>
            </a:pPr>
            <a:r>
              <a:rPr sz="1700" b="0" i="0">
                <a:solidFill>
                  <a:srgbClr val="1A1A1A"/>
                </a:solidFill>
                <a:latin typeface="Arial"/>
              </a:rPr>
              <a:t>It engulfs preceding bars (Lim, p. 223).
</a:t>
            </a:r>
          </a:p>
        </p:txBody>
      </p:sp>
      <p:sp>
        <p:nvSpPr>
          <p:cNvPr id="10" name="Rectangle 9"/>
          <p:cNvSpPr/>
          <p:nvPr/>
        </p:nvSpPr>
        <p:spPr>
          <a:xfrm>
            <a:off x="777240" y="3158363"/>
            <a:ext cx="5029200" cy="226504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58363"/>
            <a:ext cx="91440" cy="226504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34124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close is more reliable for a bearish outside-bar reading?</a:t>
            </a:r>
          </a:p>
        </p:txBody>
      </p:sp>
      <p:sp>
        <p:nvSpPr>
          <p:cNvPr id="13" name="TextBox 12"/>
          <p:cNvSpPr txBox="1"/>
          <p:nvPr/>
        </p:nvSpPr>
        <p:spPr>
          <a:xfrm>
            <a:off x="1097280" y="4020693"/>
            <a:ext cx="448056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close near the low</a:t>
            </a:r>
          </a:p>
          <a:p>
            <a:pPr algn="l">
              <a:lnSpc>
                <a:spcPct val="115000"/>
              </a:lnSpc>
              <a:spcBef>
                <a:spcPts val="500"/>
              </a:spcBef>
              <a:spcAft>
                <a:spcPts val="0"/>
              </a:spcAft>
            </a:pPr>
            <a:r>
              <a:rPr sz="1700" b="0" i="0">
                <a:solidFill>
                  <a:srgbClr val="1A1A1A"/>
                </a:solidFill>
                <a:latin typeface="Arial"/>
              </a:rPr>
              <a:t>Lim says closes near the low are generally more reliable for the bearish reading (p. 223).</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12932" y="1568772"/>
            <a:ext cx="959543" cy="1032291"/>
          </a:xfrm>
          <a:prstGeom prst="rect">
            <a:avLst/>
          </a:prstGeom>
          <a:noFill/>
          <a:ln w="44450">
            <a:solidFill>
              <a:srgbClr val="E09B00"/>
            </a:solidFill>
          </a:ln>
        </p:spPr>
        <p:txBody>
          <a:bodyPr rtlCol="0" anchor="ctr"/>
          <a:lstStyle/>
          <a:p>
            <a:pPr algn="ctr"/>
          </a:p>
        </p:txBody>
      </p:sp>
      <p:sp>
        <p:nvSpPr>
          <p:cNvPr id="19" name="Rectangle 18"/>
          <p:cNvSpPr/>
          <p:nvPr/>
        </p:nvSpPr>
        <p:spPr>
          <a:xfrm>
            <a:off x="8770467" y="1568772"/>
            <a:ext cx="505023" cy="1032291"/>
          </a:xfrm>
          <a:prstGeom prst="rect">
            <a:avLst/>
          </a:prstGeom>
          <a:noFill/>
          <a:ln w="44450">
            <a:solidFill>
              <a:srgbClr val="C62828"/>
            </a:solidFill>
          </a:ln>
        </p:spPr>
        <p:txBody>
          <a:bodyPr rtlCol="0" anchor="ctr"/>
          <a:lstStyle/>
          <a:p>
            <a:pPr algn="ctr"/>
          </a:p>
        </p:txBody>
      </p:sp>
      <p:sp>
        <p:nvSpPr>
          <p:cNvPr id="20" name="Oval 19"/>
          <p:cNvSpPr/>
          <p:nvPr/>
        </p:nvSpPr>
        <p:spPr>
          <a:xfrm>
            <a:off x="8719965" y="2358171"/>
            <a:ext cx="303013" cy="212530"/>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23056" y="183838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256706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20</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pauses inside the previous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23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outside bar expanded the range. An inside bar does the opposite: its high and low stay within the preceding bar's range, so price is pausing inside it.</a:t>
            </a:r>
          </a:p>
          <a:p>
            <a:pPr algn="l">
              <a:lnSpc>
                <a:spcPct val="118000"/>
              </a:lnSpc>
              <a:spcBef>
                <a:spcPts val="0"/>
              </a:spcBef>
              <a:spcAft>
                <a:spcPts val="1300"/>
              </a:spcAft>
            </a:pPr>
            <a:r>
              <a:rPr sz="2100" b="0" i="0">
                <a:solidFill>
                  <a:srgbClr val="1A1A1A"/>
                </a:solidFill>
                <a:latin typeface="Arial"/>
              </a:rPr>
              <a:t>Lim treats it as a reversal bar when the first bar is wide on high volume and the second is narrow on very low volume (p. 224), especially at a barrier such as resistance.</a:t>
            </a:r>
          </a:p>
        </p:txBody>
      </p:sp>
      <p:sp>
        <p:nvSpPr>
          <p:cNvPr id="8" name="Rectangle 7"/>
          <p:cNvSpPr/>
          <p:nvPr/>
        </p:nvSpPr>
        <p:spPr>
          <a:xfrm>
            <a:off x="777240" y="421614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Inside means contained, not engulfing. We will compare the names after this example.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The worked PHP values are ours, invented.</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inside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wide first bar </a:t>
            </a:r>
            <a:r>
              <a:rPr sz="1700" b="1" i="0">
                <a:solidFill>
                  <a:srgbClr val="E09B00"/>
                </a:solidFill>
                <a:latin typeface="Arial"/>
              </a:rPr>
              <a:t>(1)</a:t>
            </a:r>
            <a:r>
              <a:rPr sz="1700" b="0" i="0">
                <a:solidFill>
                  <a:srgbClr val="1A1A1A"/>
                </a:solidFill>
                <a:latin typeface="Arial"/>
              </a:rPr>
              <a:t> runs PHP 48.00 to PHP 53.00 on 4.5 million shares; the narrow second </a:t>
            </a:r>
            <a:r>
              <a:rPr sz="1700" b="1" i="0">
                <a:solidFill>
                  <a:srgbClr val="C62828"/>
                </a:solidFill>
                <a:latin typeface="Arial"/>
              </a:rPr>
              <a:t>(2)</a:t>
            </a:r>
            <a:r>
              <a:rPr sz="1700" b="0" i="0">
                <a:solidFill>
                  <a:srgbClr val="1A1A1A"/>
                </a:solidFill>
                <a:latin typeface="Arial"/>
              </a:rPr>
              <a:t> runs PHP 49.20 to PHP 52.50 on 0.5 million. </a:t>
            </a:r>
            <a:r>
              <a:rPr sz="1700" b="1" i="0">
                <a:solidFill>
                  <a:srgbClr val="C62828"/>
                </a:solidFill>
                <a:latin typeface="Arial"/>
              </a:rPr>
              <a:t>(2)</a:t>
            </a:r>
            <a:r>
              <a:rPr sz="1700" b="0" i="0">
                <a:solidFill>
                  <a:srgbClr val="1A1A1A"/>
                </a:solidFill>
                <a:latin typeface="Arial"/>
              </a:rPr>
              <a:t> stays inside </a:t>
            </a:r>
            <a:r>
              <a:rPr sz="1700" b="1" i="0">
                <a:solidFill>
                  <a:srgbClr val="E09B00"/>
                </a:solidFill>
                <a:latin typeface="Arial"/>
              </a:rPr>
              <a:t>(1)</a:t>
            </a:r>
            <a:r>
              <a:rPr sz="1700" b="0" i="0">
                <a:solidFill>
                  <a:srgbClr val="1A1A1A"/>
                </a:solidFill>
                <a:latin typeface="Arial"/>
              </a:rPr>
              <a:t>. </a:t>
            </a:r>
            <a:r>
              <a:rPr sz="1700" b="1" i="0">
                <a:solidFill>
                  <a:srgbClr val="1F5FAD"/>
                </a:solidFill>
                <a:latin typeface="Arial"/>
              </a:rPr>
              <a:t>(3)</a:t>
            </a:r>
            <a:r>
              <a:rPr sz="1700" b="0" i="0">
                <a:solidFill>
                  <a:srgbClr val="1A1A1A"/>
                </a:solidFill>
                <a:latin typeface="Arial"/>
              </a:rPr>
              <a:t> marks resistance at PHP 53.00. This volume contrast is Lim's ideal relationship (p. 224).</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391088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83599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144060"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75187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4231189" y="327685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LB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24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LB: invented PHP bars and million-share volume.</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7.25 shows inside bars testing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25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point of the inside-bar reversal is the quiet test of a barrier. Gold </a:t>
            </a:r>
            <a:r>
              <a:rPr sz="1900" b="1" i="0">
                <a:solidFill>
                  <a:srgbClr val="E09B00"/>
                </a:solidFill>
                <a:latin typeface="Arial"/>
              </a:rPr>
              <a:t>(1)</a:t>
            </a:r>
            <a:r>
              <a:rPr sz="1900" b="0" i="0">
                <a:solidFill>
                  <a:srgbClr val="1A1A1A"/>
                </a:solidFill>
                <a:latin typeface="Arial"/>
              </a:rPr>
              <a:t> and red </a:t>
            </a:r>
            <a:r>
              <a:rPr sz="1900" b="1" i="0">
                <a:solidFill>
                  <a:srgbClr val="C62828"/>
                </a:solidFill>
                <a:latin typeface="Arial"/>
              </a:rPr>
              <a:t>(2)</a:t>
            </a:r>
            <a:r>
              <a:rPr sz="1900" b="0" i="0">
                <a:solidFill>
                  <a:srgbClr val="1A1A1A"/>
                </a:solidFill>
                <a:latin typeface="Arial"/>
              </a:rPr>
              <a:t> mark the two inside-bar reversals testing one resistance level.</a:t>
            </a:r>
          </a:p>
          <a:p>
            <a:pPr algn="l">
              <a:lnSpc>
                <a:spcPct val="105000"/>
              </a:lnSpc>
              <a:spcBef>
                <a:spcPts val="0"/>
              </a:spcBef>
              <a:spcAft>
                <a:spcPts val="1100"/>
              </a:spcAft>
            </a:pPr>
            <a:r>
              <a:rPr sz="1900" b="0" i="0">
                <a:solidFill>
                  <a:srgbClr val="1A1A1A"/>
                </a:solidFill>
                <a:latin typeface="Arial"/>
              </a:rPr>
              <a:t>Blue </a:t>
            </a:r>
            <a:r>
              <a:rPr sz="1900" b="1" i="0">
                <a:solidFill>
                  <a:srgbClr val="1F5FAD"/>
                </a:solidFill>
                <a:latin typeface="Arial"/>
              </a:rPr>
              <a:t>(3)</a:t>
            </a:r>
            <a:r>
              <a:rPr sz="1900" b="0" i="0">
                <a:solidFill>
                  <a:srgbClr val="1A1A1A"/>
                </a:solidFill>
                <a:latin typeface="Arial"/>
              </a:rPr>
              <a:t> marks the figure's bearish StochRSI divergence. Chapter 7 does not define the oscillator formula, so treat it as context shown by Lim.</a:t>
            </a:r>
          </a:p>
          <a:p>
            <a:pPr algn="l">
              <a:lnSpc>
                <a:spcPct val="105000"/>
              </a:lnSpc>
              <a:spcBef>
                <a:spcPts val="0"/>
              </a:spcBef>
              <a:spcAft>
                <a:spcPts val="1100"/>
              </a:spcAft>
            </a:pPr>
            <a:r>
              <a:rPr sz="1900" b="0" i="0">
                <a:solidFill>
                  <a:srgbClr val="1A1A1A"/>
                </a:solidFill>
                <a:latin typeface="Arial"/>
              </a:rPr>
              <a:t>Repeated failure at resistance warns of a possible reversal; it is not a promise.</a:t>
            </a:r>
          </a:p>
        </p:txBody>
      </p:sp>
      <p:sp>
        <p:nvSpPr>
          <p:cNvPr id="8" name="Rectangle 7"/>
          <p:cNvSpPr/>
          <p:nvPr/>
        </p:nvSpPr>
        <p:spPr>
          <a:xfrm>
            <a:off x="6126479" y="1810512"/>
            <a:ext cx="5287975" cy="325886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302112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Oval 11"/>
          <p:cNvSpPr/>
          <p:nvPr/>
        </p:nvSpPr>
        <p:spPr>
          <a:xfrm>
            <a:off x="9022979" y="2473185"/>
            <a:ext cx="404018" cy="392745"/>
          </a:xfrm>
          <a:prstGeom prst="ellipse">
            <a:avLst/>
          </a:prstGeom>
          <a:noFill/>
          <a:ln w="44450">
            <a:solidFill>
              <a:srgbClr val="E09B00"/>
            </a:solidFill>
          </a:ln>
        </p:spPr>
        <p:txBody>
          <a:bodyPr rtlCol="0" anchor="ctr"/>
          <a:lstStyle/>
          <a:p>
            <a:pPr algn="ctr"/>
          </a:p>
        </p:txBody>
      </p:sp>
      <p:sp>
        <p:nvSpPr>
          <p:cNvPr id="13" name="Oval 12"/>
          <p:cNvSpPr/>
          <p:nvPr/>
        </p:nvSpPr>
        <p:spPr>
          <a:xfrm>
            <a:off x="9477499" y="2442974"/>
            <a:ext cx="404018" cy="392745"/>
          </a:xfrm>
          <a:prstGeom prst="ellipse">
            <a:avLst/>
          </a:prstGeom>
          <a:noFill/>
          <a:ln w="44450">
            <a:solidFill>
              <a:srgbClr val="C62828"/>
            </a:solidFill>
          </a:ln>
        </p:spPr>
        <p:txBody>
          <a:bodyPr rtlCol="0" anchor="ctr"/>
          <a:lstStyle/>
          <a:p>
            <a:pPr algn="ctr"/>
          </a:p>
        </p:txBody>
      </p:sp>
      <p:sp>
        <p:nvSpPr>
          <p:cNvPr id="14" name="Oval 13"/>
          <p:cNvSpPr/>
          <p:nvPr/>
        </p:nvSpPr>
        <p:spPr>
          <a:xfrm>
            <a:off x="9578504" y="4195224"/>
            <a:ext cx="454520" cy="362534"/>
          </a:xfrm>
          <a:prstGeom prst="ellipse">
            <a:avLst/>
          </a:prstGeom>
          <a:noFill/>
          <a:ln w="44450">
            <a:solidFill>
              <a:srgbClr val="1F5FAD"/>
            </a:solidFill>
          </a:ln>
        </p:spPr>
        <p:txBody>
          <a:bodyPr rtlCol="0" anchor="ctr"/>
          <a:lstStyle/>
          <a:p>
            <a:pPr algn="ctr"/>
          </a:p>
        </p:txBody>
      </p:sp>
      <p:sp>
        <p:nvSpPr>
          <p:cNvPr id="15" name="Oval 14"/>
          <p:cNvSpPr/>
          <p:nvPr/>
        </p:nvSpPr>
        <p:spPr>
          <a:xfrm>
            <a:off x="8514014" y="219689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978581" y="22271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31093" y="44325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16081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 the worked PHP values are ours, invented.</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volume pattern gives the inside-bar reading more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26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Read the same two tests again with the condition Lim gives for an ideal inside reversal.</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and red </a:t>
            </a:r>
            <a:r>
              <a:rPr sz="1800" b="1" i="0">
                <a:solidFill>
                  <a:srgbClr val="C62828"/>
                </a:solidFill>
                <a:latin typeface="Arial"/>
              </a:rPr>
              <a:t>(2)</a:t>
            </a:r>
            <a:r>
              <a:rPr sz="1800" b="0" i="0">
                <a:solidFill>
                  <a:srgbClr val="1A1A1A"/>
                </a:solidFill>
                <a:latin typeface="Arial"/>
              </a:rPr>
              <a:t> are the two inside-bar reversals at one resistance. Blue </a:t>
            </a:r>
            <a:r>
              <a:rPr sz="1800" b="1" i="0">
                <a:solidFill>
                  <a:srgbClr val="1F5FAD"/>
                </a:solidFill>
                <a:latin typeface="Arial"/>
              </a:rPr>
              <a:t>(3)</a:t>
            </a:r>
            <a:r>
              <a:rPr sz="1800" b="0" i="0">
                <a:solidFill>
                  <a:srgbClr val="1A1A1A"/>
                </a:solidFill>
                <a:latin typeface="Arial"/>
              </a:rPr>
              <a:t> is the figure's bearish StochRSI divergence.</a:t>
            </a:r>
          </a:p>
          <a:p>
            <a:pPr algn="l">
              <a:lnSpc>
                <a:spcPct val="105000"/>
              </a:lnSpc>
              <a:spcBef>
                <a:spcPts val="0"/>
              </a:spcBef>
              <a:spcAft>
                <a:spcPts val="1100"/>
              </a:spcAft>
            </a:pPr>
            <a:r>
              <a:rPr sz="1800" b="0" i="0">
                <a:solidFill>
                  <a:srgbClr val="1A1A1A"/>
                </a:solidFill>
                <a:latin typeface="Arial"/>
              </a:rPr>
              <a:t>Prefer a wide, high-volume first bar and a narrow, very-low-volume second bar, while keeping the oscillator reading contextual (p. 224).</a:t>
            </a:r>
          </a:p>
        </p:txBody>
      </p:sp>
      <p:sp>
        <p:nvSpPr>
          <p:cNvPr id="8" name="Rectangle 7"/>
          <p:cNvSpPr/>
          <p:nvPr/>
        </p:nvSpPr>
        <p:spPr>
          <a:xfrm>
            <a:off x="6126479" y="1810512"/>
            <a:ext cx="5287975" cy="325886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302112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Oval 11"/>
          <p:cNvSpPr/>
          <p:nvPr/>
        </p:nvSpPr>
        <p:spPr>
          <a:xfrm>
            <a:off x="9022979" y="2473185"/>
            <a:ext cx="404018" cy="392745"/>
          </a:xfrm>
          <a:prstGeom prst="ellipse">
            <a:avLst/>
          </a:prstGeom>
          <a:noFill/>
          <a:ln w="44450">
            <a:solidFill>
              <a:srgbClr val="E09B00"/>
            </a:solidFill>
          </a:ln>
        </p:spPr>
        <p:txBody>
          <a:bodyPr rtlCol="0" anchor="ctr"/>
          <a:lstStyle/>
          <a:p>
            <a:pPr algn="ctr"/>
          </a:p>
        </p:txBody>
      </p:sp>
      <p:sp>
        <p:nvSpPr>
          <p:cNvPr id="13" name="Oval 12"/>
          <p:cNvSpPr/>
          <p:nvPr/>
        </p:nvSpPr>
        <p:spPr>
          <a:xfrm>
            <a:off x="9477499" y="2442974"/>
            <a:ext cx="404018" cy="392745"/>
          </a:xfrm>
          <a:prstGeom prst="ellipse">
            <a:avLst/>
          </a:prstGeom>
          <a:noFill/>
          <a:ln w="44450">
            <a:solidFill>
              <a:srgbClr val="C62828"/>
            </a:solidFill>
          </a:ln>
        </p:spPr>
        <p:txBody>
          <a:bodyPr rtlCol="0" anchor="ctr"/>
          <a:lstStyle/>
          <a:p>
            <a:pPr algn="ctr"/>
          </a:p>
        </p:txBody>
      </p:sp>
      <p:sp>
        <p:nvSpPr>
          <p:cNvPr id="14" name="Oval 13"/>
          <p:cNvSpPr/>
          <p:nvPr/>
        </p:nvSpPr>
        <p:spPr>
          <a:xfrm>
            <a:off x="9578504" y="4195224"/>
            <a:ext cx="454520" cy="362534"/>
          </a:xfrm>
          <a:prstGeom prst="ellipse">
            <a:avLst/>
          </a:prstGeom>
          <a:noFill/>
          <a:ln w="44450">
            <a:solidFill>
              <a:srgbClr val="1F5FAD"/>
            </a:solidFill>
          </a:ln>
        </p:spPr>
        <p:txBody>
          <a:bodyPr rtlCol="0" anchor="ctr"/>
          <a:lstStyle/>
          <a:p>
            <a:pPr algn="ctr"/>
          </a:p>
        </p:txBody>
      </p:sp>
      <p:sp>
        <p:nvSpPr>
          <p:cNvPr id="15" name="Oval 14"/>
          <p:cNvSpPr/>
          <p:nvPr/>
        </p:nvSpPr>
        <p:spPr>
          <a:xfrm>
            <a:off x="8514014" y="219689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978581" y="22271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31093" y="44325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16081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 the worked PHP values are ours, invented.</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ideal inside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be wide in an ideal inside reversal?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Neither bar</a:t>
            </a:r>
          </a:p>
          <a:p>
            <a:pPr algn="l">
              <a:lnSpc>
                <a:spcPct val="105000"/>
              </a:lnSpc>
              <a:spcBef>
                <a:spcPts val="0"/>
              </a:spcBef>
              <a:spcAft>
                <a:spcPts val="200"/>
              </a:spcAft>
            </a:pPr>
            <a:r>
              <a:rPr sz="1700" b="0" i="0">
                <a:solidFill>
                  <a:srgbClr val="FFFFFF"/>
                </a:solidFill>
                <a:latin typeface="Arial"/>
              </a:rPr>
              <a:t>D.  Only the volume bar</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have very low volume?</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Both bars</a:t>
            </a:r>
          </a:p>
          <a:p>
            <a:pPr algn="l">
              <a:lnSpc>
                <a:spcPct val="105000"/>
              </a:lnSpc>
              <a:spcBef>
                <a:spcPts val="0"/>
              </a:spcBef>
              <a:spcAft>
                <a:spcPts val="200"/>
              </a:spcAft>
            </a:pPr>
            <a:r>
              <a:rPr sz="1700" b="0" i="0">
                <a:solidFill>
                  <a:srgbClr val="FFFFFF"/>
                </a:solidFill>
                <a:latin typeface="Arial"/>
              </a:rPr>
              <a:t>D.  The resistance line</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Oval 17"/>
          <p:cNvSpPr/>
          <p:nvPr/>
        </p:nvSpPr>
        <p:spPr>
          <a:xfrm>
            <a:off x="9022979" y="1869681"/>
            <a:ext cx="404018" cy="392745"/>
          </a:xfrm>
          <a:prstGeom prst="ellipse">
            <a:avLst/>
          </a:prstGeom>
          <a:noFill/>
          <a:ln w="44450">
            <a:solidFill>
              <a:srgbClr val="E09B00"/>
            </a:solidFill>
          </a:ln>
        </p:spPr>
        <p:txBody>
          <a:bodyPr rtlCol="0" anchor="ctr"/>
          <a:lstStyle/>
          <a:p>
            <a:pPr algn="ctr"/>
          </a:p>
        </p:txBody>
      </p:sp>
      <p:sp>
        <p:nvSpPr>
          <p:cNvPr id="19" name="Oval 18"/>
          <p:cNvSpPr/>
          <p:nvPr/>
        </p:nvSpPr>
        <p:spPr>
          <a:xfrm>
            <a:off x="9477499" y="1839470"/>
            <a:ext cx="404018" cy="392745"/>
          </a:xfrm>
          <a:prstGeom prst="ellipse">
            <a:avLst/>
          </a:prstGeom>
          <a:noFill/>
          <a:ln w="44450">
            <a:solidFill>
              <a:srgbClr val="C62828"/>
            </a:solidFill>
          </a:ln>
        </p:spPr>
        <p:txBody>
          <a:bodyPr rtlCol="0" anchor="ctr"/>
          <a:lstStyle/>
          <a:p>
            <a:pPr algn="ctr"/>
          </a:p>
        </p:txBody>
      </p:sp>
      <p:sp>
        <p:nvSpPr>
          <p:cNvPr id="20" name="Oval 19"/>
          <p:cNvSpPr/>
          <p:nvPr/>
        </p:nvSpPr>
        <p:spPr>
          <a:xfrm>
            <a:off x="9578504" y="3591720"/>
            <a:ext cx="454520" cy="362534"/>
          </a:xfrm>
          <a:prstGeom prst="ellipse">
            <a:avLst/>
          </a:prstGeom>
          <a:noFill/>
          <a:ln w="44450">
            <a:solidFill>
              <a:srgbClr val="1F5FAD"/>
            </a:solidFill>
          </a:ln>
        </p:spPr>
        <p:txBody>
          <a:bodyPr rtlCol="0" anchor="ctr"/>
          <a:lstStyle/>
          <a:p>
            <a:pPr algn="ctr"/>
          </a:p>
        </p:txBody>
      </p:sp>
      <p:sp>
        <p:nvSpPr>
          <p:cNvPr id="21" name="Oval 20"/>
          <p:cNvSpPr/>
          <p:nvPr/>
        </p:nvSpPr>
        <p:spPr>
          <a:xfrm>
            <a:off x="8514014" y="15933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978581" y="16236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382901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21</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ideal inside bars</a:t>
            </a:r>
          </a:p>
        </p:txBody>
      </p:sp>
      <p:sp>
        <p:nvSpPr>
          <p:cNvPr id="6" name="Rectangle 5"/>
          <p:cNvSpPr/>
          <p:nvPr/>
        </p:nvSpPr>
        <p:spPr>
          <a:xfrm>
            <a:off x="777240" y="1207008"/>
            <a:ext cx="5029200" cy="201675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1675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bar should be wide in an ideal inside reversal?</a:t>
            </a:r>
          </a:p>
        </p:txBody>
      </p:sp>
      <p:sp>
        <p:nvSpPr>
          <p:cNvPr id="9" name="TextBox 8"/>
          <p:cNvSpPr txBox="1"/>
          <p:nvPr/>
        </p:nvSpPr>
        <p:spPr>
          <a:xfrm>
            <a:off x="1097280" y="2069338"/>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first bar</a:t>
            </a:r>
          </a:p>
          <a:p>
            <a:pPr algn="l">
              <a:lnSpc>
                <a:spcPct val="115000"/>
              </a:lnSpc>
              <a:spcBef>
                <a:spcPts val="500"/>
              </a:spcBef>
              <a:spcAft>
                <a:spcPts val="0"/>
              </a:spcAft>
            </a:pPr>
            <a:r>
              <a:rPr sz="1700" b="0" i="0">
                <a:solidFill>
                  <a:srgbClr val="1A1A1A"/>
                </a:solidFill>
                <a:latin typeface="Arial"/>
              </a:rPr>
              <a:t>Lim says the first bar should be wide (p. 224).</a:t>
            </a:r>
          </a:p>
        </p:txBody>
      </p:sp>
      <p:sp>
        <p:nvSpPr>
          <p:cNvPr id="10" name="Rectangle 9"/>
          <p:cNvSpPr/>
          <p:nvPr/>
        </p:nvSpPr>
        <p:spPr>
          <a:xfrm>
            <a:off x="777240" y="3406647"/>
            <a:ext cx="50292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06647"/>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8952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bar should have very low volume?</a:t>
            </a:r>
          </a:p>
        </p:txBody>
      </p:sp>
      <p:sp>
        <p:nvSpPr>
          <p:cNvPr id="13" name="TextBox 12"/>
          <p:cNvSpPr txBox="1"/>
          <p:nvPr/>
        </p:nvSpPr>
        <p:spPr>
          <a:xfrm>
            <a:off x="1097280" y="4020693"/>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second bar</a:t>
            </a:r>
          </a:p>
          <a:p>
            <a:pPr algn="l">
              <a:lnSpc>
                <a:spcPct val="115000"/>
              </a:lnSpc>
              <a:spcBef>
                <a:spcPts val="500"/>
              </a:spcBef>
              <a:spcAft>
                <a:spcPts val="0"/>
              </a:spcAft>
            </a:pPr>
            <a:r>
              <a:rPr sz="1700" b="0" i="0">
                <a:solidFill>
                  <a:srgbClr val="1A1A1A"/>
                </a:solidFill>
                <a:latin typeface="Arial"/>
              </a:rPr>
              <a:t>Lim says the second bar should be narrow on very low volume (p. 224).</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Oval 17"/>
          <p:cNvSpPr/>
          <p:nvPr/>
        </p:nvSpPr>
        <p:spPr>
          <a:xfrm>
            <a:off x="9022979" y="1869681"/>
            <a:ext cx="404018" cy="392745"/>
          </a:xfrm>
          <a:prstGeom prst="ellipse">
            <a:avLst/>
          </a:prstGeom>
          <a:noFill/>
          <a:ln w="44450">
            <a:solidFill>
              <a:srgbClr val="E09B00"/>
            </a:solidFill>
          </a:ln>
        </p:spPr>
        <p:txBody>
          <a:bodyPr rtlCol="0" anchor="ctr"/>
          <a:lstStyle/>
          <a:p>
            <a:pPr algn="ctr"/>
          </a:p>
        </p:txBody>
      </p:sp>
      <p:sp>
        <p:nvSpPr>
          <p:cNvPr id="19" name="Oval 18"/>
          <p:cNvSpPr/>
          <p:nvPr/>
        </p:nvSpPr>
        <p:spPr>
          <a:xfrm>
            <a:off x="9477499" y="1839470"/>
            <a:ext cx="404018" cy="392745"/>
          </a:xfrm>
          <a:prstGeom prst="ellipse">
            <a:avLst/>
          </a:prstGeom>
          <a:noFill/>
          <a:ln w="44450">
            <a:solidFill>
              <a:srgbClr val="C62828"/>
            </a:solidFill>
          </a:ln>
        </p:spPr>
        <p:txBody>
          <a:bodyPr rtlCol="0" anchor="ctr"/>
          <a:lstStyle/>
          <a:p>
            <a:pPr algn="ctr"/>
          </a:p>
        </p:txBody>
      </p:sp>
      <p:sp>
        <p:nvSpPr>
          <p:cNvPr id="20" name="Oval 19"/>
          <p:cNvSpPr/>
          <p:nvPr/>
        </p:nvSpPr>
        <p:spPr>
          <a:xfrm>
            <a:off x="9578504" y="3591720"/>
            <a:ext cx="454520" cy="362534"/>
          </a:xfrm>
          <a:prstGeom prst="ellipse">
            <a:avLst/>
          </a:prstGeom>
          <a:noFill/>
          <a:ln w="44450">
            <a:solidFill>
              <a:srgbClr val="1F5FAD"/>
            </a:solidFill>
          </a:ln>
        </p:spPr>
        <p:txBody>
          <a:bodyPr rtlCol="0" anchor="ctr"/>
          <a:lstStyle/>
          <a:p>
            <a:pPr algn="ctr"/>
          </a:p>
        </p:txBody>
      </p:sp>
      <p:sp>
        <p:nvSpPr>
          <p:cNvPr id="21" name="Oval 20"/>
          <p:cNvSpPr/>
          <p:nvPr/>
        </p:nvSpPr>
        <p:spPr>
          <a:xfrm>
            <a:off x="8514014" y="15933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978581" y="16236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382901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21</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inside bars can add an exhaustion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27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next idea is exhaustion: a run of successively lower inside bars can show a decline losing force. Gold </a:t>
            </a:r>
            <a:r>
              <a:rPr sz="1700" b="1" i="0">
                <a:solidFill>
                  <a:srgbClr val="E09B00"/>
                </a:solidFill>
                <a:latin typeface="Arial"/>
              </a:rPr>
              <a:t>(1)</a:t>
            </a:r>
            <a:r>
              <a:rPr sz="1700" b="0" i="0">
                <a:solidFill>
                  <a:srgbClr val="1A1A1A"/>
                </a:solidFill>
                <a:latin typeface="Arial"/>
              </a:rPr>
              <a:t> marks the three lower inside bars; red </a:t>
            </a:r>
            <a:r>
              <a:rPr sz="1700" b="1" i="0">
                <a:solidFill>
                  <a:srgbClr val="C62828"/>
                </a:solidFill>
                <a:latin typeface="Arial"/>
              </a:rPr>
              <a:t>(2)</a:t>
            </a:r>
            <a:r>
              <a:rPr sz="1700" b="0" i="0">
                <a:solidFill>
                  <a:srgbClr val="1A1A1A"/>
                </a:solidFill>
                <a:latin typeface="Arial"/>
              </a:rPr>
              <a:t> marks the band context.</a:t>
            </a:r>
          </a:p>
          <a:p>
            <a:pPr algn="l">
              <a:lnSpc>
                <a:spcPct val="105000"/>
              </a:lnSpc>
              <a:spcBef>
                <a:spcPts val="0"/>
              </a:spcBef>
              <a:spcAft>
                <a:spcPts val="1100"/>
              </a:spcAft>
            </a:pPr>
            <a:r>
              <a:rPr sz="1700" b="0" i="0">
                <a:solidFill>
                  <a:srgbClr val="1A1A1A"/>
                </a:solidFill>
                <a:latin typeface="Arial"/>
              </a:rPr>
              <a:t>Blue </a:t>
            </a:r>
            <a:r>
              <a:rPr sz="1700" b="1" i="0">
                <a:solidFill>
                  <a:srgbClr val="1F5FAD"/>
                </a:solidFill>
                <a:latin typeface="Arial"/>
              </a:rPr>
              <a:t>(3)</a:t>
            </a:r>
            <a:r>
              <a:rPr sz="1700" b="0" i="0">
                <a:solidFill>
                  <a:srgbClr val="1A1A1A"/>
                </a:solidFill>
                <a:latin typeface="Arial"/>
              </a:rPr>
              <a:t> marks the later bearish outside bar. Lim says the exhaustion reading is stronger when declines also show bearish volume (p. 225).</a:t>
            </a:r>
          </a:p>
          <a:p>
            <a:pPr algn="l">
              <a:lnSpc>
                <a:spcPct val="105000"/>
              </a:lnSpc>
              <a:spcBef>
                <a:spcPts val="0"/>
              </a:spcBef>
              <a:spcAft>
                <a:spcPts val="1100"/>
              </a:spcAft>
            </a:pPr>
            <a:r>
              <a:rPr sz="1700" b="0" i="0">
                <a:solidFill>
                  <a:srgbClr val="1A1A1A"/>
                </a:solidFill>
                <a:latin typeface="Arial"/>
              </a:rPr>
              <a:t>Use the formation as a warning, while remembering that the book leaves the volume judgement contextual.</a:t>
            </a:r>
          </a:p>
        </p:txBody>
      </p:sp>
      <p:sp>
        <p:nvSpPr>
          <p:cNvPr id="8" name="Rectangle 7"/>
          <p:cNvSpPr/>
          <p:nvPr/>
        </p:nvSpPr>
        <p:spPr>
          <a:xfrm>
            <a:off x="6126479" y="1810512"/>
            <a:ext cx="5287975" cy="247108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3334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761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7.26</a:t>
            </a:r>
          </a:p>
          <a:p>
            <a:pPr algn="l">
              <a:lnSpc>
                <a:spcPct val="115000"/>
              </a:lnSpc>
              <a:spcBef>
                <a:spcPts val="0"/>
              </a:spcBef>
              <a:spcAft>
                <a:spcPts val="0"/>
              </a:spcAft>
            </a:pPr>
            <a:r>
              <a:rPr sz="1500" b="0" i="0">
                <a:solidFill>
                  <a:srgbClr val="1A1A1A"/>
                </a:solidFill>
                <a:latin typeface="Palatino"/>
              </a:rPr>
              <a:t>Silver Wheaton daily chart. Three successively lower inside bars form below the lower band, followed by a bearish outside bar.</a:t>
            </a:r>
          </a:p>
        </p:txBody>
      </p:sp>
      <p:sp>
        <p:nvSpPr>
          <p:cNvPr id="12" name="Rectangle 11"/>
          <p:cNvSpPr/>
          <p:nvPr/>
        </p:nvSpPr>
        <p:spPr>
          <a:xfrm>
            <a:off x="8416951" y="3470388"/>
            <a:ext cx="707032" cy="603001"/>
          </a:xfrm>
          <a:prstGeom prst="rect">
            <a:avLst/>
          </a:prstGeom>
          <a:noFill/>
          <a:ln w="44450">
            <a:solidFill>
              <a:srgbClr val="E09B00"/>
            </a:solidFill>
          </a:ln>
        </p:spPr>
        <p:txBody>
          <a:bodyPr rtlCol="0" anchor="ctr"/>
          <a:lstStyle/>
          <a:p>
            <a:pPr algn="ctr"/>
          </a:p>
        </p:txBody>
      </p:sp>
      <p:cxnSp>
        <p:nvCxnSpPr>
          <p:cNvPr id="13" name="Connector 12"/>
          <p:cNvCxnSpPr/>
          <p:nvPr/>
        </p:nvCxnSpPr>
        <p:spPr>
          <a:xfrm>
            <a:off x="8012932" y="3671389"/>
            <a:ext cx="1161553" cy="0"/>
          </a:xfrm>
          <a:prstGeom prst="line">
            <a:avLst/>
          </a:prstGeom>
          <a:ln w="44450">
            <a:solidFill>
              <a:srgbClr val="C62828"/>
            </a:solidFill>
          </a:ln>
        </p:spPr>
      </p:cxnSp>
      <p:sp>
        <p:nvSpPr>
          <p:cNvPr id="14" name="Oval 13"/>
          <p:cNvSpPr/>
          <p:nvPr/>
        </p:nvSpPr>
        <p:spPr>
          <a:xfrm>
            <a:off x="10134029" y="2353718"/>
            <a:ext cx="454520" cy="335001"/>
          </a:xfrm>
          <a:prstGeom prst="ellipse">
            <a:avLst/>
          </a:prstGeom>
          <a:noFill/>
          <a:ln w="44450">
            <a:solidFill>
              <a:srgbClr val="1F5FAD"/>
            </a:solidFill>
          </a:ln>
        </p:spPr>
        <p:txBody>
          <a:bodyPr rtlCol="0" anchor="ctr"/>
          <a:lstStyle/>
          <a:p>
            <a:pPr algn="ctr"/>
          </a:p>
        </p:txBody>
      </p:sp>
      <p:sp>
        <p:nvSpPr>
          <p:cNvPr id="15" name="Oval 14"/>
          <p:cNvSpPr/>
          <p:nvPr/>
        </p:nvSpPr>
        <p:spPr>
          <a:xfrm>
            <a:off x="7907987" y="322560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604973" y="36276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635111" y="217593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7303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7.26 -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7.26. The crop and marks are for teaching; the worked PHP values are ours, invented.</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These three formations are related, but they are not the same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28 of 62</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This figure puts three reversal families beside one another. Gold </a:t>
            </a:r>
            <a:r>
              <a:rPr sz="1700" b="1" i="0">
                <a:solidFill>
                  <a:srgbClr val="E09B00"/>
                </a:solidFill>
                <a:latin typeface="Arial"/>
              </a:rPr>
              <a:t>(1)</a:t>
            </a:r>
            <a:r>
              <a:rPr sz="1700" b="0" i="0">
                <a:solidFill>
                  <a:srgbClr val="1A1A1A"/>
                </a:solidFill>
                <a:latin typeface="Arial"/>
              </a:rPr>
              <a:t> is an inside-bar reversal, red </a:t>
            </a:r>
            <a:r>
              <a:rPr sz="1700" b="1" i="0">
                <a:solidFill>
                  <a:srgbClr val="C62828"/>
                </a:solidFill>
                <a:latin typeface="Arial"/>
              </a:rPr>
              <a:t>(2)</a:t>
            </a:r>
            <a:r>
              <a:rPr sz="1700" b="0" i="0">
                <a:solidFill>
                  <a:srgbClr val="1A1A1A"/>
                </a:solidFill>
                <a:latin typeface="Arial"/>
              </a:rPr>
              <a:t> an outside-bar reversal, and blue </a:t>
            </a:r>
            <a:r>
              <a:rPr sz="1700" b="1" i="0">
                <a:solidFill>
                  <a:srgbClr val="1F5FAD"/>
                </a:solidFill>
                <a:latin typeface="Arial"/>
              </a:rPr>
              <a:t>(3)</a:t>
            </a:r>
            <a:r>
              <a:rPr sz="1700" b="0" i="0">
                <a:solidFill>
                  <a:srgbClr val="1A1A1A"/>
                </a:solidFill>
                <a:latin typeface="Arial"/>
              </a:rPr>
              <a:t> a three-bar reversal.</a:t>
            </a:r>
          </a:p>
          <a:p>
            <a:pPr algn="l">
              <a:lnSpc>
                <a:spcPct val="105000"/>
              </a:lnSpc>
              <a:spcBef>
                <a:spcPts val="0"/>
              </a:spcBef>
              <a:spcAft>
                <a:spcPts val="1100"/>
              </a:spcAft>
            </a:pPr>
            <a:r>
              <a:rPr sz="1700" b="0" i="0">
                <a:solidFill>
                  <a:srgbClr val="1A1A1A"/>
                </a:solidFill>
                <a:latin typeface="Arial"/>
              </a:rPr>
              <a:t>In our comparison, the inside range is 6.0 points, the outside bar contains four bars, and the outer volumes are 4.0 million and 4.2 million shares.</a:t>
            </a:r>
          </a:p>
          <a:p>
            <a:pPr algn="l">
              <a:lnSpc>
                <a:spcPct val="105000"/>
              </a:lnSpc>
              <a:spcBef>
                <a:spcPts val="0"/>
              </a:spcBef>
              <a:spcAft>
                <a:spcPts val="1100"/>
              </a:spcAft>
            </a:pPr>
            <a:r>
              <a:rPr sz="1700" b="0" i="0">
                <a:solidFill>
                  <a:srgbClr val="1A1A1A"/>
                </a:solidFill>
                <a:latin typeface="Arial"/>
              </a:rPr>
              <a:t>The indicator panels are shown by the book but are outside this slide's scope. Keep the three price-bar families separate.</a:t>
            </a:r>
          </a:p>
        </p:txBody>
      </p:sp>
      <p:sp>
        <p:nvSpPr>
          <p:cNvPr id="8" name="Rectangle 7"/>
          <p:cNvSpPr/>
          <p:nvPr/>
        </p:nvSpPr>
        <p:spPr>
          <a:xfrm>
            <a:off x="6080759" y="1810512"/>
            <a:ext cx="5333694" cy="333990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310216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264496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2" name="Oval 11"/>
          <p:cNvSpPr/>
          <p:nvPr/>
        </p:nvSpPr>
        <p:spPr>
          <a:xfrm>
            <a:off x="7422660" y="2425729"/>
            <a:ext cx="356716" cy="403280"/>
          </a:xfrm>
          <a:prstGeom prst="ellipse">
            <a:avLst/>
          </a:prstGeom>
          <a:noFill/>
          <a:ln w="44450">
            <a:solidFill>
              <a:srgbClr val="E09B00"/>
            </a:solidFill>
          </a:ln>
        </p:spPr>
        <p:txBody>
          <a:bodyPr rtlCol="0" anchor="ctr"/>
          <a:lstStyle/>
          <a:p>
            <a:pPr algn="ctr"/>
          </a:p>
        </p:txBody>
      </p:sp>
      <p:sp>
        <p:nvSpPr>
          <p:cNvPr id="13" name="Oval 12"/>
          <p:cNvSpPr/>
          <p:nvPr/>
        </p:nvSpPr>
        <p:spPr>
          <a:xfrm>
            <a:off x="9766797" y="2704924"/>
            <a:ext cx="356716" cy="403280"/>
          </a:xfrm>
          <a:prstGeom prst="ellipse">
            <a:avLst/>
          </a:prstGeom>
          <a:noFill/>
          <a:ln w="44450">
            <a:solidFill>
              <a:srgbClr val="C62828"/>
            </a:solidFill>
          </a:ln>
        </p:spPr>
        <p:txBody>
          <a:bodyPr rtlCol="0" anchor="ctr"/>
          <a:lstStyle/>
          <a:p>
            <a:pPr algn="ctr"/>
          </a:p>
        </p:txBody>
      </p:sp>
      <p:sp>
        <p:nvSpPr>
          <p:cNvPr id="14" name="Oval 13"/>
          <p:cNvSpPr/>
          <p:nvPr/>
        </p:nvSpPr>
        <p:spPr>
          <a:xfrm>
            <a:off x="9053364" y="3542507"/>
            <a:ext cx="356716" cy="496345"/>
          </a:xfrm>
          <a:prstGeom prst="ellipse">
            <a:avLst/>
          </a:prstGeom>
          <a:noFill/>
          <a:ln w="44450">
            <a:solidFill>
              <a:srgbClr val="1F5FAD"/>
            </a:solidFill>
          </a:ln>
        </p:spPr>
        <p:txBody>
          <a:bodyPr rtlCol="0" anchor="ctr"/>
          <a:lstStyle/>
          <a:p>
            <a:pPr algn="ctr"/>
          </a:p>
        </p:txBody>
      </p:sp>
      <p:sp>
        <p:nvSpPr>
          <p:cNvPr id="15" name="Oval 14"/>
          <p:cNvSpPr/>
          <p:nvPr/>
        </p:nvSpPr>
        <p:spPr>
          <a:xfrm>
            <a:off x="7063374" y="217721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10273823" y="245641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58471" y="397646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5241856"/>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7.27. The crop and marks are for teaching; the worked PHP values are ours, invented.</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is not automatically a Harami</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29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Both names describe a smaller formation inside a larger one, but Lim keeps their rules separate. A Harami has the stricter body proportion.</a:t>
            </a:r>
          </a:p>
          <a:p>
            <a:pPr algn="l">
              <a:lnSpc>
                <a:spcPct val="118000"/>
              </a:lnSpc>
              <a:spcBef>
                <a:spcPts val="0"/>
              </a:spcBef>
              <a:spcAft>
                <a:spcPts val="1300"/>
              </a:spcAft>
            </a:pPr>
            <a:r>
              <a:rPr sz="2100" b="0" i="0">
                <a:solidFill>
                  <a:srgbClr val="1A1A1A"/>
                </a:solidFill>
                <a:latin typeface="Arial"/>
              </a:rPr>
              <a:t>For a preceding range of 6.0 points, one-fourth to one-third is 1.5 to 2.0 points. That is the Harami proportion given on page 226.</a:t>
            </a:r>
          </a:p>
          <a:p>
            <a:pPr algn="l">
              <a:lnSpc>
                <a:spcPct val="118000"/>
              </a:lnSpc>
              <a:spcBef>
                <a:spcPts val="0"/>
              </a:spcBef>
              <a:spcAft>
                <a:spcPts val="1300"/>
              </a:spcAft>
            </a:pPr>
            <a:r>
              <a:rPr sz="2100" b="0" i="0">
                <a:solidFill>
                  <a:srgbClr val="1A1A1A"/>
                </a:solidFill>
                <a:latin typeface="Arial"/>
              </a:rPr>
              <a:t>An inside bar has no one-fourth to one-third restriction. Check the proportion before using the name Harami.</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names are related, not interchangeable.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The 6.0-point example is ours, invented.</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reversal families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Is every inside bar a Harami?</a:t>
            </a:r>
          </a:p>
        </p:txBody>
      </p:sp>
      <p:sp>
        <p:nvSpPr>
          <p:cNvPr id="9" name="TextBox 8"/>
          <p:cNvSpPr txBox="1"/>
          <p:nvPr/>
        </p:nvSpPr>
        <p:spPr>
          <a:xfrm>
            <a:off x="1005840" y="1821053"/>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No; Harami has a stricter one-fourth to one-third proportion</a:t>
            </a:r>
          </a:p>
          <a:p>
            <a:pPr algn="l">
              <a:lnSpc>
                <a:spcPct val="105000"/>
              </a:lnSpc>
              <a:spcBef>
                <a:spcPts val="0"/>
              </a:spcBef>
              <a:spcAft>
                <a:spcPts val="200"/>
              </a:spcAft>
            </a:pPr>
            <a:r>
              <a:rPr sz="1700" b="0" i="0">
                <a:solidFill>
                  <a:srgbClr val="FFFFFF"/>
                </a:solidFill>
                <a:latin typeface="Arial"/>
              </a:rPr>
              <a:t>B.  Yes; the terms are identical</a:t>
            </a:r>
          </a:p>
          <a:p>
            <a:pPr algn="l">
              <a:lnSpc>
                <a:spcPct val="105000"/>
              </a:lnSpc>
              <a:spcBef>
                <a:spcPts val="0"/>
              </a:spcBef>
              <a:spcAft>
                <a:spcPts val="200"/>
              </a:spcAft>
            </a:pPr>
            <a:r>
              <a:rPr sz="1700" b="0" i="0">
                <a:solidFill>
                  <a:srgbClr val="FFFFFF"/>
                </a:solidFill>
                <a:latin typeface="Arial"/>
              </a:rPr>
              <a:t>C.  Only on high volume</a:t>
            </a:r>
          </a:p>
          <a:p>
            <a:pPr algn="l">
              <a:lnSpc>
                <a:spcPct val="105000"/>
              </a:lnSpc>
              <a:spcBef>
                <a:spcPts val="0"/>
              </a:spcBef>
              <a:spcAft>
                <a:spcPts val="200"/>
              </a:spcAft>
            </a:pPr>
            <a:r>
              <a:rPr sz="1700" b="0" i="0">
                <a:solidFill>
                  <a:srgbClr val="FFFFFF"/>
                </a:solidFill>
                <a:latin typeface="Arial"/>
              </a:rPr>
              <a:t>D.  Only below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proportion does the book give for a Harami body?</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One-half to two-thirds</a:t>
            </a:r>
          </a:p>
          <a:p>
            <a:pPr algn="l">
              <a:lnSpc>
                <a:spcPct val="105000"/>
              </a:lnSpc>
              <a:spcBef>
                <a:spcPts val="0"/>
              </a:spcBef>
              <a:spcAft>
                <a:spcPts val="200"/>
              </a:spcAft>
            </a:pPr>
            <a:r>
              <a:rPr sz="1700" b="0" i="0">
                <a:solidFill>
                  <a:srgbClr val="FFFFFF"/>
                </a:solidFill>
                <a:latin typeface="Arial"/>
              </a:rPr>
              <a:t>B.  One-fourth to one-third</a:t>
            </a:r>
          </a:p>
          <a:p>
            <a:pPr algn="l">
              <a:lnSpc>
                <a:spcPct val="105000"/>
              </a:lnSpc>
              <a:spcBef>
                <a:spcPts val="0"/>
              </a:spcBef>
              <a:spcAft>
                <a:spcPts val="200"/>
              </a:spcAft>
            </a:pPr>
            <a:r>
              <a:rPr sz="1700" b="0" i="0">
                <a:solidFill>
                  <a:srgbClr val="FFFFFF"/>
                </a:solidFill>
                <a:latin typeface="Arial"/>
              </a:rPr>
              <a:t>C.  One to two points</a:t>
            </a:r>
          </a:p>
          <a:p>
            <a:pPr algn="l">
              <a:lnSpc>
                <a:spcPct val="105000"/>
              </a:lnSpc>
              <a:spcBef>
                <a:spcPts val="0"/>
              </a:spcBef>
              <a:spcAft>
                <a:spcPts val="200"/>
              </a:spcAft>
            </a:pPr>
            <a:r>
              <a:rPr sz="1700" b="0" i="0">
                <a:solidFill>
                  <a:srgbClr val="FFFFFF"/>
                </a:solidFill>
                <a:latin typeface="Arial"/>
              </a:rPr>
              <a:t>D.  No proportion</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Oval 17"/>
          <p:cNvSpPr/>
          <p:nvPr/>
        </p:nvSpPr>
        <p:spPr>
          <a:xfrm>
            <a:off x="7457407" y="1817772"/>
            <a:ext cx="353516" cy="399662"/>
          </a:xfrm>
          <a:prstGeom prst="ellipse">
            <a:avLst/>
          </a:prstGeom>
          <a:noFill/>
          <a:ln w="44450">
            <a:solidFill>
              <a:srgbClr val="E09B00"/>
            </a:solidFill>
          </a:ln>
        </p:spPr>
        <p:txBody>
          <a:bodyPr rtlCol="0" anchor="ctr"/>
          <a:lstStyle/>
          <a:p>
            <a:pPr algn="ctr"/>
          </a:p>
        </p:txBody>
      </p:sp>
      <p:sp>
        <p:nvSpPr>
          <p:cNvPr id="19" name="Oval 18"/>
          <p:cNvSpPr/>
          <p:nvPr/>
        </p:nvSpPr>
        <p:spPr>
          <a:xfrm>
            <a:off x="9780513" y="2094462"/>
            <a:ext cx="353516" cy="399662"/>
          </a:xfrm>
          <a:prstGeom prst="ellipse">
            <a:avLst/>
          </a:prstGeom>
          <a:noFill/>
          <a:ln w="44450">
            <a:solidFill>
              <a:srgbClr val="C62828"/>
            </a:solidFill>
          </a:ln>
        </p:spPr>
        <p:txBody>
          <a:bodyPr rtlCol="0" anchor="ctr"/>
          <a:lstStyle/>
          <a:p>
            <a:pPr algn="ctr"/>
          </a:p>
        </p:txBody>
      </p:sp>
      <p:sp>
        <p:nvSpPr>
          <p:cNvPr id="20" name="Oval 19"/>
          <p:cNvSpPr/>
          <p:nvPr/>
        </p:nvSpPr>
        <p:spPr>
          <a:xfrm>
            <a:off x="9073481" y="2924530"/>
            <a:ext cx="353516" cy="491892"/>
          </a:xfrm>
          <a:prstGeom prst="ellipse">
            <a:avLst/>
          </a:prstGeom>
          <a:noFill/>
          <a:ln w="44450">
            <a:solidFill>
              <a:srgbClr val="1F5FAD"/>
            </a:solidFill>
          </a:ln>
        </p:spPr>
        <p:txBody>
          <a:bodyPr rtlCol="0" anchor="ctr"/>
          <a:lstStyle/>
          <a:p>
            <a:pPr algn="ctr"/>
          </a:p>
        </p:txBody>
      </p:sp>
      <p:sp>
        <p:nvSpPr>
          <p:cNvPr id="21" name="Oval 20"/>
          <p:cNvSpPr/>
          <p:nvPr/>
        </p:nvSpPr>
        <p:spPr>
          <a:xfrm>
            <a:off x="7099950" y="157009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81595" y="184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73558" y="335320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22</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reversal families</a:t>
            </a:r>
          </a:p>
        </p:txBody>
      </p:sp>
      <p:sp>
        <p:nvSpPr>
          <p:cNvPr id="6" name="Rectangle 5"/>
          <p:cNvSpPr/>
          <p:nvPr/>
        </p:nvSpPr>
        <p:spPr>
          <a:xfrm>
            <a:off x="777240" y="1207008"/>
            <a:ext cx="5029200" cy="251333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1333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Is every inside bar a Harami?</a:t>
            </a:r>
          </a:p>
        </p:txBody>
      </p:sp>
      <p:sp>
        <p:nvSpPr>
          <p:cNvPr id="9" name="TextBox 8"/>
          <p:cNvSpPr txBox="1"/>
          <p:nvPr/>
        </p:nvSpPr>
        <p:spPr>
          <a:xfrm>
            <a:off x="1097280" y="1821053"/>
            <a:ext cx="4480560" cy="189928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No; Harami has a stricter one-fourth to one-third proportion</a:t>
            </a:r>
          </a:p>
          <a:p>
            <a:pPr algn="l">
              <a:lnSpc>
                <a:spcPct val="115000"/>
              </a:lnSpc>
              <a:spcBef>
                <a:spcPts val="500"/>
              </a:spcBef>
              <a:spcAft>
                <a:spcPts val="0"/>
              </a:spcAft>
            </a:pPr>
            <a:r>
              <a:rPr sz="1700" b="0" i="0">
                <a:solidFill>
                  <a:srgbClr val="1A1A1A"/>
                </a:solidFill>
                <a:latin typeface="Arial"/>
              </a:rPr>
              <a:t>Lim keeps inside bar and Harami rules separate; Harami has the stricter proportion (p. 226).</a:t>
            </a:r>
          </a:p>
        </p:txBody>
      </p:sp>
      <p:sp>
        <p:nvSpPr>
          <p:cNvPr id="10" name="Rectangle 9"/>
          <p:cNvSpPr/>
          <p:nvPr/>
        </p:nvSpPr>
        <p:spPr>
          <a:xfrm>
            <a:off x="777240" y="3903218"/>
            <a:ext cx="502920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03218"/>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8609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proportion does the book give for a Harami body?</a:t>
            </a:r>
          </a:p>
        </p:txBody>
      </p:sp>
      <p:sp>
        <p:nvSpPr>
          <p:cNvPr id="13" name="TextBox 12"/>
          <p:cNvSpPr txBox="1"/>
          <p:nvPr/>
        </p:nvSpPr>
        <p:spPr>
          <a:xfrm>
            <a:off x="1097280" y="476554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One-fourth to one-third</a:t>
            </a:r>
          </a:p>
          <a:p>
            <a:pPr algn="l">
              <a:lnSpc>
                <a:spcPct val="115000"/>
              </a:lnSpc>
              <a:spcBef>
                <a:spcPts val="500"/>
              </a:spcBef>
              <a:spcAft>
                <a:spcPts val="0"/>
              </a:spcAft>
            </a:pPr>
            <a:r>
              <a:rPr sz="1700" b="0" i="0">
                <a:solidFill>
                  <a:srgbClr val="1A1A1A"/>
                </a:solidFill>
                <a:latin typeface="Arial"/>
              </a:rPr>
              <a:t>The book gives one-fourth to one-third of the preceding candlestick range (p. 226).</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Oval 17"/>
          <p:cNvSpPr/>
          <p:nvPr/>
        </p:nvSpPr>
        <p:spPr>
          <a:xfrm>
            <a:off x="7457407" y="1817772"/>
            <a:ext cx="353516" cy="399662"/>
          </a:xfrm>
          <a:prstGeom prst="ellipse">
            <a:avLst/>
          </a:prstGeom>
          <a:noFill/>
          <a:ln w="44450">
            <a:solidFill>
              <a:srgbClr val="E09B00"/>
            </a:solidFill>
          </a:ln>
        </p:spPr>
        <p:txBody>
          <a:bodyPr rtlCol="0" anchor="ctr"/>
          <a:lstStyle/>
          <a:p>
            <a:pPr algn="ctr"/>
          </a:p>
        </p:txBody>
      </p:sp>
      <p:sp>
        <p:nvSpPr>
          <p:cNvPr id="19" name="Oval 18"/>
          <p:cNvSpPr/>
          <p:nvPr/>
        </p:nvSpPr>
        <p:spPr>
          <a:xfrm>
            <a:off x="9780513" y="2094462"/>
            <a:ext cx="353516" cy="399662"/>
          </a:xfrm>
          <a:prstGeom prst="ellipse">
            <a:avLst/>
          </a:prstGeom>
          <a:noFill/>
          <a:ln w="44450">
            <a:solidFill>
              <a:srgbClr val="C62828"/>
            </a:solidFill>
          </a:ln>
        </p:spPr>
        <p:txBody>
          <a:bodyPr rtlCol="0" anchor="ctr"/>
          <a:lstStyle/>
          <a:p>
            <a:pPr algn="ctr"/>
          </a:p>
        </p:txBody>
      </p:sp>
      <p:sp>
        <p:nvSpPr>
          <p:cNvPr id="20" name="Oval 19"/>
          <p:cNvSpPr/>
          <p:nvPr/>
        </p:nvSpPr>
        <p:spPr>
          <a:xfrm>
            <a:off x="9073481" y="2924530"/>
            <a:ext cx="353516" cy="491892"/>
          </a:xfrm>
          <a:prstGeom prst="ellipse">
            <a:avLst/>
          </a:prstGeom>
          <a:noFill/>
          <a:ln w="44450">
            <a:solidFill>
              <a:srgbClr val="1F5FAD"/>
            </a:solidFill>
          </a:ln>
        </p:spPr>
        <p:txBody>
          <a:bodyPr rtlCol="0" anchor="ctr"/>
          <a:lstStyle/>
          <a:p>
            <a:pPr algn="ctr"/>
          </a:p>
        </p:txBody>
      </p:sp>
      <p:sp>
        <p:nvSpPr>
          <p:cNvPr id="21" name="Oval 20"/>
          <p:cNvSpPr/>
          <p:nvPr/>
        </p:nvSpPr>
        <p:spPr>
          <a:xfrm>
            <a:off x="7099950" y="157009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81595" y="184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73558" y="335320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22</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exhaustion bar shows a trend running out of force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30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move from containment to exhaustion. In an uptrend, an exhaustion bar opens above the previous high, is large in context, and closes near its low.</a:t>
            </a:r>
          </a:p>
          <a:p>
            <a:pPr algn="l">
              <a:lnSpc>
                <a:spcPct val="118000"/>
              </a:lnSpc>
              <a:spcBef>
                <a:spcPts val="0"/>
              </a:spcBef>
              <a:spcAft>
                <a:spcPts val="1300"/>
              </a:spcAft>
            </a:pPr>
            <a:r>
              <a:rPr sz="2100" b="0" i="0">
                <a:solidFill>
                  <a:srgbClr val="1A1A1A"/>
                </a:solidFill>
                <a:latin typeface="Arial"/>
              </a:rPr>
              <a:t>The next bar does not gap away from it. Lim uses those observations together to describe a reversal warning (p. 226).</a:t>
            </a:r>
          </a:p>
          <a:p>
            <a:pPr algn="l">
              <a:lnSpc>
                <a:spcPct val="118000"/>
              </a:lnSpc>
              <a:spcBef>
                <a:spcPts val="0"/>
              </a:spcBef>
              <a:spcAft>
                <a:spcPts val="1300"/>
              </a:spcAft>
            </a:pPr>
            <a:r>
              <a:rPr sz="2100" b="0" i="0">
                <a:solidFill>
                  <a:srgbClr val="1A1A1A"/>
                </a:solidFill>
                <a:latin typeface="Arial"/>
              </a:rPr>
              <a:t>The bullish converse appears at the bottom of a downtrend. It is a warning, not certainty.</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trend, size, close, and the next-bar gap together.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The transition wording is ours.</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the exhaustion rule,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Mark </a:t>
            </a:r>
            <a:r>
              <a:rPr sz="1700" b="1" i="0">
                <a:solidFill>
                  <a:srgbClr val="E09B00"/>
                </a:solidFill>
                <a:latin typeface="Arial"/>
              </a:rPr>
              <a:t>(1)</a:t>
            </a:r>
            <a:r>
              <a:rPr sz="1700" b="0" i="0">
                <a:solidFill>
                  <a:srgbClr val="1A1A1A"/>
                </a:solidFill>
                <a:latin typeface="Arial"/>
              </a:rPr>
              <a:t> shows the prior high at PHP 65.00. Mark </a:t>
            </a:r>
            <a:r>
              <a:rPr sz="1700" b="1" i="0">
                <a:solidFill>
                  <a:srgbClr val="C62828"/>
                </a:solidFill>
                <a:latin typeface="Arial"/>
              </a:rPr>
              <a:t>(2)</a:t>
            </a:r>
            <a:r>
              <a:rPr sz="1700" b="0" i="0">
                <a:solidFill>
                  <a:srgbClr val="1A1A1A"/>
                </a:solidFill>
                <a:latin typeface="Arial"/>
              </a:rPr>
              <a:t> encloses the exhaustion bar: it opens at PHP 65.40, reaches PHP 66.20, falls to PHP 60.00, and closes at PHP 60.50. Mark </a:t>
            </a:r>
            <a:r>
              <a:rPr sz="1700" b="1" i="0">
                <a:solidFill>
                  <a:srgbClr val="1F5FAD"/>
                </a:solidFill>
                <a:latin typeface="Arial"/>
              </a:rPr>
              <a:t>(3)</a:t>
            </a:r>
            <a:r>
              <a:rPr sz="1700" b="0" i="0">
                <a:solidFill>
                  <a:srgbClr val="1A1A1A"/>
                </a:solidFill>
                <a:latin typeface="Arial"/>
              </a:rPr>
              <a:t> shows the next open at PHP 60.20 inside the range, so there is no gap. This is Lim's exhaustion rule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3836593"/>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4144060" y="355427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426750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099858" y="375246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231843" y="347014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401147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31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LC: invented PHP bars and million-share volume.</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7.28 shows the bullish converse at a downtrend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32 of 62</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book's bullish exhaustion case is in a downtrend. Gold </a:t>
            </a:r>
            <a:r>
              <a:rPr sz="1800" b="1" i="0">
                <a:solidFill>
                  <a:srgbClr val="E09B00"/>
                </a:solidFill>
                <a:latin typeface="Arial"/>
              </a:rPr>
              <a:t>(1)</a:t>
            </a:r>
            <a:r>
              <a:rPr sz="1800" b="0" i="0">
                <a:solidFill>
                  <a:srgbClr val="1A1A1A"/>
                </a:solidFill>
                <a:latin typeface="Arial"/>
              </a:rPr>
              <a:t> marks the gap before the bar, red </a:t>
            </a:r>
            <a:r>
              <a:rPr sz="1800" b="1" i="0">
                <a:solidFill>
                  <a:srgbClr val="C62828"/>
                </a:solidFill>
                <a:latin typeface="Arial"/>
              </a:rPr>
              <a:t>(2)</a:t>
            </a:r>
            <a:r>
              <a:rPr sz="1800" b="0" i="0">
                <a:solidFill>
                  <a:srgbClr val="1A1A1A"/>
                </a:solidFill>
                <a:latin typeface="Arial"/>
              </a:rPr>
              <a:t> the exhaustion bar, and blue </a:t>
            </a:r>
            <a:r>
              <a:rPr sz="1800" b="1" i="0">
                <a:solidFill>
                  <a:srgbClr val="1F5FAD"/>
                </a:solidFill>
                <a:latin typeface="Arial"/>
              </a:rPr>
              <a:t>(3)</a:t>
            </a:r>
            <a:r>
              <a:rPr sz="1800" b="0" i="0">
                <a:solidFill>
                  <a:srgbClr val="1A1A1A"/>
                </a:solidFill>
                <a:latin typeface="Arial"/>
              </a:rPr>
              <a:t> the later rebound.</a:t>
            </a:r>
          </a:p>
          <a:p>
            <a:pPr algn="l">
              <a:lnSpc>
                <a:spcPct val="105000"/>
              </a:lnSpc>
              <a:spcBef>
                <a:spcPts val="0"/>
              </a:spcBef>
              <a:spcAft>
                <a:spcPts val="1100"/>
              </a:spcAft>
            </a:pPr>
            <a:r>
              <a:rPr sz="1800" b="0" i="0">
                <a:solidFill>
                  <a:srgbClr val="1A1A1A"/>
                </a:solidFill>
                <a:latin typeface="Arial"/>
              </a:rPr>
              <a:t>The bar closes near its high, which is the bullish converse of the uptrend example. The larger bar still matters in trend context.</a:t>
            </a:r>
          </a:p>
          <a:p>
            <a:pPr algn="l">
              <a:lnSpc>
                <a:spcPct val="105000"/>
              </a:lnSpc>
              <a:spcBef>
                <a:spcPts val="0"/>
              </a:spcBef>
              <a:spcAft>
                <a:spcPts val="1100"/>
              </a:spcAft>
            </a:pPr>
            <a:r>
              <a:rPr sz="1800" b="0" i="0">
                <a:solidFill>
                  <a:srgbClr val="1A1A1A"/>
                </a:solidFill>
                <a:latin typeface="Arial"/>
              </a:rPr>
              <a:t>The prior gap is visible, but Lim's rule concerns the absence of a gap after the exhaustion bar (p. 226).</a:t>
            </a:r>
          </a:p>
        </p:txBody>
      </p:sp>
      <p:sp>
        <p:nvSpPr>
          <p:cNvPr id="8" name="Rectangle 7"/>
          <p:cNvSpPr/>
          <p:nvPr/>
        </p:nvSpPr>
        <p:spPr>
          <a:xfrm>
            <a:off x="6080759" y="1810512"/>
            <a:ext cx="5333694" cy="2505842"/>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2268098"/>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181089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2" name="Oval 11"/>
          <p:cNvSpPr/>
          <p:nvPr/>
        </p:nvSpPr>
        <p:spPr>
          <a:xfrm>
            <a:off x="8747607" y="3108794"/>
            <a:ext cx="305757" cy="204128"/>
          </a:xfrm>
          <a:prstGeom prst="ellipse">
            <a:avLst/>
          </a:prstGeom>
          <a:noFill/>
          <a:ln w="44450">
            <a:solidFill>
              <a:srgbClr val="E09B00"/>
            </a:solidFill>
          </a:ln>
        </p:spPr>
        <p:txBody>
          <a:bodyPr rtlCol="0" anchor="ctr"/>
          <a:lstStyle/>
          <a:p>
            <a:pPr algn="ctr"/>
          </a:p>
        </p:txBody>
      </p:sp>
      <p:sp>
        <p:nvSpPr>
          <p:cNvPr id="13" name="Rectangle 12"/>
          <p:cNvSpPr/>
          <p:nvPr/>
        </p:nvSpPr>
        <p:spPr>
          <a:xfrm>
            <a:off x="8900486" y="3176837"/>
            <a:ext cx="305757" cy="362895"/>
          </a:xfrm>
          <a:prstGeom prst="rect">
            <a:avLst/>
          </a:prstGeom>
          <a:noFill/>
          <a:ln w="44450">
            <a:solidFill>
              <a:srgbClr val="C62828"/>
            </a:solidFill>
          </a:ln>
        </p:spPr>
        <p:txBody>
          <a:bodyPr rtlCol="0" anchor="ctr"/>
          <a:lstStyle/>
          <a:p>
            <a:pPr algn="ctr"/>
          </a:p>
        </p:txBody>
      </p:sp>
      <p:cxnSp>
        <p:nvCxnSpPr>
          <p:cNvPr id="14" name="Connector 13"/>
          <p:cNvCxnSpPr/>
          <p:nvPr/>
        </p:nvCxnSpPr>
        <p:spPr>
          <a:xfrm flipV="1">
            <a:off x="9308162" y="2836623"/>
            <a:ext cx="866311" cy="952601"/>
          </a:xfrm>
          <a:prstGeom prst="line">
            <a:avLst/>
          </a:prstGeom>
          <a:ln w="44450">
            <a:solidFill>
              <a:srgbClr val="1F5FAD"/>
            </a:solidFill>
            <a:tailEnd type="triangle" w="med" len="med"/>
          </a:ln>
        </p:spPr>
      </p:cxnSp>
      <p:sp>
        <p:nvSpPr>
          <p:cNvPr id="15" name="Oval 14"/>
          <p:cNvSpPr/>
          <p:nvPr/>
        </p:nvSpPr>
        <p:spPr>
          <a:xfrm>
            <a:off x="8388321" y="290798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305592" y="295334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22863" y="259045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4407794"/>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7.28. The crop and marks are for teaching; the worked PHP values are ours, invented.</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exhaustion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next bar help distinguish in an exhaustion reading?</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Whether the next bar gaps away</a:t>
            </a:r>
          </a:p>
          <a:p>
            <a:pPr algn="l">
              <a:lnSpc>
                <a:spcPct val="105000"/>
              </a:lnSpc>
              <a:spcBef>
                <a:spcPts val="0"/>
              </a:spcBef>
              <a:spcAft>
                <a:spcPts val="200"/>
              </a:spcAft>
            </a:pPr>
            <a:r>
              <a:rPr sz="1700" b="0" i="0">
                <a:solidFill>
                  <a:srgbClr val="FFFFFF"/>
                </a:solidFill>
                <a:latin typeface="Arial"/>
              </a:rPr>
              <a:t>B.  Whether volume is absent</a:t>
            </a:r>
          </a:p>
          <a:p>
            <a:pPr algn="l">
              <a:lnSpc>
                <a:spcPct val="105000"/>
              </a:lnSpc>
              <a:spcBef>
                <a:spcPts val="0"/>
              </a:spcBef>
              <a:spcAft>
                <a:spcPts val="200"/>
              </a:spcAft>
            </a:pPr>
            <a:r>
              <a:rPr sz="1700" b="0" i="0">
                <a:solidFill>
                  <a:srgbClr val="FFFFFF"/>
                </a:solidFill>
                <a:latin typeface="Arial"/>
              </a:rPr>
              <a:t>C.  Whether resistance is horizontal</a:t>
            </a:r>
          </a:p>
          <a:p>
            <a:pPr algn="l">
              <a:lnSpc>
                <a:spcPct val="105000"/>
              </a:lnSpc>
              <a:spcBef>
                <a:spcPts val="0"/>
              </a:spcBef>
              <a:spcAft>
                <a:spcPts val="200"/>
              </a:spcAft>
            </a:pPr>
            <a:r>
              <a:rPr sz="1700" b="0" i="0">
                <a:solidFill>
                  <a:srgbClr val="FFFFFF"/>
                </a:solidFill>
                <a:latin typeface="Arial"/>
              </a:rPr>
              <a:t>D.  Whether the bar is an inside bar</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is the bullish exhaustion converse more reliable?</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the top of a downtrend</a:t>
            </a:r>
          </a:p>
          <a:p>
            <a:pPr algn="l">
              <a:lnSpc>
                <a:spcPct val="105000"/>
              </a:lnSpc>
              <a:spcBef>
                <a:spcPts val="0"/>
              </a:spcBef>
              <a:spcAft>
                <a:spcPts val="200"/>
              </a:spcAft>
            </a:pPr>
            <a:r>
              <a:rPr sz="1700" b="0" i="0">
                <a:solidFill>
                  <a:srgbClr val="FFFFFF"/>
                </a:solidFill>
                <a:latin typeface="Arial"/>
              </a:rPr>
              <a:t>B.  Only in a flat market</a:t>
            </a:r>
          </a:p>
          <a:p>
            <a:pPr algn="l">
              <a:lnSpc>
                <a:spcPct val="105000"/>
              </a:lnSpc>
              <a:spcBef>
                <a:spcPts val="0"/>
              </a:spcBef>
              <a:spcAft>
                <a:spcPts val="200"/>
              </a:spcAft>
            </a:pPr>
            <a:r>
              <a:rPr sz="1700" b="0" i="0">
                <a:solidFill>
                  <a:srgbClr val="FFFFFF"/>
                </a:solidFill>
                <a:latin typeface="Arial"/>
              </a:rPr>
              <a:t>C.  Only above resistance</a:t>
            </a:r>
          </a:p>
          <a:p>
            <a:pPr algn="l">
              <a:lnSpc>
                <a:spcPct val="105000"/>
              </a:lnSpc>
              <a:spcBef>
                <a:spcPts val="0"/>
              </a:spcBef>
              <a:spcAft>
                <a:spcPts val="200"/>
              </a:spcAft>
            </a:pPr>
            <a:r>
              <a:rPr sz="1700" b="0" i="0">
                <a:solidFill>
                  <a:srgbClr val="FFFFFF"/>
                </a:solidFill>
                <a:latin typeface="Arial"/>
              </a:rPr>
              <a:t>D.  At the bottom of a downtrend</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21974" y="2562141"/>
            <a:ext cx="303013" cy="359639"/>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325992" y="2224979"/>
            <a:ext cx="858540" cy="944055"/>
          </a:xfrm>
          <a:prstGeom prst="line">
            <a:avLst/>
          </a:prstGeom>
          <a:ln w="44450">
            <a:solidFill>
              <a:srgbClr val="1F5FAD"/>
            </a:solidFill>
            <a:tailEnd type="triangle" w="med" len="med"/>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3926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19796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23</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exhaustion figure</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the next bar help distinguish in an exhaustion reading?</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Whether the next bar gaps away</a:t>
            </a:r>
          </a:p>
          <a:p>
            <a:pPr algn="l">
              <a:lnSpc>
                <a:spcPct val="115000"/>
              </a:lnSpc>
              <a:spcBef>
                <a:spcPts val="500"/>
              </a:spcBef>
              <a:spcAft>
                <a:spcPts val="0"/>
              </a:spcAft>
            </a:pPr>
            <a:r>
              <a:rPr sz="1700" b="0" i="0">
                <a:solidFill>
                  <a:srgbClr val="1A1A1A"/>
                </a:solidFill>
                <a:latin typeface="Arial"/>
              </a:rPr>
              <a:t>Lim requires no gap between the exhaustion bar and the subsequent bar (p. 226).</a:t>
            </a:r>
          </a:p>
        </p:txBody>
      </p:sp>
      <p:sp>
        <p:nvSpPr>
          <p:cNvPr id="10" name="Rectangle 9"/>
          <p:cNvSpPr/>
          <p:nvPr/>
        </p:nvSpPr>
        <p:spPr>
          <a:xfrm>
            <a:off x="777240" y="3888613"/>
            <a:ext cx="502920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is the bullish exhaustion converse more reliable?</a:t>
            </a:r>
          </a:p>
        </p:txBody>
      </p:sp>
      <p:sp>
        <p:nvSpPr>
          <p:cNvPr id="13" name="TextBox 12"/>
          <p:cNvSpPr txBox="1"/>
          <p:nvPr/>
        </p:nvSpPr>
        <p:spPr>
          <a:xfrm>
            <a:off x="1097280" y="4750943"/>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the bottom of a downtrend</a:t>
            </a:r>
          </a:p>
          <a:p>
            <a:pPr algn="l">
              <a:lnSpc>
                <a:spcPct val="115000"/>
              </a:lnSpc>
              <a:spcBef>
                <a:spcPts val="500"/>
              </a:spcBef>
              <a:spcAft>
                <a:spcPts val="0"/>
              </a:spcAft>
            </a:pPr>
            <a:r>
              <a:rPr sz="1700" b="0" i="0">
                <a:solidFill>
                  <a:srgbClr val="1A1A1A"/>
                </a:solidFill>
                <a:latin typeface="Arial"/>
              </a:rPr>
              <a:t>The bullish converse appears in a downtrend at a bottom (p. 226).</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21974" y="2562141"/>
            <a:ext cx="303013" cy="359639"/>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325992" y="2224979"/>
            <a:ext cx="858540" cy="944055"/>
          </a:xfrm>
          <a:prstGeom prst="line">
            <a:avLst/>
          </a:prstGeom>
          <a:ln w="44450">
            <a:solidFill>
              <a:srgbClr val="1F5FAD"/>
            </a:solidFill>
            <a:tailEnd type="triangle" w="med" len="med"/>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3926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19796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23</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emotion spike is read through range and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33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Exhaustion uses trend, bar shape, and the next-bar gap. The next idea, an emotion spike, is recognised by an unusually wide range and unusually high volume.</a:t>
            </a:r>
          </a:p>
          <a:p>
            <a:pPr algn="l">
              <a:lnSpc>
                <a:spcPct val="118000"/>
              </a:lnSpc>
              <a:spcBef>
                <a:spcPts val="0"/>
              </a:spcBef>
              <a:spcAft>
                <a:spcPts val="1300"/>
              </a:spcAft>
            </a:pPr>
            <a:r>
              <a:rPr sz="2100" b="0" i="0">
                <a:solidFill>
                  <a:srgbClr val="1A1A1A"/>
                </a:solidFill>
                <a:latin typeface="Arial"/>
              </a:rPr>
              <a:t>Lim says the spike belongs to an emotional market and can appear with a reversal pattern. The invented chart shows the comparison, not a prediction (p. 227).</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and volume together tell us why the bar is called a spike.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emotion spike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middle bar is the spike: </a:t>
            </a:r>
            <a:r>
              <a:rPr sz="1700" b="1" i="0">
                <a:solidFill>
                  <a:srgbClr val="E09B00"/>
                </a:solidFill>
                <a:latin typeface="Arial"/>
              </a:rPr>
              <a:t>(1)</a:t>
            </a:r>
            <a:r>
              <a:rPr sz="1700" b="0" i="0">
                <a:solidFill>
                  <a:srgbClr val="1A1A1A"/>
                </a:solidFill>
                <a:latin typeface="Arial"/>
              </a:rPr>
              <a:t> marks its 8.0-point range, versus 3.0 on ordinary bars. </a:t>
            </a:r>
            <a:r>
              <a:rPr sz="1700" b="1" i="0">
                <a:solidFill>
                  <a:srgbClr val="C62828"/>
                </a:solidFill>
                <a:latin typeface="Arial"/>
              </a:rPr>
              <a:t>(2)</a:t>
            </a:r>
            <a:r>
              <a:rPr sz="1700" b="0" i="0">
                <a:solidFill>
                  <a:srgbClr val="1A1A1A"/>
                </a:solidFill>
                <a:latin typeface="Arial"/>
              </a:rPr>
              <a:t> marks its 6.0 million shares, versus 1.5 million.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d-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72673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522305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967874" y="36426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9967874" y="513892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LD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34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LD: invented PHP bars and million-share volume.</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emotion spike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F5FAD"/>
                </a:solidFill>
                <a:latin typeface="Arial"/>
              </a:rPr>
              <a:t>(3)</a:t>
            </a:r>
            <a:r>
              <a:rPr sz="1700" b="0" i="0">
                <a:solidFill>
                  <a:srgbClr val="1A1A1A"/>
                </a:solidFill>
                <a:latin typeface="Arial"/>
              </a:rPr>
              <a:t> marks the reversal context. This wide range and high volume fit Lim's emotion-spike description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d-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3989812"/>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6414058" y="39056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LD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35 of 62</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LD: invented PHP bars and million-share volume.</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7.29 shows the wide bar and the volume behind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36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an emotional market, a price spike is usually wide-ranging and accompanied by high volume (p. 227).</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wide spike, red </a:t>
            </a:r>
            <a:r>
              <a:rPr sz="2000" b="1" i="0">
                <a:solidFill>
                  <a:srgbClr val="C62828"/>
                </a:solidFill>
                <a:latin typeface="Arial"/>
              </a:rPr>
              <a:t>(2)</a:t>
            </a:r>
            <a:r>
              <a:rPr sz="2000" b="0" i="0">
                <a:solidFill>
                  <a:srgbClr val="1A1A1A"/>
                </a:solidFill>
                <a:latin typeface="Arial"/>
              </a:rPr>
              <a:t> its high volume, and blue </a:t>
            </a:r>
            <a:r>
              <a:rPr sz="2000" b="1" i="0">
                <a:solidFill>
                  <a:srgbClr val="1F5FAD"/>
                </a:solidFill>
                <a:latin typeface="Arial"/>
              </a:rPr>
              <a:t>(3)</a:t>
            </a:r>
            <a:r>
              <a:rPr sz="2000" b="0" i="0">
                <a:solidFill>
                  <a:srgbClr val="1A1A1A"/>
                </a:solidFill>
                <a:latin typeface="Arial"/>
              </a:rPr>
              <a:t> the three-bar bearish reversal at the top.</a:t>
            </a:r>
          </a:p>
          <a:p>
            <a:pPr algn="l">
              <a:lnSpc>
                <a:spcPct val="105000"/>
              </a:lnSpc>
              <a:spcBef>
                <a:spcPts val="0"/>
              </a:spcBef>
              <a:spcAft>
                <a:spcPts val="1100"/>
              </a:spcAft>
            </a:pPr>
            <a:r>
              <a:rPr sz="2000" b="0" i="0">
                <a:solidFill>
                  <a:srgbClr val="1A1A1A"/>
                </a:solidFill>
                <a:latin typeface="Arial"/>
              </a:rPr>
              <a:t>The wide range and high volume explain the name. The reversal context is a warning, not a prediction.</a:t>
            </a:r>
          </a:p>
        </p:txBody>
      </p:sp>
      <p:sp>
        <p:nvSpPr>
          <p:cNvPr id="8" name="Rectangle 7"/>
          <p:cNvSpPr/>
          <p:nvPr/>
        </p:nvSpPr>
        <p:spPr>
          <a:xfrm>
            <a:off x="6172199" y="1810512"/>
            <a:ext cx="5242255" cy="329327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305553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5983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7.29</a:t>
            </a:r>
          </a:p>
          <a:p>
            <a:pPr algn="l">
              <a:lnSpc>
                <a:spcPct val="115000"/>
              </a:lnSpc>
              <a:spcBef>
                <a:spcPts val="0"/>
              </a:spcBef>
              <a:spcAft>
                <a:spcPts val="0"/>
              </a:spcAft>
            </a:pPr>
            <a:r>
              <a:rPr sz="1500" b="0" i="0">
                <a:solidFill>
                  <a:srgbClr val="1A1A1A"/>
                </a:solidFill>
                <a:latin typeface="Palatino"/>
              </a:rPr>
              <a:t>Mad Catz Interactive daily chart. A wide price spike occurs on high volume and a three-bar bearish reversal forms near the top.</a:t>
            </a:r>
          </a:p>
        </p:txBody>
      </p:sp>
      <p:sp>
        <p:nvSpPr>
          <p:cNvPr id="12" name="Oval 11"/>
          <p:cNvSpPr/>
          <p:nvPr/>
        </p:nvSpPr>
        <p:spPr>
          <a:xfrm>
            <a:off x="8292876" y="2540491"/>
            <a:ext cx="350315" cy="1008326"/>
          </a:xfrm>
          <a:prstGeom prst="ellipse">
            <a:avLst/>
          </a:prstGeom>
          <a:noFill/>
          <a:ln w="44450">
            <a:solidFill>
              <a:srgbClr val="E09B00"/>
            </a:solidFill>
          </a:ln>
        </p:spPr>
        <p:txBody>
          <a:bodyPr rtlCol="0" anchor="ctr"/>
          <a:lstStyle/>
          <a:p>
            <a:pPr algn="ctr"/>
          </a:p>
        </p:txBody>
      </p:sp>
      <p:sp>
        <p:nvSpPr>
          <p:cNvPr id="13" name="Oval 12"/>
          <p:cNvSpPr/>
          <p:nvPr/>
        </p:nvSpPr>
        <p:spPr>
          <a:xfrm>
            <a:off x="8392966" y="4373812"/>
            <a:ext cx="300270" cy="458330"/>
          </a:xfrm>
          <a:prstGeom prst="ellipse">
            <a:avLst/>
          </a:prstGeom>
          <a:noFill/>
          <a:ln w="44450">
            <a:solidFill>
              <a:srgbClr val="C62828"/>
            </a:solidFill>
          </a:ln>
        </p:spPr>
        <p:txBody>
          <a:bodyPr rtlCol="0" anchor="ctr"/>
          <a:lstStyle/>
          <a:p>
            <a:pPr algn="ctr"/>
          </a:p>
        </p:txBody>
      </p:sp>
      <p:sp>
        <p:nvSpPr>
          <p:cNvPr id="14" name="Oval 13"/>
          <p:cNvSpPr/>
          <p:nvPr/>
        </p:nvSpPr>
        <p:spPr>
          <a:xfrm>
            <a:off x="9994410" y="2112716"/>
            <a:ext cx="400360" cy="427775"/>
          </a:xfrm>
          <a:prstGeom prst="ellipse">
            <a:avLst/>
          </a:prstGeom>
          <a:noFill/>
          <a:ln w="44450">
            <a:solidFill>
              <a:srgbClr val="1F5FAD"/>
            </a:solidFill>
          </a:ln>
        </p:spPr>
        <p:txBody>
          <a:bodyPr rtlCol="0" anchor="ctr"/>
          <a:lstStyle/>
          <a:p>
            <a:pPr algn="ctr"/>
          </a:p>
        </p:txBody>
      </p:sp>
      <p:sp>
        <p:nvSpPr>
          <p:cNvPr id="15" name="Oval 14"/>
          <p:cNvSpPr/>
          <p:nvPr/>
        </p:nvSpPr>
        <p:spPr>
          <a:xfrm>
            <a:off x="7937247" y="229337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88014" y="470725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489548" y="220171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72199" y="5195231"/>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7.29. The crop and marks are for teaching; the worked PHP values are ours, invented.</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pin bar makes a barrier break look more convincing than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37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add a barrier test. Lim calls a pin bar a single-bar misrepresentation of strength or weakness: price penetrates a moving average, support, resistance, or trendline, then rapidly retraces (p. 227).</a:t>
            </a:r>
          </a:p>
          <a:p>
            <a:pPr algn="l">
              <a:lnSpc>
                <a:spcPct val="118000"/>
              </a:lnSpc>
              <a:spcBef>
                <a:spcPts val="0"/>
              </a:spcBef>
              <a:spcAft>
                <a:spcPts val="1300"/>
              </a:spcAft>
            </a:pPr>
            <a:r>
              <a:rPr sz="2100" b="0" i="0">
                <a:solidFill>
                  <a:srgbClr val="1A1A1A"/>
                </a:solidFill>
                <a:latin typeface="Arial"/>
              </a:rPr>
              <a:t>Pin bars usually form on low volume. The barrier break can fool a trader, so wait for the return before treating the move as a real breakout.</a:t>
            </a:r>
          </a:p>
        </p:txBody>
      </p:sp>
      <p:sp>
        <p:nvSpPr>
          <p:cNvPr id="8" name="Rectangle 7"/>
          <p:cNvSpPr/>
          <p:nvPr/>
        </p:nvSpPr>
        <p:spPr>
          <a:xfrm>
            <a:off x="777240" y="421614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false barrier impression separates a pin bar from an exhaustion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The worked PHP values are ours, invented.</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pin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pin bar tests support and then returns: </a:t>
            </a:r>
            <a:r>
              <a:rPr sz="1700" b="1" i="0">
                <a:solidFill>
                  <a:srgbClr val="E09B00"/>
                </a:solidFill>
                <a:latin typeface="Arial"/>
              </a:rPr>
              <a:t>(1)</a:t>
            </a:r>
            <a:r>
              <a:rPr sz="1700" b="0" i="0">
                <a:solidFill>
                  <a:srgbClr val="1A1A1A"/>
                </a:solidFill>
                <a:latin typeface="Arial"/>
              </a:rPr>
              <a:t> marks support at PHP 40.00. The bar trades down to PHP 38.80 at </a:t>
            </a:r>
            <a:r>
              <a:rPr sz="1700" b="1" i="0">
                <a:solidFill>
                  <a:srgbClr val="C62828"/>
                </a:solidFill>
                <a:latin typeface="Arial"/>
              </a:rPr>
              <a:t>(2)</a:t>
            </a:r>
            <a:r>
              <a:rPr sz="1700" b="0" i="0">
                <a:solidFill>
                  <a:srgbClr val="1A1A1A"/>
                </a:solidFill>
                <a:latin typeface="Arial"/>
              </a:rPr>
              <a:t>, then closes back above support at PHP 40.60 at </a:t>
            </a:r>
            <a:r>
              <a:rPr sz="1700" b="1" i="0">
                <a:solidFill>
                  <a:srgbClr val="1F5FAD"/>
                </a:solidFill>
                <a:latin typeface="Arial"/>
              </a:rPr>
              <a:t>(3)</a:t>
            </a:r>
            <a:r>
              <a:rPr sz="1700" b="0" i="0">
                <a:solidFill>
                  <a:srgbClr val="1A1A1A"/>
                </a:solidFill>
                <a:latin typeface="Arial"/>
              </a:rPr>
              <a:t> on 0.8 million shares. The low is the bar's lowest price and the close is below its high, so the prices are possible. The return above support is the false-break clue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1401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44581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98730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7090" y="39700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43616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83053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LJ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38 of 62</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7.30 shows the barrier, the penetration, and the return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39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 calls pin bars “single bar misrepresentations of market strength or weakness” (p. 227).</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support, red </a:t>
            </a:r>
            <a:r>
              <a:rPr sz="2000" b="1" i="0">
                <a:solidFill>
                  <a:srgbClr val="C62828"/>
                </a:solidFill>
                <a:latin typeface="Arial"/>
              </a:rPr>
              <a:t>(2)</a:t>
            </a:r>
            <a:r>
              <a:rPr sz="2000" b="0" i="0">
                <a:solidFill>
                  <a:srgbClr val="1A1A1A"/>
                </a:solidFill>
                <a:latin typeface="Arial"/>
              </a:rPr>
              <a:t> the intra-period penetration, and blue </a:t>
            </a:r>
            <a:r>
              <a:rPr sz="2000" b="1" i="0">
                <a:solidFill>
                  <a:srgbClr val="1F5FAD"/>
                </a:solidFill>
                <a:latin typeface="Arial"/>
              </a:rPr>
              <a:t>(3)</a:t>
            </a:r>
            <a:r>
              <a:rPr sz="2000" b="0" i="0">
                <a:solidFill>
                  <a:srgbClr val="1A1A1A"/>
                </a:solidFill>
                <a:latin typeface="Arial"/>
              </a:rPr>
              <a:t> the close back above support.</a:t>
            </a:r>
          </a:p>
          <a:p>
            <a:pPr algn="l">
              <a:lnSpc>
                <a:spcPct val="105000"/>
              </a:lnSpc>
              <a:spcBef>
                <a:spcPts val="0"/>
              </a:spcBef>
              <a:spcAft>
                <a:spcPts val="1100"/>
              </a:spcAft>
            </a:pPr>
            <a:r>
              <a:rPr sz="2000" b="0" i="0">
                <a:solidFill>
                  <a:srgbClr val="1A1A1A"/>
                </a:solidFill>
                <a:latin typeface="Arial"/>
              </a:rPr>
              <a:t>The breach can look like a breakout, but the rapid retrace says that first impression was false. Lim also says pin bars usually form on low volume.</a:t>
            </a:r>
          </a:p>
        </p:txBody>
      </p:sp>
      <p:sp>
        <p:nvSpPr>
          <p:cNvPr id="8" name="Rectangle 7"/>
          <p:cNvSpPr/>
          <p:nvPr/>
        </p:nvSpPr>
        <p:spPr>
          <a:xfrm>
            <a:off x="6126479" y="1810512"/>
            <a:ext cx="5287975" cy="2453111"/>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1536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581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2" name="Connector 11"/>
          <p:cNvCxnSpPr/>
          <p:nvPr/>
        </p:nvCxnSpPr>
        <p:spPr>
          <a:xfrm>
            <a:off x="6649370" y="3834600"/>
            <a:ext cx="3131143" cy="0"/>
          </a:xfrm>
          <a:prstGeom prst="line">
            <a:avLst/>
          </a:prstGeom>
          <a:ln w="44450">
            <a:solidFill>
              <a:srgbClr val="E09B00"/>
            </a:solidFill>
          </a:ln>
        </p:spPr>
      </p:cxnSp>
      <p:sp>
        <p:nvSpPr>
          <p:cNvPr id="13" name="Oval 12"/>
          <p:cNvSpPr/>
          <p:nvPr/>
        </p:nvSpPr>
        <p:spPr>
          <a:xfrm>
            <a:off x="7204895" y="3790293"/>
            <a:ext cx="252511" cy="199383"/>
          </a:xfrm>
          <a:prstGeom prst="ellipse">
            <a:avLst/>
          </a:prstGeom>
          <a:noFill/>
          <a:ln w="44450">
            <a:solidFill>
              <a:srgbClr val="C62828"/>
            </a:solidFill>
          </a:ln>
        </p:spPr>
        <p:txBody>
          <a:bodyPr rtlCol="0" anchor="ctr"/>
          <a:lstStyle/>
          <a:p>
            <a:pPr algn="ctr"/>
          </a:p>
        </p:txBody>
      </p:sp>
      <p:sp>
        <p:nvSpPr>
          <p:cNvPr id="14" name="Oval 13"/>
          <p:cNvSpPr/>
          <p:nvPr/>
        </p:nvSpPr>
        <p:spPr>
          <a:xfrm>
            <a:off x="7356402" y="3723832"/>
            <a:ext cx="353516" cy="177229"/>
          </a:xfrm>
          <a:prstGeom prst="ellipse">
            <a:avLst/>
          </a:prstGeom>
          <a:noFill/>
          <a:ln w="44450">
            <a:solidFill>
              <a:srgbClr val="1F5FAD"/>
            </a:solidFill>
          </a:ln>
        </p:spPr>
        <p:txBody>
          <a:bodyPr rtlCol="0" anchor="ctr"/>
          <a:lstStyle/>
          <a:p>
            <a:pPr algn="ctr"/>
          </a:p>
        </p:txBody>
      </p:sp>
      <p:sp>
        <p:nvSpPr>
          <p:cNvPr id="15" name="Oval 14"/>
          <p:cNvSpPr/>
          <p:nvPr/>
        </p:nvSpPr>
        <p:spPr>
          <a:xfrm>
            <a:off x="6342415" y="381207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897940" y="387853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806982" y="347976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55063"/>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7.30. The crop and marks are for teaching; the worked PHP values are ours, invented.</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24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pin-bar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a pin bar penetrate during the interval?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volume average</a:t>
            </a:r>
          </a:p>
          <a:p>
            <a:pPr algn="l">
              <a:lnSpc>
                <a:spcPct val="105000"/>
              </a:lnSpc>
              <a:spcBef>
                <a:spcPts val="0"/>
              </a:spcBef>
              <a:spcAft>
                <a:spcPts val="200"/>
              </a:spcAft>
            </a:pPr>
            <a:r>
              <a:rPr sz="1700" b="0" i="0">
                <a:solidFill>
                  <a:srgbClr val="FFFFFF"/>
                </a:solidFill>
                <a:latin typeface="Arial"/>
              </a:rPr>
              <a:t>B.  A prior close only</a:t>
            </a:r>
          </a:p>
          <a:p>
            <a:pPr algn="l">
              <a:lnSpc>
                <a:spcPct val="105000"/>
              </a:lnSpc>
              <a:spcBef>
                <a:spcPts val="0"/>
              </a:spcBef>
              <a:spcAft>
                <a:spcPts val="200"/>
              </a:spcAft>
            </a:pPr>
            <a:r>
              <a:rPr sz="1700" b="0" i="0">
                <a:solidFill>
                  <a:srgbClr val="FFFFFF"/>
                </a:solidFill>
                <a:latin typeface="Arial"/>
              </a:rPr>
              <a:t>C.  A stochastic formula</a:t>
            </a:r>
          </a:p>
          <a:p>
            <a:pPr algn="l">
              <a:lnSpc>
                <a:spcPct val="105000"/>
              </a:lnSpc>
              <a:spcBef>
                <a:spcPts val="0"/>
              </a:spcBef>
              <a:spcAft>
                <a:spcPts val="200"/>
              </a:spcAft>
            </a:pPr>
            <a:r>
              <a:rPr sz="1700" b="0" i="0">
                <a:solidFill>
                  <a:srgbClr val="FFFFFF"/>
                </a:solidFill>
                <a:latin typeface="Arial"/>
              </a:rPr>
              <a:t>D.  A barrier such as support or resistance</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rapid retrace imply?</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barrier break is certain</a:t>
            </a:r>
          </a:p>
          <a:p>
            <a:pPr algn="l">
              <a:lnSpc>
                <a:spcPct val="105000"/>
              </a:lnSpc>
              <a:spcBef>
                <a:spcPts val="0"/>
              </a:spcBef>
              <a:spcAft>
                <a:spcPts val="200"/>
              </a:spcAft>
            </a:pPr>
            <a:r>
              <a:rPr sz="1700" b="0" i="0">
                <a:solidFill>
                  <a:srgbClr val="FFFFFF"/>
                </a:solidFill>
                <a:latin typeface="Arial"/>
              </a:rPr>
              <a:t>B.  The apparent breakout may be false</a:t>
            </a:r>
          </a:p>
          <a:p>
            <a:pPr algn="l">
              <a:lnSpc>
                <a:spcPct val="105000"/>
              </a:lnSpc>
              <a:spcBef>
                <a:spcPts val="0"/>
              </a:spcBef>
              <a:spcAft>
                <a:spcPts val="200"/>
              </a:spcAft>
            </a:pPr>
            <a:r>
              <a:rPr sz="1700" b="0" i="0">
                <a:solidFill>
                  <a:srgbClr val="FFFFFF"/>
                </a:solidFill>
                <a:latin typeface="Arial"/>
              </a:rPr>
              <a:t>C.  The trend must continue</a:t>
            </a:r>
          </a:p>
          <a:p>
            <a:pPr algn="l">
              <a:lnSpc>
                <a:spcPct val="105000"/>
              </a:lnSpc>
              <a:spcBef>
                <a:spcPts val="0"/>
              </a:spcBef>
              <a:spcAft>
                <a:spcPts val="200"/>
              </a:spcAft>
            </a:pPr>
            <a:r>
              <a:rPr sz="1700" b="0" i="0">
                <a:solidFill>
                  <a:srgbClr val="FFFFFF"/>
                </a:solidFill>
                <a:latin typeface="Arial"/>
              </a:rPr>
              <a:t>D.  The volume is high</a:t>
            </a:r>
          </a:p>
        </p:txBody>
      </p:sp>
      <p:sp>
        <p:nvSpPr>
          <p:cNvPr id="14" name="Rectangle 13"/>
          <p:cNvSpPr/>
          <p:nvPr/>
        </p:nvSpPr>
        <p:spPr>
          <a:xfrm>
            <a:off x="6126479" y="1207008"/>
            <a:ext cx="5287975" cy="245311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1536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581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6649370" y="3231096"/>
            <a:ext cx="3131143" cy="0"/>
          </a:xfrm>
          <a:prstGeom prst="line">
            <a:avLst/>
          </a:prstGeom>
          <a:ln w="44450">
            <a:solidFill>
              <a:srgbClr val="E09B00"/>
            </a:solidFill>
          </a:ln>
        </p:spPr>
      </p:cxnSp>
      <p:sp>
        <p:nvSpPr>
          <p:cNvPr id="19" name="Oval 18"/>
          <p:cNvSpPr/>
          <p:nvPr/>
        </p:nvSpPr>
        <p:spPr>
          <a:xfrm>
            <a:off x="7204895" y="3186789"/>
            <a:ext cx="252511" cy="199383"/>
          </a:xfrm>
          <a:prstGeom prst="ellipse">
            <a:avLst/>
          </a:prstGeom>
          <a:noFill/>
          <a:ln w="44450">
            <a:solidFill>
              <a:srgbClr val="C62828"/>
            </a:solidFill>
          </a:ln>
        </p:spPr>
        <p:txBody>
          <a:bodyPr rtlCol="0" anchor="ctr"/>
          <a:lstStyle/>
          <a:p>
            <a:pPr algn="ctr"/>
          </a:p>
        </p:txBody>
      </p:sp>
      <p:sp>
        <p:nvSpPr>
          <p:cNvPr id="20" name="Oval 19"/>
          <p:cNvSpPr/>
          <p:nvPr/>
        </p:nvSpPr>
        <p:spPr>
          <a:xfrm>
            <a:off x="7356402" y="3120328"/>
            <a:ext cx="353516" cy="177229"/>
          </a:xfrm>
          <a:prstGeom prst="ellipse">
            <a:avLst/>
          </a:prstGeom>
          <a:noFill/>
          <a:ln w="44450">
            <a:solidFill>
              <a:srgbClr val="1F5FAD"/>
            </a:solidFill>
          </a:ln>
        </p:spPr>
        <p:txBody>
          <a:bodyPr rtlCol="0" anchor="ctr"/>
          <a:lstStyle/>
          <a:p>
            <a:pPr algn="ctr"/>
          </a:p>
        </p:txBody>
      </p:sp>
      <p:sp>
        <p:nvSpPr>
          <p:cNvPr id="21" name="Oval 20"/>
          <p:cNvSpPr/>
          <p:nvPr/>
        </p:nvSpPr>
        <p:spPr>
          <a:xfrm>
            <a:off x="6342415" y="320857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897940" y="327503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7806982" y="287626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51559"/>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24</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pin-bar figure</a:t>
            </a:r>
          </a:p>
        </p:txBody>
      </p:sp>
      <p:sp>
        <p:nvSpPr>
          <p:cNvPr id="6" name="Rectangle 5"/>
          <p:cNvSpPr/>
          <p:nvPr/>
        </p:nvSpPr>
        <p:spPr>
          <a:xfrm>
            <a:off x="777240" y="1207008"/>
            <a:ext cx="5029200" cy="225043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5043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a pin bar penetrate during the interval?</a:t>
            </a:r>
          </a:p>
        </p:txBody>
      </p:sp>
      <p:sp>
        <p:nvSpPr>
          <p:cNvPr id="9" name="TextBox 8"/>
          <p:cNvSpPr txBox="1"/>
          <p:nvPr/>
        </p:nvSpPr>
        <p:spPr>
          <a:xfrm>
            <a:off x="1097280" y="2069338"/>
            <a:ext cx="448056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 barrier such as support or resistance</a:t>
            </a:r>
          </a:p>
          <a:p>
            <a:pPr algn="l">
              <a:lnSpc>
                <a:spcPct val="115000"/>
              </a:lnSpc>
              <a:spcBef>
                <a:spcPts val="500"/>
              </a:spcBef>
              <a:spcAft>
                <a:spcPts val="0"/>
              </a:spcAft>
            </a:pPr>
            <a:r>
              <a:rPr sz="1700" b="0" i="0">
                <a:solidFill>
                  <a:srgbClr val="1A1A1A"/>
                </a:solidFill>
                <a:latin typeface="Arial"/>
              </a:rPr>
              <a:t>Lim describes a pin bar as penetrating a barrier and then retracing (p. 227).</a:t>
            </a:r>
          </a:p>
        </p:txBody>
      </p:sp>
      <p:sp>
        <p:nvSpPr>
          <p:cNvPr id="10" name="Rectangle 9"/>
          <p:cNvSpPr/>
          <p:nvPr/>
        </p:nvSpPr>
        <p:spPr>
          <a:xfrm>
            <a:off x="777240" y="3640327"/>
            <a:ext cx="5029200" cy="22504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40327"/>
            <a:ext cx="91440" cy="22504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2320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the rapid retrace imply?</a:t>
            </a:r>
          </a:p>
        </p:txBody>
      </p:sp>
      <p:sp>
        <p:nvSpPr>
          <p:cNvPr id="13" name="TextBox 12"/>
          <p:cNvSpPr txBox="1"/>
          <p:nvPr/>
        </p:nvSpPr>
        <p:spPr>
          <a:xfrm>
            <a:off x="1097280" y="4254373"/>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The apparent breakout may be false</a:t>
            </a:r>
          </a:p>
          <a:p>
            <a:pPr algn="l">
              <a:lnSpc>
                <a:spcPct val="115000"/>
              </a:lnSpc>
              <a:spcBef>
                <a:spcPts val="500"/>
              </a:spcBef>
              <a:spcAft>
                <a:spcPts val="0"/>
              </a:spcAft>
            </a:pPr>
            <a:r>
              <a:rPr sz="1700" b="0" i="0">
                <a:solidFill>
                  <a:srgbClr val="1A1A1A"/>
                </a:solidFill>
                <a:latin typeface="Arial"/>
              </a:rPr>
              <a:t>The retrace shows that the initial impression of breaking the barrier was false (p. 227).</a:t>
            </a:r>
          </a:p>
        </p:txBody>
      </p:sp>
      <p:sp>
        <p:nvSpPr>
          <p:cNvPr id="14" name="Rectangle 13"/>
          <p:cNvSpPr/>
          <p:nvPr/>
        </p:nvSpPr>
        <p:spPr>
          <a:xfrm>
            <a:off x="6126479" y="1207008"/>
            <a:ext cx="5287975" cy="245311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1536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581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6649370" y="3231096"/>
            <a:ext cx="3131143" cy="0"/>
          </a:xfrm>
          <a:prstGeom prst="line">
            <a:avLst/>
          </a:prstGeom>
          <a:ln w="44450">
            <a:solidFill>
              <a:srgbClr val="E09B00"/>
            </a:solidFill>
          </a:ln>
        </p:spPr>
      </p:cxnSp>
      <p:sp>
        <p:nvSpPr>
          <p:cNvPr id="19" name="Oval 18"/>
          <p:cNvSpPr/>
          <p:nvPr/>
        </p:nvSpPr>
        <p:spPr>
          <a:xfrm>
            <a:off x="7204895" y="3186789"/>
            <a:ext cx="252511" cy="199383"/>
          </a:xfrm>
          <a:prstGeom prst="ellipse">
            <a:avLst/>
          </a:prstGeom>
          <a:noFill/>
          <a:ln w="44450">
            <a:solidFill>
              <a:srgbClr val="C62828"/>
            </a:solidFill>
          </a:ln>
        </p:spPr>
        <p:txBody>
          <a:bodyPr rtlCol="0" anchor="ctr"/>
          <a:lstStyle/>
          <a:p>
            <a:pPr algn="ctr"/>
          </a:p>
        </p:txBody>
      </p:sp>
      <p:sp>
        <p:nvSpPr>
          <p:cNvPr id="20" name="Oval 19"/>
          <p:cNvSpPr/>
          <p:nvPr/>
        </p:nvSpPr>
        <p:spPr>
          <a:xfrm>
            <a:off x="7356402" y="3120328"/>
            <a:ext cx="353516" cy="177229"/>
          </a:xfrm>
          <a:prstGeom prst="ellipse">
            <a:avLst/>
          </a:prstGeom>
          <a:noFill/>
          <a:ln w="44450">
            <a:solidFill>
              <a:srgbClr val="1F5FAD"/>
            </a:solidFill>
          </a:ln>
        </p:spPr>
        <p:txBody>
          <a:bodyPr rtlCol="0" anchor="ctr"/>
          <a:lstStyle/>
          <a:p>
            <a:pPr algn="ctr"/>
          </a:p>
        </p:txBody>
      </p:sp>
      <p:sp>
        <p:nvSpPr>
          <p:cNvPr id="21" name="Oval 20"/>
          <p:cNvSpPr/>
          <p:nvPr/>
        </p:nvSpPr>
        <p:spPr>
          <a:xfrm>
            <a:off x="6342415" y="320857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897940" y="327503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7806982" y="287626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51559"/>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24</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exhaustion bar ends a long run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exhaustion bar ends a long run: it opens beyond the prior high </a:t>
            </a:r>
            <a:r>
              <a:rPr sz="1700" b="1" i="0">
                <a:solidFill>
                  <a:srgbClr val="E09B00"/>
                </a:solidFill>
                <a:latin typeface="Arial"/>
              </a:rPr>
              <a:t>(1)</a:t>
            </a:r>
            <a:r>
              <a:rPr sz="1700" b="0" i="0">
                <a:solidFill>
                  <a:srgbClr val="1A1A1A"/>
                </a:solidFill>
                <a:latin typeface="Arial"/>
              </a:rPr>
              <a:t>, reaches a new high </a:t>
            </a:r>
            <a:r>
              <a:rPr sz="1700" b="1" i="0">
                <a:solidFill>
                  <a:srgbClr val="C62828"/>
                </a:solidFill>
                <a:latin typeface="Arial"/>
              </a:rPr>
              <a:t>(2)</a:t>
            </a:r>
            <a:r>
              <a:rPr sz="1700" b="0" i="0">
                <a:solidFill>
                  <a:srgbClr val="1A1A1A"/>
                </a:solidFill>
                <a:latin typeface="Arial"/>
              </a:rPr>
              <a:t>, gives most back, and the next bar does not gap </a:t>
            </a:r>
            <a:r>
              <a:rPr sz="1700" b="1" i="0">
                <a:solidFill>
                  <a:srgbClr val="1F5FAD"/>
                </a:solidFill>
                <a:latin typeface="Arial"/>
              </a:rPr>
              <a:t>(3)</a:t>
            </a:r>
            <a:r>
              <a:rPr sz="1700" b="0" i="0">
                <a:solidFill>
                  <a:srgbClr val="1A1A1A"/>
                </a:solidFill>
                <a:latin typeface="Arial"/>
              </a:rPr>
              <a:t>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856628" y="350969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724643" y="4378947"/>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713707" y="32640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640519" y="41229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40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pin bar pierces support and then snaps back inside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pin bar pierces support </a:t>
            </a:r>
            <a:r>
              <a:rPr sz="1700" b="1" i="0">
                <a:solidFill>
                  <a:srgbClr val="7B3FA0"/>
                </a:solidFill>
                <a:latin typeface="Arial"/>
              </a:rPr>
              <a:t>(1)</a:t>
            </a:r>
            <a:r>
              <a:rPr sz="1700" b="0" i="0">
                <a:solidFill>
                  <a:srgbClr val="1A1A1A"/>
                </a:solidFill>
                <a:latin typeface="Arial"/>
              </a:rPr>
              <a:t> then snaps back inside </a:t>
            </a:r>
            <a:r>
              <a:rPr sz="1700" b="1" i="0">
                <a:solidFill>
                  <a:srgbClr val="C62828"/>
                </a:solidFill>
                <a:latin typeface="Arial"/>
              </a:rPr>
              <a:t>(2)</a:t>
            </a:r>
            <a:r>
              <a:rPr sz="1700" b="0" i="0">
                <a:solidFill>
                  <a:srgbClr val="1A1A1A"/>
                </a:solidFill>
                <a:latin typeface="Arial"/>
              </a:rPr>
              <a:t>. Lim calls it a "single bar misrepresentation" (p. 227); its volume is low </a:t>
            </a:r>
            <a:r>
              <a:rPr sz="1700" b="1" i="0">
                <a:solidFill>
                  <a:srgbClr val="E09B00"/>
                </a:solidFill>
                <a:latin typeface="Arial"/>
              </a:rPr>
              <a:t>(3)</a:t>
            </a:r>
            <a:r>
              <a:rPr sz="1700" b="0" i="0">
                <a:solidFill>
                  <a:srgbClr val="1A1A1A"/>
                </a:solidFill>
                <a:latin typeface="Arial"/>
              </a:rPr>
              <a:t>. Ask whether the move ended a tiring run or rejected a level.</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4068219"/>
            <a:ext cx="87782" cy="87782"/>
          </a:xfrm>
          <a:prstGeom prst="ellipse">
            <a:avLst/>
          </a:prstGeom>
          <a:noFill/>
          <a:ln w="44450">
            <a:solidFill>
              <a:srgbClr val="7B3FA0"/>
            </a:solidFill>
          </a:ln>
        </p:spPr>
        <p:txBody>
          <a:bodyPr rtlCol="0" anchor="ctr"/>
          <a:lstStyle/>
          <a:p>
            <a:pPr algn="ctr"/>
          </a:p>
        </p:txBody>
      </p:sp>
      <p:sp>
        <p:nvSpPr>
          <p:cNvPr id="10" name="Oval 9"/>
          <p:cNvSpPr/>
          <p:nvPr/>
        </p:nvSpPr>
        <p:spPr>
          <a:xfrm>
            <a:off x="7012076" y="526877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7167524" y="3879422"/>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7099858" y="398409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264450" y="51846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7239200" y="372264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41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25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exhaustion and pin bars</a:t>
            </a:r>
          </a:p>
        </p:txBody>
      </p:sp>
      <p:sp>
        <p:nvSpPr>
          <p:cNvPr id="6" name="Rectangle 5"/>
          <p:cNvSpPr/>
          <p:nvPr/>
        </p:nvSpPr>
        <p:spPr>
          <a:xfrm>
            <a:off x="777240" y="1207008"/>
            <a:ext cx="5029200" cy="2286634"/>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separates an exhaustion bar from a pin bar?</a:t>
            </a:r>
          </a:p>
        </p:txBody>
      </p:sp>
      <p:sp>
        <p:nvSpPr>
          <p:cNvPr id="9" name="TextBox 8"/>
          <p:cNvSpPr txBox="1"/>
          <p:nvPr/>
        </p:nvSpPr>
        <p:spPr>
          <a:xfrm>
            <a:off x="1005840" y="2069338"/>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Exhaustion uses no trend context</a:t>
            </a:r>
          </a:p>
          <a:p>
            <a:pPr algn="l">
              <a:lnSpc>
                <a:spcPct val="105000"/>
              </a:lnSpc>
              <a:spcBef>
                <a:spcPts val="0"/>
              </a:spcBef>
              <a:spcAft>
                <a:spcPts val="200"/>
              </a:spcAft>
            </a:pPr>
            <a:r>
              <a:rPr sz="1700" b="0" i="0">
                <a:solidFill>
                  <a:srgbClr val="FFFFFF"/>
                </a:solidFill>
                <a:latin typeface="Arial"/>
              </a:rPr>
              <a:t>B.  A pin bar gives a false barrier-penetration impression</a:t>
            </a:r>
          </a:p>
          <a:p>
            <a:pPr algn="l">
              <a:lnSpc>
                <a:spcPct val="105000"/>
              </a:lnSpc>
              <a:spcBef>
                <a:spcPts val="0"/>
              </a:spcBef>
              <a:spcAft>
                <a:spcPts val="200"/>
              </a:spcAft>
            </a:pPr>
            <a:r>
              <a:rPr sz="1700" b="0" i="0">
                <a:solidFill>
                  <a:srgbClr val="FFFFFF"/>
                </a:solidFill>
                <a:latin typeface="Arial"/>
              </a:rPr>
              <a:t>C.  A pin bar must gap from the next bar</a:t>
            </a:r>
          </a:p>
          <a:p>
            <a:pPr algn="l">
              <a:lnSpc>
                <a:spcPct val="105000"/>
              </a:lnSpc>
              <a:spcBef>
                <a:spcPts val="0"/>
              </a:spcBef>
              <a:spcAft>
                <a:spcPts val="200"/>
              </a:spcAft>
            </a:pPr>
            <a:r>
              <a:rPr sz="1700" b="0" i="0">
                <a:solidFill>
                  <a:srgbClr val="FFFFFF"/>
                </a:solidFill>
                <a:latin typeface="Arial"/>
              </a:rPr>
              <a:t>D.  Exhaustion is always narrow</a:t>
            </a:r>
          </a:p>
        </p:txBody>
      </p:sp>
      <p:sp>
        <p:nvSpPr>
          <p:cNvPr id="10" name="Rectangle 9"/>
          <p:cNvSpPr/>
          <p:nvPr/>
        </p:nvSpPr>
        <p:spPr>
          <a:xfrm>
            <a:off x="777240" y="3585082"/>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676522"/>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877691"/>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Pin bars usually form on:</a:t>
            </a:r>
          </a:p>
        </p:txBody>
      </p:sp>
      <p:sp>
        <p:nvSpPr>
          <p:cNvPr id="13" name="TextBox 12"/>
          <p:cNvSpPr txBox="1"/>
          <p:nvPr/>
        </p:nvSpPr>
        <p:spPr>
          <a:xfrm>
            <a:off x="1005840" y="4199128"/>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High volume</a:t>
            </a:r>
          </a:p>
          <a:p>
            <a:pPr algn="l">
              <a:lnSpc>
                <a:spcPct val="105000"/>
              </a:lnSpc>
              <a:spcBef>
                <a:spcPts val="0"/>
              </a:spcBef>
              <a:spcAft>
                <a:spcPts val="200"/>
              </a:spcAft>
            </a:pPr>
            <a:r>
              <a:rPr sz="1700" b="0" i="0">
                <a:solidFill>
                  <a:srgbClr val="FFFFFF"/>
                </a:solidFill>
                <a:latin typeface="Arial"/>
              </a:rPr>
              <a:t>B.  The same volume as the prior bar</a:t>
            </a:r>
          </a:p>
          <a:p>
            <a:pPr algn="l">
              <a:lnSpc>
                <a:spcPct val="105000"/>
              </a:lnSpc>
              <a:spcBef>
                <a:spcPts val="0"/>
              </a:spcBef>
              <a:spcAft>
                <a:spcPts val="200"/>
              </a:spcAft>
            </a:pPr>
            <a:r>
              <a:rPr sz="1700" b="0" i="0">
                <a:solidFill>
                  <a:srgbClr val="FFFFFF"/>
                </a:solidFill>
                <a:latin typeface="Arial"/>
              </a:rPr>
              <a:t>C.  Low volume</a:t>
            </a:r>
          </a:p>
          <a:p>
            <a:pPr algn="l">
              <a:lnSpc>
                <a:spcPct val="105000"/>
              </a:lnSpc>
              <a:spcBef>
                <a:spcPts val="0"/>
              </a:spcBef>
              <a:spcAft>
                <a:spcPts val="200"/>
              </a:spcAft>
            </a:pPr>
            <a:r>
              <a:rPr sz="1700" b="0" i="0">
                <a:solidFill>
                  <a:srgbClr val="FFFFFF"/>
                </a:solidFill>
                <a:latin typeface="Arial"/>
              </a:rPr>
              <a:t>D.  No volume data</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Oval 18"/>
          <p:cNvSpPr/>
          <p:nvPr/>
        </p:nvSpPr>
        <p:spPr>
          <a:xfrm>
            <a:off x="8921974" y="2539664"/>
            <a:ext cx="303013" cy="15734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9073481" y="2674529"/>
            <a:ext cx="353516" cy="0"/>
          </a:xfrm>
          <a:prstGeom prst="line">
            <a:avLst/>
          </a:prstGeom>
          <a:ln w="44450">
            <a:solidFill>
              <a:srgbClr val="1F5FAD"/>
            </a:solidFill>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1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524061" y="269890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25</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exhaustion and pin bars</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separates an exhaustion bar from a pin bar?</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pin bar gives a false barrier-penetration impression</a:t>
            </a:r>
          </a:p>
          <a:p>
            <a:pPr algn="l">
              <a:lnSpc>
                <a:spcPct val="115000"/>
              </a:lnSpc>
              <a:spcBef>
                <a:spcPts val="500"/>
              </a:spcBef>
              <a:spcAft>
                <a:spcPts val="0"/>
              </a:spcAft>
            </a:pPr>
            <a:r>
              <a:rPr sz="1700" b="0" i="0">
                <a:solidFill>
                  <a:srgbClr val="1A1A1A"/>
                </a:solidFill>
                <a:latin typeface="Arial"/>
              </a:rPr>
              <a:t>Lim says exhaustion bars do not usually provide a false impression of penetrating a barrier, while pin bars do (p. 227).</a:t>
            </a:r>
          </a:p>
        </p:txBody>
      </p:sp>
      <p:sp>
        <p:nvSpPr>
          <p:cNvPr id="10" name="Rectangle 9"/>
          <p:cNvSpPr/>
          <p:nvPr/>
        </p:nvSpPr>
        <p:spPr>
          <a:xfrm>
            <a:off x="777240" y="3888613"/>
            <a:ext cx="5029200" cy="17392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173926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Pin bars usually form on:</a:t>
            </a:r>
          </a:p>
        </p:txBody>
      </p:sp>
      <p:sp>
        <p:nvSpPr>
          <p:cNvPr id="13" name="TextBox 12"/>
          <p:cNvSpPr txBox="1"/>
          <p:nvPr/>
        </p:nvSpPr>
        <p:spPr>
          <a:xfrm>
            <a:off x="1097280" y="450265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Low volume</a:t>
            </a:r>
          </a:p>
          <a:p>
            <a:pPr algn="l">
              <a:lnSpc>
                <a:spcPct val="115000"/>
              </a:lnSpc>
              <a:spcBef>
                <a:spcPts val="500"/>
              </a:spcBef>
              <a:spcAft>
                <a:spcPts val="0"/>
              </a:spcAft>
            </a:pPr>
            <a:r>
              <a:rPr sz="1700" b="0" i="0">
                <a:solidFill>
                  <a:srgbClr val="1A1A1A"/>
                </a:solidFill>
                <a:latin typeface="Arial"/>
              </a:rPr>
              <a:t>Lim says pin bars are usually breakouts that form on low volume (p. 227).</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Oval 18"/>
          <p:cNvSpPr/>
          <p:nvPr/>
        </p:nvSpPr>
        <p:spPr>
          <a:xfrm>
            <a:off x="8921974" y="2539664"/>
            <a:ext cx="303013" cy="15734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9073481" y="2674529"/>
            <a:ext cx="353516" cy="0"/>
          </a:xfrm>
          <a:prstGeom prst="line">
            <a:avLst/>
          </a:prstGeom>
          <a:ln w="44450">
            <a:solidFill>
              <a:srgbClr val="1F5FAD"/>
            </a:solidFill>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1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524061" y="269890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25</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False breakouts apply the pin-bar warning to a whole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42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pin bar gives a false impression within one bar. A false breakout applies the same warning to a support or resistance break: price crosses the level, then returns through it.</a:t>
            </a:r>
          </a:p>
          <a:p>
            <a:pPr algn="l">
              <a:lnSpc>
                <a:spcPct val="118000"/>
              </a:lnSpc>
              <a:spcBef>
                <a:spcPts val="0"/>
              </a:spcBef>
              <a:spcAft>
                <a:spcPts val="1300"/>
              </a:spcAft>
            </a:pPr>
            <a:r>
              <a:rPr sz="2100" b="0" i="0">
                <a:solidFill>
                  <a:srgbClr val="1A1A1A"/>
                </a:solidFill>
                <a:latin typeface="Arial"/>
              </a:rPr>
              <a:t>The next chart shows both directions with invented prices. The return is the evidence that the first break may have failed (p. 229).</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Wait for the return before choosing the opposite direction.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upside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two cases show a break that returns inside its barrier. </a:t>
            </a:r>
            <a:r>
              <a:rPr sz="1700" b="1" i="0">
                <a:solidFill>
                  <a:srgbClr val="E09B00"/>
                </a:solidFill>
                <a:latin typeface="Arial"/>
              </a:rPr>
              <a:t>(1)</a:t>
            </a:r>
            <a:r>
              <a:rPr sz="1700" b="0" i="0">
                <a:solidFill>
                  <a:srgbClr val="1A1A1A"/>
                </a:solidFill>
                <a:latin typeface="Arial"/>
              </a:rPr>
              <a:t> marks the PHP 62.00 false high; </a:t>
            </a:r>
            <a:r>
              <a:rPr sz="1700" b="1" i="0">
                <a:solidFill>
                  <a:srgbClr val="1F5FAD"/>
                </a:solidFill>
                <a:latin typeface="Arial"/>
              </a:rPr>
              <a:t>(2)</a:t>
            </a:r>
            <a:r>
              <a:rPr sz="1700" b="0" i="0">
                <a:solidFill>
                  <a:srgbClr val="1A1A1A"/>
                </a:solidFill>
                <a:latin typeface="Arial"/>
              </a:rPr>
              <a:t> marks the PHP 59.40 close below PHP 60.00 resistance.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19380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9967874"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370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43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downside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C62828"/>
                </a:solidFill>
                <a:latin typeface="Arial"/>
              </a:rPr>
              <a:t>(1)</a:t>
            </a:r>
            <a:r>
              <a:rPr sz="1700" b="0" i="0">
                <a:solidFill>
                  <a:srgbClr val="1A1A1A"/>
                </a:solidFill>
                <a:latin typeface="Arial"/>
              </a:rPr>
              <a:t> marks the PHP 38.50 false low; </a:t>
            </a:r>
            <a:r>
              <a:rPr sz="1700" b="1" i="0">
                <a:solidFill>
                  <a:srgbClr val="7B3FA0"/>
                </a:solidFill>
                <a:latin typeface="Arial"/>
              </a:rPr>
              <a:t>(2)</a:t>
            </a:r>
            <a:r>
              <a:rPr sz="1700" b="0" i="0">
                <a:solidFill>
                  <a:srgbClr val="1A1A1A"/>
                </a:solidFill>
                <a:latin typeface="Arial"/>
              </a:rPr>
              <a:t> marks the PHP 40.60 close above PHP 40.00 support (p. 229).</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94873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10035539" y="4214774"/>
            <a:ext cx="87782" cy="87782"/>
          </a:xfrm>
          <a:prstGeom prst="ellipse">
            <a:avLst/>
          </a:prstGeom>
          <a:noFill/>
          <a:ln w="44450">
            <a:solidFill>
              <a:srgbClr val="7B3FA0"/>
            </a:solidFill>
          </a:ln>
        </p:spPr>
        <p:txBody>
          <a:bodyPr rtlCol="0" anchor="ctr"/>
          <a:lstStyle/>
          <a:p>
            <a:pPr algn="ctr"/>
          </a:p>
        </p:txBody>
      </p:sp>
      <p:sp>
        <p:nvSpPr>
          <p:cNvPr id="11" name="Oval 10"/>
          <p:cNvSpPr/>
          <p:nvPr/>
        </p:nvSpPr>
        <p:spPr>
          <a:xfrm>
            <a:off x="9967874" y="486460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5799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44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course drawing makes the bearish entry explicit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On the course drawing, </a:t>
            </a:r>
            <a:r>
              <a:rPr sz="1700" b="1" i="0">
                <a:solidFill>
                  <a:srgbClr val="E09B00"/>
                </a:solidFill>
                <a:latin typeface="Arial"/>
              </a:rPr>
              <a:t>(1)</a:t>
            </a:r>
            <a:r>
              <a:rPr sz="1700" b="0" i="0">
                <a:solidFill>
                  <a:srgbClr val="1A1A1A"/>
                </a:solidFill>
                <a:latin typeface="Arial"/>
              </a:rPr>
              <a:t> is PHP 60.00 resistance, </a:t>
            </a:r>
            <a:r>
              <a:rPr sz="1700" b="1" i="0">
                <a:solidFill>
                  <a:srgbClr val="C62828"/>
                </a:solidFill>
                <a:latin typeface="Arial"/>
              </a:rPr>
              <a:t>(2)</a:t>
            </a:r>
            <a:r>
              <a:rPr sz="1700" b="0" i="0">
                <a:solidFill>
                  <a:srgbClr val="1A1A1A"/>
                </a:solidFill>
                <a:latin typeface="Arial"/>
              </a:rPr>
              <a:t> the PHP 62.00 false high, </a:t>
            </a:r>
            <a:r>
              <a:rPr sz="1700" b="1" i="0">
                <a:solidFill>
                  <a:srgbClr val="1F5FAD"/>
                </a:solidFill>
                <a:latin typeface="Arial"/>
              </a:rPr>
              <a:t>(3)</a:t>
            </a:r>
            <a:r>
              <a:rPr sz="1700" b="0" i="0">
                <a:solidFill>
                  <a:srgbClr val="1A1A1A"/>
                </a:solidFill>
                <a:latin typeface="Arial"/>
              </a:rPr>
              <a:t> the PHP 59.40 returned close, and </a:t>
            </a:r>
            <a:r>
              <a:rPr sz="1700" b="1" i="0">
                <a:solidFill>
                  <a:srgbClr val="7B3FA0"/>
                </a:solidFill>
                <a:latin typeface="Arial"/>
              </a:rPr>
              <a:t>(4)</a:t>
            </a:r>
            <a:r>
              <a:rPr sz="1700" b="0" i="0">
                <a:solidFill>
                  <a:srgbClr val="1A1A1A"/>
                </a:solidFill>
                <a:latin typeface="Arial"/>
              </a:rPr>
              <a:t> the PHP 62.20 stop. The short follows </a:t>
            </a:r>
            <a:r>
              <a:rPr sz="1700" b="1" i="0">
                <a:solidFill>
                  <a:srgbClr val="1F5FAD"/>
                </a:solidFill>
                <a:latin typeface="Arial"/>
              </a:rPr>
              <a:t>(3)</a:t>
            </a:r>
            <a:r>
              <a:rPr sz="1700" b="0" i="0">
                <a:solidFill>
                  <a:srgbClr val="1A1A1A"/>
                </a:solidFill>
                <a:latin typeface="Arial"/>
              </a:rPr>
              <a:t> below resistance; </a:t>
            </a:r>
            <a:r>
              <a:rPr sz="1700" b="1" i="0">
                <a:solidFill>
                  <a:srgbClr val="7B3FA0"/>
                </a:solidFill>
                <a:latin typeface="Arial"/>
              </a:rPr>
              <a:t>(4)</a:t>
            </a:r>
            <a:r>
              <a:rPr sz="1700" b="0" i="0">
                <a:solidFill>
                  <a:srgbClr val="1A1A1A"/>
                </a:solidFill>
                <a:latin typeface="Arial"/>
              </a:rPr>
              <a:t> stays above the breakout high. These values are invented, and the book's drawing follows.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f-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041366"/>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43645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222839"/>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3375964"/>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967874" y="395724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35233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51415" y="431062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608661" y="332486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45 of 62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LF: invented PHP values; the book's drawing is shown separately.</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7.31 shows the bearish entry after a false upside break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46 of 62</a:t>
            </a:r>
          </a:p>
        </p:txBody>
      </p:sp>
      <p:sp>
        <p:nvSpPr>
          <p:cNvPr id="7" name="TextBox 6"/>
          <p:cNvSpPr txBox="1"/>
          <p:nvPr/>
        </p:nvSpPr>
        <p:spPr>
          <a:xfrm>
            <a:off x="777240" y="1965960"/>
            <a:ext cx="4892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Lim calls this a non-failure swing and credits Sperandeo's 2B entry (p. 228). The book's drawing supplies the pattern, not a PHP price list.</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resistance, red </a:t>
            </a:r>
            <a:r>
              <a:rPr sz="1800" b="1" i="0">
                <a:solidFill>
                  <a:srgbClr val="C62828"/>
                </a:solidFill>
                <a:latin typeface="Arial"/>
              </a:rPr>
              <a:t>(2)</a:t>
            </a:r>
            <a:r>
              <a:rPr sz="1800" b="0" i="0">
                <a:solidFill>
                  <a:srgbClr val="1A1A1A"/>
                </a:solidFill>
                <a:latin typeface="Arial"/>
              </a:rPr>
              <a:t> the false high, blue </a:t>
            </a:r>
            <a:r>
              <a:rPr sz="1800" b="1" i="0">
                <a:solidFill>
                  <a:srgbClr val="1F5FAD"/>
                </a:solidFill>
                <a:latin typeface="Arial"/>
              </a:rPr>
              <a:t>(3)</a:t>
            </a:r>
            <a:r>
              <a:rPr sz="1800" b="0" i="0">
                <a:solidFill>
                  <a:srgbClr val="1A1A1A"/>
                </a:solidFill>
                <a:latin typeface="Arial"/>
              </a:rPr>
              <a:t> the close back below, and purple </a:t>
            </a:r>
            <a:r>
              <a:rPr sz="1800" b="1" i="0">
                <a:solidFill>
                  <a:srgbClr val="7B3FA0"/>
                </a:solidFill>
                <a:latin typeface="Arial"/>
              </a:rPr>
              <a:t>(4)</a:t>
            </a:r>
            <a:r>
              <a:rPr sz="1800" b="0" i="0">
                <a:solidFill>
                  <a:srgbClr val="1A1A1A"/>
                </a:solidFill>
                <a:latin typeface="Arial"/>
              </a:rPr>
              <a:t> the stop above the high.</a:t>
            </a:r>
          </a:p>
          <a:p>
            <a:pPr algn="l">
              <a:lnSpc>
                <a:spcPct val="105000"/>
              </a:lnSpc>
              <a:spcBef>
                <a:spcPts val="0"/>
              </a:spcBef>
              <a:spcAft>
                <a:spcPts val="1100"/>
              </a:spcAft>
            </a:pPr>
            <a:r>
              <a:rPr sz="1800" b="0" i="0">
                <a:solidFill>
                  <a:srgbClr val="1A1A1A"/>
                </a:solidFill>
                <a:latin typeface="Arial"/>
              </a:rPr>
              <a:t>The bearish entry comes only after price returns below resistance. The stop belongs just above the breakout high in this drawing.</a:t>
            </a:r>
          </a:p>
        </p:txBody>
      </p:sp>
      <p:sp>
        <p:nvSpPr>
          <p:cNvPr id="8" name="Rectangle 7"/>
          <p:cNvSpPr/>
          <p:nvPr/>
        </p:nvSpPr>
        <p:spPr>
          <a:xfrm>
            <a:off x="6493950" y="1810512"/>
            <a:ext cx="44158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12822" y="1929384"/>
            <a:ext cx="41781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12822" y="1929384"/>
            <a:ext cx="41781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87142" y="2203703"/>
            <a:ext cx="36294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7.31</a:t>
            </a:r>
          </a:p>
          <a:p>
            <a:pPr algn="l">
              <a:lnSpc>
                <a:spcPct val="115000"/>
              </a:lnSpc>
              <a:spcBef>
                <a:spcPts val="0"/>
              </a:spcBef>
              <a:spcAft>
                <a:spcPts val="0"/>
              </a:spcAft>
            </a:pPr>
            <a:r>
              <a:rPr sz="1500" b="0" i="0">
                <a:solidFill>
                  <a:srgbClr val="1A1A1A"/>
                </a:solidFill>
                <a:latin typeface="Palatino"/>
              </a:rPr>
              <a:t>Bearish non-failure swing. Price breaks above resistance, returns below it, and creates a short entry with a stop above the breakout high.</a:t>
            </a:r>
          </a:p>
        </p:txBody>
      </p:sp>
      <p:cxnSp>
        <p:nvCxnSpPr>
          <p:cNvPr id="12" name="Connector 11"/>
          <p:cNvCxnSpPr/>
          <p:nvPr/>
        </p:nvCxnSpPr>
        <p:spPr>
          <a:xfrm>
            <a:off x="6905291" y="2280513"/>
            <a:ext cx="2214409" cy="0"/>
          </a:xfrm>
          <a:prstGeom prst="line">
            <a:avLst/>
          </a:prstGeom>
          <a:ln w="44450">
            <a:solidFill>
              <a:srgbClr val="E09B00"/>
            </a:solidFill>
          </a:ln>
        </p:spPr>
      </p:cxnSp>
      <p:sp>
        <p:nvSpPr>
          <p:cNvPr id="13" name="Oval 12"/>
          <p:cNvSpPr/>
          <p:nvPr/>
        </p:nvSpPr>
        <p:spPr>
          <a:xfrm>
            <a:off x="7824480" y="2034722"/>
            <a:ext cx="292469" cy="316016"/>
          </a:xfrm>
          <a:prstGeom prst="ellipse">
            <a:avLst/>
          </a:prstGeom>
          <a:noFill/>
          <a:ln w="44450">
            <a:solidFill>
              <a:srgbClr val="C62828"/>
            </a:solidFill>
          </a:ln>
        </p:spPr>
        <p:txBody>
          <a:bodyPr rtlCol="0" anchor="ctr"/>
          <a:lstStyle/>
          <a:p>
            <a:pPr algn="ctr"/>
          </a:p>
        </p:txBody>
      </p:sp>
      <p:sp>
        <p:nvSpPr>
          <p:cNvPr id="14" name="Oval 13"/>
          <p:cNvSpPr/>
          <p:nvPr/>
        </p:nvSpPr>
        <p:spPr>
          <a:xfrm>
            <a:off x="8116949" y="2280513"/>
            <a:ext cx="250687" cy="280903"/>
          </a:xfrm>
          <a:prstGeom prst="ellipse">
            <a:avLst/>
          </a:prstGeom>
          <a:noFill/>
          <a:ln w="44450">
            <a:solidFill>
              <a:srgbClr val="1F5FAD"/>
            </a:solidFill>
          </a:ln>
        </p:spPr>
        <p:txBody>
          <a:bodyPr rtlCol="0" anchor="ctr"/>
          <a:lstStyle/>
          <a:p>
            <a:pPr algn="ctr"/>
          </a:p>
        </p:txBody>
      </p:sp>
      <p:cxnSp>
        <p:nvCxnSpPr>
          <p:cNvPr id="15" name="Connector 14"/>
          <p:cNvCxnSpPr/>
          <p:nvPr/>
        </p:nvCxnSpPr>
        <p:spPr>
          <a:xfrm>
            <a:off x="7740917" y="2034722"/>
            <a:ext cx="626720" cy="0"/>
          </a:xfrm>
          <a:prstGeom prst="line">
            <a:avLst/>
          </a:prstGeom>
          <a:ln w="44450">
            <a:solidFill>
              <a:srgbClr val="7B3FA0"/>
            </a:solidFill>
          </a:ln>
        </p:spPr>
      </p:cxnSp>
      <p:sp>
        <p:nvSpPr>
          <p:cNvPr id="16" name="Oval 15"/>
          <p:cNvSpPr/>
          <p:nvPr/>
        </p:nvSpPr>
        <p:spPr>
          <a:xfrm>
            <a:off x="6791625" y="24761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543688" y="240596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462876" y="226551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7293000" y="1914387"/>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989319" y="5650991"/>
            <a:ext cx="54251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228, Figure 7.31. The crop and marks are for teaching; the worked PHP values are ours, invented.</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7.32 shows the same failed-break idea in both directions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47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false upside high and red </a:t>
            </a:r>
            <a:r>
              <a:rPr sz="1700" b="1" i="0">
                <a:solidFill>
                  <a:srgbClr val="C62828"/>
                </a:solidFill>
                <a:latin typeface="Arial"/>
              </a:rPr>
              <a:t>(2)</a:t>
            </a:r>
            <a:r>
              <a:rPr sz="1700" b="0" i="0">
                <a:solidFill>
                  <a:srgbClr val="1A1A1A"/>
                </a:solidFill>
                <a:latin typeface="Arial"/>
              </a:rPr>
              <a:t> the false downside low. Blue </a:t>
            </a:r>
            <a:r>
              <a:rPr sz="1700" b="1" i="0">
                <a:solidFill>
                  <a:srgbClr val="1F5FAD"/>
                </a:solidFill>
                <a:latin typeface="Arial"/>
              </a:rPr>
              <a:t>(3)</a:t>
            </a:r>
            <a:r>
              <a:rPr sz="1700" b="0" i="0">
                <a:solidFill>
                  <a:srgbClr val="1A1A1A"/>
                </a:solidFill>
                <a:latin typeface="Arial"/>
              </a:rPr>
              <a:t> marks the upper close back below resistance; purple </a:t>
            </a:r>
            <a:r>
              <a:rPr sz="1700" b="1" i="0">
                <a:solidFill>
                  <a:srgbClr val="7B3FA0"/>
                </a:solidFill>
                <a:latin typeface="Arial"/>
              </a:rPr>
              <a:t>(4)</a:t>
            </a:r>
            <a:r>
              <a:rPr sz="1700" b="0" i="0">
                <a:solidFill>
                  <a:srgbClr val="1A1A1A"/>
                </a:solidFill>
                <a:latin typeface="Arial"/>
              </a:rPr>
              <a:t> marks the lower close back above support.</a:t>
            </a:r>
          </a:p>
          <a:p>
            <a:pPr algn="l">
              <a:lnSpc>
                <a:spcPct val="105000"/>
              </a:lnSpc>
              <a:spcBef>
                <a:spcPts val="0"/>
              </a:spcBef>
              <a:spcAft>
                <a:spcPts val="1100"/>
              </a:spcAft>
            </a:pPr>
            <a:r>
              <a:rPr sz="1700" b="0" i="0">
                <a:solidFill>
                  <a:srgbClr val="1A1A1A"/>
                </a:solidFill>
                <a:latin typeface="Arial"/>
              </a:rPr>
              <a:t>In our example, resistance is PHP 60.00 and support is PHP 40.00. The returned closes are PHP 59.40 and PHP 40.60, so both prices are back inside their barriers.</a:t>
            </a:r>
          </a:p>
          <a:p>
            <a:pPr algn="l">
              <a:lnSpc>
                <a:spcPct val="105000"/>
              </a:lnSpc>
              <a:spcBef>
                <a:spcPts val="0"/>
              </a:spcBef>
              <a:spcAft>
                <a:spcPts val="1100"/>
              </a:spcAft>
            </a:pPr>
            <a:r>
              <a:rPr sz="1700" b="0" i="0">
                <a:solidFill>
                  <a:srgbClr val="1A1A1A"/>
                </a:solidFill>
                <a:latin typeface="Arial"/>
              </a:rPr>
              <a:t>That return supports a short after the false upside break or a long after the false downside break (p. 229).</a:t>
            </a:r>
          </a:p>
        </p:txBody>
      </p:sp>
      <p:sp>
        <p:nvSpPr>
          <p:cNvPr id="8" name="Rectangle 7"/>
          <p:cNvSpPr/>
          <p:nvPr/>
        </p:nvSpPr>
        <p:spPr>
          <a:xfrm>
            <a:off x="6172199" y="1810512"/>
            <a:ext cx="5242255" cy="2806627"/>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256888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11168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2" name="Oval 11"/>
          <p:cNvSpPr/>
          <p:nvPr/>
        </p:nvSpPr>
        <p:spPr>
          <a:xfrm>
            <a:off x="7742380" y="2520227"/>
            <a:ext cx="350315" cy="282577"/>
          </a:xfrm>
          <a:prstGeom prst="ellipse">
            <a:avLst/>
          </a:prstGeom>
          <a:noFill/>
          <a:ln w="44450">
            <a:solidFill>
              <a:srgbClr val="E09B00"/>
            </a:solidFill>
          </a:ln>
        </p:spPr>
        <p:txBody>
          <a:bodyPr rtlCol="0" anchor="ctr"/>
          <a:lstStyle/>
          <a:p>
            <a:pPr algn="ctr"/>
          </a:p>
        </p:txBody>
      </p:sp>
      <p:sp>
        <p:nvSpPr>
          <p:cNvPr id="13" name="Oval 12"/>
          <p:cNvSpPr/>
          <p:nvPr/>
        </p:nvSpPr>
        <p:spPr>
          <a:xfrm>
            <a:off x="8943462" y="3111070"/>
            <a:ext cx="400360" cy="333954"/>
          </a:xfrm>
          <a:prstGeom prst="ellipse">
            <a:avLst/>
          </a:prstGeom>
          <a:noFill/>
          <a:ln w="44450">
            <a:solidFill>
              <a:srgbClr val="C62828"/>
            </a:solidFill>
          </a:ln>
        </p:spPr>
        <p:txBody>
          <a:bodyPr rtlCol="0" anchor="ctr"/>
          <a:lstStyle/>
          <a:p>
            <a:pPr algn="ctr"/>
          </a:p>
        </p:txBody>
      </p:sp>
      <p:sp>
        <p:nvSpPr>
          <p:cNvPr id="14" name="Oval 13"/>
          <p:cNvSpPr/>
          <p:nvPr/>
        </p:nvSpPr>
        <p:spPr>
          <a:xfrm>
            <a:off x="7942560" y="2674360"/>
            <a:ext cx="300270" cy="205510"/>
          </a:xfrm>
          <a:prstGeom prst="ellipse">
            <a:avLst/>
          </a:prstGeom>
          <a:noFill/>
          <a:ln w="44450">
            <a:solidFill>
              <a:srgbClr val="1F5FAD"/>
            </a:solidFill>
          </a:ln>
        </p:spPr>
        <p:txBody>
          <a:bodyPr rtlCol="0" anchor="ctr"/>
          <a:lstStyle/>
          <a:p>
            <a:pPr algn="ctr"/>
          </a:p>
        </p:txBody>
      </p:sp>
      <p:sp>
        <p:nvSpPr>
          <p:cNvPr id="15" name="Oval 14"/>
          <p:cNvSpPr/>
          <p:nvPr/>
        </p:nvSpPr>
        <p:spPr>
          <a:xfrm>
            <a:off x="10144545" y="3393647"/>
            <a:ext cx="350315" cy="282577"/>
          </a:xfrm>
          <a:prstGeom prst="ellipse">
            <a:avLst/>
          </a:prstGeom>
          <a:noFill/>
          <a:ln w="44450">
            <a:solidFill>
              <a:srgbClr val="7B3FA0"/>
            </a:solidFill>
          </a:ln>
        </p:spPr>
        <p:txBody>
          <a:bodyPr rtlCol="0" anchor="ctr"/>
          <a:lstStyle/>
          <a:p>
            <a:pPr algn="ctr"/>
          </a:p>
        </p:txBody>
      </p:sp>
      <p:sp>
        <p:nvSpPr>
          <p:cNvPr id="16" name="Oval 15"/>
          <p:cNvSpPr/>
          <p:nvPr/>
        </p:nvSpPr>
        <p:spPr>
          <a:xfrm>
            <a:off x="7386751" y="228771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488646" y="346939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287563" y="277580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10589638" y="3135444"/>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6172199" y="4708579"/>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7.32. The crop and marks are for teaching; the worked PHP values are ours, invented.</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26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upside breakout, the bearish entry is:</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a close below resistance</a:t>
            </a:r>
          </a:p>
          <a:p>
            <a:pPr algn="l">
              <a:lnSpc>
                <a:spcPct val="105000"/>
              </a:lnSpc>
              <a:spcBef>
                <a:spcPts val="0"/>
              </a:spcBef>
              <a:spcAft>
                <a:spcPts val="200"/>
              </a:spcAft>
            </a:pPr>
            <a:r>
              <a:rPr sz="1700" b="0" i="0">
                <a:solidFill>
                  <a:srgbClr val="FFFFFF"/>
                </a:solidFill>
                <a:latin typeface="Arial"/>
              </a:rPr>
              <a:t>B.  At the new high</a:t>
            </a:r>
          </a:p>
          <a:p>
            <a:pPr algn="l">
              <a:lnSpc>
                <a:spcPct val="105000"/>
              </a:lnSpc>
              <a:spcBef>
                <a:spcPts val="0"/>
              </a:spcBef>
              <a:spcAft>
                <a:spcPts val="200"/>
              </a:spcAft>
            </a:pPr>
            <a:r>
              <a:rPr sz="1700" b="0" i="0">
                <a:solidFill>
                  <a:srgbClr val="FFFFFF"/>
                </a:solidFill>
                <a:latin typeface="Arial"/>
              </a:rPr>
              <a:t>C.  Only after a gap down</a:t>
            </a:r>
          </a:p>
          <a:p>
            <a:pPr algn="l">
              <a:lnSpc>
                <a:spcPct val="105000"/>
              </a:lnSpc>
              <a:spcBef>
                <a:spcPts val="0"/>
              </a:spcBef>
              <a:spcAft>
                <a:spcPts val="200"/>
              </a:spcAft>
            </a:pPr>
            <a:r>
              <a:rPr sz="1700" b="0" i="0">
                <a:solidFill>
                  <a:srgbClr val="FFFFFF"/>
                </a:solidFill>
                <a:latin typeface="Arial"/>
              </a:rPr>
              <a:t>D.  Above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downside breakout, the bullish entry is:</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Below support</a:t>
            </a:r>
          </a:p>
          <a:p>
            <a:pPr algn="l">
              <a:lnSpc>
                <a:spcPct val="105000"/>
              </a:lnSpc>
              <a:spcBef>
                <a:spcPts val="0"/>
              </a:spcBef>
              <a:spcAft>
                <a:spcPts val="200"/>
              </a:spcAft>
            </a:pPr>
            <a:r>
              <a:rPr sz="1700" b="0" i="0">
                <a:solidFill>
                  <a:srgbClr val="FFFFFF"/>
                </a:solidFill>
                <a:latin typeface="Arial"/>
              </a:rPr>
              <a:t>B.  At the false low</a:t>
            </a:r>
          </a:p>
          <a:p>
            <a:pPr algn="l">
              <a:lnSpc>
                <a:spcPct val="105000"/>
              </a:lnSpc>
              <a:spcBef>
                <a:spcPts val="0"/>
              </a:spcBef>
              <a:spcAft>
                <a:spcPts val="200"/>
              </a:spcAft>
            </a:pPr>
            <a:r>
              <a:rPr sz="1700" b="0" i="0">
                <a:solidFill>
                  <a:srgbClr val="FFFFFF"/>
                </a:solidFill>
                <a:latin typeface="Arial"/>
              </a:rPr>
              <a:t>C.  Only after a gap up</a:t>
            </a:r>
          </a:p>
          <a:p>
            <a:pPr algn="l">
              <a:lnSpc>
                <a:spcPct val="105000"/>
              </a:lnSpc>
              <a:spcBef>
                <a:spcPts val="0"/>
              </a:spcBef>
              <a:spcAft>
                <a:spcPts val="200"/>
              </a:spcAft>
            </a:pPr>
            <a:r>
              <a:rPr sz="1700" b="0" i="0">
                <a:solidFill>
                  <a:srgbClr val="FFFFFF"/>
                </a:solidFill>
                <a:latin typeface="Arial"/>
              </a:rPr>
              <a:t>D.  At a close above support</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709918" y="1922121"/>
            <a:ext cx="353516" cy="285158"/>
          </a:xfrm>
          <a:prstGeom prst="ellipse">
            <a:avLst/>
          </a:prstGeom>
          <a:noFill/>
          <a:ln w="44450">
            <a:solidFill>
              <a:srgbClr val="E09B00"/>
            </a:solidFill>
          </a:ln>
        </p:spPr>
        <p:txBody>
          <a:bodyPr rtlCol="0" anchor="ctr"/>
          <a:lstStyle/>
          <a:p>
            <a:pPr algn="ctr"/>
          </a:p>
        </p:txBody>
      </p:sp>
      <p:sp>
        <p:nvSpPr>
          <p:cNvPr id="19" name="Oval 18"/>
          <p:cNvSpPr/>
          <p:nvPr/>
        </p:nvSpPr>
        <p:spPr>
          <a:xfrm>
            <a:off x="8921974" y="2518362"/>
            <a:ext cx="404018" cy="337005"/>
          </a:xfrm>
          <a:prstGeom prst="ellipse">
            <a:avLst/>
          </a:prstGeom>
          <a:noFill/>
          <a:ln w="44450">
            <a:solidFill>
              <a:srgbClr val="C62828"/>
            </a:solidFill>
          </a:ln>
        </p:spPr>
        <p:txBody>
          <a:bodyPr rtlCol="0" anchor="ctr"/>
          <a:lstStyle/>
          <a:p>
            <a:pPr algn="ctr"/>
          </a:p>
        </p:txBody>
      </p:sp>
      <p:sp>
        <p:nvSpPr>
          <p:cNvPr id="20" name="Oval 19"/>
          <p:cNvSpPr/>
          <p:nvPr/>
        </p:nvSpPr>
        <p:spPr>
          <a:xfrm>
            <a:off x="7911928" y="2077662"/>
            <a:ext cx="303013" cy="207388"/>
          </a:xfrm>
          <a:prstGeom prst="ellipse">
            <a:avLst/>
          </a:prstGeom>
          <a:noFill/>
          <a:ln w="44450">
            <a:solidFill>
              <a:srgbClr val="1F5FAD"/>
            </a:solidFill>
          </a:ln>
        </p:spPr>
        <p:txBody>
          <a:bodyPr rtlCol="0" anchor="ctr"/>
          <a:lstStyle/>
          <a:p>
            <a:pPr algn="ctr"/>
          </a:p>
        </p:txBody>
      </p:sp>
      <p:sp>
        <p:nvSpPr>
          <p:cNvPr id="21" name="Oval 20"/>
          <p:cNvSpPr/>
          <p:nvPr/>
        </p:nvSpPr>
        <p:spPr>
          <a:xfrm>
            <a:off x="10134029" y="2803520"/>
            <a:ext cx="353516" cy="285158"/>
          </a:xfrm>
          <a:prstGeom prst="ellipse">
            <a:avLst/>
          </a:prstGeom>
          <a:noFill/>
          <a:ln w="44450">
            <a:solidFill>
              <a:srgbClr val="7B3FA0"/>
            </a:solidFill>
          </a:ln>
        </p:spPr>
        <p:txBody>
          <a:bodyPr rtlCol="0" anchor="ctr"/>
          <a:lstStyle/>
          <a:p>
            <a:pPr algn="ctr"/>
          </a:p>
        </p:txBody>
      </p:sp>
      <p:sp>
        <p:nvSpPr>
          <p:cNvPr id="22" name="Oval 21"/>
          <p:cNvSpPr/>
          <p:nvPr/>
        </p:nvSpPr>
        <p:spPr>
          <a:xfrm>
            <a:off x="7352461" y="16889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73558" y="28813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261503" y="218144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84609" y="2544378"/>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26</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a:t>
            </a:r>
          </a:p>
        </p:txBody>
      </p:sp>
      <p:sp>
        <p:nvSpPr>
          <p:cNvPr id="6" name="Rectangle 5"/>
          <p:cNvSpPr/>
          <p:nvPr/>
        </p:nvSpPr>
        <p:spPr>
          <a:xfrm>
            <a:off x="777240" y="1207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false upside breakout, the bearish entry is:</a:t>
            </a:r>
          </a:p>
        </p:txBody>
      </p:sp>
      <p:sp>
        <p:nvSpPr>
          <p:cNvPr id="9" name="TextBox 8"/>
          <p:cNvSpPr txBox="1"/>
          <p:nvPr/>
        </p:nvSpPr>
        <p:spPr>
          <a:xfrm>
            <a:off x="1097280" y="2069338"/>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At a close below resistance</a:t>
            </a:r>
          </a:p>
          <a:p>
            <a:pPr algn="l">
              <a:lnSpc>
                <a:spcPct val="115000"/>
              </a:lnSpc>
              <a:spcBef>
                <a:spcPts val="500"/>
              </a:spcBef>
              <a:spcAft>
                <a:spcPts val="0"/>
              </a:spcAft>
            </a:pPr>
            <a:r>
              <a:rPr sz="1700" b="0" i="0">
                <a:solidFill>
                  <a:srgbClr val="1A1A1A"/>
                </a:solidFill>
                <a:latin typeface="Arial"/>
              </a:rPr>
              <a:t>The short is normally initiated when price closes below resistance after the false upside breakout (p. 229).</a:t>
            </a:r>
          </a:p>
        </p:txBody>
      </p:sp>
      <p:sp>
        <p:nvSpPr>
          <p:cNvPr id="10" name="Rectangle 9"/>
          <p:cNvSpPr/>
          <p:nvPr/>
        </p:nvSpPr>
        <p:spPr>
          <a:xfrm>
            <a:off x="777240" y="3625723"/>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After a false downside breakout, the bullish entry is:</a:t>
            </a:r>
          </a:p>
        </p:txBody>
      </p:sp>
      <p:sp>
        <p:nvSpPr>
          <p:cNvPr id="13" name="TextBox 12"/>
          <p:cNvSpPr txBox="1"/>
          <p:nvPr/>
        </p:nvSpPr>
        <p:spPr>
          <a:xfrm>
            <a:off x="1097280" y="4488053"/>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a close above support</a:t>
            </a:r>
          </a:p>
          <a:p>
            <a:pPr algn="l">
              <a:lnSpc>
                <a:spcPct val="115000"/>
              </a:lnSpc>
              <a:spcBef>
                <a:spcPts val="500"/>
              </a:spcBef>
              <a:spcAft>
                <a:spcPts val="0"/>
              </a:spcAft>
            </a:pPr>
            <a:r>
              <a:rPr sz="1700" b="0" i="0">
                <a:solidFill>
                  <a:srgbClr val="1A1A1A"/>
                </a:solidFill>
                <a:latin typeface="Arial"/>
              </a:rPr>
              <a:t>The opposite entry is taken when price closes back above support after the false downside breakout (p. 229).</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709918" y="1922121"/>
            <a:ext cx="353516" cy="285158"/>
          </a:xfrm>
          <a:prstGeom prst="ellipse">
            <a:avLst/>
          </a:prstGeom>
          <a:noFill/>
          <a:ln w="44450">
            <a:solidFill>
              <a:srgbClr val="E09B00"/>
            </a:solidFill>
          </a:ln>
        </p:spPr>
        <p:txBody>
          <a:bodyPr rtlCol="0" anchor="ctr"/>
          <a:lstStyle/>
          <a:p>
            <a:pPr algn="ctr"/>
          </a:p>
        </p:txBody>
      </p:sp>
      <p:sp>
        <p:nvSpPr>
          <p:cNvPr id="19" name="Oval 18"/>
          <p:cNvSpPr/>
          <p:nvPr/>
        </p:nvSpPr>
        <p:spPr>
          <a:xfrm>
            <a:off x="8921974" y="2518362"/>
            <a:ext cx="404018" cy="337005"/>
          </a:xfrm>
          <a:prstGeom prst="ellipse">
            <a:avLst/>
          </a:prstGeom>
          <a:noFill/>
          <a:ln w="44450">
            <a:solidFill>
              <a:srgbClr val="C62828"/>
            </a:solidFill>
          </a:ln>
        </p:spPr>
        <p:txBody>
          <a:bodyPr rtlCol="0" anchor="ctr"/>
          <a:lstStyle/>
          <a:p>
            <a:pPr algn="ctr"/>
          </a:p>
        </p:txBody>
      </p:sp>
      <p:sp>
        <p:nvSpPr>
          <p:cNvPr id="20" name="Oval 19"/>
          <p:cNvSpPr/>
          <p:nvPr/>
        </p:nvSpPr>
        <p:spPr>
          <a:xfrm>
            <a:off x="7911928" y="2077662"/>
            <a:ext cx="303013" cy="207388"/>
          </a:xfrm>
          <a:prstGeom prst="ellipse">
            <a:avLst/>
          </a:prstGeom>
          <a:noFill/>
          <a:ln w="44450">
            <a:solidFill>
              <a:srgbClr val="1F5FAD"/>
            </a:solidFill>
          </a:ln>
        </p:spPr>
        <p:txBody>
          <a:bodyPr rtlCol="0" anchor="ctr"/>
          <a:lstStyle/>
          <a:p>
            <a:pPr algn="ctr"/>
          </a:p>
        </p:txBody>
      </p:sp>
      <p:sp>
        <p:nvSpPr>
          <p:cNvPr id="21" name="Oval 20"/>
          <p:cNvSpPr/>
          <p:nvPr/>
        </p:nvSpPr>
        <p:spPr>
          <a:xfrm>
            <a:off x="10134029" y="2803520"/>
            <a:ext cx="353516" cy="285158"/>
          </a:xfrm>
          <a:prstGeom prst="ellipse">
            <a:avLst/>
          </a:prstGeom>
          <a:noFill/>
          <a:ln w="44450">
            <a:solidFill>
              <a:srgbClr val="7B3FA0"/>
            </a:solidFill>
          </a:ln>
        </p:spPr>
        <p:txBody>
          <a:bodyPr rtlCol="0" anchor="ctr"/>
          <a:lstStyle/>
          <a:p>
            <a:pPr algn="ctr"/>
          </a:p>
        </p:txBody>
      </p:sp>
      <p:sp>
        <p:nvSpPr>
          <p:cNvPr id="22" name="Oval 21"/>
          <p:cNvSpPr/>
          <p:nvPr/>
        </p:nvSpPr>
        <p:spPr>
          <a:xfrm>
            <a:off x="7352461" y="16889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73558" y="28813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261503" y="218144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84609" y="2544378"/>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26</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Double Repo names two crossings of a moving average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48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bearish Double Repo closes above and below a three-day SMA twice, so the second pair can mark a sell signal (p. 229). Lim calls the average forward-shifted when it is plotted three days forward.</a:t>
            </a:r>
          </a:p>
          <a:p>
            <a:pPr algn="l">
              <a:lnSpc>
                <a:spcPct val="118000"/>
              </a:lnSpc>
              <a:spcBef>
                <a:spcPts val="0"/>
              </a:spcBef>
              <a:spcAft>
                <a:spcPts val="1300"/>
              </a:spcAft>
            </a:pPr>
            <a:r>
              <a:rPr sz="2100" b="0" i="0">
                <a:solidFill>
                  <a:srgbClr val="1A1A1A"/>
                </a:solidFill>
                <a:latin typeface="Arial"/>
              </a:rPr>
              <a:t>Our SMA is PHP 50.00. The pairs close at PHP 50.80 above and PHP 49.60 below, then PHP 50.70 above and PHP 49.00 below after nine bullish days. Lim gives 8 to 10 days first and a top no more than 8 to 10 bars; the complete method is in DiNapoli's text.</a:t>
            </a:r>
          </a:p>
        </p:txBody>
      </p:sp>
      <p:sp>
        <p:nvSpPr>
          <p:cNvPr id="8" name="Rectangle 7"/>
          <p:cNvSpPr/>
          <p:nvPr/>
        </p:nvSpPr>
        <p:spPr>
          <a:xfrm>
            <a:off x="777240" y="484555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Count the two crossing pairs and keep the book's limits visible.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The worked PHP values are ours, invented.</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forward-shifted three-day SMA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49 of 62</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forward-shifted three-day SMA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1.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50 of 62</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forward-shifted three-day SMA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2.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51 of 62</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E09B00"/>
                </a:solidFill>
                <a:latin typeface="Arial"/>
              </a:rPr>
              <a:t>(1)</a:t>
            </a:r>
            <a:r>
              <a:rPr sz="1700" b="0" i="0">
                <a:solidFill>
                  <a:srgbClr val="1A1A1A"/>
                </a:solidFill>
                <a:latin typeface="Arial"/>
              </a:rPr>
              <a:t> marks the first close above it at PHP 50.80, and </a:t>
            </a:r>
            <a:r>
              <a:rPr sz="1700" b="1" i="0">
                <a:solidFill>
                  <a:srgbClr val="C62828"/>
                </a:solidFill>
                <a:latin typeface="Arial"/>
              </a:rPr>
              <a:t>(2)</a:t>
            </a:r>
            <a:r>
              <a:rPr sz="1700" b="0" i="0">
                <a:solidFill>
                  <a:srgbClr val="1A1A1A"/>
                </a:solidFill>
                <a:latin typeface="Arial"/>
              </a:rPr>
              <a:t> the first close below it at PHP 49.60.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3.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299508" y="386406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18946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371184" y="370728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3268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52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nine bullish days, </a:t>
            </a:r>
            <a:r>
              <a:rPr sz="1700" b="1" i="0">
                <a:solidFill>
                  <a:srgbClr val="1F5FAD"/>
                </a:solidFill>
                <a:latin typeface="Arial"/>
              </a:rPr>
              <a:t>(3)</a:t>
            </a:r>
            <a:r>
              <a:rPr sz="1700" b="0" i="0">
                <a:solidFill>
                  <a:srgbClr val="1A1A1A"/>
                </a:solidFill>
                <a:latin typeface="Arial"/>
              </a:rPr>
              <a:t> encloses the second pair: PHP 50.70 above and PHP 49.00 below. The two pairs are the named structure; the full method is in DiNapoli's text.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4.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862072" y="3442243"/>
            <a:ext cx="5519775" cy="1500877"/>
          </a:xfrm>
          <a:prstGeom prst="rect">
            <a:avLst/>
          </a:prstGeom>
          <a:noFill/>
          <a:ln w="44450">
            <a:solidFill>
              <a:srgbClr val="1F5FAD"/>
            </a:solidFill>
          </a:ln>
        </p:spPr>
        <p:txBody>
          <a:bodyPr rtlCol="0" anchor="ctr"/>
          <a:lstStyle/>
          <a:p>
            <a:pPr algn="ctr"/>
          </a:p>
        </p:txBody>
      </p:sp>
      <p:sp>
        <p:nvSpPr>
          <p:cNvPr id="10" name="Oval 9"/>
          <p:cNvSpPr/>
          <p:nvPr/>
        </p:nvSpPr>
        <p:spPr>
          <a:xfrm>
            <a:off x="8381847" y="406466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53 of 62</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7.33 shows the Double Repo reversal in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54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and red </a:t>
            </a:r>
            <a:r>
              <a:rPr sz="1800" b="1" i="0">
                <a:solidFill>
                  <a:srgbClr val="C62828"/>
                </a:solidFill>
                <a:latin typeface="Arial"/>
              </a:rPr>
              <a:t>(2)</a:t>
            </a:r>
            <a:r>
              <a:rPr sz="1800" b="0" i="0">
                <a:solidFill>
                  <a:srgbClr val="1A1A1A"/>
                </a:solidFill>
                <a:latin typeface="Arial"/>
              </a:rPr>
              <a:t> mark the first two closes across the forward-shifted three-day SMA. Blue </a:t>
            </a:r>
            <a:r>
              <a:rPr sz="1800" b="1" i="0">
                <a:solidFill>
                  <a:srgbClr val="1F5FAD"/>
                </a:solidFill>
                <a:latin typeface="Arial"/>
              </a:rPr>
              <a:t>(3)</a:t>
            </a:r>
            <a:r>
              <a:rPr sz="1800" b="0" i="0">
                <a:solidFill>
                  <a:srgbClr val="1A1A1A"/>
                </a:solidFill>
                <a:latin typeface="Arial"/>
              </a:rPr>
              <a:t> marks the later decline.</a:t>
            </a:r>
          </a:p>
          <a:p>
            <a:pPr algn="l">
              <a:lnSpc>
                <a:spcPct val="105000"/>
              </a:lnSpc>
              <a:spcBef>
                <a:spcPts val="0"/>
              </a:spcBef>
              <a:spcAft>
                <a:spcPts val="1100"/>
              </a:spcAft>
            </a:pPr>
            <a:r>
              <a:rPr sz="1800" b="0" i="0">
                <a:solidFill>
                  <a:srgbClr val="1A1A1A"/>
                </a:solidFill>
                <a:latin typeface="Arial"/>
              </a:rPr>
              <a:t>Lim presents a bearish reversal in an uptrend. The converse applies in a downtrend, but the book sends readers to DiNapoli for the complete method.</a:t>
            </a:r>
          </a:p>
          <a:p>
            <a:pPr algn="l">
              <a:lnSpc>
                <a:spcPct val="105000"/>
              </a:lnSpc>
              <a:spcBef>
                <a:spcPts val="0"/>
              </a:spcBef>
              <a:spcAft>
                <a:spcPts val="1100"/>
              </a:spcAft>
            </a:pPr>
            <a:r>
              <a:rPr sz="1800" b="0" i="0">
                <a:solidFill>
                  <a:srgbClr val="1A1A1A"/>
                </a:solidFill>
                <a:latin typeface="Arial"/>
              </a:rPr>
              <a:t>Read the two crossings as the named structure, not as a complete trading system.</a:t>
            </a:r>
          </a:p>
        </p:txBody>
      </p:sp>
      <p:sp>
        <p:nvSpPr>
          <p:cNvPr id="8" name="Rectangle 7"/>
          <p:cNvSpPr/>
          <p:nvPr/>
        </p:nvSpPr>
        <p:spPr>
          <a:xfrm>
            <a:off x="6126479" y="1810512"/>
            <a:ext cx="5287975" cy="249140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5366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sp>
        <p:nvSpPr>
          <p:cNvPr id="12" name="Oval 11"/>
          <p:cNvSpPr/>
          <p:nvPr/>
        </p:nvSpPr>
        <p:spPr>
          <a:xfrm>
            <a:off x="8164439" y="2380117"/>
            <a:ext cx="303013" cy="202829"/>
          </a:xfrm>
          <a:prstGeom prst="ellipse">
            <a:avLst/>
          </a:prstGeom>
          <a:noFill/>
          <a:ln w="44450">
            <a:solidFill>
              <a:srgbClr val="E09B00"/>
            </a:solidFill>
          </a:ln>
        </p:spPr>
        <p:txBody>
          <a:bodyPr rtlCol="0" anchor="ctr"/>
          <a:lstStyle/>
          <a:p>
            <a:pPr algn="ctr"/>
          </a:p>
        </p:txBody>
      </p:sp>
      <p:sp>
        <p:nvSpPr>
          <p:cNvPr id="13" name="Oval 12"/>
          <p:cNvSpPr/>
          <p:nvPr/>
        </p:nvSpPr>
        <p:spPr>
          <a:xfrm>
            <a:off x="8770467" y="2380117"/>
            <a:ext cx="303013" cy="202829"/>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9224988" y="2830850"/>
            <a:ext cx="909041" cy="631026"/>
          </a:xfrm>
          <a:prstGeom prst="line">
            <a:avLst/>
          </a:prstGeom>
          <a:ln w="44450">
            <a:solidFill>
              <a:srgbClr val="1F5FAD"/>
            </a:solidFill>
            <a:tailEnd type="triangle" w="med" len="med"/>
          </a:ln>
        </p:spPr>
      </p:cxnSp>
      <p:sp>
        <p:nvSpPr>
          <p:cNvPr id="15" name="Oval 14"/>
          <p:cNvSpPr/>
          <p:nvPr/>
        </p:nvSpPr>
        <p:spPr>
          <a:xfrm>
            <a:off x="7857484" y="215705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120042" y="215705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80591" y="339657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9336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 the worked PHP values are ours, invented.</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Double Repo also has timing limits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55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forward-shifted three-day SMA. Red </a:t>
            </a:r>
            <a:r>
              <a:rPr sz="2000" b="1" i="0">
                <a:solidFill>
                  <a:srgbClr val="C62828"/>
                </a:solidFill>
                <a:latin typeface="Arial"/>
              </a:rPr>
              <a:t>(2)</a:t>
            </a:r>
            <a:r>
              <a:rPr sz="2000" b="0" i="0">
                <a:solidFill>
                  <a:srgbClr val="1A1A1A"/>
                </a:solidFill>
                <a:latin typeface="Arial"/>
              </a:rPr>
              <a:t> marks the required 8 to 10 bullish days before the pattern.</a:t>
            </a:r>
          </a:p>
          <a:p>
            <a:pPr algn="l">
              <a:lnSpc>
                <a:spcPct val="105000"/>
              </a:lnSpc>
              <a:spcBef>
                <a:spcPts val="0"/>
              </a:spcBef>
              <a:spcAft>
                <a:spcPts val="1100"/>
              </a:spcAft>
            </a:pPr>
            <a:r>
              <a:rPr sz="2000" b="0" i="0">
                <a:solidFill>
                  <a:srgbClr val="1A1A1A"/>
                </a:solidFill>
                <a:latin typeface="Arial"/>
              </a:rPr>
              <a:t>Blue </a:t>
            </a:r>
            <a:r>
              <a:rPr sz="2000" b="1" i="0">
                <a:solidFill>
                  <a:srgbClr val="1F5FAD"/>
                </a:solidFill>
                <a:latin typeface="Arial"/>
              </a:rPr>
              <a:t>(3)</a:t>
            </a:r>
            <a:r>
              <a:rPr sz="2000" b="0" i="0">
                <a:solidFill>
                  <a:srgbClr val="1A1A1A"/>
                </a:solidFill>
                <a:latin typeface="Arial"/>
              </a:rPr>
              <a:t> marks the topping formation. Lim says it should not exceed 8 to 10 bars (p. 229).</a:t>
            </a:r>
          </a:p>
          <a:p>
            <a:pPr algn="l">
              <a:lnSpc>
                <a:spcPct val="105000"/>
              </a:lnSpc>
              <a:spcBef>
                <a:spcPts val="0"/>
              </a:spcBef>
              <a:spcAft>
                <a:spcPts val="1100"/>
              </a:spcAft>
            </a:pPr>
            <a:r>
              <a:rPr sz="2000" b="0" i="0">
                <a:solidFill>
                  <a:srgbClr val="1A1A1A"/>
                </a:solidFill>
                <a:latin typeface="Arial"/>
              </a:rPr>
              <a:t>Count both limits before treating the two crossings as the named sell signal.</a:t>
            </a:r>
          </a:p>
        </p:txBody>
      </p:sp>
      <p:sp>
        <p:nvSpPr>
          <p:cNvPr id="8" name="Rectangle 7"/>
          <p:cNvSpPr/>
          <p:nvPr/>
        </p:nvSpPr>
        <p:spPr>
          <a:xfrm>
            <a:off x="6126479" y="1810512"/>
            <a:ext cx="5287975" cy="249140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5366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2" name="Connector 11"/>
          <p:cNvCxnSpPr/>
          <p:nvPr/>
        </p:nvCxnSpPr>
        <p:spPr>
          <a:xfrm>
            <a:off x="8921974" y="2425190"/>
            <a:ext cx="1010046" cy="270440"/>
          </a:xfrm>
          <a:prstGeom prst="line">
            <a:avLst/>
          </a:prstGeom>
          <a:ln w="44450">
            <a:solidFill>
              <a:srgbClr val="E09B00"/>
            </a:solidFill>
          </a:ln>
        </p:spPr>
      </p:cxnSp>
      <p:sp>
        <p:nvSpPr>
          <p:cNvPr id="13" name="Oval 12"/>
          <p:cNvSpPr/>
          <p:nvPr/>
        </p:nvSpPr>
        <p:spPr>
          <a:xfrm>
            <a:off x="7255398" y="2335043"/>
            <a:ext cx="1010046" cy="270439"/>
          </a:xfrm>
          <a:prstGeom prst="ellipse">
            <a:avLst/>
          </a:prstGeom>
          <a:noFill/>
          <a:ln w="44450">
            <a:solidFill>
              <a:srgbClr val="C62828"/>
            </a:solidFill>
          </a:ln>
        </p:spPr>
        <p:txBody>
          <a:bodyPr rtlCol="0" anchor="ctr"/>
          <a:lstStyle/>
          <a:p>
            <a:pPr algn="ctr"/>
          </a:p>
        </p:txBody>
      </p:sp>
      <p:sp>
        <p:nvSpPr>
          <p:cNvPr id="14" name="Rectangle 13"/>
          <p:cNvSpPr/>
          <p:nvPr/>
        </p:nvSpPr>
        <p:spPr>
          <a:xfrm>
            <a:off x="8214942" y="2019530"/>
            <a:ext cx="808036" cy="518343"/>
          </a:xfrm>
          <a:prstGeom prst="rect">
            <a:avLst/>
          </a:prstGeom>
          <a:noFill/>
          <a:ln w="44450">
            <a:solidFill>
              <a:srgbClr val="1F5FAD"/>
            </a:solidFill>
          </a:ln>
        </p:spPr>
        <p:txBody>
          <a:bodyPr rtlCol="0" anchor="ctr"/>
          <a:lstStyle/>
          <a:p>
            <a:pPr algn="ctr"/>
          </a:p>
        </p:txBody>
      </p:sp>
      <p:sp>
        <p:nvSpPr>
          <p:cNvPr id="15" name="Oval 14"/>
          <p:cNvSpPr/>
          <p:nvPr/>
        </p:nvSpPr>
        <p:spPr>
          <a:xfrm>
            <a:off x="9928079" y="21795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48443" y="20894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20042" y="188661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9336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 the worked PHP values are ours, invented.</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27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Double Repo limits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many crossing pairs generate the named Double Repo sell signal?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pair</a:t>
            </a:r>
          </a:p>
          <a:p>
            <a:pPr algn="l">
              <a:lnSpc>
                <a:spcPct val="105000"/>
              </a:lnSpc>
              <a:spcBef>
                <a:spcPts val="0"/>
              </a:spcBef>
              <a:spcAft>
                <a:spcPts val="200"/>
              </a:spcAft>
            </a:pPr>
            <a:r>
              <a:rPr sz="1700" b="0" i="0">
                <a:solidFill>
                  <a:srgbClr val="FFFFFF"/>
                </a:solidFill>
                <a:latin typeface="Arial"/>
              </a:rPr>
              <a:t>B.  Three pairs</a:t>
            </a:r>
          </a:p>
          <a:p>
            <a:pPr algn="l">
              <a:lnSpc>
                <a:spcPct val="105000"/>
              </a:lnSpc>
              <a:spcBef>
                <a:spcPts val="0"/>
              </a:spcBef>
              <a:spcAft>
                <a:spcPts val="200"/>
              </a:spcAft>
            </a:pPr>
            <a:r>
              <a:rPr sz="1700" b="0" i="0">
                <a:solidFill>
                  <a:srgbClr val="FFFFFF"/>
                </a:solidFill>
                <a:latin typeface="Arial"/>
              </a:rPr>
              <a:t>C.  Two pairs</a:t>
            </a:r>
          </a:p>
          <a:p>
            <a:pPr algn="l">
              <a:lnSpc>
                <a:spcPct val="105000"/>
              </a:lnSpc>
              <a:spcBef>
                <a:spcPts val="0"/>
              </a:spcBef>
              <a:spcAft>
                <a:spcPts val="200"/>
              </a:spcAft>
            </a:pPr>
            <a:r>
              <a:rPr sz="1700" b="0" i="0">
                <a:solidFill>
                  <a:srgbClr val="FFFFFF"/>
                </a:solidFill>
                <a:latin typeface="Arial"/>
              </a:rPr>
              <a:t>D.  No pairs</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Lim place the complete Double Repo method?</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DiNapoli's original text</a:t>
            </a:r>
          </a:p>
          <a:p>
            <a:pPr algn="l">
              <a:lnSpc>
                <a:spcPct val="105000"/>
              </a:lnSpc>
              <a:spcBef>
                <a:spcPts val="0"/>
              </a:spcBef>
              <a:spcAft>
                <a:spcPts val="200"/>
              </a:spcAft>
            </a:pPr>
            <a:r>
              <a:rPr sz="1700" b="0" i="0">
                <a:solidFill>
                  <a:srgbClr val="FFFFFF"/>
                </a:solidFill>
                <a:latin typeface="Arial"/>
              </a:rPr>
              <a:t>B.  The volume panel</a:t>
            </a:r>
          </a:p>
          <a:p>
            <a:pPr algn="l">
              <a:lnSpc>
                <a:spcPct val="105000"/>
              </a:lnSpc>
              <a:spcBef>
                <a:spcPts val="0"/>
              </a:spcBef>
              <a:spcAft>
                <a:spcPts val="200"/>
              </a:spcAft>
            </a:pPr>
            <a:r>
              <a:rPr sz="1700" b="0" i="0">
                <a:solidFill>
                  <a:srgbClr val="FFFFFF"/>
                </a:solidFill>
                <a:latin typeface="Arial"/>
              </a:rPr>
              <a:t>C.  The Hikkake figure</a:t>
            </a:r>
          </a:p>
          <a:p>
            <a:pPr algn="l">
              <a:lnSpc>
                <a:spcPct val="105000"/>
              </a:lnSpc>
              <a:spcBef>
                <a:spcPts val="0"/>
              </a:spcBef>
              <a:spcAft>
                <a:spcPts val="200"/>
              </a:spcAft>
            </a:pPr>
            <a:r>
              <a:rPr sz="1700" b="0" i="0">
                <a:solidFill>
                  <a:srgbClr val="FFFFFF"/>
                </a:solidFill>
                <a:latin typeface="Arial"/>
              </a:rPr>
              <a:t>D.  No source</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821686"/>
            <a:ext cx="1010046" cy="270440"/>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14942" y="1416026"/>
            <a:ext cx="808036" cy="518343"/>
          </a:xfrm>
          <a:prstGeom prst="rect">
            <a:avLst/>
          </a:prstGeom>
          <a:noFill/>
          <a:ln w="44450">
            <a:solidFill>
              <a:srgbClr val="1F5FAD"/>
            </a:solidFill>
          </a:ln>
        </p:spPr>
        <p:txBody>
          <a:bodyPr rtlCol="0" anchor="ctr"/>
          <a:lstStyle/>
          <a:p>
            <a:pPr algn="ctr"/>
          </a:p>
        </p:txBody>
      </p:sp>
      <p:sp>
        <p:nvSpPr>
          <p:cNvPr id="21" name="Oval 20"/>
          <p:cNvSpPr/>
          <p:nvPr/>
        </p:nvSpPr>
        <p:spPr>
          <a:xfrm>
            <a:off x="9928079" y="15760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948443" y="14859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128311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27</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Double Repo limits</a:t>
            </a:r>
          </a:p>
        </p:txBody>
      </p:sp>
      <p:sp>
        <p:nvSpPr>
          <p:cNvPr id="6" name="Rectangle 5"/>
          <p:cNvSpPr/>
          <p:nvPr/>
        </p:nvSpPr>
        <p:spPr>
          <a:xfrm>
            <a:off x="777240" y="1207008"/>
            <a:ext cx="5029200" cy="226504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6504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How many crossing pairs generate the named Double Repo sell signal?</a:t>
            </a:r>
          </a:p>
        </p:txBody>
      </p:sp>
      <p:sp>
        <p:nvSpPr>
          <p:cNvPr id="9" name="TextBox 8"/>
          <p:cNvSpPr txBox="1"/>
          <p:nvPr/>
        </p:nvSpPr>
        <p:spPr>
          <a:xfrm>
            <a:off x="1097280" y="2069338"/>
            <a:ext cx="448056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Two pairs</a:t>
            </a:r>
          </a:p>
          <a:p>
            <a:pPr algn="l">
              <a:lnSpc>
                <a:spcPct val="115000"/>
              </a:lnSpc>
              <a:spcBef>
                <a:spcPts val="500"/>
              </a:spcBef>
              <a:spcAft>
                <a:spcPts val="0"/>
              </a:spcAft>
            </a:pPr>
            <a:r>
              <a:rPr sz="1700" b="0" i="0">
                <a:solidFill>
                  <a:srgbClr val="1A1A1A"/>
                </a:solidFill>
                <a:latin typeface="Arial"/>
              </a:rPr>
              <a:t>The named bearish Double Repo has two closes above and below the forward-shifted SMA (p. 229).</a:t>
            </a:r>
          </a:p>
        </p:txBody>
      </p:sp>
      <p:sp>
        <p:nvSpPr>
          <p:cNvPr id="10" name="Rectangle 9"/>
          <p:cNvSpPr/>
          <p:nvPr/>
        </p:nvSpPr>
        <p:spPr>
          <a:xfrm>
            <a:off x="777240" y="3654933"/>
            <a:ext cx="502920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5493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3781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does Lim place the complete Double Repo method?</a:t>
            </a:r>
          </a:p>
        </p:txBody>
      </p:sp>
      <p:sp>
        <p:nvSpPr>
          <p:cNvPr id="13" name="TextBox 12"/>
          <p:cNvSpPr txBox="1"/>
          <p:nvPr/>
        </p:nvSpPr>
        <p:spPr>
          <a:xfrm>
            <a:off x="1097280" y="4517263"/>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DiNapoli's original text</a:t>
            </a:r>
          </a:p>
          <a:p>
            <a:pPr algn="l">
              <a:lnSpc>
                <a:spcPct val="115000"/>
              </a:lnSpc>
              <a:spcBef>
                <a:spcPts val="500"/>
              </a:spcBef>
              <a:spcAft>
                <a:spcPts val="0"/>
              </a:spcAft>
            </a:pPr>
            <a:r>
              <a:rPr sz="1700" b="0" i="0">
                <a:solidFill>
                  <a:srgbClr val="1A1A1A"/>
                </a:solidFill>
                <a:latin typeface="Arial"/>
              </a:rPr>
              <a:t>Lim sends readers to DiNapoli's original text for the detailed method (p. 229).</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821686"/>
            <a:ext cx="1010046" cy="270440"/>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14942" y="1416026"/>
            <a:ext cx="808036" cy="518343"/>
          </a:xfrm>
          <a:prstGeom prst="rect">
            <a:avLst/>
          </a:prstGeom>
          <a:noFill/>
          <a:ln w="44450">
            <a:solidFill>
              <a:srgbClr val="1F5FAD"/>
            </a:solidFill>
          </a:ln>
        </p:spPr>
        <p:txBody>
          <a:bodyPr rtlCol="0" anchor="ctr"/>
          <a:lstStyle/>
          <a:p>
            <a:pPr algn="ctr"/>
          </a:p>
        </p:txBody>
      </p:sp>
      <p:sp>
        <p:nvSpPr>
          <p:cNvPr id="21" name="Oval 20"/>
          <p:cNvSpPr/>
          <p:nvPr/>
        </p:nvSpPr>
        <p:spPr>
          <a:xfrm>
            <a:off x="9928079" y="15760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948443" y="14859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128311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27</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Hikkake is an inside-bar trap followed by the opposite entry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56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finish with Hikkake, a trap or ensnaring in Lim's wording: an inside-bar breakout fails, and the entry is taken only in the opposite direction (p. 230).</a:t>
            </a:r>
          </a:p>
          <a:p>
            <a:pPr algn="l">
              <a:lnSpc>
                <a:spcPct val="118000"/>
              </a:lnSpc>
              <a:spcBef>
                <a:spcPts val="0"/>
              </a:spcBef>
              <a:spcAft>
                <a:spcPts val="1300"/>
              </a:spcAft>
            </a:pPr>
            <a:r>
              <a:rPr sz="2100" b="0" i="0">
                <a:solidFill>
                  <a:srgbClr val="1A1A1A"/>
                </a:solidFill>
                <a:latin typeface="Arial"/>
              </a:rPr>
              <a:t>Our bearish example has inside high PHP 52.00, inside low PHP 49.00, false high PHP 53.00, and re-entry below PHP 49.00 within three bars. The bullish converse follows a failed downside break.</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three-bar window is part of the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The worked PHP values are ours, invented.</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Hikkake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bearish Hikkake begins with an inside bar: </a:t>
            </a:r>
            <a:r>
              <a:rPr sz="1700" b="1" i="0">
                <a:solidFill>
                  <a:srgbClr val="E09B00"/>
                </a:solidFill>
                <a:latin typeface="Arial"/>
              </a:rPr>
              <a:t>(1)</a:t>
            </a:r>
            <a:r>
              <a:rPr sz="1700" b="0" i="0">
                <a:solidFill>
                  <a:srgbClr val="1A1A1A"/>
                </a:solidFill>
                <a:latin typeface="Arial"/>
              </a:rPr>
              <a:t> marks its high of PHP 52.00 and low of PHP 49.00. Price breaks above the inside high to PHP 53.00 at </a:t>
            </a:r>
            <a:r>
              <a:rPr sz="1700" b="1" i="0">
                <a:solidFill>
                  <a:srgbClr val="C62828"/>
                </a:solidFill>
                <a:latin typeface="Arial"/>
              </a:rPr>
              <a:t>(2)</a:t>
            </a:r>
            <a:r>
              <a:rPr sz="1700" b="0" i="0">
                <a:solidFill>
                  <a:srgbClr val="1A1A1A"/>
                </a:solidFill>
                <a:latin typeface="Arial"/>
              </a:rPr>
              <a:t>. Price re-enters below PHP 49.00 at </a:t>
            </a:r>
            <a:r>
              <a:rPr sz="1700" b="1" i="0">
                <a:solidFill>
                  <a:srgbClr val="1F5FAD"/>
                </a:solidFill>
                <a:latin typeface="Arial"/>
              </a:rPr>
              <a:t>(3)</a:t>
            </a:r>
            <a:r>
              <a:rPr sz="1700" b="0" i="0">
                <a:solidFill>
                  <a:srgbClr val="1A1A1A"/>
                </a:solidFill>
                <a:latin typeface="Arial"/>
              </a:rPr>
              <a:t> within three bars. The failed upside break is not the entry; the bearish entry is the opposite re-entry (p. 230).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h-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24972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77398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16560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61720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57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LH: invented PHP levels and entries.</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Hikkake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bullish case, </a:t>
            </a:r>
            <a:r>
              <a:rPr sz="1700" b="1" i="0">
                <a:solidFill>
                  <a:srgbClr val="E09B00"/>
                </a:solidFill>
                <a:latin typeface="Arial"/>
              </a:rPr>
              <a:t>(1)</a:t>
            </a:r>
            <a:r>
              <a:rPr sz="1700" b="0" i="0">
                <a:solidFill>
                  <a:srgbClr val="1A1A1A"/>
                </a:solidFill>
                <a:latin typeface="Arial"/>
              </a:rPr>
              <a:t> marks the inside bar, </a:t>
            </a:r>
            <a:r>
              <a:rPr sz="1700" b="1" i="0">
                <a:solidFill>
                  <a:srgbClr val="C62828"/>
                </a:solidFill>
                <a:latin typeface="Arial"/>
              </a:rPr>
              <a:t>(2)</a:t>
            </a:r>
            <a:r>
              <a:rPr sz="1700" b="0" i="0">
                <a:solidFill>
                  <a:srgbClr val="1A1A1A"/>
                </a:solidFill>
                <a:latin typeface="Arial"/>
              </a:rPr>
              <a:t> its false downside breakout, and </a:t>
            </a:r>
            <a:r>
              <a:rPr sz="1700" b="1" i="0">
                <a:solidFill>
                  <a:srgbClr val="1F5FAD"/>
                </a:solidFill>
                <a:latin typeface="Arial"/>
              </a:rPr>
              <a:t>(3)</a:t>
            </a:r>
            <a:r>
              <a:rPr sz="1700" b="0" i="0">
                <a:solidFill>
                  <a:srgbClr val="1A1A1A"/>
                </a:solidFill>
                <a:latin typeface="Arial"/>
              </a:rPr>
              <a:t> the long re-entry above PHP 43.00. Its invented levels are high 43.00, low 40.00 and false low 39.00.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i-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16234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494873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69051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07822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486460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53374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LI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58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LI: invented PHP values; the book's drawing is shown separately.</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Bearish Hikkake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bearish case, </a:t>
            </a:r>
            <a:r>
              <a:rPr sz="1700" b="1" i="0">
                <a:solidFill>
                  <a:srgbClr val="E09B00"/>
                </a:solidFill>
                <a:latin typeface="Arial"/>
              </a:rPr>
              <a:t>(1)</a:t>
            </a:r>
            <a:r>
              <a:rPr sz="1700" b="0" i="0">
                <a:solidFill>
                  <a:srgbClr val="1A1A1A"/>
                </a:solidFill>
                <a:latin typeface="Arial"/>
              </a:rPr>
              <a:t> marks the inside bar, </a:t>
            </a:r>
            <a:r>
              <a:rPr sz="1700" b="1" i="0">
                <a:solidFill>
                  <a:srgbClr val="C62828"/>
                </a:solidFill>
                <a:latin typeface="Arial"/>
              </a:rPr>
              <a:t>(2)</a:t>
            </a:r>
            <a:r>
              <a:rPr sz="1700" b="0" i="0">
                <a:solidFill>
                  <a:srgbClr val="1A1A1A"/>
                </a:solidFill>
                <a:latin typeface="Arial"/>
              </a:rPr>
              <a:t> its false upside breakout, and </a:t>
            </a:r>
            <a:r>
              <a:rPr sz="1700" b="1" i="0">
                <a:solidFill>
                  <a:srgbClr val="1F5FAD"/>
                </a:solidFill>
                <a:latin typeface="Arial"/>
              </a:rPr>
              <a:t>(3)</a:t>
            </a:r>
            <a:r>
              <a:rPr sz="1700" b="0" i="0">
                <a:solidFill>
                  <a:srgbClr val="1A1A1A"/>
                </a:solidFill>
                <a:latin typeface="Arial"/>
              </a:rPr>
              <a:t> the short re-entry below PHP 49.00. Its invented levels are high 52.00, low 49.00 and false high 53.00.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i-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24972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77398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16560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61720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LI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59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LI: invented PHP values; the book's drawing is shown separately.</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7.34 shows the bullish Hikkake sequence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60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downside breakout, and blue </a:t>
            </a:r>
            <a:r>
              <a:rPr sz="2000" b="1" i="0">
                <a:solidFill>
                  <a:srgbClr val="1F5FAD"/>
                </a:solidFill>
                <a:latin typeface="Arial"/>
              </a:rPr>
              <a:t>(3)</a:t>
            </a:r>
            <a:r>
              <a:rPr sz="2000" b="0" i="0">
                <a:solidFill>
                  <a:srgbClr val="1A1A1A"/>
                </a:solidFill>
                <a:latin typeface="Arial"/>
              </a:rPr>
              <a:t> the re-entry above the inside high.</a:t>
            </a:r>
          </a:p>
          <a:p>
            <a:pPr algn="l">
              <a:lnSpc>
                <a:spcPct val="105000"/>
              </a:lnSpc>
              <a:spcBef>
                <a:spcPts val="0"/>
              </a:spcBef>
              <a:spcAft>
                <a:spcPts val="1100"/>
              </a:spcAft>
            </a:pPr>
            <a:r>
              <a:rPr sz="2000" b="0" i="0">
                <a:solidFill>
                  <a:srgbClr val="1A1A1A"/>
                </a:solidFill>
                <a:latin typeface="Arial"/>
              </a:rPr>
              <a:t>The entry is taken only in the opposite direction and within three bars (Lim, p. 230).</a:t>
            </a:r>
          </a:p>
        </p:txBody>
      </p:sp>
      <p:sp>
        <p:nvSpPr>
          <p:cNvPr id="8" name="Rectangle 7"/>
          <p:cNvSpPr/>
          <p:nvPr/>
        </p:nvSpPr>
        <p:spPr>
          <a:xfrm>
            <a:off x="676474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8361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361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5793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bullish schematic: an inside bar, a failed downside breakout, and the opposite re-entry above the inside high.</a:t>
            </a:r>
          </a:p>
        </p:txBody>
      </p:sp>
      <p:sp>
        <p:nvSpPr>
          <p:cNvPr id="12" name="Rectangle 11"/>
          <p:cNvSpPr/>
          <p:nvPr/>
        </p:nvSpPr>
        <p:spPr>
          <a:xfrm>
            <a:off x="7864778" y="2877433"/>
            <a:ext cx="1207585" cy="1509857"/>
          </a:xfrm>
          <a:prstGeom prst="rect">
            <a:avLst/>
          </a:prstGeom>
          <a:noFill/>
          <a:ln w="44450">
            <a:solidFill>
              <a:srgbClr val="E09B00"/>
            </a:solidFill>
          </a:ln>
        </p:spPr>
        <p:txBody>
          <a:bodyPr rtlCol="0" anchor="ctr"/>
          <a:lstStyle/>
          <a:p>
            <a:pPr algn="ctr"/>
          </a:p>
        </p:txBody>
      </p:sp>
      <p:sp>
        <p:nvSpPr>
          <p:cNvPr id="13" name="Oval 12"/>
          <p:cNvSpPr/>
          <p:nvPr/>
        </p:nvSpPr>
        <p:spPr>
          <a:xfrm>
            <a:off x="8619519" y="3790370"/>
            <a:ext cx="377370" cy="667146"/>
          </a:xfrm>
          <a:prstGeom prst="ellipse">
            <a:avLst/>
          </a:prstGeom>
          <a:noFill/>
          <a:ln w="44450">
            <a:solidFill>
              <a:srgbClr val="C62828"/>
            </a:solidFill>
          </a:ln>
        </p:spPr>
        <p:txBody>
          <a:bodyPr rtlCol="0" anchor="ctr"/>
          <a:lstStyle/>
          <a:p>
            <a:pPr algn="ctr"/>
          </a:p>
        </p:txBody>
      </p:sp>
      <p:cxnSp>
        <p:nvCxnSpPr>
          <p:cNvPr id="14" name="Connector 13"/>
          <p:cNvCxnSpPr/>
          <p:nvPr/>
        </p:nvCxnSpPr>
        <p:spPr>
          <a:xfrm flipV="1">
            <a:off x="9638419" y="2807208"/>
            <a:ext cx="490582" cy="807598"/>
          </a:xfrm>
          <a:prstGeom prst="line">
            <a:avLst/>
          </a:prstGeom>
          <a:ln w="44450">
            <a:solidFill>
              <a:srgbClr val="1F5FAD"/>
            </a:solidFill>
            <a:tailEnd type="triangle" w="med" len="med"/>
          </a:ln>
        </p:spPr>
      </p:cxnSp>
      <p:sp>
        <p:nvSpPr>
          <p:cNvPr id="15" name="Oval 14"/>
          <p:cNvSpPr/>
          <p:nvPr/>
        </p:nvSpPr>
        <p:spPr>
          <a:xfrm>
            <a:off x="7407433" y="254642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143338" y="44074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62238" y="247619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65099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 the worked PHP values are ours, invented.</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Hikkake is the same trap in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61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upside breakout, and blue </a:t>
            </a:r>
            <a:r>
              <a:rPr sz="2000" b="1" i="0">
                <a:solidFill>
                  <a:srgbClr val="1F5FAD"/>
                </a:solidFill>
                <a:latin typeface="Arial"/>
              </a:rPr>
              <a:t>(3)</a:t>
            </a:r>
            <a:r>
              <a:rPr sz="2000" b="0" i="0">
                <a:solidFill>
                  <a:srgbClr val="1A1A1A"/>
                </a:solidFill>
                <a:latin typeface="Arial"/>
              </a:rPr>
              <a:t> the re-entry below the inside low.</a:t>
            </a:r>
          </a:p>
          <a:p>
            <a:pPr algn="l">
              <a:lnSpc>
                <a:spcPct val="105000"/>
              </a:lnSpc>
              <a:spcBef>
                <a:spcPts val="0"/>
              </a:spcBef>
              <a:spcAft>
                <a:spcPts val="1100"/>
              </a:spcAft>
            </a:pPr>
            <a:r>
              <a:rPr sz="2000" b="0" i="0">
                <a:solidFill>
                  <a:srgbClr val="1A1A1A"/>
                </a:solidFill>
                <a:latin typeface="Arial"/>
              </a:rPr>
              <a:t>The failed upside direction is not the entry. The bearish entry is the opposite re-entry within three bars (Lim, p. 230).</a:t>
            </a:r>
          </a:p>
        </p:txBody>
      </p:sp>
      <p:sp>
        <p:nvSpPr>
          <p:cNvPr id="8" name="Rectangle 7"/>
          <p:cNvSpPr/>
          <p:nvPr/>
        </p:nvSpPr>
        <p:spPr>
          <a:xfrm>
            <a:off x="676474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8361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361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5793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2" name="Rectangle 11"/>
          <p:cNvSpPr/>
          <p:nvPr/>
        </p:nvSpPr>
        <p:spPr>
          <a:xfrm>
            <a:off x="7260985" y="2877433"/>
            <a:ext cx="905689" cy="1509857"/>
          </a:xfrm>
          <a:prstGeom prst="rect">
            <a:avLst/>
          </a:prstGeom>
          <a:noFill/>
          <a:ln w="44450">
            <a:solidFill>
              <a:srgbClr val="E09B00"/>
            </a:solidFill>
          </a:ln>
        </p:spPr>
        <p:txBody>
          <a:bodyPr rtlCol="0" anchor="ctr"/>
          <a:lstStyle/>
          <a:p>
            <a:pPr algn="ctr"/>
          </a:p>
        </p:txBody>
      </p:sp>
      <p:sp>
        <p:nvSpPr>
          <p:cNvPr id="13" name="Oval 12"/>
          <p:cNvSpPr/>
          <p:nvPr/>
        </p:nvSpPr>
        <p:spPr>
          <a:xfrm>
            <a:off x="8242148" y="2877433"/>
            <a:ext cx="905689" cy="702259"/>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8921415" y="3755257"/>
            <a:ext cx="1056638" cy="702260"/>
          </a:xfrm>
          <a:prstGeom prst="line">
            <a:avLst/>
          </a:prstGeom>
          <a:ln w="44450">
            <a:solidFill>
              <a:srgbClr val="1F5FAD"/>
            </a:solidFill>
            <a:tailEnd type="triangle" w="med" len="med"/>
          </a:ln>
        </p:spPr>
      </p:cxnSp>
      <p:sp>
        <p:nvSpPr>
          <p:cNvPr id="15" name="Oval 14"/>
          <p:cNvSpPr/>
          <p:nvPr/>
        </p:nvSpPr>
        <p:spPr>
          <a:xfrm>
            <a:off x="6879114" y="254642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218812" y="25464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62238" y="45829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65099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 the worked PHP values are ours, invented.</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7.35 places a bullish Hikkake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62 of 62</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Hikkake formation at the channel bottom, red </a:t>
            </a:r>
            <a:r>
              <a:rPr sz="2000" b="1" i="0">
                <a:solidFill>
                  <a:srgbClr val="C62828"/>
                </a:solidFill>
                <a:latin typeface="Arial"/>
              </a:rPr>
              <a:t>(2)</a:t>
            </a:r>
            <a:r>
              <a:rPr sz="2000" b="0" i="0">
                <a:solidFill>
                  <a:srgbClr val="1A1A1A"/>
                </a:solidFill>
                <a:latin typeface="Arial"/>
              </a:rPr>
              <a:t> its failed downside breakout, and blue </a:t>
            </a:r>
            <a:r>
              <a:rPr sz="2000" b="1" i="0">
                <a:solidFill>
                  <a:srgbClr val="1F5FAD"/>
                </a:solidFill>
                <a:latin typeface="Arial"/>
              </a:rPr>
              <a:t>(3)</a:t>
            </a:r>
            <a:r>
              <a:rPr sz="2000" b="0" i="0">
                <a:solidFill>
                  <a:srgbClr val="1A1A1A"/>
                </a:solidFill>
                <a:latin typeface="Arial"/>
              </a:rPr>
              <a:t> the upside re-entry.</a:t>
            </a:r>
          </a:p>
          <a:p>
            <a:pPr algn="l">
              <a:lnSpc>
                <a:spcPct val="105000"/>
              </a:lnSpc>
              <a:spcBef>
                <a:spcPts val="0"/>
              </a:spcBef>
              <a:spcAft>
                <a:spcPts val="1100"/>
              </a:spcAft>
            </a:pPr>
            <a:r>
              <a:rPr sz="2000" b="0" i="0">
                <a:solidFill>
                  <a:srgbClr val="1A1A1A"/>
                </a:solidFill>
                <a:latin typeface="Arial"/>
              </a:rPr>
              <a:t>The re-entry is the signal described by the book. The indicator panels are shown by Lim, but this slide does not interpret their formulas.</a:t>
            </a:r>
          </a:p>
        </p:txBody>
      </p:sp>
      <p:sp>
        <p:nvSpPr>
          <p:cNvPr id="8" name="Rectangle 7"/>
          <p:cNvSpPr/>
          <p:nvPr/>
        </p:nvSpPr>
        <p:spPr>
          <a:xfrm>
            <a:off x="6500055" y="1810512"/>
            <a:ext cx="44951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18927" y="1929384"/>
            <a:ext cx="42573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18927" y="1929384"/>
            <a:ext cx="42573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93247" y="2203703"/>
            <a:ext cx="37087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2" name="Rectangle 11"/>
          <p:cNvSpPr/>
          <p:nvPr/>
        </p:nvSpPr>
        <p:spPr>
          <a:xfrm>
            <a:off x="8407018" y="3404128"/>
            <a:ext cx="340588" cy="491581"/>
          </a:xfrm>
          <a:prstGeom prst="rect">
            <a:avLst/>
          </a:prstGeom>
          <a:noFill/>
          <a:ln w="44450">
            <a:solidFill>
              <a:srgbClr val="E09B00"/>
            </a:solidFill>
          </a:ln>
        </p:spPr>
        <p:txBody>
          <a:bodyPr rtlCol="0" anchor="ctr"/>
          <a:lstStyle/>
          <a:p>
            <a:pPr algn="ctr"/>
          </a:p>
        </p:txBody>
      </p:sp>
      <p:sp>
        <p:nvSpPr>
          <p:cNvPr id="13" name="Oval 12"/>
          <p:cNvSpPr/>
          <p:nvPr/>
        </p:nvSpPr>
        <p:spPr>
          <a:xfrm>
            <a:off x="8619886" y="3755257"/>
            <a:ext cx="212868" cy="386242"/>
          </a:xfrm>
          <a:prstGeom prst="ellipse">
            <a:avLst/>
          </a:prstGeom>
          <a:noFill/>
          <a:ln w="44450">
            <a:solidFill>
              <a:srgbClr val="C62828"/>
            </a:solidFill>
          </a:ln>
        </p:spPr>
        <p:txBody>
          <a:bodyPr rtlCol="0" anchor="ctr"/>
          <a:lstStyle/>
          <a:p>
            <a:pPr algn="ctr"/>
          </a:p>
        </p:txBody>
      </p:sp>
      <p:cxnSp>
        <p:nvCxnSpPr>
          <p:cNvPr id="14" name="Connector 13"/>
          <p:cNvCxnSpPr/>
          <p:nvPr/>
        </p:nvCxnSpPr>
        <p:spPr>
          <a:xfrm flipV="1">
            <a:off x="8832754" y="3263676"/>
            <a:ext cx="255442" cy="702259"/>
          </a:xfrm>
          <a:prstGeom prst="line">
            <a:avLst/>
          </a:prstGeom>
          <a:ln w="44450">
            <a:solidFill>
              <a:srgbClr val="1F5FAD"/>
            </a:solidFill>
            <a:tailEnd type="triangle" w="med" len="med"/>
          </a:ln>
        </p:spPr>
      </p:cxnSp>
      <p:sp>
        <p:nvSpPr>
          <p:cNvPr id="15" name="Oval 14"/>
          <p:cNvSpPr/>
          <p:nvPr/>
        </p:nvSpPr>
        <p:spPr>
          <a:xfrm>
            <a:off x="8038702" y="317845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847601" y="409139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03042" y="296777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5650991"/>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7.35. The crop and marks are for teaching; the worked PHP values are ours, invented.</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28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Hikkake example</a:t>
            </a:r>
          </a:p>
        </p:txBody>
      </p:sp>
      <p:sp>
        <p:nvSpPr>
          <p:cNvPr id="6" name="Rectangle 5"/>
          <p:cNvSpPr/>
          <p:nvPr/>
        </p:nvSpPr>
        <p:spPr>
          <a:xfrm>
            <a:off x="777240" y="1207008"/>
            <a:ext cx="498348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Within how many bars must the opposite Hikkake re-entry occur?</a:t>
            </a:r>
          </a:p>
        </p:txBody>
      </p:sp>
      <p:sp>
        <p:nvSpPr>
          <p:cNvPr id="9" name="TextBox 8"/>
          <p:cNvSpPr txBox="1"/>
          <p:nvPr/>
        </p:nvSpPr>
        <p:spPr>
          <a:xfrm>
            <a:off x="1005840" y="206933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bar</a:t>
            </a:r>
          </a:p>
          <a:p>
            <a:pPr algn="l">
              <a:lnSpc>
                <a:spcPct val="105000"/>
              </a:lnSpc>
              <a:spcBef>
                <a:spcPts val="0"/>
              </a:spcBef>
              <a:spcAft>
                <a:spcPts val="200"/>
              </a:spcAft>
            </a:pPr>
            <a:r>
              <a:rPr sz="1700" b="0" i="0">
                <a:solidFill>
                  <a:srgbClr val="FFFFFF"/>
                </a:solidFill>
                <a:latin typeface="Arial"/>
              </a:rPr>
              <a:t>B.  Three bars</a:t>
            </a:r>
          </a:p>
          <a:p>
            <a:pPr algn="l">
              <a:lnSpc>
                <a:spcPct val="105000"/>
              </a:lnSpc>
              <a:spcBef>
                <a:spcPts val="0"/>
              </a:spcBef>
              <a:spcAft>
                <a:spcPts val="200"/>
              </a:spcAft>
            </a:pPr>
            <a:r>
              <a:rPr sz="1700" b="0" i="0">
                <a:solidFill>
                  <a:srgbClr val="FFFFFF"/>
                </a:solidFill>
                <a:latin typeface="Arial"/>
              </a:rPr>
              <a:t>C.  Eight bars</a:t>
            </a:r>
          </a:p>
          <a:p>
            <a:pPr algn="l">
              <a:lnSpc>
                <a:spcPct val="105000"/>
              </a:lnSpc>
              <a:spcBef>
                <a:spcPts val="0"/>
              </a:spcBef>
              <a:spcAft>
                <a:spcPts val="200"/>
              </a:spcAft>
            </a:pPr>
            <a:r>
              <a:rPr sz="1700" b="0" i="0">
                <a:solidFill>
                  <a:srgbClr val="FFFFFF"/>
                </a:solidFill>
                <a:latin typeface="Arial"/>
              </a:rPr>
              <a:t>D.  Ten bars</a:t>
            </a:r>
          </a:p>
        </p:txBody>
      </p:sp>
      <p:sp>
        <p:nvSpPr>
          <p:cNvPr id="10" name="Rectangle 9"/>
          <p:cNvSpPr/>
          <p:nvPr/>
        </p:nvSpPr>
        <p:spPr>
          <a:xfrm>
            <a:off x="777240" y="3336798"/>
            <a:ext cx="498348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direction is taken after the initial Hikkake failure?</a:t>
            </a:r>
          </a:p>
        </p:txBody>
      </p:sp>
      <p:sp>
        <p:nvSpPr>
          <p:cNvPr id="13" name="TextBox 12"/>
          <p:cNvSpPr txBox="1"/>
          <p:nvPr/>
        </p:nvSpPr>
        <p:spPr>
          <a:xfrm>
            <a:off x="1005840" y="419912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failed direction</a:t>
            </a:r>
          </a:p>
          <a:p>
            <a:pPr algn="l">
              <a:lnSpc>
                <a:spcPct val="105000"/>
              </a:lnSpc>
              <a:spcBef>
                <a:spcPts val="0"/>
              </a:spcBef>
              <a:spcAft>
                <a:spcPts val="200"/>
              </a:spcAft>
            </a:pPr>
            <a:r>
              <a:rPr sz="1700" b="0" i="0">
                <a:solidFill>
                  <a:srgbClr val="FFFFFF"/>
                </a:solidFill>
                <a:latin typeface="Arial"/>
              </a:rPr>
              <a:t>B.  No direction</a:t>
            </a:r>
          </a:p>
          <a:p>
            <a:pPr algn="l">
              <a:lnSpc>
                <a:spcPct val="105000"/>
              </a:lnSpc>
              <a:spcBef>
                <a:spcPts val="0"/>
              </a:spcBef>
              <a:spcAft>
                <a:spcPts val="200"/>
              </a:spcAft>
            </a:pPr>
            <a:r>
              <a:rPr sz="1700" b="0" i="0">
                <a:solidFill>
                  <a:srgbClr val="FFFFFF"/>
                </a:solidFill>
                <a:latin typeface="Arial"/>
              </a:rPr>
              <a:t>C.  The opposite direction</a:t>
            </a:r>
          </a:p>
          <a:p>
            <a:pPr algn="l">
              <a:lnSpc>
                <a:spcPct val="105000"/>
              </a:lnSpc>
              <a:spcBef>
                <a:spcPts val="0"/>
              </a:spcBef>
              <a:spcAft>
                <a:spcPts val="200"/>
              </a:spcAft>
            </a:pPr>
            <a:r>
              <a:rPr sz="1700" b="0" i="0">
                <a:solidFill>
                  <a:srgbClr val="FFFFFF"/>
                </a:solidFill>
                <a:latin typeface="Arial"/>
              </a:rPr>
              <a:t>D.  Only the trend direction</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576072"/>
          </a:xfrm>
          <a:prstGeom prst="rect">
            <a:avLst/>
          </a:prstGeom>
          <a:noFill/>
          <a:ln w="44450">
            <a:solidFill>
              <a:srgbClr val="E09B00"/>
            </a:solidFill>
          </a:ln>
        </p:spPr>
        <p:txBody>
          <a:bodyPr rtlCol="0" anchor="ctr"/>
          <a:lstStyle/>
          <a:p>
            <a:pPr algn="ctr"/>
          </a:p>
        </p:txBody>
      </p:sp>
      <p:sp>
        <p:nvSpPr>
          <p:cNvPr id="19" name="Oval 18"/>
          <p:cNvSpPr/>
          <p:nvPr/>
        </p:nvSpPr>
        <p:spPr>
          <a:xfrm>
            <a:off x="8597934" y="3465576"/>
            <a:ext cx="249454" cy="452627"/>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847389" y="2889504"/>
            <a:ext cx="299346" cy="822960"/>
          </a:xfrm>
          <a:prstGeom prst="line">
            <a:avLst/>
          </a:prstGeom>
          <a:ln w="44450">
            <a:solidFill>
              <a:srgbClr val="1F5FAD"/>
            </a:solidFill>
            <a:tailEnd type="triangle" w="med" len="med"/>
          </a:ln>
        </p:spPr>
      </p:cxnSp>
      <p:sp>
        <p:nvSpPr>
          <p:cNvPr id="21" name="Oval 20"/>
          <p:cNvSpPr/>
          <p:nvPr/>
        </p:nvSpPr>
        <p:spPr>
          <a:xfrm>
            <a:off x="7943577" y="281635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891505" y="38862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90850" y="256946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28</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Hikkake example</a:t>
            </a:r>
          </a:p>
        </p:txBody>
      </p:sp>
      <p:sp>
        <p:nvSpPr>
          <p:cNvPr id="6" name="Rectangle 5"/>
          <p:cNvSpPr/>
          <p:nvPr/>
        </p:nvSpPr>
        <p:spPr>
          <a:xfrm>
            <a:off x="777240" y="1207008"/>
            <a:ext cx="4983480" cy="226504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6504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Within how many bars must the opposite Hikkake re-entry occur?</a:t>
            </a:r>
          </a:p>
        </p:txBody>
      </p:sp>
      <p:sp>
        <p:nvSpPr>
          <p:cNvPr id="9" name="TextBox 8"/>
          <p:cNvSpPr txBox="1"/>
          <p:nvPr/>
        </p:nvSpPr>
        <p:spPr>
          <a:xfrm>
            <a:off x="1097280" y="2069338"/>
            <a:ext cx="443484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Three bars</a:t>
            </a:r>
          </a:p>
          <a:p>
            <a:pPr algn="l">
              <a:lnSpc>
                <a:spcPct val="115000"/>
              </a:lnSpc>
              <a:spcBef>
                <a:spcPts val="500"/>
              </a:spcBef>
              <a:spcAft>
                <a:spcPts val="0"/>
              </a:spcAft>
            </a:pPr>
            <a:r>
              <a:rPr sz="1700" b="0" i="0">
                <a:solidFill>
                  <a:srgbClr val="1A1A1A"/>
                </a:solidFill>
                <a:latin typeface="Arial"/>
              </a:rPr>
              <a:t>Lim says the breakout must occur within three bars of the initial failed breakout (p. 230).</a:t>
            </a:r>
          </a:p>
        </p:txBody>
      </p:sp>
      <p:sp>
        <p:nvSpPr>
          <p:cNvPr id="10" name="Rectangle 9"/>
          <p:cNvSpPr/>
          <p:nvPr/>
        </p:nvSpPr>
        <p:spPr>
          <a:xfrm>
            <a:off x="777240" y="3654933"/>
            <a:ext cx="498348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5493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37813"/>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direction is taken after the initial Hikkake failure?</a:t>
            </a:r>
          </a:p>
        </p:txBody>
      </p:sp>
      <p:sp>
        <p:nvSpPr>
          <p:cNvPr id="13" name="TextBox 12"/>
          <p:cNvSpPr txBox="1"/>
          <p:nvPr/>
        </p:nvSpPr>
        <p:spPr>
          <a:xfrm>
            <a:off x="1097280" y="4517263"/>
            <a:ext cx="443484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opposite direction</a:t>
            </a:r>
          </a:p>
          <a:p>
            <a:pPr algn="l">
              <a:lnSpc>
                <a:spcPct val="115000"/>
              </a:lnSpc>
              <a:spcBef>
                <a:spcPts val="500"/>
              </a:spcBef>
              <a:spcAft>
                <a:spcPts val="0"/>
              </a:spcAft>
            </a:pPr>
            <a:r>
              <a:rPr sz="1700" b="0" i="0">
                <a:solidFill>
                  <a:srgbClr val="1A1A1A"/>
                </a:solidFill>
                <a:latin typeface="Arial"/>
              </a:rPr>
              <a:t>Hikkake takes the opposite re-entry after the inside-bar breakout fails (p. 230).</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576072"/>
          </a:xfrm>
          <a:prstGeom prst="rect">
            <a:avLst/>
          </a:prstGeom>
          <a:noFill/>
          <a:ln w="44450">
            <a:solidFill>
              <a:srgbClr val="E09B00"/>
            </a:solidFill>
          </a:ln>
        </p:spPr>
        <p:txBody>
          <a:bodyPr rtlCol="0" anchor="ctr"/>
          <a:lstStyle/>
          <a:p>
            <a:pPr algn="ctr"/>
          </a:p>
        </p:txBody>
      </p:sp>
      <p:sp>
        <p:nvSpPr>
          <p:cNvPr id="19" name="Oval 18"/>
          <p:cNvSpPr/>
          <p:nvPr/>
        </p:nvSpPr>
        <p:spPr>
          <a:xfrm>
            <a:off x="8597934" y="3465576"/>
            <a:ext cx="249454" cy="452627"/>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847389" y="2889504"/>
            <a:ext cx="299346" cy="822960"/>
          </a:xfrm>
          <a:prstGeom prst="line">
            <a:avLst/>
          </a:prstGeom>
          <a:ln w="44450">
            <a:solidFill>
              <a:srgbClr val="1F5FAD"/>
            </a:solidFill>
            <a:tailEnd type="triangle" w="med" len="med"/>
          </a:ln>
        </p:spPr>
      </p:cxnSp>
      <p:sp>
        <p:nvSpPr>
          <p:cNvPr id="21" name="Oval 20"/>
          <p:cNvSpPr/>
          <p:nvPr/>
        </p:nvSpPr>
        <p:spPr>
          <a:xfrm>
            <a:off x="7943577" y="281635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891505" y="38862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90850" y="256946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28</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29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 and Hikkake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upside breakout, the bearish entry is:</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the new high</a:t>
            </a:r>
          </a:p>
          <a:p>
            <a:pPr algn="l">
              <a:lnSpc>
                <a:spcPct val="105000"/>
              </a:lnSpc>
              <a:spcBef>
                <a:spcPts val="0"/>
              </a:spcBef>
              <a:spcAft>
                <a:spcPts val="200"/>
              </a:spcAft>
            </a:pPr>
            <a:r>
              <a:rPr sz="1700" b="0" i="0">
                <a:solidFill>
                  <a:srgbClr val="FFFFFF"/>
                </a:solidFill>
                <a:latin typeface="Arial"/>
              </a:rPr>
              <a:t>B.  Above support</a:t>
            </a:r>
          </a:p>
          <a:p>
            <a:pPr algn="l">
              <a:lnSpc>
                <a:spcPct val="105000"/>
              </a:lnSpc>
              <a:spcBef>
                <a:spcPts val="0"/>
              </a:spcBef>
              <a:spcAft>
                <a:spcPts val="200"/>
              </a:spcAft>
            </a:pPr>
            <a:r>
              <a:rPr sz="1700" b="0" i="0">
                <a:solidFill>
                  <a:srgbClr val="FFFFFF"/>
                </a:solidFill>
                <a:latin typeface="Arial"/>
              </a:rPr>
              <a:t>C.  Only after a gap down</a:t>
            </a:r>
          </a:p>
          <a:p>
            <a:pPr algn="l">
              <a:lnSpc>
                <a:spcPct val="105000"/>
              </a:lnSpc>
              <a:spcBef>
                <a:spcPts val="0"/>
              </a:spcBef>
              <a:spcAft>
                <a:spcPts val="200"/>
              </a:spcAft>
            </a:pPr>
            <a:r>
              <a:rPr sz="1700" b="0" i="0">
                <a:solidFill>
                  <a:srgbClr val="FFFFFF"/>
                </a:solidFill>
                <a:latin typeface="Arial"/>
              </a:rPr>
              <a:t>D.  At a close below resistance</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Hikkake opposite re-entry must occur within:</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bar</a:t>
            </a:r>
          </a:p>
          <a:p>
            <a:pPr algn="l">
              <a:lnSpc>
                <a:spcPct val="105000"/>
              </a:lnSpc>
              <a:spcBef>
                <a:spcPts val="0"/>
              </a:spcBef>
              <a:spcAft>
                <a:spcPts val="200"/>
              </a:spcAft>
            </a:pPr>
            <a:r>
              <a:rPr sz="1700" b="0" i="0">
                <a:solidFill>
                  <a:srgbClr val="FFFFFF"/>
                </a:solidFill>
                <a:latin typeface="Arial"/>
              </a:rPr>
              <a:t>B.  Two bars</a:t>
            </a:r>
          </a:p>
          <a:p>
            <a:pPr algn="l">
              <a:lnSpc>
                <a:spcPct val="105000"/>
              </a:lnSpc>
              <a:spcBef>
                <a:spcPts val="0"/>
              </a:spcBef>
              <a:spcAft>
                <a:spcPts val="200"/>
              </a:spcAft>
            </a:pPr>
            <a:r>
              <a:rPr sz="1700" b="0" i="0">
                <a:solidFill>
                  <a:srgbClr val="FFFFFF"/>
                </a:solidFill>
                <a:latin typeface="Arial"/>
              </a:rPr>
              <a:t>C.  Three bars</a:t>
            </a:r>
          </a:p>
          <a:p>
            <a:pPr algn="l">
              <a:lnSpc>
                <a:spcPct val="105000"/>
              </a:lnSpc>
              <a:spcBef>
                <a:spcPts val="0"/>
              </a:spcBef>
              <a:spcAft>
                <a:spcPts val="200"/>
              </a:spcAft>
            </a:pPr>
            <a:r>
              <a:rPr sz="1700" b="0" i="0">
                <a:solidFill>
                  <a:srgbClr val="FFFFFF"/>
                </a:solidFill>
                <a:latin typeface="Arial"/>
              </a:rPr>
              <a:t>D.  Ten bars</a:t>
            </a:r>
          </a:p>
        </p:txBody>
      </p:sp>
      <p:sp>
        <p:nvSpPr>
          <p:cNvPr id="14" name="Rectangle 13"/>
          <p:cNvSpPr/>
          <p:nvPr/>
        </p:nvSpPr>
        <p:spPr>
          <a:xfrm>
            <a:off x="6440439" y="1207008"/>
            <a:ext cx="4660055"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59311" y="1325880"/>
            <a:ext cx="4422311"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59311" y="1325880"/>
            <a:ext cx="44223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833631" y="1600200"/>
            <a:ext cx="3873671"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7001542" y="2436876"/>
            <a:ext cx="1061354" cy="1769363"/>
          </a:xfrm>
          <a:prstGeom prst="rect">
            <a:avLst/>
          </a:prstGeom>
          <a:noFill/>
          <a:ln w="44450">
            <a:solidFill>
              <a:srgbClr val="E09B00"/>
            </a:solidFill>
          </a:ln>
        </p:spPr>
        <p:txBody>
          <a:bodyPr rtlCol="0" anchor="ctr"/>
          <a:lstStyle/>
          <a:p>
            <a:pPr algn="ctr"/>
          </a:p>
        </p:txBody>
      </p:sp>
      <p:sp>
        <p:nvSpPr>
          <p:cNvPr id="19" name="Oval 18"/>
          <p:cNvSpPr/>
          <p:nvPr/>
        </p:nvSpPr>
        <p:spPr>
          <a:xfrm>
            <a:off x="8151343" y="2436876"/>
            <a:ext cx="1061354" cy="822959"/>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8947359" y="3465576"/>
            <a:ext cx="1238248" cy="822960"/>
          </a:xfrm>
          <a:prstGeom prst="line">
            <a:avLst/>
          </a:prstGeom>
          <a:ln w="44450">
            <a:solidFill>
              <a:srgbClr val="1F5FAD"/>
            </a:solidFill>
            <a:tailEnd type="triangle" w="med" len="med"/>
          </a:ln>
        </p:spPr>
      </p:cxnSp>
      <p:sp>
        <p:nvSpPr>
          <p:cNvPr id="21" name="Oval 20"/>
          <p:cNvSpPr/>
          <p:nvPr/>
        </p:nvSpPr>
        <p:spPr>
          <a:xfrm>
            <a:off x="6580756" y="20756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589" y="207568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428167" y="44622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29</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 and Hikkake</a:t>
            </a:r>
          </a:p>
        </p:txBody>
      </p:sp>
      <p:sp>
        <p:nvSpPr>
          <p:cNvPr id="6" name="Rectangle 5"/>
          <p:cNvSpPr/>
          <p:nvPr/>
        </p:nvSpPr>
        <p:spPr>
          <a:xfrm>
            <a:off x="777240" y="1207008"/>
            <a:ext cx="5029200" cy="248412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8412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false upside breakout, the bearish entry is:</a:t>
            </a:r>
          </a:p>
        </p:txBody>
      </p:sp>
      <p:sp>
        <p:nvSpPr>
          <p:cNvPr id="9" name="TextBox 8"/>
          <p:cNvSpPr txBox="1"/>
          <p:nvPr/>
        </p:nvSpPr>
        <p:spPr>
          <a:xfrm>
            <a:off x="1097280" y="2069338"/>
            <a:ext cx="4480560" cy="16217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a close below resistance</a:t>
            </a:r>
          </a:p>
          <a:p>
            <a:pPr algn="l">
              <a:lnSpc>
                <a:spcPct val="115000"/>
              </a:lnSpc>
              <a:spcBef>
                <a:spcPts val="500"/>
              </a:spcBef>
              <a:spcAft>
                <a:spcPts val="0"/>
              </a:spcAft>
            </a:pPr>
            <a:r>
              <a:rPr sz="1700" b="0" i="0">
                <a:solidFill>
                  <a:srgbClr val="1A1A1A"/>
                </a:solidFill>
                <a:latin typeface="Arial"/>
              </a:rPr>
              <a:t>The book says a short is normally initiated when price closes below resistance after the false upside breakout (p. 229).</a:t>
            </a:r>
          </a:p>
        </p:txBody>
      </p:sp>
      <p:sp>
        <p:nvSpPr>
          <p:cNvPr id="10" name="Rectangle 9"/>
          <p:cNvSpPr/>
          <p:nvPr/>
        </p:nvSpPr>
        <p:spPr>
          <a:xfrm>
            <a:off x="777240" y="3874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74008"/>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56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Hikkake opposite re-entry must occur within:</a:t>
            </a:r>
          </a:p>
        </p:txBody>
      </p:sp>
      <p:sp>
        <p:nvSpPr>
          <p:cNvPr id="13" name="TextBox 12"/>
          <p:cNvSpPr txBox="1"/>
          <p:nvPr/>
        </p:nvSpPr>
        <p:spPr>
          <a:xfrm>
            <a:off x="1097280" y="4736338"/>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Three bars</a:t>
            </a:r>
          </a:p>
          <a:p>
            <a:pPr algn="l">
              <a:lnSpc>
                <a:spcPct val="115000"/>
              </a:lnSpc>
              <a:spcBef>
                <a:spcPts val="500"/>
              </a:spcBef>
              <a:spcAft>
                <a:spcPts val="0"/>
              </a:spcAft>
            </a:pPr>
            <a:r>
              <a:rPr sz="1700" b="0" i="0">
                <a:solidFill>
                  <a:srgbClr val="1A1A1A"/>
                </a:solidFill>
                <a:latin typeface="Arial"/>
              </a:rPr>
              <a:t>Lim says the breakout must occur within three bars of the initial failed breakout (p. 230).</a:t>
            </a:r>
          </a:p>
        </p:txBody>
      </p:sp>
      <p:sp>
        <p:nvSpPr>
          <p:cNvPr id="14" name="Rectangle 13"/>
          <p:cNvSpPr/>
          <p:nvPr/>
        </p:nvSpPr>
        <p:spPr>
          <a:xfrm>
            <a:off x="6351993" y="1207008"/>
            <a:ext cx="483694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70865" y="1325880"/>
            <a:ext cx="459920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470865" y="1325880"/>
            <a:ext cx="459920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45185" y="1600200"/>
            <a:ext cx="405056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6930785" y="2436876"/>
            <a:ext cx="1103809" cy="1769363"/>
          </a:xfrm>
          <a:prstGeom prst="rect">
            <a:avLst/>
          </a:prstGeom>
          <a:noFill/>
          <a:ln w="44450">
            <a:solidFill>
              <a:srgbClr val="E09B00"/>
            </a:solidFill>
          </a:ln>
        </p:spPr>
        <p:txBody>
          <a:bodyPr rtlCol="0" anchor="ctr"/>
          <a:lstStyle/>
          <a:p>
            <a:pPr algn="ctr"/>
          </a:p>
        </p:txBody>
      </p:sp>
      <p:sp>
        <p:nvSpPr>
          <p:cNvPr id="19" name="Oval 18"/>
          <p:cNvSpPr/>
          <p:nvPr/>
        </p:nvSpPr>
        <p:spPr>
          <a:xfrm>
            <a:off x="8126578" y="2436876"/>
            <a:ext cx="1103809" cy="822959"/>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8954435" y="3465576"/>
            <a:ext cx="1287777" cy="822960"/>
          </a:xfrm>
          <a:prstGeom prst="line">
            <a:avLst/>
          </a:prstGeom>
          <a:ln w="44450">
            <a:solidFill>
              <a:srgbClr val="1F5FAD"/>
            </a:solidFill>
            <a:tailEnd type="triangle" w="med" len="med"/>
          </a:ln>
        </p:spPr>
      </p:cxnSp>
      <p:sp>
        <p:nvSpPr>
          <p:cNvPr id="21" name="Oval 20"/>
          <p:cNvSpPr/>
          <p:nvPr/>
        </p:nvSpPr>
        <p:spPr>
          <a:xfrm>
            <a:off x="6499385" y="20756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50892" y="207568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500693" y="44622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29</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Part 4 turns to Lim's volatility-based breakouts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4 covers the last section of Chapter 7, which Lim calls volatility-based breakout patterns (p. 230). It opens with the Hikkake, which we read at the end of Part 3; now we read the other two, Larry Williams' Oops entry and the inside day narrow range pattern.</a:t>
            </a:r>
          </a:p>
          <a:p>
            <a:pPr algn="l">
              <a:lnSpc>
                <a:spcPct val="118000"/>
              </a:lnSpc>
              <a:spcBef>
                <a:spcPts val="0"/>
              </a:spcBef>
              <a:spcAft>
                <a:spcPts val="1300"/>
              </a:spcAft>
            </a:pPr>
            <a:r>
              <a:rPr sz="2100" b="0" i="0">
                <a:solidFill>
                  <a:srgbClr val="1A1A1A"/>
                </a:solidFill>
                <a:latin typeface="Arial"/>
              </a:rPr>
              <a:t>The Oops uses three orders from Chapter 5. A sell-stop waits below the market and is filled only if price falls to it, and a buy-stop waits above the market and is filled only if price rises to it. A stoploss closes a position that moves against us.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with Chapter 5's stop orders.</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Williams' Oops trades against a gap that fails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Williams' Oops starts with a bar that opens beyond the range of the previous bar (p. 231). If the new bar opens above the previous bar's high, Lim places a sell-stop entry order at the previous bar's high and a stoploss at the new bar's high.</a:t>
            </a:r>
          </a:p>
          <a:p>
            <a:pPr algn="l">
              <a:lnSpc>
                <a:spcPct val="118000"/>
              </a:lnSpc>
              <a:spcBef>
                <a:spcPts val="0"/>
              </a:spcBef>
              <a:spcAft>
                <a:spcPts val="1300"/>
              </a:spcAft>
            </a:pPr>
            <a:r>
              <a:rPr sz="2100" b="0" i="0">
                <a:solidFill>
                  <a:srgbClr val="1A1A1A"/>
                </a:solidFill>
                <a:latin typeface="Arial"/>
              </a:rPr>
              <a:t>That gap-up case is the bearish Oops: we sell. The trade is taken only if price falls back to the previous high, against the gap, and the stoploss at the new high limits the loss if the gap keeps going.</a:t>
            </a:r>
          </a:p>
        </p:txBody>
      </p:sp>
      <p:sp>
        <p:nvSpPr>
          <p:cNvPr id="8" name="Rectangle 7"/>
          <p:cNvSpPr/>
          <p:nvPr/>
        </p:nvSpPr>
        <p:spPr>
          <a:xfrm>
            <a:off x="777240" y="484555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Oops waits for the gap to fail before it acts.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Oops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are two bars of ours. Bar 1 is the previous bar, with a high of PHP 52.00. Bar 2 opens at PHP 53.00 </a:t>
            </a:r>
            <a:r>
              <a:rPr sz="1700" b="1" i="0">
                <a:solidFill>
                  <a:srgbClr val="E09B00"/>
                </a:solidFill>
                <a:latin typeface="Arial"/>
              </a:rPr>
              <a:t>(1)</a:t>
            </a:r>
            <a:r>
              <a:rPr sz="1700" b="0" i="0">
                <a:solidFill>
                  <a:srgbClr val="1A1A1A"/>
                </a:solidFill>
                <a:latin typeface="Arial"/>
              </a:rPr>
              <a:t>, above that high, so as it opens we place a sell-stop at PHP 52.00 </a:t>
            </a:r>
            <a:r>
              <a:rPr sz="1700" b="1" i="0">
                <a:solidFill>
                  <a:srgbClr val="C62828"/>
                </a:solidFill>
                <a:latin typeface="Arial"/>
              </a:rPr>
              <a:t>(2)</a:t>
            </a:r>
            <a:r>
              <a:rPr sz="1700" b="0" i="0">
                <a:solidFill>
                  <a:srgbClr val="1A1A1A"/>
                </a:solidFill>
                <a:latin typeface="Arial"/>
              </a:rPr>
              <a:t> and a stoploss at bar 2's high. Bar 2 climbs to a high of PHP 54.00 </a:t>
            </a:r>
            <a:r>
              <a:rPr sz="1700" b="1" i="0">
                <a:solidFill>
                  <a:srgbClr val="1F5FAD"/>
                </a:solidFill>
                <a:latin typeface="Arial"/>
              </a:rPr>
              <a:t>(3)</a:t>
            </a:r>
            <a:r>
              <a:rPr sz="1700" b="0" i="0">
                <a:solidFill>
                  <a:srgbClr val="1A1A1A"/>
                </a:solidFill>
                <a:latin typeface="Arial"/>
              </a:rPr>
              <a:t>, so that is where the stoploss sits.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72546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07497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0519" y="34694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99084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3 of 20</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N is ours, with invented PHP values to show Lim (2016), p. 231.</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Oops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Then price falls to PHP 50.50, through the sell-stop at PHP 52.00 </a:t>
            </a:r>
            <a:r>
              <a:rPr sz="1700" b="1" i="0">
                <a:solidFill>
                  <a:srgbClr val="C62828"/>
                </a:solidFill>
                <a:latin typeface="Arial"/>
              </a:rPr>
              <a:t>(2)</a:t>
            </a:r>
            <a:r>
              <a:rPr sz="1700" b="0" i="0">
                <a:solidFill>
                  <a:srgbClr val="1A1A1A"/>
                </a:solidFill>
                <a:latin typeface="Arial"/>
              </a:rPr>
              <a:t>, and the order is filled: we are now short. Once we are short, if price turned back up through the stoploss at PHP 54.00 </a:t>
            </a:r>
            <a:r>
              <a:rPr sz="1700" b="1" i="0">
                <a:solidFill>
                  <a:srgbClr val="1F5FAD"/>
                </a:solidFill>
                <a:latin typeface="Arial"/>
              </a:rPr>
              <a:t>(3)</a:t>
            </a:r>
            <a:r>
              <a:rPr sz="1700" b="0" i="0">
                <a:solidFill>
                  <a:srgbClr val="1A1A1A"/>
                </a:solidFill>
                <a:latin typeface="Arial"/>
              </a:rPr>
              <a:t>, the stoploss would close the short. Lim adds that a stop and reverse order is initiated at the stoploss level (p. 231), so we would also go long there.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07497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9967874" y="399084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2" name="Oval 11"/>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4 of 20</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N is ours, with invented PHP values to show Lim (2016), p. 231.</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7.36 draws both Oops setups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6576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draws both setups in Figure 7.36 (p. 231). On the right is the bearish one: the bar gaps up </a:t>
            </a:r>
            <a:r>
              <a:rPr sz="1700" b="1" i="0">
                <a:solidFill>
                  <a:srgbClr val="E09B00"/>
                </a:solidFill>
                <a:latin typeface="Arial"/>
              </a:rPr>
              <a:t>(1)</a:t>
            </a:r>
            <a:r>
              <a:rPr sz="1700" b="0" i="0">
                <a:solidFill>
                  <a:srgbClr val="1A1A1A"/>
                </a:solidFill>
                <a:latin typeface="Arial"/>
              </a:rPr>
              <a:t>, the sell-stop sits at the previous high </a:t>
            </a:r>
            <a:r>
              <a:rPr sz="1700" b="1" i="0">
                <a:solidFill>
                  <a:srgbClr val="C62828"/>
                </a:solidFill>
                <a:latin typeface="Arial"/>
              </a:rPr>
              <a:t>(2)</a:t>
            </a:r>
            <a:r>
              <a:rPr sz="1700" b="0" i="0">
                <a:solidFill>
                  <a:srgbClr val="1A1A1A"/>
                </a:solidFill>
                <a:latin typeface="Arial"/>
              </a:rPr>
              <a:t>, and the stop and reverse level is at the new high </a:t>
            </a:r>
            <a:r>
              <a:rPr sz="1700" b="1" i="0">
                <a:solidFill>
                  <a:srgbClr val="1F5FAD"/>
                </a:solidFill>
                <a:latin typeface="Arial"/>
              </a:rPr>
              <a:t>(3)</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On the left is the bullish mirror image: the bar gaps down </a:t>
            </a:r>
            <a:r>
              <a:rPr sz="1700" b="1" i="0">
                <a:solidFill>
                  <a:srgbClr val="7B3FA0"/>
                </a:solidFill>
                <a:latin typeface="Arial"/>
              </a:rPr>
              <a:t>(4)</a:t>
            </a:r>
            <a:r>
              <a:rPr sz="1700" b="0" i="0">
                <a:solidFill>
                  <a:srgbClr val="1A1A1A"/>
                </a:solidFill>
                <a:latin typeface="Arial"/>
              </a:rPr>
              <a:t>, the buy-stop waits at the previous low </a:t>
            </a:r>
            <a:r>
              <a:rPr sz="1700" b="1" i="0">
                <a:solidFill>
                  <a:srgbClr val="C62828"/>
                </a:solidFill>
                <a:latin typeface="Arial"/>
              </a:rPr>
              <a:t>(5)</a:t>
            </a:r>
            <a:r>
              <a:rPr sz="1700" b="0" i="0">
                <a:solidFill>
                  <a:srgbClr val="1A1A1A"/>
                </a:solidFill>
                <a:latin typeface="Arial"/>
              </a:rPr>
              <a:t>, and the stop and reverse level is at the new low </a:t>
            </a:r>
            <a:r>
              <a:rPr sz="1700" b="1" i="0">
                <a:solidFill>
                  <a:srgbClr val="1F5FAD"/>
                </a:solidFill>
                <a:latin typeface="Arial"/>
              </a:rPr>
              <a:t>(6)</a:t>
            </a:r>
            <a:r>
              <a:rPr sz="1700" b="0" i="0">
                <a:solidFill>
                  <a:srgbClr val="1A1A1A"/>
                </a:solidFill>
                <a:latin typeface="Arial"/>
              </a:rPr>
              <a:t>.</a:t>
            </a:r>
          </a:p>
        </p:txBody>
      </p:sp>
      <p:sp>
        <p:nvSpPr>
          <p:cNvPr id="7" name="Rectangle 6"/>
          <p:cNvSpPr/>
          <p:nvPr/>
        </p:nvSpPr>
        <p:spPr>
          <a:xfrm>
            <a:off x="4718303" y="1207008"/>
            <a:ext cx="6732727" cy="3369530"/>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754879" y="1243584"/>
            <a:ext cx="6659575" cy="329637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4754879" y="1243584"/>
            <a:ext cx="66595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029199" y="1517904"/>
            <a:ext cx="6110935" cy="283917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7.36</a:t>
            </a:r>
          </a:p>
          <a:p>
            <a:pPr algn="l">
              <a:lnSpc>
                <a:spcPct val="115000"/>
              </a:lnSpc>
              <a:spcBef>
                <a:spcPts val="0"/>
              </a:spcBef>
              <a:spcAft>
                <a:spcPts val="0"/>
              </a:spcAft>
            </a:pPr>
            <a:r>
              <a:rPr sz="1500" b="0" i="0">
                <a:solidFill>
                  <a:srgbClr val="1A1A1A"/>
                </a:solidFill>
                <a:latin typeface="Palatino"/>
              </a:rPr>
              <a:t>The book's two Williams' Oops drawings: a gap down with a buy-stop at the previous low, and a gap up with a sell-stop at the previous high; each stop and reverse level is at the new bar's extreme.</a:t>
            </a:r>
          </a:p>
        </p:txBody>
      </p:sp>
      <p:sp>
        <p:nvSpPr>
          <p:cNvPr id="11" name="Oval 10"/>
          <p:cNvSpPr/>
          <p:nvPr/>
        </p:nvSpPr>
        <p:spPr>
          <a:xfrm>
            <a:off x="9250093" y="2100642"/>
            <a:ext cx="233085" cy="230746"/>
          </a:xfrm>
          <a:prstGeom prst="ellipse">
            <a:avLst/>
          </a:prstGeom>
          <a:noFill/>
          <a:ln w="44450">
            <a:solidFill>
              <a:srgbClr val="E09B00"/>
            </a:solidFill>
          </a:ln>
        </p:spPr>
        <p:txBody>
          <a:bodyPr rtlCol="0" anchor="ctr"/>
          <a:lstStyle/>
          <a:p>
            <a:pPr algn="ctr"/>
          </a:p>
        </p:txBody>
      </p:sp>
      <p:cxnSp>
        <p:nvCxnSpPr>
          <p:cNvPr id="12" name="Connector 11"/>
          <p:cNvCxnSpPr/>
          <p:nvPr/>
        </p:nvCxnSpPr>
        <p:spPr>
          <a:xfrm>
            <a:off x="8550837" y="2595099"/>
            <a:ext cx="1864681" cy="0"/>
          </a:xfrm>
          <a:prstGeom prst="line">
            <a:avLst/>
          </a:prstGeom>
          <a:ln w="44450">
            <a:solidFill>
              <a:srgbClr val="C62828"/>
            </a:solidFill>
          </a:ln>
        </p:spPr>
      </p:cxnSp>
      <p:cxnSp>
        <p:nvCxnSpPr>
          <p:cNvPr id="13" name="Connector 12"/>
          <p:cNvCxnSpPr/>
          <p:nvPr/>
        </p:nvCxnSpPr>
        <p:spPr>
          <a:xfrm>
            <a:off x="8517539" y="2021529"/>
            <a:ext cx="1864681" cy="0"/>
          </a:xfrm>
          <a:prstGeom prst="line">
            <a:avLst/>
          </a:prstGeom>
          <a:ln w="44450">
            <a:solidFill>
              <a:srgbClr val="1F5FAD"/>
            </a:solidFill>
          </a:ln>
        </p:spPr>
      </p:cxnSp>
      <p:sp>
        <p:nvSpPr>
          <p:cNvPr id="14" name="Oval 13"/>
          <p:cNvSpPr/>
          <p:nvPr/>
        </p:nvSpPr>
        <p:spPr>
          <a:xfrm>
            <a:off x="5753816" y="3171965"/>
            <a:ext cx="233085" cy="230746"/>
          </a:xfrm>
          <a:prstGeom prst="ellipse">
            <a:avLst/>
          </a:prstGeom>
          <a:noFill/>
          <a:ln w="44450">
            <a:solidFill>
              <a:srgbClr val="7B3FA0"/>
            </a:solidFill>
          </a:ln>
        </p:spPr>
        <p:txBody>
          <a:bodyPr rtlCol="0" anchor="ctr"/>
          <a:lstStyle/>
          <a:p>
            <a:pPr algn="ctr"/>
          </a:p>
        </p:txBody>
      </p:sp>
      <p:cxnSp>
        <p:nvCxnSpPr>
          <p:cNvPr id="15" name="Connector 14"/>
          <p:cNvCxnSpPr/>
          <p:nvPr/>
        </p:nvCxnSpPr>
        <p:spPr>
          <a:xfrm>
            <a:off x="5154454" y="2875291"/>
            <a:ext cx="1864681" cy="0"/>
          </a:xfrm>
          <a:prstGeom prst="line">
            <a:avLst/>
          </a:prstGeom>
          <a:ln w="44450">
            <a:solidFill>
              <a:srgbClr val="C62828"/>
            </a:solidFill>
          </a:ln>
        </p:spPr>
      </p:cxnSp>
      <p:cxnSp>
        <p:nvCxnSpPr>
          <p:cNvPr id="16" name="Connector 15"/>
          <p:cNvCxnSpPr/>
          <p:nvPr/>
        </p:nvCxnSpPr>
        <p:spPr>
          <a:xfrm>
            <a:off x="5154454" y="3518085"/>
            <a:ext cx="1265319" cy="0"/>
          </a:xfrm>
          <a:prstGeom prst="line">
            <a:avLst/>
          </a:prstGeom>
          <a:ln w="44450">
            <a:solidFill>
              <a:srgbClr val="1F5FAD"/>
            </a:solidFill>
          </a:ln>
        </p:spPr>
      </p:cxnSp>
      <p:sp>
        <p:nvSpPr>
          <p:cNvPr id="17" name="Oval 16"/>
          <p:cNvSpPr/>
          <p:nvPr/>
        </p:nvSpPr>
        <p:spPr>
          <a:xfrm>
            <a:off x="8813252" y="2309602"/>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511443" y="2457939"/>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511443" y="1884369"/>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6049528" y="2968877"/>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Oval 20"/>
          <p:cNvSpPr/>
          <p:nvPr/>
        </p:nvSpPr>
        <p:spPr>
          <a:xfrm>
            <a:off x="4817507" y="273813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2" name="Oval 21"/>
          <p:cNvSpPr/>
          <p:nvPr/>
        </p:nvSpPr>
        <p:spPr>
          <a:xfrm>
            <a:off x="5283677" y="3628153"/>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3" name="TextBox 22"/>
          <p:cNvSpPr txBox="1"/>
          <p:nvPr/>
        </p:nvSpPr>
        <p:spPr>
          <a:xfrm>
            <a:off x="777240" y="5705856"/>
            <a:ext cx="36576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7.36 - Lim, The Handbook of Technical Analysis (Wiley, 2016)</a:t>
            </a:r>
          </a:p>
        </p:txBody>
      </p:sp>
      <p:sp>
        <p:nvSpPr>
          <p:cNvPr id="24" name="TextBox 2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5 of 20</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7.36. The marks are ours, added for teaching.</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Oops is the same rule after a gap down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bullish Oops is the mirror image. If the new bar opens below the previous bar's low, Lim places a buy-stop entry order at the previous bar's low and a stoploss at the new bar's low (p. 231). Here are prices of ours, and bar 1's low is PHP 48.00. Bar 2 opens at PHP 47.00 </a:t>
            </a:r>
            <a:r>
              <a:rPr sz="1700" b="1" i="0">
                <a:solidFill>
                  <a:srgbClr val="E09B00"/>
                </a:solidFill>
                <a:latin typeface="Arial"/>
              </a:rPr>
              <a:t>(1)</a:t>
            </a:r>
            <a:r>
              <a:rPr sz="1700" b="0" i="0">
                <a:solidFill>
                  <a:srgbClr val="1A1A1A"/>
                </a:solidFill>
                <a:latin typeface="Arial"/>
              </a:rPr>
              <a:t>, below bar 1's low, so as it opens we place a buy-stop at PHP 48.00 </a:t>
            </a:r>
            <a:r>
              <a:rPr sz="1700" b="1" i="0">
                <a:solidFill>
                  <a:srgbClr val="C62828"/>
                </a:solidFill>
                <a:latin typeface="Arial"/>
              </a:rPr>
              <a:t>(2)</a:t>
            </a:r>
            <a:r>
              <a:rPr sz="1700" b="0" i="0">
                <a:solidFill>
                  <a:srgbClr val="1A1A1A"/>
                </a:solidFill>
                <a:latin typeface="Arial"/>
              </a:rPr>
              <a:t> and a stoploss at bar 2's low.</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v-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455554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16234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640519" y="42995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996787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V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6 of 20</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V is ours, with invented PHP values to show Lim (2016), p. 231.</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Oops is the same rule after a gap down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2 dips to PHP 46.00 </a:t>
            </a:r>
            <a:r>
              <a:rPr sz="1700" b="1" i="0">
                <a:solidFill>
                  <a:srgbClr val="1F5FAD"/>
                </a:solidFill>
                <a:latin typeface="Arial"/>
              </a:rPr>
              <a:t>(3)</a:t>
            </a:r>
            <a:r>
              <a:rPr sz="1700" b="0" i="0">
                <a:solidFill>
                  <a:srgbClr val="1A1A1A"/>
                </a:solidFill>
                <a:latin typeface="Arial"/>
              </a:rPr>
              <a:t>, where the stoploss now sits, then rises to PHP 49.00, through PHP 48.00, so the buy-stop is filled and we are long. Once we are long, if price fell back through the stoploss at PHP 46.00 </a:t>
            </a:r>
            <a:r>
              <a:rPr sz="1700" b="1" i="0">
                <a:solidFill>
                  <a:srgbClr val="1F5FAD"/>
                </a:solidFill>
                <a:latin typeface="Arial"/>
              </a:rPr>
              <a:t>(3)</a:t>
            </a:r>
            <a:r>
              <a:rPr sz="1700" b="0" i="0">
                <a:solidFill>
                  <a:srgbClr val="1A1A1A"/>
                </a:solidFill>
                <a:latin typeface="Arial"/>
              </a:rPr>
              <a:t>, the stoploss would close the long and the stop and reverse order would go short.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v-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948732"/>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9967874"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V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7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V is ours, with invented PHP values to show Lim (2016), p. 231.</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30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From the two Oops setups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After a gap down, where does Lim place the Williams' Oops buy-stop?</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At the new bar's low</a:t>
            </a:r>
          </a:p>
          <a:p>
            <a:pPr algn="l">
              <a:lnSpc>
                <a:spcPct val="112000"/>
              </a:lnSpc>
              <a:spcBef>
                <a:spcPts val="0"/>
              </a:spcBef>
              <a:spcAft>
                <a:spcPts val="900"/>
              </a:spcAft>
            </a:pPr>
            <a:r>
              <a:rPr sz="1700" b="0" i="0">
                <a:solidFill>
                  <a:srgbClr val="FFFFFF"/>
                </a:solidFill>
                <a:latin typeface="Arial"/>
              </a:rPr>
              <a:t>B.  At the previous bar's high</a:t>
            </a:r>
          </a:p>
          <a:p>
            <a:pPr algn="l">
              <a:lnSpc>
                <a:spcPct val="112000"/>
              </a:lnSpc>
              <a:spcBef>
                <a:spcPts val="0"/>
              </a:spcBef>
              <a:spcAft>
                <a:spcPts val="900"/>
              </a:spcAft>
            </a:pPr>
            <a:r>
              <a:rPr sz="1700" b="0" i="0">
                <a:solidFill>
                  <a:srgbClr val="FFFFFF"/>
                </a:solidFill>
                <a:latin typeface="Arial"/>
              </a:rPr>
              <a:t>C.  At the previous bar's low</a:t>
            </a:r>
          </a:p>
          <a:p>
            <a:pPr algn="l">
              <a:lnSpc>
                <a:spcPct val="112000"/>
              </a:lnSpc>
              <a:spcBef>
                <a:spcPts val="0"/>
              </a:spcBef>
              <a:spcAft>
                <a:spcPts val="900"/>
              </a:spcAft>
            </a:pPr>
            <a:r>
              <a:rPr sz="1700" b="0" i="0">
                <a:solidFill>
                  <a:srgbClr val="FFFFFF"/>
                </a:solidFill>
                <a:latin typeface="Arial"/>
              </a:rPr>
              <a:t>D.  At the new bar's open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 bearish Oops sell-stop has filled. What does Lim say happens if price then rises through the stoploss?</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Nothing; we hold the short</a:t>
            </a:r>
          </a:p>
          <a:p>
            <a:pPr algn="l">
              <a:lnSpc>
                <a:spcPct val="112000"/>
              </a:lnSpc>
              <a:spcBef>
                <a:spcPts val="0"/>
              </a:spcBef>
              <a:spcAft>
                <a:spcPts val="900"/>
              </a:spcAft>
            </a:pPr>
            <a:r>
              <a:rPr sz="1700" b="0" i="0">
                <a:solidFill>
                  <a:srgbClr val="FFFFFF"/>
                </a:solidFill>
                <a:latin typeface="Arial"/>
              </a:rPr>
              <a:t>B.  A stop and reverse order is initiated there</a:t>
            </a:r>
          </a:p>
          <a:p>
            <a:pPr algn="l">
              <a:lnSpc>
                <a:spcPct val="112000"/>
              </a:lnSpc>
              <a:spcBef>
                <a:spcPts val="0"/>
              </a:spcBef>
              <a:spcAft>
                <a:spcPts val="900"/>
              </a:spcAft>
            </a:pPr>
            <a:r>
              <a:rPr sz="1700" b="0" i="0">
                <a:solidFill>
                  <a:srgbClr val="FFFFFF"/>
                </a:solidFill>
                <a:latin typeface="Arial"/>
              </a:rPr>
              <a:t>C.  We add to the short</a:t>
            </a:r>
          </a:p>
          <a:p>
            <a:pPr algn="l">
              <a:lnSpc>
                <a:spcPct val="112000"/>
              </a:lnSpc>
              <a:spcBef>
                <a:spcPts val="0"/>
              </a:spcBef>
              <a:spcAft>
                <a:spcPts val="900"/>
              </a:spcAft>
            </a:pPr>
            <a:r>
              <a:rPr sz="1700" b="0" i="0">
                <a:solidFill>
                  <a:srgbClr val="FFFFFF"/>
                </a:solidFill>
                <a:latin typeface="Arial"/>
              </a:rPr>
              <a:t>D.  We move the stoploss higher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30</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From the two Oops setups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gap down, where does Lim place the Williams' Oops buy-stop?</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At the previous bar's low</a:t>
            </a:r>
          </a:p>
          <a:p>
            <a:pPr algn="l">
              <a:lnSpc>
                <a:spcPct val="115000"/>
              </a:lnSpc>
              <a:spcBef>
                <a:spcPts val="700"/>
              </a:spcBef>
              <a:spcAft>
                <a:spcPts val="0"/>
              </a:spcAft>
            </a:pPr>
            <a:r>
              <a:rPr sz="1700" b="0" i="0">
                <a:solidFill>
                  <a:srgbClr val="1A1A1A"/>
                </a:solidFill>
                <a:latin typeface="Arial"/>
              </a:rPr>
              <a:t>If the new bar opens below the previous bar's low, Lim places the buy-stop at the previous bar's low; the stoploss goes at the new bar's low (p. 231).</a:t>
            </a:r>
          </a:p>
        </p:txBody>
      </p:sp>
      <p:sp>
        <p:nvSpPr>
          <p:cNvPr id="10" name="Rectangle 9"/>
          <p:cNvSpPr/>
          <p:nvPr/>
        </p:nvSpPr>
        <p:spPr>
          <a:xfrm>
            <a:off x="777240" y="3359531"/>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bearish Oops sell-stop has filled. What does Lim say happens if price then rises through the stoploss?</a:t>
            </a:r>
          </a:p>
        </p:txBody>
      </p:sp>
      <p:sp>
        <p:nvSpPr>
          <p:cNvPr id="13" name="TextBox 12"/>
          <p:cNvSpPr txBox="1"/>
          <p:nvPr/>
        </p:nvSpPr>
        <p:spPr>
          <a:xfrm>
            <a:off x="1143000" y="4349877"/>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stop and reverse order is initiated there</a:t>
            </a:r>
          </a:p>
          <a:p>
            <a:pPr algn="l">
              <a:lnSpc>
                <a:spcPct val="115000"/>
              </a:lnSpc>
              <a:spcBef>
                <a:spcPts val="700"/>
              </a:spcBef>
              <a:spcAft>
                <a:spcPts val="0"/>
              </a:spcAft>
            </a:pPr>
            <a:r>
              <a:rPr sz="1700" b="0" i="0">
                <a:solidFill>
                  <a:srgbClr val="1A1A1A"/>
                </a:solidFill>
                <a:latin typeface="Arial"/>
              </a:rPr>
              <a:t>If price reverses, a stop and reverse order is initiated at the stoploss level (p. 231): the short is closed and a long is opened.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30</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7.37 shows a bearish Oops on a real chart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7.37 is Lim's bearish Oops on the daily chart of Dynegy Inc. (p. 231). The marked bar </a:t>
            </a:r>
            <a:r>
              <a:rPr sz="1700" b="1" i="0">
                <a:solidFill>
                  <a:srgbClr val="E09B00"/>
                </a:solidFill>
                <a:latin typeface="Arial"/>
              </a:rPr>
              <a:t>(1)</a:t>
            </a:r>
            <a:r>
              <a:rPr sz="1700" b="0" i="0">
                <a:solidFill>
                  <a:srgbClr val="1A1A1A"/>
                </a:solidFill>
                <a:latin typeface="Arial"/>
              </a:rPr>
              <a:t> opens above the previous bar's high.</a:t>
            </a:r>
          </a:p>
          <a:p>
            <a:pPr algn="l">
              <a:lnSpc>
                <a:spcPct val="105000"/>
              </a:lnSpc>
              <a:spcBef>
                <a:spcPts val="0"/>
              </a:spcBef>
              <a:spcAft>
                <a:spcPts val="1100"/>
              </a:spcAft>
            </a:pPr>
            <a:r>
              <a:rPr sz="1700" b="0" i="0">
                <a:solidFill>
                  <a:srgbClr val="1A1A1A"/>
                </a:solidFill>
                <a:latin typeface="Arial"/>
              </a:rPr>
              <a:t>The book puts the sell-stop at the previous bar's high </a:t>
            </a:r>
            <a:r>
              <a:rPr sz="1700" b="1" i="0">
                <a:solidFill>
                  <a:srgbClr val="C62828"/>
                </a:solidFill>
                <a:latin typeface="Arial"/>
              </a:rPr>
              <a:t>(2)</a:t>
            </a:r>
            <a:r>
              <a:rPr sz="1700" b="0" i="0">
                <a:solidFill>
                  <a:srgbClr val="1A1A1A"/>
                </a:solidFill>
                <a:latin typeface="Arial"/>
              </a:rPr>
              <a:t> and the stop and reverse buy-stop at the current bar's high </a:t>
            </a:r>
            <a:r>
              <a:rPr sz="1700" b="1" i="0">
                <a:solidFill>
                  <a:srgbClr val="1F5FAD"/>
                </a:solidFill>
                <a:latin typeface="Arial"/>
              </a:rPr>
              <a:t>(3)</a:t>
            </a:r>
            <a:r>
              <a:rPr sz="1700" b="0" i="0">
                <a:solidFill>
                  <a:srgbClr val="1A1A1A"/>
                </a:solidFill>
                <a:latin typeface="Arial"/>
              </a:rPr>
              <a:t>. The bar closes below the sell-stop, and the book's arrow shows the expected downside move.</a:t>
            </a:r>
          </a:p>
        </p:txBody>
      </p:sp>
      <p:sp>
        <p:nvSpPr>
          <p:cNvPr id="7" name="Rectangle 6"/>
          <p:cNvSpPr/>
          <p:nvPr/>
        </p:nvSpPr>
        <p:spPr>
          <a:xfrm>
            <a:off x="777240" y="4494276"/>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913631"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This is Lim's example, not a promise that every Oops works.</a:t>
            </a:r>
          </a:p>
        </p:txBody>
      </p:sp>
      <p:sp>
        <p:nvSpPr>
          <p:cNvPr id="9" name="Rectangle 8"/>
          <p:cNvSpPr/>
          <p:nvPr/>
        </p:nvSpPr>
        <p:spPr>
          <a:xfrm>
            <a:off x="5266943" y="1207008"/>
            <a:ext cx="6184087" cy="431889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303519" y="1243584"/>
            <a:ext cx="6110935" cy="424574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303519" y="1243584"/>
            <a:ext cx="61109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577839" y="1517904"/>
            <a:ext cx="5562295" cy="378854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7.37</a:t>
            </a:r>
          </a:p>
          <a:p>
            <a:pPr algn="l">
              <a:lnSpc>
                <a:spcPct val="115000"/>
              </a:lnSpc>
              <a:spcBef>
                <a:spcPts val="0"/>
              </a:spcBef>
              <a:spcAft>
                <a:spcPts val="0"/>
              </a:spcAft>
            </a:pPr>
            <a:r>
              <a:rPr sz="1500" b="0" i="0">
                <a:solidFill>
                  <a:srgbClr val="1A1A1A"/>
                </a:solidFill>
                <a:latin typeface="Palatino"/>
              </a:rPr>
              <a:t>The right side of the book's daily Dynegy chart: the bearish Oops bar, the sell-stop at the previous bar's high, the stop and reverse buy-stop at the current bar's high, and the expected downside move.</a:t>
            </a:r>
          </a:p>
        </p:txBody>
      </p:sp>
      <p:sp>
        <p:nvSpPr>
          <p:cNvPr id="13" name="Rectangle 12"/>
          <p:cNvSpPr/>
          <p:nvPr/>
        </p:nvSpPr>
        <p:spPr>
          <a:xfrm>
            <a:off x="8896749" y="3526094"/>
            <a:ext cx="164995" cy="712010"/>
          </a:xfrm>
          <a:prstGeom prst="rect">
            <a:avLst/>
          </a:prstGeom>
          <a:noFill/>
          <a:ln w="44450">
            <a:solidFill>
              <a:srgbClr val="E09B00"/>
            </a:solidFill>
          </a:ln>
        </p:spPr>
        <p:txBody>
          <a:bodyPr rtlCol="0" anchor="ctr"/>
          <a:lstStyle/>
          <a:p>
            <a:pPr algn="ctr"/>
          </a:p>
        </p:txBody>
      </p:sp>
      <p:cxnSp>
        <p:nvCxnSpPr>
          <p:cNvPr id="14" name="Connector 13"/>
          <p:cNvCxnSpPr/>
          <p:nvPr/>
        </p:nvCxnSpPr>
        <p:spPr>
          <a:xfrm>
            <a:off x="8731754" y="3806738"/>
            <a:ext cx="1588843" cy="0"/>
          </a:xfrm>
          <a:prstGeom prst="line">
            <a:avLst/>
          </a:prstGeom>
          <a:ln w="44450">
            <a:solidFill>
              <a:srgbClr val="C62828"/>
            </a:solidFill>
          </a:ln>
        </p:spPr>
      </p:cxnSp>
      <p:cxnSp>
        <p:nvCxnSpPr>
          <p:cNvPr id="15" name="Connector 14"/>
          <p:cNvCxnSpPr/>
          <p:nvPr/>
        </p:nvCxnSpPr>
        <p:spPr>
          <a:xfrm>
            <a:off x="8603424" y="3582138"/>
            <a:ext cx="1717173" cy="0"/>
          </a:xfrm>
          <a:prstGeom prst="line">
            <a:avLst/>
          </a:prstGeom>
          <a:ln w="44450">
            <a:solidFill>
              <a:srgbClr val="1F5FAD"/>
            </a:solidFill>
          </a:ln>
        </p:spPr>
      </p:cxnSp>
      <p:sp>
        <p:nvSpPr>
          <p:cNvPr id="16" name="Oval 15"/>
          <p:cNvSpPr/>
          <p:nvPr/>
        </p:nvSpPr>
        <p:spPr>
          <a:xfrm>
            <a:off x="8631260" y="325943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21764" y="3734538"/>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10421764" y="319490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TextBox 18"/>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7.37 - Lim, The Handbook of Technical Analysis (Wiley, 2016)</a:t>
            </a:r>
          </a:p>
        </p:txBody>
      </p:sp>
      <p:sp>
        <p:nvSpPr>
          <p:cNvPr id="20" name="TextBox 1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8 of 20</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7.37. The crop and marks are ours, added for teaching.</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Lim looks for each Oops in the direction of the trend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6576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adds when to look: a bullish Oops in an uptrend and a bearish Oops in a downtrend (p. 231).</a:t>
            </a:r>
          </a:p>
          <a:p>
            <a:pPr algn="l">
              <a:lnSpc>
                <a:spcPct val="105000"/>
              </a:lnSpc>
              <a:spcBef>
                <a:spcPts val="0"/>
              </a:spcBef>
              <a:spcAft>
                <a:spcPts val="1100"/>
              </a:spcAft>
            </a:pPr>
            <a:r>
              <a:rPr sz="1700" b="0" i="0">
                <a:solidFill>
                  <a:srgbClr val="1A1A1A"/>
                </a:solidFill>
                <a:latin typeface="Arial"/>
              </a:rPr>
              <a:t>In Figure 7.37, Dynegy falls steeply </a:t>
            </a:r>
            <a:r>
              <a:rPr sz="1700" b="1" i="0">
                <a:solidFill>
                  <a:srgbClr val="E09B00"/>
                </a:solidFill>
                <a:latin typeface="Arial"/>
              </a:rPr>
              <a:t>(1)</a:t>
            </a:r>
            <a:r>
              <a:rPr sz="1700" b="0" i="0">
                <a:solidFill>
                  <a:srgbClr val="1A1A1A"/>
                </a:solidFill>
                <a:latin typeface="Arial"/>
              </a:rPr>
              <a:t>, then drifts sideways, so the bearish Oops </a:t>
            </a:r>
            <a:r>
              <a:rPr sz="1700" b="1" i="0">
                <a:solidFill>
                  <a:srgbClr val="C62828"/>
                </a:solidFill>
                <a:latin typeface="Arial"/>
              </a:rPr>
              <a:t>(2)</a:t>
            </a:r>
            <a:r>
              <a:rPr sz="1700" b="0" i="0">
                <a:solidFill>
                  <a:srgbClr val="1A1A1A"/>
                </a:solidFill>
                <a:latin typeface="Arial"/>
              </a:rPr>
              <a:t> comes after a fall.</a:t>
            </a:r>
          </a:p>
          <a:p>
            <a:pPr algn="l">
              <a:lnSpc>
                <a:spcPct val="105000"/>
              </a:lnSpc>
              <a:spcBef>
                <a:spcPts val="0"/>
              </a:spcBef>
              <a:spcAft>
                <a:spcPts val="1100"/>
              </a:spcAft>
            </a:pPr>
            <a:r>
              <a:rPr sz="1700" b="0" i="0">
                <a:solidFill>
                  <a:srgbClr val="1A1A1A"/>
                </a:solidFill>
                <a:latin typeface="Arial"/>
              </a:rPr>
              <a:t>Lim says the morning and evening star, piercing line and dark cloud cover candlesticks can help find setups; Chapter 7 does not define them.</a:t>
            </a:r>
          </a:p>
        </p:txBody>
      </p:sp>
      <p:sp>
        <p:nvSpPr>
          <p:cNvPr id="7" name="Rectangle 6"/>
          <p:cNvSpPr/>
          <p:nvPr/>
        </p:nvSpPr>
        <p:spPr>
          <a:xfrm>
            <a:off x="4718303" y="1207008"/>
            <a:ext cx="6732727" cy="3074400"/>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754879" y="1243584"/>
            <a:ext cx="6659575" cy="300124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4754879" y="1243584"/>
            <a:ext cx="66595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029199" y="1517904"/>
            <a:ext cx="6110935" cy="254404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7.37</a:t>
            </a:r>
          </a:p>
          <a:p>
            <a:pPr algn="l">
              <a:lnSpc>
                <a:spcPct val="115000"/>
              </a:lnSpc>
              <a:spcBef>
                <a:spcPts val="0"/>
              </a:spcBef>
              <a:spcAft>
                <a:spcPts val="0"/>
              </a:spcAft>
            </a:pPr>
            <a:r>
              <a:rPr sz="1500" b="0" i="0">
                <a:solidFill>
                  <a:srgbClr val="1A1A1A"/>
                </a:solidFill>
                <a:latin typeface="Palatino"/>
              </a:rPr>
              <a:t>The book's whole daily Dynegy chart: a steep fall, a sideways stretch, and the bearish Oops bar.</a:t>
            </a:r>
          </a:p>
        </p:txBody>
      </p:sp>
      <p:cxnSp>
        <p:nvCxnSpPr>
          <p:cNvPr id="11" name="Connector 10"/>
          <p:cNvCxnSpPr/>
          <p:nvPr/>
        </p:nvCxnSpPr>
        <p:spPr>
          <a:xfrm>
            <a:off x="5554028" y="1543708"/>
            <a:ext cx="599362" cy="1260525"/>
          </a:xfrm>
          <a:prstGeom prst="line">
            <a:avLst/>
          </a:prstGeom>
          <a:ln w="44450">
            <a:solidFill>
              <a:srgbClr val="E09B00"/>
            </a:solidFill>
            <a:tailEnd type="triangle" w="med" len="med"/>
          </a:ln>
        </p:spPr>
      </p:cxnSp>
      <p:sp>
        <p:nvSpPr>
          <p:cNvPr id="12" name="Rectangle 11"/>
          <p:cNvSpPr/>
          <p:nvPr/>
        </p:nvSpPr>
        <p:spPr>
          <a:xfrm>
            <a:off x="9769539" y="2954295"/>
            <a:ext cx="106553" cy="480199"/>
          </a:xfrm>
          <a:prstGeom prst="rect">
            <a:avLst/>
          </a:prstGeom>
          <a:noFill/>
          <a:ln w="44450">
            <a:solidFill>
              <a:srgbClr val="C62828"/>
            </a:solidFill>
          </a:ln>
        </p:spPr>
        <p:txBody>
          <a:bodyPr rtlCol="0" anchor="ctr"/>
          <a:lstStyle/>
          <a:p>
            <a:pPr algn="ctr"/>
          </a:p>
        </p:txBody>
      </p:sp>
      <p:sp>
        <p:nvSpPr>
          <p:cNvPr id="13" name="Oval 12"/>
          <p:cNvSpPr/>
          <p:nvPr/>
        </p:nvSpPr>
        <p:spPr>
          <a:xfrm>
            <a:off x="6082826" y="200679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011975" y="251701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36576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7.37 -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9 of 20</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7.37. The marks are ours, added for teaching.</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ID/NR looks for the quietest bar, sitting inside the one before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10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second pattern is the Inside Day Narrow Range pattern, or ID/NR. Lim calls it a volatility breakout pattern and says an ID/NR n pattern is an inside day breakout from the narrowest bar over the last n days (p. 232).</a:t>
            </a:r>
          </a:p>
          <a:p>
            <a:pPr algn="l">
              <a:lnSpc>
                <a:spcPct val="118000"/>
              </a:lnSpc>
              <a:spcBef>
                <a:spcPts val="0"/>
              </a:spcBef>
              <a:spcAft>
                <a:spcPts val="1300"/>
              </a:spcAft>
            </a:pPr>
            <a:r>
              <a:rPr sz="2100" b="0" i="0">
                <a:solidFill>
                  <a:srgbClr val="1A1A1A"/>
                </a:solidFill>
                <a:latin typeface="Arial"/>
              </a:rPr>
              <a:t>It joins two ideas we already have. An inside day is a bar whose high and low stay within the previous bar's range, the inside bar of Part 3. Narrow range uses Part 1's range, the high minus the low: the bar must be the narrowest of the last n bars.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with the inside bar from Part 3 and the range from Part 1.</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Lim calls ID/NR a volatility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11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names ID/NR a volatility breakout pattern but gives no further reason. Our plain reading is that the narrowest bar in a while is the quietest one, so the breakout comes out of low volatility.</a:t>
            </a:r>
          </a:p>
          <a:p>
            <a:pPr algn="l">
              <a:lnSpc>
                <a:spcPct val="118000"/>
              </a:lnSpc>
              <a:spcBef>
                <a:spcPts val="0"/>
              </a:spcBef>
              <a:spcAft>
                <a:spcPts val="1300"/>
              </a:spcAft>
            </a:pPr>
            <a:r>
              <a:rPr sz="2100" b="0" i="0">
                <a:solidFill>
                  <a:srgbClr val="1A1A1A"/>
                </a:solidFill>
                <a:latin typeface="Arial"/>
              </a:rPr>
              <a:t>He does say the pattern has no bearish or bullish sentiment associated with it: the breakout can occur in either direction (p. 232).</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ID/NR tells us when to watch, not which way price will go.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ID/NR6 with prices of ours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are six daily bars of ours, with each range, the high minus the low, written under its bar. The ranges are 4.0, 3.2, 2.8, 2.1, 1.6 and 1.2, so each bar is quieter than the one before. Bar 6's range of 1.2 is the narrowest of all six </a:t>
            </a:r>
            <a:r>
              <a:rPr sz="1700" b="1" i="0">
                <a:solidFill>
                  <a:srgbClr val="E09B00"/>
                </a:solidFill>
                <a:latin typeface="Arial"/>
              </a:rPr>
              <a:t>(1)</a:t>
            </a:r>
            <a:r>
              <a:rPr sz="1700" b="0" i="0">
                <a:solidFill>
                  <a:srgbClr val="1A1A1A"/>
                </a:solidFill>
                <a:latin typeface="Arial"/>
              </a:rPr>
              <a:t>, and its high of 54.60 and low of 53.40 stay inside bar 5's range, 53.20 to 54.80.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722814" y="3545677"/>
            <a:ext cx="0" cy="377464"/>
          </a:xfrm>
          <a:prstGeom prst="line">
            <a:avLst/>
          </a:prstGeom>
          <a:ln w="44450">
            <a:solidFill>
              <a:srgbClr val="E09B00"/>
            </a:solidFill>
          </a:ln>
        </p:spPr>
      </p:cxnSp>
      <p:sp>
        <p:nvSpPr>
          <p:cNvPr id="10" name="Oval 9"/>
          <p:cNvSpPr/>
          <p:nvPr/>
        </p:nvSpPr>
        <p:spPr>
          <a:xfrm>
            <a:off x="9581649" y="345609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12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ID/NR6 with prices of ours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That makes bar 6 an inside day and the narrowest of the last six bars: an ID/NR6. We set the trigger levels where Lim's drawing on the next slide puts them, at the bar that holds the inside bar: a long trigger at bar 5's high, PHP 54.80 </a:t>
            </a:r>
            <a:r>
              <a:rPr sz="1700" b="1" i="0">
                <a:solidFill>
                  <a:srgbClr val="C62828"/>
                </a:solidFill>
                <a:latin typeface="Arial"/>
              </a:rPr>
              <a:t>(2)</a:t>
            </a:r>
            <a:r>
              <a:rPr sz="1700" b="0" i="0">
                <a:solidFill>
                  <a:srgbClr val="1A1A1A"/>
                </a:solidFill>
                <a:latin typeface="Arial"/>
              </a:rPr>
              <a:t>, and a short trigger at its low, PHP 53.20 </a:t>
            </a:r>
            <a:r>
              <a:rPr sz="1700" b="1" i="0">
                <a:solidFill>
                  <a:srgbClr val="1F5FAD"/>
                </a:solidFill>
                <a:latin typeface="Arial"/>
              </a:rPr>
              <a:t>(3)</a:t>
            </a:r>
            <a:r>
              <a:rPr sz="1700" b="0" i="0">
                <a:solidFill>
                  <a:srgbClr val="1A1A1A"/>
                </a:solidFill>
                <a:latin typeface="Arial"/>
              </a:rPr>
              <a:t>. A break above 54.80 points up; a break below 53.20 points down.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8321405" y="3438875"/>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8321405" y="3942161"/>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8067985" y="33248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2" name="Oval 11"/>
          <p:cNvSpPr/>
          <p:nvPr/>
        </p:nvSpPr>
        <p:spPr>
          <a:xfrm>
            <a:off x="8409188" y="38580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13 of 20</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7.38 is Lim's drawing of an ID/NR6</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7.38 is Lim's ID/NR6 (p. 232). Count back six bars, 2 to 7 </a:t>
            </a:r>
            <a:r>
              <a:rPr sz="1700" b="1" i="0">
                <a:solidFill>
                  <a:srgbClr val="E09B00"/>
                </a:solidFill>
                <a:latin typeface="Arial"/>
              </a:rPr>
              <a:t>(1)</a:t>
            </a:r>
            <a:r>
              <a:rPr sz="1700" b="0" i="0">
                <a:solidFill>
                  <a:srgbClr val="1A1A1A"/>
                </a:solidFill>
                <a:latin typeface="Arial"/>
              </a:rPr>
              <a:t>. The book's arrow points to bar 7 and calls it an inside bar that has the narrowest range of the last six bars: it sits within bar 6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The two dotted lines are the book's long trigger level </a:t>
            </a:r>
            <a:r>
              <a:rPr sz="1700" b="1" i="0">
                <a:solidFill>
                  <a:srgbClr val="1F5FAD"/>
                </a:solidFill>
                <a:latin typeface="Arial"/>
              </a:rPr>
              <a:t>(3)</a:t>
            </a:r>
            <a:r>
              <a:rPr sz="1700" b="0" i="0">
                <a:solidFill>
                  <a:srgbClr val="1A1A1A"/>
                </a:solidFill>
                <a:latin typeface="Arial"/>
              </a:rPr>
              <a:t> and short trigger level </a:t>
            </a:r>
            <a:r>
              <a:rPr sz="1700" b="1" i="0">
                <a:solidFill>
                  <a:srgbClr val="7B3FA0"/>
                </a:solidFill>
                <a:latin typeface="Arial"/>
              </a:rPr>
              <a:t>(4)</a:t>
            </a:r>
            <a:r>
              <a:rPr sz="1700" b="0" i="0">
                <a:solidFill>
                  <a:srgbClr val="1A1A1A"/>
                </a:solidFill>
                <a:latin typeface="Arial"/>
              </a:rPr>
              <a:t>. They run from the high and low of bar 6, the bar that holds the inside bar.</a:t>
            </a:r>
          </a:p>
        </p:txBody>
      </p:sp>
      <p:sp>
        <p:nvSpPr>
          <p:cNvPr id="7" name="Rectangle 6"/>
          <p:cNvSpPr/>
          <p:nvPr/>
        </p:nvSpPr>
        <p:spPr>
          <a:xfrm>
            <a:off x="777240" y="422224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Six bars counted, one inside bar, and two triggers waiting.</a:t>
            </a:r>
          </a:p>
        </p:txBody>
      </p:sp>
      <p:sp>
        <p:nvSpPr>
          <p:cNvPr id="9" name="Rectangle 8"/>
          <p:cNvSpPr/>
          <p:nvPr/>
        </p:nvSpPr>
        <p:spPr>
          <a:xfrm>
            <a:off x="6578543" y="1207008"/>
            <a:ext cx="4841048"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15119" y="1243584"/>
            <a:ext cx="4767896"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615119" y="1243584"/>
            <a:ext cx="4767896"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89439" y="1517904"/>
            <a:ext cx="4219256"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The book's ID/NR6 drawing: seven numbered bars, bar 7 labelled as the inside bar with the narrowest range of the last six, and long and short trigger levels at bar 6's high and low.</a:t>
            </a:r>
          </a:p>
        </p:txBody>
      </p:sp>
      <p:cxnSp>
        <p:nvCxnSpPr>
          <p:cNvPr id="13" name="Connector 12"/>
          <p:cNvCxnSpPr/>
          <p:nvPr/>
        </p:nvCxnSpPr>
        <p:spPr>
          <a:xfrm>
            <a:off x="6996551" y="5427146"/>
            <a:ext cx="1835640" cy="0"/>
          </a:xfrm>
          <a:prstGeom prst="line">
            <a:avLst/>
          </a:prstGeom>
          <a:ln w="44450">
            <a:solidFill>
              <a:srgbClr val="E09B00"/>
            </a:solidFill>
          </a:ln>
        </p:spPr>
      </p:cxnSp>
      <p:sp>
        <p:nvSpPr>
          <p:cNvPr id="14" name="Rectangle 13"/>
          <p:cNvSpPr/>
          <p:nvPr/>
        </p:nvSpPr>
        <p:spPr>
          <a:xfrm>
            <a:off x="8331562" y="4040733"/>
            <a:ext cx="524468" cy="802660"/>
          </a:xfrm>
          <a:prstGeom prst="rect">
            <a:avLst/>
          </a:prstGeom>
          <a:noFill/>
          <a:ln w="44450">
            <a:solidFill>
              <a:srgbClr val="C62828"/>
            </a:solidFill>
          </a:ln>
        </p:spPr>
        <p:txBody>
          <a:bodyPr rtlCol="0" anchor="ctr"/>
          <a:lstStyle/>
          <a:p>
            <a:pPr algn="ctr"/>
          </a:p>
        </p:txBody>
      </p:sp>
      <p:cxnSp>
        <p:nvCxnSpPr>
          <p:cNvPr id="15" name="Connector 14"/>
          <p:cNvCxnSpPr/>
          <p:nvPr/>
        </p:nvCxnSpPr>
        <p:spPr>
          <a:xfrm>
            <a:off x="9142104" y="4089379"/>
            <a:ext cx="429111" cy="0"/>
          </a:xfrm>
          <a:prstGeom prst="line">
            <a:avLst/>
          </a:prstGeom>
          <a:ln w="44450">
            <a:solidFill>
              <a:srgbClr val="1F5FAD"/>
            </a:solidFill>
          </a:ln>
        </p:spPr>
      </p:cxnSp>
      <p:cxnSp>
        <p:nvCxnSpPr>
          <p:cNvPr id="16" name="Connector 15"/>
          <p:cNvCxnSpPr/>
          <p:nvPr/>
        </p:nvCxnSpPr>
        <p:spPr>
          <a:xfrm>
            <a:off x="9142104" y="4746101"/>
            <a:ext cx="429111" cy="0"/>
          </a:xfrm>
          <a:prstGeom prst="line">
            <a:avLst/>
          </a:prstGeom>
          <a:ln w="44450">
            <a:solidFill>
              <a:srgbClr val="7B3FA0"/>
            </a:solidFill>
          </a:ln>
        </p:spPr>
      </p:cxnSp>
      <p:sp>
        <p:nvSpPr>
          <p:cNvPr id="17" name="Oval 16"/>
          <p:cNvSpPr/>
          <p:nvPr/>
        </p:nvSpPr>
        <p:spPr>
          <a:xfrm>
            <a:off x="6692514" y="528998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385117" y="492514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219499" y="4195450"/>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9219499" y="4852172"/>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14 of 20</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marks are ours, added for teaching.</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number in ID/NR says how many bars to count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n in ID/NR n is how many bars we count back, the last bar included. The book's heading runs from ID/NR4 to ID/NR7 (p. 232). The table counts back from bar 7 through seven bars of ours with ranges 1.0, 4.0, 3.2, 2.8, 2.1, 1.6 and 1.2. Counting four, five or six bars back, bar 7's range of 1.2 is the narrowest, so bar 7 is an NR4, an NR5 and an NR6 at once </a:t>
            </a:r>
            <a:r>
              <a:rPr sz="1700" b="1" i="0">
                <a:solidFill>
                  <a:srgbClr val="E09B00"/>
                </a:solidFill>
                <a:latin typeface="Arial"/>
              </a:rPr>
              <a:t>(1)</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t-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354312" y="4096512"/>
            <a:ext cx="0" cy="896111"/>
          </a:xfrm>
          <a:prstGeom prst="line">
            <a:avLst/>
          </a:prstGeom>
          <a:ln w="44450">
            <a:solidFill>
              <a:srgbClr val="E09B00"/>
            </a:solidFill>
          </a:ln>
        </p:spPr>
      </p:cxnSp>
      <p:sp>
        <p:nvSpPr>
          <p:cNvPr id="10" name="Oval 9"/>
          <p:cNvSpPr/>
          <p:nvPr/>
        </p:nvSpPr>
        <p:spPr>
          <a:xfrm>
            <a:off x="9377172" y="441655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15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T is ours, with invented ranges to show Lim (2016), p. 232.</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number in ID/NR says how many bars to count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Counting seven bars brings in bar 1's range of 1.0, so bar 7 is not an NR7 </a:t>
            </a:r>
            <a:r>
              <a:rPr sz="1700" b="1" i="0">
                <a:solidFill>
                  <a:srgbClr val="C62828"/>
                </a:solidFill>
                <a:latin typeface="Arial"/>
              </a:rPr>
              <a:t>(2)</a:t>
            </a:r>
            <a:r>
              <a:rPr sz="1700" b="0" i="0">
                <a:solidFill>
                  <a:srgbClr val="1A1A1A"/>
                </a:solidFill>
                <a:latin typeface="Arial"/>
              </a:rPr>
              <a:t>. The number says how far back the bar is the narrowest.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t-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310420" y="5159044"/>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9398203" y="507492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16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T is ours, with invented ranges to show Lim (2016), p. 232.</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Counting an ID/NR pattern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the 6 in ID/NR6 count?</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Six inside days in a row</a:t>
            </a:r>
          </a:p>
          <a:p>
            <a:pPr algn="l">
              <a:lnSpc>
                <a:spcPct val="112000"/>
              </a:lnSpc>
              <a:spcBef>
                <a:spcPts val="0"/>
              </a:spcBef>
              <a:spcAft>
                <a:spcPts val="900"/>
              </a:spcAft>
            </a:pPr>
            <a:r>
              <a:rPr sz="1700" b="0" i="0">
                <a:solidFill>
                  <a:srgbClr val="FFFFFF"/>
                </a:solidFill>
                <a:latin typeface="Arial"/>
              </a:rPr>
              <a:t>B.  Six days of rising volume</a:t>
            </a:r>
          </a:p>
          <a:p>
            <a:pPr algn="l">
              <a:lnSpc>
                <a:spcPct val="112000"/>
              </a:lnSpc>
              <a:spcBef>
                <a:spcPts val="0"/>
              </a:spcBef>
              <a:spcAft>
                <a:spcPts val="900"/>
              </a:spcAft>
            </a:pPr>
            <a:r>
              <a:rPr sz="1700" b="0" i="0">
                <a:solidFill>
                  <a:srgbClr val="FFFFFF"/>
                </a:solidFill>
                <a:latin typeface="Arial"/>
              </a:rPr>
              <a:t>C.  Six bars after the breakout</a:t>
            </a:r>
          </a:p>
          <a:p>
            <a:pPr algn="l">
              <a:lnSpc>
                <a:spcPct val="112000"/>
              </a:lnSpc>
              <a:spcBef>
                <a:spcPts val="0"/>
              </a:spcBef>
              <a:spcAft>
                <a:spcPts val="900"/>
              </a:spcAft>
            </a:pPr>
            <a:r>
              <a:rPr sz="1700" b="0" i="0">
                <a:solidFill>
                  <a:srgbClr val="FFFFFF"/>
                </a:solidFill>
                <a:latin typeface="Arial"/>
              </a:rPr>
              <a:t>D.  The last six bars, the inside bar included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Does an ID/NR pattern carry bullish sentiment?</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 Lim says it has no bearish or bullish sentiment</a:t>
            </a:r>
          </a:p>
          <a:p>
            <a:pPr algn="l">
              <a:lnSpc>
                <a:spcPct val="112000"/>
              </a:lnSpc>
              <a:spcBef>
                <a:spcPts val="0"/>
              </a:spcBef>
              <a:spcAft>
                <a:spcPts val="900"/>
              </a:spcAft>
            </a:pPr>
            <a:r>
              <a:rPr sz="1700" b="0" i="0">
                <a:solidFill>
                  <a:srgbClr val="FFFFFF"/>
                </a:solidFill>
                <a:latin typeface="Arial"/>
              </a:rPr>
              <a:t>B.  Yes; it always breaks upward</a:t>
            </a:r>
          </a:p>
          <a:p>
            <a:pPr algn="l">
              <a:lnSpc>
                <a:spcPct val="112000"/>
              </a:lnSpc>
              <a:spcBef>
                <a:spcPts val="0"/>
              </a:spcBef>
              <a:spcAft>
                <a:spcPts val="900"/>
              </a:spcAft>
            </a:pPr>
            <a:r>
              <a:rPr sz="1700" b="0" i="0">
                <a:solidFill>
                  <a:srgbClr val="FFFFFF"/>
                </a:solidFill>
                <a:latin typeface="Arial"/>
              </a:rPr>
              <a:t>C.  Only in an uptrend</a:t>
            </a:r>
          </a:p>
          <a:p>
            <a:pPr algn="l">
              <a:lnSpc>
                <a:spcPct val="112000"/>
              </a:lnSpc>
              <a:spcBef>
                <a:spcPts val="0"/>
              </a:spcBef>
              <a:spcAft>
                <a:spcPts val="900"/>
              </a:spcAft>
            </a:pPr>
            <a:r>
              <a:rPr sz="1700" b="0" i="0">
                <a:solidFill>
                  <a:srgbClr val="FFFFFF"/>
                </a:solidFill>
                <a:latin typeface="Arial"/>
              </a:rPr>
              <a:t>D.  Only on monthly bars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31</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Counting an ID/NR pattern</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the 6 in ID/NR6 count?</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last six bars, the inside bar included</a:t>
            </a:r>
          </a:p>
          <a:p>
            <a:pPr algn="l">
              <a:lnSpc>
                <a:spcPct val="115000"/>
              </a:lnSpc>
              <a:spcBef>
                <a:spcPts val="700"/>
              </a:spcBef>
              <a:spcAft>
                <a:spcPts val="0"/>
              </a:spcAft>
            </a:pPr>
            <a:r>
              <a:rPr sz="1700" b="0" i="0">
                <a:solidFill>
                  <a:srgbClr val="1A1A1A"/>
                </a:solidFill>
                <a:latin typeface="Arial"/>
              </a:rPr>
              <a:t>An ID/NR n pattern is an inside day breakout from the narrowest bar over the last n days, so ID/NR6 counts the last six bars (p. 232).</a:t>
            </a:r>
          </a:p>
        </p:txBody>
      </p:sp>
      <p:sp>
        <p:nvSpPr>
          <p:cNvPr id="10" name="Rectangle 9"/>
          <p:cNvSpPr/>
          <p:nvPr/>
        </p:nvSpPr>
        <p:spPr>
          <a:xfrm>
            <a:off x="777240" y="3359531"/>
            <a:ext cx="10637215" cy="19056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90563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Does an ID/NR pattern carry bullish sentiment?</a:t>
            </a:r>
          </a:p>
        </p:txBody>
      </p:sp>
      <p:sp>
        <p:nvSpPr>
          <p:cNvPr id="13" name="TextBox 12"/>
          <p:cNvSpPr txBox="1"/>
          <p:nvPr/>
        </p:nvSpPr>
        <p:spPr>
          <a:xfrm>
            <a:off x="1143000" y="41015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No; Lim says it has no bearish or bullish sentiment</a:t>
            </a:r>
          </a:p>
          <a:p>
            <a:pPr algn="l">
              <a:lnSpc>
                <a:spcPct val="115000"/>
              </a:lnSpc>
              <a:spcBef>
                <a:spcPts val="700"/>
              </a:spcBef>
              <a:spcAft>
                <a:spcPts val="0"/>
              </a:spcAft>
            </a:pPr>
            <a:r>
              <a:rPr sz="1700" b="0" i="0">
                <a:solidFill>
                  <a:srgbClr val="1A1A1A"/>
                </a:solidFill>
                <a:latin typeface="Arial"/>
              </a:rPr>
              <a:t>Lim says the pattern has no bearish or bullish sentiment associated with it; the breakout can occur in either direction (p. 232).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31</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ID/NR has no direction until price breaks a trigger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says the ID/NR pattern has no bearish or bullish sentiment associated with it, and the breakout can occur in either direction (p. 232).</a:t>
            </a:r>
          </a:p>
          <a:p>
            <a:pPr algn="l">
              <a:lnSpc>
                <a:spcPct val="105000"/>
              </a:lnSpc>
              <a:spcBef>
                <a:spcPts val="0"/>
              </a:spcBef>
              <a:spcAft>
                <a:spcPts val="1100"/>
              </a:spcAft>
            </a:pPr>
            <a:r>
              <a:rPr sz="1700" b="0" i="0">
                <a:solidFill>
                  <a:srgbClr val="1A1A1A"/>
                </a:solidFill>
                <a:latin typeface="Arial"/>
              </a:rPr>
              <a:t>That is why Figure 7.38 draws two triggers. A break above the long trigger level </a:t>
            </a:r>
            <a:r>
              <a:rPr sz="1700" b="1" i="0">
                <a:solidFill>
                  <a:srgbClr val="E09B00"/>
                </a:solidFill>
                <a:latin typeface="Arial"/>
              </a:rPr>
              <a:t>(1)</a:t>
            </a:r>
            <a:r>
              <a:rPr sz="1700" b="0" i="0">
                <a:solidFill>
                  <a:srgbClr val="1A1A1A"/>
                </a:solidFill>
                <a:latin typeface="Arial"/>
              </a:rPr>
              <a:t> would point up, and a break below the short trigger level </a:t>
            </a:r>
            <a:r>
              <a:rPr sz="1700" b="1" i="0">
                <a:solidFill>
                  <a:srgbClr val="C62828"/>
                </a:solidFill>
                <a:latin typeface="Arial"/>
              </a:rPr>
              <a:t>(2)</a:t>
            </a:r>
            <a:r>
              <a:rPr sz="1700" b="0" i="0">
                <a:solidFill>
                  <a:srgbClr val="1A1A1A"/>
                </a:solidFill>
                <a:latin typeface="Arial"/>
              </a:rPr>
              <a:t> would point down. In this drawing the long arrow from bar 7 </a:t>
            </a:r>
            <a:r>
              <a:rPr sz="1700" b="1" i="0">
                <a:solidFill>
                  <a:srgbClr val="1F5FAD"/>
                </a:solidFill>
                <a:latin typeface="Arial"/>
              </a:rPr>
              <a:t>(3)</a:t>
            </a:r>
            <a:r>
              <a:rPr sz="1700" b="0" i="0">
                <a:solidFill>
                  <a:srgbClr val="1A1A1A"/>
                </a:solidFill>
                <a:latin typeface="Arial"/>
              </a:rPr>
              <a:t> runs down through the short trigger.</a:t>
            </a:r>
          </a:p>
          <a:p>
            <a:pPr algn="l">
              <a:lnSpc>
                <a:spcPct val="105000"/>
              </a:lnSpc>
              <a:spcBef>
                <a:spcPts val="0"/>
              </a:spcBef>
              <a:spcAft>
                <a:spcPts val="1100"/>
              </a:spcAft>
            </a:pPr>
            <a:r>
              <a:rPr sz="1700" b="0" i="0">
                <a:solidFill>
                  <a:srgbClr val="1A1A1A"/>
                </a:solidFill>
                <a:latin typeface="Arial"/>
              </a:rPr>
              <a:t>So we count the bars, confirm the inside bar, and then wait to see which trigger price breaks.</a:t>
            </a:r>
          </a:p>
        </p:txBody>
      </p:sp>
      <p:sp>
        <p:nvSpPr>
          <p:cNvPr id="7" name="Rectangle 6"/>
          <p:cNvSpPr/>
          <p:nvPr/>
        </p:nvSpPr>
        <p:spPr>
          <a:xfrm>
            <a:off x="6578543" y="1207008"/>
            <a:ext cx="4841048" cy="493775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615119" y="1243584"/>
            <a:ext cx="4767896" cy="4864607"/>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15119" y="1243584"/>
            <a:ext cx="476789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889439" y="1517904"/>
            <a:ext cx="4219256"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Figure 7.38's ID/NR6 drawing, with its long and short trigger levels and the long arrow from bar 7 running down through the short trigger.</a:t>
            </a:r>
          </a:p>
        </p:txBody>
      </p:sp>
      <p:cxnSp>
        <p:nvCxnSpPr>
          <p:cNvPr id="11" name="Connector 10"/>
          <p:cNvCxnSpPr/>
          <p:nvPr/>
        </p:nvCxnSpPr>
        <p:spPr>
          <a:xfrm>
            <a:off x="9142104" y="4089379"/>
            <a:ext cx="429111" cy="0"/>
          </a:xfrm>
          <a:prstGeom prst="line">
            <a:avLst/>
          </a:prstGeom>
          <a:ln w="44450">
            <a:solidFill>
              <a:srgbClr val="E09B00"/>
            </a:solidFill>
          </a:ln>
        </p:spPr>
      </p:cxnSp>
      <p:cxnSp>
        <p:nvCxnSpPr>
          <p:cNvPr id="12" name="Connector 11"/>
          <p:cNvCxnSpPr/>
          <p:nvPr/>
        </p:nvCxnSpPr>
        <p:spPr>
          <a:xfrm>
            <a:off x="9142104" y="4746101"/>
            <a:ext cx="429111" cy="0"/>
          </a:xfrm>
          <a:prstGeom prst="line">
            <a:avLst/>
          </a:prstGeom>
          <a:ln w="44450">
            <a:solidFill>
              <a:srgbClr val="C62828"/>
            </a:solidFill>
          </a:ln>
        </p:spPr>
      </p:cxnSp>
      <p:sp>
        <p:nvSpPr>
          <p:cNvPr id="13" name="Oval 12"/>
          <p:cNvSpPr/>
          <p:nvPr/>
        </p:nvSpPr>
        <p:spPr>
          <a:xfrm>
            <a:off x="8569956" y="5767669"/>
            <a:ext cx="286073" cy="316199"/>
          </a:xfrm>
          <a:prstGeom prst="ellipse">
            <a:avLst/>
          </a:prstGeom>
          <a:noFill/>
          <a:ln w="44450">
            <a:solidFill>
              <a:srgbClr val="1F5FAD"/>
            </a:solidFill>
          </a:ln>
        </p:spPr>
        <p:txBody>
          <a:bodyPr rtlCol="0" anchor="ctr"/>
          <a:lstStyle/>
          <a:p>
            <a:pPr algn="ctr"/>
          </a:p>
        </p:txBody>
      </p:sp>
      <p:sp>
        <p:nvSpPr>
          <p:cNvPr id="14" name="Oval 13"/>
          <p:cNvSpPr/>
          <p:nvPr/>
        </p:nvSpPr>
        <p:spPr>
          <a:xfrm>
            <a:off x="9219499" y="419545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219499" y="4852172"/>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8957265" y="575212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17 of 20</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marks are ours, added for teaching.</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pattern works on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also applies the pattern to monthly bars, where he calls it Inside Month/NR5 (p. 232). Here are six monthly bars of ours, one bar a month. The first five have ranges of 12, 10, 9, 7 and 5. Bar 5's range of 5 is the narrowest of the five </a:t>
            </a:r>
            <a:r>
              <a:rPr sz="1700" b="1" i="0">
                <a:solidFill>
                  <a:srgbClr val="E09B00"/>
                </a:solidFill>
                <a:latin typeface="Arial"/>
              </a:rPr>
              <a:t>(1)</a:t>
            </a:r>
            <a:r>
              <a:rPr sz="1700" b="0" i="0">
                <a:solidFill>
                  <a:srgbClr val="1A1A1A"/>
                </a:solidFill>
                <a:latin typeface="Arial"/>
              </a:rPr>
              <a:t>, and its high of 30.00 and low of 25.00 stay inside bar 4's range, 24.00 to 31.00.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8072688" y="3944112"/>
            <a:ext cx="0" cy="436879"/>
          </a:xfrm>
          <a:prstGeom prst="line">
            <a:avLst/>
          </a:prstGeom>
          <a:ln w="44450">
            <a:solidFill>
              <a:srgbClr val="E09B00"/>
            </a:solidFill>
          </a:ln>
        </p:spPr>
      </p:cxnSp>
      <p:sp>
        <p:nvSpPr>
          <p:cNvPr id="10" name="Oval 9"/>
          <p:cNvSpPr/>
          <p:nvPr/>
        </p:nvSpPr>
        <p:spPr>
          <a:xfrm>
            <a:off x="7931523" y="388423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18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pattern works on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That makes bar 5 an inside month and the narrowest of the last five: an Inside Month/NR5. Bar 6 then breaks out upward: it rises through bar 5's high of PHP 30.00 </a:t>
            </a:r>
            <a:r>
              <a:rPr sz="1700" b="1" i="0">
                <a:solidFill>
                  <a:srgbClr val="C62828"/>
                </a:solidFill>
                <a:latin typeface="Arial"/>
              </a:rPr>
              <a:t>(2)</a:t>
            </a:r>
            <a:r>
              <a:rPr sz="1700" b="0" i="0">
                <a:solidFill>
                  <a:srgbClr val="1A1A1A"/>
                </a:solidFill>
                <a:latin typeface="Arial"/>
              </a:rPr>
              <a:t> and bar 4's high of PHP 31.00, and closes at PHP 36.00 </a:t>
            </a:r>
            <a:r>
              <a:rPr sz="1700" b="1" i="0">
                <a:solidFill>
                  <a:srgbClr val="1F5FAD"/>
                </a:solidFill>
                <a:latin typeface="Arial"/>
              </a:rPr>
              <a:t>(3)</a:t>
            </a:r>
            <a:r>
              <a:rPr sz="1700" b="0" i="0">
                <a:solidFill>
                  <a:srgbClr val="1A1A1A"/>
                </a:solidFill>
                <a:latin typeface="Arial"/>
              </a:rPr>
              <a:t>, PHP 8.00 above bar 5's close of PHP 28.00.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8321405" y="3900220"/>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10126979" y="337596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8409188" y="381609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2" name="Oval 11"/>
          <p:cNvSpPr/>
          <p:nvPr/>
        </p:nvSpPr>
        <p:spPr>
          <a:xfrm>
            <a:off x="10042855" y="346374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19 of 20</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7.39 shows an Inside Month/NR5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6576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7.39 is Lim's Inside Month/NR5 on Dynegy's monthly chart (p. 232). February </a:t>
            </a:r>
            <a:r>
              <a:rPr sz="1700" b="1" i="0">
                <a:solidFill>
                  <a:srgbClr val="E09B00"/>
                </a:solidFill>
                <a:latin typeface="Arial"/>
              </a:rPr>
              <a:t>(1)</a:t>
            </a:r>
            <a:r>
              <a:rPr sz="1700" b="0" i="0">
                <a:solidFill>
                  <a:srgbClr val="1A1A1A"/>
                </a:solidFill>
                <a:latin typeface="Arial"/>
              </a:rPr>
              <a:t> sits inside January and is the narrowest of the five months from October to February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Its dotted lines sit at February's own high and low, while Figure 7.38 drew them from the bar before the inside bar; Lim's text does not say which to use. Here March </a:t>
            </a:r>
            <a:r>
              <a:rPr sz="1700" b="1" i="0">
                <a:solidFill>
                  <a:srgbClr val="1F5FAD"/>
                </a:solidFill>
                <a:latin typeface="Arial"/>
              </a:rPr>
              <a:t>(3)</a:t>
            </a:r>
            <a:r>
              <a:rPr sz="1700" b="0" i="0">
                <a:solidFill>
                  <a:srgbClr val="1A1A1A"/>
                </a:solidFill>
                <a:latin typeface="Arial"/>
              </a:rPr>
              <a:t> rises above both, so the breakout is upward either way.</a:t>
            </a:r>
          </a:p>
        </p:txBody>
      </p:sp>
      <p:sp>
        <p:nvSpPr>
          <p:cNvPr id="7" name="Rectangle 6"/>
          <p:cNvSpPr/>
          <p:nvPr/>
        </p:nvSpPr>
        <p:spPr>
          <a:xfrm>
            <a:off x="4718303" y="1207008"/>
            <a:ext cx="6732727" cy="4934392"/>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754879" y="1243584"/>
            <a:ext cx="6659575" cy="486124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4754879" y="1243584"/>
            <a:ext cx="66595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029199" y="1517904"/>
            <a:ext cx="6110935" cy="4404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7.39</a:t>
            </a:r>
          </a:p>
          <a:p>
            <a:pPr algn="l">
              <a:lnSpc>
                <a:spcPct val="115000"/>
              </a:lnSpc>
              <a:spcBef>
                <a:spcPts val="0"/>
              </a:spcBef>
              <a:spcAft>
                <a:spcPts val="0"/>
              </a:spcAft>
            </a:pPr>
            <a:r>
              <a:rPr sz="1500" b="0" i="0">
                <a:solidFill>
                  <a:srgbClr val="1A1A1A"/>
                </a:solidFill>
                <a:latin typeface="Palatino"/>
              </a:rPr>
              <a:t>The left part of the book's monthly Dynegy chart, September to May: February inside January, the five months October to February, and March's upside breakout.</a:t>
            </a:r>
          </a:p>
        </p:txBody>
      </p:sp>
      <p:sp>
        <p:nvSpPr>
          <p:cNvPr id="11" name="Rectangle 10"/>
          <p:cNvSpPr/>
          <p:nvPr/>
        </p:nvSpPr>
        <p:spPr>
          <a:xfrm>
            <a:off x="8584135" y="3756845"/>
            <a:ext cx="472829" cy="763214"/>
          </a:xfrm>
          <a:prstGeom prst="rect">
            <a:avLst/>
          </a:prstGeom>
          <a:noFill/>
          <a:ln w="44450">
            <a:solidFill>
              <a:srgbClr val="E09B00"/>
            </a:solidFill>
          </a:ln>
        </p:spPr>
        <p:txBody>
          <a:bodyPr rtlCol="0" anchor="ctr"/>
          <a:lstStyle/>
          <a:p>
            <a:pPr algn="ctr"/>
          </a:p>
        </p:txBody>
      </p:sp>
      <p:sp>
        <p:nvSpPr>
          <p:cNvPr id="12" name="Rectangle 11"/>
          <p:cNvSpPr/>
          <p:nvPr/>
        </p:nvSpPr>
        <p:spPr>
          <a:xfrm>
            <a:off x="5527390" y="3426281"/>
            <a:ext cx="3629468" cy="2406314"/>
          </a:xfrm>
          <a:prstGeom prst="rect">
            <a:avLst/>
          </a:prstGeom>
          <a:noFill/>
          <a:ln w="44450">
            <a:solidFill>
              <a:srgbClr val="C62828"/>
            </a:solidFill>
          </a:ln>
        </p:spPr>
        <p:txBody>
          <a:bodyPr rtlCol="0" anchor="ctr"/>
          <a:lstStyle/>
          <a:p>
            <a:pPr algn="ctr"/>
          </a:p>
        </p:txBody>
      </p:sp>
      <p:sp>
        <p:nvSpPr>
          <p:cNvPr id="13" name="Rectangle 12"/>
          <p:cNvSpPr/>
          <p:nvPr/>
        </p:nvSpPr>
        <p:spPr>
          <a:xfrm>
            <a:off x="9216795" y="1681095"/>
            <a:ext cx="592702" cy="2785491"/>
          </a:xfrm>
          <a:prstGeom prst="rect">
            <a:avLst/>
          </a:prstGeom>
          <a:noFill/>
          <a:ln w="44450">
            <a:solidFill>
              <a:srgbClr val="1F5FAD"/>
            </a:solidFill>
          </a:ln>
        </p:spPr>
        <p:txBody>
          <a:bodyPr rtlCol="0" anchor="ctr"/>
          <a:lstStyle/>
          <a:p>
            <a:pPr algn="ctr"/>
          </a:p>
        </p:txBody>
      </p:sp>
      <p:sp>
        <p:nvSpPr>
          <p:cNvPr id="14" name="Oval 13"/>
          <p:cNvSpPr/>
          <p:nvPr/>
        </p:nvSpPr>
        <p:spPr>
          <a:xfrm>
            <a:off x="8686720" y="461137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5163805" y="3454403"/>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991997" y="2448126"/>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777240" y="5705856"/>
            <a:ext cx="36576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7.39 - Lim, The Handbook of Technical Analysis (Wiley, 2016)</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20 of 20</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7.39. The crop and marks are ours, added for teaching.</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From Inside Month/NR5</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changes when ID/NR is read as Inside Month/NR5?</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pattern turns bullish</a:t>
            </a:r>
          </a:p>
          <a:p>
            <a:pPr algn="l">
              <a:lnSpc>
                <a:spcPct val="112000"/>
              </a:lnSpc>
              <a:spcBef>
                <a:spcPts val="0"/>
              </a:spcBef>
              <a:spcAft>
                <a:spcPts val="900"/>
              </a:spcAft>
            </a:pPr>
            <a:r>
              <a:rPr sz="1700" b="0" i="0">
                <a:solidFill>
                  <a:srgbClr val="FFFFFF"/>
                </a:solidFill>
                <a:latin typeface="Arial"/>
              </a:rPr>
              <a:t>B.  Volume replaces range</a:t>
            </a:r>
          </a:p>
          <a:p>
            <a:pPr algn="l">
              <a:lnSpc>
                <a:spcPct val="112000"/>
              </a:lnSpc>
              <a:spcBef>
                <a:spcPts val="0"/>
              </a:spcBef>
              <a:spcAft>
                <a:spcPts val="900"/>
              </a:spcAft>
            </a:pPr>
            <a:r>
              <a:rPr sz="1700" b="0" i="0">
                <a:solidFill>
                  <a:srgbClr val="FFFFFF"/>
                </a:solidFill>
                <a:latin typeface="Arial"/>
              </a:rPr>
              <a:t>C.  Each bar is one month</a:t>
            </a:r>
          </a:p>
          <a:p>
            <a:pPr algn="l">
              <a:lnSpc>
                <a:spcPct val="112000"/>
              </a:lnSpc>
              <a:spcBef>
                <a:spcPts val="0"/>
              </a:spcBef>
              <a:spcAft>
                <a:spcPts val="900"/>
              </a:spcAft>
            </a:pPr>
            <a:r>
              <a:rPr sz="1700" b="0" i="0">
                <a:solidFill>
                  <a:srgbClr val="FFFFFF"/>
                </a:solidFill>
                <a:latin typeface="Arial"/>
              </a:rPr>
              <a:t>D.  The inside bar must be the widest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stays the same in Inside Month/NR5?</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breakout must be upward</a:t>
            </a:r>
          </a:p>
          <a:p>
            <a:pPr algn="l">
              <a:lnSpc>
                <a:spcPct val="112000"/>
              </a:lnSpc>
              <a:spcBef>
                <a:spcPts val="0"/>
              </a:spcBef>
              <a:spcAft>
                <a:spcPts val="900"/>
              </a:spcAft>
            </a:pPr>
            <a:r>
              <a:rPr sz="1700" b="0" i="0">
                <a:solidFill>
                  <a:srgbClr val="FFFFFF"/>
                </a:solidFill>
                <a:latin typeface="Arial"/>
              </a:rPr>
              <a:t>B.  The count is always seven bars</a:t>
            </a:r>
          </a:p>
          <a:p>
            <a:pPr algn="l">
              <a:lnSpc>
                <a:spcPct val="112000"/>
              </a:lnSpc>
              <a:spcBef>
                <a:spcPts val="0"/>
              </a:spcBef>
              <a:spcAft>
                <a:spcPts val="900"/>
              </a:spcAft>
            </a:pPr>
            <a:r>
              <a:rPr sz="1700" b="0" i="0">
                <a:solidFill>
                  <a:srgbClr val="FFFFFF"/>
                </a:solidFill>
                <a:latin typeface="Arial"/>
              </a:rPr>
              <a:t>C.  Every bar must close higher</a:t>
            </a:r>
          </a:p>
          <a:p>
            <a:pPr algn="l">
              <a:lnSpc>
                <a:spcPct val="112000"/>
              </a:lnSpc>
              <a:spcBef>
                <a:spcPts val="0"/>
              </a:spcBef>
              <a:spcAft>
                <a:spcPts val="900"/>
              </a:spcAft>
            </a:pPr>
            <a:r>
              <a:rPr sz="1700" b="0" i="0">
                <a:solidFill>
                  <a:srgbClr val="FFFFFF"/>
                </a:solidFill>
                <a:latin typeface="Arial"/>
              </a:rPr>
              <a:t>D.  The bar must sit inside the one before and be the narrowest of the last 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32</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From Inside Month/NR5</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changes when ID/NR is read as Inside Month/NR5?</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Each bar is one month</a:t>
            </a:r>
          </a:p>
          <a:p>
            <a:pPr algn="l">
              <a:lnSpc>
                <a:spcPct val="115000"/>
              </a:lnSpc>
              <a:spcBef>
                <a:spcPts val="700"/>
              </a:spcBef>
              <a:spcAft>
                <a:spcPts val="0"/>
              </a:spcAft>
            </a:pPr>
            <a:r>
              <a:rPr sz="1700" b="0" i="0">
                <a:solidFill>
                  <a:srgbClr val="1A1A1A"/>
                </a:solidFill>
                <a:latin typeface="Arial"/>
              </a:rPr>
              <a:t>Lim applies the same pattern to monthly bars, so each bar is one month (p. 232).</a:t>
            </a:r>
          </a:p>
        </p:txBody>
      </p:sp>
      <p:sp>
        <p:nvSpPr>
          <p:cNvPr id="10" name="Rectangle 9"/>
          <p:cNvSpPr/>
          <p:nvPr/>
        </p:nvSpPr>
        <p:spPr>
          <a:xfrm>
            <a:off x="777240" y="3111246"/>
            <a:ext cx="10637215" cy="21977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21977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stays the same in Inside Month/NR5?</a:t>
            </a:r>
          </a:p>
        </p:txBody>
      </p:sp>
      <p:sp>
        <p:nvSpPr>
          <p:cNvPr id="13" name="TextBox 12"/>
          <p:cNvSpPr txBox="1"/>
          <p:nvPr/>
        </p:nvSpPr>
        <p:spPr>
          <a:xfrm>
            <a:off x="1143000" y="3853306"/>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must sit inside the one before and be the narrowest of the last n</a:t>
            </a:r>
          </a:p>
          <a:p>
            <a:pPr algn="l">
              <a:lnSpc>
                <a:spcPct val="115000"/>
              </a:lnSpc>
              <a:spcBef>
                <a:spcPts val="700"/>
              </a:spcBef>
              <a:spcAft>
                <a:spcPts val="0"/>
              </a:spcAft>
            </a:pPr>
            <a:r>
              <a:rPr sz="1700" b="0" i="0">
                <a:solidFill>
                  <a:srgbClr val="1A1A1A"/>
                </a:solidFill>
                <a:latin typeface="Arial"/>
              </a:rPr>
              <a:t>The monthly pattern still needs an inside bar that is the narrowest of the last n bars, here five (p. 232).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32</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From Williams' Oops and ID/NR</a:t>
            </a:r>
          </a:p>
        </p:txBody>
      </p:sp>
      <p:sp>
        <p:nvSpPr>
          <p:cNvPr id="6" name="Rectangle 5"/>
          <p:cNvSpPr/>
          <p:nvPr/>
        </p:nvSpPr>
        <p:spPr>
          <a:xfrm>
            <a:off x="777240" y="1207008"/>
            <a:ext cx="348980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294116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294116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gap up, the Williams' Oops sell-stop is placed at:</a:t>
            </a:r>
          </a:p>
        </p:txBody>
      </p:sp>
      <p:sp>
        <p:nvSpPr>
          <p:cNvPr id="9" name="TextBox 8"/>
          <p:cNvSpPr txBox="1"/>
          <p:nvPr/>
        </p:nvSpPr>
        <p:spPr>
          <a:xfrm>
            <a:off x="1051560" y="3023107"/>
            <a:ext cx="294116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previous bar's high</a:t>
            </a:r>
          </a:p>
          <a:p>
            <a:pPr algn="l">
              <a:lnSpc>
                <a:spcPct val="112000"/>
              </a:lnSpc>
              <a:spcBef>
                <a:spcPts val="0"/>
              </a:spcBef>
              <a:spcAft>
                <a:spcPts val="900"/>
              </a:spcAft>
            </a:pPr>
            <a:r>
              <a:rPr sz="1700" b="0" i="0">
                <a:solidFill>
                  <a:srgbClr val="FFFFFF"/>
                </a:solidFill>
                <a:latin typeface="Arial"/>
              </a:rPr>
              <a:t>B.  The new bar's high</a:t>
            </a:r>
          </a:p>
          <a:p>
            <a:pPr algn="l">
              <a:lnSpc>
                <a:spcPct val="112000"/>
              </a:lnSpc>
              <a:spcBef>
                <a:spcPts val="0"/>
              </a:spcBef>
              <a:spcAft>
                <a:spcPts val="900"/>
              </a:spcAft>
            </a:pPr>
            <a:r>
              <a:rPr sz="1700" b="0" i="0">
                <a:solidFill>
                  <a:srgbClr val="FFFFFF"/>
                </a:solidFill>
                <a:latin typeface="Arial"/>
              </a:rPr>
              <a:t>C.  The previous bar's low</a:t>
            </a:r>
          </a:p>
          <a:p>
            <a:pPr algn="l">
              <a:lnSpc>
                <a:spcPct val="112000"/>
              </a:lnSpc>
              <a:spcBef>
                <a:spcPts val="0"/>
              </a:spcBef>
              <a:spcAft>
                <a:spcPts val="900"/>
              </a:spcAft>
            </a:pPr>
            <a:r>
              <a:rPr sz="1700" b="0" i="0">
                <a:solidFill>
                  <a:srgbClr val="FFFFFF"/>
                </a:solidFill>
                <a:latin typeface="Arial"/>
              </a:rPr>
              <a:t>D.  The midpoint of both bars</a:t>
            </a:r>
          </a:p>
        </p:txBody>
      </p:sp>
      <p:sp>
        <p:nvSpPr>
          <p:cNvPr id="10" name="Rectangle 9"/>
          <p:cNvSpPr/>
          <p:nvPr/>
        </p:nvSpPr>
        <p:spPr>
          <a:xfrm>
            <a:off x="4587087" y="1207008"/>
            <a:ext cx="348980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4861407" y="1453896"/>
            <a:ext cx="294116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4861407" y="1737360"/>
            <a:ext cx="294116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ID/NR7 a volatility breakout pattern, like the inside bar </a:t>
            </a:r>
            <a:r>
              <a:rPr sz="1700" b="1" i="0">
                <a:solidFill>
                  <a:srgbClr val="F2A900"/>
                </a:solidFill>
                <a:latin typeface="Arial"/>
              </a:rPr>
              <a:t>(1)</a:t>
            </a:r>
            <a:r>
              <a:rPr sz="1700" b="1" i="0">
                <a:solidFill>
                  <a:srgbClr val="FFFFFF"/>
                </a:solidFill>
                <a:latin typeface="Arial"/>
              </a:rPr>
              <a:t> in Figure 7.38?</a:t>
            </a:r>
          </a:p>
        </p:txBody>
      </p:sp>
      <p:sp>
        <p:nvSpPr>
          <p:cNvPr id="13" name="TextBox 12"/>
          <p:cNvSpPr txBox="1"/>
          <p:nvPr/>
        </p:nvSpPr>
        <p:spPr>
          <a:xfrm>
            <a:off x="4861407" y="3023107"/>
            <a:ext cx="294116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It always breaks upward</a:t>
            </a:r>
          </a:p>
          <a:p>
            <a:pPr algn="l">
              <a:lnSpc>
                <a:spcPct val="112000"/>
              </a:lnSpc>
              <a:spcBef>
                <a:spcPts val="0"/>
              </a:spcBef>
              <a:spcAft>
                <a:spcPts val="900"/>
              </a:spcAft>
            </a:pPr>
            <a:r>
              <a:rPr sz="1700" b="0" i="0">
                <a:solidFill>
                  <a:srgbClr val="FFFFFF"/>
                </a:solidFill>
                <a:latin typeface="Arial"/>
              </a:rPr>
              <a:t>B.  It breaks out of the narrowest, quietest bar of the last seven</a:t>
            </a:r>
          </a:p>
          <a:p>
            <a:pPr algn="l">
              <a:lnSpc>
                <a:spcPct val="112000"/>
              </a:lnSpc>
              <a:spcBef>
                <a:spcPts val="0"/>
              </a:spcBef>
              <a:spcAft>
                <a:spcPts val="900"/>
              </a:spcAft>
            </a:pPr>
            <a:r>
              <a:rPr sz="1700" b="0" i="0">
                <a:solidFill>
                  <a:srgbClr val="FFFFFF"/>
                </a:solidFill>
                <a:latin typeface="Arial"/>
              </a:rPr>
              <a:t>C.  It counts seven volume readings</a:t>
            </a:r>
          </a:p>
          <a:p>
            <a:pPr algn="l">
              <a:lnSpc>
                <a:spcPct val="112000"/>
              </a:lnSpc>
              <a:spcBef>
                <a:spcPts val="0"/>
              </a:spcBef>
              <a:spcAft>
                <a:spcPts val="900"/>
              </a:spcAft>
            </a:pPr>
            <a:r>
              <a:rPr sz="1700" b="0" i="0">
                <a:solidFill>
                  <a:srgbClr val="FFFFFF"/>
                </a:solidFill>
                <a:latin typeface="Arial"/>
              </a:rPr>
              <a:t>D.  It needs seven bullish closes</a:t>
            </a:r>
          </a:p>
        </p:txBody>
      </p:sp>
      <p:sp>
        <p:nvSpPr>
          <p:cNvPr id="14" name="Rectangle 13"/>
          <p:cNvSpPr/>
          <p:nvPr/>
        </p:nvSpPr>
        <p:spPr>
          <a:xfrm>
            <a:off x="8360358" y="1170432"/>
            <a:ext cx="3090672" cy="315187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8396934" y="1207008"/>
            <a:ext cx="3017520" cy="307872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8396934" y="1207008"/>
            <a:ext cx="301752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8671254" y="1481328"/>
            <a:ext cx="2468880" cy="262152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The book's ID/NR6 drawing, with the inside bar the book's arrow names, bar 7, marked inside bar 6.</a:t>
            </a:r>
          </a:p>
        </p:txBody>
      </p:sp>
      <p:sp>
        <p:nvSpPr>
          <p:cNvPr id="18" name="Rectangle 17"/>
          <p:cNvSpPr/>
          <p:nvPr/>
        </p:nvSpPr>
        <p:spPr>
          <a:xfrm>
            <a:off x="9483242" y="2977276"/>
            <a:ext cx="331927" cy="507990"/>
          </a:xfrm>
          <a:prstGeom prst="rect">
            <a:avLst/>
          </a:prstGeom>
          <a:noFill/>
          <a:ln w="44450">
            <a:solidFill>
              <a:srgbClr val="E09B00"/>
            </a:solidFill>
          </a:ln>
        </p:spPr>
        <p:txBody>
          <a:bodyPr rtlCol="0" anchor="ctr"/>
          <a:lstStyle/>
          <a:p>
            <a:pPr algn="ctr"/>
          </a:p>
        </p:txBody>
      </p:sp>
      <p:sp>
        <p:nvSpPr>
          <p:cNvPr id="19" name="Oval 18"/>
          <p:cNvSpPr/>
          <p:nvPr/>
        </p:nvSpPr>
        <p:spPr>
          <a:xfrm>
            <a:off x="9466782" y="348664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8396934" y="4377175"/>
            <a:ext cx="3017520"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33</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From Williams' Oops and ID/NR</a:t>
            </a:r>
          </a:p>
        </p:txBody>
      </p:sp>
      <p:sp>
        <p:nvSpPr>
          <p:cNvPr id="6" name="Rectangle 5"/>
          <p:cNvSpPr/>
          <p:nvPr/>
        </p:nvSpPr>
        <p:spPr>
          <a:xfrm>
            <a:off x="777240" y="1207008"/>
            <a:ext cx="7132320" cy="1786382"/>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78638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1316736"/>
            <a:ext cx="65836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gap up, the Williams' Oops sell-stop is placed at:</a:t>
            </a:r>
          </a:p>
        </p:txBody>
      </p:sp>
      <p:sp>
        <p:nvSpPr>
          <p:cNvPr id="9" name="TextBox 8"/>
          <p:cNvSpPr txBox="1"/>
          <p:nvPr/>
        </p:nvSpPr>
        <p:spPr>
          <a:xfrm>
            <a:off x="1051560" y="1886458"/>
            <a:ext cx="6583680" cy="103378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Arial"/>
              </a:rPr>
              <a:t>A.  The previous bar's high</a:t>
            </a:r>
          </a:p>
          <a:p>
            <a:pPr algn="l">
              <a:lnSpc>
                <a:spcPct val="115000"/>
              </a:lnSpc>
              <a:spcBef>
                <a:spcPts val="600"/>
              </a:spcBef>
              <a:spcAft>
                <a:spcPts val="0"/>
              </a:spcAft>
            </a:pPr>
            <a:r>
              <a:rPr sz="1700" b="0" i="0">
                <a:solidFill>
                  <a:srgbClr val="1A1A1A"/>
                </a:solidFill>
                <a:latin typeface="Arial"/>
              </a:rPr>
              <a:t>Lim places the sell-stop at the previous bar's high; the new bar's high is the stoploss (p. 231).</a:t>
            </a:r>
          </a:p>
        </p:txBody>
      </p:sp>
      <p:sp>
        <p:nvSpPr>
          <p:cNvPr id="10" name="Rectangle 9"/>
          <p:cNvSpPr/>
          <p:nvPr/>
        </p:nvSpPr>
        <p:spPr>
          <a:xfrm>
            <a:off x="777240" y="3130550"/>
            <a:ext cx="7132320" cy="229755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30550"/>
            <a:ext cx="91440" cy="2297557"/>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51560" y="3240278"/>
            <a:ext cx="65836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is ID/NR7 a volatility breakout pattern, like the inside bar </a:t>
            </a:r>
            <a:r>
              <a:rPr sz="1700" b="1" i="0">
                <a:solidFill>
                  <a:srgbClr val="E09B00"/>
                </a:solidFill>
                <a:latin typeface="Arial"/>
              </a:rPr>
              <a:t>(1)</a:t>
            </a:r>
            <a:r>
              <a:rPr sz="1700" b="0" i="0">
                <a:solidFill>
                  <a:srgbClr val="818181"/>
                </a:solidFill>
                <a:latin typeface="Arial"/>
              </a:rPr>
              <a:t> in Figure 7.38?</a:t>
            </a:r>
          </a:p>
        </p:txBody>
      </p:sp>
      <p:sp>
        <p:nvSpPr>
          <p:cNvPr id="13" name="TextBox 12"/>
          <p:cNvSpPr txBox="1"/>
          <p:nvPr/>
        </p:nvSpPr>
        <p:spPr>
          <a:xfrm>
            <a:off x="1051560" y="3810000"/>
            <a:ext cx="6583680" cy="154495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Arial"/>
              </a:rPr>
              <a:t>B.  It breaks out of the narrowest, quietest bar of the last seven</a:t>
            </a:r>
          </a:p>
          <a:p>
            <a:pPr algn="l">
              <a:lnSpc>
                <a:spcPct val="115000"/>
              </a:lnSpc>
              <a:spcBef>
                <a:spcPts val="600"/>
              </a:spcBef>
              <a:spcAft>
                <a:spcPts val="0"/>
              </a:spcAft>
            </a:pPr>
            <a:r>
              <a:rPr sz="1700" b="0" i="0">
                <a:solidFill>
                  <a:srgbClr val="1A1A1A"/>
                </a:solidFill>
                <a:latin typeface="Arial"/>
              </a:rPr>
              <a:t>Lim names it one and defines ID/NR n (p. 232) but gives no further reason. Our reading: the narrowest range is the quietest bar, so the breakout comes out of low volatility.</a:t>
            </a:r>
          </a:p>
        </p:txBody>
      </p:sp>
      <p:sp>
        <p:nvSpPr>
          <p:cNvPr id="14" name="Rectangle 13"/>
          <p:cNvSpPr/>
          <p:nvPr/>
        </p:nvSpPr>
        <p:spPr>
          <a:xfrm>
            <a:off x="8193024" y="1170432"/>
            <a:ext cx="3258006" cy="332260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8229600" y="1207008"/>
            <a:ext cx="3184854" cy="3249456"/>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8229600" y="1207008"/>
            <a:ext cx="318485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8503920" y="1481328"/>
            <a:ext cx="2636214" cy="279225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The book's ID/NR6 drawing, with the inside bar the book's arrow names, bar 7, marked inside bar 6.</a:t>
            </a:r>
          </a:p>
        </p:txBody>
      </p:sp>
      <p:sp>
        <p:nvSpPr>
          <p:cNvPr id="18" name="Rectangle 17"/>
          <p:cNvSpPr/>
          <p:nvPr/>
        </p:nvSpPr>
        <p:spPr>
          <a:xfrm>
            <a:off x="9376147" y="3075445"/>
            <a:ext cx="350334" cy="536160"/>
          </a:xfrm>
          <a:prstGeom prst="rect">
            <a:avLst/>
          </a:prstGeom>
          <a:noFill/>
          <a:ln w="44450">
            <a:solidFill>
              <a:srgbClr val="E09B00"/>
            </a:solidFill>
          </a:ln>
        </p:spPr>
        <p:txBody>
          <a:bodyPr rtlCol="0" anchor="ctr"/>
          <a:lstStyle/>
          <a:p>
            <a:pPr algn="ctr"/>
          </a:p>
        </p:txBody>
      </p:sp>
      <p:sp>
        <p:nvSpPr>
          <p:cNvPr id="19" name="Oval 18"/>
          <p:cNvSpPr/>
          <p:nvPr/>
        </p:nvSpPr>
        <p:spPr>
          <a:xfrm>
            <a:off x="9366382" y="362067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8229600" y="4547904"/>
            <a:ext cx="318485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33</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Here is the chapter's reading habit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indicator, and volume action may indicate future price activity.</a:t>
            </a:r>
          </a:p>
          <a:p>
            <a:pPr algn="l">
              <a:lnSpc>
                <a:spcPct val="118000"/>
              </a:lnSpc>
              <a:spcBef>
                <a:spcPts val="0"/>
              </a:spcBef>
              <a:spcAft>
                <a:spcPts val="1300"/>
              </a:spcAft>
            </a:pPr>
            <a:r>
              <a:rPr sz="2100" b="0" i="0">
                <a:solidFill>
                  <a:srgbClr val="1A1A1A"/>
                </a:solidFill>
                <a:latin typeface="Arial"/>
              </a:rPr>
              <a:t>Chapter 7 reads OHLC, formation count, trend and intrinsic sentiment, gaps, barriers, volume, and 16 reversal characteristics.</a:t>
            </a:r>
          </a:p>
          <a:p>
            <a:pPr algn="l">
              <a:lnSpc>
                <a:spcPct val="118000"/>
              </a:lnSpc>
              <a:spcBef>
                <a:spcPts val="0"/>
              </a:spcBef>
              <a:spcAft>
                <a:spcPts val="1300"/>
              </a:spcAft>
            </a:pPr>
            <a:r>
              <a:rPr sz="2100" b="0" i="0">
                <a:solidFill>
                  <a:srgbClr val="1A1A1A"/>
                </a:solidFill>
                <a:latin typeface="Arial"/>
              </a:rPr>
              <a:t>Breakout patterns may catch continuations or reversals, but every reading remains potential. Chapter 8 teaches the oscillator method.</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a reading habit, not a complete trade plan.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233. The chapter summary is paraphrased for teaching.</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1 starts with the exhaustion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3035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1 asks how exhaustion bars and pin bars differ (p. 233). In an uptrend an exhaustion bar opens above the previous bar's high and should close at or near its low, and no gap follows it.</a:t>
            </a:r>
          </a:p>
          <a:p>
            <a:pPr algn="l">
              <a:lnSpc>
                <a:spcPct val="105000"/>
              </a:lnSpc>
              <a:spcBef>
                <a:spcPts val="0"/>
              </a:spcBef>
              <a:spcAft>
                <a:spcPts val="1100"/>
              </a:spcAft>
            </a:pPr>
            <a:r>
              <a:rPr sz="1700" b="0" i="0">
                <a:solidFill>
                  <a:srgbClr val="1A1A1A"/>
                </a:solidFill>
                <a:latin typeface="Arial"/>
              </a:rPr>
              <a:t>In a downtrend the reverse is true, as in Figure 7.28's bullish exhaustion bar </a:t>
            </a:r>
            <a:r>
              <a:rPr sz="1700" b="1" i="0">
                <a:solidFill>
                  <a:srgbClr val="E09B00"/>
                </a:solidFill>
                <a:latin typeface="Arial"/>
              </a:rPr>
              <a:t>(1)</a:t>
            </a:r>
            <a:r>
              <a:rPr sz="1700" b="0" i="0">
                <a:solidFill>
                  <a:srgbClr val="1A1A1A"/>
                </a:solidFill>
                <a:latin typeface="Arial"/>
              </a:rPr>
              <a:t> at a bottom (p. 226).</a:t>
            </a:r>
          </a:p>
          <a:p>
            <a:pPr algn="l">
              <a:lnSpc>
                <a:spcPct val="105000"/>
              </a:lnSpc>
              <a:spcBef>
                <a:spcPts val="0"/>
              </a:spcBef>
              <a:spcAft>
                <a:spcPts val="1100"/>
              </a:spcAft>
            </a:pPr>
            <a:r>
              <a:rPr sz="1700" b="0" i="0">
                <a:solidFill>
                  <a:srgbClr val="1A1A1A"/>
                </a:solidFill>
                <a:latin typeface="Arial"/>
              </a:rPr>
              <a:t>Its Gap label is the opening gap from the previous bar; the rule is that no gap follows the exhaustion bar.</a:t>
            </a:r>
          </a:p>
        </p:txBody>
      </p:sp>
      <p:sp>
        <p:nvSpPr>
          <p:cNvPr id="7" name="Rectangle 6"/>
          <p:cNvSpPr/>
          <p:nvPr/>
        </p:nvSpPr>
        <p:spPr>
          <a:xfrm>
            <a:off x="777240" y="493090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967478"/>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Lim regards it as a reversal bar (p. 226).</a:t>
            </a:r>
          </a:p>
        </p:txBody>
      </p:sp>
      <p:sp>
        <p:nvSpPr>
          <p:cNvPr id="9" name="Rectangle 8"/>
          <p:cNvSpPr/>
          <p:nvPr/>
        </p:nvSpPr>
        <p:spPr>
          <a:xfrm>
            <a:off x="6364223" y="1207008"/>
            <a:ext cx="5086807" cy="472204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00799" y="1243584"/>
            <a:ext cx="5013655" cy="464889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243584"/>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75119" y="1517904"/>
            <a:ext cx="4465015" cy="41916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A crop of Figure 7.28 around the bullish exhaustion bar the book labels, with the gap before it and the bars after it.</a:t>
            </a:r>
          </a:p>
        </p:txBody>
      </p:sp>
      <p:sp>
        <p:nvSpPr>
          <p:cNvPr id="13" name="Oval 12"/>
          <p:cNvSpPr/>
          <p:nvPr/>
        </p:nvSpPr>
        <p:spPr>
          <a:xfrm>
            <a:off x="8406261" y="3196120"/>
            <a:ext cx="601638" cy="929779"/>
          </a:xfrm>
          <a:prstGeom prst="ellipse">
            <a:avLst/>
          </a:prstGeom>
          <a:noFill/>
          <a:ln w="44450">
            <a:solidFill>
              <a:srgbClr val="E09B00"/>
            </a:solidFill>
          </a:ln>
        </p:spPr>
        <p:txBody>
          <a:bodyPr rtlCol="0" anchor="ctr"/>
          <a:lstStyle/>
          <a:p>
            <a:pPr algn="ctr"/>
          </a:p>
        </p:txBody>
      </p:sp>
      <p:sp>
        <p:nvSpPr>
          <p:cNvPr id="14" name="Oval 13"/>
          <p:cNvSpPr/>
          <p:nvPr/>
        </p:nvSpPr>
        <p:spPr>
          <a:xfrm>
            <a:off x="7918146" y="373304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TextBox 14"/>
          <p:cNvSpPr txBox="1"/>
          <p:nvPr/>
        </p:nvSpPr>
        <p:spPr>
          <a:xfrm>
            <a:off x="777240" y="5705856"/>
            <a:ext cx="53035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7.28 -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and 233, Figure 7.28. The crop and mark are ours, added for teaching.</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1: how a pin bar differs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pin bar, or Pinocchio bar, pokes through a barrier and then rapidly retraces back inside it (p. 227). In Figure 7.30, Micron's pin bar </a:t>
            </a:r>
            <a:r>
              <a:rPr sz="1700" b="1" i="0">
                <a:solidFill>
                  <a:srgbClr val="E09B00"/>
                </a:solidFill>
                <a:latin typeface="Arial"/>
              </a:rPr>
              <a:t>(1)</a:t>
            </a:r>
            <a:r>
              <a:rPr sz="1700" b="0" i="0">
                <a:solidFill>
                  <a:srgbClr val="1A1A1A"/>
                </a:solidFill>
                <a:latin typeface="Arial"/>
              </a:rPr>
              <a:t> breaches support </a:t>
            </a:r>
            <a:r>
              <a:rPr sz="1700" b="1" i="0">
                <a:solidFill>
                  <a:srgbClr val="C62828"/>
                </a:solidFill>
                <a:latin typeface="Arial"/>
              </a:rPr>
              <a:t>(2)</a:t>
            </a:r>
            <a:r>
              <a:rPr sz="1700" b="0" i="0">
                <a:solidFill>
                  <a:srgbClr val="1A1A1A"/>
                </a:solidFill>
                <a:latin typeface="Arial"/>
              </a:rPr>
              <a:t>, and price comes straight back above it (p. 228).</a:t>
            </a:r>
          </a:p>
          <a:p>
            <a:pPr algn="l">
              <a:lnSpc>
                <a:spcPct val="105000"/>
              </a:lnSpc>
              <a:spcBef>
                <a:spcPts val="0"/>
              </a:spcBef>
              <a:spcAft>
                <a:spcPts val="1100"/>
              </a:spcAft>
            </a:pPr>
            <a:r>
              <a:rPr sz="1700" b="0" i="0">
                <a:solidFill>
                  <a:srgbClr val="1A1A1A"/>
                </a:solidFill>
                <a:latin typeface="Arial"/>
              </a:rPr>
              <a:t>So the difference is this. A pin bar gives a false impression of price breaking through a barrier, and pin bars usually form on low volume. Exhaustion bars do not usually give that false impression (p. 227).</a:t>
            </a:r>
          </a:p>
        </p:txBody>
      </p:sp>
      <p:sp>
        <p:nvSpPr>
          <p:cNvPr id="7" name="Rectangle 6"/>
          <p:cNvSpPr/>
          <p:nvPr/>
        </p:nvSpPr>
        <p:spPr>
          <a:xfrm>
            <a:off x="5266943" y="1207008"/>
            <a:ext cx="6184087" cy="3159976"/>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5303519" y="1243584"/>
            <a:ext cx="6110935" cy="308682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303519" y="1243584"/>
            <a:ext cx="611093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577839" y="1517904"/>
            <a:ext cx="5562295" cy="262962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A crop of Figure 7.30 around the pin bar: its long tail below the dotted support line and the bars that recover above it.</a:t>
            </a:r>
          </a:p>
        </p:txBody>
      </p:sp>
      <p:sp>
        <p:nvSpPr>
          <p:cNvPr id="11" name="Oval 10"/>
          <p:cNvSpPr/>
          <p:nvPr/>
        </p:nvSpPr>
        <p:spPr>
          <a:xfrm>
            <a:off x="7472901" y="3280888"/>
            <a:ext cx="366656" cy="709969"/>
          </a:xfrm>
          <a:prstGeom prst="ellipse">
            <a:avLst/>
          </a:prstGeom>
          <a:noFill/>
          <a:ln w="44450">
            <a:solidFill>
              <a:srgbClr val="E09B00"/>
            </a:solidFill>
          </a:ln>
        </p:spPr>
        <p:txBody>
          <a:bodyPr rtlCol="0" anchor="ctr"/>
          <a:lstStyle/>
          <a:p>
            <a:pPr algn="ctr"/>
          </a:p>
        </p:txBody>
      </p:sp>
      <p:cxnSp>
        <p:nvCxnSpPr>
          <p:cNvPr id="12" name="Connector 11"/>
          <p:cNvCxnSpPr/>
          <p:nvPr/>
        </p:nvCxnSpPr>
        <p:spPr>
          <a:xfrm>
            <a:off x="6159050" y="3395100"/>
            <a:ext cx="1161078" cy="0"/>
          </a:xfrm>
          <a:prstGeom prst="line">
            <a:avLst/>
          </a:prstGeom>
          <a:ln w="44450">
            <a:solidFill>
              <a:srgbClr val="C62828"/>
            </a:solidFill>
          </a:ln>
        </p:spPr>
      </p:cxnSp>
      <p:sp>
        <p:nvSpPr>
          <p:cNvPr id="13" name="Oval 12"/>
          <p:cNvSpPr/>
          <p:nvPr/>
        </p:nvSpPr>
        <p:spPr>
          <a:xfrm>
            <a:off x="7060749" y="3514147"/>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777453" y="325794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7.30 -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227 to 228, Figure 7.30. The crop and marks are ours, added for teaching.</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2: why ID/NR7 is a volatility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2 asks why the ID/NR7 pattern is called a volatility breakout pattern (p. 233). Lim names it one and defines ID/NR n as an inside day breakout from the narrowest bar over the last n days; for ID/NR7, the narrowest of the last seven (p. 232).</a:t>
            </a:r>
          </a:p>
          <a:p>
            <a:pPr algn="l">
              <a:lnSpc>
                <a:spcPct val="105000"/>
              </a:lnSpc>
              <a:spcBef>
                <a:spcPts val="0"/>
              </a:spcBef>
              <a:spcAft>
                <a:spcPts val="1100"/>
              </a:spcAft>
            </a:pPr>
            <a:r>
              <a:rPr sz="1700" b="0" i="0">
                <a:solidFill>
                  <a:srgbClr val="1A1A1A"/>
                </a:solidFill>
                <a:latin typeface="Arial"/>
              </a:rPr>
              <a:t>He gives no further reason. Our plain reading: the narrowest bar is the quietest in a while, like the inside bar the book's arrow names in Figure 7.38 </a:t>
            </a:r>
            <a:r>
              <a:rPr sz="1700" b="1" i="0">
                <a:solidFill>
                  <a:srgbClr val="E09B00"/>
                </a:solidFill>
                <a:latin typeface="Arial"/>
              </a:rPr>
              <a:t>(1)</a:t>
            </a:r>
            <a:r>
              <a:rPr sz="1700" b="0" i="0">
                <a:solidFill>
                  <a:srgbClr val="1A1A1A"/>
                </a:solidFill>
                <a:latin typeface="Arial"/>
              </a:rPr>
              <a:t>, so the breakout comes out of low volatility.</a:t>
            </a:r>
          </a:p>
        </p:txBody>
      </p:sp>
      <p:sp>
        <p:nvSpPr>
          <p:cNvPr id="7" name="Rectangle 6"/>
          <p:cNvSpPr/>
          <p:nvPr/>
        </p:nvSpPr>
        <p:spPr>
          <a:xfrm>
            <a:off x="6547103" y="1207008"/>
            <a:ext cx="4903927" cy="4934397"/>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583679" y="1243584"/>
            <a:ext cx="4830775" cy="486124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583679" y="1243584"/>
            <a:ext cx="48307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857999" y="1517904"/>
            <a:ext cx="4282135" cy="44040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Figure 7.38 around bars 4 to 7, the inside bar the book's arrow names, and the two trigger levels.</a:t>
            </a:r>
          </a:p>
        </p:txBody>
      </p:sp>
      <p:sp>
        <p:nvSpPr>
          <p:cNvPr id="11" name="Rectangle 10"/>
          <p:cNvSpPr/>
          <p:nvPr/>
        </p:nvSpPr>
        <p:spPr>
          <a:xfrm>
            <a:off x="7609253" y="3403921"/>
            <a:ext cx="231877" cy="877940"/>
          </a:xfrm>
          <a:prstGeom prst="rect">
            <a:avLst/>
          </a:prstGeom>
          <a:noFill/>
          <a:ln w="44450">
            <a:solidFill>
              <a:srgbClr val="E09B00"/>
            </a:solidFill>
          </a:ln>
        </p:spPr>
        <p:txBody>
          <a:bodyPr rtlCol="0" anchor="ctr"/>
          <a:lstStyle/>
          <a:p>
            <a:pPr algn="ctr"/>
          </a:p>
        </p:txBody>
      </p:sp>
      <p:sp>
        <p:nvSpPr>
          <p:cNvPr id="12" name="Oval 11"/>
          <p:cNvSpPr/>
          <p:nvPr/>
        </p:nvSpPr>
        <p:spPr>
          <a:xfrm>
            <a:off x="7951789" y="444852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TextBox 12"/>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232 to 233, Figure 7.38. The crop and mark are ours, added for teaching.</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3: the key reversal day</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0292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3 asks for the main characteristics of a key reversal day (p. 233). A bearish key reversal bar forms a higher high than the previous bar and closes near or below the close of the previous bar (p. 218).</a:t>
            </a:r>
          </a:p>
          <a:p>
            <a:pPr algn="l">
              <a:lnSpc>
                <a:spcPct val="105000"/>
              </a:lnSpc>
              <a:spcBef>
                <a:spcPts val="0"/>
              </a:spcBef>
              <a:spcAft>
                <a:spcPts val="1100"/>
              </a:spcAft>
            </a:pPr>
            <a:r>
              <a:rPr sz="1700" b="0" i="0">
                <a:solidFill>
                  <a:srgbClr val="1A1A1A"/>
                </a:solidFill>
                <a:latin typeface="Arial"/>
              </a:rPr>
              <a:t>It may open with a large gap up and close on high volume, and the wider the bar, the more reliable the follow-through (p. 218). Figure 7.15 marks Apple's key reversal day </a:t>
            </a:r>
            <a:r>
              <a:rPr sz="1700" b="1" i="0">
                <a:solidFill>
                  <a:srgbClr val="E09B00"/>
                </a:solidFill>
                <a:latin typeface="Arial"/>
              </a:rPr>
              <a:t>(1)</a:t>
            </a:r>
            <a:r>
              <a:rPr sz="1700" b="0" i="0">
                <a:solidFill>
                  <a:srgbClr val="1A1A1A"/>
                </a:solidFill>
                <a:latin typeface="Arial"/>
              </a:rPr>
              <a:t> on above-average volume </a:t>
            </a:r>
            <a:r>
              <a:rPr sz="1700" b="1" i="0">
                <a:solidFill>
                  <a:srgbClr val="C62828"/>
                </a:solidFill>
                <a:latin typeface="Arial"/>
              </a:rPr>
              <a:t>(2)</a:t>
            </a:r>
            <a:r>
              <a:rPr sz="1700" b="0" i="0">
                <a:solidFill>
                  <a:srgbClr val="1A1A1A"/>
                </a:solidFill>
                <a:latin typeface="Arial"/>
              </a:rPr>
              <a:t>. A bullish key reversal is the converse, in a downtrend.</a:t>
            </a:r>
          </a:p>
        </p:txBody>
      </p:sp>
      <p:sp>
        <p:nvSpPr>
          <p:cNvPr id="7" name="Rectangle 6"/>
          <p:cNvSpPr/>
          <p:nvPr/>
        </p:nvSpPr>
        <p:spPr>
          <a:xfrm>
            <a:off x="6089903" y="1207008"/>
            <a:ext cx="5361127" cy="4020817"/>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126479" y="1243584"/>
            <a:ext cx="5287975" cy="394766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26479" y="1243584"/>
            <a:ext cx="52879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400799" y="1517904"/>
            <a:ext cx="4739335" cy="3490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A crop of Figure 7.15: Apple's key reversal day after the uptrend, and its volume bar above the 20-day average.</a:t>
            </a:r>
          </a:p>
        </p:txBody>
      </p:sp>
      <p:sp>
        <p:nvSpPr>
          <p:cNvPr id="11" name="Rectangle 10"/>
          <p:cNvSpPr/>
          <p:nvPr/>
        </p:nvSpPr>
        <p:spPr>
          <a:xfrm>
            <a:off x="8532508" y="1259374"/>
            <a:ext cx="185079" cy="761899"/>
          </a:xfrm>
          <a:prstGeom prst="rect">
            <a:avLst/>
          </a:prstGeom>
          <a:noFill/>
          <a:ln w="44450">
            <a:solidFill>
              <a:srgbClr val="E09B00"/>
            </a:solidFill>
          </a:ln>
        </p:spPr>
        <p:txBody>
          <a:bodyPr rtlCol="0" anchor="ctr"/>
          <a:lstStyle/>
          <a:p>
            <a:pPr algn="ctr"/>
          </a:p>
        </p:txBody>
      </p:sp>
      <p:sp>
        <p:nvSpPr>
          <p:cNvPr id="12" name="Rectangle 11"/>
          <p:cNvSpPr/>
          <p:nvPr/>
        </p:nvSpPr>
        <p:spPr>
          <a:xfrm>
            <a:off x="8548372" y="4630680"/>
            <a:ext cx="169215" cy="560568"/>
          </a:xfrm>
          <a:prstGeom prst="rect">
            <a:avLst/>
          </a:prstGeom>
          <a:noFill/>
          <a:ln w="44450">
            <a:solidFill>
              <a:srgbClr val="C62828"/>
            </a:solidFill>
          </a:ln>
        </p:spPr>
        <p:txBody>
          <a:bodyPr rtlCol="0" anchor="ctr"/>
          <a:lstStyle/>
          <a:p>
            <a:pPr algn="ctr"/>
          </a:p>
        </p:txBody>
      </p:sp>
      <p:sp>
        <p:nvSpPr>
          <p:cNvPr id="13" name="Oval 12"/>
          <p:cNvSpPr/>
          <p:nvPr/>
        </p:nvSpPr>
        <p:spPr>
          <a:xfrm>
            <a:off x="8791946" y="138276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791946" y="4292189"/>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0292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and 233, Figure 7.15. The crop and marks are ours, added for teaching.</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the first eight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Review question 4 asks us to describe the 16 price and volume reversal characteristics (p. 233). Lim lists them on p. 217 as signs of a potential reversal, and Chapter 5 discusses each one.</a:t>
            </a:r>
          </a:p>
          <a:p>
            <a:pPr algn="l">
              <a:lnSpc>
                <a:spcPct val="118000"/>
              </a:lnSpc>
              <a:spcBef>
                <a:spcPts val="0"/>
              </a:spcBef>
              <a:spcAft>
                <a:spcPts val="1300"/>
              </a:spcAft>
            </a:pPr>
            <a:r>
              <a:rPr sz="2100" b="0" i="0">
                <a:solidFill>
                  <a:srgbClr val="1A1A1A"/>
                </a:solidFill>
                <a:latin typeface="Arial"/>
              </a:rPr>
              <a:t>The first eight are a decrease in price cycle amplitude, a decrease in price cycle period, a change in bar retracement symmetry, a decrease in average bar range, a lack of the quality of price persistence, a decrease in average bar stochastic ratio, a decrease in average candlestick real body to range ratio, and changes in angular symmetry and momentum.</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and 233; the 16 names follow the book's order.</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the last eight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next four are proximity to a price barrier, a reduction in frequency and decrease in depth of trend-based oscillations, the appearance of relatively larger and longer lasting consolidations, and the appearance of an exhaustion gap.</a:t>
            </a:r>
          </a:p>
          <a:p>
            <a:pPr algn="l">
              <a:lnSpc>
                <a:spcPct val="118000"/>
              </a:lnSpc>
              <a:spcBef>
                <a:spcPts val="0"/>
              </a:spcBef>
              <a:spcAft>
                <a:spcPts val="1300"/>
              </a:spcAft>
            </a:pPr>
            <a:r>
              <a:rPr sz="2100" b="0" i="0">
                <a:solidFill>
                  <a:srgbClr val="1A1A1A"/>
                </a:solidFill>
                <a:latin typeface="Arial"/>
              </a:rPr>
              <a:t>The last four are completion of the average range for the period under observation, overextended price action with respect to a price barrier, price accompanied by extremely high or low volume, and standard divergences between price, volume and oscillators.</a:t>
            </a:r>
          </a:p>
          <a:p>
            <a:pPr algn="l">
              <a:lnSpc>
                <a:spcPct val="118000"/>
              </a:lnSpc>
              <a:spcBef>
                <a:spcPts val="0"/>
              </a:spcBef>
              <a:spcAft>
                <a:spcPts val="1300"/>
              </a:spcAft>
            </a:pPr>
            <a:r>
              <a:rPr sz="2100" b="0" i="0">
                <a:solidFill>
                  <a:srgbClr val="1A1A1A"/>
                </a:solidFill>
                <a:latin typeface="Arial"/>
              </a:rPr>
              <a:t>Lim singles out barrier proximity as one of the most important.</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16 names follow the book's order.</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5: what volume adds to a pattern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Review question 5 asks how volume affects bar chart pattern analysis (p. 233).</a:t>
            </a:r>
          </a:p>
          <a:p>
            <a:pPr algn="l">
              <a:lnSpc>
                <a:spcPct val="118000"/>
              </a:lnSpc>
              <a:spcBef>
                <a:spcPts val="0"/>
              </a:spcBef>
              <a:spcAft>
                <a:spcPts val="1300"/>
              </a:spcAft>
            </a:pPr>
            <a:r>
              <a:rPr sz="2100" b="0" i="0">
                <a:solidFill>
                  <a:srgbClr val="1A1A1A"/>
                </a:solidFill>
                <a:latin typeface="Arial"/>
              </a:rPr>
              <a:t>In a two-bar pattern, a narrow range bar should generally form on low volume, indicating uncertainty, and a large bar closing at or near its low should generally form on high volume in an uptrend (p. 212).</a:t>
            </a:r>
          </a:p>
          <a:p>
            <a:pPr algn="l">
              <a:lnSpc>
                <a:spcPct val="118000"/>
              </a:lnSpc>
              <a:spcBef>
                <a:spcPts val="0"/>
              </a:spcBef>
              <a:spcAft>
                <a:spcPts val="1300"/>
              </a:spcAft>
            </a:pPr>
            <a:r>
              <a:rPr sz="2100" b="0" i="0">
                <a:solidFill>
                  <a:srgbClr val="1A1A1A"/>
                </a:solidFill>
                <a:latin typeface="Arial"/>
              </a:rPr>
              <a:t>Lim also calls a bearish pattern potentially more reliable when its last bar is an overextended bar that closes at or near its low on high volume (pp. 212 to 214).</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adds weight to a reading; it does not guarantee the result.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212 to 214 and 233.</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6: two triple-bar bearish patterns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852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6 asks for two triple-bar bearish patterns and how to trade them (p. 233). Figure 7.6 draws them (p. 213).</a:t>
            </a:r>
          </a:p>
          <a:p>
            <a:pPr algn="l">
              <a:lnSpc>
                <a:spcPct val="105000"/>
              </a:lnSpc>
              <a:spcBef>
                <a:spcPts val="0"/>
              </a:spcBef>
              <a:spcAft>
                <a:spcPts val="1100"/>
              </a:spcAft>
            </a:pPr>
            <a:r>
              <a:rPr sz="1700" b="0" i="0">
                <a:solidFill>
                  <a:srgbClr val="1A1A1A"/>
                </a:solidFill>
                <a:latin typeface="Arial"/>
              </a:rPr>
              <a:t>In pattern 1 </a:t>
            </a:r>
            <a:r>
              <a:rPr sz="1700" b="1" i="0">
                <a:solidFill>
                  <a:srgbClr val="E09B00"/>
                </a:solidFill>
                <a:latin typeface="Arial"/>
              </a:rPr>
              <a:t>(1)</a:t>
            </a:r>
            <a:r>
              <a:rPr sz="1700" b="0" i="0">
                <a:solidFill>
                  <a:srgbClr val="1A1A1A"/>
                </a:solidFill>
                <a:latin typeface="Arial"/>
              </a:rPr>
              <a:t>, the first bar closes near its high, a large middle bar closes near its low, and the third bar closes at or near its low. In pattern 2 </a:t>
            </a:r>
            <a:r>
              <a:rPr sz="1700" b="1" i="0">
                <a:solidFill>
                  <a:srgbClr val="C62828"/>
                </a:solidFill>
                <a:latin typeface="Arial"/>
              </a:rPr>
              <a:t>(2)</a:t>
            </a:r>
            <a:r>
              <a:rPr sz="1700" b="0" i="0">
                <a:solidFill>
                  <a:srgbClr val="1A1A1A"/>
                </a:solidFill>
                <a:latin typeface="Arial"/>
              </a:rPr>
              <a:t>, a narrow range middle bar closes within its range on low volume, and the third bar closes at or near its low.</a:t>
            </a:r>
          </a:p>
          <a:p>
            <a:pPr algn="l">
              <a:lnSpc>
                <a:spcPct val="105000"/>
              </a:lnSpc>
              <a:spcBef>
                <a:spcPts val="0"/>
              </a:spcBef>
              <a:spcAft>
                <a:spcPts val="1100"/>
              </a:spcAft>
            </a:pPr>
            <a:r>
              <a:rPr sz="1700" b="0" i="0">
                <a:solidFill>
                  <a:srgbClr val="1A1A1A"/>
                </a:solidFill>
                <a:latin typeface="Arial"/>
              </a:rPr>
              <a:t>On trading, Lim gives only what makes the pattern more reliable: larger gaps, wider first and third bars, and a last bar closing near its low on high volume (pp. 213 to 214). He gives no entry or exit rule.</a:t>
            </a:r>
          </a:p>
        </p:txBody>
      </p:sp>
      <p:sp>
        <p:nvSpPr>
          <p:cNvPr id="7" name="Rectangle 6"/>
          <p:cNvSpPr/>
          <p:nvPr/>
        </p:nvSpPr>
        <p:spPr>
          <a:xfrm>
            <a:off x="6912864" y="1207008"/>
            <a:ext cx="4538166" cy="4550887"/>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949440" y="1243584"/>
            <a:ext cx="4465014" cy="447773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49440" y="1243584"/>
            <a:ext cx="4465014"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7223759" y="1517904"/>
            <a:ext cx="3916374" cy="40205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cropped to the bars of its first two bearish triple-bar patterns.</a:t>
            </a:r>
          </a:p>
        </p:txBody>
      </p:sp>
      <p:sp>
        <p:nvSpPr>
          <p:cNvPr id="11" name="Rectangle 10"/>
          <p:cNvSpPr/>
          <p:nvPr/>
        </p:nvSpPr>
        <p:spPr>
          <a:xfrm>
            <a:off x="7708492" y="1337616"/>
            <a:ext cx="893002" cy="2203046"/>
          </a:xfrm>
          <a:prstGeom prst="rect">
            <a:avLst/>
          </a:prstGeom>
          <a:noFill/>
          <a:ln w="44450">
            <a:solidFill>
              <a:srgbClr val="E09B00"/>
            </a:solidFill>
          </a:ln>
        </p:spPr>
        <p:txBody>
          <a:bodyPr rtlCol="0" anchor="ctr"/>
          <a:lstStyle/>
          <a:p>
            <a:pPr algn="ctr"/>
          </a:p>
        </p:txBody>
      </p:sp>
      <p:sp>
        <p:nvSpPr>
          <p:cNvPr id="12" name="Rectangle 11"/>
          <p:cNvSpPr/>
          <p:nvPr/>
        </p:nvSpPr>
        <p:spPr>
          <a:xfrm>
            <a:off x="9851699" y="1713746"/>
            <a:ext cx="937653" cy="1826916"/>
          </a:xfrm>
          <a:prstGeom prst="rect">
            <a:avLst/>
          </a:prstGeom>
          <a:noFill/>
          <a:ln w="44450">
            <a:solidFill>
              <a:srgbClr val="C62828"/>
            </a:solidFill>
          </a:ln>
        </p:spPr>
        <p:txBody>
          <a:bodyPr rtlCol="0" anchor="ctr"/>
          <a:lstStyle/>
          <a:p>
            <a:pPr algn="ctr"/>
          </a:p>
        </p:txBody>
      </p:sp>
      <p:sp>
        <p:nvSpPr>
          <p:cNvPr id="13" name="Oval 12"/>
          <p:cNvSpPr/>
          <p:nvPr/>
        </p:nvSpPr>
        <p:spPr>
          <a:xfrm>
            <a:off x="7348081" y="138852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920093" y="176465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852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 and 233, Figure 7.6. The crop and marks are ours, added for teaching.</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7: the ideal inside-bar reversal</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3035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7 asks for the ideal conditions for an inside bar reversal (p. 233). Lim says the first bar should be as wide as possible on high volume, and the second as narrow as possible on very low volume (p. 224).</a:t>
            </a:r>
          </a:p>
          <a:p>
            <a:pPr algn="l">
              <a:lnSpc>
                <a:spcPct val="105000"/>
              </a:lnSpc>
              <a:spcBef>
                <a:spcPts val="0"/>
              </a:spcBef>
              <a:spcAft>
                <a:spcPts val="1100"/>
              </a:spcAft>
            </a:pPr>
            <a:r>
              <a:rPr sz="1700" b="0" i="0">
                <a:solidFill>
                  <a:srgbClr val="1A1A1A"/>
                </a:solidFill>
                <a:latin typeface="Arial"/>
              </a:rPr>
              <a:t>Figure 7.25 shows two inside bars, 1 </a:t>
            </a:r>
            <a:r>
              <a:rPr sz="1700" b="1" i="0">
                <a:solidFill>
                  <a:srgbClr val="E09B00"/>
                </a:solidFill>
                <a:latin typeface="Arial"/>
              </a:rPr>
              <a:t>(1)</a:t>
            </a:r>
            <a:r>
              <a:rPr sz="1700" b="0" i="0">
                <a:solidFill>
                  <a:srgbClr val="1A1A1A"/>
                </a:solidFill>
                <a:latin typeface="Arial"/>
              </a:rPr>
              <a:t> and 2 </a:t>
            </a:r>
            <a:r>
              <a:rPr sz="1700" b="1" i="0">
                <a:solidFill>
                  <a:srgbClr val="C62828"/>
                </a:solidFill>
                <a:latin typeface="Arial"/>
              </a:rPr>
              <a:t>(2)</a:t>
            </a:r>
            <a:r>
              <a:rPr sz="1700" b="0" i="0">
                <a:solidFill>
                  <a:srgbClr val="1A1A1A"/>
                </a:solidFill>
                <a:latin typeface="Arial"/>
              </a:rPr>
              <a:t>, each within a wider bar at the same resistance level (pp. 224 to 225). It has no volume panel, so the volume half of the rule comes from the text.</a:t>
            </a:r>
          </a:p>
        </p:txBody>
      </p:sp>
      <p:sp>
        <p:nvSpPr>
          <p:cNvPr id="7" name="Rectangle 6"/>
          <p:cNvSpPr/>
          <p:nvPr/>
        </p:nvSpPr>
        <p:spPr>
          <a:xfrm>
            <a:off x="6364223" y="1207008"/>
            <a:ext cx="5086807" cy="3726771"/>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400799" y="1243584"/>
            <a:ext cx="5013655" cy="36536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400799" y="1243584"/>
            <a:ext cx="501365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675119" y="1517904"/>
            <a:ext cx="4465015" cy="31964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The price panel of Figure 7.25 around the two inside bars the book numbers 1 and 2, both at the same resistance level.</a:t>
            </a:r>
          </a:p>
        </p:txBody>
      </p:sp>
      <p:sp>
        <p:nvSpPr>
          <p:cNvPr id="11" name="Rectangle 10"/>
          <p:cNvSpPr/>
          <p:nvPr/>
        </p:nvSpPr>
        <p:spPr>
          <a:xfrm>
            <a:off x="7694322" y="1543180"/>
            <a:ext cx="280764" cy="843986"/>
          </a:xfrm>
          <a:prstGeom prst="rect">
            <a:avLst/>
          </a:prstGeom>
          <a:noFill/>
          <a:ln w="44450">
            <a:solidFill>
              <a:srgbClr val="E09B00"/>
            </a:solidFill>
          </a:ln>
        </p:spPr>
        <p:txBody>
          <a:bodyPr rtlCol="0" anchor="ctr"/>
          <a:lstStyle/>
          <a:p>
            <a:pPr algn="ctr"/>
          </a:p>
        </p:txBody>
      </p:sp>
      <p:sp>
        <p:nvSpPr>
          <p:cNvPr id="12" name="Rectangle 11"/>
          <p:cNvSpPr/>
          <p:nvPr/>
        </p:nvSpPr>
        <p:spPr>
          <a:xfrm>
            <a:off x="8586753" y="1543180"/>
            <a:ext cx="255696" cy="1092432"/>
          </a:xfrm>
          <a:prstGeom prst="rect">
            <a:avLst/>
          </a:prstGeom>
          <a:noFill/>
          <a:ln w="44450">
            <a:solidFill>
              <a:srgbClr val="C62828"/>
            </a:solidFill>
          </a:ln>
        </p:spPr>
        <p:txBody>
          <a:bodyPr rtlCol="0" anchor="ctr"/>
          <a:lstStyle/>
          <a:p>
            <a:pPr algn="ctr"/>
          </a:p>
        </p:txBody>
      </p:sp>
      <p:sp>
        <p:nvSpPr>
          <p:cNvPr id="13" name="Oval 12"/>
          <p:cNvSpPr/>
          <p:nvPr/>
        </p:nvSpPr>
        <p:spPr>
          <a:xfrm>
            <a:off x="7717599" y="249479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605016" y="2750552"/>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3035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224 to 225 and 233, Figure 7.25. The crop and marks are ours, added for teaching.</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8 points ahead to Chapter 8</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852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8 asks how we would use oscillators to gauge how bearish or bullish a bar reversal pattern is (p. 233). Chapter 7 shows only that they can agree.</a:t>
            </a:r>
          </a:p>
          <a:p>
            <a:pPr algn="l">
              <a:lnSpc>
                <a:spcPct val="105000"/>
              </a:lnSpc>
              <a:spcBef>
                <a:spcPts val="0"/>
              </a:spcBef>
              <a:spcAft>
                <a:spcPts val="1100"/>
              </a:spcAft>
            </a:pPr>
            <a:r>
              <a:rPr sz="1700" b="0" i="0">
                <a:solidFill>
                  <a:srgbClr val="1A1A1A"/>
                </a:solidFill>
                <a:latin typeface="Arial"/>
              </a:rPr>
              <a:t>In Figure 7.25, the book labels a bearish divergence </a:t>
            </a:r>
            <a:r>
              <a:rPr sz="1700" b="1" i="0">
                <a:solidFill>
                  <a:srgbClr val="C62828"/>
                </a:solidFill>
                <a:latin typeface="Arial"/>
              </a:rPr>
              <a:t>(2)</a:t>
            </a:r>
            <a:r>
              <a:rPr sz="1700" b="0" i="0">
                <a:solidFill>
                  <a:srgbClr val="1A1A1A"/>
                </a:solidFill>
                <a:latin typeface="Arial"/>
              </a:rPr>
              <a:t> between the oscillator panel, StochRSI, and inside bar 2 </a:t>
            </a:r>
            <a:r>
              <a:rPr sz="1700" b="1" i="0">
                <a:solidFill>
                  <a:srgbClr val="E09B00"/>
                </a:solidFill>
                <a:latin typeface="Arial"/>
              </a:rPr>
              <a:t>(1)</a:t>
            </a:r>
            <a:r>
              <a:rPr sz="1700" b="0" i="0">
                <a:solidFill>
                  <a:srgbClr val="1A1A1A"/>
                </a:solidFill>
                <a:latin typeface="Arial"/>
              </a:rPr>
              <a:t> (p. 225): the oscillator falls while price makes inside bar 2 at resistance, so it agrees with the bearish reversal reading. Lim also lists divergences between price, volume and oscillators as the 16th reversal characteristic (p. 217).</a:t>
            </a:r>
          </a:p>
          <a:p>
            <a:pPr algn="l">
              <a:lnSpc>
                <a:spcPct val="105000"/>
              </a:lnSpc>
              <a:spcBef>
                <a:spcPts val="0"/>
              </a:spcBef>
              <a:spcAft>
                <a:spcPts val="1100"/>
              </a:spcAft>
            </a:pPr>
            <a:r>
              <a:rPr sz="1700" b="0" i="0">
                <a:solidFill>
                  <a:srgbClr val="1A1A1A"/>
                </a:solidFill>
                <a:latin typeface="Arial"/>
              </a:rPr>
              <a:t>How to read the oscillators themselves is Chapter 8, so for now we treat their agreement as extra evidence, not a method.</a:t>
            </a:r>
          </a:p>
        </p:txBody>
      </p:sp>
      <p:sp>
        <p:nvSpPr>
          <p:cNvPr id="7" name="Rectangle 6"/>
          <p:cNvSpPr/>
          <p:nvPr/>
        </p:nvSpPr>
        <p:spPr>
          <a:xfrm>
            <a:off x="6912864" y="1207008"/>
            <a:ext cx="4538166" cy="4929580"/>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949440" y="1243584"/>
            <a:ext cx="4465014" cy="485642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49440" y="1243584"/>
            <a:ext cx="4465014"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7223759" y="1517904"/>
            <a:ext cx="3916374" cy="43992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The right part of Figure 7.25: inside bar 2 at resistance and, below it, the StochRSI panel with the book's bearish divergence line.</a:t>
            </a:r>
          </a:p>
        </p:txBody>
      </p:sp>
      <p:sp>
        <p:nvSpPr>
          <p:cNvPr id="11" name="Rectangle 10"/>
          <p:cNvSpPr/>
          <p:nvPr/>
        </p:nvSpPr>
        <p:spPr>
          <a:xfrm>
            <a:off x="8896186" y="1510687"/>
            <a:ext cx="227715" cy="971285"/>
          </a:xfrm>
          <a:prstGeom prst="rect">
            <a:avLst/>
          </a:prstGeom>
          <a:noFill/>
          <a:ln w="44450">
            <a:solidFill>
              <a:srgbClr val="E09B00"/>
            </a:solidFill>
          </a:ln>
        </p:spPr>
        <p:txBody>
          <a:bodyPr rtlCol="0" anchor="ctr"/>
          <a:lstStyle/>
          <a:p>
            <a:pPr algn="ctr"/>
          </a:p>
        </p:txBody>
      </p:sp>
      <p:sp>
        <p:nvSpPr>
          <p:cNvPr id="12" name="Rectangle 11"/>
          <p:cNvSpPr/>
          <p:nvPr/>
        </p:nvSpPr>
        <p:spPr>
          <a:xfrm>
            <a:off x="8168389" y="4817915"/>
            <a:ext cx="893002" cy="383657"/>
          </a:xfrm>
          <a:prstGeom prst="rect">
            <a:avLst/>
          </a:prstGeom>
          <a:noFill/>
          <a:ln w="44450">
            <a:solidFill>
              <a:srgbClr val="C62828"/>
            </a:solidFill>
          </a:ln>
        </p:spPr>
        <p:txBody>
          <a:bodyPr rtlCol="0" anchor="ctr"/>
          <a:lstStyle/>
          <a:p>
            <a:pPr algn="ctr"/>
          </a:p>
        </p:txBody>
      </p:sp>
      <p:sp>
        <p:nvSpPr>
          <p:cNvPr id="13" name="Oval 12"/>
          <p:cNvSpPr/>
          <p:nvPr/>
        </p:nvSpPr>
        <p:spPr>
          <a:xfrm>
            <a:off x="8598286" y="2563352"/>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7883883" y="4870156"/>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852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225 and 233, Figure 7.25. The crop and marks are ours, added for teaching.</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to carry forward from Chapter 7</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potential reversal is a reading, not a guarantee. Define the bar, show the numbers, and read the figure.</a:t>
            </a:r>
          </a:p>
          <a:p>
            <a:pPr algn="l">
              <a:lnSpc>
                <a:spcPct val="118000"/>
              </a:lnSpc>
              <a:spcBef>
                <a:spcPts val="0"/>
              </a:spcBef>
              <a:spcAft>
                <a:spcPts val="1300"/>
              </a:spcAft>
            </a:pPr>
            <a:r>
              <a:rPr sz="2100" b="0" i="0">
                <a:solidFill>
                  <a:srgbClr val="1A1A1A"/>
                </a:solidFill>
                <a:latin typeface="Arial"/>
              </a:rPr>
              <a:t>Then check the 16 reversal characteristics and name what the book leaves open.</a:t>
            </a:r>
          </a:p>
          <a:p>
            <a:pPr algn="l">
              <a:lnSpc>
                <a:spcPct val="118000"/>
              </a:lnSpc>
              <a:spcBef>
                <a:spcPts val="0"/>
              </a:spcBef>
              <a:spcAft>
                <a:spcPts val="1300"/>
              </a:spcAft>
            </a:pPr>
            <a:r>
              <a:rPr sz="2100" b="0" i="0">
                <a:solidFill>
                  <a:srgbClr val="1A1A1A"/>
                </a:solidFill>
                <a:latin typeface="Arial"/>
              </a:rPr>
              <a:t>Chapter 7 does not provide a complete trade plan, and its figures alone do not supply one.</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potential evidence honestly; it is not a promise.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7 - Bar Chart Analysis</dc:title>
  <dc:subject>Technical Analysis in Investment</dc:subject>
  <dc:creator>Faculty of Economics University</dc:creator>
  <cp:keywords/>
  <dc:description>generated using python-pptx</dc:description>
  <cp:lastModifiedBy>Faculty of Economics University</cp:lastModifiedBy>
  <cp:revision>1</cp:revision>
  <dcterms:created xsi:type="dcterms:W3CDTF">2020-01-01T00:00:00Z</dcterms:created>
  <dcterms:modified xsi:type="dcterms:W3CDTF">2020-01-01T00:00:00Z</dcterms:modified>
  <cp:category/>
</cp:coreProperties>
</file>