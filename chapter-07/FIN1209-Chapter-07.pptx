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a bullish formation after the uptrend: it agrees, a continuation.</a:t>
            </a:r>
          </a:p>
          <a:p>
            <a:r>
              <a:rPr sz="1400"/>
              <a:t>- Red 2 boxes a bearish formation after the same uptrend: it disagrees,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measures the gap from the previous low to the open; because the bar never trades back up into it, it is also a window.</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measures the gap from the previous low to the open; because the bar never trades back up into it, it is also a window.</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From two bars to three: the new thing is the middle bar.</a:t>
            </a:r>
          </a:p>
          <a:p>
            <a:r>
              <a:rPr sz="1400"/>
              <a:t>- Say uptrend and middle bar out loud before the first form.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Triple form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Frame Part 3 before the first pattern: the names are mostly the ones Part 2 drew, now on real daily charts.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invented PHP bars: three falling bars, yesterday, and a bullish key reversal today. Marks 1 to 3 show the new low, the close above the previous close, and the 4.0 million-share volume.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invented PHP bars: three falling bars, yesterday, and a bullish key reversal today. Marks 1 to 3 show the new low, the close above the previous close, and the 4.0 million-share volume.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bars just before it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bars just before it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closes below the line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trend rule before either worked example, so the bars drawn next make sense.</a:t>
            </a:r>
          </a:p>
          <a:p>
            <a:r>
              <a:rPr sz="1400"/>
              <a:t>- Lim: look for a bullish Oops in an uptrend and a bearish Oops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triple form 1, red 2 is triple form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way of sorting is the intrinsic bias or sentiment of a formation: whether the formation itself leans bullish or bearish (pp. 210 to 211). Chapter 4 called this intrinsic bias. His example: a standard head and shoulders </a:t>
            </a:r>
            <a:r>
              <a:rPr sz="1700" b="1" i="0">
                <a:solidFill>
                  <a:srgbClr val="E09B00"/>
                </a:solidFill>
                <a:latin typeface="Arial"/>
              </a:rPr>
              <a:t>(1)</a:t>
            </a:r>
            <a:r>
              <a:rPr sz="1700" b="0" i="0">
                <a:solidFill>
                  <a:srgbClr val="1A1A1A"/>
                </a:solidFill>
                <a:latin typeface="Arial"/>
              </a:rPr>
              <a:t> is intrinsically bearish, and an inverted head and shoulders </a:t>
            </a:r>
            <a:r>
              <a:rPr sz="1700" b="1" i="0">
                <a:solidFill>
                  <a:srgbClr val="C62828"/>
                </a:solidFill>
                <a:latin typeface="Arial"/>
              </a:rPr>
              <a:t>(2)</a:t>
            </a:r>
            <a:r>
              <a:rPr sz="1700" b="0" i="0">
                <a:solidFill>
                  <a:srgbClr val="1A1A1A"/>
                </a:solidFill>
                <a:latin typeface="Arial"/>
              </a:rPr>
              <a:t> is intrinsically bullish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lean belongs to the formation, so it stays the same whichever trend the formation appears in. Intrinsic sentiment is about the formation, not the trend around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How do we see that lean in plain bars? Lim gives a general rule in two halves, each beside the trend in which he draws it (p. 212): with his uptrend drawings, a close below the previous bar's close or low is considered bearish; with his downtrend drawings, a close above the previous bar's close or high is considered bullish.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921300" y="40698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42548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024481" y="39526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65110" y="4025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For example, in an uptrend, with prices of ours: one bar has a low of PHP 47.90 </a:t>
            </a:r>
            <a:r>
              <a:rPr sz="1700" b="1" i="0">
                <a:solidFill>
                  <a:srgbClr val="E09B00"/>
                </a:solidFill>
                <a:latin typeface="Arial"/>
              </a:rPr>
              <a:t>(1)</a:t>
            </a:r>
            <a:r>
              <a:rPr sz="1700" b="0" i="0">
                <a:solidFill>
                  <a:srgbClr val="1A1A1A"/>
                </a:solidFill>
                <a:latin typeface="Arial"/>
              </a:rPr>
              <a:t> and the next bar closes at PHP 47.50 </a:t>
            </a:r>
            <a:r>
              <a:rPr sz="1700" b="1" i="0">
                <a:solidFill>
                  <a:srgbClr val="C62828"/>
                </a:solidFill>
                <a:latin typeface="Arial"/>
              </a:rPr>
              <a:t>(2)</a:t>
            </a:r>
            <a:r>
              <a:rPr sz="1700" b="0" i="0">
                <a:solidFill>
                  <a:srgbClr val="1A1A1A"/>
                </a:solidFill>
                <a:latin typeface="Arial"/>
              </a:rPr>
              <a:t>. The close is below the previous low, so this two-bar formation leans bearish. Lim calls it a general rule, so treat it as a clue, not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921300" y="40698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42548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024481" y="39526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65110" y="4025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34441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40588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an uptrend, one bar has a low of PHP 61.20 and the next bar closes at PHP 60.80. By Lim's general rule, how does this two-bar formation lean?</a:t>
            </a:r>
          </a:p>
        </p:txBody>
      </p:sp>
      <p:sp>
        <p:nvSpPr>
          <p:cNvPr id="13" name="TextBox 12"/>
          <p:cNvSpPr txBox="1"/>
          <p:nvPr/>
        </p:nvSpPr>
        <p:spPr>
          <a:xfrm>
            <a:off x="6690207" y="334441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uptrend with two different formations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comparison drawn. In both panels prices have been rising, so the trend sentiment is bullish. A bullish formation </a:t>
            </a:r>
            <a:r>
              <a:rPr sz="1700" b="1" i="0">
                <a:solidFill>
                  <a:srgbClr val="E09B00"/>
                </a:solidFill>
                <a:latin typeface="Arial"/>
              </a:rPr>
              <a:t>(1)</a:t>
            </a:r>
            <a:r>
              <a:rPr sz="1700" b="0" i="0">
                <a:solidFill>
                  <a:srgbClr val="1A1A1A"/>
                </a:solidFill>
                <a:latin typeface="Arial"/>
              </a:rPr>
              <a:t> agrees with it, so Lim considers it a continuation. A bearish formation </a:t>
            </a:r>
            <a:r>
              <a:rPr sz="1700" b="1" i="0">
                <a:solidFill>
                  <a:srgbClr val="C62828"/>
                </a:solidFill>
                <a:latin typeface="Arial"/>
              </a:rPr>
              <a:t>(2)</a:t>
            </a:r>
            <a:r>
              <a:rPr sz="1700" b="0" i="0">
                <a:solidFill>
                  <a:srgbClr val="1A1A1A"/>
                </a:solidFill>
                <a:latin typeface="Arial"/>
              </a:rPr>
              <a:t> disagrees, so it is a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x-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069080" y="3063239"/>
            <a:ext cx="1719072" cy="1188720"/>
          </a:xfrm>
          <a:prstGeom prst="rect">
            <a:avLst/>
          </a:prstGeom>
          <a:noFill/>
          <a:ln w="44450">
            <a:solidFill>
              <a:srgbClr val="E09B00"/>
            </a:solidFill>
          </a:ln>
        </p:spPr>
        <p:txBody>
          <a:bodyPr rtlCol="0" anchor="ctr"/>
          <a:lstStyle/>
          <a:p>
            <a:pPr algn="ctr"/>
          </a:p>
        </p:txBody>
      </p:sp>
      <p:sp>
        <p:nvSpPr>
          <p:cNvPr id="10" name="Rectangle 9"/>
          <p:cNvSpPr/>
          <p:nvPr/>
        </p:nvSpPr>
        <p:spPr>
          <a:xfrm>
            <a:off x="9281160" y="3479291"/>
            <a:ext cx="1719072" cy="1124712"/>
          </a:xfrm>
          <a:prstGeom prst="rect">
            <a:avLst/>
          </a:prstGeom>
          <a:noFill/>
          <a:ln w="44450">
            <a:solidFill>
              <a:srgbClr val="C62828"/>
            </a:solidFill>
          </a:ln>
        </p:spPr>
        <p:txBody>
          <a:bodyPr rtlCol="0" anchor="ctr"/>
          <a:lstStyle/>
          <a:p>
            <a:pPr algn="ctr"/>
          </a:p>
        </p:txBody>
      </p:sp>
      <p:sp>
        <p:nvSpPr>
          <p:cNvPr id="11" name="Oval 10"/>
          <p:cNvSpPr/>
          <p:nvPr/>
        </p:nvSpPr>
        <p:spPr>
          <a:xfrm>
            <a:off x="5952744" y="352958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999243" y="31932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EX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rule, p. 211.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why we keep the two sentiments apart. In a formation of ours the second bar closes at PHP 48.60 </a:t>
            </a:r>
            <a:r>
              <a:rPr sz="1700" b="1" i="0">
                <a:solidFill>
                  <a:srgbClr val="E09B00"/>
                </a:solidFill>
                <a:latin typeface="Arial"/>
              </a:rPr>
              <a:t>(1)</a:t>
            </a:r>
            <a:r>
              <a:rPr sz="1700" b="0" i="0">
                <a:solidFill>
                  <a:srgbClr val="1A1A1A"/>
                </a:solidFill>
                <a:latin typeface="Arial"/>
              </a:rPr>
              <a:t>, above the first bar's high of PHP 48.30 </a:t>
            </a:r>
            <a:r>
              <a:rPr sz="1700" b="1" i="0">
                <a:solidFill>
                  <a:srgbClr val="C62828"/>
                </a:solidFill>
                <a:latin typeface="Arial"/>
              </a:rPr>
              <a:t>(2)</a:t>
            </a:r>
            <a:r>
              <a:rPr sz="1700" b="0" i="0">
                <a:solidFill>
                  <a:srgbClr val="1A1A1A"/>
                </a:solidFill>
                <a:latin typeface="Arial"/>
              </a:rPr>
              <a:t>, so it is intrinsically bullish. Suppose prices rose </a:t>
            </a:r>
            <a:r>
              <a:rPr sz="1700" b="1" i="0">
                <a:solidFill>
                  <a:srgbClr val="1F5FAD"/>
                </a:solidFill>
                <a:latin typeface="Arial"/>
              </a:rPr>
              <a:t>(3)</a:t>
            </a:r>
            <a:r>
              <a:rPr sz="1700" b="0" i="0">
                <a:solidFill>
                  <a:srgbClr val="1A1A1A"/>
                </a:solidFill>
                <a:latin typeface="Arial"/>
              </a:rPr>
              <a:t> from PHP 45.60 to PHP 48.10 before it. Trend sentiment is bullish, the two agree, and the expectation is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suppose prices fell </a:t>
            </a:r>
            <a:r>
              <a:rPr sz="1700" b="1" i="0">
                <a:solidFill>
                  <a:srgbClr val="7B3FA0"/>
                </a:solidFill>
                <a:latin typeface="Arial"/>
              </a:rPr>
              <a:t>(4)</a:t>
            </a:r>
            <a:r>
              <a:rPr sz="1700" b="0" i="0">
                <a:solidFill>
                  <a:srgbClr val="1A1A1A"/>
                </a:solidFill>
                <a:latin typeface="Arial"/>
              </a:rPr>
              <a:t> from PHP 50.60 to PHP 48.10 before it. Trend sentiment is bearish, the two disagree, and the expectation is a potential reversal. The formation never changed; only the trend around it did.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18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In an uptrend, a bullish formation </a:t>
            </a:r>
            <a:r>
              <a:rPr sz="1700" b="1" i="0">
                <a:solidFill>
                  <a:srgbClr val="E09B00"/>
                </a:solidFill>
                <a:latin typeface="Arial"/>
              </a:rPr>
              <a:t>(1)</a:t>
            </a:r>
            <a:r>
              <a:rPr sz="1700" b="0" i="0">
                <a:solidFill>
                  <a:srgbClr val="1A1A1A"/>
                </a:solidFill>
                <a:latin typeface="Arial"/>
              </a:rPr>
              <a:t> agrees with the trend, so Lim considers it a continuation. A bearish formation </a:t>
            </a:r>
            <a:r>
              <a:rPr sz="1700" b="1" i="0">
                <a:solidFill>
                  <a:srgbClr val="C62828"/>
                </a:solidFill>
                <a:latin typeface="Arial"/>
              </a:rPr>
              <a:t>(2)</a:t>
            </a:r>
            <a:r>
              <a:rPr sz="1700" b="0" i="0">
                <a:solidFill>
                  <a:srgbClr val="1A1A1A"/>
                </a:solidFill>
                <a:latin typeface="Arial"/>
              </a:rPr>
              <a:t> disagrees, so it is a potential reversal. In a downtrend, a bullish formation </a:t>
            </a:r>
            <a:r>
              <a:rPr sz="1700" b="1" i="0">
                <a:solidFill>
                  <a:srgbClr val="1F5FAD"/>
                </a:solidFill>
                <a:latin typeface="Arial"/>
              </a:rPr>
              <a:t>(3)</a:t>
            </a:r>
            <a:r>
              <a:rPr sz="1700" b="0" i="0">
                <a:solidFill>
                  <a:srgbClr val="1A1A1A"/>
                </a:solidFill>
                <a:latin typeface="Arial"/>
              </a:rPr>
              <a:t> disagrees, so it is a potential reversal. A bearish formation </a:t>
            </a:r>
            <a:r>
              <a:rPr sz="1700" b="1" i="0">
                <a:solidFill>
                  <a:srgbClr val="7B3FA0"/>
                </a:solidFill>
                <a:latin typeface="Arial"/>
              </a:rPr>
              <a:t>(4)</a:t>
            </a:r>
            <a:r>
              <a:rPr sz="1700" b="0" i="0">
                <a:solidFill>
                  <a:srgbClr val="1A1A1A"/>
                </a:solidFill>
                <a:latin typeface="Arial"/>
              </a:rPr>
              <a:t> agrees, so it is a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suggests continuation; disagreement suggests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21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has bearish intrinsic sentiment and an inverted head and shoulders bullish, as Chapter 4's "Intrinsic bias" explains (p. 211). Let us put invented prices on it. A stock climbs from PHP 40 to PHP 50 </a:t>
            </a:r>
            <a:r>
              <a:rPr sz="1700" b="1" i="0">
                <a:solidFill>
                  <a:srgbClr val="E09B00"/>
                </a:solidFill>
                <a:latin typeface="Arial"/>
              </a:rPr>
              <a:t>(1)</a:t>
            </a:r>
            <a:r>
              <a:rPr sz="1700" b="0" i="0">
                <a:solidFill>
                  <a:srgbClr val="1A1A1A"/>
                </a:solidFill>
                <a:latin typeface="Arial"/>
              </a:rPr>
              <a:t> over ten days, so the trend sentiment is bullish. An inverted head and shoulders </a:t>
            </a:r>
            <a:r>
              <a:rPr sz="1700" b="1" i="0">
                <a:solidFill>
                  <a:srgbClr val="C62828"/>
                </a:solidFill>
                <a:latin typeface="Arial"/>
              </a:rPr>
              <a:t>(2)</a:t>
            </a:r>
            <a:r>
              <a:rPr sz="1700" b="0" i="0">
                <a:solidFill>
                  <a:srgbClr val="1A1A1A"/>
                </a:solidFill>
                <a:latin typeface="Arial"/>
              </a:rPr>
              <a:t> at PHP 50 agrees with that trend, so Lim calls it a continuation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a:t>
            </a:r>
            <a:r>
              <a:rPr sz="1700" b="1" i="0">
                <a:solidFill>
                  <a:srgbClr val="1F5FAD"/>
                </a:solidFill>
                <a:latin typeface="Arial"/>
              </a:rPr>
              <a:t>(3)</a:t>
            </a:r>
            <a:r>
              <a:rPr sz="1700" b="0" i="0">
                <a:solidFill>
                  <a:srgbClr val="1A1A1A"/>
                </a:solidFill>
                <a:latin typeface="Arial"/>
              </a:rPr>
              <a:t> in the same place disagrees, so it is a reversal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With his uptrend drawings, Lim gives the bearish half of the general rule for one-bar and two-bar patterns: a close below the previous bar's close or low is bearish, especially when that previous bar is large or wide-ranging (p. 212). Here it is with invented prices. Yesterday's bar ran from PHP 49.00 to PHP 52.00 and closed at PHP 51.80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51.20 </a:t>
            </a:r>
            <a:r>
              <a:rPr sz="1700" b="1" i="0">
                <a:solidFill>
                  <a:srgbClr val="C62828"/>
                </a:solidFill>
                <a:latin typeface="Arial"/>
              </a:rPr>
              <a:t>(2)</a:t>
            </a:r>
            <a:r>
              <a:rPr sz="1700" b="0" i="0">
                <a:solidFill>
                  <a:srgbClr val="1A1A1A"/>
                </a:solidFill>
                <a:latin typeface="Arial"/>
              </a:rPr>
              <a:t> is below yesterday's close; a close at PHP 48.80 </a:t>
            </a:r>
            <a:r>
              <a:rPr sz="1700" b="1" i="0">
                <a:solidFill>
                  <a:srgbClr val="1F5FAD"/>
                </a:solidFill>
                <a:latin typeface="Arial"/>
              </a:rPr>
              <a:t>(3)</a:t>
            </a:r>
            <a:r>
              <a:rPr sz="1700" b="0" i="0">
                <a:solidFill>
                  <a:srgbClr val="1A1A1A"/>
                </a:solidFill>
                <a:latin typeface="Arial"/>
              </a:rPr>
              <a:t> is below yesterday's low </a:t>
            </a:r>
            <a:r>
              <a:rPr sz="1700" b="1" i="0">
                <a:solidFill>
                  <a:srgbClr val="7B3FA0"/>
                </a:solidFill>
                <a:latin typeface="Arial"/>
              </a:rPr>
              <a:t>(4)</a:t>
            </a:r>
            <a:r>
              <a:rPr sz="1700" b="0" i="0">
                <a:solidFill>
                  <a:srgbClr val="1A1A1A"/>
                </a:solidFill>
                <a:latin typeface="Arial"/>
              </a:rPr>
              <a:t> as well. Yesterday's PHP 3.00 range is wide, the case Lim says counts for more.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95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Part 3 reads Lim's text, which asks only for a higher high and a close near or below the previous close and says the bar may open with a gap up (p. 218); the open above the previous high is the stronger version.</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A gap is a range of prices where no trading took place. Lim measures it here from the current bar's open to the previous low. The bar never trades back up into it, so it is also a window: the two bars' ranges do not overlap at all.</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The label asks only that it close within the previous range; the usual meaning, which this deck uses, is that its whole range sits inside, as here.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Figure 7.4 (p. 212): "An overextended bar closes at or near its low". Lim gives no size; we read it as a bar unusually long against those before it. Closing near its low is separate. Elsewhere he uses it for price stretched past a barrier, such as a Bollinger band; that is characteristic 14, later in this part (pp. 217 to 219).</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95</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half of Lim's close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With his downtrend drawings, Lim gives the bullish half, the mirror image: a close above the previous bar's close or high is bullish, especially if the previous bar is large or wide-ranging (p. 212). Here it is with invented prices. Yesterday's bar ran from PHP 38.00 to PHP 41.00 and closed at PHP 38.20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half of Lim's close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38.80 </a:t>
            </a:r>
            <a:r>
              <a:rPr sz="1700" b="1" i="0">
                <a:solidFill>
                  <a:srgbClr val="C62828"/>
                </a:solidFill>
                <a:latin typeface="Arial"/>
              </a:rPr>
              <a:t>(2)</a:t>
            </a:r>
            <a:r>
              <a:rPr sz="1700" b="0" i="0">
                <a:solidFill>
                  <a:srgbClr val="1A1A1A"/>
                </a:solidFill>
                <a:latin typeface="Arial"/>
              </a:rPr>
              <a:t> is above yesterday's close; a close at PHP 41.20 </a:t>
            </a:r>
            <a:r>
              <a:rPr sz="1700" b="1" i="0">
                <a:solidFill>
                  <a:srgbClr val="1F5FAD"/>
                </a:solidFill>
                <a:latin typeface="Arial"/>
              </a:rPr>
              <a:t>(3)</a:t>
            </a:r>
            <a:r>
              <a:rPr sz="1700" b="0" i="0">
                <a:solidFill>
                  <a:srgbClr val="1A1A1A"/>
                </a:solidFill>
                <a:latin typeface="Arial"/>
              </a:rPr>
              <a:t> is above yesterday's high </a:t>
            </a:r>
            <a:r>
              <a:rPr sz="1700" b="1" i="0">
                <a:solidFill>
                  <a:srgbClr val="7B3FA0"/>
                </a:solidFill>
                <a:latin typeface="Arial"/>
              </a:rPr>
              <a:t>(4)</a:t>
            </a:r>
            <a:r>
              <a:rPr sz="1700" b="0" i="0">
                <a:solidFill>
                  <a:srgbClr val="1A1A1A"/>
                </a:solidFill>
                <a:latin typeface="Arial"/>
              </a:rPr>
              <a:t> as well. Now the close has to climb past yesterday's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95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As on the bearish side, we read "overextended" as unusually long compared with the bars before it, and closing near its high is a separate part.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706977"/>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3753429"/>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2147"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95</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Six bearish triple forms,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go from two bars to three. Lim draws six basic triple bar bearish reversal patterns in Figures 7.6 and 7.7, and each one forms at the top of an uptrend (p. 213).</a:t>
            </a:r>
          </a:p>
          <a:p>
            <a:pPr algn="l">
              <a:lnSpc>
                <a:spcPct val="118000"/>
              </a:lnSpc>
              <a:spcBef>
                <a:spcPts val="0"/>
              </a:spcBef>
              <a:spcAft>
                <a:spcPts val="1300"/>
              </a:spcAft>
            </a:pPr>
            <a:r>
              <a:rPr sz="2100" b="0" i="0">
                <a:solidFill>
                  <a:srgbClr val="1A1A1A"/>
                </a:solidFill>
                <a:latin typeface="Arial"/>
              </a:rPr>
              <a:t>What is new compared with the double bars is a middle bar: every triple pattern has a first bar, a middle bar and a last bar.</a:t>
            </a:r>
          </a:p>
          <a:p>
            <a:pPr algn="l">
              <a:lnSpc>
                <a:spcPct val="118000"/>
              </a:lnSpc>
              <a:spcBef>
                <a:spcPts val="0"/>
              </a:spcBef>
              <a:spcAft>
                <a:spcPts val="1300"/>
              </a:spcAft>
            </a:pPr>
            <a:r>
              <a:rPr sz="2100" b="0" i="0">
                <a:solidFill>
                  <a:srgbClr val="1A1A1A"/>
                </a:solidFill>
                <a:latin typeface="Arial"/>
              </a:rPr>
              <a:t>Much of the logic will look familiar from the double bar forms, and we will point out where. That link is our reading, not Lim's.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Figures 7.6 and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first rule for these patterns is about gaps: the larger the gaps, the more bearish the pattern once it is complete (p. 213). Let us put invented prices on it. If the first bar's high is PHP 50.00 and the middle bar's low is PHP 50.40, the gap is PHP 0.40 </a:t>
            </a:r>
            <a:r>
              <a:rPr sz="1700" b="1" i="0">
                <a:solidFill>
                  <a:srgbClr val="E09B00"/>
                </a:solidFill>
                <a:latin typeface="Arial"/>
              </a:rPr>
              <a:t>(1)</a:t>
            </a:r>
            <a:r>
              <a:rPr sz="1700" b="0" i="0">
                <a:solidFill>
                  <a:srgbClr val="1A1A1A"/>
                </a:solidFill>
                <a:latin typeface="Arial"/>
              </a:rPr>
              <a:t>. The last bar then closes at PHP 49.60, back below the gap </a:t>
            </a:r>
            <a:r>
              <a:rPr sz="1700" b="1" i="0">
                <a:solidFill>
                  <a:srgbClr val="C62828"/>
                </a:solidFill>
                <a:latin typeface="Arial"/>
              </a:rPr>
              <a:t>(2)</a:t>
            </a:r>
            <a:r>
              <a:rPr sz="1700" b="0" i="0">
                <a:solidFill>
                  <a:srgbClr val="1A1A1A"/>
                </a:solidFill>
                <a:latin typeface="Arial"/>
              </a:rPr>
              <a:t>, and the pattern is complete.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take a bigger gap: a middle bar whose low is PHP 51.00 leaves a PHP 1.00 gap </a:t>
            </a:r>
            <a:r>
              <a:rPr sz="1700" b="1" i="0">
                <a:solidFill>
                  <a:srgbClr val="1F5FAD"/>
                </a:solidFill>
                <a:latin typeface="Arial"/>
              </a:rPr>
              <a:t>(3)</a:t>
            </a:r>
            <a:r>
              <a:rPr sz="1700" b="0" i="0">
                <a:solidFill>
                  <a:srgbClr val="1A1A1A"/>
                </a:solidFill>
                <a:latin typeface="Arial"/>
              </a:rPr>
              <a:t>. The last bar again closes at PHP 49.60, below the gap </a:t>
            </a:r>
            <a:r>
              <a:rPr sz="1700" b="1" i="0">
                <a:solidFill>
                  <a:srgbClr val="7B3FA0"/>
                </a:solidFill>
                <a:latin typeface="Arial"/>
              </a:rPr>
              <a:t>(4)</a:t>
            </a:r>
            <a:r>
              <a:rPr sz="1700" b="0" i="0">
                <a:solidFill>
                  <a:srgbClr val="1A1A1A"/>
                </a:solidFill>
                <a:latin typeface="Arial"/>
              </a:rPr>
              <a:t>. Both patterns are complete, and Lim would read this one as more bearish because its gap is larger.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Triple form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(unusually long compared with the bars before it)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6.00 </a:t>
            </a:r>
            <a:r>
              <a:rPr sz="1700" b="1" i="0">
                <a:solidFill>
                  <a:srgbClr val="7B3FA0"/>
                </a:solidFill>
                <a:latin typeface="Arial"/>
              </a:rPr>
              <a:t>(4)</a:t>
            </a:r>
            <a:r>
              <a:rPr sz="1700" b="0" i="0">
                <a:solidFill>
                  <a:srgbClr val="1A1A1A"/>
                </a:solidFill>
                <a:latin typeface="Arial"/>
              </a:rPr>
              <a:t>, twice as much as bar 1 and far more than the middle bar. Bar 3 also closes at PHP 44.60, near its PHP 44.40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910328" y="3392424"/>
            <a:ext cx="109727" cy="541158"/>
          </a:xfrm>
          <a:prstGeom prst="rect">
            <a:avLst/>
          </a:prstGeom>
          <a:noFill/>
          <a:ln w="44450">
            <a:solidFill>
              <a:srgbClr val="E09B00"/>
            </a:solidFill>
          </a:ln>
        </p:spPr>
        <p:txBody>
          <a:bodyPr rtlCol="0" anchor="ctr"/>
          <a:lstStyle/>
          <a:p>
            <a:pPr algn="ctr"/>
          </a:p>
        </p:txBody>
      </p:sp>
      <p:sp>
        <p:nvSpPr>
          <p:cNvPr id="10" name="Rectangle 9"/>
          <p:cNvSpPr/>
          <p:nvPr/>
        </p:nvSpPr>
        <p:spPr>
          <a:xfrm>
            <a:off x="7435443" y="3408633"/>
            <a:ext cx="109727" cy="184542"/>
          </a:xfrm>
          <a:prstGeom prst="rect">
            <a:avLst/>
          </a:prstGeom>
          <a:noFill/>
          <a:ln w="44450">
            <a:solidFill>
              <a:srgbClr val="C62828"/>
            </a:solidFill>
          </a:ln>
        </p:spPr>
        <p:txBody>
          <a:bodyPr rtlCol="0" anchor="ctr"/>
          <a:lstStyle/>
          <a:p>
            <a:pPr algn="ctr"/>
          </a:p>
        </p:txBody>
      </p:sp>
      <p:sp>
        <p:nvSpPr>
          <p:cNvPr id="11" name="Rectangle 10"/>
          <p:cNvSpPr/>
          <p:nvPr/>
        </p:nvSpPr>
        <p:spPr>
          <a:xfrm>
            <a:off x="9960559" y="3489682"/>
            <a:ext cx="109728" cy="1027453"/>
          </a:xfrm>
          <a:prstGeom prst="rect">
            <a:avLst/>
          </a:prstGeom>
          <a:noFill/>
          <a:ln w="44450">
            <a:solidFill>
              <a:srgbClr val="7B3FA0"/>
            </a:solidFill>
          </a:ln>
        </p:spPr>
        <p:txBody>
          <a:bodyPr rtlCol="0" anchor="ctr"/>
          <a:lstStyle/>
          <a:p>
            <a:pPr algn="ctr"/>
          </a:p>
        </p:txBody>
      </p:sp>
      <p:sp>
        <p:nvSpPr>
          <p:cNvPr id="12" name="Rectangle 11"/>
          <p:cNvSpPr/>
          <p:nvPr/>
        </p:nvSpPr>
        <p:spPr>
          <a:xfrm>
            <a:off x="733485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5020055" y="35349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908129" y="30894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070286" y="38753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777377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large middle bar closing near its low. The 3rd bar closes at or near its low" (Figure 7.6, p. 213). Bar 1 closes at PHP 50.50 </a:t>
            </a:r>
            <a:r>
              <a:rPr sz="1700" b="1" i="0">
                <a:solidFill>
                  <a:srgbClr val="E09B00"/>
                </a:solidFill>
                <a:latin typeface="Arial"/>
              </a:rPr>
              <a:t>(1)</a:t>
            </a:r>
            <a:r>
              <a:rPr sz="1700" b="0" i="0">
                <a:solidFill>
                  <a:srgbClr val="1A1A1A"/>
                </a:solidFill>
                <a:latin typeface="Arial"/>
              </a:rPr>
              <a:t>; the large middle bar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at PHP 49.00 </a:t>
            </a:r>
            <a:r>
              <a:rPr sz="1700" b="1" i="0">
                <a:solidFill>
                  <a:srgbClr val="7B3FA0"/>
                </a:solidFill>
                <a:latin typeface="Arial"/>
              </a:rPr>
              <a:t>(4)</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narrow range middle bar closing within its range on low volume. The 3rd bar closes at or near its low" (Figure 7.6, p. 213). Bar 1 closes at PHP 51.00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48.60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reading, not Lim's: 'its range' in the label means the first bar's range, because every bar closes within its own range, so the other reading would add nothing (p. 213). So the middle bar closes inside bar 1, much as two-bar form 4 does.</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and closes above the gap. The 3rd bar closes below the gap" (Figure 7.6, p. 213).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gaps down and closes at or near its low. Also referred to as a single island reversal bar" (Figure 7.7, p. 214).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a:t>
            </a:r>
            <a:r>
              <a:rPr sz="1700" b="1" i="0">
                <a:solidFill>
                  <a:srgbClr val="7B3FA0"/>
                </a:solidFill>
                <a:latin typeface="Arial"/>
              </a:rPr>
              <a:t>(4)</a:t>
            </a:r>
            <a:r>
              <a:rPr sz="1700" b="0" i="0">
                <a:solidFill>
                  <a:srgbClr val="1A1A1A"/>
                </a:solidFill>
                <a:latin typeface="Arial"/>
              </a:rPr>
              <a:t>. Our reading, not Lim's: built from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engulfs the 2nd bar and closes below the gap" (Figure 7.7, p. 214).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a:t>
            </a:r>
            <a:r>
              <a:rPr sz="1700" b="1" i="0">
                <a:solidFill>
                  <a:srgbClr val="7B3FA0"/>
                </a:solidFill>
                <a:latin typeface="Arial"/>
              </a:rPr>
              <a:t>(4)</a:t>
            </a:r>
            <a:r>
              <a:rPr sz="1700" b="0" i="0">
                <a:solidFill>
                  <a:srgbClr val="1A1A1A"/>
                </a:solidFill>
                <a:latin typeface="Arial"/>
              </a:rPr>
              <a:t>. Our reading, not Lim's: built from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the 2nd bar "closes at or near its high on low volume followed by a 3rd bar closing below the low of the 2nd bar (and preferably below the close of the 1st bar as well)" (Figure 7.7, p. 214).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49.80 </a:t>
            </a:r>
            <a:r>
              <a:rPr sz="1700" b="1" i="0">
                <a:solidFill>
                  <a:srgbClr val="1F5FAD"/>
                </a:solidFill>
                <a:latin typeface="Arial"/>
              </a:rPr>
              <a:t>(3)</a:t>
            </a:r>
            <a:r>
              <a:rPr sz="1700" b="0" i="0">
                <a:solidFill>
                  <a:srgbClr val="1A1A1A"/>
                </a:solidFill>
                <a:latin typeface="Arial"/>
              </a:rPr>
              <a:t>, under bar 2's PHP 50.10 low.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form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Triple form 1</a:t>
            </a:r>
          </a:p>
          <a:p>
            <a:pPr algn="l">
              <a:lnSpc>
                <a:spcPct val="112000"/>
              </a:lnSpc>
              <a:spcBef>
                <a:spcPts val="0"/>
              </a:spcBef>
              <a:spcAft>
                <a:spcPts val="900"/>
              </a:spcAft>
            </a:pPr>
            <a:r>
              <a:rPr sz="1700" b="0" i="0">
                <a:solidFill>
                  <a:srgbClr val="FFFFFF"/>
                </a:solidFill>
                <a:latin typeface="Arial"/>
              </a:rPr>
              <a:t>B.  Triple form 2</a:t>
            </a:r>
          </a:p>
          <a:p>
            <a:pPr algn="l">
              <a:lnSpc>
                <a:spcPct val="112000"/>
              </a:lnSpc>
              <a:spcBef>
                <a:spcPts val="0"/>
              </a:spcBef>
              <a:spcAft>
                <a:spcPts val="900"/>
              </a:spcAft>
            </a:pPr>
            <a:r>
              <a:rPr sz="1700" b="0" i="0">
                <a:solidFill>
                  <a:srgbClr val="FFFFFF"/>
                </a:solidFill>
                <a:latin typeface="Arial"/>
              </a:rPr>
              <a:t>C.  Triple form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form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Triple form 1</a:t>
            </a:r>
          </a:p>
          <a:p>
            <a:pPr algn="l">
              <a:lnSpc>
                <a:spcPct val="115000"/>
              </a:lnSpc>
              <a:spcBef>
                <a:spcPts val="700"/>
              </a:spcBef>
              <a:spcAft>
                <a:spcPts val="0"/>
              </a:spcAft>
            </a:pPr>
            <a:r>
              <a:rPr sz="1700" b="0" i="0">
                <a:solidFill>
                  <a:srgbClr val="1A1A1A"/>
                </a:solidFill>
                <a:latin typeface="Arial"/>
              </a:rPr>
              <a:t>The middle bar usually trades on low volume, except possibly in triple form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six bullish triple forms mirror them in a downtrend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six bullish triple patterns in a downtrend (p. 214); ours flip the bearish ones about PHP 45, so 50.50 becomes 39.50. More reliable if the last bar is overextended, unusually long against the bars before it, and closes near its high on high volume (p. 214). Beside an ordinary PHP 1.00 bar </a:t>
            </a:r>
            <a:r>
              <a:rPr sz="1700" b="1" i="0">
                <a:solidFill>
                  <a:srgbClr val="E09B00"/>
                </a:solidFill>
                <a:latin typeface="Arial"/>
              </a:rPr>
              <a:t>(1)</a:t>
            </a:r>
            <a:r>
              <a:rPr sz="1700" b="0" i="0">
                <a:solidFill>
                  <a:srgbClr val="1A1A1A"/>
                </a:solidFill>
                <a:latin typeface="Arial"/>
              </a:rPr>
              <a:t>, that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large middle bar closing near its high. The 3rd bar closes at or near its high" (Figure 7.8, p. 214).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a:t>
            </a:r>
            <a:r>
              <a:rPr sz="1700" b="1" i="0">
                <a:solidFill>
                  <a:srgbClr val="1F5FAD"/>
                </a:solidFill>
                <a:latin typeface="Arial"/>
              </a:rPr>
              <a:t>(3)</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narrow range middle bar closing within its range on low volume. The 3rd bar closes at or near its high" (Figure 7.8, p. 214). Bar 1 closes at PHP 39.00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41.40 </a:t>
            </a:r>
            <a:r>
              <a:rPr sz="1700" b="1" i="0">
                <a:solidFill>
                  <a:srgbClr val="7B3FA0"/>
                </a:solidFill>
                <a:latin typeface="Arial"/>
              </a:rPr>
              <a:t>(4)</a:t>
            </a:r>
            <a:r>
              <a:rPr sz="1700" b="0" i="0">
                <a:solidFill>
                  <a:srgbClr val="1A1A1A"/>
                </a:solidFill>
                <a:latin typeface="Arial"/>
              </a:rPr>
              <a:t>. Our reading, not Lim's: built from bullish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and closes below the gap. The 3rd bar closes above the gap" (Figure 7.8, p. 214).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gaps up and closes at or near its high. Also referred to as a single island reversal bar" (Figure 7.9, p. 215).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a:t>
            </a:r>
            <a:r>
              <a:rPr sz="1700" b="1" i="0">
                <a:solidFill>
                  <a:srgbClr val="7B3FA0"/>
                </a:solidFill>
                <a:latin typeface="Arial"/>
              </a:rPr>
              <a:t>(4)</a:t>
            </a:r>
            <a:r>
              <a:rPr sz="1700" b="0" i="0">
                <a:solidFill>
                  <a:srgbClr val="1A1A1A"/>
                </a:solidFill>
                <a:latin typeface="Arial"/>
              </a:rPr>
              <a:t>. Our reading, not Lim's: built from bullish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engulfs the 2nd bar and closes above the gap" (Figure 7.9, p. 215).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t>
            </a:r>
            <a:r>
              <a:rPr sz="1700" b="1" i="0">
                <a:solidFill>
                  <a:srgbClr val="7B3FA0"/>
                </a:solidFill>
                <a:latin typeface="Arial"/>
              </a:rPr>
              <a:t>(4)</a:t>
            </a:r>
            <a:r>
              <a:rPr sz="1700" b="0" i="0">
                <a:solidFill>
                  <a:srgbClr val="1A1A1A"/>
                </a:solidFill>
                <a:latin typeface="Arial"/>
              </a:rPr>
              <a:t>. Our reading, not Lim's: built from bullish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the 2nd bar "closes at or near its low on low volume followed by a 3rd bar closing above the high of the 2nd bar (and preferably above the close of the 1st bar as well)" (Figure 7.9, p. 215).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40.20 </a:t>
            </a:r>
            <a:r>
              <a:rPr sz="1700" b="1" i="0">
                <a:solidFill>
                  <a:srgbClr val="1F5FAD"/>
                </a:solidFill>
                <a:latin typeface="Arial"/>
              </a:rPr>
              <a:t>(3)</a:t>
            </a:r>
            <a:r>
              <a:rPr sz="1700" b="0" i="0">
                <a:solidFill>
                  <a:srgbClr val="1A1A1A"/>
                </a:solidFill>
                <a:latin typeface="Arial"/>
              </a:rPr>
              <a:t>, over bar 2's high.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form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form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bar patterns stretch the middle across several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bearish multiple bar patterns in an uptrend (p. 214). Larger gaps are more bearish; the bars between should trade on low volume (p. 214). More reliable if the last bar is overextended, unusually long against the bars before it, and closes near its low on high volume (p. 215). Beside an ordinary PHP 1.00 bar </a:t>
            </a:r>
            <a:r>
              <a:rPr sz="1700" b="1" i="0">
                <a:solidFill>
                  <a:srgbClr val="E09B00"/>
                </a:solidFill>
                <a:latin typeface="Arial"/>
              </a:rPr>
              <a:t>(1)</a:t>
            </a:r>
            <a:r>
              <a:rPr sz="1700" b="0" i="0">
                <a:solidFill>
                  <a:srgbClr val="1A1A1A"/>
                </a:solidFill>
                <a:latin typeface="Arial"/>
              </a:rPr>
              <a:t>, it ranges PHP 4.00 </a:t>
            </a:r>
            <a:r>
              <a:rPr sz="1700" b="1" i="0">
                <a:solidFill>
                  <a:srgbClr val="C62828"/>
                </a:solidFill>
                <a:latin typeface="Arial"/>
              </a:rPr>
              <a:t>(2)</a:t>
            </a:r>
            <a:r>
              <a:rPr sz="1700" b="0" i="0">
                <a:solidFill>
                  <a:srgbClr val="1A1A1A"/>
                </a:solidFill>
                <a:latin typeface="Arial"/>
              </a:rPr>
              <a:t>, closing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b-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4650638"/>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392424"/>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457126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14724"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906561"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prices are invented for teaching.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multiple form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multiple form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four bullish multiple forms mirror the bearish ones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bullish multiple patterns in a downtrend (p. 215). In multiple form 2, wide middle bars on high volume are bullish; in any of these forms, narrow middle bars on low volume are potentially bullish too (p. 216). More reliable if the last bar is overextended, unusually long, and closes near its high on high volume (p. 216).</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 The prices are invented for teaching.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four bullish multiple forms mirror the bearish ones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Beside an ordinary PHP 1.00 bar </a:t>
            </a:r>
            <a:r>
              <a:rPr sz="1700" b="1" i="0">
                <a:solidFill>
                  <a:srgbClr val="E09B00"/>
                </a:solidFill>
                <a:latin typeface="Arial"/>
              </a:rPr>
              <a:t>(1)</a:t>
            </a:r>
            <a:r>
              <a:rPr sz="1700" b="0" i="0">
                <a:solidFill>
                  <a:srgbClr val="1A1A1A"/>
                </a:solidFill>
                <a:latin typeface="Arial"/>
              </a:rPr>
              <a:t>, the last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 The prices are invented for teaching.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form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multiple form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form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multiple form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eleven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 and 2: the swings get smaller and shorter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 decrease in price cycle amplitude: each swing covers less ground, say rises of 40 points </a:t>
            </a:r>
            <a:r>
              <a:rPr sz="1700" b="1" i="0">
                <a:solidFill>
                  <a:srgbClr val="E09B00"/>
                </a:solidFill>
                <a:latin typeface="Arial"/>
              </a:rPr>
              <a:t>(1)</a:t>
            </a:r>
            <a:r>
              <a:rPr sz="1700" b="0" i="0">
                <a:solidFill>
                  <a:srgbClr val="1A1A1A"/>
                </a:solidFill>
                <a:latin typeface="Arial"/>
              </a:rPr>
              <a:t> shrinking to 30 </a:t>
            </a:r>
            <a:r>
              <a:rPr sz="1700" b="1" i="0">
                <a:solidFill>
                  <a:srgbClr val="C62828"/>
                </a:solidFill>
                <a:latin typeface="Arial"/>
              </a:rPr>
              <a:t>(2)</a:t>
            </a:r>
            <a:r>
              <a:rPr sz="1700" b="0" i="0">
                <a:solidFill>
                  <a:srgbClr val="1A1A1A"/>
                </a:solidFill>
                <a:latin typeface="Arial"/>
              </a:rPr>
              <a:t> (Chapter 5, "1 Cycle amplitude"). Characteristic 2, decrease in price cycle period: each swing takes less time, say 20 bars </a:t>
            </a:r>
            <a:r>
              <a:rPr sz="1700" b="1" i="0">
                <a:solidFill>
                  <a:srgbClr val="1F5FAD"/>
                </a:solidFill>
                <a:latin typeface="Arial"/>
              </a:rPr>
              <a:t>(3)</a:t>
            </a:r>
            <a:r>
              <a:rPr sz="1700" b="0" i="0">
                <a:solidFill>
                  <a:srgbClr val="1A1A1A"/>
                </a:solidFill>
                <a:latin typeface="Arial"/>
              </a:rPr>
              <a:t> falling to 12 </a:t>
            </a:r>
            <a:r>
              <a:rPr sz="1700" b="1" i="0">
                <a:solidFill>
                  <a:srgbClr val="7B3FA0"/>
                </a:solidFill>
                <a:latin typeface="Arial"/>
              </a:rPr>
              <a:t>(4)</a:t>
            </a:r>
            <a:r>
              <a:rPr sz="1700" b="0" i="0">
                <a:solidFill>
                  <a:srgbClr val="1A1A1A"/>
                </a:solidFill>
                <a:latin typeface="Arial"/>
              </a:rPr>
              <a:t> (Chapter 5, "2 Cycle period").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283208" y="3957945"/>
            <a:ext cx="1267968" cy="1195753"/>
          </a:xfrm>
          <a:prstGeom prst="rect">
            <a:avLst/>
          </a:prstGeom>
          <a:noFill/>
          <a:ln w="44450">
            <a:solidFill>
              <a:srgbClr val="E09B00"/>
            </a:solidFill>
          </a:ln>
        </p:spPr>
        <p:txBody>
          <a:bodyPr rtlCol="0" anchor="ctr"/>
          <a:lstStyle/>
          <a:p>
            <a:pPr algn="ctr"/>
          </a:p>
        </p:txBody>
      </p:sp>
      <p:sp>
        <p:nvSpPr>
          <p:cNvPr id="10" name="Rectangle 9"/>
          <p:cNvSpPr/>
          <p:nvPr/>
        </p:nvSpPr>
        <p:spPr>
          <a:xfrm>
            <a:off x="4453128" y="3766624"/>
            <a:ext cx="1267968" cy="908772"/>
          </a:xfrm>
          <a:prstGeom prst="rect">
            <a:avLst/>
          </a:prstGeom>
          <a:noFill/>
          <a:ln w="44450">
            <a:solidFill>
              <a:srgbClr val="C62828"/>
            </a:solidFill>
          </a:ln>
        </p:spPr>
        <p:txBody>
          <a:bodyPr rtlCol="0" anchor="ctr"/>
          <a:lstStyle/>
          <a:p>
            <a:pPr algn="ctr"/>
          </a:p>
        </p:txBody>
      </p:sp>
      <p:sp>
        <p:nvSpPr>
          <p:cNvPr id="11" name="Rectangle 10"/>
          <p:cNvSpPr/>
          <p:nvPr/>
        </p:nvSpPr>
        <p:spPr>
          <a:xfrm>
            <a:off x="6512898" y="4077520"/>
            <a:ext cx="1937173" cy="1028348"/>
          </a:xfrm>
          <a:prstGeom prst="rect">
            <a:avLst/>
          </a:prstGeom>
          <a:noFill/>
          <a:ln w="44450">
            <a:solidFill>
              <a:srgbClr val="1F5FAD"/>
            </a:solidFill>
          </a:ln>
        </p:spPr>
        <p:txBody>
          <a:bodyPr rtlCol="0" anchor="ctr"/>
          <a:lstStyle/>
          <a:p>
            <a:pPr algn="ctr"/>
          </a:p>
        </p:txBody>
      </p:sp>
      <p:sp>
        <p:nvSpPr>
          <p:cNvPr id="12" name="Rectangle 11"/>
          <p:cNvSpPr/>
          <p:nvPr/>
        </p:nvSpPr>
        <p:spPr>
          <a:xfrm>
            <a:off x="9682818" y="4077520"/>
            <a:ext cx="1232746" cy="908772"/>
          </a:xfrm>
          <a:prstGeom prst="rect">
            <a:avLst/>
          </a:prstGeom>
          <a:noFill/>
          <a:ln w="44450">
            <a:solidFill>
              <a:srgbClr val="7B3FA0"/>
            </a:solidFill>
          </a:ln>
        </p:spPr>
        <p:txBody>
          <a:bodyPr rtlCol="0" anchor="ctr"/>
          <a:lstStyle/>
          <a:p>
            <a:pPr algn="ctr"/>
          </a:p>
        </p:txBody>
      </p:sp>
      <p:sp>
        <p:nvSpPr>
          <p:cNvPr id="13" name="Oval 12"/>
          <p:cNvSpPr/>
          <p:nvPr/>
        </p:nvSpPr>
        <p:spPr>
          <a:xfrm>
            <a:off x="2705797" y="46829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5688" y="4229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614663" y="46179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27239" y="437237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3 and 4: pullbacks change and bars shrink</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3, change in bar retracement symmetry: pullbacks that took 6 </a:t>
            </a:r>
            <a:r>
              <a:rPr sz="1700" b="1" i="0">
                <a:solidFill>
                  <a:srgbClr val="E09B00"/>
                </a:solidFill>
                <a:latin typeface="Arial"/>
              </a:rPr>
              <a:t>(1)</a:t>
            </a:r>
            <a:r>
              <a:rPr sz="1700" b="0" i="0">
                <a:solidFill>
                  <a:srgbClr val="1A1A1A"/>
                </a:solidFill>
                <a:latin typeface="Arial"/>
              </a:rPr>
              <a:t>, 6 and 5 bars suddenly take 2 </a:t>
            </a:r>
            <a:r>
              <a:rPr sz="1700" b="1" i="0">
                <a:solidFill>
                  <a:srgbClr val="C62828"/>
                </a:solidFill>
                <a:latin typeface="Arial"/>
              </a:rPr>
              <a:t>(2)</a:t>
            </a:r>
            <a:r>
              <a:rPr sz="1700" b="0" i="0">
                <a:solidFill>
                  <a:srgbClr val="1A1A1A"/>
                </a:solidFill>
                <a:latin typeface="Arial"/>
              </a:rPr>
              <a:t> (Chapter 5, "3 Bar retracement symmetry"). Characteristic 4, decrease in average bar range: bars that averaged PHP 3.00 </a:t>
            </a:r>
            <a:r>
              <a:rPr sz="1700" b="1" i="0">
                <a:solidFill>
                  <a:srgbClr val="1F5FAD"/>
                </a:solidFill>
                <a:latin typeface="Arial"/>
              </a:rPr>
              <a:t>(3)</a:t>
            </a:r>
            <a:r>
              <a:rPr sz="1700" b="0" i="0">
                <a:solidFill>
                  <a:srgbClr val="1A1A1A"/>
                </a:solidFill>
                <a:latin typeface="Arial"/>
              </a:rPr>
              <a:t> from low to high now average PHP 2.00 </a:t>
            </a:r>
            <a:r>
              <a:rPr sz="1700" b="1" i="0">
                <a:solidFill>
                  <a:srgbClr val="7B3FA0"/>
                </a:solidFill>
                <a:latin typeface="Arial"/>
              </a:rPr>
              <a:t>(4)</a:t>
            </a:r>
            <a:r>
              <a:rPr sz="1700" b="0" i="0">
                <a:solidFill>
                  <a:srgbClr val="1A1A1A"/>
                </a:solidFill>
                <a:latin typeface="Arial"/>
              </a:rPr>
              <a:t> (Chapter 5, "4 Average bar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2538" y="4280001"/>
            <a:ext cx="819806" cy="621791"/>
          </a:xfrm>
          <a:prstGeom prst="rect">
            <a:avLst/>
          </a:prstGeom>
          <a:noFill/>
          <a:ln w="44450">
            <a:solidFill>
              <a:srgbClr val="E09B00"/>
            </a:solidFill>
          </a:ln>
        </p:spPr>
        <p:txBody>
          <a:bodyPr rtlCol="0" anchor="ctr"/>
          <a:lstStyle/>
          <a:p>
            <a:pPr algn="ctr"/>
          </a:p>
        </p:txBody>
      </p:sp>
      <p:sp>
        <p:nvSpPr>
          <p:cNvPr id="10" name="Rectangle 9"/>
          <p:cNvSpPr/>
          <p:nvPr/>
        </p:nvSpPr>
        <p:spPr>
          <a:xfrm>
            <a:off x="5264736" y="3658209"/>
            <a:ext cx="450893" cy="455980"/>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857936"/>
            <a:ext cx="1849119" cy="1158794"/>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773146"/>
            <a:ext cx="1981199" cy="960951"/>
          </a:xfrm>
          <a:prstGeom prst="rect">
            <a:avLst/>
          </a:prstGeom>
          <a:noFill/>
          <a:ln w="44450">
            <a:solidFill>
              <a:srgbClr val="7B3FA0"/>
            </a:solidFill>
          </a:ln>
        </p:spPr>
        <p:txBody>
          <a:bodyPr rtlCol="0" anchor="ctr"/>
          <a:lstStyle/>
          <a:p>
            <a:pPr algn="ctr"/>
          </a:p>
        </p:txBody>
      </p:sp>
      <p:sp>
        <p:nvSpPr>
          <p:cNvPr id="13" name="Oval 12"/>
          <p:cNvSpPr/>
          <p:nvPr/>
        </p:nvSpPr>
        <p:spPr>
          <a:xfrm>
            <a:off x="2846937" y="45561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0222" y="382658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483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412344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5 and 6: the bars lose their quality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5, lack of the quality of price persistence: small, even bars of about PHP 1.00 </a:t>
            </a:r>
            <a:r>
              <a:rPr sz="1700" b="1" i="0">
                <a:solidFill>
                  <a:srgbClr val="E09B00"/>
                </a:solidFill>
                <a:latin typeface="Arial"/>
              </a:rPr>
              <a:t>(1)</a:t>
            </a:r>
            <a:r>
              <a:rPr sz="1700" b="0" i="0">
                <a:solidFill>
                  <a:srgbClr val="1A1A1A"/>
                </a:solidFill>
                <a:latin typeface="Arial"/>
              </a:rPr>
              <a:t> give way to uneven ones of PHP 0.40, 2.50 and 0.80 </a:t>
            </a:r>
            <a:r>
              <a:rPr sz="1700" b="1" i="0">
                <a:solidFill>
                  <a:srgbClr val="C62828"/>
                </a:solidFill>
                <a:latin typeface="Arial"/>
              </a:rPr>
              <a:t>(2)</a:t>
            </a:r>
            <a:r>
              <a:rPr sz="1700" b="0" i="0">
                <a:solidFill>
                  <a:srgbClr val="1A1A1A"/>
                </a:solidFill>
                <a:latin typeface="Arial"/>
              </a:rPr>
              <a:t> (Chapter 5, "5 Price persistence"). Characteristic 6, decrease in average bar stochastic ratio: on average, closes sit lower inside their bars, say 0.80 </a:t>
            </a:r>
            <a:r>
              <a:rPr sz="1700" b="1" i="0">
                <a:solidFill>
                  <a:srgbClr val="1F5FAD"/>
                </a:solidFill>
                <a:latin typeface="Arial"/>
              </a:rPr>
              <a:t>(3)</a:t>
            </a:r>
            <a:r>
              <a:rPr sz="1700" b="0" i="0">
                <a:solidFill>
                  <a:srgbClr val="1A1A1A"/>
                </a:solidFill>
                <a:latin typeface="Arial"/>
              </a:rPr>
              <a:t> falling to 0.40 </a:t>
            </a:r>
            <a:r>
              <a:rPr sz="1700" b="1" i="0">
                <a:solidFill>
                  <a:srgbClr val="7B3FA0"/>
                </a:solidFill>
                <a:latin typeface="Arial"/>
              </a:rPr>
              <a:t>(4)</a:t>
            </a:r>
            <a:r>
              <a:rPr sz="1700" b="0" i="0">
                <a:solidFill>
                  <a:srgbClr val="1A1A1A"/>
                </a:solidFill>
                <a:latin typeface="Arial"/>
              </a:rPr>
              <a:t> (Chapter 5, "6 The average bar stochastic ratio").</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4010558"/>
            <a:ext cx="1849119" cy="90159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86200"/>
            <a:ext cx="1981199" cy="1119225"/>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923321"/>
            <a:ext cx="1849119" cy="1136858"/>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644907"/>
            <a:ext cx="1981199" cy="858444"/>
          </a:xfrm>
          <a:prstGeom prst="rect">
            <a:avLst/>
          </a:prstGeom>
          <a:noFill/>
          <a:ln w="44450">
            <a:solidFill>
              <a:srgbClr val="7B3FA0"/>
            </a:solidFill>
          </a:ln>
        </p:spPr>
        <p:txBody>
          <a:bodyPr rtlCol="0" anchor="ctr"/>
          <a:lstStyle/>
          <a:p>
            <a:pPr algn="ctr"/>
          </a:p>
        </p:txBody>
      </p:sp>
      <p:sp>
        <p:nvSpPr>
          <p:cNvPr id="13" name="Oval 12"/>
          <p:cNvSpPr/>
          <p:nvPr/>
        </p:nvSpPr>
        <p:spPr>
          <a:xfrm>
            <a:off x="3336544" y="4468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4856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53426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392857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7, decrease in average candlestick real body to range ratio: on average the bodies shrink inside their bars, say 0.60 </a:t>
            </a:r>
            <a:r>
              <a:rPr sz="1700" b="1" i="0">
                <a:solidFill>
                  <a:srgbClr val="E09B00"/>
                </a:solidFill>
                <a:latin typeface="Arial"/>
              </a:rPr>
              <a:t>(1)</a:t>
            </a:r>
            <a:r>
              <a:rPr sz="1700" b="0" i="0">
                <a:solidFill>
                  <a:srgbClr val="1A1A1A"/>
                </a:solidFill>
                <a:latin typeface="Arial"/>
              </a:rPr>
              <a:t> falling to 0.25 </a:t>
            </a:r>
            <a:r>
              <a:rPr sz="1700" b="1" i="0">
                <a:solidFill>
                  <a:srgbClr val="C62828"/>
                </a:solidFill>
                <a:latin typeface="Arial"/>
              </a:rPr>
              <a:t>(2)</a:t>
            </a:r>
            <a:r>
              <a:rPr sz="1700" b="0" i="0">
                <a:solidFill>
                  <a:srgbClr val="1A1A1A"/>
                </a:solidFill>
                <a:latin typeface="Arial"/>
              </a:rPr>
              <a:t> (Chapter 5, "7 Real body to range ratio, BRR"). Characteristic 8, changes in angular symmetry and momentum: the trend's angle changes, say from 20 </a:t>
            </a:r>
            <a:r>
              <a:rPr sz="1700" b="1" i="0">
                <a:solidFill>
                  <a:srgbClr val="1F5FAD"/>
                </a:solidFill>
                <a:latin typeface="Arial"/>
              </a:rPr>
              <a:t>(3)</a:t>
            </a:r>
            <a:r>
              <a:rPr sz="1700" b="0" i="0">
                <a:solidFill>
                  <a:srgbClr val="1A1A1A"/>
                </a:solidFill>
                <a:latin typeface="Arial"/>
              </a:rPr>
              <a:t> to 35 degrees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5 said a steeper climb is generally bullish; Lim adds that a sudden parabolic jump is usually unsustainable and so potentially bearish (p. 218). He gives no cutoff angle (Chapter 5, "8 Angular symmetry and momentum").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9, proximity to a price barrier: price is near a strong support or resistance, say at PHP 59 </a:t>
            </a:r>
            <a:r>
              <a:rPr sz="1700" b="1" i="0">
                <a:solidFill>
                  <a:srgbClr val="E09B00"/>
                </a:solidFill>
                <a:latin typeface="Arial"/>
              </a:rPr>
              <a:t>(1)</a:t>
            </a:r>
            <a:r>
              <a:rPr sz="1700" b="0" i="0">
                <a:solidFill>
                  <a:srgbClr val="1A1A1A"/>
                </a:solidFill>
                <a:latin typeface="Arial"/>
              </a:rPr>
              <a:t> under resistance at PHP 60 </a:t>
            </a:r>
            <a:r>
              <a:rPr sz="1700" b="1" i="0">
                <a:solidFill>
                  <a:srgbClr val="C62828"/>
                </a:solidFill>
                <a:latin typeface="Arial"/>
              </a:rPr>
              <a:t>(2)</a:t>
            </a:r>
            <a:r>
              <a:rPr sz="1700" b="0" i="0">
                <a:solidFill>
                  <a:srgbClr val="1A1A1A"/>
                </a:solidFill>
                <a:latin typeface="Arial"/>
              </a:rPr>
              <a:t> (Chapter 5, "9 Barrier proximity").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10, reduction in frequency and decrease in depth of trend-based oscillations: six dips of about 3 points </a:t>
            </a:r>
            <a:r>
              <a:rPr sz="1700" b="1" i="0">
                <a:solidFill>
                  <a:srgbClr val="1F5FAD"/>
                </a:solidFill>
                <a:latin typeface="Arial"/>
              </a:rPr>
              <a:t>(3)</a:t>
            </a:r>
            <a:r>
              <a:rPr sz="1700" b="0" i="0">
                <a:solidFill>
                  <a:srgbClr val="1A1A1A"/>
                </a:solidFill>
                <a:latin typeface="Arial"/>
              </a:rPr>
              <a:t> become two dips of 1 point </a:t>
            </a:r>
            <a:r>
              <a:rPr sz="1700" b="1" i="0">
                <a:solidFill>
                  <a:srgbClr val="7B3FA0"/>
                </a:solidFill>
                <a:latin typeface="Arial"/>
              </a:rPr>
              <a:t>(4)</a:t>
            </a:r>
            <a:r>
              <a:rPr sz="1700" b="0" i="0">
                <a:solidFill>
                  <a:srgbClr val="1A1A1A"/>
                </a:solidFill>
                <a:latin typeface="Arial"/>
              </a:rPr>
              <a:t> (Chapter 5, "10 Frequency and depth of oscillations").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11, appearance of relatively larger and longer lasting consolidations: pauses of 3 bars </a:t>
            </a:r>
            <a:r>
              <a:rPr sz="1700" b="1" i="0">
                <a:solidFill>
                  <a:srgbClr val="E09B00"/>
                </a:solidFill>
                <a:latin typeface="Arial"/>
              </a:rPr>
              <a:t>(1)</a:t>
            </a:r>
            <a:r>
              <a:rPr sz="1700" b="0" i="0">
                <a:solidFill>
                  <a:srgbClr val="1A1A1A"/>
                </a:solidFill>
                <a:latin typeface="Arial"/>
              </a:rPr>
              <a:t> give way to one of 12 bars </a:t>
            </a:r>
            <a:r>
              <a:rPr sz="1700" b="1" i="0">
                <a:solidFill>
                  <a:srgbClr val="C62828"/>
                </a:solidFill>
                <a:latin typeface="Arial"/>
              </a:rPr>
              <a:t>(2)</a:t>
            </a:r>
            <a:r>
              <a:rPr sz="1700" b="0" i="0">
                <a:solidFill>
                  <a:srgbClr val="1A1A1A"/>
                </a:solidFill>
                <a:latin typeface="Arial"/>
              </a:rPr>
              <a:t> (Chapter 5, "11 Size and duration of a consolidation"). Characteristic 12, appearance of an exhaustion gap: a third gap in the trend, say of PHP 0.80 </a:t>
            </a:r>
            <a:r>
              <a:rPr sz="1700" b="1" i="0">
                <a:solidFill>
                  <a:srgbClr val="1F5FAD"/>
                </a:solidFill>
                <a:latin typeface="Arial"/>
              </a:rPr>
              <a:t>(3)</a:t>
            </a:r>
            <a:r>
              <a:rPr sz="1700" b="0" i="0">
                <a:solidFill>
                  <a:srgbClr val="1A1A1A"/>
                </a:solidFill>
                <a:latin typeface="Arial"/>
              </a:rPr>
              <a:t>, after two earlier ones </a:t>
            </a:r>
            <a:r>
              <a:rPr sz="1700" b="1" i="0">
                <a:solidFill>
                  <a:srgbClr val="7B3FA0"/>
                </a:solidFill>
                <a:latin typeface="Arial"/>
              </a:rPr>
              <a:t>(4)</a:t>
            </a:r>
            <a:r>
              <a:rPr sz="1700" b="0" i="0">
                <a:solidFill>
                  <a:srgbClr val="1A1A1A"/>
                </a:solidFill>
                <a:latin typeface="Arial"/>
              </a:rPr>
              <a:t> (Chapter 5, "12 Third gap exhaustion").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12's exhaustion gap is not Part 3's exhaustion bar, which has no gap after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13, completion of the average range for the period under observation: the day has already travelled its whole average range </a:t>
            </a:r>
            <a:r>
              <a:rPr sz="1700" b="1" i="0">
                <a:solidFill>
                  <a:srgbClr val="E09B00"/>
                </a:solidFill>
                <a:latin typeface="Arial"/>
              </a:rPr>
              <a:t>(1)</a:t>
            </a:r>
            <a:r>
              <a:rPr sz="1700" b="0" i="0">
                <a:solidFill>
                  <a:srgbClr val="1A1A1A"/>
                </a:solidFill>
                <a:latin typeface="Arial"/>
              </a:rPr>
              <a:t>, say all PHP 3.00 of it </a:t>
            </a:r>
            <a:r>
              <a:rPr sz="1700" b="1" i="0">
                <a:solidFill>
                  <a:srgbClr val="C62828"/>
                </a:solidFill>
                <a:latin typeface="Arial"/>
              </a:rPr>
              <a:t>(2)</a:t>
            </a:r>
            <a:r>
              <a:rPr sz="1700" b="0" i="0">
                <a:solidFill>
                  <a:srgbClr val="1A1A1A"/>
                </a:solidFill>
                <a:latin typeface="Arial"/>
              </a:rPr>
              <a:t> (Chapter 5, "13 Average period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14, overextended price action with respect to a price barrier: price spikes to PHP 61 </a:t>
            </a:r>
            <a:r>
              <a:rPr sz="1700" b="1" i="0">
                <a:solidFill>
                  <a:srgbClr val="1F5FAD"/>
                </a:solidFill>
                <a:latin typeface="Arial"/>
              </a:rPr>
              <a:t>(3)</a:t>
            </a:r>
            <a:r>
              <a:rPr sz="1700" b="0" i="0">
                <a:solidFill>
                  <a:srgbClr val="1A1A1A"/>
                </a:solidFill>
                <a:latin typeface="Arial"/>
              </a:rPr>
              <a:t> above an uptrending overlay line at PHP 60 </a:t>
            </a:r>
            <a:r>
              <a:rPr sz="1700" b="1" i="0">
                <a:solidFill>
                  <a:srgbClr val="7B3FA0"/>
                </a:solidFill>
                <a:latin typeface="Arial"/>
              </a:rPr>
              <a:t>(4)</a:t>
            </a:r>
            <a:r>
              <a:rPr sz="1700" b="0" i="0">
                <a:solidFill>
                  <a:srgbClr val="1A1A1A"/>
                </a:solidFill>
                <a:latin typeface="Arial"/>
              </a:rPr>
              <a:t>, or above an upper band, as Figure 7.13 shows two slides on (Chapter 5, "14 Overextension past an overlay barrier").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15 and 16: extreme volume and divergence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15, price accompanied by extremely high or low volume: say 5.0 million shares </a:t>
            </a:r>
            <a:r>
              <a:rPr sz="1700" b="1" i="0">
                <a:solidFill>
                  <a:srgbClr val="E09B00"/>
                </a:solidFill>
                <a:latin typeface="Arial"/>
              </a:rPr>
              <a:t>(1)</a:t>
            </a:r>
            <a:r>
              <a:rPr sz="1700" b="0" i="0">
                <a:solidFill>
                  <a:srgbClr val="1A1A1A"/>
                </a:solidFill>
                <a:latin typeface="Arial"/>
              </a:rPr>
              <a:t> against an average of 1.2 million </a:t>
            </a:r>
            <a:r>
              <a:rPr sz="1700" b="1" i="0">
                <a:solidFill>
                  <a:srgbClr val="C62828"/>
                </a:solidFill>
                <a:latin typeface="Arial"/>
              </a:rPr>
              <a:t>(2)</a:t>
            </a:r>
            <a:r>
              <a:rPr sz="1700" b="0" i="0">
                <a:solidFill>
                  <a:srgbClr val="1A1A1A"/>
                </a:solidFill>
                <a:latin typeface="Arial"/>
              </a:rPr>
              <a:t> (Chapter 5, "15 Volume spread action"). Characteristic 16, standard divergences between price, volume, and oscillators: price makes a higher high while volume falls from 3.0 </a:t>
            </a:r>
            <a:r>
              <a:rPr sz="1700" b="1" i="0">
                <a:solidFill>
                  <a:srgbClr val="1F5FAD"/>
                </a:solidFill>
                <a:latin typeface="Arial"/>
              </a:rPr>
              <a:t>(3)</a:t>
            </a:r>
            <a:r>
              <a:rPr sz="1700" b="0" i="0">
                <a:solidFill>
                  <a:srgbClr val="1A1A1A"/>
                </a:solidFill>
                <a:latin typeface="Arial"/>
              </a:rPr>
              <a:t> to 1.8 million </a:t>
            </a:r>
            <a:r>
              <a:rPr sz="1700" b="1" i="0">
                <a:solidFill>
                  <a:srgbClr val="7B3FA0"/>
                </a:solidFill>
                <a:latin typeface="Arial"/>
              </a:rPr>
              <a:t>(4)</a:t>
            </a:r>
            <a:r>
              <a:rPr sz="1700" b="0" i="0">
                <a:solidFill>
                  <a:srgbClr val="1A1A1A"/>
                </a:solidFill>
                <a:latin typeface="Arial"/>
              </a:rPr>
              <a:t> (Chapter 5, "16 Volume and oscillator divergence").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22952" y="3803904"/>
            <a:ext cx="905691" cy="1371599"/>
          </a:xfrm>
          <a:prstGeom prst="rect">
            <a:avLst/>
          </a:prstGeom>
          <a:noFill/>
          <a:ln w="44450">
            <a:solidFill>
              <a:srgbClr val="E09B00"/>
            </a:solidFill>
          </a:ln>
        </p:spPr>
        <p:txBody>
          <a:bodyPr rtlCol="0" anchor="ctr"/>
          <a:lstStyle/>
          <a:p>
            <a:pPr algn="ctr"/>
          </a:p>
        </p:txBody>
      </p:sp>
      <p:sp>
        <p:nvSpPr>
          <p:cNvPr id="10" name="Rectangle 9"/>
          <p:cNvSpPr/>
          <p:nvPr/>
        </p:nvSpPr>
        <p:spPr>
          <a:xfrm>
            <a:off x="1313397" y="4626864"/>
            <a:ext cx="2943497" cy="548639"/>
          </a:xfrm>
          <a:prstGeom prst="rect">
            <a:avLst/>
          </a:prstGeom>
          <a:noFill/>
          <a:ln w="44450">
            <a:solidFill>
              <a:srgbClr val="C62828"/>
            </a:solidFill>
          </a:ln>
        </p:spPr>
        <p:txBody>
          <a:bodyPr rtlCol="0" anchor="ctr"/>
          <a:lstStyle/>
          <a:p>
            <a:pPr algn="ctr"/>
          </a:p>
        </p:txBody>
      </p:sp>
      <p:sp>
        <p:nvSpPr>
          <p:cNvPr id="11" name="Rectangle 10"/>
          <p:cNvSpPr/>
          <p:nvPr/>
        </p:nvSpPr>
        <p:spPr>
          <a:xfrm>
            <a:off x="7466076" y="3726751"/>
            <a:ext cx="713231" cy="1448752"/>
          </a:xfrm>
          <a:prstGeom prst="rect">
            <a:avLst/>
          </a:prstGeom>
          <a:noFill/>
          <a:ln w="44450">
            <a:solidFill>
              <a:srgbClr val="1F5FAD"/>
            </a:solidFill>
          </a:ln>
        </p:spPr>
        <p:txBody>
          <a:bodyPr rtlCol="0" anchor="ctr"/>
          <a:lstStyle/>
          <a:p>
            <a:pPr algn="ctr"/>
          </a:p>
        </p:txBody>
      </p:sp>
      <p:sp>
        <p:nvSpPr>
          <p:cNvPr id="12" name="Rectangle 11"/>
          <p:cNvSpPr/>
          <p:nvPr/>
        </p:nvSpPr>
        <p:spPr>
          <a:xfrm>
            <a:off x="9843516" y="3503866"/>
            <a:ext cx="713232" cy="1671637"/>
          </a:xfrm>
          <a:prstGeom prst="rect">
            <a:avLst/>
          </a:prstGeom>
          <a:noFill/>
          <a:ln w="44450">
            <a:solidFill>
              <a:srgbClr val="7B3FA0"/>
            </a:solidFill>
          </a:ln>
        </p:spPr>
        <p:txBody>
          <a:bodyPr rtlCol="0" anchor="ctr"/>
          <a:lstStyle/>
          <a:p>
            <a:pPr algn="ctr"/>
          </a:p>
        </p:txBody>
      </p:sp>
      <p:sp>
        <p:nvSpPr>
          <p:cNvPr id="13" name="Oval 12"/>
          <p:cNvSpPr/>
          <p:nvPr/>
        </p:nvSpPr>
        <p:spPr>
          <a:xfrm>
            <a:off x="5893235" y="45674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1486" y="485546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343900" y="454042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721340" y="446241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87 of 95</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such rapid increases </a:t>
            </a:r>
            <a:r>
              <a:rPr sz="1700" b="1" i="0">
                <a:solidFill>
                  <a:srgbClr val="E09B00"/>
                </a:solidFill>
                <a:latin typeface="Arial"/>
              </a:rPr>
              <a:t>(1)</a:t>
            </a:r>
            <a:r>
              <a:rPr sz="1700" b="0" i="0">
                <a:solidFill>
                  <a:srgbClr val="1A1A1A"/>
                </a:solidFill>
                <a:latin typeface="Arial"/>
              </a:rPr>
              <a:t> are usually unsustainable, so potentially bearish (p. 218). A lack of oscillations </a:t>
            </a:r>
            <a:r>
              <a:rPr sz="1700" b="1" i="0">
                <a:solidFill>
                  <a:srgbClr val="C62828"/>
                </a:solidFill>
                <a:latin typeface="Arial"/>
              </a:rPr>
              <a:t>(2)</a:t>
            </a:r>
            <a:r>
              <a:rPr sz="1700" b="0" i="0">
                <a:solidFill>
                  <a:srgbClr val="1A1A1A"/>
                </a:solidFill>
                <a:latin typeface="Arial"/>
              </a:rPr>
              <a:t> is potentially bearish because there is little healthy profit-taking (p. 218). The overextended price </a:t>
            </a:r>
            <a:r>
              <a:rPr sz="1700" b="1" i="0">
                <a:solidFill>
                  <a:srgbClr val="1F5FAD"/>
                </a:solidFill>
                <a:latin typeface="Arial"/>
              </a:rPr>
              <a:t>(3)</a:t>
            </a:r>
            <a:r>
              <a:rPr sz="1700" b="0" i="0">
                <a:solidFill>
                  <a:srgbClr val="1A1A1A"/>
                </a:solidFill>
                <a:latin typeface="Arial"/>
              </a:rPr>
              <a:t> is stretched past a volatility barrier, the Bollinger upper band, and would be even more bearish with extreme volume (p. 217).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7 names the Bollinger upper band but does not define it; read it as the overlay barrier from Chapter 5, "14 Overextension past an overlay barrier", and take no formula from this chapter.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89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90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93 of 95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95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3 puts names on real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2 drew Lim's generic forms. Part 3 reads the popular named reversals on real daily charts: key reversal, two-day and three-bar reversals, the island, outside and inside bars, exhaustion bars, spikes, pin bars, false breakouts, the Double Repo and the Hikkake.</a:t>
            </a:r>
          </a:p>
          <a:p>
            <a:pPr algn="l">
              <a:lnSpc>
                <a:spcPct val="118000"/>
              </a:lnSpc>
              <a:spcBef>
                <a:spcPts val="0"/>
              </a:spcBef>
              <a:spcAft>
                <a:spcPts val="1300"/>
              </a:spcAft>
            </a:pPr>
            <a:r>
              <a:rPr sz="2100" b="0" i="0">
                <a:solidFill>
                  <a:srgbClr val="1A1A1A"/>
                </a:solidFill>
                <a:latin typeface="Arial"/>
              </a:rPr>
              <a:t>Several reuse Part 2's names: the key reversal is Part 2's form 1, the outside bar is form 6, and the island is triple form 4's single bar or multiple form 4's group.</a:t>
            </a:r>
          </a:p>
          <a:p>
            <a:pPr algn="l">
              <a:lnSpc>
                <a:spcPct val="118000"/>
              </a:lnSpc>
              <a:spcBef>
                <a:spcPts val="0"/>
              </a:spcBef>
              <a:spcAft>
                <a:spcPts val="1300"/>
              </a:spcAft>
            </a:pPr>
            <a:r>
              <a:rPr sz="2100" b="0" i="0">
                <a:solidFill>
                  <a:srgbClr val="1A1A1A"/>
                </a:solidFill>
                <a:latin typeface="Arial"/>
              </a:rPr>
              <a:t>Each is still a bearish pattern after an uptrend or a bullish one after a downtrend, as Part 2 set out (p. 211).</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and 218. Section 7.3 is "Popular Bar Reversal Patterns".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71</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In an uptrend, buyers push price higher. A bearish key reversal breaks that habit: it makes a new high, then closes near or below the previous close, a warning that buyers may be running out.</a:t>
            </a:r>
          </a:p>
          <a:p>
            <a:pPr algn="l">
              <a:lnSpc>
                <a:spcPct val="105000"/>
              </a:lnSpc>
              <a:spcBef>
                <a:spcPts val="0"/>
              </a:spcBef>
              <a:spcAft>
                <a:spcPts val="1100"/>
              </a:spcAft>
            </a:pPr>
            <a:r>
              <a:rPr sz="15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500" b="0" i="0">
                <a:solidFill>
                  <a:srgbClr val="1A1A1A"/>
                </a:solidFill>
                <a:latin typeface="Arial"/>
              </a:rPr>
              <a:t>Part 2's form 1 label also has the bar open above the previous high. That is the stronger version Lim draws; his text asks only for the higher high and the close, and says the bar may open with a gap up (pp. 212,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After a run of rising closes,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35685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88949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7153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702107" y="3315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98655" y="37327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05931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71</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35685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88949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7153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702107" y="3315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98655" y="37327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05931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71</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key reversal is the same rule in the opposite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a bullish key reversal makes a new low, then closes near or above the previous close. After a run of falling closes, yesterday's low was 41.00 and its close 41.50. Today it falls to a new low of 40.50 </a:t>
            </a:r>
            <a:r>
              <a:rPr sz="1700" b="1" i="0">
                <a:solidFill>
                  <a:srgbClr val="E09B00"/>
                </a:solidFill>
                <a:latin typeface="Arial"/>
              </a:rPr>
              <a:t>(1)</a:t>
            </a:r>
            <a:r>
              <a:rPr sz="1700" b="0" i="0">
                <a:solidFill>
                  <a:srgbClr val="1A1A1A"/>
                </a:solidFill>
                <a:latin typeface="Arial"/>
              </a:rPr>
              <a:t>, then closes at 43.20 </a:t>
            </a:r>
            <a:r>
              <a:rPr sz="1700" b="1" i="0">
                <a:solidFill>
                  <a:srgbClr val="C62828"/>
                </a:solidFill>
                <a:latin typeface="Arial"/>
              </a:rPr>
              <a:t>(2)</a:t>
            </a:r>
            <a:r>
              <a:rPr sz="1700" b="0" i="0">
                <a:solidFill>
                  <a:srgbClr val="1A1A1A"/>
                </a:solidFill>
                <a:latin typeface="Arial"/>
              </a:rPr>
              <a:t>, above yesterday's close of 41.50, on 4.0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44581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77404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059314" y="43616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98655" y="3617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key reversal is the same rule in the opposite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Lim's chart price then rebounds rapidly, but that is not a promise (p. 218).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44581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77404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059314" y="43616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98655" y="3617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71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71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71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500" b="0" i="0">
                <a:solidFill>
                  <a:srgbClr val="1A1A1A"/>
                </a:solidFill>
                <a:latin typeface="Arial"/>
              </a:rPr>
              <a:t>The bar forms below the lower Bollinger band </a:t>
            </a:r>
            <a:r>
              <a:rPr sz="1500" b="1" i="0">
                <a:solidFill>
                  <a:srgbClr val="E09B00"/>
                </a:solidFill>
                <a:latin typeface="Arial"/>
              </a:rPr>
              <a:t>(1)</a:t>
            </a:r>
            <a:r>
              <a:rPr sz="1500" b="0" i="0">
                <a:solidFill>
                  <a:srgbClr val="1A1A1A"/>
                </a:solidFill>
                <a:latin typeface="Arial"/>
              </a:rPr>
              <a:t>. Lim calls that an overextended or oversold condition with respect to volatility: this is characteristic 14 from Part 2, price stretched past a barrier, not Part 2's unusually long overextended bar. It closes near its high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typical two-bar bearish reversal reads only the two closes: the first near its high, the second near its low. It looks like Part 2's form 7, but Lim does not link the two: form 7's label asks for two large bars, while here he only says wider ranges would be preferable (pp. 212,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076748" y="34582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91088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148424" y="33014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98655" y="37541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71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076748" y="34582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91088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148424" y="33014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98655" y="37541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71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71</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clear uptrend, Lim's bearish three-bar reversal reads the outer closes: the first bar near its high, the third near its low. It is a looser rule than Part 2's six triple forms, which each fix the middle bar too.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50280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076748" y="347743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126979" y="428918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27005" y="332357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148424" y="332065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98655" y="41324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71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3 falls from PHP 52.10 to PHP 48.70 and closes near its low, at PHP 48.80 </a:t>
            </a:r>
            <a:r>
              <a:rPr sz="1700" b="1" i="0">
                <a:solidFill>
                  <a:srgbClr val="1F5FAD"/>
                </a:solidFill>
                <a:latin typeface="Arial"/>
              </a:rPr>
              <a:t>(3)</a:t>
            </a:r>
            <a:r>
              <a:rPr sz="1700" b="0" i="0">
                <a:solidFill>
                  <a:srgbClr val="1A1A1A"/>
                </a:solidFill>
                <a:latin typeface="Arial"/>
              </a:rPr>
              <a:t>. 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50280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076748" y="347743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126979" y="428918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27005" y="332357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148424" y="332065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98655" y="41324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So the first bar closes near its low, at 43.00, and the third near its high, at 46.30 (p. 221). Lim adds a point about volume: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09744" y="5121946"/>
            <a:ext cx="310895" cy="263869"/>
          </a:xfrm>
          <a:prstGeom prst="rect">
            <a:avLst/>
          </a:prstGeom>
          <a:noFill/>
          <a:ln w="44450">
            <a:solidFill>
              <a:srgbClr val="E09B00"/>
            </a:solidFill>
          </a:ln>
        </p:spPr>
        <p:txBody>
          <a:bodyPr rtlCol="0" anchor="ctr"/>
          <a:lstStyle/>
          <a:p>
            <a:pPr algn="ctr"/>
          </a:p>
        </p:txBody>
      </p:sp>
      <p:sp>
        <p:nvSpPr>
          <p:cNvPr id="10" name="Rectangle 9"/>
          <p:cNvSpPr/>
          <p:nvPr/>
        </p:nvSpPr>
        <p:spPr>
          <a:xfrm>
            <a:off x="7334859" y="5299601"/>
            <a:ext cx="310895" cy="86214"/>
          </a:xfrm>
          <a:prstGeom prst="rect">
            <a:avLst/>
          </a:prstGeom>
          <a:noFill/>
          <a:ln w="44450">
            <a:solidFill>
              <a:srgbClr val="C62828"/>
            </a:solidFill>
          </a:ln>
        </p:spPr>
        <p:txBody>
          <a:bodyPr rtlCol="0" anchor="ctr"/>
          <a:lstStyle/>
          <a:p>
            <a:pPr algn="ctr"/>
          </a:p>
        </p:txBody>
      </p:sp>
      <p:sp>
        <p:nvSpPr>
          <p:cNvPr id="11" name="Rectangle 10"/>
          <p:cNvSpPr/>
          <p:nvPr/>
        </p:nvSpPr>
        <p:spPr>
          <a:xfrm>
            <a:off x="9859975" y="5111496"/>
            <a:ext cx="310895" cy="274320"/>
          </a:xfrm>
          <a:prstGeom prst="rect">
            <a:avLst/>
          </a:prstGeom>
          <a:noFill/>
          <a:ln w="44450">
            <a:solidFill>
              <a:srgbClr val="1F5FAD"/>
            </a:solidFill>
          </a:ln>
        </p:spPr>
        <p:txBody>
          <a:bodyPr rtlCol="0" anchor="ctr"/>
          <a:lstStyle/>
          <a:p>
            <a:pPr algn="ctr"/>
          </a:p>
        </p:txBody>
      </p:sp>
      <p:sp>
        <p:nvSpPr>
          <p:cNvPr id="12" name="Oval 11"/>
          <p:cNvSpPr/>
          <p:nvPr/>
        </p:nvSpPr>
        <p:spPr>
          <a:xfrm>
            <a:off x="5120640" y="5125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773771" y="52146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70871" y="51206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71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09744" y="5121946"/>
            <a:ext cx="310895" cy="263869"/>
          </a:xfrm>
          <a:prstGeom prst="rect">
            <a:avLst/>
          </a:prstGeom>
          <a:noFill/>
          <a:ln w="44450">
            <a:solidFill>
              <a:srgbClr val="E09B00"/>
            </a:solidFill>
          </a:ln>
        </p:spPr>
        <p:txBody>
          <a:bodyPr rtlCol="0" anchor="ctr"/>
          <a:lstStyle/>
          <a:p>
            <a:pPr algn="ctr"/>
          </a:p>
        </p:txBody>
      </p:sp>
      <p:sp>
        <p:nvSpPr>
          <p:cNvPr id="10" name="Rectangle 9"/>
          <p:cNvSpPr/>
          <p:nvPr/>
        </p:nvSpPr>
        <p:spPr>
          <a:xfrm>
            <a:off x="7334859" y="5299601"/>
            <a:ext cx="310895" cy="86214"/>
          </a:xfrm>
          <a:prstGeom prst="rect">
            <a:avLst/>
          </a:prstGeom>
          <a:noFill/>
          <a:ln w="44450">
            <a:solidFill>
              <a:srgbClr val="C62828"/>
            </a:solidFill>
          </a:ln>
        </p:spPr>
        <p:txBody>
          <a:bodyPr rtlCol="0" anchor="ctr"/>
          <a:lstStyle/>
          <a:p>
            <a:pPr algn="ctr"/>
          </a:p>
        </p:txBody>
      </p:sp>
      <p:sp>
        <p:nvSpPr>
          <p:cNvPr id="11" name="Rectangle 10"/>
          <p:cNvSpPr/>
          <p:nvPr/>
        </p:nvSpPr>
        <p:spPr>
          <a:xfrm>
            <a:off x="9859975" y="5111496"/>
            <a:ext cx="310895" cy="274320"/>
          </a:xfrm>
          <a:prstGeom prst="rect">
            <a:avLst/>
          </a:prstGeom>
          <a:noFill/>
          <a:ln w="44450">
            <a:solidFill>
              <a:srgbClr val="1F5FAD"/>
            </a:solidFill>
          </a:ln>
        </p:spPr>
        <p:txBody>
          <a:bodyPr rtlCol="0" anchor="ctr"/>
          <a:lstStyle/>
          <a:p>
            <a:pPr algn="ctr"/>
          </a:p>
        </p:txBody>
      </p:sp>
      <p:sp>
        <p:nvSpPr>
          <p:cNvPr id="12" name="Oval 11"/>
          <p:cNvSpPr/>
          <p:nvPr/>
        </p:nvSpPr>
        <p:spPr>
          <a:xfrm>
            <a:off x="5120640" y="5125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773771" y="52146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70871" y="51206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7.21 first shows a bullish three-bar reversal </a:t>
            </a:r>
            <a:r>
              <a:rPr sz="1800" b="1" i="0">
                <a:solidFill>
                  <a:srgbClr val="E09B00"/>
                </a:solidFill>
                <a:latin typeface="Arial"/>
              </a:rPr>
              <a:t>(1)</a:t>
            </a:r>
            <a:r>
              <a:rPr sz="1800" b="0" i="0">
                <a:solidFill>
                  <a:srgbClr val="1A1A1A"/>
                </a:solidFill>
                <a:latin typeface="Arial"/>
              </a:rPr>
              <a:t>, whose large third bar closes near its high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Later, a separate outside day (an outside bar on a daily chart, Part 2's form 6) engulfs four preceding bars </a:t>
            </a:r>
            <a:r>
              <a:rPr sz="1800" b="1" i="0">
                <a:solidFill>
                  <a:srgbClr val="7B3FA0"/>
                </a:solidFill>
                <a:latin typeface="Arial"/>
              </a:rPr>
              <a:t>(4)</a:t>
            </a:r>
            <a:r>
              <a:rPr sz="1800" b="0" i="0">
                <a:solidFill>
                  <a:srgbClr val="1A1A1A"/>
                </a:solidFill>
                <a:latin typeface="Arial"/>
              </a:rPr>
              <a:t>, not just one. It closes near its low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island reversal is one bar or a group of bars cut off from the price action around it by a gap up before and a gap down after. The bullish island is the converse: a gap down, then a gap up. Part 2 met both sizes: triple form 4's single island bar and multiple form 4's island formation. Here a gap means a window: the two bars' ranges do not overlap at all.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288121" y="348132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763005" y="368395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129826" y="36596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359797" y="332455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850788" y="359982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217609" y="357551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71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bar 2's low, PHP 50.60, is above bar 1's high, PHP 50.00 </a:t>
            </a:r>
            <a:r>
              <a:rPr sz="1700" b="1" i="0">
                <a:solidFill>
                  <a:srgbClr val="E09B00"/>
                </a:solidFill>
                <a:latin typeface="Arial"/>
              </a:rPr>
              <a:t>(1)</a:t>
            </a:r>
            <a:r>
              <a:rPr sz="1700" b="0" i="0">
                <a:solidFill>
                  <a:srgbClr val="1A1A1A"/>
                </a:solidFill>
                <a:latin typeface="Arial"/>
              </a:rPr>
              <a:t>. Bars 2 and 3 are the island </a:t>
            </a:r>
            <a:r>
              <a:rPr sz="1700" b="1" i="0">
                <a:solidFill>
                  <a:srgbClr val="C62828"/>
                </a:solidFill>
                <a:latin typeface="Arial"/>
              </a:rPr>
              <a:t>(2)</a:t>
            </a:r>
            <a:r>
              <a:rPr sz="1700" b="0" i="0">
                <a:solidFill>
                  <a:srgbClr val="1A1A1A"/>
                </a:solidFill>
                <a:latin typeface="Arial"/>
              </a:rPr>
              <a:t>. Bar 4's high, PHP 50.00, is below bar 3's low, PHP 50.90 </a:t>
            </a:r>
            <a:r>
              <a:rPr sz="1700" b="1" i="0">
                <a:solidFill>
                  <a:srgbClr val="1F5FAD"/>
                </a:solidFill>
                <a:latin typeface="Arial"/>
              </a:rPr>
              <a:t>(3)</a:t>
            </a:r>
            <a:r>
              <a:rPr sz="1700" b="0" i="0">
                <a:solidFill>
                  <a:srgbClr val="1A1A1A"/>
                </a:solidFill>
                <a:latin typeface="Arial"/>
              </a:rPr>
              <a:t>. The two windows create a potential warning.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288121" y="348132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763005" y="368395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129826" y="36596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359797" y="332455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850788" y="359982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217609" y="357551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71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island reversal is one bar or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Stochastic is shown but not defined here.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Stochastic is shown but not defined here.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 bearish island reversal?</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336798"/>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447413"/>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 bearish island reversal?</a:t>
            </a:r>
          </a:p>
        </p:txBody>
      </p:sp>
      <p:sp>
        <p:nvSpPr>
          <p:cNvPr id="9" name="TextBox 8"/>
          <p:cNvSpPr txBox="1"/>
          <p:nvPr/>
        </p:nvSpPr>
        <p:spPr>
          <a:xfrm>
            <a:off x="1097280" y="2069338"/>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640327"/>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750943"/>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here is an outside bar with simple prices. The two bars just before it stay between PHP 48.00 and PHP 52.00. The last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of those bars. It closes at PHP 47.50 </a:t>
            </a:r>
            <a:r>
              <a:rPr sz="1700" b="1" i="0">
                <a:solidFill>
                  <a:srgbClr val="1F5FAD"/>
                </a:solidFill>
                <a:latin typeface="Arial"/>
              </a:rPr>
              <a:t>(3)</a:t>
            </a:r>
            <a:r>
              <a:rPr sz="1700" b="0" i="0">
                <a:solidFill>
                  <a:srgbClr val="1A1A1A"/>
                </a:solidFill>
                <a:latin typeface="Arial"/>
              </a:rPr>
              <a:t>, near its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419856"/>
            <a:ext cx="0" cy="844616"/>
          </a:xfrm>
          <a:prstGeom prst="line">
            <a:avLst/>
          </a:prstGeom>
          <a:ln w="44450">
            <a:solidFill>
              <a:srgbClr val="E09B00"/>
            </a:solidFill>
          </a:ln>
        </p:spPr>
      </p:cxn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1501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7141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9934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419856"/>
            <a:ext cx="0" cy="844616"/>
          </a:xfrm>
          <a:prstGeom prst="line">
            <a:avLst/>
          </a:prstGeom>
          <a:ln w="44450">
            <a:solidFill>
              <a:srgbClr val="E09B00"/>
            </a:solidFill>
          </a:ln>
        </p:spPr>
      </p:cxn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1501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7141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9934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whole range, high and low, stays within the preceding bar's range, so price is pausing inside it. Lim's Part 2 label asks only that the close be inside; this deck uses the whole-range meaning.</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rise into resistance at PHP 53.00, here is an inside bar with simple prices. The first bar of the pair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That first bar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972860" y="37021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65647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9728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60643" y="36180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3456" y="3527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5719440"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972860" y="37021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65647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9728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60643" y="36180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3456" y="3527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5719440"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an uptrend, an exhaustion bar opens above the previous high and closes at or near its low; the larger the bar, the more bearish.</a:t>
            </a:r>
          </a:p>
          <a:p>
            <a:pPr algn="l">
              <a:lnSpc>
                <a:spcPct val="118000"/>
              </a:lnSpc>
              <a:spcBef>
                <a:spcPts val="0"/>
              </a:spcBef>
              <a:spcAft>
                <a:spcPts val="1300"/>
              </a:spcAft>
            </a:pPr>
            <a:r>
              <a:rPr sz="2100" b="0" i="0">
                <a:solidFill>
                  <a:srgbClr val="1A1A1A"/>
                </a:solidFill>
                <a:latin typeface="Arial"/>
              </a:rPr>
              <a:t>The next bar leaves no gap: a gap here is a window, where the two bars' ranges do not overlap at all. That is what separates it from Part 2's single island bar. Together they make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run of rising bars,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 two bars overlap and there is no window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75284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921300" y="352185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16083" y="41054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34198" y="36687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006471" y="34078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31959" y="38493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A downside pin bar fools traders into seeing weakness in an uptrend; an upside one, strength in a downtrend (p. 227).</a:t>
            </a:r>
          </a:p>
          <a:p>
            <a:pPr algn="l">
              <a:lnSpc>
                <a:spcPct val="118000"/>
              </a:lnSpc>
              <a:spcBef>
                <a:spcPts val="0"/>
              </a:spcBef>
              <a:spcAft>
                <a:spcPts val="1300"/>
              </a:spcAft>
            </a:pPr>
            <a:r>
              <a:rPr sz="2100" b="0" i="0">
                <a:solidFill>
                  <a:srgbClr val="1A1A1A"/>
                </a:solidFill>
                <a:latin typeface="Arial"/>
              </a:rPr>
              <a:t>Pin bars usually form on low volume. Wait for the close: if price is back on the other side of the barrier, the break was false.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an uptrend, price pulls back toward support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1726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036083"/>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38530" y="4002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8793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71</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opens high and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an uptrend, an exhaustion bar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closes near its low,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290968" y="347322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44641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16083" y="41054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85286" y="32675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53419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31959" y="38493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came at the end of an uptrend,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52695" y="37654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71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71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closes below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 In plain terms: two closes below the line, each after a close above it.</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71</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closes below the line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second close below the line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closes below the shifted SMA, each after a close above it, give the Double Repo sell signal?</a:t>
            </a:r>
          </a:p>
        </p:txBody>
      </p:sp>
      <p:sp>
        <p:nvSpPr>
          <p:cNvPr id="9" name="TextBox 8"/>
          <p:cNvSpPr txBox="1"/>
          <p:nvPr/>
        </p:nvSpPr>
        <p:spPr>
          <a:xfrm>
            <a:off x="1005840" y="231762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a:t>
            </a:r>
          </a:p>
          <a:p>
            <a:pPr algn="l">
              <a:lnSpc>
                <a:spcPct val="105000"/>
              </a:lnSpc>
              <a:spcBef>
                <a:spcPts val="0"/>
              </a:spcBef>
              <a:spcAft>
                <a:spcPts val="200"/>
              </a:spcAft>
            </a:pPr>
            <a:r>
              <a:rPr sz="1700" b="0" i="0">
                <a:solidFill>
                  <a:srgbClr val="FFFFFF"/>
                </a:solidFill>
                <a:latin typeface="Arial"/>
              </a:rPr>
              <a:t>B.  Three</a:t>
            </a:r>
          </a:p>
          <a:p>
            <a:pPr algn="l">
              <a:lnSpc>
                <a:spcPct val="105000"/>
              </a:lnSpc>
              <a:spcBef>
                <a:spcPts val="0"/>
              </a:spcBef>
              <a:spcAft>
                <a:spcPts val="200"/>
              </a:spcAft>
            </a:pPr>
            <a:r>
              <a:rPr sz="1700" b="0" i="0">
                <a:solidFill>
                  <a:srgbClr val="FFFFFF"/>
                </a:solidFill>
                <a:latin typeface="Arial"/>
              </a:rPr>
              <a:t>C.  Two</a:t>
            </a:r>
          </a:p>
          <a:p>
            <a:pPr algn="l">
              <a:lnSpc>
                <a:spcPct val="105000"/>
              </a:lnSpc>
              <a:spcBef>
                <a:spcPts val="0"/>
              </a:spcBef>
              <a:spcAft>
                <a:spcPts val="200"/>
              </a:spcAft>
            </a:pPr>
            <a:r>
              <a:rPr sz="1700" b="0" i="0">
                <a:solidFill>
                  <a:srgbClr val="FFFFFF"/>
                </a:solidFill>
                <a:latin typeface="Arial"/>
              </a:rPr>
              <a:t>D.  None</a:t>
            </a:r>
          </a:p>
        </p:txBody>
      </p:sp>
      <p:sp>
        <p:nvSpPr>
          <p:cNvPr id="10" name="Rectangle 9"/>
          <p:cNvSpPr/>
          <p:nvPr/>
        </p:nvSpPr>
        <p:spPr>
          <a:xfrm>
            <a:off x="777240" y="3585083"/>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447413"/>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closes below the shifted SMA, each after a close above it, give the Double Repo sell signal?</a:t>
            </a:r>
          </a:p>
        </p:txBody>
      </p:sp>
      <p:sp>
        <p:nvSpPr>
          <p:cNvPr id="9" name="TextBox 8"/>
          <p:cNvSpPr txBox="1"/>
          <p:nvPr/>
        </p:nvSpPr>
        <p:spPr>
          <a:xfrm>
            <a:off x="1097280" y="231762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Two</a:t>
            </a:r>
          </a:p>
          <a:p>
            <a:pPr algn="l">
              <a:lnSpc>
                <a:spcPct val="115000"/>
              </a:lnSpc>
              <a:spcBef>
                <a:spcPts val="500"/>
              </a:spcBef>
              <a:spcAft>
                <a:spcPts val="0"/>
              </a:spcAft>
            </a:pPr>
            <a:r>
              <a:rPr sz="1700" b="0" i="0">
                <a:solidFill>
                  <a:srgbClr val="1A1A1A"/>
                </a:solidFill>
                <a:latin typeface="Arial"/>
              </a:rPr>
              <a:t>The named bearish Double Repo has two closes below the forward-shifted SMA, each after a close above it (p. 229).</a:t>
            </a:r>
          </a:p>
        </p:txBody>
      </p:sp>
      <p:sp>
        <p:nvSpPr>
          <p:cNvPr id="10" name="Rectangle 9"/>
          <p:cNvSpPr/>
          <p:nvPr/>
        </p:nvSpPr>
        <p:spPr>
          <a:xfrm>
            <a:off x="777240" y="387400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73633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66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67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68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put the stoploss on a short taken after a false upside breakout?</a:t>
            </a:r>
          </a:p>
        </p:txBody>
      </p:sp>
      <p:sp>
        <p:nvSpPr>
          <p:cNvPr id="9" name="TextBox 8"/>
          <p:cNvSpPr txBox="1"/>
          <p:nvPr/>
        </p:nvSpPr>
        <p:spPr>
          <a:xfrm>
            <a:off x="1005840" y="231762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Just above the breakout high</a:t>
            </a:r>
          </a:p>
          <a:p>
            <a:pPr algn="l">
              <a:lnSpc>
                <a:spcPct val="105000"/>
              </a:lnSpc>
              <a:spcBef>
                <a:spcPts val="0"/>
              </a:spcBef>
              <a:spcAft>
                <a:spcPts val="200"/>
              </a:spcAft>
            </a:pPr>
            <a:r>
              <a:rPr sz="1700" b="0" i="0">
                <a:solidFill>
                  <a:srgbClr val="FFFFFF"/>
                </a:solidFill>
                <a:latin typeface="Arial"/>
              </a:rPr>
              <a:t>B.  Just below resistance</a:t>
            </a:r>
          </a:p>
          <a:p>
            <a:pPr algn="l">
              <a:lnSpc>
                <a:spcPct val="105000"/>
              </a:lnSpc>
              <a:spcBef>
                <a:spcPts val="0"/>
              </a:spcBef>
              <a:spcAft>
                <a:spcPts val="200"/>
              </a:spcAft>
            </a:pPr>
            <a:r>
              <a:rPr sz="1700" b="0" i="0">
                <a:solidFill>
                  <a:srgbClr val="FFFFFF"/>
                </a:solidFill>
                <a:latin typeface="Arial"/>
              </a:rPr>
              <a:t>C.  At the support line</a:t>
            </a:r>
          </a:p>
          <a:p>
            <a:pPr algn="l">
              <a:lnSpc>
                <a:spcPct val="105000"/>
              </a:lnSpc>
              <a:spcBef>
                <a:spcPts val="0"/>
              </a:spcBef>
              <a:spcAft>
                <a:spcPts val="200"/>
              </a:spcAft>
            </a:pPr>
            <a:r>
              <a:rPr sz="1700" b="0" i="0">
                <a:solidFill>
                  <a:srgbClr val="FFFFFF"/>
                </a:solidFill>
                <a:latin typeface="Arial"/>
              </a:rPr>
              <a:t>D.  At the day's open</a:t>
            </a:r>
          </a:p>
        </p:txBody>
      </p:sp>
      <p:sp>
        <p:nvSpPr>
          <p:cNvPr id="10" name="Rectangle 9"/>
          <p:cNvSpPr/>
          <p:nvPr/>
        </p:nvSpPr>
        <p:spPr>
          <a:xfrm>
            <a:off x="777240" y="3585083"/>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Hikkake, what triggers the short?</a:t>
            </a:r>
          </a:p>
        </p:txBody>
      </p:sp>
      <p:sp>
        <p:nvSpPr>
          <p:cNvPr id="13" name="TextBox 12"/>
          <p:cNvSpPr txBox="1"/>
          <p:nvPr/>
        </p:nvSpPr>
        <p:spPr>
          <a:xfrm>
            <a:off x="1005840" y="4447413"/>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above the inside high</a:t>
            </a:r>
          </a:p>
          <a:p>
            <a:pPr algn="l">
              <a:lnSpc>
                <a:spcPct val="105000"/>
              </a:lnSpc>
              <a:spcBef>
                <a:spcPts val="0"/>
              </a:spcBef>
              <a:spcAft>
                <a:spcPts val="200"/>
              </a:spcAft>
            </a:pPr>
            <a:r>
              <a:rPr sz="1700" b="0" i="0">
                <a:solidFill>
                  <a:srgbClr val="FFFFFF"/>
                </a:solidFill>
                <a:latin typeface="Arial"/>
              </a:rPr>
              <a:t>B.  The failed breakout bar itself</a:t>
            </a:r>
          </a:p>
          <a:p>
            <a:pPr algn="l">
              <a:lnSpc>
                <a:spcPct val="105000"/>
              </a:lnSpc>
              <a:spcBef>
                <a:spcPts val="0"/>
              </a:spcBef>
              <a:spcAft>
                <a:spcPts val="200"/>
              </a:spcAft>
            </a:pPr>
            <a:r>
              <a:rPr sz="1700" b="0" i="0">
                <a:solidFill>
                  <a:srgbClr val="FFFFFF"/>
                </a:solidFill>
                <a:latin typeface="Arial"/>
              </a:rPr>
              <a:t>C.  A gap up on the next bar</a:t>
            </a:r>
          </a:p>
          <a:p>
            <a:pPr algn="l">
              <a:lnSpc>
                <a:spcPct val="105000"/>
              </a:lnSpc>
              <a:spcBef>
                <a:spcPts val="0"/>
              </a:spcBef>
              <a:spcAft>
                <a:spcPts val="200"/>
              </a:spcAft>
            </a:pPr>
            <a:r>
              <a:rPr sz="1700" b="0" i="0">
                <a:solidFill>
                  <a:srgbClr val="FFFFFF"/>
                </a:solidFill>
                <a:latin typeface="Arial"/>
              </a:rPr>
              <a:t>D.  A close back below the inside bar's low</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put the stoploss on a short taken after a false upside breakout?</a:t>
            </a:r>
          </a:p>
        </p:txBody>
      </p:sp>
      <p:sp>
        <p:nvSpPr>
          <p:cNvPr id="9" name="TextBox 8"/>
          <p:cNvSpPr txBox="1"/>
          <p:nvPr/>
        </p:nvSpPr>
        <p:spPr>
          <a:xfrm>
            <a:off x="1097280" y="231762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Just above the breakout high</a:t>
            </a:r>
          </a:p>
          <a:p>
            <a:pPr algn="l">
              <a:lnSpc>
                <a:spcPct val="115000"/>
              </a:lnSpc>
              <a:spcBef>
                <a:spcPts val="500"/>
              </a:spcBef>
              <a:spcAft>
                <a:spcPts val="0"/>
              </a:spcAft>
            </a:pPr>
            <a:r>
              <a:rPr sz="1700" b="0" i="0">
                <a:solidFill>
                  <a:srgbClr val="1A1A1A"/>
                </a:solidFill>
                <a:latin typeface="Arial"/>
              </a:rPr>
              <a:t>The stoploss goes just above the high of the breakout (p. 228).</a:t>
            </a:r>
          </a:p>
        </p:txBody>
      </p:sp>
      <p:sp>
        <p:nvSpPr>
          <p:cNvPr id="10" name="Rectangle 9"/>
          <p:cNvSpPr/>
          <p:nvPr/>
        </p:nvSpPr>
        <p:spPr>
          <a:xfrm>
            <a:off x="777240" y="3625723"/>
            <a:ext cx="50292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 bearish Hikkake, what triggers the short?</a:t>
            </a:r>
          </a:p>
        </p:txBody>
      </p:sp>
      <p:sp>
        <p:nvSpPr>
          <p:cNvPr id="13" name="TextBox 12"/>
          <p:cNvSpPr txBox="1"/>
          <p:nvPr/>
        </p:nvSpPr>
        <p:spPr>
          <a:xfrm>
            <a:off x="1097280" y="4488053"/>
            <a:ext cx="4480560" cy="188467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close back below the inside bar's low</a:t>
            </a:r>
          </a:p>
          <a:p>
            <a:pPr algn="l">
              <a:lnSpc>
                <a:spcPct val="115000"/>
              </a:lnSpc>
              <a:spcBef>
                <a:spcPts val="500"/>
              </a:spcBef>
              <a:spcAft>
                <a:spcPts val="0"/>
              </a:spcAft>
            </a:pPr>
            <a:r>
              <a:rPr sz="1700" b="0" i="0">
                <a:solidFill>
                  <a:srgbClr val="1A1A1A"/>
                </a:solidFill>
                <a:latin typeface="Arial"/>
              </a:rPr>
              <a:t>The short is the opposite re-entry: a close back below the inside bar's low after the failed upside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an opening gap, an open above the previous high or below the previous low, which the bar may then trade back through.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but only if price falls back to the previous high, against the gap. The stoploss at the new high limits the loss if the gap keeps going.</a:t>
            </a:r>
          </a:p>
        </p:txBody>
      </p:sp>
      <p:sp>
        <p:nvSpPr>
          <p:cNvPr id="8" name="Rectangle 7"/>
          <p:cNvSpPr/>
          <p:nvPr/>
        </p:nvSpPr>
        <p:spPr>
          <a:xfrm>
            <a:off x="777240" y="5160263"/>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96839"/>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says when to look for an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it is best to look for a bullish Oops pattern in an uptrend and a bearish Oops pattern in a downtrend (p. 231).</a:t>
            </a:r>
          </a:p>
          <a:p>
            <a:pPr algn="l">
              <a:lnSpc>
                <a:spcPct val="118000"/>
              </a:lnSpc>
              <a:spcBef>
                <a:spcPts val="0"/>
              </a:spcBef>
              <a:spcAft>
                <a:spcPts val="1300"/>
              </a:spcAft>
            </a:pPr>
            <a:r>
              <a:rPr sz="2100" b="0" i="0">
                <a:solidFill>
                  <a:srgbClr val="1A1A1A"/>
                </a:solidFill>
                <a:latin typeface="Arial"/>
              </a:rPr>
              <a:t>So the bearish Oops we draw next comes after a run of falling bars, and the bullish Oops after a run of rising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run of falling bars, 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41509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437888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392301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16976" y="389557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6702" y="42649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383888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ON is ours, with invented PHP values to show Lim (2016), p. 231.</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37888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971531" y="392301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10056702" y="42649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10059314" y="383888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ON is ours, with invented PHP values to show Lim (2016), p. 231.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22</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After a run of rising bars, here are prices of ours, and bar 1's low is PHP 48.00.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 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411319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86745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435894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31959" y="38571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36283" y="386928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42748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358944"/>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59314" y="42748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22</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whole range, high and low, stays within the previous bar's range: the inside bar of Part 3, in the whole-range meaning this deck uses.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reading, not Lim's and not examinable: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21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We take the triggers from the inside bar itself, as Figure 7.39 does: February's high and low. Figure 7.38 used the bar before it; Lim does not say which.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2774822"/>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Lim's definition, what makes ID/NR7 a volatility breakout pattern?</a:t>
            </a:r>
          </a:p>
        </p:txBody>
      </p:sp>
      <p:sp>
        <p:nvSpPr>
          <p:cNvPr id="13" name="TextBox 12"/>
          <p:cNvSpPr txBox="1"/>
          <p:nvPr/>
        </p:nvSpPr>
        <p:spPr>
          <a:xfrm>
            <a:off x="4861407" y="2774822"/>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Lim's definition, what makes ID/NR7 a volatility breakout pattern?</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meaning no window,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Figure 7.28 shows a gap before the marked bar, but the rule is about the next bar: no window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reading, not Lim's and not examinable: the narrowest bar, like the inside bar the book's arrow names in Figure 7.38 </a:t>
            </a:r>
            <a:r>
              <a:rPr sz="1700" b="1" i="0">
                <a:solidFill>
                  <a:srgbClr val="E09B00"/>
                </a:solidFill>
                <a:latin typeface="Arial"/>
              </a:rPr>
              <a:t>(1)</a:t>
            </a:r>
            <a:r>
              <a:rPr sz="1700" b="0" i="0">
                <a:solidFill>
                  <a:srgbClr val="1A1A1A"/>
                </a:solidFill>
                <a:latin typeface="Arial"/>
              </a:rPr>
              <a:t>, is the quietest in a while,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a:t>
            </a:r>
          </a:p>
          <a:p>
            <a:pPr algn="l">
              <a:lnSpc>
                <a:spcPct val="105000"/>
              </a:lnSpc>
              <a:spcBef>
                <a:spcPts val="0"/>
              </a:spcBef>
              <a:spcAft>
                <a:spcPts val="1100"/>
              </a:spcAft>
            </a:pPr>
            <a:r>
              <a:rPr sz="1700" b="0" i="0">
                <a:solidFill>
                  <a:srgbClr val="1A1A1A"/>
                </a:solidFill>
                <a:latin typeface="Arial"/>
              </a:rPr>
              <a:t>In triple form 1 </a:t>
            </a:r>
            <a:r>
              <a:rPr sz="1700" b="1" i="0">
                <a:solidFill>
                  <a:srgbClr val="E09B00"/>
                </a:solidFill>
                <a:latin typeface="Arial"/>
              </a:rPr>
              <a:t>(1)</a:t>
            </a:r>
            <a:r>
              <a:rPr sz="1700" b="0" i="0">
                <a:solidFill>
                  <a:srgbClr val="1A1A1A"/>
                </a:solidFill>
                <a:latin typeface="Arial"/>
              </a:rPr>
              <a:t>, a large middle bar closes near its low. In triple form 2 </a:t>
            </a:r>
            <a:r>
              <a:rPr sz="1700" b="1" i="0">
                <a:solidFill>
                  <a:srgbClr val="C62828"/>
                </a:solidFill>
                <a:latin typeface="Arial"/>
              </a:rPr>
              <a:t>(2)</a:t>
            </a:r>
            <a:r>
              <a:rPr sz="1700" b="0" i="0">
                <a:solidFill>
                  <a:srgbClr val="1A1A1A"/>
                </a:solidFill>
                <a:latin typeface="Arial"/>
              </a:rPr>
              <a:t>, a narrow middle bar closes within the first bar's range (our reading of "its range") on low volume. In both, the first bar closes near its high and the third at or near its low.</a:t>
            </a:r>
          </a:p>
          <a:p>
            <a:pPr algn="l">
              <a:lnSpc>
                <a:spcPct val="105000"/>
              </a:lnSpc>
              <a:spcBef>
                <a:spcPts val="0"/>
              </a:spcBef>
              <a:spcAft>
                <a:spcPts val="1100"/>
              </a:spcAft>
            </a:pPr>
            <a:r>
              <a:rPr sz="1700" b="0" i="0">
                <a:solidFill>
                  <a:srgbClr val="1A1A1A"/>
                </a:solidFill>
                <a:latin typeface="Arial"/>
              </a:rPr>
              <a:t>Lim gives no entry or exit rule, only what makes a pattern more reliable: larger gaps, wider first and third bars, a last bar closing near its low on high volume (pp. 213 to 214). That answers "how to trade".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