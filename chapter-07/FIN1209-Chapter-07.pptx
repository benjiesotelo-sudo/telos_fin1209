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two sentiments before accepting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two sentiments before accepting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numbers in the body, then locate the same three features with the numbered marks.</a:t>
            </a:r>
          </a:p>
          <a:p>
            <a:r>
              <a:rPr sz="1400"/>
              <a:t>- The marks identify only the feature named beside the same number. Keep the book's potentially and generally qualifiers.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plain-language rule first, then ask students to explain the numbers.</a:t>
            </a:r>
          </a:p>
          <a:p>
            <a:r>
              <a:rPr sz="1400"/>
              <a:t>- Keep the book's potential reading separate from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containment before naming direction. Keep the book's generally and can qualifiers.</a:t>
            </a:r>
          </a:p>
          <a:p>
            <a:r>
              <a:rPr sz="1400"/>
              <a:t>- The next chart puts the invented values on the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two bars run from PHP 48.00 to PHP 52.00. The outside bar runs from PHP 47.00 to PHP 53.00 and closes at PHP 47.50.</a:t>
            </a:r>
          </a:p>
          <a:p>
            <a:r>
              <a:rPr sz="1400"/>
              <a:t>- Its 5.0 million volume is invented to show the book's high-volume reliability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first to the 11 contained bars, then to the outside high and low.</a:t>
            </a:r>
          </a:p>
          <a:p>
            <a:r>
              <a:rPr sz="1400"/>
              <a:t>- The book says a trendline violation with the bearish breakout should be a reliable short-entry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11 preceding bars contained in the outside range.</a:t>
            </a:r>
          </a:p>
          <a:p>
            <a:r>
              <a:rPr sz="1400"/>
              <a:t>- Red [2] marks the trendline violation at the outside-bar break. Blue [3] marks the bearish close near the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Answer from the preceding outside-bar definition and marked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inside bar separate from outside bar: the second bar is contained rather than engulfing.</a:t>
            </a:r>
          </a:p>
          <a:p>
            <a:r>
              <a:rPr sz="1400"/>
              <a:t>- The next chart shows the volume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first bar is O 50.00, H 53.00, L 48.00, C 52.40 on 4.5 million shares.</a:t>
            </a:r>
          </a:p>
          <a:p>
            <a:r>
              <a:rPr sz="1400"/>
              <a:t>- The second is O 51.80, H 52.50, L 49.20, C 50.10 on 0.5 million shares. It stays inside the first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dark bars are the inside-bar reversals at the same resistance.</a:t>
            </a:r>
          </a:p>
          <a:p>
            <a:r>
              <a:rPr sz="1400"/>
              <a:t>- The figure labels the oscillator as StochRSI and shows bearish divergence; this deck does not define its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two tests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three nested bars from left to right, then the later outside bar.</a:t>
            </a:r>
          </a:p>
          <a:p>
            <a:r>
              <a:rPr sz="1400"/>
              <a:t>- The book says the exhaustion reading is especially strong when the declines also have bearish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places three named reversal families on one chart.</a:t>
            </a:r>
          </a:p>
          <a:p>
            <a:r>
              <a:rPr sz="1400"/>
              <a:t>- This slide names the three price-bar families; the indicator panels are outside this slide's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State the proportion arithmetic. It is the distinction the book gives.</a:t>
            </a:r>
          </a:p>
          <a:p>
            <a:r>
              <a:rPr sz="1400"/>
              <a:t>- The check now returns to the containment and volume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stays visible while the check tests the stricter Harami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island answer is supplied by the earlier Figure 7.23 slide; keep the approved Figure 7.25 crop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all four book conditions visible before the figure.</a:t>
            </a:r>
          </a:p>
          <a:p>
            <a:r>
              <a:rPr sz="1400"/>
              <a:t>- The next slide works the numbers without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marked bar is the bullish converse of the uptrend case: it closes near its high in a downtrend.</a:t>
            </a:r>
          </a:p>
          <a:p>
            <a:r>
              <a:rPr sz="1400"/>
              <a:t>- There is a gap before the marked bar in this figure, but the book's rule concerns no gap between an exhaustion bar and the subsequent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gap and later rebound marks visible while the room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line to signal the shift from the gap test to the range-and-volume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ordinary bars have a PHP 3.0 range and 1.5 million shares. The spike has an 8.0 range and 6.0 million shares.</a:t>
            </a:r>
          </a:p>
          <a:p>
            <a:r>
              <a:rPr sz="1400"/>
              <a:t>- The numbers are invented to make Lim's wide-range and high-volume description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price panel shows the wide spike; the lower panel shows its high volume.</a:t>
            </a:r>
          </a:p>
          <a:p>
            <a:r>
              <a:rPr sz="1400"/>
              <a:t>- Lim also identifies a typical three-bar bearish reversal at the top of the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exact plural definition on the next slide.</a:t>
            </a:r>
          </a:p>
          <a:p>
            <a:r>
              <a:rPr sz="1400"/>
              <a:t>- The next figure places the barrier and retrace on the real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support, penetration, and close-back-above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exhaustion bar's open context, red [2] its close near the trend-side extreme, and blue [3] the no-gap relationship to the following bar.</a:t>
            </a:r>
          </a:p>
          <a:p>
            <a:r>
              <a:rPr sz="1400"/>
              <a:t>- The crop is read with the invented numbers on the left, not as a second definition of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support barrier, mark 2 the penetration, and mark 3 the rapid retrace.</a:t>
            </a:r>
          </a:p>
          <a:p>
            <a:r>
              <a:rPr sz="1400"/>
              <a:t>- The book says pin bars are usually breakouts formed on low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key difference is the false impression of breaking a barrier. The pin-bar volume tendency is a separate book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transition before showing the two-direction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upper barrier is resistance at PHP 60.00; the false high is PHP 62.00 and the short close is PHP 59.40.</a:t>
            </a:r>
          </a:p>
          <a:p>
            <a:r>
              <a:rPr sz="1400"/>
              <a:t>- The lower barrier is support at PHP 40.00; the false low is PHP 38.50 and the long close is PHP 40.60.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course drawing labels resistance PHP 60.00, high PHP 62.00, close PHP 59.40, and stop PHP 62.20.</a:t>
            </a:r>
          </a:p>
          <a:p>
            <a:r>
              <a:rPr sz="1400"/>
              <a:t>- The book's drawing follows on its own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calls this a non-failure swing and attributes the setup to a 2B entry.</a:t>
            </a:r>
          </a:p>
          <a:p>
            <a:r>
              <a:rPr sz="1400"/>
              <a:t>- The short begins after the close returns below resistance; the stop sits just above the breakout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separately: short below resistance after a false upside break, long above support after a false downside break.</a:t>
            </a:r>
          </a:p>
          <a:p>
            <a:r>
              <a:rPr sz="1400"/>
              <a:t>- The book does not give a complete trade plan beyond these entry and stop descriptions.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both barrier directions visible; the question asks for the returned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import a formula beyond the book's wording. The chart shows both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forward-shifted three-day SMA is PHP 50.00. Invented closes cross above at 50.80, below at 49.60, then repeat after nine bullish days.</a:t>
            </a:r>
          </a:p>
          <a:p>
            <a:r>
              <a:rPr sz="1400"/>
              <a:t>- The book says the full method belongs in DiNapoli's original text, so this chart teaches only the named Chapter 7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two crossings are the pattern's named structure; the later decline is the observed follow-through.</a:t>
            </a:r>
          </a:p>
          <a:p>
            <a:r>
              <a:rPr sz="1400"/>
              <a:t>- Lim directs readers to DiNapoli's original text for a complete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forward-shifted three-day SMA. Red [2] marks the long bullish run before the pattern.</a:t>
            </a:r>
          </a:p>
          <a:p>
            <a:r>
              <a:rPr sz="1400"/>
              <a:t>- Blue [3] marks the topping formation, which the book limits to eight to ten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SMA, bullish-day run, and topping formation marks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Define the term before showing both directions.</a:t>
            </a:r>
          </a:p>
          <a:p>
            <a:r>
              <a:rPr sz="1400"/>
              <a:t>- The next chart puts the levels on an invented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In the bearish case, the inside high is PHP 52.00, the false high is PHP 53.00, and the short re-entry is below PHP 49.00.</a:t>
            </a:r>
          </a:p>
          <a:p>
            <a:r>
              <a:rPr sz="1400"/>
              <a:t>- The bullish converse uses an inside low of PHP 40.00, a false low of PHP 39.20, and an upside re-entry at PHP 41.00.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Left: inside high 43.00, inside low 40.00, false low 39.00, long re-entry at 43.00.</a:t>
            </a:r>
          </a:p>
          <a:p>
            <a:r>
              <a:rPr sz="1400"/>
              <a:t>- Right: inside high 52.00, inside low 49.00, false high 53.00, short re-entry at 49.00.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downside breakout, and blue [3] the bullish re-entry above the inside high.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[1] marks the inside bar, red [2] the failed upside breakout, and blue [3] the bearish re-entry below the inside low.</a:t>
            </a:r>
          </a:p>
          <a:p>
            <a:r>
              <a:rPr sz="1400"/>
              <a:t>- Only the opposite re-entry is taken, and it must occur within three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includes indicator panels, but this slide does not interpret their formulas.</a:t>
            </a:r>
          </a:p>
          <a:p>
            <a:r>
              <a:rPr sz="1400"/>
              <a:t>- Read the formation, failed downside breakout, and upside re-entry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the marked formation, failed downside breakout, and upside re-entry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directions separately, then reveal the timing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the direction of the wider move: bullish in an uptrend and bearish in a downtrend.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Pattern polarity means the pattern's own bullish or bearish direction. The book's head and shoulders example is bearish; its inverted head and shoulders example is bullish. (Lim, p. 211.)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both sentiments before classifying the pattern: agreement suggests continuation, while disagreement suggests a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examples supply the polarity used in the next check.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Agreement: +4.0% uptrend with +2.0% bullish formation, or -4.0% downtrend with -2.0% bearish formation, suggests continuation.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Disagreement: +4.0% with -2.0%, or -4.0% with +2.0%, suggests a potential reversal. These invented values never make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28616"/>
            <a:ext cx="82296" cy="7559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65192"/>
            <a:ext cx="3867912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Compare the wider trend with the pattern's own polarity.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799" y="1810512"/>
            <a:ext cx="6842455" cy="1845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16081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57799" y="3747799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7572" y="987552"/>
            <a:ext cx="7016550" cy="18882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44" y="1106424"/>
            <a:ext cx="6778806" cy="16504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2967227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41548"/>
            <a:ext cx="4998567" cy="274777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44271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17035"/>
            <a:ext cx="4449927" cy="389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pattern in an uptrend is 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77511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Neutral bar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Volume pattern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887" y="3241548"/>
            <a:ext cx="4998567" cy="274777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0207" y="344271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0207" y="3717035"/>
            <a:ext cx="4449927" cy="6873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4477511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Bearish pattern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39" y="987552"/>
            <a:ext cx="10637215" cy="2769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1" y="1106424"/>
            <a:ext cx="10399471" cy="25320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48781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195572"/>
            <a:ext cx="5090007" cy="17937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195572"/>
            <a:ext cx="91440" cy="179374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378452"/>
            <a:ext cx="4541367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bearish pattern in an uptrend is 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776723"/>
            <a:ext cx="4541367" cy="1194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sentiments disagree: bearish intrinsic sentiment meets bullish trend sentiment.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4447" y="4195572"/>
            <a:ext cx="5090007" cy="17937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4447" y="4195572"/>
            <a:ext cx="91440" cy="179374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4487" y="4378452"/>
            <a:ext cx="4541367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An inverted head and shoulders in an uptrend is 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487" y="5010403"/>
            <a:ext cx="4541367" cy="960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Both the pattern's intrinsic sentiment and the uptrend are bullish, so they agree.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Answer: continuation or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bearish pattern in an uptrend is a reversal because bearish intrinsic sentiment disagrees with bullish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inverted head and shoulders in an uptrend is a continuation because both sentiments are bullish.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four cases are a classification rule. They do not forecast with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Next, the book assumes an uptrend while it draws bearish reversals.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bearish reversal bar can warn that buying is weakening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looking at a bearish single-bar reversal: the close turns down, the range is wide, and volume can add confidence to the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same pattern with simple prices. The prior close is PHP 51.10 and the final close is PHP 50.80, below it.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that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537639" y="3021838"/>
            <a:ext cx="396282" cy="21242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735781" y="2596995"/>
            <a:ext cx="0" cy="151729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603687" y="4296369"/>
            <a:ext cx="396282" cy="18207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19862" y="32912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372898" y="32305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504992" y="444438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Narrow or low volume is uncertainty; wide, near-low, high volume is potentially more reliable.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compare the first three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comparing the book's first three generic bearish forms, where the final bar turns against the preceding move.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our course chart,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bar opening above the previous high;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its large range and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02757" y="3112876"/>
            <a:ext cx="132094" cy="1213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234260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947294" y="325797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286639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QL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Lim's first three forms become stronger when the close falls below the previous low; a narrow or low-volume bar shows uncertainty.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1: the key reversal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opening above the previous high.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calls this generally bearish and potentially more reliable when context supports it. The book drawing has no volume panel; the course chart supplies the invented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Next we compare the second bearish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5446" y="1810512"/>
            <a:ext cx="55613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14318" y="1929384"/>
            <a:ext cx="53235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14318" y="1929384"/>
            <a:ext cx="53235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8638" y="2203703"/>
            <a:ext cx="47749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8826" y="2133039"/>
            <a:ext cx="346032" cy="93751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456591" y="2909035"/>
            <a:ext cx="21826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456591" y="2298070"/>
            <a:ext cx="0" cy="772485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6050935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55943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955943" y="219529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three bearish forms use the same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These forms still ask whether the final bar turns bearish against the preceding move.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 chart repeats the generic bearish form: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final close;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wide range and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02757" y="3112876"/>
            <a:ext cx="132094" cy="1213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234260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947294" y="325797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286639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QW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A close below the previous low strengthens the bearish reading, while a narrow or low-volume bar shows uncertainty.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2: a close near the prior 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large bar closing near the previous low.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opening relationship,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drawing shows shape and close direction only. Use the course chart for invented prices and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Next we read the gap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70026" y="1810512"/>
            <a:ext cx="161216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88898" y="1929384"/>
            <a:ext cx="137441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88898" y="1929384"/>
            <a:ext cx="137441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63218" y="2203703"/>
            <a:ext cx="82577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bearish form 2: a large bar closes near or below the previous low.</a:t>
            </a:r>
          </a:p>
        </p:txBody>
      </p:sp>
      <p:sp>
        <p:nvSpPr>
          <p:cNvPr id="12" name="Oval 11"/>
          <p:cNvSpPr/>
          <p:nvPr/>
        </p:nvSpPr>
        <p:spPr>
          <a:xfrm>
            <a:off x="8121130" y="3263676"/>
            <a:ext cx="357348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1130" y="2561417"/>
            <a:ext cx="0" cy="84271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121130" y="3263676"/>
            <a:ext cx="0" cy="1404518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718287" y="40913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460473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460473" y="479365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bearish form adds a reliability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After identifying the bearish form, we ask whether its context makes the reading more reliable.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 course chart marks the close, opening relationship, and large range with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02757" y="3112876"/>
            <a:ext cx="132094" cy="1213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234260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947294" y="325797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286639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QX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Treat the pattern as potentially more reliable, then check its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3: a gap before the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bearish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close below the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is a potential bearish clue, not a promise.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we turn the same test upward for bullish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7839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9727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9727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59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bearish form 3: the bar closes below a gap between its open and the prior low.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3419" y="3263676"/>
            <a:ext cx="6853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113800" y="2561417"/>
            <a:ext cx="373841" cy="147474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176107" y="3965935"/>
            <a:ext cx="0" cy="91293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53357" y="275709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19114" y="233574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50268" y="465319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Generic single and double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final bearish bar is potentially more reliable?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Overextended, near its low,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Narrow,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Near its high,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Any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narrow or low-volume bar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Uncertainty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guaranteed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Trend agreement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3809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35722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311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5988" y="1683104"/>
            <a:ext cx="2058076" cy="164323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804227" y="3040559"/>
            <a:ext cx="129983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804227" y="1968884"/>
            <a:ext cx="0" cy="1357455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240621" y="145621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73576" y="281366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73576" y="181343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108441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Generic single and double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final bearish bar is potentially more reliable?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Overextended, near its low, high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reliability qualifiers are an overextended final bar, a close near its low, and high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466344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a narrow or low-volume bar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11480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Uncertainty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reading says a narrow or low-volume bar shows uncertainty.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3809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35722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311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5988" y="1683104"/>
            <a:ext cx="2058076" cy="164323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804227" y="3040559"/>
            <a:ext cx="129983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804227" y="1968884"/>
            <a:ext cx="0" cy="1357455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240621" y="145621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73576" y="281366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73576" y="181343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108441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 starts with the same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now looking for the bullish converse: does the final bar close above the previous close or high while the broader trend is down?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close above the previous close;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36710" y="2809417"/>
            <a:ext cx="264188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810834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853815" y="23808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344296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QM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A close above the previous high strengthens the bullish reading; a narrow or low-volume bar shows uncertainty.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1: the bullish key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opening below the previous low.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reading is potential and context-dependent; its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we compare the second bullish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5446" y="1810512"/>
            <a:ext cx="55613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14318" y="1929384"/>
            <a:ext cx="53235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14318" y="1929384"/>
            <a:ext cx="53235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8638" y="2203703"/>
            <a:ext cx="47749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6344796" y="4829714"/>
            <a:ext cx="250208" cy="36517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472562" y="4461028"/>
            <a:ext cx="133090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472562" y="4583923"/>
            <a:ext cx="0" cy="751418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6050935" y="430206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55943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955943" y="514478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remaining bullish forms turn the close upward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These forms keep the same bullish test: the final close must finish above the prior close or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close above the prior close or high;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opening relationship;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36710" y="2809417"/>
            <a:ext cx="264188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810834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853815" y="23808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344296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QY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Bullish intrinsic sentiment in a downtrend is a potential reversal, not a guarantee.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2: a close near the prior high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large bar closing near the previous high.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opening relationship,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crop shows the formation, not volume. The course chart carries the invented numerical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we read the bullish gap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70026" y="1810512"/>
            <a:ext cx="161216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88898" y="1929384"/>
            <a:ext cx="137441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88898" y="1929384"/>
            <a:ext cx="137441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63218" y="2203703"/>
            <a:ext cx="82577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bullish form 2: a large bar closes near or above the previous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8121130" y="3544580"/>
            <a:ext cx="357348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1130" y="3825483"/>
            <a:ext cx="0" cy="983163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121130" y="2631643"/>
            <a:ext cx="0" cy="133429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718287" y="310822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460473" y="381048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460473" y="479365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seventh bullish form asks whether the close is convincing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last bullish form still depends on the final close finishing above the prior high: the invented prior high is PHP 46.00 and the final close is PHP 47.20.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final bar runs from PHP 44.20 to PHP 47.20, so its range is PHP 3.00; its volume is 4.5 million shares.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36710" y="2809417"/>
            <a:ext cx="264188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810834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853815" y="23808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344296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QZ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Lim's qualifiers apply in the converse direction: potential, not certainty. (Lim, p. 212.)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3: a gap before the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bullish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close above the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shape suggests a potential bullish reversal when the broader trend is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triple-bar families add a middle bar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78398" y="1810512"/>
            <a:ext cx="1795417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97270" y="1929384"/>
            <a:ext cx="1557673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97270" y="1929384"/>
            <a:ext cx="1557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71590" y="2203703"/>
            <a:ext cx="1009033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A readable crop of bullish form 3: the bar closes above a gap between its open and the prior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3419" y="3895709"/>
            <a:ext cx="6853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113800" y="3123224"/>
            <a:ext cx="373841" cy="147474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176107" y="2561417"/>
            <a:ext cx="0" cy="119384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53357" y="416161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19114" y="28975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50268" y="23357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 a triple bearish form, the gaps add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looking at a triple bearish form, where gaps between the bars add to the pressure of the reversal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an invented three-bar example with successive gaps of PHP 0.30, PHP 0.60, and PHP 1.10.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61802" y="2596995"/>
            <a:ext cx="396282" cy="2427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46933" y="2961146"/>
            <a:ext cx="396282" cy="45518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132063" y="3810834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145883" y="225947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995202" y="359469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341261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A larger gap adds a stronger bearish clue in the triple pattern; the gap term keeps Chapter 3's meaning.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bearish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book's first triple group uses the outer-bar closes and the gaps to frame the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outer close,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outer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61802" y="3082530"/>
            <a:ext cx="396282" cy="3034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46933" y="3507374"/>
            <a:ext cx="396282" cy="3034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132063" y="4023255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277977" y="27450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995202" y="37767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3655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QN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Pattern 1 can be more bearish when the middle bar has larger volume; larger first and third ranges help reliability.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7.6, form 1: three bearish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outer close,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outer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outer closes and the middle bar frame a potential bearish reversal;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next triple drawing adds an island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04628" y="1810512"/>
            <a:ext cx="214295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500" y="1929384"/>
            <a:ext cx="190521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500" y="1929384"/>
            <a:ext cx="19052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7820" y="2203703"/>
            <a:ext cx="135657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2" name="Oval 11"/>
          <p:cNvSpPr/>
          <p:nvPr/>
        </p:nvSpPr>
        <p:spPr>
          <a:xfrm>
            <a:off x="7985586" y="2456078"/>
            <a:ext cx="609668" cy="94804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57055" y="2912546"/>
            <a:ext cx="247677" cy="94804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023690" y="3755257"/>
            <a:ext cx="685877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525303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668432" y="30380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668432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triple pattern also compares ranges and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triple bearish reading also asks how wide the three ranges are and whether the middle and final bars carry meaningful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example: the first range is PHP 3.0, the middle range PHP 0.8, and the final range PHP 3.4.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61802" y="2961146"/>
            <a:ext cx="528376" cy="42484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46933" y="3021838"/>
            <a:ext cx="528376" cy="3034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396252" y="2961146"/>
            <a:ext cx="0" cy="163868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145883" y="268431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995202" y="35340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033369" y="335192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QD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Middle volume is 0.7 million; final volume is 4.2 million.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bearish drawings add an island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 above the first bar;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island bar;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final bearish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crop shows the gap structure and the final close near the low. It has no volume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546933" y="2961146"/>
            <a:ext cx="396282" cy="3034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46933" y="2536303"/>
            <a:ext cx="396282" cy="3641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132063" y="4023255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995202" y="262362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995202" y="225947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3655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QO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triple pattern is a potential reversal clue, not a trade guarantee. (Lim, p. 214.)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7.7, form 4: the island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gap up,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island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gap down into the bearish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figure shows the gap structure and close direction. Volume belongs to the invented course chart, not this crop.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compare the bullish triple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09765" y="1810512"/>
            <a:ext cx="213268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8637" y="1929384"/>
            <a:ext cx="189493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8637" y="1929384"/>
            <a:ext cx="189493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2957" y="2203703"/>
            <a:ext cx="134629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fourth triple bearish formation: a gap up followed by a gap down, the single-island reversal bar.</a:t>
            </a:r>
          </a:p>
        </p:txBody>
      </p:sp>
      <p:sp>
        <p:nvSpPr>
          <p:cNvPr id="12" name="Oval 11"/>
          <p:cNvSpPr/>
          <p:nvPr/>
        </p:nvSpPr>
        <p:spPr>
          <a:xfrm>
            <a:off x="7891866" y="2280513"/>
            <a:ext cx="568481" cy="7022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024512" y="2772095"/>
            <a:ext cx="43583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024512" y="3088111"/>
            <a:ext cx="56848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7490076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664939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683888" y="317845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7.7 -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7.7 - Lim, The Handbook of Technical Analysis (Wiley, 2016)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Triple and multiple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Why do larger gaps matter in the triple bearish 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They remove the 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They guarantee a top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They define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They add a stronger bearish clue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final bearish bar is potentially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Narrow, near high,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Overextended, near low,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Any middle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Low range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52378" y="1207008"/>
            <a:ext cx="247041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71250" y="1325880"/>
            <a:ext cx="223267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71250" y="1325880"/>
            <a:ext cx="223267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5570" y="1600200"/>
            <a:ext cx="168403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8" name="Oval 17"/>
          <p:cNvSpPr/>
          <p:nvPr/>
        </p:nvSpPr>
        <p:spPr>
          <a:xfrm>
            <a:off x="8364320" y="1943100"/>
            <a:ext cx="714455" cy="111099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5260" y="2478024"/>
            <a:ext cx="290247" cy="11109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408973" y="3465576"/>
            <a:ext cx="80376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851644" y="15819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1248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1248" y="37216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Triple and multiple reversals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Why do larger gaps matter in the triple bearish 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They add a stronger bearish clue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larger gaps make the triple pattern more bearish.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final bearish bar is potentially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Overextended, near low, high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final-bar qualifiers are overextension, a near-low close, and high volume.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5917" y="1207008"/>
            <a:ext cx="26233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94789" y="1325880"/>
            <a:ext cx="23855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94789" y="1325880"/>
            <a:ext cx="23855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69109" y="1600200"/>
            <a:ext cx="18369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triple bearish formation: a large middle bar closes near its low between two outer bars.</a:t>
            </a:r>
          </a:p>
        </p:txBody>
      </p:sp>
      <p:sp>
        <p:nvSpPr>
          <p:cNvPr id="18" name="Oval 17"/>
          <p:cNvSpPr/>
          <p:nvPr/>
        </p:nvSpPr>
        <p:spPr>
          <a:xfrm>
            <a:off x="8349027" y="1943100"/>
            <a:ext cx="763390" cy="111099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3731" y="2478024"/>
            <a:ext cx="310127" cy="11109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396739" y="3465576"/>
            <a:ext cx="858815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811884" y="15819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43242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3242" y="37216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7.6 -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triple pattern reverses the outer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now reading the bullish triple form. Its outer bars reverse the close direction: the first is near its low and the final bar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 the first, middle, and final bars in the crop.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565519" y="3598412"/>
            <a:ext cx="396282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4839" y="3598412"/>
            <a:ext cx="396282" cy="18207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64158" y="2657687"/>
            <a:ext cx="396282" cy="18207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13789" y="35340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995202" y="371607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244154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QE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same potential range and volume tests apply in the bullish direction.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first three triple bullish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first three bullish drawings reverse the outer-bar close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bar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61802" y="3598412"/>
            <a:ext cx="396282" cy="3034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546933" y="3568066"/>
            <a:ext cx="39628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10132063" y="2718379"/>
            <a:ext cx="396282" cy="3034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77977" y="389815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316144" y="31698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244154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QP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Read the next group for the remaining three forms. (Lim, p. 214.)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7.8, form 1: three bullish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bar closing near its low,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middle bar closing near its high,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final bar closing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Those close directions give the formation its potential bullish reading.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next bullish drawing keeps the same close-direction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64996" y="1810512"/>
            <a:ext cx="20222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83868" y="1929384"/>
            <a:ext cx="17844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83868" y="1929384"/>
            <a:ext cx="17844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8188" y="2203703"/>
            <a:ext cx="12358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A readable crop of the first triple bullish formation: the first bar closes near its low, the middle bar closes near its high, and the third bar closes near its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7961970" y="4387291"/>
            <a:ext cx="249826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3176" y="4387291"/>
            <a:ext cx="214137" cy="9831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68692" y="4317065"/>
            <a:ext cx="249826" cy="94804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10229" y="40562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556002" y="405627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698760" y="37402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7.8 - Lim, The Handbook of Technical Analysis (Wiley, 2016)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final bullish group uses the same volume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39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final bullish group asks whether the middle bar stays quiet while the final bar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example: middle volume is 0.7 million and the final bar closes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414839" y="3598412"/>
            <a:ext cx="396282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264158" y="2748725"/>
            <a:ext cx="39628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0264158" y="4387407"/>
            <a:ext cx="39628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995202" y="37160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901275" y="244154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444438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QJ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A high-volume final bar near its high can make the bullish reversal potentially more reliable.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next triple bullish drawings complete the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middle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high,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volume column.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outer bars carry the bullish direction while the middle bar is commonly quieter.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546933" y="3385990"/>
            <a:ext cx="396282" cy="3034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132063" y="2688033"/>
            <a:ext cx="396283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10132063" y="4357061"/>
            <a:ext cx="396282" cy="24276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95202" y="304846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901275" y="225947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456576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QQ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Keep the final-bar rule potential, not certain. (Lim, p. 215.)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7.9, form 4: the bullish island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gap down,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middle bar,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final bar closing near its high after the gap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figure shows the bars and gaps only. Use the course chart for invented volume values.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Multiple-bar forms now add a longer intermediate sequence.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6338" y="1810512"/>
            <a:ext cx="509953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45210" y="1929384"/>
            <a:ext cx="486179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45210" y="1929384"/>
            <a:ext cx="48617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9530" y="2203703"/>
            <a:ext cx="431315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fourth triple bullish formation: the second bar gaps down and the third bar gaps up and closes near its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7252366" y="4317065"/>
            <a:ext cx="194471" cy="49158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398220" y="4457517"/>
            <a:ext cx="194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7641310" y="4317065"/>
            <a:ext cx="194471" cy="56180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51064" y="416161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631715" y="41265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777569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7.9 -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7.9 - Lim, The Handbook of Technical Analysis (Wiley, 2016)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Multiple bearish forms can contain a volume exception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looking at multiple bearish forms, where the intermediate bars are usually quiet but one pattern allows a wide, high-volume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sequence: intermediate volumes are 0.6, 0.8, 3.8, and 0.7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622273" y="2900455"/>
            <a:ext cx="528376" cy="3641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82744" y="2839763"/>
            <a:ext cx="1585130" cy="84968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264158" y="3780488"/>
            <a:ext cx="39628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070543" y="25022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919862" y="250223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01275" y="359469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QF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Intermediate volume is normally low, but pattern 2 can be bearish with high volume.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multiple forms reverse that 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multiple forms use the same idea in the other direction: intermediate bars are usually quiet, with a possible wide, high-volume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sequence: the two quiet middle volumes are 0.6 and 0.8 million shares; the wide exception is 3.8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7886462" y="3598412"/>
            <a:ext cx="462329" cy="3944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43215" y="4235677"/>
            <a:ext cx="792565" cy="60691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396252" y="2718379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02637" y="323054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976615" y="38981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165463" y="225947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QG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bullish converse normally has one narrow intermediate bar and a final close near its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continuation bar can confirm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Continuation keeps the pattern aligned with an uptrend when a later bar breaks the previous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Invented example: prior high PHP 52.00; second high PHP 53.20, with volume 4.0 million versus 2.0 million.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565519" y="2991492"/>
            <a:ext cx="4094921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999969" y="2536303"/>
            <a:ext cx="330236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9867875" y="4296369"/>
            <a:ext cx="660471" cy="45518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5883" y="268431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174757" y="268431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44438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QH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49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second bar breaches the previous high on high volume, so intrinsic and trend sentiment agree.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first continuation example breaks the prior high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checking the same continuation rule in the book figure: the second bar takes out the previous high and closes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prior high,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breach,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second bar closing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565519" y="2991492"/>
            <a:ext cx="4094921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999969" y="2627341"/>
            <a:ext cx="52837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10132063" y="2384573"/>
            <a:ext cx="528376" cy="3034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5883" y="268431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1033369" y="219877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27146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QT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Lim presents this as a bullish continuation example, where the pattern and trend agree.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7.12, continuation form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prior high,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second bar,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its close near the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presents this as bullish continuation when the pattern agrees with the trend. The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second continuation form adds a midpoint retrace.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83253" y="1810512"/>
            <a:ext cx="478570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2125" y="1929384"/>
            <a:ext cx="454796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02125" y="1929384"/>
            <a:ext cx="454796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6445" y="2203703"/>
            <a:ext cx="399932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48377" y="2793162"/>
            <a:ext cx="69583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734954" y="2133039"/>
            <a:ext cx="350193" cy="5582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94023" y="2133039"/>
            <a:ext cx="391124" cy="55829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92709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111618" y="21952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111618" y="300288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50 percent retrace can still continue the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second bullish continuation pattern starts with a retracement to the 50 percent level, then asks whether price rebounds through the old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the invented example. The previous bar runs from PHP 48.00 to PHP 52.00, so its 50 percent level is PHP 50.00.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150650" y="3628758"/>
            <a:ext cx="396282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0205" y="2779071"/>
            <a:ext cx="396282" cy="24276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528346" y="2627341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598919" y="37160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580333" y="298777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165463" y="238085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QI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next price retraces to PHP 50.00, rebounds to PHP 52.40 on 4.0 million shares, and breaches PHP 52.00.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bullish continuation pattern 1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lower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second bar closing near its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close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makes pattern 2 bullish continuation?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It stops at the midpoint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It makes no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It uses only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50% retrace, then breach old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3892" y="1207008"/>
            <a:ext cx="556738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22764" y="1325880"/>
            <a:ext cx="532964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22764" y="1325880"/>
            <a:ext cx="532964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7084" y="1600200"/>
            <a:ext cx="478100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54622" y="2724912"/>
            <a:ext cx="191867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9120552" y="1655064"/>
            <a:ext cx="959336" cy="9052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13959" y="1655064"/>
            <a:ext cx="1065929" cy="9052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33245" y="23225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44219" y="16642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44219" y="28163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bullish continuation pattern 1 show?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second bar closing near its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7.12 crop shows a second bar closing near its high after the prior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466344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makes pattern 2 bullish continuation?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11480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50% retrace, then breach old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Pattern 2 needs a 50 percent retrace, then a rebound above the old high.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3892" y="1207008"/>
            <a:ext cx="556738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22764" y="1325880"/>
            <a:ext cx="532964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22764" y="1325880"/>
            <a:ext cx="532964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7084" y="1600200"/>
            <a:ext cx="478100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first simple bullish continuation formation: a second bar closing near its high.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54622" y="2724912"/>
            <a:ext cx="191867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9120552" y="1655064"/>
            <a:ext cx="959336" cy="9052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13959" y="1655064"/>
            <a:ext cx="1065929" cy="9052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33245" y="23225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44219" y="16642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44219" y="28163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5650992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book's second continuation example retraces halfway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continuation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midpoint retrace,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rebound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labels the midpoint as 50% of the first bar. The crop has no volume panel.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97614" y="3203914"/>
            <a:ext cx="660471" cy="48553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4839" y="3234260"/>
            <a:ext cx="528376" cy="24276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396252" y="2688033"/>
            <a:ext cx="528377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145883" y="383746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316144" y="286639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297558" y="225947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QU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bearish reverse applies the same structure downward. (Lim, p. 216.)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7.12, continuation form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50% midpoint retrace,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rebound through the old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crop shows the midpoint level but no volume panel; the course chart supplies invented volume separately.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16 reversal characteristics explain when a move may be losing energy.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83253" y="1810512"/>
            <a:ext cx="478570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2125" y="1929384"/>
            <a:ext cx="454796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02125" y="1929384"/>
            <a:ext cx="454796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6445" y="2203703"/>
            <a:ext cx="399932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second simple bullish continuation formation: a second bar retracing to the first bar's midpoint before rebounding.</a:t>
            </a:r>
          </a:p>
        </p:txBody>
      </p:sp>
      <p:sp>
        <p:nvSpPr>
          <p:cNvPr id="12" name="Oval 11"/>
          <p:cNvSpPr/>
          <p:nvPr/>
        </p:nvSpPr>
        <p:spPr>
          <a:xfrm>
            <a:off x="8630903" y="2736982"/>
            <a:ext cx="363837" cy="10182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539944" y="2877433"/>
            <a:ext cx="77315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994741" y="2140061"/>
            <a:ext cx="272877" cy="84271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48057" y="244108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76008" y="28975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94089" y="19143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7.12 - Lim, The Handbook of Technical Analysis (Wiley, 2016)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characteristics show a move losing energy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are starting the 16 reversal characteristics with the way a price move can lose energy before a reversal or retracement.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 and 2 are cycle amplitude and cycle period: amplitude decreases from 40 to 30 points, while period decreases from 20 to 12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3 and 4 are bar retracement symmetry and average range: symmetry changes from 28, 30, and 26 bars to 14 bars, while range falls from 3.0 to 2.0.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are invented values showing the direction. The characteristics indicate potential, never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more characteristics describe weaker follow-through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59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Characteristics 5 to 8 ask whether price persists and bar measures weaken.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Characteristic 5 is price persistence, whose quality falls; characteristic 6 is bar stochastic, which falls from 0.80 to 0.40.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12564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549140"/>
            <a:ext cx="386791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terms stay connected to their earlier FIN1209 definitions.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6411" y="1810512"/>
            <a:ext cx="52852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q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5283" y="1929384"/>
            <a:ext cx="5047488" cy="3511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57799" y="5650991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QV - FIN1209 teaching chart, drawn for this course. Illustrative data, not a real instrument.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Characteristic 7 is BRR, taught in Chapter 5, and falls from 0.60 to 0.25; characteristic 8 is angular symmetry and momentum, changing from 20 to 35 degrees.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16 characteristics, first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earlier chapter taught BRR, the real body to range ratio?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Chapter 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Chapter 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Chapter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Not named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characteristic names angular symmetry and momentum?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7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06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q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8312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36744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QV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7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16 characteristics, first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earlier chapter taught BRR, the real body to range ratio?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Chapter 5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5 taught the real body to range ratio, recalled here as characteristic 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45720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characteristic names angular symmetry and momentum?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8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Characteristic 8 is changes in angular symmetry and momentum.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072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qv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8350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371283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QV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Location and consolidation add four more warnings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9 to 12 move from bar behaviour to context: barrier proximity, fewer oscillations, larger consolidation, and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 9 is PHP 1.00 below resistance; characteristic 10 is fewer or shallower oscillations, from 6 to 2.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 11 is consolidation becoming larger and longer, from 3 to 12 bars; characteristic 12 is an exhaustion gap at PHP 0.80.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gap and barrier terms keep the meanings taught in Chapters 3 and 5.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location of the pattern matters as much as its shape.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last four characteristics combine range, volume, and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13 to 16 ask whether the move is nearly complete, overextended, unusually active, or diverging.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13 and 14 are range completion at 9 of 10 points and overextension at PHP 1.00 above resistance.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Characteristics 15 and 16 are extreme volume at 5.0 million versus 1.2 million and standard divergence. Chapter 7 gives no oscillator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list ends with range completion, overextension, volume, and divergence.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reversal warnings appear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using this warning chart to see several reversal characteristics on one price path: changing momentum, fewer oscillations, and overextension.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Here is our invented path: price rises from PHP 40.00 to PHP 80.00 in 12 bars, with only two pullbacks.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6961802" y="2779071"/>
            <a:ext cx="2245602" cy="1335222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1" name="Oval 10"/>
          <p:cNvSpPr/>
          <p:nvPr/>
        </p:nvSpPr>
        <p:spPr>
          <a:xfrm>
            <a:off x="9471592" y="2596995"/>
            <a:ext cx="528376" cy="3034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22770" y="2445265"/>
            <a:ext cx="396282" cy="24276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10071" y="401953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372898" y="289673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72898" y="20773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QK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book names the Bollinger upper band but never gives its formula here. These are potential warnings,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7.13: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8, the rapid rise and changing momentum; red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10, the fewer oscillations; blue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14, the actual overextended price bar against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source label is not the target: the blue box sits on the price bar itself. The book names the upper band but gives no formula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59" y="1810512"/>
            <a:ext cx="6476694" cy="33572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56631" y="1929384"/>
            <a:ext cx="6238951" cy="3119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56631" y="1929384"/>
            <a:ext cx="6238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0951" y="2203703"/>
            <a:ext cx="5690311" cy="2662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6928317" y="3333147"/>
            <a:ext cx="623895" cy="53031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50444" y="3925848"/>
            <a:ext cx="748674" cy="499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33849" y="2178942"/>
            <a:ext cx="499116" cy="106062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5964" y="298676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545439" y="36730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47207" y="323632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25917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book figure shows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characteristic 8, the exponential rise and changing momentum;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characteristic 10, the few trend oscillations.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characteristic 14, price overextension against the Bollinger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has no separate volume panel, so this reading does not mark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 the chart as potential evidence, then apply the barrier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9654" y="2133222"/>
            <a:ext cx="407676" cy="86631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027267" y="297343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Barrier proximity is the reliability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defines barrier proximity as one of the most important reversal characteristics: patterns are more reliable at significant barriers.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In Chart RF,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changing rise,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visible oscillating segment,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overextended bar against the upper band.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6961802" y="2779071"/>
            <a:ext cx="2245602" cy="1335222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1" name="Oval 10"/>
          <p:cNvSpPr/>
          <p:nvPr/>
        </p:nvSpPr>
        <p:spPr>
          <a:xfrm>
            <a:off x="9471592" y="2596995"/>
            <a:ext cx="528376" cy="3034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22770" y="2445265"/>
            <a:ext cx="396282" cy="24276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10071" y="401953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372898" y="289673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72898" y="20773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RF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Check the pattern's barrier context. A barrier raises potential reliability, not certainty.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7.13: reversal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69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8, the rapid rise and changing momentum; red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10, the fewer oscillations; blue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marks characteristic 14, the actual overextended price bar against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source label is not the target: the blue box sits on the price bar itself. The book names the upper band but gives no formula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59" y="1810512"/>
            <a:ext cx="6476694" cy="33572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56631" y="1929384"/>
            <a:ext cx="6238951" cy="3119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56631" y="1929384"/>
            <a:ext cx="6238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0951" y="2203703"/>
            <a:ext cx="5690311" cy="2662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6928317" y="3333147"/>
            <a:ext cx="623895" cy="53031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50444" y="3925848"/>
            <a:ext cx="748674" cy="499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33849" y="2178942"/>
            <a:ext cx="499116" cy="106062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5964" y="298676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545439" y="36730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8547207" y="323632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25917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16 characteristics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item is proximity to a price barrier?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10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14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66344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2062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three characteristics do Figure 7.13's marks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20624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8, 10, and 14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1, 2, and 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5, 7, and 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13, 15, and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29511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27134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2256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8" name="Oval 17"/>
          <p:cNvSpPr/>
          <p:nvPr/>
        </p:nvSpPr>
        <p:spPr>
          <a:xfrm>
            <a:off x="7504389" y="2546920"/>
            <a:ext cx="541599" cy="46128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2546" y="3062470"/>
            <a:ext cx="649918" cy="43414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56428" y="1542953"/>
            <a:ext cx="433279" cy="92256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1413" y="222896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9409" y="282591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92850" y="2446038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4249614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8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16 characteristics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66344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item is proximity to a price barrier?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11480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9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Characteristic 9 is proximity to a price barrier.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466344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three characteristics do Figure 7.13's marks show?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11480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8, 10, and 14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figure reads characteristic 8, fewer oscillations in 10, and overextension against a barrier in 14.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19" y="1207008"/>
            <a:ext cx="5653735" cy="289785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9591" y="1325880"/>
            <a:ext cx="5415991" cy="2660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79591" y="1325880"/>
            <a:ext cx="5415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1" y="1600200"/>
            <a:ext cx="4867351" cy="220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8" name="Oval 17"/>
          <p:cNvSpPr/>
          <p:nvPr/>
        </p:nvSpPr>
        <p:spPr>
          <a:xfrm>
            <a:off x="7504389" y="2522931"/>
            <a:ext cx="541599" cy="452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2546" y="3028352"/>
            <a:ext cx="649918" cy="42561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56428" y="1538689"/>
            <a:ext cx="433279" cy="904438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1413" y="220870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9409" y="2793932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92850" y="242151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4196305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16 characteristics point to a potential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Item 9 is proximity to a price barrier, one of the most important reversal characteristics.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7.13's marks read characteristics 8, 10, and 14: angular change and momentum, fewer oscillations, and overextension against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these are strong indications of a potential trend change or retracement,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Part 3 now applies the context to named reversal bars.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9654" y="2133222"/>
            <a:ext cx="407676" cy="86631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027267" y="297343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Let us read the first dedicated bearish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We are matching the book's drawing to the generic bearish test: 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points to the final close,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to the opening relationship,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to the large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 crop has no volume panel; the course chart adds invented volume only to illustrate Lim's surrounding comment.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702757" y="3112876"/>
            <a:ext cx="132094" cy="1213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234260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947294" y="325797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286639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RG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book's wording is generally and potentially: context changes reliability.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7.4, form 1: the key reversal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opening above the previous high.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calls this generally bearish and potentially more reliable when context supports it. The book drawing has no volume panel; the course chart supplies the invented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Next we compare the second bearish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5446" y="1810512"/>
            <a:ext cx="55613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14318" y="1929384"/>
            <a:ext cx="53235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14318" y="1929384"/>
            <a:ext cx="53235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8638" y="2203703"/>
            <a:ext cx="47749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bearish single-bar formation: a large bar opens above the previous high and closes near or below the previous close.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8826" y="2133039"/>
            <a:ext cx="346032" cy="93751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456591" y="2909035"/>
            <a:ext cx="218267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456591" y="2298070"/>
            <a:ext cx="0" cy="772485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6050935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55943" y="265176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955943" y="219529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7.4 - Lim, The Handbook of Technical Analysis (Wiley, 2016)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Now let us read the dedicated bullish 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74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matching the bullish converse to its book drawing: the formation closes above the prior close or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our course chart, 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points to the final close,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to the opening relationship,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to the large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36710" y="2809417"/>
            <a:ext cx="264188" cy="18207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141357" y="3810834"/>
            <a:ext cx="85861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735781" y="2596995"/>
            <a:ext cx="0" cy="206352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853815" y="23808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504992" y="344296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769181" y="462645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RH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75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A bullish pattern in a downtrend is a potential reversal; the same bias in an uptrend is continuation.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7.5, form 1: the bullish key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76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final close near the previous close.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opening below the previous low.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wide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reading is potential and context-dependent; its crop has no volume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we compare the second bullish 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5446" y="1810512"/>
            <a:ext cx="556132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14318" y="1929384"/>
            <a:ext cx="532357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14318" y="1929384"/>
            <a:ext cx="532357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8638" y="2203703"/>
            <a:ext cx="477493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one bullish single-bar formation: a large bar opens below the previous low and closes near or above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6344796" y="4829714"/>
            <a:ext cx="250208" cy="36517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472562" y="4461028"/>
            <a:ext cx="133090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472562" y="4583923"/>
            <a:ext cx="0" cy="751418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6050935" y="430206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55943" y="40211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955943" y="514478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7.5 - Lim, The Handbook of Technical Analysis (Wiley, 2016)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multiple-bearish figure shows the final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77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reading the multiple-bearish family from left to right: a high first close, narrow intermediate bars, and a final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intermediate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bearish 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61802" y="2748725"/>
            <a:ext cx="396282" cy="2427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8556" y="2536303"/>
            <a:ext cx="1849319" cy="10924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528346" y="4023255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277977" y="244154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1014" y="213808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165463" y="359469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QR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78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Continuing this rule: The final bar remains the potential decision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7.10: multiple bearish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79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intermediate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crop has no volume panel. Lim's volume exception belongs to the surrounding explanation, not this mark.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multiple family reverses this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3606" y="1810512"/>
            <a:ext cx="578500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2478" y="1929384"/>
            <a:ext cx="554725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02478" y="1929384"/>
            <a:ext cx="554725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76798" y="2203703"/>
            <a:ext cx="499861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multiple bearish formation: a high first close followed by narrow bars and a final close near its low.</a:t>
            </a:r>
          </a:p>
        </p:txBody>
      </p:sp>
      <p:sp>
        <p:nvSpPr>
          <p:cNvPr id="12" name="Oval 11"/>
          <p:cNvSpPr/>
          <p:nvPr/>
        </p:nvSpPr>
        <p:spPr>
          <a:xfrm>
            <a:off x="6123622" y="2420965"/>
            <a:ext cx="388308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28721" y="2280513"/>
            <a:ext cx="432686" cy="5618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894691" y="2410431"/>
            <a:ext cx="0" cy="65310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5857229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11207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911207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7.10 - Lim, The Handbook of Technical Analysis (Wiley, 2016)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multiple-bullish figure reverses that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80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160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are reading the multiple-bullish family as the directional converse of Figure 7.10.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narrow middle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close near its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9" y="1810512"/>
            <a:ext cx="6842455" cy="327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q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1929384"/>
            <a:ext cx="6604711" cy="30345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61802" y="3598412"/>
            <a:ext cx="396282" cy="3034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8556" y="2779071"/>
            <a:ext cx="1849319" cy="84968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528346" y="2688033"/>
            <a:ext cx="396283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6277977" y="389815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731014" y="244154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1165463" y="225947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5174292"/>
            <a:ext cx="6842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QS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Carry this rule into the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81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Carry this rule into the next worked example.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7.11: multiple bullish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82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first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narrow middle sequence,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final close near its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crop has no volume panel, so its marks do not claim the pattern 2 volume exception.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We finish by reading the warning context in Figure 7.13.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5139" y="1810512"/>
            <a:ext cx="4821936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84011" y="1929384"/>
            <a:ext cx="458419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84011" y="1929384"/>
            <a:ext cx="45841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8331" y="2203703"/>
            <a:ext cx="403555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readable crop of the first multiple bullish formation: a low first close followed by narrow bars and a final close near its high.</a:t>
            </a:r>
          </a:p>
        </p:txBody>
      </p:sp>
      <p:sp>
        <p:nvSpPr>
          <p:cNvPr id="12" name="Oval 11"/>
          <p:cNvSpPr/>
          <p:nvPr/>
        </p:nvSpPr>
        <p:spPr>
          <a:xfrm>
            <a:off x="6617482" y="4106387"/>
            <a:ext cx="137525" cy="45646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41255" y="4088831"/>
            <a:ext cx="311725" cy="67065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7130911" y="4137989"/>
            <a:ext cx="0" cy="621499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6278666" y="377537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149663" y="3740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149663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5650991"/>
            <a:ext cx="6476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7.11 -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Figure 7.11 - Lim, The Handbook of Technical Analysis (Wiley, 2016)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dedicated warning chart keeps the context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83 of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We are checking the same three context clues in the book figure: 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changing angular momentum,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fewer oscillations,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overextension at the upper band.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crop has no separate volume panel, so this marked reading does not claim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Bollinger Bands are named but not defined in Chapter 7, so no formula is imported.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Barrier proximity is the next reliability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7857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5479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090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 rapid rise, fewer oscillations, and an overextended bar against the upper band.</a:t>
            </a:r>
          </a:p>
        </p:txBody>
      </p:sp>
      <p:sp>
        <p:nvSpPr>
          <p:cNvPr id="12" name="Oval 11"/>
          <p:cNvSpPr/>
          <p:nvPr/>
        </p:nvSpPr>
        <p:spPr>
          <a:xfrm>
            <a:off x="7728417" y="3075972"/>
            <a:ext cx="509595" cy="4331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3364" y="3560088"/>
            <a:ext cx="611514" cy="4076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9654" y="2133222"/>
            <a:ext cx="407676" cy="866311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94644" y="2769598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842619" y="333015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027267" y="2973436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68767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7; worked values are ours, invented to show the rule.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 the prior high and close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1. Open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2. New high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3. Close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4. Volume 4.2m versus 2.0m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bearish key reversal, a potential warning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42245" y="2811765"/>
            <a:ext cx="325663" cy="15213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2477069"/>
            <a:ext cx="325663" cy="15213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42245" y="3511585"/>
            <a:ext cx="325663" cy="1521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42245" y="4302686"/>
            <a:ext cx="390796" cy="18256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05204" y="28084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449982" y="23216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33522" y="36604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38064" y="4460652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key-reversal check, compare two one-bar warnings: exhaustion has no following gap; pin falsely penetrates a barrier.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 O65.40 &gt; prior high65.00; H66.20; next O60.20 means no gap. Pin support40.00; low38.80; C40.60; return.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a tiring trend; pin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7391095" cy="35794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7153351" cy="334171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26322" y="2681269"/>
            <a:ext cx="143067" cy="13366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6322" y="2497474"/>
            <a:ext cx="143067" cy="1336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6322" y="3834159"/>
            <a:ext cx="178833" cy="20050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6805156" y="3867576"/>
            <a:ext cx="715335" cy="66834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1464" y="3934410"/>
            <a:ext cx="250367" cy="2339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31464" y="3165817"/>
            <a:ext cx="250367" cy="20050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0122" y="2349757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976990" y="231634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905457" y="405403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763859" y="3653025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766797" y="4254533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696733" y="3084934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5481407"/>
            <a:ext cx="7391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10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close near high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second near low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51.80, then PHP 49.60; the second range is wider.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potential bearish reversal,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32335" y="2781338"/>
            <a:ext cx="455928" cy="24341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3633293"/>
            <a:ext cx="521061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41044" y="2667038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9970068" y="339728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volume: strong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quiet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strong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4.0m, 0.6m, then 4.2m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a quiet middle shows uncertainty,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06671" y="4211405"/>
            <a:ext cx="455928" cy="27384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4989" y="4211405"/>
            <a:ext cx="455928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28439" y="4211405"/>
            <a:ext cx="455928" cy="27384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0161" y="344741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53877" y="390382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390382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gap up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isolated bars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then gap down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50.00 to 50.80, then PHP 49.40.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two gaps isolate a potential reversal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27733" y="2537923"/>
            <a:ext cx="586194" cy="3042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48794" y="2598777"/>
            <a:ext cx="2475042" cy="912808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041" y="2537923"/>
            <a:ext cx="651327" cy="3042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6621" y="223034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798655" y="34169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223034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containment and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turn from key reversals to containment: an outside bar engulfs preceding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prior 48.00 to 52.00; outside 47.00 to 53.00; close 47.50 near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range and more contained bars generally strengthen; near-edge close and high volume add reliability (pp. 223 to 224).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Continuation is possible when the close follows the existing trend (p. 223).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Trendline break plus bearish outside bar can support a short.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The worked PHP values are ours, invented.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Outside bar: an invented containment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71665" y="2561417"/>
            <a:ext cx="1052291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22647" y="2561417"/>
            <a:ext cx="676473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860596"/>
            <a:ext cx="676473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0399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894655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7969818" y="433718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SA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SA is ours, with invented PHP bars and million-share volume.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 defines it: “Outside bars are bars that engulf one or more preceding bars.” (Lim, p. 223).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11 bars contained inside the outside range.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outside bar's high-to-low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close near the low. Meaning/action: a bearish outside bar can support a short entry.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93507" y="2170077"/>
            <a:ext cx="0" cy="1022946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8743282" y="2952329"/>
            <a:ext cx="300270" cy="21060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38330" y="31579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7.24: the outside bar's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figure keeps the context visible: the marked outside bar contains 11 preceding bars.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those contained bars.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trendline violation at the outside-bar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bearish close near the low. Meaning/action: use the break and close together, not either mark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46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0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51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2650" y="2170077"/>
            <a:ext cx="950857" cy="102294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93417" y="2681550"/>
            <a:ext cx="300270" cy="42121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93417" y="3012503"/>
            <a:ext cx="300270" cy="24069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6932" y="195445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38330" y="243584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88375" y="318800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48360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Only the current bar's body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 or more prior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on both sides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close near the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close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close near the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close does not matter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outside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must a bearish outside bar's range contain?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906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One or more prior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engulfs preceding bars (Lim, p. 223).
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58363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8363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4124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close is more reliable for a bearish outside-bar reading?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close near the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closes near the low are generally more reliable for the bearish reading (p.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738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36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78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The marked outside bar contains 11 preceding bars, breaks the uptrend line, and closes near its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932" y="1568772"/>
            <a:ext cx="959543" cy="103229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72476" y="1568772"/>
            <a:ext cx="0" cy="1032291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8719965" y="2358171"/>
            <a:ext cx="303013" cy="2125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54470" y="135260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20042" y="183838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256706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7234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13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quiet containment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keep the containment idea and reverse it: an inside bar stays within the preceding bar's high and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first range 48.00 to 53.00 on 4.5m; second range 49.20 to 52.50 on 0.5m.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Reliable case: wide, high-volume first bar; narrow, very-low-volume second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same resistance is tested in the next figure, then lower bars add exhaustion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 means containment. It is not Harami.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224. The worked PHP values are ours, invented.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bar: an invented quiet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968392" y="2561417"/>
            <a:ext cx="1578437" cy="203655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647" y="3017885"/>
            <a:ext cx="826800" cy="115872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442246" y="2631643"/>
            <a:ext cx="3683020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4211634" y="223040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7969818" y="27570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SB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SB is ours, with invented PHP bars and million-share volume.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inside bars at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inside bars are considered reversal bars. The first should be wide on high volume; the second narrow on very low volume (p. 224).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 the two inside-bar reversals testing one resistance level.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bearish StochRSI divergence. Meaning/action: repeated failure at resistance warns of a possible reversal; no oscillator formula is taught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7.25: volume and resistance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two tests again, this time with the book's volume condition.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are the two inside-bar reversals at one resistance.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the figure's bearish StochRSI divergence.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prefer the wide, high-volume first bar and narrow, very-low-volume second bar, but keep the oscillator reading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2" name="Oval 11"/>
          <p:cNvSpPr/>
          <p:nvPr/>
        </p:nvSpPr>
        <p:spPr>
          <a:xfrm>
            <a:off x="9022979" y="2473185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77499" y="2442974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78504" y="4195224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14014" y="219689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78581" y="2227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31093" y="44325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16081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Neither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volume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first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second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resistance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ideal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Which bar should be wide in an ideal inside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first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first bar should be wide (p. 224).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0292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bar should have very low volume?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second bar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second bar should be narrow on very low volume (p.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14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7.26: lower inside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three successively lower inside bars below the lower band.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band context.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bearish outside bar. Lim says the exhaustion reading is stronger when declines also show bearish volume (p. 225).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lower inside bars can warn of exhaustion, but the book leaves the volume judgement contextual.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710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3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76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Wheaton daily chart. Three successively lower inside bars form below the lower band, followed by a bearish outside 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6951" y="3470388"/>
            <a:ext cx="707032" cy="60300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012932" y="3671389"/>
            <a:ext cx="1161553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134029" y="2353718"/>
            <a:ext cx="454520" cy="33500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07987" y="3225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604973" y="36276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635111" y="217593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73036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7.26 -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7.26.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7.27: three reversal families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is an inside-bar reversal;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 outside-bar reversal;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 three-bar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inside range 6.0 points; outside bar contains four bars; outer volumes 4.0m and 4.2m.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slide names the three price-bar families; the indicator panels are outside this slide's scope.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3339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3102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264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2" name="Oval 11"/>
          <p:cNvSpPr/>
          <p:nvPr/>
        </p:nvSpPr>
        <p:spPr>
          <a:xfrm>
            <a:off x="7422660" y="2425729"/>
            <a:ext cx="356716" cy="40328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66797" y="2704924"/>
            <a:ext cx="356716" cy="40328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3364" y="3542507"/>
            <a:ext cx="356716" cy="4963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63374" y="21772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273823" y="245641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458471" y="39764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241856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7.27.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bar versus Harami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describe a smaller formation inside a larger one, but the book keeps their rules separate.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if the preceding candlestick range is 6.0 points, a Harami's narrow range is at most 1.5 to 2.0 points, one-fourth to one-third.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inside bar has no such one-fourth to one-third restriction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do not rename every inside bar as Harami; check the internal proportion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names are related, not interchangeable.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6.0-point example is ours, invented.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No; Harami has a stricter one-fourth to one-third proportion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Yes; the terms are identical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on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below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One-half to two-thirds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One-fourth to one-third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One to two 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proportion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reversal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51333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133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Is every inside bar a Harami?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899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No; Harami has a stricter one-fourth to one-third proportion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keeps inside bar and Harami rules separate; Harami has the stricter proportion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03218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0321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8609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proportion does the book give for a Harami body?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6554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One-fourth to one-third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gives one-fourth to one-third of the preceding candlestick range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312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7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61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Alacer Gold daily chart. The marked examples show inside, outside, and three-bar reversals aligned with stochastic overbought or oversold readings.</a:t>
            </a:r>
          </a:p>
        </p:txBody>
      </p:sp>
      <p:sp>
        <p:nvSpPr>
          <p:cNvPr id="18" name="Oval 17"/>
          <p:cNvSpPr/>
          <p:nvPr/>
        </p:nvSpPr>
        <p:spPr>
          <a:xfrm>
            <a:off x="7457407" y="1817772"/>
            <a:ext cx="353516" cy="39966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0513" y="2094462"/>
            <a:ext cx="353516" cy="39966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3481" y="2924530"/>
            <a:ext cx="353516" cy="49189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99950" y="157009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81595" y="184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335320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610520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7.27 -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15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resistance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Very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Narrow first, high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Wide and high-volume first, narrow and very-low-volume second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Both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island, outside, and inside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021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0215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island is isolated by a gap up and a later gap down (Lim, p. 223).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92043"/>
            <a:ext cx="5029200" cy="2761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92043"/>
            <a:ext cx="91440" cy="2761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7492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volume pairing is ideal for an inside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899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Wide and high-volume first, narrow and very-low-volume second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bar should be wide on high volume and the second narrow on very low volume (Lim, p. 224).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3258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302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563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ITC Holdings daily chart. Two inside-bar reversals test the same resistance; the lower panel labels bearish StochRSI divergence.</a:t>
            </a:r>
          </a:p>
        </p:txBody>
      </p:sp>
      <p:sp>
        <p:nvSpPr>
          <p:cNvPr id="18" name="Oval 17"/>
          <p:cNvSpPr/>
          <p:nvPr/>
        </p:nvSpPr>
        <p:spPr>
          <a:xfrm>
            <a:off x="9022979" y="1869681"/>
            <a:ext cx="404018" cy="3927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499" y="1839470"/>
            <a:ext cx="404018" cy="39274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78504" y="3591720"/>
            <a:ext cx="454520" cy="3625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14014" y="15933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978581" y="16236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38290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455731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16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plain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move from containment to a bar that can exhaust a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an uptrend, it opens above the previous high, is larger in context, and closes near its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There is no gap between the exhaustion bar and the subsequent bar (Lim, p. 226).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read the larger bar, trend context, close, and next-bar gap together; the pattern is a reversal warning,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bullish exhaustion bar is the converse in a downtrend.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226. The transition wording is ours.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bar: worked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30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Ours, invented: prior high 65.00; exhaustion O 65.40, H 66.20, L 60.00, C 60.50.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65.40 is above 65.00; the 6.20-point range is large in this uptrend; 60.50 is near low 60.00.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 O 60.20 lies inside 60.00 to 66.20, so there is no following gap. Meaning/action: all four observations support the reading; now read Figure 7.28.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Numbers first: compare each value with the named level.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4" name="Oval 13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6858" y="3053726"/>
            <a:ext cx="275581" cy="327081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9504300" y="2747087"/>
            <a:ext cx="780816" cy="85858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86643" y="28369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13389" y="250986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The worked PHP values are ours, invented to show Lim's p. 226 rule.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7.28: bullish exhaustion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bullish exhaustion case is in a downtrend. 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gap before the bar,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exhaustion bar, and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later rebound.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PHP 40.00; low PHP 39.60 and close PHP 41.20. The bar closes near its high, the bullish converse.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the larger bar matters in trend context. The prior gap is visible, but the rule concerns no gap after the exhaustion 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10512"/>
            <a:ext cx="5333694" cy="250584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929384"/>
            <a:ext cx="5095951" cy="226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1" y="1929384"/>
            <a:ext cx="50959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203703"/>
            <a:ext cx="4547311" cy="1810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2" name="Oval 11"/>
          <p:cNvSpPr/>
          <p:nvPr/>
        </p:nvSpPr>
        <p:spPr>
          <a:xfrm>
            <a:off x="8747607" y="3108794"/>
            <a:ext cx="305757" cy="2041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00486" y="3176837"/>
            <a:ext cx="305757" cy="36289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8162" y="2836623"/>
            <a:ext cx="866311" cy="95260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388321" y="2907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305592" y="295334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22863" y="259045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4407794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226, Figure 7.28.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Whether the next bar gaps away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Whether volume is absent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Whether resistance is horizontal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Whether the bar is an inside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top of a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Only in a flat market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above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the bottom of a downtrend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exhaustion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the next bar help distinguish in an exhaustion reading?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Whether the next bar gaps away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requires no gap between the exhaustion bar and the subsequent bar (p. 226).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is the bullish exhaustion converse more reliable?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50943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the bottom of a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appears in a downtrend at a bottom (p. 226).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marked exhaustion bar forms a bottom; the preceding gap and later rebound show the context.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1974" y="2562141"/>
            <a:ext cx="303013" cy="35963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9325992" y="2224979"/>
            <a:ext cx="858540" cy="944055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392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231093" y="19796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exhaustion to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Next, the book shifts from exhaustion's next-bar gap test to an emotion spike read by range and volume.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as context, not as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range and volume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Emotion spike: a wide bar on high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33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20029" y="2420965"/>
            <a:ext cx="901964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0029" y="4457517"/>
            <a:ext cx="901964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97156" y="2912546"/>
            <a:ext cx="2555565" cy="1334292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13599" y="2125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6992691" y="50043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9247601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SC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SC is ours, with invented PHP bars and million-share volume.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7.29: emotion spike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an emotional market, a price spike is usually wide-ranging and accompanied by high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wide spike;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its high volume;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three-bar bearish reversal at the top (Lim, 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ordinary range 3.0 and volume 1.5 million; spike range 8.0 and volume 6.0 million. Treat it as reversal context, not a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329327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30555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59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Mad Catz Interactive daily chart. A wide price spike occurs on high volume and a three-bar bearish reversal forms near the top.</a:t>
            </a:r>
          </a:p>
        </p:txBody>
      </p:sp>
      <p:sp>
        <p:nvSpPr>
          <p:cNvPr id="12" name="Oval 11"/>
          <p:cNvSpPr/>
          <p:nvPr/>
        </p:nvSpPr>
        <p:spPr>
          <a:xfrm>
            <a:off x="8292876" y="2540491"/>
            <a:ext cx="350315" cy="10083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92966" y="4373812"/>
            <a:ext cx="300270" cy="45833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94410" y="2112716"/>
            <a:ext cx="400360" cy="42777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37247" y="229337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788014" y="47072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489548" y="220171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19523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7.29 -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7.29.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a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35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add a barrier test: a pin bar penetrates a barrier during the interval, then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support PHP 40.00, low PHP 38.80, close PHP 40.60, volume 0.8m.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Book-named barriers are moving averages, support or resistance, and trendlines. Pin bars usually form on low volume (Lim, p. 227).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breach can fool a trader; wait for the return through the barrier.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false impression separates pin from exhaustion.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7.30: pin bar at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“single bar misrepresentations of market strength or weakness.”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support,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intra-period penetration, and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the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the breach suggests a potential breakout, but the rapid retrace warns that impression was false. The book says pin bars usually form on low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49370" y="3834600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04895" y="3790293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04895" y="2926299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2415" y="381207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897940" y="387853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554470" y="268223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55063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227, Figure 7.30.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volume average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prior close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stochastic formula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barrier such as support or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barrier break is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apparent breakout may be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trend must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volume is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pin-bar figure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5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504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does a pin bar penetrate during the interval?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881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 barrier such as support or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pin bar as penetrating a barrier and then retracing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40327"/>
            <a:ext cx="5029200" cy="225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40327"/>
            <a:ext cx="91440" cy="2250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3208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the rapid retrace imply?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4373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The apparent breakout may be false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retrace shows that the initial impression of breaking the barrier was false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531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15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58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49370" y="3231096"/>
            <a:ext cx="313114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04895" y="3186789"/>
            <a:ext cx="252511" cy="1993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04895" y="2322795"/>
            <a:ext cx="303013" cy="243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2415" y="320857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897940" y="327503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54470" y="20787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51559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18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Transition: compare exhaustion with pin's false-barrier story.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O65.40 &gt; prior high 65.00; H66.20; C60.50; next O60.20 means no gap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no-gap relationship in Figure 7.28.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 next-bar gap separates the exhaustion bar from its next bar (p. 226); trend may tire.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Next: pin definition, barriers, low-volume tendency, marked return.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8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44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87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2" name="Oval 11"/>
          <p:cNvSpPr/>
          <p:nvPr/>
        </p:nvSpPr>
        <p:spPr>
          <a:xfrm>
            <a:off x="8999067" y="2992398"/>
            <a:ext cx="275581" cy="183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36858" y="3033283"/>
            <a:ext cx="275581" cy="14309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74649" y="3155939"/>
            <a:ext cx="321512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8659898" y="279606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86643" y="28165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70365" y="316403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8395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The comparison values are ours, invented.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Pin bar: the false barrier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calls a pin bar a “single bar misrepresentations of market strength or weakness” (p.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support 40.00; low 38.80; close 40.60; volume 0.8m.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support;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penetration;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Barriers: moving average, support/resistance, or trendline; low volume is usual. Action: wait for return; penetration can look like a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10512"/>
            <a:ext cx="4830775" cy="225255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2551" y="1929384"/>
            <a:ext cx="4593031" cy="2014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1" y="2203703"/>
            <a:ext cx="4044391" cy="15576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Micron Technology daily chart. The marked pin bar penetrates support and then retraces above the level.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69994" y="3662120"/>
            <a:ext cx="284767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575227" y="3621824"/>
            <a:ext cx="229651" cy="18133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5227" y="2836048"/>
            <a:ext cx="275581" cy="2216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76755" y="362756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7281988" y="368800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7879082" y="26000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154505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7.30 -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227. The worked PHP values are ours, invented.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8663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Exhaustion uses no trend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pin bar gives a false barrier-penetration impression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pin bar must gap from the next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Exhaustion is always narrow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85082"/>
            <a:ext cx="50292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7652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691"/>
            <a:ext cx="45720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High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same volume as the prior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volume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exhaustion and pin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98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9872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separates an exhaustion bar from a pin bar?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A pin bar gives a false barrier-penetration impression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exhaustion bars do not usually provide a false impression of penetrating a barrier, while pin bars do (p. 227).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88613"/>
            <a:ext cx="5029200" cy="17392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88613"/>
            <a:ext cx="91440" cy="173926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71493"/>
            <a:ext cx="44805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Pin bars usually form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02658"/>
            <a:ext cx="448056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Low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pin bars are usually breakouts that form on low volume (p. 227).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854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477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0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J.P. Morgan Chase daily chart. The crop keeps the bullish exhaustion bar and its following bar readable for the comparison.</a:t>
            </a:r>
          </a:p>
        </p:txBody>
      </p:sp>
      <p:sp>
        <p:nvSpPr>
          <p:cNvPr id="18" name="Oval 17"/>
          <p:cNvSpPr/>
          <p:nvPr/>
        </p:nvSpPr>
        <p:spPr>
          <a:xfrm>
            <a:off x="8770467" y="2494709"/>
            <a:ext cx="303013" cy="20229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39664"/>
            <a:ext cx="303013" cy="1573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73481" y="2674529"/>
            <a:ext cx="353516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8413010" y="229430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051" y="23167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524061" y="26989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394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From pin bar to false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39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generalise the pin-bar false-barrier read to support and resistance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next chart uses invented values to show both returned directions.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Wait for the return through the barrier.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Transition wording is ours; the next chart is invented.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False breakouts: return through the barrier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592573" y="2631643"/>
            <a:ext cx="450982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5594" y="4878872"/>
            <a:ext cx="601309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2573" y="3825483"/>
            <a:ext cx="450982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75594" y="3790370"/>
            <a:ext cx="601309" cy="351129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6798" y="233574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594000" y="51447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5339090" y="359980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9022110" y="3529583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SD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SD is ours, with invented PHP barriers and closes.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own course drawing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41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3690609" y="3439241"/>
            <a:ext cx="4810476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6922647" y="2420965"/>
            <a:ext cx="977127" cy="49158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647" y="3579693"/>
            <a:ext cx="977127" cy="4213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922647" y="2631643"/>
            <a:ext cx="977128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3084179" y="30380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8195309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8345637" y="398605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8345637" y="2195291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SE - FIN1209 teaching chart, drawn for this course. Illustrative data, not a real instrument.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SE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7.31: false upside breakout (the book's drawing)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92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 non-failure swing and credits Sperandeo's 2B entry (p. 228).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resistance;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false high; 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back below;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stop above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This slide reads Lim's drawing; the source drawing supplies no PHP values.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Action: short after return below resistance; stop just above breakout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3950" y="1810512"/>
            <a:ext cx="44158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2822" y="1929384"/>
            <a:ext cx="41781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2822" y="1929384"/>
            <a:ext cx="41781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87142" y="2203703"/>
            <a:ext cx="36294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Bearish non-failure swing. Price breaks above resistance, returns below it, and creates a short entry with a stop above the breakout high.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5291" y="2280513"/>
            <a:ext cx="221440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824480" y="2034722"/>
            <a:ext cx="292469" cy="3160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6949" y="2280513"/>
            <a:ext cx="250687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740917" y="2034722"/>
            <a:ext cx="626720" cy="0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6791625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543688" y="240596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462876" y="22655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293000" y="1914387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5650991"/>
            <a:ext cx="5425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7.31 -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228, Figure 7.31.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7.32: both breakout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marks the false upside high,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false downside low,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upper close back below resistance, and purple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lower close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upside barrier PHP 60.00 and downside barrier PHP 40.00; returned closes PHP 59.40 and PHP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short below resistance after a false upside break, or long above support after a false downside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199" y="1810512"/>
            <a:ext cx="5242255" cy="280662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1" y="1929384"/>
            <a:ext cx="5004511" cy="25688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1" y="1929384"/>
            <a:ext cx="5004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2203703"/>
            <a:ext cx="4455871" cy="2111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2" name="Oval 11"/>
          <p:cNvSpPr/>
          <p:nvPr/>
        </p:nvSpPr>
        <p:spPr>
          <a:xfrm>
            <a:off x="7742380" y="2520227"/>
            <a:ext cx="350315" cy="28257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43462" y="3111070"/>
            <a:ext cx="400360" cy="33395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42560" y="2674360"/>
            <a:ext cx="300270" cy="2055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44545" y="3393647"/>
            <a:ext cx="350315" cy="28257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86751" y="228771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488646" y="346939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87563" y="277580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10589638" y="3135444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4708579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7.32.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20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a close below resistance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Above support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Below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At the false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above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20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After a false downside breakout, the bullish entry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above support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opposite entry is taken when price closes back above support after the false downside breakout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830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592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213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Silver daily chart. The marked examples return through resistance for shorts or through support for longs.</a:t>
            </a:r>
          </a:p>
        </p:txBody>
      </p:sp>
      <p:sp>
        <p:nvSpPr>
          <p:cNvPr id="18" name="Oval 17"/>
          <p:cNvSpPr/>
          <p:nvPr/>
        </p:nvSpPr>
        <p:spPr>
          <a:xfrm>
            <a:off x="7709918" y="1922121"/>
            <a:ext cx="353516" cy="28515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1974" y="2518362"/>
            <a:ext cx="404018" cy="3370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1928" y="2077662"/>
            <a:ext cx="303013" cy="2073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34029" y="2803520"/>
            <a:ext cx="353516" cy="28515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52461" y="168890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473558" y="288138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8261503" y="218144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584609" y="2544378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4128544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7.32 -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20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the named crossings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44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now use a moving average as the crossing level: a bearish Double Repo closes above and below a three-day SMA twice.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Forward-shifted means plotted three days forward (Lim, p. 229). Ours: SMA 50.00; first pair 50.80 above, 49.60 below.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After 9 bullish days, the second pair is 50.70 above and 49.00 below. Lim requires 8 to 10 days first and a top no more than 8 to 10 bars (p. 229).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second pair gives the sell signal; the complete method is in DiNapoli's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229. The worked PHP values are ours, invented.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Double Repo: two crossings of a three-day SMA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45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148139" y="2912546"/>
            <a:ext cx="450982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99121" y="3614806"/>
            <a:ext cx="450982" cy="42135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24612" y="2912546"/>
            <a:ext cx="676473" cy="112361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92036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8044982" y="395093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8646291" y="254642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SF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SF is ours, with invented PHP closes and a three-day SMA.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in the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46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and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 the first two closes across the forward-shifted three-day SMA.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later decline.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Lim presents a bearish reversal in an uptrend; the reverse applies in a downtrend.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sends the reader to DiNapoli's original text for detailed and complete discussion.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sp>
        <p:nvSpPr>
          <p:cNvPr id="12" name="Oval 11"/>
          <p:cNvSpPr/>
          <p:nvPr/>
        </p:nvSpPr>
        <p:spPr>
          <a:xfrm>
            <a:off x="8164439" y="2380117"/>
            <a:ext cx="303013" cy="2028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0467" y="2380117"/>
            <a:ext cx="303013" cy="2028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224988" y="2830850"/>
            <a:ext cx="909041" cy="631026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857484" y="215705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20042" y="215705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80591" y="339657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7.33: Double Repo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47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forward-shifted three-day SMA.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required 8 to 10 bullish days before the pattern.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topping formation. The book says it should not exceed 8 to 10 bars (Lim, p. 229).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count both limits before treating the two crossings as the named sell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9" y="1810512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1" y="1929384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1" y="1929384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1" y="2203703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21974" y="2425190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7255398" y="2335043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4942" y="2019530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28079" y="21795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6948443" y="20894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20042" y="188661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439336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229, Figure 7.33.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21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pair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Two pairs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pairs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DiNapoli's original 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volume panel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Hikkake figure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No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Double Repo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How many crossing pairs generate the named Double Repo sell signal?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Two pairs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named bearish Double Repo has two closes above and below the forward-shifted SMA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02920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Where does Lim place the complete Double Repo method?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805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DiNapoli's original text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sends readers to DiNapoli's original text for the detailed method (p. 229).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207008"/>
            <a:ext cx="5287975" cy="24914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1" y="1325880"/>
            <a:ext cx="5050231" cy="22536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1" y="1325880"/>
            <a:ext cx="5050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1" y="1600200"/>
            <a:ext cx="4501591" cy="1796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Continuous daily sugar chart. The marked sequence crosses a forward-shifted three-day SMA twice before the rapid decline.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21974" y="1821686"/>
            <a:ext cx="1010046" cy="27044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7255398" y="1731539"/>
            <a:ext cx="1010046" cy="27043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4942" y="1416026"/>
            <a:ext cx="808036" cy="518343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079" y="157609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6948443" y="148594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20042" y="128311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3789857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21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trap, then the opposite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48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We finish this reversal group with Hikkake, an inside-bar breakout that fails; take only the opposite re-entry.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 bearish: inside high 52.00, inside low 49.00, false high 53.00, re-entry below 49.00 within 3 bars.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“Trap or ensnare” is the meaning. The bullish converse follows a failed downside break (Lim, p. 230).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Action: wait for the opposite re-entry, never the failed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three-bar window is part of the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230. The worked PHP values are ours, invented.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Hikkake: failed breakout, opposite re-entry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49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089300" y="3052998"/>
            <a:ext cx="751636" cy="154497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91264" y="2456078"/>
            <a:ext cx="601309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98466" y="3965935"/>
            <a:ext cx="676473" cy="842711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2" name="Oval 11"/>
          <p:cNvSpPr/>
          <p:nvPr/>
        </p:nvSpPr>
        <p:spPr>
          <a:xfrm>
            <a:off x="2708361" y="272198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737780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6992691" y="423184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SG - FIN1209 teaching chart, drawn for this course. Illustrative data, not a real instrument.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SG is ours, with invented PHP levels and entries.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own course drawings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50 of 53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87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hart-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63" y="1929384"/>
            <a:ext cx="7516368" cy="35112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40282" y="2807208"/>
            <a:ext cx="977127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7737" y="4071274"/>
            <a:ext cx="601309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94538" y="2877433"/>
            <a:ext cx="601309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73630" y="2807208"/>
            <a:ext cx="901964" cy="16503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50757" y="2420965"/>
            <a:ext cx="601309" cy="52669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0757" y="4071274"/>
            <a:ext cx="601309" cy="56180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3852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5414253" y="465319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6015563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917527" y="247619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9097274" y="21250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9022110" y="370514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Chart SH - FIN1209 teaching chart, drawn for this course. Illustrative data, not a real instrument.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SH is ours, with invented PHP values; the book's drawing is shown separately.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bullish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51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above the inside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bullish schematic: an inside bar, a failed downside breakout, and the opposite re-entry above the inside high.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4778" y="2877433"/>
            <a:ext cx="1207585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519" y="3790370"/>
            <a:ext cx="377370" cy="66714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638419" y="2807208"/>
            <a:ext cx="490582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7407433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143338" y="440740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247619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7.34: bearish Hikkake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52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inside bar,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failed upside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re-entry below the inside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take only the opposite re-entry, within three bars (Lim, p. 230).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4742" y="1810512"/>
            <a:ext cx="401145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83614" y="1929384"/>
            <a:ext cx="3773706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83614" y="1929384"/>
            <a:ext cx="377370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57934" y="2203703"/>
            <a:ext cx="3225066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0985" y="2877433"/>
            <a:ext cx="905689" cy="150985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42148" y="2877433"/>
            <a:ext cx="905689" cy="7022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921415" y="3755257"/>
            <a:ext cx="1056638" cy="7022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6879114" y="254642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218812" y="25464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162238" y="45829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5650991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7.34.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7.35: bullish Hikkake at a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53 of 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marks the Hikkake formation at the channel bottom, red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its failed downside breakout, and blue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the upside re-entry.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low PHP 40.00, false low PHP 39.20, re-entry PHP 41.00.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the re-entry is the signal described by the book; this slide does not interpret the indicator panels.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0055" y="1810512"/>
            <a:ext cx="449510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8927" y="1929384"/>
            <a:ext cx="425736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18927" y="1929384"/>
            <a:ext cx="425736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3247" y="2203703"/>
            <a:ext cx="370872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7018" y="3404128"/>
            <a:ext cx="340588" cy="4915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19886" y="3755257"/>
            <a:ext cx="212868" cy="3862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8832754" y="3263676"/>
            <a:ext cx="255442" cy="702259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8038702" y="317845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8847601" y="40913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103042" y="29677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5650991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230, Figure 7.35.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22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Eight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98348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26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262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2628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failed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No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opposite direction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Only the trend direction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Hikkake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8348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Within how many bars must the opposite Hikkake re-entry occur?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3484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498348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43484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direction is taken after the initial Hikkake failure?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17263"/>
            <a:ext cx="443484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opposite direction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Hikkake takes the opposite re-entry after the inside-bar breakout fails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4188" y="1207008"/>
            <a:ext cx="522683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3060" y="1325880"/>
            <a:ext cx="498909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3060" y="1325880"/>
            <a:ext cx="49890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7380" y="1600200"/>
            <a:ext cx="444045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iShares Emerging Markets daily chart. A bullish Hikkake forms at a linear regression channel bottom.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9" y="3054096"/>
            <a:ext cx="399127" cy="57607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97934" y="3465576"/>
            <a:ext cx="249454" cy="45262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8847389" y="2889504"/>
            <a:ext cx="299346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7943577" y="28163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891505" y="388620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190850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5650992"/>
            <a:ext cx="5333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22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23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At the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support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Only after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At a close below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0292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5720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5720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One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Two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Three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Ten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0439" y="1207008"/>
            <a:ext cx="466005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59311" y="1325880"/>
            <a:ext cx="442231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9311" y="1325880"/>
            <a:ext cx="44223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3631" y="1600200"/>
            <a:ext cx="387367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1542" y="2436876"/>
            <a:ext cx="1061354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51343" y="2436876"/>
            <a:ext cx="1061354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47359" y="3465576"/>
            <a:ext cx="1238248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580756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589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428167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false breakouts and Hikkake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0292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false upside breakout, the bearish entry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4805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At a close below resistance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short is normally initiated when price closes below resistance after the false upside breakout (p. 229).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50292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4805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 Hikkake opposite re-entry must occur within: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4805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Three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the breakout must occur within three bars of the initial failed breakout (p. 230).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1993" y="1207008"/>
            <a:ext cx="48369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0865" y="1325880"/>
            <a:ext cx="45992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0865" y="1325880"/>
            <a:ext cx="45992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5185" y="1600200"/>
            <a:ext cx="40505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bearish schematic: an inside bar, a failed upside breakout, and the opposite re-entry below the inside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0785" y="2436876"/>
            <a:ext cx="1103809" cy="176936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6578" y="2436876"/>
            <a:ext cx="1103809" cy="8229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954435" y="3465576"/>
            <a:ext cx="1287777" cy="82296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21" name="Oval 20"/>
          <p:cNvSpPr/>
          <p:nvPr/>
        </p:nvSpPr>
        <p:spPr>
          <a:xfrm>
            <a:off x="6499385" y="207568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50892" y="207568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500693" y="446227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5650992"/>
            <a:ext cx="5287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7.34 -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01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78146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324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39490" y="2909188"/>
            <a:ext cx="217412" cy="23159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3024983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935910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9984918" y="303924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143036" y="26473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43036" y="271858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921159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08253" y="1810512"/>
            <a:ext cx="357598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7125" y="1929384"/>
            <a:ext cx="333824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7125" y="1929384"/>
            <a:ext cx="333824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1445" y="2203703"/>
            <a:ext cx="278960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7125" y="2069835"/>
            <a:ext cx="1435445" cy="280903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8893" y="3825483"/>
            <a:ext cx="233677" cy="73737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6100" y="3825483"/>
            <a:ext cx="767796" cy="87782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92322" y="49523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058940" y="347764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26883" y="365321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5650991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30951" y="1810512"/>
            <a:ext cx="36792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9823" y="1929384"/>
            <a:ext cx="344148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49823" y="1929384"/>
            <a:ext cx="344148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4143" y="2203703"/>
            <a:ext cx="289284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88759" y="3965935"/>
            <a:ext cx="0" cy="561808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019929" y="3825483"/>
            <a:ext cx="309734" cy="73737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7322" y="3825483"/>
            <a:ext cx="791542" cy="87782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79524" y="354787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30162" y="347764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224949" y="365321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650991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8643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62660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169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8950810" y="2889081"/>
            <a:ext cx="141658" cy="17892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53979" y="3360797"/>
            <a:ext cx="920782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127883" y="2222173"/>
            <a:ext cx="177073" cy="8458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25113" y="299591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433407" y="32887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56333" y="203621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66301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24 OF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8473" y="1207008"/>
            <a:ext cx="414974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7345" y="1325880"/>
            <a:ext cx="391200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7345" y="1325880"/>
            <a:ext cx="391200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1665" y="1600200"/>
            <a:ext cx="336336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7345" y="1490472"/>
            <a:ext cx="1682162" cy="329183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05666" y="3547872"/>
            <a:ext cx="273840" cy="8641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5987" y="3547872"/>
            <a:ext cx="899761" cy="102870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37947" y="48920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98827" y="3163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15948" y="336956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24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8143" y="1207008"/>
            <a:ext cx="423040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57015" y="1325880"/>
            <a:ext cx="3992664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57015" y="1325880"/>
            <a:ext cx="399266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1335" y="1600200"/>
            <a:ext cx="344402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57015" y="1490472"/>
            <a:ext cx="1716845" cy="329183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4374" y="3547872"/>
            <a:ext cx="279486" cy="86410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33567" y="3547872"/>
            <a:ext cx="918312" cy="102870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36334" y="48920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96407" y="3163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34500" y="336956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24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3273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3035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2578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0935" y="1990090"/>
            <a:ext cx="968541" cy="9713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34708" y="1990090"/>
            <a:ext cx="609822" cy="9713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7910" y="2931038"/>
            <a:ext cx="322847" cy="9105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42031" y="294564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25804" y="294564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021391" y="270281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517501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164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9271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469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18449"/>
            <a:ext cx="193285" cy="46250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18449"/>
            <a:ext cx="193285" cy="4625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259087"/>
            <a:ext cx="225500" cy="3276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8493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849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5458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066802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4885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22507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793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572464"/>
            <a:ext cx="810286" cy="24758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36778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390491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