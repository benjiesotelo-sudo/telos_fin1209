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standard head and shoulders: a left shoulder, a higher head and a right shoulder. Lim calls it intrinsically bearish.</a:t>
            </a:r>
          </a:p>
          <a:p>
            <a:r>
              <a:rPr sz="1400"/>
              <a:t>- Red 2 boxes the inverted head and shoulders, the same shape turned over. Lim calls it intrinsically bullish.</a:t>
            </a:r>
          </a:p>
          <a:p>
            <a:r>
              <a:rPr sz="1400"/>
              <a:t>- The sketches carry no prices; they only show the two shapes.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standard head and shoulders: a left shoulder, a higher head and a right shoulder. Lim calls it intrinsically bearish.</a:t>
            </a:r>
          </a:p>
          <a:p>
            <a:r>
              <a:rPr sz="1400"/>
              <a:t>- Red 2 boxes the inverted head and shoulders, the same shape turned over. Lim calls it intrinsically bullish.</a:t>
            </a:r>
          </a:p>
          <a:p>
            <a:r>
              <a:rPr sz="1400"/>
              <a:t>- The sketches carry no prices; they only show the two shapes.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previous bar's low at 47.90, carried across on the dashed line.</a:t>
            </a:r>
          </a:p>
          <a:p>
            <a:r>
              <a:rPr sz="1400"/>
              <a:t>- Red 2 is the next bar's close at 47.50, below that line, so the formation leans bearish.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previous bar's low at 47.90, carried across on the dashed line.</a:t>
            </a:r>
          </a:p>
          <a:p>
            <a:r>
              <a:rPr sz="1400"/>
              <a:t>- Red 2 is the next bar's close at 47.50, below that line, so the formation leans bearish.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a bullish formation after the uptrend: it agrees, a continuation.</a:t>
            </a:r>
          </a:p>
          <a:p>
            <a:r>
              <a:rPr sz="1400"/>
              <a:t>- Red 2 boxes a bearish formation after the same uptrend: it disagrees,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read the formation: the second bar closes at 48.60, above the first bar's high of 48.30.</a:t>
            </a:r>
          </a:p>
          <a:p>
            <a:r>
              <a:rPr sz="1400"/>
              <a:t>- Blue 3 boxes the rise before the left copy, closes 45.60 to 48.10; purple 4 boxes the fall before the right copy, 50.60 to 48.10.</a:t>
            </a:r>
          </a:p>
          <a:p>
            <a:r>
              <a:rPr sz="1400"/>
              <a:t>- The two bars are identical in both panels; only the trend before them differs.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read the formation: the second bar closes at 48.60, above the first bar's high of 48.30.</a:t>
            </a:r>
          </a:p>
          <a:p>
            <a:r>
              <a:rPr sz="1400"/>
              <a:t>- Blue 3 boxes the rise before the left copy, closes 45.60 to 48.10; purple 4 boxes the fall before the right copy, 50.60 to 48.10.</a:t>
            </a:r>
          </a:p>
          <a:p>
            <a:r>
              <a:rPr sz="1400"/>
              <a:t>- The two bars are identical in both panels; only the trend before them differs.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small panels, one for each combination of trend and formation.</a:t>
            </a:r>
          </a:p>
          <a:p>
            <a:r>
              <a:rPr sz="1400"/>
              <a:t>- Gold 1 and red 2 are the uptrend cases; blue 3 and purple 4 are the downtrend cases.</a:t>
            </a:r>
          </a:p>
          <a:p>
            <a:r>
              <a:rPr sz="1400"/>
              <a:t>- Agreement is a continuation; disagreement is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small panels, one for each combination of trend and formation.</a:t>
            </a:r>
          </a:p>
          <a:p>
            <a:r>
              <a:rPr sz="1400"/>
              <a:t>- Gold 1 and red 2 are the uptrend cases; blue 3 and purple 4 are the downtrend cases.</a:t>
            </a:r>
          </a:p>
          <a:p>
            <a:r>
              <a:rPr sz="1400"/>
              <a:t>- Agreement is a continuation; disagreement is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Part 1 in one breath: two sentiments, then the agreement rule.</a:t>
            </a:r>
          </a:p>
          <a:p>
            <a:r>
              <a:rPr sz="1400"/>
              <a:t>- Stress that the trend is read first; the same pattern changes meaning with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ten day climb from 40 to 50, so trend sentiment is bullish.</a:t>
            </a:r>
          </a:p>
          <a:p>
            <a:r>
              <a:rPr sz="1400"/>
              <a:t>- Red 2 boxes the inverted head and shoulders at 50: bullish, agreeing with the trend, so a continuation pattern.</a:t>
            </a:r>
          </a:p>
          <a:p>
            <a:r>
              <a:rPr sz="1400"/>
              <a:t>- Blue 3 boxes the head and shoulders in the same place: bearish, disagreeing, so a reversal pattern.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ten day climb from 40 to 50, so trend sentiment is bullish.</a:t>
            </a:r>
          </a:p>
          <a:p>
            <a:r>
              <a:rPr sz="1400"/>
              <a:t>- Red 2 boxes the inverted head and shoulders at 50: bullish, agreeing with the trend, so a continuation pattern.</a:t>
            </a:r>
          </a:p>
          <a:p>
            <a:r>
              <a:rPr sz="1400"/>
              <a:t>- Blue 3 boxes the head and shoulders in the same place: bearish, disagreeing, so a reversal pattern.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ahead: every drawing from Figure 7.4 to 7.11 carries this arrow.</a:t>
            </a:r>
          </a:p>
          <a:p>
            <a:r>
              <a:rPr sz="1400"/>
              <a:t>- Students should say the trend before they name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51.80; red 2 is today's close at 51.20, below it.</a:t>
            </a:r>
          </a:p>
          <a:p>
            <a:r>
              <a:rPr sz="1400"/>
              <a:t>- Blue 3 is a close at 48.80, below yesterday's low at 49.00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51.80; red 2 is today's close at 51.20, below it.</a:t>
            </a:r>
          </a:p>
          <a:p>
            <a:r>
              <a:rPr sz="1400"/>
              <a:t>- Blue 3 is a close at 48.80, below yesterday's low at 49.00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so students see the family; every later slide crops one drawing.</a:t>
            </a:r>
          </a:p>
          <a:p>
            <a:r>
              <a:rPr sz="1400"/>
              <a:t>- Point at the arrow and the label under form 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close goes below the previous low, not just the previous close.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would call a gap measured from the previous low to the open a Type 2 gap.</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much longer than the bars before it. Closing near the low is a second, separate condition.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Form 4 sits inside the previous bar; form 6 reaches beyond both ends of it.</a:t>
            </a:r>
          </a:p>
          <a:p>
            <a:r>
              <a:rPr sz="1400"/>
              <a:t>- Part 3 reads outside bars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close matters more: the second, because it is the most recent word on the trend.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volume habits behind the seven drawings.</a:t>
            </a:r>
          </a:p>
          <a:p>
            <a:r>
              <a:rPr sz="1400"/>
              <a:t>- Keep Lim's caveat: some practitioners read them as continuations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conditions together; any one alone is weaker.</a:t>
            </a:r>
          </a:p>
          <a:p>
            <a:r>
              <a:rPr sz="1400"/>
              <a:t>- Potentially more reliable, never certain.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38.20; red 2 is today's close at 38.80, above it.</a:t>
            </a:r>
          </a:p>
          <a:p>
            <a:r>
              <a:rPr sz="1400"/>
              <a:t>- Blue 3 is a close at 41.20, above yesterday's high at 41.00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38.20; red 2 is today's close at 38.80, above it.</a:t>
            </a:r>
          </a:p>
          <a:p>
            <a:r>
              <a:rPr sz="1400"/>
              <a:t>- Blue 3 is a close at 41.20, above yesterday's high at 41.00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every later slide crops one drawing.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1: sellers open it weakly, buyers win the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2.</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3: nothing traded between 39.00 and 39.40.</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as bearish form 4; the trend before it is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6.</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7.</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Lim's words: in most cases, and potentially.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From two bars to three: the new thing is the middle bar.</a:t>
            </a:r>
          </a:p>
          <a:p>
            <a:r>
              <a:rPr sz="1400"/>
              <a:t>- Say uptrend and middle bar out loud before the first form.</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PHP 0.40 gap between the first bar's high of 50.00 and the middle bar's low of 50.40.</a:t>
            </a:r>
          </a:p>
          <a:p>
            <a:r>
              <a:rPr sz="1400"/>
              <a:t>- Red 2 is the last bar's close at 49.60, back below the gap.</a:t>
            </a:r>
          </a:p>
          <a:p>
            <a:r>
              <a:rPr sz="1400"/>
              <a:t>- Blue 3 boxes the PHP 1.00 gap when the middle bar's low is 51.00; purple 4 is the last bar's close at 49.60 again. The larger gap reads as more bearish.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PHP 0.40 gap between the first bar's high of 50.00 and the middle bar's low of 50.40.</a:t>
            </a:r>
          </a:p>
          <a:p>
            <a:r>
              <a:rPr sz="1400"/>
              <a:t>- Red 2 is the last bar's close at 49.60, back below the gap.</a:t>
            </a:r>
          </a:p>
          <a:p>
            <a:r>
              <a:rPr sz="1400"/>
              <a:t>- Blue 3 boxes the PHP 1.00 gap when the middle bar's low is 51.00; purple 4 is the last bar's close at 49.60 again. The larger gap reads as more bearish.</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 1 is the one exception to the quiet middle.</a:t>
            </a:r>
          </a:p>
          <a:p>
            <a:r>
              <a:rPr sz="1400"/>
              <a:t>- Lim gives the reason: the buyers could not hold the close near the bar's midpoint.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Wide outer bars, a quiet middle, a heavy last bar: every rule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pattern where heavy middle volume is more bearish, not less.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gap that held the buyers up is given back by bar 3.</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leave bar 2 alone on an island. Part 3 reads island reversals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Engulfs means the third bar trades beyond both the high and the low of the second.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preferred case closes below both levels, as here.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six shapes, turned over,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1.</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2.</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3.</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5.</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6.</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Multiple means several bars between the first and the last.</a:t>
            </a:r>
          </a:p>
          <a:p>
            <a:r>
              <a:rPr sz="1400"/>
              <a:t>- Our charts draw two middle bars so every price stays readable.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Lim's summary sentence slowly: extremely high OR low volume, on the wide bars.</a:t>
            </a:r>
          </a:p>
          <a:p>
            <a:r>
              <a:rPr sz="1400"/>
              <a:t>- This is the one place where both high and low volume point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drawing left to right: first, middle, last.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buyers hold the price up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drawing for the volume exception.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would 0.4 million on the wide bars mean? Also bearish (p. 215).</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narrow bars sit inside the first bar, not up at its high.</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Inside the first bar: the same containment idea as an inside bar, stretched over several bars.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isolate the middle group, the same island idea as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as in triple form 4; only the middle is longer.</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1.</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sellers hold the price down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2.</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volume as the bearish form 2, now read the other way because the closes sit at the highs.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plainly: the book's last bar is off the page. Our chart supplies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Continuation is agreement: a bullish pattern inside an uptrend.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Breach means trade above. Here the close is above the old high as well.</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retrace looks weak; the rebound through the old high on volume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Chapter 5 terms. Recall each by its slide name; do not re-teach the formulas.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marks in time order: the run-up, then the top.</a:t>
            </a:r>
          </a:p>
          <a:p>
            <a:r>
              <a:rPr sz="1400"/>
              <a:t>- Red sits on the run-up, before the top, where Lim says the oscillations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late jump, red 2 the shallow dips and blue 3 the final bar over the band, on our invented climb.</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late jump, red 2 the shallow dips and blue 3 the final bar over the band, on our invented climb.</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Numbers make the three warnings concrete; none of them is a sell signal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Lim singles out.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bar shape as form 1 of Figure 7.4; the barrier is what adds weight.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last two bars they would trust more, and why.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3 begins with key reversal bars on real charts, where this barrier idea returns.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Part 2 and open Part 3 by name.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key reversal bar's low, below the lower band. Mark 2 is its close near the high.</a:t>
            </a:r>
          </a:p>
          <a:p>
            <a:r>
              <a:rPr sz="1400"/>
              <a:t>-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label. Mark 4 is the extreme volume under the key reversal bar.</a:t>
            </a:r>
          </a:p>
          <a:p>
            <a:r>
              <a:rPr sz="1400"/>
              <a:t>- Lim calls the close near the high on extreme volume indicative of a selling climax.</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last bar, which closes above the lower band.</a:t>
            </a:r>
          </a:p>
          <a:p>
            <a:r>
              <a:rPr sz="1400"/>
              <a:t>-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reading under the pattern.</a:t>
            </a:r>
          </a:p>
          <a:p>
            <a:r>
              <a:rPr sz="1400"/>
              <a:t>- The book gives no StochRSI formula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4 is the low volume under the island. Mark 5 is the overbought stochastic label.</a:t>
            </a:r>
          </a:p>
          <a:p>
            <a:r>
              <a:rPr sz="1400"/>
              <a:t>- No stochastic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Lim gives only the short version and sends readers to DiNapoli for the rest.</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Bullish: inside bar 40.00 to 43.00, false low 39.00, long when bar 4 closes at 43.40, above 43.00.</a:t>
            </a:r>
          </a:p>
          <a:p>
            <a:r>
              <a:rPr sz="1400"/>
              <a:t>- This mirrors the bearish example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section first: Lim's 7.4 is volatility-based breakout patterns. It opens with the Hikkake, already read at the end of Part 3.</a:t>
            </a:r>
          </a:p>
          <a:p>
            <a:r>
              <a:rPr sz="1400"/>
              <a:t>- Recall Chapter 5 before any number: a sell-stop fills only if price falls to it, a buy-stop only if price rises to it, and a stoploss closes a position that moves against us.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Oops in the book's words, then name the gap-up case: it is the bearish Oops.</a:t>
            </a:r>
          </a:p>
          <a:p>
            <a:r>
              <a:rPr sz="1400"/>
              <a:t>- The point: the order fills only if price comes back against the gap.</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on the right-hand drawing, the sell setup: gold 1 the gap-up open, red 2 the sell-stop level, blue 3 the stop and reverse level.</a:t>
            </a:r>
          </a:p>
          <a:p>
            <a:r>
              <a:rPr sz="1400"/>
              <a:t>- Then the left-hand drawing, the buy setup: purple 4 the gap down, red 5 the buy-stop at the previous low, blue 6 the stop and reverse level at the new low.</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bearish Oops. Gold 1 is the Oops bar, which opens above the previous bar's high.</a:t>
            </a:r>
          </a:p>
          <a:p>
            <a:r>
              <a:rPr sz="1400"/>
              <a:t>- Red 2 is the sell-stop at the previous high and blue 3 the stop and reverse buy-stop at the current bar's high, both as the book labels them.</a:t>
            </a:r>
          </a:p>
          <a:p>
            <a:r>
              <a:rPr sz="1400"/>
              <a:t>- Keep it honest: the arrow is the expected move in this example,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says where to look: a bullish Oops in an uptrend, a bearish Oops in a downtrend.</a:t>
            </a:r>
          </a:p>
          <a:p>
            <a:r>
              <a:rPr sz="1400"/>
              <a:t>- Gold 1 is the steep fall at the start of the chart; red 2 is the bearish Oops bar.</a:t>
            </a:r>
          </a:p>
          <a:p>
            <a:r>
              <a:rPr sz="1400"/>
              <a:t>- The four candlestick names are only named in Chapter 7. Do not define them.</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its two parts before any number: an inside day, and the narrowest range of the last n bars.</a:t>
            </a:r>
          </a:p>
          <a:p>
            <a:r>
              <a:rPr sz="1400"/>
              <a:t>- Both parts are already known: the inside bar from Part 3 and the range from Part 1.</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but no reason; say plainly that the plain reading is ours.</a:t>
            </a:r>
          </a:p>
          <a:p>
            <a:r>
              <a:rPr sz="1400"/>
              <a:t>- Neutrality is in the book: no bearish or bullish sentiment.</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counts the six bars, 2 to 7. Red 2 holds bars 6 and 7: the book's arrow names bar 7 the inside bar with the narrowest range.</a:t>
            </a:r>
          </a:p>
          <a:p>
            <a:r>
              <a:rPr sz="1400"/>
              <a:t>- Blue 3 and purple 4 are the book's long and short trigger levels, drawn from bar 6's high and low.</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no bearish or bullish sentiment, and the breakout can go either way.</a:t>
            </a:r>
          </a:p>
          <a:p>
            <a:r>
              <a:rPr sz="1400"/>
              <a:t>- Gold 1 and red 2 are the two triggers. Blue 3 is the tall arrow in this drawing, which points down through the short trigger.</a:t>
            </a:r>
          </a:p>
          <a:p>
            <a:r>
              <a:rPr sz="1400"/>
              <a:t>- The practical rule: count, confirm the inside bar, then wait.</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February, inside January and the narrowest of the five months in red 2, October to February.</a:t>
            </a:r>
          </a:p>
          <a:p>
            <a:r>
              <a:rPr sz="1400"/>
              <a:t>- Blue 3 is March, the upside breakout the book labels.</a:t>
            </a:r>
          </a:p>
          <a:p>
            <a:r>
              <a:rPr sz="1400"/>
              <a:t>- Say plainly that the two figures draw the trigger lines in different places and the text does not settle it; here March clears both.</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question first, then answer it in two halves: the exhaustion bar on this slide, the pin bar and the difference on the next.</a:t>
            </a:r>
          </a:p>
          <a:p>
            <a:r>
              <a:rPr sz="1400"/>
              <a:t>- Gold 1 is the bullish exhaustion bar the book labels in Figure 7.28.</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pin bar's tail below support; red 2 is the support line it breaches.</a:t>
            </a:r>
          </a:p>
          <a:p>
            <a:r>
              <a:rPr sz="1400"/>
              <a:t>- Then give Lim's own answer to the question, from p. 227: the false impression and the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and the definition but no further reason; say plainly which sentence is our reading.</a:t>
            </a:r>
          </a:p>
          <a:p>
            <a:r>
              <a:rPr sz="1400"/>
              <a:t>- Gold 1 is the inside bar the book's arrow names in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Apple's key reversal day; red 2 is its above-average volume bar.</a:t>
            </a:r>
          </a:p>
          <a:p>
            <a:r>
              <a:rPr sz="1400"/>
              <a:t>- Keep the follow-through honest: the book says the market may hover before it falls.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first eight as names; Chapter 5 gave the detail.</a:t>
            </a:r>
          </a:p>
          <a:p>
            <a:r>
              <a:rPr sz="1400"/>
              <a:t>- Read every name as evidence of a potential reversal,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Finish the list, then stress barrier proximity, which Lim singles out.</a:t>
            </a:r>
          </a:p>
          <a:p>
            <a:r>
              <a:rPr sz="1400"/>
              <a:t>- These are clues to a potential reversal, not guarantees.</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book's volume sentences on pp. 212 to 214.</a:t>
            </a:r>
          </a:p>
          <a:p>
            <a:r>
              <a:rPr sz="1400"/>
              <a:t>- Keep the qualification: volume adds weight, it does not guarantee.</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pattern 1, red 2 is pattern 2; read the book's captions for each.</a:t>
            </a:r>
          </a:p>
          <a:p>
            <a:r>
              <a:rPr sz="1400"/>
              <a:t>- For the trading half, say honestly that Chapter 7 gives reliability conditions, not entry and exit rules.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are the book's two inside bars, each with the wider bar that holds it, both at resistance.</a:t>
            </a:r>
          </a:p>
          <a:p>
            <a:r>
              <a:rPr sz="1400"/>
              <a:t>- The figure has no volume panel, so the volume half of the rule is read from the text, not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only what Chapter 7 shows: oscillators agreeing with a bar reversal. The method is Chapter 8.</a:t>
            </a:r>
          </a:p>
          <a:p>
            <a:r>
              <a:rPr sz="1400"/>
              <a:t>- Gold 1 is inside bar 2; red 2 is the bearish divergence the book labels in the oscillator panel.</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second way: the formation's own lean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way of sorting is the intrinsic bias or sentiment of a formation: whether the formation itself leans bullish or bearish (pp. 210 to 211). Chapter 4 called this intrinsic bias. His example: a standard head and shoulders </a:t>
            </a:r>
            <a:r>
              <a:rPr sz="1700" b="1" i="0">
                <a:solidFill>
                  <a:srgbClr val="E09B00"/>
                </a:solidFill>
                <a:latin typeface="Arial"/>
              </a:rPr>
              <a:t>(1)</a:t>
            </a:r>
            <a:r>
              <a:rPr sz="1700" b="0" i="0">
                <a:solidFill>
                  <a:srgbClr val="1A1A1A"/>
                </a:solidFill>
                <a:latin typeface="Arial"/>
              </a:rPr>
              <a:t> is intrinsically bearish, and an inverted head and shoulders </a:t>
            </a:r>
            <a:r>
              <a:rPr sz="1700" b="1" i="0">
                <a:solidFill>
                  <a:srgbClr val="C62828"/>
                </a:solidFill>
                <a:latin typeface="Arial"/>
              </a:rPr>
              <a:t>(2)</a:t>
            </a:r>
            <a:r>
              <a:rPr sz="1700" b="0" i="0">
                <a:solidFill>
                  <a:srgbClr val="1A1A1A"/>
                </a:solidFill>
                <a:latin typeface="Arial"/>
              </a:rPr>
              <a:t> is intrinsically bullish (p. 211).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s-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24712" y="2889504"/>
            <a:ext cx="4571999" cy="2633472"/>
          </a:xfrm>
          <a:prstGeom prst="rect">
            <a:avLst/>
          </a:prstGeom>
          <a:noFill/>
          <a:ln w="44450">
            <a:solidFill>
              <a:srgbClr val="E09B00"/>
            </a:solidFill>
          </a:ln>
        </p:spPr>
        <p:txBody>
          <a:bodyPr rtlCol="0" anchor="ctr"/>
          <a:lstStyle/>
          <a:p>
            <a:pPr algn="ctr"/>
          </a:p>
        </p:txBody>
      </p:sp>
      <p:sp>
        <p:nvSpPr>
          <p:cNvPr id="10" name="Rectangle 9"/>
          <p:cNvSpPr/>
          <p:nvPr/>
        </p:nvSpPr>
        <p:spPr>
          <a:xfrm>
            <a:off x="6153912" y="2889504"/>
            <a:ext cx="4572000" cy="2633472"/>
          </a:xfrm>
          <a:prstGeom prst="rect">
            <a:avLst/>
          </a:prstGeom>
          <a:noFill/>
          <a:ln w="44450">
            <a:solidFill>
              <a:srgbClr val="C62828"/>
            </a:solidFill>
          </a:ln>
        </p:spPr>
        <p:txBody>
          <a:bodyPr rtlCol="0" anchor="ctr"/>
          <a:lstStyle/>
          <a:p>
            <a:pPr algn="ctr"/>
          </a:p>
        </p:txBody>
      </p:sp>
      <p:sp>
        <p:nvSpPr>
          <p:cNvPr id="11" name="Oval 10"/>
          <p:cNvSpPr/>
          <p:nvPr/>
        </p:nvSpPr>
        <p:spPr>
          <a:xfrm>
            <a:off x="5861304"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89050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HS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of the two shapes Lim names on p. 211.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second way: the formation's own lean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lean belongs to the formation, so it stays the same whichever trend the formation appears in. Intrinsic sentiment is about the formation, not the trend around it.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s-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24712" y="2889504"/>
            <a:ext cx="4571999" cy="2633472"/>
          </a:xfrm>
          <a:prstGeom prst="rect">
            <a:avLst/>
          </a:prstGeom>
          <a:noFill/>
          <a:ln w="44450">
            <a:solidFill>
              <a:srgbClr val="E09B00"/>
            </a:solidFill>
          </a:ln>
        </p:spPr>
        <p:txBody>
          <a:bodyPr rtlCol="0" anchor="ctr"/>
          <a:lstStyle/>
          <a:p>
            <a:pPr algn="ctr"/>
          </a:p>
        </p:txBody>
      </p:sp>
      <p:sp>
        <p:nvSpPr>
          <p:cNvPr id="10" name="Rectangle 9"/>
          <p:cNvSpPr/>
          <p:nvPr/>
        </p:nvSpPr>
        <p:spPr>
          <a:xfrm>
            <a:off x="6153912" y="2889504"/>
            <a:ext cx="4572000" cy="2633472"/>
          </a:xfrm>
          <a:prstGeom prst="rect">
            <a:avLst/>
          </a:prstGeom>
          <a:noFill/>
          <a:ln w="44450">
            <a:solidFill>
              <a:srgbClr val="C62828"/>
            </a:solidFill>
          </a:ln>
        </p:spPr>
        <p:txBody>
          <a:bodyPr rtlCol="0" anchor="ctr"/>
          <a:lstStyle/>
          <a:p>
            <a:pPr algn="ctr"/>
          </a:p>
        </p:txBody>
      </p:sp>
      <p:sp>
        <p:nvSpPr>
          <p:cNvPr id="11" name="Oval 10"/>
          <p:cNvSpPr/>
          <p:nvPr/>
        </p:nvSpPr>
        <p:spPr>
          <a:xfrm>
            <a:off x="5861304"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89050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HS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of the two shapes Lim names on p. 211.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low leans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 For example, with prices of ours: one bar has a low of PHP 47.90 </a:t>
            </a:r>
            <a:r>
              <a:rPr sz="1700" b="1" i="0">
                <a:solidFill>
                  <a:srgbClr val="E09B00"/>
                </a:solidFill>
                <a:latin typeface="Arial"/>
              </a:rPr>
              <a:t>(1)</a:t>
            </a:r>
            <a:r>
              <a:rPr sz="1700" b="0" i="0">
                <a:solidFill>
                  <a:srgbClr val="1A1A1A"/>
                </a:solidFill>
                <a:latin typeface="Arial"/>
              </a:rPr>
              <a:t> and the next bar closes at PHP 47.50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49937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79894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246150" y="4229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56912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LW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low leans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close is below the previous low, so this two-bar formation leans bearish. Lim calls it a general rule, so treat it as a clue, not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49937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79894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246150" y="4229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56912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LW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uptrend with two different formations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comparison drawn. In both panels prices have been rising, so the trend sentiment is bullish. A bullish formation </a:t>
            </a:r>
            <a:r>
              <a:rPr sz="1700" b="1" i="0">
                <a:solidFill>
                  <a:srgbClr val="E09B00"/>
                </a:solidFill>
                <a:latin typeface="Arial"/>
              </a:rPr>
              <a:t>(1)</a:t>
            </a:r>
            <a:r>
              <a:rPr sz="1700" b="0" i="0">
                <a:solidFill>
                  <a:srgbClr val="1A1A1A"/>
                </a:solidFill>
                <a:latin typeface="Arial"/>
              </a:rPr>
              <a:t> agrees with it, so Lim considers it a continuation. A bearish formation </a:t>
            </a:r>
            <a:r>
              <a:rPr sz="1700" b="1" i="0">
                <a:solidFill>
                  <a:srgbClr val="C62828"/>
                </a:solidFill>
                <a:latin typeface="Arial"/>
              </a:rPr>
              <a:t>(2)</a:t>
            </a:r>
            <a:r>
              <a:rPr sz="1700" b="0" i="0">
                <a:solidFill>
                  <a:srgbClr val="1A1A1A"/>
                </a:solidFill>
                <a:latin typeface="Arial"/>
              </a:rPr>
              <a:t> disagrees, so it is a reversal (p. 211).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x-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069080" y="3063239"/>
            <a:ext cx="1719072" cy="1188720"/>
          </a:xfrm>
          <a:prstGeom prst="rect">
            <a:avLst/>
          </a:prstGeom>
          <a:noFill/>
          <a:ln w="44450">
            <a:solidFill>
              <a:srgbClr val="E09B00"/>
            </a:solidFill>
          </a:ln>
        </p:spPr>
        <p:txBody>
          <a:bodyPr rtlCol="0" anchor="ctr"/>
          <a:lstStyle/>
          <a:p>
            <a:pPr algn="ctr"/>
          </a:p>
        </p:txBody>
      </p:sp>
      <p:sp>
        <p:nvSpPr>
          <p:cNvPr id="10" name="Rectangle 9"/>
          <p:cNvSpPr/>
          <p:nvPr/>
        </p:nvSpPr>
        <p:spPr>
          <a:xfrm>
            <a:off x="9281160" y="3479291"/>
            <a:ext cx="1719072" cy="1124712"/>
          </a:xfrm>
          <a:prstGeom prst="rect">
            <a:avLst/>
          </a:prstGeom>
          <a:noFill/>
          <a:ln w="44450">
            <a:solidFill>
              <a:srgbClr val="C62828"/>
            </a:solidFill>
          </a:ln>
        </p:spPr>
        <p:txBody>
          <a:bodyPr rtlCol="0" anchor="ctr"/>
          <a:lstStyle/>
          <a:p>
            <a:pPr algn="ctr"/>
          </a:p>
        </p:txBody>
      </p:sp>
      <p:sp>
        <p:nvSpPr>
          <p:cNvPr id="11" name="Oval 10"/>
          <p:cNvSpPr/>
          <p:nvPr/>
        </p:nvSpPr>
        <p:spPr>
          <a:xfrm>
            <a:off x="5952744" y="352958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999243" y="319322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EX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rule, p. 211.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One bullish formation in two different trends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why we keep the two sentiments apart. In a formation of ours the second bar closes at PHP 48.60 </a:t>
            </a:r>
            <a:r>
              <a:rPr sz="1700" b="1" i="0">
                <a:solidFill>
                  <a:srgbClr val="E09B00"/>
                </a:solidFill>
                <a:latin typeface="Arial"/>
              </a:rPr>
              <a:t>(1)</a:t>
            </a:r>
            <a:r>
              <a:rPr sz="1700" b="0" i="0">
                <a:solidFill>
                  <a:srgbClr val="1A1A1A"/>
                </a:solidFill>
                <a:latin typeface="Arial"/>
              </a:rPr>
              <a:t>, above the first bar's high of PHP 48.30 </a:t>
            </a:r>
            <a:r>
              <a:rPr sz="1700" b="1" i="0">
                <a:solidFill>
                  <a:srgbClr val="C62828"/>
                </a:solidFill>
                <a:latin typeface="Arial"/>
              </a:rPr>
              <a:t>(2)</a:t>
            </a:r>
            <a:r>
              <a:rPr sz="1700" b="0" i="0">
                <a:solidFill>
                  <a:srgbClr val="1A1A1A"/>
                </a:solidFill>
                <a:latin typeface="Arial"/>
              </a:rPr>
              <a:t>, so it is intrinsically bullish. Suppose prices rose </a:t>
            </a:r>
            <a:r>
              <a:rPr sz="1700" b="1" i="0">
                <a:solidFill>
                  <a:srgbClr val="1F5FAD"/>
                </a:solidFill>
                <a:latin typeface="Arial"/>
              </a:rPr>
              <a:t>(3)</a:t>
            </a:r>
            <a:r>
              <a:rPr sz="1700" b="0" i="0">
                <a:solidFill>
                  <a:srgbClr val="1A1A1A"/>
                </a:solidFill>
                <a:latin typeface="Arial"/>
              </a:rPr>
              <a:t> from PHP 45.60 to PHP 48.10 before it. Trend sentiment is bullish, the two agree, and the expectation is continuation.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t-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046334" y="3920665"/>
            <a:ext cx="2630859" cy="1603716"/>
          </a:xfrm>
          <a:prstGeom prst="rect">
            <a:avLst/>
          </a:prstGeom>
          <a:noFill/>
          <a:ln w="44450">
            <a:solidFill>
              <a:srgbClr val="1F5FAD"/>
            </a:solidFill>
          </a:ln>
        </p:spPr>
        <p:txBody>
          <a:bodyPr rtlCol="0" anchor="ctr"/>
          <a:lstStyle/>
          <a:p>
            <a:pPr algn="ctr"/>
          </a:p>
        </p:txBody>
      </p:sp>
      <p:sp>
        <p:nvSpPr>
          <p:cNvPr id="10" name="Rectangle 9"/>
          <p:cNvSpPr/>
          <p:nvPr/>
        </p:nvSpPr>
        <p:spPr>
          <a:xfrm>
            <a:off x="6258414" y="3084341"/>
            <a:ext cx="2630859" cy="1546039"/>
          </a:xfrm>
          <a:prstGeom prst="rect">
            <a:avLst/>
          </a:prstGeom>
          <a:noFill/>
          <a:ln w="44450">
            <a:solidFill>
              <a:srgbClr val="7B3FA0"/>
            </a:solidFill>
          </a:ln>
        </p:spPr>
        <p:txBody>
          <a:bodyPr rtlCol="0" anchor="ctr"/>
          <a:lstStyle/>
          <a:p>
            <a:pPr algn="ctr"/>
          </a:p>
        </p:txBody>
      </p:sp>
      <p:sp>
        <p:nvSpPr>
          <p:cNvPr id="11" name="Oval 10"/>
          <p:cNvSpPr/>
          <p:nvPr/>
        </p:nvSpPr>
        <p:spPr>
          <a:xfrm>
            <a:off x="5057154" y="392741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4052620" y="4013934"/>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3737990" y="43028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90442" y="318823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5006056" y="40305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4317893" y="39914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TT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One bullish formation in two different trends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suppose prices fell </a:t>
            </a:r>
            <a:r>
              <a:rPr sz="1700" b="1" i="0">
                <a:solidFill>
                  <a:srgbClr val="7B3FA0"/>
                </a:solidFill>
                <a:latin typeface="Arial"/>
              </a:rPr>
              <a:t>(4)</a:t>
            </a:r>
            <a:r>
              <a:rPr sz="1700" b="0" i="0">
                <a:solidFill>
                  <a:srgbClr val="1A1A1A"/>
                </a:solidFill>
                <a:latin typeface="Arial"/>
              </a:rPr>
              <a:t> from PHP 50.60 to PHP 48.10 before it. Trend sentiment is bearish, the two disagree, and the expectation is a potential reversal. The formation never changed; only the trend around it did.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t-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046334" y="3920665"/>
            <a:ext cx="2630859" cy="1603716"/>
          </a:xfrm>
          <a:prstGeom prst="rect">
            <a:avLst/>
          </a:prstGeom>
          <a:noFill/>
          <a:ln w="44450">
            <a:solidFill>
              <a:srgbClr val="1F5FAD"/>
            </a:solidFill>
          </a:ln>
        </p:spPr>
        <p:txBody>
          <a:bodyPr rtlCol="0" anchor="ctr"/>
          <a:lstStyle/>
          <a:p>
            <a:pPr algn="ctr"/>
          </a:p>
        </p:txBody>
      </p:sp>
      <p:sp>
        <p:nvSpPr>
          <p:cNvPr id="10" name="Rectangle 9"/>
          <p:cNvSpPr/>
          <p:nvPr/>
        </p:nvSpPr>
        <p:spPr>
          <a:xfrm>
            <a:off x="6258414" y="3084341"/>
            <a:ext cx="2630859" cy="1546039"/>
          </a:xfrm>
          <a:prstGeom prst="rect">
            <a:avLst/>
          </a:prstGeom>
          <a:noFill/>
          <a:ln w="44450">
            <a:solidFill>
              <a:srgbClr val="7B3FA0"/>
            </a:solidFill>
          </a:ln>
        </p:spPr>
        <p:txBody>
          <a:bodyPr rtlCol="0" anchor="ctr"/>
          <a:lstStyle/>
          <a:p>
            <a:pPr algn="ctr"/>
          </a:p>
        </p:txBody>
      </p:sp>
      <p:sp>
        <p:nvSpPr>
          <p:cNvPr id="11" name="Oval 10"/>
          <p:cNvSpPr/>
          <p:nvPr/>
        </p:nvSpPr>
        <p:spPr>
          <a:xfrm>
            <a:off x="5057154" y="392741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4052620" y="4013934"/>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3737990" y="43028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90442" y="318823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5006056" y="40305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4317893" y="39914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TT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18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rule gives four combinations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Put the two sentiments together and there are four cases (p. 211). In an uptrend, a bullish formation </a:t>
            </a:r>
            <a:r>
              <a:rPr sz="1700" b="1" i="0">
                <a:solidFill>
                  <a:srgbClr val="E09B00"/>
                </a:solidFill>
                <a:latin typeface="Arial"/>
              </a:rPr>
              <a:t>(1)</a:t>
            </a:r>
            <a:r>
              <a:rPr sz="1700" b="0" i="0">
                <a:solidFill>
                  <a:srgbClr val="1A1A1A"/>
                </a:solidFill>
                <a:latin typeface="Arial"/>
              </a:rPr>
              <a:t> agrees with the trend, so Lim considers it a continuation. A bearish formation </a:t>
            </a:r>
            <a:r>
              <a:rPr sz="1700" b="1" i="0">
                <a:solidFill>
                  <a:srgbClr val="C62828"/>
                </a:solidFill>
                <a:latin typeface="Arial"/>
              </a:rPr>
              <a:t>(2)</a:t>
            </a:r>
            <a:r>
              <a:rPr sz="1700" b="0" i="0">
                <a:solidFill>
                  <a:srgbClr val="1A1A1A"/>
                </a:solidFill>
                <a:latin typeface="Arial"/>
              </a:rPr>
              <a:t> disagrees, so it is a potential reversal. In a downtrend, a bullish formation </a:t>
            </a:r>
            <a:r>
              <a:rPr sz="1700" b="1" i="0">
                <a:solidFill>
                  <a:srgbClr val="1F5FAD"/>
                </a:solidFill>
                <a:latin typeface="Arial"/>
              </a:rPr>
              <a:t>(3)</a:t>
            </a:r>
            <a:r>
              <a:rPr sz="1700" b="0" i="0">
                <a:solidFill>
                  <a:srgbClr val="1A1A1A"/>
                </a:solidFill>
                <a:latin typeface="Arial"/>
              </a:rPr>
              <a:t> disagrees, so it is a potential reversal. A bearish formation </a:t>
            </a:r>
            <a:r>
              <a:rPr sz="1700" b="1" i="0">
                <a:solidFill>
                  <a:srgbClr val="7B3FA0"/>
                </a:solidFill>
                <a:latin typeface="Arial"/>
              </a:rPr>
              <a:t>(4)</a:t>
            </a:r>
            <a:r>
              <a:rPr sz="1700" b="0" i="0">
                <a:solidFill>
                  <a:srgbClr val="1A1A1A"/>
                </a:solidFill>
                <a:latin typeface="Arial"/>
              </a:rPr>
              <a:t> agrees, so it is a continuation.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096262" y="2478024"/>
            <a:ext cx="1028700" cy="822959"/>
          </a:xfrm>
          <a:prstGeom prst="rect">
            <a:avLst/>
          </a:prstGeom>
          <a:noFill/>
          <a:ln w="44450">
            <a:solidFill>
              <a:srgbClr val="E09B00"/>
            </a:solidFill>
          </a:ln>
        </p:spPr>
        <p:txBody>
          <a:bodyPr rtlCol="0" anchor="ctr"/>
          <a:lstStyle/>
          <a:p>
            <a:pPr algn="ctr"/>
          </a:p>
        </p:txBody>
      </p:sp>
      <p:sp>
        <p:nvSpPr>
          <p:cNvPr id="10" name="Rectangle 9"/>
          <p:cNvSpPr/>
          <p:nvPr/>
        </p:nvSpPr>
        <p:spPr>
          <a:xfrm>
            <a:off x="7308342" y="2478024"/>
            <a:ext cx="1028699" cy="1136782"/>
          </a:xfrm>
          <a:prstGeom prst="rect">
            <a:avLst/>
          </a:prstGeom>
          <a:noFill/>
          <a:ln w="44450">
            <a:solidFill>
              <a:srgbClr val="C62828"/>
            </a:solidFill>
          </a:ln>
        </p:spPr>
        <p:txBody>
          <a:bodyPr rtlCol="0" anchor="ctr"/>
          <a:lstStyle/>
          <a:p>
            <a:pPr algn="ctr"/>
          </a:p>
        </p:txBody>
      </p:sp>
      <p:sp>
        <p:nvSpPr>
          <p:cNvPr id="11" name="Rectangle 10"/>
          <p:cNvSpPr/>
          <p:nvPr/>
        </p:nvSpPr>
        <p:spPr>
          <a:xfrm>
            <a:off x="2096262" y="4367905"/>
            <a:ext cx="1028700" cy="1136782"/>
          </a:xfrm>
          <a:prstGeom prst="rect">
            <a:avLst/>
          </a:prstGeom>
          <a:noFill/>
          <a:ln w="44450">
            <a:solidFill>
              <a:srgbClr val="1F5FAD"/>
            </a:solidFill>
          </a:ln>
        </p:spPr>
        <p:txBody>
          <a:bodyPr rtlCol="0" anchor="ctr"/>
          <a:lstStyle/>
          <a:p>
            <a:pPr algn="ctr"/>
          </a:p>
        </p:txBody>
      </p:sp>
      <p:sp>
        <p:nvSpPr>
          <p:cNvPr id="12" name="Rectangle 11"/>
          <p:cNvSpPr/>
          <p:nvPr/>
        </p:nvSpPr>
        <p:spPr>
          <a:xfrm>
            <a:off x="7308342" y="4681728"/>
            <a:ext cx="1028699" cy="822959"/>
          </a:xfrm>
          <a:prstGeom prst="rect">
            <a:avLst/>
          </a:prstGeom>
          <a:noFill/>
          <a:ln w="44450">
            <a:solidFill>
              <a:srgbClr val="7B3FA0"/>
            </a:solidFill>
          </a:ln>
        </p:spPr>
        <p:txBody>
          <a:bodyPr rtlCol="0" anchor="ctr"/>
          <a:lstStyle/>
          <a:p>
            <a:pPr algn="ctr"/>
          </a:p>
        </p:txBody>
      </p:sp>
      <p:sp>
        <p:nvSpPr>
          <p:cNvPr id="13" name="Oval 12"/>
          <p:cNvSpPr/>
          <p:nvPr/>
        </p:nvSpPr>
        <p:spPr>
          <a:xfrm>
            <a:off x="3289554" y="27614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501634" y="29183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3289554" y="480828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501634" y="496519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FC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19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four combinations, p. 211.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rule gives four combinations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suggests continuation; disagreement suggests a potential reversal.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096262" y="2478024"/>
            <a:ext cx="1028700" cy="822959"/>
          </a:xfrm>
          <a:prstGeom prst="rect">
            <a:avLst/>
          </a:prstGeom>
          <a:noFill/>
          <a:ln w="44450">
            <a:solidFill>
              <a:srgbClr val="E09B00"/>
            </a:solidFill>
          </a:ln>
        </p:spPr>
        <p:txBody>
          <a:bodyPr rtlCol="0" anchor="ctr"/>
          <a:lstStyle/>
          <a:p>
            <a:pPr algn="ctr"/>
          </a:p>
        </p:txBody>
      </p:sp>
      <p:sp>
        <p:nvSpPr>
          <p:cNvPr id="10" name="Rectangle 9"/>
          <p:cNvSpPr/>
          <p:nvPr/>
        </p:nvSpPr>
        <p:spPr>
          <a:xfrm>
            <a:off x="7308342" y="2478024"/>
            <a:ext cx="1028699" cy="1136782"/>
          </a:xfrm>
          <a:prstGeom prst="rect">
            <a:avLst/>
          </a:prstGeom>
          <a:noFill/>
          <a:ln w="44450">
            <a:solidFill>
              <a:srgbClr val="C62828"/>
            </a:solidFill>
          </a:ln>
        </p:spPr>
        <p:txBody>
          <a:bodyPr rtlCol="0" anchor="ctr"/>
          <a:lstStyle/>
          <a:p>
            <a:pPr algn="ctr"/>
          </a:p>
        </p:txBody>
      </p:sp>
      <p:sp>
        <p:nvSpPr>
          <p:cNvPr id="11" name="Rectangle 10"/>
          <p:cNvSpPr/>
          <p:nvPr/>
        </p:nvSpPr>
        <p:spPr>
          <a:xfrm>
            <a:off x="2096262" y="4367905"/>
            <a:ext cx="1028700" cy="1136782"/>
          </a:xfrm>
          <a:prstGeom prst="rect">
            <a:avLst/>
          </a:prstGeom>
          <a:noFill/>
          <a:ln w="44450">
            <a:solidFill>
              <a:srgbClr val="1F5FAD"/>
            </a:solidFill>
          </a:ln>
        </p:spPr>
        <p:txBody>
          <a:bodyPr rtlCol="0" anchor="ctr"/>
          <a:lstStyle/>
          <a:p>
            <a:pPr algn="ctr"/>
          </a:p>
        </p:txBody>
      </p:sp>
      <p:sp>
        <p:nvSpPr>
          <p:cNvPr id="12" name="Rectangle 11"/>
          <p:cNvSpPr/>
          <p:nvPr/>
        </p:nvSpPr>
        <p:spPr>
          <a:xfrm>
            <a:off x="7308342" y="4681728"/>
            <a:ext cx="1028699" cy="822959"/>
          </a:xfrm>
          <a:prstGeom prst="rect">
            <a:avLst/>
          </a:prstGeom>
          <a:noFill/>
          <a:ln w="44450">
            <a:solidFill>
              <a:srgbClr val="7B3FA0"/>
            </a:solidFill>
          </a:ln>
        </p:spPr>
        <p:txBody>
          <a:bodyPr rtlCol="0" anchor="ctr"/>
          <a:lstStyle/>
          <a:p>
            <a:pPr algn="ctr"/>
          </a:p>
        </p:txBody>
      </p:sp>
      <p:sp>
        <p:nvSpPr>
          <p:cNvPr id="13" name="Oval 12"/>
          <p:cNvSpPr/>
          <p:nvPr/>
        </p:nvSpPr>
        <p:spPr>
          <a:xfrm>
            <a:off x="3289554" y="27614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501634" y="29183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3289554" y="480828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501634" y="496519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FC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20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four combinations, p. 211.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21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22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Section 7.2 reads each bar pattern against the trend around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Part 1 every formation had two sentiments. Its intrinsic sentiment is its own bullish or bearish lean; the trend sentiment is bullish in an uptrend and bearish in a downtrend (p. 211).</a:t>
            </a:r>
          </a:p>
          <a:p>
            <a:pPr algn="l">
              <a:lnSpc>
                <a:spcPct val="118000"/>
              </a:lnSpc>
              <a:spcBef>
                <a:spcPts val="0"/>
              </a:spcBef>
              <a:spcAft>
                <a:spcPts val="1300"/>
              </a:spcAft>
            </a:pPr>
            <a:r>
              <a:rPr sz="2100" b="0" i="0">
                <a:solidFill>
                  <a:srgbClr val="1A1A1A"/>
                </a:solidFill>
                <a:latin typeface="Arial"/>
              </a:rPr>
              <a:t>Section 7.2 puts the two together. When they agree, Lim calls the pattern a continuation pattern; when they disagree, he calls it a reversal pattern (p. 211).</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same pattern can mean different things in different trends: read the trend first.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own example is the head and shoulders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head and shoulders has bearish intrinsic sentiment and an inverted head and shoulders bullish, as Chapter 4's "Intrinsic bias" explains (p. 211). Let us put invented prices on it. A stock climbs from PHP 40 to PHP 50 </a:t>
            </a:r>
            <a:r>
              <a:rPr sz="1700" b="1" i="0">
                <a:solidFill>
                  <a:srgbClr val="E09B00"/>
                </a:solidFill>
                <a:latin typeface="Arial"/>
              </a:rPr>
              <a:t>(1)</a:t>
            </a:r>
            <a:r>
              <a:rPr sz="1700" b="0" i="0">
                <a:solidFill>
                  <a:srgbClr val="1A1A1A"/>
                </a:solidFill>
                <a:latin typeface="Arial"/>
              </a:rPr>
              <a:t> over ten days, so the trend sentiment is bullish. An inverted head and shoulders </a:t>
            </a:r>
            <a:r>
              <a:rPr sz="1700" b="1" i="0">
                <a:solidFill>
                  <a:srgbClr val="C62828"/>
                </a:solidFill>
                <a:latin typeface="Arial"/>
              </a:rPr>
              <a:t>(2)</a:t>
            </a:r>
            <a:r>
              <a:rPr sz="1700" b="0" i="0">
                <a:solidFill>
                  <a:srgbClr val="1A1A1A"/>
                </a:solidFill>
                <a:latin typeface="Arial"/>
              </a:rPr>
              <a:t> at PHP 50 agrees with that trend, so Lim calls it a continuation pattern.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n-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06424" y="3307515"/>
            <a:ext cx="2606040" cy="1810512"/>
          </a:xfrm>
          <a:prstGeom prst="rect">
            <a:avLst/>
          </a:prstGeom>
          <a:noFill/>
          <a:ln w="44450">
            <a:solidFill>
              <a:srgbClr val="E09B00"/>
            </a:solidFill>
          </a:ln>
        </p:spPr>
        <p:txBody>
          <a:bodyPr rtlCol="0" anchor="ctr"/>
          <a:lstStyle/>
          <a:p>
            <a:pPr algn="ctr"/>
          </a:p>
        </p:txBody>
      </p:sp>
      <p:sp>
        <p:nvSpPr>
          <p:cNvPr id="10" name="Rectangle 9"/>
          <p:cNvSpPr/>
          <p:nvPr/>
        </p:nvSpPr>
        <p:spPr>
          <a:xfrm>
            <a:off x="4025188" y="3601429"/>
            <a:ext cx="1569110" cy="609599"/>
          </a:xfrm>
          <a:prstGeom prst="rect">
            <a:avLst/>
          </a:prstGeom>
          <a:noFill/>
          <a:ln w="44450">
            <a:solidFill>
              <a:srgbClr val="C62828"/>
            </a:solidFill>
          </a:ln>
        </p:spPr>
        <p:txBody>
          <a:bodyPr rtlCol="0" anchor="ctr"/>
          <a:lstStyle/>
          <a:p>
            <a:pPr algn="ctr"/>
          </a:p>
        </p:txBody>
      </p:sp>
      <p:sp>
        <p:nvSpPr>
          <p:cNvPr id="11" name="Rectangle 10"/>
          <p:cNvSpPr/>
          <p:nvPr/>
        </p:nvSpPr>
        <p:spPr>
          <a:xfrm>
            <a:off x="9237268" y="3218252"/>
            <a:ext cx="1569110" cy="657497"/>
          </a:xfrm>
          <a:prstGeom prst="rect">
            <a:avLst/>
          </a:prstGeom>
          <a:noFill/>
          <a:ln w="44450">
            <a:solidFill>
              <a:srgbClr val="1F5FAD"/>
            </a:solidFill>
          </a:ln>
        </p:spPr>
        <p:txBody>
          <a:bodyPr rtlCol="0" anchor="ctr"/>
          <a:lstStyle/>
          <a:p>
            <a:pPr algn="ctr"/>
          </a:p>
        </p:txBody>
      </p:sp>
      <p:sp>
        <p:nvSpPr>
          <p:cNvPr id="12" name="Oval 11"/>
          <p:cNvSpPr/>
          <p:nvPr/>
        </p:nvSpPr>
        <p:spPr>
          <a:xfrm>
            <a:off x="3584448" y="288689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5758891" y="377821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970971" y="341898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The prices are invented for teaching.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own example is the head and shoulders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head and shoulders </a:t>
            </a:r>
            <a:r>
              <a:rPr sz="1700" b="1" i="0">
                <a:solidFill>
                  <a:srgbClr val="1F5FAD"/>
                </a:solidFill>
                <a:latin typeface="Arial"/>
              </a:rPr>
              <a:t>(3)</a:t>
            </a:r>
            <a:r>
              <a:rPr sz="1700" b="0" i="0">
                <a:solidFill>
                  <a:srgbClr val="1A1A1A"/>
                </a:solidFill>
                <a:latin typeface="Arial"/>
              </a:rPr>
              <a:t> in the same place disagrees, so it is a reversal pattern.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n-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06424" y="3307515"/>
            <a:ext cx="2606040" cy="1810512"/>
          </a:xfrm>
          <a:prstGeom prst="rect">
            <a:avLst/>
          </a:prstGeom>
          <a:noFill/>
          <a:ln w="44450">
            <a:solidFill>
              <a:srgbClr val="E09B00"/>
            </a:solidFill>
          </a:ln>
        </p:spPr>
        <p:txBody>
          <a:bodyPr rtlCol="0" anchor="ctr"/>
          <a:lstStyle/>
          <a:p>
            <a:pPr algn="ctr"/>
          </a:p>
        </p:txBody>
      </p:sp>
      <p:sp>
        <p:nvSpPr>
          <p:cNvPr id="10" name="Rectangle 9"/>
          <p:cNvSpPr/>
          <p:nvPr/>
        </p:nvSpPr>
        <p:spPr>
          <a:xfrm>
            <a:off x="4025188" y="3601429"/>
            <a:ext cx="1569110" cy="609599"/>
          </a:xfrm>
          <a:prstGeom prst="rect">
            <a:avLst/>
          </a:prstGeom>
          <a:noFill/>
          <a:ln w="44450">
            <a:solidFill>
              <a:srgbClr val="C62828"/>
            </a:solidFill>
          </a:ln>
        </p:spPr>
        <p:txBody>
          <a:bodyPr rtlCol="0" anchor="ctr"/>
          <a:lstStyle/>
          <a:p>
            <a:pPr algn="ctr"/>
          </a:p>
        </p:txBody>
      </p:sp>
      <p:sp>
        <p:nvSpPr>
          <p:cNvPr id="11" name="Rectangle 10"/>
          <p:cNvSpPr/>
          <p:nvPr/>
        </p:nvSpPr>
        <p:spPr>
          <a:xfrm>
            <a:off x="9237268" y="3218252"/>
            <a:ext cx="1569110" cy="657497"/>
          </a:xfrm>
          <a:prstGeom prst="rect">
            <a:avLst/>
          </a:prstGeom>
          <a:noFill/>
          <a:ln w="44450">
            <a:solidFill>
              <a:srgbClr val="1F5FAD"/>
            </a:solidFill>
          </a:ln>
        </p:spPr>
        <p:txBody>
          <a:bodyPr rtlCol="0" anchor="ctr"/>
          <a:lstStyle/>
          <a:p>
            <a:pPr algn="ctr"/>
          </a:p>
        </p:txBody>
      </p:sp>
      <p:sp>
        <p:nvSpPr>
          <p:cNvPr id="12" name="Oval 11"/>
          <p:cNvSpPr/>
          <p:nvPr/>
        </p:nvSpPr>
        <p:spPr>
          <a:xfrm>
            <a:off x="3584448" y="288689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5758891" y="377821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970971" y="341898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The prices are invented for teaching.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climbs from PHP 40 to PHP 50, and then a bearish pattern forms. What does Lim call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continuation pattern</a:t>
            </a:r>
          </a:p>
          <a:p>
            <a:pPr algn="l">
              <a:lnSpc>
                <a:spcPct val="112000"/>
              </a:lnSpc>
              <a:spcBef>
                <a:spcPts val="0"/>
              </a:spcBef>
              <a:spcAft>
                <a:spcPts val="900"/>
              </a:spcAft>
            </a:pPr>
            <a:r>
              <a:rPr sz="1700" b="0" i="0">
                <a:solidFill>
                  <a:srgbClr val="FFFFFF"/>
                </a:solidFill>
                <a:latin typeface="Arial"/>
              </a:rPr>
              <a:t>B.  A reversal pattern</a:t>
            </a:r>
          </a:p>
          <a:p>
            <a:pPr algn="l">
              <a:lnSpc>
                <a:spcPct val="112000"/>
              </a:lnSpc>
              <a:spcBef>
                <a:spcPts val="0"/>
              </a:spcBef>
              <a:spcAft>
                <a:spcPts val="900"/>
              </a:spcAft>
            </a:pPr>
            <a:r>
              <a:rPr sz="1700" b="0" i="0">
                <a:solidFill>
                  <a:srgbClr val="FFFFFF"/>
                </a:solidFill>
                <a:latin typeface="Arial"/>
              </a:rPr>
              <a:t>C.  A higher timeframe bar</a:t>
            </a:r>
          </a:p>
          <a:p>
            <a:pPr algn="l">
              <a:lnSpc>
                <a:spcPct val="112000"/>
              </a:lnSpc>
              <a:spcBef>
                <a:spcPts val="0"/>
              </a:spcBef>
              <a:spcAft>
                <a:spcPts val="900"/>
              </a:spcAft>
            </a:pPr>
            <a:r>
              <a:rPr sz="1700" b="0" i="0">
                <a:solidFill>
                  <a:srgbClr val="FFFFFF"/>
                </a:solidFill>
                <a:latin typeface="Arial"/>
              </a:rPr>
              <a:t>D.  A neutral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an inverted head and shoulders in an uptrend a continuation pattern?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has three peaks</a:t>
            </a:r>
          </a:p>
          <a:p>
            <a:pPr algn="l">
              <a:lnSpc>
                <a:spcPct val="112000"/>
              </a:lnSpc>
              <a:spcBef>
                <a:spcPts val="0"/>
              </a:spcBef>
              <a:spcAft>
                <a:spcPts val="900"/>
              </a:spcAft>
            </a:pPr>
            <a:r>
              <a:rPr sz="1700" b="0" i="0">
                <a:solidFill>
                  <a:srgbClr val="FFFFFF"/>
                </a:solidFill>
                <a:latin typeface="Arial"/>
              </a:rPr>
              <a:t>B.  Its volume is high</a:t>
            </a:r>
          </a:p>
          <a:p>
            <a:pPr algn="l">
              <a:lnSpc>
                <a:spcPct val="112000"/>
              </a:lnSpc>
              <a:spcBef>
                <a:spcPts val="0"/>
              </a:spcBef>
              <a:spcAft>
                <a:spcPts val="900"/>
              </a:spcAft>
            </a:pPr>
            <a:r>
              <a:rPr sz="1700" b="0" i="0">
                <a:solidFill>
                  <a:srgbClr val="FFFFFF"/>
                </a:solidFill>
                <a:latin typeface="Arial"/>
              </a:rPr>
              <a:t>C.  Both sentiments are bullish</a:t>
            </a:r>
          </a:p>
          <a:p>
            <a:pPr algn="l">
              <a:lnSpc>
                <a:spcPct val="112000"/>
              </a:lnSpc>
              <a:spcBef>
                <a:spcPts val="0"/>
              </a:spcBef>
              <a:spcAft>
                <a:spcPts val="900"/>
              </a:spcAft>
            </a:pPr>
            <a:r>
              <a:rPr sz="1700" b="0" i="0">
                <a:solidFill>
                  <a:srgbClr val="FFFFFF"/>
                </a:solidFill>
                <a:latin typeface="Arial"/>
              </a:rPr>
              <a:t>D.  The trend is down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stock climbs from PHP 40 to PHP 50, and then a bearish pattern forms. What does Lim call it?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reversal pattern</a:t>
            </a:r>
          </a:p>
          <a:p>
            <a:pPr algn="l">
              <a:lnSpc>
                <a:spcPct val="115000"/>
              </a:lnSpc>
              <a:spcBef>
                <a:spcPts val="700"/>
              </a:spcBef>
              <a:spcAft>
                <a:spcPts val="0"/>
              </a:spcAft>
            </a:pPr>
            <a:r>
              <a:rPr sz="1700" b="0" i="0">
                <a:solidFill>
                  <a:srgbClr val="1A1A1A"/>
                </a:solidFill>
                <a:latin typeface="Arial"/>
              </a:rPr>
              <a:t>The uptrend's trend sentiment is bullish and the pattern's intrinsic sentiment is bearish. They disagree, so it is a reversal pattern (p. 211).</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an inverted head and shoulders in an uptrend a continuation pattern?</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Both sentiments are bullish</a:t>
            </a:r>
          </a:p>
          <a:p>
            <a:pPr algn="l">
              <a:lnSpc>
                <a:spcPct val="115000"/>
              </a:lnSpc>
              <a:spcBef>
                <a:spcPts val="700"/>
              </a:spcBef>
              <a:spcAft>
                <a:spcPts val="0"/>
              </a:spcAft>
            </a:pPr>
            <a:r>
              <a:rPr sz="1700" b="0" i="0">
                <a:solidFill>
                  <a:srgbClr val="1A1A1A"/>
                </a:solidFill>
                <a:latin typeface="Arial"/>
              </a:rPr>
              <a:t>Its intrinsic sentiment is bullish and the uptrend makes the trend sentiment bullish too, so they agree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 Lim draws each bearish reversal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reversal needs the two sentiments to disagree. So when Lim draws bearish reversal patterns he assumes the existing trend is up, and for bullish ones he assumes it is down (pp. 211 to 212). The book actually prints "bearish" twice in that sentence; the second must mean bullish, as his bullish drawings show.</a:t>
            </a:r>
          </a:p>
          <a:p>
            <a:pPr algn="l">
              <a:lnSpc>
                <a:spcPct val="118000"/>
              </a:lnSpc>
              <a:spcBef>
                <a:spcPts val="0"/>
              </a:spcBef>
              <a:spcAft>
                <a:spcPts val="1300"/>
              </a:spcAft>
            </a:pPr>
            <a:r>
              <a:rPr sz="2100" b="0" i="0">
                <a:solidFill>
                  <a:srgbClr val="1A1A1A"/>
                </a:solidFill>
                <a:latin typeface="Arial"/>
              </a:rPr>
              <a:t>In each drawing that follows, an arrow labelled "Existing uptrend" leads into a bearish pattern, and "Existing downtrend" into a bullish one.</a:t>
            </a:r>
          </a:p>
          <a:p>
            <a:pPr algn="l">
              <a:lnSpc>
                <a:spcPct val="118000"/>
              </a:lnSpc>
              <a:spcBef>
                <a:spcPts val="0"/>
              </a:spcBef>
              <a:spcAft>
                <a:spcPts val="1300"/>
              </a:spcAft>
            </a:pPr>
            <a:r>
              <a:rPr sz="2100" b="0" i="0">
                <a:solidFill>
                  <a:srgbClr val="1A1A1A"/>
                </a:solidFill>
                <a:latin typeface="Arial"/>
              </a:rPr>
              <a:t>We start with the smallest patterns, made of one or two bars.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arrow in each drawing is the trend the pattern has to fight.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bar is Lim's basic bearish clue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For one-bar and two-bar patterns in an uptrend, Lim's general rule is that a close below the previous bar's close or low is bearish, especially when that previous bar is large or wide-ranging (p. 212). Here it is with invented prices. Yesterday's bar ran from PHP 49.00 to PHP 52.00 and closed at PHP 51.80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348041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369670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456187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448977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77066" y="36016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5351" y="3874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475938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42065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PU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bar is Lim's basic bearish clue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close today at PHP 51.20 </a:t>
            </a:r>
            <a:r>
              <a:rPr sz="1700" b="1" i="0">
                <a:solidFill>
                  <a:srgbClr val="C62828"/>
                </a:solidFill>
                <a:latin typeface="Arial"/>
              </a:rPr>
              <a:t>(2)</a:t>
            </a:r>
            <a:r>
              <a:rPr sz="1700" b="0" i="0">
                <a:solidFill>
                  <a:srgbClr val="1A1A1A"/>
                </a:solidFill>
                <a:latin typeface="Arial"/>
              </a:rPr>
              <a:t> is below yesterday's close; a close at PHP 48.80 </a:t>
            </a:r>
            <a:r>
              <a:rPr sz="1700" b="1" i="0">
                <a:solidFill>
                  <a:srgbClr val="1F5FAD"/>
                </a:solidFill>
                <a:latin typeface="Arial"/>
              </a:rPr>
              <a:t>(3)</a:t>
            </a:r>
            <a:r>
              <a:rPr sz="1700" b="0" i="0">
                <a:solidFill>
                  <a:srgbClr val="1A1A1A"/>
                </a:solidFill>
                <a:latin typeface="Arial"/>
              </a:rPr>
              <a:t> is below yesterday's low </a:t>
            </a:r>
            <a:r>
              <a:rPr sz="1700" b="1" i="0">
                <a:solidFill>
                  <a:srgbClr val="7B3FA0"/>
                </a:solidFill>
                <a:latin typeface="Arial"/>
              </a:rPr>
              <a:t>(4)</a:t>
            </a:r>
            <a:r>
              <a:rPr sz="1700" b="0" i="0">
                <a:solidFill>
                  <a:srgbClr val="1A1A1A"/>
                </a:solidFill>
                <a:latin typeface="Arial"/>
              </a:rPr>
              <a:t> as well. Yesterday's PHP 3.00 range is wide, the case Lim says counts for more.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348041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369670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456187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448977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77066" y="36016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5351" y="3874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475938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42065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PU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seven of these bearish forms in Figure 7.4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88</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7.4 collects the seven basic bearish single and double bar reversal patterns of uptrending markets (p. 212). Here is the first drawing, cut out and drawn large.</a:t>
            </a:r>
          </a:p>
          <a:p>
            <a:pPr algn="l">
              <a:lnSpc>
                <a:spcPct val="105000"/>
              </a:lnSpc>
              <a:spcBef>
                <a:spcPts val="0"/>
              </a:spcBef>
              <a:spcAft>
                <a:spcPts val="1100"/>
              </a:spcAft>
            </a:pPr>
            <a:r>
              <a:rPr sz="1900" b="0" i="0">
                <a:solidFill>
                  <a:srgbClr val="1A1A1A"/>
                </a:solidFill>
                <a:latin typeface="Arial"/>
              </a:rPr>
              <a:t>Each form sits on an existing uptrend </a:t>
            </a:r>
            <a:r>
              <a:rPr sz="1900" b="1" i="0">
                <a:solidFill>
                  <a:srgbClr val="E09B00"/>
                </a:solidFill>
                <a:latin typeface="Arial"/>
              </a:rPr>
              <a:t>(1)</a:t>
            </a:r>
            <a:r>
              <a:rPr sz="1900" b="0" i="0">
                <a:solidFill>
                  <a:srgbClr val="1A1A1A"/>
                </a:solidFill>
                <a:latin typeface="Arial"/>
              </a:rPr>
              <a:t> and carries a number </a:t>
            </a:r>
            <a:r>
              <a:rPr sz="1900" b="1" i="0">
                <a:solidFill>
                  <a:srgbClr val="C62828"/>
                </a:solidFill>
                <a:latin typeface="Arial"/>
              </a:rPr>
              <a:t>(2)</a:t>
            </a:r>
            <a:r>
              <a:rPr sz="1900" b="0" i="0">
                <a:solidFill>
                  <a:srgbClr val="1A1A1A"/>
                </a:solidFill>
                <a:latin typeface="Arial"/>
              </a:rPr>
              <a:t>; the next seven slides take them one at a time, each quoting its label.</a:t>
            </a:r>
          </a:p>
        </p:txBody>
      </p:sp>
      <p:sp>
        <p:nvSpPr>
          <p:cNvPr id="8" name="Rectangle 7"/>
          <p:cNvSpPr/>
          <p:nvPr/>
        </p:nvSpPr>
        <p:spPr>
          <a:xfrm>
            <a:off x="7670656" y="1810512"/>
            <a:ext cx="13766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89528" y="1929384"/>
            <a:ext cx="11389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89528" y="1929384"/>
            <a:ext cx="11389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063848" y="2203703"/>
            <a:ext cx="5902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the drawing on its arrow, with its number.</a:t>
            </a:r>
          </a:p>
        </p:txBody>
      </p:sp>
      <p:sp>
        <p:nvSpPr>
          <p:cNvPr id="12" name="Rectangle 11"/>
          <p:cNvSpPr/>
          <p:nvPr/>
        </p:nvSpPr>
        <p:spPr>
          <a:xfrm>
            <a:off x="7944835" y="3608204"/>
            <a:ext cx="897329" cy="1422729"/>
          </a:xfrm>
          <a:prstGeom prst="rect">
            <a:avLst/>
          </a:prstGeom>
          <a:noFill/>
          <a:ln w="44450">
            <a:solidFill>
              <a:srgbClr val="E09B00"/>
            </a:solidFill>
          </a:ln>
        </p:spPr>
        <p:txBody>
          <a:bodyPr rtlCol="0" anchor="ctr"/>
          <a:lstStyle/>
          <a:p>
            <a:pPr algn="ctr"/>
          </a:p>
        </p:txBody>
      </p:sp>
      <p:sp>
        <p:nvSpPr>
          <p:cNvPr id="13" name="Oval 12"/>
          <p:cNvSpPr/>
          <p:nvPr/>
        </p:nvSpPr>
        <p:spPr>
          <a:xfrm>
            <a:off x="8186424" y="5104915"/>
            <a:ext cx="327870" cy="284545"/>
          </a:xfrm>
          <a:prstGeom prst="ellipse">
            <a:avLst/>
          </a:prstGeom>
          <a:noFill/>
          <a:ln w="44450">
            <a:solidFill>
              <a:srgbClr val="C62828"/>
            </a:solidFill>
          </a:ln>
        </p:spPr>
        <p:txBody>
          <a:bodyPr rtlCol="0" anchor="ctr"/>
          <a:lstStyle/>
          <a:p>
            <a:pPr algn="ctr"/>
          </a:p>
        </p:txBody>
      </p:sp>
      <p:sp>
        <p:nvSpPr>
          <p:cNvPr id="14" name="Oval 13"/>
          <p:cNvSpPr/>
          <p:nvPr/>
        </p:nvSpPr>
        <p:spPr>
          <a:xfrm>
            <a:off x="7816819" y="34801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662379" y="511917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1: "A large bar opening above a previous high and closing near or below a previous close," a key reversal bar (Figure 7.4, p. 212). Let us put invented prices on it. The previous bar reached PHP 51.00 and closed at PHP 50.80. Form 1 opens at PHP 51.40, above that high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50.30, below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2 closes near or below the previous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2: "A large bar closing near or below a previous low" (Figure 7.4, p. 212). By the close, price has fallen through everything the previous bar traded. Here it is with invented prices. The previous bar's low is PHP 50.20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49.60, below that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2: a large bar closing below the previous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4349583"/>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79894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21584" y="42324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453110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3: "A bar closing below a gap formed between the current bar's open and a previous bar's low" (Figure 7.4, p. 212). Chapter 3's "Gap" is a range of prices where no trading took place. Say the previous low is PHP 51.00. Form 3 opens at PHP 50.60 </a:t>
            </a:r>
            <a:r>
              <a:rPr sz="1700" b="1" i="0">
                <a:solidFill>
                  <a:srgbClr val="E09B00"/>
                </a:solidFill>
                <a:latin typeface="Arial"/>
              </a:rPr>
              <a:t>(1)</a:t>
            </a:r>
            <a:r>
              <a:rPr sz="1700" b="0" i="0">
                <a:solidFill>
                  <a:srgbClr val="1A1A1A"/>
                </a:solidFill>
                <a:latin typeface="Arial"/>
              </a:rPr>
              <a:t>, leaving a PHP 0.40 gap above its open </a:t>
            </a:r>
            <a:r>
              <a:rPr sz="1700" b="1" i="0">
                <a:solidFill>
                  <a:srgbClr val="C62828"/>
                </a:solidFill>
                <a:latin typeface="Arial"/>
              </a:rPr>
              <a:t>(2)</a:t>
            </a:r>
            <a:r>
              <a:rPr sz="1700" b="0" i="0">
                <a:solidFill>
                  <a:srgbClr val="1A1A1A"/>
                </a:solidFill>
                <a:latin typeface="Arial"/>
              </a:rPr>
              <a:t>, and closes at PHP 49.80,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Chapter 3, "Gap". The prices are invented for teaching.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4: "Narrow range bar closing within a larger previous bar's range," an inside bar (Figure 7.4, p. 212).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an uptrend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Figure 7.4 (p. 212): "An overextended bar closes at or near its low". Lim gives no size; we read it as a bar unusually long against those before it. Closing near its low is separate. Elsewhere he uses it only beyond a Bollinger band, not yet defined here (pp. 217 to 219). Beside an ordinary PHP 1.00 bar </a:t>
            </a:r>
            <a:r>
              <a:rPr sz="1700" b="1" i="0">
                <a:solidFill>
                  <a:srgbClr val="E09B00"/>
                </a:solidFill>
                <a:latin typeface="Arial"/>
              </a:rPr>
              <a:t>(1)</a:t>
            </a:r>
            <a:r>
              <a:rPr sz="1700" b="0" i="0">
                <a:solidFill>
                  <a:srgbClr val="1A1A1A"/>
                </a:solidFill>
                <a:latin typeface="Arial"/>
              </a:rPr>
              <a:t>, form 5 ranges PHP 4.00 </a:t>
            </a:r>
            <a:r>
              <a:rPr sz="1700" b="1" i="0">
                <a:solidFill>
                  <a:srgbClr val="C62828"/>
                </a:solidFill>
                <a:latin typeface="Arial"/>
              </a:rPr>
              <a:t>(2)</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650638"/>
            <a:ext cx="109728" cy="369417"/>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313078"/>
          </a:xfrm>
          <a:prstGeom prst="rect">
            <a:avLst/>
          </a:prstGeom>
          <a:noFill/>
          <a:ln w="44450">
            <a:solidFill>
              <a:srgbClr val="C62828"/>
            </a:solidFill>
          </a:ln>
        </p:spPr>
        <p:txBody>
          <a:bodyPr rtlCol="0" anchor="ctr"/>
          <a:lstStyle/>
          <a:p>
            <a:pPr algn="ctr"/>
          </a:p>
        </p:txBody>
      </p:sp>
      <p:sp>
        <p:nvSpPr>
          <p:cNvPr id="16" name="Oval 15"/>
          <p:cNvSpPr/>
          <p:nvPr/>
        </p:nvSpPr>
        <p:spPr>
          <a:xfrm>
            <a:off x="10282427" y="45712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8131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39209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3034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6 is the outside bar: it engulfs the bar before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6: "Bar engulfing a previous narrow range bar and closing near or at its low," which he calls an outside bar (Figure 7.4, p. 212). Let us put invented prices on it. The previous bar is narrow, from PHP 50.80 to PHP 51.40 </a:t>
            </a:r>
            <a:r>
              <a:rPr sz="1700" b="1" i="0">
                <a:solidFill>
                  <a:srgbClr val="E09B00"/>
                </a:solidFill>
                <a:latin typeface="Arial"/>
              </a:rPr>
              <a:t>(1)</a:t>
            </a:r>
            <a:r>
              <a:rPr sz="1700" b="0" i="0">
                <a:solidFill>
                  <a:srgbClr val="1A1A1A"/>
                </a:solidFill>
                <a:latin typeface="Arial"/>
              </a:rPr>
              <a:t>. The outside bar runs from PHP 49.90 to PHP 51.90 </a:t>
            </a:r>
            <a:r>
              <a:rPr sz="1700" b="1" i="0">
                <a:solidFill>
                  <a:srgbClr val="C62828"/>
                </a:solidFill>
                <a:latin typeface="Arial"/>
              </a:rPr>
              <a:t>(2)</a:t>
            </a:r>
            <a:r>
              <a:rPr sz="1700" b="0" i="0">
                <a:solidFill>
                  <a:srgbClr val="1A1A1A"/>
                </a:solidFill>
                <a:latin typeface="Arial"/>
              </a:rPr>
              <a:t>, beyond both ends, and closes at PHP 50.00,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785616"/>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487009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0267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6022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7 is two large bars that close at opposite 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7: "1st large bar closing at its high followed by a large bar closing at or near its low" (Figure 7.4, p. 212). The buyers' strong finish is undone by the very next bar. Here it is with invented prices. The first bar closes at PHP 51.60, right at its high </a:t>
            </a:r>
            <a:r>
              <a:rPr sz="1700" b="1" i="0">
                <a:solidFill>
                  <a:srgbClr val="E09B00"/>
                </a:solidFill>
                <a:latin typeface="Arial"/>
              </a:rPr>
              <a:t>(1)</a:t>
            </a:r>
            <a:r>
              <a:rPr sz="1700" b="0" i="0">
                <a:solidFill>
                  <a:srgbClr val="1A1A1A"/>
                </a:solidFill>
                <a:latin typeface="Arial"/>
              </a:rPr>
              <a:t>. The second bar, just as large, closes at PHP 49.40, only PHP 0.20 above its low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488305"/>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724051"/>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63218" y="35914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4562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88</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tells us how much weight a bearish pattern gets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adds two volume habits. Narrow range bars in a two-bar pattern should generally form on low volume, showing uncertainty in an uptrend (p. 212).</a:t>
            </a:r>
          </a:p>
          <a:p>
            <a:pPr algn="l">
              <a:lnSpc>
                <a:spcPct val="118000"/>
              </a:lnSpc>
              <a:spcBef>
                <a:spcPts val="0"/>
              </a:spcBef>
              <a:spcAft>
                <a:spcPts val="1300"/>
              </a:spcAft>
            </a:pPr>
            <a:r>
              <a:rPr sz="2100" b="0" i="0">
                <a:solidFill>
                  <a:srgbClr val="1A1A1A"/>
                </a:solidFill>
                <a:latin typeface="Arial"/>
              </a:rPr>
              <a:t>Large bars closing at or near their lows should generally form on high volume in an uptrend (p. 212).</a:t>
            </a:r>
          </a:p>
          <a:p>
            <a:pPr algn="l">
              <a:lnSpc>
                <a:spcPct val="118000"/>
              </a:lnSpc>
              <a:spcBef>
                <a:spcPts val="0"/>
              </a:spcBef>
              <a:spcAft>
                <a:spcPts val="1300"/>
              </a:spcAft>
            </a:pPr>
            <a:r>
              <a:rPr sz="2100" b="0" i="0">
                <a:solidFill>
                  <a:srgbClr val="1A1A1A"/>
                </a:solidFill>
                <a:latin typeface="Arial"/>
              </a:rPr>
              <a:t>He also notes that some practitioners treat these same patterns as continuation patterns when they occur in a downtrend (p. 212).</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Quiet narrow bars show doubt; heavy large bars show conviction.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 bearish two-bar pattern is potentially more reliable if the last bar is an overextended bar that closes at or near its low on high volume (p. 212). Let us put invented prices on it. The last bar stretches PHP 4.00 against PHP 1.00 before it </a:t>
            </a:r>
            <a:r>
              <a:rPr sz="1700" b="1" i="0">
                <a:solidFill>
                  <a:srgbClr val="E09B00"/>
                </a:solidFill>
                <a:latin typeface="Arial"/>
              </a:rPr>
              <a:t>(1)</a:t>
            </a:r>
            <a:r>
              <a:rPr sz="1700" b="0" i="0">
                <a:solidFill>
                  <a:srgbClr val="1A1A1A"/>
                </a:solidFill>
                <a:latin typeface="Arial"/>
              </a:rPr>
              <a:t>, closes at PHP 47.80, near its low of PHP 47.60 </a:t>
            </a:r>
            <a:r>
              <a:rPr sz="1700" b="1" i="0">
                <a:solidFill>
                  <a:srgbClr val="C62828"/>
                </a:solidFill>
                <a:latin typeface="Arial"/>
              </a:rPr>
              <a:t>(2)</a:t>
            </a:r>
            <a:r>
              <a:rPr sz="1700" b="0" i="0">
                <a:solidFill>
                  <a:srgbClr val="1A1A1A"/>
                </a:solidFill>
                <a:latin typeface="Arial"/>
              </a:rPr>
              <a:t>, and trades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l-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4392320"/>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73670" y="41624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bearish two-bar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closing near its high</a:t>
            </a:r>
          </a:p>
          <a:p>
            <a:pPr algn="l">
              <a:lnSpc>
                <a:spcPct val="112000"/>
              </a:lnSpc>
              <a:spcBef>
                <a:spcPts val="0"/>
              </a:spcBef>
              <a:spcAft>
                <a:spcPts val="900"/>
              </a:spcAft>
            </a:pPr>
            <a:r>
              <a:rPr sz="1700" b="0" i="0">
                <a:solidFill>
                  <a:srgbClr val="FFFFFF"/>
                </a:solidFill>
                <a:latin typeface="Arial"/>
              </a:rPr>
              <a:t>B.  Any bar on low volume</a:t>
            </a:r>
          </a:p>
          <a:p>
            <a:pPr algn="l">
              <a:lnSpc>
                <a:spcPct val="112000"/>
              </a:lnSpc>
              <a:spcBef>
                <a:spcPts val="0"/>
              </a:spcBef>
              <a:spcAft>
                <a:spcPts val="900"/>
              </a:spcAft>
            </a:pPr>
            <a:r>
              <a:rPr sz="1700" b="0" i="0">
                <a:solidFill>
                  <a:srgbClr val="FFFFFF"/>
                </a:solidFill>
                <a:latin typeface="Arial"/>
              </a:rPr>
              <a:t>C.  A bar that gaps up and closes high</a:t>
            </a:r>
          </a:p>
          <a:p>
            <a:pPr algn="l">
              <a:lnSpc>
                <a:spcPct val="112000"/>
              </a:lnSpc>
              <a:spcBef>
                <a:spcPts val="0"/>
              </a:spcBef>
              <a:spcAft>
                <a:spcPts val="900"/>
              </a:spcAft>
            </a:pPr>
            <a:r>
              <a:rPr sz="1700" b="0" i="0">
                <a:solidFill>
                  <a:srgbClr val="FFFFFF"/>
                </a:solidFill>
                <a:latin typeface="Arial"/>
              </a:rPr>
              <a:t>D.  An overextended bar closing near its low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what does a narrow range bar on low volume within a two-bar pattern show?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guaranteed reversal</a:t>
            </a:r>
          </a:p>
          <a:p>
            <a:pPr algn="l">
              <a:lnSpc>
                <a:spcPct val="112000"/>
              </a:lnSpc>
              <a:spcBef>
                <a:spcPts val="0"/>
              </a:spcBef>
              <a:spcAft>
                <a:spcPts val="900"/>
              </a:spcAft>
            </a:pPr>
            <a:r>
              <a:rPr sz="1700" b="0" i="0">
                <a:solidFill>
                  <a:srgbClr val="FFFFFF"/>
                </a:solidFill>
                <a:latin typeface="Arial"/>
              </a:rPr>
              <a:t>B.  Uncertainty</a:t>
            </a:r>
          </a:p>
          <a:p>
            <a:pPr algn="l">
              <a:lnSpc>
                <a:spcPct val="112000"/>
              </a:lnSpc>
              <a:spcBef>
                <a:spcPts val="0"/>
              </a:spcBef>
              <a:spcAft>
                <a:spcPts val="900"/>
              </a:spcAft>
            </a:pPr>
            <a:r>
              <a:rPr sz="1700" b="0" i="0">
                <a:solidFill>
                  <a:srgbClr val="FFFFFF"/>
                </a:solidFill>
                <a:latin typeface="Arial"/>
              </a:rPr>
              <a:t>C.  A continuation</a:t>
            </a:r>
          </a:p>
          <a:p>
            <a:pPr algn="l">
              <a:lnSpc>
                <a:spcPct val="112000"/>
              </a:lnSpc>
              <a:spcBef>
                <a:spcPts val="0"/>
              </a:spcBef>
              <a:spcAft>
                <a:spcPts val="900"/>
              </a:spcAft>
            </a:pPr>
            <a:r>
              <a:rPr sz="1700" b="0" i="0">
                <a:solidFill>
                  <a:srgbClr val="FFFFFF"/>
                </a:solidFill>
                <a:latin typeface="Arial"/>
              </a:rPr>
              <a:t>D.  A wider range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bearish two-bar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low on high volume</a:t>
            </a:r>
          </a:p>
          <a:p>
            <a:pPr algn="l">
              <a:lnSpc>
                <a:spcPct val="115000"/>
              </a:lnSpc>
              <a:spcBef>
                <a:spcPts val="700"/>
              </a:spcBef>
              <a:spcAft>
                <a:spcPts val="0"/>
              </a:spcAft>
            </a:pPr>
            <a:r>
              <a:rPr sz="1700" b="0" i="0">
                <a:solidFill>
                  <a:srgbClr val="1A1A1A"/>
                </a:solidFill>
                <a:latin typeface="Arial"/>
              </a:rPr>
              <a:t>Lim says the pattern is potentially more reliable if the last bar is overextended and closes at or near its low on high volume (p. 212).</a:t>
            </a:r>
          </a:p>
        </p:txBody>
      </p:sp>
      <p:sp>
        <p:nvSpPr>
          <p:cNvPr id="10" name="Rectangle 9"/>
          <p:cNvSpPr/>
          <p:nvPr/>
        </p:nvSpPr>
        <p:spPr>
          <a:xfrm>
            <a:off x="777240" y="3330321"/>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what does a narrow range bar on low volume within a two-bar pattern show?</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Uncertainty</a:t>
            </a:r>
          </a:p>
          <a:p>
            <a:pPr algn="l">
              <a:lnSpc>
                <a:spcPct val="115000"/>
              </a:lnSpc>
              <a:spcBef>
                <a:spcPts val="700"/>
              </a:spcBef>
              <a:spcAft>
                <a:spcPts val="0"/>
              </a:spcAft>
            </a:pPr>
            <a:r>
              <a:rPr sz="1700" b="0" i="0">
                <a:solidFill>
                  <a:srgbClr val="1A1A1A"/>
                </a:solidFill>
                <a:latin typeface="Arial"/>
              </a:rPr>
              <a:t>Lim says such narrow range bars should generally form on low volume, indicating uncertainty in an uptrend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 a downtrend Lim's close rule turns around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general rule is the mirror image: a close above the previous bar's close or high is bullish, especially if the previous bar is large or wide-ranging (p. 212). Here it is with invented prices. Yesterday's bar ran from PHP 38.00 to PHP 41.00 and closed at PHP 38.20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46195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439460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34948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356981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94823" y="43340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6945" y="40663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31473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368483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 a downtrend Lim's close rule turns around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close today at PHP 38.80 </a:t>
            </a:r>
            <a:r>
              <a:rPr sz="1700" b="1" i="0">
                <a:solidFill>
                  <a:srgbClr val="C62828"/>
                </a:solidFill>
                <a:latin typeface="Arial"/>
              </a:rPr>
              <a:t>(2)</a:t>
            </a:r>
            <a:r>
              <a:rPr sz="1700" b="0" i="0">
                <a:solidFill>
                  <a:srgbClr val="1A1A1A"/>
                </a:solidFill>
                <a:latin typeface="Arial"/>
              </a:rPr>
              <a:t> is above yesterday's close; a close at PHP 41.20 </a:t>
            </a:r>
            <a:r>
              <a:rPr sz="1700" b="1" i="0">
                <a:solidFill>
                  <a:srgbClr val="1F5FAD"/>
                </a:solidFill>
                <a:latin typeface="Arial"/>
              </a:rPr>
              <a:t>(3)</a:t>
            </a:r>
            <a:r>
              <a:rPr sz="1700" b="0" i="0">
                <a:solidFill>
                  <a:srgbClr val="1A1A1A"/>
                </a:solidFill>
                <a:latin typeface="Arial"/>
              </a:rPr>
              <a:t> is above yesterday's high </a:t>
            </a:r>
            <a:r>
              <a:rPr sz="1700" b="1" i="0">
                <a:solidFill>
                  <a:srgbClr val="7B3FA0"/>
                </a:solidFill>
                <a:latin typeface="Arial"/>
              </a:rPr>
              <a:t>(4)</a:t>
            </a:r>
            <a:r>
              <a:rPr sz="1700" b="0" i="0">
                <a:solidFill>
                  <a:srgbClr val="1A1A1A"/>
                </a:solidFill>
                <a:latin typeface="Arial"/>
              </a:rPr>
              <a:t> as well. Now the close has to climb past yesterday's bar.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46195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439460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34948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356981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94823" y="43340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6945" y="40663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31473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368483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the seven bullish forms in Figure 7.5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88</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7.5 draws the seven basic bullish single and double bar reversal patterns in a downtrend (p. 213). Here is the first drawing, cut out and drawn large.</a:t>
            </a:r>
          </a:p>
          <a:p>
            <a:pPr algn="l">
              <a:lnSpc>
                <a:spcPct val="105000"/>
              </a:lnSpc>
              <a:spcBef>
                <a:spcPts val="0"/>
              </a:spcBef>
              <a:spcAft>
                <a:spcPts val="1100"/>
              </a:spcAft>
            </a:pPr>
            <a:r>
              <a:rPr sz="2000" b="0" i="0">
                <a:solidFill>
                  <a:srgbClr val="1A1A1A"/>
                </a:solidFill>
                <a:latin typeface="Arial"/>
              </a:rPr>
              <a:t>Each form sits under an existing downtrend </a:t>
            </a:r>
            <a:r>
              <a:rPr sz="2000" b="1" i="0">
                <a:solidFill>
                  <a:srgbClr val="E09B00"/>
                </a:solidFill>
                <a:latin typeface="Arial"/>
              </a:rPr>
              <a:t>(1)</a:t>
            </a:r>
            <a:r>
              <a:rPr sz="2000" b="0" i="0">
                <a:solidFill>
                  <a:srgbClr val="1A1A1A"/>
                </a:solidFill>
                <a:latin typeface="Arial"/>
              </a:rPr>
              <a:t> and carries a number </a:t>
            </a:r>
            <a:r>
              <a:rPr sz="2000" b="1" i="0">
                <a:solidFill>
                  <a:srgbClr val="C62828"/>
                </a:solidFill>
                <a:latin typeface="Arial"/>
              </a:rPr>
              <a:t>(2)</a:t>
            </a:r>
            <a:r>
              <a:rPr sz="2000" b="0" i="0">
                <a:solidFill>
                  <a:srgbClr val="1A1A1A"/>
                </a:solidFill>
                <a:latin typeface="Arial"/>
              </a:rPr>
              <a:t>; the next seven slides take them one at a time, each quoting its label.</a:t>
            </a:r>
          </a:p>
        </p:txBody>
      </p:sp>
      <p:sp>
        <p:nvSpPr>
          <p:cNvPr id="8" name="Rectangle 7"/>
          <p:cNvSpPr/>
          <p:nvPr/>
        </p:nvSpPr>
        <p:spPr>
          <a:xfrm>
            <a:off x="7586970" y="1810512"/>
            <a:ext cx="1544033"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05842" y="1929384"/>
            <a:ext cx="130628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05842" y="1929384"/>
            <a:ext cx="130628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80162" y="2203703"/>
            <a:ext cx="75764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the number, its arrow and the drawing.</a:t>
            </a:r>
          </a:p>
        </p:txBody>
      </p:sp>
      <p:sp>
        <p:nvSpPr>
          <p:cNvPr id="12" name="Rectangle 11"/>
          <p:cNvSpPr/>
          <p:nvPr/>
        </p:nvSpPr>
        <p:spPr>
          <a:xfrm>
            <a:off x="7866892" y="2283464"/>
            <a:ext cx="1113925" cy="1563854"/>
          </a:xfrm>
          <a:prstGeom prst="rect">
            <a:avLst/>
          </a:prstGeom>
          <a:noFill/>
          <a:ln w="44450">
            <a:solidFill>
              <a:srgbClr val="E09B00"/>
            </a:solidFill>
          </a:ln>
        </p:spPr>
        <p:txBody>
          <a:bodyPr rtlCol="0" anchor="ctr"/>
          <a:lstStyle/>
          <a:p>
            <a:pPr algn="ctr"/>
          </a:p>
        </p:txBody>
      </p:sp>
      <p:sp>
        <p:nvSpPr>
          <p:cNvPr id="13" name="Oval 12"/>
          <p:cNvSpPr/>
          <p:nvPr/>
        </p:nvSpPr>
        <p:spPr>
          <a:xfrm>
            <a:off x="8117413" y="1935285"/>
            <a:ext cx="322098" cy="306869"/>
          </a:xfrm>
          <a:prstGeom prst="ellipse">
            <a:avLst/>
          </a:prstGeom>
          <a:noFill/>
          <a:ln w="44450">
            <a:solidFill>
              <a:srgbClr val="C62828"/>
            </a:solidFill>
          </a:ln>
        </p:spPr>
        <p:txBody>
          <a:bodyPr rtlCol="0" anchor="ctr"/>
          <a:lstStyle/>
          <a:p>
            <a:pPr algn="ctr"/>
          </a:p>
        </p:txBody>
      </p:sp>
      <p:sp>
        <p:nvSpPr>
          <p:cNvPr id="14" name="Oval 13"/>
          <p:cNvSpPr/>
          <p:nvPr/>
        </p:nvSpPr>
        <p:spPr>
          <a:xfrm>
            <a:off x="7738876" y="21554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597806" y="19607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1 opens below the previous low and closes back 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opening below a previous low and closing near or above a previous close," again a key reversal bar (Figure 7.5, p. 213). Here it is with invented prices. The previous bar fell to PHP 39.00 and closed at PHP 39.20. Form 1 opens at PHP 38.60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39.70, above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999880" y="2395728"/>
            <a:ext cx="2035485"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999880" y="2395728"/>
            <a:ext cx="20354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274200" y="2670048"/>
            <a:ext cx="1486845"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a bullish key reversal bar after a downtrend.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4519796"/>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73341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42483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34655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2 closes near or above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closing near or above a previous high" (Figure 7.5, p. 213). Let us put invented prices on it. The previous bar's high is PHP 39.80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40.40, above that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2: a large bar closing above the previous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3975114"/>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52575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13004" y="39560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362893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3 closes above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bar closing above a gap formed between the current bar's open and a previous bar's high" (Figure 7.5, p. 213). Here it is with invented prices. The previous high is PHP 39.00. Form 3 opens at PHP 39.40 </a:t>
            </a:r>
            <a:r>
              <a:rPr sz="1700" b="1" i="0">
                <a:solidFill>
                  <a:srgbClr val="E09B00"/>
                </a:solidFill>
                <a:latin typeface="Arial"/>
              </a:rPr>
              <a:t>(1)</a:t>
            </a:r>
            <a:r>
              <a:rPr sz="1700" b="0" i="0">
                <a:solidFill>
                  <a:srgbClr val="1A1A1A"/>
                </a:solidFill>
                <a:latin typeface="Arial"/>
              </a:rPr>
              <a:t>, leaving a PHP 0.40 gap below its open </a:t>
            </a:r>
            <a:r>
              <a:rPr sz="1700" b="1" i="0">
                <a:solidFill>
                  <a:srgbClr val="C62828"/>
                </a:solidFill>
                <a:latin typeface="Arial"/>
              </a:rPr>
              <a:t>(2)</a:t>
            </a:r>
            <a:r>
              <a:rPr sz="1700" b="0" i="0">
                <a:solidFill>
                  <a:srgbClr val="1A1A1A"/>
                </a:solidFill>
                <a:latin typeface="Arial"/>
              </a:rPr>
              <a:t>, and closes at PHP 40.20,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3: a bar closing above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03128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350702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854379" y="375985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6102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Chapter 3, "Gap". The prices are invented for teaching.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4 is the inside bar after a large down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"Narrow range bar closing within a larger previous bar's range," again an inside bar (Figure 7.5, p. 213).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 downtrend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4034332"/>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4185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213, Figure 7.5. Prices and volume are invented for teaching.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5 is one overextended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"An overextended bar closes at or near its high" (Figure 7.5, p. 213). As on the bearish side, we read "overextended" as unusually long compared with the bars before it, and closing near its high is a separate part. Beside an ordinary PHP 1.00 bar </a:t>
            </a:r>
            <a:r>
              <a:rPr sz="1700" b="1" i="0">
                <a:solidFill>
                  <a:srgbClr val="E09B00"/>
                </a:solidFill>
                <a:latin typeface="Arial"/>
              </a:rPr>
              <a:t>(1)</a:t>
            </a:r>
            <a:r>
              <a:rPr sz="1700" b="0" i="0">
                <a:solidFill>
                  <a:srgbClr val="1A1A1A"/>
                </a:solidFill>
                <a:latin typeface="Arial"/>
              </a:rPr>
              <a:t>, form 5 ranges PHP 4.00 </a:t>
            </a:r>
            <a:r>
              <a:rPr sz="1700" b="1" i="0">
                <a:solidFill>
                  <a:srgbClr val="C62828"/>
                </a:solidFill>
                <a:latin typeface="Arial"/>
              </a:rPr>
              <a:t>(2)</a:t>
            </a:r>
            <a:r>
              <a:rPr sz="1700" b="0" i="0">
                <a:solidFill>
                  <a:srgbClr val="1A1A1A"/>
                </a:solidFill>
                <a:latin typeface="Arial"/>
              </a:rPr>
              <a:t> and closes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5: one overextended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369417"/>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706977"/>
            <a:ext cx="109728" cy="1313078"/>
          </a:xfrm>
          <a:prstGeom prst="rect">
            <a:avLst/>
          </a:prstGeom>
          <a:noFill/>
          <a:ln w="44450">
            <a:solidFill>
              <a:srgbClr val="C62828"/>
            </a:solidFill>
          </a:ln>
        </p:spPr>
        <p:txBody>
          <a:bodyPr rtlCol="0" anchor="ctr"/>
          <a:lstStyle/>
          <a:p>
            <a:pPr algn="ctr"/>
          </a:p>
        </p:txBody>
      </p:sp>
      <p:sp>
        <p:nvSpPr>
          <p:cNvPr id="16" name="Oval 15"/>
          <p:cNvSpPr/>
          <p:nvPr/>
        </p:nvSpPr>
        <p:spPr>
          <a:xfrm>
            <a:off x="10282427" y="3753429"/>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2147" y="336682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235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566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UE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6 is the outside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"Bar engulfing a previous narrow range bar and closing near or at its high," again called an outside bar (Figure 7.5, p. 213). Here it is with invented prices. The previous bar is narrow, from PHP 38.60 to PHP 39.20 </a:t>
            </a:r>
            <a:r>
              <a:rPr sz="1700" b="1" i="0">
                <a:solidFill>
                  <a:srgbClr val="E09B00"/>
                </a:solidFill>
                <a:latin typeface="Arial"/>
              </a:rPr>
              <a:t>(1)</a:t>
            </a:r>
            <a:r>
              <a:rPr sz="1700" b="0" i="0">
                <a:solidFill>
                  <a:srgbClr val="1A1A1A"/>
                </a:solidFill>
                <a:latin typeface="Arial"/>
              </a:rPr>
              <a:t>. The outside bar runs from PHP 38.10 to PHP 40.10 </a:t>
            </a:r>
            <a:r>
              <a:rPr sz="1700" b="1" i="0">
                <a:solidFill>
                  <a:srgbClr val="C62828"/>
                </a:solidFill>
                <a:latin typeface="Arial"/>
              </a:rPr>
              <a:t>(2)</a:t>
            </a:r>
            <a:r>
              <a:rPr sz="1700" b="0" i="0">
                <a:solidFill>
                  <a:srgbClr val="1A1A1A"/>
                </a:solidFill>
                <a:latin typeface="Arial"/>
              </a:rPr>
              <a:t>, beyond both ends, and closes at PHP 40.00,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100169"/>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64432" y="414109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7 is two large bars, the second closing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large bar closing at its low followed by a large bar closing at or near its high" (Figure 7.5, p. 213). Let us put invented prices on it. The first bar closes at PHP 38.40, right at its low </a:t>
            </a:r>
            <a:r>
              <a:rPr sz="1700" b="1" i="0">
                <a:solidFill>
                  <a:srgbClr val="E09B00"/>
                </a:solidFill>
                <a:latin typeface="Arial"/>
              </a:rPr>
              <a:t>(1)</a:t>
            </a:r>
            <a:r>
              <a:rPr sz="1700" b="0" i="0">
                <a:solidFill>
                  <a:srgbClr val="1A1A1A"/>
                </a:solidFill>
                <a:latin typeface="Arial"/>
              </a:rPr>
              <a:t>. The second bar, just as large, closes at PHP 40.60, only PHP 0.20 below its high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83639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600645"/>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79417" y="4568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7038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88</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most cases, Lim says, a bullish two-bar pattern is potentially more reliable if the last bar is overextended and closes at or near its high on high volume (p. 212). Here it is with invented prices. The last bar stretches PHP 4.00 against PHP 1.00 </a:t>
            </a:r>
            <a:r>
              <a:rPr sz="1700" b="1" i="0">
                <a:solidFill>
                  <a:srgbClr val="E09B00"/>
                </a:solidFill>
                <a:latin typeface="Arial"/>
              </a:rPr>
              <a:t>(1)</a:t>
            </a:r>
            <a:r>
              <a:rPr sz="1700" b="0" i="0">
                <a:solidFill>
                  <a:srgbClr val="1A1A1A"/>
                </a:solidFill>
                <a:latin typeface="Arial"/>
              </a:rPr>
              <a:t>, closes at PHP 42.20, near its PHP 42.40 high </a:t>
            </a:r>
            <a:r>
              <a:rPr sz="1700" b="1" i="0">
                <a:solidFill>
                  <a:srgbClr val="C62828"/>
                </a:solidFill>
                <a:latin typeface="Arial"/>
              </a:rPr>
              <a:t>(2)</a:t>
            </a:r>
            <a:r>
              <a:rPr sz="1700" b="0" i="0">
                <a:solidFill>
                  <a:srgbClr val="1A1A1A"/>
                </a:solidFill>
                <a:latin typeface="Arial"/>
              </a:rPr>
              <a:t>, on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3429457"/>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4442" y="35326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downtrend, which close does Lim's general rule treat as bullish?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close above the previous bar's close or high</a:t>
            </a:r>
          </a:p>
          <a:p>
            <a:pPr algn="l">
              <a:lnSpc>
                <a:spcPct val="112000"/>
              </a:lnSpc>
              <a:spcBef>
                <a:spcPts val="0"/>
              </a:spcBef>
              <a:spcAft>
                <a:spcPts val="900"/>
              </a:spcAft>
            </a:pPr>
            <a:r>
              <a:rPr sz="1700" b="0" i="0">
                <a:solidFill>
                  <a:srgbClr val="FFFFFF"/>
                </a:solidFill>
                <a:latin typeface="Arial"/>
              </a:rPr>
              <a:t>B.  A close below the previous bar's low</a:t>
            </a:r>
          </a:p>
          <a:p>
            <a:pPr algn="l">
              <a:lnSpc>
                <a:spcPct val="112000"/>
              </a:lnSpc>
              <a:spcBef>
                <a:spcPts val="0"/>
              </a:spcBef>
              <a:spcAft>
                <a:spcPts val="900"/>
              </a:spcAft>
            </a:pPr>
            <a:r>
              <a:rPr sz="1700" b="0" i="0">
                <a:solidFill>
                  <a:srgbClr val="FFFFFF"/>
                </a:solidFill>
                <a:latin typeface="Arial"/>
              </a:rPr>
              <a:t>C.  A close inside the previous range</a:t>
            </a:r>
          </a:p>
          <a:p>
            <a:pPr algn="l">
              <a:lnSpc>
                <a:spcPct val="112000"/>
              </a:lnSpc>
              <a:spcBef>
                <a:spcPts val="0"/>
              </a:spcBef>
              <a:spcAft>
                <a:spcPts val="900"/>
              </a:spcAft>
            </a:pPr>
            <a:r>
              <a:rPr sz="1700" b="0" i="0">
                <a:solidFill>
                  <a:srgbClr val="FFFFFF"/>
                </a:solidFill>
                <a:latin typeface="Arial"/>
              </a:rPr>
              <a:t>D.  A close at the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a bar that engulfs a previous narrow range bar and closes near its high?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key reversal bar</a:t>
            </a:r>
          </a:p>
          <a:p>
            <a:pPr algn="l">
              <a:lnSpc>
                <a:spcPct val="112000"/>
              </a:lnSpc>
              <a:spcBef>
                <a:spcPts val="0"/>
              </a:spcBef>
              <a:spcAft>
                <a:spcPts val="900"/>
              </a:spcAft>
            </a:pPr>
            <a:r>
              <a:rPr sz="1700" b="0" i="0">
                <a:solidFill>
                  <a:srgbClr val="FFFFFF"/>
                </a:solidFill>
                <a:latin typeface="Arial"/>
              </a:rPr>
              <a:t>C.  An outside bar</a:t>
            </a:r>
          </a:p>
          <a:p>
            <a:pPr algn="l">
              <a:lnSpc>
                <a:spcPct val="112000"/>
              </a:lnSpc>
              <a:spcBef>
                <a:spcPts val="0"/>
              </a:spcBef>
              <a:spcAft>
                <a:spcPts val="900"/>
              </a:spcAft>
            </a:pPr>
            <a:r>
              <a:rPr sz="1700" b="0" i="0">
                <a:solidFill>
                  <a:srgbClr val="FFFFFF"/>
                </a:solidFill>
                <a:latin typeface="Arial"/>
              </a:rPr>
              <a:t>D.  An overextended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downtrend, which close does Lim's general rule treat as bullish?</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close above the previous bar's close or high</a:t>
            </a:r>
          </a:p>
          <a:p>
            <a:pPr algn="l">
              <a:lnSpc>
                <a:spcPct val="115000"/>
              </a:lnSpc>
              <a:spcBef>
                <a:spcPts val="700"/>
              </a:spcBef>
              <a:spcAft>
                <a:spcPts val="0"/>
              </a:spcAft>
            </a:pPr>
            <a:r>
              <a:rPr sz="1700" b="0" i="0">
                <a:solidFill>
                  <a:srgbClr val="1A1A1A"/>
                </a:solidFill>
                <a:latin typeface="Arial"/>
              </a:rPr>
              <a:t>Lim's rule: a close above a previous bar's close or high is considered bullish, especially after a large or wide-ranging bar (p. 212).</a:t>
            </a:r>
          </a:p>
        </p:txBody>
      </p:sp>
      <p:sp>
        <p:nvSpPr>
          <p:cNvPr id="10" name="Rectangle 9"/>
          <p:cNvSpPr/>
          <p:nvPr/>
        </p:nvSpPr>
        <p:spPr>
          <a:xfrm>
            <a:off x="777240" y="3330321"/>
            <a:ext cx="10637215" cy="18764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a bar that engulfs a previous narrow range bar and closes near its high?</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An outside bar</a:t>
            </a:r>
          </a:p>
          <a:p>
            <a:pPr algn="l">
              <a:lnSpc>
                <a:spcPct val="115000"/>
              </a:lnSpc>
              <a:spcBef>
                <a:spcPts val="700"/>
              </a:spcBef>
              <a:spcAft>
                <a:spcPts val="0"/>
              </a:spcAft>
            </a:pPr>
            <a:r>
              <a:rPr sz="1700" b="0" i="0">
                <a:solidFill>
                  <a:srgbClr val="1A1A1A"/>
                </a:solidFill>
                <a:latin typeface="Arial"/>
              </a:rPr>
              <a:t>That is bullish form 6, which Lim's label calls an outside bar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Six bearish triple forms,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go from two bars to three. Lim draws six basic triple bar bearish reversal patterns in Figures 7.6 and 7.7, and each one forms at the top of an uptrend (p. 213).</a:t>
            </a:r>
          </a:p>
          <a:p>
            <a:pPr algn="l">
              <a:lnSpc>
                <a:spcPct val="118000"/>
              </a:lnSpc>
              <a:spcBef>
                <a:spcPts val="0"/>
              </a:spcBef>
              <a:spcAft>
                <a:spcPts val="1300"/>
              </a:spcAft>
            </a:pPr>
            <a:r>
              <a:rPr sz="2100" b="0" i="0">
                <a:solidFill>
                  <a:srgbClr val="1A1A1A"/>
                </a:solidFill>
                <a:latin typeface="Arial"/>
              </a:rPr>
              <a:t>What is new compared with the double bars is a middle bar: every triple pattern has a first bar, a middle bar and a last bar.</a:t>
            </a:r>
          </a:p>
          <a:p>
            <a:pPr algn="l">
              <a:lnSpc>
                <a:spcPct val="118000"/>
              </a:lnSpc>
              <a:spcBef>
                <a:spcPts val="0"/>
              </a:spcBef>
              <a:spcAft>
                <a:spcPts val="1300"/>
              </a:spcAft>
            </a:pPr>
            <a:r>
              <a:rPr sz="2100" b="0" i="0">
                <a:solidFill>
                  <a:srgbClr val="1A1A1A"/>
                </a:solidFill>
                <a:latin typeface="Arial"/>
              </a:rPr>
              <a:t>Much of the logic will look familiar from the double bar forms, and we will point out where. That link is our reading, not Lim's.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Figures 7.6 and 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Larger gaps make a completed triple pattern more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first rule for these patterns is about gaps: the larger the gaps, the more bearish the pattern once it is complete (p. 213). Let us put invented prices on it. If the first bar's high is PHP 50.00 and the middle bar's low is PHP 50.40, the gap is PHP 0.40 </a:t>
            </a:r>
            <a:r>
              <a:rPr sz="1700" b="1" i="0">
                <a:solidFill>
                  <a:srgbClr val="E09B00"/>
                </a:solidFill>
                <a:latin typeface="Arial"/>
              </a:rPr>
              <a:t>(1)</a:t>
            </a:r>
            <a:r>
              <a:rPr sz="1700" b="0" i="0">
                <a:solidFill>
                  <a:srgbClr val="1A1A1A"/>
                </a:solidFill>
                <a:latin typeface="Arial"/>
              </a:rPr>
              <a:t>. The last bar then closes at PHP 49.60, back below the gap </a:t>
            </a:r>
            <a:r>
              <a:rPr sz="1700" b="1" i="0">
                <a:solidFill>
                  <a:srgbClr val="C62828"/>
                </a:solidFill>
                <a:latin typeface="Arial"/>
              </a:rPr>
              <a:t>(2)</a:t>
            </a:r>
            <a:r>
              <a:rPr sz="1700" b="0" i="0">
                <a:solidFill>
                  <a:srgbClr val="1A1A1A"/>
                </a:solidFill>
                <a:latin typeface="Arial"/>
              </a:rPr>
              <a:t>, and the pattern is complete.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340864" y="4055364"/>
            <a:ext cx="585216" cy="231289"/>
          </a:xfrm>
          <a:prstGeom prst="rect">
            <a:avLst/>
          </a:prstGeom>
          <a:noFill/>
          <a:ln w="44450">
            <a:solidFill>
              <a:srgbClr val="E09B00"/>
            </a:solidFill>
          </a:ln>
        </p:spPr>
        <p:txBody>
          <a:bodyPr rtlCol="0" anchor="ctr"/>
          <a:lstStyle/>
          <a:p>
            <a:pPr algn="ctr"/>
          </a:p>
        </p:txBody>
      </p:sp>
      <p:sp>
        <p:nvSpPr>
          <p:cNvPr id="10" name="Rectangle 9"/>
          <p:cNvSpPr/>
          <p:nvPr/>
        </p:nvSpPr>
        <p:spPr>
          <a:xfrm>
            <a:off x="7552944" y="3708429"/>
            <a:ext cx="585216" cy="578223"/>
          </a:xfrm>
          <a:prstGeom prst="rect">
            <a:avLst/>
          </a:prstGeom>
          <a:noFill/>
          <a:ln w="44450">
            <a:solidFill>
              <a:srgbClr val="1F5FAD"/>
            </a:solidFill>
          </a:ln>
        </p:spPr>
        <p:txBody>
          <a:bodyPr rtlCol="0" anchor="ctr"/>
          <a:lstStyle/>
          <a:p>
            <a:pPr algn="ctr"/>
          </a:p>
        </p:txBody>
      </p:sp>
      <p:sp>
        <p:nvSpPr>
          <p:cNvPr id="11" name="Oval 10"/>
          <p:cNvSpPr/>
          <p:nvPr/>
        </p:nvSpPr>
        <p:spPr>
          <a:xfrm>
            <a:off x="5008168" y="4474051"/>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10220248" y="447405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3090672" y="40429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302752" y="38695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4901091" y="4652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10113171" y="465227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Larger gaps make a completed triple pattern more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take a bigger gap: a middle bar whose low is PHP 51.00 leaves a PHP 1.00 gap </a:t>
            </a:r>
            <a:r>
              <a:rPr sz="1700" b="1" i="0">
                <a:solidFill>
                  <a:srgbClr val="1F5FAD"/>
                </a:solidFill>
                <a:latin typeface="Arial"/>
              </a:rPr>
              <a:t>(3)</a:t>
            </a:r>
            <a:r>
              <a:rPr sz="1700" b="0" i="0">
                <a:solidFill>
                  <a:srgbClr val="1A1A1A"/>
                </a:solidFill>
                <a:latin typeface="Arial"/>
              </a:rPr>
              <a:t>. The last bar again closes at PHP 49.60, below the gap </a:t>
            </a:r>
            <a:r>
              <a:rPr sz="1700" b="1" i="0">
                <a:solidFill>
                  <a:srgbClr val="7B3FA0"/>
                </a:solidFill>
                <a:latin typeface="Arial"/>
              </a:rPr>
              <a:t>(4)</a:t>
            </a:r>
            <a:r>
              <a:rPr sz="1700" b="0" i="0">
                <a:solidFill>
                  <a:srgbClr val="1A1A1A"/>
                </a:solidFill>
                <a:latin typeface="Arial"/>
              </a:rPr>
              <a:t>. Both patterns are complete, and Lim would read this one as more bearish because its gap is larger.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340864" y="4055364"/>
            <a:ext cx="585216" cy="231289"/>
          </a:xfrm>
          <a:prstGeom prst="rect">
            <a:avLst/>
          </a:prstGeom>
          <a:noFill/>
          <a:ln w="44450">
            <a:solidFill>
              <a:srgbClr val="E09B00"/>
            </a:solidFill>
          </a:ln>
        </p:spPr>
        <p:txBody>
          <a:bodyPr rtlCol="0" anchor="ctr"/>
          <a:lstStyle/>
          <a:p>
            <a:pPr algn="ctr"/>
          </a:p>
        </p:txBody>
      </p:sp>
      <p:sp>
        <p:nvSpPr>
          <p:cNvPr id="10" name="Rectangle 9"/>
          <p:cNvSpPr/>
          <p:nvPr/>
        </p:nvSpPr>
        <p:spPr>
          <a:xfrm>
            <a:off x="7552944" y="3708429"/>
            <a:ext cx="585216" cy="578223"/>
          </a:xfrm>
          <a:prstGeom prst="rect">
            <a:avLst/>
          </a:prstGeom>
          <a:noFill/>
          <a:ln w="44450">
            <a:solidFill>
              <a:srgbClr val="1F5FAD"/>
            </a:solidFill>
          </a:ln>
        </p:spPr>
        <p:txBody>
          <a:bodyPr rtlCol="0" anchor="ctr"/>
          <a:lstStyle/>
          <a:p>
            <a:pPr algn="ctr"/>
          </a:p>
        </p:txBody>
      </p:sp>
      <p:sp>
        <p:nvSpPr>
          <p:cNvPr id="11" name="Oval 10"/>
          <p:cNvSpPr/>
          <p:nvPr/>
        </p:nvSpPr>
        <p:spPr>
          <a:xfrm>
            <a:off x="5008168" y="4474051"/>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10220248" y="447405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3090672" y="40429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302752" y="38695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4901091" y="4652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10113171" y="465227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outer bars should be wide and the middle bar quiet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larger the range of the first and third bars, the more reliable the reversal pattern, Lim says (p. 213).</a:t>
            </a:r>
          </a:p>
          <a:p>
            <a:pPr algn="l">
              <a:lnSpc>
                <a:spcPct val="118000"/>
              </a:lnSpc>
              <a:spcBef>
                <a:spcPts val="0"/>
              </a:spcBef>
              <a:spcAft>
                <a:spcPts val="1300"/>
              </a:spcAft>
            </a:pPr>
            <a:r>
              <a:rPr sz="2100" b="0" i="0">
                <a:solidFill>
                  <a:srgbClr val="1A1A1A"/>
                </a:solidFill>
                <a:latin typeface="Arial"/>
              </a:rPr>
              <a:t>For most triple patterns the middle bar usually trades on low volume. Pattern 1 is possibly the exception: there larger middle volume is also considered more bearish, because the buyers failed to keep the close near or above the middle of the bar (p. 213).</a:t>
            </a:r>
          </a:p>
          <a:p>
            <a:pPr algn="l">
              <a:lnSpc>
                <a:spcPct val="118000"/>
              </a:lnSpc>
              <a:spcBef>
                <a:spcPts val="0"/>
              </a:spcBef>
              <a:spcAft>
                <a:spcPts val="1300"/>
              </a:spcAft>
            </a:pPr>
            <a:r>
              <a:rPr sz="2100" b="0" i="0">
                <a:solidFill>
                  <a:srgbClr val="1A1A1A"/>
                </a:solidFill>
                <a:latin typeface="Arial"/>
              </a:rPr>
              <a:t>As before, the pattern is generally more reliable if the last bar is overextended (unusually long compared with the bars before it) and closes at or near its low on high volume (pp. 213 to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triple pattern that meets those rules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Let us put invented prices on it. Bar 1 spans PHP 3.00 </a:t>
            </a:r>
            <a:r>
              <a:rPr sz="1700" b="1" i="0">
                <a:solidFill>
                  <a:srgbClr val="E09B00"/>
                </a:solidFill>
                <a:latin typeface="Arial"/>
              </a:rPr>
              <a:t>(1)</a:t>
            </a:r>
            <a:r>
              <a:rPr sz="1700" b="0" i="0">
                <a:solidFill>
                  <a:srgbClr val="1A1A1A"/>
                </a:solidFill>
                <a:latin typeface="Arial"/>
              </a:rPr>
              <a:t>; the middle bar spans only PHP 0.80 </a:t>
            </a:r>
            <a:r>
              <a:rPr sz="1700" b="1" i="0">
                <a:solidFill>
                  <a:srgbClr val="C62828"/>
                </a:solidFill>
                <a:latin typeface="Arial"/>
              </a:rPr>
              <a:t>(2)</a:t>
            </a:r>
            <a:r>
              <a:rPr sz="1700" b="0" i="0">
                <a:solidFill>
                  <a:srgbClr val="1A1A1A"/>
                </a:solidFill>
                <a:latin typeface="Arial"/>
              </a:rPr>
              <a:t> on 0.7 million shares </a:t>
            </a:r>
            <a:r>
              <a:rPr sz="1700" b="1" i="0">
                <a:solidFill>
                  <a:srgbClr val="1F5FAD"/>
                </a:solidFill>
                <a:latin typeface="Arial"/>
              </a:rPr>
              <a:t>(3)</a:t>
            </a:r>
            <a:r>
              <a:rPr sz="1700" b="0" i="0">
                <a:solidFill>
                  <a:srgbClr val="1A1A1A"/>
                </a:solidFill>
                <a:latin typeface="Arial"/>
              </a:rPr>
              <a:t>; and bar 3 spans PHP 6.00 </a:t>
            </a:r>
            <a:r>
              <a:rPr sz="1700" b="1" i="0">
                <a:solidFill>
                  <a:srgbClr val="7B3FA0"/>
                </a:solidFill>
                <a:latin typeface="Arial"/>
              </a:rPr>
              <a:t>(4)</a:t>
            </a:r>
            <a:r>
              <a:rPr sz="1700" b="0" i="0">
                <a:solidFill>
                  <a:srgbClr val="1A1A1A"/>
                </a:solidFill>
                <a:latin typeface="Arial"/>
              </a:rPr>
              <a:t>, twice as much as bar 1 and far more than the middle bar. Bar 3 also closes at PHP 44.60, near its PHP 44.40 low, on 4.2 million shares: the overextended, near-low, high-volume last bar Lim prefers.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tr-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761488" y="3392424"/>
            <a:ext cx="109727" cy="541158"/>
          </a:xfrm>
          <a:prstGeom prst="rect">
            <a:avLst/>
          </a:prstGeom>
          <a:noFill/>
          <a:ln w="44450">
            <a:solidFill>
              <a:srgbClr val="E09B00"/>
            </a:solidFill>
          </a:ln>
        </p:spPr>
        <p:txBody>
          <a:bodyPr rtlCol="0" anchor="ctr"/>
          <a:lstStyle/>
          <a:p>
            <a:pPr algn="ctr"/>
          </a:p>
        </p:txBody>
      </p:sp>
      <p:sp>
        <p:nvSpPr>
          <p:cNvPr id="10" name="Rectangle 9"/>
          <p:cNvSpPr/>
          <p:nvPr/>
        </p:nvSpPr>
        <p:spPr>
          <a:xfrm>
            <a:off x="6315303" y="3408633"/>
            <a:ext cx="109727" cy="184542"/>
          </a:xfrm>
          <a:prstGeom prst="rect">
            <a:avLst/>
          </a:prstGeom>
          <a:noFill/>
          <a:ln w="44450">
            <a:solidFill>
              <a:srgbClr val="C62828"/>
            </a:solidFill>
          </a:ln>
        </p:spPr>
        <p:txBody>
          <a:bodyPr rtlCol="0" anchor="ctr"/>
          <a:lstStyle/>
          <a:p>
            <a:pPr algn="ctr"/>
          </a:p>
        </p:txBody>
      </p:sp>
      <p:sp>
        <p:nvSpPr>
          <p:cNvPr id="11" name="Rectangle 10"/>
          <p:cNvSpPr/>
          <p:nvPr/>
        </p:nvSpPr>
        <p:spPr>
          <a:xfrm>
            <a:off x="9869119" y="3489682"/>
            <a:ext cx="109728" cy="1027453"/>
          </a:xfrm>
          <a:prstGeom prst="rect">
            <a:avLst/>
          </a:prstGeom>
          <a:noFill/>
          <a:ln w="44450">
            <a:solidFill>
              <a:srgbClr val="7B3FA0"/>
            </a:solidFill>
          </a:ln>
        </p:spPr>
        <p:txBody>
          <a:bodyPr rtlCol="0" anchor="ctr"/>
          <a:lstStyle/>
          <a:p>
            <a:pPr algn="ctr"/>
          </a:p>
        </p:txBody>
      </p:sp>
      <p:sp>
        <p:nvSpPr>
          <p:cNvPr id="12" name="Rectangle 11"/>
          <p:cNvSpPr/>
          <p:nvPr/>
        </p:nvSpPr>
        <p:spPr>
          <a:xfrm>
            <a:off x="6214719" y="5300472"/>
            <a:ext cx="310895" cy="85344"/>
          </a:xfrm>
          <a:prstGeom prst="rect">
            <a:avLst/>
          </a:prstGeom>
          <a:noFill/>
          <a:ln w="44450">
            <a:solidFill>
              <a:srgbClr val="1F5FAD"/>
            </a:solidFill>
          </a:ln>
        </p:spPr>
        <p:txBody>
          <a:bodyPr rtlCol="0" anchor="ctr"/>
          <a:lstStyle/>
          <a:p>
            <a:pPr algn="ctr"/>
          </a:p>
        </p:txBody>
      </p:sp>
      <p:sp>
        <p:nvSpPr>
          <p:cNvPr id="13" name="Oval 12"/>
          <p:cNvSpPr/>
          <p:nvPr/>
        </p:nvSpPr>
        <p:spPr>
          <a:xfrm>
            <a:off x="2871216" y="35349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787989" y="308942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78847" y="38753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Oval 15"/>
          <p:cNvSpPr/>
          <p:nvPr/>
        </p:nvSpPr>
        <p:spPr>
          <a:xfrm>
            <a:off x="6653631" y="52151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Prices and volume are invented for teaching.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1: a large middle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"1st bar closes near its high followed by a large middle bar closing near its low. The 3rd bar closes at or near its low" (Figure 7.6, p. 213). Bar 1 closes at PHP 50.50 </a:t>
            </a:r>
            <a:r>
              <a:rPr sz="1700" b="1" i="0">
                <a:solidFill>
                  <a:srgbClr val="E09B00"/>
                </a:solidFill>
                <a:latin typeface="Arial"/>
              </a:rPr>
              <a:t>(1)</a:t>
            </a:r>
            <a:r>
              <a:rPr sz="1700" b="0" i="0">
                <a:solidFill>
                  <a:srgbClr val="1A1A1A"/>
                </a:solidFill>
                <a:latin typeface="Arial"/>
              </a:rPr>
              <a:t>; the large middle bar at PHP 50.60, near its low </a:t>
            </a:r>
            <a:r>
              <a:rPr sz="1700" b="1" i="0">
                <a:solidFill>
                  <a:srgbClr val="C62828"/>
                </a:solidFill>
                <a:latin typeface="Arial"/>
              </a:rPr>
              <a:t>(2)</a:t>
            </a:r>
            <a:r>
              <a:rPr sz="1700" b="0" i="0">
                <a:solidFill>
                  <a:srgbClr val="1A1A1A"/>
                </a:solidFill>
                <a:latin typeface="Arial"/>
              </a:rPr>
              <a:t>, on 3.6 million shares </a:t>
            </a:r>
            <a:r>
              <a:rPr sz="1700" b="1" i="0">
                <a:solidFill>
                  <a:srgbClr val="1F5FAD"/>
                </a:solidFill>
                <a:latin typeface="Arial"/>
              </a:rPr>
              <a:t>(3)</a:t>
            </a:r>
            <a:r>
              <a:rPr sz="1700" b="0" i="0">
                <a:solidFill>
                  <a:srgbClr val="1A1A1A"/>
                </a:solidFill>
                <a:latin typeface="Arial"/>
              </a:rPr>
              <a:t>; bar 3 at PHP 49.00 </a:t>
            </a:r>
            <a:r>
              <a:rPr sz="1700" b="1" i="0">
                <a:solidFill>
                  <a:srgbClr val="7B3FA0"/>
                </a:solidFill>
                <a:latin typeface="Arial"/>
              </a:rPr>
              <a:t>(4)</a:t>
            </a:r>
            <a:r>
              <a:rPr sz="1700" b="0" i="0">
                <a:solidFill>
                  <a:srgbClr val="1A1A1A"/>
                </a:solidFill>
                <a:latin typeface="Arial"/>
              </a:rPr>
              <a:t>. Our reading, not Lim's: new, not built from a two-bar form.</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56842" y="2395728"/>
            <a:ext cx="152156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56842" y="2395728"/>
            <a:ext cx="152156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1162" y="2670048"/>
            <a:ext cx="97292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991127"/>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3964381"/>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7281367" y="5148072"/>
            <a:ext cx="310895" cy="237744"/>
          </a:xfrm>
          <a:prstGeom prst="rect">
            <a:avLst/>
          </a:prstGeom>
          <a:noFill/>
          <a:ln w="44450">
            <a:solidFill>
              <a:srgbClr val="1F5FAD"/>
            </a:solidFill>
          </a:ln>
        </p:spPr>
        <p:txBody>
          <a:bodyPr rtlCol="0" anchor="ctr"/>
          <a:lstStyle/>
          <a:p>
            <a:pPr algn="ctr"/>
          </a:p>
        </p:txBody>
      </p:sp>
      <p:sp>
        <p:nvSpPr>
          <p:cNvPr id="17" name="Oval 16"/>
          <p:cNvSpPr/>
          <p:nvPr/>
        </p:nvSpPr>
        <p:spPr>
          <a:xfrm>
            <a:off x="10282427" y="439232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4763218" y="4094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513473" y="36965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09994"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2448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TA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88</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"1st bar closes near its high followed by a narrow range middle bar closing within its range on low volume. The 3rd bar closes at or near its low" (Figure 7.6, p. 213). Bar 1 closes at PHP 51.00 </a:t>
            </a:r>
            <a:r>
              <a:rPr sz="1700" b="1" i="0">
                <a:solidFill>
                  <a:srgbClr val="E09B00"/>
                </a:solidFill>
                <a:latin typeface="Arial"/>
              </a:rPr>
              <a:t>(1)</a:t>
            </a:r>
            <a:r>
              <a:rPr sz="1700" b="0" i="0">
                <a:solidFill>
                  <a:srgbClr val="1A1A1A"/>
                </a:solidFill>
                <a:latin typeface="Arial"/>
              </a:rPr>
              <a:t>; the middle bar spans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at PHP 48.60 </a:t>
            </a:r>
            <a:r>
              <a:rPr sz="1700" b="1" i="0">
                <a:solidFill>
                  <a:srgbClr val="7B3FA0"/>
                </a:solidFill>
                <a:latin typeface="Arial"/>
              </a:rPr>
              <a:t>(4)</a:t>
            </a:r>
            <a:r>
              <a:rPr sz="1700" b="0" i="0">
                <a:solidFill>
                  <a:srgbClr val="1A1A1A"/>
                </a:solidFill>
                <a:latin typeface="Arial"/>
              </a:rPr>
              <a:t>. Our reading, not Lim's: built from two-bar form 4.</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88</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3: a gap up, then a close back below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"2nd bar gaps up and closes above the gap. The 3rd bar closes below the gap" (Figure 7.6, p. 213). Bar 1 tops out at PHP 50.00 and bar 2's low is PHP 50.40, leaving a PHP 0.40 gap </a:t>
            </a:r>
            <a:r>
              <a:rPr sz="1700" b="1" i="0">
                <a:solidFill>
                  <a:srgbClr val="E09B00"/>
                </a:solidFill>
                <a:latin typeface="Arial"/>
              </a:rPr>
              <a:t>(1)</a:t>
            </a:r>
            <a:r>
              <a:rPr sz="1700" b="0" i="0">
                <a:solidFill>
                  <a:srgbClr val="1A1A1A"/>
                </a:solidFill>
                <a:latin typeface="Arial"/>
              </a:rPr>
              <a:t>; bar 2 closes above it at PHP 51.20 </a:t>
            </a:r>
            <a:r>
              <a:rPr sz="1700" b="1" i="0">
                <a:solidFill>
                  <a:srgbClr val="C62828"/>
                </a:solidFill>
                <a:latin typeface="Arial"/>
              </a:rPr>
              <a:t>(2)</a:t>
            </a:r>
            <a:r>
              <a:rPr sz="1700" b="0" i="0">
                <a:solidFill>
                  <a:srgbClr val="1A1A1A"/>
                </a:solidFill>
                <a:latin typeface="Arial"/>
              </a:rPr>
              <a:t>; bar 3 closes at PHP 49.60, below the gap </a:t>
            </a:r>
            <a:r>
              <a:rPr sz="1700" b="1" i="0">
                <a:solidFill>
                  <a:srgbClr val="1F5FAD"/>
                </a:solidFill>
                <a:latin typeface="Arial"/>
              </a:rPr>
              <a:t>(3)</a:t>
            </a:r>
            <a:r>
              <a:rPr sz="1700" b="0" i="0">
                <a:solidFill>
                  <a:srgbClr val="1A1A1A"/>
                </a:solidFill>
                <a:latin typeface="Arial"/>
              </a:rPr>
              <a:t>. Our reading, not Lim's: built from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87680" y="2395728"/>
            <a:ext cx="1659885"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87680" y="2395728"/>
            <a:ext cx="16598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62000" y="2670048"/>
            <a:ext cx="11112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3: a gap up, then a close below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c-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24766"/>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3496946"/>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446480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050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360012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1969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prices are invented for teaching.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"2nd bar gaps up on low volume. The 3rd bar gaps down and closes at or near its low. Also referred to as a single island reversal bar" (Figure 7.7, p. 214). Bar 2 gaps up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down PHP 0.40 below it </a:t>
            </a:r>
            <a:r>
              <a:rPr sz="1700" b="1" i="0">
                <a:solidFill>
                  <a:srgbClr val="1F5FAD"/>
                </a:solidFill>
                <a:latin typeface="Arial"/>
              </a:rPr>
              <a:t>(3)</a:t>
            </a:r>
            <a:r>
              <a:rPr sz="1700" b="0" i="0">
                <a:solidFill>
                  <a:srgbClr val="1A1A1A"/>
                </a:solidFill>
                <a:latin typeface="Arial"/>
              </a:rPr>
              <a:t> and closes at PHP 48.60 </a:t>
            </a:r>
            <a:r>
              <a:rPr sz="1700" b="1" i="0">
                <a:solidFill>
                  <a:srgbClr val="7B3FA0"/>
                </a:solidFill>
                <a:latin typeface="Arial"/>
              </a:rPr>
              <a:t>(4)</a:t>
            </a:r>
            <a:r>
              <a:rPr sz="1700" b="0" i="0">
                <a:solidFill>
                  <a:srgbClr val="1A1A1A"/>
                </a:solidFill>
                <a:latin typeface="Arial"/>
              </a:rPr>
              <a:t>. Our reading, not Lim's: built from two-bar form 3.</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3272" y="2395728"/>
            <a:ext cx="14487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3272" y="2395728"/>
            <a:ext cx="14487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67592" y="2670048"/>
            <a:ext cx="9000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366674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366674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4363516"/>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72682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35152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09567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TD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88</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"2nd bar gaps up on low volume. The 3rd bar engulfs the 2nd bar and closes below the gap" (Figure 7.7, p. 214). Bar 2 gaps up above PHP 50.00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49.20 to PHP 51.20, beyond both ends of bar 2 </a:t>
            </a:r>
            <a:r>
              <a:rPr sz="1700" b="1" i="0">
                <a:solidFill>
                  <a:srgbClr val="1F5FAD"/>
                </a:solidFill>
                <a:latin typeface="Arial"/>
              </a:rPr>
              <a:t>(3)</a:t>
            </a:r>
            <a:r>
              <a:rPr sz="1700" b="0" i="0">
                <a:solidFill>
                  <a:srgbClr val="1A1A1A"/>
                </a:solidFill>
                <a:latin typeface="Arial"/>
              </a:rPr>
              <a:t>, and closes at PHP 49.40 </a:t>
            </a:r>
            <a:r>
              <a:rPr sz="1700" b="1" i="0">
                <a:solidFill>
                  <a:srgbClr val="7B3FA0"/>
                </a:solidFill>
                <a:latin typeface="Arial"/>
              </a:rPr>
              <a:t>(4)</a:t>
            </a:r>
            <a:r>
              <a:rPr sz="1700" b="0" i="0">
                <a:solidFill>
                  <a:srgbClr val="1A1A1A"/>
                </a:solidFill>
                <a:latin typeface="Arial"/>
              </a:rPr>
              <a:t>. Our reading, not Lim's: built from two-bar form 6.</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59122" y="2395728"/>
            <a:ext cx="13170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59122" y="2395728"/>
            <a:ext cx="13170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33442" y="2670048"/>
            <a:ext cx="7683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808891"/>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4251294"/>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7781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41619" y="39182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89043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TE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88</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6: a close below the middle bar's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the 2nd bar "closes at or near its high on low volume followed by a 3rd bar closing below the low of the 2nd bar (and preferably below the close of the 1st bar as well)" (Figure 7.7, p. 214). Bar 2 closes at PHP 51.30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at PHP 49.80 </a:t>
            </a:r>
            <a:r>
              <a:rPr sz="1700" b="1" i="0">
                <a:solidFill>
                  <a:srgbClr val="1F5FAD"/>
                </a:solidFill>
                <a:latin typeface="Arial"/>
              </a:rPr>
              <a:t>(3)</a:t>
            </a:r>
            <a:r>
              <a:rPr sz="1700" b="0" i="0">
                <a:solidFill>
                  <a:srgbClr val="1A1A1A"/>
                </a:solidFill>
                <a:latin typeface="Arial"/>
              </a:rPr>
              <a:t>, under bar 2's PHP 50.10 low. Our reading, not Lim's: built from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05549" y="2395728"/>
            <a:ext cx="142414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05549" y="2395728"/>
            <a:ext cx="142414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9869" y="2670048"/>
            <a:ext cx="8755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6: a close below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f-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34171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403433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497274" y="35202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37664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say larger gaps do to a triple bearish pattern?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Make it a continuation pattern</a:t>
            </a:r>
          </a:p>
          <a:p>
            <a:pPr algn="l">
              <a:lnSpc>
                <a:spcPct val="112000"/>
              </a:lnSpc>
              <a:spcBef>
                <a:spcPts val="0"/>
              </a:spcBef>
              <a:spcAft>
                <a:spcPts val="900"/>
              </a:spcAft>
            </a:pPr>
            <a:r>
              <a:rPr sz="1700" b="0" i="0">
                <a:solidFill>
                  <a:srgbClr val="FFFFFF"/>
                </a:solidFill>
                <a:latin typeface="Arial"/>
              </a:rPr>
              <a:t>B.  Make no difference</a:t>
            </a:r>
          </a:p>
          <a:p>
            <a:pPr algn="l">
              <a:lnSpc>
                <a:spcPct val="112000"/>
              </a:lnSpc>
              <a:spcBef>
                <a:spcPts val="0"/>
              </a:spcBef>
              <a:spcAft>
                <a:spcPts val="900"/>
              </a:spcAft>
            </a:pPr>
            <a:r>
              <a:rPr sz="1700" b="0" i="0">
                <a:solidFill>
                  <a:srgbClr val="FFFFFF"/>
                </a:solidFill>
                <a:latin typeface="Arial"/>
              </a:rPr>
              <a:t>C.  Make it more bearish once complete</a:t>
            </a:r>
          </a:p>
          <a:p>
            <a:pPr algn="l">
              <a:lnSpc>
                <a:spcPct val="112000"/>
              </a:lnSpc>
              <a:spcBef>
                <a:spcPts val="0"/>
              </a:spcBef>
              <a:spcAft>
                <a:spcPts val="900"/>
              </a:spcAft>
            </a:pPr>
            <a:r>
              <a:rPr sz="1700" b="0" i="0">
                <a:solidFill>
                  <a:srgbClr val="FFFFFF"/>
                </a:solidFill>
                <a:latin typeface="Arial"/>
              </a:rPr>
              <a:t>D.  Make the middle bar quieter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triple pattern can larger middle-bar volume count as more bearish?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Pattern 1</a:t>
            </a:r>
          </a:p>
          <a:p>
            <a:pPr algn="l">
              <a:lnSpc>
                <a:spcPct val="112000"/>
              </a:lnSpc>
              <a:spcBef>
                <a:spcPts val="0"/>
              </a:spcBef>
              <a:spcAft>
                <a:spcPts val="900"/>
              </a:spcAft>
            </a:pPr>
            <a:r>
              <a:rPr sz="1700" b="0" i="0">
                <a:solidFill>
                  <a:srgbClr val="FFFFFF"/>
                </a:solidFill>
                <a:latin typeface="Arial"/>
              </a:rPr>
              <a:t>B.  Pattern 2</a:t>
            </a:r>
          </a:p>
          <a:p>
            <a:pPr algn="l">
              <a:lnSpc>
                <a:spcPct val="112000"/>
              </a:lnSpc>
              <a:spcBef>
                <a:spcPts val="0"/>
              </a:spcBef>
              <a:spcAft>
                <a:spcPts val="900"/>
              </a:spcAft>
            </a:pPr>
            <a:r>
              <a:rPr sz="1700" b="0" i="0">
                <a:solidFill>
                  <a:srgbClr val="FFFFFF"/>
                </a:solidFill>
                <a:latin typeface="Arial"/>
              </a:rPr>
              <a:t>C.  Pattern 4</a:t>
            </a:r>
          </a:p>
          <a:p>
            <a:pPr algn="l">
              <a:lnSpc>
                <a:spcPct val="112000"/>
              </a:lnSpc>
              <a:spcBef>
                <a:spcPts val="0"/>
              </a:spcBef>
              <a:spcAft>
                <a:spcPts val="900"/>
              </a:spcAft>
            </a:pPr>
            <a:r>
              <a:rPr sz="1700" b="0" i="0">
                <a:solidFill>
                  <a:srgbClr val="FFFFFF"/>
                </a:solidFill>
                <a:latin typeface="Arial"/>
              </a:rPr>
              <a:t>D.  None of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triple bar patterns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Lim say larger gaps do to a triple bearish pattern?</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Make it more bearish once complete</a:t>
            </a:r>
          </a:p>
          <a:p>
            <a:pPr algn="l">
              <a:lnSpc>
                <a:spcPct val="115000"/>
              </a:lnSpc>
              <a:spcBef>
                <a:spcPts val="700"/>
              </a:spcBef>
              <a:spcAft>
                <a:spcPts val="0"/>
              </a:spcAft>
            </a:pPr>
            <a:r>
              <a:rPr sz="1700" b="0" i="0">
                <a:solidFill>
                  <a:srgbClr val="1A1A1A"/>
                </a:solidFill>
                <a:latin typeface="Arial"/>
              </a:rPr>
              <a:t>The larger the gaps, the more bearish the pattern upon completion (p. 213).</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which triple pattern can larger middle-bar volume count as more bearish?</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Pattern 1</a:t>
            </a:r>
          </a:p>
          <a:p>
            <a:pPr algn="l">
              <a:lnSpc>
                <a:spcPct val="115000"/>
              </a:lnSpc>
              <a:spcBef>
                <a:spcPts val="700"/>
              </a:spcBef>
              <a:spcAft>
                <a:spcPts val="0"/>
              </a:spcAft>
            </a:pPr>
            <a:r>
              <a:rPr sz="1700" b="0" i="0">
                <a:solidFill>
                  <a:srgbClr val="1A1A1A"/>
                </a:solidFill>
                <a:latin typeface="Arial"/>
              </a:rPr>
              <a:t>The middle bar usually trades on low volume, except possibly in pattern 1, where larger volume is also considered more bearish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bullish triple forms mirror them in a downtrend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bullish reversal patterns in a downtrend (p. 214).</a:t>
            </a:r>
          </a:p>
          <a:p>
            <a:pPr algn="l">
              <a:lnSpc>
                <a:spcPct val="118000"/>
              </a:lnSpc>
              <a:spcBef>
                <a:spcPts val="0"/>
              </a:spcBef>
              <a:spcAft>
                <a:spcPts val="1300"/>
              </a:spcAft>
            </a:pPr>
            <a:r>
              <a:rPr sz="2100" b="0" i="0">
                <a:solidFill>
                  <a:srgbClr val="1A1A1A"/>
                </a:solidFill>
                <a:latin typeface="Arial"/>
              </a:rPr>
              <a:t>Lim's reliability rule turns around: a bullish three-bar pattern is potentially more reliable if the last bar is overextended (unusually long compared with the bars before it) and closes at or near its high on high volume (p. 214).</a:t>
            </a:r>
          </a:p>
          <a:p>
            <a:pPr algn="l">
              <a:lnSpc>
                <a:spcPct val="118000"/>
              </a:lnSpc>
              <a:spcBef>
                <a:spcPts val="0"/>
              </a:spcBef>
              <a:spcAft>
                <a:spcPts val="1300"/>
              </a:spcAft>
            </a:pPr>
            <a:r>
              <a:rPr sz="2100" b="0" i="0">
                <a:solidFill>
                  <a:srgbClr val="1A1A1A"/>
                </a:solidFill>
                <a:latin typeface="Arial"/>
              </a:rPr>
              <a:t>Our six charts are the bearish ones turned upside down about PHP 45, so a close at PHP 50.50 becomes PHP 39.50. Our charts show an ordinary last bar; an overextended one would be far longer, say PHP 4.00 against PHP 1.00.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The prices are invented for teaching.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1: a large middle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"1st bar closes near its low followed by a large middle bar closing near its high. The 3rd bar closes at or near its high" (Figure 7.8, p. 214). Bar 1 closes at PHP 39.50, near its low </a:t>
            </a:r>
            <a:r>
              <a:rPr sz="1700" b="1" i="0">
                <a:solidFill>
                  <a:srgbClr val="E09B00"/>
                </a:solidFill>
                <a:latin typeface="Arial"/>
              </a:rPr>
              <a:t>(1)</a:t>
            </a:r>
            <a:r>
              <a:rPr sz="1700" b="0" i="0">
                <a:solidFill>
                  <a:srgbClr val="1A1A1A"/>
                </a:solidFill>
                <a:latin typeface="Arial"/>
              </a:rPr>
              <a:t>; the large middle bar closes at PHP 39.40, near its high </a:t>
            </a:r>
            <a:r>
              <a:rPr sz="1700" b="1" i="0">
                <a:solidFill>
                  <a:srgbClr val="C62828"/>
                </a:solidFill>
                <a:latin typeface="Arial"/>
              </a:rPr>
              <a:t>(2)</a:t>
            </a:r>
            <a:r>
              <a:rPr sz="1700" b="0" i="0">
                <a:solidFill>
                  <a:srgbClr val="1A1A1A"/>
                </a:solidFill>
                <a:latin typeface="Arial"/>
              </a:rPr>
              <a:t>; bar 3 closes at PHP 41.00 </a:t>
            </a:r>
            <a:r>
              <a:rPr sz="1700" b="1" i="0">
                <a:solidFill>
                  <a:srgbClr val="1F5FAD"/>
                </a:solidFill>
                <a:latin typeface="Arial"/>
              </a:rPr>
              <a:t>(3)</a:t>
            </a:r>
            <a:r>
              <a:rPr sz="1700" b="0" i="0">
                <a:solidFill>
                  <a:srgbClr val="1A1A1A"/>
                </a:solidFill>
                <a:latin typeface="Arial"/>
              </a:rPr>
              <a:t>. Our reading, not Lim's: new, not built from a two-bar form.</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653" y="2395728"/>
            <a:ext cx="1439939"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653" y="2395728"/>
            <a:ext cx="143993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973" y="2670048"/>
            <a:ext cx="891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044391"/>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408371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9417" y="377655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418689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TG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"1st bar closes near its low followed by a narrow range middle bar closing within its range on low volume. The 3rd bar closes at or near its high" (Figure 7.8, p. 214). Bar 1 closes at PHP 39.00 </a:t>
            </a:r>
            <a:r>
              <a:rPr sz="1700" b="1" i="0">
                <a:solidFill>
                  <a:srgbClr val="E09B00"/>
                </a:solidFill>
                <a:latin typeface="Arial"/>
              </a:rPr>
              <a:t>(1)</a:t>
            </a:r>
            <a:r>
              <a:rPr sz="1700" b="0" i="0">
                <a:solidFill>
                  <a:srgbClr val="1A1A1A"/>
                </a:solidFill>
                <a:latin typeface="Arial"/>
              </a:rPr>
              <a:t>; the middle bar spans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at PHP 41.40 </a:t>
            </a:r>
            <a:r>
              <a:rPr sz="1700" b="1" i="0">
                <a:solidFill>
                  <a:srgbClr val="7B3FA0"/>
                </a:solidFill>
                <a:latin typeface="Arial"/>
              </a:rPr>
              <a:t>(4)</a:t>
            </a:r>
            <a:r>
              <a:rPr sz="1700" b="0" i="0">
                <a:solidFill>
                  <a:srgbClr val="1A1A1A"/>
                </a:solidFill>
                <a:latin typeface="Arial"/>
              </a:rPr>
              <a:t>. Our reading, not Lim's: built from bullish two-bar form 4.</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03" y="2395728"/>
            <a:ext cx="14960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03" y="2395728"/>
            <a:ext cx="14960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23" y="2670048"/>
            <a:ext cx="9474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h-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4118392"/>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4369395"/>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34523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38799" y="44067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79417" y="410155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5556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TH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88</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Prices and volume are invented for teaching.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3: a gap down, then a close back above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"2nd bar gaps down and closes below the gap. The 3rd bar closes above the gap" (Figure 7.8, p. 214). Bar 1's low is PHP 40.00 and bar 2's high only PHP 39.60, leaving a PHP 0.40 gap </a:t>
            </a:r>
            <a:r>
              <a:rPr sz="1700" b="1" i="0">
                <a:solidFill>
                  <a:srgbClr val="E09B00"/>
                </a:solidFill>
                <a:latin typeface="Arial"/>
              </a:rPr>
              <a:t>(1)</a:t>
            </a:r>
            <a:r>
              <a:rPr sz="1700" b="0" i="0">
                <a:solidFill>
                  <a:srgbClr val="1A1A1A"/>
                </a:solidFill>
                <a:latin typeface="Arial"/>
              </a:rPr>
              <a:t>; bar 2 closes below it at PHP 38.80 </a:t>
            </a:r>
            <a:r>
              <a:rPr sz="1700" b="1" i="0">
                <a:solidFill>
                  <a:srgbClr val="C62828"/>
                </a:solidFill>
                <a:latin typeface="Arial"/>
              </a:rPr>
              <a:t>(2)</a:t>
            </a:r>
            <a:r>
              <a:rPr sz="1700" b="0" i="0">
                <a:solidFill>
                  <a:srgbClr val="1A1A1A"/>
                </a:solidFill>
                <a:latin typeface="Arial"/>
              </a:rPr>
              <a:t>; bar 3 closes at PHP 40.40, above the gap </a:t>
            </a:r>
            <a:r>
              <a:rPr sz="1700" b="1" i="0">
                <a:solidFill>
                  <a:srgbClr val="1F5FAD"/>
                </a:solidFill>
                <a:latin typeface="Arial"/>
              </a:rPr>
              <a:t>(3)</a:t>
            </a:r>
            <a:r>
              <a:rPr sz="1700" b="0" i="0">
                <a:solidFill>
                  <a:srgbClr val="1A1A1A"/>
                </a:solidFill>
                <a:latin typeface="Arial"/>
              </a:rPr>
              <a:t>. Our reading, not Lim's: built from bullish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23174" y="2395728"/>
            <a:ext cx="158889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23174" y="2395728"/>
            <a:ext cx="158889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97494" y="2670048"/>
            <a:ext cx="10402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3: a gap down, then a close above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i-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145748"/>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482775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85989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105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13473" y="45599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9630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TI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"2nd bar gaps down on low volume. The 3rd bar gaps up and closes at or near its high. Also referred to as a single island reversal bar" (Figure 7.9, p. 215). Bar 2 gaps down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up PHP 0.40 above it </a:t>
            </a:r>
            <a:r>
              <a:rPr sz="1700" b="1" i="0">
                <a:solidFill>
                  <a:srgbClr val="1F5FAD"/>
                </a:solidFill>
                <a:latin typeface="Arial"/>
              </a:rPr>
              <a:t>(3)</a:t>
            </a:r>
            <a:r>
              <a:rPr sz="1700" b="0" i="0">
                <a:solidFill>
                  <a:srgbClr val="1A1A1A"/>
                </a:solidFill>
                <a:latin typeface="Arial"/>
              </a:rPr>
              <a:t> and closes at PHP 41.40 </a:t>
            </a:r>
            <a:r>
              <a:rPr sz="1700" b="1" i="0">
                <a:solidFill>
                  <a:srgbClr val="7B3FA0"/>
                </a:solidFill>
                <a:latin typeface="Arial"/>
              </a:rPr>
              <a:t>(4)</a:t>
            </a:r>
            <a:r>
              <a:rPr sz="1700" b="0" i="0">
                <a:solidFill>
                  <a:srgbClr val="1A1A1A"/>
                </a:solidFill>
                <a:latin typeface="Arial"/>
              </a:rPr>
              <a:t>. Our reading, not Lim's: built from bullish two-bar form 3.</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55" y="2395728"/>
            <a:ext cx="149593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55" y="2395728"/>
            <a:ext cx="149593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75" y="2670048"/>
            <a:ext cx="9472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j-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7822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407822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345826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92670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413830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6144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TJ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88</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"2nd bar gaps down on low volume. The 3rd bar engulfs the 2nd bar and closes above the gap" (Figure 7.9, p. 215). Bar 2 gaps down below PHP 40.00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38.80 to PHP 40.80, beyond both ends of bar 2 </a:t>
            </a:r>
            <a:r>
              <a:rPr sz="1700" b="1" i="0">
                <a:solidFill>
                  <a:srgbClr val="1F5FAD"/>
                </a:solidFill>
                <a:latin typeface="Arial"/>
              </a:rPr>
              <a:t>(3)</a:t>
            </a:r>
            <a:r>
              <a:rPr sz="1700" b="0" i="0">
                <a:solidFill>
                  <a:srgbClr val="1A1A1A"/>
                </a:solidFill>
                <a:latin typeface="Arial"/>
              </a:rPr>
              <a:t>, and closes at PHP 40.60 </a:t>
            </a:r>
            <a:r>
              <a:rPr sz="1700" b="1" i="0">
                <a:solidFill>
                  <a:srgbClr val="7B3FA0"/>
                </a:solidFill>
                <a:latin typeface="Arial"/>
              </a:rPr>
              <a:t>(4)</a:t>
            </a:r>
            <a:r>
              <a:rPr sz="1700" b="0" i="0">
                <a:solidFill>
                  <a:srgbClr val="1A1A1A"/>
                </a:solidFill>
                <a:latin typeface="Arial"/>
              </a:rPr>
              <a:t>. Our reading, not Lim's: built from bullish two-bar form 6.</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16403" y="2395728"/>
            <a:ext cx="14024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16403" y="2395728"/>
            <a:ext cx="14024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90723" y="2670048"/>
            <a:ext cx="8538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k-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489682"/>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906150"/>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35704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8753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53382" y="3746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7630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TK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88</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6: a close above the middle bar's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the 2nd bar "closes at or near its low on low volume followed by a 3rd bar closing above the high of the 2nd bar (and preferably above the close of the 1st bar as well)" (Figure 7.9, p. 215). Bar 2 closes at PHP 38.70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at PHP 40.20 </a:t>
            </a:r>
            <a:r>
              <a:rPr sz="1700" b="1" i="0">
                <a:solidFill>
                  <a:srgbClr val="1F5FAD"/>
                </a:solidFill>
                <a:latin typeface="Arial"/>
              </a:rPr>
              <a:t>(3)</a:t>
            </a:r>
            <a:r>
              <a:rPr sz="1700" b="0" i="0">
                <a:solidFill>
                  <a:srgbClr val="1A1A1A"/>
                </a:solidFill>
                <a:latin typeface="Arial"/>
              </a:rPr>
              <a:t>, over bar 2's high. Our reading, not Lim's: built from bullish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357" y="2395728"/>
            <a:ext cx="144053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357" y="2395728"/>
            <a:ext cx="144053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677" y="2670048"/>
            <a:ext cx="8918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6: a close above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l-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440466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378744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513473" y="41368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906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TL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bullish three-bar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on low volume</a:t>
            </a:r>
          </a:p>
          <a:p>
            <a:pPr algn="l">
              <a:lnSpc>
                <a:spcPct val="112000"/>
              </a:lnSpc>
              <a:spcBef>
                <a:spcPts val="0"/>
              </a:spcBef>
              <a:spcAft>
                <a:spcPts val="900"/>
              </a:spcAft>
            </a:pPr>
            <a:r>
              <a:rPr sz="1700" b="0" i="0">
                <a:solidFill>
                  <a:srgbClr val="FFFFFF"/>
                </a:solidFill>
                <a:latin typeface="Arial"/>
              </a:rPr>
              <a:t>B.  A bar that gaps down</a:t>
            </a:r>
          </a:p>
          <a:p>
            <a:pPr algn="l">
              <a:lnSpc>
                <a:spcPct val="112000"/>
              </a:lnSpc>
              <a:spcBef>
                <a:spcPts val="0"/>
              </a:spcBef>
              <a:spcAft>
                <a:spcPts val="900"/>
              </a:spcAft>
            </a:pPr>
            <a:r>
              <a:rPr sz="1700" b="0" i="0">
                <a:solidFill>
                  <a:srgbClr val="FFFFFF"/>
                </a:solidFill>
                <a:latin typeface="Arial"/>
              </a:rPr>
              <a:t>C.  A bar closing near its low</a:t>
            </a:r>
          </a:p>
          <a:p>
            <a:pPr algn="l">
              <a:lnSpc>
                <a:spcPct val="112000"/>
              </a:lnSpc>
              <a:spcBef>
                <a:spcPts val="0"/>
              </a:spcBef>
              <a:spcAft>
                <a:spcPts val="900"/>
              </a:spcAft>
            </a:pPr>
            <a:r>
              <a:rPr sz="1700" b="0" i="0">
                <a:solidFill>
                  <a:srgbClr val="FFFFFF"/>
                </a:solidFill>
                <a:latin typeface="Arial"/>
              </a:rPr>
              <a:t>D.  An overextended bar closing near its high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bullish triple pattern 4?</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single island reversal bar</a:t>
            </a:r>
          </a:p>
          <a:p>
            <a:pPr algn="l">
              <a:lnSpc>
                <a:spcPct val="112000"/>
              </a:lnSpc>
              <a:spcBef>
                <a:spcPts val="0"/>
              </a:spcBef>
              <a:spcAft>
                <a:spcPts val="900"/>
              </a:spcAft>
            </a:pPr>
            <a:r>
              <a:rPr sz="1700" b="0" i="0">
                <a:solidFill>
                  <a:srgbClr val="FFFFFF"/>
                </a:solidFill>
                <a:latin typeface="Arial"/>
              </a:rPr>
              <a:t>C.  A key reversal bar</a:t>
            </a:r>
          </a:p>
          <a:p>
            <a:pPr algn="l">
              <a:lnSpc>
                <a:spcPct val="112000"/>
              </a:lnSpc>
              <a:spcBef>
                <a:spcPts val="0"/>
              </a:spcBef>
              <a:spcAft>
                <a:spcPts val="900"/>
              </a:spcAft>
            </a:pPr>
            <a:r>
              <a:rPr sz="1700" b="0" i="0">
                <a:solidFill>
                  <a:srgbClr val="FFFFFF"/>
                </a:solidFill>
                <a:latin typeface="Arial"/>
              </a:rPr>
              <a:t>D.  An outside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triple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bullish three-bar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high on high volume</a:t>
            </a:r>
          </a:p>
          <a:p>
            <a:pPr algn="l">
              <a:lnSpc>
                <a:spcPct val="115000"/>
              </a:lnSpc>
              <a:spcBef>
                <a:spcPts val="700"/>
              </a:spcBef>
              <a:spcAft>
                <a:spcPts val="0"/>
              </a:spcAft>
            </a:pPr>
            <a:r>
              <a:rPr sz="1700" b="0" i="0">
                <a:solidFill>
                  <a:srgbClr val="1A1A1A"/>
                </a:solidFill>
                <a:latin typeface="Arial"/>
              </a:rPr>
              <a:t>Lim says a bullish three-bar pattern is potentially more reliable if the last bar is overextended and closes at or near its high on high volume (p. 214).</a:t>
            </a:r>
          </a:p>
        </p:txBody>
      </p:sp>
      <p:sp>
        <p:nvSpPr>
          <p:cNvPr id="10" name="Rectangle 9"/>
          <p:cNvSpPr/>
          <p:nvPr/>
        </p:nvSpPr>
        <p:spPr>
          <a:xfrm>
            <a:off x="777240" y="3330321"/>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bullish triple pattern 4?</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single island reversal bar</a:t>
            </a:r>
          </a:p>
          <a:p>
            <a:pPr algn="l">
              <a:lnSpc>
                <a:spcPct val="115000"/>
              </a:lnSpc>
              <a:spcBef>
                <a:spcPts val="700"/>
              </a:spcBef>
              <a:spcAft>
                <a:spcPts val="0"/>
              </a:spcAft>
            </a:pPr>
            <a:r>
              <a:rPr sz="1700" b="0" i="0">
                <a:solidFill>
                  <a:srgbClr val="1A1A1A"/>
                </a:solidFill>
                <a:latin typeface="Arial"/>
              </a:rPr>
              <a:t>Its label ends "Also referred to as a single island reversal bar" (p. 215).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bar patterns stretch the middle across several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bearish reversal patterns in an uptrend (p. 214). Between the first and the last bar sit several bars, where a triple pattern had one. Our charts draw an ordinary last bar.</a:t>
            </a:r>
          </a:p>
          <a:p>
            <a:pPr algn="l">
              <a:lnSpc>
                <a:spcPct val="118000"/>
              </a:lnSpc>
              <a:spcBef>
                <a:spcPts val="0"/>
              </a:spcBef>
              <a:spcAft>
                <a:spcPts val="1300"/>
              </a:spcAft>
            </a:pPr>
            <a:r>
              <a:rPr sz="2100" b="0" i="0">
                <a:solidFill>
                  <a:srgbClr val="1A1A1A"/>
                </a:solidFill>
                <a:latin typeface="Arial"/>
              </a:rPr>
              <a:t>The gap rule carries over: the larger the gaps, the more bearish the pattern. And the bars between the first and last should generally trade on low volume (p. 214).</a:t>
            </a:r>
          </a:p>
          <a:p>
            <a:pPr algn="l">
              <a:lnSpc>
                <a:spcPct val="118000"/>
              </a:lnSpc>
              <a:spcBef>
                <a:spcPts val="0"/>
              </a:spcBef>
              <a:spcAft>
                <a:spcPts val="1300"/>
              </a:spcAft>
            </a:pPr>
            <a:r>
              <a:rPr sz="2100" b="0" i="0">
                <a:solidFill>
                  <a:srgbClr val="1A1A1A"/>
                </a:solidFill>
                <a:latin typeface="Arial"/>
              </a:rPr>
              <a:t>The last bar matters most again: an overextended last bar (say PHP 4.00 against PHP 1.00 before it) closing near or at its low on high volume makes the pattern potentially more reliable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 2 is possibly the exception; either extreme warns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pattern 2 the middle bars are wide, each closing near its low. There, Lim says, high volume is possibly also bearish: the sellers are working to keep each close near the low (pp. 214 to 215).</a:t>
            </a:r>
          </a:p>
          <a:p>
            <a:pPr algn="l">
              <a:lnSpc>
                <a:spcPct val="118000"/>
              </a:lnSpc>
              <a:spcBef>
                <a:spcPts val="0"/>
              </a:spcBef>
              <a:spcAft>
                <a:spcPts val="1300"/>
              </a:spcAft>
            </a:pPr>
            <a:r>
              <a:rPr sz="2100" b="0" i="0">
                <a:solidFill>
                  <a:srgbClr val="1A1A1A"/>
                </a:solidFill>
                <a:latin typeface="Arial"/>
              </a:rPr>
              <a:t>Low volume on those wide bars is bearish too: it shows they are not supported by enough demand (p. 215).</a:t>
            </a:r>
          </a:p>
          <a:p>
            <a:pPr algn="l">
              <a:lnSpc>
                <a:spcPct val="118000"/>
              </a:lnSpc>
              <a:spcBef>
                <a:spcPts val="0"/>
              </a:spcBef>
              <a:spcAft>
                <a:spcPts val="1300"/>
              </a:spcAft>
            </a:pPr>
            <a:r>
              <a:rPr sz="2100" b="0" i="0">
                <a:solidFill>
                  <a:srgbClr val="1A1A1A"/>
                </a:solidFill>
                <a:latin typeface="Arial"/>
              </a:rPr>
              <a:t>Lim sums it up: extremely high or low volume on the wide middle bars indicates bearishness in an uptrend (p. 215). So 3.8 million or 0.4 million shares, against an ordinary 2.0 million, would both warn.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volumes are invented for teaching.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1: narrow bars hold near the first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near the 1st bar's high.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00908" y="1810512"/>
            <a:ext cx="386479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19780" y="1929384"/>
            <a:ext cx="362705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19780" y="1929384"/>
            <a:ext cx="362705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094100" y="2203703"/>
            <a:ext cx="307841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1: narrow bars near the first high, then a low close.</a:t>
            </a:r>
          </a:p>
        </p:txBody>
      </p:sp>
      <p:sp>
        <p:nvSpPr>
          <p:cNvPr id="12" name="Rectangle 11"/>
          <p:cNvSpPr/>
          <p:nvPr/>
        </p:nvSpPr>
        <p:spPr>
          <a:xfrm>
            <a:off x="7481184" y="2645148"/>
            <a:ext cx="512054" cy="2147292"/>
          </a:xfrm>
          <a:prstGeom prst="rect">
            <a:avLst/>
          </a:prstGeom>
          <a:noFill/>
          <a:ln w="44450">
            <a:solidFill>
              <a:srgbClr val="E09B00"/>
            </a:solidFill>
          </a:ln>
        </p:spPr>
        <p:txBody>
          <a:bodyPr rtlCol="0" anchor="ctr"/>
          <a:lstStyle/>
          <a:p>
            <a:pPr algn="ctr"/>
          </a:p>
        </p:txBody>
      </p:sp>
      <p:sp>
        <p:nvSpPr>
          <p:cNvPr id="13" name="Rectangle 12"/>
          <p:cNvSpPr/>
          <p:nvPr/>
        </p:nvSpPr>
        <p:spPr>
          <a:xfrm>
            <a:off x="7993239" y="2334533"/>
            <a:ext cx="1536163" cy="1012873"/>
          </a:xfrm>
          <a:prstGeom prst="rect">
            <a:avLst/>
          </a:prstGeom>
          <a:noFill/>
          <a:ln w="44450">
            <a:solidFill>
              <a:srgbClr val="C62828"/>
            </a:solidFill>
          </a:ln>
        </p:spPr>
        <p:txBody>
          <a:bodyPr rtlCol="0" anchor="ctr"/>
          <a:lstStyle/>
          <a:p>
            <a:pPr algn="ctr"/>
          </a:p>
        </p:txBody>
      </p:sp>
      <p:sp>
        <p:nvSpPr>
          <p:cNvPr id="14" name="Rectangle 13"/>
          <p:cNvSpPr/>
          <p:nvPr/>
        </p:nvSpPr>
        <p:spPr>
          <a:xfrm>
            <a:off x="9529402" y="2604633"/>
            <a:ext cx="490718" cy="2160797"/>
          </a:xfrm>
          <a:prstGeom prst="rect">
            <a:avLst/>
          </a:prstGeom>
          <a:noFill/>
          <a:ln w="44450">
            <a:solidFill>
              <a:srgbClr val="1F5FAD"/>
            </a:solidFill>
          </a:ln>
        </p:spPr>
        <p:txBody>
          <a:bodyPr rtlCol="0" anchor="ctr"/>
          <a:lstStyle/>
          <a:p>
            <a:pPr algn="ctr"/>
          </a:p>
        </p:txBody>
      </p:sp>
      <p:sp>
        <p:nvSpPr>
          <p:cNvPr id="15" name="Oval 14"/>
          <p:cNvSpPr/>
          <p:nvPr/>
        </p:nvSpPr>
        <p:spPr>
          <a:xfrm>
            <a:off x="7353168" y="25171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65223" y="220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01386"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several narrow bars; our chart uses two so every price stays readable. Bar 1 closes at PHP 50.00, near its high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50.10 and PHP 50.20, still near that high. The last bar closes at PHP 48.20, near its PHP 48.00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a-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36905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291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2902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832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154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wide bars that all close near their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wide range bars, all closing near their lows.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1711" y="1810512"/>
            <a:ext cx="270319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0583" y="1929384"/>
            <a:ext cx="246544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0583" y="1929384"/>
            <a:ext cx="246544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4903" y="2203703"/>
            <a:ext cx="19168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2: wide middle bars closing near their lows.</a:t>
            </a:r>
          </a:p>
        </p:txBody>
      </p:sp>
      <p:sp>
        <p:nvSpPr>
          <p:cNvPr id="12" name="Rectangle 11"/>
          <p:cNvSpPr/>
          <p:nvPr/>
        </p:nvSpPr>
        <p:spPr>
          <a:xfrm>
            <a:off x="7724173" y="3441192"/>
            <a:ext cx="369817" cy="1560576"/>
          </a:xfrm>
          <a:prstGeom prst="rect">
            <a:avLst/>
          </a:prstGeom>
          <a:noFill/>
          <a:ln w="44450">
            <a:solidFill>
              <a:srgbClr val="E09B00"/>
            </a:solidFill>
          </a:ln>
        </p:spPr>
        <p:txBody>
          <a:bodyPr rtlCol="0" anchor="ctr"/>
          <a:lstStyle/>
          <a:p>
            <a:pPr algn="ctr"/>
          </a:p>
        </p:txBody>
      </p:sp>
      <p:sp>
        <p:nvSpPr>
          <p:cNvPr id="13" name="Rectangle 12"/>
          <p:cNvSpPr/>
          <p:nvPr/>
        </p:nvSpPr>
        <p:spPr>
          <a:xfrm>
            <a:off x="8016945" y="2124456"/>
            <a:ext cx="1109451" cy="1853184"/>
          </a:xfrm>
          <a:prstGeom prst="rect">
            <a:avLst/>
          </a:prstGeom>
          <a:noFill/>
          <a:ln w="44450">
            <a:solidFill>
              <a:srgbClr val="C62828"/>
            </a:solidFill>
          </a:ln>
        </p:spPr>
        <p:txBody>
          <a:bodyPr rtlCol="0" anchor="ctr"/>
          <a:lstStyle/>
          <a:p>
            <a:pPr algn="ctr"/>
          </a:p>
        </p:txBody>
      </p:sp>
      <p:sp>
        <p:nvSpPr>
          <p:cNvPr id="14" name="Rectangle 13"/>
          <p:cNvSpPr/>
          <p:nvPr/>
        </p:nvSpPr>
        <p:spPr>
          <a:xfrm>
            <a:off x="9172624" y="3411931"/>
            <a:ext cx="354408" cy="1589836"/>
          </a:xfrm>
          <a:prstGeom prst="rect">
            <a:avLst/>
          </a:prstGeom>
          <a:noFill/>
          <a:ln w="44450">
            <a:solidFill>
              <a:srgbClr val="1F5FAD"/>
            </a:solidFill>
          </a:ln>
        </p:spPr>
        <p:txBody>
          <a:bodyPr rtlCol="0" anchor="ctr"/>
          <a:lstStyle/>
          <a:p>
            <a:pPr algn="ctr"/>
          </a:p>
        </p:txBody>
      </p:sp>
      <p:sp>
        <p:nvSpPr>
          <p:cNvPr id="15" name="Oval 14"/>
          <p:cNvSpPr/>
          <p:nvPr/>
        </p:nvSpPr>
        <p:spPr>
          <a:xfrm>
            <a:off x="7596157" y="33131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88929" y="1996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44608" y="3283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50.00, near its high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each span about PHP 2.00 and close near their lows, at PHP 50.20 and PHP 50.30, on 3.8 and 3.6 million shares </a:t>
            </a:r>
            <a:r>
              <a:rPr sz="1700" b="1" i="0">
                <a:solidFill>
                  <a:srgbClr val="1F5FAD"/>
                </a:solidFill>
                <a:latin typeface="Arial"/>
              </a:rPr>
              <a:t>(3)</a:t>
            </a:r>
            <a:r>
              <a:rPr sz="1700" b="0" i="0">
                <a:solidFill>
                  <a:srgbClr val="1A1A1A"/>
                </a:solidFill>
                <a:latin typeface="Arial"/>
              </a:rPr>
              <a:t>. The last bar closes at PHP 48.20, near its low </a:t>
            </a:r>
            <a:r>
              <a:rPr sz="1700" b="1" i="0">
                <a:solidFill>
                  <a:srgbClr val="7B3FA0"/>
                </a:solidFill>
                <a:latin typeface="Arial"/>
              </a:rPr>
              <a:t>(4)</a:t>
            </a:r>
            <a:r>
              <a:rPr sz="1700" b="0" i="0">
                <a:solidFill>
                  <a:srgbClr val="1A1A1A"/>
                </a:solidFill>
                <a:latin typeface="Arial"/>
              </a:rPr>
              <a:t>. That heavy middle volume is possibly the pattern 2 exception: sellers pressing every close down (pp. 214 to 215).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b-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936361"/>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43948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5720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186892" y="4078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08741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XB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 Prices and volume are invented for teaching.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3: narrow bars stay inside the first bar's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within its range.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07587" y="1810512"/>
            <a:ext cx="365144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26459" y="1929384"/>
            <a:ext cx="341369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26459" y="1929384"/>
            <a:ext cx="341369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00779" y="2203703"/>
            <a:ext cx="286505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3: narrow bars inside the first bar.</a:t>
            </a:r>
          </a:p>
        </p:txBody>
      </p:sp>
      <p:sp>
        <p:nvSpPr>
          <p:cNvPr id="12" name="Rectangle 11"/>
          <p:cNvSpPr/>
          <p:nvPr/>
        </p:nvSpPr>
        <p:spPr>
          <a:xfrm>
            <a:off x="7459849" y="2672158"/>
            <a:ext cx="512054" cy="2093272"/>
          </a:xfrm>
          <a:prstGeom prst="rect">
            <a:avLst/>
          </a:prstGeom>
          <a:noFill/>
          <a:ln w="44450">
            <a:solidFill>
              <a:srgbClr val="E09B00"/>
            </a:solidFill>
          </a:ln>
        </p:spPr>
        <p:txBody>
          <a:bodyPr rtlCol="0" anchor="ctr"/>
          <a:lstStyle/>
          <a:p>
            <a:pPr algn="ctr"/>
          </a:p>
        </p:txBody>
      </p:sp>
      <p:sp>
        <p:nvSpPr>
          <p:cNvPr id="13" name="Rectangle 12"/>
          <p:cNvSpPr/>
          <p:nvPr/>
        </p:nvSpPr>
        <p:spPr>
          <a:xfrm>
            <a:off x="7907896" y="3144832"/>
            <a:ext cx="1514828" cy="1080398"/>
          </a:xfrm>
          <a:prstGeom prst="rect">
            <a:avLst/>
          </a:prstGeom>
          <a:noFill/>
          <a:ln w="44450">
            <a:solidFill>
              <a:srgbClr val="C62828"/>
            </a:solidFill>
          </a:ln>
        </p:spPr>
        <p:txBody>
          <a:bodyPr rtlCol="0" anchor="ctr"/>
          <a:lstStyle/>
          <a:p>
            <a:pPr algn="ctr"/>
          </a:p>
        </p:txBody>
      </p:sp>
      <p:sp>
        <p:nvSpPr>
          <p:cNvPr id="14" name="Rectangle 13"/>
          <p:cNvSpPr/>
          <p:nvPr/>
        </p:nvSpPr>
        <p:spPr>
          <a:xfrm>
            <a:off x="9486731" y="2604633"/>
            <a:ext cx="512054" cy="2160797"/>
          </a:xfrm>
          <a:prstGeom prst="rect">
            <a:avLst/>
          </a:prstGeom>
          <a:noFill/>
          <a:ln w="44450">
            <a:solidFill>
              <a:srgbClr val="1F5FAD"/>
            </a:solidFill>
          </a:ln>
        </p:spPr>
        <p:txBody>
          <a:bodyPr rtlCol="0" anchor="ctr"/>
          <a:lstStyle/>
          <a:p>
            <a:pPr algn="ctr"/>
          </a:p>
        </p:txBody>
      </p:sp>
      <p:sp>
        <p:nvSpPr>
          <p:cNvPr id="15" name="Oval 14"/>
          <p:cNvSpPr/>
          <p:nvPr/>
        </p:nvSpPr>
        <p:spPr>
          <a:xfrm>
            <a:off x="7331833" y="25441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79880" y="30168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58715"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48.00 to PHP 50.40 and closes at PHP 50.20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49.20 and PHP 49.80. The last bar closes at PHP 48.00, near its PHP 47.80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371322"/>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349694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775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83625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63873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2029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bars forming above a gap. The last bar gaps down and closes at or near its low. Referred to as an island reversal formation"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bars above the gap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82889" y="1810512"/>
            <a:ext cx="35008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001761" y="1929384"/>
            <a:ext cx="3263092" cy="351129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001761" y="1929384"/>
            <a:ext cx="32630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76081" y="2203703"/>
            <a:ext cx="2714452"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4: an island reversal formation.</a:t>
            </a:r>
          </a:p>
        </p:txBody>
      </p:sp>
      <p:sp>
        <p:nvSpPr>
          <p:cNvPr id="12" name="Rectangle 11"/>
          <p:cNvSpPr/>
          <p:nvPr/>
        </p:nvSpPr>
        <p:spPr>
          <a:xfrm>
            <a:off x="7540171" y="3323575"/>
            <a:ext cx="391571" cy="1704011"/>
          </a:xfrm>
          <a:prstGeom prst="rect">
            <a:avLst/>
          </a:prstGeom>
          <a:noFill/>
          <a:ln w="44450">
            <a:solidFill>
              <a:srgbClr val="E09B00"/>
            </a:solidFill>
          </a:ln>
        </p:spPr>
        <p:txBody>
          <a:bodyPr rtlCol="0" anchor="ctr"/>
          <a:lstStyle/>
          <a:p>
            <a:pPr algn="ctr"/>
          </a:p>
        </p:txBody>
      </p:sp>
      <p:sp>
        <p:nvSpPr>
          <p:cNvPr id="13" name="Rectangle 12"/>
          <p:cNvSpPr/>
          <p:nvPr/>
        </p:nvSpPr>
        <p:spPr>
          <a:xfrm>
            <a:off x="7817534" y="2187567"/>
            <a:ext cx="1827331" cy="1084370"/>
          </a:xfrm>
          <a:prstGeom prst="rect">
            <a:avLst/>
          </a:prstGeom>
          <a:noFill/>
          <a:ln w="44450">
            <a:solidFill>
              <a:srgbClr val="C62828"/>
            </a:solidFill>
          </a:ln>
        </p:spPr>
        <p:txBody>
          <a:bodyPr rtlCol="0" anchor="ctr"/>
          <a:lstStyle/>
          <a:p>
            <a:pPr algn="ctr"/>
          </a:p>
        </p:txBody>
      </p:sp>
      <p:sp>
        <p:nvSpPr>
          <p:cNvPr id="14" name="Rectangle 13"/>
          <p:cNvSpPr/>
          <p:nvPr/>
        </p:nvSpPr>
        <p:spPr>
          <a:xfrm>
            <a:off x="9693812" y="3323575"/>
            <a:ext cx="407886" cy="1652374"/>
          </a:xfrm>
          <a:prstGeom prst="rect">
            <a:avLst/>
          </a:prstGeom>
          <a:noFill/>
          <a:ln w="44450">
            <a:solidFill>
              <a:srgbClr val="1F5FAD"/>
            </a:solidFill>
          </a:ln>
        </p:spPr>
        <p:txBody>
          <a:bodyPr rtlCol="0" anchor="ctr"/>
          <a:lstStyle/>
          <a:p>
            <a:pPr algn="ctr"/>
          </a:p>
        </p:txBody>
      </p:sp>
      <p:sp>
        <p:nvSpPr>
          <p:cNvPr id="15" name="Oval 14"/>
          <p:cNvSpPr/>
          <p:nvPr/>
        </p:nvSpPr>
        <p:spPr>
          <a:xfrm>
            <a:off x="7412155" y="319555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89518" y="20595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5796" y="31955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Chapter 3, "Gap".</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tops out at PHP 50.00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above a gap, between PHP 50.40 and PHP 51.00. The last bar tops out at PHP 50.00 </a:t>
            </a:r>
            <a:r>
              <a:rPr sz="1700" b="1" i="0">
                <a:solidFill>
                  <a:srgbClr val="1F5FAD"/>
                </a:solidFill>
                <a:latin typeface="Arial"/>
              </a:rPr>
              <a:t>(3)</a:t>
            </a:r>
            <a:r>
              <a:rPr sz="1700" b="0" i="0">
                <a:solidFill>
                  <a:srgbClr val="1A1A1A"/>
                </a:solidFill>
                <a:latin typeface="Arial"/>
              </a:rPr>
              <a:t>, so it gaps down below them, and closes at PHP 48.40, near its PHP 48.20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d-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390022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390022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47390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4491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21484"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06256" y="3693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431579"/>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bullish multiple forms mirror the bearish ones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bullish reversal patterns in a downtrend (p. 215).</a:t>
            </a:r>
          </a:p>
          <a:p>
            <a:pPr algn="l">
              <a:lnSpc>
                <a:spcPct val="118000"/>
              </a:lnSpc>
              <a:spcBef>
                <a:spcPts val="0"/>
              </a:spcBef>
              <a:spcAft>
                <a:spcPts val="1300"/>
              </a:spcAft>
            </a:pPr>
            <a:r>
              <a:rPr sz="2100" b="0" i="0">
                <a:solidFill>
                  <a:srgbClr val="1A1A1A"/>
                </a:solidFill>
                <a:latin typeface="Arial"/>
              </a:rPr>
              <a:t>In pattern 2 the wide middle bars can occur on high or above average volume, indicating bullishness. Narrow middle bars on low volume are also a sign of potential bullishness (p. 216).</a:t>
            </a:r>
          </a:p>
          <a:p>
            <a:pPr algn="l">
              <a:lnSpc>
                <a:spcPct val="118000"/>
              </a:lnSpc>
              <a:spcBef>
                <a:spcPts val="0"/>
              </a:spcBef>
              <a:spcAft>
                <a:spcPts val="1300"/>
              </a:spcAft>
            </a:pPr>
            <a:r>
              <a:rPr sz="2100" b="0" i="0">
                <a:solidFill>
                  <a:srgbClr val="1A1A1A"/>
                </a:solidFill>
                <a:latin typeface="Arial"/>
              </a:rPr>
              <a:t>And a bullish pattern is potentially more reliable if the last bar is overextended (unusually long compared with the bars before it) and closes near or at its high on high volume (p. 216). Our charts show an ordinary last bar; an overextended one would be far longer, say PHP 4.00 against PHP 1.00.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1: narrow bars hold near the first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near the 1st bar's low.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42162" y="1810512"/>
            <a:ext cx="378229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61034" y="1929384"/>
            <a:ext cx="354454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61034" y="1929384"/>
            <a:ext cx="354454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35354" y="2203703"/>
            <a:ext cx="299590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1: narrow bars near the first low, then a high close.</a:t>
            </a:r>
          </a:p>
        </p:txBody>
      </p:sp>
      <p:sp>
        <p:nvSpPr>
          <p:cNvPr id="12" name="Rectangle 11"/>
          <p:cNvSpPr/>
          <p:nvPr/>
        </p:nvSpPr>
        <p:spPr>
          <a:xfrm>
            <a:off x="7595879" y="2647603"/>
            <a:ext cx="486294" cy="2154658"/>
          </a:xfrm>
          <a:prstGeom prst="rect">
            <a:avLst/>
          </a:prstGeom>
          <a:noFill/>
          <a:ln w="44450">
            <a:solidFill>
              <a:srgbClr val="E09B00"/>
            </a:solidFill>
          </a:ln>
        </p:spPr>
        <p:txBody>
          <a:bodyPr rtlCol="0" anchor="ctr"/>
          <a:lstStyle/>
          <a:p>
            <a:pPr algn="ctr"/>
          </a:p>
        </p:txBody>
      </p:sp>
      <p:sp>
        <p:nvSpPr>
          <p:cNvPr id="13" name="Rectangle 12"/>
          <p:cNvSpPr/>
          <p:nvPr/>
        </p:nvSpPr>
        <p:spPr>
          <a:xfrm>
            <a:off x="8103786" y="4323449"/>
            <a:ext cx="1512916" cy="670338"/>
          </a:xfrm>
          <a:prstGeom prst="rect">
            <a:avLst/>
          </a:prstGeom>
          <a:noFill/>
          <a:ln w="44450">
            <a:solidFill>
              <a:srgbClr val="C62828"/>
            </a:solidFill>
          </a:ln>
        </p:spPr>
        <p:txBody>
          <a:bodyPr rtlCol="0" anchor="ctr"/>
          <a:lstStyle/>
          <a:p>
            <a:pPr algn="ctr"/>
          </a:p>
        </p:txBody>
      </p:sp>
      <p:sp>
        <p:nvSpPr>
          <p:cNvPr id="14" name="Rectangle 13"/>
          <p:cNvSpPr/>
          <p:nvPr/>
        </p:nvSpPr>
        <p:spPr>
          <a:xfrm>
            <a:off x="9638316" y="2647603"/>
            <a:ext cx="486294" cy="2154658"/>
          </a:xfrm>
          <a:prstGeom prst="rect">
            <a:avLst/>
          </a:prstGeom>
          <a:noFill/>
          <a:ln w="44450">
            <a:solidFill>
              <a:srgbClr val="1F5FAD"/>
            </a:solidFill>
          </a:ln>
        </p:spPr>
        <p:txBody>
          <a:bodyPr rtlCol="0" anchor="ctr"/>
          <a:lstStyle/>
          <a:p>
            <a:pPr algn="ctr"/>
          </a:p>
        </p:txBody>
      </p:sp>
      <p:sp>
        <p:nvSpPr>
          <p:cNvPr id="15" name="Oval 14"/>
          <p:cNvSpPr/>
          <p:nvPr/>
        </p:nvSpPr>
        <p:spPr>
          <a:xfrm>
            <a:off x="7467863" y="25195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21422" y="51211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10300" y="25195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39.90 and PHP 39.80, still near that low. The last bar closes at PHP 41.80, near its PHP 42.00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e-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140768"/>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463417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50178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86615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3267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4356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2: wide bars closing near their highs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wide range bars, all closing near their highs.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6091" y="1810512"/>
            <a:ext cx="269443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4963" y="1929384"/>
            <a:ext cx="245668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4963" y="1929384"/>
            <a:ext cx="245668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9283" y="2203703"/>
            <a:ext cx="190804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2: wide middle bars closing near their highs.</a:t>
            </a:r>
          </a:p>
        </p:txBody>
      </p:sp>
      <p:sp>
        <p:nvSpPr>
          <p:cNvPr id="12" name="Rectangle 11"/>
          <p:cNvSpPr/>
          <p:nvPr/>
        </p:nvSpPr>
        <p:spPr>
          <a:xfrm>
            <a:off x="7769504" y="2456078"/>
            <a:ext cx="364540" cy="1580083"/>
          </a:xfrm>
          <a:prstGeom prst="rect">
            <a:avLst/>
          </a:prstGeom>
          <a:noFill/>
          <a:ln w="44450">
            <a:solidFill>
              <a:srgbClr val="E09B00"/>
            </a:solidFill>
          </a:ln>
        </p:spPr>
        <p:txBody>
          <a:bodyPr rtlCol="0" anchor="ctr"/>
          <a:lstStyle/>
          <a:p>
            <a:pPr algn="ctr"/>
          </a:p>
        </p:txBody>
      </p:sp>
      <p:sp>
        <p:nvSpPr>
          <p:cNvPr id="13" name="Rectangle 12"/>
          <p:cNvSpPr/>
          <p:nvPr/>
        </p:nvSpPr>
        <p:spPr>
          <a:xfrm>
            <a:off x="8197443" y="3509467"/>
            <a:ext cx="1077772" cy="1814169"/>
          </a:xfrm>
          <a:prstGeom prst="rect">
            <a:avLst/>
          </a:prstGeom>
          <a:noFill/>
          <a:ln w="44450">
            <a:solidFill>
              <a:srgbClr val="C62828"/>
            </a:solidFill>
          </a:ln>
        </p:spPr>
        <p:txBody>
          <a:bodyPr rtlCol="0" anchor="ctr"/>
          <a:lstStyle/>
          <a:p>
            <a:pPr algn="ctr"/>
          </a:p>
        </p:txBody>
      </p:sp>
      <p:sp>
        <p:nvSpPr>
          <p:cNvPr id="14" name="Rectangle 13"/>
          <p:cNvSpPr/>
          <p:nvPr/>
        </p:nvSpPr>
        <p:spPr>
          <a:xfrm>
            <a:off x="9291065" y="2456078"/>
            <a:ext cx="364540" cy="1580083"/>
          </a:xfrm>
          <a:prstGeom prst="rect">
            <a:avLst/>
          </a:prstGeom>
          <a:noFill/>
          <a:ln w="44450">
            <a:solidFill>
              <a:srgbClr val="1F5FAD"/>
            </a:solidFill>
          </a:ln>
        </p:spPr>
        <p:txBody>
          <a:bodyPr rtlCol="0" anchor="ctr"/>
          <a:lstStyle/>
          <a:p>
            <a:pPr algn="ctr"/>
          </a:p>
        </p:txBody>
      </p:sp>
      <p:sp>
        <p:nvSpPr>
          <p:cNvPr id="15" name="Oval 14"/>
          <p:cNvSpPr/>
          <p:nvPr/>
        </p:nvSpPr>
        <p:spPr>
          <a:xfrm>
            <a:off x="7641488" y="23280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069427" y="33814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63049" y="232806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close near their highs, at PHP 39.80 and PHP 39.70, on 3.8 and 3.6 million shares </a:t>
            </a:r>
            <a:r>
              <a:rPr sz="1700" b="1" i="0">
                <a:solidFill>
                  <a:srgbClr val="1F5FAD"/>
                </a:solidFill>
                <a:latin typeface="Arial"/>
              </a:rPr>
              <a:t>(3)</a:t>
            </a:r>
            <a:r>
              <a:rPr sz="1700" b="0" i="0">
                <a:solidFill>
                  <a:srgbClr val="1A1A1A"/>
                </a:solidFill>
                <a:latin typeface="Arial"/>
              </a:rPr>
              <a:t>. The last bar closes at PHP 41.80, near its high </a:t>
            </a:r>
            <a:r>
              <a:rPr sz="1700" b="1" i="0">
                <a:solidFill>
                  <a:srgbClr val="7B3FA0"/>
                </a:solidFill>
                <a:latin typeface="Arial"/>
              </a:rPr>
              <a:t>(4)</a:t>
            </a:r>
            <a:r>
              <a:rPr sz="1700" b="0" i="0">
                <a:solidFill>
                  <a:srgbClr val="1A1A1A"/>
                </a:solidFill>
                <a:latin typeface="Arial"/>
              </a:rPr>
              <a:t>. High volume on these wide bars indicates bullishness here (p. 216).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f-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517827"/>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885416"/>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3426909"/>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0814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206506" y="35779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5686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Prices and volume are invented for teaching.</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3: narrow bars inside the first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within its range.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59658" y="1810512"/>
            <a:ext cx="37472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8530" y="1929384"/>
            <a:ext cx="35095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8530" y="1929384"/>
            <a:ext cx="35095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2850" y="2203703"/>
            <a:ext cx="29609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3: narrow bars inside the first bar.</a:t>
            </a:r>
          </a:p>
        </p:txBody>
      </p:sp>
      <p:sp>
        <p:nvSpPr>
          <p:cNvPr id="12" name="Rectangle 11"/>
          <p:cNvSpPr/>
          <p:nvPr/>
        </p:nvSpPr>
        <p:spPr>
          <a:xfrm>
            <a:off x="7467229" y="2681804"/>
            <a:ext cx="520772" cy="2340864"/>
          </a:xfrm>
          <a:prstGeom prst="rect">
            <a:avLst/>
          </a:prstGeom>
          <a:noFill/>
          <a:ln w="44450">
            <a:solidFill>
              <a:srgbClr val="E09B00"/>
            </a:solidFill>
          </a:ln>
        </p:spPr>
        <p:txBody>
          <a:bodyPr rtlCol="0" anchor="ctr"/>
          <a:lstStyle/>
          <a:p>
            <a:pPr algn="ctr"/>
          </a:p>
        </p:txBody>
      </p:sp>
      <p:sp>
        <p:nvSpPr>
          <p:cNvPr id="13" name="Rectangle 12"/>
          <p:cNvSpPr/>
          <p:nvPr/>
        </p:nvSpPr>
        <p:spPr>
          <a:xfrm>
            <a:off x="7942717" y="3267020"/>
            <a:ext cx="1720813" cy="1170432"/>
          </a:xfrm>
          <a:prstGeom prst="rect">
            <a:avLst/>
          </a:prstGeom>
          <a:noFill/>
          <a:ln w="44450">
            <a:solidFill>
              <a:srgbClr val="C62828"/>
            </a:solidFill>
          </a:ln>
        </p:spPr>
        <p:txBody>
          <a:bodyPr rtlCol="0" anchor="ctr"/>
          <a:lstStyle/>
          <a:p>
            <a:pPr algn="ctr"/>
          </a:p>
        </p:txBody>
      </p:sp>
      <p:sp>
        <p:nvSpPr>
          <p:cNvPr id="14" name="Rectangle 13"/>
          <p:cNvSpPr/>
          <p:nvPr/>
        </p:nvSpPr>
        <p:spPr>
          <a:xfrm>
            <a:off x="9572962" y="2765406"/>
            <a:ext cx="520772" cy="2257261"/>
          </a:xfrm>
          <a:prstGeom prst="rect">
            <a:avLst/>
          </a:prstGeom>
          <a:noFill/>
          <a:ln w="44450">
            <a:solidFill>
              <a:srgbClr val="1F5FAD"/>
            </a:solidFill>
          </a:ln>
        </p:spPr>
        <p:txBody>
          <a:bodyPr rtlCol="0" anchor="ctr"/>
          <a:lstStyle/>
          <a:p>
            <a:pPr algn="ctr"/>
          </a:p>
        </p:txBody>
      </p:sp>
      <p:sp>
        <p:nvSpPr>
          <p:cNvPr id="15" name="Oval 14"/>
          <p:cNvSpPr/>
          <p:nvPr/>
        </p:nvSpPr>
        <p:spPr>
          <a:xfrm>
            <a:off x="7339213" y="25537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4701" y="31390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44946" y="263739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39.60 to PHP 42.00 and closes at PHP 39.80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40.20 and PHP 40.80. The last bar closes at PHP 42.00, near its PHP 42.20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855251"/>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482775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9694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3201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5202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387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88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Lim's label: "1st bar closes near its low followed by multiple bars forming below a gap. The last bar gaps up and closes at or near its high. Referred to as an island reversal formation" (Figure 7.11, p. 216).</a:t>
            </a:r>
          </a:p>
          <a:p>
            <a:pPr algn="l">
              <a:lnSpc>
                <a:spcPct val="105000"/>
              </a:lnSpc>
              <a:spcBef>
                <a:spcPts val="0"/>
              </a:spcBef>
              <a:spcAft>
                <a:spcPts val="1100"/>
              </a:spcAft>
            </a:pPr>
            <a:r>
              <a:rPr sz="1900" b="0" i="0">
                <a:solidFill>
                  <a:srgbClr val="1A1A1A"/>
                </a:solidFill>
                <a:latin typeface="Arial"/>
              </a:rPr>
              <a:t>In the drawing, </a:t>
            </a:r>
            <a:r>
              <a:rPr sz="1900" b="1" i="0">
                <a:solidFill>
                  <a:srgbClr val="E09B00"/>
                </a:solidFill>
                <a:latin typeface="Arial"/>
              </a:rPr>
              <a:t>(1)</a:t>
            </a:r>
            <a:r>
              <a:rPr sz="1900" b="0" i="0">
                <a:solidFill>
                  <a:srgbClr val="1A1A1A"/>
                </a:solidFill>
                <a:latin typeface="Arial"/>
              </a:rPr>
              <a:t> is the first bar, </a:t>
            </a:r>
            <a:r>
              <a:rPr sz="1900" b="1" i="0">
                <a:solidFill>
                  <a:srgbClr val="C62828"/>
                </a:solidFill>
                <a:latin typeface="Arial"/>
              </a:rPr>
              <a:t>(2)</a:t>
            </a:r>
            <a:r>
              <a:rPr sz="1900" b="0" i="0">
                <a:solidFill>
                  <a:srgbClr val="1A1A1A"/>
                </a:solidFill>
                <a:latin typeface="Arial"/>
              </a:rPr>
              <a:t> the bars below the gap and </a:t>
            </a:r>
            <a:r>
              <a:rPr sz="1900" b="1" i="0">
                <a:solidFill>
                  <a:srgbClr val="1F5FAD"/>
                </a:solidFill>
                <a:latin typeface="Arial"/>
              </a:rPr>
              <a:t>(3)</a:t>
            </a:r>
            <a:r>
              <a:rPr sz="1900" b="0" i="0">
                <a:solidFill>
                  <a:srgbClr val="1A1A1A"/>
                </a:solidFill>
                <a:latin typeface="Arial"/>
              </a:rPr>
              <a:t> the last bar at the right edge of Lim's drawing. Our chart on the next slide draws it with prices.</a:t>
            </a:r>
          </a:p>
        </p:txBody>
      </p:sp>
      <p:sp>
        <p:nvSpPr>
          <p:cNvPr id="8" name="Rectangle 7"/>
          <p:cNvSpPr/>
          <p:nvPr/>
        </p:nvSpPr>
        <p:spPr>
          <a:xfrm>
            <a:off x="6753368" y="1810512"/>
            <a:ext cx="375987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2240" y="1929384"/>
            <a:ext cx="352213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2240" y="1929384"/>
            <a:ext cx="352213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46560" y="2203703"/>
            <a:ext cx="297349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4: bars isolated below a gap.</a:t>
            </a:r>
          </a:p>
        </p:txBody>
      </p:sp>
      <p:sp>
        <p:nvSpPr>
          <p:cNvPr id="12" name="Rectangle 11"/>
          <p:cNvSpPr/>
          <p:nvPr/>
        </p:nvSpPr>
        <p:spPr>
          <a:xfrm>
            <a:off x="7259675" y="2384552"/>
            <a:ext cx="422656" cy="1820671"/>
          </a:xfrm>
          <a:prstGeom prst="rect">
            <a:avLst/>
          </a:prstGeom>
          <a:noFill/>
          <a:ln w="44450">
            <a:solidFill>
              <a:srgbClr val="E09B00"/>
            </a:solidFill>
          </a:ln>
        </p:spPr>
        <p:txBody>
          <a:bodyPr rtlCol="0" anchor="ctr"/>
          <a:lstStyle/>
          <a:p>
            <a:pPr algn="ctr"/>
          </a:p>
        </p:txBody>
      </p:sp>
      <p:sp>
        <p:nvSpPr>
          <p:cNvPr id="13" name="Rectangle 12"/>
          <p:cNvSpPr/>
          <p:nvPr/>
        </p:nvSpPr>
        <p:spPr>
          <a:xfrm>
            <a:off x="7647110" y="4400296"/>
            <a:ext cx="1866730" cy="975359"/>
          </a:xfrm>
          <a:prstGeom prst="rect">
            <a:avLst/>
          </a:prstGeom>
          <a:noFill/>
          <a:ln w="44450">
            <a:solidFill>
              <a:srgbClr val="C62828"/>
            </a:solidFill>
          </a:ln>
        </p:spPr>
        <p:txBody>
          <a:bodyPr rtlCol="0" anchor="ctr"/>
          <a:lstStyle/>
          <a:p>
            <a:pPr algn="ctr"/>
          </a:p>
        </p:txBody>
      </p:sp>
      <p:sp>
        <p:nvSpPr>
          <p:cNvPr id="14" name="Rectangle 13"/>
          <p:cNvSpPr/>
          <p:nvPr/>
        </p:nvSpPr>
        <p:spPr>
          <a:xfrm>
            <a:off x="9654726" y="2384552"/>
            <a:ext cx="563541" cy="1690623"/>
          </a:xfrm>
          <a:prstGeom prst="rect">
            <a:avLst/>
          </a:prstGeom>
          <a:noFill/>
          <a:ln w="44450">
            <a:solidFill>
              <a:srgbClr val="1F5FAD"/>
            </a:solidFill>
          </a:ln>
        </p:spPr>
        <p:txBody>
          <a:bodyPr rtlCol="0" anchor="ctr"/>
          <a:lstStyle/>
          <a:p>
            <a:pPr algn="ctr"/>
          </a:p>
        </p:txBody>
      </p:sp>
      <p:sp>
        <p:nvSpPr>
          <p:cNvPr id="15" name="Oval 14"/>
          <p:cNvSpPr/>
          <p:nvPr/>
        </p:nvSpPr>
        <p:spPr>
          <a:xfrm>
            <a:off x="7131659" y="2256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519094" y="42722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26710" y="22565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1's low is PHP 40.00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below a gap, between PHP 39.00 and PHP 39.60. The last bar's low is PHP 40.00 </a:t>
            </a:r>
            <a:r>
              <a:rPr sz="1700" b="1" i="0">
                <a:solidFill>
                  <a:srgbClr val="1F5FAD"/>
                </a:solidFill>
                <a:latin typeface="Arial"/>
              </a:rPr>
              <a:t>(3)</a:t>
            </a:r>
            <a:r>
              <a:rPr sz="1700" b="0" i="0">
                <a:solidFill>
                  <a:srgbClr val="1A1A1A"/>
                </a:solidFill>
                <a:latin typeface="Arial"/>
              </a:rPr>
              <a:t>, so it gaps up above them, and closes at PHP 41.60, near its PHP 41.80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h-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266590"/>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442447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442447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35856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707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32954" y="4275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788183" y="44207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72745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XH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Multiple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multiple pattern, what volume does Lim generally expect on the bars between the first and the last?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Low volume</a:t>
            </a:r>
          </a:p>
          <a:p>
            <a:pPr algn="l">
              <a:lnSpc>
                <a:spcPct val="112000"/>
              </a:lnSpc>
              <a:spcBef>
                <a:spcPts val="0"/>
              </a:spcBef>
              <a:spcAft>
                <a:spcPts val="900"/>
              </a:spcAft>
            </a:pPr>
            <a:r>
              <a:rPr sz="1700" b="0" i="0">
                <a:solidFill>
                  <a:srgbClr val="FFFFFF"/>
                </a:solidFill>
                <a:latin typeface="Arial"/>
              </a:rPr>
              <a:t>B.  Steadily rising volume</a:t>
            </a:r>
          </a:p>
          <a:p>
            <a:pPr algn="l">
              <a:lnSpc>
                <a:spcPct val="112000"/>
              </a:lnSpc>
              <a:spcBef>
                <a:spcPts val="0"/>
              </a:spcBef>
              <a:spcAft>
                <a:spcPts val="900"/>
              </a:spcAft>
            </a:pPr>
            <a:r>
              <a:rPr sz="1700" b="0" i="0">
                <a:solidFill>
                  <a:srgbClr val="FFFFFF"/>
                </a:solidFill>
                <a:latin typeface="Arial"/>
              </a:rPr>
              <a:t>C.  The same volume as the first bar</a:t>
            </a:r>
          </a:p>
          <a:p>
            <a:pPr algn="l">
              <a:lnSpc>
                <a:spcPct val="112000"/>
              </a:lnSpc>
              <a:spcBef>
                <a:spcPts val="0"/>
              </a:spcBef>
              <a:spcAft>
                <a:spcPts val="900"/>
              </a:spcAft>
            </a:pPr>
            <a:r>
              <a:rPr sz="1700" b="0" i="0">
                <a:solidFill>
                  <a:srgbClr val="FFFFFF"/>
                </a:solidFill>
                <a:latin typeface="Arial"/>
              </a:rPr>
              <a:t>D.  Volume does not matter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bullish multiple pattern 2, what can high volume on the wide middle bars indicate?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Bearishness</a:t>
            </a:r>
          </a:p>
          <a:p>
            <a:pPr algn="l">
              <a:lnSpc>
                <a:spcPct val="112000"/>
              </a:lnSpc>
              <a:spcBef>
                <a:spcPts val="0"/>
              </a:spcBef>
              <a:spcAft>
                <a:spcPts val="900"/>
              </a:spcAft>
            </a:pPr>
            <a:r>
              <a:rPr sz="1700" b="0" i="0">
                <a:solidFill>
                  <a:srgbClr val="FFFFFF"/>
                </a:solidFill>
                <a:latin typeface="Arial"/>
              </a:rPr>
              <a:t>B.  Bullishness</a:t>
            </a:r>
          </a:p>
          <a:p>
            <a:pPr algn="l">
              <a:lnSpc>
                <a:spcPct val="112000"/>
              </a:lnSpc>
              <a:spcBef>
                <a:spcPts val="0"/>
              </a:spcBef>
              <a:spcAft>
                <a:spcPts val="900"/>
              </a:spcAft>
            </a:pPr>
            <a:r>
              <a:rPr sz="1700" b="0" i="0">
                <a:solidFill>
                  <a:srgbClr val="FFFFFF"/>
                </a:solidFill>
                <a:latin typeface="Arial"/>
              </a:rPr>
              <a:t>C.  A continuation pattern</a:t>
            </a:r>
          </a:p>
          <a:p>
            <a:pPr algn="l">
              <a:lnSpc>
                <a:spcPct val="112000"/>
              </a:lnSpc>
              <a:spcBef>
                <a:spcPts val="0"/>
              </a:spcBef>
              <a:spcAft>
                <a:spcPts val="900"/>
              </a:spcAft>
            </a:pPr>
            <a:r>
              <a:rPr sz="1700" b="0" i="0">
                <a:solidFill>
                  <a:srgbClr val="FFFFFF"/>
                </a:solidFill>
                <a:latin typeface="Arial"/>
              </a:rPr>
              <a:t>D.  Nothing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Multiple bar patterns</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bearish multiple pattern, what volume does Lim generally expect on the bars between the first and the last?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Low volume</a:t>
            </a:r>
          </a:p>
          <a:p>
            <a:pPr algn="l">
              <a:lnSpc>
                <a:spcPct val="115000"/>
              </a:lnSpc>
              <a:spcBef>
                <a:spcPts val="700"/>
              </a:spcBef>
              <a:spcAft>
                <a:spcPts val="0"/>
              </a:spcAft>
            </a:pPr>
            <a:r>
              <a:rPr sz="1700" b="0" i="0">
                <a:solidFill>
                  <a:srgbClr val="1A1A1A"/>
                </a:solidFill>
                <a:latin typeface="Arial"/>
              </a:rPr>
              <a:t>The numerous bars between the first and last bars should generally occur on low volume, with pattern 2 possibly the exception (p. 214).</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bullish multiple pattern 2, what can high volume on the wide middle bars indicate?</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Bullishness</a:t>
            </a:r>
          </a:p>
          <a:p>
            <a:pPr algn="l">
              <a:lnSpc>
                <a:spcPct val="115000"/>
              </a:lnSpc>
              <a:spcBef>
                <a:spcPts val="700"/>
              </a:spcBef>
              <a:spcAft>
                <a:spcPts val="0"/>
              </a:spcAft>
            </a:pPr>
            <a:r>
              <a:rPr sz="1700" b="0" i="0">
                <a:solidFill>
                  <a:srgbClr val="1A1A1A"/>
                </a:solidFill>
                <a:latin typeface="Arial"/>
              </a:rPr>
              <a:t>Wide-ranging bars between the first and last bar in pattern 2 can occur on high or above average volume, indicating bullishness (p. 216).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bars show the trend is still strong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 far every pattern disagreed with its trend. Lim also draws two patterns where a bullish continuation is expected instead: bullish bars inside an uptrend (p. 216).</a:t>
            </a:r>
          </a:p>
          <a:p>
            <a:pPr algn="l">
              <a:lnSpc>
                <a:spcPct val="118000"/>
              </a:lnSpc>
              <a:spcBef>
                <a:spcPts val="0"/>
              </a:spcBef>
              <a:spcAft>
                <a:spcPts val="1300"/>
              </a:spcAft>
            </a:pPr>
            <a:r>
              <a:rPr sz="2100" b="0" i="0">
                <a:solidFill>
                  <a:srgbClr val="1A1A1A"/>
                </a:solidFill>
                <a:latin typeface="Arial"/>
              </a:rPr>
              <a:t>Lim adds that large volume on a bullish second bar indicates the trend may still be potentially strong (p. 216).</a:t>
            </a:r>
          </a:p>
          <a:p>
            <a:pPr algn="l">
              <a:lnSpc>
                <a:spcPct val="118000"/>
              </a:lnSpc>
              <a:spcBef>
                <a:spcPts val="0"/>
              </a:spcBef>
              <a:spcAft>
                <a:spcPts val="1300"/>
              </a:spcAft>
            </a:pPr>
            <a:r>
              <a:rPr sz="2100" b="0" i="0">
                <a:solidFill>
                  <a:srgbClr val="1A1A1A"/>
                </a:solidFill>
                <a:latin typeface="Arial"/>
              </a:rPr>
              <a:t>For bearish continuation bars he says only that the reverse applies (p. 217); he draws no bearish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1: the second bar breaks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"the second bar breaches the high of the previous bar on high volume" (p. 217); his label adds that it closes at or near its high (Figure 7.12, p. 216). Here it is with invented prices. The previous high is PHP 51.00 </a:t>
            </a:r>
            <a:r>
              <a:rPr sz="1700" b="1" i="0">
                <a:solidFill>
                  <a:srgbClr val="E09B00"/>
                </a:solidFill>
                <a:latin typeface="Arial"/>
              </a:rPr>
              <a:t>(1)</a:t>
            </a:r>
            <a:r>
              <a:rPr sz="1700" b="0" i="0">
                <a:solidFill>
                  <a:srgbClr val="1A1A1A"/>
                </a:solidFill>
                <a:latin typeface="Arial"/>
              </a:rPr>
              <a:t>. Bar 2 reaches PHP 53.40 and closes at PHP 53.20, near its high </a:t>
            </a:r>
            <a:r>
              <a:rPr sz="1700" b="1" i="0">
                <a:solidFill>
                  <a:srgbClr val="C62828"/>
                </a:solidFill>
                <a:latin typeface="Arial"/>
              </a:rPr>
              <a:t>(2)</a:t>
            </a:r>
            <a:r>
              <a:rPr sz="1700" b="0" i="0">
                <a:solidFill>
                  <a:srgbClr val="1A1A1A"/>
                </a:solidFill>
                <a:latin typeface="Arial"/>
              </a:rPr>
              <a:t>, on 4.0 million shares against 2.0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67914" y="2395728"/>
            <a:ext cx="129941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67914" y="2395728"/>
            <a:ext cx="129941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42234" y="2670048"/>
            <a:ext cx="75077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1: a second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5518403" y="3869740"/>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417112"/>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5244807" y="38021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31330" y="352029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26318"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2: a halfway retrace, then a breach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"price retraces to the 50 percent level of the previous bar and subsequently rebounds on high volume, breaching the previous bar's high" (p. 217). Say bar 1 runs from PHP 48.00 to PHP 52.00, so its 50 percent level is (48.00 + 52.00) / 2 = PHP 50.00. Bar 2 dips to PHP 50.00 </a:t>
            </a:r>
            <a:r>
              <a:rPr sz="1700" b="1" i="0">
                <a:solidFill>
                  <a:srgbClr val="E09B00"/>
                </a:solidFill>
                <a:latin typeface="Arial"/>
              </a:rPr>
              <a:t>(1)</a:t>
            </a:r>
            <a:r>
              <a:rPr sz="1700" b="0" i="0">
                <a:solidFill>
                  <a:srgbClr val="1A1A1A"/>
                </a:solidFill>
                <a:latin typeface="Arial"/>
              </a:rPr>
              <a:t>, then rebounds to PHP 52.80, above the old high </a:t>
            </a:r>
            <a:r>
              <a:rPr sz="1700" b="1" i="0">
                <a:solidFill>
                  <a:srgbClr val="C62828"/>
                </a:solidFill>
                <a:latin typeface="Arial"/>
              </a:rPr>
              <a:t>(2)</a:t>
            </a:r>
            <a:r>
              <a:rPr sz="1700" b="0" i="0">
                <a:solidFill>
                  <a:srgbClr val="1A1A1A"/>
                </a:solidFill>
                <a:latin typeface="Arial"/>
              </a:rPr>
              <a:t>, on 4.2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777240" y="2555294"/>
            <a:ext cx="2480766" cy="319216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7240" y="2555294"/>
            <a:ext cx="248076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051560" y="2829614"/>
            <a:ext cx="1932126" cy="27349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2: a retrace to the midpoint, then a rebound.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b-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00004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126979" y="3375964"/>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10230160" y="388289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852659"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44050"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88</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continuation pattern 1, what does the second bar do?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Gaps down below the first bar</a:t>
            </a:r>
          </a:p>
          <a:p>
            <a:pPr algn="l">
              <a:lnSpc>
                <a:spcPct val="112000"/>
              </a:lnSpc>
              <a:spcBef>
                <a:spcPts val="0"/>
              </a:spcBef>
              <a:spcAft>
                <a:spcPts val="900"/>
              </a:spcAft>
            </a:pPr>
            <a:r>
              <a:rPr sz="1700" b="0" i="0">
                <a:solidFill>
                  <a:srgbClr val="FFFFFF"/>
                </a:solidFill>
                <a:latin typeface="Arial"/>
              </a:rPr>
              <a:t>B.  Breaches the previous high on high volume</a:t>
            </a:r>
          </a:p>
          <a:p>
            <a:pPr algn="l">
              <a:lnSpc>
                <a:spcPct val="112000"/>
              </a:lnSpc>
              <a:spcBef>
                <a:spcPts val="0"/>
              </a:spcBef>
              <a:spcAft>
                <a:spcPts val="900"/>
              </a:spcAft>
            </a:pPr>
            <a:r>
              <a:rPr sz="1700" b="0" i="0">
                <a:solidFill>
                  <a:srgbClr val="FFFFFF"/>
                </a:solidFill>
                <a:latin typeface="Arial"/>
              </a:rPr>
              <a:t>C.  Closes near its low</a:t>
            </a:r>
          </a:p>
          <a:p>
            <a:pPr algn="l">
              <a:lnSpc>
                <a:spcPct val="112000"/>
              </a:lnSpc>
              <a:spcBef>
                <a:spcPts val="0"/>
              </a:spcBef>
              <a:spcAft>
                <a:spcPts val="900"/>
              </a:spcAft>
            </a:pPr>
            <a:r>
              <a:rPr sz="1700" b="0" i="0">
                <a:solidFill>
                  <a:srgbClr val="FFFFFF"/>
                </a:solidFill>
                <a:latin typeface="Arial"/>
              </a:rPr>
              <a:t>D.  Stays inside the first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first bar runs from PHP 48.00 to PHP 52.00. To what level does pattern 2 retrace?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49.00</a:t>
            </a:r>
          </a:p>
          <a:p>
            <a:pPr algn="l">
              <a:lnSpc>
                <a:spcPct val="112000"/>
              </a:lnSpc>
              <a:spcBef>
                <a:spcPts val="0"/>
              </a:spcBef>
              <a:spcAft>
                <a:spcPts val="900"/>
              </a:spcAft>
            </a:pPr>
            <a:r>
              <a:rPr sz="1700" b="0" i="0">
                <a:solidFill>
                  <a:srgbClr val="FFFFFF"/>
                </a:solidFill>
                <a:latin typeface="Arial"/>
              </a:rPr>
              <a:t>B.  PHP 51.00</a:t>
            </a:r>
          </a:p>
          <a:p>
            <a:pPr algn="l">
              <a:lnSpc>
                <a:spcPct val="112000"/>
              </a:lnSpc>
              <a:spcBef>
                <a:spcPts val="0"/>
              </a:spcBef>
              <a:spcAft>
                <a:spcPts val="900"/>
              </a:spcAft>
            </a:pPr>
            <a:r>
              <a:rPr sz="1700" b="0" i="0">
                <a:solidFill>
                  <a:srgbClr val="FFFFFF"/>
                </a:solidFill>
                <a:latin typeface="Arial"/>
              </a:rPr>
              <a:t>C.  PHP 52.00</a:t>
            </a:r>
          </a:p>
          <a:p>
            <a:pPr algn="l">
              <a:lnSpc>
                <a:spcPct val="112000"/>
              </a:lnSpc>
              <a:spcBef>
                <a:spcPts val="0"/>
              </a:spcBef>
              <a:spcAft>
                <a:spcPts val="900"/>
              </a:spcAft>
            </a:pPr>
            <a:r>
              <a:rPr sz="1700" b="0" i="0">
                <a:solidFill>
                  <a:srgbClr val="FFFFFF"/>
                </a:solidFill>
                <a:latin typeface="Arial"/>
              </a:rPr>
              <a:t>D.  PHP 50.00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13</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continuation pattern 1, what does the second bar do?</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Breaches the previous high on high volume</a:t>
            </a:r>
          </a:p>
          <a:p>
            <a:pPr algn="l">
              <a:lnSpc>
                <a:spcPct val="115000"/>
              </a:lnSpc>
              <a:spcBef>
                <a:spcPts val="700"/>
              </a:spcBef>
              <a:spcAft>
                <a:spcPts val="0"/>
              </a:spcAft>
            </a:pPr>
            <a:r>
              <a:rPr sz="1700" b="0" i="0">
                <a:solidFill>
                  <a:srgbClr val="1A1A1A"/>
                </a:solidFill>
                <a:latin typeface="Arial"/>
              </a:rPr>
              <a:t>In pattern 1 the second bar breaches the high of the previous bar on high volume (p. 217).</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first bar runs from PHP 48.00 to PHP 52.00. To what level does pattern 2 retrace?</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PHP 50.00</a:t>
            </a:r>
          </a:p>
          <a:p>
            <a:pPr algn="l">
              <a:lnSpc>
                <a:spcPct val="115000"/>
              </a:lnSpc>
              <a:spcBef>
                <a:spcPts val="700"/>
              </a:spcBef>
              <a:spcAft>
                <a:spcPts val="0"/>
              </a:spcAft>
            </a:pPr>
            <a:r>
              <a:rPr sz="1700" b="0" i="0">
                <a:solidFill>
                  <a:srgbClr val="1A1A1A"/>
                </a:solidFill>
                <a:latin typeface="Arial"/>
              </a:rPr>
              <a:t>Pattern 2 retraces to the 50 percent level of the previous bar: (48.00 + 52.00) / 2 = PHP 50.00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13</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pattern is read against the 16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Besides each pattern's own behaviour, Lim asks us to watch 16 basic price and volume characteristics that indicate a potential reversal (p. 217).</a:t>
            </a:r>
          </a:p>
          <a:p>
            <a:pPr algn="l">
              <a:lnSpc>
                <a:spcPct val="118000"/>
              </a:lnSpc>
              <a:spcBef>
                <a:spcPts val="0"/>
              </a:spcBef>
              <a:spcAft>
                <a:spcPts val="1300"/>
              </a:spcAft>
            </a:pPr>
            <a:r>
              <a:rPr sz="2100" b="0" i="0">
                <a:solidFill>
                  <a:srgbClr val="1A1A1A"/>
                </a:solidFill>
                <a:latin typeface="Arial"/>
              </a:rPr>
              <a:t>They apply equally to Japanese candlestick analysis (Chapter 3, "Japanese candlestick"). Lim calls them strong indications of a potential change in trend or a price retracement, and refers us to Chapter 5 for the detail (p. 217).</a:t>
            </a:r>
          </a:p>
          <a:p>
            <a:pPr algn="l">
              <a:lnSpc>
                <a:spcPct val="118000"/>
              </a:lnSpc>
              <a:spcBef>
                <a:spcPts val="0"/>
              </a:spcBef>
              <a:spcAft>
                <a:spcPts val="1300"/>
              </a:spcAft>
            </a:pPr>
            <a:r>
              <a:rPr sz="2100" b="0" i="0">
                <a:solidFill>
                  <a:srgbClr val="1A1A1A"/>
                </a:solidFill>
                <a:latin typeface="Arial"/>
              </a:rPr>
              <a:t>We met all 16 in Chapter 5. The next eleven slides recall them in the book's own words and order, each with invented numbers to show the change.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3, "Japanese candlestick"; Chapter 5.</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 and 2: the swings get smaller and shorter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 decrease in price cycle amplitude: each swing covers less ground, say rises of 40 points </a:t>
            </a:r>
            <a:r>
              <a:rPr sz="1700" b="1" i="0">
                <a:solidFill>
                  <a:srgbClr val="E09B00"/>
                </a:solidFill>
                <a:latin typeface="Arial"/>
              </a:rPr>
              <a:t>(1)</a:t>
            </a:r>
            <a:r>
              <a:rPr sz="1700" b="0" i="0">
                <a:solidFill>
                  <a:srgbClr val="1A1A1A"/>
                </a:solidFill>
                <a:latin typeface="Arial"/>
              </a:rPr>
              <a:t> shrinking to 30 </a:t>
            </a:r>
            <a:r>
              <a:rPr sz="1700" b="1" i="0">
                <a:solidFill>
                  <a:srgbClr val="C62828"/>
                </a:solidFill>
                <a:latin typeface="Arial"/>
              </a:rPr>
              <a:t>(2)</a:t>
            </a:r>
            <a:r>
              <a:rPr sz="1700" b="0" i="0">
                <a:solidFill>
                  <a:srgbClr val="1A1A1A"/>
                </a:solidFill>
                <a:latin typeface="Arial"/>
              </a:rPr>
              <a:t> (Chapter 5, "1 Cycle amplitude"). Characteristic 2, decrease in price cycle period: each swing takes less time, say 20 bars </a:t>
            </a:r>
            <a:r>
              <a:rPr sz="1700" b="1" i="0">
                <a:solidFill>
                  <a:srgbClr val="1F5FAD"/>
                </a:solidFill>
                <a:latin typeface="Arial"/>
              </a:rPr>
              <a:t>(3)</a:t>
            </a:r>
            <a:r>
              <a:rPr sz="1700" b="0" i="0">
                <a:solidFill>
                  <a:srgbClr val="1A1A1A"/>
                </a:solidFill>
                <a:latin typeface="Arial"/>
              </a:rPr>
              <a:t> falling to 12 </a:t>
            </a:r>
            <a:r>
              <a:rPr sz="1700" b="1" i="0">
                <a:solidFill>
                  <a:srgbClr val="7B3FA0"/>
                </a:solidFill>
                <a:latin typeface="Arial"/>
              </a:rPr>
              <a:t>(4)</a:t>
            </a:r>
            <a:r>
              <a:rPr sz="1700" b="0" i="0">
                <a:solidFill>
                  <a:srgbClr val="1A1A1A"/>
                </a:solidFill>
                <a:latin typeface="Arial"/>
              </a:rPr>
              <a:t> (Chapter 5, "2 Cycle period").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283208" y="3957945"/>
            <a:ext cx="1267968" cy="1195753"/>
          </a:xfrm>
          <a:prstGeom prst="rect">
            <a:avLst/>
          </a:prstGeom>
          <a:noFill/>
          <a:ln w="44450">
            <a:solidFill>
              <a:srgbClr val="E09B00"/>
            </a:solidFill>
          </a:ln>
        </p:spPr>
        <p:txBody>
          <a:bodyPr rtlCol="0" anchor="ctr"/>
          <a:lstStyle/>
          <a:p>
            <a:pPr algn="ctr"/>
          </a:p>
        </p:txBody>
      </p:sp>
      <p:sp>
        <p:nvSpPr>
          <p:cNvPr id="10" name="Rectangle 9"/>
          <p:cNvSpPr/>
          <p:nvPr/>
        </p:nvSpPr>
        <p:spPr>
          <a:xfrm>
            <a:off x="4453128" y="3766624"/>
            <a:ext cx="1267968" cy="908772"/>
          </a:xfrm>
          <a:prstGeom prst="rect">
            <a:avLst/>
          </a:prstGeom>
          <a:noFill/>
          <a:ln w="44450">
            <a:solidFill>
              <a:srgbClr val="C62828"/>
            </a:solidFill>
          </a:ln>
        </p:spPr>
        <p:txBody>
          <a:bodyPr rtlCol="0" anchor="ctr"/>
          <a:lstStyle/>
          <a:p>
            <a:pPr algn="ctr"/>
          </a:p>
        </p:txBody>
      </p:sp>
      <p:sp>
        <p:nvSpPr>
          <p:cNvPr id="11" name="Rectangle 10"/>
          <p:cNvSpPr/>
          <p:nvPr/>
        </p:nvSpPr>
        <p:spPr>
          <a:xfrm>
            <a:off x="6512898" y="4077520"/>
            <a:ext cx="1937173" cy="1028348"/>
          </a:xfrm>
          <a:prstGeom prst="rect">
            <a:avLst/>
          </a:prstGeom>
          <a:noFill/>
          <a:ln w="44450">
            <a:solidFill>
              <a:srgbClr val="1F5FAD"/>
            </a:solidFill>
          </a:ln>
        </p:spPr>
        <p:txBody>
          <a:bodyPr rtlCol="0" anchor="ctr"/>
          <a:lstStyle/>
          <a:p>
            <a:pPr algn="ctr"/>
          </a:p>
        </p:txBody>
      </p:sp>
      <p:sp>
        <p:nvSpPr>
          <p:cNvPr id="12" name="Rectangle 11"/>
          <p:cNvSpPr/>
          <p:nvPr/>
        </p:nvSpPr>
        <p:spPr>
          <a:xfrm>
            <a:off x="9682818" y="4077520"/>
            <a:ext cx="1232746" cy="908772"/>
          </a:xfrm>
          <a:prstGeom prst="rect">
            <a:avLst/>
          </a:prstGeom>
          <a:noFill/>
          <a:ln w="44450">
            <a:solidFill>
              <a:srgbClr val="7B3FA0"/>
            </a:solidFill>
          </a:ln>
        </p:spPr>
        <p:txBody>
          <a:bodyPr rtlCol="0" anchor="ctr"/>
          <a:lstStyle/>
          <a:p>
            <a:pPr algn="ctr"/>
          </a:p>
        </p:txBody>
      </p:sp>
      <p:sp>
        <p:nvSpPr>
          <p:cNvPr id="13" name="Oval 12"/>
          <p:cNvSpPr/>
          <p:nvPr/>
        </p:nvSpPr>
        <p:spPr>
          <a:xfrm>
            <a:off x="2705797" y="46829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85688" y="4229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614663" y="46179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27239" y="437237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3 and 4: pullbacks change and bars shrink</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3, change in bar retracement symmetry: pullbacks that took 6 </a:t>
            </a:r>
            <a:r>
              <a:rPr sz="1700" b="1" i="0">
                <a:solidFill>
                  <a:srgbClr val="E09B00"/>
                </a:solidFill>
                <a:latin typeface="Arial"/>
              </a:rPr>
              <a:t>(1)</a:t>
            </a:r>
            <a:r>
              <a:rPr sz="1700" b="0" i="0">
                <a:solidFill>
                  <a:srgbClr val="1A1A1A"/>
                </a:solidFill>
                <a:latin typeface="Arial"/>
              </a:rPr>
              <a:t>, 6 and 5 bars suddenly take 2 </a:t>
            </a:r>
            <a:r>
              <a:rPr sz="1700" b="1" i="0">
                <a:solidFill>
                  <a:srgbClr val="C62828"/>
                </a:solidFill>
                <a:latin typeface="Arial"/>
              </a:rPr>
              <a:t>(2)</a:t>
            </a:r>
            <a:r>
              <a:rPr sz="1700" b="0" i="0">
                <a:solidFill>
                  <a:srgbClr val="1A1A1A"/>
                </a:solidFill>
                <a:latin typeface="Arial"/>
              </a:rPr>
              <a:t> (Chapter 5, "3 Bar retracement symmetry"). Characteristic 4, decrease in average bar range: bars that averaged PHP 3.00 </a:t>
            </a:r>
            <a:r>
              <a:rPr sz="1700" b="1" i="0">
                <a:solidFill>
                  <a:srgbClr val="1F5FAD"/>
                </a:solidFill>
                <a:latin typeface="Arial"/>
              </a:rPr>
              <a:t>(3)</a:t>
            </a:r>
            <a:r>
              <a:rPr sz="1700" b="0" i="0">
                <a:solidFill>
                  <a:srgbClr val="1A1A1A"/>
                </a:solidFill>
                <a:latin typeface="Arial"/>
              </a:rPr>
              <a:t> from low to high now average PHP 2.00 </a:t>
            </a:r>
            <a:r>
              <a:rPr sz="1700" b="1" i="0">
                <a:solidFill>
                  <a:srgbClr val="7B3FA0"/>
                </a:solidFill>
                <a:latin typeface="Arial"/>
              </a:rPr>
              <a:t>(4)</a:t>
            </a:r>
            <a:r>
              <a:rPr sz="1700" b="0" i="0">
                <a:solidFill>
                  <a:srgbClr val="1A1A1A"/>
                </a:solidFill>
                <a:latin typeface="Arial"/>
              </a:rPr>
              <a:t> (Chapter 5, "4 Average bar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862538" y="4280001"/>
            <a:ext cx="819806" cy="621791"/>
          </a:xfrm>
          <a:prstGeom prst="rect">
            <a:avLst/>
          </a:prstGeom>
          <a:noFill/>
          <a:ln w="44450">
            <a:solidFill>
              <a:srgbClr val="E09B00"/>
            </a:solidFill>
          </a:ln>
        </p:spPr>
        <p:txBody>
          <a:bodyPr rtlCol="0" anchor="ctr"/>
          <a:lstStyle/>
          <a:p>
            <a:pPr algn="ctr"/>
          </a:p>
        </p:txBody>
      </p:sp>
      <p:sp>
        <p:nvSpPr>
          <p:cNvPr id="10" name="Rectangle 9"/>
          <p:cNvSpPr/>
          <p:nvPr/>
        </p:nvSpPr>
        <p:spPr>
          <a:xfrm>
            <a:off x="5264736" y="3658209"/>
            <a:ext cx="450893" cy="455980"/>
          </a:xfrm>
          <a:prstGeom prst="rect">
            <a:avLst/>
          </a:prstGeom>
          <a:noFill/>
          <a:ln w="44450">
            <a:solidFill>
              <a:srgbClr val="C62828"/>
            </a:solidFill>
          </a:ln>
        </p:spPr>
        <p:txBody>
          <a:bodyPr rtlCol="0" anchor="ctr"/>
          <a:lstStyle/>
          <a:p>
            <a:pPr algn="ctr"/>
          </a:p>
        </p:txBody>
      </p:sp>
      <p:sp>
        <p:nvSpPr>
          <p:cNvPr id="11" name="Rectangle 10"/>
          <p:cNvSpPr/>
          <p:nvPr/>
        </p:nvSpPr>
        <p:spPr>
          <a:xfrm>
            <a:off x="6534912" y="3857936"/>
            <a:ext cx="1849119" cy="1158794"/>
          </a:xfrm>
          <a:prstGeom prst="rect">
            <a:avLst/>
          </a:prstGeom>
          <a:noFill/>
          <a:ln w="44450">
            <a:solidFill>
              <a:srgbClr val="1F5FAD"/>
            </a:solidFill>
          </a:ln>
        </p:spPr>
        <p:txBody>
          <a:bodyPr rtlCol="0" anchor="ctr"/>
          <a:lstStyle/>
          <a:p>
            <a:pPr algn="ctr"/>
          </a:p>
        </p:txBody>
      </p:sp>
      <p:sp>
        <p:nvSpPr>
          <p:cNvPr id="12" name="Rectangle 11"/>
          <p:cNvSpPr/>
          <p:nvPr/>
        </p:nvSpPr>
        <p:spPr>
          <a:xfrm>
            <a:off x="8912352" y="3773146"/>
            <a:ext cx="1981199" cy="960951"/>
          </a:xfrm>
          <a:prstGeom prst="rect">
            <a:avLst/>
          </a:prstGeom>
          <a:noFill/>
          <a:ln w="44450">
            <a:solidFill>
              <a:srgbClr val="7B3FA0"/>
            </a:solidFill>
          </a:ln>
        </p:spPr>
        <p:txBody>
          <a:bodyPr rtlCol="0" anchor="ctr"/>
          <a:lstStyle/>
          <a:p>
            <a:pPr algn="ctr"/>
          </a:p>
        </p:txBody>
      </p:sp>
      <p:sp>
        <p:nvSpPr>
          <p:cNvPr id="13" name="Oval 12"/>
          <p:cNvSpPr/>
          <p:nvPr/>
        </p:nvSpPr>
        <p:spPr>
          <a:xfrm>
            <a:off x="2846937" y="455615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80222" y="382658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548624" y="4483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18941" y="412344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5 and 6: the bars lose their quality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5, lack of the quality of price persistence: small, even bars of about PHP 1.00 </a:t>
            </a:r>
            <a:r>
              <a:rPr sz="1700" b="1" i="0">
                <a:solidFill>
                  <a:srgbClr val="E09B00"/>
                </a:solidFill>
                <a:latin typeface="Arial"/>
              </a:rPr>
              <a:t>(1)</a:t>
            </a:r>
            <a:r>
              <a:rPr sz="1700" b="0" i="0">
                <a:solidFill>
                  <a:srgbClr val="1A1A1A"/>
                </a:solidFill>
                <a:latin typeface="Arial"/>
              </a:rPr>
              <a:t> give way to uneven ones of PHP 0.40, 2.50 and 0.80 </a:t>
            </a:r>
            <a:r>
              <a:rPr sz="1700" b="1" i="0">
                <a:solidFill>
                  <a:srgbClr val="C62828"/>
                </a:solidFill>
                <a:latin typeface="Arial"/>
              </a:rPr>
              <a:t>(2)</a:t>
            </a:r>
            <a:r>
              <a:rPr sz="1700" b="0" i="0">
                <a:solidFill>
                  <a:srgbClr val="1A1A1A"/>
                </a:solidFill>
                <a:latin typeface="Arial"/>
              </a:rPr>
              <a:t> (Chapter 5, "5 Price persistence"). Characteristic 6, decrease in average bar stochastic ratio: on average, closes sit lower inside their bars, say 0.80 </a:t>
            </a:r>
            <a:r>
              <a:rPr sz="1700" b="1" i="0">
                <a:solidFill>
                  <a:srgbClr val="1F5FAD"/>
                </a:solidFill>
                <a:latin typeface="Arial"/>
              </a:rPr>
              <a:t>(3)</a:t>
            </a:r>
            <a:r>
              <a:rPr sz="1700" b="0" i="0">
                <a:solidFill>
                  <a:srgbClr val="1A1A1A"/>
                </a:solidFill>
                <a:latin typeface="Arial"/>
              </a:rPr>
              <a:t> falling to 0.40 </a:t>
            </a:r>
            <a:r>
              <a:rPr sz="1700" b="1" i="0">
                <a:solidFill>
                  <a:srgbClr val="7B3FA0"/>
                </a:solidFill>
                <a:latin typeface="Arial"/>
              </a:rPr>
              <a:t>(4)</a:t>
            </a:r>
            <a:r>
              <a:rPr sz="1700" b="0" i="0">
                <a:solidFill>
                  <a:srgbClr val="1A1A1A"/>
                </a:solidFill>
                <a:latin typeface="Arial"/>
              </a:rPr>
              <a:t> (Chapter 5, "6 The average bar stochastic ratio").</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5-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4010558"/>
            <a:ext cx="1849119" cy="90159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86200"/>
            <a:ext cx="1981199" cy="1119225"/>
          </a:xfrm>
          <a:prstGeom prst="rect">
            <a:avLst/>
          </a:prstGeom>
          <a:noFill/>
          <a:ln w="44450">
            <a:solidFill>
              <a:srgbClr val="C62828"/>
            </a:solidFill>
          </a:ln>
        </p:spPr>
        <p:txBody>
          <a:bodyPr rtlCol="0" anchor="ctr"/>
          <a:lstStyle/>
          <a:p>
            <a:pPr algn="ctr"/>
          </a:p>
        </p:txBody>
      </p:sp>
      <p:sp>
        <p:nvSpPr>
          <p:cNvPr id="11" name="Rectangle 10"/>
          <p:cNvSpPr/>
          <p:nvPr/>
        </p:nvSpPr>
        <p:spPr>
          <a:xfrm>
            <a:off x="6534912" y="3923321"/>
            <a:ext cx="1849119" cy="1136858"/>
          </a:xfrm>
          <a:prstGeom prst="rect">
            <a:avLst/>
          </a:prstGeom>
          <a:noFill/>
          <a:ln w="44450">
            <a:solidFill>
              <a:srgbClr val="1F5FAD"/>
            </a:solidFill>
          </a:ln>
        </p:spPr>
        <p:txBody>
          <a:bodyPr rtlCol="0" anchor="ctr"/>
          <a:lstStyle/>
          <a:p>
            <a:pPr algn="ctr"/>
          </a:p>
        </p:txBody>
      </p:sp>
      <p:sp>
        <p:nvSpPr>
          <p:cNvPr id="12" name="Rectangle 11"/>
          <p:cNvSpPr/>
          <p:nvPr/>
        </p:nvSpPr>
        <p:spPr>
          <a:xfrm>
            <a:off x="8912352" y="3644907"/>
            <a:ext cx="1981199" cy="858444"/>
          </a:xfrm>
          <a:prstGeom prst="rect">
            <a:avLst/>
          </a:prstGeom>
          <a:noFill/>
          <a:ln w="44450">
            <a:solidFill>
              <a:srgbClr val="7B3FA0"/>
            </a:solidFill>
          </a:ln>
        </p:spPr>
        <p:txBody>
          <a:bodyPr rtlCol="0" anchor="ctr"/>
          <a:lstStyle/>
          <a:p>
            <a:pPr algn="ctr"/>
          </a:p>
        </p:txBody>
      </p:sp>
      <p:sp>
        <p:nvSpPr>
          <p:cNvPr id="13" name="Oval 12"/>
          <p:cNvSpPr/>
          <p:nvPr/>
        </p:nvSpPr>
        <p:spPr>
          <a:xfrm>
            <a:off x="3336544" y="44685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4856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548624" y="453426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18941" y="392857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K5 -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7 and 8: bodies shrink and the angle changes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7, decrease in average candlestick real body to range ratio: on average the bodies shrink inside their bars, say 0.60 </a:t>
            </a:r>
            <a:r>
              <a:rPr sz="1700" b="1" i="0">
                <a:solidFill>
                  <a:srgbClr val="E09B00"/>
                </a:solidFill>
                <a:latin typeface="Arial"/>
              </a:rPr>
              <a:t>(1)</a:t>
            </a:r>
            <a:r>
              <a:rPr sz="1700" b="0" i="0">
                <a:solidFill>
                  <a:srgbClr val="1A1A1A"/>
                </a:solidFill>
                <a:latin typeface="Arial"/>
              </a:rPr>
              <a:t> falling to 0.25 </a:t>
            </a:r>
            <a:r>
              <a:rPr sz="1700" b="1" i="0">
                <a:solidFill>
                  <a:srgbClr val="C62828"/>
                </a:solidFill>
                <a:latin typeface="Arial"/>
              </a:rPr>
              <a:t>(2)</a:t>
            </a:r>
            <a:r>
              <a:rPr sz="1700" b="0" i="0">
                <a:solidFill>
                  <a:srgbClr val="1A1A1A"/>
                </a:solidFill>
                <a:latin typeface="Arial"/>
              </a:rPr>
              <a:t> (Chapter 5, "7 Real body to range ratio, BRR"). Characteristic 8, changes in angular symmetry and momentum: the trend's angle changes, say from 20 </a:t>
            </a:r>
            <a:r>
              <a:rPr sz="1700" b="1" i="0">
                <a:solidFill>
                  <a:srgbClr val="1F5FAD"/>
                </a:solidFill>
                <a:latin typeface="Arial"/>
              </a:rPr>
              <a:t>(3)</a:t>
            </a:r>
            <a:r>
              <a:rPr sz="1700" b="0" i="0">
                <a:solidFill>
                  <a:srgbClr val="1A1A1A"/>
                </a:solidFill>
                <a:latin typeface="Arial"/>
              </a:rPr>
              <a:t> to 35 degrees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7-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3923321"/>
            <a:ext cx="1849119" cy="113685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30517"/>
            <a:ext cx="1981199" cy="719237"/>
          </a:xfrm>
          <a:prstGeom prst="rect">
            <a:avLst/>
          </a:prstGeom>
          <a:noFill/>
          <a:ln w="44450">
            <a:solidFill>
              <a:srgbClr val="C62828"/>
            </a:solidFill>
          </a:ln>
        </p:spPr>
        <p:txBody>
          <a:bodyPr rtlCol="0" anchor="ctr"/>
          <a:lstStyle/>
          <a:p>
            <a:pPr algn="ctr"/>
          </a:p>
        </p:txBody>
      </p:sp>
      <p:sp>
        <p:nvSpPr>
          <p:cNvPr id="11" name="Rectangle 10"/>
          <p:cNvSpPr/>
          <p:nvPr/>
        </p:nvSpPr>
        <p:spPr>
          <a:xfrm>
            <a:off x="6336792" y="4215384"/>
            <a:ext cx="1508760" cy="914399"/>
          </a:xfrm>
          <a:prstGeom prst="rect">
            <a:avLst/>
          </a:prstGeom>
          <a:noFill/>
          <a:ln w="44450">
            <a:solidFill>
              <a:srgbClr val="1F5FAD"/>
            </a:solidFill>
          </a:ln>
        </p:spPr>
        <p:txBody>
          <a:bodyPr rtlCol="0" anchor="ctr"/>
          <a:lstStyle/>
          <a:p>
            <a:pPr algn="ctr"/>
          </a:p>
        </p:txBody>
      </p:sp>
      <p:sp>
        <p:nvSpPr>
          <p:cNvPr id="12" name="Rectangle 11"/>
          <p:cNvSpPr/>
          <p:nvPr/>
        </p:nvSpPr>
        <p:spPr>
          <a:xfrm>
            <a:off x="8211312" y="3438144"/>
            <a:ext cx="1234440" cy="960120"/>
          </a:xfrm>
          <a:prstGeom prst="rect">
            <a:avLst/>
          </a:prstGeom>
          <a:noFill/>
          <a:ln w="44450">
            <a:solidFill>
              <a:srgbClr val="7B3FA0"/>
            </a:solidFill>
          </a:ln>
        </p:spPr>
        <p:txBody>
          <a:bodyPr rtlCol="0" anchor="ctr"/>
          <a:lstStyle/>
          <a:p>
            <a:pPr algn="ctr"/>
          </a:p>
        </p:txBody>
      </p:sp>
      <p:sp>
        <p:nvSpPr>
          <p:cNvPr id="13" name="Oval 12"/>
          <p:cNvSpPr/>
          <p:nvPr/>
        </p:nvSpPr>
        <p:spPr>
          <a:xfrm>
            <a:off x="3336544" y="45342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1700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010144" y="46817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10344" y="393420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K7 -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7 and 8: bodies shrink and the angle changes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Chapter 5 said a steeper climb is generally bullish; Lim adds that a sudden parabolic jump is usually unsustainable and so potentially bearish (p. 218). He gives no cutoff angle (Chapter 5, "8 Angular symmetry and momentum").</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7-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3923321"/>
            <a:ext cx="1849119" cy="113685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30517"/>
            <a:ext cx="1981199" cy="719237"/>
          </a:xfrm>
          <a:prstGeom prst="rect">
            <a:avLst/>
          </a:prstGeom>
          <a:noFill/>
          <a:ln w="44450">
            <a:solidFill>
              <a:srgbClr val="C62828"/>
            </a:solidFill>
          </a:ln>
        </p:spPr>
        <p:txBody>
          <a:bodyPr rtlCol="0" anchor="ctr"/>
          <a:lstStyle/>
          <a:p>
            <a:pPr algn="ctr"/>
          </a:p>
        </p:txBody>
      </p:sp>
      <p:sp>
        <p:nvSpPr>
          <p:cNvPr id="11" name="Rectangle 10"/>
          <p:cNvSpPr/>
          <p:nvPr/>
        </p:nvSpPr>
        <p:spPr>
          <a:xfrm>
            <a:off x="6336792" y="4215384"/>
            <a:ext cx="1508760" cy="914399"/>
          </a:xfrm>
          <a:prstGeom prst="rect">
            <a:avLst/>
          </a:prstGeom>
          <a:noFill/>
          <a:ln w="44450">
            <a:solidFill>
              <a:srgbClr val="1F5FAD"/>
            </a:solidFill>
          </a:ln>
        </p:spPr>
        <p:txBody>
          <a:bodyPr rtlCol="0" anchor="ctr"/>
          <a:lstStyle/>
          <a:p>
            <a:pPr algn="ctr"/>
          </a:p>
        </p:txBody>
      </p:sp>
      <p:sp>
        <p:nvSpPr>
          <p:cNvPr id="12" name="Rectangle 11"/>
          <p:cNvSpPr/>
          <p:nvPr/>
        </p:nvSpPr>
        <p:spPr>
          <a:xfrm>
            <a:off x="8211312" y="3438144"/>
            <a:ext cx="1234440" cy="960120"/>
          </a:xfrm>
          <a:prstGeom prst="rect">
            <a:avLst/>
          </a:prstGeom>
          <a:noFill/>
          <a:ln w="44450">
            <a:solidFill>
              <a:srgbClr val="7B3FA0"/>
            </a:solidFill>
          </a:ln>
        </p:spPr>
        <p:txBody>
          <a:bodyPr rtlCol="0" anchor="ctr"/>
          <a:lstStyle/>
          <a:p>
            <a:pPr algn="ctr"/>
          </a:p>
        </p:txBody>
      </p:sp>
      <p:sp>
        <p:nvSpPr>
          <p:cNvPr id="13" name="Oval 12"/>
          <p:cNvSpPr/>
          <p:nvPr/>
        </p:nvSpPr>
        <p:spPr>
          <a:xfrm>
            <a:off x="3336544" y="45342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1700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010144" y="46817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10344" y="393420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K7 -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9 and 10: a barrier is near and the dips fade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9, proximity to a price barrier: price is near a strong support or resistance, say at PHP 59 </a:t>
            </a:r>
            <a:r>
              <a:rPr sz="1700" b="1" i="0">
                <a:solidFill>
                  <a:srgbClr val="E09B00"/>
                </a:solidFill>
                <a:latin typeface="Arial"/>
              </a:rPr>
              <a:t>(1)</a:t>
            </a:r>
            <a:r>
              <a:rPr sz="1700" b="0" i="0">
                <a:solidFill>
                  <a:srgbClr val="1A1A1A"/>
                </a:solidFill>
                <a:latin typeface="Arial"/>
              </a:rPr>
              <a:t> under resistance at PHP 60 </a:t>
            </a:r>
            <a:r>
              <a:rPr sz="1700" b="1" i="0">
                <a:solidFill>
                  <a:srgbClr val="C62828"/>
                </a:solidFill>
                <a:latin typeface="Arial"/>
              </a:rPr>
              <a:t>(2)</a:t>
            </a:r>
            <a:r>
              <a:rPr sz="1700" b="0" i="0">
                <a:solidFill>
                  <a:srgbClr val="1A1A1A"/>
                </a:solidFill>
                <a:latin typeface="Arial"/>
              </a:rPr>
              <a:t> (Chapter 5, "9 Barrier proximity").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9-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6361175" y="4197096"/>
            <a:ext cx="3121152" cy="888274"/>
          </a:xfrm>
          <a:prstGeom prst="rect">
            <a:avLst/>
          </a:prstGeom>
          <a:noFill/>
          <a:ln w="44450">
            <a:solidFill>
              <a:srgbClr val="1F5FAD"/>
            </a:solidFill>
          </a:ln>
        </p:spPr>
        <p:txBody>
          <a:bodyPr rtlCol="0" anchor="ctr"/>
          <a:lstStyle/>
          <a:p>
            <a:pPr algn="ctr"/>
          </a:p>
        </p:txBody>
      </p:sp>
      <p:sp>
        <p:nvSpPr>
          <p:cNvPr id="10" name="Rectangle 9"/>
          <p:cNvSpPr/>
          <p:nvPr/>
        </p:nvSpPr>
        <p:spPr>
          <a:xfrm>
            <a:off x="9555480" y="3664131"/>
            <a:ext cx="1146048" cy="888274"/>
          </a:xfrm>
          <a:prstGeom prst="rect">
            <a:avLst/>
          </a:prstGeom>
          <a:noFill/>
          <a:ln w="44450">
            <a:solidFill>
              <a:srgbClr val="7B3FA0"/>
            </a:solidFill>
          </a:ln>
        </p:spPr>
        <p:txBody>
          <a:bodyPr rtlCol="0" anchor="ctr"/>
          <a:lstStyle/>
          <a:p>
            <a:pPr algn="ctr"/>
          </a:p>
        </p:txBody>
      </p:sp>
      <p:sp>
        <p:nvSpPr>
          <p:cNvPr id="11" name="Oval 10"/>
          <p:cNvSpPr/>
          <p:nvPr/>
        </p:nvSpPr>
        <p:spPr>
          <a:xfrm>
            <a:off x="5219327" y="393374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5219327" y="3567988"/>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9646920" y="4646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10866119" y="41134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4947476" y="369210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5151779" y="329439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K9 -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9 and 10: a barrier is near and the dips fade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10, reduction in frequency and decrease in depth of trend-based oscillations: six dips of about 3 points </a:t>
            </a:r>
            <a:r>
              <a:rPr sz="1700" b="1" i="0">
                <a:solidFill>
                  <a:srgbClr val="1F5FAD"/>
                </a:solidFill>
                <a:latin typeface="Arial"/>
              </a:rPr>
              <a:t>(3)</a:t>
            </a:r>
            <a:r>
              <a:rPr sz="1700" b="0" i="0">
                <a:solidFill>
                  <a:srgbClr val="1A1A1A"/>
                </a:solidFill>
                <a:latin typeface="Arial"/>
              </a:rPr>
              <a:t> become two dips of 1 point </a:t>
            </a:r>
            <a:r>
              <a:rPr sz="1700" b="1" i="0">
                <a:solidFill>
                  <a:srgbClr val="7B3FA0"/>
                </a:solidFill>
                <a:latin typeface="Arial"/>
              </a:rPr>
              <a:t>(4)</a:t>
            </a:r>
            <a:r>
              <a:rPr sz="1700" b="0" i="0">
                <a:solidFill>
                  <a:srgbClr val="1A1A1A"/>
                </a:solidFill>
                <a:latin typeface="Arial"/>
              </a:rPr>
              <a:t> (Chapter 5, "10 Frequency and depth of oscillations").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9-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6361175" y="4197096"/>
            <a:ext cx="3121152" cy="888274"/>
          </a:xfrm>
          <a:prstGeom prst="rect">
            <a:avLst/>
          </a:prstGeom>
          <a:noFill/>
          <a:ln w="44450">
            <a:solidFill>
              <a:srgbClr val="1F5FAD"/>
            </a:solidFill>
          </a:ln>
        </p:spPr>
        <p:txBody>
          <a:bodyPr rtlCol="0" anchor="ctr"/>
          <a:lstStyle/>
          <a:p>
            <a:pPr algn="ctr"/>
          </a:p>
        </p:txBody>
      </p:sp>
      <p:sp>
        <p:nvSpPr>
          <p:cNvPr id="10" name="Rectangle 9"/>
          <p:cNvSpPr/>
          <p:nvPr/>
        </p:nvSpPr>
        <p:spPr>
          <a:xfrm>
            <a:off x="9555480" y="3664131"/>
            <a:ext cx="1146048" cy="888274"/>
          </a:xfrm>
          <a:prstGeom prst="rect">
            <a:avLst/>
          </a:prstGeom>
          <a:noFill/>
          <a:ln w="44450">
            <a:solidFill>
              <a:srgbClr val="7B3FA0"/>
            </a:solidFill>
          </a:ln>
        </p:spPr>
        <p:txBody>
          <a:bodyPr rtlCol="0" anchor="ctr"/>
          <a:lstStyle/>
          <a:p>
            <a:pPr algn="ctr"/>
          </a:p>
        </p:txBody>
      </p:sp>
      <p:sp>
        <p:nvSpPr>
          <p:cNvPr id="11" name="Oval 10"/>
          <p:cNvSpPr/>
          <p:nvPr/>
        </p:nvSpPr>
        <p:spPr>
          <a:xfrm>
            <a:off x="5219327" y="393374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5219327" y="3567988"/>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9646920" y="4646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10866119" y="41134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4947476" y="369210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5151779" y="329439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K9 -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11 and 12: longer pauses and a third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11, appearance of relatively larger and longer lasting consolidations: pauses of 3 bars </a:t>
            </a:r>
            <a:r>
              <a:rPr sz="1700" b="1" i="0">
                <a:solidFill>
                  <a:srgbClr val="E09B00"/>
                </a:solidFill>
                <a:latin typeface="Arial"/>
              </a:rPr>
              <a:t>(1)</a:t>
            </a:r>
            <a:r>
              <a:rPr sz="1700" b="0" i="0">
                <a:solidFill>
                  <a:srgbClr val="1A1A1A"/>
                </a:solidFill>
                <a:latin typeface="Arial"/>
              </a:rPr>
              <a:t> give way to one of 12 bars </a:t>
            </a:r>
            <a:r>
              <a:rPr sz="1700" b="1" i="0">
                <a:solidFill>
                  <a:srgbClr val="C62828"/>
                </a:solidFill>
                <a:latin typeface="Arial"/>
              </a:rPr>
              <a:t>(2)</a:t>
            </a:r>
            <a:r>
              <a:rPr sz="1700" b="0" i="0">
                <a:solidFill>
                  <a:srgbClr val="1A1A1A"/>
                </a:solidFill>
                <a:latin typeface="Arial"/>
              </a:rPr>
              <a:t> (Chapter 5, "11 Size and duration of a consolidation"). Characteristic 12, appearance of an exhaustion gap: a third gap in the trend, say of PHP 0.80 </a:t>
            </a:r>
            <a:r>
              <a:rPr sz="1700" b="1" i="0">
                <a:solidFill>
                  <a:srgbClr val="1F5FAD"/>
                </a:solidFill>
                <a:latin typeface="Arial"/>
              </a:rPr>
              <a:t>(3)</a:t>
            </a:r>
            <a:r>
              <a:rPr sz="1700" b="0" i="0">
                <a:solidFill>
                  <a:srgbClr val="1A1A1A"/>
                </a:solidFill>
                <a:latin typeface="Arial"/>
              </a:rPr>
              <a:t>, after two earlier ones </a:t>
            </a:r>
            <a:r>
              <a:rPr sz="1700" b="1" i="0">
                <a:solidFill>
                  <a:srgbClr val="7B3FA0"/>
                </a:solidFill>
                <a:latin typeface="Arial"/>
              </a:rPr>
              <a:t>(4)</a:t>
            </a:r>
            <a:r>
              <a:rPr sz="1700" b="0" i="0">
                <a:solidFill>
                  <a:srgbClr val="1A1A1A"/>
                </a:solidFill>
                <a:latin typeface="Arial"/>
              </a:rPr>
              <a:t> (Chapter 5, "12 Third gap exhaustion").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1-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865913" y="4426566"/>
            <a:ext cx="615337" cy="333102"/>
          </a:xfrm>
          <a:prstGeom prst="rect">
            <a:avLst/>
          </a:prstGeom>
          <a:noFill/>
          <a:ln w="44450">
            <a:solidFill>
              <a:srgbClr val="E09B00"/>
            </a:solidFill>
          </a:ln>
        </p:spPr>
        <p:txBody>
          <a:bodyPr rtlCol="0" anchor="ctr"/>
          <a:lstStyle/>
          <a:p>
            <a:pPr algn="ctr"/>
          </a:p>
        </p:txBody>
      </p:sp>
      <p:sp>
        <p:nvSpPr>
          <p:cNvPr id="10" name="Rectangle 9"/>
          <p:cNvSpPr/>
          <p:nvPr/>
        </p:nvSpPr>
        <p:spPr>
          <a:xfrm>
            <a:off x="3823805" y="3686338"/>
            <a:ext cx="1873982" cy="333102"/>
          </a:xfrm>
          <a:prstGeom prst="rect">
            <a:avLst/>
          </a:prstGeom>
          <a:noFill/>
          <a:ln w="44450">
            <a:solidFill>
              <a:srgbClr val="C62828"/>
            </a:solidFill>
          </a:ln>
        </p:spPr>
        <p:txBody>
          <a:bodyPr rtlCol="0" anchor="ctr"/>
          <a:lstStyle/>
          <a:p>
            <a:pPr algn="ctr"/>
          </a:p>
        </p:txBody>
      </p:sp>
      <p:sp>
        <p:nvSpPr>
          <p:cNvPr id="11" name="Rectangle 10"/>
          <p:cNvSpPr/>
          <p:nvPr/>
        </p:nvSpPr>
        <p:spPr>
          <a:xfrm>
            <a:off x="9902952" y="3758183"/>
            <a:ext cx="864523" cy="243840"/>
          </a:xfrm>
          <a:prstGeom prst="rect">
            <a:avLst/>
          </a:prstGeom>
          <a:noFill/>
          <a:ln w="44450">
            <a:solidFill>
              <a:srgbClr val="1F5FAD"/>
            </a:solidFill>
          </a:ln>
        </p:spPr>
        <p:txBody>
          <a:bodyPr rtlCol="0" anchor="ctr"/>
          <a:lstStyle/>
          <a:p>
            <a:pPr algn="ctr"/>
          </a:p>
        </p:txBody>
      </p:sp>
      <p:sp>
        <p:nvSpPr>
          <p:cNvPr id="12" name="Rectangle 11"/>
          <p:cNvSpPr/>
          <p:nvPr/>
        </p:nvSpPr>
        <p:spPr>
          <a:xfrm>
            <a:off x="6660988" y="3819143"/>
            <a:ext cx="3025832" cy="1463039"/>
          </a:xfrm>
          <a:prstGeom prst="rect">
            <a:avLst/>
          </a:prstGeom>
          <a:noFill/>
          <a:ln w="44450">
            <a:solidFill>
              <a:srgbClr val="7B3FA0"/>
            </a:solidFill>
          </a:ln>
        </p:spPr>
        <p:txBody>
          <a:bodyPr rtlCol="0" anchor="ctr"/>
          <a:lstStyle/>
          <a:p>
            <a:pPr algn="ctr"/>
          </a:p>
        </p:txBody>
      </p:sp>
      <p:sp>
        <p:nvSpPr>
          <p:cNvPr id="13" name="Oval 12"/>
          <p:cNvSpPr/>
          <p:nvPr/>
        </p:nvSpPr>
        <p:spPr>
          <a:xfrm>
            <a:off x="2645843" y="451506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62379" y="37748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932067" y="37886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851413" y="46421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K11 -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13 and 14: the range is spent, price overshoots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13, completion of the average range for the period under observation: the day has already travelled its whole average range </a:t>
            </a:r>
            <a:r>
              <a:rPr sz="1700" b="1" i="0">
                <a:solidFill>
                  <a:srgbClr val="E09B00"/>
                </a:solidFill>
                <a:latin typeface="Arial"/>
              </a:rPr>
              <a:t>(1)</a:t>
            </a:r>
            <a:r>
              <a:rPr sz="1700" b="0" i="0">
                <a:solidFill>
                  <a:srgbClr val="1A1A1A"/>
                </a:solidFill>
                <a:latin typeface="Arial"/>
              </a:rPr>
              <a:t>, say all PHP 3.00 of it </a:t>
            </a:r>
            <a:r>
              <a:rPr sz="1700" b="1" i="0">
                <a:solidFill>
                  <a:srgbClr val="C62828"/>
                </a:solidFill>
                <a:latin typeface="Arial"/>
              </a:rPr>
              <a:t>(2)</a:t>
            </a:r>
            <a:r>
              <a:rPr sz="1700" b="0" i="0">
                <a:solidFill>
                  <a:srgbClr val="1A1A1A"/>
                </a:solidFill>
                <a:latin typeface="Arial"/>
              </a:rPr>
              <a:t> (Chapter 5, "13 Average period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448908" y="3662246"/>
            <a:ext cx="3025832" cy="1528996"/>
          </a:xfrm>
          <a:prstGeom prst="rect">
            <a:avLst/>
          </a:prstGeom>
          <a:noFill/>
          <a:ln w="44450">
            <a:solidFill>
              <a:srgbClr val="E09B00"/>
            </a:solidFill>
          </a:ln>
        </p:spPr>
        <p:txBody>
          <a:bodyPr rtlCol="0" anchor="ctr"/>
          <a:lstStyle/>
          <a:p>
            <a:pPr algn="ctr"/>
          </a:p>
        </p:txBody>
      </p:sp>
      <p:sp>
        <p:nvSpPr>
          <p:cNvPr id="10" name="Rectangle 9"/>
          <p:cNvSpPr/>
          <p:nvPr/>
        </p:nvSpPr>
        <p:spPr>
          <a:xfrm>
            <a:off x="4690872" y="3512345"/>
            <a:ext cx="864523" cy="1199213"/>
          </a:xfrm>
          <a:prstGeom prst="rect">
            <a:avLst/>
          </a:prstGeom>
          <a:noFill/>
          <a:ln w="44450">
            <a:solidFill>
              <a:srgbClr val="C62828"/>
            </a:solidFill>
          </a:ln>
        </p:spPr>
        <p:txBody>
          <a:bodyPr rtlCol="0" anchor="ctr"/>
          <a:lstStyle/>
          <a:p>
            <a:pPr algn="ctr"/>
          </a:p>
        </p:txBody>
      </p:sp>
      <p:sp>
        <p:nvSpPr>
          <p:cNvPr id="11" name="Oval 10"/>
          <p:cNvSpPr/>
          <p:nvPr/>
        </p:nvSpPr>
        <p:spPr>
          <a:xfrm>
            <a:off x="8468862" y="360978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468862" y="393636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4534809" y="475222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19987" y="41638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417765" y="33383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197011" y="369471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13 and 14: the range is spent, price overshoots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14, overextended price action with respect to a price barrier: price spikes to PHP 61 </a:t>
            </a:r>
            <a:r>
              <a:rPr sz="1700" b="1" i="0">
                <a:solidFill>
                  <a:srgbClr val="1F5FAD"/>
                </a:solidFill>
                <a:latin typeface="Arial"/>
              </a:rPr>
              <a:t>(3)</a:t>
            </a:r>
            <a:r>
              <a:rPr sz="1700" b="0" i="0">
                <a:solidFill>
                  <a:srgbClr val="1A1A1A"/>
                </a:solidFill>
                <a:latin typeface="Arial"/>
              </a:rPr>
              <a:t> above an uptrending overlay line at PHP 60 </a:t>
            </a:r>
            <a:r>
              <a:rPr sz="1700" b="1" i="0">
                <a:solidFill>
                  <a:srgbClr val="7B3FA0"/>
                </a:solidFill>
                <a:latin typeface="Arial"/>
              </a:rPr>
              <a:t>(4)</a:t>
            </a:r>
            <a:r>
              <a:rPr sz="1700" b="0" i="0">
                <a:solidFill>
                  <a:srgbClr val="1A1A1A"/>
                </a:solidFill>
                <a:latin typeface="Arial"/>
              </a:rPr>
              <a:t>, or above an upper band, as Figure 7.13 shows two slides on (Chapter 5, "14 Overextension past an overlay barrier").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448908" y="3662246"/>
            <a:ext cx="3025832" cy="1528996"/>
          </a:xfrm>
          <a:prstGeom prst="rect">
            <a:avLst/>
          </a:prstGeom>
          <a:noFill/>
          <a:ln w="44450">
            <a:solidFill>
              <a:srgbClr val="E09B00"/>
            </a:solidFill>
          </a:ln>
        </p:spPr>
        <p:txBody>
          <a:bodyPr rtlCol="0" anchor="ctr"/>
          <a:lstStyle/>
          <a:p>
            <a:pPr algn="ctr"/>
          </a:p>
        </p:txBody>
      </p:sp>
      <p:sp>
        <p:nvSpPr>
          <p:cNvPr id="10" name="Rectangle 9"/>
          <p:cNvSpPr/>
          <p:nvPr/>
        </p:nvSpPr>
        <p:spPr>
          <a:xfrm>
            <a:off x="4690872" y="3512345"/>
            <a:ext cx="864523" cy="1199213"/>
          </a:xfrm>
          <a:prstGeom prst="rect">
            <a:avLst/>
          </a:prstGeom>
          <a:noFill/>
          <a:ln w="44450">
            <a:solidFill>
              <a:srgbClr val="C62828"/>
            </a:solidFill>
          </a:ln>
        </p:spPr>
        <p:txBody>
          <a:bodyPr rtlCol="0" anchor="ctr"/>
          <a:lstStyle/>
          <a:p>
            <a:pPr algn="ctr"/>
          </a:p>
        </p:txBody>
      </p:sp>
      <p:sp>
        <p:nvSpPr>
          <p:cNvPr id="11" name="Oval 10"/>
          <p:cNvSpPr/>
          <p:nvPr/>
        </p:nvSpPr>
        <p:spPr>
          <a:xfrm>
            <a:off x="8468862" y="360978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468862" y="393636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4534809" y="475222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19987" y="41638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417765" y="33383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197011" y="369471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15 and 16: extreme volume and divergence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15, price accompanied by extremely high or low volume: say 5.0 million shares </a:t>
            </a:r>
            <a:r>
              <a:rPr sz="1700" b="1" i="0">
                <a:solidFill>
                  <a:srgbClr val="E09B00"/>
                </a:solidFill>
                <a:latin typeface="Arial"/>
              </a:rPr>
              <a:t>(1)</a:t>
            </a:r>
            <a:r>
              <a:rPr sz="1700" b="0" i="0">
                <a:solidFill>
                  <a:srgbClr val="1A1A1A"/>
                </a:solidFill>
                <a:latin typeface="Arial"/>
              </a:rPr>
              <a:t> against an average of 1.2 million </a:t>
            </a:r>
            <a:r>
              <a:rPr sz="1700" b="1" i="0">
                <a:solidFill>
                  <a:srgbClr val="C62828"/>
                </a:solidFill>
                <a:latin typeface="Arial"/>
              </a:rPr>
              <a:t>(2)</a:t>
            </a:r>
            <a:r>
              <a:rPr sz="1700" b="0" i="0">
                <a:solidFill>
                  <a:srgbClr val="1A1A1A"/>
                </a:solidFill>
                <a:latin typeface="Arial"/>
              </a:rPr>
              <a:t> (Chapter 5, "15 Volume spread action"). Characteristic 16, standard divergences between price, volume, and oscillators: price makes a higher high while volume falls from 3.0 </a:t>
            </a:r>
            <a:r>
              <a:rPr sz="1700" b="1" i="0">
                <a:solidFill>
                  <a:srgbClr val="1F5FAD"/>
                </a:solidFill>
                <a:latin typeface="Arial"/>
              </a:rPr>
              <a:t>(3)</a:t>
            </a:r>
            <a:r>
              <a:rPr sz="1700" b="0" i="0">
                <a:solidFill>
                  <a:srgbClr val="1A1A1A"/>
                </a:solidFill>
                <a:latin typeface="Arial"/>
              </a:rPr>
              <a:t> to 1.8 million </a:t>
            </a:r>
            <a:r>
              <a:rPr sz="1700" b="1" i="0">
                <a:solidFill>
                  <a:srgbClr val="7B3FA0"/>
                </a:solidFill>
                <a:latin typeface="Arial"/>
              </a:rPr>
              <a:t>(4)</a:t>
            </a:r>
            <a:r>
              <a:rPr sz="1700" b="0" i="0">
                <a:solidFill>
                  <a:srgbClr val="1A1A1A"/>
                </a:solidFill>
                <a:latin typeface="Arial"/>
              </a:rPr>
              <a:t> (Chapter 5, "16 Volume and oscillator divergence").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5-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822952" y="3803904"/>
            <a:ext cx="905691" cy="1371599"/>
          </a:xfrm>
          <a:prstGeom prst="rect">
            <a:avLst/>
          </a:prstGeom>
          <a:noFill/>
          <a:ln w="44450">
            <a:solidFill>
              <a:srgbClr val="E09B00"/>
            </a:solidFill>
          </a:ln>
        </p:spPr>
        <p:txBody>
          <a:bodyPr rtlCol="0" anchor="ctr"/>
          <a:lstStyle/>
          <a:p>
            <a:pPr algn="ctr"/>
          </a:p>
        </p:txBody>
      </p:sp>
      <p:sp>
        <p:nvSpPr>
          <p:cNvPr id="10" name="Rectangle 9"/>
          <p:cNvSpPr/>
          <p:nvPr/>
        </p:nvSpPr>
        <p:spPr>
          <a:xfrm>
            <a:off x="1313397" y="4626864"/>
            <a:ext cx="2943497" cy="548639"/>
          </a:xfrm>
          <a:prstGeom prst="rect">
            <a:avLst/>
          </a:prstGeom>
          <a:noFill/>
          <a:ln w="44450">
            <a:solidFill>
              <a:srgbClr val="C62828"/>
            </a:solidFill>
          </a:ln>
        </p:spPr>
        <p:txBody>
          <a:bodyPr rtlCol="0" anchor="ctr"/>
          <a:lstStyle/>
          <a:p>
            <a:pPr algn="ctr"/>
          </a:p>
        </p:txBody>
      </p:sp>
      <p:sp>
        <p:nvSpPr>
          <p:cNvPr id="11" name="Rectangle 10"/>
          <p:cNvSpPr/>
          <p:nvPr/>
        </p:nvSpPr>
        <p:spPr>
          <a:xfrm>
            <a:off x="7466076" y="3726751"/>
            <a:ext cx="713231" cy="1448752"/>
          </a:xfrm>
          <a:prstGeom prst="rect">
            <a:avLst/>
          </a:prstGeom>
          <a:noFill/>
          <a:ln w="44450">
            <a:solidFill>
              <a:srgbClr val="1F5FAD"/>
            </a:solidFill>
          </a:ln>
        </p:spPr>
        <p:txBody>
          <a:bodyPr rtlCol="0" anchor="ctr"/>
          <a:lstStyle/>
          <a:p>
            <a:pPr algn="ctr"/>
          </a:p>
        </p:txBody>
      </p:sp>
      <p:sp>
        <p:nvSpPr>
          <p:cNvPr id="12" name="Rectangle 11"/>
          <p:cNvSpPr/>
          <p:nvPr/>
        </p:nvSpPr>
        <p:spPr>
          <a:xfrm>
            <a:off x="9843516" y="3503866"/>
            <a:ext cx="713232" cy="1671637"/>
          </a:xfrm>
          <a:prstGeom prst="rect">
            <a:avLst/>
          </a:prstGeom>
          <a:noFill/>
          <a:ln w="44450">
            <a:solidFill>
              <a:srgbClr val="7B3FA0"/>
            </a:solidFill>
          </a:ln>
        </p:spPr>
        <p:txBody>
          <a:bodyPr rtlCol="0" anchor="ctr"/>
          <a:lstStyle/>
          <a:p>
            <a:pPr algn="ctr"/>
          </a:p>
        </p:txBody>
      </p:sp>
      <p:sp>
        <p:nvSpPr>
          <p:cNvPr id="13" name="Oval 12"/>
          <p:cNvSpPr/>
          <p:nvPr/>
        </p:nvSpPr>
        <p:spPr>
          <a:xfrm>
            <a:off x="5893235" y="45674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421486" y="485546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343900" y="454042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721340" y="446241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K15 -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88</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shows three of the characteristics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80 of 88</a:t>
            </a:r>
          </a:p>
        </p:txBody>
      </p:sp>
      <p:sp>
        <p:nvSpPr>
          <p:cNvPr id="7" name="TextBox 6"/>
          <p:cNvSpPr txBox="1"/>
          <p:nvPr/>
        </p:nvSpPr>
        <p:spPr>
          <a:xfrm>
            <a:off x="777240" y="1965960"/>
            <a:ext cx="3931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7.13, a daily chart of the National Bank of Greece, shows three at once (pp. 217 to 218).</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The run-up's last days climb far more steeply: characteristic 8, angular momentum.</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Through the run-up price barely dips: characteristic 10, oscillations.</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 overextended bar pokes above the upper band: characteristic 14.</a:t>
            </a:r>
          </a:p>
        </p:txBody>
      </p:sp>
      <p:sp>
        <p:nvSpPr>
          <p:cNvPr id="8" name="Rectangle 7"/>
          <p:cNvSpPr/>
          <p:nvPr/>
        </p:nvSpPr>
        <p:spPr>
          <a:xfrm>
            <a:off x="5249038" y="1810512"/>
            <a:ext cx="631133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67910" y="1929384"/>
            <a:ext cx="607359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67910" y="1929384"/>
            <a:ext cx="607359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42230" y="2203703"/>
            <a:ext cx="552495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2" name="Rectangle 11"/>
          <p:cNvSpPr/>
          <p:nvPr/>
        </p:nvSpPr>
        <p:spPr>
          <a:xfrm>
            <a:off x="8518587" y="2641133"/>
            <a:ext cx="275209" cy="948998"/>
          </a:xfrm>
          <a:prstGeom prst="rect">
            <a:avLst/>
          </a:prstGeom>
          <a:noFill/>
          <a:ln w="44450">
            <a:solidFill>
              <a:srgbClr val="E09B00"/>
            </a:solidFill>
          </a:ln>
        </p:spPr>
        <p:txBody>
          <a:bodyPr rtlCol="0" anchor="ctr"/>
          <a:lstStyle/>
          <a:p>
            <a:pPr algn="ctr"/>
          </a:p>
        </p:txBody>
      </p:sp>
      <p:sp>
        <p:nvSpPr>
          <p:cNvPr id="13" name="Rectangle 12"/>
          <p:cNvSpPr/>
          <p:nvPr/>
        </p:nvSpPr>
        <p:spPr>
          <a:xfrm>
            <a:off x="7939698" y="3424057"/>
            <a:ext cx="578889" cy="806649"/>
          </a:xfrm>
          <a:prstGeom prst="rect">
            <a:avLst/>
          </a:prstGeom>
          <a:noFill/>
          <a:ln w="44450">
            <a:solidFill>
              <a:srgbClr val="C62828"/>
            </a:solidFill>
          </a:ln>
        </p:spPr>
        <p:txBody>
          <a:bodyPr rtlCol="0" anchor="ctr"/>
          <a:lstStyle/>
          <a:p>
            <a:pPr algn="ctr"/>
          </a:p>
        </p:txBody>
      </p:sp>
      <p:sp>
        <p:nvSpPr>
          <p:cNvPr id="14" name="Oval 13"/>
          <p:cNvSpPr/>
          <p:nvPr/>
        </p:nvSpPr>
        <p:spPr>
          <a:xfrm>
            <a:off x="8727367" y="2119183"/>
            <a:ext cx="208779" cy="545674"/>
          </a:xfrm>
          <a:prstGeom prst="ellipse">
            <a:avLst/>
          </a:prstGeom>
          <a:noFill/>
          <a:ln w="44450">
            <a:solidFill>
              <a:srgbClr val="1F5FAD"/>
            </a:solidFill>
          </a:ln>
        </p:spPr>
        <p:txBody>
          <a:bodyPr rtlCol="0" anchor="ctr"/>
          <a:lstStyle/>
          <a:p>
            <a:pPr algn="ctr"/>
          </a:p>
        </p:txBody>
      </p:sp>
      <p:sp>
        <p:nvSpPr>
          <p:cNvPr id="15" name="Oval 14"/>
          <p:cNvSpPr/>
          <p:nvPr/>
        </p:nvSpPr>
        <p:spPr>
          <a:xfrm>
            <a:off x="8390571" y="2513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1682" y="3296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6491" y="208606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02919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Figure 7.13.</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Why those three marks are warnings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such rapid increases </a:t>
            </a:r>
            <a:r>
              <a:rPr sz="1700" b="1" i="0">
                <a:solidFill>
                  <a:srgbClr val="E09B00"/>
                </a:solidFill>
                <a:latin typeface="Arial"/>
              </a:rPr>
              <a:t>(1)</a:t>
            </a:r>
            <a:r>
              <a:rPr sz="1700" b="0" i="0">
                <a:solidFill>
                  <a:srgbClr val="1A1A1A"/>
                </a:solidFill>
                <a:latin typeface="Arial"/>
              </a:rPr>
              <a:t> are usually unsustainable, so potentially bearish (p. 218). A lack of oscillations </a:t>
            </a:r>
            <a:r>
              <a:rPr sz="1700" b="1" i="0">
                <a:solidFill>
                  <a:srgbClr val="C62828"/>
                </a:solidFill>
                <a:latin typeface="Arial"/>
              </a:rPr>
              <a:t>(2)</a:t>
            </a:r>
            <a:r>
              <a:rPr sz="1700" b="0" i="0">
                <a:solidFill>
                  <a:srgbClr val="1A1A1A"/>
                </a:solidFill>
                <a:latin typeface="Arial"/>
              </a:rPr>
              <a:t> is potentially bearish because there is little healthy profit-taking (p. 218). The overextended price </a:t>
            </a:r>
            <a:r>
              <a:rPr sz="1700" b="1" i="0">
                <a:solidFill>
                  <a:srgbClr val="1F5FAD"/>
                </a:solidFill>
                <a:latin typeface="Arial"/>
              </a:rPr>
              <a:t>(3)</a:t>
            </a:r>
            <a:r>
              <a:rPr sz="1700" b="0" i="0">
                <a:solidFill>
                  <a:srgbClr val="1A1A1A"/>
                </a:solidFill>
                <a:latin typeface="Arial"/>
              </a:rPr>
              <a:t> is stretched past a volatility barrier, the Bollinger upper band, and would be even more bearish with extreme volume (p. 217).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81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Why those three marks are warnings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Chapter 7 names the Bollinger upper band but does not define it; read it as the overlay barrier from Chapter 5, "14 Overextension past an overlay barrier", and take no formula from this chapter.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82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are the same three warnings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invented price climbs from PHP 40 to PHP 80 in twelve bars. Early bars rise about PHP 1 each; late ones jump PHP 8, to PHP 66 </a:t>
            </a:r>
            <a:r>
              <a:rPr sz="1700" b="1" i="0">
                <a:solidFill>
                  <a:srgbClr val="E09B00"/>
                </a:solidFill>
                <a:latin typeface="Arial"/>
              </a:rPr>
              <a:t>(1)</a:t>
            </a:r>
            <a:r>
              <a:rPr sz="1700" b="0" i="0">
                <a:solidFill>
                  <a:srgbClr val="1A1A1A"/>
                </a:solidFill>
                <a:latin typeface="Arial"/>
              </a:rPr>
              <a:t>, and then PHP 14: a change in angular momentum. The only dips are one point each, the last to PHP 52 </a:t>
            </a:r>
            <a:r>
              <a:rPr sz="1700" b="1" i="0">
                <a:solidFill>
                  <a:srgbClr val="C62828"/>
                </a:solidFill>
                <a:latin typeface="Arial"/>
              </a:rPr>
              <a:t>(2)</a:t>
            </a:r>
            <a:r>
              <a:rPr sz="1700" b="0" i="0">
                <a:solidFill>
                  <a:srgbClr val="1A1A1A"/>
                </a:solidFill>
                <a:latin typeface="Arial"/>
              </a:rPr>
              <a:t>. The final PHP 80 sits PHP 3 above an invented upper band at PHP 77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83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Barrier proximity ranks among the most important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84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barrier proximity, item 9, one of the most important reversal characteristics: reversal patterns are most reliable at significant price barriers (p. 217).</a:t>
            </a:r>
          </a:p>
          <a:p>
            <a:pPr algn="l">
              <a:lnSpc>
                <a:spcPct val="118000"/>
              </a:lnSpc>
              <a:spcBef>
                <a:spcPts val="0"/>
              </a:spcBef>
              <a:spcAft>
                <a:spcPts val="1300"/>
              </a:spcAft>
            </a:pPr>
            <a:r>
              <a:rPr sz="2100" b="0" i="0">
                <a:solidFill>
                  <a:srgbClr val="1A1A1A"/>
                </a:solidFill>
                <a:latin typeface="Arial"/>
              </a:rPr>
              <a:t>His examples: a bearish key reversal day is more reliable at a significant resistance level, and a bullish exhaustion bar at a significant support level (p. 217). The exhaustion bar is a Part 3 pattern; for now, read it as a bullish bar at support.</a:t>
            </a:r>
          </a:p>
          <a:p>
            <a:pPr algn="l">
              <a:lnSpc>
                <a:spcPct val="118000"/>
              </a:lnSpc>
              <a:spcBef>
                <a:spcPts val="0"/>
              </a:spcBef>
              <a:spcAft>
                <a:spcPts val="1300"/>
              </a:spcAft>
            </a:pPr>
            <a:r>
              <a:rPr sz="2100" b="0" i="0">
                <a:solidFill>
                  <a:srgbClr val="1A1A1A"/>
                </a:solidFill>
                <a:latin typeface="Arial"/>
              </a:rPr>
              <a:t>So he advises reading every bar formation against all 16 characteristics (p. 218).</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5, "9 Barrier proximity".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key reversal bar at resistance is more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key reversal bar where Lim says it counts most. Resistance sits at PHP 60.00 </a:t>
            </a:r>
            <a:r>
              <a:rPr sz="1700" b="1" i="0">
                <a:solidFill>
                  <a:srgbClr val="E09B00"/>
                </a:solidFill>
                <a:latin typeface="Arial"/>
              </a:rPr>
              <a:t>(1)</a:t>
            </a:r>
            <a:r>
              <a:rPr sz="1700" b="0" i="0">
                <a:solidFill>
                  <a:srgbClr val="1A1A1A"/>
                </a:solidFill>
                <a:latin typeface="Arial"/>
              </a:rPr>
              <a:t>. The bar opens at PHP 60.20, pushes up to PHP 60.60 into that barrier </a:t>
            </a:r>
            <a:r>
              <a:rPr sz="1700" b="1" i="0">
                <a:solidFill>
                  <a:srgbClr val="C62828"/>
                </a:solidFill>
                <a:latin typeface="Arial"/>
              </a:rPr>
              <a:t>(2)</a:t>
            </a:r>
            <a:r>
              <a:rPr sz="1700" b="0" i="0">
                <a:solidFill>
                  <a:srgbClr val="1A1A1A"/>
                </a:solidFill>
                <a:latin typeface="Arial"/>
              </a:rPr>
              <a:t>, then closes at PHP 59.00, below the previous close of PHP 59.60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80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5197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37207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6162"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42899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85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bar with no barrier nearby is less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identical two bars with no resistance anywhere near: the bar still reaches PHP 60.60 </a:t>
            </a:r>
            <a:r>
              <a:rPr sz="1700" b="1" i="0">
                <a:solidFill>
                  <a:srgbClr val="E09B00"/>
                </a:solidFill>
                <a:latin typeface="Arial"/>
              </a:rPr>
              <a:t>(1)</a:t>
            </a:r>
            <a:r>
              <a:rPr sz="1700" b="0" i="0">
                <a:solidFill>
                  <a:srgbClr val="1A1A1A"/>
                </a:solidFill>
                <a:latin typeface="Arial"/>
              </a:rPr>
              <a:t> and still closes at PHP 59.00 </a:t>
            </a:r>
            <a:r>
              <a:rPr sz="1700" b="1" i="0">
                <a:solidFill>
                  <a:srgbClr val="C62828"/>
                </a:solidFill>
                <a:latin typeface="Arial"/>
              </a:rPr>
              <a:t>(2)</a:t>
            </a:r>
            <a:r>
              <a:rPr sz="1700" b="0" i="0">
                <a:solidFill>
                  <a:srgbClr val="1A1A1A"/>
                </a:solidFill>
                <a:latin typeface="Arial"/>
              </a:rPr>
              <a:t>. The pattern is the same; only its location changed. By Lim's rule this one is the less reliable reading, though neither is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5197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86162"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2899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RB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86 of 88</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rule works the other way at support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example is a bullish exhaustion bar at support, a bar Part 3 teaches. The same rule covers the bullish key reversal of Figure 7.5. With support at PHP 40.00 </a:t>
            </a:r>
            <a:r>
              <a:rPr sz="1700" b="1" i="0">
                <a:solidFill>
                  <a:srgbClr val="E09B00"/>
                </a:solidFill>
                <a:latin typeface="Arial"/>
              </a:rPr>
              <a:t>(1)</a:t>
            </a:r>
            <a:r>
              <a:rPr sz="1700" b="0" i="0">
                <a:solidFill>
                  <a:srgbClr val="1A1A1A"/>
                </a:solidFill>
                <a:latin typeface="Arial"/>
              </a:rPr>
              <a:t>, the bar dips to PHP 39.40 </a:t>
            </a:r>
            <a:r>
              <a:rPr sz="1700" b="1" i="0">
                <a:solidFill>
                  <a:srgbClr val="C62828"/>
                </a:solidFill>
                <a:latin typeface="Arial"/>
              </a:rPr>
              <a:t>(2)</a:t>
            </a:r>
            <a:r>
              <a:rPr sz="1700" b="0" i="0">
                <a:solidFill>
                  <a:srgbClr val="1A1A1A"/>
                </a:solidFill>
                <a:latin typeface="Arial"/>
              </a:rPr>
              <a:t> and closes at PHP 41.00, above the previous close of PHP 40.40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51979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80490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44356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3272" y="4831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35750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87 of 88</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on Figure 7.13</a:t>
            </a:r>
          </a:p>
        </p:txBody>
      </p:sp>
      <p:sp>
        <p:nvSpPr>
          <p:cNvPr id="6" name="Rectangle 5"/>
          <p:cNvSpPr/>
          <p:nvPr/>
        </p:nvSpPr>
        <p:spPr>
          <a:xfrm>
            <a:off x="777240" y="1207008"/>
            <a:ext cx="4937760" cy="203047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387807"/>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is mark 3?</a:t>
            </a:r>
          </a:p>
        </p:txBody>
      </p:sp>
      <p:sp>
        <p:nvSpPr>
          <p:cNvPr id="9" name="TextBox 8"/>
          <p:cNvSpPr txBox="1"/>
          <p:nvPr/>
        </p:nvSpPr>
        <p:spPr>
          <a:xfrm>
            <a:off x="1005840" y="1869135"/>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momentum</a:t>
            </a:r>
          </a:p>
          <a:p>
            <a:pPr algn="l">
              <a:lnSpc>
                <a:spcPct val="105000"/>
              </a:lnSpc>
              <a:spcBef>
                <a:spcPts val="0"/>
              </a:spcBef>
              <a:spcAft>
                <a:spcPts val="200"/>
              </a:spcAft>
            </a:pPr>
            <a:r>
              <a:rPr sz="1700" b="0" i="0">
                <a:solidFill>
                  <a:srgbClr val="FFFFFF"/>
                </a:solidFill>
                <a:latin typeface="Arial"/>
              </a:rPr>
              <a:t>B.  10, oscillations</a:t>
            </a:r>
          </a:p>
          <a:p>
            <a:pPr algn="l">
              <a:lnSpc>
                <a:spcPct val="105000"/>
              </a:lnSpc>
              <a:spcBef>
                <a:spcPts val="0"/>
              </a:spcBef>
              <a:spcAft>
                <a:spcPts val="200"/>
              </a:spcAft>
            </a:pPr>
            <a:r>
              <a:rPr sz="1700" b="0" i="0">
                <a:solidFill>
                  <a:srgbClr val="FFFFFF"/>
                </a:solidFill>
                <a:latin typeface="Arial"/>
              </a:rPr>
              <a:t>C.  14, overextension</a:t>
            </a:r>
          </a:p>
          <a:p>
            <a:pPr algn="l">
              <a:lnSpc>
                <a:spcPct val="105000"/>
              </a:lnSpc>
              <a:spcBef>
                <a:spcPts val="0"/>
              </a:spcBef>
              <a:spcAft>
                <a:spcPts val="200"/>
              </a:spcAft>
            </a:pPr>
            <a:r>
              <a:rPr sz="1700" b="0" i="0">
                <a:solidFill>
                  <a:srgbClr val="FFFFFF"/>
                </a:solidFill>
                <a:latin typeface="Arial"/>
              </a:rPr>
              <a:t>D.  12, exhaustion gap</a:t>
            </a:r>
          </a:p>
        </p:txBody>
      </p:sp>
      <p:sp>
        <p:nvSpPr>
          <p:cNvPr id="10" name="Rectangle 9"/>
          <p:cNvSpPr/>
          <p:nvPr/>
        </p:nvSpPr>
        <p:spPr>
          <a:xfrm>
            <a:off x="777240" y="3328924"/>
            <a:ext cx="4937760" cy="230855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0364"/>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1531"/>
            <a:ext cx="4480560" cy="665886"/>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are few oscillations in a run-up bearish?</a:t>
            </a:r>
          </a:p>
        </p:txBody>
      </p:sp>
      <p:sp>
        <p:nvSpPr>
          <p:cNvPr id="13" name="TextBox 12"/>
          <p:cNvSpPr txBox="1"/>
          <p:nvPr/>
        </p:nvSpPr>
        <p:spPr>
          <a:xfrm>
            <a:off x="1005840" y="4269130"/>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Low volume</a:t>
            </a:r>
          </a:p>
          <a:p>
            <a:pPr algn="l">
              <a:lnSpc>
                <a:spcPct val="105000"/>
              </a:lnSpc>
              <a:spcBef>
                <a:spcPts val="0"/>
              </a:spcBef>
              <a:spcAft>
                <a:spcPts val="200"/>
              </a:spcAft>
            </a:pPr>
            <a:r>
              <a:rPr sz="1700" b="0" i="0">
                <a:solidFill>
                  <a:srgbClr val="FFFFFF"/>
                </a:solidFill>
                <a:latin typeface="Arial"/>
              </a:rPr>
              <a:t>B.  Little profit-taking</a:t>
            </a:r>
          </a:p>
          <a:p>
            <a:pPr algn="l">
              <a:lnSpc>
                <a:spcPct val="105000"/>
              </a:lnSpc>
              <a:spcBef>
                <a:spcPts val="0"/>
              </a:spcBef>
              <a:spcAft>
                <a:spcPts val="200"/>
              </a:spcAft>
            </a:pPr>
            <a:r>
              <a:rPr sz="1700" b="0" i="0">
                <a:solidFill>
                  <a:srgbClr val="FFFFFF"/>
                </a:solidFill>
                <a:latin typeface="Arial"/>
              </a:rPr>
              <a:t>C.  No band formula</a:t>
            </a:r>
          </a:p>
          <a:p>
            <a:pPr algn="l">
              <a:lnSpc>
                <a:spcPct val="105000"/>
              </a:lnSpc>
              <a:spcBef>
                <a:spcPts val="0"/>
              </a:spcBef>
              <a:spcAft>
                <a:spcPts val="200"/>
              </a:spcAft>
            </a:pPr>
            <a:r>
              <a:rPr sz="1700" b="0" i="0">
                <a:solidFill>
                  <a:srgbClr val="FFFFFF"/>
                </a:solidFill>
                <a:latin typeface="Arial"/>
              </a:rPr>
              <a:t>D.  A downtrend</a:t>
            </a:r>
          </a:p>
        </p:txBody>
      </p:sp>
      <p:sp>
        <p:nvSpPr>
          <p:cNvPr id="14" name="Rectangle 13"/>
          <p:cNvSpPr/>
          <p:nvPr/>
        </p:nvSpPr>
        <p:spPr>
          <a:xfrm>
            <a:off x="6035040" y="1207008"/>
            <a:ext cx="5379414" cy="32102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9725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1" y="1600200"/>
            <a:ext cx="4593031" cy="25153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28419"/>
            <a:ext cx="232981" cy="803386"/>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91213"/>
            <a:ext cx="490065" cy="682878"/>
          </a:xfrm>
          <a:prstGeom prst="rect">
            <a:avLst/>
          </a:prstGeom>
          <a:noFill/>
          <a:ln w="44450">
            <a:solidFill>
              <a:srgbClr val="C62828"/>
            </a:solidFill>
          </a:ln>
        </p:spPr>
        <p:txBody>
          <a:bodyPr rtlCol="0" anchor="ctr"/>
          <a:lstStyle/>
          <a:p>
            <a:pPr algn="ctr"/>
          </a:p>
        </p:txBody>
      </p:sp>
      <p:sp>
        <p:nvSpPr>
          <p:cNvPr id="20" name="Oval 19"/>
          <p:cNvSpPr/>
          <p:nvPr/>
        </p:nvSpPr>
        <p:spPr>
          <a:xfrm>
            <a:off x="8997898" y="1486557"/>
            <a:ext cx="176744" cy="461947"/>
          </a:xfrm>
          <a:prstGeom prst="ellipse">
            <a:avLst/>
          </a:prstGeom>
          <a:noFill/>
          <a:ln w="44450">
            <a:solidFill>
              <a:srgbClr val="1F5FAD"/>
            </a:solidFill>
          </a:ln>
        </p:spPr>
        <p:txBody>
          <a:bodyPr rtlCol="0" anchor="ctr"/>
          <a:lstStyle/>
          <a:p>
            <a:pPr algn="ctr"/>
          </a:p>
        </p:txBody>
      </p:sp>
      <p:sp>
        <p:nvSpPr>
          <p:cNvPr id="21" name="Oval 20"/>
          <p:cNvSpPr/>
          <p:nvPr/>
        </p:nvSpPr>
        <p:spPr>
          <a:xfrm>
            <a:off x="8693137" y="18004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631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88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50872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14</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on Figure 7.13</a:t>
            </a:r>
          </a:p>
        </p:txBody>
      </p:sp>
      <p:sp>
        <p:nvSpPr>
          <p:cNvPr id="6" name="Rectangle 5"/>
          <p:cNvSpPr/>
          <p:nvPr/>
        </p:nvSpPr>
        <p:spPr>
          <a:xfrm>
            <a:off x="777240" y="1207008"/>
            <a:ext cx="493776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characteristic is mark 3?</a:t>
            </a:r>
          </a:p>
        </p:txBody>
      </p:sp>
      <p:sp>
        <p:nvSpPr>
          <p:cNvPr id="9" name="TextBox 8"/>
          <p:cNvSpPr txBox="1"/>
          <p:nvPr/>
        </p:nvSpPr>
        <p:spPr>
          <a:xfrm>
            <a:off x="1097280" y="182105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14, overextension</a:t>
            </a:r>
          </a:p>
          <a:p>
            <a:pPr algn="l">
              <a:lnSpc>
                <a:spcPct val="115000"/>
              </a:lnSpc>
              <a:spcBef>
                <a:spcPts val="500"/>
              </a:spcBef>
              <a:spcAft>
                <a:spcPts val="0"/>
              </a:spcAft>
            </a:pPr>
            <a:r>
              <a:rPr sz="1700" b="0" i="0">
                <a:solidFill>
                  <a:srgbClr val="1A1A1A"/>
                </a:solidFill>
                <a:latin typeface="Arial"/>
              </a:rPr>
              <a:t>The overextended bar above the band is characteristic 14 (p. 217).</a:t>
            </a:r>
          </a:p>
        </p:txBody>
      </p:sp>
      <p:sp>
        <p:nvSpPr>
          <p:cNvPr id="10" name="Rectangle 9"/>
          <p:cNvSpPr/>
          <p:nvPr/>
        </p:nvSpPr>
        <p:spPr>
          <a:xfrm>
            <a:off x="777240" y="3158363"/>
            <a:ext cx="493776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are few oscillations in a run-up bearish?</a:t>
            </a:r>
          </a:p>
        </p:txBody>
      </p:sp>
      <p:sp>
        <p:nvSpPr>
          <p:cNvPr id="13" name="TextBox 12"/>
          <p:cNvSpPr txBox="1"/>
          <p:nvPr/>
        </p:nvSpPr>
        <p:spPr>
          <a:xfrm>
            <a:off x="1097280" y="402069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Little profit-taking</a:t>
            </a:r>
          </a:p>
          <a:p>
            <a:pPr algn="l">
              <a:lnSpc>
                <a:spcPct val="115000"/>
              </a:lnSpc>
              <a:spcBef>
                <a:spcPts val="500"/>
              </a:spcBef>
              <a:spcAft>
                <a:spcPts val="0"/>
              </a:spcAft>
            </a:pPr>
            <a:r>
              <a:rPr sz="1700" b="0" i="0">
                <a:solidFill>
                  <a:srgbClr val="1A1A1A"/>
                </a:solidFill>
                <a:latin typeface="Arial"/>
              </a:rPr>
              <a:t>Lim: a lack of healthy profit-taking makes it potentially bearish (p. 218).</a:t>
            </a:r>
          </a:p>
        </p:txBody>
      </p:sp>
      <p:sp>
        <p:nvSpPr>
          <p:cNvPr id="14" name="Rectangle 13"/>
          <p:cNvSpPr/>
          <p:nvPr/>
        </p:nvSpPr>
        <p:spPr>
          <a:xfrm>
            <a:off x="6035040" y="1207008"/>
            <a:ext cx="5379414" cy="31201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88245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2" y="1600200"/>
            <a:ext cx="4593030" cy="242525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10160"/>
            <a:ext cx="232981" cy="779041"/>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52869"/>
            <a:ext cx="490065" cy="662184"/>
          </a:xfrm>
          <a:prstGeom prst="rect">
            <a:avLst/>
          </a:prstGeom>
          <a:noFill/>
          <a:ln w="44450">
            <a:solidFill>
              <a:srgbClr val="C62828"/>
            </a:solidFill>
          </a:ln>
        </p:spPr>
        <p:txBody>
          <a:bodyPr rtlCol="0" anchor="ctr"/>
          <a:lstStyle/>
          <a:p>
            <a:pPr algn="ctr"/>
          </a:p>
        </p:txBody>
      </p:sp>
      <p:sp>
        <p:nvSpPr>
          <p:cNvPr id="20" name="Oval 19"/>
          <p:cNvSpPr/>
          <p:nvPr/>
        </p:nvSpPr>
        <p:spPr>
          <a:xfrm>
            <a:off x="8997898" y="1481688"/>
            <a:ext cx="176744" cy="447948"/>
          </a:xfrm>
          <a:prstGeom prst="ellipse">
            <a:avLst/>
          </a:prstGeom>
          <a:noFill/>
          <a:ln w="44450">
            <a:solidFill>
              <a:srgbClr val="1F5FAD"/>
            </a:solidFill>
          </a:ln>
        </p:spPr>
        <p:txBody>
          <a:bodyPr rtlCol="0" anchor="ctr"/>
          <a:lstStyle/>
          <a:p>
            <a:pPr algn="ctr"/>
          </a:p>
        </p:txBody>
      </p:sp>
      <p:sp>
        <p:nvSpPr>
          <p:cNvPr id="21" name="Oval 20"/>
          <p:cNvSpPr/>
          <p:nvPr/>
        </p:nvSpPr>
        <p:spPr>
          <a:xfrm>
            <a:off x="8693137" y="1782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248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157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418643"/>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14</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Barrier proximity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say reversal patterns are most reliable?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significant price barriers</a:t>
            </a:r>
          </a:p>
          <a:p>
            <a:pPr algn="l">
              <a:lnSpc>
                <a:spcPct val="112000"/>
              </a:lnSpc>
              <a:spcBef>
                <a:spcPts val="0"/>
              </a:spcBef>
              <a:spcAft>
                <a:spcPts val="900"/>
              </a:spcAft>
            </a:pPr>
            <a:r>
              <a:rPr sz="1700" b="0" i="0">
                <a:solidFill>
                  <a:srgbClr val="FFFFFF"/>
                </a:solidFill>
                <a:latin typeface="Arial"/>
              </a:rPr>
              <a:t>B.  Far from any barrier</a:t>
            </a:r>
          </a:p>
          <a:p>
            <a:pPr algn="l">
              <a:lnSpc>
                <a:spcPct val="112000"/>
              </a:lnSpc>
              <a:spcBef>
                <a:spcPts val="0"/>
              </a:spcBef>
              <a:spcAft>
                <a:spcPts val="900"/>
              </a:spcAft>
            </a:pPr>
            <a:r>
              <a:rPr sz="1700" b="0" i="0">
                <a:solidFill>
                  <a:srgbClr val="FFFFFF"/>
                </a:solidFill>
                <a:latin typeface="Arial"/>
              </a:rPr>
              <a:t>C.  Only on low volume</a:t>
            </a:r>
          </a:p>
          <a:p>
            <a:pPr algn="l">
              <a:lnSpc>
                <a:spcPct val="112000"/>
              </a:lnSpc>
              <a:spcBef>
                <a:spcPts val="0"/>
              </a:spcBef>
              <a:spcAft>
                <a:spcPts val="900"/>
              </a:spcAft>
            </a:pPr>
            <a:r>
              <a:rPr sz="1700" b="0" i="0">
                <a:solidFill>
                  <a:srgbClr val="FFFFFF"/>
                </a:solidFill>
                <a:latin typeface="Arial"/>
              </a:rPr>
              <a:t>D.  Only in a downtrend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key reversal bars: one at resistance, one far from any barrier. Which reading is more reliable?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one far from a barrier</a:t>
            </a:r>
          </a:p>
          <a:p>
            <a:pPr algn="l">
              <a:lnSpc>
                <a:spcPct val="112000"/>
              </a:lnSpc>
              <a:spcBef>
                <a:spcPts val="0"/>
              </a:spcBef>
              <a:spcAft>
                <a:spcPts val="900"/>
              </a:spcAft>
            </a:pPr>
            <a:r>
              <a:rPr sz="1700" b="0" i="0">
                <a:solidFill>
                  <a:srgbClr val="FFFFFF"/>
                </a:solidFill>
                <a:latin typeface="Arial"/>
              </a:rPr>
              <a:t>B.  They are equally reliable</a:t>
            </a:r>
          </a:p>
          <a:p>
            <a:pPr algn="l">
              <a:lnSpc>
                <a:spcPct val="112000"/>
              </a:lnSpc>
              <a:spcBef>
                <a:spcPts val="0"/>
              </a:spcBef>
              <a:spcAft>
                <a:spcPts val="900"/>
              </a:spcAft>
            </a:pPr>
            <a:r>
              <a:rPr sz="1700" b="0" i="0">
                <a:solidFill>
                  <a:srgbClr val="FFFFFF"/>
                </a:solidFill>
                <a:latin typeface="Arial"/>
              </a:rPr>
              <a:t>C.  Neither can be read</a:t>
            </a:r>
          </a:p>
          <a:p>
            <a:pPr algn="l">
              <a:lnSpc>
                <a:spcPct val="112000"/>
              </a:lnSpc>
              <a:spcBef>
                <a:spcPts val="0"/>
              </a:spcBef>
              <a:spcAft>
                <a:spcPts val="900"/>
              </a:spcAft>
            </a:pPr>
            <a:r>
              <a:rPr sz="1700" b="0" i="0">
                <a:solidFill>
                  <a:srgbClr val="FFFFFF"/>
                </a:solidFill>
                <a:latin typeface="Arial"/>
              </a:rPr>
              <a:t>D.  The one at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15</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Barrier proximity</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say reversal patterns are most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significant price barriers</a:t>
            </a:r>
          </a:p>
          <a:p>
            <a:pPr algn="l">
              <a:lnSpc>
                <a:spcPct val="115000"/>
              </a:lnSpc>
              <a:spcBef>
                <a:spcPts val="700"/>
              </a:spcBef>
              <a:spcAft>
                <a:spcPts val="0"/>
              </a:spcAft>
            </a:pPr>
            <a:r>
              <a:rPr sz="1700" b="0" i="0">
                <a:solidFill>
                  <a:srgbClr val="1A1A1A"/>
                </a:solidFill>
                <a:latin typeface="Arial"/>
              </a:rPr>
              <a:t>Reversal patterns are most reliable at significant price barriers (p. 217).</a:t>
            </a:r>
          </a:p>
        </p:txBody>
      </p:sp>
      <p:sp>
        <p:nvSpPr>
          <p:cNvPr id="10" name="Rectangle 9"/>
          <p:cNvSpPr/>
          <p:nvPr/>
        </p:nvSpPr>
        <p:spPr>
          <a:xfrm>
            <a:off x="777240" y="3082036"/>
            <a:ext cx="10637215" cy="21247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247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Two identical key reversal bars: one at resistance, one far from any barrier. Which reading is more reliable?</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one at resistance</a:t>
            </a:r>
          </a:p>
          <a:p>
            <a:pPr algn="l">
              <a:lnSpc>
                <a:spcPct val="115000"/>
              </a:lnSpc>
              <a:spcBef>
                <a:spcPts val="700"/>
              </a:spcBef>
              <a:spcAft>
                <a:spcPts val="0"/>
              </a:spcAft>
            </a:pPr>
            <a:r>
              <a:rPr sz="1700" b="0" i="0">
                <a:solidFill>
                  <a:srgbClr val="1A1A1A"/>
                </a:solidFill>
                <a:latin typeface="Arial"/>
              </a:rPr>
              <a:t>A bearish key reversal day is more reliable when it occurs at a significant resistance level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15</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2 in one breath, and where Part 3 begins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88 of 88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Read the trend first; a pattern that disagrees with it is a potential reversal. Lim drew seven one- and two-bar forms, six three-bar forms and four multiple-bar forms, each in both directions.</a:t>
            </a:r>
          </a:p>
          <a:p>
            <a:pPr algn="l">
              <a:lnSpc>
                <a:spcPct val="118000"/>
              </a:lnSpc>
              <a:spcBef>
                <a:spcPts val="0"/>
              </a:spcBef>
              <a:spcAft>
                <a:spcPts val="1300"/>
              </a:spcAft>
            </a:pPr>
            <a:r>
              <a:rPr sz="2100" b="0" i="0">
                <a:solidFill>
                  <a:srgbClr val="1A1A1A"/>
                </a:solidFill>
                <a:latin typeface="Arial"/>
              </a:rPr>
              <a:t>The last bar, its volume and the gaps decide how much weight a reading gets, and the 16 characteristics, above all barrier proximity, decide the rest.</a:t>
            </a:r>
          </a:p>
          <a:p>
            <a:pPr algn="l">
              <a:lnSpc>
                <a:spcPct val="118000"/>
              </a:lnSpc>
              <a:spcBef>
                <a:spcPts val="0"/>
              </a:spcBef>
              <a:spcAft>
                <a:spcPts val="1300"/>
              </a:spcAft>
            </a:pPr>
            <a:r>
              <a:rPr sz="2100" b="0" i="0">
                <a:solidFill>
                  <a:srgbClr val="1A1A1A"/>
                </a:solidFill>
                <a:latin typeface="Arial"/>
              </a:rPr>
              <a:t>Part 3 starts with the first form we drew, the key reversal bar, now on the book's real charts.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218.</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65</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800" b="0" i="0">
                <a:solidFill>
                  <a:srgbClr val="1A1A1A"/>
                </a:solidFill>
                <a:latin typeface="Arial"/>
              </a:rPr>
              <a:t>With simple invented prices: yesterday's low was 41.00 and its close 41.50. Today it falls to a new low of 40.50 </a:t>
            </a:r>
            <a:r>
              <a:rPr sz="1800" b="1" i="0">
                <a:solidFill>
                  <a:srgbClr val="E09B00"/>
                </a:solidFill>
                <a:latin typeface="Arial"/>
              </a:rPr>
              <a:t>(1)</a:t>
            </a:r>
            <a:r>
              <a:rPr sz="1800" b="0" i="0">
                <a:solidFill>
                  <a:srgbClr val="1A1A1A"/>
                </a:solidFill>
                <a:latin typeface="Arial"/>
              </a:rPr>
              <a:t>, then closes at 43.20 </a:t>
            </a:r>
            <a:r>
              <a:rPr sz="1800" b="1" i="0">
                <a:solidFill>
                  <a:srgbClr val="C62828"/>
                </a:solidFill>
                <a:latin typeface="Arial"/>
              </a:rPr>
              <a:t>(2)</a:t>
            </a:r>
            <a:r>
              <a:rPr sz="1800" b="0" i="0">
                <a:solidFill>
                  <a:srgbClr val="1A1A1A"/>
                </a:solidFill>
                <a:latin typeface="Arial"/>
              </a:rPr>
              <a:t>, above yesterday's close of 41.50, on 4.0 million shares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In Lim's chart price then rebounds rapidly, but that is not a promise (p. 218).</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217919" y="1810512"/>
            <a:ext cx="5653735" cy="34517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336791" y="1929384"/>
            <a:ext cx="5415991" cy="321405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541599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11111" y="2203703"/>
            <a:ext cx="4867351" cy="275685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692748" y="4066730"/>
            <a:ext cx="189559" cy="160702"/>
          </a:xfrm>
          <a:prstGeom prst="ellipse">
            <a:avLst/>
          </a:prstGeom>
          <a:noFill/>
          <a:ln w="44450">
            <a:solidFill>
              <a:srgbClr val="E09B00"/>
            </a:solidFill>
          </a:ln>
        </p:spPr>
        <p:txBody>
          <a:bodyPr rtlCol="0" anchor="ctr"/>
          <a:lstStyle/>
          <a:p>
            <a:pPr algn="ctr"/>
          </a:p>
        </p:txBody>
      </p:sp>
      <p:sp>
        <p:nvSpPr>
          <p:cNvPr id="14" name="Oval 13"/>
          <p:cNvSpPr/>
          <p:nvPr/>
        </p:nvSpPr>
        <p:spPr>
          <a:xfrm>
            <a:off x="8746907" y="3873887"/>
            <a:ext cx="178727" cy="160702"/>
          </a:xfrm>
          <a:prstGeom prst="ellipse">
            <a:avLst/>
          </a:prstGeom>
          <a:noFill/>
          <a:ln w="44450">
            <a:solidFill>
              <a:srgbClr val="C62828"/>
            </a:solidFill>
          </a:ln>
        </p:spPr>
        <p:txBody>
          <a:bodyPr rtlCol="0" anchor="ctr"/>
          <a:lstStyle/>
          <a:p>
            <a:pPr algn="ctr"/>
          </a:p>
        </p:txBody>
      </p:sp>
      <p:sp>
        <p:nvSpPr>
          <p:cNvPr id="15" name="Oval 14"/>
          <p:cNvSpPr/>
          <p:nvPr/>
        </p:nvSpPr>
        <p:spPr>
          <a:xfrm>
            <a:off x="8708996" y="4323854"/>
            <a:ext cx="162479" cy="771373"/>
          </a:xfrm>
          <a:prstGeom prst="ellipse">
            <a:avLst/>
          </a:prstGeom>
          <a:noFill/>
          <a:ln w="44450">
            <a:solidFill>
              <a:srgbClr val="1F5FAD"/>
            </a:solidFill>
          </a:ln>
        </p:spPr>
        <p:txBody>
          <a:bodyPr rtlCol="0" anchor="ctr"/>
          <a:lstStyle/>
          <a:p>
            <a:pPr algn="ctr"/>
          </a:p>
        </p:txBody>
      </p:sp>
      <p:sp>
        <p:nvSpPr>
          <p:cNvPr id="16" name="Oval 15"/>
          <p:cNvSpPr/>
          <p:nvPr/>
        </p:nvSpPr>
        <p:spPr>
          <a:xfrm>
            <a:off x="8447620" y="406949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35059" y="37320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935059" y="439089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217919" y="5353750"/>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previous bar's high. Red </a:t>
            </a:r>
            <a:r>
              <a:rPr sz="1700" b="1" i="0">
                <a:solidFill>
                  <a:srgbClr val="C62828"/>
                </a:solidFill>
                <a:latin typeface="Arial"/>
              </a:rPr>
              <a:t>(2)</a:t>
            </a:r>
            <a:r>
              <a:rPr sz="1700" b="0" i="0">
                <a:solidFill>
                  <a:srgbClr val="1A1A1A"/>
                </a:solidFill>
                <a:latin typeface="Arial"/>
              </a:rPr>
              <a:t> marks the key reversal day's higher high. Blue </a:t>
            </a:r>
            <a:r>
              <a:rPr sz="1700" b="1" i="0">
                <a:solidFill>
                  <a:srgbClr val="1F5FAD"/>
                </a:solidFill>
                <a:latin typeface="Arial"/>
              </a:rPr>
              <a:t>(3)</a:t>
            </a:r>
            <a:r>
              <a:rPr sz="1700" b="0" i="0">
                <a:solidFill>
                  <a:srgbClr val="1A1A1A"/>
                </a:solidFill>
                <a:latin typeface="Arial"/>
              </a:rPr>
              <a:t> marks its close, below the previous close. Purple </a:t>
            </a:r>
            <a:r>
              <a:rPr sz="1700" b="1" i="0">
                <a:solidFill>
                  <a:srgbClr val="7B3FA0"/>
                </a:solidFill>
                <a:latin typeface="Arial"/>
              </a:rPr>
              <a:t>(4)</a:t>
            </a:r>
            <a:r>
              <a:rPr sz="1700" b="0" i="0">
                <a:solidFill>
                  <a:srgbClr val="1A1A1A"/>
                </a:solidFill>
                <a:latin typeface="Arial"/>
              </a:rPr>
              <a:t>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14352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240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240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3672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21626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30314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34658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9228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77987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65560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71033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10827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035040" y="5650991"/>
            <a:ext cx="592805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218).</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2000" b="0" i="0">
                <a:solidFill>
                  <a:srgbClr val="1A1A1A"/>
                </a:solidFill>
                <a:latin typeface="Arial"/>
              </a:rPr>
              <a:t>Lim's Figure 7.15 shows the market hovering near the key bar </a:t>
            </a:r>
            <a:r>
              <a:rPr sz="2000" b="1" i="0">
                <a:solidFill>
                  <a:srgbClr val="E09B00"/>
                </a:solidFill>
                <a:latin typeface="Arial"/>
              </a:rPr>
              <a:t>(1)</a:t>
            </a:r>
            <a:r>
              <a:rPr sz="2000" b="0" i="0">
                <a:solidFill>
                  <a:srgbClr val="1A1A1A"/>
                </a:solidFill>
                <a:latin typeface="Arial"/>
              </a:rPr>
              <a:t> before the later decline </a:t>
            </a:r>
            <a:r>
              <a:rPr sz="2000" b="1" i="0">
                <a:solidFill>
                  <a:srgbClr val="C62828"/>
                </a:solidFill>
                <a:latin typeface="Arial"/>
              </a:rPr>
              <a:t>(2)</a:t>
            </a:r>
            <a:r>
              <a:rPr sz="2000" b="0" i="0">
                <a:solidFill>
                  <a:srgbClr val="1A1A1A"/>
                </a:solidFill>
                <a:latin typeface="Arial"/>
              </a:rPr>
              <a:t> (p. 218).</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wide bar may make follow-through more reliable, but it does not guarantee it.</a:t>
            </a:r>
          </a:p>
        </p:txBody>
      </p:sp>
      <p:sp>
        <p:nvSpPr>
          <p:cNvPr id="10" name="Rectangle 9"/>
          <p:cNvSpPr/>
          <p:nvPr/>
        </p:nvSpPr>
        <p:spPr>
          <a:xfrm>
            <a:off x="6611718" y="1810512"/>
            <a:ext cx="486613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30590" y="1929384"/>
            <a:ext cx="462839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30590" y="1929384"/>
            <a:ext cx="46283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04910" y="2203703"/>
            <a:ext cx="407975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8981378" y="2302985"/>
            <a:ext cx="760908" cy="672413"/>
          </a:xfrm>
          <a:prstGeom prst="rect">
            <a:avLst/>
          </a:prstGeom>
          <a:noFill/>
          <a:ln w="44450">
            <a:solidFill>
              <a:srgbClr val="E09B00"/>
            </a:solidFill>
          </a:ln>
        </p:spPr>
        <p:txBody>
          <a:bodyPr rtlCol="0" anchor="ctr"/>
          <a:lstStyle/>
          <a:p>
            <a:pPr algn="ctr"/>
          </a:p>
        </p:txBody>
      </p:sp>
      <p:sp>
        <p:nvSpPr>
          <p:cNvPr id="15" name="Rectangle 14"/>
          <p:cNvSpPr/>
          <p:nvPr/>
        </p:nvSpPr>
        <p:spPr>
          <a:xfrm>
            <a:off x="9805695" y="2414996"/>
            <a:ext cx="602154" cy="1531627"/>
          </a:xfrm>
          <a:prstGeom prst="rect">
            <a:avLst/>
          </a:prstGeom>
          <a:noFill/>
          <a:ln w="44450">
            <a:solidFill>
              <a:srgbClr val="C62828"/>
            </a:solidFill>
          </a:ln>
        </p:spPr>
        <p:txBody>
          <a:bodyPr rtlCol="0" anchor="ctr"/>
          <a:lstStyle/>
          <a:p>
            <a:pPr algn="ctr"/>
          </a:p>
        </p:txBody>
      </p:sp>
      <p:sp>
        <p:nvSpPr>
          <p:cNvPr id="16" name="Oval 15"/>
          <p:cNvSpPr/>
          <p:nvPr/>
        </p:nvSpPr>
        <p:spPr>
          <a:xfrm>
            <a:off x="9156759" y="20812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88348" y="33512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7.15. The crop and marks are for teaching.</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Here is the bullish key reversal on the book's chart. Gold </a:t>
            </a:r>
            <a:r>
              <a:rPr sz="1700" b="1" i="0">
                <a:solidFill>
                  <a:srgbClr val="E09B00"/>
                </a:solidFill>
                <a:latin typeface="Arial"/>
              </a:rPr>
              <a:t>(1)</a:t>
            </a:r>
            <a:r>
              <a:rPr sz="1700" b="0" i="0">
                <a:solidFill>
                  <a:srgbClr val="1A1A1A"/>
                </a:solidFill>
                <a:latin typeface="Arial"/>
              </a:rPr>
              <a:t> marks the day's new low, red </a:t>
            </a:r>
            <a:r>
              <a:rPr sz="1700" b="1" i="0">
                <a:solidFill>
                  <a:srgbClr val="C62828"/>
                </a:solidFill>
                <a:latin typeface="Arial"/>
              </a:rPr>
              <a:t>(2)</a:t>
            </a:r>
            <a:r>
              <a:rPr sz="1700" b="0" i="0">
                <a:solidFill>
                  <a:srgbClr val="1A1A1A"/>
                </a:solidFill>
                <a:latin typeface="Arial"/>
              </a:rPr>
              <a:t> its close above the previous close, and blue </a:t>
            </a:r>
            <a:r>
              <a:rPr sz="1700" b="1" i="0">
                <a:solidFill>
                  <a:srgbClr val="1F5FAD"/>
                </a:solidFill>
                <a:latin typeface="Arial"/>
              </a:rPr>
              <a:t>(3)</a:t>
            </a:r>
            <a:r>
              <a:rPr sz="1700" b="0" i="0">
                <a:solidFill>
                  <a:srgbClr val="1A1A1A"/>
                </a:solidFill>
                <a:latin typeface="Arial"/>
              </a:rPr>
              <a:t> the high volume beneath it. After that bar, price rebounds rapidly.</a:t>
            </a:r>
          </a:p>
          <a:p>
            <a:pPr algn="l">
              <a:lnSpc>
                <a:spcPct val="105000"/>
              </a:lnSpc>
              <a:spcBef>
                <a:spcPts val="0"/>
              </a:spcBef>
              <a:spcAft>
                <a:spcPts val="1100"/>
              </a:spcAft>
            </a:pPr>
            <a:r>
              <a:rPr sz="17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1700" b="0" i="0">
                <a:solidFill>
                  <a:srgbClr val="1A1A1A"/>
                </a:solidFill>
                <a:latin typeface="Arial"/>
              </a:rPr>
              <a:t>A reversal warns about changing pressure; timing belongs to later price action.</a:t>
            </a:r>
          </a:p>
        </p:txBody>
      </p:sp>
      <p:sp>
        <p:nvSpPr>
          <p:cNvPr id="8" name="Rectangle 7"/>
          <p:cNvSpPr/>
          <p:nvPr/>
        </p:nvSpPr>
        <p:spPr>
          <a:xfrm>
            <a:off x="5303519" y="1810512"/>
            <a:ext cx="6110935" cy="37231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4853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30281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7977230" y="4247157"/>
            <a:ext cx="205561" cy="174268"/>
          </a:xfrm>
          <a:prstGeom prst="ellipse">
            <a:avLst/>
          </a:prstGeom>
          <a:noFill/>
          <a:ln w="44450">
            <a:solidFill>
              <a:srgbClr val="E09B00"/>
            </a:solidFill>
          </a:ln>
        </p:spPr>
        <p:txBody>
          <a:bodyPr rtlCol="0" anchor="ctr"/>
          <a:lstStyle/>
          <a:p>
            <a:pPr algn="ctr"/>
          </a:p>
        </p:txBody>
      </p:sp>
      <p:sp>
        <p:nvSpPr>
          <p:cNvPr id="13" name="Oval 12"/>
          <p:cNvSpPr/>
          <p:nvPr/>
        </p:nvSpPr>
        <p:spPr>
          <a:xfrm>
            <a:off x="8035961" y="4038035"/>
            <a:ext cx="193815" cy="174268"/>
          </a:xfrm>
          <a:prstGeom prst="ellipse">
            <a:avLst/>
          </a:prstGeom>
          <a:noFill/>
          <a:ln w="44450">
            <a:solidFill>
              <a:srgbClr val="C62828"/>
            </a:solidFill>
          </a:ln>
        </p:spPr>
        <p:txBody>
          <a:bodyPr rtlCol="0" anchor="ctr"/>
          <a:lstStyle/>
          <a:p>
            <a:pPr algn="ctr"/>
          </a:p>
        </p:txBody>
      </p:sp>
      <p:sp>
        <p:nvSpPr>
          <p:cNvPr id="14" name="Oval 13"/>
          <p:cNvSpPr/>
          <p:nvPr/>
        </p:nvSpPr>
        <p:spPr>
          <a:xfrm>
            <a:off x="7994849" y="4525987"/>
            <a:ext cx="176195" cy="836489"/>
          </a:xfrm>
          <a:prstGeom prst="ellipse">
            <a:avLst/>
          </a:prstGeom>
          <a:noFill/>
          <a:ln w="44450">
            <a:solidFill>
              <a:srgbClr val="1F5FAD"/>
            </a:solidFill>
          </a:ln>
        </p:spPr>
        <p:txBody>
          <a:bodyPr rtlCol="0" anchor="ctr"/>
          <a:lstStyle/>
          <a:p>
            <a:pPr algn="ctr"/>
          </a:p>
        </p:txBody>
      </p:sp>
      <p:sp>
        <p:nvSpPr>
          <p:cNvPr id="15" name="Oval 14"/>
          <p:cNvSpPr/>
          <p:nvPr/>
        </p:nvSpPr>
        <p:spPr>
          <a:xfrm>
            <a:off x="7720672" y="425941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249259" y="38934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249259" y="460795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250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crop and marks are for teaching.</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7.16 shows a bullish key reversal with some of the 16 reversal characteristics around it (p. 219).</a:t>
            </a:r>
          </a:p>
          <a:p>
            <a:pPr algn="l">
              <a:lnSpc>
                <a:spcPct val="105000"/>
              </a:lnSpc>
              <a:spcBef>
                <a:spcPts val="0"/>
              </a:spcBef>
              <a:spcAft>
                <a:spcPts val="1100"/>
              </a:spcAft>
            </a:pPr>
            <a:r>
              <a:rPr sz="1700" b="0" i="0">
                <a:solidFill>
                  <a:srgbClr val="1A1A1A"/>
                </a:solidFill>
                <a:latin typeface="Arial"/>
              </a:rPr>
              <a:t>The bar forms below the lower Bollinger band </a:t>
            </a:r>
            <a:r>
              <a:rPr sz="1700" b="1" i="0">
                <a:solidFill>
                  <a:srgbClr val="E09B00"/>
                </a:solidFill>
                <a:latin typeface="Arial"/>
              </a:rPr>
              <a:t>(1)</a:t>
            </a:r>
            <a:r>
              <a:rPr sz="1700" b="0" i="0">
                <a:solidFill>
                  <a:srgbClr val="1A1A1A"/>
                </a:solidFill>
                <a:latin typeface="Arial"/>
              </a:rPr>
              <a:t>, which Lim reads as an overextended or oversold condition. It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book draws Bollinger Bands but does not teach them in this chapter, so we read the band as a label, not a formula.</a:t>
            </a:r>
          </a:p>
        </p:txBody>
      </p:sp>
      <p:sp>
        <p:nvSpPr>
          <p:cNvPr id="8" name="Rectangle 7"/>
          <p:cNvSpPr/>
          <p:nvPr/>
        </p:nvSpPr>
        <p:spPr>
          <a:xfrm>
            <a:off x="5303519" y="1810512"/>
            <a:ext cx="6751015" cy="333744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09970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4250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price panel: the bullish key reversal bar forms below the lower Bollinger band and closes near its high.</a:t>
            </a:r>
          </a:p>
        </p:txBody>
      </p:sp>
      <p:sp>
        <p:nvSpPr>
          <p:cNvPr id="12" name="Oval 11"/>
          <p:cNvSpPr/>
          <p:nvPr/>
        </p:nvSpPr>
        <p:spPr>
          <a:xfrm>
            <a:off x="9402651" y="4330414"/>
            <a:ext cx="316544" cy="654967"/>
          </a:xfrm>
          <a:prstGeom prst="ellipse">
            <a:avLst/>
          </a:prstGeom>
          <a:noFill/>
          <a:ln w="44450">
            <a:solidFill>
              <a:srgbClr val="E09B00"/>
            </a:solidFill>
          </a:ln>
        </p:spPr>
        <p:txBody>
          <a:bodyPr rtlCol="0" anchor="ctr"/>
          <a:lstStyle/>
          <a:p>
            <a:pPr algn="ctr"/>
          </a:p>
        </p:txBody>
      </p:sp>
      <p:sp>
        <p:nvSpPr>
          <p:cNvPr id="13" name="Oval 12"/>
          <p:cNvSpPr/>
          <p:nvPr/>
        </p:nvSpPr>
        <p:spPr>
          <a:xfrm>
            <a:off x="9448244" y="3500933"/>
            <a:ext cx="270952" cy="436748"/>
          </a:xfrm>
          <a:prstGeom prst="ellipse">
            <a:avLst/>
          </a:prstGeom>
          <a:noFill/>
          <a:ln w="44450">
            <a:solidFill>
              <a:srgbClr val="C62828"/>
            </a:solidFill>
          </a:ln>
        </p:spPr>
        <p:txBody>
          <a:bodyPr rtlCol="0" anchor="ctr"/>
          <a:lstStyle/>
          <a:p>
            <a:pPr algn="ctr"/>
          </a:p>
        </p:txBody>
      </p:sp>
      <p:sp>
        <p:nvSpPr>
          <p:cNvPr id="14" name="Oval 13"/>
          <p:cNvSpPr/>
          <p:nvPr/>
        </p:nvSpPr>
        <p:spPr>
          <a:xfrm>
            <a:off x="9926013" y="461372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428399" y="323405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239399"/>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StochRSI and volume add to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lower panels of the same figure add two more warnings. StochRSI is at oversold </a:t>
            </a:r>
            <a:r>
              <a:rPr sz="1900" b="1" i="0">
                <a:solidFill>
                  <a:srgbClr val="1F5FAD"/>
                </a:solidFill>
                <a:latin typeface="Arial"/>
              </a:rPr>
              <a:t>(3)</a:t>
            </a:r>
            <a:r>
              <a:rPr sz="1900" b="0" i="0">
                <a:solidFill>
                  <a:srgbClr val="1A1A1A"/>
                </a:solidFill>
                <a:latin typeface="Arial"/>
              </a:rPr>
              <a:t>, and the key reversal bar trades on extreme volume </a:t>
            </a:r>
            <a:r>
              <a:rPr sz="1900" b="1" i="0">
                <a:solidFill>
                  <a:srgbClr val="7B3FA0"/>
                </a:solidFill>
                <a:latin typeface="Arial"/>
              </a:rPr>
              <a:t>(4)</a:t>
            </a:r>
            <a:r>
              <a:rPr sz="1900" b="0" i="0">
                <a:solidFill>
                  <a:srgbClr val="1A1A1A"/>
                </a:solidFill>
                <a:latin typeface="Arial"/>
              </a:rPr>
              <a:t> (p. 219).</a:t>
            </a:r>
          </a:p>
          <a:p>
            <a:pPr algn="l">
              <a:lnSpc>
                <a:spcPct val="105000"/>
              </a:lnSpc>
              <a:spcBef>
                <a:spcPts val="0"/>
              </a:spcBef>
              <a:spcAft>
                <a:spcPts val="1100"/>
              </a:spcAft>
            </a:pPr>
            <a:r>
              <a:rPr sz="1900" b="0" i="0">
                <a:solidFill>
                  <a:srgbClr val="1A1A1A"/>
                </a:solidFill>
                <a:latin typeface="Arial"/>
              </a:rPr>
              <a:t>Lim says these conditions point to a greater potential for a bullish reversal, and a close near the high on extreme volume suggests a selling climax (p. 219).</a:t>
            </a:r>
          </a:p>
        </p:txBody>
      </p:sp>
      <p:sp>
        <p:nvSpPr>
          <p:cNvPr id="8" name="Rectangle 7"/>
          <p:cNvSpPr/>
          <p:nvPr/>
        </p:nvSpPr>
        <p:spPr>
          <a:xfrm>
            <a:off x="5303519" y="1810512"/>
            <a:ext cx="6751015" cy="362668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38893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9317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StochRSI and volume panels: StochRSI is oversold and the key reversal bar has extreme volume.</a:t>
            </a:r>
          </a:p>
        </p:txBody>
      </p:sp>
      <p:sp>
        <p:nvSpPr>
          <p:cNvPr id="12" name="Oval 11"/>
          <p:cNvSpPr/>
          <p:nvPr/>
        </p:nvSpPr>
        <p:spPr>
          <a:xfrm>
            <a:off x="8577420" y="3108056"/>
            <a:ext cx="814158" cy="618819"/>
          </a:xfrm>
          <a:prstGeom prst="ellipse">
            <a:avLst/>
          </a:prstGeom>
          <a:noFill/>
          <a:ln w="44450">
            <a:solidFill>
              <a:srgbClr val="1F5FAD"/>
            </a:solidFill>
          </a:ln>
        </p:spPr>
        <p:txBody>
          <a:bodyPr rtlCol="0" anchor="ctr"/>
          <a:lstStyle/>
          <a:p>
            <a:pPr algn="ctr"/>
          </a:p>
        </p:txBody>
      </p:sp>
      <p:sp>
        <p:nvSpPr>
          <p:cNvPr id="13" name="Oval 12"/>
          <p:cNvSpPr/>
          <p:nvPr/>
        </p:nvSpPr>
        <p:spPr>
          <a:xfrm>
            <a:off x="9086106" y="3795671"/>
            <a:ext cx="305472" cy="1502993"/>
          </a:xfrm>
          <a:prstGeom prst="ellipse">
            <a:avLst/>
          </a:prstGeom>
          <a:noFill/>
          <a:ln w="44450">
            <a:solidFill>
              <a:srgbClr val="7B3FA0"/>
            </a:solidFill>
          </a:ln>
        </p:spPr>
        <p:txBody>
          <a:bodyPr rtlCol="0" anchor="ctr"/>
          <a:lstStyle/>
          <a:p>
            <a:pPr algn="ctr"/>
          </a:p>
        </p:txBody>
      </p:sp>
      <p:sp>
        <p:nvSpPr>
          <p:cNvPr id="14" name="Oval 13"/>
          <p:cNvSpPr/>
          <p:nvPr/>
        </p:nvSpPr>
        <p:spPr>
          <a:xfrm>
            <a:off x="8162220" y="324402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9485065" y="334230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TextBox 15"/>
          <p:cNvSpPr txBox="1"/>
          <p:nvPr/>
        </p:nvSpPr>
        <p:spPr>
          <a:xfrm>
            <a:off x="5303519" y="552863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219).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65</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65</a:t>
            </a:r>
          </a:p>
        </p:txBody>
      </p:sp>
      <p:sp>
        <p:nvSpPr>
          <p:cNvPr id="7" name="TextBox 6"/>
          <p:cNvSpPr txBox="1"/>
          <p:nvPr/>
        </p:nvSpPr>
        <p:spPr>
          <a:xfrm>
            <a:off x="777240" y="1965960"/>
            <a:ext cx="3566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first close near its high, and red </a:t>
            </a:r>
            <a:r>
              <a:rPr sz="1700" b="1" i="0">
                <a:solidFill>
                  <a:srgbClr val="C62828"/>
                </a:solidFill>
                <a:latin typeface="Arial"/>
              </a:rPr>
              <a:t>(2)</a:t>
            </a:r>
            <a:r>
              <a:rPr sz="1700" b="0" i="0">
                <a:solidFill>
                  <a:srgbClr val="1A1A1A"/>
                </a:solidFill>
                <a:latin typeface="Arial"/>
              </a:rPr>
              <a:t> the second close near its low.</a:t>
            </a:r>
          </a:p>
          <a:p>
            <a:pPr algn="l">
              <a:lnSpc>
                <a:spcPct val="105000"/>
              </a:lnSpc>
              <a:spcBef>
                <a:spcPts val="0"/>
              </a:spcBef>
              <a:spcAft>
                <a:spcPts val="1100"/>
              </a:spcAft>
            </a:pPr>
            <a:r>
              <a:rPr sz="1700" b="0" i="0">
                <a:solidFill>
                  <a:srgbClr val="1A1A1A"/>
                </a:solidFill>
                <a:latin typeface="Arial"/>
              </a:rPr>
              <a:t>The book says wider ranges would be preferable and labels bearish divergence with the commodity channel index (CCI) oscillator </a:t>
            </a:r>
            <a:r>
              <a:rPr sz="1700" b="1" i="0">
                <a:solidFill>
                  <a:srgbClr val="1F5FAD"/>
                </a:solidFill>
                <a:latin typeface="Arial"/>
              </a:rPr>
              <a:t>(3)</a:t>
            </a:r>
            <a:r>
              <a:rPr sz="1700" b="0" i="0">
                <a:solidFill>
                  <a:srgbClr val="1A1A1A"/>
                </a:solidFill>
                <a:latin typeface="Arial"/>
              </a:rPr>
              <a:t> (p. 221).</a:t>
            </a:r>
          </a:p>
          <a:p>
            <a:pPr algn="l">
              <a:lnSpc>
                <a:spcPct val="105000"/>
              </a:lnSpc>
              <a:spcBef>
                <a:spcPts val="0"/>
              </a:spcBef>
              <a:spcAft>
                <a:spcPts val="1100"/>
              </a:spcAft>
            </a:pPr>
            <a:r>
              <a:rPr sz="1700" b="0" i="0">
                <a:solidFill>
                  <a:srgbClr val="1A1A1A"/>
                </a:solidFill>
                <a:latin typeface="Arial"/>
              </a:rPr>
              <a:t>CCI is not defined in Chapter 7. Treat it as the book's supporting label, not a formula to calculate.</a:t>
            </a:r>
          </a:p>
        </p:txBody>
      </p:sp>
      <p:sp>
        <p:nvSpPr>
          <p:cNvPr id="8" name="Rectangle 7"/>
          <p:cNvSpPr/>
          <p:nvPr/>
        </p:nvSpPr>
        <p:spPr>
          <a:xfrm>
            <a:off x="5647027" y="1810512"/>
            <a:ext cx="551536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65899" y="1929384"/>
            <a:ext cx="527761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65899" y="1929384"/>
            <a:ext cx="527761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40219" y="2203703"/>
            <a:ext cx="472897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2" name="Oval 11"/>
          <p:cNvSpPr/>
          <p:nvPr/>
        </p:nvSpPr>
        <p:spPr>
          <a:xfrm>
            <a:off x="7813614" y="2140061"/>
            <a:ext cx="147773" cy="298460"/>
          </a:xfrm>
          <a:prstGeom prst="ellipse">
            <a:avLst/>
          </a:prstGeom>
          <a:noFill/>
          <a:ln w="44450">
            <a:solidFill>
              <a:srgbClr val="E09B00"/>
            </a:solidFill>
          </a:ln>
        </p:spPr>
        <p:txBody>
          <a:bodyPr rtlCol="0" anchor="ctr"/>
          <a:lstStyle/>
          <a:p>
            <a:pPr algn="ctr"/>
          </a:p>
        </p:txBody>
      </p:sp>
      <p:sp>
        <p:nvSpPr>
          <p:cNvPr id="13" name="Oval 12"/>
          <p:cNvSpPr/>
          <p:nvPr/>
        </p:nvSpPr>
        <p:spPr>
          <a:xfrm>
            <a:off x="7940277" y="2491191"/>
            <a:ext cx="147773" cy="298460"/>
          </a:xfrm>
          <a:prstGeom prst="ellipse">
            <a:avLst/>
          </a:prstGeom>
          <a:noFill/>
          <a:ln w="44450">
            <a:solidFill>
              <a:srgbClr val="C62828"/>
            </a:solidFill>
          </a:ln>
        </p:spPr>
        <p:txBody>
          <a:bodyPr rtlCol="0" anchor="ctr"/>
          <a:lstStyle/>
          <a:p>
            <a:pPr algn="ctr"/>
          </a:p>
        </p:txBody>
      </p:sp>
      <p:sp>
        <p:nvSpPr>
          <p:cNvPr id="14" name="Oval 13"/>
          <p:cNvSpPr/>
          <p:nvPr/>
        </p:nvSpPr>
        <p:spPr>
          <a:xfrm>
            <a:off x="7792503" y="5089550"/>
            <a:ext cx="364155" cy="316016"/>
          </a:xfrm>
          <a:prstGeom prst="ellipse">
            <a:avLst/>
          </a:prstGeom>
          <a:noFill/>
          <a:ln w="44450">
            <a:solidFill>
              <a:srgbClr val="1F5FAD"/>
            </a:solidFill>
          </a:ln>
        </p:spPr>
        <p:txBody>
          <a:bodyPr rtlCol="0" anchor="ctr"/>
          <a:lstStyle/>
          <a:p>
            <a:pPr algn="ctr"/>
          </a:p>
        </p:txBody>
      </p:sp>
      <p:sp>
        <p:nvSpPr>
          <p:cNvPr id="15" name="Oval 14"/>
          <p:cNvSpPr/>
          <p:nvPr/>
        </p:nvSpPr>
        <p:spPr>
          <a:xfrm>
            <a:off x="7239456" y="19952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14441"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239456" y="508516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663440" y="5650991"/>
            <a:ext cx="7482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221, Figure 7.17. The CCI label is reproduced as the book's observation, not taught as a formula.</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bearish three-bar reversal with simple prices. Bar 1 runs from PHP 49.00 to PHP 52.20 and closes near its high, at PHP 52.00 </a:t>
            </a:r>
            <a:r>
              <a:rPr sz="1700" b="1" i="0">
                <a:solidFill>
                  <a:srgbClr val="E09B00"/>
                </a:solidFill>
                <a:latin typeface="Arial"/>
              </a:rPr>
              <a:t>(1)</a:t>
            </a:r>
            <a:r>
              <a:rPr sz="1700" b="0" i="0">
                <a:solidFill>
                  <a:srgbClr val="1A1A1A"/>
                </a:solidFill>
                <a:latin typeface="Arial"/>
              </a:rPr>
              <a:t>. Bar 2 is small: it stays between PHP 51.40 and PHP 52.40 and closes at PHP 51.70 </a:t>
            </a:r>
            <a:r>
              <a:rPr sz="1700" b="1" i="0">
                <a:solidFill>
                  <a:srgbClr val="C62828"/>
                </a:solidFill>
                <a:latin typeface="Arial"/>
              </a:rPr>
              <a:t>(2)</a:t>
            </a:r>
            <a:r>
              <a:rPr sz="1700" b="0" i="0">
                <a:solidFill>
                  <a:srgbClr val="1A1A1A"/>
                </a:solidFill>
                <a:latin typeface="Arial"/>
              </a:rPr>
              <a:t>. Bar 3 falls from PHP 52.10 to PHP 48.70 and closes near its low, at PHP 48.80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8850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54599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90622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03691" y="3445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892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74944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65</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first close near the high and a third close near the low is the pattern Lim describes (p. 221).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8850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54599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90622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03691" y="3445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892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74944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65</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 mark the first, middle and third price bars. Purple </a:t>
            </a:r>
            <a:r>
              <a:rPr sz="1700" b="1" i="0">
                <a:solidFill>
                  <a:srgbClr val="7B3FA0"/>
                </a:solidFill>
                <a:latin typeface="Arial"/>
              </a:rPr>
              <a:t>(4)</a:t>
            </a:r>
            <a:r>
              <a:rPr sz="1700" b="0" i="0">
                <a:solidFill>
                  <a:srgbClr val="1A1A1A"/>
                </a:solidFill>
                <a:latin typeface="Arial"/>
              </a:rPr>
              <a:t> marks bearish +DM divergence, a book label not defined here.</a:t>
            </a:r>
          </a:p>
          <a:p>
            <a:pPr algn="l">
              <a:lnSpc>
                <a:spcPct val="105000"/>
              </a:lnSpc>
              <a:spcBef>
                <a:spcPts val="0"/>
              </a:spcBef>
              <a:spcAft>
                <a:spcPts val="1100"/>
              </a:spcAft>
            </a:pPr>
            <a:r>
              <a:rPr sz="1700" b="0" i="0">
                <a:solidFill>
                  <a:srgbClr val="1A1A1A"/>
                </a:solidFill>
                <a:latin typeface="Arial"/>
              </a:rPr>
              <a:t>The pattern can warn of changing pressure; the later decline is not guaranteed (p. 221).</a:t>
            </a:r>
          </a:p>
        </p:txBody>
      </p:sp>
      <p:sp>
        <p:nvSpPr>
          <p:cNvPr id="8" name="Rectangle 7"/>
          <p:cNvSpPr/>
          <p:nvPr/>
        </p:nvSpPr>
        <p:spPr>
          <a:xfrm>
            <a:off x="61022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211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211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954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9740843" y="2333183"/>
            <a:ext cx="73737" cy="438911"/>
          </a:xfrm>
          <a:prstGeom prst="rect">
            <a:avLst/>
          </a:prstGeom>
          <a:noFill/>
          <a:ln w="44450">
            <a:solidFill>
              <a:srgbClr val="E09B00"/>
            </a:solidFill>
          </a:ln>
        </p:spPr>
        <p:txBody>
          <a:bodyPr rtlCol="0" anchor="ctr"/>
          <a:lstStyle/>
          <a:p>
            <a:pPr algn="ctr"/>
          </a:p>
        </p:txBody>
      </p:sp>
      <p:sp>
        <p:nvSpPr>
          <p:cNvPr id="13" name="Rectangle 12"/>
          <p:cNvSpPr/>
          <p:nvPr/>
        </p:nvSpPr>
        <p:spPr>
          <a:xfrm>
            <a:off x="9819496" y="2333183"/>
            <a:ext cx="73737" cy="438911"/>
          </a:xfrm>
          <a:prstGeom prst="rect">
            <a:avLst/>
          </a:prstGeom>
          <a:noFill/>
          <a:ln w="44450">
            <a:solidFill>
              <a:srgbClr val="C62828"/>
            </a:solidFill>
          </a:ln>
        </p:spPr>
        <p:txBody>
          <a:bodyPr rtlCol="0" anchor="ctr"/>
          <a:lstStyle/>
          <a:p>
            <a:pPr algn="ctr"/>
          </a:p>
        </p:txBody>
      </p:sp>
      <p:sp>
        <p:nvSpPr>
          <p:cNvPr id="14" name="Rectangle 13"/>
          <p:cNvSpPr/>
          <p:nvPr/>
        </p:nvSpPr>
        <p:spPr>
          <a:xfrm>
            <a:off x="9898149" y="2333183"/>
            <a:ext cx="68821" cy="438911"/>
          </a:xfrm>
          <a:prstGeom prst="rect">
            <a:avLst/>
          </a:prstGeom>
          <a:noFill/>
          <a:ln w="44450">
            <a:solidFill>
              <a:srgbClr val="1F5FAD"/>
            </a:solidFill>
          </a:ln>
        </p:spPr>
        <p:txBody>
          <a:bodyPr rtlCol="0" anchor="ctr"/>
          <a:lstStyle/>
          <a:p>
            <a:pPr algn="ctr"/>
          </a:p>
        </p:txBody>
      </p:sp>
      <p:sp>
        <p:nvSpPr>
          <p:cNvPr id="15" name="Oval 14"/>
          <p:cNvSpPr/>
          <p:nvPr/>
        </p:nvSpPr>
        <p:spPr>
          <a:xfrm>
            <a:off x="96621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552462" y="283793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27883" y="308372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906401" y="308372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404987" y="4786701"/>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three-bar reversal is the converse of the bearish one, at the end of a downtrend, and Lim adds a point about volume (p. 221). With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reversal reading, but guarantees nothing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660904" y="5069694"/>
            <a:ext cx="310895" cy="316121"/>
          </a:xfrm>
          <a:prstGeom prst="rect">
            <a:avLst/>
          </a:prstGeom>
          <a:noFill/>
          <a:ln w="44450">
            <a:solidFill>
              <a:srgbClr val="E09B00"/>
            </a:solidFill>
          </a:ln>
        </p:spPr>
        <p:txBody>
          <a:bodyPr rtlCol="0" anchor="ctr"/>
          <a:lstStyle/>
          <a:p>
            <a:pPr algn="ctr"/>
          </a:p>
        </p:txBody>
      </p:sp>
      <p:sp>
        <p:nvSpPr>
          <p:cNvPr id="10" name="Rectangle 9"/>
          <p:cNvSpPr/>
          <p:nvPr/>
        </p:nvSpPr>
        <p:spPr>
          <a:xfrm>
            <a:off x="6214719" y="5291763"/>
            <a:ext cx="310895" cy="94052"/>
          </a:xfrm>
          <a:prstGeom prst="rect">
            <a:avLst/>
          </a:prstGeom>
          <a:noFill/>
          <a:ln w="44450">
            <a:solidFill>
              <a:srgbClr val="C62828"/>
            </a:solidFill>
          </a:ln>
        </p:spPr>
        <p:txBody>
          <a:bodyPr rtlCol="0" anchor="ctr"/>
          <a:lstStyle/>
          <a:p>
            <a:pPr algn="ctr"/>
          </a:p>
        </p:txBody>
      </p:sp>
      <p:sp>
        <p:nvSpPr>
          <p:cNvPr id="11" name="Rectangle 10"/>
          <p:cNvSpPr/>
          <p:nvPr/>
        </p:nvSpPr>
        <p:spPr>
          <a:xfrm>
            <a:off x="9768535" y="5056631"/>
            <a:ext cx="310895" cy="329184"/>
          </a:xfrm>
          <a:prstGeom prst="rect">
            <a:avLst/>
          </a:prstGeom>
          <a:noFill/>
          <a:ln w="44450">
            <a:solidFill>
              <a:srgbClr val="1F5FAD"/>
            </a:solidFill>
          </a:ln>
        </p:spPr>
        <p:txBody>
          <a:bodyPr rtlCol="0" anchor="ctr"/>
          <a:lstStyle/>
          <a:p>
            <a:pPr algn="ctr"/>
          </a:p>
        </p:txBody>
      </p:sp>
      <p:sp>
        <p:nvSpPr>
          <p:cNvPr id="12" name="Oval 11"/>
          <p:cNvSpPr/>
          <p:nvPr/>
        </p:nvSpPr>
        <p:spPr>
          <a:xfrm>
            <a:off x="2971800" y="509973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53631" y="52107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9431" y="5093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65</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Figure 7.19 the middle bar </a:t>
            </a:r>
            <a:r>
              <a:rPr sz="2000" b="1" i="0">
                <a:solidFill>
                  <a:srgbClr val="C62828"/>
                </a:solidFill>
                <a:latin typeface="Arial"/>
              </a:rPr>
              <a:t>(2)</a:t>
            </a:r>
            <a:r>
              <a:rPr sz="2000" b="0" i="0">
                <a:solidFill>
                  <a:srgbClr val="1A1A1A"/>
                </a:solidFill>
                <a:latin typeface="Arial"/>
              </a:rPr>
              <a:t> trades on below-average volume, while the first </a:t>
            </a:r>
            <a:r>
              <a:rPr sz="2000" b="1" i="0">
                <a:solidFill>
                  <a:srgbClr val="E09B00"/>
                </a:solidFill>
                <a:latin typeface="Arial"/>
              </a:rPr>
              <a:t>(1)</a:t>
            </a:r>
            <a:r>
              <a:rPr sz="2000" b="0" i="0">
                <a:solidFill>
                  <a:srgbClr val="1A1A1A"/>
                </a:solidFill>
                <a:latin typeface="Arial"/>
              </a:rPr>
              <a:t> and third </a:t>
            </a:r>
            <a:r>
              <a:rPr sz="2000" b="1" i="0">
                <a:solidFill>
                  <a:srgbClr val="1F5FAD"/>
                </a:solidFill>
                <a:latin typeface="Arial"/>
              </a:rPr>
              <a:t>(3)</a:t>
            </a:r>
            <a:r>
              <a:rPr sz="2000" b="0" i="0">
                <a:solidFill>
                  <a:srgbClr val="1A1A1A"/>
                </a:solidFill>
                <a:latin typeface="Arial"/>
              </a:rPr>
              <a:t> bars close on high volume (p. 221).</a:t>
            </a:r>
          </a:p>
          <a:p>
            <a:pPr algn="l">
              <a:lnSpc>
                <a:spcPct val="105000"/>
              </a:lnSpc>
              <a:spcBef>
                <a:spcPts val="0"/>
              </a:spcBef>
              <a:spcAft>
                <a:spcPts val="1100"/>
              </a:spcAft>
            </a:pPr>
            <a:r>
              <a:rPr sz="2000" b="0" i="0">
                <a:solidFill>
                  <a:srgbClr val="1A1A1A"/>
                </a:solidFill>
                <a:latin typeface="Arial"/>
              </a:rPr>
              <a:t>That is the same quiet middle between busier outer bars as our worked example. It is an observation about this chart, not a guarantee.</a:t>
            </a:r>
          </a:p>
        </p:txBody>
      </p:sp>
      <p:sp>
        <p:nvSpPr>
          <p:cNvPr id="8" name="Rectangle 7"/>
          <p:cNvSpPr/>
          <p:nvPr/>
        </p:nvSpPr>
        <p:spPr>
          <a:xfrm>
            <a:off x="5759121" y="1810512"/>
            <a:ext cx="583981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877993" y="1929384"/>
            <a:ext cx="560206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77993" y="1929384"/>
            <a:ext cx="560206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52313" y="2203703"/>
            <a:ext cx="505342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8768660" y="4190658"/>
            <a:ext cx="134449" cy="1211397"/>
          </a:xfrm>
          <a:prstGeom prst="ellipse">
            <a:avLst/>
          </a:prstGeom>
          <a:noFill/>
          <a:ln w="44450">
            <a:solidFill>
              <a:srgbClr val="E09B00"/>
            </a:solidFill>
          </a:ln>
        </p:spPr>
        <p:txBody>
          <a:bodyPr rtlCol="0" anchor="ctr"/>
          <a:lstStyle/>
          <a:p>
            <a:pPr algn="ctr"/>
          </a:p>
        </p:txBody>
      </p:sp>
      <p:sp>
        <p:nvSpPr>
          <p:cNvPr id="13" name="Oval 12"/>
          <p:cNvSpPr/>
          <p:nvPr/>
        </p:nvSpPr>
        <p:spPr>
          <a:xfrm>
            <a:off x="8925518" y="4503163"/>
            <a:ext cx="134449" cy="898891"/>
          </a:xfrm>
          <a:prstGeom prst="ellipse">
            <a:avLst/>
          </a:prstGeom>
          <a:noFill/>
          <a:ln w="44450">
            <a:solidFill>
              <a:srgbClr val="C62828"/>
            </a:solidFill>
          </a:ln>
        </p:spPr>
        <p:txBody>
          <a:bodyPr rtlCol="0" anchor="ctr"/>
          <a:lstStyle/>
          <a:p>
            <a:pPr algn="ctr"/>
          </a:p>
        </p:txBody>
      </p:sp>
      <p:sp>
        <p:nvSpPr>
          <p:cNvPr id="14" name="Oval 13"/>
          <p:cNvSpPr/>
          <p:nvPr/>
        </p:nvSpPr>
        <p:spPr>
          <a:xfrm>
            <a:off x="9082376" y="4271418"/>
            <a:ext cx="123245" cy="1130637"/>
          </a:xfrm>
          <a:prstGeom prst="ellipse">
            <a:avLst/>
          </a:prstGeom>
          <a:noFill/>
          <a:ln w="44450">
            <a:solidFill>
              <a:srgbClr val="1F5FAD"/>
            </a:solidFill>
          </a:ln>
        </p:spPr>
        <p:txBody>
          <a:bodyPr rtlCol="0" anchor="ctr"/>
          <a:lstStyle/>
          <a:p>
            <a:pPr algn="ctr"/>
          </a:p>
        </p:txBody>
      </p:sp>
      <p:sp>
        <p:nvSpPr>
          <p:cNvPr id="15" name="Oval 14"/>
          <p:cNvSpPr/>
          <p:nvPr/>
        </p:nvSpPr>
        <p:spPr>
          <a:xfrm>
            <a:off x="8502074" y="377193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70973" y="377193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9139" y="377193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7.20 shows a bullish three-bar reversal </a:t>
            </a:r>
            <a:r>
              <a:rPr sz="1900" b="1" i="0">
                <a:solidFill>
                  <a:srgbClr val="E09B00"/>
                </a:solidFill>
                <a:latin typeface="Arial"/>
              </a:rPr>
              <a:t>(1)</a:t>
            </a:r>
            <a:r>
              <a:rPr sz="1900" b="0" i="0">
                <a:solidFill>
                  <a:srgbClr val="1A1A1A"/>
                </a:solidFill>
                <a:latin typeface="Arial"/>
              </a:rPr>
              <a:t> on the daily chart of ITC Holdings (p. 222).</a:t>
            </a:r>
          </a:p>
          <a:p>
            <a:pPr algn="l">
              <a:lnSpc>
                <a:spcPct val="105000"/>
              </a:lnSpc>
              <a:spcBef>
                <a:spcPts val="0"/>
              </a:spcBef>
              <a:spcAft>
                <a:spcPts val="1100"/>
              </a:spcAft>
            </a:pPr>
            <a:r>
              <a:rPr sz="1900" b="0" i="0">
                <a:solidFill>
                  <a:srgbClr val="1A1A1A"/>
                </a:solidFill>
                <a:latin typeface="Arial"/>
              </a:rPr>
              <a:t>Lim notes that the last bar closes between the Bollinger bands </a:t>
            </a:r>
            <a:r>
              <a:rPr sz="1900" b="1" i="0">
                <a:solidFill>
                  <a:srgbClr val="C62828"/>
                </a:solidFill>
                <a:latin typeface="Arial"/>
              </a:rPr>
              <a:t>(2)</a:t>
            </a:r>
            <a:r>
              <a:rPr sz="1900" b="0" i="0">
                <a:solidFill>
                  <a:srgbClr val="1A1A1A"/>
                </a:solidFill>
                <a:latin typeface="Arial"/>
              </a:rPr>
              <a:t>, which is bullish, and that the pattern matches pattern 5 in Figure 7.9, which Part 2 called bullish triple form 5: the third bar engulfs the second (p. 222).</a:t>
            </a:r>
          </a:p>
        </p:txBody>
      </p:sp>
      <p:sp>
        <p:nvSpPr>
          <p:cNvPr id="8" name="Rectangle 7"/>
          <p:cNvSpPr/>
          <p:nvPr/>
        </p:nvSpPr>
        <p:spPr>
          <a:xfrm>
            <a:off x="5445740" y="1810512"/>
            <a:ext cx="64665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64612" y="1929384"/>
            <a:ext cx="62288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64612" y="1929384"/>
            <a:ext cx="62288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38932" y="2203703"/>
            <a:ext cx="5680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price panel: the three-bar bottom reversal and its last bar closing above the lower Bollinger band.</a:t>
            </a:r>
          </a:p>
        </p:txBody>
      </p:sp>
      <p:sp>
        <p:nvSpPr>
          <p:cNvPr id="12" name="Rectangle 11"/>
          <p:cNvSpPr/>
          <p:nvPr/>
        </p:nvSpPr>
        <p:spPr>
          <a:xfrm>
            <a:off x="8295954" y="4128859"/>
            <a:ext cx="383073" cy="1195947"/>
          </a:xfrm>
          <a:prstGeom prst="rect">
            <a:avLst/>
          </a:prstGeom>
          <a:noFill/>
          <a:ln w="44450">
            <a:solidFill>
              <a:srgbClr val="E09B00"/>
            </a:solidFill>
          </a:ln>
        </p:spPr>
        <p:txBody>
          <a:bodyPr rtlCol="0" anchor="ctr"/>
          <a:lstStyle/>
          <a:p>
            <a:pPr algn="ctr"/>
          </a:p>
        </p:txBody>
      </p:sp>
      <p:sp>
        <p:nvSpPr>
          <p:cNvPr id="13" name="Oval 12"/>
          <p:cNvSpPr/>
          <p:nvPr/>
        </p:nvSpPr>
        <p:spPr>
          <a:xfrm>
            <a:off x="8487179" y="4167484"/>
            <a:ext cx="239809" cy="462788"/>
          </a:xfrm>
          <a:prstGeom prst="ellipse">
            <a:avLst/>
          </a:prstGeom>
          <a:noFill/>
          <a:ln w="44450">
            <a:solidFill>
              <a:srgbClr val="C62828"/>
            </a:solidFill>
          </a:ln>
        </p:spPr>
        <p:txBody>
          <a:bodyPr rtlCol="0" anchor="ctr"/>
          <a:lstStyle/>
          <a:p>
            <a:pPr algn="ctr"/>
          </a:p>
        </p:txBody>
      </p:sp>
      <p:sp>
        <p:nvSpPr>
          <p:cNvPr id="14" name="Oval 13"/>
          <p:cNvSpPr/>
          <p:nvPr/>
        </p:nvSpPr>
        <p:spPr>
          <a:xfrm>
            <a:off x="7946416" y="45977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857071" y="382601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whole three-bar pattern forms while StochRSI is oversold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panel under the same chart shows that the entire pattern occurs on an oversold condition on the StochRSI </a:t>
            </a:r>
            <a:r>
              <a:rPr sz="2000" b="1" i="0">
                <a:solidFill>
                  <a:srgbClr val="1F5FAD"/>
                </a:solidFill>
                <a:latin typeface="Arial"/>
              </a:rPr>
              <a:t>(3)</a:t>
            </a:r>
            <a:r>
              <a:rPr sz="2000" b="0" i="0">
                <a:solidFill>
                  <a:srgbClr val="1A1A1A"/>
                </a:solidFill>
                <a:latin typeface="Arial"/>
              </a:rPr>
              <a:t> (p. 222).</a:t>
            </a:r>
          </a:p>
          <a:p>
            <a:pPr algn="l">
              <a:lnSpc>
                <a:spcPct val="105000"/>
              </a:lnSpc>
              <a:spcBef>
                <a:spcPts val="0"/>
              </a:spcBef>
              <a:spcAft>
                <a:spcPts val="1100"/>
              </a:spcAft>
            </a:pPr>
            <a:r>
              <a:rPr sz="2000" b="0" i="0">
                <a:solidFill>
                  <a:srgbClr val="1A1A1A"/>
                </a:solidFill>
                <a:latin typeface="Arial"/>
              </a:rPr>
              <a:t>The book gives no formula for StochRSI in this chapter, so this is context rather than a method to calculate.</a:t>
            </a:r>
          </a:p>
        </p:txBody>
      </p:sp>
      <p:sp>
        <p:nvSpPr>
          <p:cNvPr id="8" name="Rectangle 7"/>
          <p:cNvSpPr/>
          <p:nvPr/>
        </p:nvSpPr>
        <p:spPr>
          <a:xfrm>
            <a:off x="5303519" y="1810512"/>
            <a:ext cx="6751015" cy="205339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181564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35844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StochRSI panel: the oversold reading under the three-bar reversal.</a:t>
            </a:r>
          </a:p>
        </p:txBody>
      </p:sp>
      <p:sp>
        <p:nvSpPr>
          <p:cNvPr id="12" name="Oval 11"/>
          <p:cNvSpPr/>
          <p:nvPr/>
        </p:nvSpPr>
        <p:spPr>
          <a:xfrm>
            <a:off x="8128004" y="3059079"/>
            <a:ext cx="601174" cy="605336"/>
          </a:xfrm>
          <a:prstGeom prst="ellipse">
            <a:avLst/>
          </a:prstGeom>
          <a:noFill/>
          <a:ln w="44450">
            <a:solidFill>
              <a:srgbClr val="1F5FAD"/>
            </a:solidFill>
          </a:ln>
        </p:spPr>
        <p:txBody>
          <a:bodyPr rtlCol="0" anchor="ctr"/>
          <a:lstStyle/>
          <a:p>
            <a:pPr algn="ctr"/>
          </a:p>
        </p:txBody>
      </p:sp>
      <p:sp>
        <p:nvSpPr>
          <p:cNvPr id="13" name="Oval 12"/>
          <p:cNvSpPr/>
          <p:nvPr/>
        </p:nvSpPr>
        <p:spPr>
          <a:xfrm>
            <a:off x="7767515" y="315106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TextBox 13"/>
          <p:cNvSpPr txBox="1"/>
          <p:nvPr/>
        </p:nvSpPr>
        <p:spPr>
          <a:xfrm>
            <a:off x="5303519" y="395534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7.21 first shows a bullish three-bar reversal </a:t>
            </a:r>
            <a:r>
              <a:rPr sz="2000" b="1" i="0">
                <a:solidFill>
                  <a:srgbClr val="E09B00"/>
                </a:solidFill>
                <a:latin typeface="Arial"/>
              </a:rPr>
              <a:t>(1)</a:t>
            </a:r>
            <a:r>
              <a:rPr sz="2000" b="0" i="0">
                <a:solidFill>
                  <a:srgbClr val="1A1A1A"/>
                </a:solidFill>
                <a:latin typeface="Arial"/>
              </a:rPr>
              <a:t>, whose large third bar closes near its high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Later, a separate outside day engulfs four preceding bars </a:t>
            </a:r>
            <a:r>
              <a:rPr sz="2000" b="1" i="0">
                <a:solidFill>
                  <a:srgbClr val="7B3FA0"/>
                </a:solidFill>
                <a:latin typeface="Arial"/>
              </a:rPr>
              <a:t>(4)</a:t>
            </a:r>
            <a:r>
              <a:rPr sz="2000" b="0" i="0">
                <a:solidFill>
                  <a:srgbClr val="1A1A1A"/>
                </a:solidFill>
                <a:latin typeface="Arial"/>
              </a:rPr>
              <a:t> and closes near its low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Keep the two apart: the outside day is a new event, not part of the three-bar count (p. 222).</a:t>
            </a:r>
          </a:p>
        </p:txBody>
      </p:sp>
      <p:sp>
        <p:nvSpPr>
          <p:cNvPr id="8" name="Rectangle 7"/>
          <p:cNvSpPr/>
          <p:nvPr/>
        </p:nvSpPr>
        <p:spPr>
          <a:xfrm>
            <a:off x="5790878" y="1810512"/>
            <a:ext cx="513621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9750" y="1929384"/>
            <a:ext cx="489847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9750" y="1929384"/>
            <a:ext cx="48984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84070" y="2203703"/>
            <a:ext cx="434983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2" name="Rectangle 11"/>
          <p:cNvSpPr/>
          <p:nvPr/>
        </p:nvSpPr>
        <p:spPr>
          <a:xfrm>
            <a:off x="7795662" y="3544580"/>
            <a:ext cx="342893" cy="948049"/>
          </a:xfrm>
          <a:prstGeom prst="rect">
            <a:avLst/>
          </a:prstGeom>
          <a:noFill/>
          <a:ln w="44450">
            <a:solidFill>
              <a:srgbClr val="E09B00"/>
            </a:solidFill>
          </a:ln>
        </p:spPr>
        <p:txBody>
          <a:bodyPr rtlCol="0" anchor="ctr"/>
          <a:lstStyle/>
          <a:p>
            <a:pPr algn="ctr"/>
          </a:p>
        </p:txBody>
      </p:sp>
      <p:sp>
        <p:nvSpPr>
          <p:cNvPr id="13" name="Oval 12"/>
          <p:cNvSpPr/>
          <p:nvPr/>
        </p:nvSpPr>
        <p:spPr>
          <a:xfrm>
            <a:off x="8016094" y="3597249"/>
            <a:ext cx="146954" cy="210677"/>
          </a:xfrm>
          <a:prstGeom prst="ellipse">
            <a:avLst/>
          </a:prstGeom>
          <a:noFill/>
          <a:ln w="44450">
            <a:solidFill>
              <a:srgbClr val="C62828"/>
            </a:solidFill>
          </a:ln>
        </p:spPr>
        <p:txBody>
          <a:bodyPr rtlCol="0" anchor="ctr"/>
          <a:lstStyle/>
          <a:p>
            <a:pPr algn="ctr"/>
          </a:p>
        </p:txBody>
      </p:sp>
      <p:sp>
        <p:nvSpPr>
          <p:cNvPr id="14" name="Oval 13"/>
          <p:cNvSpPr/>
          <p:nvPr/>
        </p:nvSpPr>
        <p:spPr>
          <a:xfrm>
            <a:off x="9314190" y="2561417"/>
            <a:ext cx="146954" cy="245790"/>
          </a:xfrm>
          <a:prstGeom prst="ellipse">
            <a:avLst/>
          </a:prstGeom>
          <a:noFill/>
          <a:ln w="44450">
            <a:solidFill>
              <a:srgbClr val="1F5FAD"/>
            </a:solidFill>
          </a:ln>
        </p:spPr>
        <p:txBody>
          <a:bodyPr rtlCol="0" anchor="ctr"/>
          <a:lstStyle/>
          <a:p>
            <a:pPr algn="ctr"/>
          </a:p>
        </p:txBody>
      </p:sp>
      <p:sp>
        <p:nvSpPr>
          <p:cNvPr id="15" name="Rectangle 14"/>
          <p:cNvSpPr/>
          <p:nvPr/>
        </p:nvSpPr>
        <p:spPr>
          <a:xfrm>
            <a:off x="9034977" y="2333183"/>
            <a:ext cx="264517" cy="438911"/>
          </a:xfrm>
          <a:prstGeom prst="rect">
            <a:avLst/>
          </a:prstGeom>
          <a:noFill/>
          <a:ln w="44450">
            <a:solidFill>
              <a:srgbClr val="7B3FA0"/>
            </a:solidFill>
          </a:ln>
        </p:spPr>
        <p:txBody>
          <a:bodyPr rtlCol="0" anchor="ctr"/>
          <a:lstStyle/>
          <a:p>
            <a:pPr algn="ctr"/>
          </a:p>
        </p:txBody>
      </p:sp>
      <p:sp>
        <p:nvSpPr>
          <p:cNvPr id="16" name="Oval 15"/>
          <p:cNvSpPr/>
          <p:nvPr/>
        </p:nvSpPr>
        <p:spPr>
          <a:xfrm>
            <a:off x="7538980" y="399665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102305" y="32241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449385" y="257458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8837076" y="217078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 Part 2's bullish triple form 6: a close above the middle bar's high (p. 223).</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a:t>
            </a:r>
          </a:p>
        </p:txBody>
      </p:sp>
      <p:sp>
        <p:nvSpPr>
          <p:cNvPr id="8" name="Rectangle 7"/>
          <p:cNvSpPr/>
          <p:nvPr/>
        </p:nvSpPr>
        <p:spPr>
          <a:xfrm>
            <a:off x="5656935" y="1810512"/>
            <a:ext cx="5404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75807" y="1929384"/>
            <a:ext cx="5166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75807" y="1929384"/>
            <a:ext cx="5166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50127" y="2203703"/>
            <a:ext cx="4617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2" name="Oval 11"/>
          <p:cNvSpPr/>
          <p:nvPr/>
        </p:nvSpPr>
        <p:spPr>
          <a:xfrm>
            <a:off x="8193663" y="4562856"/>
            <a:ext cx="103327" cy="512649"/>
          </a:xfrm>
          <a:prstGeom prst="ellipse">
            <a:avLst/>
          </a:prstGeom>
          <a:noFill/>
          <a:ln w="44450">
            <a:solidFill>
              <a:srgbClr val="E09B00"/>
            </a:solidFill>
          </a:ln>
        </p:spPr>
        <p:txBody>
          <a:bodyPr rtlCol="0" anchor="ctr"/>
          <a:lstStyle/>
          <a:p>
            <a:pPr algn="ctr"/>
          </a:p>
        </p:txBody>
      </p:sp>
      <p:sp>
        <p:nvSpPr>
          <p:cNvPr id="13" name="Rectangle 12"/>
          <p:cNvSpPr/>
          <p:nvPr/>
        </p:nvSpPr>
        <p:spPr>
          <a:xfrm>
            <a:off x="8296991" y="3923800"/>
            <a:ext cx="98160" cy="530205"/>
          </a:xfrm>
          <a:prstGeom prst="rect">
            <a:avLst/>
          </a:prstGeom>
          <a:noFill/>
          <a:ln w="44450">
            <a:solidFill>
              <a:srgbClr val="C62828"/>
            </a:solidFill>
          </a:ln>
        </p:spPr>
        <p:txBody>
          <a:bodyPr rtlCol="0" anchor="ctr"/>
          <a:lstStyle/>
          <a:p>
            <a:pPr algn="ctr"/>
          </a:p>
        </p:txBody>
      </p:sp>
      <p:sp>
        <p:nvSpPr>
          <p:cNvPr id="14" name="Oval 13"/>
          <p:cNvSpPr/>
          <p:nvPr/>
        </p:nvSpPr>
        <p:spPr>
          <a:xfrm>
            <a:off x="8307323" y="4854293"/>
            <a:ext cx="77495" cy="256324"/>
          </a:xfrm>
          <a:prstGeom prst="ellipse">
            <a:avLst/>
          </a:prstGeom>
          <a:noFill/>
          <a:ln w="44450">
            <a:solidFill>
              <a:srgbClr val="1F5FAD"/>
            </a:solidFill>
          </a:ln>
        </p:spPr>
        <p:txBody>
          <a:bodyPr rtlCol="0" anchor="ctr"/>
          <a:lstStyle/>
          <a:p>
            <a:pPr algn="ctr"/>
          </a:p>
        </p:txBody>
      </p:sp>
      <p:sp>
        <p:nvSpPr>
          <p:cNvPr id="15" name="Oval 14"/>
          <p:cNvSpPr/>
          <p:nvPr/>
        </p:nvSpPr>
        <p:spPr>
          <a:xfrm>
            <a:off x="7934705" y="458900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89289" y="36974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51341" y="4659233"/>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65</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gap up, the island, and the gap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island reversal is a group of bars cut off from the rest of the chart by two gaps.</a:t>
            </a:r>
          </a:p>
          <a:p>
            <a:pPr algn="l">
              <a:lnSpc>
                <a:spcPct val="105000"/>
              </a:lnSpc>
              <a:spcBef>
                <a:spcPts val="0"/>
              </a:spcBef>
              <a:spcAft>
                <a:spcPts val="1100"/>
              </a:spcAft>
            </a:pPr>
            <a:r>
              <a:rPr sz="2000" b="0" i="0">
                <a:solidFill>
                  <a:srgbClr val="1A1A1A"/>
                </a:solidFill>
                <a:latin typeface="Arial"/>
              </a:rPr>
              <a:t>In Figure 7.23 the gap up </a:t>
            </a:r>
            <a:r>
              <a:rPr sz="2000" b="1" i="0">
                <a:solidFill>
                  <a:srgbClr val="E09B00"/>
                </a:solidFill>
                <a:latin typeface="Arial"/>
              </a:rPr>
              <a:t>(1)</a:t>
            </a:r>
            <a:r>
              <a:rPr sz="2000" b="0" i="0">
                <a:solidFill>
                  <a:srgbClr val="1A1A1A"/>
                </a:solidFill>
                <a:latin typeface="Arial"/>
              </a:rPr>
              <a:t> comes first, then the isolated island </a:t>
            </a:r>
            <a:r>
              <a:rPr sz="2000" b="1" i="0">
                <a:solidFill>
                  <a:srgbClr val="C62828"/>
                </a:solidFill>
                <a:latin typeface="Arial"/>
              </a:rPr>
              <a:t>(2)</a:t>
            </a:r>
            <a:r>
              <a:rPr sz="2000" b="0" i="0">
                <a:solidFill>
                  <a:srgbClr val="1A1A1A"/>
                </a:solidFill>
                <a:latin typeface="Arial"/>
              </a:rPr>
              <a:t>, then the gap down </a:t>
            </a:r>
            <a:r>
              <a:rPr sz="2000" b="1" i="0">
                <a:solidFill>
                  <a:srgbClr val="1F5FAD"/>
                </a:solidFill>
                <a:latin typeface="Arial"/>
              </a:rPr>
              <a:t>(3)</a:t>
            </a:r>
            <a:r>
              <a:rPr sz="2000" b="0" i="0">
                <a:solidFill>
                  <a:srgbClr val="1A1A1A"/>
                </a:solidFill>
                <a:latin typeface="Arial"/>
              </a:rPr>
              <a:t> (p. 223). Together the two gaps leave the island standing on its own.</a:t>
            </a:r>
          </a:p>
        </p:txBody>
      </p:sp>
      <p:sp>
        <p:nvSpPr>
          <p:cNvPr id="8" name="Rectangle 7"/>
          <p:cNvSpPr/>
          <p:nvPr/>
        </p:nvSpPr>
        <p:spPr>
          <a:xfrm>
            <a:off x="5303519" y="1810512"/>
            <a:ext cx="6751015" cy="336145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12370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6650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price panel: a gap up, an isolated group of bars, and a gap down.</a:t>
            </a:r>
          </a:p>
        </p:txBody>
      </p:sp>
      <p:sp>
        <p:nvSpPr>
          <p:cNvPr id="12" name="Oval 11"/>
          <p:cNvSpPr/>
          <p:nvPr/>
        </p:nvSpPr>
        <p:spPr>
          <a:xfrm>
            <a:off x="7576982" y="3591822"/>
            <a:ext cx="350413" cy="730635"/>
          </a:xfrm>
          <a:prstGeom prst="ellipse">
            <a:avLst/>
          </a:prstGeom>
          <a:noFill/>
          <a:ln w="44450">
            <a:solidFill>
              <a:srgbClr val="E09B00"/>
            </a:solidFill>
          </a:ln>
        </p:spPr>
        <p:txBody>
          <a:bodyPr rtlCol="0" anchor="ctr"/>
          <a:lstStyle/>
          <a:p>
            <a:pPr algn="ctr"/>
          </a:p>
        </p:txBody>
      </p:sp>
      <p:sp>
        <p:nvSpPr>
          <p:cNvPr id="13" name="Rectangle 12"/>
          <p:cNvSpPr/>
          <p:nvPr/>
        </p:nvSpPr>
        <p:spPr>
          <a:xfrm>
            <a:off x="7627134" y="1929384"/>
            <a:ext cx="1152197" cy="2347467"/>
          </a:xfrm>
          <a:prstGeom prst="rect">
            <a:avLst/>
          </a:prstGeom>
          <a:noFill/>
          <a:ln w="44450">
            <a:solidFill>
              <a:srgbClr val="C62828"/>
            </a:solidFill>
          </a:ln>
        </p:spPr>
        <p:txBody>
          <a:bodyPr rtlCol="0" anchor="ctr"/>
          <a:lstStyle/>
          <a:p>
            <a:pPr algn="ctr"/>
          </a:p>
        </p:txBody>
      </p:sp>
      <p:sp>
        <p:nvSpPr>
          <p:cNvPr id="14" name="Oval 13"/>
          <p:cNvSpPr/>
          <p:nvPr/>
        </p:nvSpPr>
        <p:spPr>
          <a:xfrm>
            <a:off x="8578723" y="3226348"/>
            <a:ext cx="351065" cy="730635"/>
          </a:xfrm>
          <a:prstGeom prst="ellipse">
            <a:avLst/>
          </a:prstGeom>
          <a:noFill/>
          <a:ln w="44450">
            <a:solidFill>
              <a:srgbClr val="1F5FAD"/>
            </a:solidFill>
          </a:ln>
        </p:spPr>
        <p:txBody>
          <a:bodyPr rtlCol="0" anchor="ctr"/>
          <a:lstStyle/>
          <a:p>
            <a:pPr algn="ctr"/>
          </a:p>
        </p:txBody>
      </p:sp>
      <p:sp>
        <p:nvSpPr>
          <p:cNvPr id="15" name="Oval 14"/>
          <p:cNvSpPr/>
          <p:nvPr/>
        </p:nvSpPr>
        <p:spPr>
          <a:xfrm>
            <a:off x="7066036" y="40299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20060" y="265993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71083" y="37560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263405"/>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Gap meaning points back to Chapter 3; stochastic is shown but not defined here.</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adds volume and stochastic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 notes that the whole island forms on low volume </a:t>
            </a:r>
            <a:r>
              <a:rPr sz="1900" b="1" i="0">
                <a:solidFill>
                  <a:srgbClr val="7B3FA0"/>
                </a:solidFill>
                <a:latin typeface="Arial"/>
              </a:rPr>
              <a:t>(4)</a:t>
            </a:r>
            <a:r>
              <a:rPr sz="1900" b="0" i="0">
                <a:solidFill>
                  <a:srgbClr val="1A1A1A"/>
                </a:solidFill>
                <a:latin typeface="Arial"/>
              </a:rPr>
              <a:t>, which shows a lack of conviction by market participants, and on overbought conditions on the stochastic oscillator </a:t>
            </a:r>
            <a:r>
              <a:rPr sz="1900" b="1" i="0">
                <a:solidFill>
                  <a:srgbClr val="007A33"/>
                </a:solidFill>
                <a:latin typeface="Arial"/>
              </a:rPr>
              <a:t>(5)</a:t>
            </a:r>
            <a:r>
              <a:rPr sz="1900" b="0" i="0">
                <a:solidFill>
                  <a:srgbClr val="1A1A1A"/>
                </a:solidFill>
                <a:latin typeface="Arial"/>
              </a:rPr>
              <a:t> (p. 223).</a:t>
            </a:r>
          </a:p>
          <a:p>
            <a:pPr algn="l">
              <a:lnSpc>
                <a:spcPct val="105000"/>
              </a:lnSpc>
              <a:spcBef>
                <a:spcPts val="0"/>
              </a:spcBef>
              <a:spcAft>
                <a:spcPts val="1100"/>
              </a:spcAft>
            </a:pPr>
            <a:r>
              <a:rPr sz="1900" b="0" i="0">
                <a:solidFill>
                  <a:srgbClr val="1A1A1A"/>
                </a:solidFill>
                <a:latin typeface="Arial"/>
              </a:rPr>
              <a:t>No stochastic method is given in this chapter, so these labels are context, and the island remains a potential warning.</a:t>
            </a:r>
          </a:p>
        </p:txBody>
      </p:sp>
      <p:sp>
        <p:nvSpPr>
          <p:cNvPr id="8" name="Rectangle 7"/>
          <p:cNvSpPr/>
          <p:nvPr/>
        </p:nvSpPr>
        <p:spPr>
          <a:xfrm>
            <a:off x="5303519" y="1810512"/>
            <a:ext cx="6751015" cy="264609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240835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9511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volume and stochastic panels: low volume under the island and an overbought stochastic reading.</a:t>
            </a:r>
          </a:p>
        </p:txBody>
      </p:sp>
      <p:sp>
        <p:nvSpPr>
          <p:cNvPr id="12" name="Rectangle 11"/>
          <p:cNvSpPr/>
          <p:nvPr/>
        </p:nvSpPr>
        <p:spPr>
          <a:xfrm>
            <a:off x="8555926" y="2825532"/>
            <a:ext cx="1352155" cy="728045"/>
          </a:xfrm>
          <a:prstGeom prst="rect">
            <a:avLst/>
          </a:prstGeom>
          <a:noFill/>
          <a:ln w="44450">
            <a:solidFill>
              <a:srgbClr val="7B3FA0"/>
            </a:solidFill>
          </a:ln>
        </p:spPr>
        <p:txBody>
          <a:bodyPr rtlCol="0" anchor="ctr"/>
          <a:lstStyle/>
          <a:p>
            <a:pPr algn="ctr"/>
          </a:p>
        </p:txBody>
      </p:sp>
      <p:sp>
        <p:nvSpPr>
          <p:cNvPr id="13" name="Rectangle 12"/>
          <p:cNvSpPr/>
          <p:nvPr/>
        </p:nvSpPr>
        <p:spPr>
          <a:xfrm>
            <a:off x="8555926" y="3609693"/>
            <a:ext cx="737302" cy="559942"/>
          </a:xfrm>
          <a:prstGeom prst="rect">
            <a:avLst/>
          </a:prstGeom>
          <a:noFill/>
          <a:ln w="44450">
            <a:solidFill>
              <a:srgbClr val="007A33"/>
            </a:solidFill>
          </a:ln>
        </p:spPr>
        <p:txBody>
          <a:bodyPr rtlCol="0" anchor="ctr"/>
          <a:lstStyle/>
          <a:p>
            <a:pPr algn="ctr"/>
          </a:p>
        </p:txBody>
      </p:sp>
      <p:sp>
        <p:nvSpPr>
          <p:cNvPr id="14" name="Oval 13"/>
          <p:cNvSpPr/>
          <p:nvPr/>
        </p:nvSpPr>
        <p:spPr>
          <a:xfrm>
            <a:off x="9982679" y="271580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8200648" y="3892045"/>
            <a:ext cx="219456" cy="21945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6" name="TextBox 15"/>
          <p:cNvSpPr txBox="1"/>
          <p:nvPr/>
        </p:nvSpPr>
        <p:spPr>
          <a:xfrm>
            <a:off x="5303519" y="454805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Gap meaning points back to Chapter 3; stochastic is shown but not defined here.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does Chapter 7 treat the overbought stochastic label beside the island?</a:t>
            </a:r>
          </a:p>
        </p:txBody>
      </p:sp>
      <p:sp>
        <p:nvSpPr>
          <p:cNvPr id="13" name="TextBox 12"/>
          <p:cNvSpPr txBox="1"/>
          <p:nvPr/>
        </p:nvSpPr>
        <p:spPr>
          <a:xfrm>
            <a:off x="1005840" y="4199128"/>
            <a:ext cx="411480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5669279" y="1207008"/>
            <a:ext cx="5745175" cy="287906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64131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8411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731589"/>
            <a:ext cx="296299" cy="617804"/>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84950"/>
          </a:xfrm>
          <a:prstGeom prst="rect">
            <a:avLst/>
          </a:prstGeom>
          <a:noFill/>
          <a:ln w="44450">
            <a:solidFill>
              <a:srgbClr val="C62828"/>
            </a:solidFill>
          </a:ln>
        </p:spPr>
        <p:txBody>
          <a:bodyPr rtlCol="0" anchor="ctr"/>
          <a:lstStyle/>
          <a:p>
            <a:pPr algn="ctr"/>
          </a:p>
        </p:txBody>
      </p:sp>
      <p:sp>
        <p:nvSpPr>
          <p:cNvPr id="20" name="Oval 19"/>
          <p:cNvSpPr/>
          <p:nvPr/>
        </p:nvSpPr>
        <p:spPr>
          <a:xfrm>
            <a:off x="8457053" y="2422554"/>
            <a:ext cx="296850" cy="617804"/>
          </a:xfrm>
          <a:prstGeom prst="ellipse">
            <a:avLst/>
          </a:prstGeom>
          <a:noFill/>
          <a:ln w="44450">
            <a:solidFill>
              <a:srgbClr val="1F5FAD"/>
            </a:solidFill>
          </a:ln>
        </p:spPr>
        <p:txBody>
          <a:bodyPr rtlCol="0" anchor="ctr"/>
          <a:lstStyle/>
          <a:p>
            <a:pPr algn="ctr"/>
          </a:p>
        </p:txBody>
      </p:sp>
      <p:sp>
        <p:nvSpPr>
          <p:cNvPr id="21" name="Oval 20"/>
          <p:cNvSpPr/>
          <p:nvPr/>
        </p:nvSpPr>
        <p:spPr>
          <a:xfrm>
            <a:off x="7161024" y="308514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2666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535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177509"/>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0215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0215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392043"/>
            <a:ext cx="457200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92043"/>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74923"/>
            <a:ext cx="402336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does Chapter 7 treat the overbought stochastic label beside the island?</a:t>
            </a:r>
          </a:p>
        </p:txBody>
      </p:sp>
      <p:sp>
        <p:nvSpPr>
          <p:cNvPr id="13" name="TextBox 12"/>
          <p:cNvSpPr txBox="1"/>
          <p:nvPr/>
        </p:nvSpPr>
        <p:spPr>
          <a:xfrm>
            <a:off x="1097280" y="4502658"/>
            <a:ext cx="40233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Lim shows it as supporting context, and Chapter 7 gives no stochastic method (p. 223).</a:t>
            </a:r>
          </a:p>
        </p:txBody>
      </p:sp>
      <p:sp>
        <p:nvSpPr>
          <p:cNvPr id="14" name="Rectangle 13"/>
          <p:cNvSpPr/>
          <p:nvPr/>
        </p:nvSpPr>
        <p:spPr>
          <a:xfrm>
            <a:off x="5669279" y="1207008"/>
            <a:ext cx="5745175" cy="280021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56247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0527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689627"/>
            <a:ext cx="296299" cy="599362"/>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25697"/>
          </a:xfrm>
          <a:prstGeom prst="rect">
            <a:avLst/>
          </a:prstGeom>
          <a:noFill/>
          <a:ln w="44450">
            <a:solidFill>
              <a:srgbClr val="C62828"/>
            </a:solidFill>
          </a:ln>
        </p:spPr>
        <p:txBody>
          <a:bodyPr rtlCol="0" anchor="ctr"/>
          <a:lstStyle/>
          <a:p>
            <a:pPr algn="ctr"/>
          </a:p>
        </p:txBody>
      </p:sp>
      <p:sp>
        <p:nvSpPr>
          <p:cNvPr id="20" name="Oval 19"/>
          <p:cNvSpPr/>
          <p:nvPr/>
        </p:nvSpPr>
        <p:spPr>
          <a:xfrm>
            <a:off x="8457053" y="2389818"/>
            <a:ext cx="296850" cy="599362"/>
          </a:xfrm>
          <a:prstGeom prst="ellipse">
            <a:avLst/>
          </a:prstGeom>
          <a:noFill/>
          <a:ln w="44450">
            <a:solidFill>
              <a:srgbClr val="1F5FAD"/>
            </a:solidFill>
          </a:ln>
        </p:spPr>
        <p:txBody>
          <a:bodyPr rtlCol="0" anchor="ctr"/>
          <a:lstStyle/>
          <a:p>
            <a:pPr algn="ctr"/>
          </a:p>
        </p:txBody>
      </p:sp>
      <p:sp>
        <p:nvSpPr>
          <p:cNvPr id="21" name="Oval 20"/>
          <p:cNvSpPr/>
          <p:nvPr/>
        </p:nvSpPr>
        <p:spPr>
          <a:xfrm>
            <a:off x="7161024" y="302935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05457"/>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04628"/>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09866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the island reversal, which gaps cut off from the chart,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outside bar with simple prices. The first two bars stay between PHP 48.00 and PHP 52.00. The third bar opens at PHP 52.00, runs up to PHP 53.00 </a:t>
            </a:r>
            <a:r>
              <a:rPr sz="1700" b="1" i="0">
                <a:solidFill>
                  <a:srgbClr val="C62828"/>
                </a:solidFill>
                <a:latin typeface="Arial"/>
              </a:rPr>
              <a:t>(2)</a:t>
            </a:r>
            <a:r>
              <a:rPr sz="1700" b="0" i="0">
                <a:solidFill>
                  <a:srgbClr val="1A1A1A"/>
                </a:solidFill>
                <a:latin typeface="Arial"/>
              </a:rPr>
              <a:t> and down to PHP 47.00, so its range </a:t>
            </a:r>
            <a:r>
              <a:rPr sz="1700" b="1" i="0">
                <a:solidFill>
                  <a:srgbClr val="E09B00"/>
                </a:solidFill>
                <a:latin typeface="Arial"/>
              </a:rPr>
              <a:t>(1)</a:t>
            </a:r>
            <a:r>
              <a:rPr sz="1700" b="0" i="0">
                <a:solidFill>
                  <a:srgbClr val="1A1A1A"/>
                </a:solidFill>
                <a:latin typeface="Arial"/>
              </a:rPr>
              <a:t> covers both earlier bars. It closes at PHP 47.50 </a:t>
            </a:r>
            <a:r>
              <a:rPr sz="1700" b="1" i="0">
                <a:solidFill>
                  <a:srgbClr val="1F5FAD"/>
                </a:solidFill>
                <a:latin typeface="Arial"/>
              </a:rPr>
              <a:t>(3)</a:t>
            </a:r>
            <a:r>
              <a:rPr sz="1700" b="0" i="0">
                <a:solidFill>
                  <a:srgbClr val="1A1A1A"/>
                </a:solidFill>
                <a:latin typeface="Arial"/>
              </a:rPr>
              <a:t>, near its low. Lim says an outside bar that closes at or near its low gives a more reliable reversal (p.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631375" y="3419856"/>
            <a:ext cx="0" cy="1069848"/>
          </a:xfrm>
          <a:prstGeom prst="line">
            <a:avLst/>
          </a:prstGeom>
          <a:ln w="44450">
            <a:solidFill>
              <a:srgbClr val="E09B00"/>
            </a:solidFill>
          </a:ln>
        </p:spPr>
      </p:cxn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010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defines it this way: “Outside bars are bars that engulf one or more preceding bars” (p. 223).</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11 bars inside the outside range, red </a:t>
            </a:r>
            <a:r>
              <a:rPr sz="1700" b="1" i="0">
                <a:solidFill>
                  <a:srgbClr val="C62828"/>
                </a:solidFill>
                <a:latin typeface="Arial"/>
              </a:rPr>
              <a:t>(2)</a:t>
            </a:r>
            <a:r>
              <a:rPr sz="1700" b="0" i="0">
                <a:solidFill>
                  <a:srgbClr val="1A1A1A"/>
                </a:solidFill>
                <a:latin typeface="Arial"/>
              </a:rPr>
              <a:t> the outside bar's full range, and blue </a:t>
            </a:r>
            <a:r>
              <a:rPr sz="1700" b="1" i="0">
                <a:solidFill>
                  <a:srgbClr val="1F5FAD"/>
                </a:solidFill>
                <a:latin typeface="Arial"/>
              </a:rPr>
              <a:t>(3)</a:t>
            </a:r>
            <a:r>
              <a:rPr sz="1700" b="0" i="0">
                <a:solidFill>
                  <a:srgbClr val="1A1A1A"/>
                </a:solidFill>
                <a:latin typeface="Arial"/>
              </a:rPr>
              <a:t> its close near the low.</a:t>
            </a:r>
          </a:p>
          <a:p>
            <a:pPr algn="l">
              <a:lnSpc>
                <a:spcPct val="105000"/>
              </a:lnSpc>
              <a:spcBef>
                <a:spcPts val="0"/>
              </a:spcBef>
              <a:spcAft>
                <a:spcPts val="1100"/>
              </a:spcAft>
            </a:pPr>
            <a:r>
              <a:rPr sz="1700" b="0" i="0">
                <a:solidFill>
                  <a:srgbClr val="1A1A1A"/>
                </a:solidFill>
                <a:latin typeface="Arial"/>
              </a:rPr>
              <a:t>The book's caption calls this an inside day reversal, but its text and the figure's own label describe an outside bar engulfing 11 bars, so we follow the text.</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94582" y="2122505"/>
            <a:ext cx="1016259" cy="1176284"/>
          </a:xfrm>
          <a:prstGeom prst="rect">
            <a:avLst/>
          </a:prstGeom>
          <a:noFill/>
          <a:ln w="44450">
            <a:solidFill>
              <a:srgbClr val="E09B00"/>
            </a:solidFill>
          </a:ln>
        </p:spPr>
        <p:txBody>
          <a:bodyPr rtlCol="0" anchor="ctr"/>
          <a:lstStyle/>
          <a:p>
            <a:pPr algn="ctr"/>
          </a:p>
        </p:txBody>
      </p:sp>
      <p:sp>
        <p:nvSpPr>
          <p:cNvPr id="13" name="Rectangle 12"/>
          <p:cNvSpPr/>
          <p:nvPr/>
        </p:nvSpPr>
        <p:spPr>
          <a:xfrm>
            <a:off x="8510842" y="2140061"/>
            <a:ext cx="128492" cy="1141171"/>
          </a:xfrm>
          <a:prstGeom prst="rect">
            <a:avLst/>
          </a:prstGeom>
          <a:noFill/>
          <a:ln w="44450">
            <a:solidFill>
              <a:srgbClr val="C62828"/>
            </a:solidFill>
          </a:ln>
        </p:spPr>
        <p:txBody>
          <a:bodyPr rtlCol="0" anchor="ctr"/>
          <a:lstStyle/>
          <a:p>
            <a:pPr algn="ctr"/>
          </a:p>
        </p:txBody>
      </p:sp>
      <p:sp>
        <p:nvSpPr>
          <p:cNvPr id="14" name="Oval 13"/>
          <p:cNvSpPr/>
          <p:nvPr/>
        </p:nvSpPr>
        <p:spPr>
          <a:xfrm>
            <a:off x="8505001" y="3017885"/>
            <a:ext cx="204420" cy="316016"/>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41582" y="26166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3716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contained bars. Red </a:t>
            </a:r>
            <a:r>
              <a:rPr sz="1800" b="1" i="0">
                <a:solidFill>
                  <a:srgbClr val="C62828"/>
                </a:solidFill>
                <a:latin typeface="Arial"/>
              </a:rPr>
              <a:t>(2)</a:t>
            </a:r>
            <a:r>
              <a:rPr sz="1800" b="0" i="0">
                <a:solidFill>
                  <a:srgbClr val="1A1A1A"/>
                </a:solidFill>
                <a:latin typeface="Arial"/>
              </a:rPr>
              <a:t> marks the trendline violation at the outside-bar break.</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82901" y="2210287"/>
            <a:ext cx="1109708" cy="1193840"/>
          </a:xfrm>
          <a:prstGeom prst="rect">
            <a:avLst/>
          </a:prstGeom>
          <a:noFill/>
          <a:ln w="44450">
            <a:solidFill>
              <a:srgbClr val="E09B00"/>
            </a:solidFill>
          </a:ln>
        </p:spPr>
        <p:txBody>
          <a:bodyPr rtlCol="0" anchor="ctr"/>
          <a:lstStyle/>
          <a:p>
            <a:pPr algn="ctr"/>
          </a:p>
        </p:txBody>
      </p:sp>
      <p:sp>
        <p:nvSpPr>
          <p:cNvPr id="13" name="Oval 12"/>
          <p:cNvSpPr/>
          <p:nvPr/>
        </p:nvSpPr>
        <p:spPr>
          <a:xfrm>
            <a:off x="8475798" y="2807208"/>
            <a:ext cx="350434" cy="491581"/>
          </a:xfrm>
          <a:prstGeom prst="ellipse">
            <a:avLst/>
          </a:prstGeom>
          <a:noFill/>
          <a:ln w="44450">
            <a:solidFill>
              <a:srgbClr val="C62828"/>
            </a:solidFill>
          </a:ln>
        </p:spPr>
        <p:txBody>
          <a:bodyPr rtlCol="0" anchor="ctr"/>
          <a:lstStyle/>
          <a:p>
            <a:pPr algn="ctr"/>
          </a:p>
        </p:txBody>
      </p:sp>
      <p:sp>
        <p:nvSpPr>
          <p:cNvPr id="14" name="Oval 13"/>
          <p:cNvSpPr/>
          <p:nvPr/>
        </p:nvSpPr>
        <p:spPr>
          <a:xfrm>
            <a:off x="8475798" y="3193450"/>
            <a:ext cx="350434" cy="280903"/>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7596"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4600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7028" y="259742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7028" y="259742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inside bars as reversal bars. The reversal is more reliable when the first bar is wide on high volume and the second is narrow on very low volume (p. 224).</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inside bar with simple prices. The first bar </a:t>
            </a:r>
            <a:r>
              <a:rPr sz="1700" b="1" i="0">
                <a:solidFill>
                  <a:srgbClr val="E09B00"/>
                </a:solidFill>
                <a:latin typeface="Arial"/>
              </a:rPr>
              <a:t>(1)</a:t>
            </a:r>
            <a:r>
              <a:rPr sz="1700" b="0" i="0">
                <a:solidFill>
                  <a:srgbClr val="1A1A1A"/>
                </a:solidFill>
                <a:latin typeface="Arial"/>
              </a:rPr>
              <a:t> is wide: it runs from PHP 48.00 to PHP 53.00 on 4.5 million shares. The second bar </a:t>
            </a:r>
            <a:r>
              <a:rPr sz="1700" b="1" i="0">
                <a:solidFill>
                  <a:srgbClr val="C62828"/>
                </a:solidFill>
                <a:latin typeface="Arial"/>
              </a:rPr>
              <a:t>(2)</a:t>
            </a:r>
            <a:r>
              <a:rPr sz="1700" b="0" i="0">
                <a:solidFill>
                  <a:srgbClr val="1A1A1A"/>
                </a:solidFill>
                <a:latin typeface="Arial"/>
              </a:rPr>
              <a:t> is narrow, from PHP 49.20 to PHP 52.50 on only 0.5 million shares, so it stays inside the first. The first bar also tests resistance at PHP 53.00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wide, busy first bar and a narrow, quiet second bar is the relationship Lim says makes the reversal more reliable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Lim's Figure 7.25 the two inside bars test the same resistance level (p. 224). 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those two inside-bar reversals.</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800" b="0" i="0">
                <a:solidFill>
                  <a:srgbClr val="1A1A1A"/>
                </a:solidFill>
                <a:latin typeface="Arial"/>
              </a:rPr>
              <a:t>Repeated failure at resistance warns of a possible reversal; it is not a promise.</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makes an inside-bar reversal more reliable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first bar should be as wide as possible on high volume, the second as narrow as possible on very low volume (p. 224).</a:t>
            </a:r>
          </a:p>
          <a:p>
            <a:pPr algn="l">
              <a:lnSpc>
                <a:spcPct val="105000"/>
              </a:lnSpc>
              <a:spcBef>
                <a:spcPts val="0"/>
              </a:spcBef>
              <a:spcAft>
                <a:spcPts val="1100"/>
              </a:spcAft>
            </a:pPr>
            <a:r>
              <a:rPr sz="1700" b="0" i="0">
                <a:solidFill>
                  <a:srgbClr val="1A1A1A"/>
                </a:solidFill>
                <a:latin typeface="Arial"/>
              </a:rPr>
              <a:t>This crop shows no volume. Gold </a:t>
            </a:r>
            <a:r>
              <a:rPr sz="1700" b="1" i="0">
                <a:solidFill>
                  <a:srgbClr val="E09B00"/>
                </a:solidFill>
                <a:latin typeface="Arial"/>
              </a:rPr>
              <a:t>(1)</a:t>
            </a:r>
            <a:r>
              <a:rPr sz="1700" b="0" i="0">
                <a:solidFill>
                  <a:srgbClr val="1A1A1A"/>
                </a:solidFill>
                <a:latin typeface="Arial"/>
              </a:rPr>
              <a:t> and red </a:t>
            </a:r>
            <a:r>
              <a:rPr sz="1700" b="1" i="0">
                <a:solidFill>
                  <a:srgbClr val="C62828"/>
                </a:solidFill>
                <a:latin typeface="Arial"/>
              </a:rPr>
              <a:t>(2)</a:t>
            </a:r>
            <a:r>
              <a:rPr sz="1700" b="0" i="0">
                <a:solidFill>
                  <a:srgbClr val="1A1A1A"/>
                </a:solidFill>
                <a:latin typeface="Arial"/>
              </a:rPr>
              <a:t> are the two inside bars at one resistance.</a:t>
            </a:r>
          </a:p>
          <a:p>
            <a:pPr algn="l">
              <a:lnSpc>
                <a:spcPct val="105000"/>
              </a:lnSpc>
              <a:spcBef>
                <a:spcPts val="0"/>
              </a:spcBef>
              <a:spcAft>
                <a:spcPts val="1100"/>
              </a:spcAft>
            </a:pPr>
            <a:r>
              <a:rPr sz="1700" b="0" i="0">
                <a:solidFill>
                  <a:srgbClr val="1A1A1A"/>
                </a:solidFill>
                <a:latin typeface="Arial"/>
              </a:rPr>
              <a:t>Both highs poke above the upper Bollinger band but close below it, a sign of price exhaustion. Blue </a:t>
            </a:r>
            <a:r>
              <a:rPr sz="1700" b="1" i="0">
                <a:solidFill>
                  <a:srgbClr val="1F5FAD"/>
                </a:solidFill>
                <a:latin typeface="Arial"/>
              </a:rPr>
              <a:t>(3)</a:t>
            </a:r>
            <a:r>
              <a:rPr sz="1700" b="0" i="0">
                <a:solidFill>
                  <a:srgbClr val="1A1A1A"/>
                </a:solidFill>
                <a:latin typeface="Arial"/>
              </a:rPr>
              <a:t> is the bearish StochRSI divergence (p. 225).</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7.26 shows three successively lower inside bars </a:t>
            </a:r>
            <a:r>
              <a:rPr sz="1800" b="1" i="0">
                <a:solidFill>
                  <a:srgbClr val="E09B00"/>
                </a:solidFill>
                <a:latin typeface="Arial"/>
              </a:rPr>
              <a:t>(1)</a:t>
            </a:r>
            <a:r>
              <a:rPr sz="1800" b="0" i="0">
                <a:solidFill>
                  <a:srgbClr val="1A1A1A"/>
                </a:solidFill>
                <a:latin typeface="Arial"/>
              </a:rPr>
              <a:t>, each below the Bollinger band. Lim reads that as potential price exhaustion, more so on bearish volume (p. 225).</a:t>
            </a:r>
          </a:p>
          <a:p>
            <a:pPr algn="l">
              <a:lnSpc>
                <a:spcPct val="105000"/>
              </a:lnSpc>
              <a:spcBef>
                <a:spcPts val="0"/>
              </a:spcBef>
              <a:spcAft>
                <a:spcPts val="1100"/>
              </a:spcAft>
            </a:pPr>
            <a:r>
              <a:rPr sz="1800" b="0" i="0">
                <a:solidFill>
                  <a:srgbClr val="1A1A1A"/>
                </a:solidFill>
                <a:latin typeface="Arial"/>
              </a:rPr>
              <a:t>Later a bearish outside bar forms </a:t>
            </a:r>
            <a:r>
              <a:rPr sz="1800" b="1" i="0">
                <a:solidFill>
                  <a:srgbClr val="C62828"/>
                </a:solidFill>
                <a:latin typeface="Arial"/>
              </a:rPr>
              <a:t>(2)</a:t>
            </a:r>
            <a:r>
              <a:rPr sz="1800" b="0" i="0">
                <a:solidFill>
                  <a:srgbClr val="1A1A1A"/>
                </a:solidFill>
                <a:latin typeface="Arial"/>
              </a:rPr>
              <a:t>, and prices decline (p. 225).</a:t>
            </a:r>
          </a:p>
          <a:p>
            <a:pPr algn="l">
              <a:lnSpc>
                <a:spcPct val="105000"/>
              </a:lnSpc>
              <a:spcBef>
                <a:spcPts val="0"/>
              </a:spcBef>
              <a:spcAft>
                <a:spcPts val="1100"/>
              </a:spcAft>
            </a:pPr>
            <a:r>
              <a:rPr sz="1800" b="0" i="0">
                <a:solidFill>
                  <a:srgbClr val="1A1A1A"/>
                </a:solidFill>
                <a:latin typeface="Arial"/>
              </a:rPr>
              <a:t>The figure shows no volume, so read this as a warning, not a promise.</a:t>
            </a:r>
          </a:p>
        </p:txBody>
      </p:sp>
      <p:sp>
        <p:nvSpPr>
          <p:cNvPr id="8" name="Rectangle 7"/>
          <p:cNvSpPr/>
          <p:nvPr/>
        </p:nvSpPr>
        <p:spPr>
          <a:xfrm>
            <a:off x="5303519" y="1810512"/>
            <a:ext cx="6110935" cy="28350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5972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400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124059" y="3734489"/>
            <a:ext cx="381757" cy="701264"/>
          </a:xfrm>
          <a:prstGeom prst="rect">
            <a:avLst/>
          </a:prstGeom>
          <a:noFill/>
          <a:ln w="44450">
            <a:solidFill>
              <a:srgbClr val="E09B00"/>
            </a:solidFill>
          </a:ln>
        </p:spPr>
        <p:txBody>
          <a:bodyPr rtlCol="0" anchor="ctr"/>
          <a:lstStyle/>
          <a:p>
            <a:pPr algn="ctr"/>
          </a:p>
        </p:txBody>
      </p:sp>
      <p:sp>
        <p:nvSpPr>
          <p:cNvPr id="13" name="Rectangle 12"/>
          <p:cNvSpPr/>
          <p:nvPr/>
        </p:nvSpPr>
        <p:spPr>
          <a:xfrm>
            <a:off x="10238408" y="2435852"/>
            <a:ext cx="234927" cy="493482"/>
          </a:xfrm>
          <a:prstGeom prst="rect">
            <a:avLst/>
          </a:prstGeom>
          <a:noFill/>
          <a:ln w="44450">
            <a:solidFill>
              <a:srgbClr val="C62828"/>
            </a:solidFill>
          </a:ln>
        </p:spPr>
        <p:txBody>
          <a:bodyPr rtlCol="0" anchor="ctr"/>
          <a:lstStyle/>
          <a:p>
            <a:pPr algn="ctr"/>
          </a:p>
        </p:txBody>
      </p:sp>
      <p:sp>
        <p:nvSpPr>
          <p:cNvPr id="14" name="Oval 13"/>
          <p:cNvSpPr/>
          <p:nvPr/>
        </p:nvSpPr>
        <p:spPr>
          <a:xfrm>
            <a:off x="8513553" y="36377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451706" y="23650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47369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This figure puts three reversal families beside one another. Gold </a:t>
            </a:r>
            <a:r>
              <a:rPr sz="1900" b="1" i="0">
                <a:solidFill>
                  <a:srgbClr val="E09B00"/>
                </a:solidFill>
                <a:latin typeface="Arial"/>
              </a:rPr>
              <a:t>(1)</a:t>
            </a:r>
            <a:r>
              <a:rPr sz="1900" b="0" i="0">
                <a:solidFill>
                  <a:srgbClr val="1A1A1A"/>
                </a:solidFill>
                <a:latin typeface="Arial"/>
              </a:rPr>
              <a:t> is an inside-bar reversal, red </a:t>
            </a:r>
            <a:r>
              <a:rPr sz="1900" b="1" i="0">
                <a:solidFill>
                  <a:srgbClr val="C62828"/>
                </a:solidFill>
                <a:latin typeface="Arial"/>
              </a:rPr>
              <a:t>(2)</a:t>
            </a:r>
            <a:r>
              <a:rPr sz="1900" b="0" i="0">
                <a:solidFill>
                  <a:srgbClr val="1A1A1A"/>
                </a:solidFill>
                <a:latin typeface="Arial"/>
              </a:rPr>
              <a:t> an outside-bar reversal, and blue </a:t>
            </a:r>
            <a:r>
              <a:rPr sz="1900" b="1" i="0">
                <a:solidFill>
                  <a:srgbClr val="1F5FAD"/>
                </a:solidFill>
                <a:latin typeface="Arial"/>
              </a:rPr>
              <a:t>(3)</a:t>
            </a:r>
            <a:r>
              <a:rPr sz="1900" b="0" i="0">
                <a:solidFill>
                  <a:srgbClr val="1A1A1A"/>
                </a:solidFill>
                <a:latin typeface="Arial"/>
              </a:rPr>
              <a:t> a three-bar reversal.</a:t>
            </a:r>
          </a:p>
          <a:p>
            <a:pPr algn="l">
              <a:lnSpc>
                <a:spcPct val="105000"/>
              </a:lnSpc>
              <a:spcBef>
                <a:spcPts val="0"/>
              </a:spcBef>
              <a:spcAft>
                <a:spcPts val="1100"/>
              </a:spcAft>
            </a:pPr>
            <a:r>
              <a:rPr sz="1900" b="0" i="0">
                <a:solidFill>
                  <a:srgbClr val="1A1A1A"/>
                </a:solidFill>
                <a:latin typeface="Arial"/>
              </a:rPr>
              <a:t>Lim notes that these bullish and bearish patterns line up with the stochastic oscillator's overbought and oversold readings (p. 225). Chapter 7 gives no stochastic method, so read them as context.</a:t>
            </a:r>
          </a:p>
        </p:txBody>
      </p:sp>
      <p:sp>
        <p:nvSpPr>
          <p:cNvPr id="8" name="Rectangle 7"/>
          <p:cNvSpPr/>
          <p:nvPr/>
        </p:nvSpPr>
        <p:spPr>
          <a:xfrm>
            <a:off x="5356094" y="1810512"/>
            <a:ext cx="600578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74966" y="1929384"/>
            <a:ext cx="576804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74966" y="1929384"/>
            <a:ext cx="576804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49286" y="2203703"/>
            <a:ext cx="521940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Rectangle 11"/>
          <p:cNvSpPr/>
          <p:nvPr/>
        </p:nvSpPr>
        <p:spPr>
          <a:xfrm>
            <a:off x="7407260" y="3509467"/>
            <a:ext cx="173041"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060560" y="2947659"/>
            <a:ext cx="144201" cy="386242"/>
          </a:xfrm>
          <a:prstGeom prst="rect">
            <a:avLst/>
          </a:prstGeom>
          <a:noFill/>
          <a:ln w="44450">
            <a:solidFill>
              <a:srgbClr val="C62828"/>
            </a:solidFill>
          </a:ln>
        </p:spPr>
        <p:txBody>
          <a:bodyPr rtlCol="0" anchor="ctr"/>
          <a:lstStyle/>
          <a:p>
            <a:pPr algn="ctr"/>
          </a:p>
        </p:txBody>
      </p:sp>
      <p:sp>
        <p:nvSpPr>
          <p:cNvPr id="14" name="Rectangle 13"/>
          <p:cNvSpPr/>
          <p:nvPr/>
        </p:nvSpPr>
        <p:spPr>
          <a:xfrm>
            <a:off x="8849271" y="3965935"/>
            <a:ext cx="144201" cy="438912"/>
          </a:xfrm>
          <a:prstGeom prst="rect">
            <a:avLst/>
          </a:prstGeom>
          <a:noFill/>
          <a:ln w="44450">
            <a:solidFill>
              <a:srgbClr val="1F5FAD"/>
            </a:solidFill>
          </a:ln>
        </p:spPr>
        <p:txBody>
          <a:bodyPr rtlCol="0" anchor="ctr"/>
          <a:lstStyle/>
          <a:p>
            <a:pPr algn="ctr"/>
          </a:p>
        </p:txBody>
      </p:sp>
      <p:sp>
        <p:nvSpPr>
          <p:cNvPr id="15" name="Oval 14"/>
          <p:cNvSpPr/>
          <p:nvPr/>
        </p:nvSpPr>
        <p:spPr>
          <a:xfrm>
            <a:off x="7153331" y="346996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10394" y="28028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945" y="42073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the inside bar's Japanese candlestick equivalent is the Harami pattern (p. 225): a narrow candle inside the larger candle before it. Lim keeps the two rules separate.</a:t>
            </a:r>
          </a:p>
          <a:p>
            <a:pPr algn="l">
              <a:lnSpc>
                <a:spcPct val="118000"/>
              </a:lnSpc>
              <a:spcBef>
                <a:spcPts val="0"/>
              </a:spcBef>
              <a:spcAft>
                <a:spcPts val="1300"/>
              </a:spcAft>
            </a:pPr>
            <a:r>
              <a:rPr sz="2100" b="0" i="0">
                <a:solidFill>
                  <a:srgbClr val="1A1A1A"/>
                </a:solidFill>
                <a:latin typeface="Arial"/>
              </a:rPr>
              <a:t>Lim's rule is that the narrow bar's range is no more than one-fourth to one-third of the larger bar's (pp. 225 to 226). A 6.0 point bar allows only 1.5 to 2.0.</a:t>
            </a:r>
          </a:p>
          <a:p>
            <a:pPr algn="l">
              <a:lnSpc>
                <a:spcPct val="118000"/>
              </a:lnSpc>
              <a:spcBef>
                <a:spcPts val="0"/>
              </a:spcBef>
              <a:spcAft>
                <a:spcPts val="1300"/>
              </a:spcAft>
            </a:pPr>
            <a:r>
              <a:rPr sz="2100" b="0" i="0">
                <a:solidFill>
                  <a:srgbClr val="1A1A1A"/>
                </a:solidFill>
                <a:latin typeface="Arial"/>
              </a:rPr>
              <a:t>An inside bar has no such limit. Check the proportion before you say Harami.</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225 to 226. The 6.0-point example is ours, invented.</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small must a Harami's narrow bar be?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(pp. 225 to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small must a Harami's narrow bar be?</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No more than one-fourth to one-third of the larger bar's range (pp. 225 to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exhaustion bar with simple prices. The previous bar reached a high of PHP 65.00 </a:t>
            </a:r>
            <a:r>
              <a:rPr sz="1700" b="1" i="0">
                <a:solidFill>
                  <a:srgbClr val="E09B00"/>
                </a:solidFill>
                <a:latin typeface="Arial"/>
              </a:rPr>
              <a:t>(1)</a:t>
            </a:r>
            <a:r>
              <a:rPr sz="1700" b="0" i="0">
                <a:solidFill>
                  <a:srgbClr val="1A1A1A"/>
                </a:solidFill>
                <a:latin typeface="Arial"/>
              </a:rPr>
              <a:t>. The exhaustion bar </a:t>
            </a:r>
            <a:r>
              <a:rPr sz="1700" b="1" i="0">
                <a:solidFill>
                  <a:srgbClr val="C62828"/>
                </a:solidFill>
                <a:latin typeface="Arial"/>
              </a:rPr>
              <a:t>(2)</a:t>
            </a:r>
            <a:r>
              <a:rPr sz="1700" b="0" i="0">
                <a:solidFill>
                  <a:srgbClr val="1A1A1A"/>
                </a:solidFill>
                <a:latin typeface="Arial"/>
              </a:rPr>
              <a:t> opens above it at PHP 65.40 and reaches PHP 66.20, then falls to close near its low at PHP 60.50. The next bar opens at PHP 60.20 </a:t>
            </a:r>
            <a:r>
              <a:rPr sz="1700" b="1" i="0">
                <a:solidFill>
                  <a:srgbClr val="1F5FAD"/>
                </a:solidFill>
                <a:latin typeface="Arial"/>
              </a:rPr>
              <a:t>(3)</a:t>
            </a:r>
            <a:r>
              <a:rPr sz="1700" b="0" i="0">
                <a:solidFill>
                  <a:srgbClr val="1A1A1A"/>
                </a:solidFill>
                <a:latin typeface="Arial"/>
              </a:rPr>
              <a:t>, inside that range, so there is no gap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941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76561"/>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8100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92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bullish exhaustion case is in a downtrend. Gold </a:t>
            </a:r>
            <a:r>
              <a:rPr sz="1700" b="1" i="0">
                <a:solidFill>
                  <a:srgbClr val="E09B00"/>
                </a:solidFill>
                <a:latin typeface="Arial"/>
              </a:rPr>
              <a:t>(1)</a:t>
            </a:r>
            <a:r>
              <a:rPr sz="1700" b="0" i="0">
                <a:solidFill>
                  <a:srgbClr val="1A1A1A"/>
                </a:solidFill>
                <a:latin typeface="Arial"/>
              </a:rPr>
              <a:t> marks the gap before the bar, red </a:t>
            </a:r>
            <a:r>
              <a:rPr sz="1700" b="1" i="0">
                <a:solidFill>
                  <a:srgbClr val="C62828"/>
                </a:solidFill>
                <a:latin typeface="Arial"/>
              </a:rPr>
              <a:t>(2)</a:t>
            </a:r>
            <a:r>
              <a:rPr sz="1700" b="0" i="0">
                <a:solidFill>
                  <a:srgbClr val="1A1A1A"/>
                </a:solidFill>
                <a:latin typeface="Arial"/>
              </a:rPr>
              <a:t> the exhaustion bar, and blue </a:t>
            </a:r>
            <a:r>
              <a:rPr sz="1700" b="1" i="0">
                <a:solidFill>
                  <a:srgbClr val="1F5FAD"/>
                </a:solidFill>
                <a:latin typeface="Arial"/>
              </a:rPr>
              <a:t>(3)</a:t>
            </a:r>
            <a:r>
              <a:rPr sz="1700" b="0" i="0">
                <a:solidFill>
                  <a:srgbClr val="1A1A1A"/>
                </a:solidFill>
                <a:latin typeface="Arial"/>
              </a:rPr>
              <a:t> the later rebound.</a:t>
            </a:r>
          </a:p>
          <a:p>
            <a:pPr algn="l">
              <a:lnSpc>
                <a:spcPct val="105000"/>
              </a:lnSpc>
              <a:spcBef>
                <a:spcPts val="0"/>
              </a:spcBef>
              <a:spcAft>
                <a:spcPts val="1100"/>
              </a:spcAft>
            </a:pPr>
            <a:r>
              <a:rPr sz="17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700" b="0" i="0">
                <a:solidFill>
                  <a:srgbClr val="1A1A1A"/>
                </a:solidFill>
                <a:latin typeface="Arial"/>
              </a:rPr>
              <a:t>The prior gap is visible, but Lim's rule concerns the absence of a gap after the exhaustion bar (p. 226).</a:t>
            </a:r>
          </a:p>
        </p:txBody>
      </p:sp>
      <p:sp>
        <p:nvSpPr>
          <p:cNvPr id="8" name="Rectangle 7"/>
          <p:cNvSpPr/>
          <p:nvPr/>
        </p:nvSpPr>
        <p:spPr>
          <a:xfrm>
            <a:off x="5303519" y="1810512"/>
            <a:ext cx="6110935" cy="285177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1403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5683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358987" y="3288680"/>
            <a:ext cx="352391" cy="235262"/>
          </a:xfrm>
          <a:prstGeom prst="ellipse">
            <a:avLst/>
          </a:prstGeom>
          <a:noFill/>
          <a:ln w="44450">
            <a:solidFill>
              <a:srgbClr val="E09B00"/>
            </a:solidFill>
          </a:ln>
        </p:spPr>
        <p:txBody>
          <a:bodyPr rtlCol="0" anchor="ctr"/>
          <a:lstStyle/>
          <a:p>
            <a:pPr algn="ctr"/>
          </a:p>
        </p:txBody>
      </p:sp>
      <p:sp>
        <p:nvSpPr>
          <p:cNvPr id="13" name="Rectangle 12"/>
          <p:cNvSpPr/>
          <p:nvPr/>
        </p:nvSpPr>
        <p:spPr>
          <a:xfrm>
            <a:off x="8564549" y="3393241"/>
            <a:ext cx="117463" cy="365964"/>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8828842" y="2792014"/>
            <a:ext cx="822247" cy="444385"/>
          </a:xfrm>
          <a:prstGeom prst="line">
            <a:avLst/>
          </a:prstGeom>
          <a:ln w="44450">
            <a:solidFill>
              <a:srgbClr val="1F5FAD"/>
            </a:solidFill>
            <a:tailEnd type="triangle" w="med" len="med"/>
          </a:ln>
        </p:spPr>
      </p:cxnSp>
      <p:sp>
        <p:nvSpPr>
          <p:cNvPr id="15" name="Oval 14"/>
          <p:cNvSpPr/>
          <p:nvPr/>
        </p:nvSpPr>
        <p:spPr>
          <a:xfrm>
            <a:off x="8014331" y="312667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89748" y="33880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688191" y="263000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5372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the bullish exhaustion converse appear?</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the bullish exhaustion converse appear?</a:t>
            </a:r>
          </a:p>
        </p:txBody>
      </p:sp>
      <p:sp>
        <p:nvSpPr>
          <p:cNvPr id="13" name="TextBox 12"/>
          <p:cNvSpPr txBox="1"/>
          <p:nvPr/>
        </p:nvSpPr>
        <p:spPr>
          <a:xfrm>
            <a:off x="1097280" y="475094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Lim says the reverse is true in a downtrend; Figure 7.28 shows it forming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emotion spike with simple prices. Bars 1, 2 and 4 are ordinary: each spans 3.0 points and trades 1.5 million shares. Bar 3 is the spike. It runs from PHP 62.00 to PHP 70.00, a range of 8.0 points </a:t>
            </a:r>
            <a:r>
              <a:rPr sz="1700" b="1" i="0">
                <a:solidFill>
                  <a:srgbClr val="E09B00"/>
                </a:solidFill>
                <a:latin typeface="Arial"/>
              </a:rPr>
              <a:t>(1)</a:t>
            </a:r>
            <a:r>
              <a:rPr sz="1700" b="0" i="0">
                <a:solidFill>
                  <a:srgbClr val="1A1A1A"/>
                </a:solidFill>
                <a:latin typeface="Arial"/>
              </a:rPr>
              <a:t>, and it trades 6.0 million shares </a:t>
            </a:r>
            <a:r>
              <a:rPr sz="1700" b="1" i="0">
                <a:solidFill>
                  <a:srgbClr val="C62828"/>
                </a:solidFill>
                <a:latin typeface="Arial"/>
              </a:rPr>
              <a:t>(2)</a:t>
            </a:r>
            <a:r>
              <a:rPr sz="1700" b="0" i="0">
                <a:solidFill>
                  <a:srgbClr val="1A1A1A"/>
                </a:solidFill>
                <a:latin typeface="Arial"/>
              </a:rPr>
              <a:t>, four times the ordinary volume. A wide range on high volume is exactly how Lim describes a price spike in an emotional market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74808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7482839" y="366396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7482839"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wide spike, red </a:t>
            </a:r>
            <a:r>
              <a:rPr sz="1800" b="1" i="0">
                <a:solidFill>
                  <a:srgbClr val="C62828"/>
                </a:solidFill>
                <a:latin typeface="Arial"/>
              </a:rPr>
              <a:t>(2)</a:t>
            </a:r>
            <a:r>
              <a:rPr sz="1800" b="0" i="0">
                <a:solidFill>
                  <a:srgbClr val="1A1A1A"/>
                </a:solidFill>
                <a:latin typeface="Arial"/>
              </a:rPr>
              <a:t> its high volume, and blue </a:t>
            </a:r>
            <a:r>
              <a:rPr sz="1800" b="1" i="0">
                <a:solidFill>
                  <a:srgbClr val="1F5FAD"/>
                </a:solidFill>
                <a:latin typeface="Arial"/>
              </a:rPr>
              <a:t>(3)</a:t>
            </a:r>
            <a:r>
              <a:rPr sz="1800" b="0" i="0">
                <a:solidFill>
                  <a:srgbClr val="1A1A1A"/>
                </a:solidFill>
                <a:latin typeface="Arial"/>
              </a:rPr>
              <a:t> the three-bar bearish reversal at the top.</a:t>
            </a:r>
          </a:p>
          <a:p>
            <a:pPr algn="l">
              <a:lnSpc>
                <a:spcPct val="105000"/>
              </a:lnSpc>
              <a:spcBef>
                <a:spcPts val="0"/>
              </a:spcBef>
              <a:spcAft>
                <a:spcPts val="1100"/>
              </a:spcAft>
            </a:pPr>
            <a:r>
              <a:rPr sz="1800" b="0" i="0">
                <a:solidFill>
                  <a:srgbClr val="1A1A1A"/>
                </a:solidFill>
                <a:latin typeface="Arial"/>
              </a:rPr>
              <a:t>The wide range and high volume explain the name. The reversal context is a warning, not a prediction.</a:t>
            </a:r>
          </a:p>
        </p:txBody>
      </p:sp>
      <p:sp>
        <p:nvSpPr>
          <p:cNvPr id="8" name="Rectangle 7"/>
          <p:cNvSpPr/>
          <p:nvPr/>
        </p:nvSpPr>
        <p:spPr>
          <a:xfrm>
            <a:off x="5364626" y="1810512"/>
            <a:ext cx="59887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83498" y="1929384"/>
            <a:ext cx="57509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3498" y="1929384"/>
            <a:ext cx="57509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57818" y="2203703"/>
            <a:ext cx="52023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7783889" y="2631643"/>
            <a:ext cx="402568" cy="1158727"/>
          </a:xfrm>
          <a:prstGeom prst="ellipse">
            <a:avLst/>
          </a:prstGeom>
          <a:noFill/>
          <a:ln w="44450">
            <a:solidFill>
              <a:srgbClr val="E09B00"/>
            </a:solidFill>
          </a:ln>
        </p:spPr>
        <p:txBody>
          <a:bodyPr rtlCol="0" anchor="ctr"/>
          <a:lstStyle/>
          <a:p>
            <a:pPr algn="ctr"/>
          </a:p>
        </p:txBody>
      </p:sp>
      <p:sp>
        <p:nvSpPr>
          <p:cNvPr id="13" name="Oval 12"/>
          <p:cNvSpPr/>
          <p:nvPr/>
        </p:nvSpPr>
        <p:spPr>
          <a:xfrm>
            <a:off x="7898909" y="4562856"/>
            <a:ext cx="115019" cy="807598"/>
          </a:xfrm>
          <a:prstGeom prst="ellipse">
            <a:avLst/>
          </a:prstGeom>
          <a:noFill/>
          <a:ln w="44450">
            <a:solidFill>
              <a:srgbClr val="C62828"/>
            </a:solidFill>
          </a:ln>
        </p:spPr>
        <p:txBody>
          <a:bodyPr rtlCol="0" anchor="ctr"/>
          <a:lstStyle/>
          <a:p>
            <a:pPr algn="ctr"/>
          </a:p>
        </p:txBody>
      </p:sp>
      <p:sp>
        <p:nvSpPr>
          <p:cNvPr id="14" name="Oval 13"/>
          <p:cNvSpPr/>
          <p:nvPr/>
        </p:nvSpPr>
        <p:spPr>
          <a:xfrm>
            <a:off x="9739222" y="2140061"/>
            <a:ext cx="460078" cy="491581"/>
          </a:xfrm>
          <a:prstGeom prst="ellipse">
            <a:avLst/>
          </a:prstGeom>
          <a:noFill/>
          <a:ln w="44450">
            <a:solidFill>
              <a:srgbClr val="1F5FAD"/>
            </a:solidFill>
          </a:ln>
        </p:spPr>
        <p:txBody>
          <a:bodyPr rtlCol="0" anchor="ctr"/>
          <a:lstStyle/>
          <a:p>
            <a:pPr algn="ctr"/>
          </a:p>
        </p:txBody>
      </p:sp>
      <p:sp>
        <p:nvSpPr>
          <p:cNvPr id="15" name="Oval 14"/>
          <p:cNvSpPr/>
          <p:nvPr/>
        </p:nvSpPr>
        <p:spPr>
          <a:xfrm>
            <a:off x="7444122" y="241657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990465" y="462869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77121"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pin bar with simple prices. Support sits at PHP 40.00 </a:t>
            </a:r>
            <a:r>
              <a:rPr sz="1700" b="1" i="0">
                <a:solidFill>
                  <a:srgbClr val="E09B00"/>
                </a:solidFill>
                <a:latin typeface="Arial"/>
              </a:rPr>
              <a:t>(1)</a:t>
            </a:r>
            <a:r>
              <a:rPr sz="1700" b="0" i="0">
                <a:solidFill>
                  <a:srgbClr val="1A1A1A"/>
                </a:solidFill>
                <a:latin typeface="Arial"/>
              </a:rPr>
              <a:t>. The pin bar trades down through it to PHP 38.80 </a:t>
            </a:r>
            <a:r>
              <a:rPr sz="1700" b="1" i="0">
                <a:solidFill>
                  <a:srgbClr val="C62828"/>
                </a:solidFill>
                <a:latin typeface="Arial"/>
              </a:rPr>
              <a:t>(2)</a:t>
            </a:r>
            <a:r>
              <a:rPr sz="1700" b="0" i="0">
                <a:solidFill>
                  <a:srgbClr val="1A1A1A"/>
                </a:solidFill>
                <a:latin typeface="Arial"/>
              </a:rPr>
              <a:t>, then closes back above it at PHP 40.60 </a:t>
            </a:r>
            <a:r>
              <a:rPr sz="1700" b="1" i="0">
                <a:solidFill>
                  <a:srgbClr val="1F5FAD"/>
                </a:solidFill>
                <a:latin typeface="Arial"/>
              </a:rPr>
              <a:t>(3)</a:t>
            </a:r>
            <a:r>
              <a:rPr sz="1700" b="0" i="0">
                <a:solidFill>
                  <a:srgbClr val="1A1A1A"/>
                </a:solidFill>
                <a:latin typeface="Arial"/>
              </a:rPr>
              <a:t>, on only 0.8 million shares. The return above support is the clue that the break was false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65</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support, red </a:t>
            </a:r>
            <a:r>
              <a:rPr sz="1800" b="1" i="0">
                <a:solidFill>
                  <a:srgbClr val="C62828"/>
                </a:solidFill>
                <a:latin typeface="Arial"/>
              </a:rPr>
              <a:t>(2)</a:t>
            </a:r>
            <a:r>
              <a:rPr sz="1800" b="0" i="0">
                <a:solidFill>
                  <a:srgbClr val="1A1A1A"/>
                </a:solidFill>
                <a:latin typeface="Arial"/>
              </a:rPr>
              <a:t> the intra-period penetration, and blue </a:t>
            </a:r>
            <a:r>
              <a:rPr sz="1800" b="1" i="0">
                <a:solidFill>
                  <a:srgbClr val="1F5FAD"/>
                </a:solidFill>
                <a:latin typeface="Arial"/>
              </a:rPr>
              <a:t>(3)</a:t>
            </a:r>
            <a:r>
              <a:rPr sz="1800" b="0" i="0">
                <a:solidFill>
                  <a:srgbClr val="1A1A1A"/>
                </a:solidFill>
                <a:latin typeface="Arial"/>
              </a:rPr>
              <a:t> the close back above support.</a:t>
            </a:r>
          </a:p>
          <a:p>
            <a:pPr algn="l">
              <a:lnSpc>
                <a:spcPct val="105000"/>
              </a:lnSpc>
              <a:spcBef>
                <a:spcPts val="0"/>
              </a:spcBef>
              <a:spcAft>
                <a:spcPts val="1100"/>
              </a:spcAft>
            </a:pPr>
            <a:r>
              <a:rPr sz="18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5303519" y="1810512"/>
            <a:ext cx="6110935" cy="307175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83401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3768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185906" y="4125742"/>
            <a:ext cx="4992213" cy="0"/>
          </a:xfrm>
          <a:prstGeom prst="line">
            <a:avLst/>
          </a:prstGeom>
          <a:ln w="44450">
            <a:solidFill>
              <a:srgbClr val="E09B00"/>
            </a:solidFill>
          </a:ln>
        </p:spPr>
      </p:cxnSp>
      <p:sp>
        <p:nvSpPr>
          <p:cNvPr id="13" name="Oval 12"/>
          <p:cNvSpPr/>
          <p:nvPr/>
        </p:nvSpPr>
        <p:spPr>
          <a:xfrm>
            <a:off x="7066885" y="4139912"/>
            <a:ext cx="176195" cy="340081"/>
          </a:xfrm>
          <a:prstGeom prst="ellipse">
            <a:avLst/>
          </a:prstGeom>
          <a:noFill/>
          <a:ln w="44450">
            <a:solidFill>
              <a:srgbClr val="C62828"/>
            </a:solidFill>
          </a:ln>
        </p:spPr>
        <p:txBody>
          <a:bodyPr rtlCol="0" anchor="ctr"/>
          <a:lstStyle/>
          <a:p>
            <a:pPr algn="ctr"/>
          </a:p>
        </p:txBody>
      </p:sp>
      <p:sp>
        <p:nvSpPr>
          <p:cNvPr id="14" name="Oval 13"/>
          <p:cNvSpPr/>
          <p:nvPr/>
        </p:nvSpPr>
        <p:spPr>
          <a:xfrm>
            <a:off x="7008153" y="3714810"/>
            <a:ext cx="469855" cy="368421"/>
          </a:xfrm>
          <a:prstGeom prst="ellipse">
            <a:avLst/>
          </a:prstGeom>
          <a:noFill/>
          <a:ln w="44450">
            <a:solidFill>
              <a:srgbClr val="1F5FAD"/>
            </a:solidFill>
          </a:ln>
        </p:spPr>
        <p:txBody>
          <a:bodyPr rtlCol="0" anchor="ctr"/>
          <a:lstStyle/>
          <a:p>
            <a:pPr algn="ctr"/>
          </a:p>
        </p:txBody>
      </p:sp>
      <p:sp>
        <p:nvSpPr>
          <p:cNvPr id="15" name="Oval 14"/>
          <p:cNvSpPr/>
          <p:nvPr/>
        </p:nvSpPr>
        <p:spPr>
          <a:xfrm>
            <a:off x="5665055" y="401601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663497" y="425690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661940" y="329334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97370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for teaching.</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67464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43690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97970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901882" y="3214481"/>
            <a:ext cx="4292696" cy="0"/>
          </a:xfrm>
          <a:prstGeom prst="line">
            <a:avLst/>
          </a:prstGeom>
          <a:ln w="44450">
            <a:solidFill>
              <a:srgbClr val="E09B00"/>
            </a:solidFill>
          </a:ln>
        </p:spPr>
      </p:cxnSp>
      <p:sp>
        <p:nvSpPr>
          <p:cNvPr id="19" name="Oval 18"/>
          <p:cNvSpPr/>
          <p:nvPr/>
        </p:nvSpPr>
        <p:spPr>
          <a:xfrm>
            <a:off x="7659416" y="3226665"/>
            <a:ext cx="151506" cy="292428"/>
          </a:xfrm>
          <a:prstGeom prst="ellipse">
            <a:avLst/>
          </a:prstGeom>
          <a:noFill/>
          <a:ln w="44450">
            <a:solidFill>
              <a:srgbClr val="C62828"/>
            </a:solidFill>
          </a:ln>
        </p:spPr>
        <p:txBody>
          <a:bodyPr rtlCol="0" anchor="ctr"/>
          <a:lstStyle/>
          <a:p>
            <a:pPr algn="ctr"/>
          </a:p>
        </p:txBody>
      </p:sp>
      <p:sp>
        <p:nvSpPr>
          <p:cNvPr id="20" name="Oval 19"/>
          <p:cNvSpPr/>
          <p:nvPr/>
        </p:nvSpPr>
        <p:spPr>
          <a:xfrm>
            <a:off x="7608914" y="2861130"/>
            <a:ext cx="404018" cy="316797"/>
          </a:xfrm>
          <a:prstGeom prst="ellipse">
            <a:avLst/>
          </a:prstGeom>
          <a:noFill/>
          <a:ln w="44450">
            <a:solidFill>
              <a:srgbClr val="1F5FAD"/>
            </a:solidFill>
          </a:ln>
        </p:spPr>
        <p:txBody>
          <a:bodyPr rtlCol="0" anchor="ctr"/>
          <a:lstStyle/>
          <a:p>
            <a:pPr algn="ctr"/>
          </a:p>
        </p:txBody>
      </p:sp>
      <p:sp>
        <p:nvSpPr>
          <p:cNvPr id="21" name="Oval 20"/>
          <p:cNvSpPr/>
          <p:nvPr/>
        </p:nvSpPr>
        <p:spPr>
          <a:xfrm>
            <a:off x="6438637" y="310475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297177" y="331189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155716" y="248334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97309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58092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34317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88597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901882" y="3141842"/>
            <a:ext cx="4292696" cy="0"/>
          </a:xfrm>
          <a:prstGeom prst="line">
            <a:avLst/>
          </a:prstGeom>
          <a:ln w="44450">
            <a:solidFill>
              <a:srgbClr val="E09B00"/>
            </a:solidFill>
          </a:ln>
        </p:spPr>
      </p:cxnSp>
      <p:sp>
        <p:nvSpPr>
          <p:cNvPr id="19" name="Oval 18"/>
          <p:cNvSpPr/>
          <p:nvPr/>
        </p:nvSpPr>
        <p:spPr>
          <a:xfrm>
            <a:off x="7659416" y="3153558"/>
            <a:ext cx="151506" cy="281181"/>
          </a:xfrm>
          <a:prstGeom prst="ellipse">
            <a:avLst/>
          </a:prstGeom>
          <a:noFill/>
          <a:ln w="44450">
            <a:solidFill>
              <a:srgbClr val="C62828"/>
            </a:solidFill>
          </a:ln>
        </p:spPr>
        <p:txBody>
          <a:bodyPr rtlCol="0" anchor="ctr"/>
          <a:lstStyle/>
          <a:p>
            <a:pPr algn="ctr"/>
          </a:p>
        </p:txBody>
      </p:sp>
      <p:sp>
        <p:nvSpPr>
          <p:cNvPr id="20" name="Oval 19"/>
          <p:cNvSpPr/>
          <p:nvPr/>
        </p:nvSpPr>
        <p:spPr>
          <a:xfrm>
            <a:off x="7608914" y="2802081"/>
            <a:ext cx="404018" cy="304613"/>
          </a:xfrm>
          <a:prstGeom prst="ellipse">
            <a:avLst/>
          </a:prstGeom>
          <a:noFill/>
          <a:ln w="44450">
            <a:solidFill>
              <a:srgbClr val="1F5FAD"/>
            </a:solidFill>
          </a:ln>
        </p:spPr>
        <p:txBody>
          <a:bodyPr rtlCol="0" anchor="ctr"/>
          <a:lstStyle/>
          <a:p>
            <a:pPr algn="ctr"/>
          </a:p>
        </p:txBody>
      </p:sp>
      <p:sp>
        <p:nvSpPr>
          <p:cNvPr id="21" name="Oval 20"/>
          <p:cNvSpPr/>
          <p:nvPr/>
        </p:nvSpPr>
        <p:spPr>
          <a:xfrm>
            <a:off x="6438637" y="303211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297177" y="32312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155716" y="24346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87936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comes at the end of a run. It opens above the previous high </a:t>
            </a:r>
            <a:r>
              <a:rPr sz="1700" b="1" i="0">
                <a:solidFill>
                  <a:srgbClr val="E09B00"/>
                </a:solidFill>
                <a:latin typeface="Arial"/>
              </a:rPr>
              <a:t>(1)</a:t>
            </a:r>
            <a:r>
              <a:rPr sz="1700" b="0" i="0">
                <a:solidFill>
                  <a:srgbClr val="1A1A1A"/>
                </a:solidFill>
                <a:latin typeface="Arial"/>
              </a:rPr>
              <a:t>, pushes to a new high </a:t>
            </a:r>
            <a:r>
              <a:rPr sz="1700" b="1" i="0">
                <a:solidFill>
                  <a:srgbClr val="C62828"/>
                </a:solidFill>
                <a:latin typeface="Arial"/>
              </a:rPr>
              <a:t>(2)</a:t>
            </a:r>
            <a:r>
              <a:rPr sz="1700" b="0" i="0">
                <a:solidFill>
                  <a:srgbClr val="1A1A1A"/>
                </a:solidFill>
                <a:latin typeface="Arial"/>
              </a:rPr>
              <a:t>, then gives most of it back, and the next bar opens without a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pokes through support </a:t>
            </a:r>
            <a:r>
              <a:rPr sz="1700" b="1" i="0">
                <a:solidFill>
                  <a:srgbClr val="7B3FA0"/>
                </a:solidFill>
                <a:latin typeface="Arial"/>
              </a:rPr>
              <a:t>(1)</a:t>
            </a:r>
            <a:r>
              <a:rPr sz="1700" b="0" i="0">
                <a:solidFill>
                  <a:srgbClr val="1A1A1A"/>
                </a:solidFill>
                <a:latin typeface="Arial"/>
              </a:rPr>
              <a:t> and then closes back above it </a:t>
            </a:r>
            <a:r>
              <a:rPr sz="1700" b="1" i="0">
                <a:solidFill>
                  <a:srgbClr val="C62828"/>
                </a:solidFill>
                <a:latin typeface="Arial"/>
              </a:rPr>
              <a:t>(2)</a:t>
            </a:r>
            <a:r>
              <a:rPr sz="1700" b="0" i="0">
                <a:solidFill>
                  <a:srgbClr val="1A1A1A"/>
                </a:solidFill>
                <a:latin typeface="Arial"/>
              </a:rPr>
              <a:t>, on low volume </a:t>
            </a:r>
            <a:r>
              <a:rPr sz="1700" b="1" i="0">
                <a:solidFill>
                  <a:srgbClr val="E09B00"/>
                </a:solidFill>
                <a:latin typeface="Arial"/>
              </a:rPr>
              <a:t>(3)</a:t>
            </a:r>
            <a:r>
              <a:rPr sz="1700" b="0" i="0">
                <a:solidFill>
                  <a:srgbClr val="1A1A1A"/>
                </a:solidFill>
                <a:latin typeface="Arial"/>
              </a:rPr>
              <a:t>. Lim calls pin bars "single bar misrepresentations of market strength or weakness" (p. 227). So ask whether the bar ended a tiring run, or broke a level and came straight back.</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228).</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false breakout goes through a barrier and then comes back inside it. In the upside case, price rises through PHP 60.00 resistance to a false high of PHP 62.00 </a:t>
            </a:r>
            <a:r>
              <a:rPr sz="1700" b="1" i="0">
                <a:solidFill>
                  <a:srgbClr val="E09B00"/>
                </a:solidFill>
                <a:latin typeface="Arial"/>
              </a:rPr>
              <a:t>(1)</a:t>
            </a:r>
            <a:r>
              <a:rPr sz="1700" b="0" i="0">
                <a:solidFill>
                  <a:srgbClr val="1A1A1A"/>
                </a:solidFill>
                <a:latin typeface="Arial"/>
              </a:rPr>
              <a:t>, then closes back below it at PHP 59.40 </a:t>
            </a:r>
            <a:r>
              <a:rPr sz="1700" b="1" i="0">
                <a:solidFill>
                  <a:srgbClr val="1F5FAD"/>
                </a:solidFill>
                <a:latin typeface="Arial"/>
              </a:rPr>
              <a:t>(2)</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downside case, price falls through PHP 40.00 support to a false low of PHP 38.50 </a:t>
            </a:r>
            <a:r>
              <a:rPr sz="1700" b="1" i="0">
                <a:solidFill>
                  <a:srgbClr val="C62828"/>
                </a:solidFill>
                <a:latin typeface="Arial"/>
              </a:rPr>
              <a:t>(1)</a:t>
            </a:r>
            <a:r>
              <a:rPr sz="1700" b="0" i="0">
                <a:solidFill>
                  <a:srgbClr val="1A1A1A"/>
                </a:solidFill>
                <a:latin typeface="Arial"/>
              </a:rPr>
              <a:t>, then closes back above it at PHP 40.60 </a:t>
            </a:r>
            <a:r>
              <a:rPr sz="1700" b="1" i="0">
                <a:solidFill>
                  <a:srgbClr val="7B3FA0"/>
                </a:solidFill>
                <a:latin typeface="Arial"/>
              </a:rPr>
              <a:t>(2)</a:t>
            </a:r>
            <a:r>
              <a:rPr sz="1700" b="0" i="0">
                <a:solidFill>
                  <a:srgbClr val="1A1A1A"/>
                </a:solidFill>
                <a:latin typeface="Arial"/>
              </a:rPr>
              <a:t> (p. 228).</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the short is taken once price falls back below resistance, with the stoploss just above the high of the breakout (p. 228). Here is that trade with simple prices. Resistance sits at PHP 60.00 </a:t>
            </a:r>
            <a:r>
              <a:rPr sz="1700" b="1" i="0">
                <a:solidFill>
                  <a:srgbClr val="E09B00"/>
                </a:solidFill>
                <a:latin typeface="Arial"/>
              </a:rPr>
              <a:t>(1)</a:t>
            </a:r>
            <a:r>
              <a:rPr sz="1700" b="0" i="0">
                <a:solidFill>
                  <a:srgbClr val="1A1A1A"/>
                </a:solidFill>
                <a:latin typeface="Arial"/>
              </a:rPr>
              <a:t>. Price breaks above it to a high of PHP 62.00 </a:t>
            </a:r>
            <a:r>
              <a:rPr sz="1700" b="1" i="0">
                <a:solidFill>
                  <a:srgbClr val="C62828"/>
                </a:solidFill>
                <a:latin typeface="Arial"/>
              </a:rPr>
              <a:t>(2)</a:t>
            </a:r>
            <a:r>
              <a:rPr sz="1700" b="0" i="0">
                <a:solidFill>
                  <a:srgbClr val="1A1A1A"/>
                </a:solidFill>
                <a:latin typeface="Arial"/>
              </a:rPr>
              <a:t>, then closes back below it at PHP 59.40 </a:t>
            </a:r>
            <a:r>
              <a:rPr sz="1700" b="1" i="0">
                <a:solidFill>
                  <a:srgbClr val="1F5FAD"/>
                </a:solidFill>
                <a:latin typeface="Arial"/>
              </a:rPr>
              <a:t>(3)</a:t>
            </a:r>
            <a:r>
              <a:rPr sz="1700" b="0" i="0">
                <a:solidFill>
                  <a:srgbClr val="1A1A1A"/>
                </a:solidFill>
                <a:latin typeface="Arial"/>
              </a:rPr>
              <a:t>, and that close is the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stoploss goes just above the breakout high, at PHP 62.50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this a non-failure swing and Sperandeo's 2B entry, but defines neither name (p. 228). For us the pattern is a break above resistance that closes back below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resistance, red </a:t>
            </a:r>
            <a:r>
              <a:rPr sz="2000" b="1" i="0">
                <a:solidFill>
                  <a:srgbClr val="C62828"/>
                </a:solidFill>
                <a:latin typeface="Arial"/>
              </a:rPr>
              <a:t>(2)</a:t>
            </a:r>
            <a:r>
              <a:rPr sz="2000" b="0" i="0">
                <a:solidFill>
                  <a:srgbClr val="1A1A1A"/>
                </a:solidFill>
                <a:latin typeface="Arial"/>
              </a:rPr>
              <a:t> the false high, blue </a:t>
            </a:r>
            <a:r>
              <a:rPr sz="2000" b="1" i="0">
                <a:solidFill>
                  <a:srgbClr val="1F5FAD"/>
                </a:solidFill>
                <a:latin typeface="Arial"/>
              </a:rPr>
              <a:t>(3)</a:t>
            </a:r>
            <a:r>
              <a:rPr sz="2000" b="0" i="0">
                <a:solidFill>
                  <a:srgbClr val="1A1A1A"/>
                </a:solidFill>
                <a:latin typeface="Arial"/>
              </a:rPr>
              <a:t> the close back below, and purple </a:t>
            </a:r>
            <a:r>
              <a:rPr sz="2000" b="1" i="0">
                <a:solidFill>
                  <a:srgbClr val="7B3FA0"/>
                </a:solidFill>
                <a:latin typeface="Arial"/>
              </a:rPr>
              <a:t>(4)</a:t>
            </a:r>
            <a:r>
              <a:rPr sz="2000" b="0" i="0">
                <a:solidFill>
                  <a:srgbClr val="1A1A1A"/>
                </a:solidFill>
                <a:latin typeface="Arial"/>
              </a:rPr>
              <a:t> the stop above the high.</a:t>
            </a:r>
          </a:p>
        </p:txBody>
      </p:sp>
      <p:sp>
        <p:nvSpPr>
          <p:cNvPr id="8" name="Rectangle 7"/>
          <p:cNvSpPr/>
          <p:nvPr/>
        </p:nvSpPr>
        <p:spPr>
          <a:xfrm>
            <a:off x="61510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99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99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442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7314455" y="2301581"/>
            <a:ext cx="1420564" cy="0"/>
          </a:xfrm>
          <a:prstGeom prst="line">
            <a:avLst/>
          </a:prstGeom>
          <a:ln w="44450">
            <a:solidFill>
              <a:srgbClr val="E09B00"/>
            </a:solidFill>
          </a:ln>
        </p:spPr>
      </p:cxnSp>
      <p:sp>
        <p:nvSpPr>
          <p:cNvPr id="13" name="Oval 12"/>
          <p:cNvSpPr/>
          <p:nvPr/>
        </p:nvSpPr>
        <p:spPr>
          <a:xfrm>
            <a:off x="74815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77740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398017" y="2034722"/>
            <a:ext cx="626720" cy="0"/>
          </a:xfrm>
          <a:prstGeom prst="line">
            <a:avLst/>
          </a:prstGeom>
          <a:ln w="44450">
            <a:solidFill>
              <a:srgbClr val="7B3FA0"/>
            </a:solidFill>
          </a:ln>
        </p:spPr>
      </p:cxnSp>
      <p:sp>
        <p:nvSpPr>
          <p:cNvPr id="16" name="Oval 15"/>
          <p:cNvSpPr/>
          <p:nvPr/>
        </p:nvSpPr>
        <p:spPr>
          <a:xfrm>
            <a:off x="8750635" y="220589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246508" y="245168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165696"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183836" y="192499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is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is the close back below resistance; purple </a:t>
            </a:r>
            <a:r>
              <a:rPr sz="1700" b="1" i="0">
                <a:solidFill>
                  <a:srgbClr val="7B3FA0"/>
                </a:solidFill>
                <a:latin typeface="Arial"/>
              </a:rPr>
              <a:t>(4)</a:t>
            </a:r>
            <a:r>
              <a:rPr sz="1700" b="0" i="0">
                <a:solidFill>
                  <a:srgbClr val="1A1A1A"/>
                </a:solidFill>
                <a:latin typeface="Arial"/>
              </a:rPr>
              <a:t> the close back above support.</a:t>
            </a:r>
          </a:p>
          <a:p>
            <a:pPr algn="l">
              <a:lnSpc>
                <a:spcPct val="105000"/>
              </a:lnSpc>
              <a:spcBef>
                <a:spcPts val="0"/>
              </a:spcBef>
              <a:spcAft>
                <a:spcPts val="1100"/>
              </a:spcAft>
            </a:pPr>
            <a:r>
              <a:rPr sz="1700" b="0" i="0">
                <a:solidFill>
                  <a:srgbClr val="1A1A1A"/>
                </a:solidFill>
                <a:latin typeface="Arial"/>
              </a:rPr>
              <a:t>In our example, the closes return to PHP 59.40 under PHP 60.00 resistance and PHP 40.60 over PHP 40.00 support.</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228).</a:t>
            </a:r>
          </a:p>
        </p:txBody>
      </p:sp>
      <p:sp>
        <p:nvSpPr>
          <p:cNvPr id="8" name="Rectangle 7"/>
          <p:cNvSpPr/>
          <p:nvPr/>
        </p:nvSpPr>
        <p:spPr>
          <a:xfrm>
            <a:off x="5303519" y="1810512"/>
            <a:ext cx="6110935" cy="325253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01478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55758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243081" y="2652933"/>
            <a:ext cx="176195" cy="211035"/>
          </a:xfrm>
          <a:prstGeom prst="ellipse">
            <a:avLst/>
          </a:prstGeom>
          <a:noFill/>
          <a:ln w="44450">
            <a:solidFill>
              <a:srgbClr val="E09B00"/>
            </a:solidFill>
          </a:ln>
        </p:spPr>
        <p:txBody>
          <a:bodyPr rtlCol="0" anchor="ctr"/>
          <a:lstStyle/>
          <a:p>
            <a:pPr algn="ctr"/>
          </a:p>
        </p:txBody>
      </p:sp>
      <p:sp>
        <p:nvSpPr>
          <p:cNvPr id="13" name="Oval 12"/>
          <p:cNvSpPr/>
          <p:nvPr/>
        </p:nvSpPr>
        <p:spPr>
          <a:xfrm>
            <a:off x="8916940" y="3768405"/>
            <a:ext cx="205561" cy="195961"/>
          </a:xfrm>
          <a:prstGeom prst="ellipse">
            <a:avLst/>
          </a:prstGeom>
          <a:noFill/>
          <a:ln w="44450">
            <a:solidFill>
              <a:srgbClr val="C62828"/>
            </a:solidFill>
          </a:ln>
        </p:spPr>
        <p:txBody>
          <a:bodyPr rtlCol="0" anchor="ctr"/>
          <a:lstStyle/>
          <a:p>
            <a:pPr algn="ctr"/>
          </a:p>
        </p:txBody>
      </p:sp>
      <p:sp>
        <p:nvSpPr>
          <p:cNvPr id="14" name="Oval 13"/>
          <p:cNvSpPr/>
          <p:nvPr/>
        </p:nvSpPr>
        <p:spPr>
          <a:xfrm>
            <a:off x="7431023" y="2818746"/>
            <a:ext cx="164449" cy="226109"/>
          </a:xfrm>
          <a:prstGeom prst="ellipse">
            <a:avLst/>
          </a:prstGeom>
          <a:noFill/>
          <a:ln w="44450">
            <a:solidFill>
              <a:srgbClr val="1F5FAD"/>
            </a:solidFill>
          </a:ln>
        </p:spPr>
        <p:txBody>
          <a:bodyPr rtlCol="0" anchor="ctr"/>
          <a:lstStyle/>
          <a:p>
            <a:pPr algn="ctr"/>
          </a:p>
        </p:txBody>
      </p:sp>
      <p:sp>
        <p:nvSpPr>
          <p:cNvPr id="15" name="Oval 14"/>
          <p:cNvSpPr/>
          <p:nvPr/>
        </p:nvSpPr>
        <p:spPr>
          <a:xfrm>
            <a:off x="9110755" y="3632739"/>
            <a:ext cx="187942" cy="150739"/>
          </a:xfrm>
          <a:prstGeom prst="ellipse">
            <a:avLst/>
          </a:prstGeom>
          <a:noFill/>
          <a:ln w="44450">
            <a:solidFill>
              <a:srgbClr val="7B3FA0"/>
            </a:solidFill>
          </a:ln>
        </p:spPr>
        <p:txBody>
          <a:bodyPr rtlCol="0" anchor="ctr"/>
          <a:lstStyle/>
          <a:p>
            <a:pPr algn="ctr"/>
          </a:p>
        </p:txBody>
      </p:sp>
      <p:sp>
        <p:nvSpPr>
          <p:cNvPr id="16" name="Oval 15"/>
          <p:cNvSpPr/>
          <p:nvPr/>
        </p:nvSpPr>
        <p:spPr>
          <a:xfrm>
            <a:off x="6986523" y="242261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30238" y="393000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7661940" y="302557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335799" y="371897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154484"/>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228 to 229, Figure 7.32. The crop and marks are for teaching; the PHP prices in the text are ours, invented.</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228).</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228).</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Joe DiNapoli's Double Repo is a topping pattern. In an uptrend, price closes above and below a three-day simple moving average (SMA) twice, and that gives a sell signal (p. 229).</a:t>
            </a:r>
          </a:p>
          <a:p>
            <a:pPr algn="l">
              <a:lnSpc>
                <a:spcPct val="118000"/>
              </a:lnSpc>
              <a:spcBef>
                <a:spcPts val="0"/>
              </a:spcBef>
              <a:spcAft>
                <a:spcPts val="1300"/>
              </a:spcAft>
            </a:pPr>
            <a:r>
              <a:rPr sz="2100" b="0" i="0">
                <a:solidFill>
                  <a:srgbClr val="1A1A1A"/>
                </a:solidFill>
                <a:latin typeface="Arial"/>
              </a:rPr>
              <a:t>The SMA is forward shifted by three days. DiNapoli also asks for at least eight to ten days of bullish price action first, and a top of no more than eight to ten bars.</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the bullish run, then two closes below the line inside a short top.</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Double Repo with simple closes. The dashed line is the three-day SMA shifted three days forward: each point is the average of the three closes that ended three bars earlier, so the line starts at bar 6. For ten bars every close is higher than the one before, from PHP 45.00 up to PHP 50.70 </a:t>
            </a:r>
            <a:r>
              <a:rPr sz="1700" b="1" i="0">
                <a:solidFill>
                  <a:srgbClr val="E09B00"/>
                </a:solidFill>
                <a:latin typeface="Arial"/>
              </a:rPr>
              <a:t>(1)</a:t>
            </a:r>
            <a:r>
              <a:rPr sz="1700" b="0" i="0">
                <a:solidFill>
                  <a:srgbClr val="1A1A1A"/>
                </a:solidFill>
                <a:latin typeface="Arial"/>
              </a:rPr>
              <a:t>, well above the line. That is the bullish run DiNapoli asks for first.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65</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the top forms. At bar 13 price closes at PHP 49.20, below the line at PHP 50.10 </a:t>
            </a:r>
            <a:r>
              <a:rPr sz="1700" b="1" i="0">
                <a:solidFill>
                  <a:srgbClr val="C62828"/>
                </a:solidFill>
                <a:latin typeface="Arial"/>
              </a:rPr>
              <a:t>(2)</a:t>
            </a:r>
            <a:r>
              <a:rPr sz="1700" b="0" i="0">
                <a:solidFill>
                  <a:srgbClr val="1A1A1A"/>
                </a:solidFill>
                <a:latin typeface="Arial"/>
              </a:rPr>
              <a:t>. At bar 14 it closes back above, at PHP 50.70 against PHP 50.40 </a:t>
            </a:r>
            <a:r>
              <a:rPr sz="1700" b="1" i="0">
                <a:solidFill>
                  <a:srgbClr val="1F5FAD"/>
                </a:solidFill>
                <a:latin typeface="Arial"/>
              </a:rPr>
              <a:t>(3)</a:t>
            </a:r>
            <a:r>
              <a:rPr sz="1700" b="0" i="0">
                <a:solidFill>
                  <a:srgbClr val="1A1A1A"/>
                </a:solidFill>
                <a:latin typeface="Arial"/>
              </a:rPr>
              <a:t>. At bar 15 it closes below again, at PHP 49.40 against PHP 50.30 </a:t>
            </a:r>
            <a:r>
              <a:rPr sz="1700" b="1" i="0">
                <a:solidFill>
                  <a:srgbClr val="7B3FA0"/>
                </a:solidFill>
                <a:latin typeface="Arial"/>
              </a:rPr>
              <a:t>(4)</a:t>
            </a:r>
            <a:r>
              <a:rPr sz="1700" b="0" i="0">
                <a:solidFill>
                  <a:srgbClr val="1A1A1A"/>
                </a:solidFill>
                <a:latin typeface="Arial"/>
              </a:rPr>
              <a:t>. That second close below is the sell signal, five bars into the top, and the next bar falls to PHP 48.30.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30722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796808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8924086" y="4183053"/>
            <a:ext cx="87782" cy="87782"/>
          </a:xfrm>
          <a:prstGeom prst="ellipse">
            <a:avLst/>
          </a:prstGeom>
          <a:noFill/>
          <a:ln w="44450">
            <a:solidFill>
              <a:srgbClr val="7B3FA0"/>
            </a:solidFill>
          </a:ln>
        </p:spPr>
        <p:txBody>
          <a:bodyPr rtlCol="0" anchor="ctr"/>
          <a:lstStyle/>
          <a:p>
            <a:pPr algn="ctr"/>
          </a:p>
        </p:txBody>
      </p:sp>
      <p:sp>
        <p:nvSpPr>
          <p:cNvPr id="12" name="Oval 11"/>
          <p:cNvSpPr/>
          <p:nvPr/>
        </p:nvSpPr>
        <p:spPr>
          <a:xfrm>
            <a:off x="7099858" y="4223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8055863"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11869" y="409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a close above the forward-shifted three-day SMA and red </a:t>
            </a:r>
            <a:r>
              <a:rPr sz="1700" b="1" i="0">
                <a:solidFill>
                  <a:srgbClr val="C62828"/>
                </a:solidFill>
                <a:latin typeface="Arial"/>
              </a:rPr>
              <a:t>(2)</a:t>
            </a:r>
            <a:r>
              <a:rPr sz="1700" b="0" i="0">
                <a:solidFill>
                  <a:srgbClr val="1A1A1A"/>
                </a:solidFill>
                <a:latin typeface="Arial"/>
              </a:rPr>
              <a:t> the first close below it, inside the topping block. Blue </a:t>
            </a:r>
            <a:r>
              <a:rPr sz="1700" b="1" i="0">
                <a:solidFill>
                  <a:srgbClr val="1F5FAD"/>
                </a:solidFill>
                <a:latin typeface="Arial"/>
              </a:rPr>
              <a:t>(3)</a:t>
            </a:r>
            <a:r>
              <a:rPr sz="1700" b="0" i="0">
                <a:solidFill>
                  <a:srgbClr val="1A1A1A"/>
                </a:solidFill>
                <a:latin typeface="Arial"/>
              </a:rPr>
              <a:t> marks the later decline.</a:t>
            </a:r>
          </a:p>
          <a:p>
            <a:pPr algn="l">
              <a:lnSpc>
                <a:spcPct val="105000"/>
              </a:lnSpc>
              <a:spcBef>
                <a:spcPts val="0"/>
              </a:spcBef>
              <a:spcAft>
                <a:spcPts val="1100"/>
              </a:spcAft>
            </a:pPr>
            <a:r>
              <a:rPr sz="17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700" b="0" i="0">
                <a:solidFill>
                  <a:srgbClr val="1A1A1A"/>
                </a:solidFill>
                <a:latin typeface="Arial"/>
              </a:rPr>
              <a:t>Read the two crossings as the named structure, not as a complete trading system.</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7771668" y="2243893"/>
            <a:ext cx="146829" cy="183463"/>
          </a:xfrm>
          <a:prstGeom prst="ellipse">
            <a:avLst/>
          </a:prstGeom>
          <a:noFill/>
          <a:ln w="44450">
            <a:solidFill>
              <a:srgbClr val="E09B00"/>
            </a:solidFill>
          </a:ln>
        </p:spPr>
        <p:txBody>
          <a:bodyPr rtlCol="0" anchor="ctr"/>
          <a:lstStyle/>
          <a:p>
            <a:pPr algn="ctr"/>
          </a:p>
        </p:txBody>
      </p:sp>
      <p:sp>
        <p:nvSpPr>
          <p:cNvPr id="13" name="Oval 12"/>
          <p:cNvSpPr/>
          <p:nvPr/>
        </p:nvSpPr>
        <p:spPr>
          <a:xfrm>
            <a:off x="7918498" y="2453566"/>
            <a:ext cx="146829" cy="23588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887574" y="2977748"/>
            <a:ext cx="1057175" cy="733855"/>
          </a:xfrm>
          <a:prstGeom prst="line">
            <a:avLst/>
          </a:prstGeom>
          <a:ln w="44450">
            <a:solidFill>
              <a:srgbClr val="1F5FAD"/>
            </a:solidFill>
            <a:tailEnd type="triangle" w="med" len="med"/>
          </a:ln>
        </p:spPr>
      </p:cxnSp>
      <p:sp>
        <p:nvSpPr>
          <p:cNvPr id="15" name="Oval 14"/>
          <p:cNvSpPr/>
          <p:nvPr/>
        </p:nvSpPr>
        <p:spPr>
          <a:xfrm>
            <a:off x="7632574" y="195070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102429" y="256661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069948" y="370671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forward-shifted three-day SMA. Red </a:t>
            </a:r>
            <a:r>
              <a:rPr sz="1900" b="1" i="0">
                <a:solidFill>
                  <a:srgbClr val="C62828"/>
                </a:solidFill>
                <a:latin typeface="Arial"/>
              </a:rPr>
              <a:t>(2)</a:t>
            </a:r>
            <a:r>
              <a:rPr sz="1900" b="0" i="0">
                <a:solidFill>
                  <a:srgbClr val="1A1A1A"/>
                </a:solidFill>
                <a:latin typeface="Arial"/>
              </a:rPr>
              <a:t> marks the required 8 to 10 bullish days before the pattern.</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1900" b="0" i="0">
                <a:solidFill>
                  <a:srgbClr val="1A1A1A"/>
                </a:solidFill>
                <a:latin typeface="Arial"/>
              </a:rPr>
              <a:t>Count both limits before treating the two crossings as the named sell signal.</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535183" y="2335625"/>
            <a:ext cx="1057174" cy="576600"/>
          </a:xfrm>
          <a:prstGeom prst="line">
            <a:avLst/>
          </a:prstGeom>
          <a:ln w="44450">
            <a:solidFill>
              <a:srgbClr val="E09B00"/>
            </a:solidFill>
          </a:ln>
        </p:spPr>
      </p:cxnSp>
      <p:sp>
        <p:nvSpPr>
          <p:cNvPr id="13" name="Oval 12"/>
          <p:cNvSpPr/>
          <p:nvPr/>
        </p:nvSpPr>
        <p:spPr>
          <a:xfrm>
            <a:off x="6597030" y="2401148"/>
            <a:ext cx="1174638" cy="314509"/>
          </a:xfrm>
          <a:prstGeom prst="ellipse">
            <a:avLst/>
          </a:prstGeom>
          <a:noFill/>
          <a:ln w="44450">
            <a:solidFill>
              <a:srgbClr val="C62828"/>
            </a:solidFill>
          </a:ln>
        </p:spPr>
        <p:txBody>
          <a:bodyPr rtlCol="0" anchor="ctr"/>
          <a:lstStyle/>
          <a:p>
            <a:pPr algn="ctr"/>
          </a:p>
        </p:txBody>
      </p:sp>
      <p:sp>
        <p:nvSpPr>
          <p:cNvPr id="14" name="Rectangle 13"/>
          <p:cNvSpPr/>
          <p:nvPr/>
        </p:nvSpPr>
        <p:spPr>
          <a:xfrm>
            <a:off x="7742302" y="2139056"/>
            <a:ext cx="763514" cy="629018"/>
          </a:xfrm>
          <a:prstGeom prst="rect">
            <a:avLst/>
          </a:prstGeom>
          <a:noFill/>
          <a:ln w="44450">
            <a:solidFill>
              <a:srgbClr val="1F5FAD"/>
            </a:solidFill>
          </a:ln>
        </p:spPr>
        <p:txBody>
          <a:bodyPr rtlCol="0" anchor="ctr"/>
          <a:lstStyle/>
          <a:p>
            <a:pPr algn="ctr"/>
          </a:p>
        </p:txBody>
      </p:sp>
      <p:sp>
        <p:nvSpPr>
          <p:cNvPr id="15" name="Oval 14"/>
          <p:cNvSpPr/>
          <p:nvPr/>
        </p:nvSpPr>
        <p:spPr>
          <a:xfrm>
            <a:off x="9776289" y="22914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722229" y="286802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2919" y="22652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27</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27</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the Hikkake. Lim says the word means to trap or ensnare: price breaks out of an inside bar, the breakout fails, and the traders who followed it are caught (p. 230).</a:t>
            </a:r>
          </a:p>
          <a:p>
            <a:pPr algn="l">
              <a:lnSpc>
                <a:spcPct val="118000"/>
              </a:lnSpc>
              <a:spcBef>
                <a:spcPts val="0"/>
              </a:spcBef>
              <a:spcAft>
                <a:spcPts val="1300"/>
              </a:spcAft>
            </a:pPr>
            <a:r>
              <a:rPr sz="2100" b="0" i="0">
                <a:solidFill>
                  <a:srgbClr val="1A1A1A"/>
                </a:solidFill>
                <a:latin typeface="Arial"/>
              </a:rPr>
              <a:t>So we take the entry only in the opposite direction of the failed breakout, once price breaks the other side of the inside bar. Lim says that breakout should come within three bars of the failed one (p. 230).</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prints the Hikkake at the start of section 7.4, but it is a failed-breakout reversal, so we finish Part 3 with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bearish Hikkake with simple prices. Bar 2 is the inside bar </a:t>
            </a:r>
            <a:r>
              <a:rPr sz="1700" b="1" i="0">
                <a:solidFill>
                  <a:srgbClr val="E09B00"/>
                </a:solidFill>
                <a:latin typeface="Arial"/>
              </a:rPr>
              <a:t>(1)</a:t>
            </a:r>
            <a:r>
              <a:rPr sz="1700" b="0" i="0">
                <a:solidFill>
                  <a:srgbClr val="1A1A1A"/>
                </a:solidFill>
                <a:latin typeface="Arial"/>
              </a:rPr>
              <a:t>: it stays inside bar 1, between PHP 49.00 and PHP 52.00. Bar 3 breaks above the inside high to PHP 53.00 </a:t>
            </a:r>
            <a:r>
              <a:rPr sz="1700" b="1" i="0">
                <a:solidFill>
                  <a:srgbClr val="C62828"/>
                </a:solidFill>
                <a:latin typeface="Arial"/>
              </a:rPr>
              <a:t>(2)</a:t>
            </a:r>
            <a:r>
              <a:rPr sz="1700" b="0" i="0">
                <a:solidFill>
                  <a:srgbClr val="1A1A1A"/>
                </a:solidFill>
                <a:latin typeface="Arial"/>
              </a:rPr>
              <a:t> and closes at PHP 52.50, so it looks like an upside breakout. Bar 4 falls back and closes at PHP 48.70, below the inside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close is the short entry: the opposite direction of the failed breakout, one bar after it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the inside bar </a:t>
            </a:r>
            <a:r>
              <a:rPr sz="1700" b="1" i="0">
                <a:solidFill>
                  <a:srgbClr val="E09B00"/>
                </a:solidFill>
                <a:latin typeface="Arial"/>
              </a:rPr>
              <a:t>(1)</a:t>
            </a:r>
            <a:r>
              <a:rPr sz="1700" b="0" i="0">
                <a:solidFill>
                  <a:srgbClr val="1A1A1A"/>
                </a:solidFill>
                <a:latin typeface="Arial"/>
              </a:rPr>
              <a:t> runs from PHP 40.00 to PHP 43.00. Bar 3 breaks below it to a false low of PHP 39.00 </a:t>
            </a:r>
            <a:r>
              <a:rPr sz="1700" b="1" i="0">
                <a:solidFill>
                  <a:srgbClr val="C62828"/>
                </a:solidFill>
                <a:latin typeface="Arial"/>
              </a:rPr>
              <a:t>(2)</a:t>
            </a:r>
            <a:r>
              <a:rPr sz="1700" b="0" i="0">
                <a:solidFill>
                  <a:srgbClr val="1A1A1A"/>
                </a:solidFill>
                <a:latin typeface="Arial"/>
              </a:rPr>
              <a:t>, then bar 4 closes at PHP 43.40, above the inside high, and that is the long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33213" y="41497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162056" y="47786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344034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49537" y="2982772"/>
            <a:ext cx="150948" cy="983162"/>
          </a:xfrm>
          <a:prstGeom prst="rect">
            <a:avLst/>
          </a:prstGeom>
          <a:noFill/>
          <a:ln w="44450">
            <a:solidFill>
              <a:srgbClr val="E09B00"/>
            </a:solidFill>
          </a:ln>
        </p:spPr>
        <p:txBody>
          <a:bodyPr rtlCol="0" anchor="ctr"/>
          <a:lstStyle/>
          <a:p>
            <a:pPr algn="ctr"/>
          </a:p>
        </p:txBody>
      </p:sp>
      <p:sp>
        <p:nvSpPr>
          <p:cNvPr id="13" name="Oval 12"/>
          <p:cNvSpPr/>
          <p:nvPr/>
        </p:nvSpPr>
        <p:spPr>
          <a:xfrm>
            <a:off x="8113696" y="3895709"/>
            <a:ext cx="188685" cy="667146"/>
          </a:xfrm>
          <a:prstGeom prst="ellipse">
            <a:avLst/>
          </a:prstGeom>
          <a:noFill/>
          <a:ln w="44450">
            <a:solidFill>
              <a:srgbClr val="C62828"/>
            </a:solidFill>
          </a:ln>
        </p:spPr>
        <p:txBody>
          <a:bodyPr rtlCol="0" anchor="ctr"/>
          <a:lstStyle/>
          <a:p>
            <a:pPr algn="ctr"/>
          </a:p>
        </p:txBody>
      </p:sp>
      <p:sp>
        <p:nvSpPr>
          <p:cNvPr id="14" name="Oval 13"/>
          <p:cNvSpPr/>
          <p:nvPr/>
        </p:nvSpPr>
        <p:spPr>
          <a:xfrm>
            <a:off x="8736358" y="2842320"/>
            <a:ext cx="188685" cy="421355"/>
          </a:xfrm>
          <a:prstGeom prst="ellipse">
            <a:avLst/>
          </a:prstGeom>
          <a:noFill/>
          <a:ln w="44450">
            <a:solidFill>
              <a:srgbClr val="1F5FAD"/>
            </a:solidFill>
          </a:ln>
        </p:spPr>
        <p:txBody>
          <a:bodyPr rtlCol="0" anchor="ctr"/>
          <a:lstStyle/>
          <a:p>
            <a:pPr algn="ctr"/>
          </a:p>
        </p:txBody>
      </p:sp>
      <p:sp>
        <p:nvSpPr>
          <p:cNvPr id="15" name="Oval 14"/>
          <p:cNvSpPr/>
          <p:nvPr/>
        </p:nvSpPr>
        <p:spPr>
          <a:xfrm>
            <a:off x="7796414" y="269748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324733" y="448824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04000" y="322417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377823" y="2947659"/>
            <a:ext cx="169816" cy="1053388"/>
          </a:xfrm>
          <a:prstGeom prst="rect">
            <a:avLst/>
          </a:prstGeom>
          <a:noFill/>
          <a:ln w="44450">
            <a:solidFill>
              <a:srgbClr val="E09B00"/>
            </a:solidFill>
          </a:ln>
        </p:spPr>
        <p:txBody>
          <a:bodyPr rtlCol="0" anchor="ctr"/>
          <a:lstStyle/>
          <a:p>
            <a:pPr algn="ctr"/>
          </a:p>
        </p:txBody>
      </p:sp>
      <p:sp>
        <p:nvSpPr>
          <p:cNvPr id="13" name="Oval 12"/>
          <p:cNvSpPr/>
          <p:nvPr/>
        </p:nvSpPr>
        <p:spPr>
          <a:xfrm>
            <a:off x="7641983" y="2596530"/>
            <a:ext cx="188685" cy="526694"/>
          </a:xfrm>
          <a:prstGeom prst="ellipse">
            <a:avLst/>
          </a:prstGeom>
          <a:noFill/>
          <a:ln w="44450">
            <a:solidFill>
              <a:srgbClr val="C62828"/>
            </a:solidFill>
          </a:ln>
        </p:spPr>
        <p:txBody>
          <a:bodyPr rtlCol="0" anchor="ctr"/>
          <a:lstStyle/>
          <a:p>
            <a:pPr algn="ctr"/>
          </a:p>
        </p:txBody>
      </p:sp>
      <p:sp>
        <p:nvSpPr>
          <p:cNvPr id="14" name="Oval 13"/>
          <p:cNvSpPr/>
          <p:nvPr/>
        </p:nvSpPr>
        <p:spPr>
          <a:xfrm>
            <a:off x="8264644" y="3685031"/>
            <a:ext cx="188685" cy="491581"/>
          </a:xfrm>
          <a:prstGeom prst="ellipse">
            <a:avLst/>
          </a:prstGeom>
          <a:noFill/>
          <a:ln w="44450">
            <a:solidFill>
              <a:srgbClr val="1F5FAD"/>
            </a:solidFill>
          </a:ln>
        </p:spPr>
        <p:txBody>
          <a:bodyPr rtlCol="0" anchor="ctr"/>
          <a:lstStyle/>
          <a:p>
            <a:pPr algn="ctr"/>
          </a:p>
        </p:txBody>
      </p:sp>
      <p:sp>
        <p:nvSpPr>
          <p:cNvPr id="15" name="Oval 14"/>
          <p:cNvSpPr/>
          <p:nvPr/>
        </p:nvSpPr>
        <p:spPr>
          <a:xfrm>
            <a:off x="7343570" y="266236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456781" y="239901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022837" y="413711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65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Hikkake formation at the channel bottom, red </a:t>
            </a:r>
            <a:r>
              <a:rPr sz="1900" b="1" i="0">
                <a:solidFill>
                  <a:srgbClr val="C62828"/>
                </a:solidFill>
                <a:latin typeface="Arial"/>
              </a:rPr>
              <a:t>(2)</a:t>
            </a:r>
            <a:r>
              <a:rPr sz="1900" b="0" i="0">
                <a:solidFill>
                  <a:srgbClr val="1A1A1A"/>
                </a:solidFill>
                <a:latin typeface="Arial"/>
              </a:rPr>
              <a:t> its failed downside breakout, and blue </a:t>
            </a:r>
            <a:r>
              <a:rPr sz="1900" b="1" i="0">
                <a:solidFill>
                  <a:srgbClr val="1F5FAD"/>
                </a:solidFill>
                <a:latin typeface="Arial"/>
              </a:rPr>
              <a:t>(3)</a:t>
            </a:r>
            <a:r>
              <a:rPr sz="1900" b="0" i="0">
                <a:solidFill>
                  <a:srgbClr val="1A1A1A"/>
                </a:solidFill>
                <a:latin typeface="Arial"/>
              </a:rPr>
              <a:t> the upside re-entry.</a:t>
            </a:r>
          </a:p>
          <a:p>
            <a:pPr algn="l">
              <a:lnSpc>
                <a:spcPct val="105000"/>
              </a:lnSpc>
              <a:spcBef>
                <a:spcPts val="0"/>
              </a:spcBef>
              <a:spcAft>
                <a:spcPts val="1100"/>
              </a:spcAft>
            </a:pPr>
            <a:r>
              <a:rPr sz="1900" b="0" i="0">
                <a:solidFill>
                  <a:srgbClr val="1A1A1A"/>
                </a:solidFill>
                <a:latin typeface="Arial"/>
              </a:rPr>
              <a:t>Lim notes the pattern forms on high volume, a selling climax, with stochastics oversold (pp. 230 to 231). The book draws the linear regression channel but does not teach it in this chapter.</a:t>
            </a:r>
          </a:p>
        </p:txBody>
      </p:sp>
      <p:sp>
        <p:nvSpPr>
          <p:cNvPr id="8" name="Rectangle 7"/>
          <p:cNvSpPr/>
          <p:nvPr/>
        </p:nvSpPr>
        <p:spPr>
          <a:xfrm>
            <a:off x="611143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3030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3030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0462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018398" y="3404128"/>
            <a:ext cx="340588" cy="351129"/>
          </a:xfrm>
          <a:prstGeom prst="rect">
            <a:avLst/>
          </a:prstGeom>
          <a:noFill/>
          <a:ln w="44450">
            <a:solidFill>
              <a:srgbClr val="E09B00"/>
            </a:solidFill>
          </a:ln>
        </p:spPr>
        <p:txBody>
          <a:bodyPr rtlCol="0" anchor="ctr"/>
          <a:lstStyle/>
          <a:p>
            <a:pPr algn="ctr"/>
          </a:p>
        </p:txBody>
      </p:sp>
      <p:sp>
        <p:nvSpPr>
          <p:cNvPr id="13" name="Oval 12"/>
          <p:cNvSpPr/>
          <p:nvPr/>
        </p:nvSpPr>
        <p:spPr>
          <a:xfrm>
            <a:off x="8124832" y="3614806"/>
            <a:ext cx="106434" cy="140451"/>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273840" y="3088111"/>
            <a:ext cx="170294" cy="386243"/>
          </a:xfrm>
          <a:prstGeom prst="line">
            <a:avLst/>
          </a:prstGeom>
          <a:ln w="44450">
            <a:solidFill>
              <a:srgbClr val="1F5FAD"/>
            </a:solidFill>
            <a:tailEnd type="triangle" w="med" len="med"/>
          </a:ln>
        </p:spPr>
      </p:cxnSp>
      <p:sp>
        <p:nvSpPr>
          <p:cNvPr id="15" name="Oval 14"/>
          <p:cNvSpPr/>
          <p:nvPr/>
        </p:nvSpPr>
        <p:spPr>
          <a:xfrm>
            <a:off x="7695802" y="322417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02236" y="357530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398267" y="283793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230 to 231, Figure 7.35. The crop and marks are for teaching.</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28</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28</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620666" y="2519172"/>
            <a:ext cx="199004" cy="1234439"/>
          </a:xfrm>
          <a:prstGeom prst="rect">
            <a:avLst/>
          </a:prstGeom>
          <a:noFill/>
          <a:ln w="44450">
            <a:solidFill>
              <a:srgbClr val="E09B00"/>
            </a:solidFill>
          </a:ln>
        </p:spPr>
        <p:txBody>
          <a:bodyPr rtlCol="0" anchor="ctr"/>
          <a:lstStyle/>
          <a:p>
            <a:pPr algn="ctr"/>
          </a:p>
        </p:txBody>
      </p:sp>
      <p:sp>
        <p:nvSpPr>
          <p:cNvPr id="19" name="Oval 18"/>
          <p:cNvSpPr/>
          <p:nvPr/>
        </p:nvSpPr>
        <p:spPr>
          <a:xfrm>
            <a:off x="7930228" y="2107692"/>
            <a:ext cx="221115"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9909" y="3383280"/>
            <a:ext cx="221115" cy="576072"/>
          </a:xfrm>
          <a:prstGeom prst="ellipse">
            <a:avLst/>
          </a:prstGeom>
          <a:noFill/>
          <a:ln w="44450">
            <a:solidFill>
              <a:srgbClr val="1F5FAD"/>
            </a:solidFill>
          </a:ln>
        </p:spPr>
        <p:txBody>
          <a:bodyPr rtlCol="0" anchor="ctr"/>
          <a:lstStyle/>
          <a:p>
            <a:pPr algn="ctr"/>
          </a:p>
        </p:txBody>
      </p:sp>
      <p:sp>
        <p:nvSpPr>
          <p:cNvPr id="21" name="Oval 20"/>
          <p:cNvSpPr/>
          <p:nvPr/>
        </p:nvSpPr>
        <p:spPr>
          <a:xfrm>
            <a:off x="7599384"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732054"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95400"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29</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228).</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574674" y="2519172"/>
            <a:ext cx="206964" cy="1234439"/>
          </a:xfrm>
          <a:prstGeom prst="rect">
            <a:avLst/>
          </a:prstGeom>
          <a:noFill/>
          <a:ln w="44450">
            <a:solidFill>
              <a:srgbClr val="E09B00"/>
            </a:solidFill>
          </a:ln>
        </p:spPr>
        <p:txBody>
          <a:bodyPr rtlCol="0" anchor="ctr"/>
          <a:lstStyle/>
          <a:p>
            <a:pPr algn="ctr"/>
          </a:p>
        </p:txBody>
      </p:sp>
      <p:sp>
        <p:nvSpPr>
          <p:cNvPr id="19" name="Oval 18"/>
          <p:cNvSpPr/>
          <p:nvPr/>
        </p:nvSpPr>
        <p:spPr>
          <a:xfrm>
            <a:off x="7896618" y="2107692"/>
            <a:ext cx="229960"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5487" y="3383280"/>
            <a:ext cx="229960" cy="576072"/>
          </a:xfrm>
          <a:prstGeom prst="ellipse">
            <a:avLst/>
          </a:prstGeom>
          <a:noFill/>
          <a:ln w="44450">
            <a:solidFill>
              <a:srgbClr val="1F5FAD"/>
            </a:solidFill>
          </a:ln>
        </p:spPr>
        <p:txBody>
          <a:bodyPr rtlCol="0" anchor="ctr"/>
          <a:lstStyle/>
          <a:p>
            <a:pPr algn="ctr"/>
          </a:p>
        </p:txBody>
      </p:sp>
      <p:sp>
        <p:nvSpPr>
          <p:cNvPr id="21" name="Oval 20"/>
          <p:cNvSpPr/>
          <p:nvPr/>
        </p:nvSpPr>
        <p:spPr>
          <a:xfrm>
            <a:off x="7556930"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694906"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84787"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29</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4 turns to Lim's volatility-based breakouts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4 covers the last section of Chapter 7, which Lim calls volatility-based breakout patterns (p. 230). It opens with the Hikkake, which we read at the end of Part 3; now we read the other two, Larry Williams' Oops entry and the inside day narrow range pattern.</a:t>
            </a:r>
          </a:p>
          <a:p>
            <a:pPr algn="l">
              <a:lnSpc>
                <a:spcPct val="118000"/>
              </a:lnSpc>
              <a:spcBef>
                <a:spcPts val="0"/>
              </a:spcBef>
              <a:spcAft>
                <a:spcPts val="1300"/>
              </a:spcAft>
            </a:pPr>
            <a:r>
              <a:rPr sz="2100" b="0" i="0">
                <a:solidFill>
                  <a:srgbClr val="1A1A1A"/>
                </a:solidFill>
                <a:latin typeface="Arial"/>
              </a:rPr>
              <a:t>The Oops uses three orders from Chapter 5. A sell-stop waits below the market and is filled only if price falls to it, and a buy-stop waits above the market and is filled only if price rises to it. A stoploss closes a position that moves against us.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with Chapter 5's stop orders.</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Williams' Oops trades against a gap that fails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Williams' Oops starts with a bar that opens beyond the range of the previous bar (p. 231). If the new bar opens above the previous bar's high, Lim places a sell-stop entry order at the previous bar's high and a stoploss at the new bar's high.</a:t>
            </a:r>
          </a:p>
          <a:p>
            <a:pPr algn="l">
              <a:lnSpc>
                <a:spcPct val="118000"/>
              </a:lnSpc>
              <a:spcBef>
                <a:spcPts val="0"/>
              </a:spcBef>
              <a:spcAft>
                <a:spcPts val="1300"/>
              </a:spcAft>
            </a:pPr>
            <a:r>
              <a:rPr sz="2100" b="0" i="0">
                <a:solidFill>
                  <a:srgbClr val="1A1A1A"/>
                </a:solidFill>
                <a:latin typeface="Arial"/>
              </a:rPr>
              <a:t>That gap-up case is the bearish Oops: we sell. The trade is taken only if price falls back to the previous high, against the gap, and the stoploss at the new high limits the loss if the gap keeps going.</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Oops waits for the gap to fail before it acts.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two bars of ours. Bar 1 is the previous bar, with a high of PHP 52.00. Bar 2 opens at PHP 53.00 </a:t>
            </a:r>
            <a:r>
              <a:rPr sz="1700" b="1" i="0">
                <a:solidFill>
                  <a:srgbClr val="E09B00"/>
                </a:solidFill>
                <a:latin typeface="Arial"/>
              </a:rPr>
              <a:t>(1)</a:t>
            </a:r>
            <a:r>
              <a:rPr sz="1700" b="0" i="0">
                <a:solidFill>
                  <a:srgbClr val="1A1A1A"/>
                </a:solidFill>
                <a:latin typeface="Arial"/>
              </a:rPr>
              <a:t>, above that high, so as it opens we place a sell-stop at PHP 52.00 </a:t>
            </a:r>
            <a:r>
              <a:rPr sz="1700" b="1" i="0">
                <a:solidFill>
                  <a:srgbClr val="C62828"/>
                </a:solidFill>
                <a:latin typeface="Arial"/>
              </a:rPr>
              <a:t>(2)</a:t>
            </a:r>
            <a:r>
              <a:rPr sz="1700" b="0" i="0">
                <a:solidFill>
                  <a:srgbClr val="1A1A1A"/>
                </a:solidFill>
                <a:latin typeface="Arial"/>
              </a:rPr>
              <a:t> and a stoploss at bar 2's high. Bar 2 climbs to a high of PHP 54.00 </a:t>
            </a:r>
            <a:r>
              <a:rPr sz="1700" b="1" i="0">
                <a:solidFill>
                  <a:srgbClr val="1F5FAD"/>
                </a:solidFill>
                <a:latin typeface="Arial"/>
              </a:rPr>
              <a:t>(3)</a:t>
            </a:r>
            <a:r>
              <a:rPr sz="1700" b="0" i="0">
                <a:solidFill>
                  <a:srgbClr val="1A1A1A"/>
                </a:solidFill>
                <a:latin typeface="Arial"/>
              </a:rPr>
              <a:t>, so that is where the stoploss sits.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price falls to PHP 50.50, through the sell-stop at PHP 52.00 </a:t>
            </a:r>
            <a:r>
              <a:rPr sz="1700" b="1" i="0">
                <a:solidFill>
                  <a:srgbClr val="C62828"/>
                </a:solidFill>
                <a:latin typeface="Arial"/>
              </a:rPr>
              <a:t>(2)</a:t>
            </a:r>
            <a:r>
              <a:rPr sz="1700" b="0" i="0">
                <a:solidFill>
                  <a:srgbClr val="1A1A1A"/>
                </a:solidFill>
                <a:latin typeface="Arial"/>
              </a:rPr>
              <a:t>, and the order is filled: we are now short. Once we are short, if price turned back up through the stoploss at PHP 54.00 </a:t>
            </a:r>
            <a:r>
              <a:rPr sz="1700" b="1" i="0">
                <a:solidFill>
                  <a:srgbClr val="1F5FAD"/>
                </a:solidFill>
                <a:latin typeface="Arial"/>
              </a:rPr>
              <a:t>(3)</a:t>
            </a:r>
            <a:r>
              <a:rPr sz="1700" b="0" i="0">
                <a:solidFill>
                  <a:srgbClr val="1A1A1A"/>
                </a:solidFill>
                <a:latin typeface="Arial"/>
              </a:rPr>
              <a:t>, the stoploss would close the short. Lim adds that a stop and reverse order is initiated at the stoploss level (p. 231), so we would also go long there.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7.36 draws both Oops setups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draws both setups in Figure 7.36 (p. 231). On the right is the bearish one: the bar gaps up </a:t>
            </a:r>
            <a:r>
              <a:rPr sz="1700" b="1" i="0">
                <a:solidFill>
                  <a:srgbClr val="E09B00"/>
                </a:solidFill>
                <a:latin typeface="Arial"/>
              </a:rPr>
              <a:t>(1)</a:t>
            </a:r>
            <a:r>
              <a:rPr sz="1700" b="0" i="0">
                <a:solidFill>
                  <a:srgbClr val="1A1A1A"/>
                </a:solidFill>
                <a:latin typeface="Arial"/>
              </a:rPr>
              <a:t>, the sell-stop sits at the previous high </a:t>
            </a:r>
            <a:r>
              <a:rPr sz="1700" b="1" i="0">
                <a:solidFill>
                  <a:srgbClr val="C62828"/>
                </a:solidFill>
                <a:latin typeface="Arial"/>
              </a:rPr>
              <a:t>(2)</a:t>
            </a:r>
            <a:r>
              <a:rPr sz="1700" b="0" i="0">
                <a:solidFill>
                  <a:srgbClr val="1A1A1A"/>
                </a:solidFill>
                <a:latin typeface="Arial"/>
              </a:rPr>
              <a:t>, and the stop and reverse level is at the new high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On the left is the bullish mirror image: the bar gaps down </a:t>
            </a:r>
            <a:r>
              <a:rPr sz="1700" b="1" i="0">
                <a:solidFill>
                  <a:srgbClr val="7B3FA0"/>
                </a:solidFill>
                <a:latin typeface="Arial"/>
              </a:rPr>
              <a:t>(4)</a:t>
            </a:r>
            <a:r>
              <a:rPr sz="1700" b="0" i="0">
                <a:solidFill>
                  <a:srgbClr val="1A1A1A"/>
                </a:solidFill>
                <a:latin typeface="Arial"/>
              </a:rPr>
              <a:t>, the buy-stop waits at the previous low </a:t>
            </a:r>
            <a:r>
              <a:rPr sz="1700" b="1" i="0">
                <a:solidFill>
                  <a:srgbClr val="C62828"/>
                </a:solidFill>
                <a:latin typeface="Arial"/>
              </a:rPr>
              <a:t>(5)</a:t>
            </a:r>
            <a:r>
              <a:rPr sz="1700" b="0" i="0">
                <a:solidFill>
                  <a:srgbClr val="1A1A1A"/>
                </a:solidFill>
                <a:latin typeface="Arial"/>
              </a:rPr>
              <a:t>, and the stop and reverse level is at the new low </a:t>
            </a:r>
            <a:r>
              <a:rPr sz="1700" b="1" i="0">
                <a:solidFill>
                  <a:srgbClr val="1F5FAD"/>
                </a:solidFill>
                <a:latin typeface="Arial"/>
              </a:rPr>
              <a:t>(6)</a:t>
            </a:r>
            <a:r>
              <a:rPr sz="1700" b="0" i="0">
                <a:solidFill>
                  <a:srgbClr val="1A1A1A"/>
                </a:solidFill>
                <a:latin typeface="Arial"/>
              </a:rPr>
              <a:t>.</a:t>
            </a:r>
          </a:p>
        </p:txBody>
      </p:sp>
      <p:sp>
        <p:nvSpPr>
          <p:cNvPr id="7" name="Rectangle 6"/>
          <p:cNvSpPr/>
          <p:nvPr/>
        </p:nvSpPr>
        <p:spPr>
          <a:xfrm>
            <a:off x="4718303" y="1207008"/>
            <a:ext cx="6732727" cy="336953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29637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8391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500" b="0" i="0">
                <a:solidFill>
                  <a:srgbClr val="1A1A1A"/>
                </a:solidFill>
                <a:latin typeface="Palatino"/>
              </a:rPr>
              <a:t>The book's two Williams' Oops drawings: a gap down with a buy-stop at the previous low, and a gap up with a sell-stop at the previous high; each stop and reverse level is at the new bar's extreme.</a:t>
            </a:r>
          </a:p>
        </p:txBody>
      </p:sp>
      <p:sp>
        <p:nvSpPr>
          <p:cNvPr id="11" name="Oval 10"/>
          <p:cNvSpPr/>
          <p:nvPr/>
        </p:nvSpPr>
        <p:spPr>
          <a:xfrm>
            <a:off x="9250093" y="2100642"/>
            <a:ext cx="233085" cy="230746"/>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8550837" y="2595099"/>
            <a:ext cx="1864681" cy="0"/>
          </a:xfrm>
          <a:prstGeom prst="line">
            <a:avLst/>
          </a:prstGeom>
          <a:ln w="44450">
            <a:solidFill>
              <a:srgbClr val="C62828"/>
            </a:solidFill>
          </a:ln>
        </p:spPr>
      </p:cxnSp>
      <p:cxnSp>
        <p:nvCxnSpPr>
          <p:cNvPr id="13" name="Connector 12"/>
          <p:cNvCxnSpPr/>
          <p:nvPr/>
        </p:nvCxnSpPr>
        <p:spPr>
          <a:xfrm>
            <a:off x="8517539" y="2021529"/>
            <a:ext cx="1864681" cy="0"/>
          </a:xfrm>
          <a:prstGeom prst="line">
            <a:avLst/>
          </a:prstGeom>
          <a:ln w="44450">
            <a:solidFill>
              <a:srgbClr val="1F5FAD"/>
            </a:solidFill>
          </a:ln>
        </p:spPr>
      </p:cxnSp>
      <p:sp>
        <p:nvSpPr>
          <p:cNvPr id="14" name="Oval 13"/>
          <p:cNvSpPr/>
          <p:nvPr/>
        </p:nvSpPr>
        <p:spPr>
          <a:xfrm>
            <a:off x="5753816" y="3171965"/>
            <a:ext cx="233085" cy="230746"/>
          </a:xfrm>
          <a:prstGeom prst="ellipse">
            <a:avLst/>
          </a:prstGeom>
          <a:noFill/>
          <a:ln w="44450">
            <a:solidFill>
              <a:srgbClr val="7B3FA0"/>
            </a:solidFill>
          </a:ln>
        </p:spPr>
        <p:txBody>
          <a:bodyPr rtlCol="0" anchor="ctr"/>
          <a:lstStyle/>
          <a:p>
            <a:pPr algn="ctr"/>
          </a:p>
        </p:txBody>
      </p:sp>
      <p:cxnSp>
        <p:nvCxnSpPr>
          <p:cNvPr id="15" name="Connector 14"/>
          <p:cNvCxnSpPr/>
          <p:nvPr/>
        </p:nvCxnSpPr>
        <p:spPr>
          <a:xfrm>
            <a:off x="5154454" y="2875291"/>
            <a:ext cx="1864681" cy="0"/>
          </a:xfrm>
          <a:prstGeom prst="line">
            <a:avLst/>
          </a:prstGeom>
          <a:ln w="44450">
            <a:solidFill>
              <a:srgbClr val="C62828"/>
            </a:solidFill>
          </a:ln>
        </p:spPr>
      </p:cxnSp>
      <p:cxnSp>
        <p:nvCxnSpPr>
          <p:cNvPr id="16" name="Connector 15"/>
          <p:cNvCxnSpPr/>
          <p:nvPr/>
        </p:nvCxnSpPr>
        <p:spPr>
          <a:xfrm>
            <a:off x="5154454" y="3518085"/>
            <a:ext cx="1265319" cy="0"/>
          </a:xfrm>
          <a:prstGeom prst="line">
            <a:avLst/>
          </a:prstGeom>
          <a:ln w="44450">
            <a:solidFill>
              <a:srgbClr val="1F5FAD"/>
            </a:solidFill>
          </a:ln>
        </p:spPr>
      </p:cxnSp>
      <p:sp>
        <p:nvSpPr>
          <p:cNvPr id="17" name="Oval 16"/>
          <p:cNvSpPr/>
          <p:nvPr/>
        </p:nvSpPr>
        <p:spPr>
          <a:xfrm>
            <a:off x="8813252" y="230960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11443" y="245793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511443" y="188436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049528" y="2968877"/>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4817507" y="273813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Oval 21"/>
          <p:cNvSpPr/>
          <p:nvPr/>
        </p:nvSpPr>
        <p:spPr>
          <a:xfrm>
            <a:off x="5283677" y="3628153"/>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3" name="TextBox 22"/>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7.36 - Lim, The Handbook of Technical Analysis (Wiley, 2016)</a:t>
            </a:r>
          </a:p>
        </p:txBody>
      </p:sp>
      <p:sp>
        <p:nvSpPr>
          <p:cNvPr id="24" name="TextBox 2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20</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marks are ours, added for teaching.</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Oops is the mirror image. If the new bar opens below the previous bar's low, Lim places a buy-stop entry order at the previous bar's low and a stoploss at the new bar's low (p. 231). Here are prices of ours, and bar 1's low is PHP 48.00. Bar 2 opens at PHP 47.00 </a:t>
            </a:r>
            <a:r>
              <a:rPr sz="1700" b="1" i="0">
                <a:solidFill>
                  <a:srgbClr val="E09B00"/>
                </a:solidFill>
                <a:latin typeface="Arial"/>
              </a:rPr>
              <a:t>(1)</a:t>
            </a:r>
            <a:r>
              <a:rPr sz="1700" b="0" i="0">
                <a:solidFill>
                  <a:srgbClr val="1A1A1A"/>
                </a:solidFill>
                <a:latin typeface="Arial"/>
              </a:rPr>
              <a:t>, below bar 1's low, so as it opens we place a buy-stop at PHP 48.00 </a:t>
            </a:r>
            <a:r>
              <a:rPr sz="1700" b="1" i="0">
                <a:solidFill>
                  <a:srgbClr val="C62828"/>
                </a:solidFill>
                <a:latin typeface="Arial"/>
              </a:rPr>
              <a:t>(2)</a:t>
            </a:r>
            <a:r>
              <a:rPr sz="1700" b="0" i="0">
                <a:solidFill>
                  <a:srgbClr val="1A1A1A"/>
                </a:solidFill>
                <a:latin typeface="Arial"/>
              </a:rPr>
              <a:t> and a stoploss at bar 2's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2 dips to PHP 46.00 </a:t>
            </a:r>
            <a:r>
              <a:rPr sz="1700" b="1" i="0">
                <a:solidFill>
                  <a:srgbClr val="1F5FAD"/>
                </a:solidFill>
                <a:latin typeface="Arial"/>
              </a:rPr>
              <a:t>(3)</a:t>
            </a:r>
            <a:r>
              <a:rPr sz="1700" b="0" i="0">
                <a:solidFill>
                  <a:srgbClr val="1A1A1A"/>
                </a:solidFill>
                <a:latin typeface="Arial"/>
              </a:rPr>
              <a:t>, where the stoploss now sits, then rises to PHP 49.00, through PHP 48.00, so the buy-stop is filled and we are long. Once we are long, if price fell back through the stoploss at PHP 46.00 </a:t>
            </a:r>
            <a:r>
              <a:rPr sz="1700" b="1" i="0">
                <a:solidFill>
                  <a:srgbClr val="1F5FAD"/>
                </a:solidFill>
                <a:latin typeface="Arial"/>
              </a:rPr>
              <a:t>(3)</a:t>
            </a:r>
            <a:r>
              <a:rPr sz="1700" b="0" i="0">
                <a:solidFill>
                  <a:srgbClr val="1A1A1A"/>
                </a:solidFill>
                <a:latin typeface="Arial"/>
              </a:rPr>
              <a:t>, the stoploss would close the long and the stop and reverse order would go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the two Oops setups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After a gap down, where does Lim place the Williams' Oops buy-stop?</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the new bar's low</a:t>
            </a:r>
          </a:p>
          <a:p>
            <a:pPr algn="l">
              <a:lnSpc>
                <a:spcPct val="112000"/>
              </a:lnSpc>
              <a:spcBef>
                <a:spcPts val="0"/>
              </a:spcBef>
              <a:spcAft>
                <a:spcPts val="900"/>
              </a:spcAft>
            </a:pPr>
            <a:r>
              <a:rPr sz="1700" b="0" i="0">
                <a:solidFill>
                  <a:srgbClr val="FFFFFF"/>
                </a:solidFill>
                <a:latin typeface="Arial"/>
              </a:rPr>
              <a:t>B.  At the previous bar's high</a:t>
            </a:r>
          </a:p>
          <a:p>
            <a:pPr algn="l">
              <a:lnSpc>
                <a:spcPct val="112000"/>
              </a:lnSpc>
              <a:spcBef>
                <a:spcPts val="0"/>
              </a:spcBef>
              <a:spcAft>
                <a:spcPts val="900"/>
              </a:spcAft>
            </a:pPr>
            <a:r>
              <a:rPr sz="1700" b="0" i="0">
                <a:solidFill>
                  <a:srgbClr val="FFFFFF"/>
                </a:solidFill>
                <a:latin typeface="Arial"/>
              </a:rPr>
              <a:t>C.  At the previous bar's low</a:t>
            </a:r>
          </a:p>
          <a:p>
            <a:pPr algn="l">
              <a:lnSpc>
                <a:spcPct val="112000"/>
              </a:lnSpc>
              <a:spcBef>
                <a:spcPts val="0"/>
              </a:spcBef>
              <a:spcAft>
                <a:spcPts val="900"/>
              </a:spcAft>
            </a:pPr>
            <a:r>
              <a:rPr sz="1700" b="0" i="0">
                <a:solidFill>
                  <a:srgbClr val="FFFFFF"/>
                </a:solidFill>
                <a:latin typeface="Arial"/>
              </a:rPr>
              <a:t>D.  At the new bar's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bearish Oops sell-stop has filled. What does Lim say happens if price then rises through the stoploss?</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Nothing; we hold the short</a:t>
            </a:r>
          </a:p>
          <a:p>
            <a:pPr algn="l">
              <a:lnSpc>
                <a:spcPct val="112000"/>
              </a:lnSpc>
              <a:spcBef>
                <a:spcPts val="0"/>
              </a:spcBef>
              <a:spcAft>
                <a:spcPts val="900"/>
              </a:spcAft>
            </a:pPr>
            <a:r>
              <a:rPr sz="1700" b="0" i="0">
                <a:solidFill>
                  <a:srgbClr val="FFFFFF"/>
                </a:solidFill>
                <a:latin typeface="Arial"/>
              </a:rPr>
              <a:t>B.  A stop and reverse order is initiated there</a:t>
            </a:r>
          </a:p>
          <a:p>
            <a:pPr algn="l">
              <a:lnSpc>
                <a:spcPct val="112000"/>
              </a:lnSpc>
              <a:spcBef>
                <a:spcPts val="0"/>
              </a:spcBef>
              <a:spcAft>
                <a:spcPts val="900"/>
              </a:spcAft>
            </a:pPr>
            <a:r>
              <a:rPr sz="1700" b="0" i="0">
                <a:solidFill>
                  <a:srgbClr val="FFFFFF"/>
                </a:solidFill>
                <a:latin typeface="Arial"/>
              </a:rPr>
              <a:t>C.  We add to the short</a:t>
            </a:r>
          </a:p>
          <a:p>
            <a:pPr algn="l">
              <a:lnSpc>
                <a:spcPct val="112000"/>
              </a:lnSpc>
              <a:spcBef>
                <a:spcPts val="0"/>
              </a:spcBef>
              <a:spcAft>
                <a:spcPts val="900"/>
              </a:spcAft>
            </a:pPr>
            <a:r>
              <a:rPr sz="1700" b="0" i="0">
                <a:solidFill>
                  <a:srgbClr val="FFFFFF"/>
                </a:solidFill>
                <a:latin typeface="Arial"/>
              </a:rPr>
              <a:t>D.  We move the stoploss higher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30</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the two Oops setups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down, where does Lim place the Williams' Oops buy-stop?</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At the previous bar's low</a:t>
            </a:r>
          </a:p>
          <a:p>
            <a:pPr algn="l">
              <a:lnSpc>
                <a:spcPct val="115000"/>
              </a:lnSpc>
              <a:spcBef>
                <a:spcPts val="700"/>
              </a:spcBef>
              <a:spcAft>
                <a:spcPts val="0"/>
              </a:spcAft>
            </a:pPr>
            <a:r>
              <a:rPr sz="1700" b="0" i="0">
                <a:solidFill>
                  <a:srgbClr val="1A1A1A"/>
                </a:solidFill>
                <a:latin typeface="Arial"/>
              </a:rPr>
              <a:t>If the new bar opens below the previous bar's low, Lim places the buy-stop at the previous bar's low; the stoploss goes at the new bar's low (p. 231).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bearish Oops sell-stop has filled. What does Lim say happens if price then rises through the stoploss?</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stop and reverse order is initiated there</a:t>
            </a:r>
          </a:p>
          <a:p>
            <a:pPr algn="l">
              <a:lnSpc>
                <a:spcPct val="115000"/>
              </a:lnSpc>
              <a:spcBef>
                <a:spcPts val="700"/>
              </a:spcBef>
              <a:spcAft>
                <a:spcPts val="0"/>
              </a:spcAft>
            </a:pPr>
            <a:r>
              <a:rPr sz="1700" b="0" i="0">
                <a:solidFill>
                  <a:srgbClr val="1A1A1A"/>
                </a:solidFill>
                <a:latin typeface="Arial"/>
              </a:rPr>
              <a:t>If price reverses, a stop and reverse order is initiated at the stoploss level (p. 231): the short is closed and a long is opened.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30</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7.37 shows a bearish Oops on a real chart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7.37 is Lim's bearish Oops on the daily chart of Dynegy Inc. (p. 231). The marked bar </a:t>
            </a:r>
            <a:r>
              <a:rPr sz="1700" b="1" i="0">
                <a:solidFill>
                  <a:srgbClr val="E09B00"/>
                </a:solidFill>
                <a:latin typeface="Arial"/>
              </a:rPr>
              <a:t>(1)</a:t>
            </a:r>
            <a:r>
              <a:rPr sz="1700" b="0" i="0">
                <a:solidFill>
                  <a:srgbClr val="1A1A1A"/>
                </a:solidFill>
                <a:latin typeface="Arial"/>
              </a:rPr>
              <a:t> opens above the previous bar's high.</a:t>
            </a:r>
          </a:p>
          <a:p>
            <a:pPr algn="l">
              <a:lnSpc>
                <a:spcPct val="105000"/>
              </a:lnSpc>
              <a:spcBef>
                <a:spcPts val="0"/>
              </a:spcBef>
              <a:spcAft>
                <a:spcPts val="1100"/>
              </a:spcAft>
            </a:pPr>
            <a:r>
              <a:rPr sz="1700" b="0" i="0">
                <a:solidFill>
                  <a:srgbClr val="1A1A1A"/>
                </a:solidFill>
                <a:latin typeface="Arial"/>
              </a:rPr>
              <a:t>The book puts the sell-stop at the previous bar's high </a:t>
            </a:r>
            <a:r>
              <a:rPr sz="1700" b="1" i="0">
                <a:solidFill>
                  <a:srgbClr val="C62828"/>
                </a:solidFill>
                <a:latin typeface="Arial"/>
              </a:rPr>
              <a:t>(2)</a:t>
            </a:r>
            <a:r>
              <a:rPr sz="1700" b="0" i="0">
                <a:solidFill>
                  <a:srgbClr val="1A1A1A"/>
                </a:solidFill>
                <a:latin typeface="Arial"/>
              </a:rPr>
              <a:t> and the stop and reverse buy-stop at the current bar's high </a:t>
            </a:r>
            <a:r>
              <a:rPr sz="1700" b="1" i="0">
                <a:solidFill>
                  <a:srgbClr val="1F5FAD"/>
                </a:solidFill>
                <a:latin typeface="Arial"/>
              </a:rPr>
              <a:t>(3)</a:t>
            </a:r>
            <a:r>
              <a:rPr sz="1700" b="0" i="0">
                <a:solidFill>
                  <a:srgbClr val="1A1A1A"/>
                </a:solidFill>
                <a:latin typeface="Arial"/>
              </a:rPr>
              <a:t>. The bar closes below the sell-stop, and the book's arrow shows the expected downside move.</a:t>
            </a:r>
          </a:p>
        </p:txBody>
      </p:sp>
      <p:sp>
        <p:nvSpPr>
          <p:cNvPr id="7" name="Rectangle 6"/>
          <p:cNvSpPr/>
          <p:nvPr/>
        </p:nvSpPr>
        <p:spPr>
          <a:xfrm>
            <a:off x="777240" y="449427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Lim's example, not a promise that every Oops works.</a:t>
            </a:r>
          </a:p>
        </p:txBody>
      </p:sp>
      <p:sp>
        <p:nvSpPr>
          <p:cNvPr id="9" name="Rectangle 8"/>
          <p:cNvSpPr/>
          <p:nvPr/>
        </p:nvSpPr>
        <p:spPr>
          <a:xfrm>
            <a:off x="5266943" y="1207008"/>
            <a:ext cx="6184087" cy="431889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03519" y="1243584"/>
            <a:ext cx="6110935" cy="424574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577839" y="1517904"/>
            <a:ext cx="5562295" cy="37885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right side of the book's daily Dynegy chart: the bearish Oops bar, the sell-stop at the previous bar's high, the stop and reverse buy-stop at the current bar's high, and the expected downside move.</a:t>
            </a:r>
          </a:p>
        </p:txBody>
      </p:sp>
      <p:sp>
        <p:nvSpPr>
          <p:cNvPr id="13" name="Rectangle 12"/>
          <p:cNvSpPr/>
          <p:nvPr/>
        </p:nvSpPr>
        <p:spPr>
          <a:xfrm>
            <a:off x="8896749" y="3526094"/>
            <a:ext cx="164995" cy="712010"/>
          </a:xfrm>
          <a:prstGeom prst="rect">
            <a:avLst/>
          </a:prstGeom>
          <a:noFill/>
          <a:ln w="44450">
            <a:solidFill>
              <a:srgbClr val="E09B00"/>
            </a:solidFill>
          </a:ln>
        </p:spPr>
        <p:txBody>
          <a:bodyPr rtlCol="0" anchor="ctr"/>
          <a:lstStyle/>
          <a:p>
            <a:pPr algn="ctr"/>
          </a:p>
        </p:txBody>
      </p:sp>
      <p:cxnSp>
        <p:nvCxnSpPr>
          <p:cNvPr id="14" name="Connector 13"/>
          <p:cNvCxnSpPr/>
          <p:nvPr/>
        </p:nvCxnSpPr>
        <p:spPr>
          <a:xfrm>
            <a:off x="8731754" y="3806738"/>
            <a:ext cx="1588843" cy="0"/>
          </a:xfrm>
          <a:prstGeom prst="line">
            <a:avLst/>
          </a:prstGeom>
          <a:ln w="44450">
            <a:solidFill>
              <a:srgbClr val="C62828"/>
            </a:solidFill>
          </a:ln>
        </p:spPr>
      </p:cxnSp>
      <p:cxnSp>
        <p:nvCxnSpPr>
          <p:cNvPr id="15" name="Connector 14"/>
          <p:cNvCxnSpPr/>
          <p:nvPr/>
        </p:nvCxnSpPr>
        <p:spPr>
          <a:xfrm>
            <a:off x="8603424" y="3582138"/>
            <a:ext cx="1717173" cy="0"/>
          </a:xfrm>
          <a:prstGeom prst="line">
            <a:avLst/>
          </a:prstGeom>
          <a:ln w="44450">
            <a:solidFill>
              <a:srgbClr val="1F5FAD"/>
            </a:solidFill>
          </a:ln>
        </p:spPr>
      </p:cxnSp>
      <p:sp>
        <p:nvSpPr>
          <p:cNvPr id="16" name="Oval 15"/>
          <p:cNvSpPr/>
          <p:nvPr/>
        </p:nvSpPr>
        <p:spPr>
          <a:xfrm>
            <a:off x="8631260" y="325943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21764" y="373453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421764" y="319490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20" name="TextBox 1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20</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ours, added for teaching.</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 looks for each Oops in the direction of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adds when to look: a bullish Oops in an uptrend and a bearish Oops in a downtrend (p. 231).</a:t>
            </a:r>
          </a:p>
          <a:p>
            <a:pPr algn="l">
              <a:lnSpc>
                <a:spcPct val="105000"/>
              </a:lnSpc>
              <a:spcBef>
                <a:spcPts val="0"/>
              </a:spcBef>
              <a:spcAft>
                <a:spcPts val="1100"/>
              </a:spcAft>
            </a:pPr>
            <a:r>
              <a:rPr sz="1700" b="0" i="0">
                <a:solidFill>
                  <a:srgbClr val="1A1A1A"/>
                </a:solidFill>
                <a:latin typeface="Arial"/>
              </a:rPr>
              <a:t>In Figure 7.37, Dynegy falls steeply </a:t>
            </a:r>
            <a:r>
              <a:rPr sz="1700" b="1" i="0">
                <a:solidFill>
                  <a:srgbClr val="E09B00"/>
                </a:solidFill>
                <a:latin typeface="Arial"/>
              </a:rPr>
              <a:t>(1)</a:t>
            </a:r>
            <a:r>
              <a:rPr sz="1700" b="0" i="0">
                <a:solidFill>
                  <a:srgbClr val="1A1A1A"/>
                </a:solidFill>
                <a:latin typeface="Arial"/>
              </a:rPr>
              <a:t>, then drifts sideways, so the bearish Oops </a:t>
            </a:r>
            <a:r>
              <a:rPr sz="1700" b="1" i="0">
                <a:solidFill>
                  <a:srgbClr val="C62828"/>
                </a:solidFill>
                <a:latin typeface="Arial"/>
              </a:rPr>
              <a:t>(2)</a:t>
            </a:r>
            <a:r>
              <a:rPr sz="1700" b="0" i="0">
                <a:solidFill>
                  <a:srgbClr val="1A1A1A"/>
                </a:solidFill>
                <a:latin typeface="Arial"/>
              </a:rPr>
              <a:t> comes after a fall.</a:t>
            </a:r>
          </a:p>
          <a:p>
            <a:pPr algn="l">
              <a:lnSpc>
                <a:spcPct val="105000"/>
              </a:lnSpc>
              <a:spcBef>
                <a:spcPts val="0"/>
              </a:spcBef>
              <a:spcAft>
                <a:spcPts val="1100"/>
              </a:spcAft>
            </a:pPr>
            <a:r>
              <a:rPr sz="1700" b="0" i="0">
                <a:solidFill>
                  <a:srgbClr val="1A1A1A"/>
                </a:solidFill>
                <a:latin typeface="Arial"/>
              </a:rPr>
              <a:t>Lim says the morning and evening star, piercing line and dark cloud cover candlesticks can help find setups; Chapter 7 does not define them.</a:t>
            </a:r>
          </a:p>
        </p:txBody>
      </p:sp>
      <p:sp>
        <p:nvSpPr>
          <p:cNvPr id="7" name="Rectangle 6"/>
          <p:cNvSpPr/>
          <p:nvPr/>
        </p:nvSpPr>
        <p:spPr>
          <a:xfrm>
            <a:off x="4718303" y="1207008"/>
            <a:ext cx="6732727" cy="307440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00124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54404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whole daily Dynegy chart: a steep fall, a sideways stretch, and the bearish Oops bar.</a:t>
            </a:r>
          </a:p>
        </p:txBody>
      </p:sp>
      <p:cxnSp>
        <p:nvCxnSpPr>
          <p:cNvPr id="11" name="Connector 10"/>
          <p:cNvCxnSpPr/>
          <p:nvPr/>
        </p:nvCxnSpPr>
        <p:spPr>
          <a:xfrm>
            <a:off x="5554028" y="1543708"/>
            <a:ext cx="599362" cy="1260525"/>
          </a:xfrm>
          <a:prstGeom prst="line">
            <a:avLst/>
          </a:prstGeom>
          <a:ln w="44450">
            <a:solidFill>
              <a:srgbClr val="E09B00"/>
            </a:solidFill>
            <a:tailEnd type="triangle" w="med" len="med"/>
          </a:ln>
        </p:spPr>
      </p:cxnSp>
      <p:sp>
        <p:nvSpPr>
          <p:cNvPr id="12" name="Rectangle 11"/>
          <p:cNvSpPr/>
          <p:nvPr/>
        </p:nvSpPr>
        <p:spPr>
          <a:xfrm>
            <a:off x="9769539" y="2954295"/>
            <a:ext cx="106553" cy="480199"/>
          </a:xfrm>
          <a:prstGeom prst="rect">
            <a:avLst/>
          </a:prstGeom>
          <a:noFill/>
          <a:ln w="44450">
            <a:solidFill>
              <a:srgbClr val="C62828"/>
            </a:solidFill>
          </a:ln>
        </p:spPr>
        <p:txBody>
          <a:bodyPr rtlCol="0" anchor="ctr"/>
          <a:lstStyle/>
          <a:p>
            <a:pPr algn="ctr"/>
          </a:p>
        </p:txBody>
      </p:sp>
      <p:sp>
        <p:nvSpPr>
          <p:cNvPr id="13" name="Oval 12"/>
          <p:cNvSpPr/>
          <p:nvPr/>
        </p:nvSpPr>
        <p:spPr>
          <a:xfrm>
            <a:off x="6082826" y="20067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11975" y="251701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marks are ours, added for teaching.</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ID/NR looks for the quietest bar, sitting inside the one before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 pattern is the Inside Day Narrow Range pattern, or ID/NR. Lim calls it a volatility breakout pattern and says an ID/NR n pattern is an inside day breakout from the narrowest bar over the last n days (p. 232).</a:t>
            </a:r>
          </a:p>
          <a:p>
            <a:pPr algn="l">
              <a:lnSpc>
                <a:spcPct val="118000"/>
              </a:lnSpc>
              <a:spcBef>
                <a:spcPts val="0"/>
              </a:spcBef>
              <a:spcAft>
                <a:spcPts val="1300"/>
              </a:spcAft>
            </a:pPr>
            <a:r>
              <a:rPr sz="2100" b="0" i="0">
                <a:solidFill>
                  <a:srgbClr val="1A1A1A"/>
                </a:solidFill>
                <a:latin typeface="Arial"/>
              </a:rPr>
              <a:t>It joins two ideas we already have. An inside day is a bar whose high and low stay within the previous bar's range, the inside bar of Part 3. Narrow range uses Part 1's range, the high minus the low: the bar must be the narrowest of the last n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with the inside bar from Part 3 and the range from Part 1.</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Lim calls ID/NR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names ID/NR a volatility breakout pattern but gives no further reason. Our plain reading is that the narrowest bar in a while is the quietest one, so the breakout comes out of low volatility.</a:t>
            </a:r>
          </a:p>
          <a:p>
            <a:pPr algn="l">
              <a:lnSpc>
                <a:spcPct val="118000"/>
              </a:lnSpc>
              <a:spcBef>
                <a:spcPts val="0"/>
              </a:spcBef>
              <a:spcAft>
                <a:spcPts val="1300"/>
              </a:spcAft>
            </a:pPr>
            <a:r>
              <a:rPr sz="2100" b="0" i="0">
                <a:solidFill>
                  <a:srgbClr val="1A1A1A"/>
                </a:solidFill>
                <a:latin typeface="Arial"/>
              </a:rPr>
              <a:t>He does say the pattern has no bearish or bullish sentiment associated with it: the breakout can occur in either direction (p. 232).</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ID/NR tells us when to watch, not which way price will go.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six daily bars of ours, with each range, the high minus the low, written under its bar. The ranges are 4.0, 3.2, 2.8, 2.1, 1.6 and 1.2, so each bar is quieter than the one before. Bar 6's range of 1.2 is the narrowest of all six </a:t>
            </a:r>
            <a:r>
              <a:rPr sz="1700" b="1" i="0">
                <a:solidFill>
                  <a:srgbClr val="E09B00"/>
                </a:solidFill>
                <a:latin typeface="Arial"/>
              </a:rPr>
              <a:t>(1)</a:t>
            </a:r>
            <a:r>
              <a:rPr sz="1700" b="0" i="0">
                <a:solidFill>
                  <a:srgbClr val="1A1A1A"/>
                </a:solidFill>
                <a:latin typeface="Arial"/>
              </a:rPr>
              <a:t>, and its high of 54.60 and low of 53.40 stay inside bar 5's range, 53.20 to 54.80.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6 an inside day and the narrowest of the last six bars </a:t>
            </a:r>
            <a:r>
              <a:rPr sz="1700" b="1" i="0">
                <a:solidFill>
                  <a:srgbClr val="E09B00"/>
                </a:solidFill>
                <a:latin typeface="Arial"/>
              </a:rPr>
              <a:t>(1)</a:t>
            </a:r>
            <a:r>
              <a:rPr sz="1700" b="0" i="0">
                <a:solidFill>
                  <a:srgbClr val="1A1A1A"/>
                </a:solidFill>
                <a:latin typeface="Arial"/>
              </a:rPr>
              <a:t>: an ID/NR6. We set the trigger levels where Lim's drawing on the next slide puts them, at the bar that holds the inside bar: a long trigger at bar 5's high, PHP 54.80 </a:t>
            </a:r>
            <a:r>
              <a:rPr sz="1700" b="1" i="0">
                <a:solidFill>
                  <a:srgbClr val="C62828"/>
                </a:solidFill>
                <a:latin typeface="Arial"/>
              </a:rPr>
              <a:t>(2)</a:t>
            </a:r>
            <a:r>
              <a:rPr sz="1700" b="0" i="0">
                <a:solidFill>
                  <a:srgbClr val="1A1A1A"/>
                </a:solidFill>
                <a:latin typeface="Arial"/>
              </a:rPr>
              <a:t>, and a short trigger at its low, PHP 53.20 </a:t>
            </a:r>
            <a:r>
              <a:rPr sz="1700" b="1" i="0">
                <a:solidFill>
                  <a:srgbClr val="1F5FAD"/>
                </a:solidFill>
                <a:latin typeface="Arial"/>
              </a:rPr>
              <a:t>(3)</a:t>
            </a:r>
            <a:r>
              <a:rPr sz="1700" b="0" i="0">
                <a:solidFill>
                  <a:srgbClr val="1A1A1A"/>
                </a:solidFill>
                <a:latin typeface="Arial"/>
              </a:rPr>
              <a:t>. A break above 54.80 points up; a break below 53.20 points down.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8321405" y="343887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8321405" y="394216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067985" y="33248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409188" y="38580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7.38 is Lim's drawing of an ID/NR6</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7.38 is Lim's ID/NR6 (p. 232). Count back six bars, 2 to 7 </a:t>
            </a:r>
            <a:r>
              <a:rPr sz="1700" b="1" i="0">
                <a:solidFill>
                  <a:srgbClr val="E09B00"/>
                </a:solidFill>
                <a:latin typeface="Arial"/>
              </a:rPr>
              <a:t>(1)</a:t>
            </a:r>
            <a:r>
              <a:rPr sz="1700" b="0" i="0">
                <a:solidFill>
                  <a:srgbClr val="1A1A1A"/>
                </a:solidFill>
                <a:latin typeface="Arial"/>
              </a:rPr>
              <a:t>. The book's arrow points to bar 7 and calls it an inside bar that has the narrowest range of the last six bars: it sits within bar 6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two dotted lines are the book's long trigger level </a:t>
            </a:r>
            <a:r>
              <a:rPr sz="1700" b="1" i="0">
                <a:solidFill>
                  <a:srgbClr val="1F5FAD"/>
                </a:solidFill>
                <a:latin typeface="Arial"/>
              </a:rPr>
              <a:t>(3)</a:t>
            </a:r>
            <a:r>
              <a:rPr sz="1700" b="0" i="0">
                <a:solidFill>
                  <a:srgbClr val="1A1A1A"/>
                </a:solidFill>
                <a:latin typeface="Arial"/>
              </a:rPr>
              <a:t> and short trigger level </a:t>
            </a:r>
            <a:r>
              <a:rPr sz="1700" b="1" i="0">
                <a:solidFill>
                  <a:srgbClr val="7B3FA0"/>
                </a:solidFill>
                <a:latin typeface="Arial"/>
              </a:rPr>
              <a:t>(4)</a:t>
            </a:r>
            <a:r>
              <a:rPr sz="1700" b="0" i="0">
                <a:solidFill>
                  <a:srgbClr val="1A1A1A"/>
                </a:solidFill>
                <a:latin typeface="Arial"/>
              </a:rPr>
              <a:t>. They run from the high and low of bar 6, the bar that holds the inside bar.</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Six bars counted, one inside bar, and two triggers waiting.</a:t>
            </a:r>
          </a:p>
        </p:txBody>
      </p:sp>
      <p:sp>
        <p:nvSpPr>
          <p:cNvPr id="9" name="Rectangle 8"/>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seven numbered bars, bar 7 labelled as the inside bar with the narrowest range of the last six, and long and short trigger levels at bar 6's high and low.</a:t>
            </a:r>
          </a:p>
        </p:txBody>
      </p:sp>
      <p:cxnSp>
        <p:nvCxnSpPr>
          <p:cNvPr id="13" name="Connector 12"/>
          <p:cNvCxnSpPr/>
          <p:nvPr/>
        </p:nvCxnSpPr>
        <p:spPr>
          <a:xfrm>
            <a:off x="6996551" y="5427146"/>
            <a:ext cx="1668763" cy="0"/>
          </a:xfrm>
          <a:prstGeom prst="line">
            <a:avLst/>
          </a:prstGeom>
          <a:ln w="44450">
            <a:solidFill>
              <a:srgbClr val="E09B00"/>
            </a:solidFill>
          </a:ln>
        </p:spPr>
      </p:cxnSp>
      <p:sp>
        <p:nvSpPr>
          <p:cNvPr id="14" name="Rectangle 13"/>
          <p:cNvSpPr/>
          <p:nvPr/>
        </p:nvSpPr>
        <p:spPr>
          <a:xfrm>
            <a:off x="8331562" y="4040733"/>
            <a:ext cx="476789" cy="802660"/>
          </a:xfrm>
          <a:prstGeom prst="rect">
            <a:avLst/>
          </a:prstGeom>
          <a:noFill/>
          <a:ln w="44450">
            <a:solidFill>
              <a:srgbClr val="C62828"/>
            </a:solidFill>
          </a:ln>
        </p:spPr>
        <p:txBody>
          <a:bodyPr rtlCol="0" anchor="ctr"/>
          <a:lstStyle/>
          <a:p>
            <a:pPr algn="ctr"/>
          </a:p>
        </p:txBody>
      </p:sp>
      <p:cxnSp>
        <p:nvCxnSpPr>
          <p:cNvPr id="15" name="Connector 14"/>
          <p:cNvCxnSpPr/>
          <p:nvPr/>
        </p:nvCxnSpPr>
        <p:spPr>
          <a:xfrm>
            <a:off x="9142104" y="4089379"/>
            <a:ext cx="429111" cy="0"/>
          </a:xfrm>
          <a:prstGeom prst="line">
            <a:avLst/>
          </a:prstGeom>
          <a:ln w="44450">
            <a:solidFill>
              <a:srgbClr val="1F5FAD"/>
            </a:solidFill>
          </a:ln>
        </p:spPr>
      </p:cxnSp>
      <p:cxnSp>
        <p:nvCxnSpPr>
          <p:cNvPr id="16" name="Connector 15"/>
          <p:cNvCxnSpPr/>
          <p:nvPr/>
        </p:nvCxnSpPr>
        <p:spPr>
          <a:xfrm>
            <a:off x="9142104" y="4746101"/>
            <a:ext cx="429111" cy="0"/>
          </a:xfrm>
          <a:prstGeom prst="line">
            <a:avLst/>
          </a:prstGeom>
          <a:ln w="44450">
            <a:solidFill>
              <a:srgbClr val="7B3FA0"/>
            </a:solidFill>
          </a:ln>
        </p:spPr>
      </p:cxnSp>
      <p:sp>
        <p:nvSpPr>
          <p:cNvPr id="17" name="Oval 16"/>
          <p:cNvSpPr/>
          <p:nvPr/>
        </p:nvSpPr>
        <p:spPr>
          <a:xfrm>
            <a:off x="6692514" y="528998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385117" y="492514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219499" y="419545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219499" y="4852172"/>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14 of 20</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n in ID/NR n is how many bars we count back, the last bar included. The book's heading runs from ID/NR4 to ID/NR7 (p. 232). The table counts back from bar 7 through seven bars of ours with ranges 1.0, 4.0, 3.2, 2.8, 2.1, 1.6 and 1.2. Counting four, five or six bars back, bar 7's range of 1.2 is the narrowest, so bar 7 is an NR4, an NR5 and an NR6 at once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354312" y="4096512"/>
            <a:ext cx="0" cy="896111"/>
          </a:xfrm>
          <a:prstGeom prst="line">
            <a:avLst/>
          </a:prstGeom>
          <a:ln w="44450">
            <a:solidFill>
              <a:srgbClr val="E09B00"/>
            </a:solidFill>
          </a:ln>
        </p:spPr>
      </p:cxnSp>
      <p:sp>
        <p:nvSpPr>
          <p:cNvPr id="10" name="Oval 9"/>
          <p:cNvSpPr/>
          <p:nvPr/>
        </p:nvSpPr>
        <p:spPr>
          <a:xfrm>
            <a:off x="9377172" y="4416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15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Counting seven bars brings in bar 1's range of 1.0, so bar 7 is not an NR7 </a:t>
            </a:r>
            <a:r>
              <a:rPr sz="1700" b="1" i="0">
                <a:solidFill>
                  <a:srgbClr val="C62828"/>
                </a:solidFill>
                <a:latin typeface="Arial"/>
              </a:rPr>
              <a:t>(2)</a:t>
            </a:r>
            <a:r>
              <a:rPr sz="1700" b="0" i="0">
                <a:solidFill>
                  <a:srgbClr val="1A1A1A"/>
                </a:solidFill>
                <a:latin typeface="Arial"/>
              </a:rPr>
              <a:t>. The number says how far back the bar is the narrowest.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10420" y="5159044"/>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398203" y="507492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16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an ID/NR pattern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the 6 in ID/NR6 count?</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Six inside days in a row</a:t>
            </a:r>
          </a:p>
          <a:p>
            <a:pPr algn="l">
              <a:lnSpc>
                <a:spcPct val="112000"/>
              </a:lnSpc>
              <a:spcBef>
                <a:spcPts val="0"/>
              </a:spcBef>
              <a:spcAft>
                <a:spcPts val="900"/>
              </a:spcAft>
            </a:pPr>
            <a:r>
              <a:rPr sz="1700" b="0" i="0">
                <a:solidFill>
                  <a:srgbClr val="FFFFFF"/>
                </a:solidFill>
                <a:latin typeface="Arial"/>
              </a:rPr>
              <a:t>B.  Six days of rising volume</a:t>
            </a:r>
          </a:p>
          <a:p>
            <a:pPr algn="l">
              <a:lnSpc>
                <a:spcPct val="112000"/>
              </a:lnSpc>
              <a:spcBef>
                <a:spcPts val="0"/>
              </a:spcBef>
              <a:spcAft>
                <a:spcPts val="900"/>
              </a:spcAft>
            </a:pPr>
            <a:r>
              <a:rPr sz="1700" b="0" i="0">
                <a:solidFill>
                  <a:srgbClr val="FFFFFF"/>
                </a:solidFill>
                <a:latin typeface="Arial"/>
              </a:rPr>
              <a:t>C.  Six bars after the breakout</a:t>
            </a:r>
          </a:p>
          <a:p>
            <a:pPr algn="l">
              <a:lnSpc>
                <a:spcPct val="112000"/>
              </a:lnSpc>
              <a:spcBef>
                <a:spcPts val="0"/>
              </a:spcBef>
              <a:spcAft>
                <a:spcPts val="900"/>
              </a:spcAft>
            </a:pPr>
            <a:r>
              <a:rPr sz="1700" b="0" i="0">
                <a:solidFill>
                  <a:srgbClr val="FFFFFF"/>
                </a:solidFill>
                <a:latin typeface="Arial"/>
              </a:rPr>
              <a:t>D.  The last six bars, the inside bar included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an ID/NR pattern carry bullish sentiment?</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Lim says it has no bearish or bullish sentiment</a:t>
            </a:r>
          </a:p>
          <a:p>
            <a:pPr algn="l">
              <a:lnSpc>
                <a:spcPct val="112000"/>
              </a:lnSpc>
              <a:spcBef>
                <a:spcPts val="0"/>
              </a:spcBef>
              <a:spcAft>
                <a:spcPts val="900"/>
              </a:spcAft>
            </a:pPr>
            <a:r>
              <a:rPr sz="1700" b="0" i="0">
                <a:solidFill>
                  <a:srgbClr val="FFFFFF"/>
                </a:solidFill>
                <a:latin typeface="Arial"/>
              </a:rPr>
              <a:t>B.  Yes; it always breaks upward</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on monthly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31</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an ID/NR pattern</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6 in ID/NR6 count?</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six bars, the inside bar included</a:t>
            </a:r>
          </a:p>
          <a:p>
            <a:pPr algn="l">
              <a:lnSpc>
                <a:spcPct val="115000"/>
              </a:lnSpc>
              <a:spcBef>
                <a:spcPts val="700"/>
              </a:spcBef>
              <a:spcAft>
                <a:spcPts val="0"/>
              </a:spcAft>
            </a:pPr>
            <a:r>
              <a:rPr sz="1700" b="0" i="0">
                <a:solidFill>
                  <a:srgbClr val="1A1A1A"/>
                </a:solidFill>
                <a:latin typeface="Arial"/>
              </a:rPr>
              <a:t>An ID/NR n pattern is an inside day breakout from the narrowest bar over the last n days, so ID/NR6 counts the last six bars (p. 232).</a:t>
            </a:r>
          </a:p>
        </p:txBody>
      </p:sp>
      <p:sp>
        <p:nvSpPr>
          <p:cNvPr id="10" name="Rectangle 9"/>
          <p:cNvSpPr/>
          <p:nvPr/>
        </p:nvSpPr>
        <p:spPr>
          <a:xfrm>
            <a:off x="777240" y="3359531"/>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an ID/NR pattern carry bullish sentiment?</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Lim says it has no bearish or bullish sentiment</a:t>
            </a:r>
          </a:p>
          <a:p>
            <a:pPr algn="l">
              <a:lnSpc>
                <a:spcPct val="115000"/>
              </a:lnSpc>
              <a:spcBef>
                <a:spcPts val="700"/>
              </a:spcBef>
              <a:spcAft>
                <a:spcPts val="0"/>
              </a:spcAft>
            </a:pPr>
            <a:r>
              <a:rPr sz="1700" b="0" i="0">
                <a:solidFill>
                  <a:srgbClr val="1A1A1A"/>
                </a:solidFill>
                <a:latin typeface="Arial"/>
              </a:rPr>
              <a:t>Lim says the pattern has no bearish or bullish sentiment associated with it; the breakout can occur in either direction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31</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has no direction until price breaks a trigger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ID/NR pattern has no bearish or bullish sentiment associated with it, and the breakout can occur in either direction (p. 232).</a:t>
            </a:r>
          </a:p>
          <a:p>
            <a:pPr algn="l">
              <a:lnSpc>
                <a:spcPct val="105000"/>
              </a:lnSpc>
              <a:spcBef>
                <a:spcPts val="0"/>
              </a:spcBef>
              <a:spcAft>
                <a:spcPts val="1100"/>
              </a:spcAft>
            </a:pPr>
            <a:r>
              <a:rPr sz="1700" b="0" i="0">
                <a:solidFill>
                  <a:srgbClr val="1A1A1A"/>
                </a:solidFill>
                <a:latin typeface="Arial"/>
              </a:rPr>
              <a:t>That is why Figure 7.38 draws two triggers. A break above the long trigger level </a:t>
            </a:r>
            <a:r>
              <a:rPr sz="1700" b="1" i="0">
                <a:solidFill>
                  <a:srgbClr val="E09B00"/>
                </a:solidFill>
                <a:latin typeface="Arial"/>
              </a:rPr>
              <a:t>(1)</a:t>
            </a:r>
            <a:r>
              <a:rPr sz="1700" b="0" i="0">
                <a:solidFill>
                  <a:srgbClr val="1A1A1A"/>
                </a:solidFill>
                <a:latin typeface="Arial"/>
              </a:rPr>
              <a:t> would point up, and a break below the short trigger level </a:t>
            </a:r>
            <a:r>
              <a:rPr sz="1700" b="1" i="0">
                <a:solidFill>
                  <a:srgbClr val="C62828"/>
                </a:solidFill>
                <a:latin typeface="Arial"/>
              </a:rPr>
              <a:t>(2)</a:t>
            </a:r>
            <a:r>
              <a:rPr sz="1700" b="0" i="0">
                <a:solidFill>
                  <a:srgbClr val="1A1A1A"/>
                </a:solidFill>
                <a:latin typeface="Arial"/>
              </a:rPr>
              <a:t> would point down. In this drawing the tall arrow from bar 7 </a:t>
            </a:r>
            <a:r>
              <a:rPr sz="1700" b="1" i="0">
                <a:solidFill>
                  <a:srgbClr val="1F5FAD"/>
                </a:solidFill>
                <a:latin typeface="Arial"/>
              </a:rPr>
              <a:t>(3)</a:t>
            </a:r>
            <a:r>
              <a:rPr sz="1700" b="0" i="0">
                <a:solidFill>
                  <a:srgbClr val="1A1A1A"/>
                </a:solidFill>
                <a:latin typeface="Arial"/>
              </a:rPr>
              <a:t> points down through the short trigger.</a:t>
            </a:r>
          </a:p>
          <a:p>
            <a:pPr algn="l">
              <a:lnSpc>
                <a:spcPct val="105000"/>
              </a:lnSpc>
              <a:spcBef>
                <a:spcPts val="0"/>
              </a:spcBef>
              <a:spcAft>
                <a:spcPts val="1100"/>
              </a:spcAft>
            </a:pPr>
            <a:r>
              <a:rPr sz="1700" b="0" i="0">
                <a:solidFill>
                  <a:srgbClr val="1A1A1A"/>
                </a:solidFill>
                <a:latin typeface="Arial"/>
              </a:rPr>
              <a:t>So we count the bars, confirm the inside bar, and then wait to see which trigger price breaks.</a:t>
            </a:r>
          </a:p>
        </p:txBody>
      </p:sp>
      <p:sp>
        <p:nvSpPr>
          <p:cNvPr id="7" name="Rectangle 6"/>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drawing, with its long and short trigger levels and the long arrow from bar 7 running down through the short trigger.</a:t>
            </a:r>
          </a:p>
        </p:txBody>
      </p:sp>
      <p:cxnSp>
        <p:nvCxnSpPr>
          <p:cNvPr id="11" name="Connector 10"/>
          <p:cNvCxnSpPr/>
          <p:nvPr/>
        </p:nvCxnSpPr>
        <p:spPr>
          <a:xfrm>
            <a:off x="9142104" y="4089379"/>
            <a:ext cx="429111" cy="0"/>
          </a:xfrm>
          <a:prstGeom prst="line">
            <a:avLst/>
          </a:prstGeom>
          <a:ln w="44450">
            <a:solidFill>
              <a:srgbClr val="E09B00"/>
            </a:solidFill>
          </a:ln>
        </p:spPr>
      </p:cxnSp>
      <p:cxnSp>
        <p:nvCxnSpPr>
          <p:cNvPr id="12" name="Connector 11"/>
          <p:cNvCxnSpPr/>
          <p:nvPr/>
        </p:nvCxnSpPr>
        <p:spPr>
          <a:xfrm>
            <a:off x="9142104" y="4746101"/>
            <a:ext cx="429111" cy="0"/>
          </a:xfrm>
          <a:prstGeom prst="line">
            <a:avLst/>
          </a:prstGeom>
          <a:ln w="44450">
            <a:solidFill>
              <a:srgbClr val="C62828"/>
            </a:solidFill>
          </a:ln>
        </p:spPr>
      </p:cxnSp>
      <p:sp>
        <p:nvSpPr>
          <p:cNvPr id="13" name="Oval 12"/>
          <p:cNvSpPr/>
          <p:nvPr/>
        </p:nvSpPr>
        <p:spPr>
          <a:xfrm>
            <a:off x="8569956" y="5767669"/>
            <a:ext cx="286073" cy="316199"/>
          </a:xfrm>
          <a:prstGeom prst="ellipse">
            <a:avLst/>
          </a:prstGeom>
          <a:noFill/>
          <a:ln w="44450">
            <a:solidFill>
              <a:srgbClr val="1F5FAD"/>
            </a:solidFill>
          </a:ln>
        </p:spPr>
        <p:txBody>
          <a:bodyPr rtlCol="0" anchor="ctr"/>
          <a:lstStyle/>
          <a:p>
            <a:pPr algn="ctr"/>
          </a:p>
        </p:txBody>
      </p:sp>
      <p:sp>
        <p:nvSpPr>
          <p:cNvPr id="14" name="Oval 13"/>
          <p:cNvSpPr/>
          <p:nvPr/>
        </p:nvSpPr>
        <p:spPr>
          <a:xfrm>
            <a:off x="9219499" y="419545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219499" y="485217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8957265" y="575212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17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also applies the pattern to monthly bars, where he calls it Inside Month/NR5 (p. 232). Here are six monthly bars of ours, one bar a month. The first five have ranges of 12, 10, 9, 7 and 5. Bar 5's range of 5 is the narrowest of the five </a:t>
            </a:r>
            <a:r>
              <a:rPr sz="1700" b="1" i="0">
                <a:solidFill>
                  <a:srgbClr val="E09B00"/>
                </a:solidFill>
                <a:latin typeface="Arial"/>
              </a:rPr>
              <a:t>(1)</a:t>
            </a:r>
            <a:r>
              <a:rPr sz="1700" b="0" i="0">
                <a:solidFill>
                  <a:srgbClr val="1A1A1A"/>
                </a:solidFill>
                <a:latin typeface="Arial"/>
              </a:rPr>
              <a:t>, and its high of 30.00 and low of 25.00 stay inside bar 4's range, 24.00 to 31.00.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18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5 an inside month and the narrowest of the last five </a:t>
            </a:r>
            <a:r>
              <a:rPr sz="1700" b="1" i="0">
                <a:solidFill>
                  <a:srgbClr val="E09B00"/>
                </a:solidFill>
                <a:latin typeface="Arial"/>
              </a:rPr>
              <a:t>(1)</a:t>
            </a:r>
            <a:r>
              <a:rPr sz="1700" b="0" i="0">
                <a:solidFill>
                  <a:srgbClr val="1A1A1A"/>
                </a:solidFill>
                <a:latin typeface="Arial"/>
              </a:rPr>
              <a:t>: an Inside Month/NR5. Bar 6 then breaks out upward: it rises through bar 5's high of PHP 30.00 </a:t>
            </a:r>
            <a:r>
              <a:rPr sz="1700" b="1" i="0">
                <a:solidFill>
                  <a:srgbClr val="C62828"/>
                </a:solidFill>
                <a:latin typeface="Arial"/>
              </a:rPr>
              <a:t>(2)</a:t>
            </a:r>
            <a:r>
              <a:rPr sz="1700" b="0" i="0">
                <a:solidFill>
                  <a:srgbClr val="1A1A1A"/>
                </a:solidFill>
                <a:latin typeface="Arial"/>
              </a:rPr>
              <a:t> and bar 4's high of PHP 31.00, and closes at PHP 36.00 </a:t>
            </a:r>
            <a:r>
              <a:rPr sz="1700" b="1" i="0">
                <a:solidFill>
                  <a:srgbClr val="1F5FAD"/>
                </a:solidFill>
                <a:latin typeface="Arial"/>
              </a:rPr>
              <a:t>(3)</a:t>
            </a:r>
            <a:r>
              <a:rPr sz="1700" b="0" i="0">
                <a:solidFill>
                  <a:srgbClr val="1A1A1A"/>
                </a:solidFill>
                <a:latin typeface="Arial"/>
              </a:rPr>
              <a:t>, PHP 8.00 above bar 5's close of PHP 28.00.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8321405" y="390022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9188" y="3816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4285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7.39 shows an Inside Month/NR5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7.39 is Lim's Inside Month/NR5 on Dynegy's monthly chart (p. 232). February </a:t>
            </a:r>
            <a:r>
              <a:rPr sz="1700" b="1" i="0">
                <a:solidFill>
                  <a:srgbClr val="E09B00"/>
                </a:solidFill>
                <a:latin typeface="Arial"/>
              </a:rPr>
              <a:t>(1)</a:t>
            </a:r>
            <a:r>
              <a:rPr sz="1700" b="0" i="0">
                <a:solidFill>
                  <a:srgbClr val="1A1A1A"/>
                </a:solidFill>
                <a:latin typeface="Arial"/>
              </a:rPr>
              <a:t> sits inside January and is the narrowest of the five months from October to February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dotted lines sit at February's own high and low, while Figure 7.38 drew them from the bar before the inside bar; Lim's text does not say which to use. Here March </a:t>
            </a:r>
            <a:r>
              <a:rPr sz="1700" b="1" i="0">
                <a:solidFill>
                  <a:srgbClr val="1F5FAD"/>
                </a:solidFill>
                <a:latin typeface="Arial"/>
              </a:rPr>
              <a:t>(3)</a:t>
            </a:r>
            <a:r>
              <a:rPr sz="1700" b="0" i="0">
                <a:solidFill>
                  <a:srgbClr val="1A1A1A"/>
                </a:solidFill>
                <a:latin typeface="Arial"/>
              </a:rPr>
              <a:t> rises above both, so the breakout is upward either way.</a:t>
            </a:r>
          </a:p>
        </p:txBody>
      </p:sp>
      <p:sp>
        <p:nvSpPr>
          <p:cNvPr id="7" name="Rectangle 6"/>
          <p:cNvSpPr/>
          <p:nvPr/>
        </p:nvSpPr>
        <p:spPr>
          <a:xfrm>
            <a:off x="4718303" y="1207008"/>
            <a:ext cx="6732727" cy="4934392"/>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48612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4404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500" b="0" i="0">
                <a:solidFill>
                  <a:srgbClr val="1A1A1A"/>
                </a:solidFill>
                <a:latin typeface="Palatino"/>
              </a:rPr>
              <a:t>The left part of the book's monthly Dynegy chart, September to May: February inside January, the five months October to February, and March's upside breakout.</a:t>
            </a:r>
          </a:p>
        </p:txBody>
      </p:sp>
      <p:sp>
        <p:nvSpPr>
          <p:cNvPr id="11" name="Rectangle 10"/>
          <p:cNvSpPr/>
          <p:nvPr/>
        </p:nvSpPr>
        <p:spPr>
          <a:xfrm>
            <a:off x="8584135" y="3756845"/>
            <a:ext cx="472829" cy="763214"/>
          </a:xfrm>
          <a:prstGeom prst="rect">
            <a:avLst/>
          </a:prstGeom>
          <a:noFill/>
          <a:ln w="44450">
            <a:solidFill>
              <a:srgbClr val="E09B00"/>
            </a:solidFill>
          </a:ln>
        </p:spPr>
        <p:txBody>
          <a:bodyPr rtlCol="0" anchor="ctr"/>
          <a:lstStyle/>
          <a:p>
            <a:pPr algn="ctr"/>
          </a:p>
        </p:txBody>
      </p:sp>
      <p:sp>
        <p:nvSpPr>
          <p:cNvPr id="12" name="Rectangle 11"/>
          <p:cNvSpPr/>
          <p:nvPr/>
        </p:nvSpPr>
        <p:spPr>
          <a:xfrm>
            <a:off x="5527390" y="3426281"/>
            <a:ext cx="3629468" cy="2406314"/>
          </a:xfrm>
          <a:prstGeom prst="rect">
            <a:avLst/>
          </a:prstGeom>
          <a:noFill/>
          <a:ln w="44450">
            <a:solidFill>
              <a:srgbClr val="C62828"/>
            </a:solidFill>
          </a:ln>
        </p:spPr>
        <p:txBody>
          <a:bodyPr rtlCol="0" anchor="ctr"/>
          <a:lstStyle/>
          <a:p>
            <a:pPr algn="ctr"/>
          </a:p>
        </p:txBody>
      </p:sp>
      <p:sp>
        <p:nvSpPr>
          <p:cNvPr id="13" name="Rectangle 12"/>
          <p:cNvSpPr/>
          <p:nvPr/>
        </p:nvSpPr>
        <p:spPr>
          <a:xfrm>
            <a:off x="9216795" y="1681095"/>
            <a:ext cx="592702" cy="2785491"/>
          </a:xfrm>
          <a:prstGeom prst="rect">
            <a:avLst/>
          </a:prstGeom>
          <a:noFill/>
          <a:ln w="44450">
            <a:solidFill>
              <a:srgbClr val="1F5FAD"/>
            </a:solidFill>
          </a:ln>
        </p:spPr>
        <p:txBody>
          <a:bodyPr rtlCol="0" anchor="ctr"/>
          <a:lstStyle/>
          <a:p>
            <a:pPr algn="ctr"/>
          </a:p>
        </p:txBody>
      </p:sp>
      <p:sp>
        <p:nvSpPr>
          <p:cNvPr id="14" name="Oval 13"/>
          <p:cNvSpPr/>
          <p:nvPr/>
        </p:nvSpPr>
        <p:spPr>
          <a:xfrm>
            <a:off x="8686720" y="46113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5163805" y="3454403"/>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991997" y="2448126"/>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7.39 -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20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crop and marks are ours, added for teaching.</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Inside Month/NR5</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changes when ID/NR is read as Inside Month/NR5?</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pattern turns bullish</a:t>
            </a:r>
          </a:p>
          <a:p>
            <a:pPr algn="l">
              <a:lnSpc>
                <a:spcPct val="112000"/>
              </a:lnSpc>
              <a:spcBef>
                <a:spcPts val="0"/>
              </a:spcBef>
              <a:spcAft>
                <a:spcPts val="900"/>
              </a:spcAft>
            </a:pPr>
            <a:r>
              <a:rPr sz="1700" b="0" i="0">
                <a:solidFill>
                  <a:srgbClr val="FFFFFF"/>
                </a:solidFill>
                <a:latin typeface="Arial"/>
              </a:rPr>
              <a:t>B.  Volume replaces range</a:t>
            </a:r>
          </a:p>
          <a:p>
            <a:pPr algn="l">
              <a:lnSpc>
                <a:spcPct val="112000"/>
              </a:lnSpc>
              <a:spcBef>
                <a:spcPts val="0"/>
              </a:spcBef>
              <a:spcAft>
                <a:spcPts val="900"/>
              </a:spcAft>
            </a:pPr>
            <a:r>
              <a:rPr sz="1700" b="0" i="0">
                <a:solidFill>
                  <a:srgbClr val="FFFFFF"/>
                </a:solidFill>
                <a:latin typeface="Arial"/>
              </a:rPr>
              <a:t>C.  Each bar is one month</a:t>
            </a:r>
          </a:p>
          <a:p>
            <a:pPr algn="l">
              <a:lnSpc>
                <a:spcPct val="112000"/>
              </a:lnSpc>
              <a:spcBef>
                <a:spcPts val="0"/>
              </a:spcBef>
              <a:spcAft>
                <a:spcPts val="900"/>
              </a:spcAft>
            </a:pPr>
            <a:r>
              <a:rPr sz="1700" b="0" i="0">
                <a:solidFill>
                  <a:srgbClr val="FFFFFF"/>
                </a:solidFill>
                <a:latin typeface="Arial"/>
              </a:rPr>
              <a:t>D.  The inside bar must be the widest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stays the same in Inside Month/NR5?</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breakout must be upward</a:t>
            </a:r>
          </a:p>
          <a:p>
            <a:pPr algn="l">
              <a:lnSpc>
                <a:spcPct val="112000"/>
              </a:lnSpc>
              <a:spcBef>
                <a:spcPts val="0"/>
              </a:spcBef>
              <a:spcAft>
                <a:spcPts val="900"/>
              </a:spcAft>
            </a:pPr>
            <a:r>
              <a:rPr sz="1700" b="0" i="0">
                <a:solidFill>
                  <a:srgbClr val="FFFFFF"/>
                </a:solidFill>
                <a:latin typeface="Arial"/>
              </a:rPr>
              <a:t>B.  The count is always seven bars</a:t>
            </a:r>
          </a:p>
          <a:p>
            <a:pPr algn="l">
              <a:lnSpc>
                <a:spcPct val="112000"/>
              </a:lnSpc>
              <a:spcBef>
                <a:spcPts val="0"/>
              </a:spcBef>
              <a:spcAft>
                <a:spcPts val="900"/>
              </a:spcAft>
            </a:pPr>
            <a:r>
              <a:rPr sz="1700" b="0" i="0">
                <a:solidFill>
                  <a:srgbClr val="FFFFFF"/>
                </a:solidFill>
                <a:latin typeface="Arial"/>
              </a:rPr>
              <a:t>C.  Every bar must close higher</a:t>
            </a:r>
          </a:p>
          <a:p>
            <a:pPr algn="l">
              <a:lnSpc>
                <a:spcPct val="112000"/>
              </a:lnSpc>
              <a:spcBef>
                <a:spcPts val="0"/>
              </a:spcBef>
              <a:spcAft>
                <a:spcPts val="900"/>
              </a:spcAft>
            </a:pPr>
            <a:r>
              <a:rPr sz="1700" b="0" i="0">
                <a:solidFill>
                  <a:srgbClr val="FFFFFF"/>
                </a:solidFill>
                <a:latin typeface="Arial"/>
              </a:rPr>
              <a:t>D.  The bar must sit inside the one before and be the narrowest of the last 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32</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Inside Month/NR5</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changes when ID/NR is read as Inside Month/NR5?</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Each bar is one month</a:t>
            </a:r>
          </a:p>
          <a:p>
            <a:pPr algn="l">
              <a:lnSpc>
                <a:spcPct val="115000"/>
              </a:lnSpc>
              <a:spcBef>
                <a:spcPts val="700"/>
              </a:spcBef>
              <a:spcAft>
                <a:spcPts val="0"/>
              </a:spcAft>
            </a:pPr>
            <a:r>
              <a:rPr sz="1700" b="0" i="0">
                <a:solidFill>
                  <a:srgbClr val="1A1A1A"/>
                </a:solidFill>
                <a:latin typeface="Arial"/>
              </a:rPr>
              <a:t>Lim applies the same pattern to monthly bars, so each bar is one month (p. 232).</a:t>
            </a:r>
          </a:p>
        </p:txBody>
      </p:sp>
      <p:sp>
        <p:nvSpPr>
          <p:cNvPr id="10" name="Rectangle 9"/>
          <p:cNvSpPr/>
          <p:nvPr/>
        </p:nvSpPr>
        <p:spPr>
          <a:xfrm>
            <a:off x="777240" y="3111246"/>
            <a:ext cx="10637215" cy="21977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977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stays the same in Inside Month/NR5?</a:t>
            </a:r>
          </a:p>
        </p:txBody>
      </p:sp>
      <p:sp>
        <p:nvSpPr>
          <p:cNvPr id="13" name="TextBox 12"/>
          <p:cNvSpPr txBox="1"/>
          <p:nvPr/>
        </p:nvSpPr>
        <p:spPr>
          <a:xfrm>
            <a:off x="1143000" y="3853306"/>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must sit inside the one before and be the narrowest of the last n</a:t>
            </a:r>
          </a:p>
          <a:p>
            <a:pPr algn="l">
              <a:lnSpc>
                <a:spcPct val="115000"/>
              </a:lnSpc>
              <a:spcBef>
                <a:spcPts val="700"/>
              </a:spcBef>
              <a:spcAft>
                <a:spcPts val="0"/>
              </a:spcAft>
            </a:pPr>
            <a:r>
              <a:rPr sz="1700" b="0" i="0">
                <a:solidFill>
                  <a:srgbClr val="1A1A1A"/>
                </a:solidFill>
                <a:latin typeface="Arial"/>
              </a:rPr>
              <a:t>The monthly pattern still needs an inside bar that is the narrowest of the last n bars, here five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Williams' Oops and ID/NR</a:t>
            </a:r>
          </a:p>
        </p:txBody>
      </p:sp>
      <p:sp>
        <p:nvSpPr>
          <p:cNvPr id="6" name="Rectangle 5"/>
          <p:cNvSpPr/>
          <p:nvPr/>
        </p:nvSpPr>
        <p:spPr>
          <a:xfrm>
            <a:off x="777240" y="1207008"/>
            <a:ext cx="348980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294116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51560"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previous bar's high</a:t>
            </a:r>
          </a:p>
          <a:p>
            <a:pPr algn="l">
              <a:lnSpc>
                <a:spcPct val="112000"/>
              </a:lnSpc>
              <a:spcBef>
                <a:spcPts val="0"/>
              </a:spcBef>
              <a:spcAft>
                <a:spcPts val="900"/>
              </a:spcAft>
            </a:pPr>
            <a:r>
              <a:rPr sz="1700" b="0" i="0">
                <a:solidFill>
                  <a:srgbClr val="FFFFFF"/>
                </a:solidFill>
                <a:latin typeface="Arial"/>
              </a:rPr>
              <a:t>B.  The new bar's high</a:t>
            </a:r>
          </a:p>
          <a:p>
            <a:pPr algn="l">
              <a:lnSpc>
                <a:spcPct val="112000"/>
              </a:lnSpc>
              <a:spcBef>
                <a:spcPts val="0"/>
              </a:spcBef>
              <a:spcAft>
                <a:spcPts val="900"/>
              </a:spcAft>
            </a:pPr>
            <a:r>
              <a:rPr sz="1700" b="0" i="0">
                <a:solidFill>
                  <a:srgbClr val="FFFFFF"/>
                </a:solidFill>
                <a:latin typeface="Arial"/>
              </a:rPr>
              <a:t>C.  The previous bar's low</a:t>
            </a:r>
          </a:p>
          <a:p>
            <a:pPr algn="l">
              <a:lnSpc>
                <a:spcPct val="112000"/>
              </a:lnSpc>
              <a:spcBef>
                <a:spcPts val="0"/>
              </a:spcBef>
              <a:spcAft>
                <a:spcPts val="900"/>
              </a:spcAft>
            </a:pPr>
            <a:r>
              <a:rPr sz="1700" b="0" i="0">
                <a:solidFill>
                  <a:srgbClr val="FFFFFF"/>
                </a:solidFill>
                <a:latin typeface="Arial"/>
              </a:rPr>
              <a:t>D.  The midpoint of both bars</a:t>
            </a:r>
          </a:p>
        </p:txBody>
      </p:sp>
      <p:sp>
        <p:nvSpPr>
          <p:cNvPr id="10" name="Rectangle 9"/>
          <p:cNvSpPr/>
          <p:nvPr/>
        </p:nvSpPr>
        <p:spPr>
          <a:xfrm>
            <a:off x="4587087" y="1207008"/>
            <a:ext cx="348980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4861407"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4861407" y="1737360"/>
            <a:ext cx="294116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 like the inside bar </a:t>
            </a:r>
            <a:r>
              <a:rPr sz="1700" b="1" i="0">
                <a:solidFill>
                  <a:srgbClr val="F2A900"/>
                </a:solidFill>
                <a:latin typeface="Arial"/>
              </a:rPr>
              <a:t>(1)</a:t>
            </a:r>
            <a:r>
              <a:rPr sz="1700" b="1" i="0">
                <a:solidFill>
                  <a:srgbClr val="FFFFFF"/>
                </a:solidFill>
                <a:latin typeface="Arial"/>
              </a:rPr>
              <a:t> in Figure 7.38?</a:t>
            </a:r>
          </a:p>
        </p:txBody>
      </p:sp>
      <p:sp>
        <p:nvSpPr>
          <p:cNvPr id="13" name="TextBox 12"/>
          <p:cNvSpPr txBox="1"/>
          <p:nvPr/>
        </p:nvSpPr>
        <p:spPr>
          <a:xfrm>
            <a:off x="4861407"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always breaks upward</a:t>
            </a:r>
          </a:p>
          <a:p>
            <a:pPr algn="l">
              <a:lnSpc>
                <a:spcPct val="112000"/>
              </a:lnSpc>
              <a:spcBef>
                <a:spcPts val="0"/>
              </a:spcBef>
              <a:spcAft>
                <a:spcPts val="900"/>
              </a:spcAft>
            </a:pPr>
            <a:r>
              <a:rPr sz="1700" b="0" i="0">
                <a:solidFill>
                  <a:srgbClr val="FFFFFF"/>
                </a:solidFill>
                <a:latin typeface="Arial"/>
              </a:rPr>
              <a:t>B.  It is an inside day breaking out from the narrowest bar of the last seven</a:t>
            </a:r>
          </a:p>
          <a:p>
            <a:pPr algn="l">
              <a:lnSpc>
                <a:spcPct val="112000"/>
              </a:lnSpc>
              <a:spcBef>
                <a:spcPts val="0"/>
              </a:spcBef>
              <a:spcAft>
                <a:spcPts val="900"/>
              </a:spcAft>
            </a:pPr>
            <a:r>
              <a:rPr sz="1700" b="0" i="0">
                <a:solidFill>
                  <a:srgbClr val="FFFFFF"/>
                </a:solidFill>
                <a:latin typeface="Arial"/>
              </a:rPr>
              <a:t>C.  It counts volume</a:t>
            </a:r>
          </a:p>
          <a:p>
            <a:pPr algn="l">
              <a:lnSpc>
                <a:spcPct val="112000"/>
              </a:lnSpc>
              <a:spcBef>
                <a:spcPts val="0"/>
              </a:spcBef>
              <a:spcAft>
                <a:spcPts val="900"/>
              </a:spcAft>
            </a:pPr>
            <a:r>
              <a:rPr sz="1700" b="0" i="0">
                <a:solidFill>
                  <a:srgbClr val="FFFFFF"/>
                </a:solidFill>
                <a:latin typeface="Arial"/>
              </a:rPr>
              <a:t>D.  It needs seven up closes</a:t>
            </a:r>
          </a:p>
        </p:txBody>
      </p:sp>
      <p:sp>
        <p:nvSpPr>
          <p:cNvPr id="14" name="Rectangle 13"/>
          <p:cNvSpPr/>
          <p:nvPr/>
        </p:nvSpPr>
        <p:spPr>
          <a:xfrm>
            <a:off x="8360358" y="1170432"/>
            <a:ext cx="3090672" cy="310970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396934" y="1207008"/>
            <a:ext cx="3017520" cy="30365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396934" y="1207008"/>
            <a:ext cx="301752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671254" y="1481328"/>
            <a:ext cx="2468880" cy="25793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9037554" y="2556452"/>
            <a:ext cx="144840" cy="548401"/>
          </a:xfrm>
          <a:prstGeom prst="rect">
            <a:avLst/>
          </a:prstGeom>
          <a:noFill/>
          <a:ln w="44450">
            <a:solidFill>
              <a:srgbClr val="E09B00"/>
            </a:solidFill>
          </a:ln>
        </p:spPr>
        <p:txBody>
          <a:bodyPr rtlCol="0" anchor="ctr"/>
          <a:lstStyle/>
          <a:p>
            <a:pPr algn="ctr"/>
          </a:p>
        </p:txBody>
      </p:sp>
      <p:sp>
        <p:nvSpPr>
          <p:cNvPr id="19" name="Oval 18"/>
          <p:cNvSpPr/>
          <p:nvPr/>
        </p:nvSpPr>
        <p:spPr>
          <a:xfrm>
            <a:off x="9200034" y="31574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396934" y="4335000"/>
            <a:ext cx="301752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Williams' Oops and ID/NR</a:t>
            </a:r>
          </a:p>
        </p:txBody>
      </p:sp>
      <p:sp>
        <p:nvSpPr>
          <p:cNvPr id="6" name="Rectangle 5"/>
          <p:cNvSpPr/>
          <p:nvPr/>
        </p:nvSpPr>
        <p:spPr>
          <a:xfrm>
            <a:off x="777240" y="1207008"/>
            <a:ext cx="7132320" cy="16482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4820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1316736"/>
            <a:ext cx="6583680" cy="297942"/>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51560" y="1687830"/>
            <a:ext cx="6583680" cy="984504"/>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A.  The previous bar's high</a:t>
            </a:r>
          </a:p>
          <a:p>
            <a:pPr algn="l">
              <a:lnSpc>
                <a:spcPct val="115000"/>
              </a:lnSpc>
              <a:spcBef>
                <a:spcPts val="600"/>
              </a:spcBef>
              <a:spcAft>
                <a:spcPts val="0"/>
              </a:spcAft>
            </a:pPr>
            <a:r>
              <a:rPr sz="1700" b="0" i="0">
                <a:solidFill>
                  <a:srgbClr val="1A1A1A"/>
                </a:solidFill>
                <a:latin typeface="Arial"/>
              </a:rPr>
              <a:t>Lim places the sell-stop at the previous bar's high; the new bar's high is the stoploss (p. 231).</a:t>
            </a:r>
          </a:p>
        </p:txBody>
      </p:sp>
      <p:sp>
        <p:nvSpPr>
          <p:cNvPr id="10" name="Rectangle 9"/>
          <p:cNvSpPr/>
          <p:nvPr/>
        </p:nvSpPr>
        <p:spPr>
          <a:xfrm>
            <a:off x="777240" y="2992374"/>
            <a:ext cx="7132320" cy="28575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2992374"/>
            <a:ext cx="91440" cy="28575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51560" y="3102102"/>
            <a:ext cx="6583680" cy="595884"/>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 like the inside bar </a:t>
            </a:r>
            <a:r>
              <a:rPr sz="1700" b="1" i="0">
                <a:solidFill>
                  <a:srgbClr val="E09B00"/>
                </a:solidFill>
                <a:latin typeface="Arial"/>
              </a:rPr>
              <a:t>(1)</a:t>
            </a:r>
            <a:r>
              <a:rPr sz="1700" b="0" i="0">
                <a:solidFill>
                  <a:srgbClr val="818181"/>
                </a:solidFill>
                <a:latin typeface="Arial"/>
              </a:rPr>
              <a:t> in Figure 7.38?</a:t>
            </a:r>
          </a:p>
        </p:txBody>
      </p:sp>
      <p:sp>
        <p:nvSpPr>
          <p:cNvPr id="13" name="TextBox 12"/>
          <p:cNvSpPr txBox="1"/>
          <p:nvPr/>
        </p:nvSpPr>
        <p:spPr>
          <a:xfrm>
            <a:off x="1051560" y="3771138"/>
            <a:ext cx="6583680" cy="1895856"/>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B.  It is an inside day breaking out from the narrowest bar of the last seven</a:t>
            </a:r>
          </a:p>
          <a:p>
            <a:pPr algn="l">
              <a:lnSpc>
                <a:spcPct val="115000"/>
              </a:lnSpc>
              <a:spcBef>
                <a:spcPts val="600"/>
              </a:spcBef>
              <a:spcAft>
                <a:spcPts val="0"/>
              </a:spcAft>
            </a:pPr>
            <a:r>
              <a:rPr sz="1700" b="0" i="0">
                <a:solidFill>
                  <a:srgbClr val="1A1A1A"/>
                </a:solidFill>
                <a:latin typeface="Arial"/>
              </a:rPr>
              <a:t>Lim calls ID/NR a volatility breakout pattern and defines ID/NR n as an inside day breakout from the narrowest bar over the last n days (p. 232). He gives no other reason. Reading the narrowest bar as the quietest is ours, not his.</a:t>
            </a:r>
          </a:p>
        </p:txBody>
      </p:sp>
      <p:sp>
        <p:nvSpPr>
          <p:cNvPr id="14" name="Rectangle 13"/>
          <p:cNvSpPr/>
          <p:nvPr/>
        </p:nvSpPr>
        <p:spPr>
          <a:xfrm>
            <a:off x="8193024" y="1170432"/>
            <a:ext cx="3258006" cy="32780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229600" y="1207008"/>
            <a:ext cx="3184854" cy="320494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229600" y="1207008"/>
            <a:ext cx="318485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503920" y="1481328"/>
            <a:ext cx="2636214" cy="274774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8905744" y="2631284"/>
            <a:ext cx="152873" cy="578812"/>
          </a:xfrm>
          <a:prstGeom prst="rect">
            <a:avLst/>
          </a:prstGeom>
          <a:noFill/>
          <a:ln w="44450">
            <a:solidFill>
              <a:srgbClr val="E09B00"/>
            </a:solidFill>
          </a:ln>
        </p:spPr>
        <p:txBody>
          <a:bodyPr rtlCol="0" anchor="ctr"/>
          <a:lstStyle/>
          <a:p>
            <a:pPr algn="ctr"/>
          </a:p>
        </p:txBody>
      </p:sp>
      <p:sp>
        <p:nvSpPr>
          <p:cNvPr id="19" name="Oval 18"/>
          <p:cNvSpPr/>
          <p:nvPr/>
        </p:nvSpPr>
        <p:spPr>
          <a:xfrm>
            <a:off x="9084840" y="32732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229600" y="4503391"/>
            <a:ext cx="318485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33</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starts with the exhaustion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1 asks how exhaustion bars and pin bars differ (p. 233). In an uptrend an exhaustion bar opens above the previous bar's high and should close at or near its low, and no gap follows it.</a:t>
            </a:r>
          </a:p>
          <a:p>
            <a:pPr algn="l">
              <a:lnSpc>
                <a:spcPct val="105000"/>
              </a:lnSpc>
              <a:spcBef>
                <a:spcPts val="0"/>
              </a:spcBef>
              <a:spcAft>
                <a:spcPts val="1100"/>
              </a:spcAft>
            </a:pPr>
            <a:r>
              <a:rPr sz="1700" b="0" i="0">
                <a:solidFill>
                  <a:srgbClr val="1A1A1A"/>
                </a:solidFill>
                <a:latin typeface="Arial"/>
              </a:rPr>
              <a:t>In a downtrend the reverse is true, as in Figure 7.28's bullish exhaustion bar </a:t>
            </a:r>
            <a:r>
              <a:rPr sz="1700" b="1" i="0">
                <a:solidFill>
                  <a:srgbClr val="E09B00"/>
                </a:solidFill>
                <a:latin typeface="Arial"/>
              </a:rPr>
              <a:t>(1)</a:t>
            </a:r>
            <a:r>
              <a:rPr sz="1700" b="0" i="0">
                <a:solidFill>
                  <a:srgbClr val="1A1A1A"/>
                </a:solidFill>
                <a:latin typeface="Arial"/>
              </a:rPr>
              <a:t> at a bottom (p. 226).</a:t>
            </a:r>
          </a:p>
          <a:p>
            <a:pPr algn="l">
              <a:lnSpc>
                <a:spcPct val="105000"/>
              </a:lnSpc>
              <a:spcBef>
                <a:spcPts val="0"/>
              </a:spcBef>
              <a:spcAft>
                <a:spcPts val="1100"/>
              </a:spcAft>
            </a:pPr>
            <a:r>
              <a:rPr sz="1700" b="0" i="0">
                <a:solidFill>
                  <a:srgbClr val="1A1A1A"/>
                </a:solidFill>
                <a:latin typeface="Arial"/>
              </a:rPr>
              <a:t>Its Gap label is the opening gap from the previous bar; the rule is that no gap follows the exhaustion bar.</a:t>
            </a:r>
          </a:p>
        </p:txBody>
      </p:sp>
      <p:sp>
        <p:nvSpPr>
          <p:cNvPr id="7" name="Rectangle 6"/>
          <p:cNvSpPr/>
          <p:nvPr/>
        </p:nvSpPr>
        <p:spPr>
          <a:xfrm>
            <a:off x="777240" y="493090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96747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Lim regards it as a reversal bar (p. 226).</a:t>
            </a:r>
          </a:p>
        </p:txBody>
      </p:sp>
      <p:sp>
        <p:nvSpPr>
          <p:cNvPr id="9" name="Rectangle 8"/>
          <p:cNvSpPr/>
          <p:nvPr/>
        </p:nvSpPr>
        <p:spPr>
          <a:xfrm>
            <a:off x="6364223" y="1207008"/>
            <a:ext cx="5086807" cy="472204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243584"/>
            <a:ext cx="5013655" cy="46488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75119" y="1517904"/>
            <a:ext cx="4465015" cy="41916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around the bullish exhaustion bar the book labels, with the gap before it and the bars after it.</a:t>
            </a:r>
          </a:p>
        </p:txBody>
      </p:sp>
      <p:sp>
        <p:nvSpPr>
          <p:cNvPr id="13" name="Oval 12"/>
          <p:cNvSpPr/>
          <p:nvPr/>
        </p:nvSpPr>
        <p:spPr>
          <a:xfrm>
            <a:off x="8406261" y="3196120"/>
            <a:ext cx="601638" cy="929779"/>
          </a:xfrm>
          <a:prstGeom prst="ellipse">
            <a:avLst/>
          </a:prstGeom>
          <a:noFill/>
          <a:ln w="44450">
            <a:solidFill>
              <a:srgbClr val="E09B00"/>
            </a:solidFill>
          </a:ln>
        </p:spPr>
        <p:txBody>
          <a:bodyPr rtlCol="0" anchor="ctr"/>
          <a:lstStyle/>
          <a:p>
            <a:pPr algn="ctr"/>
          </a:p>
        </p:txBody>
      </p:sp>
      <p:sp>
        <p:nvSpPr>
          <p:cNvPr id="14" name="Oval 13"/>
          <p:cNvSpPr/>
          <p:nvPr/>
        </p:nvSpPr>
        <p:spPr>
          <a:xfrm>
            <a:off x="7918146" y="373304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and 233, Figure 7.28. The crop and mark are ours, added for teaching.</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how a pin bar differs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pin bar, or Pinocchio bar, pokes through a barrier and then rapidly retraces back inside it (p. 227). In Figure 7.30, Micron's pin bar </a:t>
            </a:r>
            <a:r>
              <a:rPr sz="1700" b="1" i="0">
                <a:solidFill>
                  <a:srgbClr val="E09B00"/>
                </a:solidFill>
                <a:latin typeface="Arial"/>
              </a:rPr>
              <a:t>(1)</a:t>
            </a:r>
            <a:r>
              <a:rPr sz="1700" b="0" i="0">
                <a:solidFill>
                  <a:srgbClr val="1A1A1A"/>
                </a:solidFill>
                <a:latin typeface="Arial"/>
              </a:rPr>
              <a:t> breaches support </a:t>
            </a:r>
            <a:r>
              <a:rPr sz="1700" b="1" i="0">
                <a:solidFill>
                  <a:srgbClr val="C62828"/>
                </a:solidFill>
                <a:latin typeface="Arial"/>
              </a:rPr>
              <a:t>(2)</a:t>
            </a:r>
            <a:r>
              <a:rPr sz="1700" b="0" i="0">
                <a:solidFill>
                  <a:srgbClr val="1A1A1A"/>
                </a:solidFill>
                <a:latin typeface="Arial"/>
              </a:rPr>
              <a:t>, and price comes straight back above it (p. 228).</a:t>
            </a:r>
          </a:p>
          <a:p>
            <a:pPr algn="l">
              <a:lnSpc>
                <a:spcPct val="105000"/>
              </a:lnSpc>
              <a:spcBef>
                <a:spcPts val="0"/>
              </a:spcBef>
              <a:spcAft>
                <a:spcPts val="1100"/>
              </a:spcAft>
            </a:pPr>
            <a:r>
              <a:rPr sz="1700" b="0" i="0">
                <a:solidFill>
                  <a:srgbClr val="1A1A1A"/>
                </a:solidFill>
                <a:latin typeface="Arial"/>
              </a:rPr>
              <a:t>So the difference is this. A pin bar gives a false impression of price breaking through a barrier, and pin bars usually form on low volume. Exhaustion bars do not usually give that false impression (p. 227).</a:t>
            </a:r>
          </a:p>
        </p:txBody>
      </p:sp>
      <p:sp>
        <p:nvSpPr>
          <p:cNvPr id="7" name="Rectangle 6"/>
          <p:cNvSpPr/>
          <p:nvPr/>
        </p:nvSpPr>
        <p:spPr>
          <a:xfrm>
            <a:off x="5266943" y="1207008"/>
            <a:ext cx="6184087" cy="315997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303519" y="1243584"/>
            <a:ext cx="6110935" cy="308682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577839" y="1517904"/>
            <a:ext cx="5562295" cy="2629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around the pin bar: its long tail below the dotted support line and the bars that recover above it.</a:t>
            </a:r>
          </a:p>
        </p:txBody>
      </p:sp>
      <p:sp>
        <p:nvSpPr>
          <p:cNvPr id="11" name="Oval 10"/>
          <p:cNvSpPr/>
          <p:nvPr/>
        </p:nvSpPr>
        <p:spPr>
          <a:xfrm>
            <a:off x="7472901" y="3280888"/>
            <a:ext cx="366656" cy="709969"/>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6159050" y="3395100"/>
            <a:ext cx="1161078" cy="0"/>
          </a:xfrm>
          <a:prstGeom prst="line">
            <a:avLst/>
          </a:prstGeom>
          <a:ln w="44450">
            <a:solidFill>
              <a:srgbClr val="C62828"/>
            </a:solidFill>
          </a:ln>
        </p:spPr>
      </p:cxnSp>
      <p:sp>
        <p:nvSpPr>
          <p:cNvPr id="13" name="Oval 12"/>
          <p:cNvSpPr/>
          <p:nvPr/>
        </p:nvSpPr>
        <p:spPr>
          <a:xfrm>
            <a:off x="7060749" y="351414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77453" y="325794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ours, added for teaching.</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2: why ID/NR7 is a volatility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2 asks why the ID/NR7 pattern is called a volatility breakout pattern (p. 233). Lim names it one and defines ID/NR n as an inside day breakout from the narrowest bar over the last n days; for ID/NR7, the narrowest of the last seven (p. 232).</a:t>
            </a:r>
          </a:p>
          <a:p>
            <a:pPr algn="l">
              <a:lnSpc>
                <a:spcPct val="105000"/>
              </a:lnSpc>
              <a:spcBef>
                <a:spcPts val="0"/>
              </a:spcBef>
              <a:spcAft>
                <a:spcPts val="1100"/>
              </a:spcAft>
            </a:pPr>
            <a:r>
              <a:rPr sz="1700" b="0" i="0">
                <a:solidFill>
                  <a:srgbClr val="1A1A1A"/>
                </a:solidFill>
                <a:latin typeface="Arial"/>
              </a:rPr>
              <a:t>He gives no further reason. Our plain reading: the narrowest bar is the quietest in a while, like the inside bar the book's arrow names in Figure 7.38 </a:t>
            </a:r>
            <a:r>
              <a:rPr sz="1700" b="1" i="0">
                <a:solidFill>
                  <a:srgbClr val="E09B00"/>
                </a:solidFill>
                <a:latin typeface="Arial"/>
              </a:rPr>
              <a:t>(1)</a:t>
            </a:r>
            <a:r>
              <a:rPr sz="1700" b="0" i="0">
                <a:solidFill>
                  <a:srgbClr val="1A1A1A"/>
                </a:solidFill>
                <a:latin typeface="Arial"/>
              </a:rPr>
              <a:t>, so the breakout comes out of low volatility.</a:t>
            </a:r>
          </a:p>
        </p:txBody>
      </p:sp>
      <p:sp>
        <p:nvSpPr>
          <p:cNvPr id="7" name="Rectangle 6"/>
          <p:cNvSpPr/>
          <p:nvPr/>
        </p:nvSpPr>
        <p:spPr>
          <a:xfrm>
            <a:off x="6547103" y="1207008"/>
            <a:ext cx="4903927" cy="493439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583679" y="1243584"/>
            <a:ext cx="4830775" cy="486124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83679" y="1243584"/>
            <a:ext cx="48307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57999" y="1517904"/>
            <a:ext cx="4282135" cy="44040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around bars 4 to 7, the inside bar the book's arrow names, and the two trigger levels.</a:t>
            </a:r>
          </a:p>
        </p:txBody>
      </p:sp>
      <p:sp>
        <p:nvSpPr>
          <p:cNvPr id="11" name="Rectangle 10"/>
          <p:cNvSpPr/>
          <p:nvPr/>
        </p:nvSpPr>
        <p:spPr>
          <a:xfrm>
            <a:off x="7609253" y="3403921"/>
            <a:ext cx="231877" cy="877940"/>
          </a:xfrm>
          <a:prstGeom prst="rect">
            <a:avLst/>
          </a:prstGeom>
          <a:noFill/>
          <a:ln w="44450">
            <a:solidFill>
              <a:srgbClr val="E09B00"/>
            </a:solidFill>
          </a:ln>
        </p:spPr>
        <p:txBody>
          <a:bodyPr rtlCol="0" anchor="ctr"/>
          <a:lstStyle/>
          <a:p>
            <a:pPr algn="ctr"/>
          </a:p>
        </p:txBody>
      </p:sp>
      <p:sp>
        <p:nvSpPr>
          <p:cNvPr id="12" name="Oval 11"/>
          <p:cNvSpPr/>
          <p:nvPr/>
        </p:nvSpPr>
        <p:spPr>
          <a:xfrm>
            <a:off x="7951789" y="444852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TextBox 12"/>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232 to 233, Figure 7.38. The crop and mark are ours, added for teaching.</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3: the key reversal day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0292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3 asks for the main characteristics of a key reversal day (p. 233).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It may open with a large gap up and close on high volume, and the wider the bar, the more reliable the follow-through (p. 218). Figure 7.15 marks Apple's key reversal day </a:t>
            </a:r>
            <a:r>
              <a:rPr sz="1700" b="1" i="0">
                <a:solidFill>
                  <a:srgbClr val="E09B00"/>
                </a:solidFill>
                <a:latin typeface="Arial"/>
              </a:rPr>
              <a:t>(1)</a:t>
            </a:r>
            <a:r>
              <a:rPr sz="1700" b="0" i="0">
                <a:solidFill>
                  <a:srgbClr val="1A1A1A"/>
                </a:solidFill>
                <a:latin typeface="Arial"/>
              </a:rPr>
              <a:t> on above-average volume </a:t>
            </a:r>
            <a:r>
              <a:rPr sz="1700" b="1" i="0">
                <a:solidFill>
                  <a:srgbClr val="C62828"/>
                </a:solidFill>
                <a:latin typeface="Arial"/>
              </a:rPr>
              <a:t>(2)</a:t>
            </a:r>
            <a:r>
              <a:rPr sz="1700" b="0" i="0">
                <a:solidFill>
                  <a:srgbClr val="1A1A1A"/>
                </a:solidFill>
                <a:latin typeface="Arial"/>
              </a:rPr>
              <a:t>. A bullish key reversal is the converse, in a downtrend.</a:t>
            </a:r>
          </a:p>
        </p:txBody>
      </p:sp>
      <p:sp>
        <p:nvSpPr>
          <p:cNvPr id="7" name="Rectangle 6"/>
          <p:cNvSpPr/>
          <p:nvPr/>
        </p:nvSpPr>
        <p:spPr>
          <a:xfrm>
            <a:off x="6089903" y="1207008"/>
            <a:ext cx="5361127" cy="402081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126479" y="1243584"/>
            <a:ext cx="5287975" cy="394766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26479" y="1243584"/>
            <a:ext cx="52879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400799" y="1517904"/>
            <a:ext cx="4739335" cy="3490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Apple's key reversal day after the uptrend, and its volume bar above the 20-day average.</a:t>
            </a:r>
          </a:p>
        </p:txBody>
      </p:sp>
      <p:sp>
        <p:nvSpPr>
          <p:cNvPr id="11" name="Rectangle 10"/>
          <p:cNvSpPr/>
          <p:nvPr/>
        </p:nvSpPr>
        <p:spPr>
          <a:xfrm>
            <a:off x="8532508" y="1259374"/>
            <a:ext cx="185079" cy="761899"/>
          </a:xfrm>
          <a:prstGeom prst="rect">
            <a:avLst/>
          </a:prstGeom>
          <a:noFill/>
          <a:ln w="44450">
            <a:solidFill>
              <a:srgbClr val="E09B00"/>
            </a:solidFill>
          </a:ln>
        </p:spPr>
        <p:txBody>
          <a:bodyPr rtlCol="0" anchor="ctr"/>
          <a:lstStyle/>
          <a:p>
            <a:pPr algn="ctr"/>
          </a:p>
        </p:txBody>
      </p:sp>
      <p:sp>
        <p:nvSpPr>
          <p:cNvPr id="12" name="Rectangle 11"/>
          <p:cNvSpPr/>
          <p:nvPr/>
        </p:nvSpPr>
        <p:spPr>
          <a:xfrm>
            <a:off x="8548372" y="4630680"/>
            <a:ext cx="169215" cy="560568"/>
          </a:xfrm>
          <a:prstGeom prst="rect">
            <a:avLst/>
          </a:prstGeom>
          <a:noFill/>
          <a:ln w="44450">
            <a:solidFill>
              <a:srgbClr val="C62828"/>
            </a:solidFill>
          </a:ln>
        </p:spPr>
        <p:txBody>
          <a:bodyPr rtlCol="0" anchor="ctr"/>
          <a:lstStyle/>
          <a:p>
            <a:pPr algn="ctr"/>
          </a:p>
        </p:txBody>
      </p:sp>
      <p:sp>
        <p:nvSpPr>
          <p:cNvPr id="13" name="Oval 12"/>
          <p:cNvSpPr/>
          <p:nvPr/>
        </p:nvSpPr>
        <p:spPr>
          <a:xfrm>
            <a:off x="8791946" y="138276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791946" y="429218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0292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and 233, Figure 7.15. The crop and marks are ours, added for teaching.</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first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4 asks us to describe the 16 price and volume reversal characteristics (p. 233). Lim lists them on p. 217 as signs of a potential reversal, and Chapter 5 discusses each one.</a:t>
            </a:r>
          </a:p>
          <a:p>
            <a:pPr algn="l">
              <a:lnSpc>
                <a:spcPct val="118000"/>
              </a:lnSpc>
              <a:spcBef>
                <a:spcPts val="0"/>
              </a:spcBef>
              <a:spcAft>
                <a:spcPts val="1300"/>
              </a:spcAft>
            </a:pPr>
            <a:r>
              <a:rPr sz="2100" b="0" i="0">
                <a:solidFill>
                  <a:srgbClr val="1A1A1A"/>
                </a:solidFill>
                <a:latin typeface="Arial"/>
              </a:rPr>
              <a:t>The first eight are a decrease in price cycle amplitude, a decrease in price cycle period, a change in bar retracement symmetry, a decrease in average bar range, a lack of the quality of price persistence, a decrease in average bar stochastic ratio, a decrease in average candlestick real body to range ratio, and changes in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and 233; the 16 names follow the book's order.</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last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frequency and decrease in depth of trend-based oscillations, the appearance of relatively larger and longer lasting consolidations, and the appearance of an exhaustion gap.</a:t>
            </a:r>
          </a:p>
          <a:p>
            <a:pPr algn="l">
              <a:lnSpc>
                <a:spcPct val="118000"/>
              </a:lnSpc>
              <a:spcBef>
                <a:spcPts val="0"/>
              </a:spcBef>
              <a:spcAft>
                <a:spcPts val="1300"/>
              </a:spcAft>
            </a:pPr>
            <a:r>
              <a:rPr sz="2100" b="0" i="0">
                <a:solidFill>
                  <a:srgbClr val="1A1A1A"/>
                </a:solidFill>
                <a:latin typeface="Arial"/>
              </a:rPr>
              <a:t>The last four are completion of the average range for the period under observation, overextended price action with respect to a price barrier, price accompanied by extremely high or low volume, and standard divergences between price, volume and oscillators.</a:t>
            </a:r>
          </a:p>
          <a:p>
            <a:pPr algn="l">
              <a:lnSpc>
                <a:spcPct val="118000"/>
              </a:lnSpc>
              <a:spcBef>
                <a:spcPts val="0"/>
              </a:spcBef>
              <a:spcAft>
                <a:spcPts val="1300"/>
              </a:spcAft>
            </a:pPr>
            <a:r>
              <a:rPr sz="2100" b="0" i="0">
                <a:solidFill>
                  <a:srgbClr val="1A1A1A"/>
                </a:solidFill>
                <a:latin typeface="Arial"/>
              </a:rPr>
              <a:t>Lim singles out barrier proximity as one of the most important.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16 names follow the book's order.</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what volume adds to a pattern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5 asks how volume affects bar chart pattern analysis (p. 233).</a:t>
            </a:r>
          </a:p>
          <a:p>
            <a:pPr algn="l">
              <a:lnSpc>
                <a:spcPct val="118000"/>
              </a:lnSpc>
              <a:spcBef>
                <a:spcPts val="0"/>
              </a:spcBef>
              <a:spcAft>
                <a:spcPts val="1300"/>
              </a:spcAft>
            </a:pPr>
            <a:r>
              <a:rPr sz="2100" b="0" i="0">
                <a:solidFill>
                  <a:srgbClr val="1A1A1A"/>
                </a:solidFill>
                <a:latin typeface="Arial"/>
              </a:rPr>
              <a:t>In a two-bar pattern, a narrow range bar should generally form on low volume, indicating uncertainty, and a large bar closing at or near its low should generally form on high volume in an uptrend (p. 212).</a:t>
            </a:r>
          </a:p>
          <a:p>
            <a:pPr algn="l">
              <a:lnSpc>
                <a:spcPct val="118000"/>
              </a:lnSpc>
              <a:spcBef>
                <a:spcPts val="0"/>
              </a:spcBef>
              <a:spcAft>
                <a:spcPts val="1300"/>
              </a:spcAft>
            </a:pPr>
            <a:r>
              <a:rPr sz="2100" b="0" i="0">
                <a:solidFill>
                  <a:srgbClr val="1A1A1A"/>
                </a:solidFill>
                <a:latin typeface="Arial"/>
              </a:rPr>
              <a:t>Lim also calls a bearish pattern potentially more reliable when its last bar is an overextended bar that closes at or near its low on high volume (pp. 212 to 214).</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weight to a reading;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214 and 233.</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6: two triple-bar bearish patterns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6 asks for two triple-bar bearish patterns and how to trade them (p. 233). Figure 7.6 draws them (p. 213).</a:t>
            </a:r>
          </a:p>
          <a:p>
            <a:pPr algn="l">
              <a:lnSpc>
                <a:spcPct val="105000"/>
              </a:lnSpc>
              <a:spcBef>
                <a:spcPts val="0"/>
              </a:spcBef>
              <a:spcAft>
                <a:spcPts val="1100"/>
              </a:spcAft>
            </a:pPr>
            <a:r>
              <a:rPr sz="1700" b="0" i="0">
                <a:solidFill>
                  <a:srgbClr val="1A1A1A"/>
                </a:solidFill>
                <a:latin typeface="Arial"/>
              </a:rPr>
              <a:t>In pattern 1 </a:t>
            </a:r>
            <a:r>
              <a:rPr sz="1700" b="1" i="0">
                <a:solidFill>
                  <a:srgbClr val="E09B00"/>
                </a:solidFill>
                <a:latin typeface="Arial"/>
              </a:rPr>
              <a:t>(1)</a:t>
            </a:r>
            <a:r>
              <a:rPr sz="1700" b="0" i="0">
                <a:solidFill>
                  <a:srgbClr val="1A1A1A"/>
                </a:solidFill>
                <a:latin typeface="Arial"/>
              </a:rPr>
              <a:t>, the first bar closes near its high, a large middle bar closes near its low, and the third bar closes at or near its low. In pattern 2 </a:t>
            </a:r>
            <a:r>
              <a:rPr sz="1700" b="1" i="0">
                <a:solidFill>
                  <a:srgbClr val="C62828"/>
                </a:solidFill>
                <a:latin typeface="Arial"/>
              </a:rPr>
              <a:t>(2)</a:t>
            </a:r>
            <a:r>
              <a:rPr sz="1700" b="0" i="0">
                <a:solidFill>
                  <a:srgbClr val="1A1A1A"/>
                </a:solidFill>
                <a:latin typeface="Arial"/>
              </a:rPr>
              <a:t>, a narrow range middle bar closes within its range on low volume, and the third bar closes at or near its low.</a:t>
            </a:r>
          </a:p>
          <a:p>
            <a:pPr algn="l">
              <a:lnSpc>
                <a:spcPct val="105000"/>
              </a:lnSpc>
              <a:spcBef>
                <a:spcPts val="0"/>
              </a:spcBef>
              <a:spcAft>
                <a:spcPts val="1100"/>
              </a:spcAft>
            </a:pPr>
            <a:r>
              <a:rPr sz="1700" b="0" i="0">
                <a:solidFill>
                  <a:srgbClr val="1A1A1A"/>
                </a:solidFill>
                <a:latin typeface="Arial"/>
              </a:rPr>
              <a:t>On trading, Lim gives only what makes the pattern more reliable: larger gaps, wider first and third bars, and a last bar closing near its low on high volume (pp. 213 to 214). He gives no entry or exit rule.</a:t>
            </a:r>
          </a:p>
        </p:txBody>
      </p:sp>
      <p:sp>
        <p:nvSpPr>
          <p:cNvPr id="7" name="Rectangle 6"/>
          <p:cNvSpPr/>
          <p:nvPr/>
        </p:nvSpPr>
        <p:spPr>
          <a:xfrm>
            <a:off x="6912864" y="1207008"/>
            <a:ext cx="4538166" cy="455088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47773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0205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cropped to the bars of its first two bearish triple-bar patterns.</a:t>
            </a:r>
          </a:p>
        </p:txBody>
      </p:sp>
      <p:sp>
        <p:nvSpPr>
          <p:cNvPr id="11" name="Rectangle 10"/>
          <p:cNvSpPr/>
          <p:nvPr/>
        </p:nvSpPr>
        <p:spPr>
          <a:xfrm>
            <a:off x="7708492" y="1337616"/>
            <a:ext cx="893002" cy="2203046"/>
          </a:xfrm>
          <a:prstGeom prst="rect">
            <a:avLst/>
          </a:prstGeom>
          <a:noFill/>
          <a:ln w="44450">
            <a:solidFill>
              <a:srgbClr val="E09B00"/>
            </a:solidFill>
          </a:ln>
        </p:spPr>
        <p:txBody>
          <a:bodyPr rtlCol="0" anchor="ctr"/>
          <a:lstStyle/>
          <a:p>
            <a:pPr algn="ctr"/>
          </a:p>
        </p:txBody>
      </p:sp>
      <p:sp>
        <p:nvSpPr>
          <p:cNvPr id="12" name="Rectangle 11"/>
          <p:cNvSpPr/>
          <p:nvPr/>
        </p:nvSpPr>
        <p:spPr>
          <a:xfrm>
            <a:off x="9851699" y="1713746"/>
            <a:ext cx="937653" cy="1826916"/>
          </a:xfrm>
          <a:prstGeom prst="rect">
            <a:avLst/>
          </a:prstGeom>
          <a:noFill/>
          <a:ln w="44450">
            <a:solidFill>
              <a:srgbClr val="C62828"/>
            </a:solidFill>
          </a:ln>
        </p:spPr>
        <p:txBody>
          <a:bodyPr rtlCol="0" anchor="ctr"/>
          <a:lstStyle/>
          <a:p>
            <a:pPr algn="ctr"/>
          </a:p>
        </p:txBody>
      </p:sp>
      <p:sp>
        <p:nvSpPr>
          <p:cNvPr id="13" name="Oval 12"/>
          <p:cNvSpPr/>
          <p:nvPr/>
        </p:nvSpPr>
        <p:spPr>
          <a:xfrm>
            <a:off x="7348081" y="138852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920093" y="176465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and 233, Figure 7.6. The crop and marks are ours, added for teaching.</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7: the ideal inside-bar reversal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7 asks for the ideal conditions for an inside bar reversal (p. 233). Lim says the first bar should be as wide as possible on high volume, and the second as narrow as possible on very low volume (p. 224).</a:t>
            </a:r>
          </a:p>
          <a:p>
            <a:pPr algn="l">
              <a:lnSpc>
                <a:spcPct val="105000"/>
              </a:lnSpc>
              <a:spcBef>
                <a:spcPts val="0"/>
              </a:spcBef>
              <a:spcAft>
                <a:spcPts val="1100"/>
              </a:spcAft>
            </a:pPr>
            <a:r>
              <a:rPr sz="1700" b="0" i="0">
                <a:solidFill>
                  <a:srgbClr val="1A1A1A"/>
                </a:solidFill>
                <a:latin typeface="Arial"/>
              </a:rPr>
              <a:t>Figure 7.25 shows two inside bars, 1 </a:t>
            </a:r>
            <a:r>
              <a:rPr sz="1700" b="1" i="0">
                <a:solidFill>
                  <a:srgbClr val="E09B00"/>
                </a:solidFill>
                <a:latin typeface="Arial"/>
              </a:rPr>
              <a:t>(1)</a:t>
            </a:r>
            <a:r>
              <a:rPr sz="1700" b="0" i="0">
                <a:solidFill>
                  <a:srgbClr val="1A1A1A"/>
                </a:solidFill>
                <a:latin typeface="Arial"/>
              </a:rPr>
              <a:t> and 2 </a:t>
            </a:r>
            <a:r>
              <a:rPr sz="1700" b="1" i="0">
                <a:solidFill>
                  <a:srgbClr val="C62828"/>
                </a:solidFill>
                <a:latin typeface="Arial"/>
              </a:rPr>
              <a:t>(2)</a:t>
            </a:r>
            <a:r>
              <a:rPr sz="1700" b="0" i="0">
                <a:solidFill>
                  <a:srgbClr val="1A1A1A"/>
                </a:solidFill>
                <a:latin typeface="Arial"/>
              </a:rPr>
              <a:t>, each within a wider bar at the same resistance level (pp. 224 to 225). It has no volume panel, so the volume half of the rule comes from the text.</a:t>
            </a:r>
          </a:p>
        </p:txBody>
      </p:sp>
      <p:sp>
        <p:nvSpPr>
          <p:cNvPr id="7" name="Rectangle 6"/>
          <p:cNvSpPr/>
          <p:nvPr/>
        </p:nvSpPr>
        <p:spPr>
          <a:xfrm>
            <a:off x="6364223" y="1207008"/>
            <a:ext cx="5086807" cy="372677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400799" y="1243584"/>
            <a:ext cx="5013655" cy="36536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675119" y="1517904"/>
            <a:ext cx="4465015" cy="31964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price panel of Figure 7.25 around the two inside bars the book numbers 1 and 2, both at the same resistance level.</a:t>
            </a:r>
          </a:p>
        </p:txBody>
      </p:sp>
      <p:sp>
        <p:nvSpPr>
          <p:cNvPr id="11" name="Rectangle 10"/>
          <p:cNvSpPr/>
          <p:nvPr/>
        </p:nvSpPr>
        <p:spPr>
          <a:xfrm>
            <a:off x="7694322" y="1543180"/>
            <a:ext cx="280764" cy="843986"/>
          </a:xfrm>
          <a:prstGeom prst="rect">
            <a:avLst/>
          </a:prstGeom>
          <a:noFill/>
          <a:ln w="44450">
            <a:solidFill>
              <a:srgbClr val="E09B00"/>
            </a:solidFill>
          </a:ln>
        </p:spPr>
        <p:txBody>
          <a:bodyPr rtlCol="0" anchor="ctr"/>
          <a:lstStyle/>
          <a:p>
            <a:pPr algn="ctr"/>
          </a:p>
        </p:txBody>
      </p:sp>
      <p:sp>
        <p:nvSpPr>
          <p:cNvPr id="12" name="Rectangle 11"/>
          <p:cNvSpPr/>
          <p:nvPr/>
        </p:nvSpPr>
        <p:spPr>
          <a:xfrm>
            <a:off x="8586753" y="1543180"/>
            <a:ext cx="255696" cy="1092432"/>
          </a:xfrm>
          <a:prstGeom prst="rect">
            <a:avLst/>
          </a:prstGeom>
          <a:noFill/>
          <a:ln w="44450">
            <a:solidFill>
              <a:srgbClr val="C62828"/>
            </a:solidFill>
          </a:ln>
        </p:spPr>
        <p:txBody>
          <a:bodyPr rtlCol="0" anchor="ctr"/>
          <a:lstStyle/>
          <a:p>
            <a:pPr algn="ctr"/>
          </a:p>
        </p:txBody>
      </p:sp>
      <p:sp>
        <p:nvSpPr>
          <p:cNvPr id="13" name="Oval 12"/>
          <p:cNvSpPr/>
          <p:nvPr/>
        </p:nvSpPr>
        <p:spPr>
          <a:xfrm>
            <a:off x="7717599" y="249479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605016" y="275055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224 to 225 and 233, Figure 7.25. The crop and marks are ours, added for teaching.</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8 points ahead to Chapter 8</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8 asks how we would use oscillators to gauge how bearish or bullish a bar reversal pattern is (p. 233). Chapter 7 shows only that they can agree.</a:t>
            </a:r>
          </a:p>
          <a:p>
            <a:pPr algn="l">
              <a:lnSpc>
                <a:spcPct val="105000"/>
              </a:lnSpc>
              <a:spcBef>
                <a:spcPts val="0"/>
              </a:spcBef>
              <a:spcAft>
                <a:spcPts val="1100"/>
              </a:spcAft>
            </a:pPr>
            <a:r>
              <a:rPr sz="1700" b="0" i="0">
                <a:solidFill>
                  <a:srgbClr val="1A1A1A"/>
                </a:solidFill>
                <a:latin typeface="Arial"/>
              </a:rPr>
              <a:t>In Figure 7.25, the book labels a bearish divergence </a:t>
            </a:r>
            <a:r>
              <a:rPr sz="1700" b="1" i="0">
                <a:solidFill>
                  <a:srgbClr val="C62828"/>
                </a:solidFill>
                <a:latin typeface="Arial"/>
              </a:rPr>
              <a:t>(2)</a:t>
            </a:r>
            <a:r>
              <a:rPr sz="1700" b="0" i="0">
                <a:solidFill>
                  <a:srgbClr val="1A1A1A"/>
                </a:solidFill>
                <a:latin typeface="Arial"/>
              </a:rPr>
              <a:t> between the oscillator panel, StochRSI, and inside bar 2 </a:t>
            </a:r>
            <a:r>
              <a:rPr sz="1700" b="1" i="0">
                <a:solidFill>
                  <a:srgbClr val="E09B00"/>
                </a:solidFill>
                <a:latin typeface="Arial"/>
              </a:rPr>
              <a:t>(1)</a:t>
            </a:r>
            <a:r>
              <a:rPr sz="1700" b="0" i="0">
                <a:solidFill>
                  <a:srgbClr val="1A1A1A"/>
                </a:solidFill>
                <a:latin typeface="Arial"/>
              </a:rPr>
              <a:t> (p. 225): the oscillator falls while price makes inside bar 2 at resistance, so it agrees with the bearish reversal reading. Lim also lists divergences between price, volume and oscillators as the 16th reversal characteristic (p. 217).</a:t>
            </a:r>
          </a:p>
          <a:p>
            <a:pPr algn="l">
              <a:lnSpc>
                <a:spcPct val="105000"/>
              </a:lnSpc>
              <a:spcBef>
                <a:spcPts val="0"/>
              </a:spcBef>
              <a:spcAft>
                <a:spcPts val="1100"/>
              </a:spcAft>
            </a:pPr>
            <a:r>
              <a:rPr sz="1700" b="0" i="0">
                <a:solidFill>
                  <a:srgbClr val="1A1A1A"/>
                </a:solidFill>
                <a:latin typeface="Arial"/>
              </a:rPr>
              <a:t>How to read the oscillators themselves is Chapter 8, so for now we treat their agreement as extra evidence, not a method.</a:t>
            </a:r>
          </a:p>
        </p:txBody>
      </p:sp>
      <p:sp>
        <p:nvSpPr>
          <p:cNvPr id="7" name="Rectangle 6"/>
          <p:cNvSpPr/>
          <p:nvPr/>
        </p:nvSpPr>
        <p:spPr>
          <a:xfrm>
            <a:off x="6912864" y="1207008"/>
            <a:ext cx="4538166" cy="492958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85642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3992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right part of Figure 7.25: inside bar 2 at resistance and, below it, the StochRSI panel with the book's bearish divergence line.</a:t>
            </a:r>
          </a:p>
        </p:txBody>
      </p:sp>
      <p:sp>
        <p:nvSpPr>
          <p:cNvPr id="11" name="Rectangle 10"/>
          <p:cNvSpPr/>
          <p:nvPr/>
        </p:nvSpPr>
        <p:spPr>
          <a:xfrm>
            <a:off x="8896186" y="1510687"/>
            <a:ext cx="227715" cy="971285"/>
          </a:xfrm>
          <a:prstGeom prst="rect">
            <a:avLst/>
          </a:prstGeom>
          <a:noFill/>
          <a:ln w="44450">
            <a:solidFill>
              <a:srgbClr val="E09B00"/>
            </a:solidFill>
          </a:ln>
        </p:spPr>
        <p:txBody>
          <a:bodyPr rtlCol="0" anchor="ctr"/>
          <a:lstStyle/>
          <a:p>
            <a:pPr algn="ctr"/>
          </a:p>
        </p:txBody>
      </p:sp>
      <p:sp>
        <p:nvSpPr>
          <p:cNvPr id="12" name="Rectangle 11"/>
          <p:cNvSpPr/>
          <p:nvPr/>
        </p:nvSpPr>
        <p:spPr>
          <a:xfrm>
            <a:off x="8168389" y="4817915"/>
            <a:ext cx="893002" cy="383657"/>
          </a:xfrm>
          <a:prstGeom prst="rect">
            <a:avLst/>
          </a:prstGeom>
          <a:noFill/>
          <a:ln w="44450">
            <a:solidFill>
              <a:srgbClr val="C62828"/>
            </a:solidFill>
          </a:ln>
        </p:spPr>
        <p:txBody>
          <a:bodyPr rtlCol="0" anchor="ctr"/>
          <a:lstStyle/>
          <a:p>
            <a:pPr algn="ctr"/>
          </a:p>
        </p:txBody>
      </p:sp>
      <p:sp>
        <p:nvSpPr>
          <p:cNvPr id="13" name="Oval 12"/>
          <p:cNvSpPr/>
          <p:nvPr/>
        </p:nvSpPr>
        <p:spPr>
          <a:xfrm>
            <a:off x="8598286" y="256335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883883" y="487015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225 and 233, Figure 7.25. The crop and marks are ours, added for teaching.</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