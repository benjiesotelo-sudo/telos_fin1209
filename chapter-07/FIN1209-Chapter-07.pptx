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 closes at 51.00 and has a high of 52.00. The next bar opens at 53.00, so it gaps above the prior range.</a:t>
            </a:r>
          </a:p>
          <a:p>
            <a:r>
              <a:rPr sz="1400"/>
              <a:t>- The sell-stop is 52.00, the prior high. The stoploss is 54.00, the new bar's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 setup first, then the exact directional converse on the right.</a:t>
            </a:r>
          </a:p>
          <a:p>
            <a:r>
              <a:rPr sz="1400"/>
              <a:t>- Mark 1 is the opening gap, mark 2 is the prior-bar trigger level, and mark 3 is the stoploss at the new extreme.</a:t>
            </a:r>
          </a:p>
          <a:p>
            <a:r>
              <a:rPr sz="1400"/>
              <a:t>- If price reverses through the stoploss, the book says to stop and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bar's low is PHP 48.00. The next bar opens at PHP 47.00, below that low.</a:t>
            </a:r>
          </a:p>
          <a:p>
            <a:r>
              <a:rPr sz="1400"/>
              <a:t>- The buy-stop is PHP 48.00 and the new low and stoploss are PHP 46.00.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mark 1 for the buy setup and mark 2 for the sell setup. The exact order levels were defined on the earlier slides.</a:t>
            </a:r>
          </a:p>
          <a:p>
            <a:r>
              <a:rPr sz="1400"/>
              <a:t>- The companion names are not attached to an unrelated mark. Chapter 7 does not define or show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six range labels are invented teaching numbers. Compare each with the same six-bar window.</a:t>
            </a:r>
          </a:p>
          <a:p>
            <a:r>
              <a:rPr sz="1400"/>
              <a:t>- The last bar is the narrowest and remains inside the prior bar. A later break can go up or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the last six bars in the source schematic, then locate its final inside bar and narrowest range.</a:t>
            </a:r>
          </a:p>
          <a:p>
            <a:r>
              <a:rPr sz="1400"/>
              <a:t>- The two trigger arrows show that direction is not built into ID/NR.</a:t>
            </a:r>
          </a:p>
          <a:p>
            <a:r>
              <a:rPr sz="1400"/>
              <a:t>- The next slide extends the same count to NR4, NR5, NR6, and NR7.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marked schematic as the anchor, then read the four window lengths from the body.</a:t>
            </a:r>
          </a:p>
          <a:p>
            <a:r>
              <a:rPr sz="1400"/>
              <a:t>- The book defines the pattern in words rather than giving these comparative ranges; they are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narrowest final bar and mark 2 boxes its inside relationship with the prior bar.</a:t>
            </a:r>
          </a:p>
          <a:p>
            <a:r>
              <a:rPr sz="1400"/>
              <a:t>- Mark 3's top and bottom edges sit on the printed long and short trigger levels; either direction is possible before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five counted monthly ranges are 12, 10, 9, 7, and 5 PHP; the fifth bar is inside the fourth.</a:t>
            </a:r>
          </a:p>
          <a:p>
            <a:r>
              <a:rPr sz="1400"/>
              <a:t>- The sixth bar breaks above PHP 31.00. The example is invented to show the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summary on p. 233 as the scope of the chapter.</a:t>
            </a:r>
          </a:p>
          <a:p>
            <a:r>
              <a:rPr sz="1400"/>
              <a:t>- Emphasise that potential evidence is not a guarantee or a complete trading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students to say the difference before reading the answer text.</a:t>
            </a:r>
          </a:p>
          <a:p>
            <a:r>
              <a:rPr sz="1400"/>
              <a:t>- Keep the words may and potential: the book does not promise follow-through.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first eight characteristics.</a:t>
            </a:r>
          </a:p>
          <a:p>
            <a:r>
              <a:rPr sz="1400"/>
              <a:t>- Read every name as evidence,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remaining definitions the book says to recall.</a:t>
            </a:r>
          </a:p>
          <a:p>
            <a:r>
              <a:rPr sz="1400"/>
              <a:t>- Read barrier proximity as the strongest reliability emphasis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brackets pattern 1 and red mark 2 brackets pattern 2.</a:t>
            </a:r>
          </a:p>
          <a:p>
            <a:r>
              <a:rPr sz="1400"/>
              <a:t>- Blue mark 3 sits beside the source's uptrend context. Read the source conditions rather than inventing a trade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identifies the wide first bar near resistance; red mark 2 identifies the narrow inside bar.</a:t>
            </a:r>
          </a:p>
          <a:p>
            <a:r>
              <a:rPr sz="1400"/>
              <a:t>- Blue mark 3 identifies the lower oscillator region shown in the source. Chapter 7 does not teach its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the lower labelled oscillator region, not to a formula.</a:t>
            </a:r>
          </a:p>
          <a:p>
            <a:r>
              <a:rPr sz="1400"/>
              <a:t>- The book uses the label as context in Chapter 7; the method is deferred to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How a bar can warn of a potential reversal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OHLC construction and the range of a price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Separate intrinsic sentiment from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book’s bar reversal patterns with numbers and figures.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the 16 reversal characteristics as context, not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The price bar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Reading a pattern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Popular reversal patterns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Volatility-based breakouts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OHLC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range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higher timeframe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16 minutes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Reading a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continuation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16 characteristics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Popular Reversal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key 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exhaustion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pin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Volatility-Based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Williams’ Oops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ID/NR4 to NR7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16 minutes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up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an Oops begins when a bar opens beyond the previous bar's range. After a gap up, the bearish setup places a sell-stop at the previous high and the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prior high PHP 52.00; new open PHP 53.00; sell-stop PHP 52.00; new high and stoploss PHP 54.00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the stoploss, stop and reverse there. Lim says to seek this bearish Oops in a downtrend.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up means bearish Oops; gap down is its bullish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order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82135" cy="2127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4044391" cy="188935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9901150" y="2401721"/>
            <a:ext cx="242663" cy="11336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01150" y="2779591"/>
            <a:ext cx="242663" cy="11336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1150" y="2156106"/>
            <a:ext cx="242663" cy="11336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99995" y="23401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30205" y="273689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330205" y="205673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29046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 is ours, with invented PHP values to show Lim (2016), p. 231.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7.36: both Oops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2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Definition: an Oops opens beyond the previous bar's range. Left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gaps down: buy-stop at previous low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stoploss at new low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Right is the unmarked converse: gap up, sell-stop at previous high, stoploss at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if price reverses, stop and reverse at the stoploss. The book promises no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Read the bearish and bullish order locations as exact opposites.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four named candlestick companions are not defined in Chapter 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171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9335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476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two Williams' Oops schematics: a gap below the prior range with a buy-stop at the prior low, and a gap above it with a sell-stop at the prior high; each stoploss is at the new extreme.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66544" y="3205499"/>
            <a:ext cx="51388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8619957" y="3031483"/>
            <a:ext cx="632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8619957" y="3379515"/>
            <a:ext cx="71153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771266" y="285565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312917" y="279764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391976" y="335836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4073204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down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opens below the previous low. Ours: prior low PHP 48.00; new open PHP 47.00; buy-stop PHP 48.00; new low and stoploss PHP 46.00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PHP 46.00, stop and reverse at that stoploss. Lim says to seek this bullish Oops in an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Morning star, evening star, piercing line, and dark cloud cover are named as possible companions, not defined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down means bullish Oops; gap up is its bearish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bearish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36415" cy="2105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3998671" cy="1867992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10113181" y="2956779"/>
            <a:ext cx="0" cy="186799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>
            <a:off x="8993553" y="2938099"/>
            <a:ext cx="95968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8993553" y="3498497"/>
            <a:ext cx="95968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10335901" y="28756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15875" y="267018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495848" y="3417377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07688"/>
            <a:ext cx="4236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V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V is ours, with invented PHP values to show Lim (2016), p. 231.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7.37: a bearish Oops on a daily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Dynegy shows a bearish Oops: mark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opening gap,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sell-stop at the previous high,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current high where stop-and-reverse buys.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expected downside is the book's chart annotation,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four companion names remain undefined here; import no outside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example applies the rule; it does not complete a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0374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231, Figure 7.37. The figure is a Dynegy daily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18259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588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131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59255" y="2882327"/>
            <a:ext cx="237177" cy="1270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0517373" y="2977621"/>
            <a:ext cx="51388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517373" y="2898209"/>
            <a:ext cx="51388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10024448" y="293575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63977" y="295163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1012685" y="25863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727935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Oops context and undefined companions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Prefer bullish Oops in an uptrend and bearish Oops in a downtrend. Figure 7.36 shows the directions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names morning star, evening star, piercing line, and dark cloud cover, but Figure 7.36 does not show them.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7 defines none of the four; they are context names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59253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Context chooses which Oops direction to study; the chapter leaves the companion definitions open.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named candlestick companions are not defined in this chapter.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44974" cy="21488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07231" cy="1911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07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358590" cy="1453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7.36's two Oops panels, with marks on the bullish and bearish setups; the chapter's named candlestick companions are not shown or defined here.</a:t>
            </a:r>
          </a:p>
        </p:txBody>
      </p:sp>
      <p:sp>
        <p:nvSpPr>
          <p:cNvPr id="15" name="Oval 14"/>
          <p:cNvSpPr/>
          <p:nvPr/>
        </p:nvSpPr>
        <p:spPr>
          <a:xfrm>
            <a:off x="8410879" y="2751176"/>
            <a:ext cx="312578" cy="22933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30061" y="2751176"/>
            <a:ext cx="312578" cy="22933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8358" y="25184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78986" y="2518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50841"/>
            <a:ext cx="4144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ID/NR: inside day plus narrowest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ID/NR means an inside-day breakout from the narrowest bar in the last n days. An inside day stays within the previous day's high and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six ranges are 4.0, 3.2, 2.8, 2.1, 1.6, and 1.2 PHP. Bar 6 is inside bar 5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has the narrowest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later breakout can occur in either direction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pattern is a volatility breakout, not a bullish or bearish signal by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 the window first, then wait for direction from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Ranges are ours, invented to show the six-bar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301301" y="2359005"/>
            <a:ext cx="588580" cy="30932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742736" y="2307450"/>
            <a:ext cx="0" cy="360882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0485232" y="2290265"/>
            <a:ext cx="0" cy="32651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9980209" y="261709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899867" y="259991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164141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U is ours, with invented PHP ranges to show Lim (2016), p. 232.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7.38: ID/NR6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book's schematic shows the last six bars counted for ID/NR6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 The final bar is inside the prior range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and is the narrowest of those six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calls this an ID/NR6 volatility breakout. It has no bearish or bullish sentiment before the breakout, so either trigger direction remains possible.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identify the exact n-day window and the inside condition before reading the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93208"/>
            <a:ext cx="82296" cy="45110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129784"/>
            <a:ext cx="6291072" cy="451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The number 6 names the count, not a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45480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824934" cy="236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2131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3038550" cy="1673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68373" y="2675279"/>
            <a:ext cx="1004413" cy="127867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93427" y="3122816"/>
            <a:ext cx="179359" cy="83114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01043" y="3144127"/>
            <a:ext cx="0" cy="809829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8380110" y="285778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814986" y="371023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958474" y="362499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270824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ID/NR4, NR5, NR6, and NR7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 in ID/NR n is the number of bars counted: ID/NR4 counts four, NR5 counts five, NR6 counts six, and NR7 counts seven.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separate invented windows make the arithmetic visible: NR4 ranges 3.1, 2.4, 2.0, 1.6 PHP; NR5 adds 1.2 PHP; NR6 adds 1.8 PHP; NR7 adds 1.0 PHP.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Every version still needs the inside-day condition. The label says how far back to count, not which way price must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volatility breakout compresses recent range; direction comes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9089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Lim (2016), p. 232. The comparative ranges are ours, invented to show the n-day windows.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232. The comparative ranges are ours, invented.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 has no built-in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inside and narrowest-range conditions describe compression, not sentiment. Figure 7.38 marks the narrowest bar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its inside condition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breakout, the same setup can trigger long or short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direction comes from the later price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do not label ID/NR bullish or bearish before the trigger; count the window and wait.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Neutral first, directional only after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693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ID/NR has no bearish or bullish sentiment before its breakout.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2278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204084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1583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7.38's ID/NR6 schematic, with the narrowest inside bar and both possible trigger directions visible.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76811" y="3092667"/>
            <a:ext cx="0" cy="775522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9570567" y="3072258"/>
            <a:ext cx="177073" cy="79593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53885" y="3174301"/>
            <a:ext cx="247902" cy="34694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52139" y="362898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716725" y="260856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849995" y="354735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180543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Month/NR5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month applies the idea to monthly bars. Ours: ranges 12, 10, 9, 7, 5 PHP; the fifth is inside the fourth and narrowest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Invented, not the book figure.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sixth invented bar breaks upward through PHP 31.00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Before the break, the pattern is neutral.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7.39 is a separate Dynegy extension, not a source for these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timeframe changes; the inside plus narrowest-range logic stays.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Monthly ranges and breakout are ours, invented to show the extension.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749506" y="2582408"/>
            <a:ext cx="625367" cy="36088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264514" y="2599592"/>
            <a:ext cx="0" cy="274958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10669164" y="2238711"/>
            <a:ext cx="220717" cy="5327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65201" y="287486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84858" y="287486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1010226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W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W is ours, with invented monthly PHP values to show Lim (2016), p. 232.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7.39: Inside Month/NR5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monthly chart shows the inside-month setup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 five-month range count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the later upside breakout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observed breakout is the book's example, not a promise that every inside month breaks upward.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keep the pattern neutral until the monthly bar actually breaks, then read direction from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monthly figure extends ID/NR without adding a new direction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7.39. The monthly chart is Dynegy Inc.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16290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13912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934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9464323" y="2791985"/>
            <a:ext cx="212488" cy="25043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578955" y="3153721"/>
            <a:ext cx="1133271" cy="0"/>
          </a:xfrm>
          <a:prstGeom prst="line">
            <a:avLst/>
          </a:prstGeom>
          <a:ln w="44450">
            <a:solidFill>
              <a:srgbClr val="C62828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9676811" y="2165903"/>
            <a:ext cx="212488" cy="34782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50089" y="296090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00136" y="308612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893798" y="195917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530988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9377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93776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previous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new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previous bar's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midpoint of both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9496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9377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93776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Six months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Six bars and the narrowest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Six volume readings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Six bullish closes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3020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8301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325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2299935"/>
            <a:ext cx="1311651" cy="166980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84369"/>
            <a:ext cx="234223" cy="1085376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912199"/>
            <a:ext cx="0" cy="105754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410846" y="258022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84634" y="36934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72013" y="358211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19208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4 - 7.4 Volatility breakouts  |  Check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84632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previous bar's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places the sell-stop at the previous bar's high after a gap above that high (p. 231).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9496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84632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Six bars and the narrowest range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ID/NR6 uses an inside day and the narrowest bar over the last six days (p. 232).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2964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26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269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2280257"/>
            <a:ext cx="1311651" cy="163607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52884"/>
            <a:ext cx="234223" cy="106344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880152"/>
            <a:ext cx="0" cy="10361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410846" y="255211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84634" y="36428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72013" y="3533762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262985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Check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Summary: read the bar, then the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action, indicator action, and volume action may indicate future price activity, especially when significant indicator and volume action accompanies the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reads OHLC, formation count, sentiment, gaps, barriers, volume, and the 16 reversal characteristics.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Breakout patterns may catch continuations or reversals, but readings remain potential. Oscillator method is deferred to Chapter 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summary is a reading habit, not a complete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233. The chapter summary is paraphrased for teaching.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1 to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Exhaustion versus pin bar: exhaustion opens beyond the prior extreme and has no following gap; a pin bar falsely penetrates a barrier and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ID/NR7 is a volatility breakout because it combines an inside day with the narrowest range in the last seven days.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A key reversal makes a higher high then closes near or below the prior close, or the bullish converse in a downtrend. A wider bar and high volume may strengthen the potential reading.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first three answers distinguish pattern structure from reliability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232. Review answers are written from the preceding slides.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(1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 to 4: decrease in price cycle amplitude; decrease in price cycle period; change in bar retracement symmetry; decrease in average bar range.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 to 8: lack of the quality of price persistence; decrease in average bar stochastic ratio; decrease in average candlestick real body to range ratio; changes in angular symmetry and momentum.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16145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252721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first eight are potential reversal clues, not guarantees. Chapter 5 gives the detailed discussion.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(2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9 to 12: proximity to a price barrier; reduction in frequency and decrease in depth of trend-based oscillations; appearance of relatively larger and longer lasting consolidations; appearance of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13 to 16: completion of the average range for the period under observation; overextended price action with respect to a price barrier; price accompanied by extremely high or low volume; standard divergences between price, volume, and oscillators.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4555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8213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Barrier proximity is the especially important context; these clues still do not guarantee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5 and 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5. Volume: high volume can strengthen a wide final reversal bar; low volume can signal uncertainty. Pattern 1 allows larger middle volume to be more bearish.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6. Figure 7.6: pattern 1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first and third closes near low with a large middle bar; pattern 2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a narrow, low-volume middle bar.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shared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Wider outer ranges and gaps add potential reliability. Chapter 7 supplies evidence, not a complete trade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Pattern evidence does not make a complete trade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810512"/>
            <a:ext cx="3824934" cy="242266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9832" y="1929384"/>
            <a:ext cx="3587190" cy="218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2203703"/>
            <a:ext cx="3038550" cy="1727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7.06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7.6's three bearish triple-bar schematics, with the first two structures marked for the review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89014" y="1973082"/>
            <a:ext cx="645694" cy="144205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4067" y="1973082"/>
            <a:ext cx="645694" cy="144205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60757" y="2978148"/>
            <a:ext cx="286975" cy="26219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72494" y="253509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097548" y="253509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8236622" y="305948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324621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7.06 -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213, Figure 7.6. The numbered marks are for teaching.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7: ideal inside-bar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Inside reversal: the inside bar stays within the prior high and low, then breaks in the reversal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Ideal: first bar wide on high volume; second narrow on very low volume. Barrier and trend context strengthen the potential reading.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Figure 7.25 marks wide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, narrow inside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, and oscillator region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Chapter 7 gives no formula.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Harami is one-fourth to one-third the prior range; an inside bar has no restriction.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73752"/>
            <a:ext cx="82296" cy="6644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10328"/>
            <a:ext cx="6656832" cy="664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The inside condition comes first; reversal direction comes from the later break.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810512"/>
            <a:ext cx="3459174" cy="207011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65592" y="1929384"/>
            <a:ext cx="3221431" cy="183237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65592" y="1929384"/>
            <a:ext cx="3221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203703"/>
            <a:ext cx="2672790" cy="1375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7.25's ITC Holdings chart, with the wide first bar, the narrow inside bar, and the lower oscillator region marked.</a:t>
            </a:r>
          </a:p>
        </p:txBody>
      </p:sp>
      <p:sp>
        <p:nvSpPr>
          <p:cNvPr id="14" name="Oval 13"/>
          <p:cNvSpPr/>
          <p:nvPr/>
        </p:nvSpPr>
        <p:spPr>
          <a:xfrm>
            <a:off x="10001807" y="2204240"/>
            <a:ext cx="193285" cy="4397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323950" y="2204240"/>
            <a:ext cx="193285" cy="43976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34021" y="3193721"/>
            <a:ext cx="225500" cy="3115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5790" y="197546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08933" y="197546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47862" y="345968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3972069"/>
            <a:ext cx="34591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numbered marks are for teaching.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8: the Chapter 8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asks how oscillators can help gauge bullishness or bearishness in bar reversal patterns.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 labels an oscillator region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but Chapter 7 does not teach the method or a formula for using oscillators.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full treatment belongs to Chapter 8. This is a forward pointer, not an assessed Chapter 7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3766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Use the figure as context only; do not import a method the chapter does not teach.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233, review question 8; Figure 7.13, p. 218. Oscillator method is deferred to Chapter 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739334" cy="21487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501590" cy="19110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85431" y="1929384"/>
            <a:ext cx="45015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1" y="2203703"/>
            <a:ext cx="3952950" cy="14538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7.13's overextension chart, with mark 1 on the lower labelled oscillator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6641" y="3343563"/>
            <a:ext cx="765270" cy="45865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24783" y="312996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050748"/>
            <a:ext cx="4739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7.13. The numbered mark is for teaching.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