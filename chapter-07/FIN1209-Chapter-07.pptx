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a bullish formation after the uptrend: it agrees, a continuation.</a:t>
            </a:r>
          </a:p>
          <a:p>
            <a:r>
              <a:rPr sz="1400"/>
              <a:t>- Red 2 boxes a bearish formation after the same uptrend: it disagrees,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much longer than the bars before it. Closing near the low is a second, separate condition.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From two bars to three: the new thing is the middle bar.</a:t>
            </a:r>
          </a:p>
          <a:p>
            <a:r>
              <a:rPr sz="1400"/>
              <a:t>- Say uptrend and middle bar out loud before the first form.</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is the last bar's close at 49.60, back below the gap.</a:t>
            </a:r>
          </a:p>
          <a:p>
            <a:r>
              <a:rPr sz="1400"/>
              <a:t>- Blue 3 boxes the PHP 1.00 gap when the middle bar's low is 51.00; purple 4 is the last bar's close at 49.60 again.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is the last bar's close at 49.60, back below the gap.</a:t>
            </a:r>
          </a:p>
          <a:p>
            <a:r>
              <a:rPr sz="1400"/>
              <a:t>- Blue 3 boxes the PHP 1.00 gap when the middle bar's low is 51.00; purple 4 is the last bar's close at 49.60 again.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key reversal bar's low, below the lower band. Mark 2 is its close near the high.</a:t>
            </a:r>
          </a:p>
          <a:p>
            <a:r>
              <a:rPr sz="1400"/>
              <a:t>-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label. Mark 4 is the extreme volume under the key reversal bar.</a:t>
            </a:r>
          </a:p>
          <a:p>
            <a:r>
              <a:rPr sz="1400"/>
              <a:t>- Lim calls the close near the high on extreme volume indicative of a selling climax.</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last bar, which closes above the lower band.</a:t>
            </a:r>
          </a:p>
          <a:p>
            <a:r>
              <a:rPr sz="1400"/>
              <a:t>-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reading under the pattern.</a:t>
            </a:r>
          </a:p>
          <a:p>
            <a:r>
              <a:rPr sz="1400"/>
              <a:t>- The book gives no StochRSI formula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4 is the low volume under the island. Mark 5 is the overbought stochastic label.</a:t>
            </a:r>
          </a:p>
          <a:p>
            <a:r>
              <a:rPr sz="1400"/>
              <a:t>- No stochastic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Lim gives only the short version and sends readers to DiNapoli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Bullish: inside bar 40.00 to 43.00, false low 39.00, long when bar 4 closes at 43.40, above 43.00.</a:t>
            </a:r>
          </a:p>
          <a:p>
            <a:r>
              <a:rPr sz="1400"/>
              <a:t>- This mirrors the bearish example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way of sorting is the intrinsic bias or sentiment of a formation: whether the formation itself leans bullish or bearish (pp. 210 to 211). Chapter 4 called this intrinsic bias. His example: a standard head and shoulders </a:t>
            </a:r>
            <a:r>
              <a:rPr sz="1700" b="1" i="0">
                <a:solidFill>
                  <a:srgbClr val="E09B00"/>
                </a:solidFill>
                <a:latin typeface="Arial"/>
              </a:rPr>
              <a:t>(1)</a:t>
            </a:r>
            <a:r>
              <a:rPr sz="1700" b="0" i="0">
                <a:solidFill>
                  <a:srgbClr val="1A1A1A"/>
                </a:solidFill>
                <a:latin typeface="Arial"/>
              </a:rPr>
              <a:t> is intrinsically bearish, and an inverted head and shoulders </a:t>
            </a:r>
            <a:r>
              <a:rPr sz="1700" b="1" i="0">
                <a:solidFill>
                  <a:srgbClr val="C62828"/>
                </a:solidFill>
                <a:latin typeface="Arial"/>
              </a:rPr>
              <a:t>(2)</a:t>
            </a:r>
            <a:r>
              <a:rPr sz="1700" b="0" i="0">
                <a:solidFill>
                  <a:srgbClr val="1A1A1A"/>
                </a:solidFill>
                <a:latin typeface="Arial"/>
              </a:rPr>
              <a:t> is intrinsically bullish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lean belongs to the formation, so it stays the same whichever trend the formation appears in. Intrinsic sentiment is about the formation, not the trend around it.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 For example, with prices of ours: one bar has a low of PHP 47.90 </a:t>
            </a:r>
            <a:r>
              <a:rPr sz="1700" b="1" i="0">
                <a:solidFill>
                  <a:srgbClr val="E09B00"/>
                </a:solidFill>
                <a:latin typeface="Arial"/>
              </a:rPr>
              <a:t>(1)</a:t>
            </a:r>
            <a:r>
              <a:rPr sz="1700" b="0" i="0">
                <a:solidFill>
                  <a:srgbClr val="1A1A1A"/>
                </a:solidFill>
                <a:latin typeface="Arial"/>
              </a:rPr>
              <a:t> and the next bar closes at PHP 47.50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49937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79894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246150" y="4229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56912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close is below the previous low, so this two-bar formation leans bearish. Lim calls it a general rule, so treat it as a clue, not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49937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79894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246150" y="4229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56912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uptrend with two different formations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comparison drawn. In both panels prices have been rising, so the trend sentiment is bullish. A bullish formation </a:t>
            </a:r>
            <a:r>
              <a:rPr sz="1700" b="1" i="0">
                <a:solidFill>
                  <a:srgbClr val="E09B00"/>
                </a:solidFill>
                <a:latin typeface="Arial"/>
              </a:rPr>
              <a:t>(1)</a:t>
            </a:r>
            <a:r>
              <a:rPr sz="1700" b="0" i="0">
                <a:solidFill>
                  <a:srgbClr val="1A1A1A"/>
                </a:solidFill>
                <a:latin typeface="Arial"/>
              </a:rPr>
              <a:t> agrees with it, so Lim considers it a continuation. A bearish formation </a:t>
            </a:r>
            <a:r>
              <a:rPr sz="1700" b="1" i="0">
                <a:solidFill>
                  <a:srgbClr val="C62828"/>
                </a:solidFill>
                <a:latin typeface="Arial"/>
              </a:rPr>
              <a:t>(2)</a:t>
            </a:r>
            <a:r>
              <a:rPr sz="1700" b="0" i="0">
                <a:solidFill>
                  <a:srgbClr val="1A1A1A"/>
                </a:solidFill>
                <a:latin typeface="Arial"/>
              </a:rPr>
              <a:t> disagrees, so it is a reversal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x-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069080" y="3063239"/>
            <a:ext cx="1719072" cy="1188720"/>
          </a:xfrm>
          <a:prstGeom prst="rect">
            <a:avLst/>
          </a:prstGeom>
          <a:noFill/>
          <a:ln w="44450">
            <a:solidFill>
              <a:srgbClr val="E09B00"/>
            </a:solidFill>
          </a:ln>
        </p:spPr>
        <p:txBody>
          <a:bodyPr rtlCol="0" anchor="ctr"/>
          <a:lstStyle/>
          <a:p>
            <a:pPr algn="ctr"/>
          </a:p>
        </p:txBody>
      </p:sp>
      <p:sp>
        <p:nvSpPr>
          <p:cNvPr id="10" name="Rectangle 9"/>
          <p:cNvSpPr/>
          <p:nvPr/>
        </p:nvSpPr>
        <p:spPr>
          <a:xfrm>
            <a:off x="9281160" y="3479291"/>
            <a:ext cx="1719072" cy="1124712"/>
          </a:xfrm>
          <a:prstGeom prst="rect">
            <a:avLst/>
          </a:prstGeom>
          <a:noFill/>
          <a:ln w="44450">
            <a:solidFill>
              <a:srgbClr val="C62828"/>
            </a:solidFill>
          </a:ln>
        </p:spPr>
        <p:txBody>
          <a:bodyPr rtlCol="0" anchor="ctr"/>
          <a:lstStyle/>
          <a:p>
            <a:pPr algn="ctr"/>
          </a:p>
        </p:txBody>
      </p:sp>
      <p:sp>
        <p:nvSpPr>
          <p:cNvPr id="11" name="Oval 10"/>
          <p:cNvSpPr/>
          <p:nvPr/>
        </p:nvSpPr>
        <p:spPr>
          <a:xfrm>
            <a:off x="5952744" y="352958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999243" y="31932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EX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rule, p. 211.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why we keep the two sentiments apart. In a formation of ours the second bar closes at PHP 48.60 </a:t>
            </a:r>
            <a:r>
              <a:rPr sz="1700" b="1" i="0">
                <a:solidFill>
                  <a:srgbClr val="E09B00"/>
                </a:solidFill>
                <a:latin typeface="Arial"/>
              </a:rPr>
              <a:t>(1)</a:t>
            </a:r>
            <a:r>
              <a:rPr sz="1700" b="0" i="0">
                <a:solidFill>
                  <a:srgbClr val="1A1A1A"/>
                </a:solidFill>
                <a:latin typeface="Arial"/>
              </a:rPr>
              <a:t>, above the first bar's high of PHP 48.30 </a:t>
            </a:r>
            <a:r>
              <a:rPr sz="1700" b="1" i="0">
                <a:solidFill>
                  <a:srgbClr val="C62828"/>
                </a:solidFill>
                <a:latin typeface="Arial"/>
              </a:rPr>
              <a:t>(2)</a:t>
            </a:r>
            <a:r>
              <a:rPr sz="1700" b="0" i="0">
                <a:solidFill>
                  <a:srgbClr val="1A1A1A"/>
                </a:solidFill>
                <a:latin typeface="Arial"/>
              </a:rPr>
              <a:t>, so it is intrinsically bullish. Suppose prices rose </a:t>
            </a:r>
            <a:r>
              <a:rPr sz="1700" b="1" i="0">
                <a:solidFill>
                  <a:srgbClr val="1F5FAD"/>
                </a:solidFill>
                <a:latin typeface="Arial"/>
              </a:rPr>
              <a:t>(3)</a:t>
            </a:r>
            <a:r>
              <a:rPr sz="1700" b="0" i="0">
                <a:solidFill>
                  <a:srgbClr val="1A1A1A"/>
                </a:solidFill>
                <a:latin typeface="Arial"/>
              </a:rPr>
              <a:t> from PHP 45.60 to PHP 48.10 before it. Trend sentiment is bullish, the two agree, and the expectation is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suppose prices fell </a:t>
            </a:r>
            <a:r>
              <a:rPr sz="1700" b="1" i="0">
                <a:solidFill>
                  <a:srgbClr val="7B3FA0"/>
                </a:solidFill>
                <a:latin typeface="Arial"/>
              </a:rPr>
              <a:t>(4)</a:t>
            </a:r>
            <a:r>
              <a:rPr sz="1700" b="0" i="0">
                <a:solidFill>
                  <a:srgbClr val="1A1A1A"/>
                </a:solidFill>
                <a:latin typeface="Arial"/>
              </a:rPr>
              <a:t> from PHP 50.60 to PHP 48.10 before it. Trend sentiment is bearish, the two disagree, and the expectation is a potential reversal. The formation never changed; only the trend around it did.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18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Put the two sentiments together and there are four cases (p. 211). In an uptrend, a bullish formation </a:t>
            </a:r>
            <a:r>
              <a:rPr sz="1700" b="1" i="0">
                <a:solidFill>
                  <a:srgbClr val="E09B00"/>
                </a:solidFill>
                <a:latin typeface="Arial"/>
              </a:rPr>
              <a:t>(1)</a:t>
            </a:r>
            <a:r>
              <a:rPr sz="1700" b="0" i="0">
                <a:solidFill>
                  <a:srgbClr val="1A1A1A"/>
                </a:solidFill>
                <a:latin typeface="Arial"/>
              </a:rPr>
              <a:t> agrees with the trend, so Lim considers it a continuation. A bearish formation </a:t>
            </a:r>
            <a:r>
              <a:rPr sz="1700" b="1" i="0">
                <a:solidFill>
                  <a:srgbClr val="C62828"/>
                </a:solidFill>
                <a:latin typeface="Arial"/>
              </a:rPr>
              <a:t>(2)</a:t>
            </a:r>
            <a:r>
              <a:rPr sz="1700" b="0" i="0">
                <a:solidFill>
                  <a:srgbClr val="1A1A1A"/>
                </a:solidFill>
                <a:latin typeface="Arial"/>
              </a:rPr>
              <a:t> disagrees, so it is a potential reversal. In a downtrend, a bullish formation </a:t>
            </a:r>
            <a:r>
              <a:rPr sz="1700" b="1" i="0">
                <a:solidFill>
                  <a:srgbClr val="1F5FAD"/>
                </a:solidFill>
                <a:latin typeface="Arial"/>
              </a:rPr>
              <a:t>(3)</a:t>
            </a:r>
            <a:r>
              <a:rPr sz="1700" b="0" i="0">
                <a:solidFill>
                  <a:srgbClr val="1A1A1A"/>
                </a:solidFill>
                <a:latin typeface="Arial"/>
              </a:rPr>
              <a:t> disagrees, so it is a potential reversal. A bearish formation </a:t>
            </a:r>
            <a:r>
              <a:rPr sz="1700" b="1" i="0">
                <a:solidFill>
                  <a:srgbClr val="7B3FA0"/>
                </a:solidFill>
                <a:latin typeface="Arial"/>
              </a:rPr>
              <a:t>(4)</a:t>
            </a:r>
            <a:r>
              <a:rPr sz="1700" b="0" i="0">
                <a:solidFill>
                  <a:srgbClr val="1A1A1A"/>
                </a:solidFill>
                <a:latin typeface="Arial"/>
              </a:rPr>
              <a:t> agrees, so it is a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19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suggests continuation; disagreement suggests a potential reversal.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21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has bearish intrinsic sentiment and an inverted head and shoulders bullish, as Chapter 4's "Intrinsic bias" explains (p. 211). Let us put invented prices on it. A stock climbs from PHP 40 to PHP 50 </a:t>
            </a:r>
            <a:r>
              <a:rPr sz="1700" b="1" i="0">
                <a:solidFill>
                  <a:srgbClr val="E09B00"/>
                </a:solidFill>
                <a:latin typeface="Arial"/>
              </a:rPr>
              <a:t>(1)</a:t>
            </a:r>
            <a:r>
              <a:rPr sz="1700" b="0" i="0">
                <a:solidFill>
                  <a:srgbClr val="1A1A1A"/>
                </a:solidFill>
                <a:latin typeface="Arial"/>
              </a:rPr>
              <a:t> over ten days, so the trend sentiment is bullish. An inverted head and shoulders </a:t>
            </a:r>
            <a:r>
              <a:rPr sz="1700" b="1" i="0">
                <a:solidFill>
                  <a:srgbClr val="C62828"/>
                </a:solidFill>
                <a:latin typeface="Arial"/>
              </a:rPr>
              <a:t>(2)</a:t>
            </a:r>
            <a:r>
              <a:rPr sz="1700" b="0" i="0">
                <a:solidFill>
                  <a:srgbClr val="1A1A1A"/>
                </a:solidFill>
                <a:latin typeface="Arial"/>
              </a:rPr>
              <a:t> at PHP 50 agrees with that trend, so Lim calls it a continuation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a:t>
            </a:r>
            <a:r>
              <a:rPr sz="1700" b="1" i="0">
                <a:solidFill>
                  <a:srgbClr val="1F5FAD"/>
                </a:solidFill>
                <a:latin typeface="Arial"/>
              </a:rPr>
              <a:t>(3)</a:t>
            </a:r>
            <a:r>
              <a:rPr sz="1700" b="0" i="0">
                <a:solidFill>
                  <a:srgbClr val="1A1A1A"/>
                </a:solidFill>
                <a:latin typeface="Arial"/>
              </a:rPr>
              <a:t> in the same place disagrees, so it is a reversal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For one-bar and two-bar patterns in an uptrend, Lim's general rule is that a close below the previous bar's close or low is bearish, especially when that previous bar is large or wide-ranging (p. 212). Here it is with invented prices. Yesterday's bar ran from PHP 49.00 to PHP 52.00 and closed at PHP 51.80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51.20 </a:t>
            </a:r>
            <a:r>
              <a:rPr sz="1700" b="1" i="0">
                <a:solidFill>
                  <a:srgbClr val="C62828"/>
                </a:solidFill>
                <a:latin typeface="Arial"/>
              </a:rPr>
              <a:t>(2)</a:t>
            </a:r>
            <a:r>
              <a:rPr sz="1700" b="0" i="0">
                <a:solidFill>
                  <a:srgbClr val="1A1A1A"/>
                </a:solidFill>
                <a:latin typeface="Arial"/>
              </a:rPr>
              <a:t> is below yesterday's close; a close at PHP 48.80 </a:t>
            </a:r>
            <a:r>
              <a:rPr sz="1700" b="1" i="0">
                <a:solidFill>
                  <a:srgbClr val="1F5FAD"/>
                </a:solidFill>
                <a:latin typeface="Arial"/>
              </a:rPr>
              <a:t>(3)</a:t>
            </a:r>
            <a:r>
              <a:rPr sz="1700" b="0" i="0">
                <a:solidFill>
                  <a:srgbClr val="1A1A1A"/>
                </a:solidFill>
                <a:latin typeface="Arial"/>
              </a:rPr>
              <a:t> is below yesterday's low </a:t>
            </a:r>
            <a:r>
              <a:rPr sz="1700" b="1" i="0">
                <a:solidFill>
                  <a:srgbClr val="7B3FA0"/>
                </a:solidFill>
                <a:latin typeface="Arial"/>
              </a:rPr>
              <a:t>(4)</a:t>
            </a:r>
            <a:r>
              <a:rPr sz="1700" b="0" i="0">
                <a:solidFill>
                  <a:srgbClr val="1A1A1A"/>
                </a:solidFill>
                <a:latin typeface="Arial"/>
              </a:rPr>
              <a:t> as well. Yesterday's PHP 3.00 range is wide, the case Lim says counts for more.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88</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Figure 7.4 (p. 212): "An overextended bar closes at or near its low". Lim gives no size; we read it as a bar unusually long against those before it. Closing near its low is separate. Elsewhere he uses it only beyond a Bollinger band, not yet defined here (pp. 217 to 219). Beside an ordinary PHP 1.00 bar </a:t>
            </a:r>
            <a:r>
              <a:rPr sz="1700" b="1" i="0">
                <a:solidFill>
                  <a:srgbClr val="E09B00"/>
                </a:solidFill>
                <a:latin typeface="Arial"/>
              </a:rPr>
              <a:t>(1)</a:t>
            </a:r>
            <a:r>
              <a:rPr sz="1700" b="0" i="0">
                <a:solidFill>
                  <a:srgbClr val="1A1A1A"/>
                </a:solidFill>
                <a:latin typeface="Arial"/>
              </a:rPr>
              <a:t>, form 5 ranges PHP 4.00 </a:t>
            </a:r>
            <a:r>
              <a:rPr sz="1700" b="1" i="0">
                <a:solidFill>
                  <a:srgbClr val="C62828"/>
                </a:solidFill>
                <a:latin typeface="Arial"/>
              </a:rPr>
              <a:t>(2)</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650638"/>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45712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8131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39209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3034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88</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downtrend Lim's close rule turns around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general rule is the mirror image: a close above the previous bar's close or high is bullish, especially if the previous bar is large or wide-ranging (p. 212). Here it is with invented prices. Yesterday's bar ran from PHP 38.00 to PHP 41.00 and closed at PHP 38.20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downtrend Lim's close rule turns around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38.80 </a:t>
            </a:r>
            <a:r>
              <a:rPr sz="1700" b="1" i="0">
                <a:solidFill>
                  <a:srgbClr val="C62828"/>
                </a:solidFill>
                <a:latin typeface="Arial"/>
              </a:rPr>
              <a:t>(2)</a:t>
            </a:r>
            <a:r>
              <a:rPr sz="1700" b="0" i="0">
                <a:solidFill>
                  <a:srgbClr val="1A1A1A"/>
                </a:solidFill>
                <a:latin typeface="Arial"/>
              </a:rPr>
              <a:t> is above yesterday's close; a close at PHP 41.20 </a:t>
            </a:r>
            <a:r>
              <a:rPr sz="1700" b="1" i="0">
                <a:solidFill>
                  <a:srgbClr val="1F5FAD"/>
                </a:solidFill>
                <a:latin typeface="Arial"/>
              </a:rPr>
              <a:t>(3)</a:t>
            </a:r>
            <a:r>
              <a:rPr sz="1700" b="0" i="0">
                <a:solidFill>
                  <a:srgbClr val="1A1A1A"/>
                </a:solidFill>
                <a:latin typeface="Arial"/>
              </a:rPr>
              <a:t> is above yesterday's high </a:t>
            </a:r>
            <a:r>
              <a:rPr sz="1700" b="1" i="0">
                <a:solidFill>
                  <a:srgbClr val="7B3FA0"/>
                </a:solidFill>
                <a:latin typeface="Arial"/>
              </a:rPr>
              <a:t>(4)</a:t>
            </a:r>
            <a:r>
              <a:rPr sz="1700" b="0" i="0">
                <a:solidFill>
                  <a:srgbClr val="1A1A1A"/>
                </a:solidFill>
                <a:latin typeface="Arial"/>
              </a:rPr>
              <a:t> as well. Now the close has to climb past yesterday's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88</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As on the bearish side, we read "overextended" as unusually long compared with the bars before it, and closing near its high is a separate part. Beside an ordinary PHP 1.00 bar </a:t>
            </a:r>
            <a:r>
              <a:rPr sz="1700" b="1" i="0">
                <a:solidFill>
                  <a:srgbClr val="E09B00"/>
                </a:solidFill>
                <a:latin typeface="Arial"/>
              </a:rPr>
              <a:t>(1)</a:t>
            </a:r>
            <a:r>
              <a:rPr sz="1700" b="0" i="0">
                <a:solidFill>
                  <a:srgbClr val="1A1A1A"/>
                </a:solidFill>
                <a:latin typeface="Arial"/>
              </a:rPr>
              <a:t>, form 5 ranges PHP 4.00 </a:t>
            </a:r>
            <a:r>
              <a:rPr sz="1700" b="1" i="0">
                <a:solidFill>
                  <a:srgbClr val="C62828"/>
                </a:solidFill>
                <a:latin typeface="Arial"/>
              </a:rPr>
              <a:t>(2)</a:t>
            </a:r>
            <a:r>
              <a:rPr sz="1700" b="0" i="0">
                <a:solidFill>
                  <a:srgbClr val="1A1A1A"/>
                </a:solidFill>
                <a:latin typeface="Arial"/>
              </a:rPr>
              <a:t> and closes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706977"/>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3753429"/>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2147"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88</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Six bearish triple forms,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go from two bars to three. Lim draws six basic triple bar bearish reversal patterns in Figures 7.6 and 7.7, and each one forms at the top of an uptrend (p. 213).</a:t>
            </a:r>
          </a:p>
          <a:p>
            <a:pPr algn="l">
              <a:lnSpc>
                <a:spcPct val="118000"/>
              </a:lnSpc>
              <a:spcBef>
                <a:spcPts val="0"/>
              </a:spcBef>
              <a:spcAft>
                <a:spcPts val="1300"/>
              </a:spcAft>
            </a:pPr>
            <a:r>
              <a:rPr sz="2100" b="0" i="0">
                <a:solidFill>
                  <a:srgbClr val="1A1A1A"/>
                </a:solidFill>
                <a:latin typeface="Arial"/>
              </a:rPr>
              <a:t>What is new compared with the double bars is a middle bar: every triple pattern has a first bar, a middle bar and a last bar.</a:t>
            </a:r>
          </a:p>
          <a:p>
            <a:pPr algn="l">
              <a:lnSpc>
                <a:spcPct val="118000"/>
              </a:lnSpc>
              <a:spcBef>
                <a:spcPts val="0"/>
              </a:spcBef>
              <a:spcAft>
                <a:spcPts val="1300"/>
              </a:spcAft>
            </a:pPr>
            <a:r>
              <a:rPr sz="2100" b="0" i="0">
                <a:solidFill>
                  <a:srgbClr val="1A1A1A"/>
                </a:solidFill>
                <a:latin typeface="Arial"/>
              </a:rPr>
              <a:t>Much of the logic will look familiar from the double bar forms, and we will point out where. That link is our reading, not Lim's.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Figures 7.6 and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Larger gaps make a completed triple pattern more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first rule for these patterns is about gaps: the larger the gaps, the more bearish the pattern once it is complete (p. 213). Let us put invented prices on it. If the first bar's high is PHP 50.00 and the middle bar's low is PHP 50.40, the gap is PHP 0.40 </a:t>
            </a:r>
            <a:r>
              <a:rPr sz="1700" b="1" i="0">
                <a:solidFill>
                  <a:srgbClr val="E09B00"/>
                </a:solidFill>
                <a:latin typeface="Arial"/>
              </a:rPr>
              <a:t>(1)</a:t>
            </a:r>
            <a:r>
              <a:rPr sz="1700" b="0" i="0">
                <a:solidFill>
                  <a:srgbClr val="1A1A1A"/>
                </a:solidFill>
                <a:latin typeface="Arial"/>
              </a:rPr>
              <a:t>. The last bar then closes at PHP 49.60, back below the gap </a:t>
            </a:r>
            <a:r>
              <a:rPr sz="1700" b="1" i="0">
                <a:solidFill>
                  <a:srgbClr val="C62828"/>
                </a:solidFill>
                <a:latin typeface="Arial"/>
              </a:rPr>
              <a:t>(2)</a:t>
            </a:r>
            <a:r>
              <a:rPr sz="1700" b="0" i="0">
                <a:solidFill>
                  <a:srgbClr val="1A1A1A"/>
                </a:solidFill>
                <a:latin typeface="Arial"/>
              </a:rPr>
              <a:t>, and the pattern is complete.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340864" y="4055364"/>
            <a:ext cx="585216" cy="231289"/>
          </a:xfrm>
          <a:prstGeom prst="rect">
            <a:avLst/>
          </a:prstGeom>
          <a:noFill/>
          <a:ln w="44450">
            <a:solidFill>
              <a:srgbClr val="E09B00"/>
            </a:solidFill>
          </a:ln>
        </p:spPr>
        <p:txBody>
          <a:bodyPr rtlCol="0" anchor="ctr"/>
          <a:lstStyle/>
          <a:p>
            <a:pPr algn="ctr"/>
          </a:p>
        </p:txBody>
      </p:sp>
      <p:sp>
        <p:nvSpPr>
          <p:cNvPr id="10" name="Rectangle 9"/>
          <p:cNvSpPr/>
          <p:nvPr/>
        </p:nvSpPr>
        <p:spPr>
          <a:xfrm>
            <a:off x="7552944" y="3708429"/>
            <a:ext cx="585216" cy="578223"/>
          </a:xfrm>
          <a:prstGeom prst="rect">
            <a:avLst/>
          </a:prstGeom>
          <a:noFill/>
          <a:ln w="44450">
            <a:solidFill>
              <a:srgbClr val="1F5FAD"/>
            </a:solidFill>
          </a:ln>
        </p:spPr>
        <p:txBody>
          <a:bodyPr rtlCol="0" anchor="ctr"/>
          <a:lstStyle/>
          <a:p>
            <a:pPr algn="ctr"/>
          </a:p>
        </p:txBody>
      </p:sp>
      <p:sp>
        <p:nvSpPr>
          <p:cNvPr id="11" name="Oval 10"/>
          <p:cNvSpPr/>
          <p:nvPr/>
        </p:nvSpPr>
        <p:spPr>
          <a:xfrm>
            <a:off x="5008168" y="447405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0220248" y="447405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309067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302752" y="38695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4901091" y="4652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10113171" y="465227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Larger gaps make a completed triple pattern more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take a bigger gap: a middle bar whose low is PHP 51.00 leaves a PHP 1.00 gap </a:t>
            </a:r>
            <a:r>
              <a:rPr sz="1700" b="1" i="0">
                <a:solidFill>
                  <a:srgbClr val="1F5FAD"/>
                </a:solidFill>
                <a:latin typeface="Arial"/>
              </a:rPr>
              <a:t>(3)</a:t>
            </a:r>
            <a:r>
              <a:rPr sz="1700" b="0" i="0">
                <a:solidFill>
                  <a:srgbClr val="1A1A1A"/>
                </a:solidFill>
                <a:latin typeface="Arial"/>
              </a:rPr>
              <a:t>. The last bar again closes at PHP 49.60, below the gap </a:t>
            </a:r>
            <a:r>
              <a:rPr sz="1700" b="1" i="0">
                <a:solidFill>
                  <a:srgbClr val="7B3FA0"/>
                </a:solidFill>
                <a:latin typeface="Arial"/>
              </a:rPr>
              <a:t>(4)</a:t>
            </a:r>
            <a:r>
              <a:rPr sz="1700" b="0" i="0">
                <a:solidFill>
                  <a:srgbClr val="1A1A1A"/>
                </a:solidFill>
                <a:latin typeface="Arial"/>
              </a:rPr>
              <a:t>. Both patterns are complete, and Lim would read this one as more bearish because its gap is larger.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340864" y="4055364"/>
            <a:ext cx="585216" cy="231289"/>
          </a:xfrm>
          <a:prstGeom prst="rect">
            <a:avLst/>
          </a:prstGeom>
          <a:noFill/>
          <a:ln w="44450">
            <a:solidFill>
              <a:srgbClr val="E09B00"/>
            </a:solidFill>
          </a:ln>
        </p:spPr>
        <p:txBody>
          <a:bodyPr rtlCol="0" anchor="ctr"/>
          <a:lstStyle/>
          <a:p>
            <a:pPr algn="ctr"/>
          </a:p>
        </p:txBody>
      </p:sp>
      <p:sp>
        <p:nvSpPr>
          <p:cNvPr id="10" name="Rectangle 9"/>
          <p:cNvSpPr/>
          <p:nvPr/>
        </p:nvSpPr>
        <p:spPr>
          <a:xfrm>
            <a:off x="7552944" y="3708429"/>
            <a:ext cx="585216" cy="578223"/>
          </a:xfrm>
          <a:prstGeom prst="rect">
            <a:avLst/>
          </a:prstGeom>
          <a:noFill/>
          <a:ln w="44450">
            <a:solidFill>
              <a:srgbClr val="1F5FAD"/>
            </a:solidFill>
          </a:ln>
        </p:spPr>
        <p:txBody>
          <a:bodyPr rtlCol="0" anchor="ctr"/>
          <a:lstStyle/>
          <a:p>
            <a:pPr algn="ctr"/>
          </a:p>
        </p:txBody>
      </p:sp>
      <p:sp>
        <p:nvSpPr>
          <p:cNvPr id="11" name="Oval 10"/>
          <p:cNvSpPr/>
          <p:nvPr/>
        </p:nvSpPr>
        <p:spPr>
          <a:xfrm>
            <a:off x="5008168" y="447405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0220248" y="447405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309067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302752" y="38695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4901091" y="4652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10113171" y="465227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(unusually long compared with the bars before it)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6.00 </a:t>
            </a:r>
            <a:r>
              <a:rPr sz="1700" b="1" i="0">
                <a:solidFill>
                  <a:srgbClr val="7B3FA0"/>
                </a:solidFill>
                <a:latin typeface="Arial"/>
              </a:rPr>
              <a:t>(4)</a:t>
            </a:r>
            <a:r>
              <a:rPr sz="1700" b="0" i="0">
                <a:solidFill>
                  <a:srgbClr val="1A1A1A"/>
                </a:solidFill>
                <a:latin typeface="Arial"/>
              </a:rPr>
              <a:t>, twice as much as bar 1 and far more than the middle bar. Bar 3 also closes at PHP 44.60, near its PHP 44.40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541158"/>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08633"/>
            <a:ext cx="109727" cy="184542"/>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489682"/>
            <a:ext cx="109728" cy="1027453"/>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5349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787989" y="30894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8753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"1st bar closes near its high followed by a large middle bar closing near its low. The 3rd bar closes at or near its low" (Figure 7.6, p. 213). Bar 1 closes at PHP 50.50 </a:t>
            </a:r>
            <a:r>
              <a:rPr sz="1700" b="1" i="0">
                <a:solidFill>
                  <a:srgbClr val="E09B00"/>
                </a:solidFill>
                <a:latin typeface="Arial"/>
              </a:rPr>
              <a:t>(1)</a:t>
            </a:r>
            <a:r>
              <a:rPr sz="1700" b="0" i="0">
                <a:solidFill>
                  <a:srgbClr val="1A1A1A"/>
                </a:solidFill>
                <a:latin typeface="Arial"/>
              </a:rPr>
              <a:t>; the large middle bar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at PHP 49.00 </a:t>
            </a:r>
            <a:r>
              <a:rPr sz="1700" b="1" i="0">
                <a:solidFill>
                  <a:srgbClr val="7B3FA0"/>
                </a:solidFill>
                <a:latin typeface="Arial"/>
              </a:rPr>
              <a:t>(4)</a:t>
            </a:r>
            <a:r>
              <a:rPr sz="1700" b="0" i="0">
                <a:solidFill>
                  <a:srgbClr val="1A1A1A"/>
                </a:solidFill>
                <a:latin typeface="Arial"/>
              </a:rPr>
              <a:t>. Our reading, not Lim's: new, not built from a two-bar form.</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"1st bar closes near its high followed by a narrow range middle bar closing within its range on low volume. The 3rd bar closes at or near its low" (Figure 7.6, p. 213). Bar 1 closes at PHP 51.00 </a:t>
            </a:r>
            <a:r>
              <a:rPr sz="1700" b="1" i="0">
                <a:solidFill>
                  <a:srgbClr val="E09B00"/>
                </a:solidFill>
                <a:latin typeface="Arial"/>
              </a:rPr>
              <a:t>(1)</a:t>
            </a:r>
            <a:r>
              <a:rPr sz="1700" b="0" i="0">
                <a:solidFill>
                  <a:srgbClr val="1A1A1A"/>
                </a:solidFill>
                <a:latin typeface="Arial"/>
              </a:rPr>
              <a:t>; the middle bar spans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at PHP 48.60 </a:t>
            </a:r>
            <a:r>
              <a:rPr sz="1700" b="1" i="0">
                <a:solidFill>
                  <a:srgbClr val="7B3FA0"/>
                </a:solidFill>
                <a:latin typeface="Arial"/>
              </a:rPr>
              <a:t>(4)</a:t>
            </a:r>
            <a:r>
              <a:rPr sz="1700" b="0" i="0">
                <a:solidFill>
                  <a:srgbClr val="1A1A1A"/>
                </a:solidFill>
                <a:latin typeface="Arial"/>
              </a:rPr>
              <a:t>. Our reading, not Lim's: built from two-bar form 4.</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and closes above the gap. The 3rd bar closes below the gap" (Figure 7.6, p. 213).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 Our reading, not Lim's: built from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on low volume. The 3rd bar gaps down and closes at or near its low. Also referred to as a single island reversal bar" (Figure 7.7, p. 214).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a:t>
            </a:r>
            <a:r>
              <a:rPr sz="1700" b="1" i="0">
                <a:solidFill>
                  <a:srgbClr val="7B3FA0"/>
                </a:solidFill>
                <a:latin typeface="Arial"/>
              </a:rPr>
              <a:t>(4)</a:t>
            </a:r>
            <a:r>
              <a:rPr sz="1700" b="0" i="0">
                <a:solidFill>
                  <a:srgbClr val="1A1A1A"/>
                </a:solidFill>
                <a:latin typeface="Arial"/>
              </a:rPr>
              <a:t>. Our reading, not Lim's: built from two-bar form 3.</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on low volume. The 3rd bar engulfs the 2nd bar and closes below the gap" (Figure 7.7, p. 214).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a:t>
            </a:r>
            <a:r>
              <a:rPr sz="1700" b="1" i="0">
                <a:solidFill>
                  <a:srgbClr val="7B3FA0"/>
                </a:solidFill>
                <a:latin typeface="Arial"/>
              </a:rPr>
              <a:t>(4)</a:t>
            </a:r>
            <a:r>
              <a:rPr sz="1700" b="0" i="0">
                <a:solidFill>
                  <a:srgbClr val="1A1A1A"/>
                </a:solidFill>
                <a:latin typeface="Arial"/>
              </a:rPr>
              <a:t>. Our reading, not Lim's: built from two-bar form 6.</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the 2nd bar "closes at or near its high on low volume followed by a 3rd bar closing below the low of the 2nd bar (and preferably below the close of the 1st bar as well)" (Figure 7.7, p. 214).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at PHP 49.80 </a:t>
            </a:r>
            <a:r>
              <a:rPr sz="1700" b="1" i="0">
                <a:solidFill>
                  <a:srgbClr val="1F5FAD"/>
                </a:solidFill>
                <a:latin typeface="Arial"/>
              </a:rPr>
              <a:t>(3)</a:t>
            </a:r>
            <a:r>
              <a:rPr sz="1700" b="0" i="0">
                <a:solidFill>
                  <a:srgbClr val="1A1A1A"/>
                </a:solidFill>
                <a:latin typeface="Arial"/>
              </a:rPr>
              <a:t>, under bar 2's PHP 50.10 low. Our reading, not Lim's: built from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six bullish triple forms mirror them in a downtrend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six bullish triple patterns in a downtrend (p. 214); ours flip the bearish ones about PHP 45, so 50.50 becomes 39.50. More reliable if the last bar is overextended, unusually long against the bars before it, and closes near its high on high volume (p. 214). Beside an ordinary PHP 1.00 bar </a:t>
            </a:r>
            <a:r>
              <a:rPr sz="1700" b="1" i="0">
                <a:solidFill>
                  <a:srgbClr val="E09B00"/>
                </a:solidFill>
                <a:latin typeface="Arial"/>
              </a:rPr>
              <a:t>(1)</a:t>
            </a:r>
            <a:r>
              <a:rPr sz="1700" b="0" i="0">
                <a:solidFill>
                  <a:srgbClr val="1A1A1A"/>
                </a:solidFill>
                <a:latin typeface="Arial"/>
              </a:rPr>
              <a:t>, that bar ranges PHP 4.00 </a:t>
            </a:r>
            <a:r>
              <a:rPr sz="1700" b="1" i="0">
                <a:solidFill>
                  <a:srgbClr val="C62828"/>
                </a:solidFill>
                <a:latin typeface="Arial"/>
              </a:rPr>
              <a:t>(2)</a:t>
            </a:r>
            <a:r>
              <a:rPr sz="1700" b="0" i="0">
                <a:solidFill>
                  <a:srgbClr val="1A1A1A"/>
                </a:solidFill>
                <a:latin typeface="Arial"/>
              </a:rPr>
              <a:t>, closing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a-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3392424"/>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706977"/>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375342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31180"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890362"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"1st bar closes near its low followed by a large middle bar closing near its high. The 3rd bar closes at or near its high" (Figure 7.8, p. 214).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a:t>
            </a:r>
            <a:r>
              <a:rPr sz="1700" b="1" i="0">
                <a:solidFill>
                  <a:srgbClr val="1F5FAD"/>
                </a:solidFill>
                <a:latin typeface="Arial"/>
              </a:rPr>
              <a:t>(3)</a:t>
            </a:r>
            <a:r>
              <a:rPr sz="1700" b="0" i="0">
                <a:solidFill>
                  <a:srgbClr val="1A1A1A"/>
                </a:solidFill>
                <a:latin typeface="Arial"/>
              </a:rPr>
              <a:t>. Our reading, not Lim's: new, not built from a two-bar form.</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"1st bar closes near its low followed by a narrow range middle bar closing within its range on low volume. The 3rd bar closes at or near its high" (Figure 7.8, p. 214). Bar 1 closes at PHP 39.00 </a:t>
            </a:r>
            <a:r>
              <a:rPr sz="1700" b="1" i="0">
                <a:solidFill>
                  <a:srgbClr val="E09B00"/>
                </a:solidFill>
                <a:latin typeface="Arial"/>
              </a:rPr>
              <a:t>(1)</a:t>
            </a:r>
            <a:r>
              <a:rPr sz="1700" b="0" i="0">
                <a:solidFill>
                  <a:srgbClr val="1A1A1A"/>
                </a:solidFill>
                <a:latin typeface="Arial"/>
              </a:rPr>
              <a:t>; the middle bar spans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at PHP 41.40 </a:t>
            </a:r>
            <a:r>
              <a:rPr sz="1700" b="1" i="0">
                <a:solidFill>
                  <a:srgbClr val="7B3FA0"/>
                </a:solidFill>
                <a:latin typeface="Arial"/>
              </a:rPr>
              <a:t>(4)</a:t>
            </a:r>
            <a:r>
              <a:rPr sz="1700" b="0" i="0">
                <a:solidFill>
                  <a:srgbClr val="1A1A1A"/>
                </a:solidFill>
                <a:latin typeface="Arial"/>
              </a:rPr>
              <a:t>. Our reading, not Lim's: built from bullish two-bar form 4.</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and closes below the gap. The 3rd bar closes above the gap" (Figure 7.8, p. 214).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 Our reading, not Lim's: built from bullish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on low volume. The 3rd bar gaps up and closes at or near its high. Also referred to as a single island reversal bar" (Figure 7.9, p. 215).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a:t>
            </a:r>
            <a:r>
              <a:rPr sz="1700" b="1" i="0">
                <a:solidFill>
                  <a:srgbClr val="7B3FA0"/>
                </a:solidFill>
                <a:latin typeface="Arial"/>
              </a:rPr>
              <a:t>(4)</a:t>
            </a:r>
            <a:r>
              <a:rPr sz="1700" b="0" i="0">
                <a:solidFill>
                  <a:srgbClr val="1A1A1A"/>
                </a:solidFill>
                <a:latin typeface="Arial"/>
              </a:rPr>
              <a:t>. Our reading, not Lim's: built from bullish two-bar form 3.</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on low volume. The 3rd bar engulfs the 2nd bar and closes above the gap" (Figure 7.9, p. 215).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t>
            </a:r>
            <a:r>
              <a:rPr sz="1700" b="1" i="0">
                <a:solidFill>
                  <a:srgbClr val="7B3FA0"/>
                </a:solidFill>
                <a:latin typeface="Arial"/>
              </a:rPr>
              <a:t>(4)</a:t>
            </a:r>
            <a:r>
              <a:rPr sz="1700" b="0" i="0">
                <a:solidFill>
                  <a:srgbClr val="1A1A1A"/>
                </a:solidFill>
                <a:latin typeface="Arial"/>
              </a:rPr>
              <a:t>. Our reading, not Lim's: built from bullish two-bar form 6.</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the 2nd bar "closes at or near its low on low volume followed by a 3rd bar closing above the high of the 2nd bar (and preferably above the close of the 1st bar as well)" (Figure 7.9, p. 215).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at PHP 40.20 </a:t>
            </a:r>
            <a:r>
              <a:rPr sz="1700" b="1" i="0">
                <a:solidFill>
                  <a:srgbClr val="1F5FAD"/>
                </a:solidFill>
                <a:latin typeface="Arial"/>
              </a:rPr>
              <a:t>(3)</a:t>
            </a:r>
            <a:r>
              <a:rPr sz="1700" b="0" i="0">
                <a:solidFill>
                  <a:srgbClr val="1A1A1A"/>
                </a:solidFill>
                <a:latin typeface="Arial"/>
              </a:rPr>
              <a:t>, over bar 2's high. Our reading, not Lim's: built from bullish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Multiple bar patterns stretch the middle across several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four bearish multiple bar patterns in an uptrend (p. 214). Larger gaps are more bearish; the bars between should trade on low volume (p. 214). More reliable if the last bar is overextended, unusually long against the bars before it, and closes near its low on high volume (p. 215). Beside an ordinary PHP 1.00 bar </a:t>
            </a:r>
            <a:r>
              <a:rPr sz="1700" b="1" i="0">
                <a:solidFill>
                  <a:srgbClr val="E09B00"/>
                </a:solidFill>
                <a:latin typeface="Arial"/>
              </a:rPr>
              <a:t>(1)</a:t>
            </a:r>
            <a:r>
              <a:rPr sz="1700" b="0" i="0">
                <a:solidFill>
                  <a:srgbClr val="1A1A1A"/>
                </a:solidFill>
                <a:latin typeface="Arial"/>
              </a:rPr>
              <a:t>, it ranges PHP 4.00 </a:t>
            </a:r>
            <a:r>
              <a:rPr sz="1700" b="1" i="0">
                <a:solidFill>
                  <a:srgbClr val="C62828"/>
                </a:solidFill>
                <a:latin typeface="Arial"/>
              </a:rPr>
              <a:t>(2)</a:t>
            </a:r>
            <a:r>
              <a:rPr sz="1700" b="0" i="0">
                <a:solidFill>
                  <a:srgbClr val="1A1A1A"/>
                </a:solidFill>
                <a:latin typeface="Arial"/>
              </a:rPr>
              <a:t>, closing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b-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4650638"/>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392424"/>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457126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14724" y="48131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39209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906561" y="43034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prices are invented for teaching.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four bullish multiple forms mirror the bearish ones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four bullish multiple patterns in a downtrend (p. 215). In pattern 2, wide middle bars on high volume, or narrow ones on low, are bullish (p. 216). More reliable if the last bar is overextended, unusually long, and closes near its high on high volume (p. 216). Beside an ordinary PHP 1.00 bar </a:t>
            </a:r>
            <a:r>
              <a:rPr sz="1700" b="1" i="0">
                <a:solidFill>
                  <a:srgbClr val="E09B00"/>
                </a:solidFill>
                <a:latin typeface="Arial"/>
              </a:rPr>
              <a:t>(1)</a:t>
            </a:r>
            <a:r>
              <a:rPr sz="1700" b="0" i="0">
                <a:solidFill>
                  <a:srgbClr val="1A1A1A"/>
                </a:solidFill>
                <a:latin typeface="Arial"/>
              </a:rPr>
              <a:t>, the last bar ranges PHP 4.00 </a:t>
            </a:r>
            <a:r>
              <a:rPr sz="1700" b="1" i="0">
                <a:solidFill>
                  <a:srgbClr val="C62828"/>
                </a:solidFill>
                <a:latin typeface="Arial"/>
              </a:rPr>
              <a:t>(2)</a:t>
            </a:r>
            <a:r>
              <a:rPr sz="1700" b="0" i="0">
                <a:solidFill>
                  <a:srgbClr val="1A1A1A"/>
                </a:solidFill>
                <a:latin typeface="Arial"/>
              </a:rPr>
              <a:t>, closing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a-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3392424"/>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706977"/>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375342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31180"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890362"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 The prices are invented for teaching.</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eleven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 and 2: the swings get smaller and shorter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 decrease in price cycle amplitude: each swing covers less ground, say rises of 40 points </a:t>
            </a:r>
            <a:r>
              <a:rPr sz="1700" b="1" i="0">
                <a:solidFill>
                  <a:srgbClr val="E09B00"/>
                </a:solidFill>
                <a:latin typeface="Arial"/>
              </a:rPr>
              <a:t>(1)</a:t>
            </a:r>
            <a:r>
              <a:rPr sz="1700" b="0" i="0">
                <a:solidFill>
                  <a:srgbClr val="1A1A1A"/>
                </a:solidFill>
                <a:latin typeface="Arial"/>
              </a:rPr>
              <a:t> shrinking to 30 </a:t>
            </a:r>
            <a:r>
              <a:rPr sz="1700" b="1" i="0">
                <a:solidFill>
                  <a:srgbClr val="C62828"/>
                </a:solidFill>
                <a:latin typeface="Arial"/>
              </a:rPr>
              <a:t>(2)</a:t>
            </a:r>
            <a:r>
              <a:rPr sz="1700" b="0" i="0">
                <a:solidFill>
                  <a:srgbClr val="1A1A1A"/>
                </a:solidFill>
                <a:latin typeface="Arial"/>
              </a:rPr>
              <a:t> (Chapter 5, "1 Cycle amplitude"). Characteristic 2, decrease in price cycle period: each swing takes less time, say 20 bars </a:t>
            </a:r>
            <a:r>
              <a:rPr sz="1700" b="1" i="0">
                <a:solidFill>
                  <a:srgbClr val="1F5FAD"/>
                </a:solidFill>
                <a:latin typeface="Arial"/>
              </a:rPr>
              <a:t>(3)</a:t>
            </a:r>
            <a:r>
              <a:rPr sz="1700" b="0" i="0">
                <a:solidFill>
                  <a:srgbClr val="1A1A1A"/>
                </a:solidFill>
                <a:latin typeface="Arial"/>
              </a:rPr>
              <a:t> falling to 12 </a:t>
            </a:r>
            <a:r>
              <a:rPr sz="1700" b="1" i="0">
                <a:solidFill>
                  <a:srgbClr val="7B3FA0"/>
                </a:solidFill>
                <a:latin typeface="Arial"/>
              </a:rPr>
              <a:t>(4)</a:t>
            </a:r>
            <a:r>
              <a:rPr sz="1700" b="0" i="0">
                <a:solidFill>
                  <a:srgbClr val="1A1A1A"/>
                </a:solidFill>
                <a:latin typeface="Arial"/>
              </a:rPr>
              <a:t> (Chapter 5, "2 Cycle period").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283208" y="3957945"/>
            <a:ext cx="1267968" cy="1195753"/>
          </a:xfrm>
          <a:prstGeom prst="rect">
            <a:avLst/>
          </a:prstGeom>
          <a:noFill/>
          <a:ln w="44450">
            <a:solidFill>
              <a:srgbClr val="E09B00"/>
            </a:solidFill>
          </a:ln>
        </p:spPr>
        <p:txBody>
          <a:bodyPr rtlCol="0" anchor="ctr"/>
          <a:lstStyle/>
          <a:p>
            <a:pPr algn="ctr"/>
          </a:p>
        </p:txBody>
      </p:sp>
      <p:sp>
        <p:nvSpPr>
          <p:cNvPr id="10" name="Rectangle 9"/>
          <p:cNvSpPr/>
          <p:nvPr/>
        </p:nvSpPr>
        <p:spPr>
          <a:xfrm>
            <a:off x="4453128" y="3766624"/>
            <a:ext cx="1267968" cy="908772"/>
          </a:xfrm>
          <a:prstGeom prst="rect">
            <a:avLst/>
          </a:prstGeom>
          <a:noFill/>
          <a:ln w="44450">
            <a:solidFill>
              <a:srgbClr val="C62828"/>
            </a:solidFill>
          </a:ln>
        </p:spPr>
        <p:txBody>
          <a:bodyPr rtlCol="0" anchor="ctr"/>
          <a:lstStyle/>
          <a:p>
            <a:pPr algn="ctr"/>
          </a:p>
        </p:txBody>
      </p:sp>
      <p:sp>
        <p:nvSpPr>
          <p:cNvPr id="11" name="Rectangle 10"/>
          <p:cNvSpPr/>
          <p:nvPr/>
        </p:nvSpPr>
        <p:spPr>
          <a:xfrm>
            <a:off x="6512898" y="4077520"/>
            <a:ext cx="1937173" cy="1028348"/>
          </a:xfrm>
          <a:prstGeom prst="rect">
            <a:avLst/>
          </a:prstGeom>
          <a:noFill/>
          <a:ln w="44450">
            <a:solidFill>
              <a:srgbClr val="1F5FAD"/>
            </a:solidFill>
          </a:ln>
        </p:spPr>
        <p:txBody>
          <a:bodyPr rtlCol="0" anchor="ctr"/>
          <a:lstStyle/>
          <a:p>
            <a:pPr algn="ctr"/>
          </a:p>
        </p:txBody>
      </p:sp>
      <p:sp>
        <p:nvSpPr>
          <p:cNvPr id="12" name="Rectangle 11"/>
          <p:cNvSpPr/>
          <p:nvPr/>
        </p:nvSpPr>
        <p:spPr>
          <a:xfrm>
            <a:off x="9682818" y="4077520"/>
            <a:ext cx="1232746" cy="908772"/>
          </a:xfrm>
          <a:prstGeom prst="rect">
            <a:avLst/>
          </a:prstGeom>
          <a:noFill/>
          <a:ln w="44450">
            <a:solidFill>
              <a:srgbClr val="7B3FA0"/>
            </a:solidFill>
          </a:ln>
        </p:spPr>
        <p:txBody>
          <a:bodyPr rtlCol="0" anchor="ctr"/>
          <a:lstStyle/>
          <a:p>
            <a:pPr algn="ctr"/>
          </a:p>
        </p:txBody>
      </p:sp>
      <p:sp>
        <p:nvSpPr>
          <p:cNvPr id="13" name="Oval 12"/>
          <p:cNvSpPr/>
          <p:nvPr/>
        </p:nvSpPr>
        <p:spPr>
          <a:xfrm>
            <a:off x="2705797" y="46829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5688" y="4229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614663" y="46179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27239" y="437237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3 and 4: pullbacks change and bars shrink</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3, change in bar retracement symmetry: pullbacks that took 6 </a:t>
            </a:r>
            <a:r>
              <a:rPr sz="1700" b="1" i="0">
                <a:solidFill>
                  <a:srgbClr val="E09B00"/>
                </a:solidFill>
                <a:latin typeface="Arial"/>
              </a:rPr>
              <a:t>(1)</a:t>
            </a:r>
            <a:r>
              <a:rPr sz="1700" b="0" i="0">
                <a:solidFill>
                  <a:srgbClr val="1A1A1A"/>
                </a:solidFill>
                <a:latin typeface="Arial"/>
              </a:rPr>
              <a:t>, 6 and 5 bars suddenly take 2 </a:t>
            </a:r>
            <a:r>
              <a:rPr sz="1700" b="1" i="0">
                <a:solidFill>
                  <a:srgbClr val="C62828"/>
                </a:solidFill>
                <a:latin typeface="Arial"/>
              </a:rPr>
              <a:t>(2)</a:t>
            </a:r>
            <a:r>
              <a:rPr sz="1700" b="0" i="0">
                <a:solidFill>
                  <a:srgbClr val="1A1A1A"/>
                </a:solidFill>
                <a:latin typeface="Arial"/>
              </a:rPr>
              <a:t> (Chapter 5, "3 Bar retracement symmetry"). Characteristic 4, decrease in average bar range: bars that averaged PHP 3.00 </a:t>
            </a:r>
            <a:r>
              <a:rPr sz="1700" b="1" i="0">
                <a:solidFill>
                  <a:srgbClr val="1F5FAD"/>
                </a:solidFill>
                <a:latin typeface="Arial"/>
              </a:rPr>
              <a:t>(3)</a:t>
            </a:r>
            <a:r>
              <a:rPr sz="1700" b="0" i="0">
                <a:solidFill>
                  <a:srgbClr val="1A1A1A"/>
                </a:solidFill>
                <a:latin typeface="Arial"/>
              </a:rPr>
              <a:t> from low to high now average PHP 2.00 </a:t>
            </a:r>
            <a:r>
              <a:rPr sz="1700" b="1" i="0">
                <a:solidFill>
                  <a:srgbClr val="7B3FA0"/>
                </a:solidFill>
                <a:latin typeface="Arial"/>
              </a:rPr>
              <a:t>(4)</a:t>
            </a:r>
            <a:r>
              <a:rPr sz="1700" b="0" i="0">
                <a:solidFill>
                  <a:srgbClr val="1A1A1A"/>
                </a:solidFill>
                <a:latin typeface="Arial"/>
              </a:rPr>
              <a:t> (Chapter 5, "4 Average bar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2538" y="4280001"/>
            <a:ext cx="819806" cy="621791"/>
          </a:xfrm>
          <a:prstGeom prst="rect">
            <a:avLst/>
          </a:prstGeom>
          <a:noFill/>
          <a:ln w="44450">
            <a:solidFill>
              <a:srgbClr val="E09B00"/>
            </a:solidFill>
          </a:ln>
        </p:spPr>
        <p:txBody>
          <a:bodyPr rtlCol="0" anchor="ctr"/>
          <a:lstStyle/>
          <a:p>
            <a:pPr algn="ctr"/>
          </a:p>
        </p:txBody>
      </p:sp>
      <p:sp>
        <p:nvSpPr>
          <p:cNvPr id="10" name="Rectangle 9"/>
          <p:cNvSpPr/>
          <p:nvPr/>
        </p:nvSpPr>
        <p:spPr>
          <a:xfrm>
            <a:off x="5264736" y="3658209"/>
            <a:ext cx="450893" cy="455980"/>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857936"/>
            <a:ext cx="1849119" cy="1158794"/>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773146"/>
            <a:ext cx="1981199" cy="960951"/>
          </a:xfrm>
          <a:prstGeom prst="rect">
            <a:avLst/>
          </a:prstGeom>
          <a:noFill/>
          <a:ln w="44450">
            <a:solidFill>
              <a:srgbClr val="7B3FA0"/>
            </a:solidFill>
          </a:ln>
        </p:spPr>
        <p:txBody>
          <a:bodyPr rtlCol="0" anchor="ctr"/>
          <a:lstStyle/>
          <a:p>
            <a:pPr algn="ctr"/>
          </a:p>
        </p:txBody>
      </p:sp>
      <p:sp>
        <p:nvSpPr>
          <p:cNvPr id="13" name="Oval 12"/>
          <p:cNvSpPr/>
          <p:nvPr/>
        </p:nvSpPr>
        <p:spPr>
          <a:xfrm>
            <a:off x="2846937" y="45561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0222" y="382658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483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412344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5 and 6: the bars lose their quality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5, lack of the quality of price persistence: small, even bars of about PHP 1.00 </a:t>
            </a:r>
            <a:r>
              <a:rPr sz="1700" b="1" i="0">
                <a:solidFill>
                  <a:srgbClr val="E09B00"/>
                </a:solidFill>
                <a:latin typeface="Arial"/>
              </a:rPr>
              <a:t>(1)</a:t>
            </a:r>
            <a:r>
              <a:rPr sz="1700" b="0" i="0">
                <a:solidFill>
                  <a:srgbClr val="1A1A1A"/>
                </a:solidFill>
                <a:latin typeface="Arial"/>
              </a:rPr>
              <a:t> give way to uneven ones of PHP 0.40, 2.50 and 0.80 </a:t>
            </a:r>
            <a:r>
              <a:rPr sz="1700" b="1" i="0">
                <a:solidFill>
                  <a:srgbClr val="C62828"/>
                </a:solidFill>
                <a:latin typeface="Arial"/>
              </a:rPr>
              <a:t>(2)</a:t>
            </a:r>
            <a:r>
              <a:rPr sz="1700" b="0" i="0">
                <a:solidFill>
                  <a:srgbClr val="1A1A1A"/>
                </a:solidFill>
                <a:latin typeface="Arial"/>
              </a:rPr>
              <a:t> (Chapter 5, "5 Price persistence"). Characteristic 6, decrease in average bar stochastic ratio: on average, closes sit lower inside their bars, say 0.80 </a:t>
            </a:r>
            <a:r>
              <a:rPr sz="1700" b="1" i="0">
                <a:solidFill>
                  <a:srgbClr val="1F5FAD"/>
                </a:solidFill>
                <a:latin typeface="Arial"/>
              </a:rPr>
              <a:t>(3)</a:t>
            </a:r>
            <a:r>
              <a:rPr sz="1700" b="0" i="0">
                <a:solidFill>
                  <a:srgbClr val="1A1A1A"/>
                </a:solidFill>
                <a:latin typeface="Arial"/>
              </a:rPr>
              <a:t> falling to 0.40 </a:t>
            </a:r>
            <a:r>
              <a:rPr sz="1700" b="1" i="0">
                <a:solidFill>
                  <a:srgbClr val="7B3FA0"/>
                </a:solidFill>
                <a:latin typeface="Arial"/>
              </a:rPr>
              <a:t>(4)</a:t>
            </a:r>
            <a:r>
              <a:rPr sz="1700" b="0" i="0">
                <a:solidFill>
                  <a:srgbClr val="1A1A1A"/>
                </a:solidFill>
                <a:latin typeface="Arial"/>
              </a:rPr>
              <a:t> (Chapter 5, "6 The average bar stochastic ratio").</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4010558"/>
            <a:ext cx="1849119" cy="90159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86200"/>
            <a:ext cx="1981199" cy="1119225"/>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923321"/>
            <a:ext cx="1849119" cy="1136858"/>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644907"/>
            <a:ext cx="1981199" cy="858444"/>
          </a:xfrm>
          <a:prstGeom prst="rect">
            <a:avLst/>
          </a:prstGeom>
          <a:noFill/>
          <a:ln w="44450">
            <a:solidFill>
              <a:srgbClr val="7B3FA0"/>
            </a:solidFill>
          </a:ln>
        </p:spPr>
        <p:txBody>
          <a:bodyPr rtlCol="0" anchor="ctr"/>
          <a:lstStyle/>
          <a:p>
            <a:pPr algn="ctr"/>
          </a:p>
        </p:txBody>
      </p:sp>
      <p:sp>
        <p:nvSpPr>
          <p:cNvPr id="13" name="Oval 12"/>
          <p:cNvSpPr/>
          <p:nvPr/>
        </p:nvSpPr>
        <p:spPr>
          <a:xfrm>
            <a:off x="3336544" y="44685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4856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53426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392857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7, decrease in average candlestick real body to range ratio: on average the bodies shrink inside their bars, say 0.60 </a:t>
            </a:r>
            <a:r>
              <a:rPr sz="1700" b="1" i="0">
                <a:solidFill>
                  <a:srgbClr val="E09B00"/>
                </a:solidFill>
                <a:latin typeface="Arial"/>
              </a:rPr>
              <a:t>(1)</a:t>
            </a:r>
            <a:r>
              <a:rPr sz="1700" b="0" i="0">
                <a:solidFill>
                  <a:srgbClr val="1A1A1A"/>
                </a:solidFill>
                <a:latin typeface="Arial"/>
              </a:rPr>
              <a:t> falling to 0.25 </a:t>
            </a:r>
            <a:r>
              <a:rPr sz="1700" b="1" i="0">
                <a:solidFill>
                  <a:srgbClr val="C62828"/>
                </a:solidFill>
                <a:latin typeface="Arial"/>
              </a:rPr>
              <a:t>(2)</a:t>
            </a:r>
            <a:r>
              <a:rPr sz="1700" b="0" i="0">
                <a:solidFill>
                  <a:srgbClr val="1A1A1A"/>
                </a:solidFill>
                <a:latin typeface="Arial"/>
              </a:rPr>
              <a:t> (Chapter 5, "7 Real body to range ratio, BRR"). Characteristic 8, changes in angular symmetry and momentum: the trend's angle changes, say from 20 </a:t>
            </a:r>
            <a:r>
              <a:rPr sz="1700" b="1" i="0">
                <a:solidFill>
                  <a:srgbClr val="1F5FAD"/>
                </a:solidFill>
                <a:latin typeface="Arial"/>
              </a:rPr>
              <a:t>(3)</a:t>
            </a:r>
            <a:r>
              <a:rPr sz="1700" b="0" i="0">
                <a:solidFill>
                  <a:srgbClr val="1A1A1A"/>
                </a:solidFill>
                <a:latin typeface="Arial"/>
              </a:rPr>
              <a:t> to 35 degrees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5 said a steeper climb is generally bullish; Lim adds that a sudden parabolic jump is usually unsustainable and so potentially bearish (p. 218). He gives no cutoff angle (Chapter 5, "8 Angular symmetry and momentum").</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9, proximity to a price barrier: price is near a strong support or resistance, say at PHP 59 </a:t>
            </a:r>
            <a:r>
              <a:rPr sz="1700" b="1" i="0">
                <a:solidFill>
                  <a:srgbClr val="E09B00"/>
                </a:solidFill>
                <a:latin typeface="Arial"/>
              </a:rPr>
              <a:t>(1)</a:t>
            </a:r>
            <a:r>
              <a:rPr sz="1700" b="0" i="0">
                <a:solidFill>
                  <a:srgbClr val="1A1A1A"/>
                </a:solidFill>
                <a:latin typeface="Arial"/>
              </a:rPr>
              <a:t> under resistance at PHP 60 </a:t>
            </a:r>
            <a:r>
              <a:rPr sz="1700" b="1" i="0">
                <a:solidFill>
                  <a:srgbClr val="C62828"/>
                </a:solidFill>
                <a:latin typeface="Arial"/>
              </a:rPr>
              <a:t>(2)</a:t>
            </a:r>
            <a:r>
              <a:rPr sz="1700" b="0" i="0">
                <a:solidFill>
                  <a:srgbClr val="1A1A1A"/>
                </a:solidFill>
                <a:latin typeface="Arial"/>
              </a:rPr>
              <a:t> (Chapter 5, "9 Barrier proximity").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10, reduction in frequency and decrease in depth of trend-based oscillations: six dips of about 3 points </a:t>
            </a:r>
            <a:r>
              <a:rPr sz="1700" b="1" i="0">
                <a:solidFill>
                  <a:srgbClr val="1F5FAD"/>
                </a:solidFill>
                <a:latin typeface="Arial"/>
              </a:rPr>
              <a:t>(3)</a:t>
            </a:r>
            <a:r>
              <a:rPr sz="1700" b="0" i="0">
                <a:solidFill>
                  <a:srgbClr val="1A1A1A"/>
                </a:solidFill>
                <a:latin typeface="Arial"/>
              </a:rPr>
              <a:t> become two dips of 1 point </a:t>
            </a:r>
            <a:r>
              <a:rPr sz="1700" b="1" i="0">
                <a:solidFill>
                  <a:srgbClr val="7B3FA0"/>
                </a:solidFill>
                <a:latin typeface="Arial"/>
              </a:rPr>
              <a:t>(4)</a:t>
            </a:r>
            <a:r>
              <a:rPr sz="1700" b="0" i="0">
                <a:solidFill>
                  <a:srgbClr val="1A1A1A"/>
                </a:solidFill>
                <a:latin typeface="Arial"/>
              </a:rPr>
              <a:t> (Chapter 5, "10 Frequency and depth of oscillations").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11 and 12: longer pauses and a third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11, appearance of relatively larger and longer lasting consolidations: pauses of 3 bars </a:t>
            </a:r>
            <a:r>
              <a:rPr sz="1700" b="1" i="0">
                <a:solidFill>
                  <a:srgbClr val="E09B00"/>
                </a:solidFill>
                <a:latin typeface="Arial"/>
              </a:rPr>
              <a:t>(1)</a:t>
            </a:r>
            <a:r>
              <a:rPr sz="1700" b="0" i="0">
                <a:solidFill>
                  <a:srgbClr val="1A1A1A"/>
                </a:solidFill>
                <a:latin typeface="Arial"/>
              </a:rPr>
              <a:t> give way to one of 12 bars </a:t>
            </a:r>
            <a:r>
              <a:rPr sz="1700" b="1" i="0">
                <a:solidFill>
                  <a:srgbClr val="C62828"/>
                </a:solidFill>
                <a:latin typeface="Arial"/>
              </a:rPr>
              <a:t>(2)</a:t>
            </a:r>
            <a:r>
              <a:rPr sz="1700" b="0" i="0">
                <a:solidFill>
                  <a:srgbClr val="1A1A1A"/>
                </a:solidFill>
                <a:latin typeface="Arial"/>
              </a:rPr>
              <a:t> (Chapter 5, "11 Size and duration of a consolidation"). Characteristic 12, appearance of an exhaustion gap: a third gap in the trend, say of PHP 0.80 </a:t>
            </a:r>
            <a:r>
              <a:rPr sz="1700" b="1" i="0">
                <a:solidFill>
                  <a:srgbClr val="1F5FAD"/>
                </a:solidFill>
                <a:latin typeface="Arial"/>
              </a:rPr>
              <a:t>(3)</a:t>
            </a:r>
            <a:r>
              <a:rPr sz="1700" b="0" i="0">
                <a:solidFill>
                  <a:srgbClr val="1A1A1A"/>
                </a:solidFill>
                <a:latin typeface="Arial"/>
              </a:rPr>
              <a:t>, after two earlier ones </a:t>
            </a:r>
            <a:r>
              <a:rPr sz="1700" b="1" i="0">
                <a:solidFill>
                  <a:srgbClr val="7B3FA0"/>
                </a:solidFill>
                <a:latin typeface="Arial"/>
              </a:rPr>
              <a:t>(4)</a:t>
            </a:r>
            <a:r>
              <a:rPr sz="1700" b="0" i="0">
                <a:solidFill>
                  <a:srgbClr val="1A1A1A"/>
                </a:solidFill>
                <a:latin typeface="Arial"/>
              </a:rPr>
              <a:t> (Chapter 5, "12 Third gap exhaustion").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5913" y="4426566"/>
            <a:ext cx="615337" cy="333102"/>
          </a:xfrm>
          <a:prstGeom prst="rect">
            <a:avLst/>
          </a:prstGeom>
          <a:noFill/>
          <a:ln w="44450">
            <a:solidFill>
              <a:srgbClr val="E09B00"/>
            </a:solidFill>
          </a:ln>
        </p:spPr>
        <p:txBody>
          <a:bodyPr rtlCol="0" anchor="ctr"/>
          <a:lstStyle/>
          <a:p>
            <a:pPr algn="ctr"/>
          </a:p>
        </p:txBody>
      </p:sp>
      <p:sp>
        <p:nvSpPr>
          <p:cNvPr id="10" name="Rectangle 9"/>
          <p:cNvSpPr/>
          <p:nvPr/>
        </p:nvSpPr>
        <p:spPr>
          <a:xfrm>
            <a:off x="3823805" y="3686338"/>
            <a:ext cx="1873982" cy="333102"/>
          </a:xfrm>
          <a:prstGeom prst="rect">
            <a:avLst/>
          </a:prstGeom>
          <a:noFill/>
          <a:ln w="44450">
            <a:solidFill>
              <a:srgbClr val="C62828"/>
            </a:solidFill>
          </a:ln>
        </p:spPr>
        <p:txBody>
          <a:bodyPr rtlCol="0" anchor="ctr"/>
          <a:lstStyle/>
          <a:p>
            <a:pPr algn="ctr"/>
          </a:p>
        </p:txBody>
      </p:sp>
      <p:sp>
        <p:nvSpPr>
          <p:cNvPr id="11" name="Rectangle 10"/>
          <p:cNvSpPr/>
          <p:nvPr/>
        </p:nvSpPr>
        <p:spPr>
          <a:xfrm>
            <a:off x="9902952" y="3758183"/>
            <a:ext cx="864523" cy="243840"/>
          </a:xfrm>
          <a:prstGeom prst="rect">
            <a:avLst/>
          </a:prstGeom>
          <a:noFill/>
          <a:ln w="44450">
            <a:solidFill>
              <a:srgbClr val="1F5FAD"/>
            </a:solidFill>
          </a:ln>
        </p:spPr>
        <p:txBody>
          <a:bodyPr rtlCol="0" anchor="ctr"/>
          <a:lstStyle/>
          <a:p>
            <a:pPr algn="ctr"/>
          </a:p>
        </p:txBody>
      </p:sp>
      <p:sp>
        <p:nvSpPr>
          <p:cNvPr id="12" name="Rectangle 11"/>
          <p:cNvSpPr/>
          <p:nvPr/>
        </p:nvSpPr>
        <p:spPr>
          <a:xfrm>
            <a:off x="6660988" y="3819143"/>
            <a:ext cx="3025832" cy="1463039"/>
          </a:xfrm>
          <a:prstGeom prst="rect">
            <a:avLst/>
          </a:prstGeom>
          <a:noFill/>
          <a:ln w="44450">
            <a:solidFill>
              <a:srgbClr val="7B3FA0"/>
            </a:solidFill>
          </a:ln>
        </p:spPr>
        <p:txBody>
          <a:bodyPr rtlCol="0" anchor="ctr"/>
          <a:lstStyle/>
          <a:p>
            <a:pPr algn="ctr"/>
          </a:p>
        </p:txBody>
      </p:sp>
      <p:sp>
        <p:nvSpPr>
          <p:cNvPr id="13" name="Oval 12"/>
          <p:cNvSpPr/>
          <p:nvPr/>
        </p:nvSpPr>
        <p:spPr>
          <a:xfrm>
            <a:off x="2645843" y="451506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62379" y="37748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932067" y="37886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851413" y="46421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13, completion of the average range for the period under observation: the day has already travelled its whole average range </a:t>
            </a:r>
            <a:r>
              <a:rPr sz="1700" b="1" i="0">
                <a:solidFill>
                  <a:srgbClr val="E09B00"/>
                </a:solidFill>
                <a:latin typeface="Arial"/>
              </a:rPr>
              <a:t>(1)</a:t>
            </a:r>
            <a:r>
              <a:rPr sz="1700" b="0" i="0">
                <a:solidFill>
                  <a:srgbClr val="1A1A1A"/>
                </a:solidFill>
                <a:latin typeface="Arial"/>
              </a:rPr>
              <a:t>, say all PHP 3.00 of it </a:t>
            </a:r>
            <a:r>
              <a:rPr sz="1700" b="1" i="0">
                <a:solidFill>
                  <a:srgbClr val="C62828"/>
                </a:solidFill>
                <a:latin typeface="Arial"/>
              </a:rPr>
              <a:t>(2)</a:t>
            </a:r>
            <a:r>
              <a:rPr sz="1700" b="0" i="0">
                <a:solidFill>
                  <a:srgbClr val="1A1A1A"/>
                </a:solidFill>
                <a:latin typeface="Arial"/>
              </a:rPr>
              <a:t> (Chapter 5, "13 Average period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14, overextended price action with respect to a price barrier: price spikes to PHP 61 </a:t>
            </a:r>
            <a:r>
              <a:rPr sz="1700" b="1" i="0">
                <a:solidFill>
                  <a:srgbClr val="1F5FAD"/>
                </a:solidFill>
                <a:latin typeface="Arial"/>
              </a:rPr>
              <a:t>(3)</a:t>
            </a:r>
            <a:r>
              <a:rPr sz="1700" b="0" i="0">
                <a:solidFill>
                  <a:srgbClr val="1A1A1A"/>
                </a:solidFill>
                <a:latin typeface="Arial"/>
              </a:rPr>
              <a:t> above an uptrending overlay line at PHP 60 </a:t>
            </a:r>
            <a:r>
              <a:rPr sz="1700" b="1" i="0">
                <a:solidFill>
                  <a:srgbClr val="7B3FA0"/>
                </a:solidFill>
                <a:latin typeface="Arial"/>
              </a:rPr>
              <a:t>(4)</a:t>
            </a:r>
            <a:r>
              <a:rPr sz="1700" b="0" i="0">
                <a:solidFill>
                  <a:srgbClr val="1A1A1A"/>
                </a:solidFill>
                <a:latin typeface="Arial"/>
              </a:rPr>
              <a:t>, or above an upper band, as Figure 7.13 shows two slides on (Chapter 5, "14 Overextension past an overlay barrier").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15 and 16: extreme volume and divergence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15, price accompanied by extremely high or low volume: say 5.0 million shares </a:t>
            </a:r>
            <a:r>
              <a:rPr sz="1700" b="1" i="0">
                <a:solidFill>
                  <a:srgbClr val="E09B00"/>
                </a:solidFill>
                <a:latin typeface="Arial"/>
              </a:rPr>
              <a:t>(1)</a:t>
            </a:r>
            <a:r>
              <a:rPr sz="1700" b="0" i="0">
                <a:solidFill>
                  <a:srgbClr val="1A1A1A"/>
                </a:solidFill>
                <a:latin typeface="Arial"/>
              </a:rPr>
              <a:t> against an average of 1.2 million </a:t>
            </a:r>
            <a:r>
              <a:rPr sz="1700" b="1" i="0">
                <a:solidFill>
                  <a:srgbClr val="C62828"/>
                </a:solidFill>
                <a:latin typeface="Arial"/>
              </a:rPr>
              <a:t>(2)</a:t>
            </a:r>
            <a:r>
              <a:rPr sz="1700" b="0" i="0">
                <a:solidFill>
                  <a:srgbClr val="1A1A1A"/>
                </a:solidFill>
                <a:latin typeface="Arial"/>
              </a:rPr>
              <a:t> (Chapter 5, "15 Volume spread action"). Characteristic 16, standard divergences between price, volume, and oscillators: price makes a higher high while volume falls from 3.0 </a:t>
            </a:r>
            <a:r>
              <a:rPr sz="1700" b="1" i="0">
                <a:solidFill>
                  <a:srgbClr val="1F5FAD"/>
                </a:solidFill>
                <a:latin typeface="Arial"/>
              </a:rPr>
              <a:t>(3)</a:t>
            </a:r>
            <a:r>
              <a:rPr sz="1700" b="0" i="0">
                <a:solidFill>
                  <a:srgbClr val="1A1A1A"/>
                </a:solidFill>
                <a:latin typeface="Arial"/>
              </a:rPr>
              <a:t> to 1.8 million </a:t>
            </a:r>
            <a:r>
              <a:rPr sz="1700" b="1" i="0">
                <a:solidFill>
                  <a:srgbClr val="7B3FA0"/>
                </a:solidFill>
                <a:latin typeface="Arial"/>
              </a:rPr>
              <a:t>(4)</a:t>
            </a:r>
            <a:r>
              <a:rPr sz="1700" b="0" i="0">
                <a:solidFill>
                  <a:srgbClr val="1A1A1A"/>
                </a:solidFill>
                <a:latin typeface="Arial"/>
              </a:rPr>
              <a:t> (Chapter 5, "16 Volume and oscillator divergence").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822952" y="3803904"/>
            <a:ext cx="905691" cy="1371599"/>
          </a:xfrm>
          <a:prstGeom prst="rect">
            <a:avLst/>
          </a:prstGeom>
          <a:noFill/>
          <a:ln w="44450">
            <a:solidFill>
              <a:srgbClr val="E09B00"/>
            </a:solidFill>
          </a:ln>
        </p:spPr>
        <p:txBody>
          <a:bodyPr rtlCol="0" anchor="ctr"/>
          <a:lstStyle/>
          <a:p>
            <a:pPr algn="ctr"/>
          </a:p>
        </p:txBody>
      </p:sp>
      <p:sp>
        <p:nvSpPr>
          <p:cNvPr id="10" name="Rectangle 9"/>
          <p:cNvSpPr/>
          <p:nvPr/>
        </p:nvSpPr>
        <p:spPr>
          <a:xfrm>
            <a:off x="1313397" y="4626864"/>
            <a:ext cx="2943497" cy="548639"/>
          </a:xfrm>
          <a:prstGeom prst="rect">
            <a:avLst/>
          </a:prstGeom>
          <a:noFill/>
          <a:ln w="44450">
            <a:solidFill>
              <a:srgbClr val="C62828"/>
            </a:solidFill>
          </a:ln>
        </p:spPr>
        <p:txBody>
          <a:bodyPr rtlCol="0" anchor="ctr"/>
          <a:lstStyle/>
          <a:p>
            <a:pPr algn="ctr"/>
          </a:p>
        </p:txBody>
      </p:sp>
      <p:sp>
        <p:nvSpPr>
          <p:cNvPr id="11" name="Rectangle 10"/>
          <p:cNvSpPr/>
          <p:nvPr/>
        </p:nvSpPr>
        <p:spPr>
          <a:xfrm>
            <a:off x="7466076" y="3726751"/>
            <a:ext cx="713231" cy="1448752"/>
          </a:xfrm>
          <a:prstGeom prst="rect">
            <a:avLst/>
          </a:prstGeom>
          <a:noFill/>
          <a:ln w="44450">
            <a:solidFill>
              <a:srgbClr val="1F5FAD"/>
            </a:solidFill>
          </a:ln>
        </p:spPr>
        <p:txBody>
          <a:bodyPr rtlCol="0" anchor="ctr"/>
          <a:lstStyle/>
          <a:p>
            <a:pPr algn="ctr"/>
          </a:p>
        </p:txBody>
      </p:sp>
      <p:sp>
        <p:nvSpPr>
          <p:cNvPr id="12" name="Rectangle 11"/>
          <p:cNvSpPr/>
          <p:nvPr/>
        </p:nvSpPr>
        <p:spPr>
          <a:xfrm>
            <a:off x="9843516" y="3503866"/>
            <a:ext cx="713232" cy="1671637"/>
          </a:xfrm>
          <a:prstGeom prst="rect">
            <a:avLst/>
          </a:prstGeom>
          <a:noFill/>
          <a:ln w="44450">
            <a:solidFill>
              <a:srgbClr val="7B3FA0"/>
            </a:solidFill>
          </a:ln>
        </p:spPr>
        <p:txBody>
          <a:bodyPr rtlCol="0" anchor="ctr"/>
          <a:lstStyle/>
          <a:p>
            <a:pPr algn="ctr"/>
          </a:p>
        </p:txBody>
      </p:sp>
      <p:sp>
        <p:nvSpPr>
          <p:cNvPr id="13" name="Oval 12"/>
          <p:cNvSpPr/>
          <p:nvPr/>
        </p:nvSpPr>
        <p:spPr>
          <a:xfrm>
            <a:off x="5893235" y="45674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421486" y="485546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343900" y="454042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721340" y="446241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88</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such rapid increases </a:t>
            </a:r>
            <a:r>
              <a:rPr sz="1700" b="1" i="0">
                <a:solidFill>
                  <a:srgbClr val="E09B00"/>
                </a:solidFill>
                <a:latin typeface="Arial"/>
              </a:rPr>
              <a:t>(1)</a:t>
            </a:r>
            <a:r>
              <a:rPr sz="1700" b="0" i="0">
                <a:solidFill>
                  <a:srgbClr val="1A1A1A"/>
                </a:solidFill>
                <a:latin typeface="Arial"/>
              </a:rPr>
              <a:t> are usually unsustainable, so potentially bearish (p. 218). A lack of oscillations </a:t>
            </a:r>
            <a:r>
              <a:rPr sz="1700" b="1" i="0">
                <a:solidFill>
                  <a:srgbClr val="C62828"/>
                </a:solidFill>
                <a:latin typeface="Arial"/>
              </a:rPr>
              <a:t>(2)</a:t>
            </a:r>
            <a:r>
              <a:rPr sz="1700" b="0" i="0">
                <a:solidFill>
                  <a:srgbClr val="1A1A1A"/>
                </a:solidFill>
                <a:latin typeface="Arial"/>
              </a:rPr>
              <a:t> is potentially bearish because there is little healthy profit-taking (p. 218). The overextended price </a:t>
            </a:r>
            <a:r>
              <a:rPr sz="1700" b="1" i="0">
                <a:solidFill>
                  <a:srgbClr val="1F5FAD"/>
                </a:solidFill>
                <a:latin typeface="Arial"/>
              </a:rPr>
              <a:t>(3)</a:t>
            </a:r>
            <a:r>
              <a:rPr sz="1700" b="0" i="0">
                <a:solidFill>
                  <a:srgbClr val="1A1A1A"/>
                </a:solidFill>
                <a:latin typeface="Arial"/>
              </a:rPr>
              <a:t> is stretched past a volatility barrier, the Bollinger upper band, and would be even more bearish with extreme volume (p. 217).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7 names the Bollinger upper band but does not define it; read it as the overlay barrier from Chapter 5, "14 Overextension past an overlay barrier", and take no formula from this chapter.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88</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87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88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65</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800" b="0" i="0">
                <a:solidFill>
                  <a:srgbClr val="1A1A1A"/>
                </a:solidFill>
                <a:latin typeface="Arial"/>
              </a:rPr>
              <a:t>With simple invented prices: yesterday's low was 41.00 and its close 41.50. Today it falls to a new low of 40.50 </a:t>
            </a:r>
            <a:r>
              <a:rPr sz="1800" b="1" i="0">
                <a:solidFill>
                  <a:srgbClr val="E09B00"/>
                </a:solidFill>
                <a:latin typeface="Arial"/>
              </a:rPr>
              <a:t>(1)</a:t>
            </a:r>
            <a:r>
              <a:rPr sz="1800" b="0" i="0">
                <a:solidFill>
                  <a:srgbClr val="1A1A1A"/>
                </a:solidFill>
                <a:latin typeface="Arial"/>
              </a:rPr>
              <a:t>, then closes at 43.20 </a:t>
            </a:r>
            <a:r>
              <a:rPr sz="1800" b="1" i="0">
                <a:solidFill>
                  <a:srgbClr val="C62828"/>
                </a:solidFill>
                <a:latin typeface="Arial"/>
              </a:rPr>
              <a:t>(2)</a:t>
            </a:r>
            <a:r>
              <a:rPr sz="1800" b="0" i="0">
                <a:solidFill>
                  <a:srgbClr val="1A1A1A"/>
                </a:solidFill>
                <a:latin typeface="Arial"/>
              </a:rPr>
              <a:t>, above yesterday's close of 41.50, on 4.0 million shares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In Lim's chart price then rebounds rapidly, but that is not a promise (p. 218).</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217919" y="1810512"/>
            <a:ext cx="5653735" cy="34517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336791" y="1929384"/>
            <a:ext cx="5415991" cy="321405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541599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11111" y="2203703"/>
            <a:ext cx="4867351" cy="275685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692748" y="4066730"/>
            <a:ext cx="189559" cy="160702"/>
          </a:xfrm>
          <a:prstGeom prst="ellipse">
            <a:avLst/>
          </a:prstGeom>
          <a:noFill/>
          <a:ln w="44450">
            <a:solidFill>
              <a:srgbClr val="E09B00"/>
            </a:solidFill>
          </a:ln>
        </p:spPr>
        <p:txBody>
          <a:bodyPr rtlCol="0" anchor="ctr"/>
          <a:lstStyle/>
          <a:p>
            <a:pPr algn="ctr"/>
          </a:p>
        </p:txBody>
      </p:sp>
      <p:sp>
        <p:nvSpPr>
          <p:cNvPr id="14" name="Oval 13"/>
          <p:cNvSpPr/>
          <p:nvPr/>
        </p:nvSpPr>
        <p:spPr>
          <a:xfrm>
            <a:off x="8746907" y="3873887"/>
            <a:ext cx="178727" cy="160702"/>
          </a:xfrm>
          <a:prstGeom prst="ellipse">
            <a:avLst/>
          </a:prstGeom>
          <a:noFill/>
          <a:ln w="44450">
            <a:solidFill>
              <a:srgbClr val="C62828"/>
            </a:solidFill>
          </a:ln>
        </p:spPr>
        <p:txBody>
          <a:bodyPr rtlCol="0" anchor="ctr"/>
          <a:lstStyle/>
          <a:p>
            <a:pPr algn="ctr"/>
          </a:p>
        </p:txBody>
      </p:sp>
      <p:sp>
        <p:nvSpPr>
          <p:cNvPr id="15" name="Oval 14"/>
          <p:cNvSpPr/>
          <p:nvPr/>
        </p:nvSpPr>
        <p:spPr>
          <a:xfrm>
            <a:off x="8708996" y="4323854"/>
            <a:ext cx="162479" cy="771373"/>
          </a:xfrm>
          <a:prstGeom prst="ellipse">
            <a:avLst/>
          </a:prstGeom>
          <a:noFill/>
          <a:ln w="44450">
            <a:solidFill>
              <a:srgbClr val="1F5FAD"/>
            </a:solidFill>
          </a:ln>
        </p:spPr>
        <p:txBody>
          <a:bodyPr rtlCol="0" anchor="ctr"/>
          <a:lstStyle/>
          <a:p>
            <a:pPr algn="ctr"/>
          </a:p>
        </p:txBody>
      </p:sp>
      <p:sp>
        <p:nvSpPr>
          <p:cNvPr id="16" name="Oval 15"/>
          <p:cNvSpPr/>
          <p:nvPr/>
        </p:nvSpPr>
        <p:spPr>
          <a:xfrm>
            <a:off x="8447620" y="406949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35059" y="37320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935059" y="439089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217919" y="5353750"/>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previous bar's high. Red </a:t>
            </a:r>
            <a:r>
              <a:rPr sz="1700" b="1" i="0">
                <a:solidFill>
                  <a:srgbClr val="C62828"/>
                </a:solidFill>
                <a:latin typeface="Arial"/>
              </a:rPr>
              <a:t>(2)</a:t>
            </a:r>
            <a:r>
              <a:rPr sz="1700" b="0" i="0">
                <a:solidFill>
                  <a:srgbClr val="1A1A1A"/>
                </a:solidFill>
                <a:latin typeface="Arial"/>
              </a:rPr>
              <a:t> marks the key reversal day's higher high. Blue </a:t>
            </a:r>
            <a:r>
              <a:rPr sz="1700" b="1" i="0">
                <a:solidFill>
                  <a:srgbClr val="1F5FAD"/>
                </a:solidFill>
                <a:latin typeface="Arial"/>
              </a:rPr>
              <a:t>(3)</a:t>
            </a:r>
            <a:r>
              <a:rPr sz="1700" b="0" i="0">
                <a:solidFill>
                  <a:srgbClr val="1A1A1A"/>
                </a:solidFill>
                <a:latin typeface="Arial"/>
              </a:rPr>
              <a:t> marks its close, below the previous close. Purple </a:t>
            </a:r>
            <a:r>
              <a:rPr sz="1700" b="1" i="0">
                <a:solidFill>
                  <a:srgbClr val="7B3FA0"/>
                </a:solidFill>
                <a:latin typeface="Arial"/>
              </a:rPr>
              <a:t>(4)</a:t>
            </a:r>
            <a:r>
              <a:rPr sz="1700" b="0" i="0">
                <a:solidFill>
                  <a:srgbClr val="1A1A1A"/>
                </a:solidFill>
                <a:latin typeface="Arial"/>
              </a:rPr>
              <a:t>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14352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240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240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3672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21626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30314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34658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9228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77987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5560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71033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10827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035040" y="5650991"/>
            <a:ext cx="592805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218).</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2000" b="0" i="0">
                <a:solidFill>
                  <a:srgbClr val="1A1A1A"/>
                </a:solidFill>
                <a:latin typeface="Arial"/>
              </a:rPr>
              <a:t>Lim's Figure 7.15 shows the market hovering near the key bar </a:t>
            </a:r>
            <a:r>
              <a:rPr sz="2000" b="1" i="0">
                <a:solidFill>
                  <a:srgbClr val="E09B00"/>
                </a:solidFill>
                <a:latin typeface="Arial"/>
              </a:rPr>
              <a:t>(1)</a:t>
            </a:r>
            <a:r>
              <a:rPr sz="2000" b="0" i="0">
                <a:solidFill>
                  <a:srgbClr val="1A1A1A"/>
                </a:solidFill>
                <a:latin typeface="Arial"/>
              </a:rPr>
              <a:t> before the later decline </a:t>
            </a:r>
            <a:r>
              <a:rPr sz="2000" b="1" i="0">
                <a:solidFill>
                  <a:srgbClr val="C62828"/>
                </a:solidFill>
                <a:latin typeface="Arial"/>
              </a:rPr>
              <a:t>(2)</a:t>
            </a:r>
            <a:r>
              <a:rPr sz="2000" b="0" i="0">
                <a:solidFill>
                  <a:srgbClr val="1A1A1A"/>
                </a:solidFill>
                <a:latin typeface="Arial"/>
              </a:rPr>
              <a:t> (p. 218).</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wide bar may make follow-through more reliable, but it does not guarantee it.</a:t>
            </a:r>
          </a:p>
        </p:txBody>
      </p:sp>
      <p:sp>
        <p:nvSpPr>
          <p:cNvPr id="10" name="Rectangle 9"/>
          <p:cNvSpPr/>
          <p:nvPr/>
        </p:nvSpPr>
        <p:spPr>
          <a:xfrm>
            <a:off x="6611718" y="1810512"/>
            <a:ext cx="486613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30590" y="1929384"/>
            <a:ext cx="462839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30590" y="1929384"/>
            <a:ext cx="46283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04910" y="2203703"/>
            <a:ext cx="40797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8981378" y="2302985"/>
            <a:ext cx="760908" cy="672413"/>
          </a:xfrm>
          <a:prstGeom prst="rect">
            <a:avLst/>
          </a:prstGeom>
          <a:noFill/>
          <a:ln w="44450">
            <a:solidFill>
              <a:srgbClr val="E09B00"/>
            </a:solidFill>
          </a:ln>
        </p:spPr>
        <p:txBody>
          <a:bodyPr rtlCol="0" anchor="ctr"/>
          <a:lstStyle/>
          <a:p>
            <a:pPr algn="ctr"/>
          </a:p>
        </p:txBody>
      </p:sp>
      <p:sp>
        <p:nvSpPr>
          <p:cNvPr id="15" name="Rectangle 14"/>
          <p:cNvSpPr/>
          <p:nvPr/>
        </p:nvSpPr>
        <p:spPr>
          <a:xfrm>
            <a:off x="9805695" y="2414996"/>
            <a:ext cx="602154" cy="1531627"/>
          </a:xfrm>
          <a:prstGeom prst="rect">
            <a:avLst/>
          </a:prstGeom>
          <a:noFill/>
          <a:ln w="44450">
            <a:solidFill>
              <a:srgbClr val="C62828"/>
            </a:solidFill>
          </a:ln>
        </p:spPr>
        <p:txBody>
          <a:bodyPr rtlCol="0" anchor="ctr"/>
          <a:lstStyle/>
          <a:p>
            <a:pPr algn="ctr"/>
          </a:p>
        </p:txBody>
      </p:sp>
      <p:sp>
        <p:nvSpPr>
          <p:cNvPr id="16" name="Oval 15"/>
          <p:cNvSpPr/>
          <p:nvPr/>
        </p:nvSpPr>
        <p:spPr>
          <a:xfrm>
            <a:off x="9156759" y="20812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8348" y="33512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7.15. The crop and marks are for teaching.</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Here is the bullish key reversal on the book's chart. Gold </a:t>
            </a:r>
            <a:r>
              <a:rPr sz="1700" b="1" i="0">
                <a:solidFill>
                  <a:srgbClr val="E09B00"/>
                </a:solidFill>
                <a:latin typeface="Arial"/>
              </a:rPr>
              <a:t>(1)</a:t>
            </a:r>
            <a:r>
              <a:rPr sz="1700" b="0" i="0">
                <a:solidFill>
                  <a:srgbClr val="1A1A1A"/>
                </a:solidFill>
                <a:latin typeface="Arial"/>
              </a:rPr>
              <a:t> marks the day's new low, red </a:t>
            </a:r>
            <a:r>
              <a:rPr sz="1700" b="1" i="0">
                <a:solidFill>
                  <a:srgbClr val="C62828"/>
                </a:solidFill>
                <a:latin typeface="Arial"/>
              </a:rPr>
              <a:t>(2)</a:t>
            </a:r>
            <a:r>
              <a:rPr sz="1700" b="0" i="0">
                <a:solidFill>
                  <a:srgbClr val="1A1A1A"/>
                </a:solidFill>
                <a:latin typeface="Arial"/>
              </a:rPr>
              <a:t> its close above the previous close, and blue </a:t>
            </a:r>
            <a:r>
              <a:rPr sz="1700" b="1" i="0">
                <a:solidFill>
                  <a:srgbClr val="1F5FAD"/>
                </a:solidFill>
                <a:latin typeface="Arial"/>
              </a:rPr>
              <a:t>(3)</a:t>
            </a:r>
            <a:r>
              <a:rPr sz="1700" b="0" i="0">
                <a:solidFill>
                  <a:srgbClr val="1A1A1A"/>
                </a:solidFill>
                <a:latin typeface="Arial"/>
              </a:rPr>
              <a:t> the high volume beneath it. After that bar, price rebounds rapidly.</a:t>
            </a:r>
          </a:p>
          <a:p>
            <a:pPr algn="l">
              <a:lnSpc>
                <a:spcPct val="105000"/>
              </a:lnSpc>
              <a:spcBef>
                <a:spcPts val="0"/>
              </a:spcBef>
              <a:spcAft>
                <a:spcPts val="1100"/>
              </a:spcAft>
            </a:pPr>
            <a:r>
              <a:rPr sz="17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1700" b="0" i="0">
                <a:solidFill>
                  <a:srgbClr val="1A1A1A"/>
                </a:solidFill>
                <a:latin typeface="Arial"/>
              </a:rPr>
              <a:t>A reversal warns about changing pressure; timing belongs to later price action.</a:t>
            </a:r>
          </a:p>
        </p:txBody>
      </p:sp>
      <p:sp>
        <p:nvSpPr>
          <p:cNvPr id="8" name="Rectangle 7"/>
          <p:cNvSpPr/>
          <p:nvPr/>
        </p:nvSpPr>
        <p:spPr>
          <a:xfrm>
            <a:off x="5303519" y="1810512"/>
            <a:ext cx="6110935" cy="37231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4853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30281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7977230" y="4247157"/>
            <a:ext cx="205561" cy="174268"/>
          </a:xfrm>
          <a:prstGeom prst="ellipse">
            <a:avLst/>
          </a:prstGeom>
          <a:noFill/>
          <a:ln w="44450">
            <a:solidFill>
              <a:srgbClr val="E09B00"/>
            </a:solidFill>
          </a:ln>
        </p:spPr>
        <p:txBody>
          <a:bodyPr rtlCol="0" anchor="ctr"/>
          <a:lstStyle/>
          <a:p>
            <a:pPr algn="ctr"/>
          </a:p>
        </p:txBody>
      </p:sp>
      <p:sp>
        <p:nvSpPr>
          <p:cNvPr id="13" name="Oval 12"/>
          <p:cNvSpPr/>
          <p:nvPr/>
        </p:nvSpPr>
        <p:spPr>
          <a:xfrm>
            <a:off x="8035961" y="4038035"/>
            <a:ext cx="193815" cy="174268"/>
          </a:xfrm>
          <a:prstGeom prst="ellipse">
            <a:avLst/>
          </a:prstGeom>
          <a:noFill/>
          <a:ln w="44450">
            <a:solidFill>
              <a:srgbClr val="C62828"/>
            </a:solidFill>
          </a:ln>
        </p:spPr>
        <p:txBody>
          <a:bodyPr rtlCol="0" anchor="ctr"/>
          <a:lstStyle/>
          <a:p>
            <a:pPr algn="ctr"/>
          </a:p>
        </p:txBody>
      </p:sp>
      <p:sp>
        <p:nvSpPr>
          <p:cNvPr id="14" name="Oval 13"/>
          <p:cNvSpPr/>
          <p:nvPr/>
        </p:nvSpPr>
        <p:spPr>
          <a:xfrm>
            <a:off x="7994849" y="4525987"/>
            <a:ext cx="176195" cy="836489"/>
          </a:xfrm>
          <a:prstGeom prst="ellipse">
            <a:avLst/>
          </a:prstGeom>
          <a:noFill/>
          <a:ln w="44450">
            <a:solidFill>
              <a:srgbClr val="1F5FAD"/>
            </a:solidFill>
          </a:ln>
        </p:spPr>
        <p:txBody>
          <a:bodyPr rtlCol="0" anchor="ctr"/>
          <a:lstStyle/>
          <a:p>
            <a:pPr algn="ctr"/>
          </a:p>
        </p:txBody>
      </p:sp>
      <p:sp>
        <p:nvSpPr>
          <p:cNvPr id="15" name="Oval 14"/>
          <p:cNvSpPr/>
          <p:nvPr/>
        </p:nvSpPr>
        <p:spPr>
          <a:xfrm>
            <a:off x="7720672" y="425941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49259" y="38934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249259" y="460795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250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crop and marks are for teaching.</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7.16 shows a bullish key reversal with some of the 16 reversal characteristics around it (p. 219).</a:t>
            </a:r>
          </a:p>
          <a:p>
            <a:pPr algn="l">
              <a:lnSpc>
                <a:spcPct val="105000"/>
              </a:lnSpc>
              <a:spcBef>
                <a:spcPts val="0"/>
              </a:spcBef>
              <a:spcAft>
                <a:spcPts val="1100"/>
              </a:spcAft>
            </a:pPr>
            <a:r>
              <a:rPr sz="1700" b="0" i="0">
                <a:solidFill>
                  <a:srgbClr val="1A1A1A"/>
                </a:solidFill>
                <a:latin typeface="Arial"/>
              </a:rPr>
              <a:t>The bar forms below the lower Bollinger band </a:t>
            </a:r>
            <a:r>
              <a:rPr sz="1700" b="1" i="0">
                <a:solidFill>
                  <a:srgbClr val="E09B00"/>
                </a:solidFill>
                <a:latin typeface="Arial"/>
              </a:rPr>
              <a:t>(1)</a:t>
            </a:r>
            <a:r>
              <a:rPr sz="1700" b="0" i="0">
                <a:solidFill>
                  <a:srgbClr val="1A1A1A"/>
                </a:solidFill>
                <a:latin typeface="Arial"/>
              </a:rPr>
              <a:t>, which Lim reads as an overextended or oversold condition. It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book draws Bollinger Bands but does not teach them in this chapter, so we read the band as a label, not a formula.</a:t>
            </a:r>
          </a:p>
        </p:txBody>
      </p:sp>
      <p:sp>
        <p:nvSpPr>
          <p:cNvPr id="8" name="Rectangle 7"/>
          <p:cNvSpPr/>
          <p:nvPr/>
        </p:nvSpPr>
        <p:spPr>
          <a:xfrm>
            <a:off x="5303519" y="1810512"/>
            <a:ext cx="6751015" cy="333744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09970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4250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price panel: the bullish key reversal bar forms below the lower Bollinger band and closes near its high.</a:t>
            </a:r>
          </a:p>
        </p:txBody>
      </p:sp>
      <p:sp>
        <p:nvSpPr>
          <p:cNvPr id="12" name="Oval 11"/>
          <p:cNvSpPr/>
          <p:nvPr/>
        </p:nvSpPr>
        <p:spPr>
          <a:xfrm>
            <a:off x="9402651" y="4330414"/>
            <a:ext cx="316544" cy="654967"/>
          </a:xfrm>
          <a:prstGeom prst="ellipse">
            <a:avLst/>
          </a:prstGeom>
          <a:noFill/>
          <a:ln w="44450">
            <a:solidFill>
              <a:srgbClr val="E09B00"/>
            </a:solidFill>
          </a:ln>
        </p:spPr>
        <p:txBody>
          <a:bodyPr rtlCol="0" anchor="ctr"/>
          <a:lstStyle/>
          <a:p>
            <a:pPr algn="ctr"/>
          </a:p>
        </p:txBody>
      </p:sp>
      <p:sp>
        <p:nvSpPr>
          <p:cNvPr id="13" name="Oval 12"/>
          <p:cNvSpPr/>
          <p:nvPr/>
        </p:nvSpPr>
        <p:spPr>
          <a:xfrm>
            <a:off x="9448244" y="3500933"/>
            <a:ext cx="270952" cy="436748"/>
          </a:xfrm>
          <a:prstGeom prst="ellipse">
            <a:avLst/>
          </a:prstGeom>
          <a:noFill/>
          <a:ln w="44450">
            <a:solidFill>
              <a:srgbClr val="C62828"/>
            </a:solidFill>
          </a:ln>
        </p:spPr>
        <p:txBody>
          <a:bodyPr rtlCol="0" anchor="ctr"/>
          <a:lstStyle/>
          <a:p>
            <a:pPr algn="ctr"/>
          </a:p>
        </p:txBody>
      </p:sp>
      <p:sp>
        <p:nvSpPr>
          <p:cNvPr id="14" name="Oval 13"/>
          <p:cNvSpPr/>
          <p:nvPr/>
        </p:nvSpPr>
        <p:spPr>
          <a:xfrm>
            <a:off x="9926013" y="461372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428399" y="323405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239399"/>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StochRSI and volume add to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lower panels of the same figure add two more warnings. StochRSI is at oversold </a:t>
            </a:r>
            <a:r>
              <a:rPr sz="1900" b="1" i="0">
                <a:solidFill>
                  <a:srgbClr val="1F5FAD"/>
                </a:solidFill>
                <a:latin typeface="Arial"/>
              </a:rPr>
              <a:t>(3)</a:t>
            </a:r>
            <a:r>
              <a:rPr sz="1900" b="0" i="0">
                <a:solidFill>
                  <a:srgbClr val="1A1A1A"/>
                </a:solidFill>
                <a:latin typeface="Arial"/>
              </a:rPr>
              <a:t>, and the key reversal bar trades on extreme volume </a:t>
            </a:r>
            <a:r>
              <a:rPr sz="1900" b="1" i="0">
                <a:solidFill>
                  <a:srgbClr val="7B3FA0"/>
                </a:solidFill>
                <a:latin typeface="Arial"/>
              </a:rPr>
              <a:t>(4)</a:t>
            </a:r>
            <a:r>
              <a:rPr sz="1900" b="0" i="0">
                <a:solidFill>
                  <a:srgbClr val="1A1A1A"/>
                </a:solidFill>
                <a:latin typeface="Arial"/>
              </a:rPr>
              <a:t> (p. 219).</a:t>
            </a:r>
          </a:p>
          <a:p>
            <a:pPr algn="l">
              <a:lnSpc>
                <a:spcPct val="105000"/>
              </a:lnSpc>
              <a:spcBef>
                <a:spcPts val="0"/>
              </a:spcBef>
              <a:spcAft>
                <a:spcPts val="1100"/>
              </a:spcAft>
            </a:pPr>
            <a:r>
              <a:rPr sz="1900" b="0" i="0">
                <a:solidFill>
                  <a:srgbClr val="1A1A1A"/>
                </a:solidFill>
                <a:latin typeface="Arial"/>
              </a:rPr>
              <a:t>Lim says these conditions point to a greater potential for a bullish reversal, and a close near the high on extreme volume suggests a selling climax (p. 219).</a:t>
            </a:r>
          </a:p>
        </p:txBody>
      </p:sp>
      <p:sp>
        <p:nvSpPr>
          <p:cNvPr id="8" name="Rectangle 7"/>
          <p:cNvSpPr/>
          <p:nvPr/>
        </p:nvSpPr>
        <p:spPr>
          <a:xfrm>
            <a:off x="5303519" y="1810512"/>
            <a:ext cx="6751015" cy="362668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38893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9317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StochRSI and volume panels: StochRSI is oversold and the key reversal bar has extreme volume.</a:t>
            </a:r>
          </a:p>
        </p:txBody>
      </p:sp>
      <p:sp>
        <p:nvSpPr>
          <p:cNvPr id="12" name="Oval 11"/>
          <p:cNvSpPr/>
          <p:nvPr/>
        </p:nvSpPr>
        <p:spPr>
          <a:xfrm>
            <a:off x="8577420" y="3108056"/>
            <a:ext cx="814158" cy="618819"/>
          </a:xfrm>
          <a:prstGeom prst="ellipse">
            <a:avLst/>
          </a:prstGeom>
          <a:noFill/>
          <a:ln w="44450">
            <a:solidFill>
              <a:srgbClr val="1F5FAD"/>
            </a:solidFill>
          </a:ln>
        </p:spPr>
        <p:txBody>
          <a:bodyPr rtlCol="0" anchor="ctr"/>
          <a:lstStyle/>
          <a:p>
            <a:pPr algn="ctr"/>
          </a:p>
        </p:txBody>
      </p:sp>
      <p:sp>
        <p:nvSpPr>
          <p:cNvPr id="13" name="Oval 12"/>
          <p:cNvSpPr/>
          <p:nvPr/>
        </p:nvSpPr>
        <p:spPr>
          <a:xfrm>
            <a:off x="9086106" y="3795671"/>
            <a:ext cx="305472" cy="1502993"/>
          </a:xfrm>
          <a:prstGeom prst="ellipse">
            <a:avLst/>
          </a:prstGeom>
          <a:noFill/>
          <a:ln w="44450">
            <a:solidFill>
              <a:srgbClr val="7B3FA0"/>
            </a:solidFill>
          </a:ln>
        </p:spPr>
        <p:txBody>
          <a:bodyPr rtlCol="0" anchor="ctr"/>
          <a:lstStyle/>
          <a:p>
            <a:pPr algn="ctr"/>
          </a:p>
        </p:txBody>
      </p:sp>
      <p:sp>
        <p:nvSpPr>
          <p:cNvPr id="14" name="Oval 13"/>
          <p:cNvSpPr/>
          <p:nvPr/>
        </p:nvSpPr>
        <p:spPr>
          <a:xfrm>
            <a:off x="8162220" y="324402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9485065" y="334230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TextBox 15"/>
          <p:cNvSpPr txBox="1"/>
          <p:nvPr/>
        </p:nvSpPr>
        <p:spPr>
          <a:xfrm>
            <a:off x="5303519" y="552863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219).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65</a:t>
            </a:r>
          </a:p>
        </p:txBody>
      </p:sp>
      <p:sp>
        <p:nvSpPr>
          <p:cNvPr id="7" name="TextBox 6"/>
          <p:cNvSpPr txBox="1"/>
          <p:nvPr/>
        </p:nvSpPr>
        <p:spPr>
          <a:xfrm>
            <a:off x="777240" y="1965960"/>
            <a:ext cx="3566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close near its high, and red </a:t>
            </a:r>
            <a:r>
              <a:rPr sz="1700" b="1" i="0">
                <a:solidFill>
                  <a:srgbClr val="C62828"/>
                </a:solidFill>
                <a:latin typeface="Arial"/>
              </a:rPr>
              <a:t>(2)</a:t>
            </a:r>
            <a:r>
              <a:rPr sz="1700" b="0" i="0">
                <a:solidFill>
                  <a:srgbClr val="1A1A1A"/>
                </a:solidFill>
                <a:latin typeface="Arial"/>
              </a:rPr>
              <a:t> the second close near its low.</a:t>
            </a:r>
          </a:p>
          <a:p>
            <a:pPr algn="l">
              <a:lnSpc>
                <a:spcPct val="105000"/>
              </a:lnSpc>
              <a:spcBef>
                <a:spcPts val="0"/>
              </a:spcBef>
              <a:spcAft>
                <a:spcPts val="1100"/>
              </a:spcAft>
            </a:pPr>
            <a:r>
              <a:rPr sz="1700" b="0" i="0">
                <a:solidFill>
                  <a:srgbClr val="1A1A1A"/>
                </a:solidFill>
                <a:latin typeface="Arial"/>
              </a:rPr>
              <a:t>The book says wider ranges would be preferable and labels bearish divergence with the commodity channel index (CCI) oscillator </a:t>
            </a:r>
            <a:r>
              <a:rPr sz="1700" b="1" i="0">
                <a:solidFill>
                  <a:srgbClr val="1F5FAD"/>
                </a:solidFill>
                <a:latin typeface="Arial"/>
              </a:rPr>
              <a:t>(3)</a:t>
            </a:r>
            <a:r>
              <a:rPr sz="1700" b="0" i="0">
                <a:solidFill>
                  <a:srgbClr val="1A1A1A"/>
                </a:solidFill>
                <a:latin typeface="Arial"/>
              </a:rPr>
              <a:t> (p. 221).</a:t>
            </a:r>
          </a:p>
          <a:p>
            <a:pPr algn="l">
              <a:lnSpc>
                <a:spcPct val="105000"/>
              </a:lnSpc>
              <a:spcBef>
                <a:spcPts val="0"/>
              </a:spcBef>
              <a:spcAft>
                <a:spcPts val="1100"/>
              </a:spcAft>
            </a:pPr>
            <a:r>
              <a:rPr sz="1700" b="0" i="0">
                <a:solidFill>
                  <a:srgbClr val="1A1A1A"/>
                </a:solidFill>
                <a:latin typeface="Arial"/>
              </a:rPr>
              <a:t>CCI is not defined in Chapter 7. Treat it as the book's supporting label, not a formula to calculate.</a:t>
            </a:r>
          </a:p>
        </p:txBody>
      </p:sp>
      <p:sp>
        <p:nvSpPr>
          <p:cNvPr id="8" name="Rectangle 7"/>
          <p:cNvSpPr/>
          <p:nvPr/>
        </p:nvSpPr>
        <p:spPr>
          <a:xfrm>
            <a:off x="5647027" y="1810512"/>
            <a:ext cx="551536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65899" y="1929384"/>
            <a:ext cx="527761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65899" y="1929384"/>
            <a:ext cx="527761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40219" y="2203703"/>
            <a:ext cx="472897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2" name="Oval 11"/>
          <p:cNvSpPr/>
          <p:nvPr/>
        </p:nvSpPr>
        <p:spPr>
          <a:xfrm>
            <a:off x="7813614" y="2140061"/>
            <a:ext cx="147773" cy="298460"/>
          </a:xfrm>
          <a:prstGeom prst="ellipse">
            <a:avLst/>
          </a:prstGeom>
          <a:noFill/>
          <a:ln w="44450">
            <a:solidFill>
              <a:srgbClr val="E09B00"/>
            </a:solidFill>
          </a:ln>
        </p:spPr>
        <p:txBody>
          <a:bodyPr rtlCol="0" anchor="ctr"/>
          <a:lstStyle/>
          <a:p>
            <a:pPr algn="ctr"/>
          </a:p>
        </p:txBody>
      </p:sp>
      <p:sp>
        <p:nvSpPr>
          <p:cNvPr id="13" name="Oval 12"/>
          <p:cNvSpPr/>
          <p:nvPr/>
        </p:nvSpPr>
        <p:spPr>
          <a:xfrm>
            <a:off x="7940277" y="2491191"/>
            <a:ext cx="147773" cy="298460"/>
          </a:xfrm>
          <a:prstGeom prst="ellipse">
            <a:avLst/>
          </a:prstGeom>
          <a:noFill/>
          <a:ln w="44450">
            <a:solidFill>
              <a:srgbClr val="C62828"/>
            </a:solidFill>
          </a:ln>
        </p:spPr>
        <p:txBody>
          <a:bodyPr rtlCol="0" anchor="ctr"/>
          <a:lstStyle/>
          <a:p>
            <a:pPr algn="ctr"/>
          </a:p>
        </p:txBody>
      </p:sp>
      <p:sp>
        <p:nvSpPr>
          <p:cNvPr id="14" name="Oval 13"/>
          <p:cNvSpPr/>
          <p:nvPr/>
        </p:nvSpPr>
        <p:spPr>
          <a:xfrm>
            <a:off x="7792503" y="5089550"/>
            <a:ext cx="364155" cy="316016"/>
          </a:xfrm>
          <a:prstGeom prst="ellipse">
            <a:avLst/>
          </a:prstGeom>
          <a:noFill/>
          <a:ln w="44450">
            <a:solidFill>
              <a:srgbClr val="1F5FAD"/>
            </a:solidFill>
          </a:ln>
        </p:spPr>
        <p:txBody>
          <a:bodyPr rtlCol="0" anchor="ctr"/>
          <a:lstStyle/>
          <a:p>
            <a:pPr algn="ctr"/>
          </a:p>
        </p:txBody>
      </p:sp>
      <p:sp>
        <p:nvSpPr>
          <p:cNvPr id="15" name="Oval 14"/>
          <p:cNvSpPr/>
          <p:nvPr/>
        </p:nvSpPr>
        <p:spPr>
          <a:xfrm>
            <a:off x="7239456" y="19952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14441"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239456" y="508516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663440" y="5650991"/>
            <a:ext cx="7482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221, Figure 7.17. The CCI label is reproduced as the book's observation, not taught as a formula.</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three-bar reversal with simple prices. Bar 1 runs from PHP 49.00 to PHP 52.20 and closes near its high, at PHP 52.00 </a:t>
            </a:r>
            <a:r>
              <a:rPr sz="1700" b="1" i="0">
                <a:solidFill>
                  <a:srgbClr val="E09B00"/>
                </a:solidFill>
                <a:latin typeface="Arial"/>
              </a:rPr>
              <a:t>(1)</a:t>
            </a:r>
            <a:r>
              <a:rPr sz="1700" b="0" i="0">
                <a:solidFill>
                  <a:srgbClr val="1A1A1A"/>
                </a:solidFill>
                <a:latin typeface="Arial"/>
              </a:rPr>
              <a:t>. Bar 2 is small: it stays between PHP 51.40 and PHP 52.40 and closes at PHP 51.70 </a:t>
            </a:r>
            <a:r>
              <a:rPr sz="1700" b="1" i="0">
                <a:solidFill>
                  <a:srgbClr val="C62828"/>
                </a:solidFill>
                <a:latin typeface="Arial"/>
              </a:rPr>
              <a:t>(2)</a:t>
            </a:r>
            <a:r>
              <a:rPr sz="1700" b="0" i="0">
                <a:solidFill>
                  <a:srgbClr val="1A1A1A"/>
                </a:solidFill>
                <a:latin typeface="Arial"/>
              </a:rPr>
              <a:t>. Bar 3 falls from PHP 52.10 to PHP 48.70 and closes near its low, at PHP 48.80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first close near the high and a third close near the low is the pattern Lim describes (p. 221).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65</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third price bars. Purple </a:t>
            </a:r>
            <a:r>
              <a:rPr sz="1700" b="1" i="0">
                <a:solidFill>
                  <a:srgbClr val="7B3FA0"/>
                </a:solidFill>
                <a:latin typeface="Arial"/>
              </a:rPr>
              <a:t>(4)</a:t>
            </a:r>
            <a:r>
              <a:rPr sz="1700" b="0" i="0">
                <a:solidFill>
                  <a:srgbClr val="1A1A1A"/>
                </a:solidFill>
                <a:latin typeface="Arial"/>
              </a:rPr>
              <a:t> marks bearish +DM divergence, a book label not defined here.</a:t>
            </a:r>
          </a:p>
          <a:p>
            <a:pPr algn="l">
              <a:lnSpc>
                <a:spcPct val="105000"/>
              </a:lnSpc>
              <a:spcBef>
                <a:spcPts val="0"/>
              </a:spcBef>
              <a:spcAft>
                <a:spcPts val="1100"/>
              </a:spcAft>
            </a:pPr>
            <a:r>
              <a:rPr sz="1700" b="0" i="0">
                <a:solidFill>
                  <a:srgbClr val="1A1A1A"/>
                </a:solidFill>
                <a:latin typeface="Arial"/>
              </a:rPr>
              <a:t>The pattern can warn of changing pressure; the later decline is not guaranteed (p. 221).</a:t>
            </a:r>
          </a:p>
        </p:txBody>
      </p:sp>
      <p:sp>
        <p:nvSpPr>
          <p:cNvPr id="8" name="Rectangle 7"/>
          <p:cNvSpPr/>
          <p:nvPr/>
        </p:nvSpPr>
        <p:spPr>
          <a:xfrm>
            <a:off x="61022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211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211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954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9740843" y="2333183"/>
            <a:ext cx="73737" cy="438911"/>
          </a:xfrm>
          <a:prstGeom prst="rect">
            <a:avLst/>
          </a:prstGeom>
          <a:noFill/>
          <a:ln w="44450">
            <a:solidFill>
              <a:srgbClr val="E09B00"/>
            </a:solidFill>
          </a:ln>
        </p:spPr>
        <p:txBody>
          <a:bodyPr rtlCol="0" anchor="ctr"/>
          <a:lstStyle/>
          <a:p>
            <a:pPr algn="ctr"/>
          </a:p>
        </p:txBody>
      </p:sp>
      <p:sp>
        <p:nvSpPr>
          <p:cNvPr id="13" name="Rectangle 12"/>
          <p:cNvSpPr/>
          <p:nvPr/>
        </p:nvSpPr>
        <p:spPr>
          <a:xfrm>
            <a:off x="9819496" y="2333183"/>
            <a:ext cx="73737" cy="438911"/>
          </a:xfrm>
          <a:prstGeom prst="rect">
            <a:avLst/>
          </a:prstGeom>
          <a:noFill/>
          <a:ln w="44450">
            <a:solidFill>
              <a:srgbClr val="C62828"/>
            </a:solidFill>
          </a:ln>
        </p:spPr>
        <p:txBody>
          <a:bodyPr rtlCol="0" anchor="ctr"/>
          <a:lstStyle/>
          <a:p>
            <a:pPr algn="ctr"/>
          </a:p>
        </p:txBody>
      </p:sp>
      <p:sp>
        <p:nvSpPr>
          <p:cNvPr id="14" name="Rectangle 13"/>
          <p:cNvSpPr/>
          <p:nvPr/>
        </p:nvSpPr>
        <p:spPr>
          <a:xfrm>
            <a:off x="9898149" y="2333183"/>
            <a:ext cx="68821" cy="438911"/>
          </a:xfrm>
          <a:prstGeom prst="rect">
            <a:avLst/>
          </a:prstGeom>
          <a:noFill/>
          <a:ln w="44450">
            <a:solidFill>
              <a:srgbClr val="1F5FAD"/>
            </a:solidFill>
          </a:ln>
        </p:spPr>
        <p:txBody>
          <a:bodyPr rtlCol="0" anchor="ctr"/>
          <a:lstStyle/>
          <a:p>
            <a:pPr algn="ctr"/>
          </a:p>
        </p:txBody>
      </p:sp>
      <p:sp>
        <p:nvSpPr>
          <p:cNvPr id="15" name="Oval 14"/>
          <p:cNvSpPr/>
          <p:nvPr/>
        </p:nvSpPr>
        <p:spPr>
          <a:xfrm>
            <a:off x="96621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552462" y="283793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27883" y="308372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906401" y="308372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404987" y="4786701"/>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three-bar reversal is the converse of the bearish one, at the end of a downtrend, and Lim adds a point about volume (p. 221). With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reversal reading, but guarantees nothing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660904" y="5069694"/>
            <a:ext cx="310895" cy="316121"/>
          </a:xfrm>
          <a:prstGeom prst="rect">
            <a:avLst/>
          </a:prstGeom>
          <a:noFill/>
          <a:ln w="44450">
            <a:solidFill>
              <a:srgbClr val="E09B00"/>
            </a:solidFill>
          </a:ln>
        </p:spPr>
        <p:txBody>
          <a:bodyPr rtlCol="0" anchor="ctr"/>
          <a:lstStyle/>
          <a:p>
            <a:pPr algn="ctr"/>
          </a:p>
        </p:txBody>
      </p:sp>
      <p:sp>
        <p:nvSpPr>
          <p:cNvPr id="10" name="Rectangle 9"/>
          <p:cNvSpPr/>
          <p:nvPr/>
        </p:nvSpPr>
        <p:spPr>
          <a:xfrm>
            <a:off x="6214719" y="5291763"/>
            <a:ext cx="310895" cy="94052"/>
          </a:xfrm>
          <a:prstGeom prst="rect">
            <a:avLst/>
          </a:prstGeom>
          <a:noFill/>
          <a:ln w="44450">
            <a:solidFill>
              <a:srgbClr val="C62828"/>
            </a:solidFill>
          </a:ln>
        </p:spPr>
        <p:txBody>
          <a:bodyPr rtlCol="0" anchor="ctr"/>
          <a:lstStyle/>
          <a:p>
            <a:pPr algn="ctr"/>
          </a:p>
        </p:txBody>
      </p:sp>
      <p:sp>
        <p:nvSpPr>
          <p:cNvPr id="11" name="Rectangle 10"/>
          <p:cNvSpPr/>
          <p:nvPr/>
        </p:nvSpPr>
        <p:spPr>
          <a:xfrm>
            <a:off x="9768535" y="5056631"/>
            <a:ext cx="310895" cy="329184"/>
          </a:xfrm>
          <a:prstGeom prst="rect">
            <a:avLst/>
          </a:prstGeom>
          <a:noFill/>
          <a:ln w="44450">
            <a:solidFill>
              <a:srgbClr val="1F5FAD"/>
            </a:solidFill>
          </a:ln>
        </p:spPr>
        <p:txBody>
          <a:bodyPr rtlCol="0" anchor="ctr"/>
          <a:lstStyle/>
          <a:p>
            <a:pPr algn="ctr"/>
          </a:p>
        </p:txBody>
      </p:sp>
      <p:sp>
        <p:nvSpPr>
          <p:cNvPr id="12" name="Oval 11"/>
          <p:cNvSpPr/>
          <p:nvPr/>
        </p:nvSpPr>
        <p:spPr>
          <a:xfrm>
            <a:off x="2971800" y="509973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53631" y="52107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9431" y="5093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65</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Figure 7.19 the middle bar </a:t>
            </a:r>
            <a:r>
              <a:rPr sz="2000" b="1" i="0">
                <a:solidFill>
                  <a:srgbClr val="C62828"/>
                </a:solidFill>
                <a:latin typeface="Arial"/>
              </a:rPr>
              <a:t>(2)</a:t>
            </a:r>
            <a:r>
              <a:rPr sz="2000" b="0" i="0">
                <a:solidFill>
                  <a:srgbClr val="1A1A1A"/>
                </a:solidFill>
                <a:latin typeface="Arial"/>
              </a:rPr>
              <a:t> trades on below-average volume, while the first </a:t>
            </a:r>
            <a:r>
              <a:rPr sz="2000" b="1" i="0">
                <a:solidFill>
                  <a:srgbClr val="E09B00"/>
                </a:solidFill>
                <a:latin typeface="Arial"/>
              </a:rPr>
              <a:t>(1)</a:t>
            </a:r>
            <a:r>
              <a:rPr sz="2000" b="0" i="0">
                <a:solidFill>
                  <a:srgbClr val="1A1A1A"/>
                </a:solidFill>
                <a:latin typeface="Arial"/>
              </a:rPr>
              <a:t> and third </a:t>
            </a:r>
            <a:r>
              <a:rPr sz="2000" b="1" i="0">
                <a:solidFill>
                  <a:srgbClr val="1F5FAD"/>
                </a:solidFill>
                <a:latin typeface="Arial"/>
              </a:rPr>
              <a:t>(3)</a:t>
            </a:r>
            <a:r>
              <a:rPr sz="2000" b="0" i="0">
                <a:solidFill>
                  <a:srgbClr val="1A1A1A"/>
                </a:solidFill>
                <a:latin typeface="Arial"/>
              </a:rPr>
              <a:t> bars close on high volume (p. 221).</a:t>
            </a:r>
          </a:p>
          <a:p>
            <a:pPr algn="l">
              <a:lnSpc>
                <a:spcPct val="105000"/>
              </a:lnSpc>
              <a:spcBef>
                <a:spcPts val="0"/>
              </a:spcBef>
              <a:spcAft>
                <a:spcPts val="1100"/>
              </a:spcAft>
            </a:pPr>
            <a:r>
              <a:rPr sz="2000" b="0" i="0">
                <a:solidFill>
                  <a:srgbClr val="1A1A1A"/>
                </a:solidFill>
                <a:latin typeface="Arial"/>
              </a:rPr>
              <a:t>That is the same quiet middle between busier outer bars as our worked example. It is an observation about this chart, not a guarantee.</a:t>
            </a:r>
          </a:p>
        </p:txBody>
      </p:sp>
      <p:sp>
        <p:nvSpPr>
          <p:cNvPr id="8" name="Rectangle 7"/>
          <p:cNvSpPr/>
          <p:nvPr/>
        </p:nvSpPr>
        <p:spPr>
          <a:xfrm>
            <a:off x="5759121" y="1810512"/>
            <a:ext cx="583981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77993" y="1929384"/>
            <a:ext cx="560206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77993" y="1929384"/>
            <a:ext cx="560206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2313" y="2203703"/>
            <a:ext cx="50534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8768660" y="4190658"/>
            <a:ext cx="134449" cy="1211397"/>
          </a:xfrm>
          <a:prstGeom prst="ellipse">
            <a:avLst/>
          </a:prstGeom>
          <a:noFill/>
          <a:ln w="44450">
            <a:solidFill>
              <a:srgbClr val="E09B00"/>
            </a:solidFill>
          </a:ln>
        </p:spPr>
        <p:txBody>
          <a:bodyPr rtlCol="0" anchor="ctr"/>
          <a:lstStyle/>
          <a:p>
            <a:pPr algn="ctr"/>
          </a:p>
        </p:txBody>
      </p:sp>
      <p:sp>
        <p:nvSpPr>
          <p:cNvPr id="13" name="Oval 12"/>
          <p:cNvSpPr/>
          <p:nvPr/>
        </p:nvSpPr>
        <p:spPr>
          <a:xfrm>
            <a:off x="8925518" y="4503163"/>
            <a:ext cx="134449" cy="898891"/>
          </a:xfrm>
          <a:prstGeom prst="ellipse">
            <a:avLst/>
          </a:prstGeom>
          <a:noFill/>
          <a:ln w="44450">
            <a:solidFill>
              <a:srgbClr val="C62828"/>
            </a:solidFill>
          </a:ln>
        </p:spPr>
        <p:txBody>
          <a:bodyPr rtlCol="0" anchor="ctr"/>
          <a:lstStyle/>
          <a:p>
            <a:pPr algn="ctr"/>
          </a:p>
        </p:txBody>
      </p:sp>
      <p:sp>
        <p:nvSpPr>
          <p:cNvPr id="14" name="Oval 13"/>
          <p:cNvSpPr/>
          <p:nvPr/>
        </p:nvSpPr>
        <p:spPr>
          <a:xfrm>
            <a:off x="9082376" y="4271418"/>
            <a:ext cx="123245" cy="1130637"/>
          </a:xfrm>
          <a:prstGeom prst="ellipse">
            <a:avLst/>
          </a:prstGeom>
          <a:noFill/>
          <a:ln w="44450">
            <a:solidFill>
              <a:srgbClr val="1F5FAD"/>
            </a:solidFill>
          </a:ln>
        </p:spPr>
        <p:txBody>
          <a:bodyPr rtlCol="0" anchor="ctr"/>
          <a:lstStyle/>
          <a:p>
            <a:pPr algn="ctr"/>
          </a:p>
        </p:txBody>
      </p:sp>
      <p:sp>
        <p:nvSpPr>
          <p:cNvPr id="15" name="Oval 14"/>
          <p:cNvSpPr/>
          <p:nvPr/>
        </p:nvSpPr>
        <p:spPr>
          <a:xfrm>
            <a:off x="8502074" y="377193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70973" y="377193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9139" y="377193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7.20 shows a bullish three-bar reversal </a:t>
            </a:r>
            <a:r>
              <a:rPr sz="1900" b="1" i="0">
                <a:solidFill>
                  <a:srgbClr val="E09B00"/>
                </a:solidFill>
                <a:latin typeface="Arial"/>
              </a:rPr>
              <a:t>(1)</a:t>
            </a:r>
            <a:r>
              <a:rPr sz="1900" b="0" i="0">
                <a:solidFill>
                  <a:srgbClr val="1A1A1A"/>
                </a:solidFill>
                <a:latin typeface="Arial"/>
              </a:rPr>
              <a:t> on the daily chart of ITC Holdings (p. 222).</a:t>
            </a:r>
          </a:p>
          <a:p>
            <a:pPr algn="l">
              <a:lnSpc>
                <a:spcPct val="105000"/>
              </a:lnSpc>
              <a:spcBef>
                <a:spcPts val="0"/>
              </a:spcBef>
              <a:spcAft>
                <a:spcPts val="1100"/>
              </a:spcAft>
            </a:pPr>
            <a:r>
              <a:rPr sz="1900" b="0" i="0">
                <a:solidFill>
                  <a:srgbClr val="1A1A1A"/>
                </a:solidFill>
                <a:latin typeface="Arial"/>
              </a:rPr>
              <a:t>Lim notes that the last bar closes between the Bollinger bands </a:t>
            </a:r>
            <a:r>
              <a:rPr sz="1900" b="1" i="0">
                <a:solidFill>
                  <a:srgbClr val="C62828"/>
                </a:solidFill>
                <a:latin typeface="Arial"/>
              </a:rPr>
              <a:t>(2)</a:t>
            </a:r>
            <a:r>
              <a:rPr sz="1900" b="0" i="0">
                <a:solidFill>
                  <a:srgbClr val="1A1A1A"/>
                </a:solidFill>
                <a:latin typeface="Arial"/>
              </a:rPr>
              <a:t>, which is bullish, and that the pattern matches pattern 5 in Figure 7.9, which Part 2 called bullish triple form 5: the third bar engulfs the second (p. 222).</a:t>
            </a:r>
          </a:p>
        </p:txBody>
      </p:sp>
      <p:sp>
        <p:nvSpPr>
          <p:cNvPr id="8" name="Rectangle 7"/>
          <p:cNvSpPr/>
          <p:nvPr/>
        </p:nvSpPr>
        <p:spPr>
          <a:xfrm>
            <a:off x="5445740" y="1810512"/>
            <a:ext cx="64665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64612" y="1929384"/>
            <a:ext cx="62288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64612" y="1929384"/>
            <a:ext cx="62288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38932" y="2203703"/>
            <a:ext cx="5680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price panel: the three-bar bottom reversal and its last bar closing above the lower Bollinger band.</a:t>
            </a:r>
          </a:p>
        </p:txBody>
      </p:sp>
      <p:sp>
        <p:nvSpPr>
          <p:cNvPr id="12" name="Rectangle 11"/>
          <p:cNvSpPr/>
          <p:nvPr/>
        </p:nvSpPr>
        <p:spPr>
          <a:xfrm>
            <a:off x="8295954" y="4128859"/>
            <a:ext cx="383073" cy="1195947"/>
          </a:xfrm>
          <a:prstGeom prst="rect">
            <a:avLst/>
          </a:prstGeom>
          <a:noFill/>
          <a:ln w="44450">
            <a:solidFill>
              <a:srgbClr val="E09B00"/>
            </a:solidFill>
          </a:ln>
        </p:spPr>
        <p:txBody>
          <a:bodyPr rtlCol="0" anchor="ctr"/>
          <a:lstStyle/>
          <a:p>
            <a:pPr algn="ctr"/>
          </a:p>
        </p:txBody>
      </p:sp>
      <p:sp>
        <p:nvSpPr>
          <p:cNvPr id="13" name="Oval 12"/>
          <p:cNvSpPr/>
          <p:nvPr/>
        </p:nvSpPr>
        <p:spPr>
          <a:xfrm>
            <a:off x="8487179" y="4167484"/>
            <a:ext cx="239809" cy="462788"/>
          </a:xfrm>
          <a:prstGeom prst="ellipse">
            <a:avLst/>
          </a:prstGeom>
          <a:noFill/>
          <a:ln w="44450">
            <a:solidFill>
              <a:srgbClr val="C62828"/>
            </a:solidFill>
          </a:ln>
        </p:spPr>
        <p:txBody>
          <a:bodyPr rtlCol="0" anchor="ctr"/>
          <a:lstStyle/>
          <a:p>
            <a:pPr algn="ctr"/>
          </a:p>
        </p:txBody>
      </p:sp>
      <p:sp>
        <p:nvSpPr>
          <p:cNvPr id="14" name="Oval 13"/>
          <p:cNvSpPr/>
          <p:nvPr/>
        </p:nvSpPr>
        <p:spPr>
          <a:xfrm>
            <a:off x="7946416" y="45977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857071" y="382601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whole three-bar pattern forms while StochRSI is oversold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panel under the same chart shows that the entire pattern occurs on an oversold condition on the StochRSI </a:t>
            </a:r>
            <a:r>
              <a:rPr sz="2000" b="1" i="0">
                <a:solidFill>
                  <a:srgbClr val="1F5FAD"/>
                </a:solidFill>
                <a:latin typeface="Arial"/>
              </a:rPr>
              <a:t>(3)</a:t>
            </a:r>
            <a:r>
              <a:rPr sz="2000" b="0" i="0">
                <a:solidFill>
                  <a:srgbClr val="1A1A1A"/>
                </a:solidFill>
                <a:latin typeface="Arial"/>
              </a:rPr>
              <a:t> (p. 222).</a:t>
            </a:r>
          </a:p>
          <a:p>
            <a:pPr algn="l">
              <a:lnSpc>
                <a:spcPct val="105000"/>
              </a:lnSpc>
              <a:spcBef>
                <a:spcPts val="0"/>
              </a:spcBef>
              <a:spcAft>
                <a:spcPts val="1100"/>
              </a:spcAft>
            </a:pPr>
            <a:r>
              <a:rPr sz="2000" b="0" i="0">
                <a:solidFill>
                  <a:srgbClr val="1A1A1A"/>
                </a:solidFill>
                <a:latin typeface="Arial"/>
              </a:rPr>
              <a:t>The book gives no formula for StochRSI in this chapter, so this is context rather than a method to calculate.</a:t>
            </a:r>
          </a:p>
        </p:txBody>
      </p:sp>
      <p:sp>
        <p:nvSpPr>
          <p:cNvPr id="8" name="Rectangle 7"/>
          <p:cNvSpPr/>
          <p:nvPr/>
        </p:nvSpPr>
        <p:spPr>
          <a:xfrm>
            <a:off x="5303519" y="1810512"/>
            <a:ext cx="6751015" cy="205339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181564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35844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StochRSI panel: the oversold reading under the three-bar reversal.</a:t>
            </a:r>
          </a:p>
        </p:txBody>
      </p:sp>
      <p:sp>
        <p:nvSpPr>
          <p:cNvPr id="12" name="Oval 11"/>
          <p:cNvSpPr/>
          <p:nvPr/>
        </p:nvSpPr>
        <p:spPr>
          <a:xfrm>
            <a:off x="8128004" y="3059079"/>
            <a:ext cx="601174" cy="605336"/>
          </a:xfrm>
          <a:prstGeom prst="ellipse">
            <a:avLst/>
          </a:prstGeom>
          <a:noFill/>
          <a:ln w="44450">
            <a:solidFill>
              <a:srgbClr val="1F5FAD"/>
            </a:solidFill>
          </a:ln>
        </p:spPr>
        <p:txBody>
          <a:bodyPr rtlCol="0" anchor="ctr"/>
          <a:lstStyle/>
          <a:p>
            <a:pPr algn="ctr"/>
          </a:p>
        </p:txBody>
      </p:sp>
      <p:sp>
        <p:nvSpPr>
          <p:cNvPr id="13" name="Oval 12"/>
          <p:cNvSpPr/>
          <p:nvPr/>
        </p:nvSpPr>
        <p:spPr>
          <a:xfrm>
            <a:off x="7767515" y="315106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TextBox 13"/>
          <p:cNvSpPr txBox="1"/>
          <p:nvPr/>
        </p:nvSpPr>
        <p:spPr>
          <a:xfrm>
            <a:off x="5303519" y="395534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7.21 first shows a bullish three-bar reversal </a:t>
            </a:r>
            <a:r>
              <a:rPr sz="2000" b="1" i="0">
                <a:solidFill>
                  <a:srgbClr val="E09B00"/>
                </a:solidFill>
                <a:latin typeface="Arial"/>
              </a:rPr>
              <a:t>(1)</a:t>
            </a:r>
            <a:r>
              <a:rPr sz="2000" b="0" i="0">
                <a:solidFill>
                  <a:srgbClr val="1A1A1A"/>
                </a:solidFill>
                <a:latin typeface="Arial"/>
              </a:rPr>
              <a:t>, whose large third bar closes near its high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Later, a separate outside day engulfs four preceding bars </a:t>
            </a:r>
            <a:r>
              <a:rPr sz="2000" b="1" i="0">
                <a:solidFill>
                  <a:srgbClr val="7B3FA0"/>
                </a:solidFill>
                <a:latin typeface="Arial"/>
              </a:rPr>
              <a:t>(4)</a:t>
            </a:r>
            <a:r>
              <a:rPr sz="2000" b="0" i="0">
                <a:solidFill>
                  <a:srgbClr val="1A1A1A"/>
                </a:solidFill>
                <a:latin typeface="Arial"/>
              </a:rPr>
              <a:t> and closes near its low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Keep the two apart: the outside day is a new event, not part of the three-bar count (p. 222).</a:t>
            </a:r>
          </a:p>
        </p:txBody>
      </p:sp>
      <p:sp>
        <p:nvSpPr>
          <p:cNvPr id="8" name="Rectangle 7"/>
          <p:cNvSpPr/>
          <p:nvPr/>
        </p:nvSpPr>
        <p:spPr>
          <a:xfrm>
            <a:off x="5790878" y="1810512"/>
            <a:ext cx="513621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9750" y="1929384"/>
            <a:ext cx="489847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9750" y="1929384"/>
            <a:ext cx="48984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84070" y="2203703"/>
            <a:ext cx="434983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2" name="Rectangle 11"/>
          <p:cNvSpPr/>
          <p:nvPr/>
        </p:nvSpPr>
        <p:spPr>
          <a:xfrm>
            <a:off x="7795662" y="3544580"/>
            <a:ext cx="342893" cy="948049"/>
          </a:xfrm>
          <a:prstGeom prst="rect">
            <a:avLst/>
          </a:prstGeom>
          <a:noFill/>
          <a:ln w="44450">
            <a:solidFill>
              <a:srgbClr val="E09B00"/>
            </a:solidFill>
          </a:ln>
        </p:spPr>
        <p:txBody>
          <a:bodyPr rtlCol="0" anchor="ctr"/>
          <a:lstStyle/>
          <a:p>
            <a:pPr algn="ctr"/>
          </a:p>
        </p:txBody>
      </p:sp>
      <p:sp>
        <p:nvSpPr>
          <p:cNvPr id="13" name="Oval 12"/>
          <p:cNvSpPr/>
          <p:nvPr/>
        </p:nvSpPr>
        <p:spPr>
          <a:xfrm>
            <a:off x="8016094" y="3597249"/>
            <a:ext cx="146954" cy="210677"/>
          </a:xfrm>
          <a:prstGeom prst="ellipse">
            <a:avLst/>
          </a:prstGeom>
          <a:noFill/>
          <a:ln w="44450">
            <a:solidFill>
              <a:srgbClr val="C62828"/>
            </a:solidFill>
          </a:ln>
        </p:spPr>
        <p:txBody>
          <a:bodyPr rtlCol="0" anchor="ctr"/>
          <a:lstStyle/>
          <a:p>
            <a:pPr algn="ctr"/>
          </a:p>
        </p:txBody>
      </p:sp>
      <p:sp>
        <p:nvSpPr>
          <p:cNvPr id="14" name="Oval 13"/>
          <p:cNvSpPr/>
          <p:nvPr/>
        </p:nvSpPr>
        <p:spPr>
          <a:xfrm>
            <a:off x="9314190" y="2561417"/>
            <a:ext cx="146954" cy="245790"/>
          </a:xfrm>
          <a:prstGeom prst="ellipse">
            <a:avLst/>
          </a:prstGeom>
          <a:noFill/>
          <a:ln w="44450">
            <a:solidFill>
              <a:srgbClr val="1F5FAD"/>
            </a:solidFill>
          </a:ln>
        </p:spPr>
        <p:txBody>
          <a:bodyPr rtlCol="0" anchor="ctr"/>
          <a:lstStyle/>
          <a:p>
            <a:pPr algn="ctr"/>
          </a:p>
        </p:txBody>
      </p:sp>
      <p:sp>
        <p:nvSpPr>
          <p:cNvPr id="15" name="Rectangle 14"/>
          <p:cNvSpPr/>
          <p:nvPr/>
        </p:nvSpPr>
        <p:spPr>
          <a:xfrm>
            <a:off x="9034977" y="2333183"/>
            <a:ext cx="264517" cy="438911"/>
          </a:xfrm>
          <a:prstGeom prst="rect">
            <a:avLst/>
          </a:prstGeom>
          <a:noFill/>
          <a:ln w="44450">
            <a:solidFill>
              <a:srgbClr val="7B3FA0"/>
            </a:solidFill>
          </a:ln>
        </p:spPr>
        <p:txBody>
          <a:bodyPr rtlCol="0" anchor="ctr"/>
          <a:lstStyle/>
          <a:p>
            <a:pPr algn="ctr"/>
          </a:p>
        </p:txBody>
      </p:sp>
      <p:sp>
        <p:nvSpPr>
          <p:cNvPr id="16" name="Oval 15"/>
          <p:cNvSpPr/>
          <p:nvPr/>
        </p:nvSpPr>
        <p:spPr>
          <a:xfrm>
            <a:off x="7538980" y="399665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02305" y="32241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449385" y="257458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8837076" y="217078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 Part 2's bullish triple form 6: a close above the middle bar's high (p. 223).</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a:t>
            </a:r>
          </a:p>
        </p:txBody>
      </p:sp>
      <p:sp>
        <p:nvSpPr>
          <p:cNvPr id="8" name="Rectangle 7"/>
          <p:cNvSpPr/>
          <p:nvPr/>
        </p:nvSpPr>
        <p:spPr>
          <a:xfrm>
            <a:off x="5656935" y="1810512"/>
            <a:ext cx="5404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75807" y="1929384"/>
            <a:ext cx="5166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75807" y="1929384"/>
            <a:ext cx="5166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50127" y="2203703"/>
            <a:ext cx="4617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2" name="Oval 11"/>
          <p:cNvSpPr/>
          <p:nvPr/>
        </p:nvSpPr>
        <p:spPr>
          <a:xfrm>
            <a:off x="8193663" y="4562856"/>
            <a:ext cx="103327" cy="512649"/>
          </a:xfrm>
          <a:prstGeom prst="ellipse">
            <a:avLst/>
          </a:prstGeom>
          <a:noFill/>
          <a:ln w="44450">
            <a:solidFill>
              <a:srgbClr val="E09B00"/>
            </a:solidFill>
          </a:ln>
        </p:spPr>
        <p:txBody>
          <a:bodyPr rtlCol="0" anchor="ctr"/>
          <a:lstStyle/>
          <a:p>
            <a:pPr algn="ctr"/>
          </a:p>
        </p:txBody>
      </p:sp>
      <p:sp>
        <p:nvSpPr>
          <p:cNvPr id="13" name="Rectangle 12"/>
          <p:cNvSpPr/>
          <p:nvPr/>
        </p:nvSpPr>
        <p:spPr>
          <a:xfrm>
            <a:off x="8296991" y="3923800"/>
            <a:ext cx="98160" cy="530205"/>
          </a:xfrm>
          <a:prstGeom prst="rect">
            <a:avLst/>
          </a:prstGeom>
          <a:noFill/>
          <a:ln w="44450">
            <a:solidFill>
              <a:srgbClr val="C62828"/>
            </a:solidFill>
          </a:ln>
        </p:spPr>
        <p:txBody>
          <a:bodyPr rtlCol="0" anchor="ctr"/>
          <a:lstStyle/>
          <a:p>
            <a:pPr algn="ctr"/>
          </a:p>
        </p:txBody>
      </p:sp>
      <p:sp>
        <p:nvSpPr>
          <p:cNvPr id="14" name="Oval 13"/>
          <p:cNvSpPr/>
          <p:nvPr/>
        </p:nvSpPr>
        <p:spPr>
          <a:xfrm>
            <a:off x="8307323" y="4854293"/>
            <a:ext cx="77495" cy="256324"/>
          </a:xfrm>
          <a:prstGeom prst="ellipse">
            <a:avLst/>
          </a:prstGeom>
          <a:noFill/>
          <a:ln w="44450">
            <a:solidFill>
              <a:srgbClr val="1F5FAD"/>
            </a:solidFill>
          </a:ln>
        </p:spPr>
        <p:txBody>
          <a:bodyPr rtlCol="0" anchor="ctr"/>
          <a:lstStyle/>
          <a:p>
            <a:pPr algn="ctr"/>
          </a:p>
        </p:txBody>
      </p:sp>
      <p:sp>
        <p:nvSpPr>
          <p:cNvPr id="15" name="Oval 14"/>
          <p:cNvSpPr/>
          <p:nvPr/>
        </p:nvSpPr>
        <p:spPr>
          <a:xfrm>
            <a:off x="7934705" y="458900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89289" y="36974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51341" y="4659233"/>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65</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gap up, the island, and the gap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island reversal is a group of bars cut off from the rest of the chart by two gaps.</a:t>
            </a:r>
          </a:p>
          <a:p>
            <a:pPr algn="l">
              <a:lnSpc>
                <a:spcPct val="105000"/>
              </a:lnSpc>
              <a:spcBef>
                <a:spcPts val="0"/>
              </a:spcBef>
              <a:spcAft>
                <a:spcPts val="1100"/>
              </a:spcAft>
            </a:pPr>
            <a:r>
              <a:rPr sz="2000" b="0" i="0">
                <a:solidFill>
                  <a:srgbClr val="1A1A1A"/>
                </a:solidFill>
                <a:latin typeface="Arial"/>
              </a:rPr>
              <a:t>In Figure 7.23 the gap up </a:t>
            </a:r>
            <a:r>
              <a:rPr sz="2000" b="1" i="0">
                <a:solidFill>
                  <a:srgbClr val="E09B00"/>
                </a:solidFill>
                <a:latin typeface="Arial"/>
              </a:rPr>
              <a:t>(1)</a:t>
            </a:r>
            <a:r>
              <a:rPr sz="2000" b="0" i="0">
                <a:solidFill>
                  <a:srgbClr val="1A1A1A"/>
                </a:solidFill>
                <a:latin typeface="Arial"/>
              </a:rPr>
              <a:t> comes first, then the isolated island </a:t>
            </a:r>
            <a:r>
              <a:rPr sz="2000" b="1" i="0">
                <a:solidFill>
                  <a:srgbClr val="C62828"/>
                </a:solidFill>
                <a:latin typeface="Arial"/>
              </a:rPr>
              <a:t>(2)</a:t>
            </a:r>
            <a:r>
              <a:rPr sz="2000" b="0" i="0">
                <a:solidFill>
                  <a:srgbClr val="1A1A1A"/>
                </a:solidFill>
                <a:latin typeface="Arial"/>
              </a:rPr>
              <a:t>, then the gap down </a:t>
            </a:r>
            <a:r>
              <a:rPr sz="2000" b="1" i="0">
                <a:solidFill>
                  <a:srgbClr val="1F5FAD"/>
                </a:solidFill>
                <a:latin typeface="Arial"/>
              </a:rPr>
              <a:t>(3)</a:t>
            </a:r>
            <a:r>
              <a:rPr sz="2000" b="0" i="0">
                <a:solidFill>
                  <a:srgbClr val="1A1A1A"/>
                </a:solidFill>
                <a:latin typeface="Arial"/>
              </a:rPr>
              <a:t> (p. 223). Together the two gaps leave the island standing on its own.</a:t>
            </a:r>
          </a:p>
        </p:txBody>
      </p:sp>
      <p:sp>
        <p:nvSpPr>
          <p:cNvPr id="8" name="Rectangle 7"/>
          <p:cNvSpPr/>
          <p:nvPr/>
        </p:nvSpPr>
        <p:spPr>
          <a:xfrm>
            <a:off x="5303519" y="1810512"/>
            <a:ext cx="6751015" cy="336145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12370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6650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price panel: a gap up, an isolated group of bars, and a gap down.</a:t>
            </a:r>
          </a:p>
        </p:txBody>
      </p:sp>
      <p:sp>
        <p:nvSpPr>
          <p:cNvPr id="12" name="Oval 11"/>
          <p:cNvSpPr/>
          <p:nvPr/>
        </p:nvSpPr>
        <p:spPr>
          <a:xfrm>
            <a:off x="7576982" y="3591822"/>
            <a:ext cx="350413" cy="730635"/>
          </a:xfrm>
          <a:prstGeom prst="ellipse">
            <a:avLst/>
          </a:prstGeom>
          <a:noFill/>
          <a:ln w="44450">
            <a:solidFill>
              <a:srgbClr val="E09B00"/>
            </a:solidFill>
          </a:ln>
        </p:spPr>
        <p:txBody>
          <a:bodyPr rtlCol="0" anchor="ctr"/>
          <a:lstStyle/>
          <a:p>
            <a:pPr algn="ctr"/>
          </a:p>
        </p:txBody>
      </p:sp>
      <p:sp>
        <p:nvSpPr>
          <p:cNvPr id="13" name="Rectangle 12"/>
          <p:cNvSpPr/>
          <p:nvPr/>
        </p:nvSpPr>
        <p:spPr>
          <a:xfrm>
            <a:off x="7627134" y="1929384"/>
            <a:ext cx="1152197" cy="2347467"/>
          </a:xfrm>
          <a:prstGeom prst="rect">
            <a:avLst/>
          </a:prstGeom>
          <a:noFill/>
          <a:ln w="44450">
            <a:solidFill>
              <a:srgbClr val="C62828"/>
            </a:solidFill>
          </a:ln>
        </p:spPr>
        <p:txBody>
          <a:bodyPr rtlCol="0" anchor="ctr"/>
          <a:lstStyle/>
          <a:p>
            <a:pPr algn="ctr"/>
          </a:p>
        </p:txBody>
      </p:sp>
      <p:sp>
        <p:nvSpPr>
          <p:cNvPr id="14" name="Oval 13"/>
          <p:cNvSpPr/>
          <p:nvPr/>
        </p:nvSpPr>
        <p:spPr>
          <a:xfrm>
            <a:off x="8578723" y="3226348"/>
            <a:ext cx="351065" cy="730635"/>
          </a:xfrm>
          <a:prstGeom prst="ellipse">
            <a:avLst/>
          </a:prstGeom>
          <a:noFill/>
          <a:ln w="44450">
            <a:solidFill>
              <a:srgbClr val="1F5FAD"/>
            </a:solidFill>
          </a:ln>
        </p:spPr>
        <p:txBody>
          <a:bodyPr rtlCol="0" anchor="ctr"/>
          <a:lstStyle/>
          <a:p>
            <a:pPr algn="ctr"/>
          </a:p>
        </p:txBody>
      </p:sp>
      <p:sp>
        <p:nvSpPr>
          <p:cNvPr id="15" name="Oval 14"/>
          <p:cNvSpPr/>
          <p:nvPr/>
        </p:nvSpPr>
        <p:spPr>
          <a:xfrm>
            <a:off x="7066036" y="40299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20060" y="265993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71083" y="37560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263405"/>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adds volume and stochastic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 notes that the whole island forms on low volume </a:t>
            </a:r>
            <a:r>
              <a:rPr sz="1900" b="1" i="0">
                <a:solidFill>
                  <a:srgbClr val="7B3FA0"/>
                </a:solidFill>
                <a:latin typeface="Arial"/>
              </a:rPr>
              <a:t>(4)</a:t>
            </a:r>
            <a:r>
              <a:rPr sz="1900" b="0" i="0">
                <a:solidFill>
                  <a:srgbClr val="1A1A1A"/>
                </a:solidFill>
                <a:latin typeface="Arial"/>
              </a:rPr>
              <a:t>, which shows a lack of conviction by market participants, and on overbought conditions on the stochastic oscillator </a:t>
            </a:r>
            <a:r>
              <a:rPr sz="1900" b="1" i="0">
                <a:solidFill>
                  <a:srgbClr val="007A33"/>
                </a:solidFill>
                <a:latin typeface="Arial"/>
              </a:rPr>
              <a:t>(5)</a:t>
            </a:r>
            <a:r>
              <a:rPr sz="1900" b="0" i="0">
                <a:solidFill>
                  <a:srgbClr val="1A1A1A"/>
                </a:solidFill>
                <a:latin typeface="Arial"/>
              </a:rPr>
              <a:t> (p. 223).</a:t>
            </a:r>
          </a:p>
          <a:p>
            <a:pPr algn="l">
              <a:lnSpc>
                <a:spcPct val="105000"/>
              </a:lnSpc>
              <a:spcBef>
                <a:spcPts val="0"/>
              </a:spcBef>
              <a:spcAft>
                <a:spcPts val="1100"/>
              </a:spcAft>
            </a:pPr>
            <a:r>
              <a:rPr sz="1900" b="0" i="0">
                <a:solidFill>
                  <a:srgbClr val="1A1A1A"/>
                </a:solidFill>
                <a:latin typeface="Arial"/>
              </a:rPr>
              <a:t>No stochastic method is given in this chapter, so these labels are context, and the island remains a potential warning.</a:t>
            </a:r>
          </a:p>
        </p:txBody>
      </p:sp>
      <p:sp>
        <p:nvSpPr>
          <p:cNvPr id="8" name="Rectangle 7"/>
          <p:cNvSpPr/>
          <p:nvPr/>
        </p:nvSpPr>
        <p:spPr>
          <a:xfrm>
            <a:off x="5303519" y="1810512"/>
            <a:ext cx="6751015" cy="264609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240835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9511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volume and stochastic panels: low volume under the island and an overbought stochastic reading.</a:t>
            </a:r>
          </a:p>
        </p:txBody>
      </p:sp>
      <p:sp>
        <p:nvSpPr>
          <p:cNvPr id="12" name="Rectangle 11"/>
          <p:cNvSpPr/>
          <p:nvPr/>
        </p:nvSpPr>
        <p:spPr>
          <a:xfrm>
            <a:off x="8555926" y="2825532"/>
            <a:ext cx="1352155" cy="728045"/>
          </a:xfrm>
          <a:prstGeom prst="rect">
            <a:avLst/>
          </a:prstGeom>
          <a:noFill/>
          <a:ln w="44450">
            <a:solidFill>
              <a:srgbClr val="7B3FA0"/>
            </a:solidFill>
          </a:ln>
        </p:spPr>
        <p:txBody>
          <a:bodyPr rtlCol="0" anchor="ctr"/>
          <a:lstStyle/>
          <a:p>
            <a:pPr algn="ctr"/>
          </a:p>
        </p:txBody>
      </p:sp>
      <p:sp>
        <p:nvSpPr>
          <p:cNvPr id="13" name="Rectangle 12"/>
          <p:cNvSpPr/>
          <p:nvPr/>
        </p:nvSpPr>
        <p:spPr>
          <a:xfrm>
            <a:off x="8555926" y="3609693"/>
            <a:ext cx="737302" cy="559942"/>
          </a:xfrm>
          <a:prstGeom prst="rect">
            <a:avLst/>
          </a:prstGeom>
          <a:noFill/>
          <a:ln w="44450">
            <a:solidFill>
              <a:srgbClr val="007A33"/>
            </a:solidFill>
          </a:ln>
        </p:spPr>
        <p:txBody>
          <a:bodyPr rtlCol="0" anchor="ctr"/>
          <a:lstStyle/>
          <a:p>
            <a:pPr algn="ctr"/>
          </a:p>
        </p:txBody>
      </p:sp>
      <p:sp>
        <p:nvSpPr>
          <p:cNvPr id="14" name="Oval 13"/>
          <p:cNvSpPr/>
          <p:nvPr/>
        </p:nvSpPr>
        <p:spPr>
          <a:xfrm>
            <a:off x="9982679" y="271580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8200648" y="3892045"/>
            <a:ext cx="219456" cy="21945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6" name="TextBox 15"/>
          <p:cNvSpPr txBox="1"/>
          <p:nvPr/>
        </p:nvSpPr>
        <p:spPr>
          <a:xfrm>
            <a:off x="5303519" y="454805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does Chapter 7 treat the overbought stochastic label beside the island?</a:t>
            </a:r>
          </a:p>
        </p:txBody>
      </p:sp>
      <p:sp>
        <p:nvSpPr>
          <p:cNvPr id="13" name="TextBox 12"/>
          <p:cNvSpPr txBox="1"/>
          <p:nvPr/>
        </p:nvSpPr>
        <p:spPr>
          <a:xfrm>
            <a:off x="1005840" y="4199128"/>
            <a:ext cx="411480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5669279" y="1207008"/>
            <a:ext cx="5745175" cy="287906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64131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841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731589"/>
            <a:ext cx="296299" cy="617804"/>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84950"/>
          </a:xfrm>
          <a:prstGeom prst="rect">
            <a:avLst/>
          </a:prstGeom>
          <a:noFill/>
          <a:ln w="44450">
            <a:solidFill>
              <a:srgbClr val="C62828"/>
            </a:solidFill>
          </a:ln>
        </p:spPr>
        <p:txBody>
          <a:bodyPr rtlCol="0" anchor="ctr"/>
          <a:lstStyle/>
          <a:p>
            <a:pPr algn="ctr"/>
          </a:p>
        </p:txBody>
      </p:sp>
      <p:sp>
        <p:nvSpPr>
          <p:cNvPr id="20" name="Oval 19"/>
          <p:cNvSpPr/>
          <p:nvPr/>
        </p:nvSpPr>
        <p:spPr>
          <a:xfrm>
            <a:off x="8457053" y="2422554"/>
            <a:ext cx="296850" cy="617804"/>
          </a:xfrm>
          <a:prstGeom prst="ellipse">
            <a:avLst/>
          </a:prstGeom>
          <a:noFill/>
          <a:ln w="44450">
            <a:solidFill>
              <a:srgbClr val="1F5FAD"/>
            </a:solidFill>
          </a:ln>
        </p:spPr>
        <p:txBody>
          <a:bodyPr rtlCol="0" anchor="ctr"/>
          <a:lstStyle/>
          <a:p>
            <a:pPr algn="ctr"/>
          </a:p>
        </p:txBody>
      </p:sp>
      <p:sp>
        <p:nvSpPr>
          <p:cNvPr id="21" name="Oval 20"/>
          <p:cNvSpPr/>
          <p:nvPr/>
        </p:nvSpPr>
        <p:spPr>
          <a:xfrm>
            <a:off x="7161024" y="308514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2666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535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177509"/>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0215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0215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392043"/>
            <a:ext cx="45720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92043"/>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74923"/>
            <a:ext cx="40233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does Chapter 7 treat the overbought stochastic label beside the island?</a:t>
            </a:r>
          </a:p>
        </p:txBody>
      </p:sp>
      <p:sp>
        <p:nvSpPr>
          <p:cNvPr id="13" name="TextBox 12"/>
          <p:cNvSpPr txBox="1"/>
          <p:nvPr/>
        </p:nvSpPr>
        <p:spPr>
          <a:xfrm>
            <a:off x="1097280" y="4502658"/>
            <a:ext cx="40233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Lim shows it as supporting context, and Chapter 7 gives no stochastic method (p. 223).</a:t>
            </a:r>
          </a:p>
        </p:txBody>
      </p:sp>
      <p:sp>
        <p:nvSpPr>
          <p:cNvPr id="14" name="Rectangle 13"/>
          <p:cNvSpPr/>
          <p:nvPr/>
        </p:nvSpPr>
        <p:spPr>
          <a:xfrm>
            <a:off x="5669279" y="1207008"/>
            <a:ext cx="5745175" cy="280021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56247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0527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689627"/>
            <a:ext cx="296299" cy="599362"/>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25697"/>
          </a:xfrm>
          <a:prstGeom prst="rect">
            <a:avLst/>
          </a:prstGeom>
          <a:noFill/>
          <a:ln w="44450">
            <a:solidFill>
              <a:srgbClr val="C62828"/>
            </a:solidFill>
          </a:ln>
        </p:spPr>
        <p:txBody>
          <a:bodyPr rtlCol="0" anchor="ctr"/>
          <a:lstStyle/>
          <a:p>
            <a:pPr algn="ctr"/>
          </a:p>
        </p:txBody>
      </p:sp>
      <p:sp>
        <p:nvSpPr>
          <p:cNvPr id="20" name="Oval 19"/>
          <p:cNvSpPr/>
          <p:nvPr/>
        </p:nvSpPr>
        <p:spPr>
          <a:xfrm>
            <a:off x="8457053" y="2389818"/>
            <a:ext cx="296850" cy="599362"/>
          </a:xfrm>
          <a:prstGeom prst="ellipse">
            <a:avLst/>
          </a:prstGeom>
          <a:noFill/>
          <a:ln w="44450">
            <a:solidFill>
              <a:srgbClr val="1F5FAD"/>
            </a:solidFill>
          </a:ln>
        </p:spPr>
        <p:txBody>
          <a:bodyPr rtlCol="0" anchor="ctr"/>
          <a:lstStyle/>
          <a:p>
            <a:pPr algn="ctr"/>
          </a:p>
        </p:txBody>
      </p:sp>
      <p:sp>
        <p:nvSpPr>
          <p:cNvPr id="21" name="Oval 20"/>
          <p:cNvSpPr/>
          <p:nvPr/>
        </p:nvSpPr>
        <p:spPr>
          <a:xfrm>
            <a:off x="7161024" y="302935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05457"/>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04628"/>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09866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the island reversal, which gaps cut off from the chart,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outside bar with simple prices. The first two bars stay between PHP 48.00 and PHP 52.00. The third bar opens at PHP 52.00, runs up to PHP 53.00 </a:t>
            </a:r>
            <a:r>
              <a:rPr sz="1700" b="1" i="0">
                <a:solidFill>
                  <a:srgbClr val="C62828"/>
                </a:solidFill>
                <a:latin typeface="Arial"/>
              </a:rPr>
              <a:t>(2)</a:t>
            </a:r>
            <a:r>
              <a:rPr sz="1700" b="0" i="0">
                <a:solidFill>
                  <a:srgbClr val="1A1A1A"/>
                </a:solidFill>
                <a:latin typeface="Arial"/>
              </a:rPr>
              <a:t> and down to PHP 47.00, so its range </a:t>
            </a:r>
            <a:r>
              <a:rPr sz="1700" b="1" i="0">
                <a:solidFill>
                  <a:srgbClr val="E09B00"/>
                </a:solidFill>
                <a:latin typeface="Arial"/>
              </a:rPr>
              <a:t>(1)</a:t>
            </a:r>
            <a:r>
              <a:rPr sz="1700" b="0" i="0">
                <a:solidFill>
                  <a:srgbClr val="1A1A1A"/>
                </a:solidFill>
                <a:latin typeface="Arial"/>
              </a:rPr>
              <a:t> covers both earlier bars. It closes at PHP 47.50 </a:t>
            </a:r>
            <a:r>
              <a:rPr sz="1700" b="1" i="0">
                <a:solidFill>
                  <a:srgbClr val="1F5FAD"/>
                </a:solidFill>
                <a:latin typeface="Arial"/>
              </a:rPr>
              <a:t>(3)</a:t>
            </a:r>
            <a:r>
              <a:rPr sz="1700" b="0" i="0">
                <a:solidFill>
                  <a:srgbClr val="1A1A1A"/>
                </a:solidFill>
                <a:latin typeface="Arial"/>
              </a:rPr>
              <a:t>, near its low. Lim says an outside bar that closes at or near its low gives a more reliable reversal (p.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631375" y="3419856"/>
            <a:ext cx="0" cy="1069848"/>
          </a:xfrm>
          <a:prstGeom prst="line">
            <a:avLst/>
          </a:prstGeom>
          <a:ln w="44450">
            <a:solidFill>
              <a:srgbClr val="E09B00"/>
            </a:solidFill>
          </a:ln>
        </p:spPr>
      </p:cxn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010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defines it this way: “Outside bars are bars that engulf one or more preceding bars” (p. 223).</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11 bars inside the outside range, red </a:t>
            </a:r>
            <a:r>
              <a:rPr sz="1700" b="1" i="0">
                <a:solidFill>
                  <a:srgbClr val="C62828"/>
                </a:solidFill>
                <a:latin typeface="Arial"/>
              </a:rPr>
              <a:t>(2)</a:t>
            </a:r>
            <a:r>
              <a:rPr sz="1700" b="0" i="0">
                <a:solidFill>
                  <a:srgbClr val="1A1A1A"/>
                </a:solidFill>
                <a:latin typeface="Arial"/>
              </a:rPr>
              <a:t> the outside bar's full range, and blue </a:t>
            </a:r>
            <a:r>
              <a:rPr sz="1700" b="1" i="0">
                <a:solidFill>
                  <a:srgbClr val="1F5FAD"/>
                </a:solidFill>
                <a:latin typeface="Arial"/>
              </a:rPr>
              <a:t>(3)</a:t>
            </a:r>
            <a:r>
              <a:rPr sz="1700" b="0" i="0">
                <a:solidFill>
                  <a:srgbClr val="1A1A1A"/>
                </a:solidFill>
                <a:latin typeface="Arial"/>
              </a:rPr>
              <a:t> its close near the low.</a:t>
            </a:r>
          </a:p>
          <a:p>
            <a:pPr algn="l">
              <a:lnSpc>
                <a:spcPct val="105000"/>
              </a:lnSpc>
              <a:spcBef>
                <a:spcPts val="0"/>
              </a:spcBef>
              <a:spcAft>
                <a:spcPts val="1100"/>
              </a:spcAft>
            </a:pPr>
            <a:r>
              <a:rPr sz="1700" b="0" i="0">
                <a:solidFill>
                  <a:srgbClr val="1A1A1A"/>
                </a:solidFill>
                <a:latin typeface="Arial"/>
              </a:rPr>
              <a:t>The book's caption calls this an inside day reversal, but its text and the figure's own label describe an outside bar engulfing 11 bars, so we follow the text.</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94582" y="2122505"/>
            <a:ext cx="1016259" cy="1176284"/>
          </a:xfrm>
          <a:prstGeom prst="rect">
            <a:avLst/>
          </a:prstGeom>
          <a:noFill/>
          <a:ln w="44450">
            <a:solidFill>
              <a:srgbClr val="E09B00"/>
            </a:solidFill>
          </a:ln>
        </p:spPr>
        <p:txBody>
          <a:bodyPr rtlCol="0" anchor="ctr"/>
          <a:lstStyle/>
          <a:p>
            <a:pPr algn="ctr"/>
          </a:p>
        </p:txBody>
      </p:sp>
      <p:sp>
        <p:nvSpPr>
          <p:cNvPr id="13" name="Rectangle 12"/>
          <p:cNvSpPr/>
          <p:nvPr/>
        </p:nvSpPr>
        <p:spPr>
          <a:xfrm>
            <a:off x="8510842" y="2140061"/>
            <a:ext cx="128492" cy="1141171"/>
          </a:xfrm>
          <a:prstGeom prst="rect">
            <a:avLst/>
          </a:prstGeom>
          <a:noFill/>
          <a:ln w="44450">
            <a:solidFill>
              <a:srgbClr val="C62828"/>
            </a:solidFill>
          </a:ln>
        </p:spPr>
        <p:txBody>
          <a:bodyPr rtlCol="0" anchor="ctr"/>
          <a:lstStyle/>
          <a:p>
            <a:pPr algn="ctr"/>
          </a:p>
        </p:txBody>
      </p:sp>
      <p:sp>
        <p:nvSpPr>
          <p:cNvPr id="14" name="Oval 13"/>
          <p:cNvSpPr/>
          <p:nvPr/>
        </p:nvSpPr>
        <p:spPr>
          <a:xfrm>
            <a:off x="8505001" y="3017885"/>
            <a:ext cx="204420" cy="316016"/>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41582" y="26166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3716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contained bars. Red </a:t>
            </a:r>
            <a:r>
              <a:rPr sz="1800" b="1" i="0">
                <a:solidFill>
                  <a:srgbClr val="C62828"/>
                </a:solidFill>
                <a:latin typeface="Arial"/>
              </a:rPr>
              <a:t>(2)</a:t>
            </a:r>
            <a:r>
              <a:rPr sz="1800" b="0" i="0">
                <a:solidFill>
                  <a:srgbClr val="1A1A1A"/>
                </a:solidFill>
                <a:latin typeface="Arial"/>
              </a:rPr>
              <a:t> marks the trendline violation at the outside-bar break.</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82901" y="2210287"/>
            <a:ext cx="1109708" cy="1193840"/>
          </a:xfrm>
          <a:prstGeom prst="rect">
            <a:avLst/>
          </a:prstGeom>
          <a:noFill/>
          <a:ln w="44450">
            <a:solidFill>
              <a:srgbClr val="E09B00"/>
            </a:solidFill>
          </a:ln>
        </p:spPr>
        <p:txBody>
          <a:bodyPr rtlCol="0" anchor="ctr"/>
          <a:lstStyle/>
          <a:p>
            <a:pPr algn="ctr"/>
          </a:p>
        </p:txBody>
      </p:sp>
      <p:sp>
        <p:nvSpPr>
          <p:cNvPr id="13" name="Oval 12"/>
          <p:cNvSpPr/>
          <p:nvPr/>
        </p:nvSpPr>
        <p:spPr>
          <a:xfrm>
            <a:off x="8475798" y="2807208"/>
            <a:ext cx="350434" cy="491581"/>
          </a:xfrm>
          <a:prstGeom prst="ellipse">
            <a:avLst/>
          </a:prstGeom>
          <a:noFill/>
          <a:ln w="44450">
            <a:solidFill>
              <a:srgbClr val="C62828"/>
            </a:solidFill>
          </a:ln>
        </p:spPr>
        <p:txBody>
          <a:bodyPr rtlCol="0" anchor="ctr"/>
          <a:lstStyle/>
          <a:p>
            <a:pPr algn="ctr"/>
          </a:p>
        </p:txBody>
      </p:sp>
      <p:sp>
        <p:nvSpPr>
          <p:cNvPr id="14" name="Oval 13"/>
          <p:cNvSpPr/>
          <p:nvPr/>
        </p:nvSpPr>
        <p:spPr>
          <a:xfrm>
            <a:off x="8475798" y="3193450"/>
            <a:ext cx="350434" cy="280903"/>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7596"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600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inside bars as reversal bars. The reversal is more reliable when the first bar is wide on high volume and the second is narrow on very low volume (p. 224).</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inside bar with simple prices. The first bar </a:t>
            </a:r>
            <a:r>
              <a:rPr sz="1700" b="1" i="0">
                <a:solidFill>
                  <a:srgbClr val="E09B00"/>
                </a:solidFill>
                <a:latin typeface="Arial"/>
              </a:rPr>
              <a:t>(1)</a:t>
            </a:r>
            <a:r>
              <a:rPr sz="1700" b="0" i="0">
                <a:solidFill>
                  <a:srgbClr val="1A1A1A"/>
                </a:solidFill>
                <a:latin typeface="Arial"/>
              </a:rPr>
              <a:t> is wide: it runs from PHP 48.00 to PHP 53.00 on 4.5 million shares. The second bar </a:t>
            </a:r>
            <a:r>
              <a:rPr sz="1700" b="1" i="0">
                <a:solidFill>
                  <a:srgbClr val="C62828"/>
                </a:solidFill>
                <a:latin typeface="Arial"/>
              </a:rPr>
              <a:t>(2)</a:t>
            </a:r>
            <a:r>
              <a:rPr sz="1700" b="0" i="0">
                <a:solidFill>
                  <a:srgbClr val="1A1A1A"/>
                </a:solidFill>
                <a:latin typeface="Arial"/>
              </a:rPr>
              <a:t> is narrow, from PHP 49.20 to PHP 52.50 on only 0.5 million shares, so it stays inside the first. The first bar also tests resistance at PHP 53.00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wide, busy first bar and a narrow, quiet second bar is the relationship Lim says makes the reversal more reliable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Lim's Figure 7.25 the two inside bars test the same resistance level (p. 224). 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those two inside-bar reversals.</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800" b="0" i="0">
                <a:solidFill>
                  <a:srgbClr val="1A1A1A"/>
                </a:solidFill>
                <a:latin typeface="Arial"/>
              </a:rPr>
              <a:t>Repeated failure at resistance warns of a possible reversal; it is not a promise.</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makes an inside-bar reversal more reliable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first bar should be as wide as possible on high volume, the second as narrow as possible on very low volume (p. 224).</a:t>
            </a:r>
          </a:p>
          <a:p>
            <a:pPr algn="l">
              <a:lnSpc>
                <a:spcPct val="105000"/>
              </a:lnSpc>
              <a:spcBef>
                <a:spcPts val="0"/>
              </a:spcBef>
              <a:spcAft>
                <a:spcPts val="1100"/>
              </a:spcAft>
            </a:pPr>
            <a:r>
              <a:rPr sz="1700" b="0" i="0">
                <a:solidFill>
                  <a:srgbClr val="1A1A1A"/>
                </a:solidFill>
                <a:latin typeface="Arial"/>
              </a:rPr>
              <a:t>This crop shows no volume. Gold </a:t>
            </a:r>
            <a:r>
              <a:rPr sz="1700" b="1" i="0">
                <a:solidFill>
                  <a:srgbClr val="E09B00"/>
                </a:solidFill>
                <a:latin typeface="Arial"/>
              </a:rPr>
              <a:t>(1)</a:t>
            </a:r>
            <a:r>
              <a:rPr sz="1700" b="0" i="0">
                <a:solidFill>
                  <a:srgbClr val="1A1A1A"/>
                </a:solidFill>
                <a:latin typeface="Arial"/>
              </a:rPr>
              <a:t> and red </a:t>
            </a:r>
            <a:r>
              <a:rPr sz="1700" b="1" i="0">
                <a:solidFill>
                  <a:srgbClr val="C62828"/>
                </a:solidFill>
                <a:latin typeface="Arial"/>
              </a:rPr>
              <a:t>(2)</a:t>
            </a:r>
            <a:r>
              <a:rPr sz="1700" b="0" i="0">
                <a:solidFill>
                  <a:srgbClr val="1A1A1A"/>
                </a:solidFill>
                <a:latin typeface="Arial"/>
              </a:rPr>
              <a:t> are the two inside bars at one resistance.</a:t>
            </a:r>
          </a:p>
          <a:p>
            <a:pPr algn="l">
              <a:lnSpc>
                <a:spcPct val="105000"/>
              </a:lnSpc>
              <a:spcBef>
                <a:spcPts val="0"/>
              </a:spcBef>
              <a:spcAft>
                <a:spcPts val="1100"/>
              </a:spcAft>
            </a:pPr>
            <a:r>
              <a:rPr sz="1700" b="0" i="0">
                <a:solidFill>
                  <a:srgbClr val="1A1A1A"/>
                </a:solidFill>
                <a:latin typeface="Arial"/>
              </a:rPr>
              <a:t>Both highs poke above the upper Bollinger band but close below it, a sign of price exhaustion. Blue </a:t>
            </a:r>
            <a:r>
              <a:rPr sz="1700" b="1" i="0">
                <a:solidFill>
                  <a:srgbClr val="1F5FAD"/>
                </a:solidFill>
                <a:latin typeface="Arial"/>
              </a:rPr>
              <a:t>(3)</a:t>
            </a:r>
            <a:r>
              <a:rPr sz="1700" b="0" i="0">
                <a:solidFill>
                  <a:srgbClr val="1A1A1A"/>
                </a:solidFill>
                <a:latin typeface="Arial"/>
              </a:rPr>
              <a:t> is the bearish StochRSI divergence (p. 225).</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7.26 shows three successively lower inside bars </a:t>
            </a:r>
            <a:r>
              <a:rPr sz="1800" b="1" i="0">
                <a:solidFill>
                  <a:srgbClr val="E09B00"/>
                </a:solidFill>
                <a:latin typeface="Arial"/>
              </a:rPr>
              <a:t>(1)</a:t>
            </a:r>
            <a:r>
              <a:rPr sz="1800" b="0" i="0">
                <a:solidFill>
                  <a:srgbClr val="1A1A1A"/>
                </a:solidFill>
                <a:latin typeface="Arial"/>
              </a:rPr>
              <a:t>, each below the Bollinger band. Lim reads that as potential price exhaustion, more so on bearish volume (p. 225).</a:t>
            </a:r>
          </a:p>
          <a:p>
            <a:pPr algn="l">
              <a:lnSpc>
                <a:spcPct val="105000"/>
              </a:lnSpc>
              <a:spcBef>
                <a:spcPts val="0"/>
              </a:spcBef>
              <a:spcAft>
                <a:spcPts val="1100"/>
              </a:spcAft>
            </a:pPr>
            <a:r>
              <a:rPr sz="1800" b="0" i="0">
                <a:solidFill>
                  <a:srgbClr val="1A1A1A"/>
                </a:solidFill>
                <a:latin typeface="Arial"/>
              </a:rPr>
              <a:t>Later a bearish outside bar forms </a:t>
            </a:r>
            <a:r>
              <a:rPr sz="1800" b="1" i="0">
                <a:solidFill>
                  <a:srgbClr val="C62828"/>
                </a:solidFill>
                <a:latin typeface="Arial"/>
              </a:rPr>
              <a:t>(2)</a:t>
            </a:r>
            <a:r>
              <a:rPr sz="1800" b="0" i="0">
                <a:solidFill>
                  <a:srgbClr val="1A1A1A"/>
                </a:solidFill>
                <a:latin typeface="Arial"/>
              </a:rPr>
              <a:t>, and prices decline (p. 225).</a:t>
            </a:r>
          </a:p>
          <a:p>
            <a:pPr algn="l">
              <a:lnSpc>
                <a:spcPct val="105000"/>
              </a:lnSpc>
              <a:spcBef>
                <a:spcPts val="0"/>
              </a:spcBef>
              <a:spcAft>
                <a:spcPts val="1100"/>
              </a:spcAft>
            </a:pPr>
            <a:r>
              <a:rPr sz="1800" b="0" i="0">
                <a:solidFill>
                  <a:srgbClr val="1A1A1A"/>
                </a:solidFill>
                <a:latin typeface="Arial"/>
              </a:rPr>
              <a:t>The figure shows no volume, so read this as a warning, not a promise.</a:t>
            </a:r>
          </a:p>
        </p:txBody>
      </p:sp>
      <p:sp>
        <p:nvSpPr>
          <p:cNvPr id="8" name="Rectangle 7"/>
          <p:cNvSpPr/>
          <p:nvPr/>
        </p:nvSpPr>
        <p:spPr>
          <a:xfrm>
            <a:off x="5303519" y="1810512"/>
            <a:ext cx="6110935" cy="28350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5972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400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124059" y="3734489"/>
            <a:ext cx="381757" cy="701264"/>
          </a:xfrm>
          <a:prstGeom prst="rect">
            <a:avLst/>
          </a:prstGeom>
          <a:noFill/>
          <a:ln w="44450">
            <a:solidFill>
              <a:srgbClr val="E09B00"/>
            </a:solidFill>
          </a:ln>
        </p:spPr>
        <p:txBody>
          <a:bodyPr rtlCol="0" anchor="ctr"/>
          <a:lstStyle/>
          <a:p>
            <a:pPr algn="ctr"/>
          </a:p>
        </p:txBody>
      </p:sp>
      <p:sp>
        <p:nvSpPr>
          <p:cNvPr id="13" name="Rectangle 12"/>
          <p:cNvSpPr/>
          <p:nvPr/>
        </p:nvSpPr>
        <p:spPr>
          <a:xfrm>
            <a:off x="10238408" y="2435852"/>
            <a:ext cx="234927" cy="493482"/>
          </a:xfrm>
          <a:prstGeom prst="rect">
            <a:avLst/>
          </a:prstGeom>
          <a:noFill/>
          <a:ln w="44450">
            <a:solidFill>
              <a:srgbClr val="C62828"/>
            </a:solidFill>
          </a:ln>
        </p:spPr>
        <p:txBody>
          <a:bodyPr rtlCol="0" anchor="ctr"/>
          <a:lstStyle/>
          <a:p>
            <a:pPr algn="ctr"/>
          </a:p>
        </p:txBody>
      </p:sp>
      <p:sp>
        <p:nvSpPr>
          <p:cNvPr id="14" name="Oval 13"/>
          <p:cNvSpPr/>
          <p:nvPr/>
        </p:nvSpPr>
        <p:spPr>
          <a:xfrm>
            <a:off x="8513553" y="36377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451706" y="23650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47369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This figure puts three reversal families beside one another. Gold </a:t>
            </a:r>
            <a:r>
              <a:rPr sz="1900" b="1" i="0">
                <a:solidFill>
                  <a:srgbClr val="E09B00"/>
                </a:solidFill>
                <a:latin typeface="Arial"/>
              </a:rPr>
              <a:t>(1)</a:t>
            </a:r>
            <a:r>
              <a:rPr sz="1900" b="0" i="0">
                <a:solidFill>
                  <a:srgbClr val="1A1A1A"/>
                </a:solidFill>
                <a:latin typeface="Arial"/>
              </a:rPr>
              <a:t> is an inside-bar reversal, red </a:t>
            </a:r>
            <a:r>
              <a:rPr sz="1900" b="1" i="0">
                <a:solidFill>
                  <a:srgbClr val="C62828"/>
                </a:solidFill>
                <a:latin typeface="Arial"/>
              </a:rPr>
              <a:t>(2)</a:t>
            </a:r>
            <a:r>
              <a:rPr sz="1900" b="0" i="0">
                <a:solidFill>
                  <a:srgbClr val="1A1A1A"/>
                </a:solidFill>
                <a:latin typeface="Arial"/>
              </a:rPr>
              <a:t> an outside-bar reversal, and blue </a:t>
            </a:r>
            <a:r>
              <a:rPr sz="1900" b="1" i="0">
                <a:solidFill>
                  <a:srgbClr val="1F5FAD"/>
                </a:solidFill>
                <a:latin typeface="Arial"/>
              </a:rPr>
              <a:t>(3)</a:t>
            </a:r>
            <a:r>
              <a:rPr sz="1900" b="0" i="0">
                <a:solidFill>
                  <a:srgbClr val="1A1A1A"/>
                </a:solidFill>
                <a:latin typeface="Arial"/>
              </a:rPr>
              <a:t> a three-bar reversal.</a:t>
            </a:r>
          </a:p>
          <a:p>
            <a:pPr algn="l">
              <a:lnSpc>
                <a:spcPct val="105000"/>
              </a:lnSpc>
              <a:spcBef>
                <a:spcPts val="0"/>
              </a:spcBef>
              <a:spcAft>
                <a:spcPts val="1100"/>
              </a:spcAft>
            </a:pPr>
            <a:r>
              <a:rPr sz="1900" b="0" i="0">
                <a:solidFill>
                  <a:srgbClr val="1A1A1A"/>
                </a:solidFill>
                <a:latin typeface="Arial"/>
              </a:rPr>
              <a:t>Lim notes that these bullish and bearish patterns line up with the stochastic oscillator's overbought and oversold readings (p. 225). Chapter 7 gives no stochastic method, so read them as context.</a:t>
            </a:r>
          </a:p>
        </p:txBody>
      </p:sp>
      <p:sp>
        <p:nvSpPr>
          <p:cNvPr id="8" name="Rectangle 7"/>
          <p:cNvSpPr/>
          <p:nvPr/>
        </p:nvSpPr>
        <p:spPr>
          <a:xfrm>
            <a:off x="5356094" y="1810512"/>
            <a:ext cx="600578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74966" y="1929384"/>
            <a:ext cx="576804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74966" y="1929384"/>
            <a:ext cx="576804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49286" y="2203703"/>
            <a:ext cx="521940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Rectangle 11"/>
          <p:cNvSpPr/>
          <p:nvPr/>
        </p:nvSpPr>
        <p:spPr>
          <a:xfrm>
            <a:off x="7407260" y="3509467"/>
            <a:ext cx="173041"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060560" y="2947659"/>
            <a:ext cx="144201" cy="386242"/>
          </a:xfrm>
          <a:prstGeom prst="rect">
            <a:avLst/>
          </a:prstGeom>
          <a:noFill/>
          <a:ln w="44450">
            <a:solidFill>
              <a:srgbClr val="C62828"/>
            </a:solidFill>
          </a:ln>
        </p:spPr>
        <p:txBody>
          <a:bodyPr rtlCol="0" anchor="ctr"/>
          <a:lstStyle/>
          <a:p>
            <a:pPr algn="ctr"/>
          </a:p>
        </p:txBody>
      </p:sp>
      <p:sp>
        <p:nvSpPr>
          <p:cNvPr id="14" name="Rectangle 13"/>
          <p:cNvSpPr/>
          <p:nvPr/>
        </p:nvSpPr>
        <p:spPr>
          <a:xfrm>
            <a:off x="8849271" y="3965935"/>
            <a:ext cx="144201" cy="438912"/>
          </a:xfrm>
          <a:prstGeom prst="rect">
            <a:avLst/>
          </a:prstGeom>
          <a:noFill/>
          <a:ln w="44450">
            <a:solidFill>
              <a:srgbClr val="1F5FAD"/>
            </a:solidFill>
          </a:ln>
        </p:spPr>
        <p:txBody>
          <a:bodyPr rtlCol="0" anchor="ctr"/>
          <a:lstStyle/>
          <a:p>
            <a:pPr algn="ctr"/>
          </a:p>
        </p:txBody>
      </p:sp>
      <p:sp>
        <p:nvSpPr>
          <p:cNvPr id="15" name="Oval 14"/>
          <p:cNvSpPr/>
          <p:nvPr/>
        </p:nvSpPr>
        <p:spPr>
          <a:xfrm>
            <a:off x="7153331" y="346996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10394" y="28028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945" y="42073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the inside bar's Japanese candlestick equivalent is the Harami pattern (p. 225): a narrow candle inside the larger candle before it. Lim keeps the two rules separate.</a:t>
            </a:r>
          </a:p>
          <a:p>
            <a:pPr algn="l">
              <a:lnSpc>
                <a:spcPct val="118000"/>
              </a:lnSpc>
              <a:spcBef>
                <a:spcPts val="0"/>
              </a:spcBef>
              <a:spcAft>
                <a:spcPts val="1300"/>
              </a:spcAft>
            </a:pPr>
            <a:r>
              <a:rPr sz="2100" b="0" i="0">
                <a:solidFill>
                  <a:srgbClr val="1A1A1A"/>
                </a:solidFill>
                <a:latin typeface="Arial"/>
              </a:rPr>
              <a:t>Lim's rule is that the narrow bar's range is no more than one-fourth to one-third of the larger bar's (pp. 225 to 226). A 6.0 point bar allows only 1.5 to 2.0.</a:t>
            </a:r>
          </a:p>
          <a:p>
            <a:pPr algn="l">
              <a:lnSpc>
                <a:spcPct val="118000"/>
              </a:lnSpc>
              <a:spcBef>
                <a:spcPts val="0"/>
              </a:spcBef>
              <a:spcAft>
                <a:spcPts val="1300"/>
              </a:spcAft>
            </a:pPr>
            <a:r>
              <a:rPr sz="2100" b="0" i="0">
                <a:solidFill>
                  <a:srgbClr val="1A1A1A"/>
                </a:solidFill>
                <a:latin typeface="Arial"/>
              </a:rPr>
              <a:t>An inside bar has no such limit. Check the proportion before you say Harami.</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225 to 226. The 6.0-point example is ours, invented.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small must a Harami's narrow bar be?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(pp. 225 to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small must a Harami's narrow bar be?</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No more than one-fourth to one-third of the larger bar's range (pp. 225 to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exhaustion bar with simple prices. The previous bar reached a high of PHP 65.00 </a:t>
            </a:r>
            <a:r>
              <a:rPr sz="1700" b="1" i="0">
                <a:solidFill>
                  <a:srgbClr val="E09B00"/>
                </a:solidFill>
                <a:latin typeface="Arial"/>
              </a:rPr>
              <a:t>(1)</a:t>
            </a:r>
            <a:r>
              <a:rPr sz="1700" b="0" i="0">
                <a:solidFill>
                  <a:srgbClr val="1A1A1A"/>
                </a:solidFill>
                <a:latin typeface="Arial"/>
              </a:rPr>
              <a:t>. The exhaustion bar </a:t>
            </a:r>
            <a:r>
              <a:rPr sz="1700" b="1" i="0">
                <a:solidFill>
                  <a:srgbClr val="C62828"/>
                </a:solidFill>
                <a:latin typeface="Arial"/>
              </a:rPr>
              <a:t>(2)</a:t>
            </a:r>
            <a:r>
              <a:rPr sz="1700" b="0" i="0">
                <a:solidFill>
                  <a:srgbClr val="1A1A1A"/>
                </a:solidFill>
                <a:latin typeface="Arial"/>
              </a:rPr>
              <a:t> opens above it at PHP 65.40 and reaches PHP 66.20, then falls to close near its low at PHP 60.50. The next bar opens at PHP 60.20 </a:t>
            </a:r>
            <a:r>
              <a:rPr sz="1700" b="1" i="0">
                <a:solidFill>
                  <a:srgbClr val="1F5FAD"/>
                </a:solidFill>
                <a:latin typeface="Arial"/>
              </a:rPr>
              <a:t>(3)</a:t>
            </a:r>
            <a:r>
              <a:rPr sz="1700" b="0" i="0">
                <a:solidFill>
                  <a:srgbClr val="1A1A1A"/>
                </a:solidFill>
                <a:latin typeface="Arial"/>
              </a:rPr>
              <a:t>, inside that range, so there is no gap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941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7656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00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92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bullish exhaustion case is in a downtrend. Gold </a:t>
            </a:r>
            <a:r>
              <a:rPr sz="1700" b="1" i="0">
                <a:solidFill>
                  <a:srgbClr val="E09B00"/>
                </a:solidFill>
                <a:latin typeface="Arial"/>
              </a:rPr>
              <a:t>(1)</a:t>
            </a:r>
            <a:r>
              <a:rPr sz="1700" b="0" i="0">
                <a:solidFill>
                  <a:srgbClr val="1A1A1A"/>
                </a:solidFill>
                <a:latin typeface="Arial"/>
              </a:rPr>
              <a:t> marks the gap before the bar, red </a:t>
            </a:r>
            <a:r>
              <a:rPr sz="1700" b="1" i="0">
                <a:solidFill>
                  <a:srgbClr val="C62828"/>
                </a:solidFill>
                <a:latin typeface="Arial"/>
              </a:rPr>
              <a:t>(2)</a:t>
            </a:r>
            <a:r>
              <a:rPr sz="1700" b="0" i="0">
                <a:solidFill>
                  <a:srgbClr val="1A1A1A"/>
                </a:solidFill>
                <a:latin typeface="Arial"/>
              </a:rPr>
              <a:t> the exhaustion bar, and blue </a:t>
            </a:r>
            <a:r>
              <a:rPr sz="1700" b="1" i="0">
                <a:solidFill>
                  <a:srgbClr val="1F5FAD"/>
                </a:solidFill>
                <a:latin typeface="Arial"/>
              </a:rPr>
              <a:t>(3)</a:t>
            </a:r>
            <a:r>
              <a:rPr sz="1700" b="0" i="0">
                <a:solidFill>
                  <a:srgbClr val="1A1A1A"/>
                </a:solidFill>
                <a:latin typeface="Arial"/>
              </a:rPr>
              <a:t> the later rebound.</a:t>
            </a:r>
          </a:p>
          <a:p>
            <a:pPr algn="l">
              <a:lnSpc>
                <a:spcPct val="105000"/>
              </a:lnSpc>
              <a:spcBef>
                <a:spcPts val="0"/>
              </a:spcBef>
              <a:spcAft>
                <a:spcPts val="1100"/>
              </a:spcAft>
            </a:pPr>
            <a:r>
              <a:rPr sz="17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700" b="0" i="0">
                <a:solidFill>
                  <a:srgbClr val="1A1A1A"/>
                </a:solidFill>
                <a:latin typeface="Arial"/>
              </a:rPr>
              <a:t>The prior gap is visible, but Lim's rule concerns the absence of a gap after the exhaustion bar (p. 226).</a:t>
            </a:r>
          </a:p>
        </p:txBody>
      </p:sp>
      <p:sp>
        <p:nvSpPr>
          <p:cNvPr id="8" name="Rectangle 7"/>
          <p:cNvSpPr/>
          <p:nvPr/>
        </p:nvSpPr>
        <p:spPr>
          <a:xfrm>
            <a:off x="5303519" y="1810512"/>
            <a:ext cx="6110935" cy="285177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1403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56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358987" y="3288680"/>
            <a:ext cx="352391" cy="235262"/>
          </a:xfrm>
          <a:prstGeom prst="ellipse">
            <a:avLst/>
          </a:prstGeom>
          <a:noFill/>
          <a:ln w="44450">
            <a:solidFill>
              <a:srgbClr val="E09B00"/>
            </a:solidFill>
          </a:ln>
        </p:spPr>
        <p:txBody>
          <a:bodyPr rtlCol="0" anchor="ctr"/>
          <a:lstStyle/>
          <a:p>
            <a:pPr algn="ctr"/>
          </a:p>
        </p:txBody>
      </p:sp>
      <p:sp>
        <p:nvSpPr>
          <p:cNvPr id="13" name="Rectangle 12"/>
          <p:cNvSpPr/>
          <p:nvPr/>
        </p:nvSpPr>
        <p:spPr>
          <a:xfrm>
            <a:off x="8564549" y="3393241"/>
            <a:ext cx="117463" cy="365964"/>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8828842" y="2792014"/>
            <a:ext cx="822247" cy="444385"/>
          </a:xfrm>
          <a:prstGeom prst="line">
            <a:avLst/>
          </a:prstGeom>
          <a:ln w="44450">
            <a:solidFill>
              <a:srgbClr val="1F5FAD"/>
            </a:solidFill>
            <a:tailEnd type="triangle" w="med" len="med"/>
          </a:ln>
        </p:spPr>
      </p:cxnSp>
      <p:sp>
        <p:nvSpPr>
          <p:cNvPr id="15" name="Oval 14"/>
          <p:cNvSpPr/>
          <p:nvPr/>
        </p:nvSpPr>
        <p:spPr>
          <a:xfrm>
            <a:off x="8014331" y="312667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9748" y="33880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688191" y="263000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5372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the bullish exhaustion converse appear?</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the bullish exhaustion converse appear?</a:t>
            </a:r>
          </a:p>
        </p:txBody>
      </p:sp>
      <p:sp>
        <p:nvSpPr>
          <p:cNvPr id="13" name="TextBox 12"/>
          <p:cNvSpPr txBox="1"/>
          <p:nvPr/>
        </p:nvSpPr>
        <p:spPr>
          <a:xfrm>
            <a:off x="1097280" y="475094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Lim says the reverse is true in a downtrend; Figure 7.28 shows it forming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emotion spike with simple prices. Bars 1, 2 and 4 are ordinary: each spans 3.0 points and trades 1.5 million shares. Bar 3 is the spike. It runs from PHP 62.00 to PHP 70.00, a range of 8.0 points </a:t>
            </a:r>
            <a:r>
              <a:rPr sz="1700" b="1" i="0">
                <a:solidFill>
                  <a:srgbClr val="E09B00"/>
                </a:solidFill>
                <a:latin typeface="Arial"/>
              </a:rPr>
              <a:t>(1)</a:t>
            </a:r>
            <a:r>
              <a:rPr sz="1700" b="0" i="0">
                <a:solidFill>
                  <a:srgbClr val="1A1A1A"/>
                </a:solidFill>
                <a:latin typeface="Arial"/>
              </a:rPr>
              <a:t>, and it trades 6.0 million shares </a:t>
            </a:r>
            <a:r>
              <a:rPr sz="1700" b="1" i="0">
                <a:solidFill>
                  <a:srgbClr val="C62828"/>
                </a:solidFill>
                <a:latin typeface="Arial"/>
              </a:rPr>
              <a:t>(2)</a:t>
            </a:r>
            <a:r>
              <a:rPr sz="1700" b="0" i="0">
                <a:solidFill>
                  <a:srgbClr val="1A1A1A"/>
                </a:solidFill>
                <a:latin typeface="Arial"/>
              </a:rPr>
              <a:t>, four times the ordinary volume. A wide range on high volume is exactly how Lim describes a price spike in an emotional market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74808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7482839" y="366396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7482839"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wide spike, red </a:t>
            </a:r>
            <a:r>
              <a:rPr sz="1800" b="1" i="0">
                <a:solidFill>
                  <a:srgbClr val="C62828"/>
                </a:solidFill>
                <a:latin typeface="Arial"/>
              </a:rPr>
              <a:t>(2)</a:t>
            </a:r>
            <a:r>
              <a:rPr sz="1800" b="0" i="0">
                <a:solidFill>
                  <a:srgbClr val="1A1A1A"/>
                </a:solidFill>
                <a:latin typeface="Arial"/>
              </a:rPr>
              <a:t> its high volume, and blue </a:t>
            </a:r>
            <a:r>
              <a:rPr sz="1800" b="1" i="0">
                <a:solidFill>
                  <a:srgbClr val="1F5FAD"/>
                </a:solidFill>
                <a:latin typeface="Arial"/>
              </a:rPr>
              <a:t>(3)</a:t>
            </a:r>
            <a:r>
              <a:rPr sz="1800" b="0" i="0">
                <a:solidFill>
                  <a:srgbClr val="1A1A1A"/>
                </a:solidFill>
                <a:latin typeface="Arial"/>
              </a:rPr>
              <a:t> the three-bar bearish reversal at the top.</a:t>
            </a:r>
          </a:p>
          <a:p>
            <a:pPr algn="l">
              <a:lnSpc>
                <a:spcPct val="105000"/>
              </a:lnSpc>
              <a:spcBef>
                <a:spcPts val="0"/>
              </a:spcBef>
              <a:spcAft>
                <a:spcPts val="1100"/>
              </a:spcAft>
            </a:pPr>
            <a:r>
              <a:rPr sz="1800" b="0" i="0">
                <a:solidFill>
                  <a:srgbClr val="1A1A1A"/>
                </a:solidFill>
                <a:latin typeface="Arial"/>
              </a:rPr>
              <a:t>The wide range and high volume explain the name. The reversal context is a warning, not a prediction.</a:t>
            </a:r>
          </a:p>
        </p:txBody>
      </p:sp>
      <p:sp>
        <p:nvSpPr>
          <p:cNvPr id="8" name="Rectangle 7"/>
          <p:cNvSpPr/>
          <p:nvPr/>
        </p:nvSpPr>
        <p:spPr>
          <a:xfrm>
            <a:off x="5364626" y="1810512"/>
            <a:ext cx="59887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83498" y="1929384"/>
            <a:ext cx="57509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3498" y="1929384"/>
            <a:ext cx="57509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57818" y="2203703"/>
            <a:ext cx="52023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7783889" y="2631643"/>
            <a:ext cx="402568" cy="1158727"/>
          </a:xfrm>
          <a:prstGeom prst="ellipse">
            <a:avLst/>
          </a:prstGeom>
          <a:noFill/>
          <a:ln w="44450">
            <a:solidFill>
              <a:srgbClr val="E09B00"/>
            </a:solidFill>
          </a:ln>
        </p:spPr>
        <p:txBody>
          <a:bodyPr rtlCol="0" anchor="ctr"/>
          <a:lstStyle/>
          <a:p>
            <a:pPr algn="ctr"/>
          </a:p>
        </p:txBody>
      </p:sp>
      <p:sp>
        <p:nvSpPr>
          <p:cNvPr id="13" name="Oval 12"/>
          <p:cNvSpPr/>
          <p:nvPr/>
        </p:nvSpPr>
        <p:spPr>
          <a:xfrm>
            <a:off x="7898909" y="4562856"/>
            <a:ext cx="115019" cy="807598"/>
          </a:xfrm>
          <a:prstGeom prst="ellipse">
            <a:avLst/>
          </a:prstGeom>
          <a:noFill/>
          <a:ln w="44450">
            <a:solidFill>
              <a:srgbClr val="C62828"/>
            </a:solidFill>
          </a:ln>
        </p:spPr>
        <p:txBody>
          <a:bodyPr rtlCol="0" anchor="ctr"/>
          <a:lstStyle/>
          <a:p>
            <a:pPr algn="ctr"/>
          </a:p>
        </p:txBody>
      </p:sp>
      <p:sp>
        <p:nvSpPr>
          <p:cNvPr id="14" name="Oval 13"/>
          <p:cNvSpPr/>
          <p:nvPr/>
        </p:nvSpPr>
        <p:spPr>
          <a:xfrm>
            <a:off x="9739222" y="2140061"/>
            <a:ext cx="460078" cy="491581"/>
          </a:xfrm>
          <a:prstGeom prst="ellipse">
            <a:avLst/>
          </a:prstGeom>
          <a:noFill/>
          <a:ln w="44450">
            <a:solidFill>
              <a:srgbClr val="1F5FAD"/>
            </a:solidFill>
          </a:ln>
        </p:spPr>
        <p:txBody>
          <a:bodyPr rtlCol="0" anchor="ctr"/>
          <a:lstStyle/>
          <a:p>
            <a:pPr algn="ctr"/>
          </a:p>
        </p:txBody>
      </p:sp>
      <p:sp>
        <p:nvSpPr>
          <p:cNvPr id="15" name="Oval 14"/>
          <p:cNvSpPr/>
          <p:nvPr/>
        </p:nvSpPr>
        <p:spPr>
          <a:xfrm>
            <a:off x="7444122" y="241657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990465" y="462869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77121"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pin bar with simple prices. Support sits at PHP 40.00 </a:t>
            </a:r>
            <a:r>
              <a:rPr sz="1700" b="1" i="0">
                <a:solidFill>
                  <a:srgbClr val="E09B00"/>
                </a:solidFill>
                <a:latin typeface="Arial"/>
              </a:rPr>
              <a:t>(1)</a:t>
            </a:r>
            <a:r>
              <a:rPr sz="1700" b="0" i="0">
                <a:solidFill>
                  <a:srgbClr val="1A1A1A"/>
                </a:solidFill>
                <a:latin typeface="Arial"/>
              </a:rPr>
              <a:t>. The pin bar trades down through it to PHP 38.80 </a:t>
            </a:r>
            <a:r>
              <a:rPr sz="1700" b="1" i="0">
                <a:solidFill>
                  <a:srgbClr val="C62828"/>
                </a:solidFill>
                <a:latin typeface="Arial"/>
              </a:rPr>
              <a:t>(2)</a:t>
            </a:r>
            <a:r>
              <a:rPr sz="1700" b="0" i="0">
                <a:solidFill>
                  <a:srgbClr val="1A1A1A"/>
                </a:solidFill>
                <a:latin typeface="Arial"/>
              </a:rPr>
              <a:t>, then closes back above it at PHP 40.60 </a:t>
            </a:r>
            <a:r>
              <a:rPr sz="1700" b="1" i="0">
                <a:solidFill>
                  <a:srgbClr val="1F5FAD"/>
                </a:solidFill>
                <a:latin typeface="Arial"/>
              </a:rPr>
              <a:t>(3)</a:t>
            </a:r>
            <a:r>
              <a:rPr sz="1700" b="0" i="0">
                <a:solidFill>
                  <a:srgbClr val="1A1A1A"/>
                </a:solidFill>
                <a:latin typeface="Arial"/>
              </a:rPr>
              <a:t>, on only 0.8 million shares. The return above support is the clue that the break was false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65</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support, red </a:t>
            </a:r>
            <a:r>
              <a:rPr sz="1800" b="1" i="0">
                <a:solidFill>
                  <a:srgbClr val="C62828"/>
                </a:solidFill>
                <a:latin typeface="Arial"/>
              </a:rPr>
              <a:t>(2)</a:t>
            </a:r>
            <a:r>
              <a:rPr sz="1800" b="0" i="0">
                <a:solidFill>
                  <a:srgbClr val="1A1A1A"/>
                </a:solidFill>
                <a:latin typeface="Arial"/>
              </a:rPr>
              <a:t> the intra-period penetration, and blue </a:t>
            </a:r>
            <a:r>
              <a:rPr sz="1800" b="1" i="0">
                <a:solidFill>
                  <a:srgbClr val="1F5FAD"/>
                </a:solidFill>
                <a:latin typeface="Arial"/>
              </a:rPr>
              <a:t>(3)</a:t>
            </a:r>
            <a:r>
              <a:rPr sz="1800" b="0" i="0">
                <a:solidFill>
                  <a:srgbClr val="1A1A1A"/>
                </a:solidFill>
                <a:latin typeface="Arial"/>
              </a:rPr>
              <a:t> the close back above support.</a:t>
            </a:r>
          </a:p>
          <a:p>
            <a:pPr algn="l">
              <a:lnSpc>
                <a:spcPct val="105000"/>
              </a:lnSpc>
              <a:spcBef>
                <a:spcPts val="0"/>
              </a:spcBef>
              <a:spcAft>
                <a:spcPts val="1100"/>
              </a:spcAft>
            </a:pPr>
            <a:r>
              <a:rPr sz="18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5303519" y="1810512"/>
            <a:ext cx="6110935" cy="307175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83401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3768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185906" y="4125742"/>
            <a:ext cx="4992213" cy="0"/>
          </a:xfrm>
          <a:prstGeom prst="line">
            <a:avLst/>
          </a:prstGeom>
          <a:ln w="44450">
            <a:solidFill>
              <a:srgbClr val="E09B00"/>
            </a:solidFill>
          </a:ln>
        </p:spPr>
      </p:cxnSp>
      <p:sp>
        <p:nvSpPr>
          <p:cNvPr id="13" name="Oval 12"/>
          <p:cNvSpPr/>
          <p:nvPr/>
        </p:nvSpPr>
        <p:spPr>
          <a:xfrm>
            <a:off x="7066885" y="4139912"/>
            <a:ext cx="176195" cy="340081"/>
          </a:xfrm>
          <a:prstGeom prst="ellipse">
            <a:avLst/>
          </a:prstGeom>
          <a:noFill/>
          <a:ln w="44450">
            <a:solidFill>
              <a:srgbClr val="C62828"/>
            </a:solidFill>
          </a:ln>
        </p:spPr>
        <p:txBody>
          <a:bodyPr rtlCol="0" anchor="ctr"/>
          <a:lstStyle/>
          <a:p>
            <a:pPr algn="ctr"/>
          </a:p>
        </p:txBody>
      </p:sp>
      <p:sp>
        <p:nvSpPr>
          <p:cNvPr id="14" name="Oval 13"/>
          <p:cNvSpPr/>
          <p:nvPr/>
        </p:nvSpPr>
        <p:spPr>
          <a:xfrm>
            <a:off x="7008153" y="3714810"/>
            <a:ext cx="469855" cy="368421"/>
          </a:xfrm>
          <a:prstGeom prst="ellipse">
            <a:avLst/>
          </a:prstGeom>
          <a:noFill/>
          <a:ln w="44450">
            <a:solidFill>
              <a:srgbClr val="1F5FAD"/>
            </a:solidFill>
          </a:ln>
        </p:spPr>
        <p:txBody>
          <a:bodyPr rtlCol="0" anchor="ctr"/>
          <a:lstStyle/>
          <a:p>
            <a:pPr algn="ctr"/>
          </a:p>
        </p:txBody>
      </p:sp>
      <p:sp>
        <p:nvSpPr>
          <p:cNvPr id="15" name="Oval 14"/>
          <p:cNvSpPr/>
          <p:nvPr/>
        </p:nvSpPr>
        <p:spPr>
          <a:xfrm>
            <a:off x="5665055" y="40160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663497" y="425690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661940" y="329334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97370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for teaching.</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67464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43690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97970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214481"/>
            <a:ext cx="4292696" cy="0"/>
          </a:xfrm>
          <a:prstGeom prst="line">
            <a:avLst/>
          </a:prstGeom>
          <a:ln w="44450">
            <a:solidFill>
              <a:srgbClr val="E09B00"/>
            </a:solidFill>
          </a:ln>
        </p:spPr>
      </p:cxnSp>
      <p:sp>
        <p:nvSpPr>
          <p:cNvPr id="19" name="Oval 18"/>
          <p:cNvSpPr/>
          <p:nvPr/>
        </p:nvSpPr>
        <p:spPr>
          <a:xfrm>
            <a:off x="7659416" y="3226665"/>
            <a:ext cx="151506" cy="292428"/>
          </a:xfrm>
          <a:prstGeom prst="ellipse">
            <a:avLst/>
          </a:prstGeom>
          <a:noFill/>
          <a:ln w="44450">
            <a:solidFill>
              <a:srgbClr val="C62828"/>
            </a:solidFill>
          </a:ln>
        </p:spPr>
        <p:txBody>
          <a:bodyPr rtlCol="0" anchor="ctr"/>
          <a:lstStyle/>
          <a:p>
            <a:pPr algn="ctr"/>
          </a:p>
        </p:txBody>
      </p:sp>
      <p:sp>
        <p:nvSpPr>
          <p:cNvPr id="20" name="Oval 19"/>
          <p:cNvSpPr/>
          <p:nvPr/>
        </p:nvSpPr>
        <p:spPr>
          <a:xfrm>
            <a:off x="7608914" y="2861130"/>
            <a:ext cx="404018" cy="316797"/>
          </a:xfrm>
          <a:prstGeom prst="ellipse">
            <a:avLst/>
          </a:prstGeom>
          <a:noFill/>
          <a:ln w="44450">
            <a:solidFill>
              <a:srgbClr val="1F5FAD"/>
            </a:solidFill>
          </a:ln>
        </p:spPr>
        <p:txBody>
          <a:bodyPr rtlCol="0" anchor="ctr"/>
          <a:lstStyle/>
          <a:p>
            <a:pPr algn="ctr"/>
          </a:p>
        </p:txBody>
      </p:sp>
      <p:sp>
        <p:nvSpPr>
          <p:cNvPr id="21" name="Oval 20"/>
          <p:cNvSpPr/>
          <p:nvPr/>
        </p:nvSpPr>
        <p:spPr>
          <a:xfrm>
            <a:off x="6438637" y="310475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31189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8334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97309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58092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34317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88597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141842"/>
            <a:ext cx="4292696" cy="0"/>
          </a:xfrm>
          <a:prstGeom prst="line">
            <a:avLst/>
          </a:prstGeom>
          <a:ln w="44450">
            <a:solidFill>
              <a:srgbClr val="E09B00"/>
            </a:solidFill>
          </a:ln>
        </p:spPr>
      </p:cxnSp>
      <p:sp>
        <p:nvSpPr>
          <p:cNvPr id="19" name="Oval 18"/>
          <p:cNvSpPr/>
          <p:nvPr/>
        </p:nvSpPr>
        <p:spPr>
          <a:xfrm>
            <a:off x="7659416" y="3153558"/>
            <a:ext cx="151506" cy="281181"/>
          </a:xfrm>
          <a:prstGeom prst="ellipse">
            <a:avLst/>
          </a:prstGeom>
          <a:noFill/>
          <a:ln w="44450">
            <a:solidFill>
              <a:srgbClr val="C62828"/>
            </a:solidFill>
          </a:ln>
        </p:spPr>
        <p:txBody>
          <a:bodyPr rtlCol="0" anchor="ctr"/>
          <a:lstStyle/>
          <a:p>
            <a:pPr algn="ctr"/>
          </a:p>
        </p:txBody>
      </p:sp>
      <p:sp>
        <p:nvSpPr>
          <p:cNvPr id="20" name="Oval 19"/>
          <p:cNvSpPr/>
          <p:nvPr/>
        </p:nvSpPr>
        <p:spPr>
          <a:xfrm>
            <a:off x="7608914" y="2802081"/>
            <a:ext cx="404018" cy="304613"/>
          </a:xfrm>
          <a:prstGeom prst="ellipse">
            <a:avLst/>
          </a:prstGeom>
          <a:noFill/>
          <a:ln w="44450">
            <a:solidFill>
              <a:srgbClr val="1F5FAD"/>
            </a:solidFill>
          </a:ln>
        </p:spPr>
        <p:txBody>
          <a:bodyPr rtlCol="0" anchor="ctr"/>
          <a:lstStyle/>
          <a:p>
            <a:pPr algn="ctr"/>
          </a:p>
        </p:txBody>
      </p:sp>
      <p:sp>
        <p:nvSpPr>
          <p:cNvPr id="21" name="Oval 20"/>
          <p:cNvSpPr/>
          <p:nvPr/>
        </p:nvSpPr>
        <p:spPr>
          <a:xfrm>
            <a:off x="6438637" y="30321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2312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346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87936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comes at the end of a run. It opens above the previous high </a:t>
            </a:r>
            <a:r>
              <a:rPr sz="1700" b="1" i="0">
                <a:solidFill>
                  <a:srgbClr val="E09B00"/>
                </a:solidFill>
                <a:latin typeface="Arial"/>
              </a:rPr>
              <a:t>(1)</a:t>
            </a:r>
            <a:r>
              <a:rPr sz="1700" b="0" i="0">
                <a:solidFill>
                  <a:srgbClr val="1A1A1A"/>
                </a:solidFill>
                <a:latin typeface="Arial"/>
              </a:rPr>
              <a:t>, pushes to a new high </a:t>
            </a:r>
            <a:r>
              <a:rPr sz="1700" b="1" i="0">
                <a:solidFill>
                  <a:srgbClr val="C62828"/>
                </a:solidFill>
                <a:latin typeface="Arial"/>
              </a:rPr>
              <a:t>(2)</a:t>
            </a:r>
            <a:r>
              <a:rPr sz="1700" b="0" i="0">
                <a:solidFill>
                  <a:srgbClr val="1A1A1A"/>
                </a:solidFill>
                <a:latin typeface="Arial"/>
              </a:rPr>
              <a:t>, then gives most of it back, and the next bar opens without a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pokes through support </a:t>
            </a:r>
            <a:r>
              <a:rPr sz="1700" b="1" i="0">
                <a:solidFill>
                  <a:srgbClr val="7B3FA0"/>
                </a:solidFill>
                <a:latin typeface="Arial"/>
              </a:rPr>
              <a:t>(1)</a:t>
            </a:r>
            <a:r>
              <a:rPr sz="1700" b="0" i="0">
                <a:solidFill>
                  <a:srgbClr val="1A1A1A"/>
                </a:solidFill>
                <a:latin typeface="Arial"/>
              </a:rPr>
              <a:t> and then closes back above it </a:t>
            </a:r>
            <a:r>
              <a:rPr sz="1700" b="1" i="0">
                <a:solidFill>
                  <a:srgbClr val="C62828"/>
                </a:solidFill>
                <a:latin typeface="Arial"/>
              </a:rPr>
              <a:t>(2)</a:t>
            </a:r>
            <a:r>
              <a:rPr sz="1700" b="0" i="0">
                <a:solidFill>
                  <a:srgbClr val="1A1A1A"/>
                </a:solidFill>
                <a:latin typeface="Arial"/>
              </a:rPr>
              <a:t>, on low volume </a:t>
            </a:r>
            <a:r>
              <a:rPr sz="1700" b="1" i="0">
                <a:solidFill>
                  <a:srgbClr val="E09B00"/>
                </a:solidFill>
                <a:latin typeface="Arial"/>
              </a:rPr>
              <a:t>(3)</a:t>
            </a:r>
            <a:r>
              <a:rPr sz="1700" b="0" i="0">
                <a:solidFill>
                  <a:srgbClr val="1A1A1A"/>
                </a:solidFill>
                <a:latin typeface="Arial"/>
              </a:rPr>
              <a:t>. Lim calls pin bars "single bar misrepresentations of market strength or weakness" (p. 227). So ask whether the bar ended a tiring run, or broke a level and came straight back.</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228).</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false breakout goes through a barrier and then comes back inside it. In the upside case, price rises through PHP 60.00 resistance to a false high of PHP 62.00 </a:t>
            </a:r>
            <a:r>
              <a:rPr sz="1700" b="1" i="0">
                <a:solidFill>
                  <a:srgbClr val="E09B00"/>
                </a:solidFill>
                <a:latin typeface="Arial"/>
              </a:rPr>
              <a:t>(1)</a:t>
            </a:r>
            <a:r>
              <a:rPr sz="1700" b="0" i="0">
                <a:solidFill>
                  <a:srgbClr val="1A1A1A"/>
                </a:solidFill>
                <a:latin typeface="Arial"/>
              </a:rPr>
              <a:t>, then closes back below it at PHP 59.40 </a:t>
            </a:r>
            <a:r>
              <a:rPr sz="1700" b="1" i="0">
                <a:solidFill>
                  <a:srgbClr val="1F5FAD"/>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downside case, price falls through PHP 40.00 support to a false low of PHP 38.50 </a:t>
            </a:r>
            <a:r>
              <a:rPr sz="1700" b="1" i="0">
                <a:solidFill>
                  <a:srgbClr val="C62828"/>
                </a:solidFill>
                <a:latin typeface="Arial"/>
              </a:rPr>
              <a:t>(1)</a:t>
            </a:r>
            <a:r>
              <a:rPr sz="1700" b="0" i="0">
                <a:solidFill>
                  <a:srgbClr val="1A1A1A"/>
                </a:solidFill>
                <a:latin typeface="Arial"/>
              </a:rPr>
              <a:t>, then closes back above it at PHP 40.60 </a:t>
            </a:r>
            <a:r>
              <a:rPr sz="1700" b="1" i="0">
                <a:solidFill>
                  <a:srgbClr val="7B3FA0"/>
                </a:solidFill>
                <a:latin typeface="Arial"/>
              </a:rPr>
              <a:t>(2)</a:t>
            </a:r>
            <a:r>
              <a:rPr sz="1700" b="0" i="0">
                <a:solidFill>
                  <a:srgbClr val="1A1A1A"/>
                </a:solidFill>
                <a:latin typeface="Arial"/>
              </a:rPr>
              <a:t> (p. 228).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the short is taken once price falls back below resistance, with the stoploss just above the high of the breakout (p. 228). Here is that trade with simple prices. Resistance sits at PHP 60.00 </a:t>
            </a:r>
            <a:r>
              <a:rPr sz="1700" b="1" i="0">
                <a:solidFill>
                  <a:srgbClr val="E09B00"/>
                </a:solidFill>
                <a:latin typeface="Arial"/>
              </a:rPr>
              <a:t>(1)</a:t>
            </a:r>
            <a:r>
              <a:rPr sz="1700" b="0" i="0">
                <a:solidFill>
                  <a:srgbClr val="1A1A1A"/>
                </a:solidFill>
                <a:latin typeface="Arial"/>
              </a:rPr>
              <a:t>. Price breaks above it to a high of PHP 62.00 </a:t>
            </a:r>
            <a:r>
              <a:rPr sz="1700" b="1" i="0">
                <a:solidFill>
                  <a:srgbClr val="C62828"/>
                </a:solidFill>
                <a:latin typeface="Arial"/>
              </a:rPr>
              <a:t>(2)</a:t>
            </a:r>
            <a:r>
              <a:rPr sz="1700" b="0" i="0">
                <a:solidFill>
                  <a:srgbClr val="1A1A1A"/>
                </a:solidFill>
                <a:latin typeface="Arial"/>
              </a:rPr>
              <a:t>, then closes back below it at PHP 59.40 </a:t>
            </a:r>
            <a:r>
              <a:rPr sz="1700" b="1" i="0">
                <a:solidFill>
                  <a:srgbClr val="1F5FAD"/>
                </a:solidFill>
                <a:latin typeface="Arial"/>
              </a:rPr>
              <a:t>(3)</a:t>
            </a:r>
            <a:r>
              <a:rPr sz="1700" b="0" i="0">
                <a:solidFill>
                  <a:srgbClr val="1A1A1A"/>
                </a:solidFill>
                <a:latin typeface="Arial"/>
              </a:rPr>
              <a:t>, and that close is the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stoploss goes just above the breakout high, at PHP 62.50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this a non-failure swing and Sperandeo's 2B entry, but defines neither name (p. 228). For us the pattern is a break above resistance that closes back below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resistance, red </a:t>
            </a:r>
            <a:r>
              <a:rPr sz="2000" b="1" i="0">
                <a:solidFill>
                  <a:srgbClr val="C62828"/>
                </a:solidFill>
                <a:latin typeface="Arial"/>
              </a:rPr>
              <a:t>(2)</a:t>
            </a:r>
            <a:r>
              <a:rPr sz="2000" b="0" i="0">
                <a:solidFill>
                  <a:srgbClr val="1A1A1A"/>
                </a:solidFill>
                <a:latin typeface="Arial"/>
              </a:rPr>
              <a:t> the false high, blue </a:t>
            </a:r>
            <a:r>
              <a:rPr sz="2000" b="1" i="0">
                <a:solidFill>
                  <a:srgbClr val="1F5FAD"/>
                </a:solidFill>
                <a:latin typeface="Arial"/>
              </a:rPr>
              <a:t>(3)</a:t>
            </a:r>
            <a:r>
              <a:rPr sz="2000" b="0" i="0">
                <a:solidFill>
                  <a:srgbClr val="1A1A1A"/>
                </a:solidFill>
                <a:latin typeface="Arial"/>
              </a:rPr>
              <a:t> the close back below, and purple </a:t>
            </a:r>
            <a:r>
              <a:rPr sz="2000" b="1" i="0">
                <a:solidFill>
                  <a:srgbClr val="7B3FA0"/>
                </a:solidFill>
                <a:latin typeface="Arial"/>
              </a:rPr>
              <a:t>(4)</a:t>
            </a:r>
            <a:r>
              <a:rPr sz="2000" b="0" i="0">
                <a:solidFill>
                  <a:srgbClr val="1A1A1A"/>
                </a:solidFill>
                <a:latin typeface="Arial"/>
              </a:rPr>
              <a:t> the stop above the high.</a:t>
            </a:r>
          </a:p>
        </p:txBody>
      </p:sp>
      <p:sp>
        <p:nvSpPr>
          <p:cNvPr id="8" name="Rectangle 7"/>
          <p:cNvSpPr/>
          <p:nvPr/>
        </p:nvSpPr>
        <p:spPr>
          <a:xfrm>
            <a:off x="61510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99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99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442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7314455" y="2301581"/>
            <a:ext cx="1420564" cy="0"/>
          </a:xfrm>
          <a:prstGeom prst="line">
            <a:avLst/>
          </a:prstGeom>
          <a:ln w="44450">
            <a:solidFill>
              <a:srgbClr val="E09B00"/>
            </a:solidFill>
          </a:ln>
        </p:spPr>
      </p:cxnSp>
      <p:sp>
        <p:nvSpPr>
          <p:cNvPr id="13" name="Oval 12"/>
          <p:cNvSpPr/>
          <p:nvPr/>
        </p:nvSpPr>
        <p:spPr>
          <a:xfrm>
            <a:off x="74815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77740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398017" y="2034722"/>
            <a:ext cx="626720" cy="0"/>
          </a:xfrm>
          <a:prstGeom prst="line">
            <a:avLst/>
          </a:prstGeom>
          <a:ln w="44450">
            <a:solidFill>
              <a:srgbClr val="7B3FA0"/>
            </a:solidFill>
          </a:ln>
        </p:spPr>
      </p:cxnSp>
      <p:sp>
        <p:nvSpPr>
          <p:cNvPr id="16" name="Oval 15"/>
          <p:cNvSpPr/>
          <p:nvPr/>
        </p:nvSpPr>
        <p:spPr>
          <a:xfrm>
            <a:off x="8750635" y="22058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246508" y="245168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165696"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183836" y="192499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is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is the close back below resistance; purple </a:t>
            </a:r>
            <a:r>
              <a:rPr sz="1700" b="1" i="0">
                <a:solidFill>
                  <a:srgbClr val="7B3FA0"/>
                </a:solidFill>
                <a:latin typeface="Arial"/>
              </a:rPr>
              <a:t>(4)</a:t>
            </a:r>
            <a:r>
              <a:rPr sz="1700" b="0" i="0">
                <a:solidFill>
                  <a:srgbClr val="1A1A1A"/>
                </a:solidFill>
                <a:latin typeface="Arial"/>
              </a:rPr>
              <a:t> the close back above support.</a:t>
            </a:r>
          </a:p>
          <a:p>
            <a:pPr algn="l">
              <a:lnSpc>
                <a:spcPct val="105000"/>
              </a:lnSpc>
              <a:spcBef>
                <a:spcPts val="0"/>
              </a:spcBef>
              <a:spcAft>
                <a:spcPts val="1100"/>
              </a:spcAft>
            </a:pPr>
            <a:r>
              <a:rPr sz="1700" b="0" i="0">
                <a:solidFill>
                  <a:srgbClr val="1A1A1A"/>
                </a:solidFill>
                <a:latin typeface="Arial"/>
              </a:rPr>
              <a:t>In our example, the closes return to PHP 59.40 under PHP 60.00 resistance and PHP 40.60 over PHP 40.00 support.</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228).</a:t>
            </a:r>
          </a:p>
        </p:txBody>
      </p:sp>
      <p:sp>
        <p:nvSpPr>
          <p:cNvPr id="8" name="Rectangle 7"/>
          <p:cNvSpPr/>
          <p:nvPr/>
        </p:nvSpPr>
        <p:spPr>
          <a:xfrm>
            <a:off x="5303519" y="1810512"/>
            <a:ext cx="6110935" cy="325253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01478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55758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243081" y="2652933"/>
            <a:ext cx="176195" cy="211035"/>
          </a:xfrm>
          <a:prstGeom prst="ellipse">
            <a:avLst/>
          </a:prstGeom>
          <a:noFill/>
          <a:ln w="44450">
            <a:solidFill>
              <a:srgbClr val="E09B00"/>
            </a:solidFill>
          </a:ln>
        </p:spPr>
        <p:txBody>
          <a:bodyPr rtlCol="0" anchor="ctr"/>
          <a:lstStyle/>
          <a:p>
            <a:pPr algn="ctr"/>
          </a:p>
        </p:txBody>
      </p:sp>
      <p:sp>
        <p:nvSpPr>
          <p:cNvPr id="13" name="Oval 12"/>
          <p:cNvSpPr/>
          <p:nvPr/>
        </p:nvSpPr>
        <p:spPr>
          <a:xfrm>
            <a:off x="8916940" y="3768405"/>
            <a:ext cx="205561" cy="195961"/>
          </a:xfrm>
          <a:prstGeom prst="ellipse">
            <a:avLst/>
          </a:prstGeom>
          <a:noFill/>
          <a:ln w="44450">
            <a:solidFill>
              <a:srgbClr val="C62828"/>
            </a:solidFill>
          </a:ln>
        </p:spPr>
        <p:txBody>
          <a:bodyPr rtlCol="0" anchor="ctr"/>
          <a:lstStyle/>
          <a:p>
            <a:pPr algn="ctr"/>
          </a:p>
        </p:txBody>
      </p:sp>
      <p:sp>
        <p:nvSpPr>
          <p:cNvPr id="14" name="Oval 13"/>
          <p:cNvSpPr/>
          <p:nvPr/>
        </p:nvSpPr>
        <p:spPr>
          <a:xfrm>
            <a:off x="7431023" y="2818746"/>
            <a:ext cx="164449" cy="226109"/>
          </a:xfrm>
          <a:prstGeom prst="ellipse">
            <a:avLst/>
          </a:prstGeom>
          <a:noFill/>
          <a:ln w="44450">
            <a:solidFill>
              <a:srgbClr val="1F5FAD"/>
            </a:solidFill>
          </a:ln>
        </p:spPr>
        <p:txBody>
          <a:bodyPr rtlCol="0" anchor="ctr"/>
          <a:lstStyle/>
          <a:p>
            <a:pPr algn="ctr"/>
          </a:p>
        </p:txBody>
      </p:sp>
      <p:sp>
        <p:nvSpPr>
          <p:cNvPr id="15" name="Oval 14"/>
          <p:cNvSpPr/>
          <p:nvPr/>
        </p:nvSpPr>
        <p:spPr>
          <a:xfrm>
            <a:off x="9110755" y="3632739"/>
            <a:ext cx="187942" cy="150739"/>
          </a:xfrm>
          <a:prstGeom prst="ellipse">
            <a:avLst/>
          </a:prstGeom>
          <a:noFill/>
          <a:ln w="44450">
            <a:solidFill>
              <a:srgbClr val="7B3FA0"/>
            </a:solidFill>
          </a:ln>
        </p:spPr>
        <p:txBody>
          <a:bodyPr rtlCol="0" anchor="ctr"/>
          <a:lstStyle/>
          <a:p>
            <a:pPr algn="ctr"/>
          </a:p>
        </p:txBody>
      </p:sp>
      <p:sp>
        <p:nvSpPr>
          <p:cNvPr id="16" name="Oval 15"/>
          <p:cNvSpPr/>
          <p:nvPr/>
        </p:nvSpPr>
        <p:spPr>
          <a:xfrm>
            <a:off x="6986523" y="242261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30238" y="393000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7661940" y="302557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335799" y="371897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154484"/>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228 to 229, Figure 7.32. The crop and marks are for teaching; the PHP prices in the text are ours, invented.</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228).</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228).</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Joe DiNapoli's Double Repo is a topping pattern. In an uptrend, price closes above and below a three-day simple moving average (SMA) twice, and that gives a sell signal (p. 229).</a:t>
            </a:r>
          </a:p>
          <a:p>
            <a:pPr algn="l">
              <a:lnSpc>
                <a:spcPct val="118000"/>
              </a:lnSpc>
              <a:spcBef>
                <a:spcPts val="0"/>
              </a:spcBef>
              <a:spcAft>
                <a:spcPts val="1300"/>
              </a:spcAft>
            </a:pPr>
            <a:r>
              <a:rPr sz="2100" b="0" i="0">
                <a:solidFill>
                  <a:srgbClr val="1A1A1A"/>
                </a:solidFill>
                <a:latin typeface="Arial"/>
              </a:rPr>
              <a:t>The SMA is forward shifted by three days. DiNapoli also asks for at least eight to ten days of bullish price action first, and a top of no more than eight to ten bars.</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the bullish run, then two closes below the line inside a short top.</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Double Repo with simple closes. The dashed line is the three-day SMA shifted three days forward: each point is the average of the three closes that ended three bars earlier, so the line starts at bar 6. For ten bars every close is higher than the one before, from PHP 45.00 up to PHP 50.70 </a:t>
            </a:r>
            <a:r>
              <a:rPr sz="1700" b="1" i="0">
                <a:solidFill>
                  <a:srgbClr val="E09B00"/>
                </a:solidFill>
                <a:latin typeface="Arial"/>
              </a:rPr>
              <a:t>(1)</a:t>
            </a:r>
            <a:r>
              <a:rPr sz="1700" b="0" i="0">
                <a:solidFill>
                  <a:srgbClr val="1A1A1A"/>
                </a:solidFill>
                <a:latin typeface="Arial"/>
              </a:rPr>
              <a:t>, well above the line. That is the bullish run DiNapoli asks for first.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65</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the top forms. At bar 13 price closes at PHP 49.20, below the line at PHP 50.10 </a:t>
            </a:r>
            <a:r>
              <a:rPr sz="1700" b="1" i="0">
                <a:solidFill>
                  <a:srgbClr val="C62828"/>
                </a:solidFill>
                <a:latin typeface="Arial"/>
              </a:rPr>
              <a:t>(2)</a:t>
            </a:r>
            <a:r>
              <a:rPr sz="1700" b="0" i="0">
                <a:solidFill>
                  <a:srgbClr val="1A1A1A"/>
                </a:solidFill>
                <a:latin typeface="Arial"/>
              </a:rPr>
              <a:t>. At bar 14 it closes back above, at PHP 50.70 against PHP 50.40 </a:t>
            </a:r>
            <a:r>
              <a:rPr sz="1700" b="1" i="0">
                <a:solidFill>
                  <a:srgbClr val="1F5FAD"/>
                </a:solidFill>
                <a:latin typeface="Arial"/>
              </a:rPr>
              <a:t>(3)</a:t>
            </a:r>
            <a:r>
              <a:rPr sz="1700" b="0" i="0">
                <a:solidFill>
                  <a:srgbClr val="1A1A1A"/>
                </a:solidFill>
                <a:latin typeface="Arial"/>
              </a:rPr>
              <a:t>. At bar 15 it closes below again, at PHP 49.40 against PHP 50.30 </a:t>
            </a:r>
            <a:r>
              <a:rPr sz="1700" b="1" i="0">
                <a:solidFill>
                  <a:srgbClr val="7B3FA0"/>
                </a:solidFill>
                <a:latin typeface="Arial"/>
              </a:rPr>
              <a:t>(4)</a:t>
            </a:r>
            <a:r>
              <a:rPr sz="1700" b="0" i="0">
                <a:solidFill>
                  <a:srgbClr val="1A1A1A"/>
                </a:solidFill>
                <a:latin typeface="Arial"/>
              </a:rPr>
              <a:t>. That second close below is the sell signal, five bars into the top, and the next bar falls to PHP 48.30.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30722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796808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924086" y="4183053"/>
            <a:ext cx="87782" cy="87782"/>
          </a:xfrm>
          <a:prstGeom prst="ellipse">
            <a:avLst/>
          </a:prstGeom>
          <a:noFill/>
          <a:ln w="44450">
            <a:solidFill>
              <a:srgbClr val="7B3FA0"/>
            </a:solidFill>
          </a:ln>
        </p:spPr>
        <p:txBody>
          <a:bodyPr rtlCol="0" anchor="ctr"/>
          <a:lstStyle/>
          <a:p>
            <a:pPr algn="ctr"/>
          </a:p>
        </p:txBody>
      </p:sp>
      <p:sp>
        <p:nvSpPr>
          <p:cNvPr id="12" name="Oval 11"/>
          <p:cNvSpPr/>
          <p:nvPr/>
        </p:nvSpPr>
        <p:spPr>
          <a:xfrm>
            <a:off x="7099858" y="4223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8055863"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11869" y="409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a close above the forward-shifted three-day SMA and red </a:t>
            </a:r>
            <a:r>
              <a:rPr sz="1700" b="1" i="0">
                <a:solidFill>
                  <a:srgbClr val="C62828"/>
                </a:solidFill>
                <a:latin typeface="Arial"/>
              </a:rPr>
              <a:t>(2)</a:t>
            </a:r>
            <a:r>
              <a:rPr sz="1700" b="0" i="0">
                <a:solidFill>
                  <a:srgbClr val="1A1A1A"/>
                </a:solidFill>
                <a:latin typeface="Arial"/>
              </a:rPr>
              <a:t> the first close below it, inside the topping block. Blue </a:t>
            </a:r>
            <a:r>
              <a:rPr sz="1700" b="1" i="0">
                <a:solidFill>
                  <a:srgbClr val="1F5FAD"/>
                </a:solidFill>
                <a:latin typeface="Arial"/>
              </a:rPr>
              <a:t>(3)</a:t>
            </a:r>
            <a:r>
              <a:rPr sz="1700" b="0" i="0">
                <a:solidFill>
                  <a:srgbClr val="1A1A1A"/>
                </a:solidFill>
                <a:latin typeface="Arial"/>
              </a:rPr>
              <a:t> marks the later decline.</a:t>
            </a:r>
          </a:p>
          <a:p>
            <a:pPr algn="l">
              <a:lnSpc>
                <a:spcPct val="105000"/>
              </a:lnSpc>
              <a:spcBef>
                <a:spcPts val="0"/>
              </a:spcBef>
              <a:spcAft>
                <a:spcPts val="1100"/>
              </a:spcAft>
            </a:pPr>
            <a:r>
              <a:rPr sz="17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700" b="0" i="0">
                <a:solidFill>
                  <a:srgbClr val="1A1A1A"/>
                </a:solidFill>
                <a:latin typeface="Arial"/>
              </a:rPr>
              <a:t>Read the two crossings as the named structure, not as a complete trading system.</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7771668" y="2243893"/>
            <a:ext cx="146829" cy="183463"/>
          </a:xfrm>
          <a:prstGeom prst="ellipse">
            <a:avLst/>
          </a:prstGeom>
          <a:noFill/>
          <a:ln w="44450">
            <a:solidFill>
              <a:srgbClr val="E09B00"/>
            </a:solidFill>
          </a:ln>
        </p:spPr>
        <p:txBody>
          <a:bodyPr rtlCol="0" anchor="ctr"/>
          <a:lstStyle/>
          <a:p>
            <a:pPr algn="ctr"/>
          </a:p>
        </p:txBody>
      </p:sp>
      <p:sp>
        <p:nvSpPr>
          <p:cNvPr id="13" name="Oval 12"/>
          <p:cNvSpPr/>
          <p:nvPr/>
        </p:nvSpPr>
        <p:spPr>
          <a:xfrm>
            <a:off x="7918498" y="2453566"/>
            <a:ext cx="146829" cy="23588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887574" y="2977748"/>
            <a:ext cx="1057175" cy="733855"/>
          </a:xfrm>
          <a:prstGeom prst="line">
            <a:avLst/>
          </a:prstGeom>
          <a:ln w="44450">
            <a:solidFill>
              <a:srgbClr val="1F5FAD"/>
            </a:solidFill>
            <a:tailEnd type="triangle" w="med" len="med"/>
          </a:ln>
        </p:spPr>
      </p:cxnSp>
      <p:sp>
        <p:nvSpPr>
          <p:cNvPr id="15" name="Oval 14"/>
          <p:cNvSpPr/>
          <p:nvPr/>
        </p:nvSpPr>
        <p:spPr>
          <a:xfrm>
            <a:off x="7632574" y="195070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02429" y="256661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69948" y="370671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forward-shifted three-day SMA. Red </a:t>
            </a:r>
            <a:r>
              <a:rPr sz="1900" b="1" i="0">
                <a:solidFill>
                  <a:srgbClr val="C62828"/>
                </a:solidFill>
                <a:latin typeface="Arial"/>
              </a:rPr>
              <a:t>(2)</a:t>
            </a:r>
            <a:r>
              <a:rPr sz="1900" b="0" i="0">
                <a:solidFill>
                  <a:srgbClr val="1A1A1A"/>
                </a:solidFill>
                <a:latin typeface="Arial"/>
              </a:rPr>
              <a:t> marks the required 8 to 10 bullish days before the pattern.</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1900" b="0" i="0">
                <a:solidFill>
                  <a:srgbClr val="1A1A1A"/>
                </a:solidFill>
                <a:latin typeface="Arial"/>
              </a:rPr>
              <a:t>Count both limits before treating the two crossings as the named sell signal.</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535183" y="2335625"/>
            <a:ext cx="1057174" cy="576600"/>
          </a:xfrm>
          <a:prstGeom prst="line">
            <a:avLst/>
          </a:prstGeom>
          <a:ln w="44450">
            <a:solidFill>
              <a:srgbClr val="E09B00"/>
            </a:solidFill>
          </a:ln>
        </p:spPr>
      </p:cxnSp>
      <p:sp>
        <p:nvSpPr>
          <p:cNvPr id="13" name="Oval 12"/>
          <p:cNvSpPr/>
          <p:nvPr/>
        </p:nvSpPr>
        <p:spPr>
          <a:xfrm>
            <a:off x="6597030" y="2401148"/>
            <a:ext cx="1174638" cy="314509"/>
          </a:xfrm>
          <a:prstGeom prst="ellipse">
            <a:avLst/>
          </a:prstGeom>
          <a:noFill/>
          <a:ln w="44450">
            <a:solidFill>
              <a:srgbClr val="C62828"/>
            </a:solidFill>
          </a:ln>
        </p:spPr>
        <p:txBody>
          <a:bodyPr rtlCol="0" anchor="ctr"/>
          <a:lstStyle/>
          <a:p>
            <a:pPr algn="ctr"/>
          </a:p>
        </p:txBody>
      </p:sp>
      <p:sp>
        <p:nvSpPr>
          <p:cNvPr id="14" name="Rectangle 13"/>
          <p:cNvSpPr/>
          <p:nvPr/>
        </p:nvSpPr>
        <p:spPr>
          <a:xfrm>
            <a:off x="7742302" y="2139056"/>
            <a:ext cx="763514" cy="629018"/>
          </a:xfrm>
          <a:prstGeom prst="rect">
            <a:avLst/>
          </a:prstGeom>
          <a:noFill/>
          <a:ln w="44450">
            <a:solidFill>
              <a:srgbClr val="1F5FAD"/>
            </a:solidFill>
          </a:ln>
        </p:spPr>
        <p:txBody>
          <a:bodyPr rtlCol="0" anchor="ctr"/>
          <a:lstStyle/>
          <a:p>
            <a:pPr algn="ctr"/>
          </a:p>
        </p:txBody>
      </p:sp>
      <p:sp>
        <p:nvSpPr>
          <p:cNvPr id="15" name="Oval 14"/>
          <p:cNvSpPr/>
          <p:nvPr/>
        </p:nvSpPr>
        <p:spPr>
          <a:xfrm>
            <a:off x="9776289" y="22914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722229" y="286802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2919" y="22652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the Hikkake. Lim says the word means to trap or ensnare: price breaks out of an inside bar, the breakout fails, and the traders who followed it are caught (p. 230).</a:t>
            </a:r>
          </a:p>
          <a:p>
            <a:pPr algn="l">
              <a:lnSpc>
                <a:spcPct val="118000"/>
              </a:lnSpc>
              <a:spcBef>
                <a:spcPts val="0"/>
              </a:spcBef>
              <a:spcAft>
                <a:spcPts val="1300"/>
              </a:spcAft>
            </a:pPr>
            <a:r>
              <a:rPr sz="2100" b="0" i="0">
                <a:solidFill>
                  <a:srgbClr val="1A1A1A"/>
                </a:solidFill>
                <a:latin typeface="Arial"/>
              </a:rPr>
              <a:t>So we take the entry only in the opposite direction of the failed breakout, once price breaks the other side of the inside bar. Lim says that breakout should come within three bars of the failed one (p. 230).</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prints the Hikkake at the start of section 7.4, but it is a failed-breakout reversal, so we finish Part 3 with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Hikkake with simple prices. Bar 2 is the inside bar </a:t>
            </a:r>
            <a:r>
              <a:rPr sz="1700" b="1" i="0">
                <a:solidFill>
                  <a:srgbClr val="E09B00"/>
                </a:solidFill>
                <a:latin typeface="Arial"/>
              </a:rPr>
              <a:t>(1)</a:t>
            </a:r>
            <a:r>
              <a:rPr sz="1700" b="0" i="0">
                <a:solidFill>
                  <a:srgbClr val="1A1A1A"/>
                </a:solidFill>
                <a:latin typeface="Arial"/>
              </a:rPr>
              <a:t>: it stays inside bar 1, between PHP 49.00 and PHP 52.00. Bar 3 breaks above the inside high to PHP 53.00 </a:t>
            </a:r>
            <a:r>
              <a:rPr sz="1700" b="1" i="0">
                <a:solidFill>
                  <a:srgbClr val="C62828"/>
                </a:solidFill>
                <a:latin typeface="Arial"/>
              </a:rPr>
              <a:t>(2)</a:t>
            </a:r>
            <a:r>
              <a:rPr sz="1700" b="0" i="0">
                <a:solidFill>
                  <a:srgbClr val="1A1A1A"/>
                </a:solidFill>
                <a:latin typeface="Arial"/>
              </a:rPr>
              <a:t> and closes at PHP 52.50, so it looks like an upside breakout. Bar 4 falls back and closes at PHP 48.70, below the inside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close is the short entry: the opposite direction of the failed breakout, one bar after it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the inside bar </a:t>
            </a:r>
            <a:r>
              <a:rPr sz="1700" b="1" i="0">
                <a:solidFill>
                  <a:srgbClr val="E09B00"/>
                </a:solidFill>
                <a:latin typeface="Arial"/>
              </a:rPr>
              <a:t>(1)</a:t>
            </a:r>
            <a:r>
              <a:rPr sz="1700" b="0" i="0">
                <a:solidFill>
                  <a:srgbClr val="1A1A1A"/>
                </a:solidFill>
                <a:latin typeface="Arial"/>
              </a:rPr>
              <a:t> runs from PHP 40.00 to PHP 43.00. Bar 3 breaks below it to a false low of PHP 39.00 </a:t>
            </a:r>
            <a:r>
              <a:rPr sz="1700" b="1" i="0">
                <a:solidFill>
                  <a:srgbClr val="C62828"/>
                </a:solidFill>
                <a:latin typeface="Arial"/>
              </a:rPr>
              <a:t>(2)</a:t>
            </a:r>
            <a:r>
              <a:rPr sz="1700" b="0" i="0">
                <a:solidFill>
                  <a:srgbClr val="1A1A1A"/>
                </a:solidFill>
                <a:latin typeface="Arial"/>
              </a:rPr>
              <a:t>, then bar 4 closes at PHP 43.40, above the inside high, and that is the long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3321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47786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34403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49537" y="2982772"/>
            <a:ext cx="150948" cy="983162"/>
          </a:xfrm>
          <a:prstGeom prst="rect">
            <a:avLst/>
          </a:prstGeom>
          <a:noFill/>
          <a:ln w="44450">
            <a:solidFill>
              <a:srgbClr val="E09B00"/>
            </a:solidFill>
          </a:ln>
        </p:spPr>
        <p:txBody>
          <a:bodyPr rtlCol="0" anchor="ctr"/>
          <a:lstStyle/>
          <a:p>
            <a:pPr algn="ctr"/>
          </a:p>
        </p:txBody>
      </p:sp>
      <p:sp>
        <p:nvSpPr>
          <p:cNvPr id="13" name="Oval 12"/>
          <p:cNvSpPr/>
          <p:nvPr/>
        </p:nvSpPr>
        <p:spPr>
          <a:xfrm>
            <a:off x="8113696" y="3895709"/>
            <a:ext cx="188685" cy="667146"/>
          </a:xfrm>
          <a:prstGeom prst="ellipse">
            <a:avLst/>
          </a:prstGeom>
          <a:noFill/>
          <a:ln w="44450">
            <a:solidFill>
              <a:srgbClr val="C62828"/>
            </a:solidFill>
          </a:ln>
        </p:spPr>
        <p:txBody>
          <a:bodyPr rtlCol="0" anchor="ctr"/>
          <a:lstStyle/>
          <a:p>
            <a:pPr algn="ctr"/>
          </a:p>
        </p:txBody>
      </p:sp>
      <p:sp>
        <p:nvSpPr>
          <p:cNvPr id="14" name="Oval 13"/>
          <p:cNvSpPr/>
          <p:nvPr/>
        </p:nvSpPr>
        <p:spPr>
          <a:xfrm>
            <a:off x="8736358" y="2842320"/>
            <a:ext cx="188685" cy="421355"/>
          </a:xfrm>
          <a:prstGeom prst="ellipse">
            <a:avLst/>
          </a:prstGeom>
          <a:noFill/>
          <a:ln w="44450">
            <a:solidFill>
              <a:srgbClr val="1F5FAD"/>
            </a:solidFill>
          </a:ln>
        </p:spPr>
        <p:txBody>
          <a:bodyPr rtlCol="0" anchor="ctr"/>
          <a:lstStyle/>
          <a:p>
            <a:pPr algn="ctr"/>
          </a:p>
        </p:txBody>
      </p:sp>
      <p:sp>
        <p:nvSpPr>
          <p:cNvPr id="15" name="Oval 14"/>
          <p:cNvSpPr/>
          <p:nvPr/>
        </p:nvSpPr>
        <p:spPr>
          <a:xfrm>
            <a:off x="7796414" y="269748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324733" y="448824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04000" y="322417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377823" y="2947659"/>
            <a:ext cx="169816" cy="1053388"/>
          </a:xfrm>
          <a:prstGeom prst="rect">
            <a:avLst/>
          </a:prstGeom>
          <a:noFill/>
          <a:ln w="44450">
            <a:solidFill>
              <a:srgbClr val="E09B00"/>
            </a:solidFill>
          </a:ln>
        </p:spPr>
        <p:txBody>
          <a:bodyPr rtlCol="0" anchor="ctr"/>
          <a:lstStyle/>
          <a:p>
            <a:pPr algn="ctr"/>
          </a:p>
        </p:txBody>
      </p:sp>
      <p:sp>
        <p:nvSpPr>
          <p:cNvPr id="13" name="Oval 12"/>
          <p:cNvSpPr/>
          <p:nvPr/>
        </p:nvSpPr>
        <p:spPr>
          <a:xfrm>
            <a:off x="7641983" y="2596530"/>
            <a:ext cx="188685" cy="526694"/>
          </a:xfrm>
          <a:prstGeom prst="ellipse">
            <a:avLst/>
          </a:prstGeom>
          <a:noFill/>
          <a:ln w="44450">
            <a:solidFill>
              <a:srgbClr val="C62828"/>
            </a:solidFill>
          </a:ln>
        </p:spPr>
        <p:txBody>
          <a:bodyPr rtlCol="0" anchor="ctr"/>
          <a:lstStyle/>
          <a:p>
            <a:pPr algn="ctr"/>
          </a:p>
        </p:txBody>
      </p:sp>
      <p:sp>
        <p:nvSpPr>
          <p:cNvPr id="14" name="Oval 13"/>
          <p:cNvSpPr/>
          <p:nvPr/>
        </p:nvSpPr>
        <p:spPr>
          <a:xfrm>
            <a:off x="8264644" y="3685031"/>
            <a:ext cx="188685" cy="491581"/>
          </a:xfrm>
          <a:prstGeom prst="ellipse">
            <a:avLst/>
          </a:prstGeom>
          <a:noFill/>
          <a:ln w="44450">
            <a:solidFill>
              <a:srgbClr val="1F5FAD"/>
            </a:solidFill>
          </a:ln>
        </p:spPr>
        <p:txBody>
          <a:bodyPr rtlCol="0" anchor="ctr"/>
          <a:lstStyle/>
          <a:p>
            <a:pPr algn="ctr"/>
          </a:p>
        </p:txBody>
      </p:sp>
      <p:sp>
        <p:nvSpPr>
          <p:cNvPr id="15" name="Oval 14"/>
          <p:cNvSpPr/>
          <p:nvPr/>
        </p:nvSpPr>
        <p:spPr>
          <a:xfrm>
            <a:off x="7343570" y="266236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456781" y="239901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022837" y="413711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65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Hikkake formation at the channel bottom, red </a:t>
            </a:r>
            <a:r>
              <a:rPr sz="1900" b="1" i="0">
                <a:solidFill>
                  <a:srgbClr val="C62828"/>
                </a:solidFill>
                <a:latin typeface="Arial"/>
              </a:rPr>
              <a:t>(2)</a:t>
            </a:r>
            <a:r>
              <a:rPr sz="1900" b="0" i="0">
                <a:solidFill>
                  <a:srgbClr val="1A1A1A"/>
                </a:solidFill>
                <a:latin typeface="Arial"/>
              </a:rPr>
              <a:t> its failed downside breakout, and blue </a:t>
            </a:r>
            <a:r>
              <a:rPr sz="1900" b="1" i="0">
                <a:solidFill>
                  <a:srgbClr val="1F5FAD"/>
                </a:solidFill>
                <a:latin typeface="Arial"/>
              </a:rPr>
              <a:t>(3)</a:t>
            </a:r>
            <a:r>
              <a:rPr sz="1900" b="0" i="0">
                <a:solidFill>
                  <a:srgbClr val="1A1A1A"/>
                </a:solidFill>
                <a:latin typeface="Arial"/>
              </a:rPr>
              <a:t> the upside re-entry.</a:t>
            </a:r>
          </a:p>
          <a:p>
            <a:pPr algn="l">
              <a:lnSpc>
                <a:spcPct val="105000"/>
              </a:lnSpc>
              <a:spcBef>
                <a:spcPts val="0"/>
              </a:spcBef>
              <a:spcAft>
                <a:spcPts val="1100"/>
              </a:spcAft>
            </a:pPr>
            <a:r>
              <a:rPr sz="1900" b="0" i="0">
                <a:solidFill>
                  <a:srgbClr val="1A1A1A"/>
                </a:solidFill>
                <a:latin typeface="Arial"/>
              </a:rPr>
              <a:t>Lim notes the pattern forms on high volume, a selling climax, with stochastics oversold (pp. 230 to 231). The book draws the linear regression channel but does not teach it in this chapter.</a:t>
            </a:r>
          </a:p>
        </p:txBody>
      </p:sp>
      <p:sp>
        <p:nvSpPr>
          <p:cNvPr id="8" name="Rectangle 7"/>
          <p:cNvSpPr/>
          <p:nvPr/>
        </p:nvSpPr>
        <p:spPr>
          <a:xfrm>
            <a:off x="611143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3030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3030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0462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018398" y="3404128"/>
            <a:ext cx="340588" cy="351129"/>
          </a:xfrm>
          <a:prstGeom prst="rect">
            <a:avLst/>
          </a:prstGeom>
          <a:noFill/>
          <a:ln w="44450">
            <a:solidFill>
              <a:srgbClr val="E09B00"/>
            </a:solidFill>
          </a:ln>
        </p:spPr>
        <p:txBody>
          <a:bodyPr rtlCol="0" anchor="ctr"/>
          <a:lstStyle/>
          <a:p>
            <a:pPr algn="ctr"/>
          </a:p>
        </p:txBody>
      </p:sp>
      <p:sp>
        <p:nvSpPr>
          <p:cNvPr id="13" name="Oval 12"/>
          <p:cNvSpPr/>
          <p:nvPr/>
        </p:nvSpPr>
        <p:spPr>
          <a:xfrm>
            <a:off x="8124832" y="3614806"/>
            <a:ext cx="106434" cy="140451"/>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273840" y="3088111"/>
            <a:ext cx="170294" cy="386243"/>
          </a:xfrm>
          <a:prstGeom prst="line">
            <a:avLst/>
          </a:prstGeom>
          <a:ln w="44450">
            <a:solidFill>
              <a:srgbClr val="1F5FAD"/>
            </a:solidFill>
            <a:tailEnd type="triangle" w="med" len="med"/>
          </a:ln>
        </p:spPr>
      </p:cxnSp>
      <p:sp>
        <p:nvSpPr>
          <p:cNvPr id="15" name="Oval 14"/>
          <p:cNvSpPr/>
          <p:nvPr/>
        </p:nvSpPr>
        <p:spPr>
          <a:xfrm>
            <a:off x="7695802" y="322417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02236" y="357530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398267" y="283793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230 to 231, Figure 7.35. The crop and marks are for teaching.</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620666" y="2519172"/>
            <a:ext cx="199004" cy="1234439"/>
          </a:xfrm>
          <a:prstGeom prst="rect">
            <a:avLst/>
          </a:prstGeom>
          <a:noFill/>
          <a:ln w="44450">
            <a:solidFill>
              <a:srgbClr val="E09B00"/>
            </a:solidFill>
          </a:ln>
        </p:spPr>
        <p:txBody>
          <a:bodyPr rtlCol="0" anchor="ctr"/>
          <a:lstStyle/>
          <a:p>
            <a:pPr algn="ctr"/>
          </a:p>
        </p:txBody>
      </p:sp>
      <p:sp>
        <p:nvSpPr>
          <p:cNvPr id="19" name="Oval 18"/>
          <p:cNvSpPr/>
          <p:nvPr/>
        </p:nvSpPr>
        <p:spPr>
          <a:xfrm>
            <a:off x="7930228" y="2107692"/>
            <a:ext cx="221115"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9909" y="3383280"/>
            <a:ext cx="221115" cy="576072"/>
          </a:xfrm>
          <a:prstGeom prst="ellipse">
            <a:avLst/>
          </a:prstGeom>
          <a:noFill/>
          <a:ln w="44450">
            <a:solidFill>
              <a:srgbClr val="1F5FAD"/>
            </a:solidFill>
          </a:ln>
        </p:spPr>
        <p:txBody>
          <a:bodyPr rtlCol="0" anchor="ctr"/>
          <a:lstStyle/>
          <a:p>
            <a:pPr algn="ctr"/>
          </a:p>
        </p:txBody>
      </p:sp>
      <p:sp>
        <p:nvSpPr>
          <p:cNvPr id="21" name="Oval 20"/>
          <p:cNvSpPr/>
          <p:nvPr/>
        </p:nvSpPr>
        <p:spPr>
          <a:xfrm>
            <a:off x="7599384"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732054"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95400"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228).</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574674" y="2519172"/>
            <a:ext cx="206964" cy="1234439"/>
          </a:xfrm>
          <a:prstGeom prst="rect">
            <a:avLst/>
          </a:prstGeom>
          <a:noFill/>
          <a:ln w="44450">
            <a:solidFill>
              <a:srgbClr val="E09B00"/>
            </a:solidFill>
          </a:ln>
        </p:spPr>
        <p:txBody>
          <a:bodyPr rtlCol="0" anchor="ctr"/>
          <a:lstStyle/>
          <a:p>
            <a:pPr algn="ctr"/>
          </a:p>
        </p:txBody>
      </p:sp>
      <p:sp>
        <p:nvSpPr>
          <p:cNvPr id="19" name="Oval 18"/>
          <p:cNvSpPr/>
          <p:nvPr/>
        </p:nvSpPr>
        <p:spPr>
          <a:xfrm>
            <a:off x="7896618" y="2107692"/>
            <a:ext cx="229960"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5487" y="3383280"/>
            <a:ext cx="229960" cy="576072"/>
          </a:xfrm>
          <a:prstGeom prst="ellipse">
            <a:avLst/>
          </a:prstGeom>
          <a:noFill/>
          <a:ln w="44450">
            <a:solidFill>
              <a:srgbClr val="1F5FAD"/>
            </a:solidFill>
          </a:ln>
        </p:spPr>
        <p:txBody>
          <a:bodyPr rtlCol="0" anchor="ctr"/>
          <a:lstStyle/>
          <a:p>
            <a:pPr algn="ctr"/>
          </a:p>
        </p:txBody>
      </p:sp>
      <p:sp>
        <p:nvSpPr>
          <p:cNvPr id="21" name="Oval 20"/>
          <p:cNvSpPr/>
          <p:nvPr/>
        </p:nvSpPr>
        <p:spPr>
          <a:xfrm>
            <a:off x="7556930"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694906"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84787"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t>
            </a:r>
            <a:r>
              <a:rPr sz="1700" b="1" i="0">
                <a:solidFill>
                  <a:srgbClr val="E09B00"/>
                </a:solidFill>
                <a:latin typeface="Arial"/>
              </a:rPr>
              <a:t>(1)</a:t>
            </a:r>
            <a:r>
              <a:rPr sz="1700" b="0" i="0">
                <a:solidFill>
                  <a:srgbClr val="1A1A1A"/>
                </a:solidFill>
                <a:latin typeface="Arial"/>
              </a:rPr>
              <a:t>: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t>
            </a:r>
            <a:r>
              <a:rPr sz="1700" b="1" i="0">
                <a:solidFill>
                  <a:srgbClr val="E09B00"/>
                </a:solidFill>
                <a:latin typeface="Arial"/>
              </a:rPr>
              <a:t>(1)</a:t>
            </a:r>
            <a:r>
              <a:rPr sz="1700" b="0" i="0">
                <a:solidFill>
                  <a:srgbClr val="1A1A1A"/>
                </a:solidFill>
                <a:latin typeface="Arial"/>
              </a:rPr>
              <a:t>: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8575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8575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771138"/>
            <a:ext cx="6583680" cy="1895856"/>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a:t>
            </a:r>
          </a:p>
          <a:p>
            <a:pPr algn="l">
              <a:lnSpc>
                <a:spcPct val="115000"/>
              </a:lnSpc>
              <a:spcBef>
                <a:spcPts val="600"/>
              </a:spcBef>
              <a:spcAft>
                <a:spcPts val="0"/>
              </a:spcAft>
            </a:pPr>
            <a:r>
              <a:rPr sz="1700" b="0" i="0">
                <a:solidFill>
                  <a:srgbClr val="1A1A1A"/>
                </a:solidFill>
                <a:latin typeface="Arial"/>
              </a:rPr>
              <a:t>Lim calls ID/NR a volatility breakout pattern and defines ID/NR n as an inside day breakout from the narrowest bar over the last n days (p. 232). He gives no other reason. Reading the narrowest bar as the quietest is ours, not his.</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