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 id="449" r:id="rId201"/>
    <p:sldId id="450" r:id="rId202"/>
    <p:sldId id="451" r:id="rId203"/>
    <p:sldId id="452" r:id="rId204"/>
    <p:sldId id="453" r:id="rId205"/>
    <p:sldId id="454" r:id="rId206"/>
    <p:sldId id="455" r:id="rId207"/>
    <p:sldId id="456" r:id="rId208"/>
    <p:sldId id="457" r:id="rId209"/>
    <p:sldId id="458" r:id="rId210"/>
    <p:sldId id="459" r:id="rId211"/>
    <p:sldId id="460" r:id="rId212"/>
    <p:sldId id="461" r:id="rId213"/>
    <p:sldId id="462" r:id="rId214"/>
    <p:sldId id="463" r:id="rId215"/>
    <p:sldId id="464" r:id="rId216"/>
    <p:sldId id="465" r:id="rId217"/>
    <p:sldId id="466" r:id="rId218"/>
    <p:sldId id="467" r:id="rId219"/>
    <p:sldId id="468" r:id="rId220"/>
    <p:sldId id="469" r:id="rId221"/>
    <p:sldId id="470" r:id="rId222"/>
    <p:sldId id="471" r:id="rId223"/>
    <p:sldId id="472" r:id="rId224"/>
    <p:sldId id="473" r:id="rId225"/>
    <p:sldId id="474" r:id="rId226"/>
    <p:sldId id="475" r:id="rId227"/>
    <p:sldId id="476" r:id="rId228"/>
    <p:sldId id="477" r:id="rId229"/>
    <p:sldId id="478" r:id="rId230"/>
    <p:sldId id="479" r:id="rId231"/>
    <p:sldId id="480" r:id="rId232"/>
    <p:sldId id="481" r:id="rId233"/>
    <p:sldId id="482" r:id="rId234"/>
    <p:sldId id="483" r:id="rId235"/>
    <p:sldId id="484" r:id="rId236"/>
    <p:sldId id="485" r:id="rId237"/>
    <p:sldId id="486" r:id="rId238"/>
    <p:sldId id="487" r:id="rId239"/>
    <p:sldId id="488" r:id="rId240"/>
    <p:sldId id="489" r:id="rId241"/>
    <p:sldId id="490" r:id="rId242"/>
    <p:sldId id="491" r:id="rId243"/>
    <p:sldId id="492" r:id="rId244"/>
    <p:sldId id="493" r:id="rId245"/>
    <p:sldId id="494" r:id="rId246"/>
    <p:sldId id="495" r:id="rId247"/>
    <p:sldId id="496" r:id="rId248"/>
    <p:sldId id="497" r:id="rId249"/>
    <p:sldId id="498" r:id="rId250"/>
    <p:sldId id="499" r:id="rId251"/>
    <p:sldId id="500" r:id="rId252"/>
    <p:sldId id="501" r:id="rId253"/>
    <p:sldId id="502" r:id="rId25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 Id="rId205" Type="http://schemas.openxmlformats.org/officeDocument/2006/relationships/slide" Target="slides/slide198.xml"/><Relationship Id="rId206" Type="http://schemas.openxmlformats.org/officeDocument/2006/relationships/slide" Target="slides/slide199.xml"/><Relationship Id="rId207" Type="http://schemas.openxmlformats.org/officeDocument/2006/relationships/slide" Target="slides/slide200.xml"/><Relationship Id="rId208" Type="http://schemas.openxmlformats.org/officeDocument/2006/relationships/slide" Target="slides/slide201.xml"/><Relationship Id="rId209" Type="http://schemas.openxmlformats.org/officeDocument/2006/relationships/slide" Target="slides/slide202.xml"/><Relationship Id="rId210" Type="http://schemas.openxmlformats.org/officeDocument/2006/relationships/slide" Target="slides/slide203.xml"/><Relationship Id="rId211" Type="http://schemas.openxmlformats.org/officeDocument/2006/relationships/slide" Target="slides/slide204.xml"/><Relationship Id="rId212" Type="http://schemas.openxmlformats.org/officeDocument/2006/relationships/slide" Target="slides/slide205.xml"/><Relationship Id="rId213" Type="http://schemas.openxmlformats.org/officeDocument/2006/relationships/slide" Target="slides/slide206.xml"/><Relationship Id="rId214" Type="http://schemas.openxmlformats.org/officeDocument/2006/relationships/slide" Target="slides/slide207.xml"/><Relationship Id="rId215" Type="http://schemas.openxmlformats.org/officeDocument/2006/relationships/slide" Target="slides/slide208.xml"/><Relationship Id="rId216" Type="http://schemas.openxmlformats.org/officeDocument/2006/relationships/slide" Target="slides/slide209.xml"/><Relationship Id="rId217" Type="http://schemas.openxmlformats.org/officeDocument/2006/relationships/slide" Target="slides/slide210.xml"/><Relationship Id="rId218" Type="http://schemas.openxmlformats.org/officeDocument/2006/relationships/slide" Target="slides/slide211.xml"/><Relationship Id="rId219" Type="http://schemas.openxmlformats.org/officeDocument/2006/relationships/slide" Target="slides/slide212.xml"/><Relationship Id="rId220" Type="http://schemas.openxmlformats.org/officeDocument/2006/relationships/slide" Target="slides/slide213.xml"/><Relationship Id="rId221" Type="http://schemas.openxmlformats.org/officeDocument/2006/relationships/slide" Target="slides/slide214.xml"/><Relationship Id="rId222" Type="http://schemas.openxmlformats.org/officeDocument/2006/relationships/slide" Target="slides/slide215.xml"/><Relationship Id="rId223" Type="http://schemas.openxmlformats.org/officeDocument/2006/relationships/slide" Target="slides/slide216.xml"/><Relationship Id="rId224" Type="http://schemas.openxmlformats.org/officeDocument/2006/relationships/slide" Target="slides/slide217.xml"/><Relationship Id="rId225" Type="http://schemas.openxmlformats.org/officeDocument/2006/relationships/slide" Target="slides/slide218.xml"/><Relationship Id="rId226" Type="http://schemas.openxmlformats.org/officeDocument/2006/relationships/slide" Target="slides/slide219.xml"/><Relationship Id="rId227" Type="http://schemas.openxmlformats.org/officeDocument/2006/relationships/slide" Target="slides/slide220.xml"/><Relationship Id="rId228" Type="http://schemas.openxmlformats.org/officeDocument/2006/relationships/slide" Target="slides/slide221.xml"/><Relationship Id="rId229" Type="http://schemas.openxmlformats.org/officeDocument/2006/relationships/slide" Target="slides/slide222.xml"/><Relationship Id="rId230" Type="http://schemas.openxmlformats.org/officeDocument/2006/relationships/slide" Target="slides/slide223.xml"/><Relationship Id="rId231" Type="http://schemas.openxmlformats.org/officeDocument/2006/relationships/slide" Target="slides/slide224.xml"/><Relationship Id="rId232" Type="http://schemas.openxmlformats.org/officeDocument/2006/relationships/slide" Target="slides/slide225.xml"/><Relationship Id="rId233" Type="http://schemas.openxmlformats.org/officeDocument/2006/relationships/slide" Target="slides/slide226.xml"/><Relationship Id="rId234" Type="http://schemas.openxmlformats.org/officeDocument/2006/relationships/slide" Target="slides/slide227.xml"/><Relationship Id="rId235" Type="http://schemas.openxmlformats.org/officeDocument/2006/relationships/slide" Target="slides/slide228.xml"/><Relationship Id="rId236" Type="http://schemas.openxmlformats.org/officeDocument/2006/relationships/slide" Target="slides/slide229.xml"/><Relationship Id="rId237" Type="http://schemas.openxmlformats.org/officeDocument/2006/relationships/slide" Target="slides/slide230.xml"/><Relationship Id="rId238" Type="http://schemas.openxmlformats.org/officeDocument/2006/relationships/slide" Target="slides/slide231.xml"/><Relationship Id="rId239" Type="http://schemas.openxmlformats.org/officeDocument/2006/relationships/slide" Target="slides/slide232.xml"/><Relationship Id="rId240" Type="http://schemas.openxmlformats.org/officeDocument/2006/relationships/slide" Target="slides/slide233.xml"/><Relationship Id="rId241" Type="http://schemas.openxmlformats.org/officeDocument/2006/relationships/slide" Target="slides/slide234.xml"/><Relationship Id="rId242" Type="http://schemas.openxmlformats.org/officeDocument/2006/relationships/slide" Target="slides/slide235.xml"/><Relationship Id="rId243" Type="http://schemas.openxmlformats.org/officeDocument/2006/relationships/slide" Target="slides/slide236.xml"/><Relationship Id="rId244" Type="http://schemas.openxmlformats.org/officeDocument/2006/relationships/slide" Target="slides/slide237.xml"/><Relationship Id="rId245" Type="http://schemas.openxmlformats.org/officeDocument/2006/relationships/slide" Target="slides/slide238.xml"/><Relationship Id="rId246" Type="http://schemas.openxmlformats.org/officeDocument/2006/relationships/slide" Target="slides/slide239.xml"/><Relationship Id="rId247" Type="http://schemas.openxmlformats.org/officeDocument/2006/relationships/slide" Target="slides/slide240.xml"/><Relationship Id="rId248" Type="http://schemas.openxmlformats.org/officeDocument/2006/relationships/slide" Target="slides/slide241.xml"/><Relationship Id="rId249" Type="http://schemas.openxmlformats.org/officeDocument/2006/relationships/slide" Target="slides/slide242.xml"/><Relationship Id="rId250" Type="http://schemas.openxmlformats.org/officeDocument/2006/relationships/slide" Target="slides/slide243.xml"/><Relationship Id="rId251" Type="http://schemas.openxmlformats.org/officeDocument/2006/relationships/slide" Target="slides/slide244.xml"/><Relationship Id="rId252" Type="http://schemas.openxmlformats.org/officeDocument/2006/relationships/slide" Target="slides/slide245.xml"/><Relationship Id="rId253" Type="http://schemas.openxmlformats.org/officeDocument/2006/relationships/slide" Target="slides/slide246.xml"/><Relationship Id="rId254" Type="http://schemas.openxmlformats.org/officeDocument/2006/relationships/slide" Target="slides/slide24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6.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7.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8.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9.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0.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1.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2.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3.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4.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5.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6.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Open with what the chapter is about: reading price bars, the most basic skill in technical analysis, as Lim puts it on p. 209.</a:t>
            </a:r>
          </a:p>
          <a:p>
            <a:r>
              <a:rPr sz="1400"/>
              <a:t>- Say the route in one breath: one bar, then formations, then named reversal patterns, then breakouts.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Start with what bar chart analysis is and why it matters: Lim calls it the most fundamental skill a technician should have (p. 209).</a:t>
            </a:r>
          </a:p>
          <a:p>
            <a:r>
              <a:rPr sz="1400"/>
              <a:t>- Keep the word potential. The chapter teaches warnings to weigh, not certainty.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the book's last two objectives, in plain words.</a:t>
            </a:r>
          </a:p>
          <a:p>
            <a:r>
              <a:rPr sz="1400"/>
              <a:t>- Chapter 5 taught the 16 characteristics; this chapter uses them again to read bars, rather than teaching them from the start.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the four parts as one route: from one bar, to formations, to named patterns, to breakouts.</a:t>
            </a:r>
          </a:p>
          <a:p>
            <a:r>
              <a:rPr sz="1400"/>
              <a:t>- Part 1 starts where the book starts, with what one price bar records.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Start with why: every pattern in this chapter is read from price bars, so first we need to know what one bar keeps.</a:t>
            </a:r>
          </a:p>
          <a:p>
            <a:r>
              <a:rPr sz="1400"/>
              <a:t>- Point to the four marks on Lim's bar: gold 1 the open, red 2 the high, blue 3 the low, purple 4 the close.</a:t>
            </a:r>
          </a:p>
          <a:p>
            <a:r>
              <a:rPr sz="1400"/>
              <a:t>- The book's drawing has no price scale. Say only what it shows by position; the prices come on the next slide, on our own chart.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numbers from the chart itself: gold 1 the open at 50.00, red 2 the high at 52.40, blue 3 the low at 49.60, purple 4 the close at 51.10.</a:t>
            </a:r>
          </a:p>
          <a:p>
            <a:r>
              <a:rPr sz="1400"/>
              <a:t>- Then work the range out loud: high minus low, 52.40 minus 49.60, is PHP 2.80.</a:t>
            </a:r>
          </a:p>
          <a:p>
            <a:r>
              <a:rPr sz="1400"/>
              <a:t>- The prices are ours and the bar is possible: the low is the lowest price and the high the highest.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the five trades left to right: 50.00, 50.80, 49.60, 52.40, 51.10.</a:t>
            </a:r>
          </a:p>
          <a:p>
            <a:r>
              <a:rPr sz="1400"/>
              <a:t>- Gold 1 is the first trade and becomes the open; red 2 is the highest and blue 3 the lowest; purple 4 is the last and becomes the close.</a:t>
            </a:r>
          </a:p>
          <a:p>
            <a:r>
              <a:rPr sz="1400"/>
              <a:t>- Ask the class what happened to the trade at 50.80. It is real trading, but the bar does not keep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the five trades left to right: 50.00, 50.80, 49.60, 52.40, 51.10.</a:t>
            </a:r>
          </a:p>
          <a:p>
            <a:r>
              <a:rPr sz="1400"/>
              <a:t>- Gold 1 is the first trade and becomes the open; red 2 is the highest and blue 3 the lowest; purple 4 is the last and becomes the close.</a:t>
            </a:r>
          </a:p>
          <a:p>
            <a:r>
              <a:rPr sz="1400"/>
              <a:t>- Ask the class what happened to the trade at 50.80. It is real trading, but the bar does not keep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Answer from the five trades and the range sentence before advancing.</a:t>
            </a:r>
          </a:p>
          <a:p>
            <a:r>
              <a:rPr sz="1400"/>
              <a:t>- The second question is the range of the same bar.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Answer from the five trades and the range sentence before advancing.</a:t>
            </a:r>
          </a:p>
          <a:p>
            <a:r>
              <a:rPr sz="1400"/>
              <a:t>- The second question is the range of the same bar.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Move from one interval to a longer stretch: a 15-minute bar built from three five-minute intervals.</a:t>
            </a:r>
          </a:p>
          <a:p>
            <a:r>
              <a:rPr sz="1400"/>
              <a:t>- Point to the marks on the five-minute trace: gold 1 where the first interval opens, red 2 the highest high, blue 3 the lowest low, purple 4 where the last interval closes. Then follow each dashed line across to the 15-minute bar.</a:t>
            </a:r>
          </a:p>
          <a:p>
            <a:r>
              <a:rPr sz="1400"/>
              <a:t>- Again the drawing has no prices; our own numbers come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each mark from the bar it comes from: gold 1 is bar 1 open, red 2 and blue 3 are both on bar 2, purple 4 is bar 3 close.</a:t>
            </a:r>
          </a:p>
          <a:p>
            <a:r>
              <a:rPr sz="1400"/>
              <a:t>- Then show that bar 4 carries exactly those four numbers: 50.00, 50.90, 49.40 and 50.30.</a:t>
            </a:r>
          </a:p>
          <a:p>
            <a:r>
              <a:rPr sz="1400"/>
              <a:t>- Every bar is possible: each low is its lowest price and each high its highest.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come from the rule on the Figure 7.2 slide: first open, highest high, lowest low, last close.</a:t>
            </a:r>
          </a:p>
          <a:p>
            <a:r>
              <a:rPr sz="1400"/>
              <a:t>- Ask which prices drop out before revealing the answers.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come from the rule on the Figure 7.2 slide: first open, highest high, lowest low, last close.</a:t>
            </a:r>
          </a:p>
          <a:p>
            <a:r>
              <a:rPr sz="1400"/>
              <a:t>- Ask which prices drop out before revealing the answers.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Many patterns use several bars in a row, so the book now follows price through several intervals.</a:t>
            </a:r>
          </a:p>
          <a:p>
            <a:r>
              <a:rPr sz="1400"/>
              <a:t>- Trace interval 1 with your finger: gold 1 where it opens, red 2 its high, blue 3 its low, purple 4 where it ends.</a:t>
            </a:r>
          </a:p>
          <a:p>
            <a:r>
              <a:rPr sz="1400"/>
              <a:t>- The full figure has eight intervals; this crop shows the first two so the letters can be read.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same figure, lower half: under each interval Lim draws the bar it becomes.</a:t>
            </a:r>
          </a:p>
          <a:p>
            <a:r>
              <a:rPr sz="1400"/>
              <a:t>- Bar 1 keeps the four prices of interval 1: gold 1 open, red 2 high, blue 3 low, purple 4 close.</a:t>
            </a:r>
          </a:p>
          <a:p>
            <a:r>
              <a:rPr sz="1400"/>
              <a:t>- Its open and close ticks are level because interval 1 ended about where it began.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first of Lim's three ways to classify a formation, on p. 210.</a:t>
            </a:r>
          </a:p>
          <a:p>
            <a:r>
              <a:rPr sz="1400"/>
              <a:t>- Say plainly that the book never says where multiple begins, so we do not set a number for it.</a:t>
            </a:r>
          </a:p>
          <a:p>
            <a:r>
              <a:rPr sz="1400"/>
              <a:t>- A count describes shape only; it predicts nothing by itself.</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Count each group aloud: gold 1 has one bar, red 2 two, blue 3 three and purple 4 five.</a:t>
            </a:r>
          </a:p>
          <a:p>
            <a:r>
              <a:rPr sz="1400"/>
              <a:t>- The shapes are only for counting. Whether a group leans bullish or bearish is the next question, not this one.</a:t>
            </a:r>
          </a:p>
          <a:p>
            <a:r>
              <a:rPr sz="1400"/>
              <a:t>- Lim gives no number at which multiple begins; five is simply our example.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the class to name the count before discussing direction.</a:t>
            </a:r>
          </a:p>
          <a:p>
            <a:r>
              <a:rPr sz="1400"/>
              <a:t>- The second question separates shape from sentiment.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the class to name the count before discussing direction.</a:t>
            </a:r>
          </a:p>
          <a:p>
            <a:r>
              <a:rPr sz="1400"/>
              <a:t>- The second question separates shape from sentiment.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second classification. Chapter 4 already taught intrinsic bias; Lim points back to it.</a:t>
            </a:r>
          </a:p>
          <a:p>
            <a:r>
              <a:rPr sz="1400"/>
              <a:t>- Use only the book's own example, the head and shoulders and its inverted form.</a:t>
            </a:r>
          </a:p>
          <a:p>
            <a:r>
              <a:rPr sz="1400"/>
              <a:t>- Stress that the lean belongs to the formation, so moving it to another trend does not change it.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Lim gives this rule on p. 212, when he starts the generic reversal patterns; we need it now to read a lean from plain bars.</a:t>
            </a:r>
          </a:p>
          <a:p>
            <a:r>
              <a:rPr sz="1400"/>
              <a:t>- Work the example: the close of 47.50 is below the previous low of 47.90, so the pair leans bearish.</a:t>
            </a:r>
          </a:p>
          <a:p>
            <a:r>
              <a:rPr sz="1400"/>
              <a:t>- Keep his wording: it is a general rule, a clue rather than a certainty.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formation's own lean separate from the trend around it.</a:t>
            </a:r>
          </a:p>
          <a:p>
            <a:r>
              <a:rPr sz="1400"/>
              <a:t>- The second question applies the p. 212 rule to new prices.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formation's own lean separate from the trend around it.</a:t>
            </a:r>
          </a:p>
          <a:p>
            <a:r>
              <a:rPr sz="1400"/>
              <a:t>- The second question applies the p. 212 rule to new prices.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third classification is the directional expectation: continuation or reversal. It is not trend sentiment.</a:t>
            </a:r>
          </a:p>
          <a:p>
            <a:r>
              <a:rPr sz="1400"/>
              <a:t>- Trend sentiment and intrinsic sentiment are the two inputs; the expectation is the result.</a:t>
            </a:r>
          </a:p>
          <a:p>
            <a:r>
              <a:rPr sz="1400"/>
              <a:t>- Keep the word potential on a reversal: the book calls these patterns, not promises.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keeps the two sentiments apart with numbers: the formation stays the same and only the trend around it changes.</a:t>
            </a:r>
          </a:p>
          <a:p>
            <a:r>
              <a:rPr sz="1400"/>
              <a:t>- Work both cases aloud: bullish and bullish agree, continuation; bullish and bearish disagree, potential reversal.</a:t>
            </a:r>
          </a:p>
          <a:p>
            <a:r>
              <a:rPr sz="1400"/>
              <a:t>- The prices are ours, invented for teaching.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Put the two inputs together: there are only four cases, and Lim names them on p. 211.</a:t>
            </a:r>
          </a:p>
          <a:p>
            <a:r>
              <a:rPr sz="1400"/>
              <a:t>- Read each case as agree or disagree first, then name the result.</a:t>
            </a:r>
          </a:p>
          <a:p>
            <a:r>
              <a:rPr sz="1400"/>
              <a:t>- Keep potential on the reversal cases; Lim considers them reversal patterns, not certainties.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Trend sentiment describes the surrounding trend, not the formation.</a:t>
            </a:r>
          </a:p>
          <a:p>
            <a:r>
              <a:rPr sz="1400"/>
              <a:t>- The second question applies the rule to new prices: a bullish formation after a fall.</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Trend sentiment describes the surrounding trend, not the formation.</a:t>
            </a:r>
          </a:p>
          <a:p>
            <a:r>
              <a:rPr sz="1400"/>
              <a:t>- The second question applies the rule to new prices: a bullish formation after a fall.</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Take the three questions in order: the closes rise from gold 1 at 45.60 to red 2 at 48.10, so trend sentiment is bullish; blue 3 boxes the double formation.</a:t>
            </a:r>
          </a:p>
          <a:p>
            <a:r>
              <a:rPr sz="1400"/>
              <a:t>- Purple 4: bar 4 closes at 47.50, below the dashed line at bar 3's low of 47.90, so the formation leans bearish.</a:t>
            </a:r>
          </a:p>
          <a:p>
            <a:r>
              <a:rPr sz="1400"/>
              <a:t>- Bullish against bearish disagree, so the reading is a potential reversal. Every bar is possible: each low is its lowest price.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Take the three questions in order: the closes rise from gold 1 at 45.60 to red 2 at 48.10, so trend sentiment is bullish; blue 3 boxes the double formation.</a:t>
            </a:r>
          </a:p>
          <a:p>
            <a:r>
              <a:rPr sz="1400"/>
              <a:t>- Purple 4: bar 4 closes at 47.50, below the dashed line at bar 3's low of 47.90, so the formation leans bearish.</a:t>
            </a:r>
          </a:p>
          <a:p>
            <a:r>
              <a:rPr sz="1400"/>
              <a:t>- Bullish against bearish disagree, so the reading is a potential reversal. Every bar is possible: each low is its lowest price.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closes Part 1: all three ways of sorting a formation.</a:t>
            </a:r>
          </a:p>
          <a:p>
            <a:r>
              <a:rPr sz="1400"/>
              <a:t>- Both answers come from the classification slides, not from any one chart.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closes Part 1: all three ways of sorting a formation.</a:t>
            </a:r>
          </a:p>
          <a:p>
            <a:r>
              <a:rPr sz="1400"/>
              <a:t>- Both answers come from the classification slides, not from any one chart.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Recall Part 1 in one breath: two sentiments, then the agreement rule.</a:t>
            </a:r>
          </a:p>
          <a:p>
            <a:r>
              <a:rPr sz="1400"/>
              <a:t>- Stress that the trend is read first; the same pattern changes meaning with it.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book's own example, so it is safe to test.</a:t>
            </a:r>
          </a:p>
          <a:p>
            <a:r>
              <a:rPr sz="1400"/>
              <a:t>- Walk the two cases: same place, same trend, opposite patterns, opposite readings.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come from the two slides before. Do not reveal them on the question slide.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come from the two slides before. Do not reveal them on the question slide.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ahead: every drawing from Figure 7.4 to 7.11 carries this arrow.</a:t>
            </a:r>
          </a:p>
          <a:p>
            <a:r>
              <a:rPr sz="1400"/>
              <a:t>- Students should say the trend before they name the pattern.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Lim's word: generally. The rule is a clue, not a law.</a:t>
            </a:r>
          </a:p>
          <a:p>
            <a:r>
              <a:rPr sz="1400"/>
              <a:t>- Do the two closes slowly: one below the close, one below the low.</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Show the whole sheet once so students see the family; every later slide crops one drawing.</a:t>
            </a:r>
          </a:p>
          <a:p>
            <a:r>
              <a:rPr sz="1400"/>
              <a:t>- Point at the arrow and the label under form 1.</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label, then walk the three marks in order.</a:t>
            </a:r>
          </a:p>
          <a:p>
            <a:r>
              <a:rPr sz="1400"/>
              <a:t>- Part 3 comes back to the key reversal bar with the book's real charts.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Compare with form 1: here the close goes below the previous low, not just the previous close.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3 would call a gap measured from the previous low to the open a Type 2 gap.</a:t>
            </a:r>
          </a:p>
          <a:p>
            <a:r>
              <a:rPr sz="1400"/>
              <a:t>- The gap is open price space: nothing traded between 50.60 and 51.00.</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bearish clue is the sudden hesitation after a strong up bar.</a:t>
            </a:r>
          </a:p>
          <a:p>
            <a:r>
              <a:rPr sz="1400"/>
              <a:t>- Part 3 returns to inside bars and compares them with the Harami.</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Overextended means the bar stretches far beyond what the bars before it did.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Form 4 sits inside the previous bar; form 6 reaches beyond both ends of it.</a:t>
            </a:r>
          </a:p>
          <a:p>
            <a:r>
              <a:rPr sz="1400"/>
              <a:t>- Part 3 reads outside bars on real charts.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which close matters more: the second, because it is the most recent word on the trend.</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the volume habits behind the seven drawings.</a:t>
            </a:r>
          </a:p>
          <a:p>
            <a:r>
              <a:rPr sz="1400"/>
              <a:t>- Keep Lim's caveat: some practitioners read them as continuations in a downtrend.</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All three conditions together; any one alone is weaker.</a:t>
            </a:r>
          </a:p>
          <a:p>
            <a:r>
              <a:rPr sz="1400"/>
              <a:t>- Potentially more reliable, never certain.</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were stated in the body text of the last two slides.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were stated in the body text of the last two slides.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seven shapes, upside down, at the bottom of a downtrend.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Show the whole sheet once; every later slide crops one drawing.</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form 1: sellers open it weakly, buyers win the day.</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form 2.</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form 3: nothing traded between 39.00 and 39.40.</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shape as bearish form 4; the trend before it is what changes.</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form 5.</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form 6.</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form 7.</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Note Lim's words: in most cases, and potentially.</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were stated in the body text of the bullish slides.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were stated in the body text of the bullish slides.</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Three bars now: a first bar, a middle bar, a last bar.</a:t>
            </a:r>
          </a:p>
          <a:p>
            <a:r>
              <a:rPr sz="1400"/>
              <a:t>- Gap keeps its Chapter 3 meaning: prices where nothing traded.</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Pattern 1 is the one exception to the quiet middle.</a:t>
            </a:r>
          </a:p>
          <a:p>
            <a:r>
              <a:rPr sz="1400"/>
              <a:t>- Lim gives the reason: the buyers could not hold the close near the bar's midpoint.</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Wide outer bars, a quiet middle, a heavy last bar: every rule on the slide before.</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pattern where heavy middle volume is more bearish, not less.</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usual quiet middle bar.</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gap that held the buyers up is given back by bar 3.</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gaps leave bar 2 alone on an island. Part 3 reads island reversals on real charts.</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Engulfs means the third bar trades beyond both the high and the low of the second.</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preferred case closes below both levels, as here.</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two rule slides that opened the triple patterns.</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two rule slides that opened the triple patterns.</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six shapes, turned over, at the bottom of a downtrend.</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triple form 1.</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triple form 2.</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triple form 3.</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triple form 4.</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triple form 5.</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triple form 6.</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bullish triple slides.</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bullish triple slides.</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Multiple means several bars between the first and the last.</a:t>
            </a:r>
          </a:p>
          <a:p>
            <a:r>
              <a:rPr sz="1400"/>
              <a:t>- Our charts draw two middle bars so every price stays readable.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Lim's summary sentence slowly: extremely high OR low volume, on the wide bars.</a:t>
            </a:r>
          </a:p>
          <a:p>
            <a:r>
              <a:rPr sz="1400"/>
              <a:t>- This is the one place where both high and low volume point the same way.</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drawing left to right: first, middle, last.</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buyers hold the price up for a while, then lose it in one bar.</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drawing for the volume exception.</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what would 0.4 million on the wide bars mean? Also bearish (p. 215).</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Compare with form 1: here the narrow bars sit inside the first bar, not up at its high.</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Inside the first bar: the same containment idea as an inside bar, stretched over several bars.</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gaps isolate the middle group, the same island idea as triple form 4.</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gaps, as in triple form 4; only the middle is longer.</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bullish side keeps both volume readings, now pointing up.</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multiple form 1.</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sellers hold the price down for a while, then lose it in one bar.</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multiple form 2.</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volume as the bearish form 2, now read the other way because the closes sit at the highs.</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multiple form 3.</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multiple form 3.</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it plainly: the book's last bar is off the page. Our chart supplies it.</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multiple form 4.</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multiple pattern rule slides.</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multiple pattern rule slides.</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Continuation is agreement: a bullish pattern inside an uptrend.</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Breach means trade above. Here the close is above the old high as well.</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retrace looks weak; the rebound through the old high on volume is what matters.</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two continuation slides.</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two continuation slides.</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Chapter 5 terms. Recall each by its slide name; do not re-teach the formulas.</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to each Chapter 5 slide by name; the numbers only make the change visible.</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to each Chapter 5 slide by name; the numbers only make the change visible.</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to each Chapter 5 slide by name; the numbers only make the change visible.</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to each Chapter 5 slide by name; the numbers only make the change visible.</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to each Chapter 5 slide by name; the numbers only make the change visible.</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to each Chapter 5 slide by name; the numbers only make the change visible.</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to each Chapter 5 slide by name; the numbers only make the change visible.</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to each Chapter 5 slide by name; the numbers only make the change visible.</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the three marks in time order: the run-up, then the top.</a:t>
            </a:r>
          </a:p>
          <a:p>
            <a:r>
              <a:rPr sz="1400"/>
              <a:t>- Red sits on the run-up, before the top, where Lim says the oscillations are missing.</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why the three marks matter: each one is a reason to doubt the run-up.</a:t>
            </a:r>
          </a:p>
          <a:p>
            <a:r>
              <a:rPr sz="1400"/>
              <a:t>- State the silence plainly: no Bollinger formula in Chapter 7.</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Numbers make the three warnings concrete; none of them is a sell signal on its own.</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one Lim singles out.</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bar shape as form 1 of Figure 7.4; the barrier is what adds weight.</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the room which of the last two bars they would trust more, and why.</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Part 3 begins with key reversal bars on real charts, where this barrier idea returns.</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on the Figure 7.13 slides. The figure is on the question and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on the Figure 7.13 slides. The figure is on the question and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on the barrier proximity slides.</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on the barrier proximity slides.</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Close Part 2 and open Part 3 by name.</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Use this unmarked chart while introducing the key reversal. The next worked reading identifies the same features with teaching marks.</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invented PHP bars with every OHLC value and volume value labelled. Marks 1 to 4 show the opening price above the previous high, the new high, the close below the previous close, and the volume increase.</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invented PHP bars with every OHLC value and volume value labelled. Marks 1 to 4 show the opening price above the previous high, the new high, the close below the previous close, and the volume increase.</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exact converse: a new low, then a close above the previous close, in a downtrend.</a:t>
            </a:r>
          </a:p>
          <a:p>
            <a:r>
              <a:rPr sz="1400"/>
              <a:t>- The book says the bullish key reversal occurs on high volume and price rebounds rapidly in this example.</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book's definition first, then explain marks 1 to 4 in the same order: previous high, new high and opening area, close, and above-average volume.</a:t>
            </a:r>
          </a:p>
          <a:p>
            <a:r>
              <a:rPr sz="1400"/>
              <a:t>- The figure shows consolidation before the later decline. Keep the word potentially: this is a warning, not a promise.</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the room answer from the earlier marked slide. Do not reveal the answers on this question slide.</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the room answer from the earlier marked slide. Do not reveal the answers on this question slide.</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Use this second two-item check so the foundation build keeps a balanced answer key.</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Use this second two-item check so the foundation build keeps a balanced answer key.</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to mark 1 for the hover and mark 2 for the later decline. The book's point is delayed follow-through.</a:t>
            </a:r>
          </a:p>
          <a:p>
            <a:r>
              <a:rPr sz="1400"/>
              <a:t>- Separate the pattern definition from the later price path. The latter is a caveat, not part of the definition.</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the converse from the new low to the close above the previous close before reading the figure.</a:t>
            </a:r>
          </a:p>
          <a:p>
            <a:r>
              <a:rPr sz="1400"/>
              <a:t>- The rapid rebound is the book's observation in Figure 7.14, not a promise for every bullish key reversal.</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is the bullish key reversal below the lower band. Mark 2 is the book's oversold StochRSI label.</a:t>
            </a:r>
          </a:p>
          <a:p>
            <a:r>
              <a:rPr sz="1400"/>
              <a:t>- Mark 3 is the high-volume reading. Lim calls these conditions greater potential, not certainty.</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invented PHP bars with OHLC values, closing positions and million-share volume labelled. Mark 1 is the first close near the high and mark 2 the second near the low.</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marks 1 and 2 as the two closing positions. The book prefers wider ranges for both bars.</a:t>
            </a:r>
          </a:p>
          <a:p>
            <a:r>
              <a:rPr sz="1400"/>
              <a:t>- CCI is a label in Lim's figure. Chapter 7 does not define its formula, so do not infer one.</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Three invented PHP bars with OHLC values and volumes labelled. Marks 1, 2 and 3 identify the first, middle and third volume readings.</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Marks 1, 2 and 3 identify the first, middle and third bars. The first closes near its high and the third near its low.</a:t>
            </a:r>
          </a:p>
          <a:p>
            <a:r>
              <a:rPr sz="1400"/>
              <a:t>- The figure also labels bearish +DM divergence and shows rapid later decline, not a guaranteed result.</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is the first outer volume bar, mark 2 is the quiet middle volume bar, and mark 3 is the final outer bar.</a:t>
            </a:r>
          </a:p>
          <a:p>
            <a:r>
              <a:rPr sz="1400"/>
              <a:t>- The volume relationship is the book's clue. It does not make the reversal certain.</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boxes the three-bar group. Mark 2 is the oversold StochRSI label.</a:t>
            </a:r>
          </a:p>
          <a:p>
            <a:r>
              <a:rPr sz="1400"/>
              <a:t>- Mark 3 points to the last close between the bands, which Lim calls bullish. The formulas are not taught here.</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keeps the first three-bar reversal separate. Mark 2 identifies its large third bar near its high.</a:t>
            </a:r>
          </a:p>
          <a:p>
            <a:r>
              <a:rPr sz="1400"/>
              <a:t>- Mark 3 boxes the later outside day and its close near the low. Lim says the third bar adds bullishness, not certainty.</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boxes the first bar, mark 2 identifies the lower-volume middle bar, and mark 3 identifies the third bar.</a:t>
            </a:r>
          </a:p>
          <a:p>
            <a:r>
              <a:rPr sz="1400"/>
              <a:t>- Lim links this arrangement to pattern 6 in Figure 7.9. That link recalls the earlier generic pattern; it adds no new formula.</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students use the marked Figure 7.18 and the prior body text, not speaker cues.</a:t>
            </a:r>
          </a:p>
          <a:p>
            <a:r>
              <a:rPr sz="1400"/>
              <a:t>- Reveal the close positions first, then explain that the middle bar's low volume signals uncertainty in the bullish examples.</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students use the marked Figure 7.18 and the prior body text, not speaker cues.</a:t>
            </a:r>
          </a:p>
          <a:p>
            <a:r>
              <a:rPr sz="1400"/>
              <a:t>- Reveal the close positions first, then explain that the middle bar's low volume signals uncertainty in the bullish examples.</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Four invented PHP bars with the prior high, gap-up open, isolated bars, gap-down open and volume values labelled. Marks 1, 2 and 3 identify the two gaps and the island.</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 island is isolated by two gaps: mark 1 is the gap up and mark 3 the gap down.</a:t>
            </a:r>
          </a:p>
          <a:p>
            <a:r>
              <a:rPr sz="1400"/>
              <a:t>- Mark 2 is the isolated formation. Lim also observes low volume and an overbought stochastic label; no formula is taught here.</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students answer from the preceding island slides. The two gaps define the formation; the stochastic label is not a Chapter 7 formula.</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students answer from the preceding island slides. The two gaps define the formation; the stochastic label is not a Chapter 7 formula.</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Name the formation and its purpose before showing the invented prices.</a:t>
            </a:r>
          </a:p>
          <a:p>
            <a:r>
              <a:rPr sz="1400"/>
              <a:t>- Keep Lim's generally and can qualifiers.</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first two bars run from PHP 48.00 to PHP 52.00. The outside bar runs from PHP 47.00 to PHP 53.00 and closes at PHP 47.50.</a:t>
            </a:r>
          </a:p>
          <a:p>
            <a:r>
              <a:rPr sz="1400"/>
              <a:t>- Its 5.0 million volume is invented to show the book's high-volume reliability condition.</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first to the 11 contained bars, then to the outside high and low.</a:t>
            </a:r>
          </a:p>
          <a:p>
            <a:r>
              <a:rPr sz="1400"/>
              <a:t>- The book says a trendline violation with the bearish breakout should be a reliable short-entry signal.</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marks the 11 preceding bars contained in the outside range.</a:t>
            </a:r>
          </a:p>
          <a:p>
            <a:r>
              <a:rPr sz="1400"/>
              <a:t>- Red [2] marks the trendline violation at the outside-bar break. Blue [3] marks the bearish close near the low.</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Answer from the preceding outside-bar definition and marked figure.</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Answer from the preceding outside-bar definition and marked figure.</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Define inside bar before giving its invented values.</a:t>
            </a:r>
          </a:p>
          <a:p>
            <a:r>
              <a:rPr sz="1400"/>
              <a:t>- Keep the first wide and high-volume, second narrow and very-low-volume condition.</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first bar is O 50.00, H 53.00, L 48.00, C 52.40 on 4.5 million shares.</a:t>
            </a:r>
          </a:p>
          <a:p>
            <a:r>
              <a:rPr sz="1400"/>
              <a:t>- The second is O 51.80, H 52.50, L 49.20, C 50.10 on 0.5 million shares. It stays inside the first range.</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two dark bars are the inside-bar reversals at the same resistance.</a:t>
            </a:r>
          </a:p>
          <a:p>
            <a:r>
              <a:rPr sz="1400"/>
              <a:t>- The figure labels the oscillator as StochRSI and shows bearish divergence; this deck does not define its formula.</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two dark bars are the inside-bar reversals at the same resistance.</a:t>
            </a:r>
          </a:p>
          <a:p>
            <a:r>
              <a:rPr sz="1400"/>
              <a:t>- The figure labels the oscillator as StochRSI and shows bearish divergence; this deck does not define its formula.</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marked two tests visible while the room answers.</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marked two tests visible while the room answers.</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three nested bars from left to right, then the later outside bar.</a:t>
            </a:r>
          </a:p>
          <a:p>
            <a:r>
              <a:rPr sz="1400"/>
              <a:t>- The book says the exhaustion reading is especially strong when the declines also have bearish volume.</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places three named reversal families on one chart.</a:t>
            </a:r>
          </a:p>
          <a:p>
            <a:r>
              <a:rPr sz="1400"/>
              <a:t>- This slide names the three price-bar families; the indicator panels are outside this slide's scope.</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State the proportion arithmetic after naming the distinction.</a:t>
            </a:r>
          </a:p>
          <a:p>
            <a:r>
              <a:rPr sz="1400"/>
              <a:t>- Do not rename every inside bar as Harami.</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stays visible while the check tests the stricter Harami distinction.</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stays visible while the check tests the stricter Harami distinction.</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Name the pattern and why the next-bar gap matters before the example.</a:t>
            </a:r>
          </a:p>
          <a:p>
            <a:r>
              <a:rPr sz="1400"/>
              <a:t>- The invented chart will walk through each condition.</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prior high is PHP 65.00. The exhaustion bar opens at 65.40, reaches 66.20, falls to 60.00, and closes at 60.50.</a:t>
            </a:r>
          </a:p>
          <a:p>
            <a:r>
              <a:rPr sz="1400"/>
              <a:t>- The next bar opens at 60.20, inside the exhaustion bar's range, so there is no following gap.</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marked bar is the bullish converse of the uptrend case: it closes near its high in a downtrend.</a:t>
            </a:r>
          </a:p>
          <a:p>
            <a:r>
              <a:rPr sz="1400"/>
              <a:t>- There is a gap before the marked bar in this figure, but the book's rule concerns no gap between an exhaustion bar and the subsequent bar.</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gap and later rebound marks visible while the room answers.</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gap and later rebound marks visible while the room answers.</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Make the shift explicit: this pattern is about range and volume, not the next-bar gap.</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ordinary bars have a PHP 3.0 range and 1.5 million shares. The spike has an 8.0 range and 6.0 million shares.</a:t>
            </a:r>
          </a:p>
          <a:p>
            <a:r>
              <a:rPr sz="1400"/>
              <a:t>- The numbers are invented to make Lim's wide-range and high-volume description visible.</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ordinary bars have a PHP 3.0 range and 1.5 million shares. The spike has an 8.0 range and 6.0 million shares.</a:t>
            </a:r>
          </a:p>
          <a:p>
            <a:r>
              <a:rPr sz="1400"/>
              <a:t>- The numbers are invented to make Lim's wide-range and high-volume description visible.</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price panel shows the wide spike; the lower panel shows its high volume.</a:t>
            </a:r>
          </a:p>
          <a:p>
            <a:r>
              <a:rPr sz="1400"/>
              <a:t>- Lim also identifies a typical three-bar bearish reversal at the top of the move.</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Define the pin bar before showing the invented prices.</a:t>
            </a:r>
          </a:p>
          <a:p>
            <a:r>
              <a:rPr sz="1400"/>
              <a:t>- Keep the named barriers and low-volume tendency tied to Lim's wording.</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support line first, then the penetration and the close back above it.</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is the support barrier, mark 2 the penetration, and mark 3 the rapid retrace.</a:t>
            </a:r>
          </a:p>
          <a:p>
            <a:r>
              <a:rPr sz="1400"/>
              <a:t>- The book says pin bars are usually breakouts formed on low volume.</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support, penetration, and close-back-above marks visible.</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support, penetration, and close-back-above marks visible.</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upper example first. The exhaustion bar opens beyond the previous high, but its distinction is the absence of a following gap.</a:t>
            </a:r>
          </a:p>
          <a:p>
            <a:r>
              <a:rPr sz="1400"/>
              <a:t>- The pin bar gives a false impression of breaking support, then retraces back above it. Its volume is low in the invented example.</a:t>
            </a:r>
          </a:p>
          <a:p>
            <a:r>
              <a:rPr sz="1400"/>
              <a:t>- The book's difference is the false barrier penetration, not the size of the bar alone.</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upper example first. The exhaustion bar opens beyond the previous high, but its distinction is the absence of a following gap.</a:t>
            </a:r>
          </a:p>
          <a:p>
            <a:r>
              <a:rPr sz="1400"/>
              <a:t>- The pin bar gives a false impression of breaking support, then retraces back above it. Its volume is low in the invented example.</a:t>
            </a:r>
          </a:p>
          <a:p>
            <a:r>
              <a:rPr sz="1400"/>
              <a:t>- The book's difference is the false barrier penetration, not the size of the bar alone.</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key difference is the false impression of breaking a barrier. The pin-bar volume tendency is a separate book statement.</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key difference is the false impression of breaking a barrier. The pin-bar volume tendency is a separate book statement.</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Connect false breakouts to the pin-bar barrier idea before showing both directions.</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upper barrier is resistance at PHP 60.00; the false high is PHP 62.00 and the short close is PHP 59.40.</a:t>
            </a:r>
          </a:p>
          <a:p>
            <a:r>
              <a:rPr sz="1400"/>
              <a:t>- The lower barrier is support at PHP 40.00; the false low is PHP 38.50 and the long close is PHP 40.60.</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upper barrier is resistance at PHP 60.00; the false high is PHP 62.00 and the short close is PHP 59.40.</a:t>
            </a:r>
          </a:p>
          <a:p>
            <a:r>
              <a:rPr sz="1400"/>
              <a:t>- The lower barrier is support at PHP 40.00; the false low is PHP 38.50 and the long close is PHP 40.60.</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course drawing labels resistance PHP 60.00, high PHP 62.00, close PHP 59.40, and stop PHP 62.20.</a:t>
            </a:r>
          </a:p>
          <a:p>
            <a:r>
              <a:rPr sz="1400"/>
              <a:t>- The book's drawing follows on its own slide.</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Lim calls this a non-failure swing and attributes the setup to a 2B entry.</a:t>
            </a:r>
          </a:p>
          <a:p>
            <a:r>
              <a:rPr sz="1400"/>
              <a:t>- The short begins after the close returns below resistance; the stop sits just above the breakout high.</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two directions separately: short below resistance after a false upside break, long above support after a false downside break.</a:t>
            </a:r>
          </a:p>
          <a:p>
            <a:r>
              <a:rPr sz="1400"/>
              <a:t>- The book does not give a complete trade plan beyond these entry and stop descriptions.</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both barrier directions visible; the question asks for the returned closes.</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both barrier directions visible; the question asks for the returned closes.</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Do not import a formula beyond the book's wording.</a:t>
            </a:r>
          </a:p>
          <a:p>
            <a:r>
              <a:rPr sz="1400"/>
              <a:t>- The chart shows both pairs and the limits.</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forward-shifted three-day SMA is PHP 50.00. Invented closes cross above at 50.80, below at 49.60, then repeat after nine bullish days.</a:t>
            </a:r>
          </a:p>
          <a:p>
            <a:r>
              <a:rPr sz="1400"/>
              <a:t>- The book says the full method belongs in DiNapoli's original text, so this chart teaches only the named Chapter 7 structure.</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forward-shifted three-day SMA is PHP 50.00. Invented closes cross above at 50.80, below at 49.60, then repeat after nine bullish days.</a:t>
            </a:r>
          </a:p>
          <a:p>
            <a:r>
              <a:rPr sz="1400"/>
              <a:t>- The book says the full method belongs in DiNapoli's original text, so this chart teaches only the named Chapter 7 structure.</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forward-shifted three-day SMA is PHP 50.00. Invented closes cross above at 50.80, below at 49.60, then repeat after nine bullish days.</a:t>
            </a:r>
          </a:p>
          <a:p>
            <a:r>
              <a:rPr sz="1400"/>
              <a:t>- The book says the full method belongs in DiNapoli's original text, so this chart teaches only the named Chapter 7 structure.</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forward-shifted three-day SMA is PHP 50.00. Invented closes cross above at 50.80, below at 49.60, then repeat after nine bullish days.</a:t>
            </a:r>
          </a:p>
          <a:p>
            <a:r>
              <a:rPr sz="1400"/>
              <a:t>- The book says the full method belongs in DiNapoli's original text, so this chart teaches only the named Chapter 7 structure.</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forward-shifted three-day SMA is PHP 50.00. Invented closes cross above at 50.80, below at 49.60, then repeat after nine bullish days.</a:t>
            </a:r>
          </a:p>
          <a:p>
            <a:r>
              <a:rPr sz="1400"/>
              <a:t>- The book says the full method belongs in DiNapoli's original text, so this chart teaches only the named Chapter 7 structure.</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two crossings are the pattern's named structure; the later decline is the observed follow-through.</a:t>
            </a:r>
          </a:p>
          <a:p>
            <a:r>
              <a:rPr sz="1400"/>
              <a:t>- Lim directs readers to DiNapoli's original text for a complete discussion.</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marks the forward-shifted three-day SMA. Red [2] marks the long bullish run before the pattern.</a:t>
            </a:r>
          </a:p>
          <a:p>
            <a:r>
              <a:rPr sz="1400"/>
              <a:t>- Blue [3] marks the topping formation, which the book limits to eight to ten bars.</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SMA, bullish-day run, and topping formation marks visible.</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SMA, bullish-day run, and topping formation marks visible.</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Define Hikkake before showing the invented levels.</a:t>
            </a:r>
          </a:p>
          <a:p>
            <a:r>
              <a:rPr sz="1400"/>
              <a:t>- Keep the failed direction separate from the opposite entry.</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In the bearish case, the inside high is PHP 52.00, the false high is PHP 53.00, and the short re-entry is below PHP 49.00.</a:t>
            </a:r>
          </a:p>
          <a:p>
            <a:r>
              <a:rPr sz="1400"/>
              <a:t>- The bullish converse uses an inside low of PHP 40.00, a false low of PHP 39.20, and an upside re-entry at PHP 41.00.</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Left: inside high 43.00, inside low 40.00, false low 39.00, long re-entry at 43.00.</a:t>
            </a:r>
          </a:p>
          <a:p>
            <a:r>
              <a:rPr sz="1400"/>
              <a:t>- Right: inside high 52.00, inside low 49.00, false high 53.00, short re-entry at 49.00.</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Left: inside high 43.00, inside low 40.00, false low 39.00, long re-entry at 43.00.</a:t>
            </a:r>
          </a:p>
          <a:p>
            <a:r>
              <a:rPr sz="1400"/>
              <a:t>- Right: inside high 52.00, inside low 49.00, false high 53.00, short re-entry at 49.00.</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marks the inside bar, red [2] the failed downside breakout, and blue [3] the bullish re-entry above the inside high.</a:t>
            </a:r>
          </a:p>
          <a:p>
            <a:r>
              <a:rPr sz="1400"/>
              <a:t>- Only the opposite re-entry is taken, and it must occur within three bars.</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marks the inside bar, red [2] the failed upside breakout, and blue [3] the bearish re-entry below the inside low.</a:t>
            </a:r>
          </a:p>
          <a:p>
            <a:r>
              <a:rPr sz="1400"/>
              <a:t>- Only the opposite re-entry is taken, and it must occur within three bars.</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includes indicator panels, but this slide does not interpret their formulas.</a:t>
            </a:r>
          </a:p>
          <a:p>
            <a:r>
              <a:rPr sz="1400"/>
              <a:t>- Read the formation, failed downside breakout, and upside re-entry only.</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marked formation, failed downside breakout, and upside re-entry visible.</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marked formation, failed downside breakout, and upside re-entry visible.</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two directions separately, then reveal the timing rule.</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two directions separately, then reveal the timing rule.</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first bar reaches PHP 52.00 and closes at PHP 51.00. The next bar opens at PHP 53.00, above the previous range.</a:t>
            </a:r>
          </a:p>
          <a:p>
            <a:r>
              <a:rPr sz="1400"/>
              <a:t>- The sell-stop is at the previous high, PHP 52.00. The new high and stoploss are PHP 54.00.</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left setup first, then the exact directional converse on the right.</a:t>
            </a:r>
          </a:p>
          <a:p>
            <a:r>
              <a:rPr sz="1400"/>
              <a:t>- Mark 1 is the opening gap, mark 2 is the prior-bar trigger level, and mark 3 is the stoploss at the new extreme.</a:t>
            </a:r>
          </a:p>
          <a:p>
            <a:r>
              <a:rPr sz="1400"/>
              <a:t>- If price reverses through the stoploss, the book says to stop and reverse.</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previous bar's low is PHP 48.00. The next bar opens at PHP 47.00, below that low.</a:t>
            </a:r>
          </a:p>
          <a:p>
            <a:r>
              <a:rPr sz="1400"/>
              <a:t>- The buy-stop is PHP 48.00 and the new low and stoploss are PHP 46.00.</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crop enlarges the Oops annotations and leaves the price sequence visible.</a:t>
            </a:r>
          </a:p>
          <a:p>
            <a:r>
              <a:rPr sz="1400"/>
              <a:t>- The book gives a bearish example; the exact order rule was defined on the previous slide.</a:t>
            </a:r>
          </a:p>
          <a:p>
            <a:r>
              <a:rPr sz="1400"/>
              <a:t>- Keep this as a potential setup. The book does not give a complete trade plan here.</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Use mark 1 for the buy setup and mark 2 for the sell setup. The exact order levels were defined on the earlier slides.</a:t>
            </a:r>
          </a:p>
          <a:p>
            <a:r>
              <a:rPr sz="1400"/>
              <a:t>- The companion names are not attached to an unrelated mark. Chapter 7 does not define or show them here.</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Compare each range over the same six-bar window. The final bar is inside the fifth bar and has the smallest range.</a:t>
            </a:r>
          </a:p>
          <a:p>
            <a:r>
              <a:rPr sz="1400"/>
              <a:t>- The later breakout can go up or down, so the pattern is neutral before the trigger.</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Compare each range over the same six-bar window. The final bar is inside the fifth bar and has the smallest range.</a:t>
            </a:r>
          </a:p>
          <a:p>
            <a:r>
              <a:rPr sz="1400"/>
              <a:t>- The later breakout can go up or down, so the pattern is neutral before the trigger.</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Count the last six bars in the source schematic, then locate its final inside bar and narrowest range.</a:t>
            </a:r>
          </a:p>
          <a:p>
            <a:r>
              <a:rPr sz="1400"/>
              <a:t>- The blue mark identifies the narrowest inside bar. The two trigger arrows show that direction is not built into ID/NR.</a:t>
            </a:r>
          </a:p>
          <a:p>
            <a:r>
              <a:rPr sz="1400"/>
              <a:t>- The next slide extends the same count to NR4, NR5, NR6, and NR7.</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defines the pattern in words rather than giving these comparative ranges. State that the values are only a worked way to see the windows.</a:t>
            </a:r>
          </a:p>
          <a:p>
            <a:r>
              <a:rPr sz="1400"/>
              <a:t>- The next slide makes the lack of built-in direction explicit on Figure 7.38.</a:t>
            </a:r>
          </a:p>
        </p:txBody>
      </p:sp>
      <p:sp>
        <p:nvSpPr>
          <p:cNvPr id="4" name="Slide Number Placeholder 3"/>
          <p:cNvSpPr>
            <a:spLocks noGrp="1"/>
          </p:cNvSpPr>
          <p:nvPr>
            <p:ph type="sldNum" idx="5" sz="quarter"/>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is the narrowest final bar and mark 2 boxes its inside relationship with the prior bar.</a:t>
            </a:r>
          </a:p>
          <a:p>
            <a:r>
              <a:rPr sz="1400"/>
              <a:t>- Mark 3's top and bottom edges sit on the printed long and short trigger levels; either direction is possible before the break.</a:t>
            </a:r>
          </a:p>
        </p:txBody>
      </p:sp>
      <p:sp>
        <p:nvSpPr>
          <p:cNvPr id="4" name="Slide Number Placeholder 3"/>
          <p:cNvSpPr>
            <a:spLocks noGrp="1"/>
          </p:cNvSpPr>
          <p:nvPr>
            <p:ph type="sldNum" idx="5" sz="quarter"/>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five counted monthly ranges are 12, 10, 9, 7, and 5 PHP; the fifth bar is inside the fourth.</a:t>
            </a:r>
          </a:p>
          <a:p>
            <a:r>
              <a:rPr sz="1400"/>
              <a:t>- The sixth bar moves upward by PHP 8.00 from the prior close. The example is invented to show the extension.</a:t>
            </a:r>
          </a:p>
        </p:txBody>
      </p:sp>
      <p:sp>
        <p:nvSpPr>
          <p:cNvPr id="4" name="Slide Number Placeholder 3"/>
          <p:cNvSpPr>
            <a:spLocks noGrp="1"/>
          </p:cNvSpPr>
          <p:nvPr>
            <p:ph type="sldNum" idx="5" sz="quarter"/>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five counted monthly ranges are 12, 10, 9, 7, and 5 PHP; the fifth bar is inside the fourth.</a:t>
            </a:r>
          </a:p>
          <a:p>
            <a:r>
              <a:rPr sz="1400"/>
              <a:t>- The sixth bar moves upward by PHP 8.00 from the prior close. The example is invented to show the extension.</a:t>
            </a:r>
          </a:p>
        </p:txBody>
      </p:sp>
      <p:sp>
        <p:nvSpPr>
          <p:cNvPr id="4" name="Slide Number Placeholder 3"/>
          <p:cNvSpPr>
            <a:spLocks noGrp="1"/>
          </p:cNvSpPr>
          <p:nvPr>
            <p:ph type="sldNum" idx="5" sz="quarter"/>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monthly extension, not an ordinary daily ID/NR example.</a:t>
            </a:r>
          </a:p>
          <a:p>
            <a:r>
              <a:rPr sz="1400"/>
              <a:t>- Mark 1 identifies the inside month, mark 2 spans the five-month range count, and mark 3 is on the first upside breakout bar.</a:t>
            </a:r>
          </a:p>
          <a:p>
            <a:r>
              <a:rPr sz="1400"/>
              <a:t>- The count and neutral direction rule remain the same before breakout.</a:t>
            </a:r>
          </a:p>
        </p:txBody>
      </p:sp>
      <p:sp>
        <p:nvSpPr>
          <p:cNvPr id="4" name="Slide Number Placeholder 3"/>
          <p:cNvSpPr>
            <a:spLocks noGrp="1"/>
          </p:cNvSpPr>
          <p:nvPr>
            <p:ph type="sldNum" idx="5" sz="quarter"/>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the room answer from the earlier Oops order diagram and the marked ID/NR6 slide.</a:t>
            </a:r>
          </a:p>
          <a:p>
            <a:r>
              <a:rPr sz="1400"/>
              <a:t>- Do not reveal the answers here; the next slide gives the reasons.</a:t>
            </a:r>
          </a:p>
        </p:txBody>
      </p:sp>
      <p:sp>
        <p:nvSpPr>
          <p:cNvPr id="4" name="Slide Number Placeholder 3"/>
          <p:cNvSpPr>
            <a:spLocks noGrp="1"/>
          </p:cNvSpPr>
          <p:nvPr>
            <p:ph type="sldNum" idx="5" sz="quarter"/>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the room answer from the earlier Oops order diagram and the marked ID/NR6 slide.</a:t>
            </a:r>
          </a:p>
          <a:p>
            <a:r>
              <a:rPr sz="1400"/>
              <a:t>- Do not reveal the answers here; the next slide gives the reasons.</a:t>
            </a:r>
          </a:p>
        </p:txBody>
      </p:sp>
      <p:sp>
        <p:nvSpPr>
          <p:cNvPr id="4" name="Slide Number Placeholder 3"/>
          <p:cNvSpPr>
            <a:spLocks noGrp="1"/>
          </p:cNvSpPr>
          <p:nvPr>
            <p:ph type="sldNum" idx="5" sz="quarter"/>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book's summary on p. 233 as the scope of the chapter.</a:t>
            </a:r>
          </a:p>
          <a:p>
            <a:r>
              <a:rPr sz="1400"/>
              <a:t>- Emphasise that potential evidence is not a guarantee or a complete trading system.</a:t>
            </a:r>
          </a:p>
        </p:txBody>
      </p:sp>
      <p:sp>
        <p:nvSpPr>
          <p:cNvPr id="4" name="Slide Number Placeholder 3"/>
          <p:cNvSpPr>
            <a:spLocks noGrp="1"/>
          </p:cNvSpPr>
          <p:nvPr>
            <p:ph type="sldNum" idx="5" sz="quarter"/>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identifies the exhaustion bar used in review answer 1.</a:t>
            </a:r>
          </a:p>
        </p:txBody>
      </p:sp>
      <p:sp>
        <p:nvSpPr>
          <p:cNvPr id="4" name="Slide Number Placeholder 3"/>
          <p:cNvSpPr>
            <a:spLocks noGrp="1"/>
          </p:cNvSpPr>
          <p:nvPr>
            <p:ph type="sldNum" idx="5" sz="quarter"/>
          </p:nvPr>
        </p:nvSpPr>
        <p:spPr/>
      </p:sp>
    </p:spTree>
  </p:cSld>
  <p:clrMapOvr>
    <a:masterClrMapping/>
  </p:clrMapOvr>
</p:notes>
</file>

<file path=ppt/notesSlides/notesSlide2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identifies the pin bar's penetration and retrace area used in review answer 1.</a:t>
            </a:r>
          </a:p>
        </p:txBody>
      </p:sp>
      <p:sp>
        <p:nvSpPr>
          <p:cNvPr id="4" name="Slide Number Placeholder 3"/>
          <p:cNvSpPr>
            <a:spLocks noGrp="1"/>
          </p:cNvSpPr>
          <p:nvPr>
            <p:ph type="sldNum" idx="5" sz="quarter"/>
          </p:nvPr>
        </p:nvSpPr>
        <p:spPr/>
      </p:sp>
    </p:spTree>
  </p:cSld>
  <p:clrMapOvr>
    <a:masterClrMapping/>
  </p:clrMapOvr>
</p:notes>
</file>

<file path=ppt/notesSlides/notesSlide2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identifies the narrow inside bar that makes the ID/NR idea visible in review answer 2.</a:t>
            </a:r>
          </a:p>
        </p:txBody>
      </p:sp>
      <p:sp>
        <p:nvSpPr>
          <p:cNvPr id="4" name="Slide Number Placeholder 3"/>
          <p:cNvSpPr>
            <a:spLocks noGrp="1"/>
          </p:cNvSpPr>
          <p:nvPr>
            <p:ph type="sldNum" idx="5" sz="quarter"/>
          </p:nvPr>
        </p:nvSpPr>
        <p:spPr/>
      </p:sp>
    </p:spTree>
  </p:cSld>
  <p:clrMapOvr>
    <a:masterClrMapping/>
  </p:clrMapOvr>
</p:notes>
</file>

<file path=ppt/notesSlides/notesSlide2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identifies the key reversal day used in review answer 3.</a:t>
            </a:r>
          </a:p>
        </p:txBody>
      </p:sp>
      <p:sp>
        <p:nvSpPr>
          <p:cNvPr id="4" name="Slide Number Placeholder 3"/>
          <p:cNvSpPr>
            <a:spLocks noGrp="1"/>
          </p:cNvSpPr>
          <p:nvPr>
            <p:ph type="sldNum" idx="5" sz="quarter"/>
          </p:nvPr>
        </p:nvSpPr>
        <p:spPr/>
      </p:sp>
    </p:spTree>
  </p:cSld>
  <p:clrMapOvr>
    <a:masterClrMapping/>
  </p:clrMapOvr>
</p:notes>
</file>

<file path=ppt/notesSlides/notesSlide2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back to the earlier Chapter 5 terms for the first eight characteristics.</a:t>
            </a:r>
          </a:p>
          <a:p>
            <a:r>
              <a:rPr sz="1400"/>
              <a:t>- Read every name as evidence, not certainty.</a:t>
            </a:r>
          </a:p>
        </p:txBody>
      </p:sp>
      <p:sp>
        <p:nvSpPr>
          <p:cNvPr id="4" name="Slide Number Placeholder 3"/>
          <p:cNvSpPr>
            <a:spLocks noGrp="1"/>
          </p:cNvSpPr>
          <p:nvPr>
            <p:ph type="sldNum" idx="5" sz="quarter"/>
          </p:nvPr>
        </p:nvSpPr>
        <p:spPr/>
      </p:sp>
    </p:spTree>
  </p:cSld>
  <p:clrMapOvr>
    <a:masterClrMapping/>
  </p:clrMapOvr>
</p:notes>
</file>

<file path=ppt/notesSlides/notesSlide2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back to the earlier Chapter 5 terms for the remaining definitions the book says to recall.</a:t>
            </a:r>
          </a:p>
          <a:p>
            <a:r>
              <a:rPr sz="1400"/>
              <a:t>- Read barrier proximity as the strongest reliability emphasis in this chapter.</a:t>
            </a:r>
          </a:p>
        </p:txBody>
      </p:sp>
      <p:sp>
        <p:nvSpPr>
          <p:cNvPr id="4" name="Slide Number Placeholder 3"/>
          <p:cNvSpPr>
            <a:spLocks noGrp="1"/>
          </p:cNvSpPr>
          <p:nvPr>
            <p:ph type="sldNum" idx="5" sz="quarter"/>
          </p:nvPr>
        </p:nvSpPr>
        <p:spPr/>
      </p:sp>
    </p:spTree>
  </p:cSld>
  <p:clrMapOvr>
    <a:masterClrMapping/>
  </p:clrMapOvr>
</p:notes>
</file>

<file path=ppt/notesSlides/notesSlide2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answer 5 before turning to the marked triple-bar structures.</a:t>
            </a:r>
          </a:p>
          <a:p>
            <a:r>
              <a:rPr sz="1400"/>
              <a:t>- Keep the qualification can: volume is context, not certainty.</a:t>
            </a:r>
          </a:p>
        </p:txBody>
      </p:sp>
      <p:sp>
        <p:nvSpPr>
          <p:cNvPr id="4" name="Slide Number Placeholder 3"/>
          <p:cNvSpPr>
            <a:spLocks noGrp="1"/>
          </p:cNvSpPr>
          <p:nvPr>
            <p:ph type="sldNum" idx="5" sz="quarter"/>
          </p:nvPr>
        </p:nvSpPr>
        <p:spPr/>
      </p:sp>
    </p:spTree>
  </p:cSld>
  <p:clrMapOvr>
    <a:masterClrMapping/>
  </p:clrMapOvr>
</p:notes>
</file>

<file path=ppt/notesSlides/notesSlide2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mark 1 brackets pattern 1 and red mark 2 brackets pattern 2.</a:t>
            </a:r>
          </a:p>
          <a:p>
            <a:r>
              <a:rPr sz="1400"/>
              <a:t>- Blue mark 3 sits beside the source's uptrend context. Read the source conditions rather than inventing a trade rule.</a:t>
            </a:r>
          </a:p>
        </p:txBody>
      </p:sp>
      <p:sp>
        <p:nvSpPr>
          <p:cNvPr id="4" name="Slide Number Placeholder 3"/>
          <p:cNvSpPr>
            <a:spLocks noGrp="1"/>
          </p:cNvSpPr>
          <p:nvPr>
            <p:ph type="sldNum" idx="5" sz="quarter"/>
          </p:nvPr>
        </p:nvSpPr>
        <p:spPr/>
      </p:sp>
    </p:spTree>
  </p:cSld>
  <p:clrMapOvr>
    <a:masterClrMapping/>
  </p:clrMapOvr>
</p:notes>
</file>

<file path=ppt/notesSlides/notesSlide2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mark 1 identifies the wide first bar near resistance; red mark 2 identifies the narrow inside bar.</a:t>
            </a:r>
          </a:p>
          <a:p>
            <a:r>
              <a:rPr sz="1400"/>
              <a:t>- Blue mark 3 identifies the lower oscillator region shown in the source. Chapter 7 does not teach its calculation.</a:t>
            </a:r>
          </a:p>
        </p:txBody>
      </p:sp>
      <p:sp>
        <p:nvSpPr>
          <p:cNvPr id="4" name="Slide Number Placeholder 3"/>
          <p:cNvSpPr>
            <a:spLocks noGrp="1"/>
          </p:cNvSpPr>
          <p:nvPr>
            <p:ph type="sldNum" idx="5" sz="quarter"/>
          </p:nvPr>
        </p:nvSpPr>
        <p:spPr/>
      </p:sp>
    </p:spTree>
  </p:cSld>
  <p:clrMapOvr>
    <a:masterClrMapping/>
  </p:clrMapOvr>
</p:notes>
</file>

<file path=ppt/notesSlides/notesSlide2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to the marked overextended bar and the upper price barrier.</a:t>
            </a:r>
          </a:p>
          <a:p>
            <a:r>
              <a:rPr sz="1400"/>
              <a:t>- The book uses this price and volume context in Chapter 7; it does not teach an oscillator formula here.</a:t>
            </a:r>
          </a:p>
        </p:txBody>
      </p:sp>
      <p:sp>
        <p:nvSpPr>
          <p:cNvPr id="4" name="Slide Number Placeholder 3"/>
          <p:cNvSpPr>
            <a:spLocks noGrp="1"/>
          </p:cNvSpPr>
          <p:nvPr>
            <p:ph type="sldNum" idx="5" sz="quarter"/>
          </p:nvPr>
        </p:nvSpPr>
        <p:spPr/>
      </p:sp>
    </p:spTree>
  </p:cSld>
  <p:clrMapOvr>
    <a:masterClrMapping/>
  </p:clrMapOvr>
</p:notes>
</file>

<file path=ppt/notesSlides/notesSlide2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Use this as the final synthesis, not as a new method.</a:t>
            </a:r>
          </a:p>
          <a:p>
            <a:r>
              <a:rPr sz="1400"/>
              <a:t>- Close by naming the chapter's boundary: a reading is not a complete trade plan.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 Id="rId3"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 Id="rId3"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 Id="rId3"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 Id="rId3"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 Id="rId3"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png"/><Relationship Id="rId3"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png"/><Relationship Id="rId3"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png"/><Relationship Id="rId3"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 Id="rId3"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png"/><Relationship Id="rId3"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 Id="rId3"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9.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0.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 Id="rId3" Type="http://schemas.openxmlformats.org/officeDocument/2006/relationships/notesSlide" Target="../notesSlides/notesSlide21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 Id="rId3" Type="http://schemas.openxmlformats.org/officeDocument/2006/relationships/notesSlide" Target="../notesSlides/notesSlide21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 Id="rId3" Type="http://schemas.openxmlformats.org/officeDocument/2006/relationships/notesSlide" Target="../notesSlides/notesSlide213.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4.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5.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6.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8.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9.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0.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 Id="rId3" Type="http://schemas.openxmlformats.org/officeDocument/2006/relationships/notesSlide" Target="../notesSlides/notesSlide221.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2.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 Id="rId3" Type="http://schemas.openxmlformats.org/officeDocument/2006/relationships/notesSlide" Target="../notesSlides/notesSlide223.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4.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5.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 Id="rId3" Type="http://schemas.openxmlformats.org/officeDocument/2006/relationships/notesSlide" Target="../notesSlides/notesSlide226.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5.png"/><Relationship Id="rId3" Type="http://schemas.openxmlformats.org/officeDocument/2006/relationships/notesSlide" Target="../notesSlides/notesSlide22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8.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9.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0.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 Id="rId3" Type="http://schemas.openxmlformats.org/officeDocument/2006/relationships/notesSlide" Target="../notesSlides/notesSlide231.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7.png"/><Relationship Id="rId3" Type="http://schemas.openxmlformats.org/officeDocument/2006/relationships/notesSlide" Target="../notesSlides/notesSlide232.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3.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4.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5.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6.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8.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9.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0.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1.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2.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3.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4.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5.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6.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6355080"/>
            <a:ext cx="12191695" cy="502920"/>
          </a:xfrm>
          <a:prstGeom prst="rect">
            <a:avLst/>
          </a:prstGeom>
          <a:solidFill>
            <a:srgbClr val="004F21"/>
          </a:solidFill>
          <a:ln>
            <a:noFill/>
          </a:ln>
          <a:effectLst/>
        </p:spPr>
        <p:txBody>
          <a:bodyPr rtlCol="0" anchor="ctr"/>
          <a:lstStyle/>
          <a:p>
            <a:pPr algn="ctr"/>
          </a:p>
        </p:txBody>
      </p:sp>
      <p:sp>
        <p:nvSpPr>
          <p:cNvPr id="4" name="TextBox 3"/>
          <p:cNvSpPr txBox="1"/>
          <p:nvPr/>
        </p:nvSpPr>
        <p:spPr>
          <a:xfrm>
            <a:off x="777240" y="1417320"/>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FIN1209  Technical Analysis in Investment</a:t>
            </a:r>
          </a:p>
        </p:txBody>
      </p:sp>
      <p:sp>
        <p:nvSpPr>
          <p:cNvPr id="5" name="Rectangle 4"/>
          <p:cNvSpPr/>
          <p:nvPr/>
        </p:nvSpPr>
        <p:spPr>
          <a:xfrm>
            <a:off x="777240" y="2057400"/>
            <a:ext cx="1463040" cy="50800"/>
          </a:xfrm>
          <a:prstGeom prst="rect">
            <a:avLst/>
          </a:prstGeom>
          <a:solidFill>
            <a:srgbClr val="F2A900"/>
          </a:solidFill>
          <a:ln>
            <a:noFill/>
          </a:ln>
          <a:effectLst/>
        </p:spPr>
        <p:txBody>
          <a:bodyPr rtlCol="0" anchor="ctr"/>
          <a:lstStyle/>
          <a:p>
            <a:pPr algn="ctr"/>
          </a:p>
        </p:txBody>
      </p:sp>
      <p:sp>
        <p:nvSpPr>
          <p:cNvPr id="6" name="TextBox 5"/>
          <p:cNvSpPr txBox="1"/>
          <p:nvPr/>
        </p:nvSpPr>
        <p:spPr>
          <a:xfrm>
            <a:off x="777240" y="2423160"/>
            <a:ext cx="10637215" cy="2194560"/>
          </a:xfrm>
          <a:prstGeom prst="rect">
            <a:avLst/>
          </a:prstGeom>
          <a:noFill/>
        </p:spPr>
        <p:txBody>
          <a:bodyPr wrap="square" anchor="t" lIns="0" rIns="0" tIns="0" bIns="0">
            <a:spAutoFit/>
          </a:bodyPr>
          <a:lstStyle/>
          <a:p>
            <a:pPr algn="l">
              <a:lnSpc>
                <a:spcPct val="100000"/>
              </a:lnSpc>
              <a:spcBef>
                <a:spcPts val="0"/>
              </a:spcBef>
              <a:spcAft>
                <a:spcPts val="0"/>
              </a:spcAft>
            </a:pPr>
            <a:r>
              <a:rPr sz="2000" b="0" i="0">
                <a:solidFill>
                  <a:srgbClr val="FFFFFF"/>
                </a:solidFill>
                <a:latin typeface="Palatino"/>
              </a:rPr>
              <a:t>Chapter 7</a:t>
            </a:r>
          </a:p>
          <a:p>
            <a:pPr algn="l">
              <a:lnSpc>
                <a:spcPct val="105000"/>
              </a:lnSpc>
              <a:spcBef>
                <a:spcPts val="1000"/>
              </a:spcBef>
              <a:spcAft>
                <a:spcPts val="0"/>
              </a:spcAft>
            </a:pPr>
            <a:r>
              <a:rPr sz="4400" b="0" i="0">
                <a:solidFill>
                  <a:srgbClr val="FFFFFF"/>
                </a:solidFill>
                <a:latin typeface="Palatino"/>
              </a:rPr>
              <a:t>Bar Chart Analysis</a:t>
            </a:r>
          </a:p>
        </p:txBody>
      </p:sp>
      <p:sp>
        <p:nvSpPr>
          <p:cNvPr id="7" name="TextBox 6"/>
          <p:cNvSpPr txBox="1"/>
          <p:nvPr/>
        </p:nvSpPr>
        <p:spPr>
          <a:xfrm>
            <a:off x="777240" y="4892040"/>
            <a:ext cx="10637215" cy="91440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FFFFFF"/>
                </a:solidFill>
                <a:latin typeface="Arial"/>
              </a:rPr>
              <a:t>A price bar records the opening, highest, lowest and closing prices in one interval. Learn to read those four prices first, then ask whether a bar formation may continue or reverse.</a:t>
            </a:r>
          </a:p>
          <a:p>
            <a:pPr algn="l">
              <a:lnSpc>
                <a:spcPct val="100000"/>
              </a:lnSpc>
              <a:spcBef>
                <a:spcPts val="800"/>
              </a:spcBef>
              <a:spcAft>
                <a:spcPts val="0"/>
              </a:spcAft>
            </a:pPr>
            <a:r>
              <a:rPr sz="1400" b="0" i="0">
                <a:solidFill>
                  <a:srgbClr val="F2A900"/>
                </a:solidFill>
                <a:latin typeface="Arial"/>
              </a:rPr>
              <a:t>Faculty of Economics University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this chapter will teach you to do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Bar chart analysis is the study of bar chart patterns. Lim calls it the basis of pure price action analysis and the most fundamental skill every technician should have (p. 209).</a:t>
            </a:r>
          </a:p>
          <a:p>
            <a:pPr algn="l">
              <a:lnSpc>
                <a:spcPct val="118000"/>
              </a:lnSpc>
              <a:spcBef>
                <a:spcPts val="0"/>
              </a:spcBef>
              <a:spcAft>
                <a:spcPts val="1300"/>
              </a:spcAft>
            </a:pPr>
            <a:r>
              <a:rPr sz="2100" b="0" i="0">
                <a:solidFill>
                  <a:srgbClr val="1A1A1A"/>
                </a:solidFill>
                <a:latin typeface="Arial"/>
              </a:rPr>
              <a:t>By the end of the chapter you should be able to explain how bar patterns help us forecast potential tops and bottoms, and recognise early signs that a trend may be about to change (p. 209).</a:t>
            </a:r>
          </a:p>
        </p:txBody>
      </p:sp>
      <p:sp>
        <p:nvSpPr>
          <p:cNvPr id="8" name="Rectangle 7"/>
          <p:cNvSpPr/>
          <p:nvPr/>
        </p:nvSpPr>
        <p:spPr>
          <a:xfrm>
            <a:off x="777240" y="453085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6742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Everything here is read from price bars, one bar at a time.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209, the chapter's learning objectives.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this chapter will teach you to do, continued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You should also be able to pick out buy and sell signals from single, double, triple and multiple bar formations, both bullish and bearish (p. 209).</a:t>
            </a:r>
          </a:p>
          <a:p>
            <a:pPr algn="l">
              <a:lnSpc>
                <a:spcPct val="118000"/>
              </a:lnSpc>
              <a:spcBef>
                <a:spcPts val="0"/>
              </a:spcBef>
              <a:spcAft>
                <a:spcPts val="1300"/>
              </a:spcAft>
            </a:pPr>
            <a:r>
              <a:rPr sz="2100" b="0" i="0">
                <a:solidFill>
                  <a:srgbClr val="1A1A1A"/>
                </a:solidFill>
                <a:latin typeface="Arial"/>
              </a:rPr>
              <a:t>And you should be able to read bar behaviour more carefully with Lim's 16 price and volume reversal characteristics, which we met in Chapter 5 (p. 209).</a:t>
            </a:r>
          </a:p>
        </p:txBody>
      </p:sp>
      <p:sp>
        <p:nvSpPr>
          <p:cNvPr id="8" name="Rectangle 7"/>
          <p:cNvSpPr/>
          <p:nvPr/>
        </p:nvSpPr>
        <p:spPr>
          <a:xfrm>
            <a:off x="777240" y="3901439"/>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938015"/>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Each pattern is evidence to weigh, not a promise about the next price.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209, the chapter's learning objectives.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We will read the chapter in four parts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1 starts with one price bar: the four prices it keeps, and the three ways Lim sorts a group of bars into a formation.</a:t>
            </a:r>
          </a:p>
          <a:p>
            <a:pPr algn="l">
              <a:lnSpc>
                <a:spcPct val="118000"/>
              </a:lnSpc>
              <a:spcBef>
                <a:spcPts val="0"/>
              </a:spcBef>
              <a:spcAft>
                <a:spcPts val="1300"/>
              </a:spcAft>
            </a:pPr>
            <a:r>
              <a:rPr sz="2100" b="0" i="0">
                <a:solidFill>
                  <a:srgbClr val="1A1A1A"/>
                </a:solidFill>
                <a:latin typeface="Arial"/>
              </a:rPr>
              <a:t>Part 2 asks when a formation suggests the trend will carry on and when it warns of a reversal, and reads the book's generic patterns.</a:t>
            </a:r>
          </a:p>
          <a:p>
            <a:pPr algn="l">
              <a:lnSpc>
                <a:spcPct val="118000"/>
              </a:lnSpc>
              <a:spcBef>
                <a:spcPts val="0"/>
              </a:spcBef>
              <a:spcAft>
                <a:spcPts val="1300"/>
              </a:spcAft>
            </a:pPr>
            <a:r>
              <a:rPr sz="2100" b="0" i="0">
                <a:solidFill>
                  <a:srgbClr val="1A1A1A"/>
                </a:solidFill>
                <a:latin typeface="Arial"/>
              </a:rPr>
              <a:t>Part 3 covers the popular named reversal patterns, such as the key reversal and the pin bar. Part 4 reads the volatility-based breakout patterns that close the chapter.</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We start where the book starts: what one price bar records.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sections 7.1 to 7.4.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price bar keeps four prices from one interval</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347472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Every pattern here is read from price bars. Lim's bar keeps four prices from one interval: open (O), high (H), low (L) and close (C), or OHLC (p. 209).</a:t>
            </a:r>
          </a:p>
          <a:p>
            <a:pPr algn="l">
              <a:lnSpc>
                <a:spcPct val="105000"/>
              </a:lnSpc>
              <a:spcBef>
                <a:spcPts val="0"/>
              </a:spcBef>
              <a:spcAft>
                <a:spcPts val="1100"/>
              </a:spcAft>
            </a:pPr>
            <a:r>
              <a:rPr sz="1700" b="0" i="0">
                <a:solidFill>
                  <a:srgbClr val="1A1A1A"/>
                </a:solidFill>
                <a:latin typeface="Arial"/>
              </a:rPr>
              <a:t>In Figure 7.1, five minutes of price become one bar: open </a:t>
            </a:r>
            <a:r>
              <a:rPr sz="1700" b="1" i="0">
                <a:solidFill>
                  <a:srgbClr val="E09B00"/>
                </a:solidFill>
                <a:latin typeface="Arial"/>
              </a:rPr>
              <a:t>(1)</a:t>
            </a:r>
            <a:r>
              <a:rPr sz="1700" b="0" i="0">
                <a:solidFill>
                  <a:srgbClr val="1A1A1A"/>
                </a:solidFill>
                <a:latin typeface="Arial"/>
              </a:rPr>
              <a:t>, high </a:t>
            </a:r>
            <a:r>
              <a:rPr sz="1700" b="1" i="0">
                <a:solidFill>
                  <a:srgbClr val="C62828"/>
                </a:solidFill>
                <a:latin typeface="Arial"/>
              </a:rPr>
              <a:t>(2)</a:t>
            </a:r>
            <a:r>
              <a:rPr sz="1700" b="0" i="0">
                <a:solidFill>
                  <a:srgbClr val="1A1A1A"/>
                </a:solidFill>
                <a:latin typeface="Arial"/>
              </a:rPr>
              <a:t>, low </a:t>
            </a:r>
            <a:r>
              <a:rPr sz="1700" b="1" i="0">
                <a:solidFill>
                  <a:srgbClr val="1F5FAD"/>
                </a:solidFill>
                <a:latin typeface="Arial"/>
              </a:rPr>
              <a:t>(3)</a:t>
            </a:r>
            <a:r>
              <a:rPr sz="1700" b="0" i="0">
                <a:solidFill>
                  <a:srgbClr val="1A1A1A"/>
                </a:solidFill>
                <a:latin typeface="Arial"/>
              </a:rPr>
              <a:t>, close </a:t>
            </a:r>
            <a:r>
              <a:rPr sz="1700" b="1" i="0">
                <a:solidFill>
                  <a:srgbClr val="7B3FA0"/>
                </a:solidFill>
                <a:latin typeface="Arial"/>
              </a:rPr>
              <a:t>(4)</a:t>
            </a:r>
            <a:r>
              <a:rPr sz="1700" b="0" i="0">
                <a:solidFill>
                  <a:srgbClr val="1A1A1A"/>
                </a:solidFill>
                <a:latin typeface="Arial"/>
              </a:rPr>
              <a:t>. Lim's caption calls it four pieces of information.</a:t>
            </a:r>
          </a:p>
        </p:txBody>
      </p:sp>
      <p:sp>
        <p:nvSpPr>
          <p:cNvPr id="7" name="Rectangle 6"/>
          <p:cNvSpPr/>
          <p:nvPr/>
        </p:nvSpPr>
        <p:spPr>
          <a:xfrm>
            <a:off x="777240" y="4494276"/>
            <a:ext cx="82296" cy="969263"/>
          </a:xfrm>
          <a:prstGeom prst="rect">
            <a:avLst/>
          </a:prstGeom>
          <a:solidFill>
            <a:srgbClr val="F2A900"/>
          </a:solidFill>
          <a:ln>
            <a:noFill/>
          </a:ln>
          <a:effectLst/>
        </p:spPr>
        <p:txBody>
          <a:bodyPr rtlCol="0" anchor="ctr"/>
          <a:lstStyle/>
          <a:p>
            <a:pPr algn="ctr"/>
          </a:p>
        </p:txBody>
      </p:sp>
      <p:sp>
        <p:nvSpPr>
          <p:cNvPr id="8" name="TextBox 7"/>
          <p:cNvSpPr txBox="1"/>
          <p:nvPr/>
        </p:nvSpPr>
        <p:spPr>
          <a:xfrm>
            <a:off x="1069848" y="4530852"/>
            <a:ext cx="318211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drawing has no prices; its close ends below its open.</a:t>
            </a:r>
          </a:p>
        </p:txBody>
      </p:sp>
      <p:sp>
        <p:nvSpPr>
          <p:cNvPr id="9" name="Rectangle 8"/>
          <p:cNvSpPr/>
          <p:nvPr/>
        </p:nvSpPr>
        <p:spPr>
          <a:xfrm>
            <a:off x="4585141" y="1207008"/>
            <a:ext cx="6816172" cy="493775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4621717" y="1243584"/>
            <a:ext cx="6743020" cy="4864607"/>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4621717" y="1243584"/>
            <a:ext cx="6743020"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4896037" y="1517904"/>
            <a:ext cx="6194380" cy="440740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a:t>
            </a:r>
          </a:p>
          <a:p>
            <a:pPr algn="l">
              <a:lnSpc>
                <a:spcPct val="115000"/>
              </a:lnSpc>
              <a:spcBef>
                <a:spcPts val="0"/>
              </a:spcBef>
              <a:spcAft>
                <a:spcPts val="0"/>
              </a:spcAft>
            </a:pPr>
            <a:r>
              <a:rPr sz="1500" b="0" i="0">
                <a:solidFill>
                  <a:srgbClr val="1A1A1A"/>
                </a:solidFill>
                <a:latin typeface="Palatino"/>
              </a:rPr>
              <a:t>Figure 7.1: five minutes of price action on the left are summarized by one bar on the right, which keeps only its open, high, low and close.</a:t>
            </a:r>
          </a:p>
        </p:txBody>
      </p:sp>
      <p:cxnSp>
        <p:nvCxnSpPr>
          <p:cNvPr id="13" name="Connector 12"/>
          <p:cNvCxnSpPr/>
          <p:nvPr/>
        </p:nvCxnSpPr>
        <p:spPr>
          <a:xfrm>
            <a:off x="8667529" y="2800258"/>
            <a:ext cx="236006" cy="428086"/>
          </a:xfrm>
          <a:prstGeom prst="line">
            <a:avLst/>
          </a:prstGeom>
          <a:ln w="44450">
            <a:solidFill>
              <a:srgbClr val="E09B00"/>
            </a:solidFill>
            <a:tailEnd type="triangle" w="med" len="med"/>
          </a:ln>
        </p:spPr>
      </p:cxnSp>
      <p:cxnSp>
        <p:nvCxnSpPr>
          <p:cNvPr id="14" name="Connector 13"/>
          <p:cNvCxnSpPr/>
          <p:nvPr/>
        </p:nvCxnSpPr>
        <p:spPr>
          <a:xfrm flipH="1" flipV="1">
            <a:off x="9153027" y="2411089"/>
            <a:ext cx="458525" cy="243231"/>
          </a:xfrm>
          <a:prstGeom prst="line">
            <a:avLst/>
          </a:prstGeom>
          <a:ln w="44450">
            <a:solidFill>
              <a:srgbClr val="C62828"/>
            </a:solidFill>
            <a:tailEnd type="triangle" w="med" len="med"/>
          </a:ln>
        </p:spPr>
      </p:cxnSp>
      <p:cxnSp>
        <p:nvCxnSpPr>
          <p:cNvPr id="15" name="Connector 14"/>
          <p:cNvCxnSpPr/>
          <p:nvPr/>
        </p:nvCxnSpPr>
        <p:spPr>
          <a:xfrm flipH="1">
            <a:off x="9153027" y="4454225"/>
            <a:ext cx="458525" cy="218907"/>
          </a:xfrm>
          <a:prstGeom prst="line">
            <a:avLst/>
          </a:prstGeom>
          <a:ln w="44450">
            <a:solidFill>
              <a:srgbClr val="1F5FAD"/>
            </a:solidFill>
            <a:tailEnd type="triangle" w="med" len="med"/>
          </a:ln>
        </p:spPr>
      </p:cxnSp>
      <p:cxnSp>
        <p:nvCxnSpPr>
          <p:cNvPr id="16" name="Connector 15"/>
          <p:cNvCxnSpPr/>
          <p:nvPr/>
        </p:nvCxnSpPr>
        <p:spPr>
          <a:xfrm flipH="1" flipV="1">
            <a:off x="9341831" y="3651564"/>
            <a:ext cx="404581" cy="413492"/>
          </a:xfrm>
          <a:prstGeom prst="line">
            <a:avLst/>
          </a:prstGeom>
          <a:ln w="44450">
            <a:solidFill>
              <a:srgbClr val="7B3FA0"/>
            </a:solidFill>
            <a:tailEnd type="triangle" w="med" len="med"/>
          </a:ln>
        </p:spPr>
      </p:cxnSp>
      <p:sp>
        <p:nvSpPr>
          <p:cNvPr id="17" name="Oval 16"/>
          <p:cNvSpPr/>
          <p:nvPr/>
        </p:nvSpPr>
        <p:spPr>
          <a:xfrm>
            <a:off x="8530369" y="2663098"/>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9474392" y="2517160"/>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9474392" y="4317065"/>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Oval 19"/>
          <p:cNvSpPr/>
          <p:nvPr/>
        </p:nvSpPr>
        <p:spPr>
          <a:xfrm>
            <a:off x="9609252" y="3927896"/>
            <a:ext cx="274320" cy="27432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1" name="TextBox 20"/>
          <p:cNvSpPr txBox="1"/>
          <p:nvPr/>
        </p:nvSpPr>
        <p:spPr>
          <a:xfrm>
            <a:off x="777240" y="5705856"/>
            <a:ext cx="347472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7.1 - Lim, The Handbook of Technical Analysis (Wiley, 2016)</a:t>
            </a:r>
          </a:p>
        </p:txBody>
      </p:sp>
      <p:sp>
        <p:nvSpPr>
          <p:cNvPr id="22" name="TextBox 2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 of 17</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209 to 210, Figure 7.1. The marks are ours, added for teaching.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Reading one bar of ours, price by price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Now the same four prices with numbers. This bar of ours opens at PHP 50.00 </a:t>
            </a:r>
            <a:r>
              <a:rPr sz="1700" b="1" i="0">
                <a:solidFill>
                  <a:srgbClr val="E09B00"/>
                </a:solidFill>
                <a:latin typeface="Arial"/>
              </a:rPr>
              <a:t>(1)</a:t>
            </a:r>
            <a:r>
              <a:rPr sz="1700" b="0" i="0">
                <a:solidFill>
                  <a:srgbClr val="1A1A1A"/>
                </a:solidFill>
                <a:latin typeface="Arial"/>
              </a:rPr>
              <a:t>, rises as high as PHP 52.40 </a:t>
            </a:r>
            <a:r>
              <a:rPr sz="1700" b="1" i="0">
                <a:solidFill>
                  <a:srgbClr val="C62828"/>
                </a:solidFill>
                <a:latin typeface="Arial"/>
              </a:rPr>
              <a:t>(2)</a:t>
            </a:r>
            <a:r>
              <a:rPr sz="1700" b="0" i="0">
                <a:solidFill>
                  <a:srgbClr val="1A1A1A"/>
                </a:solidFill>
                <a:latin typeface="Arial"/>
              </a:rPr>
              <a:t>, dips as low as PHP 49.60 </a:t>
            </a:r>
            <a:r>
              <a:rPr sz="1700" b="1" i="0">
                <a:solidFill>
                  <a:srgbClr val="1F5FAD"/>
                </a:solidFill>
                <a:latin typeface="Arial"/>
              </a:rPr>
              <a:t>(3)</a:t>
            </a:r>
            <a:r>
              <a:rPr sz="1700" b="0" i="0">
                <a:solidFill>
                  <a:srgbClr val="1A1A1A"/>
                </a:solidFill>
                <a:latin typeface="Arial"/>
              </a:rPr>
              <a:t> and closes at PHP 51.10 </a:t>
            </a:r>
            <a:r>
              <a:rPr sz="1700" b="1" i="0">
                <a:solidFill>
                  <a:srgbClr val="7B3FA0"/>
                </a:solidFill>
                <a:latin typeface="Arial"/>
              </a:rPr>
              <a:t>(4)</a:t>
            </a:r>
            <a:r>
              <a:rPr sz="1700" b="0" i="0">
                <a:solidFill>
                  <a:srgbClr val="1A1A1A"/>
                </a:solidFill>
                <a:latin typeface="Arial"/>
              </a:rPr>
              <a:t>. Lim calls the distance from the high to the low the range of the bar, |H - L| (p. 209). For this bar it is 52.40 - 49.60 = PHP 2.80.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j-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5896508" y="472405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6051956"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6051956" y="494873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6207404" y="4106178"/>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5812383" y="446801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6139738"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6139738" y="486460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6279080" y="3949402"/>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J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2 of 17</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J. The PHP values are invented for teaching.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Five minutes of trades become one price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Why only four prices? As Chapter 3 put it, the open and close are the prices at the start and end of the interval, and the high and low are its extremes; every other trade drops out. Here are five trades of ours inside one five-minute interval. The first trade, PHP 50.00 </a:t>
            </a:r>
            <a:r>
              <a:rPr sz="1700" b="1" i="0">
                <a:solidFill>
                  <a:srgbClr val="E09B00"/>
                </a:solidFill>
                <a:latin typeface="Arial"/>
              </a:rPr>
              <a:t>(1)</a:t>
            </a:r>
            <a:r>
              <a:rPr sz="1700" b="0" i="0">
                <a:solidFill>
                  <a:srgbClr val="1A1A1A"/>
                </a:solidFill>
                <a:latin typeface="Arial"/>
              </a:rPr>
              <a:t>, becomes the open. The highest, PHP 52.40 </a:t>
            </a:r>
            <a:r>
              <a:rPr sz="1700" b="1" i="0">
                <a:solidFill>
                  <a:srgbClr val="C62828"/>
                </a:solidFill>
                <a:latin typeface="Arial"/>
              </a:rPr>
              <a:t>(2)</a:t>
            </a:r>
            <a:r>
              <a:rPr sz="1700" b="0" i="0">
                <a:solidFill>
                  <a:srgbClr val="1A1A1A"/>
                </a:solidFill>
                <a:latin typeface="Arial"/>
              </a:rPr>
              <a:t>, is the high, and the lowest, PHP 49.60 </a:t>
            </a:r>
            <a:r>
              <a:rPr sz="1700" b="1" i="0">
                <a:solidFill>
                  <a:srgbClr val="1F5FAD"/>
                </a:solidFill>
                <a:latin typeface="Arial"/>
              </a:rPr>
              <a:t>(3)</a:t>
            </a:r>
            <a:r>
              <a:rPr sz="1700" b="0" i="0">
                <a:solidFill>
                  <a:srgbClr val="1A1A1A"/>
                </a:solidFill>
                <a:latin typeface="Arial"/>
              </a:rPr>
              <a:t>, is the low.</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p-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2772460" y="472405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8103184"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6326276" y="494873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880091" y="4106178"/>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2519040" y="4610075"/>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8035635" y="348131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6225574" y="467513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9967874" y="4022053"/>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P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3 of 17</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P. The PHP values are invented for teaching.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Five minutes of trades become one price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last, PHP 51.10 </a:t>
            </a:r>
            <a:r>
              <a:rPr sz="1700" b="1" i="0">
                <a:solidFill>
                  <a:srgbClr val="7B3FA0"/>
                </a:solidFill>
                <a:latin typeface="Arial"/>
              </a:rPr>
              <a:t>(4)</a:t>
            </a:r>
            <a:r>
              <a:rPr sz="1700" b="0" i="0">
                <a:solidFill>
                  <a:srgbClr val="1A1A1A"/>
                </a:solidFill>
                <a:latin typeface="Arial"/>
              </a:rPr>
              <a:t>, becomes the close. The trade at PHP 50.80 leaves no mark on the bar. So this interval's bar is open 50.00, high 52.40, low 49.60 and close 51.10.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p-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2772460" y="472405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8103184"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6326276" y="494873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880091" y="4106178"/>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2519040" y="4610075"/>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8035635" y="348131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6225574" y="467513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9967874" y="4022053"/>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P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4 of 17</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P. The PHP values are invented for teaching.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 OF 30</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Building a price bar</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In one interval, which trade supplies the bar's close?</a:t>
            </a:r>
          </a:p>
        </p:txBody>
      </p:sp>
      <p:sp>
        <p:nvSpPr>
          <p:cNvPr id="9" name="TextBox 8"/>
          <p:cNvSpPr txBox="1"/>
          <p:nvPr/>
        </p:nvSpPr>
        <p:spPr>
          <a:xfrm>
            <a:off x="1051560"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first trade</a:t>
            </a:r>
          </a:p>
          <a:p>
            <a:pPr algn="l">
              <a:lnSpc>
                <a:spcPct val="112000"/>
              </a:lnSpc>
              <a:spcBef>
                <a:spcPts val="0"/>
              </a:spcBef>
              <a:spcAft>
                <a:spcPts val="900"/>
              </a:spcAft>
            </a:pPr>
            <a:r>
              <a:rPr sz="1700" b="0" i="0">
                <a:solidFill>
                  <a:srgbClr val="FFFFFF"/>
                </a:solidFill>
                <a:latin typeface="Arial"/>
              </a:rPr>
              <a:t>B.  The highest trade</a:t>
            </a:r>
          </a:p>
          <a:p>
            <a:pPr algn="l">
              <a:lnSpc>
                <a:spcPct val="112000"/>
              </a:lnSpc>
              <a:spcBef>
                <a:spcPts val="0"/>
              </a:spcBef>
              <a:spcAft>
                <a:spcPts val="900"/>
              </a:spcAft>
            </a:pPr>
            <a:r>
              <a:rPr sz="1700" b="0" i="0">
                <a:solidFill>
                  <a:srgbClr val="FFFFFF"/>
                </a:solidFill>
                <a:latin typeface="Arial"/>
              </a:rPr>
              <a:t>C.  The lowest trade</a:t>
            </a:r>
          </a:p>
          <a:p>
            <a:pPr algn="l">
              <a:lnSpc>
                <a:spcPct val="112000"/>
              </a:lnSpc>
              <a:spcBef>
                <a:spcPts val="0"/>
              </a:spcBef>
              <a:spcAft>
                <a:spcPts val="900"/>
              </a:spcAft>
            </a:pPr>
            <a:r>
              <a:rPr sz="1700" b="0" i="0">
                <a:solidFill>
                  <a:srgbClr val="FFFFFF"/>
                </a:solidFill>
                <a:latin typeface="Arial"/>
              </a:rPr>
              <a:t>D.  The last trade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What is the range when H is PHP 52.40 and L is PHP 49.60?</a:t>
            </a:r>
          </a:p>
        </p:txBody>
      </p:sp>
      <p:sp>
        <p:nvSpPr>
          <p:cNvPr id="13" name="TextBox 12"/>
          <p:cNvSpPr txBox="1"/>
          <p:nvPr/>
        </p:nvSpPr>
        <p:spPr>
          <a:xfrm>
            <a:off x="6690207"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PHP 1.40</a:t>
            </a:r>
          </a:p>
          <a:p>
            <a:pPr algn="l">
              <a:lnSpc>
                <a:spcPct val="112000"/>
              </a:lnSpc>
              <a:spcBef>
                <a:spcPts val="0"/>
              </a:spcBef>
              <a:spcAft>
                <a:spcPts val="900"/>
              </a:spcAft>
            </a:pPr>
            <a:r>
              <a:rPr sz="1700" b="0" i="0">
                <a:solidFill>
                  <a:srgbClr val="FFFFFF"/>
                </a:solidFill>
                <a:latin typeface="Arial"/>
              </a:rPr>
              <a:t>B.  PHP 2.80</a:t>
            </a:r>
          </a:p>
          <a:p>
            <a:pPr algn="l">
              <a:lnSpc>
                <a:spcPct val="112000"/>
              </a:lnSpc>
              <a:spcBef>
                <a:spcPts val="0"/>
              </a:spcBef>
              <a:spcAft>
                <a:spcPts val="900"/>
              </a:spcAft>
            </a:pPr>
            <a:r>
              <a:rPr sz="1700" b="0" i="0">
                <a:solidFill>
                  <a:srgbClr val="FFFFFF"/>
                </a:solidFill>
                <a:latin typeface="Arial"/>
              </a:rPr>
              <a:t>C.  PHP 3.80</a:t>
            </a:r>
          </a:p>
          <a:p>
            <a:pPr algn="l">
              <a:lnSpc>
                <a:spcPct val="112000"/>
              </a:lnSpc>
              <a:spcBef>
                <a:spcPts val="0"/>
              </a:spcBef>
              <a:spcAft>
                <a:spcPts val="900"/>
              </a:spcAft>
            </a:pPr>
            <a:r>
              <a:rPr sz="1700" b="0" i="0">
                <a:solidFill>
                  <a:srgbClr val="FFFFFF"/>
                </a:solidFill>
                <a:latin typeface="Arial"/>
              </a:rPr>
              <a:t>D.  PHP 102.00</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4 - 7.1 Price bar  |  Check 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Building a price bar</a:t>
            </a:r>
          </a:p>
        </p:txBody>
      </p:sp>
      <p:sp>
        <p:nvSpPr>
          <p:cNvPr id="6" name="Rectangle 5"/>
          <p:cNvSpPr/>
          <p:nvPr/>
        </p:nvSpPr>
        <p:spPr>
          <a:xfrm>
            <a:off x="777240" y="1207008"/>
            <a:ext cx="10637215" cy="1905634"/>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905634"/>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In one interval, which trade supplies the bar's close?</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The last trade</a:t>
            </a:r>
          </a:p>
          <a:p>
            <a:pPr algn="l">
              <a:lnSpc>
                <a:spcPct val="115000"/>
              </a:lnSpc>
              <a:spcBef>
                <a:spcPts val="700"/>
              </a:spcBef>
              <a:spcAft>
                <a:spcPts val="0"/>
              </a:spcAft>
            </a:pPr>
            <a:r>
              <a:rPr sz="1700" b="0" i="0">
                <a:solidFill>
                  <a:srgbClr val="1A1A1A"/>
                </a:solidFill>
                <a:latin typeface="Arial"/>
              </a:rPr>
              <a:t>As Chapter 3 put it, the price at the end of the interval is the close; the first trade is the open, and the highest and lowest are the high and low.</a:t>
            </a:r>
          </a:p>
        </p:txBody>
      </p:sp>
      <p:sp>
        <p:nvSpPr>
          <p:cNvPr id="10" name="Rectangle 9"/>
          <p:cNvSpPr/>
          <p:nvPr/>
        </p:nvSpPr>
        <p:spPr>
          <a:xfrm>
            <a:off x="777240" y="3359531"/>
            <a:ext cx="10637215" cy="165735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59531"/>
            <a:ext cx="91440" cy="165735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97275"/>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What is the range when H is PHP 52.40 and L is PHP 49.60?</a:t>
            </a:r>
          </a:p>
        </p:txBody>
      </p:sp>
      <p:sp>
        <p:nvSpPr>
          <p:cNvPr id="13" name="TextBox 12"/>
          <p:cNvSpPr txBox="1"/>
          <p:nvPr/>
        </p:nvSpPr>
        <p:spPr>
          <a:xfrm>
            <a:off x="1143000" y="41015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PHP 2.80</a:t>
            </a:r>
          </a:p>
          <a:p>
            <a:pPr algn="l">
              <a:lnSpc>
                <a:spcPct val="115000"/>
              </a:lnSpc>
              <a:spcBef>
                <a:spcPts val="700"/>
              </a:spcBef>
              <a:spcAft>
                <a:spcPts val="0"/>
              </a:spcAft>
            </a:pPr>
            <a:r>
              <a:rPr sz="1700" b="0" i="0">
                <a:solidFill>
                  <a:srgbClr val="1A1A1A"/>
                </a:solidFill>
                <a:latin typeface="Arial"/>
              </a:rPr>
              <a:t>The range is the high minus the low: 52.40 - 49.60 = PHP 2.80 (Lim, p. 209).</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Check 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Three five-minute bars can make one 15-minute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356616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One bar for a longer stretch is a higher timeframe bar (Lim, p. 210).</a:t>
            </a:r>
          </a:p>
          <a:p>
            <a:pPr algn="l">
              <a:lnSpc>
                <a:spcPct val="105000"/>
              </a:lnSpc>
              <a:spcBef>
                <a:spcPts val="0"/>
              </a:spcBef>
              <a:spcAft>
                <a:spcPts val="1100"/>
              </a:spcAft>
            </a:pPr>
            <a:r>
              <a:rPr sz="1700" b="0" i="0">
                <a:solidFill>
                  <a:srgbClr val="1A1A1A"/>
                </a:solidFill>
                <a:latin typeface="Arial"/>
              </a:rPr>
              <a:t>It keeps the first interval's open </a:t>
            </a:r>
            <a:r>
              <a:rPr sz="1700" b="1" i="0">
                <a:solidFill>
                  <a:srgbClr val="E09B00"/>
                </a:solidFill>
                <a:latin typeface="Arial"/>
              </a:rPr>
              <a:t>(1)</a:t>
            </a:r>
            <a:r>
              <a:rPr sz="1700" b="0" i="0">
                <a:solidFill>
                  <a:srgbClr val="1A1A1A"/>
                </a:solidFill>
                <a:latin typeface="Arial"/>
              </a:rPr>
              <a:t>, the highest high </a:t>
            </a:r>
            <a:r>
              <a:rPr sz="1700" b="1" i="0">
                <a:solidFill>
                  <a:srgbClr val="C62828"/>
                </a:solidFill>
                <a:latin typeface="Arial"/>
              </a:rPr>
              <a:t>(2)</a:t>
            </a:r>
            <a:r>
              <a:rPr sz="1700" b="0" i="0">
                <a:solidFill>
                  <a:srgbClr val="1A1A1A"/>
                </a:solidFill>
                <a:latin typeface="Arial"/>
              </a:rPr>
              <a:t>, the lowest low </a:t>
            </a:r>
            <a:r>
              <a:rPr sz="1700" b="1" i="0">
                <a:solidFill>
                  <a:srgbClr val="1F5FAD"/>
                </a:solidFill>
                <a:latin typeface="Arial"/>
              </a:rPr>
              <a:t>(3)</a:t>
            </a:r>
            <a:r>
              <a:rPr sz="1700" b="0" i="0">
                <a:solidFill>
                  <a:srgbClr val="1A1A1A"/>
                </a:solidFill>
                <a:latin typeface="Arial"/>
              </a:rPr>
              <a:t> and the last interval's close </a:t>
            </a:r>
            <a:r>
              <a:rPr sz="1700" b="1" i="0">
                <a:solidFill>
                  <a:srgbClr val="7B3FA0"/>
                </a:solidFill>
                <a:latin typeface="Arial"/>
              </a:rPr>
              <a:t>(4)</a:t>
            </a:r>
            <a:r>
              <a:rPr sz="1700" b="0" i="0">
                <a:solidFill>
                  <a:srgbClr val="1A1A1A"/>
                </a:solidFill>
                <a:latin typeface="Arial"/>
              </a:rPr>
              <a:t> (p. 209). Dashed lines carry each to the 15-minute bar.</a:t>
            </a:r>
          </a:p>
        </p:txBody>
      </p:sp>
      <p:sp>
        <p:nvSpPr>
          <p:cNvPr id="7" name="Rectangle 6"/>
          <p:cNvSpPr/>
          <p:nvPr/>
        </p:nvSpPr>
        <p:spPr>
          <a:xfrm>
            <a:off x="777240" y="4222242"/>
            <a:ext cx="82296" cy="969263"/>
          </a:xfrm>
          <a:prstGeom prst="rect">
            <a:avLst/>
          </a:prstGeom>
          <a:solidFill>
            <a:srgbClr val="F2A900"/>
          </a:solidFill>
          <a:ln>
            <a:noFill/>
          </a:ln>
          <a:effectLst/>
        </p:spPr>
        <p:txBody>
          <a:bodyPr rtlCol="0" anchor="ctr"/>
          <a:lstStyle/>
          <a:p>
            <a:pPr algn="ctr"/>
          </a:p>
        </p:txBody>
      </p:sp>
      <p:sp>
        <p:nvSpPr>
          <p:cNvPr id="8" name="TextBox 7"/>
          <p:cNvSpPr txBox="1"/>
          <p:nvPr/>
        </p:nvSpPr>
        <p:spPr>
          <a:xfrm>
            <a:off x="1069848" y="4258818"/>
            <a:ext cx="327355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drawing has no prices; its 15-minute bar closes below its open.</a:t>
            </a:r>
          </a:p>
        </p:txBody>
      </p:sp>
      <p:sp>
        <p:nvSpPr>
          <p:cNvPr id="9" name="Rectangle 8"/>
          <p:cNvSpPr/>
          <p:nvPr/>
        </p:nvSpPr>
        <p:spPr>
          <a:xfrm>
            <a:off x="4626864" y="1207008"/>
            <a:ext cx="6824166" cy="4669153"/>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4663440" y="1243584"/>
            <a:ext cx="6751014" cy="4596001"/>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4663440" y="1243584"/>
            <a:ext cx="67510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4937759" y="1517904"/>
            <a:ext cx="6202375" cy="413880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a:t>
            </a:r>
          </a:p>
          <a:p>
            <a:pPr algn="l">
              <a:lnSpc>
                <a:spcPct val="115000"/>
              </a:lnSpc>
              <a:spcBef>
                <a:spcPts val="0"/>
              </a:spcBef>
              <a:spcAft>
                <a:spcPts val="0"/>
              </a:spcAft>
            </a:pPr>
            <a:r>
              <a:rPr sz="1500" b="0" i="0">
                <a:solidFill>
                  <a:srgbClr val="1A1A1A"/>
                </a:solidFill>
                <a:latin typeface="Palatino"/>
              </a:rPr>
              <a:t>Figure 7.2: three five-minute intervals on the left are summarized by one 15-minute bar on the right, which keeps the first open, the highest high, the lowest low and the last close.</a:t>
            </a:r>
          </a:p>
        </p:txBody>
      </p:sp>
      <p:cxnSp>
        <p:nvCxnSpPr>
          <p:cNvPr id="13" name="Connector 12"/>
          <p:cNvCxnSpPr/>
          <p:nvPr/>
        </p:nvCxnSpPr>
        <p:spPr>
          <a:xfrm>
            <a:off x="5102255" y="2438544"/>
            <a:ext cx="209282" cy="432024"/>
          </a:xfrm>
          <a:prstGeom prst="line">
            <a:avLst/>
          </a:prstGeom>
          <a:ln w="44450">
            <a:solidFill>
              <a:srgbClr val="E09B00"/>
            </a:solidFill>
            <a:tailEnd type="triangle" w="med" len="med"/>
          </a:ln>
        </p:spPr>
      </p:cxnSp>
      <p:cxnSp>
        <p:nvCxnSpPr>
          <p:cNvPr id="14" name="Connector 13"/>
          <p:cNvCxnSpPr/>
          <p:nvPr/>
        </p:nvCxnSpPr>
        <p:spPr>
          <a:xfrm flipH="1">
            <a:off x="5682843" y="2139804"/>
            <a:ext cx="567085" cy="55152"/>
          </a:xfrm>
          <a:prstGeom prst="line">
            <a:avLst/>
          </a:prstGeom>
          <a:ln w="44450">
            <a:solidFill>
              <a:srgbClr val="C62828"/>
            </a:solidFill>
            <a:tailEnd type="triangle" w="med" len="med"/>
          </a:ln>
        </p:spPr>
      </p:cxnSp>
      <p:cxnSp>
        <p:nvCxnSpPr>
          <p:cNvPr id="15" name="Connector 14"/>
          <p:cNvCxnSpPr/>
          <p:nvPr/>
        </p:nvCxnSpPr>
        <p:spPr>
          <a:xfrm flipV="1">
            <a:off x="6351193" y="4561896"/>
            <a:ext cx="580588" cy="59748"/>
          </a:xfrm>
          <a:prstGeom prst="line">
            <a:avLst/>
          </a:prstGeom>
          <a:ln w="44450">
            <a:solidFill>
              <a:srgbClr val="1F5FAD"/>
            </a:solidFill>
            <a:tailEnd type="triangle" w="med" len="med"/>
          </a:ln>
        </p:spPr>
      </p:cxnSp>
      <p:cxnSp>
        <p:nvCxnSpPr>
          <p:cNvPr id="16" name="Connector 15"/>
          <p:cNvCxnSpPr/>
          <p:nvPr/>
        </p:nvCxnSpPr>
        <p:spPr>
          <a:xfrm flipH="1" flipV="1">
            <a:off x="8052449" y="3798960"/>
            <a:ext cx="391559" cy="432024"/>
          </a:xfrm>
          <a:prstGeom prst="line">
            <a:avLst/>
          </a:prstGeom>
          <a:ln w="44450">
            <a:solidFill>
              <a:srgbClr val="7B3FA0"/>
            </a:solidFill>
            <a:tailEnd type="triangle" w="med" len="med"/>
          </a:ln>
        </p:spPr>
      </p:cxnSp>
      <p:sp>
        <p:nvSpPr>
          <p:cNvPr id="17" name="Oval 16"/>
          <p:cNvSpPr/>
          <p:nvPr/>
        </p:nvSpPr>
        <p:spPr>
          <a:xfrm>
            <a:off x="4965095" y="2301384"/>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6112768" y="2002644"/>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6214033" y="4484484"/>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Oval 19"/>
          <p:cNvSpPr/>
          <p:nvPr/>
        </p:nvSpPr>
        <p:spPr>
          <a:xfrm>
            <a:off x="8306848" y="4093824"/>
            <a:ext cx="274320" cy="27432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1" name="TextBox 20"/>
          <p:cNvSpPr txBox="1"/>
          <p:nvPr/>
        </p:nvSpPr>
        <p:spPr>
          <a:xfrm>
            <a:off x="777240" y="5705856"/>
            <a:ext cx="356616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7.2 - Lim, The Handbook of Technical Analysis (Wiley, 2016)</a:t>
            </a:r>
          </a:p>
        </p:txBody>
      </p:sp>
      <p:sp>
        <p:nvSpPr>
          <p:cNvPr id="22" name="TextBox 2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5 of 17</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209 to 210, Figure 7.2. The marks are ours, added for teaching.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Building a 15-minute bar from our own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the same rule with prices of ours. Bars 1 to 3 are three five-minute bars in a row, and bar 4 is the 15-minute bar they make. Bar 4 opens where bar 1 opened, PHP 50.00 </a:t>
            </a:r>
            <a:r>
              <a:rPr sz="1700" b="1" i="0">
                <a:solidFill>
                  <a:srgbClr val="E09B00"/>
                </a:solidFill>
                <a:latin typeface="Arial"/>
              </a:rPr>
              <a:t>(1)</a:t>
            </a:r>
            <a:r>
              <a:rPr sz="1700" b="0" i="0">
                <a:solidFill>
                  <a:srgbClr val="1A1A1A"/>
                </a:solidFill>
                <a:latin typeface="Arial"/>
              </a:rPr>
              <a:t>. Its high is the highest high, PHP 50.90 from bar 2 </a:t>
            </a:r>
            <a:r>
              <a:rPr sz="1700" b="1" i="0">
                <a:solidFill>
                  <a:srgbClr val="C62828"/>
                </a:solidFill>
                <a:latin typeface="Arial"/>
              </a:rPr>
              <a:t>(2)</a:t>
            </a:r>
            <a:r>
              <a:rPr sz="1700" b="0" i="0">
                <a:solidFill>
                  <a:srgbClr val="1A1A1A"/>
                </a:solidFill>
                <a:latin typeface="Arial"/>
              </a:rPr>
              <a:t>, and its low the lowest low, PHP 49.40, also from bar 2 </a:t>
            </a:r>
            <a:r>
              <a:rPr sz="1700" b="1" i="0">
                <a:solidFill>
                  <a:srgbClr val="1F5FAD"/>
                </a:solidFill>
                <a:latin typeface="Arial"/>
              </a:rPr>
              <a:t>(3)</a:t>
            </a:r>
            <a:r>
              <a:rPr sz="1700" b="0" i="0">
                <a:solidFill>
                  <a:srgbClr val="1A1A1A"/>
                </a:solidFill>
                <a:latin typeface="Arial"/>
              </a:rPr>
              <a:t>. It closes where bar 3 closed, PHP 50.30 </a:t>
            </a:r>
            <a:r>
              <a:rPr sz="1700" b="1" i="0">
                <a:solidFill>
                  <a:srgbClr val="7B3FA0"/>
                </a:solidFill>
                <a:latin typeface="Arial"/>
              </a:rPr>
              <a:t>(4)</a:t>
            </a:r>
            <a:r>
              <a:rPr sz="1700" b="0" i="0">
                <a:solidFill>
                  <a:srgbClr val="1A1A1A"/>
                </a:solidFill>
                <a:latin typeface="Arial"/>
              </a:rPr>
              <a:t>. The opens and closes in between drop out.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r-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1940356" y="4319625"/>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4745431"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4745431" y="494873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7550505" y="4005072"/>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1856232" y="406359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4833213"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4833213" y="486460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7510873" y="3754897"/>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R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6 of 17</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R. The PHP values are invented for teaching.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 OF 30</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Reading a higher timeframe bar</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8010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Which open survives when three five-minute bars become one 15-minute bar?</a:t>
            </a:r>
          </a:p>
        </p:txBody>
      </p:sp>
      <p:sp>
        <p:nvSpPr>
          <p:cNvPr id="9" name="TextBox 8"/>
          <p:cNvSpPr txBox="1"/>
          <p:nvPr/>
        </p:nvSpPr>
        <p:spPr>
          <a:xfrm>
            <a:off x="1051560" y="281863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first five-minute open</a:t>
            </a:r>
          </a:p>
          <a:p>
            <a:pPr algn="l">
              <a:lnSpc>
                <a:spcPct val="112000"/>
              </a:lnSpc>
              <a:spcBef>
                <a:spcPts val="0"/>
              </a:spcBef>
              <a:spcAft>
                <a:spcPts val="900"/>
              </a:spcAft>
            </a:pPr>
            <a:r>
              <a:rPr sz="1700" b="0" i="0">
                <a:solidFill>
                  <a:srgbClr val="FFFFFF"/>
                </a:solidFill>
                <a:latin typeface="Arial"/>
              </a:rPr>
              <a:t>B.  The second open</a:t>
            </a:r>
          </a:p>
          <a:p>
            <a:pPr algn="l">
              <a:lnSpc>
                <a:spcPct val="112000"/>
              </a:lnSpc>
              <a:spcBef>
                <a:spcPts val="0"/>
              </a:spcBef>
              <a:spcAft>
                <a:spcPts val="900"/>
              </a:spcAft>
            </a:pPr>
            <a:r>
              <a:rPr sz="1700" b="0" i="0">
                <a:solidFill>
                  <a:srgbClr val="FFFFFF"/>
                </a:solidFill>
                <a:latin typeface="Arial"/>
              </a:rPr>
              <a:t>C.  The highest high</a:t>
            </a:r>
          </a:p>
          <a:p>
            <a:pPr algn="l">
              <a:lnSpc>
                <a:spcPct val="112000"/>
              </a:lnSpc>
              <a:spcBef>
                <a:spcPts val="0"/>
              </a:spcBef>
              <a:spcAft>
                <a:spcPts val="900"/>
              </a:spcAft>
            </a:pPr>
            <a:r>
              <a:rPr sz="1700" b="0" i="0">
                <a:solidFill>
                  <a:srgbClr val="FFFFFF"/>
                </a:solidFill>
                <a:latin typeface="Arial"/>
              </a:rPr>
              <a:t>D.  The last close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Which high survives in the 15-minute bar?</a:t>
            </a:r>
          </a:p>
        </p:txBody>
      </p:sp>
      <p:sp>
        <p:nvSpPr>
          <p:cNvPr id="13" name="TextBox 12"/>
          <p:cNvSpPr txBox="1"/>
          <p:nvPr/>
        </p:nvSpPr>
        <p:spPr>
          <a:xfrm>
            <a:off x="6690207" y="281863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first high</a:t>
            </a:r>
          </a:p>
          <a:p>
            <a:pPr algn="l">
              <a:lnSpc>
                <a:spcPct val="112000"/>
              </a:lnSpc>
              <a:spcBef>
                <a:spcPts val="0"/>
              </a:spcBef>
              <a:spcAft>
                <a:spcPts val="900"/>
              </a:spcAft>
            </a:pPr>
            <a:r>
              <a:rPr sz="1700" b="0" i="0">
                <a:solidFill>
                  <a:srgbClr val="FFFFFF"/>
                </a:solidFill>
                <a:latin typeface="Arial"/>
              </a:rPr>
              <a:t>B.  The highest high</a:t>
            </a:r>
          </a:p>
          <a:p>
            <a:pPr algn="l">
              <a:lnSpc>
                <a:spcPct val="112000"/>
              </a:lnSpc>
              <a:spcBef>
                <a:spcPts val="0"/>
              </a:spcBef>
              <a:spcAft>
                <a:spcPts val="900"/>
              </a:spcAft>
            </a:pPr>
            <a:r>
              <a:rPr sz="1700" b="0" i="0">
                <a:solidFill>
                  <a:srgbClr val="FFFFFF"/>
                </a:solidFill>
                <a:latin typeface="Arial"/>
              </a:rPr>
              <a:t>C.  The last close</a:t>
            </a:r>
          </a:p>
          <a:p>
            <a:pPr algn="l">
              <a:lnSpc>
                <a:spcPct val="112000"/>
              </a:lnSpc>
              <a:spcBef>
                <a:spcPts val="0"/>
              </a:spcBef>
              <a:spcAft>
                <a:spcPts val="900"/>
              </a:spcAft>
            </a:pPr>
            <a:r>
              <a:rPr sz="1700" b="0" i="0">
                <a:solidFill>
                  <a:srgbClr val="FFFFFF"/>
                </a:solidFill>
                <a:latin typeface="Arial"/>
              </a:rPr>
              <a:t>D.  Every intermediate high</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4 - 7.1 Price bar  |  Check 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Reading a higher timeframe bar</a:t>
            </a:r>
          </a:p>
        </p:txBody>
      </p:sp>
      <p:sp>
        <p:nvSpPr>
          <p:cNvPr id="6" name="Rectangle 5"/>
          <p:cNvSpPr/>
          <p:nvPr/>
        </p:nvSpPr>
        <p:spPr>
          <a:xfrm>
            <a:off x="777240" y="1207008"/>
            <a:ext cx="10637215" cy="165735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5735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Which open survives when three five-minute bars become one 15-minute bar?</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The first five-minute open</a:t>
            </a:r>
          </a:p>
          <a:p>
            <a:pPr algn="l">
              <a:lnSpc>
                <a:spcPct val="115000"/>
              </a:lnSpc>
              <a:spcBef>
                <a:spcPts val="700"/>
              </a:spcBef>
              <a:spcAft>
                <a:spcPts val="0"/>
              </a:spcAft>
            </a:pPr>
            <a:r>
              <a:rPr sz="1700" b="0" i="0">
                <a:solidFill>
                  <a:srgbClr val="1A1A1A"/>
                </a:solidFill>
                <a:latin typeface="Arial"/>
              </a:rPr>
              <a:t>It keeps the first interval's open (Lim, p. 209).</a:t>
            </a:r>
          </a:p>
        </p:txBody>
      </p:sp>
      <p:sp>
        <p:nvSpPr>
          <p:cNvPr id="10" name="Rectangle 9"/>
          <p:cNvSpPr/>
          <p:nvPr/>
        </p:nvSpPr>
        <p:spPr>
          <a:xfrm>
            <a:off x="777240" y="3111246"/>
            <a:ext cx="10637215" cy="165735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111246"/>
            <a:ext cx="91440" cy="165735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48989"/>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Which high survives in the 15-minute bar?</a:t>
            </a:r>
          </a:p>
        </p:txBody>
      </p:sp>
      <p:sp>
        <p:nvSpPr>
          <p:cNvPr id="13" name="TextBox 12"/>
          <p:cNvSpPr txBox="1"/>
          <p:nvPr/>
        </p:nvSpPr>
        <p:spPr>
          <a:xfrm>
            <a:off x="1143000" y="3853306"/>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The highest high</a:t>
            </a:r>
          </a:p>
          <a:p>
            <a:pPr algn="l">
              <a:lnSpc>
                <a:spcPct val="115000"/>
              </a:lnSpc>
              <a:spcBef>
                <a:spcPts val="700"/>
              </a:spcBef>
              <a:spcAft>
                <a:spcPts val="0"/>
              </a:spcAft>
            </a:pPr>
            <a:r>
              <a:rPr sz="1700" b="0" i="0">
                <a:solidFill>
                  <a:srgbClr val="1A1A1A"/>
                </a:solidFill>
                <a:latin typeface="Arial"/>
              </a:rPr>
              <a:t>It keeps the highest high of the whole stretch (Lim, p. 209).</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Check 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Figure 7.3 follows price through several intervals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420624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Many patterns use more than one bar, so Lim next follows price through a run of five-minute intervals (p. 210). This crop shows the first two of the figure's eight.</a:t>
            </a:r>
          </a:p>
          <a:p>
            <a:pPr algn="l">
              <a:lnSpc>
                <a:spcPct val="105000"/>
              </a:lnSpc>
              <a:spcBef>
                <a:spcPts val="0"/>
              </a:spcBef>
              <a:spcAft>
                <a:spcPts val="1100"/>
              </a:spcAft>
            </a:pPr>
            <a:r>
              <a:rPr sz="1700" b="0" i="0">
                <a:solidFill>
                  <a:srgbClr val="1A1A1A"/>
                </a:solidFill>
                <a:latin typeface="Arial"/>
              </a:rPr>
              <a:t>Take interval 1. Price opens at O </a:t>
            </a:r>
            <a:r>
              <a:rPr sz="1700" b="1" i="0">
                <a:solidFill>
                  <a:srgbClr val="E09B00"/>
                </a:solidFill>
                <a:latin typeface="Arial"/>
              </a:rPr>
              <a:t>(1)</a:t>
            </a:r>
            <a:r>
              <a:rPr sz="1700" b="0" i="0">
                <a:solidFill>
                  <a:srgbClr val="1A1A1A"/>
                </a:solidFill>
                <a:latin typeface="Arial"/>
              </a:rPr>
              <a:t>, climbs to its high H </a:t>
            </a:r>
            <a:r>
              <a:rPr sz="1700" b="1" i="0">
                <a:solidFill>
                  <a:srgbClr val="C62828"/>
                </a:solidFill>
                <a:latin typeface="Arial"/>
              </a:rPr>
              <a:t>(2)</a:t>
            </a:r>
            <a:r>
              <a:rPr sz="1700" b="0" i="0">
                <a:solidFill>
                  <a:srgbClr val="1A1A1A"/>
                </a:solidFill>
                <a:latin typeface="Arial"/>
              </a:rPr>
              <a:t>, drops to its low L </a:t>
            </a:r>
            <a:r>
              <a:rPr sz="1700" b="1" i="0">
                <a:solidFill>
                  <a:srgbClr val="1F5FAD"/>
                </a:solidFill>
                <a:latin typeface="Arial"/>
              </a:rPr>
              <a:t>(3)</a:t>
            </a:r>
            <a:r>
              <a:rPr sz="1700" b="0" i="0">
                <a:solidFill>
                  <a:srgbClr val="1A1A1A"/>
                </a:solidFill>
                <a:latin typeface="Arial"/>
              </a:rPr>
              <a:t> and ends the interval at C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777240" y="4222242"/>
            <a:ext cx="82296" cy="694944"/>
          </a:xfrm>
          <a:prstGeom prst="rect">
            <a:avLst/>
          </a:prstGeom>
          <a:solidFill>
            <a:srgbClr val="F2A900"/>
          </a:solidFill>
          <a:ln>
            <a:noFill/>
          </a:ln>
          <a:effectLst/>
        </p:spPr>
        <p:txBody>
          <a:bodyPr rtlCol="0" anchor="ctr"/>
          <a:lstStyle/>
          <a:p>
            <a:pPr algn="ctr"/>
          </a:p>
        </p:txBody>
      </p:sp>
      <p:sp>
        <p:nvSpPr>
          <p:cNvPr id="8" name="TextBox 7"/>
          <p:cNvSpPr txBox="1"/>
          <p:nvPr/>
        </p:nvSpPr>
        <p:spPr>
          <a:xfrm>
            <a:off x="1069848" y="4258818"/>
            <a:ext cx="3913631"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Each interval is read on its own, just like one bar.</a:t>
            </a:r>
          </a:p>
        </p:txBody>
      </p:sp>
      <p:sp>
        <p:nvSpPr>
          <p:cNvPr id="9" name="Rectangle 8"/>
          <p:cNvSpPr/>
          <p:nvPr/>
        </p:nvSpPr>
        <p:spPr>
          <a:xfrm>
            <a:off x="6406314" y="1207008"/>
            <a:ext cx="3905346" cy="493775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442890" y="1243584"/>
            <a:ext cx="3832194" cy="4864607"/>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42890" y="1243584"/>
            <a:ext cx="383219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717210" y="1517904"/>
            <a:ext cx="3283554" cy="440740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a:t>
            </a:r>
          </a:p>
          <a:p>
            <a:pPr algn="l">
              <a:lnSpc>
                <a:spcPct val="115000"/>
              </a:lnSpc>
              <a:spcBef>
                <a:spcPts val="0"/>
              </a:spcBef>
              <a:spcAft>
                <a:spcPts val="0"/>
              </a:spcAft>
            </a:pPr>
            <a:r>
              <a:rPr sz="1500" b="0" i="0">
                <a:solidFill>
                  <a:srgbClr val="1A1A1A"/>
                </a:solidFill>
                <a:latin typeface="Palatino"/>
              </a:rPr>
              <a:t>Figure 7.3, cropped to the price trace of its first two five-minute intervals. Each interval has its own open, high, low and close.</a:t>
            </a:r>
          </a:p>
        </p:txBody>
      </p:sp>
      <p:cxnSp>
        <p:nvCxnSpPr>
          <p:cNvPr id="13" name="Connector 12"/>
          <p:cNvCxnSpPr/>
          <p:nvPr/>
        </p:nvCxnSpPr>
        <p:spPr>
          <a:xfrm flipV="1">
            <a:off x="7167175" y="2994842"/>
            <a:ext cx="0" cy="681045"/>
          </a:xfrm>
          <a:prstGeom prst="line">
            <a:avLst/>
          </a:prstGeom>
          <a:ln w="44450">
            <a:solidFill>
              <a:srgbClr val="E09B00"/>
            </a:solidFill>
            <a:tailEnd type="triangle" w="med" len="med"/>
          </a:ln>
        </p:spPr>
      </p:cxnSp>
      <p:cxnSp>
        <p:nvCxnSpPr>
          <p:cNvPr id="14" name="Connector 13"/>
          <p:cNvCxnSpPr/>
          <p:nvPr/>
        </p:nvCxnSpPr>
        <p:spPr>
          <a:xfrm flipH="1">
            <a:off x="7719011" y="1851660"/>
            <a:ext cx="390883" cy="355116"/>
          </a:xfrm>
          <a:prstGeom prst="line">
            <a:avLst/>
          </a:prstGeom>
          <a:ln w="44450">
            <a:solidFill>
              <a:srgbClr val="C62828"/>
            </a:solidFill>
            <a:tailEnd type="triangle" w="med" len="med"/>
          </a:ln>
        </p:spPr>
      </p:cxnSp>
      <p:cxnSp>
        <p:nvCxnSpPr>
          <p:cNvPr id="15" name="Connector 14"/>
          <p:cNvCxnSpPr/>
          <p:nvPr/>
        </p:nvCxnSpPr>
        <p:spPr>
          <a:xfrm flipV="1">
            <a:off x="7849305" y="4429902"/>
            <a:ext cx="341065" cy="364845"/>
          </a:xfrm>
          <a:prstGeom prst="line">
            <a:avLst/>
          </a:prstGeom>
          <a:ln w="44450">
            <a:solidFill>
              <a:srgbClr val="1F5FAD"/>
            </a:solidFill>
            <a:tailEnd type="triangle" w="med" len="med"/>
          </a:ln>
        </p:spPr>
      </p:cxnSp>
      <p:cxnSp>
        <p:nvCxnSpPr>
          <p:cNvPr id="16" name="Connector 15"/>
          <p:cNvCxnSpPr/>
          <p:nvPr/>
        </p:nvCxnSpPr>
        <p:spPr>
          <a:xfrm flipH="1">
            <a:off x="8558261" y="2216505"/>
            <a:ext cx="134127" cy="719962"/>
          </a:xfrm>
          <a:prstGeom prst="line">
            <a:avLst/>
          </a:prstGeom>
          <a:ln w="44450">
            <a:solidFill>
              <a:srgbClr val="7B3FA0"/>
            </a:solidFill>
            <a:tailEnd type="triangle" w="med" len="med"/>
          </a:ln>
        </p:spPr>
      </p:cxnSp>
      <p:sp>
        <p:nvSpPr>
          <p:cNvPr id="17" name="Oval 16"/>
          <p:cNvSpPr/>
          <p:nvPr/>
        </p:nvSpPr>
        <p:spPr>
          <a:xfrm>
            <a:off x="7030015" y="3538727"/>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7972734" y="1714500"/>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7712145" y="4657587"/>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Oval 19"/>
          <p:cNvSpPr/>
          <p:nvPr/>
        </p:nvSpPr>
        <p:spPr>
          <a:xfrm>
            <a:off x="8555228" y="2079345"/>
            <a:ext cx="274320" cy="27432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1" name="TextBox 20"/>
          <p:cNvSpPr txBox="1"/>
          <p:nvPr/>
        </p:nvSpPr>
        <p:spPr>
          <a:xfrm>
            <a:off x="777240" y="5705856"/>
            <a:ext cx="420624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7.3 - Lim, The Handbook of Technical Analysis (Wiley, 2016)</a:t>
            </a:r>
          </a:p>
        </p:txBody>
      </p:sp>
      <p:sp>
        <p:nvSpPr>
          <p:cNvPr id="22" name="TextBox 2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7 of 17</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210 to 211, Figure 7.3. The crop and marks are ours, added for teaching.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Below each interval, Lim draws the bar it becomes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356616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Under the price trace, Figure 7.3 draws one OHLC bar for each interval, directly below it (p. 210). This crop shows the bars for intervals 1 to 4.</a:t>
            </a:r>
          </a:p>
          <a:p>
            <a:pPr algn="l">
              <a:lnSpc>
                <a:spcPct val="105000"/>
              </a:lnSpc>
              <a:spcBef>
                <a:spcPts val="0"/>
              </a:spcBef>
              <a:spcAft>
                <a:spcPts val="1100"/>
              </a:spcAft>
            </a:pPr>
            <a:r>
              <a:rPr sz="1700" b="0" i="0">
                <a:solidFill>
                  <a:srgbClr val="1A1A1A"/>
                </a:solidFill>
                <a:latin typeface="Arial"/>
              </a:rPr>
              <a:t>Bar 1 keeps interval 1's open </a:t>
            </a:r>
            <a:r>
              <a:rPr sz="1700" b="1" i="0">
                <a:solidFill>
                  <a:srgbClr val="E09B00"/>
                </a:solidFill>
                <a:latin typeface="Arial"/>
              </a:rPr>
              <a:t>(1)</a:t>
            </a:r>
            <a:r>
              <a:rPr sz="1700" b="0" i="0">
                <a:solidFill>
                  <a:srgbClr val="1A1A1A"/>
                </a:solidFill>
                <a:latin typeface="Arial"/>
              </a:rPr>
              <a:t>, high </a:t>
            </a:r>
            <a:r>
              <a:rPr sz="1700" b="1" i="0">
                <a:solidFill>
                  <a:srgbClr val="C62828"/>
                </a:solidFill>
                <a:latin typeface="Arial"/>
              </a:rPr>
              <a:t>(2)</a:t>
            </a:r>
            <a:r>
              <a:rPr sz="1700" b="0" i="0">
                <a:solidFill>
                  <a:srgbClr val="1A1A1A"/>
                </a:solidFill>
                <a:latin typeface="Arial"/>
              </a:rPr>
              <a:t>, low </a:t>
            </a:r>
            <a:r>
              <a:rPr sz="1700" b="1" i="0">
                <a:solidFill>
                  <a:srgbClr val="1F5FAD"/>
                </a:solidFill>
                <a:latin typeface="Arial"/>
              </a:rPr>
              <a:t>(3)</a:t>
            </a:r>
            <a:r>
              <a:rPr sz="1700" b="0" i="0">
                <a:solidFill>
                  <a:srgbClr val="1A1A1A"/>
                </a:solidFill>
                <a:latin typeface="Arial"/>
              </a:rPr>
              <a:t> and close </a:t>
            </a:r>
            <a:r>
              <a:rPr sz="1700" b="1" i="0">
                <a:solidFill>
                  <a:srgbClr val="7B3FA0"/>
                </a:solidFill>
                <a:latin typeface="Arial"/>
              </a:rPr>
              <a:t>(4)</a:t>
            </a:r>
            <a:r>
              <a:rPr sz="1700" b="0" i="0">
                <a:solidFill>
                  <a:srgbClr val="1A1A1A"/>
                </a:solidFill>
                <a:latin typeface="Arial"/>
              </a:rPr>
              <a:t>. Its open and close ticks sit level, because interval 1 ended about where it began.</a:t>
            </a:r>
          </a:p>
        </p:txBody>
      </p:sp>
      <p:sp>
        <p:nvSpPr>
          <p:cNvPr id="7" name="Rectangle 6"/>
          <p:cNvSpPr/>
          <p:nvPr/>
        </p:nvSpPr>
        <p:spPr>
          <a:xfrm>
            <a:off x="777240" y="4494276"/>
            <a:ext cx="82296" cy="969263"/>
          </a:xfrm>
          <a:prstGeom prst="rect">
            <a:avLst/>
          </a:prstGeom>
          <a:solidFill>
            <a:srgbClr val="F2A900"/>
          </a:solidFill>
          <a:ln>
            <a:noFill/>
          </a:ln>
          <a:effectLst/>
        </p:spPr>
        <p:txBody>
          <a:bodyPr rtlCol="0" anchor="ctr"/>
          <a:lstStyle/>
          <a:p>
            <a:pPr algn="ctr"/>
          </a:p>
        </p:txBody>
      </p:sp>
      <p:sp>
        <p:nvSpPr>
          <p:cNvPr id="8" name="TextBox 7"/>
          <p:cNvSpPr txBox="1"/>
          <p:nvPr/>
        </p:nvSpPr>
        <p:spPr>
          <a:xfrm>
            <a:off x="1069848" y="4530852"/>
            <a:ext cx="327355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Read every interval as a bar first; only then name the pattern.</a:t>
            </a:r>
          </a:p>
        </p:txBody>
      </p:sp>
      <p:sp>
        <p:nvSpPr>
          <p:cNvPr id="9" name="Rectangle 8"/>
          <p:cNvSpPr/>
          <p:nvPr/>
        </p:nvSpPr>
        <p:spPr>
          <a:xfrm>
            <a:off x="4626864" y="1207008"/>
            <a:ext cx="6824166" cy="3901117"/>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4663440" y="1243584"/>
            <a:ext cx="6751014" cy="382796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4663440" y="1243584"/>
            <a:ext cx="67510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4937759" y="1517904"/>
            <a:ext cx="6202375" cy="33707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a:t>
            </a:r>
          </a:p>
          <a:p>
            <a:pPr algn="l">
              <a:lnSpc>
                <a:spcPct val="115000"/>
              </a:lnSpc>
              <a:spcBef>
                <a:spcPts val="0"/>
              </a:spcBef>
              <a:spcAft>
                <a:spcPts val="0"/>
              </a:spcAft>
            </a:pPr>
            <a:r>
              <a:rPr sz="1500" b="0" i="0">
                <a:solidFill>
                  <a:srgbClr val="1A1A1A"/>
                </a:solidFill>
                <a:latin typeface="Palatino"/>
              </a:rPr>
              <a:t>Figure 7.3, cropped to the price bars drawn under its first four intervals. Each interval becomes one OHLC bar directly below it.</a:t>
            </a:r>
          </a:p>
        </p:txBody>
      </p:sp>
      <p:cxnSp>
        <p:nvCxnSpPr>
          <p:cNvPr id="13" name="Connector 12"/>
          <p:cNvCxnSpPr/>
          <p:nvPr/>
        </p:nvCxnSpPr>
        <p:spPr>
          <a:xfrm flipV="1">
            <a:off x="5541071" y="3061867"/>
            <a:ext cx="202531" cy="478496"/>
          </a:xfrm>
          <a:prstGeom prst="line">
            <a:avLst/>
          </a:prstGeom>
          <a:ln w="44450">
            <a:solidFill>
              <a:srgbClr val="E09B00"/>
            </a:solidFill>
            <a:tailEnd type="triangle" w="med" len="med"/>
          </a:ln>
        </p:spPr>
      </p:cxnSp>
      <p:cxnSp>
        <p:nvCxnSpPr>
          <p:cNvPr id="14" name="Connector 13"/>
          <p:cNvCxnSpPr/>
          <p:nvPr/>
        </p:nvCxnSpPr>
        <p:spPr>
          <a:xfrm flipH="1">
            <a:off x="5912377" y="2009177"/>
            <a:ext cx="371306" cy="287097"/>
          </a:xfrm>
          <a:prstGeom prst="line">
            <a:avLst/>
          </a:prstGeom>
          <a:ln w="44450">
            <a:solidFill>
              <a:srgbClr val="C62828"/>
            </a:solidFill>
            <a:tailEnd type="triangle" w="med" len="med"/>
          </a:ln>
        </p:spPr>
      </p:cxnSp>
      <p:cxnSp>
        <p:nvCxnSpPr>
          <p:cNvPr id="15" name="Connector 14"/>
          <p:cNvCxnSpPr/>
          <p:nvPr/>
        </p:nvCxnSpPr>
        <p:spPr>
          <a:xfrm>
            <a:off x="5406051" y="4459075"/>
            <a:ext cx="452318" cy="107183"/>
          </a:xfrm>
          <a:prstGeom prst="line">
            <a:avLst/>
          </a:prstGeom>
          <a:ln w="44450">
            <a:solidFill>
              <a:srgbClr val="1F5FAD"/>
            </a:solidFill>
            <a:tailEnd type="triangle" w="med" len="med"/>
          </a:ln>
        </p:spPr>
      </p:cxnSp>
      <p:cxnSp>
        <p:nvCxnSpPr>
          <p:cNvPr id="16" name="Connector 15"/>
          <p:cNvCxnSpPr/>
          <p:nvPr/>
        </p:nvCxnSpPr>
        <p:spPr>
          <a:xfrm flipH="1" flipV="1">
            <a:off x="6047398" y="3061867"/>
            <a:ext cx="303795" cy="478496"/>
          </a:xfrm>
          <a:prstGeom prst="line">
            <a:avLst/>
          </a:prstGeom>
          <a:ln w="44450">
            <a:solidFill>
              <a:srgbClr val="7B3FA0"/>
            </a:solidFill>
            <a:tailEnd type="triangle" w="med" len="med"/>
          </a:ln>
        </p:spPr>
      </p:cxnSp>
      <p:sp>
        <p:nvSpPr>
          <p:cNvPr id="17" name="Oval 16"/>
          <p:cNvSpPr/>
          <p:nvPr/>
        </p:nvSpPr>
        <p:spPr>
          <a:xfrm>
            <a:off x="5403911" y="3403203"/>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6146523" y="1872017"/>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5268891" y="4321915"/>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Oval 19"/>
          <p:cNvSpPr/>
          <p:nvPr/>
        </p:nvSpPr>
        <p:spPr>
          <a:xfrm>
            <a:off x="6214033" y="3403203"/>
            <a:ext cx="274320" cy="27432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1" name="TextBox 20"/>
          <p:cNvSpPr txBox="1"/>
          <p:nvPr/>
        </p:nvSpPr>
        <p:spPr>
          <a:xfrm>
            <a:off x="777240" y="5705856"/>
            <a:ext cx="356616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7.3 - Lim, The Handbook of Technical Analysis (Wiley, 2016)</a:t>
            </a:r>
          </a:p>
        </p:txBody>
      </p:sp>
      <p:sp>
        <p:nvSpPr>
          <p:cNvPr id="22" name="TextBox 2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8 of 17</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210 to 211, Figure 7.3. The crop and marks are ours, added for teaching.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first way to sort a formation: count its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9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Now we can name patterns. Lim never defines formation; here it means the bar, or group of bars, read as one pattern.</a:t>
            </a:r>
          </a:p>
          <a:p>
            <a:pPr algn="l">
              <a:lnSpc>
                <a:spcPct val="118000"/>
              </a:lnSpc>
              <a:spcBef>
                <a:spcPts val="0"/>
              </a:spcBef>
              <a:spcAft>
                <a:spcPts val="1300"/>
              </a:spcAft>
            </a:pPr>
            <a:r>
              <a:rPr sz="2100" b="0" i="0">
                <a:solidFill>
                  <a:srgbClr val="1A1A1A"/>
                </a:solidFill>
                <a:latin typeface="Arial"/>
              </a:rPr>
              <a:t>Lim sorts formations in three ways, and the first is the number of bars that make it up (p. 210). One bar is a single formation, two a double and three a triple.</a:t>
            </a:r>
          </a:p>
          <a:p>
            <a:pPr algn="l">
              <a:lnSpc>
                <a:spcPct val="118000"/>
              </a:lnSpc>
              <a:spcBef>
                <a:spcPts val="0"/>
              </a:spcBef>
              <a:spcAft>
                <a:spcPts val="1300"/>
              </a:spcAft>
            </a:pPr>
            <a:r>
              <a:rPr sz="2100" b="0" i="0">
                <a:solidFill>
                  <a:srgbClr val="1A1A1A"/>
                </a:solidFill>
                <a:latin typeface="Arial"/>
              </a:rPr>
              <a:t>Longer groups are multiple formations; Lim does not say where multiple begins.</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count describes shape only; it does not make a formation bullish or bearish.</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What single, double, triple and multiple look like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what those names look like, drawn by us. One bar on its own </a:t>
            </a:r>
            <a:r>
              <a:rPr sz="1700" b="1" i="0">
                <a:solidFill>
                  <a:srgbClr val="E09B00"/>
                </a:solidFill>
                <a:latin typeface="Arial"/>
              </a:rPr>
              <a:t>(1)</a:t>
            </a:r>
            <a:r>
              <a:rPr sz="1700" b="0" i="0">
                <a:solidFill>
                  <a:srgbClr val="1A1A1A"/>
                </a:solidFill>
                <a:latin typeface="Arial"/>
              </a:rPr>
              <a:t> is a single formation, two bars </a:t>
            </a:r>
            <a:r>
              <a:rPr sz="1700" b="1" i="0">
                <a:solidFill>
                  <a:srgbClr val="C62828"/>
                </a:solidFill>
                <a:latin typeface="Arial"/>
              </a:rPr>
              <a:t>(2)</a:t>
            </a:r>
            <a:r>
              <a:rPr sz="1700" b="0" i="0">
                <a:solidFill>
                  <a:srgbClr val="1A1A1A"/>
                </a:solidFill>
                <a:latin typeface="Arial"/>
              </a:rPr>
              <a:t> a double and three bars </a:t>
            </a:r>
            <a:r>
              <a:rPr sz="1700" b="1" i="0">
                <a:solidFill>
                  <a:srgbClr val="1F5FAD"/>
                </a:solidFill>
                <a:latin typeface="Arial"/>
              </a:rPr>
              <a:t>(3)</a:t>
            </a:r>
            <a:r>
              <a:rPr sz="1700" b="0" i="0">
                <a:solidFill>
                  <a:srgbClr val="1A1A1A"/>
                </a:solidFill>
                <a:latin typeface="Arial"/>
              </a:rPr>
              <a:t> a triple. We drew five bars </a:t>
            </a:r>
            <a:r>
              <a:rPr sz="1700" b="1" i="0">
                <a:solidFill>
                  <a:srgbClr val="7B3FA0"/>
                </a:solidFill>
                <a:latin typeface="Arial"/>
              </a:rPr>
              <a:t>(4)</a:t>
            </a:r>
            <a:r>
              <a:rPr sz="1700" b="0" i="0">
                <a:solidFill>
                  <a:srgbClr val="1A1A1A"/>
                </a:solidFill>
                <a:latin typeface="Arial"/>
              </a:rPr>
              <a:t> for a multiple formation, since Lim does not say where multiple begins. The bars carry no prices: only how many there are matters here.</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g-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1673352" y="3392424"/>
            <a:ext cx="640079" cy="1371600"/>
          </a:xfrm>
          <a:prstGeom prst="rect">
            <a:avLst/>
          </a:prstGeom>
          <a:noFill/>
          <a:ln w="44450">
            <a:solidFill>
              <a:srgbClr val="E09B00"/>
            </a:solidFill>
          </a:ln>
        </p:spPr>
        <p:txBody>
          <a:bodyPr rtlCol="0" anchor="ctr"/>
          <a:lstStyle/>
          <a:p>
            <a:pPr algn="ctr"/>
          </a:p>
        </p:txBody>
      </p:sp>
      <p:sp>
        <p:nvSpPr>
          <p:cNvPr id="10" name="Rectangle 9"/>
          <p:cNvSpPr/>
          <p:nvPr/>
        </p:nvSpPr>
        <p:spPr>
          <a:xfrm>
            <a:off x="3401568" y="3392424"/>
            <a:ext cx="1024128" cy="1371600"/>
          </a:xfrm>
          <a:prstGeom prst="rect">
            <a:avLst/>
          </a:prstGeom>
          <a:noFill/>
          <a:ln w="44450">
            <a:solidFill>
              <a:srgbClr val="C62828"/>
            </a:solidFill>
          </a:ln>
        </p:spPr>
        <p:txBody>
          <a:bodyPr rtlCol="0" anchor="ctr"/>
          <a:lstStyle/>
          <a:p>
            <a:pPr algn="ctr"/>
          </a:p>
        </p:txBody>
      </p:sp>
      <p:sp>
        <p:nvSpPr>
          <p:cNvPr id="11" name="Rectangle 10"/>
          <p:cNvSpPr/>
          <p:nvPr/>
        </p:nvSpPr>
        <p:spPr>
          <a:xfrm>
            <a:off x="5586984" y="3392424"/>
            <a:ext cx="1408175" cy="1371600"/>
          </a:xfrm>
          <a:prstGeom prst="rect">
            <a:avLst/>
          </a:prstGeom>
          <a:noFill/>
          <a:ln w="44450">
            <a:solidFill>
              <a:srgbClr val="1F5FAD"/>
            </a:solidFill>
          </a:ln>
        </p:spPr>
        <p:txBody>
          <a:bodyPr rtlCol="0" anchor="ctr"/>
          <a:lstStyle/>
          <a:p>
            <a:pPr algn="ctr"/>
          </a:p>
        </p:txBody>
      </p:sp>
      <p:sp>
        <p:nvSpPr>
          <p:cNvPr id="12" name="Rectangle 11"/>
          <p:cNvSpPr/>
          <p:nvPr/>
        </p:nvSpPr>
        <p:spPr>
          <a:xfrm>
            <a:off x="8220456" y="3392424"/>
            <a:ext cx="2176271" cy="1371600"/>
          </a:xfrm>
          <a:prstGeom prst="rect">
            <a:avLst/>
          </a:prstGeom>
          <a:noFill/>
          <a:ln w="44450">
            <a:solidFill>
              <a:srgbClr val="7B3FA0"/>
            </a:solidFill>
          </a:ln>
        </p:spPr>
        <p:txBody>
          <a:bodyPr rtlCol="0" anchor="ctr"/>
          <a:lstStyle/>
          <a:p>
            <a:pPr algn="ctr"/>
          </a:p>
        </p:txBody>
      </p:sp>
      <p:sp>
        <p:nvSpPr>
          <p:cNvPr id="13" name="Oval 12"/>
          <p:cNvSpPr/>
          <p:nvPr/>
        </p:nvSpPr>
        <p:spPr>
          <a:xfrm>
            <a:off x="2404872" y="395020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4517136" y="395020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7086600" y="395020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10488168" y="3950208"/>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G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10 of 17</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G, drawn to show the four counts; Lim, p. 210.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3 OF 30</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Counting bars in a formation</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35432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Which formation uses three bars?</a:t>
            </a:r>
          </a:p>
        </p:txBody>
      </p:sp>
      <p:sp>
        <p:nvSpPr>
          <p:cNvPr id="9" name="TextBox 8"/>
          <p:cNvSpPr txBox="1"/>
          <p:nvPr/>
        </p:nvSpPr>
        <p:spPr>
          <a:xfrm>
            <a:off x="1051560"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Single</a:t>
            </a:r>
          </a:p>
          <a:p>
            <a:pPr algn="l">
              <a:lnSpc>
                <a:spcPct val="112000"/>
              </a:lnSpc>
              <a:spcBef>
                <a:spcPts val="0"/>
              </a:spcBef>
              <a:spcAft>
                <a:spcPts val="900"/>
              </a:spcAft>
            </a:pPr>
            <a:r>
              <a:rPr sz="1700" b="0" i="0">
                <a:solidFill>
                  <a:srgbClr val="FFFFFF"/>
                </a:solidFill>
                <a:latin typeface="Arial"/>
              </a:rPr>
              <a:t>B.  Double</a:t>
            </a:r>
          </a:p>
          <a:p>
            <a:pPr algn="l">
              <a:lnSpc>
                <a:spcPct val="112000"/>
              </a:lnSpc>
              <a:spcBef>
                <a:spcPts val="0"/>
              </a:spcBef>
              <a:spcAft>
                <a:spcPts val="900"/>
              </a:spcAft>
            </a:pPr>
            <a:r>
              <a:rPr sz="1700" b="0" i="0">
                <a:solidFill>
                  <a:srgbClr val="FFFFFF"/>
                </a:solidFill>
                <a:latin typeface="Arial"/>
              </a:rPr>
              <a:t>C.  Triple</a:t>
            </a:r>
          </a:p>
          <a:p>
            <a:pPr algn="l">
              <a:lnSpc>
                <a:spcPct val="112000"/>
              </a:lnSpc>
              <a:spcBef>
                <a:spcPts val="0"/>
              </a:spcBef>
              <a:spcAft>
                <a:spcPts val="900"/>
              </a:spcAft>
            </a:pPr>
            <a:r>
              <a:rPr sz="1700" b="0" i="0">
                <a:solidFill>
                  <a:srgbClr val="FFFFFF"/>
                </a:solidFill>
                <a:latin typeface="Arial"/>
              </a:rPr>
              <a:t>D.  Multiple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Does the number of bars by itself make a formation bullish?</a:t>
            </a:r>
          </a:p>
        </p:txBody>
      </p:sp>
      <p:sp>
        <p:nvSpPr>
          <p:cNvPr id="13" name="TextBox 12"/>
          <p:cNvSpPr txBox="1"/>
          <p:nvPr/>
        </p:nvSpPr>
        <p:spPr>
          <a:xfrm>
            <a:off x="6690207"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No, the count only describes the shape</a:t>
            </a:r>
          </a:p>
          <a:p>
            <a:pPr algn="l">
              <a:lnSpc>
                <a:spcPct val="112000"/>
              </a:lnSpc>
              <a:spcBef>
                <a:spcPts val="0"/>
              </a:spcBef>
              <a:spcAft>
                <a:spcPts val="900"/>
              </a:spcAft>
            </a:pPr>
            <a:r>
              <a:rPr sz="1700" b="0" i="0">
                <a:solidFill>
                  <a:srgbClr val="FFFFFF"/>
                </a:solidFill>
                <a:latin typeface="Arial"/>
              </a:rPr>
              <a:t>B.  Yes, always</a:t>
            </a:r>
          </a:p>
          <a:p>
            <a:pPr algn="l">
              <a:lnSpc>
                <a:spcPct val="112000"/>
              </a:lnSpc>
              <a:spcBef>
                <a:spcPts val="0"/>
              </a:spcBef>
              <a:spcAft>
                <a:spcPts val="900"/>
              </a:spcAft>
            </a:pPr>
            <a:r>
              <a:rPr sz="1700" b="0" i="0">
                <a:solidFill>
                  <a:srgbClr val="FFFFFF"/>
                </a:solidFill>
                <a:latin typeface="Arial"/>
              </a:rPr>
              <a:t>C.  Only in an uptrend</a:t>
            </a:r>
          </a:p>
          <a:p>
            <a:pPr algn="l">
              <a:lnSpc>
                <a:spcPct val="112000"/>
              </a:lnSpc>
              <a:spcBef>
                <a:spcPts val="0"/>
              </a:spcBef>
              <a:spcAft>
                <a:spcPts val="900"/>
              </a:spcAft>
            </a:pPr>
            <a:r>
              <a:rPr sz="1700" b="0" i="0">
                <a:solidFill>
                  <a:srgbClr val="FFFFFF"/>
                </a:solidFill>
                <a:latin typeface="Arial"/>
              </a:rPr>
              <a:t>D.  Only with high volume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4 - 7.1 Price bar  |  Check 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Counting bars in a formation</a:t>
            </a:r>
          </a:p>
        </p:txBody>
      </p:sp>
      <p:sp>
        <p:nvSpPr>
          <p:cNvPr id="6" name="Rectangle 5"/>
          <p:cNvSpPr/>
          <p:nvPr/>
        </p:nvSpPr>
        <p:spPr>
          <a:xfrm>
            <a:off x="777240" y="1207008"/>
            <a:ext cx="10637215" cy="165735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5735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Which formation uses three bars?</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Triple</a:t>
            </a:r>
          </a:p>
          <a:p>
            <a:pPr algn="l">
              <a:lnSpc>
                <a:spcPct val="115000"/>
              </a:lnSpc>
              <a:spcBef>
                <a:spcPts val="700"/>
              </a:spcBef>
              <a:spcAft>
                <a:spcPts val="0"/>
              </a:spcAft>
            </a:pPr>
            <a:r>
              <a:rPr sz="1700" b="0" i="0">
                <a:solidFill>
                  <a:srgbClr val="1A1A1A"/>
                </a:solidFill>
                <a:latin typeface="Arial"/>
              </a:rPr>
              <a:t>Three bars make a triple formation (Lim, p. 210).</a:t>
            </a:r>
          </a:p>
        </p:txBody>
      </p:sp>
      <p:sp>
        <p:nvSpPr>
          <p:cNvPr id="10" name="Rectangle 9"/>
          <p:cNvSpPr/>
          <p:nvPr/>
        </p:nvSpPr>
        <p:spPr>
          <a:xfrm>
            <a:off x="777240" y="3111246"/>
            <a:ext cx="10637215" cy="1905634"/>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111246"/>
            <a:ext cx="91440" cy="1905634"/>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48989"/>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Does the number of bars by itself make a formation bullish?</a:t>
            </a:r>
          </a:p>
        </p:txBody>
      </p:sp>
      <p:sp>
        <p:nvSpPr>
          <p:cNvPr id="13" name="TextBox 12"/>
          <p:cNvSpPr txBox="1"/>
          <p:nvPr/>
        </p:nvSpPr>
        <p:spPr>
          <a:xfrm>
            <a:off x="1143000" y="3853306"/>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No, the count only describes the shape</a:t>
            </a:r>
          </a:p>
          <a:p>
            <a:pPr algn="l">
              <a:lnSpc>
                <a:spcPct val="115000"/>
              </a:lnSpc>
              <a:spcBef>
                <a:spcPts val="700"/>
              </a:spcBef>
              <a:spcAft>
                <a:spcPts val="0"/>
              </a:spcAft>
            </a:pPr>
            <a:r>
              <a:rPr sz="1700" b="0" i="0">
                <a:solidFill>
                  <a:srgbClr val="1A1A1A"/>
                </a:solidFill>
                <a:latin typeface="Arial"/>
              </a:rPr>
              <a:t>The count sorts formations by size only; whether a formation leans bullish or bearish is a separate question (Lim, p. 210).</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Check 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second way: the formation's own lean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11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Lim's second way of sorting is the intrinsic bias or sentiment of a formation: whether the formation itself leans bullish or bearish (pp. 210 to 211). Chapter 4 called this intrinsic bias.</a:t>
            </a:r>
          </a:p>
          <a:p>
            <a:pPr algn="l">
              <a:lnSpc>
                <a:spcPct val="118000"/>
              </a:lnSpc>
              <a:spcBef>
                <a:spcPts val="0"/>
              </a:spcBef>
              <a:spcAft>
                <a:spcPts val="1300"/>
              </a:spcAft>
            </a:pPr>
            <a:r>
              <a:rPr sz="2100" b="0" i="0">
                <a:solidFill>
                  <a:srgbClr val="1A1A1A"/>
                </a:solidFill>
                <a:latin typeface="Arial"/>
              </a:rPr>
              <a:t>His example: a standard head and shoulders is intrinsically bearish, and an inverted head and shoulders is intrinsically bullish (p. 211).</a:t>
            </a:r>
          </a:p>
          <a:p>
            <a:pPr algn="l">
              <a:lnSpc>
                <a:spcPct val="118000"/>
              </a:lnSpc>
              <a:spcBef>
                <a:spcPts val="0"/>
              </a:spcBef>
              <a:spcAft>
                <a:spcPts val="1300"/>
              </a:spcAft>
            </a:pPr>
            <a:r>
              <a:rPr sz="2100" b="0" i="0">
                <a:solidFill>
                  <a:srgbClr val="1A1A1A"/>
                </a:solidFill>
                <a:latin typeface="Arial"/>
              </a:rPr>
              <a:t>The lean belongs to the formation, so it stays the same whichever trend the formation appears in.</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Intrinsic sentiment is about the formation, not the trend around it.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210 to 211, with a pointer to Chapter 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close below the previous low leans bearish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12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How do we see that lean in plain bars? Lim gives a general rule: a close below the previous bar's close or low is considered bearish, and a close above the previous bar's close or high is considered bullish (p. 212).</a:t>
            </a:r>
          </a:p>
          <a:p>
            <a:pPr algn="l">
              <a:lnSpc>
                <a:spcPct val="118000"/>
              </a:lnSpc>
              <a:spcBef>
                <a:spcPts val="0"/>
              </a:spcBef>
              <a:spcAft>
                <a:spcPts val="1300"/>
              </a:spcAft>
            </a:pPr>
            <a:r>
              <a:rPr sz="2100" b="0" i="0">
                <a:solidFill>
                  <a:srgbClr val="1A1A1A"/>
                </a:solidFill>
                <a:latin typeface="Arial"/>
              </a:rPr>
              <a:t>For example, with prices of ours: one bar has a low of PHP 47.90 and the next bar closes at PHP 47.50. The close is below the previous low, so this two-bar formation leans bearish.</a:t>
            </a:r>
          </a:p>
        </p:txBody>
      </p:sp>
      <p:sp>
        <p:nvSpPr>
          <p:cNvPr id="8" name="Rectangle 7"/>
          <p:cNvSpPr/>
          <p:nvPr/>
        </p:nvSpPr>
        <p:spPr>
          <a:xfrm>
            <a:off x="777240" y="453085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6742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Lim calls it a general rule, so treat it as a clue, not a certainty.</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The PHP values are invented for teaching.</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4 OF 30</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Reading intrinsic sentiment</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What does intrinsic sentiment describe?</a:t>
            </a:r>
          </a:p>
        </p:txBody>
      </p:sp>
      <p:sp>
        <p:nvSpPr>
          <p:cNvPr id="9" name="TextBox 8"/>
          <p:cNvSpPr txBox="1"/>
          <p:nvPr/>
        </p:nvSpPr>
        <p:spPr>
          <a:xfrm>
            <a:off x="1051560" y="308152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formation's own bullish or bearish lean</a:t>
            </a:r>
          </a:p>
          <a:p>
            <a:pPr algn="l">
              <a:lnSpc>
                <a:spcPct val="112000"/>
              </a:lnSpc>
              <a:spcBef>
                <a:spcPts val="0"/>
              </a:spcBef>
              <a:spcAft>
                <a:spcPts val="900"/>
              </a:spcAft>
            </a:pPr>
            <a:r>
              <a:rPr sz="1700" b="0" i="0">
                <a:solidFill>
                  <a:srgbClr val="FFFFFF"/>
                </a:solidFill>
                <a:latin typeface="Arial"/>
              </a:rPr>
              <a:t>B.  The direction of the surrounding trend</a:t>
            </a:r>
          </a:p>
          <a:p>
            <a:pPr algn="l">
              <a:lnSpc>
                <a:spcPct val="112000"/>
              </a:lnSpc>
              <a:spcBef>
                <a:spcPts val="0"/>
              </a:spcBef>
              <a:spcAft>
                <a:spcPts val="900"/>
              </a:spcAft>
            </a:pPr>
            <a:r>
              <a:rPr sz="1700" b="0" i="0">
                <a:solidFill>
                  <a:srgbClr val="FFFFFF"/>
                </a:solidFill>
                <a:latin typeface="Arial"/>
              </a:rPr>
              <a:t>C.  The trading volume</a:t>
            </a:r>
          </a:p>
          <a:p>
            <a:pPr algn="l">
              <a:lnSpc>
                <a:spcPct val="112000"/>
              </a:lnSpc>
              <a:spcBef>
                <a:spcPts val="0"/>
              </a:spcBef>
              <a:spcAft>
                <a:spcPts val="900"/>
              </a:spcAft>
            </a:pPr>
            <a:r>
              <a:rPr sz="1700" b="0" i="0">
                <a:solidFill>
                  <a:srgbClr val="FFFFFF"/>
                </a:solidFill>
                <a:latin typeface="Arial"/>
              </a:rPr>
              <a:t>D.  The number of bars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114300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One bar has a low of PHP 61.20 and the next bar closes at PHP 60.80. By Lim's general rule, how does this two-bar formation lean?</a:t>
            </a:r>
          </a:p>
        </p:txBody>
      </p:sp>
      <p:sp>
        <p:nvSpPr>
          <p:cNvPr id="13" name="TextBox 12"/>
          <p:cNvSpPr txBox="1"/>
          <p:nvPr/>
        </p:nvSpPr>
        <p:spPr>
          <a:xfrm>
            <a:off x="6690207" y="308152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Bullish</a:t>
            </a:r>
          </a:p>
          <a:p>
            <a:pPr algn="l">
              <a:lnSpc>
                <a:spcPct val="112000"/>
              </a:lnSpc>
              <a:spcBef>
                <a:spcPts val="0"/>
              </a:spcBef>
              <a:spcAft>
                <a:spcPts val="900"/>
              </a:spcAft>
            </a:pPr>
            <a:r>
              <a:rPr sz="1700" b="0" i="0">
                <a:solidFill>
                  <a:srgbClr val="FFFFFF"/>
                </a:solidFill>
                <a:latin typeface="Arial"/>
              </a:rPr>
              <a:t>B.  Neither; only volume decides</a:t>
            </a:r>
          </a:p>
          <a:p>
            <a:pPr algn="l">
              <a:lnSpc>
                <a:spcPct val="112000"/>
              </a:lnSpc>
              <a:spcBef>
                <a:spcPts val="0"/>
              </a:spcBef>
              <a:spcAft>
                <a:spcPts val="900"/>
              </a:spcAft>
            </a:pPr>
            <a:r>
              <a:rPr sz="1700" b="0" i="0">
                <a:solidFill>
                  <a:srgbClr val="FFFFFF"/>
                </a:solidFill>
                <a:latin typeface="Arial"/>
              </a:rPr>
              <a:t>C.  Bearish</a:t>
            </a:r>
          </a:p>
          <a:p>
            <a:pPr algn="l">
              <a:lnSpc>
                <a:spcPct val="112000"/>
              </a:lnSpc>
              <a:spcBef>
                <a:spcPts val="0"/>
              </a:spcBef>
              <a:spcAft>
                <a:spcPts val="900"/>
              </a:spcAft>
            </a:pPr>
            <a:r>
              <a:rPr sz="1700" b="0" i="0">
                <a:solidFill>
                  <a:srgbClr val="FFFFFF"/>
                </a:solidFill>
                <a:latin typeface="Arial"/>
              </a:rPr>
              <a:t>D.  It depends on the number of bars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4 - 7.1 Price bar  |  Check 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Reading intrinsic sentiment</a:t>
            </a:r>
          </a:p>
        </p:txBody>
      </p:sp>
      <p:sp>
        <p:nvSpPr>
          <p:cNvPr id="6" name="Rectangle 5"/>
          <p:cNvSpPr/>
          <p:nvPr/>
        </p:nvSpPr>
        <p:spPr>
          <a:xfrm>
            <a:off x="777240" y="1207008"/>
            <a:ext cx="10637215" cy="165735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5735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does intrinsic sentiment describe?</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The formation's own bullish or bearish lean</a:t>
            </a:r>
          </a:p>
          <a:p>
            <a:pPr algn="l">
              <a:lnSpc>
                <a:spcPct val="115000"/>
              </a:lnSpc>
              <a:spcBef>
                <a:spcPts val="700"/>
              </a:spcBef>
              <a:spcAft>
                <a:spcPts val="0"/>
              </a:spcAft>
            </a:pPr>
            <a:r>
              <a:rPr sz="1700" b="0" i="0">
                <a:solidFill>
                  <a:srgbClr val="1A1A1A"/>
                </a:solidFill>
                <a:latin typeface="Arial"/>
              </a:rPr>
              <a:t>Intrinsic sentiment is the bullish or bearish lean of the formation itself (Lim, p. 211).</a:t>
            </a:r>
          </a:p>
        </p:txBody>
      </p:sp>
      <p:sp>
        <p:nvSpPr>
          <p:cNvPr id="10" name="Rectangle 9"/>
          <p:cNvSpPr/>
          <p:nvPr/>
        </p:nvSpPr>
        <p:spPr>
          <a:xfrm>
            <a:off x="777240" y="3111246"/>
            <a:ext cx="10637215" cy="21539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111246"/>
            <a:ext cx="91440" cy="21539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48989"/>
            <a:ext cx="9905695"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One bar has a low of PHP 61.20 and the next bar closes at PHP 60.80. By Lim's general rule, how does this two-bar formation lean?</a:t>
            </a:r>
          </a:p>
        </p:txBody>
      </p:sp>
      <p:sp>
        <p:nvSpPr>
          <p:cNvPr id="13" name="TextBox 12"/>
          <p:cNvSpPr txBox="1"/>
          <p:nvPr/>
        </p:nvSpPr>
        <p:spPr>
          <a:xfrm>
            <a:off x="1143000" y="4101591"/>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Bearish</a:t>
            </a:r>
          </a:p>
          <a:p>
            <a:pPr algn="l">
              <a:lnSpc>
                <a:spcPct val="115000"/>
              </a:lnSpc>
              <a:spcBef>
                <a:spcPts val="700"/>
              </a:spcBef>
              <a:spcAft>
                <a:spcPts val="0"/>
              </a:spcAft>
            </a:pPr>
            <a:r>
              <a:rPr sz="1700" b="0" i="0">
                <a:solidFill>
                  <a:srgbClr val="1A1A1A"/>
                </a:solidFill>
                <a:latin typeface="Arial"/>
              </a:rPr>
              <a:t>The close of PHP 60.80 is below the previous low of PHP 61.20, and Lim considers a close below the previous low bearish (p. 212).</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Check 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third way: will the trend continue or reverse?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13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Lim's third way of sorting is the directional expectation: does the formation suggest the trend will carry on, a continuation, or turn, a reversal (p. 211)?</a:t>
            </a:r>
          </a:p>
          <a:p>
            <a:pPr algn="l">
              <a:lnSpc>
                <a:spcPct val="118000"/>
              </a:lnSpc>
              <a:spcBef>
                <a:spcPts val="0"/>
              </a:spcBef>
              <a:spcAft>
                <a:spcPts val="1300"/>
              </a:spcAft>
            </a:pPr>
            <a:r>
              <a:rPr sz="2100" b="0" i="0">
                <a:solidFill>
                  <a:srgbClr val="1A1A1A"/>
                </a:solidFill>
                <a:latin typeface="Arial"/>
              </a:rPr>
              <a:t>To decide, compare its intrinsic sentiment with the trend sentiment, which is bullish in an uptrend and bearish in a downtrend (p. 211).</a:t>
            </a:r>
          </a:p>
          <a:p>
            <a:pPr algn="l">
              <a:lnSpc>
                <a:spcPct val="118000"/>
              </a:lnSpc>
              <a:spcBef>
                <a:spcPts val="0"/>
              </a:spcBef>
              <a:spcAft>
                <a:spcPts val="1300"/>
              </a:spcAft>
            </a:pPr>
            <a:r>
              <a:rPr sz="2100" b="0" i="0">
                <a:solidFill>
                  <a:srgbClr val="1A1A1A"/>
                </a:solidFill>
                <a:latin typeface="Arial"/>
              </a:rPr>
              <a:t>If the two agree, Lim considers it a continuation; if they disagree, a reversal (p. 211), an early sign of the potential trend change the chapter promised (p. 209).</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Compare the two sentiments to get the expectation.</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One bullish formation in two different trends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14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Here is why we keep the two sentiments apart. In a formation of ours the second bar closes at PHP 48.60, above the first bar's high of PHP 48.30, so it is intrinsically bullish.</a:t>
            </a:r>
          </a:p>
          <a:p>
            <a:pPr algn="l">
              <a:lnSpc>
                <a:spcPct val="118000"/>
              </a:lnSpc>
              <a:spcBef>
                <a:spcPts val="0"/>
              </a:spcBef>
              <a:spcAft>
                <a:spcPts val="1300"/>
              </a:spcAft>
            </a:pPr>
            <a:r>
              <a:rPr sz="2100" b="0" i="0">
                <a:solidFill>
                  <a:srgbClr val="1A1A1A"/>
                </a:solidFill>
                <a:latin typeface="Arial"/>
              </a:rPr>
              <a:t>Suppose prices rose from PHP 45.60 to PHP 48.10 before it. Trend sentiment is bullish, the two agree, and the expectation is continuation.</a:t>
            </a:r>
          </a:p>
          <a:p>
            <a:pPr algn="l">
              <a:lnSpc>
                <a:spcPct val="118000"/>
              </a:lnSpc>
              <a:spcBef>
                <a:spcPts val="0"/>
              </a:spcBef>
              <a:spcAft>
                <a:spcPts val="1300"/>
              </a:spcAft>
            </a:pPr>
            <a:r>
              <a:rPr sz="2100" b="0" i="0">
                <a:solidFill>
                  <a:srgbClr val="1A1A1A"/>
                </a:solidFill>
                <a:latin typeface="Arial"/>
              </a:rPr>
              <a:t>Now suppose prices fell from PHP 50.60 to PHP 48.10 before it. Trend sentiment is bearish, the two disagree, and the expectation is a potential reversal.</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formation never changed; only the trend around it did.</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211 to 212. The PHP values are invented for teaching.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Lim's rule gives four combinations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15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Put the two sentiments together and there are four cases (p. 211).</a:t>
            </a:r>
          </a:p>
          <a:p>
            <a:pPr algn="l">
              <a:lnSpc>
                <a:spcPct val="118000"/>
              </a:lnSpc>
              <a:spcBef>
                <a:spcPts val="0"/>
              </a:spcBef>
              <a:spcAft>
                <a:spcPts val="1300"/>
              </a:spcAft>
            </a:pPr>
            <a:r>
              <a:rPr sz="2100" b="0" i="0">
                <a:solidFill>
                  <a:srgbClr val="1A1A1A"/>
                </a:solidFill>
                <a:latin typeface="Arial"/>
              </a:rPr>
              <a:t>In an uptrend, a bullish formation agrees with the trend, so Lim considers it a continuation. A bearish formation disagrees, so it is a potential reversal.</a:t>
            </a:r>
          </a:p>
          <a:p>
            <a:pPr algn="l">
              <a:lnSpc>
                <a:spcPct val="118000"/>
              </a:lnSpc>
              <a:spcBef>
                <a:spcPts val="0"/>
              </a:spcBef>
              <a:spcAft>
                <a:spcPts val="1300"/>
              </a:spcAft>
            </a:pPr>
            <a:r>
              <a:rPr sz="2100" b="0" i="0">
                <a:solidFill>
                  <a:srgbClr val="1A1A1A"/>
                </a:solidFill>
                <a:latin typeface="Arial"/>
              </a:rPr>
              <a:t>In a downtrend, a bearish formation agrees, so it is a continuation. A bullish formation disagrees, so it is a potential reversal.</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Agreement suggests continuation; disagreement suggests a potential reversal.</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211.</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5 OF 30</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Comparing the two sentiments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35432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What does trend sentiment describe?</a:t>
            </a:r>
          </a:p>
        </p:txBody>
      </p:sp>
      <p:sp>
        <p:nvSpPr>
          <p:cNvPr id="9" name="TextBox 8"/>
          <p:cNvSpPr txBox="1"/>
          <p:nvPr/>
        </p:nvSpPr>
        <p:spPr>
          <a:xfrm>
            <a:off x="1051560" y="281863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formation's own lean</a:t>
            </a:r>
          </a:p>
          <a:p>
            <a:pPr algn="l">
              <a:lnSpc>
                <a:spcPct val="112000"/>
              </a:lnSpc>
              <a:spcBef>
                <a:spcPts val="0"/>
              </a:spcBef>
              <a:spcAft>
                <a:spcPts val="900"/>
              </a:spcAft>
            </a:pPr>
            <a:r>
              <a:rPr sz="1700" b="0" i="0">
                <a:solidFill>
                  <a:srgbClr val="FFFFFF"/>
                </a:solidFill>
                <a:latin typeface="Arial"/>
              </a:rPr>
              <a:t>B.  Whether the surrounding trend is up or down</a:t>
            </a:r>
          </a:p>
          <a:p>
            <a:pPr algn="l">
              <a:lnSpc>
                <a:spcPct val="112000"/>
              </a:lnSpc>
              <a:spcBef>
                <a:spcPts val="0"/>
              </a:spcBef>
              <a:spcAft>
                <a:spcPts val="900"/>
              </a:spcAft>
            </a:pPr>
            <a:r>
              <a:rPr sz="1700" b="0" i="0">
                <a:solidFill>
                  <a:srgbClr val="FFFFFF"/>
                </a:solidFill>
                <a:latin typeface="Arial"/>
              </a:rPr>
              <a:t>C.  The bar's range</a:t>
            </a:r>
          </a:p>
          <a:p>
            <a:pPr algn="l">
              <a:lnSpc>
                <a:spcPct val="112000"/>
              </a:lnSpc>
              <a:spcBef>
                <a:spcPts val="0"/>
              </a:spcBef>
              <a:spcAft>
                <a:spcPts val="900"/>
              </a:spcAft>
            </a:pPr>
            <a:r>
              <a:rPr sz="1700" b="0" i="0">
                <a:solidFill>
                  <a:srgbClr val="FFFFFF"/>
                </a:solidFill>
                <a:latin typeface="Arial"/>
              </a:rPr>
              <a:t>D.  The number of bars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8010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A bullish formation appears after prices fell from PHP 72.00 to PHP 66.50. What is the expectation?</a:t>
            </a:r>
          </a:p>
        </p:txBody>
      </p:sp>
      <p:sp>
        <p:nvSpPr>
          <p:cNvPr id="13" name="TextBox 12"/>
          <p:cNvSpPr txBox="1"/>
          <p:nvPr/>
        </p:nvSpPr>
        <p:spPr>
          <a:xfrm>
            <a:off x="6690207" y="281863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Continuation</a:t>
            </a:r>
          </a:p>
          <a:p>
            <a:pPr algn="l">
              <a:lnSpc>
                <a:spcPct val="112000"/>
              </a:lnSpc>
              <a:spcBef>
                <a:spcPts val="0"/>
              </a:spcBef>
              <a:spcAft>
                <a:spcPts val="900"/>
              </a:spcAft>
            </a:pPr>
            <a:r>
              <a:rPr sz="1700" b="0" i="0">
                <a:solidFill>
                  <a:srgbClr val="FFFFFF"/>
                </a:solidFill>
                <a:latin typeface="Arial"/>
              </a:rPr>
              <a:t>B.  A higher timeframe bar</a:t>
            </a:r>
          </a:p>
          <a:p>
            <a:pPr algn="l">
              <a:lnSpc>
                <a:spcPct val="112000"/>
              </a:lnSpc>
              <a:spcBef>
                <a:spcPts val="0"/>
              </a:spcBef>
              <a:spcAft>
                <a:spcPts val="900"/>
              </a:spcAft>
            </a:pPr>
            <a:r>
              <a:rPr sz="1700" b="0" i="0">
                <a:solidFill>
                  <a:srgbClr val="FFFFFF"/>
                </a:solidFill>
                <a:latin typeface="Arial"/>
              </a:rPr>
              <a:t>C.  A wider range</a:t>
            </a:r>
          </a:p>
          <a:p>
            <a:pPr algn="l">
              <a:lnSpc>
                <a:spcPct val="112000"/>
              </a:lnSpc>
              <a:spcBef>
                <a:spcPts val="0"/>
              </a:spcBef>
              <a:spcAft>
                <a:spcPts val="900"/>
              </a:spcAft>
            </a:pPr>
            <a:r>
              <a:rPr sz="1700" b="0" i="0">
                <a:solidFill>
                  <a:srgbClr val="FFFFFF"/>
                </a:solidFill>
                <a:latin typeface="Arial"/>
              </a:rPr>
              <a:t>D.  A potential reversal</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4 - 7.1 Price bar  |  Check 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Comparing the two sentiments</a:t>
            </a:r>
          </a:p>
        </p:txBody>
      </p:sp>
      <p:sp>
        <p:nvSpPr>
          <p:cNvPr id="6" name="Rectangle 5"/>
          <p:cNvSpPr/>
          <p:nvPr/>
        </p:nvSpPr>
        <p:spPr>
          <a:xfrm>
            <a:off x="777240" y="1207008"/>
            <a:ext cx="10637215" cy="1905634"/>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905634"/>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does trend sentiment describe?</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Whether the surrounding trend is up or down</a:t>
            </a:r>
          </a:p>
          <a:p>
            <a:pPr algn="l">
              <a:lnSpc>
                <a:spcPct val="115000"/>
              </a:lnSpc>
              <a:spcBef>
                <a:spcPts val="700"/>
              </a:spcBef>
              <a:spcAft>
                <a:spcPts val="0"/>
              </a:spcAft>
            </a:pPr>
            <a:r>
              <a:rPr sz="1700" b="0" i="0">
                <a:solidFill>
                  <a:srgbClr val="1A1A1A"/>
                </a:solidFill>
                <a:latin typeface="Arial"/>
              </a:rPr>
              <a:t>Trend sentiment is bullish in an uptrend and bearish in a downtrend, so it describes the surrounding trend (Lim, p. 211).</a:t>
            </a:r>
          </a:p>
        </p:txBody>
      </p:sp>
      <p:sp>
        <p:nvSpPr>
          <p:cNvPr id="10" name="Rectangle 9"/>
          <p:cNvSpPr/>
          <p:nvPr/>
        </p:nvSpPr>
        <p:spPr>
          <a:xfrm>
            <a:off x="777240" y="3359531"/>
            <a:ext cx="10637215" cy="21539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59531"/>
            <a:ext cx="91440" cy="21539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97275"/>
            <a:ext cx="9905695"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A bullish formation appears after prices fell from PHP 72.00 to PHP 66.50. What is the expectation?</a:t>
            </a:r>
          </a:p>
        </p:txBody>
      </p:sp>
      <p:sp>
        <p:nvSpPr>
          <p:cNvPr id="13" name="TextBox 12"/>
          <p:cNvSpPr txBox="1"/>
          <p:nvPr/>
        </p:nvSpPr>
        <p:spPr>
          <a:xfrm>
            <a:off x="1143000" y="4349877"/>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A potential reversal</a:t>
            </a:r>
          </a:p>
          <a:p>
            <a:pPr algn="l">
              <a:lnSpc>
                <a:spcPct val="115000"/>
              </a:lnSpc>
              <a:spcBef>
                <a:spcPts val="700"/>
              </a:spcBef>
              <a:spcAft>
                <a:spcPts val="0"/>
              </a:spcAft>
            </a:pPr>
            <a:r>
              <a:rPr sz="1700" b="0" i="0">
                <a:solidFill>
                  <a:srgbClr val="1A1A1A"/>
                </a:solidFill>
                <a:latin typeface="Arial"/>
              </a:rPr>
              <a:t>The fall gives bearish trend sentiment and the formation is bullish. They disagree, so it is a potential reversal (Lim, p. 211).</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Check 5</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Using all three questions on one example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Now we use all three questions together on an example of ours. First the trend: the closes rose from PHP 45.60 </a:t>
            </a:r>
            <a:r>
              <a:rPr sz="1700" b="1" i="0">
                <a:solidFill>
                  <a:srgbClr val="E09B00"/>
                </a:solidFill>
                <a:latin typeface="Arial"/>
              </a:rPr>
              <a:t>(1)</a:t>
            </a:r>
            <a:r>
              <a:rPr sz="1700" b="0" i="0">
                <a:solidFill>
                  <a:srgbClr val="1A1A1A"/>
                </a:solidFill>
                <a:latin typeface="Arial"/>
              </a:rPr>
              <a:t> to PHP 48.10 </a:t>
            </a:r>
            <a:r>
              <a:rPr sz="1700" b="1" i="0">
                <a:solidFill>
                  <a:srgbClr val="C62828"/>
                </a:solidFill>
                <a:latin typeface="Arial"/>
              </a:rPr>
              <a:t>(2)</a:t>
            </a:r>
            <a:r>
              <a:rPr sz="1700" b="0" i="0">
                <a:solidFill>
                  <a:srgbClr val="1A1A1A"/>
                </a:solidFill>
                <a:latin typeface="Arial"/>
              </a:rPr>
              <a:t>, so trend sentiment is bullish. Next the count: the last two bars make a double formation </a:t>
            </a:r>
            <a:r>
              <a:rPr sz="1700" b="1" i="0">
                <a:solidFill>
                  <a:srgbClr val="1F5FAD"/>
                </a:solidFill>
                <a:latin typeface="Arial"/>
              </a:rPr>
              <a:t>(3)</a:t>
            </a:r>
            <a:r>
              <a:rPr sz="1700" b="0" i="0">
                <a:solidFill>
                  <a:srgbClr val="1A1A1A"/>
                </a:solidFill>
                <a:latin typeface="Arial"/>
              </a:rPr>
              <a:t>. Then the lean: bar 4 closes at PHP 47.50 </a:t>
            </a:r>
            <a:r>
              <a:rPr sz="1700" b="1" i="0">
                <a:solidFill>
                  <a:srgbClr val="7B3FA0"/>
                </a:solidFill>
                <a:latin typeface="Arial"/>
              </a:rPr>
              <a:t>(4)</a:t>
            </a:r>
            <a:r>
              <a:rPr sz="1700" b="0" i="0">
                <a:solidFill>
                  <a:srgbClr val="1A1A1A"/>
                </a:solidFill>
                <a:latin typeface="Arial"/>
              </a:rPr>
              <a:t>, below bar 3's low of PHP 47.90 on the dashed line, so by Lim's rule the formation leans bearish (p. 212).</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m-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5729020" y="3008375"/>
            <a:ext cx="5109362" cy="1458116"/>
          </a:xfrm>
          <a:prstGeom prst="rect">
            <a:avLst/>
          </a:prstGeom>
          <a:noFill/>
          <a:ln w="44450">
            <a:solidFill>
              <a:srgbClr val="1F5FAD"/>
            </a:solidFill>
          </a:ln>
        </p:spPr>
        <p:txBody>
          <a:bodyPr rtlCol="0" anchor="ctr"/>
          <a:lstStyle/>
          <a:p>
            <a:pPr algn="ctr"/>
          </a:p>
        </p:txBody>
      </p:sp>
      <p:sp>
        <p:nvSpPr>
          <p:cNvPr id="10" name="Oval 9"/>
          <p:cNvSpPr/>
          <p:nvPr/>
        </p:nvSpPr>
        <p:spPr>
          <a:xfrm>
            <a:off x="2251252" y="4525295"/>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4708855" y="3769156"/>
            <a:ext cx="87782" cy="87782"/>
          </a:xfrm>
          <a:prstGeom prst="ellipse">
            <a:avLst/>
          </a:prstGeom>
          <a:noFill/>
          <a:ln w="44450">
            <a:solidFill>
              <a:srgbClr val="C62828"/>
            </a:solidFill>
          </a:ln>
        </p:spPr>
        <p:txBody>
          <a:bodyPr rtlCol="0" anchor="ctr"/>
          <a:lstStyle/>
          <a:p>
            <a:pPr algn="ctr"/>
          </a:p>
        </p:txBody>
      </p:sp>
      <p:sp>
        <p:nvSpPr>
          <p:cNvPr id="12" name="Oval 11"/>
          <p:cNvSpPr/>
          <p:nvPr/>
        </p:nvSpPr>
        <p:spPr>
          <a:xfrm>
            <a:off x="9624059" y="3950630"/>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10929823" y="360941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4" name="Oval 13"/>
          <p:cNvSpPr/>
          <p:nvPr/>
        </p:nvSpPr>
        <p:spPr>
          <a:xfrm>
            <a:off x="2167128" y="461307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4624730" y="385693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Oval 15"/>
          <p:cNvSpPr/>
          <p:nvPr/>
        </p:nvSpPr>
        <p:spPr>
          <a:xfrm>
            <a:off x="9584427" y="3700455"/>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S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16 of 17</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S. The PHP values are invented for teaching.</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Using all three questions on one example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Bullish trend sentiment against bearish intrinsic sentiment: they disagree, so this is a potential reversal (p. 211). Part 2 reads the book's own reversal patterns the same way.</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m-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5729020" y="3008375"/>
            <a:ext cx="5109362" cy="1458116"/>
          </a:xfrm>
          <a:prstGeom prst="rect">
            <a:avLst/>
          </a:prstGeom>
          <a:noFill/>
          <a:ln w="44450">
            <a:solidFill>
              <a:srgbClr val="1F5FAD"/>
            </a:solidFill>
          </a:ln>
        </p:spPr>
        <p:txBody>
          <a:bodyPr rtlCol="0" anchor="ctr"/>
          <a:lstStyle/>
          <a:p>
            <a:pPr algn="ctr"/>
          </a:p>
        </p:txBody>
      </p:sp>
      <p:sp>
        <p:nvSpPr>
          <p:cNvPr id="10" name="Oval 9"/>
          <p:cNvSpPr/>
          <p:nvPr/>
        </p:nvSpPr>
        <p:spPr>
          <a:xfrm>
            <a:off x="2251252" y="4525295"/>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4708855" y="3769156"/>
            <a:ext cx="87782" cy="87782"/>
          </a:xfrm>
          <a:prstGeom prst="ellipse">
            <a:avLst/>
          </a:prstGeom>
          <a:noFill/>
          <a:ln w="44450">
            <a:solidFill>
              <a:srgbClr val="C62828"/>
            </a:solidFill>
          </a:ln>
        </p:spPr>
        <p:txBody>
          <a:bodyPr rtlCol="0" anchor="ctr"/>
          <a:lstStyle/>
          <a:p>
            <a:pPr algn="ctr"/>
          </a:p>
        </p:txBody>
      </p:sp>
      <p:sp>
        <p:nvSpPr>
          <p:cNvPr id="12" name="Oval 11"/>
          <p:cNvSpPr/>
          <p:nvPr/>
        </p:nvSpPr>
        <p:spPr>
          <a:xfrm>
            <a:off x="9624059" y="3950630"/>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10929823" y="360941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4" name="Oval 13"/>
          <p:cNvSpPr/>
          <p:nvPr/>
        </p:nvSpPr>
        <p:spPr>
          <a:xfrm>
            <a:off x="2167128" y="461307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4624730" y="385693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Oval 15"/>
          <p:cNvSpPr/>
          <p:nvPr/>
        </p:nvSpPr>
        <p:spPr>
          <a:xfrm>
            <a:off x="9584427" y="3700455"/>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S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17 of 17</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S. The PHP values are invented for teaching.</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6 OF 30</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The three classifications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What do single, double, triple and multiple measure?</a:t>
            </a:r>
          </a:p>
        </p:txBody>
      </p:sp>
      <p:sp>
        <p:nvSpPr>
          <p:cNvPr id="9" name="TextBox 8"/>
          <p:cNvSpPr txBox="1"/>
          <p:nvPr/>
        </p:nvSpPr>
        <p:spPr>
          <a:xfrm>
            <a:off x="1051560"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trend direction</a:t>
            </a:r>
          </a:p>
          <a:p>
            <a:pPr algn="l">
              <a:lnSpc>
                <a:spcPct val="112000"/>
              </a:lnSpc>
              <a:spcBef>
                <a:spcPts val="0"/>
              </a:spcBef>
              <a:spcAft>
                <a:spcPts val="900"/>
              </a:spcAft>
            </a:pPr>
            <a:r>
              <a:rPr sz="1700" b="0" i="0">
                <a:solidFill>
                  <a:srgbClr val="FFFFFF"/>
                </a:solidFill>
                <a:latin typeface="Arial"/>
              </a:rPr>
              <a:t>B.  The intrinsic sentiment</a:t>
            </a:r>
          </a:p>
          <a:p>
            <a:pPr algn="l">
              <a:lnSpc>
                <a:spcPct val="112000"/>
              </a:lnSpc>
              <a:spcBef>
                <a:spcPts val="0"/>
              </a:spcBef>
              <a:spcAft>
                <a:spcPts val="900"/>
              </a:spcAft>
            </a:pPr>
            <a:r>
              <a:rPr sz="1700" b="0" i="0">
                <a:solidFill>
                  <a:srgbClr val="FFFFFF"/>
                </a:solidFill>
                <a:latin typeface="Arial"/>
              </a:rPr>
              <a:t>C.  The number of bars in the formation</a:t>
            </a:r>
          </a:p>
          <a:p>
            <a:pPr algn="l">
              <a:lnSpc>
                <a:spcPct val="112000"/>
              </a:lnSpc>
              <a:spcBef>
                <a:spcPts val="0"/>
              </a:spcBef>
              <a:spcAft>
                <a:spcPts val="900"/>
              </a:spcAft>
            </a:pPr>
            <a:r>
              <a:rPr sz="1700" b="0" i="0">
                <a:solidFill>
                  <a:srgbClr val="FFFFFF"/>
                </a:solidFill>
                <a:latin typeface="Arial"/>
              </a:rPr>
              <a:t>D.  The size of the range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When does Lim consider a formation a reversal pattern?</a:t>
            </a:r>
          </a:p>
        </p:txBody>
      </p:sp>
      <p:sp>
        <p:nvSpPr>
          <p:cNvPr id="13" name="TextBox 12"/>
          <p:cNvSpPr txBox="1"/>
          <p:nvPr/>
        </p:nvSpPr>
        <p:spPr>
          <a:xfrm>
            <a:off x="6690207"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When it has three bars</a:t>
            </a:r>
          </a:p>
          <a:p>
            <a:pPr algn="l">
              <a:lnSpc>
                <a:spcPct val="112000"/>
              </a:lnSpc>
              <a:spcBef>
                <a:spcPts val="0"/>
              </a:spcBef>
              <a:spcAft>
                <a:spcPts val="900"/>
              </a:spcAft>
            </a:pPr>
            <a:r>
              <a:rPr sz="1700" b="0" i="0">
                <a:solidFill>
                  <a:srgbClr val="FFFFFF"/>
                </a:solidFill>
                <a:latin typeface="Arial"/>
              </a:rPr>
              <a:t>B.  When its range is wide</a:t>
            </a:r>
          </a:p>
          <a:p>
            <a:pPr algn="l">
              <a:lnSpc>
                <a:spcPct val="112000"/>
              </a:lnSpc>
              <a:spcBef>
                <a:spcPts val="0"/>
              </a:spcBef>
              <a:spcAft>
                <a:spcPts val="900"/>
              </a:spcAft>
            </a:pPr>
            <a:r>
              <a:rPr sz="1700" b="0" i="0">
                <a:solidFill>
                  <a:srgbClr val="FFFFFF"/>
                </a:solidFill>
                <a:latin typeface="Arial"/>
              </a:rPr>
              <a:t>C.  When it closes where it opened</a:t>
            </a:r>
          </a:p>
          <a:p>
            <a:pPr algn="l">
              <a:lnSpc>
                <a:spcPct val="112000"/>
              </a:lnSpc>
              <a:spcBef>
                <a:spcPts val="0"/>
              </a:spcBef>
              <a:spcAft>
                <a:spcPts val="900"/>
              </a:spcAft>
            </a:pPr>
            <a:r>
              <a:rPr sz="1700" b="0" i="0">
                <a:solidFill>
                  <a:srgbClr val="FFFFFF"/>
                </a:solidFill>
                <a:latin typeface="Arial"/>
              </a:rPr>
              <a:t>D.  When its intrinsic sentiment disagrees with the trend sentiment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4 - 7.1 Price bar  |  Check 6</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The three classifications</a:t>
            </a:r>
          </a:p>
        </p:txBody>
      </p:sp>
      <p:sp>
        <p:nvSpPr>
          <p:cNvPr id="6" name="Rectangle 5"/>
          <p:cNvSpPr/>
          <p:nvPr/>
        </p:nvSpPr>
        <p:spPr>
          <a:xfrm>
            <a:off x="777240" y="1207008"/>
            <a:ext cx="10637215" cy="1905634"/>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905634"/>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do single, double, triple and multiple measure?</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The number of bars in the formation</a:t>
            </a:r>
          </a:p>
          <a:p>
            <a:pPr algn="l">
              <a:lnSpc>
                <a:spcPct val="115000"/>
              </a:lnSpc>
              <a:spcBef>
                <a:spcPts val="700"/>
              </a:spcBef>
              <a:spcAft>
                <a:spcPts val="0"/>
              </a:spcAft>
            </a:pPr>
            <a:r>
              <a:rPr sz="1700" b="0" i="0">
                <a:solidFill>
                  <a:srgbClr val="1A1A1A"/>
                </a:solidFill>
                <a:latin typeface="Arial"/>
              </a:rPr>
              <a:t>They are the first of Lim's three classifications: the number of bars that make up the formation (p. 210).</a:t>
            </a:r>
          </a:p>
        </p:txBody>
      </p:sp>
      <p:sp>
        <p:nvSpPr>
          <p:cNvPr id="10" name="Rectangle 9"/>
          <p:cNvSpPr/>
          <p:nvPr/>
        </p:nvSpPr>
        <p:spPr>
          <a:xfrm>
            <a:off x="777240" y="3359531"/>
            <a:ext cx="10637215" cy="194944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59531"/>
            <a:ext cx="91440" cy="194944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97275"/>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When does Lim consider a formation a reversal pattern?</a:t>
            </a:r>
          </a:p>
        </p:txBody>
      </p:sp>
      <p:sp>
        <p:nvSpPr>
          <p:cNvPr id="13" name="TextBox 12"/>
          <p:cNvSpPr txBox="1"/>
          <p:nvPr/>
        </p:nvSpPr>
        <p:spPr>
          <a:xfrm>
            <a:off x="1143000" y="4101592"/>
            <a:ext cx="9905695" cy="14986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When its intrinsic sentiment disagrees with the trend sentiment</a:t>
            </a:r>
          </a:p>
          <a:p>
            <a:pPr algn="l">
              <a:lnSpc>
                <a:spcPct val="115000"/>
              </a:lnSpc>
              <a:spcBef>
                <a:spcPts val="700"/>
              </a:spcBef>
              <a:spcAft>
                <a:spcPts val="0"/>
              </a:spcAft>
            </a:pPr>
            <a:r>
              <a:rPr sz="1700" b="0" i="0">
                <a:solidFill>
                  <a:srgbClr val="1A1A1A"/>
                </a:solidFill>
                <a:latin typeface="Arial"/>
              </a:rPr>
              <a:t>When intrinsic and trend sentiment disagree, Lim considers the pattern a reversal (p. 211).</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Check 6</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Section 7.2 reads each bar pattern against the trend around it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In Part 1 every formation had two sentiments. Its intrinsic sentiment is its own bullish or bearish lean; the trend sentiment is bullish in an uptrend and bearish in a downtrend (p. 211).</a:t>
            </a:r>
          </a:p>
          <a:p>
            <a:pPr algn="l">
              <a:lnSpc>
                <a:spcPct val="118000"/>
              </a:lnSpc>
              <a:spcBef>
                <a:spcPts val="0"/>
              </a:spcBef>
              <a:spcAft>
                <a:spcPts val="1300"/>
              </a:spcAft>
            </a:pPr>
            <a:r>
              <a:rPr sz="2100" b="0" i="0">
                <a:solidFill>
                  <a:srgbClr val="1A1A1A"/>
                </a:solidFill>
                <a:latin typeface="Arial"/>
              </a:rPr>
              <a:t>Section 7.2 puts the two together. When they agree, Lim calls the pattern a continuation pattern; when they disagree, he calls it a reversal pattern (p. 211).</a:t>
            </a:r>
          </a:p>
        </p:txBody>
      </p:sp>
      <p:sp>
        <p:nvSpPr>
          <p:cNvPr id="8" name="Rectangle 7"/>
          <p:cNvSpPr/>
          <p:nvPr/>
        </p:nvSpPr>
        <p:spPr>
          <a:xfrm>
            <a:off x="777240" y="453085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6742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So the same pattern can mean different things in different trends: read the trend first.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211.</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Lim's own example is the head and shoulders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head and shoulders has bearish intrinsic sentiment and an inverted head and shoulders bullish, as Chapter 4's "Intrinsic bias" explains (p. 211).</a:t>
            </a:r>
          </a:p>
          <a:p>
            <a:pPr algn="l">
              <a:lnSpc>
                <a:spcPct val="118000"/>
              </a:lnSpc>
              <a:spcBef>
                <a:spcPts val="0"/>
              </a:spcBef>
              <a:spcAft>
                <a:spcPts val="1300"/>
              </a:spcAft>
            </a:pPr>
            <a:r>
              <a:rPr sz="2100" b="0" i="0">
                <a:solidFill>
                  <a:srgbClr val="1A1A1A"/>
                </a:solidFill>
                <a:latin typeface="Arial"/>
              </a:rPr>
              <a:t>Let us put invented prices on it. A stock climbs from PHP 40 to PHP 50 over ten days, so the trend sentiment is bullish.</a:t>
            </a:r>
          </a:p>
          <a:p>
            <a:pPr algn="l">
              <a:lnSpc>
                <a:spcPct val="118000"/>
              </a:lnSpc>
              <a:spcBef>
                <a:spcPts val="0"/>
              </a:spcBef>
              <a:spcAft>
                <a:spcPts val="1300"/>
              </a:spcAft>
            </a:pPr>
            <a:r>
              <a:rPr sz="2100" b="0" i="0">
                <a:solidFill>
                  <a:srgbClr val="1A1A1A"/>
                </a:solidFill>
                <a:latin typeface="Arial"/>
              </a:rPr>
              <a:t>An inverted head and shoulders at PHP 50 agrees with that trend, so Lim calls it a continuation pattern. A head and shoulders in the same place disagrees, so it is a reversal pattern.</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211; Chapter 4, "Intrinsic bias". The prices are invented for teaching.</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7 OF 30</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Continuation or reversal</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stock climbs from PHP 40 to PHP 50, and then a bearish pattern forms. What does Lim call it?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A continuation pattern</a:t>
            </a:r>
          </a:p>
          <a:p>
            <a:pPr algn="l">
              <a:lnSpc>
                <a:spcPct val="112000"/>
              </a:lnSpc>
              <a:spcBef>
                <a:spcPts val="0"/>
              </a:spcBef>
              <a:spcAft>
                <a:spcPts val="900"/>
              </a:spcAft>
            </a:pPr>
            <a:r>
              <a:rPr sz="1700" b="0" i="0">
                <a:solidFill>
                  <a:srgbClr val="FFFFFF"/>
                </a:solidFill>
                <a:latin typeface="Arial"/>
              </a:rPr>
              <a:t>B.  A reversal pattern</a:t>
            </a:r>
          </a:p>
          <a:p>
            <a:pPr algn="l">
              <a:lnSpc>
                <a:spcPct val="112000"/>
              </a:lnSpc>
              <a:spcBef>
                <a:spcPts val="0"/>
              </a:spcBef>
              <a:spcAft>
                <a:spcPts val="900"/>
              </a:spcAft>
            </a:pPr>
            <a:r>
              <a:rPr sz="1700" b="0" i="0">
                <a:solidFill>
                  <a:srgbClr val="FFFFFF"/>
                </a:solidFill>
                <a:latin typeface="Arial"/>
              </a:rPr>
              <a:t>C.  A higher timeframe bar</a:t>
            </a:r>
          </a:p>
          <a:p>
            <a:pPr algn="l">
              <a:lnSpc>
                <a:spcPct val="112000"/>
              </a:lnSpc>
              <a:spcBef>
                <a:spcPts val="0"/>
              </a:spcBef>
              <a:spcAft>
                <a:spcPts val="900"/>
              </a:spcAft>
            </a:pPr>
            <a:r>
              <a:rPr sz="1700" b="0" i="0">
                <a:solidFill>
                  <a:srgbClr val="FFFFFF"/>
                </a:solidFill>
                <a:latin typeface="Arial"/>
              </a:rPr>
              <a:t>D.  A neutral pattern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is an inverted head and shoulders in an uptrend a continuation pattern?</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It has three peaks</a:t>
            </a:r>
          </a:p>
          <a:p>
            <a:pPr algn="l">
              <a:lnSpc>
                <a:spcPct val="112000"/>
              </a:lnSpc>
              <a:spcBef>
                <a:spcPts val="0"/>
              </a:spcBef>
              <a:spcAft>
                <a:spcPts val="900"/>
              </a:spcAft>
            </a:pPr>
            <a:r>
              <a:rPr sz="1700" b="0" i="0">
                <a:solidFill>
                  <a:srgbClr val="FFFFFF"/>
                </a:solidFill>
                <a:latin typeface="Arial"/>
              </a:rPr>
              <a:t>B.  Its volume is high</a:t>
            </a:r>
          </a:p>
          <a:p>
            <a:pPr algn="l">
              <a:lnSpc>
                <a:spcPct val="112000"/>
              </a:lnSpc>
              <a:spcBef>
                <a:spcPts val="0"/>
              </a:spcBef>
              <a:spcAft>
                <a:spcPts val="900"/>
              </a:spcAft>
            </a:pPr>
            <a:r>
              <a:rPr sz="1700" b="0" i="0">
                <a:solidFill>
                  <a:srgbClr val="FFFFFF"/>
                </a:solidFill>
                <a:latin typeface="Arial"/>
              </a:rPr>
              <a:t>C.  Both sentiments are bullish</a:t>
            </a:r>
          </a:p>
          <a:p>
            <a:pPr algn="l">
              <a:lnSpc>
                <a:spcPct val="112000"/>
              </a:lnSpc>
              <a:spcBef>
                <a:spcPts val="0"/>
              </a:spcBef>
              <a:spcAft>
                <a:spcPts val="900"/>
              </a:spcAft>
            </a:pPr>
            <a:r>
              <a:rPr sz="1700" b="0" i="0">
                <a:solidFill>
                  <a:srgbClr val="FFFFFF"/>
                </a:solidFill>
                <a:latin typeface="Arial"/>
              </a:rPr>
              <a:t>D.  The trend is down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7</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Continuation or reversal</a:t>
            </a:r>
          </a:p>
        </p:txBody>
      </p:sp>
      <p:sp>
        <p:nvSpPr>
          <p:cNvPr id="6" name="Rectangle 5"/>
          <p:cNvSpPr/>
          <p:nvPr/>
        </p:nvSpPr>
        <p:spPr>
          <a:xfrm>
            <a:off x="777240" y="1207008"/>
            <a:ext cx="10637215" cy="212471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12471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A stock climbs from PHP 40 to PHP 50, and then a bearish pattern forms. What does Lim call it?</a:t>
            </a:r>
          </a:p>
        </p:txBody>
      </p:sp>
      <p:sp>
        <p:nvSpPr>
          <p:cNvPr id="9" name="TextBox 8"/>
          <p:cNvSpPr txBox="1"/>
          <p:nvPr/>
        </p:nvSpPr>
        <p:spPr>
          <a:xfrm>
            <a:off x="1143000" y="2197354"/>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A reversal pattern</a:t>
            </a:r>
          </a:p>
          <a:p>
            <a:pPr algn="l">
              <a:lnSpc>
                <a:spcPct val="115000"/>
              </a:lnSpc>
              <a:spcBef>
                <a:spcPts val="700"/>
              </a:spcBef>
              <a:spcAft>
                <a:spcPts val="0"/>
              </a:spcAft>
            </a:pPr>
            <a:r>
              <a:rPr sz="1700" b="0" i="0">
                <a:solidFill>
                  <a:srgbClr val="1A1A1A"/>
                </a:solidFill>
                <a:latin typeface="Arial"/>
              </a:rPr>
              <a:t>The uptrend's trend sentiment is bullish and the pattern's intrinsic sentiment is bearish. They disagree, so it is a reversal pattern (p. 211).</a:t>
            </a:r>
          </a:p>
        </p:txBody>
      </p:sp>
      <p:sp>
        <p:nvSpPr>
          <p:cNvPr id="10" name="Rectangle 9"/>
          <p:cNvSpPr/>
          <p:nvPr/>
        </p:nvSpPr>
        <p:spPr>
          <a:xfrm>
            <a:off x="777240" y="3578606"/>
            <a:ext cx="10637215" cy="187642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578606"/>
            <a:ext cx="91440" cy="187642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816349"/>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Why is an inverted head and shoulders in an uptrend a continuation pattern?</a:t>
            </a:r>
          </a:p>
        </p:txBody>
      </p:sp>
      <p:sp>
        <p:nvSpPr>
          <p:cNvPr id="13" name="TextBox 12"/>
          <p:cNvSpPr txBox="1"/>
          <p:nvPr/>
        </p:nvSpPr>
        <p:spPr>
          <a:xfrm>
            <a:off x="1143000" y="4320667"/>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C.  Both sentiments are bullish</a:t>
            </a:r>
          </a:p>
          <a:p>
            <a:pPr algn="l">
              <a:lnSpc>
                <a:spcPct val="115000"/>
              </a:lnSpc>
              <a:spcBef>
                <a:spcPts val="700"/>
              </a:spcBef>
              <a:spcAft>
                <a:spcPts val="0"/>
              </a:spcAft>
            </a:pPr>
            <a:r>
              <a:rPr sz="1700" b="0" i="0">
                <a:solidFill>
                  <a:srgbClr val="1A1A1A"/>
                </a:solidFill>
                <a:latin typeface="Arial"/>
              </a:rPr>
              <a:t>Its intrinsic sentiment is bullish and the uptrend makes the trend sentiment bullish too, so they agree (p. 211).</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So Lim draws each bearish reversal at the top of an uptrend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reversal needs the two sentiments to disagree. So when Lim draws bearish reversal patterns he assumes the existing trend is up, and for bullish ones he assumes it is down (pp. 211 to 212). The book actually prints "bearish" twice in that sentence; the second must mean bullish, as his bullish drawings show.</a:t>
            </a:r>
          </a:p>
          <a:p>
            <a:pPr algn="l">
              <a:lnSpc>
                <a:spcPct val="118000"/>
              </a:lnSpc>
              <a:spcBef>
                <a:spcPts val="0"/>
              </a:spcBef>
              <a:spcAft>
                <a:spcPts val="1300"/>
              </a:spcAft>
            </a:pPr>
            <a:r>
              <a:rPr sz="2100" b="0" i="0">
                <a:solidFill>
                  <a:srgbClr val="1A1A1A"/>
                </a:solidFill>
                <a:latin typeface="Arial"/>
              </a:rPr>
              <a:t>In each drawing that follows, an arrow labelled "Existing uptrend" leads into a bearish pattern, and "Existing downtrend" into a bullish one.</a:t>
            </a:r>
          </a:p>
          <a:p>
            <a:pPr algn="l">
              <a:lnSpc>
                <a:spcPct val="118000"/>
              </a:lnSpc>
              <a:spcBef>
                <a:spcPts val="0"/>
              </a:spcBef>
              <a:spcAft>
                <a:spcPts val="1300"/>
              </a:spcAft>
            </a:pPr>
            <a:r>
              <a:rPr sz="2100" b="0" i="0">
                <a:solidFill>
                  <a:srgbClr val="1A1A1A"/>
                </a:solidFill>
                <a:latin typeface="Arial"/>
              </a:rPr>
              <a:t>We start with the smallest patterns, made of one or two bars.</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arrow in each drawing is the trend the pattern has to fight.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211 to 212.</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close below the previous bar is Lim's basic bearish clue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For one-bar and two-bar patterns in an uptrend, Lim's general rule is that a close below the previous bar's close or low is bearish, especially when that previous bar is large or wide-ranging (p. 212).</a:t>
            </a:r>
          </a:p>
          <a:p>
            <a:pPr algn="l">
              <a:lnSpc>
                <a:spcPct val="118000"/>
              </a:lnSpc>
              <a:spcBef>
                <a:spcPts val="0"/>
              </a:spcBef>
              <a:spcAft>
                <a:spcPts val="1300"/>
              </a:spcAft>
            </a:pPr>
            <a:r>
              <a:rPr sz="2100" b="0" i="0">
                <a:solidFill>
                  <a:srgbClr val="1A1A1A"/>
                </a:solidFill>
                <a:latin typeface="Arial"/>
              </a:rPr>
              <a:t>Here it is with invented prices. Yesterday's bar ran from PHP 49.00 to PHP 52.00 and closed at PHP 51.80. A close today at PHP 51.20 is below yesterday's close; a close at PHP 48.80 is below yesterday's low as well.</a:t>
            </a:r>
          </a:p>
          <a:p>
            <a:pPr algn="l">
              <a:lnSpc>
                <a:spcPct val="118000"/>
              </a:lnSpc>
              <a:spcBef>
                <a:spcPts val="0"/>
              </a:spcBef>
              <a:spcAft>
                <a:spcPts val="1300"/>
              </a:spcAft>
            </a:pPr>
            <a:r>
              <a:rPr sz="2100" b="0" i="0">
                <a:solidFill>
                  <a:srgbClr val="1A1A1A"/>
                </a:solidFill>
                <a:latin typeface="Arial"/>
              </a:rPr>
              <a:t>Yesterday's PHP 3.00 range is wide, the case Lim says counts for more.</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The prices are invented for teaching.</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Lim draws seven of these bearish forms in Figure 7.4</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 of 79</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Figure 7.4 collects the seven basic bearish single and double bar reversal patterns of uptrending markets (p. 212). Here is the first drawing, cut out and drawn large.</a:t>
            </a:r>
          </a:p>
          <a:p>
            <a:pPr algn="l">
              <a:lnSpc>
                <a:spcPct val="105000"/>
              </a:lnSpc>
              <a:spcBef>
                <a:spcPts val="0"/>
              </a:spcBef>
              <a:spcAft>
                <a:spcPts val="1100"/>
              </a:spcAft>
            </a:pPr>
            <a:r>
              <a:rPr sz="1900" b="0" i="0">
                <a:solidFill>
                  <a:srgbClr val="1A1A1A"/>
                </a:solidFill>
                <a:latin typeface="Arial"/>
              </a:rPr>
              <a:t>Each form sits on an existing uptrend </a:t>
            </a:r>
            <a:r>
              <a:rPr sz="1900" b="1" i="0">
                <a:solidFill>
                  <a:srgbClr val="E09B00"/>
                </a:solidFill>
                <a:latin typeface="Arial"/>
              </a:rPr>
              <a:t>(1)</a:t>
            </a:r>
            <a:r>
              <a:rPr sz="1900" b="0" i="0">
                <a:solidFill>
                  <a:srgbClr val="1A1A1A"/>
                </a:solidFill>
                <a:latin typeface="Arial"/>
              </a:rPr>
              <a:t> and carries a number </a:t>
            </a:r>
            <a:r>
              <a:rPr sz="1900" b="1" i="0">
                <a:solidFill>
                  <a:srgbClr val="C62828"/>
                </a:solidFill>
                <a:latin typeface="Arial"/>
              </a:rPr>
              <a:t>(2)</a:t>
            </a:r>
            <a:r>
              <a:rPr sz="1900" b="0" i="0">
                <a:solidFill>
                  <a:srgbClr val="1A1A1A"/>
                </a:solidFill>
                <a:latin typeface="Arial"/>
              </a:rPr>
              <a:t>; the next seven slides take them one at a time, each quoting its label.</a:t>
            </a:r>
          </a:p>
        </p:txBody>
      </p:sp>
      <p:sp>
        <p:nvSpPr>
          <p:cNvPr id="8" name="Rectangle 7"/>
          <p:cNvSpPr/>
          <p:nvPr/>
        </p:nvSpPr>
        <p:spPr>
          <a:xfrm>
            <a:off x="7670656" y="1810512"/>
            <a:ext cx="1376661"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789528" y="1929384"/>
            <a:ext cx="1138917"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789528" y="1929384"/>
            <a:ext cx="1138917"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8063848" y="2203703"/>
            <a:ext cx="59027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Figure 7.4, form 1: the drawing on its arrow, with its number.</a:t>
            </a:r>
          </a:p>
        </p:txBody>
      </p:sp>
      <p:sp>
        <p:nvSpPr>
          <p:cNvPr id="12" name="Rectangle 11"/>
          <p:cNvSpPr/>
          <p:nvPr/>
        </p:nvSpPr>
        <p:spPr>
          <a:xfrm>
            <a:off x="7944835" y="3608204"/>
            <a:ext cx="897329" cy="1422729"/>
          </a:xfrm>
          <a:prstGeom prst="rect">
            <a:avLst/>
          </a:prstGeom>
          <a:noFill/>
          <a:ln w="44450">
            <a:solidFill>
              <a:srgbClr val="E09B00"/>
            </a:solidFill>
          </a:ln>
        </p:spPr>
        <p:txBody>
          <a:bodyPr rtlCol="0" anchor="ctr"/>
          <a:lstStyle/>
          <a:p>
            <a:pPr algn="ctr"/>
          </a:p>
        </p:txBody>
      </p:sp>
      <p:sp>
        <p:nvSpPr>
          <p:cNvPr id="13" name="Oval 12"/>
          <p:cNvSpPr/>
          <p:nvPr/>
        </p:nvSpPr>
        <p:spPr>
          <a:xfrm>
            <a:off x="8186424" y="5104915"/>
            <a:ext cx="327870" cy="284545"/>
          </a:xfrm>
          <a:prstGeom prst="ellipse">
            <a:avLst/>
          </a:prstGeom>
          <a:noFill/>
          <a:ln w="44450">
            <a:solidFill>
              <a:srgbClr val="C62828"/>
            </a:solidFill>
          </a:ln>
        </p:spPr>
        <p:txBody>
          <a:bodyPr rtlCol="0" anchor="ctr"/>
          <a:lstStyle/>
          <a:p>
            <a:pPr algn="ctr"/>
          </a:p>
        </p:txBody>
      </p:sp>
      <p:sp>
        <p:nvSpPr>
          <p:cNvPr id="14" name="Oval 13"/>
          <p:cNvSpPr/>
          <p:nvPr/>
        </p:nvSpPr>
        <p:spPr>
          <a:xfrm>
            <a:off x="7816819" y="348018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8662379" y="5119172"/>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TextBox 15"/>
          <p:cNvSpPr txBox="1"/>
          <p:nvPr/>
        </p:nvSpPr>
        <p:spPr>
          <a:xfrm>
            <a:off x="5303519" y="5650991"/>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7.4 - Lim, The Handbook of Technical Analysis (Wiley, 2016)</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Figure 7.4.</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Form 1, the key reversal bar: it opens high and closes low</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for form 1: "A large bar opening above a previous high and closing near or below a previous close," a key reversal bar (Figure 7.4, p. 212). Let us put invented prices on it. The previous bar reached PHP 51.00 and closed at PHP 50.80. Form 1 opens at PHP 51.40, above that high </a:t>
            </a:r>
            <a:r>
              <a:rPr sz="1700" b="1" i="0">
                <a:solidFill>
                  <a:srgbClr val="E09B00"/>
                </a:solidFill>
                <a:latin typeface="Arial"/>
              </a:rPr>
              <a:t>(1)</a:t>
            </a:r>
            <a:r>
              <a:rPr sz="1700" b="0" i="0">
                <a:solidFill>
                  <a:srgbClr val="1A1A1A"/>
                </a:solidFill>
                <a:latin typeface="Arial"/>
              </a:rPr>
              <a:t>, swings through PHP 2.20 </a:t>
            </a:r>
            <a:r>
              <a:rPr sz="1700" b="1" i="0">
                <a:solidFill>
                  <a:srgbClr val="C62828"/>
                </a:solidFill>
                <a:latin typeface="Arial"/>
              </a:rPr>
              <a:t>(2)</a:t>
            </a:r>
            <a:r>
              <a:rPr sz="1700" b="0" i="0">
                <a:solidFill>
                  <a:srgbClr val="1A1A1A"/>
                </a:solidFill>
                <a:latin typeface="Arial"/>
              </a:rPr>
              <a:t>, and closes at PHP 50.30, below the previous close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028959" y="2395728"/>
            <a:ext cx="1977328"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028959" y="2395728"/>
            <a:ext cx="1977328"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03279" y="2670048"/>
            <a:ext cx="1428688"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Figure 7.4, form 1: a key reversal bar after an uptrend.</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7.4,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ba-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10116006" y="3392424"/>
            <a:ext cx="109728" cy="1627631"/>
          </a:xfrm>
          <a:prstGeom prst="rect">
            <a:avLst/>
          </a:prstGeom>
          <a:noFill/>
          <a:ln w="44450">
            <a:solidFill>
              <a:srgbClr val="C62828"/>
            </a:solidFill>
          </a:ln>
        </p:spPr>
        <p:txBody>
          <a:bodyPr rtlCol="0" anchor="ctr"/>
          <a:lstStyle/>
          <a:p>
            <a:pPr algn="ctr"/>
          </a:p>
        </p:txBody>
      </p:sp>
      <p:sp>
        <p:nvSpPr>
          <p:cNvPr id="15" name="Oval 14"/>
          <p:cNvSpPr/>
          <p:nvPr/>
        </p:nvSpPr>
        <p:spPr>
          <a:xfrm>
            <a:off x="9971531" y="3804901"/>
            <a:ext cx="87782" cy="87782"/>
          </a:xfrm>
          <a:prstGeom prst="ellipse">
            <a:avLst/>
          </a:prstGeom>
          <a:noFill/>
          <a:ln w="44450">
            <a:solidFill>
              <a:srgbClr val="E09B00"/>
            </a:solidFill>
          </a:ln>
        </p:spPr>
        <p:txBody>
          <a:bodyPr rtlCol="0" anchor="ctr"/>
          <a:lstStyle/>
          <a:p>
            <a:pPr algn="ctr"/>
          </a:p>
        </p:txBody>
      </p:sp>
      <p:sp>
        <p:nvSpPr>
          <p:cNvPr id="16" name="Oval 15"/>
          <p:cNvSpPr/>
          <p:nvPr/>
        </p:nvSpPr>
        <p:spPr>
          <a:xfrm>
            <a:off x="10282427" y="4591285"/>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10225734"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9854379" y="353347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10231330" y="469446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BA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Figure 7.4. The prices are invented for teaching.</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Form 2 closes near or below the previous low</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for form 2: "A large bar closing near or below a previous low" (Figure 7.4, p. 212). By the close, price has fallen through everything the previous bar traded. Here it is with invented prices. The previous bar's low is PHP 50.20 </a:t>
            </a:r>
            <a:r>
              <a:rPr sz="1700" b="1" i="0">
                <a:solidFill>
                  <a:srgbClr val="E09B00"/>
                </a:solidFill>
                <a:latin typeface="Arial"/>
              </a:rPr>
              <a:t>(1)</a:t>
            </a:r>
            <a:r>
              <a:rPr sz="1700" b="0" i="0">
                <a:solidFill>
                  <a:srgbClr val="1A1A1A"/>
                </a:solidFill>
                <a:latin typeface="Arial"/>
              </a:rPr>
              <a:t>. Form 2 is a large bar with a PHP 2.10 range </a:t>
            </a:r>
            <a:r>
              <a:rPr sz="1700" b="1" i="0">
                <a:solidFill>
                  <a:srgbClr val="C62828"/>
                </a:solidFill>
                <a:latin typeface="Arial"/>
              </a:rPr>
              <a:t>(2)</a:t>
            </a:r>
            <a:r>
              <a:rPr sz="1700" b="0" i="0">
                <a:solidFill>
                  <a:srgbClr val="1A1A1A"/>
                </a:solidFill>
                <a:latin typeface="Arial"/>
              </a:rPr>
              <a:t> that closes at PHP 49.60, below that low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105010" y="2395728"/>
            <a:ext cx="1825226"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105010" y="2395728"/>
            <a:ext cx="1825226"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79330" y="2670048"/>
            <a:ext cx="127658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Figure 7.4, form 2: a large bar closing below the previous low.</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7.4,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bb-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10116006" y="3392424"/>
            <a:ext cx="109728" cy="1627631"/>
          </a:xfrm>
          <a:prstGeom prst="rect">
            <a:avLst/>
          </a:prstGeom>
          <a:noFill/>
          <a:ln w="44450">
            <a:solidFill>
              <a:srgbClr val="C62828"/>
            </a:solidFill>
          </a:ln>
        </p:spPr>
        <p:txBody>
          <a:bodyPr rtlCol="0" anchor="ctr"/>
          <a:lstStyle/>
          <a:p>
            <a:pPr algn="ctr"/>
          </a:p>
        </p:txBody>
      </p:sp>
      <p:sp>
        <p:nvSpPr>
          <p:cNvPr id="15" name="Oval 14"/>
          <p:cNvSpPr/>
          <p:nvPr/>
        </p:nvSpPr>
        <p:spPr>
          <a:xfrm>
            <a:off x="5518403" y="4349583"/>
            <a:ext cx="87782" cy="87782"/>
          </a:xfrm>
          <a:prstGeom prst="ellipse">
            <a:avLst/>
          </a:prstGeom>
          <a:noFill/>
          <a:ln w="44450">
            <a:solidFill>
              <a:srgbClr val="E09B00"/>
            </a:solidFill>
          </a:ln>
        </p:spPr>
        <p:txBody>
          <a:bodyPr rtlCol="0" anchor="ctr"/>
          <a:lstStyle/>
          <a:p>
            <a:pPr algn="ctr"/>
          </a:p>
        </p:txBody>
      </p:sp>
      <p:sp>
        <p:nvSpPr>
          <p:cNvPr id="16" name="Oval 15"/>
          <p:cNvSpPr/>
          <p:nvPr/>
        </p:nvSpPr>
        <p:spPr>
          <a:xfrm>
            <a:off x="10282427" y="4798945"/>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10225734"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5621584" y="423243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10247529" y="453110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BB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Figure 7.4. The prices are invented for teaching.</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Form 3 closes below a gap</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for form 3: "A bar closing below a gap formed between the current bar's open and a previous bar's low" (Figure 7.4, p. 212). Chapter 3's "Gap" is a range of prices where no trading took place. Say the previous low is PHP 51.00. Form 3 opens at PHP 50.60 </a:t>
            </a:r>
            <a:r>
              <a:rPr sz="1700" b="1" i="0">
                <a:solidFill>
                  <a:srgbClr val="E09B00"/>
                </a:solidFill>
                <a:latin typeface="Arial"/>
              </a:rPr>
              <a:t>(1)</a:t>
            </a:r>
            <a:r>
              <a:rPr sz="1700" b="0" i="0">
                <a:solidFill>
                  <a:srgbClr val="1A1A1A"/>
                </a:solidFill>
                <a:latin typeface="Arial"/>
              </a:rPr>
              <a:t>, leaving a PHP 0.40 gap above its open </a:t>
            </a:r>
            <a:r>
              <a:rPr sz="1700" b="1" i="0">
                <a:solidFill>
                  <a:srgbClr val="C62828"/>
                </a:solidFill>
                <a:latin typeface="Arial"/>
              </a:rPr>
              <a:t>(2)</a:t>
            </a:r>
            <a:r>
              <a:rPr sz="1700" b="0" i="0">
                <a:solidFill>
                  <a:srgbClr val="1A1A1A"/>
                </a:solidFill>
                <a:latin typeface="Arial"/>
              </a:rPr>
              <a:t>, and closes at PHP 49.80, below the gap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105010" y="2395728"/>
            <a:ext cx="1825226"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105010" y="2395728"/>
            <a:ext cx="1825226"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79330" y="2670048"/>
            <a:ext cx="127658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Figure 7.4, form 3: a bar closing below a gap.</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7.4,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bc-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9971531" y="4293412"/>
            <a:ext cx="87782" cy="87782"/>
          </a:xfrm>
          <a:prstGeom prst="ellipse">
            <a:avLst/>
          </a:prstGeom>
          <a:noFill/>
          <a:ln w="44450">
            <a:solidFill>
              <a:srgbClr val="E09B00"/>
            </a:solidFill>
          </a:ln>
        </p:spPr>
        <p:txBody>
          <a:bodyPr rtlCol="0" anchor="ctr"/>
          <a:lstStyle/>
          <a:p>
            <a:pPr algn="ctr"/>
          </a:p>
        </p:txBody>
      </p:sp>
      <p:sp>
        <p:nvSpPr>
          <p:cNvPr id="15" name="Rectangle 14"/>
          <p:cNvSpPr/>
          <p:nvPr/>
        </p:nvSpPr>
        <p:spPr>
          <a:xfrm>
            <a:off x="7784287" y="4075176"/>
            <a:ext cx="164592" cy="262127"/>
          </a:xfrm>
          <a:prstGeom prst="rect">
            <a:avLst/>
          </a:prstGeom>
          <a:noFill/>
          <a:ln w="44450">
            <a:solidFill>
              <a:srgbClr val="C62828"/>
            </a:solidFill>
          </a:ln>
        </p:spPr>
        <p:txBody>
          <a:bodyPr rtlCol="0" anchor="ctr"/>
          <a:lstStyle/>
          <a:p>
            <a:pPr algn="ctr"/>
          </a:p>
        </p:txBody>
      </p:sp>
      <p:sp>
        <p:nvSpPr>
          <p:cNvPr id="16" name="Oval 15"/>
          <p:cNvSpPr/>
          <p:nvPr/>
        </p:nvSpPr>
        <p:spPr>
          <a:xfrm>
            <a:off x="10282427" y="4817668"/>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9952457" y="403056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7948879"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47529" y="454982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BC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8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Figure 7.4; Chapter 3, "Gap". The prices are invented for teaching.</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Form 4 is the inside bar: a narrow bar inside a larger one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for form 4: "Narrow range bar closing within a larger previous bar's range," an inside bar (Figure 7.4, p. 212). Say the previous bar ranges PHP 3.00 </a:t>
            </a:r>
            <a:r>
              <a:rPr sz="1700" b="1" i="0">
                <a:solidFill>
                  <a:srgbClr val="E09B00"/>
                </a:solidFill>
                <a:latin typeface="Arial"/>
              </a:rPr>
              <a:t>(1)</a:t>
            </a:r>
            <a:r>
              <a:rPr sz="1700" b="0" i="0">
                <a:solidFill>
                  <a:srgbClr val="1A1A1A"/>
                </a:solidFill>
                <a:latin typeface="Arial"/>
              </a:rPr>
              <a:t>; the inside bar ranges only PHP 1.00 </a:t>
            </a:r>
            <a:r>
              <a:rPr sz="1700" b="1" i="0">
                <a:solidFill>
                  <a:srgbClr val="C62828"/>
                </a:solidFill>
                <a:latin typeface="Arial"/>
              </a:rPr>
              <a:t>(2)</a:t>
            </a:r>
            <a:r>
              <a:rPr sz="1700" b="0" i="0">
                <a:solidFill>
                  <a:srgbClr val="1A1A1A"/>
                </a:solidFill>
                <a:latin typeface="Arial"/>
              </a:rPr>
              <a:t>, on 0.9 million shares against 3.0 million </a:t>
            </a:r>
            <a:r>
              <a:rPr sz="1700" b="1" i="0">
                <a:solidFill>
                  <a:srgbClr val="1F5FAD"/>
                </a:solidFill>
                <a:latin typeface="Arial"/>
              </a:rPr>
              <a:t>(3)</a:t>
            </a:r>
            <a:r>
              <a:rPr sz="1700" b="0" i="0">
                <a:solidFill>
                  <a:srgbClr val="1A1A1A"/>
                </a:solidFill>
                <a:latin typeface="Arial"/>
              </a:rPr>
              <a:t>. Lim says such narrow bars should generally form on low volume, showing uncertainty in an uptrend (p. 212).</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066984" y="2395728"/>
            <a:ext cx="1901277"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066984" y="2395728"/>
            <a:ext cx="1901277"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41304" y="2670048"/>
            <a:ext cx="135263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Figure 7.4, form 4: a narrow inside bar after a large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7.4,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bd-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4647894" y="3392424"/>
            <a:ext cx="109728" cy="1124712"/>
          </a:xfrm>
          <a:prstGeom prst="rect">
            <a:avLst/>
          </a:prstGeom>
          <a:noFill/>
          <a:ln w="44450">
            <a:solidFill>
              <a:srgbClr val="E09B00"/>
            </a:solidFill>
          </a:ln>
        </p:spPr>
        <p:txBody>
          <a:bodyPr rtlCol="0" anchor="ctr"/>
          <a:lstStyle/>
          <a:p>
            <a:pPr algn="ctr"/>
          </a:p>
        </p:txBody>
      </p:sp>
      <p:sp>
        <p:nvSpPr>
          <p:cNvPr id="15" name="Rectangle 14"/>
          <p:cNvSpPr/>
          <p:nvPr/>
        </p:nvSpPr>
        <p:spPr>
          <a:xfrm>
            <a:off x="10116006" y="3463747"/>
            <a:ext cx="109728" cy="411479"/>
          </a:xfrm>
          <a:prstGeom prst="rect">
            <a:avLst/>
          </a:prstGeom>
          <a:noFill/>
          <a:ln w="44450">
            <a:solidFill>
              <a:srgbClr val="C62828"/>
            </a:solidFill>
          </a:ln>
        </p:spPr>
        <p:txBody>
          <a:bodyPr rtlCol="0" anchor="ctr"/>
          <a:lstStyle/>
          <a:p>
            <a:pPr algn="ctr"/>
          </a:p>
        </p:txBody>
      </p:sp>
      <p:sp>
        <p:nvSpPr>
          <p:cNvPr id="16" name="Rectangle 15"/>
          <p:cNvSpPr/>
          <p:nvPr/>
        </p:nvSpPr>
        <p:spPr>
          <a:xfrm>
            <a:off x="10015422" y="5276088"/>
            <a:ext cx="310896" cy="109728"/>
          </a:xfrm>
          <a:prstGeom prst="rect">
            <a:avLst/>
          </a:prstGeom>
          <a:noFill/>
          <a:ln w="44450">
            <a:solidFill>
              <a:srgbClr val="1F5FAD"/>
            </a:solidFill>
          </a:ln>
        </p:spPr>
        <p:txBody>
          <a:bodyPr rtlCol="0" anchor="ctr"/>
          <a:lstStyle/>
          <a:p>
            <a:pPr algn="ctr"/>
          </a:p>
        </p:txBody>
      </p:sp>
      <p:sp>
        <p:nvSpPr>
          <p:cNvPr id="17" name="Oval 16"/>
          <p:cNvSpPr/>
          <p:nvPr/>
        </p:nvSpPr>
        <p:spPr>
          <a:xfrm>
            <a:off x="4757623" y="382676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224421" y="346831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436047" y="520293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BD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9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Figure 7.4. Prices and volume are invented for teaching.</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Form 5 is one overextended bar that closes near its low</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for form 5: "An overextended bar closes at or near its low" (Figure 7.4, p. 212). It is the one form drawn as a single bar: it stretches far up, then gives almost all of it back. Beside an ordinary PHP 1.00 bar, form 5 stretches up to PHP 53.60 </a:t>
            </a:r>
            <a:r>
              <a:rPr sz="1700" b="1" i="0">
                <a:solidFill>
                  <a:srgbClr val="E09B00"/>
                </a:solidFill>
                <a:latin typeface="Arial"/>
              </a:rPr>
              <a:t>(1)</a:t>
            </a:r>
            <a:r>
              <a:rPr sz="1700" b="0" i="0">
                <a:solidFill>
                  <a:srgbClr val="1A1A1A"/>
                </a:solidFill>
                <a:latin typeface="Arial"/>
              </a:rPr>
              <a:t> and closes at PHP 51.00, only PHP 0.20 above its low of PHP 50.80 </a:t>
            </a:r>
            <a:r>
              <a:rPr sz="1700" b="1" i="0">
                <a:solidFill>
                  <a:srgbClr val="C62828"/>
                </a:solidFill>
                <a:latin typeface="Arial"/>
              </a:rPr>
              <a:t>(2)</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105010" y="2395728"/>
            <a:ext cx="1825226"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105010" y="2395728"/>
            <a:ext cx="1825226"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79330" y="2670048"/>
            <a:ext cx="127658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Figure 7.4, form 5: one overextended bar closing near its low.</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7.4,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be-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10126979" y="3375964"/>
            <a:ext cx="87782" cy="87782"/>
          </a:xfrm>
          <a:prstGeom prst="ellipse">
            <a:avLst/>
          </a:prstGeom>
          <a:noFill/>
          <a:ln w="44450">
            <a:solidFill>
              <a:srgbClr val="E09B00"/>
            </a:solidFill>
          </a:ln>
        </p:spPr>
        <p:txBody>
          <a:bodyPr rtlCol="0" anchor="ctr"/>
          <a:lstStyle/>
          <a:p>
            <a:pPr algn="ctr"/>
          </a:p>
        </p:txBody>
      </p:sp>
      <p:sp>
        <p:nvSpPr>
          <p:cNvPr id="15" name="Oval 14"/>
          <p:cNvSpPr/>
          <p:nvPr/>
        </p:nvSpPr>
        <p:spPr>
          <a:xfrm>
            <a:off x="10282427" y="4452069"/>
            <a:ext cx="87782" cy="87782"/>
          </a:xfrm>
          <a:prstGeom prst="ellipse">
            <a:avLst/>
          </a:prstGeom>
          <a:noFill/>
          <a:ln w="44450">
            <a:solidFill>
              <a:srgbClr val="C62828"/>
            </a:solidFill>
          </a:ln>
        </p:spPr>
        <p:txBody>
          <a:bodyPr rtlCol="0" anchor="ctr"/>
          <a:lstStyle/>
          <a:p>
            <a:pPr algn="ctr"/>
          </a:p>
        </p:txBody>
      </p:sp>
      <p:sp>
        <p:nvSpPr>
          <p:cNvPr id="16" name="Oval 15"/>
          <p:cNvSpPr/>
          <p:nvPr/>
        </p:nvSpPr>
        <p:spPr>
          <a:xfrm>
            <a:off x="10233050" y="329184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10247529" y="418422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BE - FIN1209 teaching chart, drawn for this course. Illustrative data, not a real instrument.</a:t>
            </a:r>
          </a:p>
        </p:txBody>
      </p:sp>
      <p:sp>
        <p:nvSpPr>
          <p:cNvPr id="19" name="TextBox 18"/>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10 of 79</a:t>
            </a:r>
          </a:p>
        </p:txBody>
      </p:sp>
      <p:sp>
        <p:nvSpPr>
          <p:cNvPr id="20" name="TextBox 1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Figure 7.4. The prices are invented for teaching.</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Form 6 is the outside bar: it engulfs the bar before it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for form 6: "Bar engulfing a previous narrow range bar and closing near or at its low," which he calls an outside bar (Figure 7.4, p. 212). Let us put invented prices on it. The previous bar is narrow, from PHP 50.80 to PHP 51.40 </a:t>
            </a:r>
            <a:r>
              <a:rPr sz="1700" b="1" i="0">
                <a:solidFill>
                  <a:srgbClr val="E09B00"/>
                </a:solidFill>
                <a:latin typeface="Arial"/>
              </a:rPr>
              <a:t>(1)</a:t>
            </a:r>
            <a:r>
              <a:rPr sz="1700" b="0" i="0">
                <a:solidFill>
                  <a:srgbClr val="1A1A1A"/>
                </a:solidFill>
                <a:latin typeface="Arial"/>
              </a:rPr>
              <a:t>. The outside bar runs from PHP 49.90 to PHP 51.90 </a:t>
            </a:r>
            <a:r>
              <a:rPr sz="1700" b="1" i="0">
                <a:solidFill>
                  <a:srgbClr val="C62828"/>
                </a:solidFill>
                <a:latin typeface="Arial"/>
              </a:rPr>
              <a:t>(2)</a:t>
            </a:r>
            <a:r>
              <a:rPr sz="1700" b="0" i="0">
                <a:solidFill>
                  <a:srgbClr val="1A1A1A"/>
                </a:solidFill>
                <a:latin typeface="Arial"/>
              </a:rPr>
              <a:t>, beyond both ends, and closes at PHP 50.00, near its low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105010" y="2395728"/>
            <a:ext cx="1825226"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105010" y="2395728"/>
            <a:ext cx="1825226"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79330" y="2670048"/>
            <a:ext cx="127658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Figure 7.4, form 6: an outside bar engulfing a narrow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7.4,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bf-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4647894" y="3785616"/>
            <a:ext cx="109728" cy="526694"/>
          </a:xfrm>
          <a:prstGeom prst="rect">
            <a:avLst/>
          </a:prstGeom>
          <a:noFill/>
          <a:ln w="44450">
            <a:solidFill>
              <a:srgbClr val="E09B00"/>
            </a:solidFill>
          </a:ln>
        </p:spPr>
        <p:txBody>
          <a:bodyPr rtlCol="0" anchor="ctr"/>
          <a:lstStyle/>
          <a:p>
            <a:pPr algn="ctr"/>
          </a:p>
        </p:txBody>
      </p:sp>
      <p:sp>
        <p:nvSpPr>
          <p:cNvPr id="15" name="Rectangle 14"/>
          <p:cNvSpPr/>
          <p:nvPr/>
        </p:nvSpPr>
        <p:spPr>
          <a:xfrm>
            <a:off x="10116006" y="3392424"/>
            <a:ext cx="109728" cy="1627631"/>
          </a:xfrm>
          <a:prstGeom prst="rect">
            <a:avLst/>
          </a:prstGeom>
          <a:noFill/>
          <a:ln w="44450">
            <a:solidFill>
              <a:srgbClr val="C62828"/>
            </a:solidFill>
          </a:ln>
        </p:spPr>
        <p:txBody>
          <a:bodyPr rtlCol="0" anchor="ctr"/>
          <a:lstStyle/>
          <a:p>
            <a:pPr algn="ctr"/>
          </a:p>
        </p:txBody>
      </p:sp>
      <p:sp>
        <p:nvSpPr>
          <p:cNvPr id="16" name="Oval 15"/>
          <p:cNvSpPr/>
          <p:nvPr/>
        </p:nvSpPr>
        <p:spPr>
          <a:xfrm>
            <a:off x="10282427" y="4870094"/>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4755691" y="402674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225734"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47529" y="4602255"/>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BF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11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Figure 7.4. The prices are invented for teaching.</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Form 7 is two large bars that close at opposite ends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for form 7: "1st large bar closing at its high followed by a large bar closing at or near its low" (Figure 7.4, p. 212). The buyers' strong finish is undone by the very next bar. Here it is with invented prices. The first bar closes at PHP 51.60, right at its high </a:t>
            </a:r>
            <a:r>
              <a:rPr sz="1700" b="1" i="0">
                <a:solidFill>
                  <a:srgbClr val="E09B00"/>
                </a:solidFill>
                <a:latin typeface="Arial"/>
              </a:rPr>
              <a:t>(1)</a:t>
            </a:r>
            <a:r>
              <a:rPr sz="1700" b="0" i="0">
                <a:solidFill>
                  <a:srgbClr val="1A1A1A"/>
                </a:solidFill>
                <a:latin typeface="Arial"/>
              </a:rPr>
              <a:t>. The second bar, just as large, closes at PHP 49.40, only PHP 0.20 above its low </a:t>
            </a:r>
            <a:r>
              <a:rPr sz="1700" b="1" i="0">
                <a:solidFill>
                  <a:srgbClr val="C62828"/>
                </a:solidFill>
                <a:latin typeface="Arial"/>
              </a:rPr>
              <a:t>(2)</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066984" y="2395728"/>
            <a:ext cx="1901277"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066984" y="2395728"/>
            <a:ext cx="1901277"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41304" y="2670048"/>
            <a:ext cx="135263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Figure 7.4, form 7: two large bars closing at opposite ends.</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7.4,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bg-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4814315" y="3488305"/>
            <a:ext cx="87782" cy="87782"/>
          </a:xfrm>
          <a:prstGeom prst="ellipse">
            <a:avLst/>
          </a:prstGeom>
          <a:noFill/>
          <a:ln w="44450">
            <a:solidFill>
              <a:srgbClr val="E09B00"/>
            </a:solidFill>
          </a:ln>
        </p:spPr>
        <p:txBody>
          <a:bodyPr rtlCol="0" anchor="ctr"/>
          <a:lstStyle/>
          <a:p>
            <a:pPr algn="ctr"/>
          </a:p>
        </p:txBody>
      </p:sp>
      <p:sp>
        <p:nvSpPr>
          <p:cNvPr id="15" name="Oval 14"/>
          <p:cNvSpPr/>
          <p:nvPr/>
        </p:nvSpPr>
        <p:spPr>
          <a:xfrm>
            <a:off x="10282427" y="4724051"/>
            <a:ext cx="87782" cy="87782"/>
          </a:xfrm>
          <a:prstGeom prst="ellipse">
            <a:avLst/>
          </a:prstGeom>
          <a:noFill/>
          <a:ln w="44450">
            <a:solidFill>
              <a:srgbClr val="C62828"/>
            </a:solidFill>
          </a:ln>
        </p:spPr>
        <p:txBody>
          <a:bodyPr rtlCol="0" anchor="ctr"/>
          <a:lstStyle/>
          <a:p>
            <a:pPr algn="ctr"/>
          </a:p>
        </p:txBody>
      </p:sp>
      <p:sp>
        <p:nvSpPr>
          <p:cNvPr id="16" name="Oval 15"/>
          <p:cNvSpPr/>
          <p:nvPr/>
        </p:nvSpPr>
        <p:spPr>
          <a:xfrm>
            <a:off x="4763218" y="359148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10247529" y="4456212"/>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BG - FIN1209 teaching chart, drawn for this course. Illustrative data, not a real instrument.</a:t>
            </a:r>
          </a:p>
        </p:txBody>
      </p:sp>
      <p:sp>
        <p:nvSpPr>
          <p:cNvPr id="19" name="TextBox 18"/>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12 of 79</a:t>
            </a:r>
          </a:p>
        </p:txBody>
      </p:sp>
      <p:sp>
        <p:nvSpPr>
          <p:cNvPr id="20" name="TextBox 1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Figure 7.4. The prices are invented for teaching.</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tells us how much weight a bearish pattern gets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13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 adds two volume habits. Narrow range bars in a two-bar pattern should generally form on low volume, showing uncertainty in an uptrend (p. 212).</a:t>
            </a:r>
          </a:p>
          <a:p>
            <a:pPr algn="l">
              <a:lnSpc>
                <a:spcPct val="118000"/>
              </a:lnSpc>
              <a:spcBef>
                <a:spcPts val="0"/>
              </a:spcBef>
              <a:spcAft>
                <a:spcPts val="1300"/>
              </a:spcAft>
            </a:pPr>
            <a:r>
              <a:rPr sz="2100" b="0" i="0">
                <a:solidFill>
                  <a:srgbClr val="1A1A1A"/>
                </a:solidFill>
                <a:latin typeface="Arial"/>
              </a:rPr>
              <a:t>Large bars closing at or near their lows should generally form on high volume in an uptrend (p. 212).</a:t>
            </a:r>
          </a:p>
          <a:p>
            <a:pPr algn="l">
              <a:lnSpc>
                <a:spcPct val="118000"/>
              </a:lnSpc>
              <a:spcBef>
                <a:spcPts val="0"/>
              </a:spcBef>
              <a:spcAft>
                <a:spcPts val="1300"/>
              </a:spcAft>
            </a:pPr>
            <a:r>
              <a:rPr sz="2100" b="0" i="0">
                <a:solidFill>
                  <a:srgbClr val="1A1A1A"/>
                </a:solidFill>
                <a:latin typeface="Arial"/>
              </a:rPr>
              <a:t>He also notes that some practitioners treat these same patterns as continuation patterns when they occur in a downtrend (p. 212).</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Quiet narrow bars show doubt; heavy large bars show conviction.</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bearish last bar we can trust more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 says a bearish two-bar pattern is potentially more reliable if the last bar is an overextended bar that closes at or near its low on high volume (p. 212). Let us put invented prices on it. The last bar stretches PHP 4.00 against PHP 1.00 before it </a:t>
            </a:r>
            <a:r>
              <a:rPr sz="1700" b="1" i="0">
                <a:solidFill>
                  <a:srgbClr val="E09B00"/>
                </a:solidFill>
                <a:latin typeface="Arial"/>
              </a:rPr>
              <a:t>(1)</a:t>
            </a:r>
            <a:r>
              <a:rPr sz="1700" b="0" i="0">
                <a:solidFill>
                  <a:srgbClr val="1A1A1A"/>
                </a:solidFill>
                <a:latin typeface="Arial"/>
              </a:rPr>
              <a:t>, closes at PHP 47.80, near its low of PHP 47.60 </a:t>
            </a:r>
            <a:r>
              <a:rPr sz="1700" b="1" i="0">
                <a:solidFill>
                  <a:srgbClr val="C62828"/>
                </a:solidFill>
                <a:latin typeface="Arial"/>
              </a:rPr>
              <a:t>(2)</a:t>
            </a:r>
            <a:r>
              <a:rPr sz="1700" b="0" i="0">
                <a:solidFill>
                  <a:srgbClr val="1A1A1A"/>
                </a:solidFill>
                <a:latin typeface="Arial"/>
              </a:rPr>
              <a:t>, and trades 4.5 million shares against 1.5 million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rl-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9869119" y="3392424"/>
            <a:ext cx="109728" cy="1124712"/>
          </a:xfrm>
          <a:prstGeom prst="rect">
            <a:avLst/>
          </a:prstGeom>
          <a:noFill/>
          <a:ln w="44450">
            <a:solidFill>
              <a:srgbClr val="E09B00"/>
            </a:solidFill>
          </a:ln>
        </p:spPr>
        <p:txBody>
          <a:bodyPr rtlCol="0" anchor="ctr"/>
          <a:lstStyle/>
          <a:p>
            <a:pPr algn="ctr"/>
          </a:p>
        </p:txBody>
      </p:sp>
      <p:sp>
        <p:nvSpPr>
          <p:cNvPr id="10" name="Oval 9"/>
          <p:cNvSpPr/>
          <p:nvPr/>
        </p:nvSpPr>
        <p:spPr>
          <a:xfrm>
            <a:off x="10035539" y="4392320"/>
            <a:ext cx="87782" cy="87782"/>
          </a:xfrm>
          <a:prstGeom prst="ellipse">
            <a:avLst/>
          </a:prstGeom>
          <a:noFill/>
          <a:ln w="44450">
            <a:solidFill>
              <a:srgbClr val="C62828"/>
            </a:solidFill>
          </a:ln>
        </p:spPr>
        <p:txBody>
          <a:bodyPr rtlCol="0" anchor="ctr"/>
          <a:lstStyle/>
          <a:p>
            <a:pPr algn="ctr"/>
          </a:p>
        </p:txBody>
      </p:sp>
      <p:sp>
        <p:nvSpPr>
          <p:cNvPr id="11" name="Rectangle 10"/>
          <p:cNvSpPr/>
          <p:nvPr/>
        </p:nvSpPr>
        <p:spPr>
          <a:xfrm>
            <a:off x="9768535" y="5148072"/>
            <a:ext cx="310895" cy="237744"/>
          </a:xfrm>
          <a:prstGeom prst="rect">
            <a:avLst/>
          </a:prstGeom>
          <a:noFill/>
          <a:ln w="44450">
            <a:solidFill>
              <a:srgbClr val="1F5FAD"/>
            </a:solidFill>
          </a:ln>
        </p:spPr>
        <p:txBody>
          <a:bodyPr rtlCol="0" anchor="ctr"/>
          <a:lstStyle/>
          <a:p>
            <a:pPr algn="ctr"/>
          </a:p>
        </p:txBody>
      </p:sp>
      <p:sp>
        <p:nvSpPr>
          <p:cNvPr id="12" name="Oval 11"/>
          <p:cNvSpPr/>
          <p:nvPr/>
        </p:nvSpPr>
        <p:spPr>
          <a:xfrm>
            <a:off x="9978847" y="382676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10073670" y="416249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097162" y="515167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RL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14 of 79</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Prices and volume are invented for teaching.</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8 OF 30</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Bearish single and double bar patterns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last bar makes a bearish two-bar pattern potentially more reliable?</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A narrow bar closing near its high</a:t>
            </a:r>
          </a:p>
          <a:p>
            <a:pPr algn="l">
              <a:lnSpc>
                <a:spcPct val="112000"/>
              </a:lnSpc>
              <a:spcBef>
                <a:spcPts val="0"/>
              </a:spcBef>
              <a:spcAft>
                <a:spcPts val="900"/>
              </a:spcAft>
            </a:pPr>
            <a:r>
              <a:rPr sz="1700" b="0" i="0">
                <a:solidFill>
                  <a:srgbClr val="FFFFFF"/>
                </a:solidFill>
                <a:latin typeface="Arial"/>
              </a:rPr>
              <a:t>B.  Any bar on low volume</a:t>
            </a:r>
          </a:p>
          <a:p>
            <a:pPr algn="l">
              <a:lnSpc>
                <a:spcPct val="112000"/>
              </a:lnSpc>
              <a:spcBef>
                <a:spcPts val="0"/>
              </a:spcBef>
              <a:spcAft>
                <a:spcPts val="900"/>
              </a:spcAft>
            </a:pPr>
            <a:r>
              <a:rPr sz="1700" b="0" i="0">
                <a:solidFill>
                  <a:srgbClr val="FFFFFF"/>
                </a:solidFill>
                <a:latin typeface="Arial"/>
              </a:rPr>
              <a:t>C.  A bar that gaps up and closes high</a:t>
            </a:r>
          </a:p>
          <a:p>
            <a:pPr algn="l">
              <a:lnSpc>
                <a:spcPct val="112000"/>
              </a:lnSpc>
              <a:spcBef>
                <a:spcPts val="0"/>
              </a:spcBef>
              <a:spcAft>
                <a:spcPts val="900"/>
              </a:spcAft>
            </a:pPr>
            <a:r>
              <a:rPr sz="1700" b="0" i="0">
                <a:solidFill>
                  <a:srgbClr val="FFFFFF"/>
                </a:solidFill>
                <a:latin typeface="Arial"/>
              </a:rPr>
              <a:t>D.  An overextended bar closing near its low on high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an uptrend, what does a narrow range bar on low volume within a two-bar pattern show?</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A guaranteed reversal</a:t>
            </a:r>
          </a:p>
          <a:p>
            <a:pPr algn="l">
              <a:lnSpc>
                <a:spcPct val="112000"/>
              </a:lnSpc>
              <a:spcBef>
                <a:spcPts val="0"/>
              </a:spcBef>
              <a:spcAft>
                <a:spcPts val="900"/>
              </a:spcAft>
            </a:pPr>
            <a:r>
              <a:rPr sz="1700" b="0" i="0">
                <a:solidFill>
                  <a:srgbClr val="FFFFFF"/>
                </a:solidFill>
                <a:latin typeface="Arial"/>
              </a:rPr>
              <a:t>B.  Uncertainty</a:t>
            </a:r>
          </a:p>
          <a:p>
            <a:pPr algn="l">
              <a:lnSpc>
                <a:spcPct val="112000"/>
              </a:lnSpc>
              <a:spcBef>
                <a:spcPts val="0"/>
              </a:spcBef>
              <a:spcAft>
                <a:spcPts val="900"/>
              </a:spcAft>
            </a:pPr>
            <a:r>
              <a:rPr sz="1700" b="0" i="0">
                <a:solidFill>
                  <a:srgbClr val="FFFFFF"/>
                </a:solidFill>
                <a:latin typeface="Arial"/>
              </a:rPr>
              <a:t>C.  A continuation</a:t>
            </a:r>
          </a:p>
          <a:p>
            <a:pPr algn="l">
              <a:lnSpc>
                <a:spcPct val="112000"/>
              </a:lnSpc>
              <a:spcBef>
                <a:spcPts val="0"/>
              </a:spcBef>
              <a:spcAft>
                <a:spcPts val="900"/>
              </a:spcAft>
            </a:pPr>
            <a:r>
              <a:rPr sz="1700" b="0" i="0">
                <a:solidFill>
                  <a:srgbClr val="FFFFFF"/>
                </a:solidFill>
                <a:latin typeface="Arial"/>
              </a:rPr>
              <a:t>D.  A wider range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8</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Bearish single and double bar patterns</a:t>
            </a:r>
          </a:p>
        </p:txBody>
      </p:sp>
      <p:sp>
        <p:nvSpPr>
          <p:cNvPr id="6" name="Rectangle 5"/>
          <p:cNvSpPr/>
          <p:nvPr/>
        </p:nvSpPr>
        <p:spPr>
          <a:xfrm>
            <a:off x="777240" y="1207008"/>
            <a:ext cx="10637215" cy="187642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76425"/>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Which last bar makes a bearish two-bar pattern potentially more reliable?</a:t>
            </a:r>
          </a:p>
        </p:txBody>
      </p:sp>
      <p:sp>
        <p:nvSpPr>
          <p:cNvPr id="9" name="TextBox 8"/>
          <p:cNvSpPr txBox="1"/>
          <p:nvPr/>
        </p:nvSpPr>
        <p:spPr>
          <a:xfrm>
            <a:off x="1143000" y="1949069"/>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An overextended bar closing near its low on high volume</a:t>
            </a:r>
          </a:p>
          <a:p>
            <a:pPr algn="l">
              <a:lnSpc>
                <a:spcPct val="115000"/>
              </a:lnSpc>
              <a:spcBef>
                <a:spcPts val="700"/>
              </a:spcBef>
              <a:spcAft>
                <a:spcPts val="0"/>
              </a:spcAft>
            </a:pPr>
            <a:r>
              <a:rPr sz="1700" b="0" i="0">
                <a:solidFill>
                  <a:srgbClr val="1A1A1A"/>
                </a:solidFill>
                <a:latin typeface="Arial"/>
              </a:rPr>
              <a:t>Lim says the pattern is potentially more reliable if the last bar is overextended and closes at or near its low on high volume (p. 212).</a:t>
            </a:r>
          </a:p>
        </p:txBody>
      </p:sp>
      <p:sp>
        <p:nvSpPr>
          <p:cNvPr id="10" name="Rectangle 9"/>
          <p:cNvSpPr/>
          <p:nvPr/>
        </p:nvSpPr>
        <p:spPr>
          <a:xfrm>
            <a:off x="777240" y="3330321"/>
            <a:ext cx="10637215" cy="187642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30321"/>
            <a:ext cx="91440" cy="187642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68065"/>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In an uptrend, what does a narrow range bar on low volume within a two-bar pattern show?</a:t>
            </a:r>
          </a:p>
        </p:txBody>
      </p:sp>
      <p:sp>
        <p:nvSpPr>
          <p:cNvPr id="13" name="TextBox 12"/>
          <p:cNvSpPr txBox="1"/>
          <p:nvPr/>
        </p:nvSpPr>
        <p:spPr>
          <a:xfrm>
            <a:off x="1143000" y="4072382"/>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Uncertainty</a:t>
            </a:r>
          </a:p>
          <a:p>
            <a:pPr algn="l">
              <a:lnSpc>
                <a:spcPct val="115000"/>
              </a:lnSpc>
              <a:spcBef>
                <a:spcPts val="700"/>
              </a:spcBef>
              <a:spcAft>
                <a:spcPts val="0"/>
              </a:spcAft>
            </a:pPr>
            <a:r>
              <a:rPr sz="1700" b="0" i="0">
                <a:solidFill>
                  <a:srgbClr val="1A1A1A"/>
                </a:solidFill>
                <a:latin typeface="Arial"/>
              </a:rPr>
              <a:t>Lim says such narrow range bars should generally form on low volume, indicating uncertainty in an uptrend (p. 212).</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8</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In a downtrend Lim's close rule turns around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15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In a downtrend Lim's general rule is the mirror image: a close above the previous bar's close or high is bullish, especially if the previous bar is large or wide-ranging (p. 212).</a:t>
            </a:r>
          </a:p>
          <a:p>
            <a:pPr algn="l">
              <a:lnSpc>
                <a:spcPct val="118000"/>
              </a:lnSpc>
              <a:spcBef>
                <a:spcPts val="0"/>
              </a:spcBef>
              <a:spcAft>
                <a:spcPts val="1300"/>
              </a:spcAft>
            </a:pPr>
            <a:r>
              <a:rPr sz="2100" b="0" i="0">
                <a:solidFill>
                  <a:srgbClr val="1A1A1A"/>
                </a:solidFill>
                <a:latin typeface="Arial"/>
              </a:rPr>
              <a:t>Here it is with invented prices. Yesterday's bar ran from PHP 38.00 to PHP 41.00 and closed at PHP 38.20. A close today at PHP 38.80 is above yesterday's close; a close at PHP 41.20 is above yesterday's high as well.</a:t>
            </a:r>
          </a:p>
        </p:txBody>
      </p:sp>
      <p:sp>
        <p:nvSpPr>
          <p:cNvPr id="8" name="Rectangle 7"/>
          <p:cNvSpPr/>
          <p:nvPr/>
        </p:nvSpPr>
        <p:spPr>
          <a:xfrm>
            <a:off x="777240" y="453085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6742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Now the close has to climb past yesterday's bar.</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The prices are invented for teaching.</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Lim draws the seven bullish forms in Figure 7.5</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16 of 79</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Figure 7.5 draws the seven basic bullish single and double bar reversal patterns in a downtrend (p. 213). Here is the first drawing, cut out and drawn large.</a:t>
            </a:r>
          </a:p>
          <a:p>
            <a:pPr algn="l">
              <a:lnSpc>
                <a:spcPct val="105000"/>
              </a:lnSpc>
              <a:spcBef>
                <a:spcPts val="0"/>
              </a:spcBef>
              <a:spcAft>
                <a:spcPts val="1100"/>
              </a:spcAft>
            </a:pPr>
            <a:r>
              <a:rPr sz="2000" b="0" i="0">
                <a:solidFill>
                  <a:srgbClr val="1A1A1A"/>
                </a:solidFill>
                <a:latin typeface="Arial"/>
              </a:rPr>
              <a:t>Each form sits under an existing downtrend </a:t>
            </a:r>
            <a:r>
              <a:rPr sz="2000" b="1" i="0">
                <a:solidFill>
                  <a:srgbClr val="E09B00"/>
                </a:solidFill>
                <a:latin typeface="Arial"/>
              </a:rPr>
              <a:t>(1)</a:t>
            </a:r>
            <a:r>
              <a:rPr sz="2000" b="0" i="0">
                <a:solidFill>
                  <a:srgbClr val="1A1A1A"/>
                </a:solidFill>
                <a:latin typeface="Arial"/>
              </a:rPr>
              <a:t> and carries a number </a:t>
            </a:r>
            <a:r>
              <a:rPr sz="2000" b="1" i="0">
                <a:solidFill>
                  <a:srgbClr val="C62828"/>
                </a:solidFill>
                <a:latin typeface="Arial"/>
              </a:rPr>
              <a:t>(2)</a:t>
            </a:r>
            <a:r>
              <a:rPr sz="2000" b="0" i="0">
                <a:solidFill>
                  <a:srgbClr val="1A1A1A"/>
                </a:solidFill>
                <a:latin typeface="Arial"/>
              </a:rPr>
              <a:t>; the next seven slides take them one at a time, each quoting its label.</a:t>
            </a:r>
          </a:p>
        </p:txBody>
      </p:sp>
      <p:sp>
        <p:nvSpPr>
          <p:cNvPr id="8" name="Rectangle 7"/>
          <p:cNvSpPr/>
          <p:nvPr/>
        </p:nvSpPr>
        <p:spPr>
          <a:xfrm>
            <a:off x="7586970" y="1810512"/>
            <a:ext cx="1544033" cy="3749040"/>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705842" y="1929384"/>
            <a:ext cx="1306289"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705842" y="1929384"/>
            <a:ext cx="1306289"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980162" y="2203703"/>
            <a:ext cx="757649"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500" b="0" i="0">
                <a:solidFill>
                  <a:srgbClr val="1A1A1A"/>
                </a:solidFill>
                <a:latin typeface="Palatino"/>
              </a:rPr>
              <a:t>Figure 7.5, form 1: the number, its arrow and the drawing.</a:t>
            </a:r>
          </a:p>
        </p:txBody>
      </p:sp>
      <p:sp>
        <p:nvSpPr>
          <p:cNvPr id="12" name="Rectangle 11"/>
          <p:cNvSpPr/>
          <p:nvPr/>
        </p:nvSpPr>
        <p:spPr>
          <a:xfrm>
            <a:off x="7866892" y="2283464"/>
            <a:ext cx="1113925" cy="1563854"/>
          </a:xfrm>
          <a:prstGeom prst="rect">
            <a:avLst/>
          </a:prstGeom>
          <a:noFill/>
          <a:ln w="44450">
            <a:solidFill>
              <a:srgbClr val="E09B00"/>
            </a:solidFill>
          </a:ln>
        </p:spPr>
        <p:txBody>
          <a:bodyPr rtlCol="0" anchor="ctr"/>
          <a:lstStyle/>
          <a:p>
            <a:pPr algn="ctr"/>
          </a:p>
        </p:txBody>
      </p:sp>
      <p:sp>
        <p:nvSpPr>
          <p:cNvPr id="13" name="Oval 12"/>
          <p:cNvSpPr/>
          <p:nvPr/>
        </p:nvSpPr>
        <p:spPr>
          <a:xfrm>
            <a:off x="8117413" y="1935285"/>
            <a:ext cx="322098" cy="306869"/>
          </a:xfrm>
          <a:prstGeom prst="ellipse">
            <a:avLst/>
          </a:prstGeom>
          <a:noFill/>
          <a:ln w="44450">
            <a:solidFill>
              <a:srgbClr val="C62828"/>
            </a:solidFill>
          </a:ln>
        </p:spPr>
        <p:txBody>
          <a:bodyPr rtlCol="0" anchor="ctr"/>
          <a:lstStyle/>
          <a:p>
            <a:pPr algn="ctr"/>
          </a:p>
        </p:txBody>
      </p:sp>
      <p:sp>
        <p:nvSpPr>
          <p:cNvPr id="14" name="Oval 13"/>
          <p:cNvSpPr/>
          <p:nvPr/>
        </p:nvSpPr>
        <p:spPr>
          <a:xfrm>
            <a:off x="7738876" y="215544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8597806" y="196070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TextBox 15"/>
          <p:cNvSpPr txBox="1"/>
          <p:nvPr/>
        </p:nvSpPr>
        <p:spPr>
          <a:xfrm>
            <a:off x="5303519" y="5650992"/>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7.5 - Lim, The Handbook of Technical Analysis (Wiley, 2016)</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7.5.</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form 1 opens below the previous low and closes back up</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"A large bar opening below a previous low and closing near or above a previous close," again a key reversal bar (Figure 7.5, p. 213). Here it is with invented prices. The previous bar fell to PHP 39.00 and closed at PHP 39.20. Form 1 opens at PHP 38.60 </a:t>
            </a:r>
            <a:r>
              <a:rPr sz="1700" b="1" i="0">
                <a:solidFill>
                  <a:srgbClr val="E09B00"/>
                </a:solidFill>
                <a:latin typeface="Arial"/>
              </a:rPr>
              <a:t>(1)</a:t>
            </a:r>
            <a:r>
              <a:rPr sz="1700" b="0" i="0">
                <a:solidFill>
                  <a:srgbClr val="1A1A1A"/>
                </a:solidFill>
                <a:latin typeface="Arial"/>
              </a:rPr>
              <a:t>, swings through PHP 2.20 </a:t>
            </a:r>
            <a:r>
              <a:rPr sz="1700" b="1" i="0">
                <a:solidFill>
                  <a:srgbClr val="C62828"/>
                </a:solidFill>
                <a:latin typeface="Arial"/>
              </a:rPr>
              <a:t>(2)</a:t>
            </a:r>
            <a:r>
              <a:rPr sz="1700" b="0" i="0">
                <a:solidFill>
                  <a:srgbClr val="1A1A1A"/>
                </a:solidFill>
                <a:latin typeface="Arial"/>
              </a:rPr>
              <a:t>, and closes at PHP 39.70, above the previous close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999880" y="2395728"/>
            <a:ext cx="2035485" cy="351129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999880" y="2395728"/>
            <a:ext cx="2035485"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274200" y="2670048"/>
            <a:ext cx="1486845" cy="30540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500" b="0" i="0">
                <a:solidFill>
                  <a:srgbClr val="1A1A1A"/>
                </a:solidFill>
                <a:latin typeface="Palatino"/>
              </a:rPr>
              <a:t>Figure 7.5, form 1: a bullish key reversal bar after a downtrend.</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7.5,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ua-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10116006" y="3392424"/>
            <a:ext cx="109728" cy="1627631"/>
          </a:xfrm>
          <a:prstGeom prst="rect">
            <a:avLst/>
          </a:prstGeom>
          <a:noFill/>
          <a:ln w="44450">
            <a:solidFill>
              <a:srgbClr val="C62828"/>
            </a:solidFill>
          </a:ln>
        </p:spPr>
        <p:txBody>
          <a:bodyPr rtlCol="0" anchor="ctr"/>
          <a:lstStyle/>
          <a:p>
            <a:pPr algn="ctr"/>
          </a:p>
        </p:txBody>
      </p:sp>
      <p:sp>
        <p:nvSpPr>
          <p:cNvPr id="15" name="Oval 14"/>
          <p:cNvSpPr/>
          <p:nvPr/>
        </p:nvSpPr>
        <p:spPr>
          <a:xfrm>
            <a:off x="9971531" y="4519796"/>
            <a:ext cx="87782" cy="87782"/>
          </a:xfrm>
          <a:prstGeom prst="ellipse">
            <a:avLst/>
          </a:prstGeom>
          <a:noFill/>
          <a:ln w="44450">
            <a:solidFill>
              <a:srgbClr val="E09B00"/>
            </a:solidFill>
          </a:ln>
        </p:spPr>
        <p:txBody>
          <a:bodyPr rtlCol="0" anchor="ctr"/>
          <a:lstStyle/>
          <a:p>
            <a:pPr algn="ctr"/>
          </a:p>
        </p:txBody>
      </p:sp>
      <p:sp>
        <p:nvSpPr>
          <p:cNvPr id="16" name="Oval 15"/>
          <p:cNvSpPr/>
          <p:nvPr/>
        </p:nvSpPr>
        <p:spPr>
          <a:xfrm>
            <a:off x="10282427" y="3733412"/>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10225734"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9854379" y="4248365"/>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10247529" y="3465572"/>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UA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17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7.5. The prices are invented for teaching.</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form 2 closes near or above the previous high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"A large bar closing near or above a previous high" (Figure 7.5, p. 213). Let us put invented prices on it. The previous bar's high is PHP 39.80 </a:t>
            </a:r>
            <a:r>
              <a:rPr sz="1700" b="1" i="0">
                <a:solidFill>
                  <a:srgbClr val="E09B00"/>
                </a:solidFill>
                <a:latin typeface="Arial"/>
              </a:rPr>
              <a:t>(1)</a:t>
            </a:r>
            <a:r>
              <a:rPr sz="1700" b="0" i="0">
                <a:solidFill>
                  <a:srgbClr val="1A1A1A"/>
                </a:solidFill>
                <a:latin typeface="Arial"/>
              </a:rPr>
              <a:t>. Form 2 is a large bar with a PHP 2.10 range </a:t>
            </a:r>
            <a:r>
              <a:rPr sz="1700" b="1" i="0">
                <a:solidFill>
                  <a:srgbClr val="C62828"/>
                </a:solidFill>
                <a:latin typeface="Arial"/>
              </a:rPr>
              <a:t>(2)</a:t>
            </a:r>
            <a:r>
              <a:rPr sz="1700" b="0" i="0">
                <a:solidFill>
                  <a:srgbClr val="1A1A1A"/>
                </a:solidFill>
                <a:latin typeface="Arial"/>
              </a:rPr>
              <a:t> that closes at PHP 40.40, above that high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078168" y="2395728"/>
            <a:ext cx="1878909" cy="351129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078168" y="2395728"/>
            <a:ext cx="1878909"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52488" y="2670048"/>
            <a:ext cx="1330269" cy="30540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500" b="0" i="0">
                <a:solidFill>
                  <a:srgbClr val="1A1A1A"/>
                </a:solidFill>
                <a:latin typeface="Palatino"/>
              </a:rPr>
              <a:t>Figure 7.5, form 2: a large bar closing above the previous high.</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7.5,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ub-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10116006" y="3392424"/>
            <a:ext cx="109728" cy="1627631"/>
          </a:xfrm>
          <a:prstGeom prst="rect">
            <a:avLst/>
          </a:prstGeom>
          <a:noFill/>
          <a:ln w="44450">
            <a:solidFill>
              <a:srgbClr val="C62828"/>
            </a:solidFill>
          </a:ln>
        </p:spPr>
        <p:txBody>
          <a:bodyPr rtlCol="0" anchor="ctr"/>
          <a:lstStyle/>
          <a:p>
            <a:pPr algn="ctr"/>
          </a:p>
        </p:txBody>
      </p:sp>
      <p:sp>
        <p:nvSpPr>
          <p:cNvPr id="15" name="Oval 14"/>
          <p:cNvSpPr/>
          <p:nvPr/>
        </p:nvSpPr>
        <p:spPr>
          <a:xfrm>
            <a:off x="5518403" y="3975114"/>
            <a:ext cx="87782" cy="87782"/>
          </a:xfrm>
          <a:prstGeom prst="ellipse">
            <a:avLst/>
          </a:prstGeom>
          <a:noFill/>
          <a:ln w="44450">
            <a:solidFill>
              <a:srgbClr val="E09B00"/>
            </a:solidFill>
          </a:ln>
        </p:spPr>
        <p:txBody>
          <a:bodyPr rtlCol="0" anchor="ctr"/>
          <a:lstStyle/>
          <a:p>
            <a:pPr algn="ctr"/>
          </a:p>
        </p:txBody>
      </p:sp>
      <p:sp>
        <p:nvSpPr>
          <p:cNvPr id="16" name="Oval 15"/>
          <p:cNvSpPr/>
          <p:nvPr/>
        </p:nvSpPr>
        <p:spPr>
          <a:xfrm>
            <a:off x="10282427" y="3525752"/>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10225734"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5613004" y="395604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10231330" y="3628933"/>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UB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18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7.5. The prices are invented for teaching.</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form 3 closes above a gap</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"A bar closing above a gap formed between the current bar's open and a previous bar's high" (Figure 7.5, p. 213). Here it is with invented prices. The previous high is PHP 39.00. Form 3 opens at PHP 39.40 </a:t>
            </a:r>
            <a:r>
              <a:rPr sz="1700" b="1" i="0">
                <a:solidFill>
                  <a:srgbClr val="E09B00"/>
                </a:solidFill>
                <a:latin typeface="Arial"/>
              </a:rPr>
              <a:t>(1)</a:t>
            </a:r>
            <a:r>
              <a:rPr sz="1700" b="0" i="0">
                <a:solidFill>
                  <a:srgbClr val="1A1A1A"/>
                </a:solidFill>
                <a:latin typeface="Arial"/>
              </a:rPr>
              <a:t>, leaving a PHP 0.40 gap below its open </a:t>
            </a:r>
            <a:r>
              <a:rPr sz="1700" b="1" i="0">
                <a:solidFill>
                  <a:srgbClr val="C62828"/>
                </a:solidFill>
                <a:latin typeface="Arial"/>
              </a:rPr>
              <a:t>(2)</a:t>
            </a:r>
            <a:r>
              <a:rPr sz="1700" b="0" i="0">
                <a:solidFill>
                  <a:srgbClr val="1A1A1A"/>
                </a:solidFill>
                <a:latin typeface="Arial"/>
              </a:rPr>
              <a:t>, and closes at PHP 40.20, above the gap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078168" y="2395728"/>
            <a:ext cx="1878909" cy="351129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078168" y="2395728"/>
            <a:ext cx="1878909"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52488" y="2670048"/>
            <a:ext cx="1330269" cy="30540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500" b="0" i="0">
                <a:solidFill>
                  <a:srgbClr val="1A1A1A"/>
                </a:solidFill>
                <a:latin typeface="Palatino"/>
              </a:rPr>
              <a:t>Figure 7.5, form 3: a bar closing above a gap.</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7.5,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uc-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9971531" y="4031284"/>
            <a:ext cx="87782" cy="87782"/>
          </a:xfrm>
          <a:prstGeom prst="ellipse">
            <a:avLst/>
          </a:prstGeom>
          <a:noFill/>
          <a:ln w="44450">
            <a:solidFill>
              <a:srgbClr val="E09B00"/>
            </a:solidFill>
          </a:ln>
        </p:spPr>
        <p:txBody>
          <a:bodyPr rtlCol="0" anchor="ctr"/>
          <a:lstStyle/>
          <a:p>
            <a:pPr algn="ctr"/>
          </a:p>
        </p:txBody>
      </p:sp>
      <p:sp>
        <p:nvSpPr>
          <p:cNvPr id="15" name="Rectangle 14"/>
          <p:cNvSpPr/>
          <p:nvPr/>
        </p:nvSpPr>
        <p:spPr>
          <a:xfrm>
            <a:off x="7784287" y="4075176"/>
            <a:ext cx="164592" cy="262127"/>
          </a:xfrm>
          <a:prstGeom prst="rect">
            <a:avLst/>
          </a:prstGeom>
          <a:noFill/>
          <a:ln w="44450">
            <a:solidFill>
              <a:srgbClr val="C62828"/>
            </a:solidFill>
          </a:ln>
        </p:spPr>
        <p:txBody>
          <a:bodyPr rtlCol="0" anchor="ctr"/>
          <a:lstStyle/>
          <a:p>
            <a:pPr algn="ctr"/>
          </a:p>
        </p:txBody>
      </p:sp>
      <p:sp>
        <p:nvSpPr>
          <p:cNvPr id="16" name="Oval 15"/>
          <p:cNvSpPr/>
          <p:nvPr/>
        </p:nvSpPr>
        <p:spPr>
          <a:xfrm>
            <a:off x="10282427" y="3507028"/>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9854379" y="375985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7948879"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31330" y="361020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UC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19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7.5; Chapter 3, "Gap". The prices are invented for teaching.</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form 4 is the inside bar after a large down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"Narrow range bar closing within a larger previous bar's range," again an inside bar (Figure 7.5, p. 213). Say the previous bar ranges PHP 3.00 </a:t>
            </a:r>
            <a:r>
              <a:rPr sz="1700" b="1" i="0">
                <a:solidFill>
                  <a:srgbClr val="E09B00"/>
                </a:solidFill>
                <a:latin typeface="Arial"/>
              </a:rPr>
              <a:t>(1)</a:t>
            </a:r>
            <a:r>
              <a:rPr sz="1700" b="0" i="0">
                <a:solidFill>
                  <a:srgbClr val="1A1A1A"/>
                </a:solidFill>
                <a:latin typeface="Arial"/>
              </a:rPr>
              <a:t>; the inside bar ranges only PHP 1.00 </a:t>
            </a:r>
            <a:r>
              <a:rPr sz="1700" b="1" i="0">
                <a:solidFill>
                  <a:srgbClr val="C62828"/>
                </a:solidFill>
                <a:latin typeface="Arial"/>
              </a:rPr>
              <a:t>(2)</a:t>
            </a:r>
            <a:r>
              <a:rPr sz="1700" b="0" i="0">
                <a:solidFill>
                  <a:srgbClr val="1A1A1A"/>
                </a:solidFill>
                <a:latin typeface="Arial"/>
              </a:rPr>
              <a:t>, on 0.9 million shares against 3.0 million </a:t>
            </a:r>
            <a:r>
              <a:rPr sz="1700" b="1" i="0">
                <a:solidFill>
                  <a:srgbClr val="1F5FAD"/>
                </a:solidFill>
                <a:latin typeface="Arial"/>
              </a:rPr>
              <a:t>(3)</a:t>
            </a:r>
            <a:r>
              <a:rPr sz="1700" b="0" i="0">
                <a:solidFill>
                  <a:srgbClr val="1A1A1A"/>
                </a:solidFill>
                <a:latin typeface="Arial"/>
              </a:rPr>
              <a:t>. Lim says such narrow bars should generally form on low volume, showing uncertainty in a downtrend (p. 212).</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039024" y="2395728"/>
            <a:ext cx="1957197" cy="351129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039024" y="2395728"/>
            <a:ext cx="1957197"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13344" y="2670048"/>
            <a:ext cx="1408557" cy="30540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500" b="0" i="0">
                <a:solidFill>
                  <a:srgbClr val="1A1A1A"/>
                </a:solidFill>
                <a:latin typeface="Palatino"/>
              </a:rPr>
              <a:t>Figure 7.5, form 4: a narrow inside bar after a large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7.5,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ud-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4647894" y="3392424"/>
            <a:ext cx="109728" cy="1124712"/>
          </a:xfrm>
          <a:prstGeom prst="rect">
            <a:avLst/>
          </a:prstGeom>
          <a:noFill/>
          <a:ln w="44450">
            <a:solidFill>
              <a:srgbClr val="E09B00"/>
            </a:solidFill>
          </a:ln>
        </p:spPr>
        <p:txBody>
          <a:bodyPr rtlCol="0" anchor="ctr"/>
          <a:lstStyle/>
          <a:p>
            <a:pPr algn="ctr"/>
          </a:p>
        </p:txBody>
      </p:sp>
      <p:sp>
        <p:nvSpPr>
          <p:cNvPr id="15" name="Rectangle 14"/>
          <p:cNvSpPr/>
          <p:nvPr/>
        </p:nvSpPr>
        <p:spPr>
          <a:xfrm>
            <a:off x="10116006" y="4034332"/>
            <a:ext cx="109728" cy="411479"/>
          </a:xfrm>
          <a:prstGeom prst="rect">
            <a:avLst/>
          </a:prstGeom>
          <a:noFill/>
          <a:ln w="44450">
            <a:solidFill>
              <a:srgbClr val="C62828"/>
            </a:solidFill>
          </a:ln>
        </p:spPr>
        <p:txBody>
          <a:bodyPr rtlCol="0" anchor="ctr"/>
          <a:lstStyle/>
          <a:p>
            <a:pPr algn="ctr"/>
          </a:p>
        </p:txBody>
      </p:sp>
      <p:sp>
        <p:nvSpPr>
          <p:cNvPr id="16" name="Rectangle 15"/>
          <p:cNvSpPr/>
          <p:nvPr/>
        </p:nvSpPr>
        <p:spPr>
          <a:xfrm>
            <a:off x="10015422" y="5276088"/>
            <a:ext cx="310896" cy="109728"/>
          </a:xfrm>
          <a:prstGeom prst="rect">
            <a:avLst/>
          </a:prstGeom>
          <a:noFill/>
          <a:ln w="44450">
            <a:solidFill>
              <a:srgbClr val="1F5FAD"/>
            </a:solidFill>
          </a:ln>
        </p:spPr>
        <p:txBody>
          <a:bodyPr rtlCol="0" anchor="ctr"/>
          <a:lstStyle/>
          <a:p>
            <a:pPr algn="ctr"/>
          </a:p>
        </p:txBody>
      </p:sp>
      <p:sp>
        <p:nvSpPr>
          <p:cNvPr id="17" name="Oval 16"/>
          <p:cNvSpPr/>
          <p:nvPr/>
        </p:nvSpPr>
        <p:spPr>
          <a:xfrm>
            <a:off x="4757623" y="382676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224421" y="418520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436047" y="520293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UD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20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212 to 213, Figure 7.5. Prices and volume are invented for teaching.</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form 5 is one overextended bar that closes near its high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"An overextended bar closes at or near its high" (Figure 7.5, p. 213). Let us put invented prices on it, beside an ordinary PHP 1.00 bar for comparison. Form 5 stretches down to PHP 36.40 </a:t>
            </a:r>
            <a:r>
              <a:rPr sz="1700" b="1" i="0">
                <a:solidFill>
                  <a:srgbClr val="E09B00"/>
                </a:solidFill>
                <a:latin typeface="Arial"/>
              </a:rPr>
              <a:t>(1)</a:t>
            </a:r>
            <a:r>
              <a:rPr sz="1700" b="0" i="0">
                <a:solidFill>
                  <a:srgbClr val="1A1A1A"/>
                </a:solidFill>
                <a:latin typeface="Arial"/>
              </a:rPr>
              <a:t> and closes at PHP 39.00, only PHP 0.20 below its high of PHP 39.20 </a:t>
            </a:r>
            <a:r>
              <a:rPr sz="1700" b="1" i="0">
                <a:solidFill>
                  <a:srgbClr val="C62828"/>
                </a:solidFill>
                <a:latin typeface="Arial"/>
              </a:rPr>
              <a:t>(2)</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078168" y="2395728"/>
            <a:ext cx="1878909" cy="351129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078168" y="2395728"/>
            <a:ext cx="1878909"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52488" y="2670048"/>
            <a:ext cx="1330269" cy="30540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500" b="0" i="0">
                <a:solidFill>
                  <a:srgbClr val="1A1A1A"/>
                </a:solidFill>
                <a:latin typeface="Palatino"/>
              </a:rPr>
              <a:t>Figure 7.5, form 5: one overextended bar closing near its high.</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7.5,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ue-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10126979" y="4948732"/>
            <a:ext cx="87782" cy="87782"/>
          </a:xfrm>
          <a:prstGeom prst="ellipse">
            <a:avLst/>
          </a:prstGeom>
          <a:noFill/>
          <a:ln w="44450">
            <a:solidFill>
              <a:srgbClr val="E09B00"/>
            </a:solidFill>
          </a:ln>
        </p:spPr>
        <p:txBody>
          <a:bodyPr rtlCol="0" anchor="ctr"/>
          <a:lstStyle/>
          <a:p>
            <a:pPr algn="ctr"/>
          </a:p>
        </p:txBody>
      </p:sp>
      <p:sp>
        <p:nvSpPr>
          <p:cNvPr id="15" name="Oval 14"/>
          <p:cNvSpPr/>
          <p:nvPr/>
        </p:nvSpPr>
        <p:spPr>
          <a:xfrm>
            <a:off x="10282427" y="3872628"/>
            <a:ext cx="87782" cy="87782"/>
          </a:xfrm>
          <a:prstGeom prst="ellipse">
            <a:avLst/>
          </a:prstGeom>
          <a:noFill/>
          <a:ln w="44450">
            <a:solidFill>
              <a:srgbClr val="C62828"/>
            </a:solidFill>
          </a:ln>
        </p:spPr>
        <p:txBody>
          <a:bodyPr rtlCol="0" anchor="ctr"/>
          <a:lstStyle/>
          <a:p>
            <a:pPr algn="ctr"/>
          </a:p>
        </p:txBody>
      </p:sp>
      <p:sp>
        <p:nvSpPr>
          <p:cNvPr id="16" name="Oval 15"/>
          <p:cNvSpPr/>
          <p:nvPr/>
        </p:nvSpPr>
        <p:spPr>
          <a:xfrm>
            <a:off x="10230160" y="483158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10231330" y="397580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UE - FIN1209 teaching chart, drawn for this course. Illustrative data, not a real instrument.</a:t>
            </a:r>
          </a:p>
        </p:txBody>
      </p:sp>
      <p:sp>
        <p:nvSpPr>
          <p:cNvPr id="19" name="TextBox 18"/>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21 of 79</a:t>
            </a:r>
          </a:p>
        </p:txBody>
      </p:sp>
      <p:sp>
        <p:nvSpPr>
          <p:cNvPr id="20" name="TextBox 1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7.5. The prices are invented for teaching.</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form 6 is the outside bar that closes near its high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"Bar engulfing a previous narrow range bar and closing near or at its high," again called an outside bar (Figure 7.5, p. 213). Here it is with invented prices. The previous bar is narrow, from PHP 38.60 to PHP 39.20 </a:t>
            </a:r>
            <a:r>
              <a:rPr sz="1700" b="1" i="0">
                <a:solidFill>
                  <a:srgbClr val="E09B00"/>
                </a:solidFill>
                <a:latin typeface="Arial"/>
              </a:rPr>
              <a:t>(1)</a:t>
            </a:r>
            <a:r>
              <a:rPr sz="1700" b="0" i="0">
                <a:solidFill>
                  <a:srgbClr val="1A1A1A"/>
                </a:solidFill>
                <a:latin typeface="Arial"/>
              </a:rPr>
              <a:t>. The outside bar runs from PHP 38.10 to PHP 40.10 </a:t>
            </a:r>
            <a:r>
              <a:rPr sz="1700" b="1" i="0">
                <a:solidFill>
                  <a:srgbClr val="C62828"/>
                </a:solidFill>
                <a:latin typeface="Arial"/>
              </a:rPr>
              <a:t>(2)</a:t>
            </a:r>
            <a:r>
              <a:rPr sz="1700" b="0" i="0">
                <a:solidFill>
                  <a:srgbClr val="1A1A1A"/>
                </a:solidFill>
                <a:latin typeface="Arial"/>
              </a:rPr>
              <a:t>, beyond both ends, and closes at PHP 40.00, near its high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078168" y="2395728"/>
            <a:ext cx="1878909" cy="351129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078168" y="2395728"/>
            <a:ext cx="1878909"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52488" y="2670048"/>
            <a:ext cx="1330269" cy="30540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500" b="0" i="0">
                <a:solidFill>
                  <a:srgbClr val="1A1A1A"/>
                </a:solidFill>
                <a:latin typeface="Palatino"/>
              </a:rPr>
              <a:t>Figure 7.5, form 6: an outside bar engulfing a narrow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7.5,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uf-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4647894" y="4100169"/>
            <a:ext cx="109728" cy="526694"/>
          </a:xfrm>
          <a:prstGeom prst="rect">
            <a:avLst/>
          </a:prstGeom>
          <a:noFill/>
          <a:ln w="44450">
            <a:solidFill>
              <a:srgbClr val="E09B00"/>
            </a:solidFill>
          </a:ln>
        </p:spPr>
        <p:txBody>
          <a:bodyPr rtlCol="0" anchor="ctr"/>
          <a:lstStyle/>
          <a:p>
            <a:pPr algn="ctr"/>
          </a:p>
        </p:txBody>
      </p:sp>
      <p:sp>
        <p:nvSpPr>
          <p:cNvPr id="15" name="Rectangle 14"/>
          <p:cNvSpPr/>
          <p:nvPr/>
        </p:nvSpPr>
        <p:spPr>
          <a:xfrm>
            <a:off x="10116006" y="3392424"/>
            <a:ext cx="109728" cy="1627631"/>
          </a:xfrm>
          <a:prstGeom prst="rect">
            <a:avLst/>
          </a:prstGeom>
          <a:noFill/>
          <a:ln w="44450">
            <a:solidFill>
              <a:srgbClr val="C62828"/>
            </a:solidFill>
          </a:ln>
        </p:spPr>
        <p:txBody>
          <a:bodyPr rtlCol="0" anchor="ctr"/>
          <a:lstStyle/>
          <a:p>
            <a:pPr algn="ctr"/>
          </a:p>
        </p:txBody>
      </p:sp>
      <p:sp>
        <p:nvSpPr>
          <p:cNvPr id="16" name="Oval 15"/>
          <p:cNvSpPr/>
          <p:nvPr/>
        </p:nvSpPr>
        <p:spPr>
          <a:xfrm>
            <a:off x="10282427" y="3454603"/>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4764432" y="414109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225734"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31330" y="355778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UF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22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7.5. The prices are invented for teaching.</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form 7 is two large bars, the second closing high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"1st large bar closing at its low followed by a large bar closing at or near its high" (Figure 7.5, p. 213). Let us put invented prices on it. The first bar closes at PHP 38.40, right at its low </a:t>
            </a:r>
            <a:r>
              <a:rPr sz="1700" b="1" i="0">
                <a:solidFill>
                  <a:srgbClr val="E09B00"/>
                </a:solidFill>
                <a:latin typeface="Arial"/>
              </a:rPr>
              <a:t>(1)</a:t>
            </a:r>
            <a:r>
              <a:rPr sz="1700" b="0" i="0">
                <a:solidFill>
                  <a:srgbClr val="1A1A1A"/>
                </a:solidFill>
                <a:latin typeface="Arial"/>
              </a:rPr>
              <a:t>. The second bar, just as large, closes at PHP 40.60, only PHP 0.20 below its high </a:t>
            </a:r>
            <a:r>
              <a:rPr sz="1700" b="1" i="0">
                <a:solidFill>
                  <a:srgbClr val="C62828"/>
                </a:solidFill>
                <a:latin typeface="Arial"/>
              </a:rPr>
              <a:t>(2)</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039024" y="2395728"/>
            <a:ext cx="1957197" cy="351129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039024" y="2395728"/>
            <a:ext cx="1957197"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13344" y="2670048"/>
            <a:ext cx="1408557" cy="30540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500" b="0" i="0">
                <a:solidFill>
                  <a:srgbClr val="1A1A1A"/>
                </a:solidFill>
                <a:latin typeface="Palatino"/>
              </a:rPr>
              <a:t>Figure 7.5, form 7: two large bars closing at opposite ends.</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7.5,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ug-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4814315" y="4836392"/>
            <a:ext cx="87782" cy="87782"/>
          </a:xfrm>
          <a:prstGeom prst="ellipse">
            <a:avLst/>
          </a:prstGeom>
          <a:noFill/>
          <a:ln w="44450">
            <a:solidFill>
              <a:srgbClr val="E09B00"/>
            </a:solidFill>
          </a:ln>
        </p:spPr>
        <p:txBody>
          <a:bodyPr rtlCol="0" anchor="ctr"/>
          <a:lstStyle/>
          <a:p>
            <a:pPr algn="ctr"/>
          </a:p>
        </p:txBody>
      </p:sp>
      <p:sp>
        <p:nvSpPr>
          <p:cNvPr id="15" name="Oval 14"/>
          <p:cNvSpPr/>
          <p:nvPr/>
        </p:nvSpPr>
        <p:spPr>
          <a:xfrm>
            <a:off x="10282427" y="3600645"/>
            <a:ext cx="87782" cy="87782"/>
          </a:xfrm>
          <a:prstGeom prst="ellipse">
            <a:avLst/>
          </a:prstGeom>
          <a:noFill/>
          <a:ln w="44450">
            <a:solidFill>
              <a:srgbClr val="C62828"/>
            </a:solidFill>
          </a:ln>
        </p:spPr>
        <p:txBody>
          <a:bodyPr rtlCol="0" anchor="ctr"/>
          <a:lstStyle/>
          <a:p>
            <a:pPr algn="ctr"/>
          </a:p>
        </p:txBody>
      </p:sp>
      <p:sp>
        <p:nvSpPr>
          <p:cNvPr id="16" name="Oval 15"/>
          <p:cNvSpPr/>
          <p:nvPr/>
        </p:nvSpPr>
        <p:spPr>
          <a:xfrm>
            <a:off x="4779417" y="456855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10231330" y="3703826"/>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UG - FIN1209 teaching chart, drawn for this course. Illustrative data, not a real instrument.</a:t>
            </a:r>
          </a:p>
        </p:txBody>
      </p:sp>
      <p:sp>
        <p:nvSpPr>
          <p:cNvPr id="19" name="TextBox 18"/>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23 of 79</a:t>
            </a:r>
          </a:p>
        </p:txBody>
      </p:sp>
      <p:sp>
        <p:nvSpPr>
          <p:cNvPr id="20" name="TextBox 1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7.5. The prices are invented for teaching.</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bullish last bar we can trust more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In most cases, Lim says, a bullish two-bar pattern is potentially more reliable if the last bar is overextended and closes at or near its high on high volume (p. 212). Here it is with invented prices. The last bar stretches PHP 4.00 against PHP 1.00 </a:t>
            </a:r>
            <a:r>
              <a:rPr sz="1700" b="1" i="0">
                <a:solidFill>
                  <a:srgbClr val="E09B00"/>
                </a:solidFill>
                <a:latin typeface="Arial"/>
              </a:rPr>
              <a:t>(1)</a:t>
            </a:r>
            <a:r>
              <a:rPr sz="1700" b="0" i="0">
                <a:solidFill>
                  <a:srgbClr val="1A1A1A"/>
                </a:solidFill>
                <a:latin typeface="Arial"/>
              </a:rPr>
              <a:t>, closes at PHP 42.20, near its PHP 42.40 high </a:t>
            </a:r>
            <a:r>
              <a:rPr sz="1700" b="1" i="0">
                <a:solidFill>
                  <a:srgbClr val="C62828"/>
                </a:solidFill>
                <a:latin typeface="Arial"/>
              </a:rPr>
              <a:t>(2)</a:t>
            </a:r>
            <a:r>
              <a:rPr sz="1700" b="0" i="0">
                <a:solidFill>
                  <a:srgbClr val="1A1A1A"/>
                </a:solidFill>
                <a:latin typeface="Arial"/>
              </a:rPr>
              <a:t>, on 4.5 million shares against 1.5 million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rm-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9869119" y="3392424"/>
            <a:ext cx="109728" cy="1124712"/>
          </a:xfrm>
          <a:prstGeom prst="rect">
            <a:avLst/>
          </a:prstGeom>
          <a:noFill/>
          <a:ln w="44450">
            <a:solidFill>
              <a:srgbClr val="E09B00"/>
            </a:solidFill>
          </a:ln>
        </p:spPr>
        <p:txBody>
          <a:bodyPr rtlCol="0" anchor="ctr"/>
          <a:lstStyle/>
          <a:p>
            <a:pPr algn="ctr"/>
          </a:p>
        </p:txBody>
      </p:sp>
      <p:sp>
        <p:nvSpPr>
          <p:cNvPr id="10" name="Oval 9"/>
          <p:cNvSpPr/>
          <p:nvPr/>
        </p:nvSpPr>
        <p:spPr>
          <a:xfrm>
            <a:off x="10035539" y="3429457"/>
            <a:ext cx="87782" cy="87782"/>
          </a:xfrm>
          <a:prstGeom prst="ellipse">
            <a:avLst/>
          </a:prstGeom>
          <a:noFill/>
          <a:ln w="44450">
            <a:solidFill>
              <a:srgbClr val="C62828"/>
            </a:solidFill>
          </a:ln>
        </p:spPr>
        <p:txBody>
          <a:bodyPr rtlCol="0" anchor="ctr"/>
          <a:lstStyle/>
          <a:p>
            <a:pPr algn="ctr"/>
          </a:p>
        </p:txBody>
      </p:sp>
      <p:sp>
        <p:nvSpPr>
          <p:cNvPr id="11" name="Rectangle 10"/>
          <p:cNvSpPr/>
          <p:nvPr/>
        </p:nvSpPr>
        <p:spPr>
          <a:xfrm>
            <a:off x="9768535" y="5148072"/>
            <a:ext cx="310895" cy="237744"/>
          </a:xfrm>
          <a:prstGeom prst="rect">
            <a:avLst/>
          </a:prstGeom>
          <a:noFill/>
          <a:ln w="44450">
            <a:solidFill>
              <a:srgbClr val="1F5FAD"/>
            </a:solidFill>
          </a:ln>
        </p:spPr>
        <p:txBody>
          <a:bodyPr rtlCol="0" anchor="ctr"/>
          <a:lstStyle/>
          <a:p>
            <a:pPr algn="ctr"/>
          </a:p>
        </p:txBody>
      </p:sp>
      <p:sp>
        <p:nvSpPr>
          <p:cNvPr id="12" name="Oval 11"/>
          <p:cNvSpPr/>
          <p:nvPr/>
        </p:nvSpPr>
        <p:spPr>
          <a:xfrm>
            <a:off x="9978847" y="382676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84442" y="353263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097162" y="515167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RM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24 of 79</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Prices and volume are invented for teaching.</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9 OF 30</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Bullish single and double bar patterns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 downtrend, which close does Lim's general rule treat as bullish?</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A close above the previous bar's close or high</a:t>
            </a:r>
          </a:p>
          <a:p>
            <a:pPr algn="l">
              <a:lnSpc>
                <a:spcPct val="112000"/>
              </a:lnSpc>
              <a:spcBef>
                <a:spcPts val="0"/>
              </a:spcBef>
              <a:spcAft>
                <a:spcPts val="900"/>
              </a:spcAft>
            </a:pPr>
            <a:r>
              <a:rPr sz="1700" b="0" i="0">
                <a:solidFill>
                  <a:srgbClr val="FFFFFF"/>
                </a:solidFill>
                <a:latin typeface="Arial"/>
              </a:rPr>
              <a:t>B.  A close below the previous bar's low</a:t>
            </a:r>
          </a:p>
          <a:p>
            <a:pPr algn="l">
              <a:lnSpc>
                <a:spcPct val="112000"/>
              </a:lnSpc>
              <a:spcBef>
                <a:spcPts val="0"/>
              </a:spcBef>
              <a:spcAft>
                <a:spcPts val="900"/>
              </a:spcAft>
            </a:pPr>
            <a:r>
              <a:rPr sz="1700" b="0" i="0">
                <a:solidFill>
                  <a:srgbClr val="FFFFFF"/>
                </a:solidFill>
                <a:latin typeface="Arial"/>
              </a:rPr>
              <a:t>C.  A close inside the previous range</a:t>
            </a:r>
          </a:p>
          <a:p>
            <a:pPr algn="l">
              <a:lnSpc>
                <a:spcPct val="112000"/>
              </a:lnSpc>
              <a:spcBef>
                <a:spcPts val="0"/>
              </a:spcBef>
              <a:spcAft>
                <a:spcPts val="900"/>
              </a:spcAft>
            </a:pPr>
            <a:r>
              <a:rPr sz="1700" b="0" i="0">
                <a:solidFill>
                  <a:srgbClr val="FFFFFF"/>
                </a:solidFill>
                <a:latin typeface="Arial"/>
              </a:rPr>
              <a:t>D.  A close at the open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does Lim call a bar that engulfs a previous narrow range bar and closes near its high?</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An inside bar</a:t>
            </a:r>
          </a:p>
          <a:p>
            <a:pPr algn="l">
              <a:lnSpc>
                <a:spcPct val="112000"/>
              </a:lnSpc>
              <a:spcBef>
                <a:spcPts val="0"/>
              </a:spcBef>
              <a:spcAft>
                <a:spcPts val="900"/>
              </a:spcAft>
            </a:pPr>
            <a:r>
              <a:rPr sz="1700" b="0" i="0">
                <a:solidFill>
                  <a:srgbClr val="FFFFFF"/>
                </a:solidFill>
                <a:latin typeface="Arial"/>
              </a:rPr>
              <a:t>B.  A key reversal bar</a:t>
            </a:r>
          </a:p>
          <a:p>
            <a:pPr algn="l">
              <a:lnSpc>
                <a:spcPct val="112000"/>
              </a:lnSpc>
              <a:spcBef>
                <a:spcPts val="0"/>
              </a:spcBef>
              <a:spcAft>
                <a:spcPts val="900"/>
              </a:spcAft>
            </a:pPr>
            <a:r>
              <a:rPr sz="1700" b="0" i="0">
                <a:solidFill>
                  <a:srgbClr val="FFFFFF"/>
                </a:solidFill>
                <a:latin typeface="Arial"/>
              </a:rPr>
              <a:t>C.  An outside bar</a:t>
            </a:r>
          </a:p>
          <a:p>
            <a:pPr algn="l">
              <a:lnSpc>
                <a:spcPct val="112000"/>
              </a:lnSpc>
              <a:spcBef>
                <a:spcPts val="0"/>
              </a:spcBef>
              <a:spcAft>
                <a:spcPts val="900"/>
              </a:spcAft>
            </a:pPr>
            <a:r>
              <a:rPr sz="1700" b="0" i="0">
                <a:solidFill>
                  <a:srgbClr val="FFFFFF"/>
                </a:solidFill>
                <a:latin typeface="Arial"/>
              </a:rPr>
              <a:t>D.  An overextended bar</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9</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Bullish single and double bar patterns</a:t>
            </a:r>
          </a:p>
        </p:txBody>
      </p:sp>
      <p:sp>
        <p:nvSpPr>
          <p:cNvPr id="6" name="Rectangle 5"/>
          <p:cNvSpPr/>
          <p:nvPr/>
        </p:nvSpPr>
        <p:spPr>
          <a:xfrm>
            <a:off x="777240" y="1207008"/>
            <a:ext cx="10637215" cy="187642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76425"/>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In a downtrend, which close does Lim's general rule treat as bullish?</a:t>
            </a:r>
          </a:p>
        </p:txBody>
      </p:sp>
      <p:sp>
        <p:nvSpPr>
          <p:cNvPr id="9" name="TextBox 8"/>
          <p:cNvSpPr txBox="1"/>
          <p:nvPr/>
        </p:nvSpPr>
        <p:spPr>
          <a:xfrm>
            <a:off x="1143000" y="1949069"/>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A close above the previous bar's close or high</a:t>
            </a:r>
          </a:p>
          <a:p>
            <a:pPr algn="l">
              <a:lnSpc>
                <a:spcPct val="115000"/>
              </a:lnSpc>
              <a:spcBef>
                <a:spcPts val="700"/>
              </a:spcBef>
              <a:spcAft>
                <a:spcPts val="0"/>
              </a:spcAft>
            </a:pPr>
            <a:r>
              <a:rPr sz="1700" b="0" i="0">
                <a:solidFill>
                  <a:srgbClr val="1A1A1A"/>
                </a:solidFill>
                <a:latin typeface="Arial"/>
              </a:rPr>
              <a:t>Lim's rule: a close above a previous bar's close or high is considered bullish, especially after a large or wide-ranging bar (p. 212).</a:t>
            </a:r>
          </a:p>
        </p:txBody>
      </p:sp>
      <p:sp>
        <p:nvSpPr>
          <p:cNvPr id="10" name="Rectangle 9"/>
          <p:cNvSpPr/>
          <p:nvPr/>
        </p:nvSpPr>
        <p:spPr>
          <a:xfrm>
            <a:off x="777240" y="3330321"/>
            <a:ext cx="10637215" cy="1876424"/>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30321"/>
            <a:ext cx="91440" cy="1876424"/>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68065"/>
            <a:ext cx="9905695"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What does Lim call a bar that engulfs a previous narrow range bar and closes near its high?</a:t>
            </a:r>
          </a:p>
        </p:txBody>
      </p:sp>
      <p:sp>
        <p:nvSpPr>
          <p:cNvPr id="13" name="TextBox 12"/>
          <p:cNvSpPr txBox="1"/>
          <p:nvPr/>
        </p:nvSpPr>
        <p:spPr>
          <a:xfrm>
            <a:off x="1143000" y="4320667"/>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C.  An outside bar</a:t>
            </a:r>
          </a:p>
          <a:p>
            <a:pPr algn="l">
              <a:lnSpc>
                <a:spcPct val="115000"/>
              </a:lnSpc>
              <a:spcBef>
                <a:spcPts val="700"/>
              </a:spcBef>
              <a:spcAft>
                <a:spcPts val="0"/>
              </a:spcAft>
            </a:pPr>
            <a:r>
              <a:rPr sz="1700" b="0" i="0">
                <a:solidFill>
                  <a:srgbClr val="1A1A1A"/>
                </a:solidFill>
                <a:latin typeface="Arial"/>
              </a:rPr>
              <a:t>That is bullish form 6, which Lim's label calls an outside bar (p. 213).</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9</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Three-bar patterns add a middle bar, and sometimes gaps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25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 draws six basic triple bar bearish reversal patterns in an uptrend (p. 213). Each has a first bar, a middle bar and a last bar.</a:t>
            </a:r>
          </a:p>
          <a:p>
            <a:pPr algn="l">
              <a:lnSpc>
                <a:spcPct val="118000"/>
              </a:lnSpc>
              <a:spcBef>
                <a:spcPts val="0"/>
              </a:spcBef>
              <a:spcAft>
                <a:spcPts val="1300"/>
              </a:spcAft>
            </a:pPr>
            <a:r>
              <a:rPr sz="2100" b="0" i="0">
                <a:solidFill>
                  <a:srgbClr val="1A1A1A"/>
                </a:solidFill>
                <a:latin typeface="Arial"/>
              </a:rPr>
              <a:t>His first rule is about gaps: the larger the gaps, the more bearish the pattern once it is complete (p. 213).</a:t>
            </a:r>
          </a:p>
          <a:p>
            <a:pPr algn="l">
              <a:lnSpc>
                <a:spcPct val="118000"/>
              </a:lnSpc>
              <a:spcBef>
                <a:spcPts val="0"/>
              </a:spcBef>
              <a:spcAft>
                <a:spcPts val="1300"/>
              </a:spcAft>
            </a:pPr>
            <a:r>
              <a:rPr sz="2100" b="0" i="0">
                <a:solidFill>
                  <a:srgbClr val="1A1A1A"/>
                </a:solidFill>
                <a:latin typeface="Arial"/>
              </a:rPr>
              <a:t>Let us put invented prices on it. If the first bar's high is PHP 50.00 and the middle bar's low is PHP 50.40, the gap is PHP 0.40. A middle bar whose low is PHP 51.00 would leave a PHP 1.00 gap, and Lim would read that pattern as more bearish.</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Chapter 3, "Gap". The prices are invented for teaching.</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outer bars should be wide and the middle bar quiet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26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larger the range of the first and third bars, the more reliable the reversal pattern, Lim says (p. 213).</a:t>
            </a:r>
          </a:p>
          <a:p>
            <a:pPr algn="l">
              <a:lnSpc>
                <a:spcPct val="118000"/>
              </a:lnSpc>
              <a:spcBef>
                <a:spcPts val="0"/>
              </a:spcBef>
              <a:spcAft>
                <a:spcPts val="1300"/>
              </a:spcAft>
            </a:pPr>
            <a:r>
              <a:rPr sz="2100" b="0" i="0">
                <a:solidFill>
                  <a:srgbClr val="1A1A1A"/>
                </a:solidFill>
                <a:latin typeface="Arial"/>
              </a:rPr>
              <a:t>For most triple patterns the middle bar usually trades on low volume. Pattern 1 is possibly the exception: there larger middle volume is also considered more bearish, because the buyers failed to keep the close near or above the middle of the bar (p. 213).</a:t>
            </a:r>
          </a:p>
          <a:p>
            <a:pPr algn="l">
              <a:lnSpc>
                <a:spcPct val="118000"/>
              </a:lnSpc>
              <a:spcBef>
                <a:spcPts val="0"/>
              </a:spcBef>
              <a:spcAft>
                <a:spcPts val="1300"/>
              </a:spcAft>
            </a:pPr>
            <a:r>
              <a:rPr sz="2100" b="0" i="0">
                <a:solidFill>
                  <a:srgbClr val="1A1A1A"/>
                </a:solidFill>
                <a:latin typeface="Arial"/>
              </a:rPr>
              <a:t>As before, the pattern is generally more reliable if the last bar is overextended and closes at or near its low on high volume (pp. 213 to 214).</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213 to 214.</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triple pattern that meets those rules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Let us put invented prices on it. Bar 1 spans PHP 3.00 </a:t>
            </a:r>
            <a:r>
              <a:rPr sz="1700" b="1" i="0">
                <a:solidFill>
                  <a:srgbClr val="E09B00"/>
                </a:solidFill>
                <a:latin typeface="Arial"/>
              </a:rPr>
              <a:t>(1)</a:t>
            </a:r>
            <a:r>
              <a:rPr sz="1700" b="0" i="0">
                <a:solidFill>
                  <a:srgbClr val="1A1A1A"/>
                </a:solidFill>
                <a:latin typeface="Arial"/>
              </a:rPr>
              <a:t>; the middle bar spans only PHP 0.80 </a:t>
            </a:r>
            <a:r>
              <a:rPr sz="1700" b="1" i="0">
                <a:solidFill>
                  <a:srgbClr val="C62828"/>
                </a:solidFill>
                <a:latin typeface="Arial"/>
              </a:rPr>
              <a:t>(2)</a:t>
            </a:r>
            <a:r>
              <a:rPr sz="1700" b="0" i="0">
                <a:solidFill>
                  <a:srgbClr val="1A1A1A"/>
                </a:solidFill>
                <a:latin typeface="Arial"/>
              </a:rPr>
              <a:t> on 0.7 million shares </a:t>
            </a:r>
            <a:r>
              <a:rPr sz="1700" b="1" i="0">
                <a:solidFill>
                  <a:srgbClr val="1F5FAD"/>
                </a:solidFill>
                <a:latin typeface="Arial"/>
              </a:rPr>
              <a:t>(3)</a:t>
            </a:r>
            <a:r>
              <a:rPr sz="1700" b="0" i="0">
                <a:solidFill>
                  <a:srgbClr val="1A1A1A"/>
                </a:solidFill>
                <a:latin typeface="Arial"/>
              </a:rPr>
              <a:t>; and bar 3 spans PHP 3.40 </a:t>
            </a:r>
            <a:r>
              <a:rPr sz="1700" b="1" i="0">
                <a:solidFill>
                  <a:srgbClr val="7B3FA0"/>
                </a:solidFill>
                <a:latin typeface="Arial"/>
              </a:rPr>
              <a:t>(4)</a:t>
            </a:r>
            <a:r>
              <a:rPr sz="1700" b="0" i="0">
                <a:solidFill>
                  <a:srgbClr val="1A1A1A"/>
                </a:solidFill>
                <a:latin typeface="Arial"/>
              </a:rPr>
              <a:t>. Bar 3 also closes at PHP 47.20, near its PHP 47.00 low, on 4.2 million shares: the overextended, near-low, high-volume last bar Lim prefers.</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tr-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2761488" y="3392424"/>
            <a:ext cx="109727" cy="857250"/>
          </a:xfrm>
          <a:prstGeom prst="rect">
            <a:avLst/>
          </a:prstGeom>
          <a:noFill/>
          <a:ln w="44450">
            <a:solidFill>
              <a:srgbClr val="E09B00"/>
            </a:solidFill>
          </a:ln>
        </p:spPr>
        <p:txBody>
          <a:bodyPr rtlCol="0" anchor="ctr"/>
          <a:lstStyle/>
          <a:p>
            <a:pPr algn="ctr"/>
          </a:p>
        </p:txBody>
      </p:sp>
      <p:sp>
        <p:nvSpPr>
          <p:cNvPr id="10" name="Rectangle 9"/>
          <p:cNvSpPr/>
          <p:nvPr/>
        </p:nvSpPr>
        <p:spPr>
          <a:xfrm>
            <a:off x="6315303" y="3419170"/>
            <a:ext cx="109727" cy="268833"/>
          </a:xfrm>
          <a:prstGeom prst="rect">
            <a:avLst/>
          </a:prstGeom>
          <a:noFill/>
          <a:ln w="44450">
            <a:solidFill>
              <a:srgbClr val="C62828"/>
            </a:solidFill>
          </a:ln>
        </p:spPr>
        <p:txBody>
          <a:bodyPr rtlCol="0" anchor="ctr"/>
          <a:lstStyle/>
          <a:p>
            <a:pPr algn="ctr"/>
          </a:p>
        </p:txBody>
      </p:sp>
      <p:sp>
        <p:nvSpPr>
          <p:cNvPr id="11" name="Rectangle 10"/>
          <p:cNvSpPr/>
          <p:nvPr/>
        </p:nvSpPr>
        <p:spPr>
          <a:xfrm>
            <a:off x="9869119" y="3552901"/>
            <a:ext cx="109728" cy="964234"/>
          </a:xfrm>
          <a:prstGeom prst="rect">
            <a:avLst/>
          </a:prstGeom>
          <a:noFill/>
          <a:ln w="44450">
            <a:solidFill>
              <a:srgbClr val="7B3FA0"/>
            </a:solidFill>
          </a:ln>
        </p:spPr>
        <p:txBody>
          <a:bodyPr rtlCol="0" anchor="ctr"/>
          <a:lstStyle/>
          <a:p>
            <a:pPr algn="ctr"/>
          </a:p>
        </p:txBody>
      </p:sp>
      <p:sp>
        <p:nvSpPr>
          <p:cNvPr id="12" name="Rectangle 11"/>
          <p:cNvSpPr/>
          <p:nvPr/>
        </p:nvSpPr>
        <p:spPr>
          <a:xfrm>
            <a:off x="6214719" y="5300472"/>
            <a:ext cx="310895" cy="85344"/>
          </a:xfrm>
          <a:prstGeom prst="rect">
            <a:avLst/>
          </a:prstGeom>
          <a:noFill/>
          <a:ln w="44450">
            <a:solidFill>
              <a:srgbClr val="1F5FAD"/>
            </a:solidFill>
          </a:ln>
        </p:spPr>
        <p:txBody>
          <a:bodyPr rtlCol="0" anchor="ctr"/>
          <a:lstStyle/>
          <a:p>
            <a:pPr algn="ctr"/>
          </a:p>
        </p:txBody>
      </p:sp>
      <p:sp>
        <p:nvSpPr>
          <p:cNvPr id="13" name="Oval 12"/>
          <p:cNvSpPr/>
          <p:nvPr/>
        </p:nvSpPr>
        <p:spPr>
          <a:xfrm>
            <a:off x="2871216" y="369303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6520421" y="334425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9978847" y="3907002"/>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6" name="Oval 15"/>
          <p:cNvSpPr/>
          <p:nvPr/>
        </p:nvSpPr>
        <p:spPr>
          <a:xfrm>
            <a:off x="6653631" y="521512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TR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27 of 79</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213 to 214. Prices and volume are invented for teaching.</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Triple form 1: a large middle bar that closes near its low</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"1st bar closes near its high followed by a large middle bar closing near its low. The 3rd bar closes at or near its low" (Figure 7.6, p. 213). Here it is with invented prices. Bar 1 closes at PHP 50.50 </a:t>
            </a:r>
            <a:r>
              <a:rPr sz="1700" b="1" i="0">
                <a:solidFill>
                  <a:srgbClr val="E09B00"/>
                </a:solidFill>
                <a:latin typeface="Arial"/>
              </a:rPr>
              <a:t>(1)</a:t>
            </a:r>
            <a:r>
              <a:rPr sz="1700" b="0" i="0">
                <a:solidFill>
                  <a:srgbClr val="1A1A1A"/>
                </a:solidFill>
                <a:latin typeface="Arial"/>
              </a:rPr>
              <a:t>; the large middle bar closes at PHP 50.60, near its low </a:t>
            </a:r>
            <a:r>
              <a:rPr sz="1700" b="1" i="0">
                <a:solidFill>
                  <a:srgbClr val="C62828"/>
                </a:solidFill>
                <a:latin typeface="Arial"/>
              </a:rPr>
              <a:t>(2)</a:t>
            </a:r>
            <a:r>
              <a:rPr sz="1700" b="0" i="0">
                <a:solidFill>
                  <a:srgbClr val="1A1A1A"/>
                </a:solidFill>
                <a:latin typeface="Arial"/>
              </a:rPr>
              <a:t>, on 3.6 million shares </a:t>
            </a:r>
            <a:r>
              <a:rPr sz="1700" b="1" i="0">
                <a:solidFill>
                  <a:srgbClr val="1F5FAD"/>
                </a:solidFill>
                <a:latin typeface="Arial"/>
              </a:rPr>
              <a:t>(3)</a:t>
            </a:r>
            <a:r>
              <a:rPr sz="1700" b="0" i="0">
                <a:solidFill>
                  <a:srgbClr val="1A1A1A"/>
                </a:solidFill>
                <a:latin typeface="Arial"/>
              </a:rPr>
              <a:t>; bar 3 closes at PHP 49.00, near its low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256842" y="2395728"/>
            <a:ext cx="1521561"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256842" y="2395728"/>
            <a:ext cx="1521561"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531162" y="2670048"/>
            <a:ext cx="972921"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7.6</a:t>
            </a:r>
          </a:p>
          <a:p>
            <a:pPr algn="l">
              <a:lnSpc>
                <a:spcPct val="115000"/>
              </a:lnSpc>
              <a:spcBef>
                <a:spcPts val="0"/>
              </a:spcBef>
              <a:spcAft>
                <a:spcPts val="0"/>
              </a:spcAft>
            </a:pPr>
            <a:r>
              <a:rPr sz="1500" b="0" i="0">
                <a:solidFill>
                  <a:srgbClr val="1A1A1A"/>
                </a:solidFill>
                <a:latin typeface="Palatino"/>
              </a:rPr>
              <a:t>Figure 7.6, form 1: three bars with a large middle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7.6,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a-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4814315" y="3991127"/>
            <a:ext cx="87782" cy="87782"/>
          </a:xfrm>
          <a:prstGeom prst="ellipse">
            <a:avLst/>
          </a:prstGeom>
          <a:noFill/>
          <a:ln w="44450">
            <a:solidFill>
              <a:srgbClr val="E09B00"/>
            </a:solidFill>
          </a:ln>
        </p:spPr>
        <p:txBody>
          <a:bodyPr rtlCol="0" anchor="ctr"/>
          <a:lstStyle/>
          <a:p>
            <a:pPr algn="ctr"/>
          </a:p>
        </p:txBody>
      </p:sp>
      <p:sp>
        <p:nvSpPr>
          <p:cNvPr id="15" name="Oval 14"/>
          <p:cNvSpPr/>
          <p:nvPr/>
        </p:nvSpPr>
        <p:spPr>
          <a:xfrm>
            <a:off x="7548371" y="3964381"/>
            <a:ext cx="87782" cy="87782"/>
          </a:xfrm>
          <a:prstGeom prst="ellipse">
            <a:avLst/>
          </a:prstGeom>
          <a:noFill/>
          <a:ln w="44450">
            <a:solidFill>
              <a:srgbClr val="C62828"/>
            </a:solidFill>
          </a:ln>
        </p:spPr>
        <p:txBody>
          <a:bodyPr rtlCol="0" anchor="ctr"/>
          <a:lstStyle/>
          <a:p>
            <a:pPr algn="ctr"/>
          </a:p>
        </p:txBody>
      </p:sp>
      <p:sp>
        <p:nvSpPr>
          <p:cNvPr id="16" name="Rectangle 15"/>
          <p:cNvSpPr/>
          <p:nvPr/>
        </p:nvSpPr>
        <p:spPr>
          <a:xfrm>
            <a:off x="7281367" y="5148072"/>
            <a:ext cx="310895" cy="237744"/>
          </a:xfrm>
          <a:prstGeom prst="rect">
            <a:avLst/>
          </a:prstGeom>
          <a:noFill/>
          <a:ln w="44450">
            <a:solidFill>
              <a:srgbClr val="1F5FAD"/>
            </a:solidFill>
          </a:ln>
        </p:spPr>
        <p:txBody>
          <a:bodyPr rtlCol="0" anchor="ctr"/>
          <a:lstStyle/>
          <a:p>
            <a:pPr algn="ctr"/>
          </a:p>
        </p:txBody>
      </p:sp>
      <p:sp>
        <p:nvSpPr>
          <p:cNvPr id="17" name="Oval 16"/>
          <p:cNvSpPr/>
          <p:nvPr/>
        </p:nvSpPr>
        <p:spPr>
          <a:xfrm>
            <a:off x="10282427" y="4392320"/>
            <a:ext cx="87782" cy="87782"/>
          </a:xfrm>
          <a:prstGeom prst="ellipse">
            <a:avLst/>
          </a:prstGeom>
          <a:noFill/>
          <a:ln w="44450">
            <a:solidFill>
              <a:srgbClr val="7B3FA0"/>
            </a:solidFill>
          </a:ln>
        </p:spPr>
        <p:txBody>
          <a:bodyPr rtlCol="0" anchor="ctr"/>
          <a:lstStyle/>
          <a:p>
            <a:pPr algn="ctr"/>
          </a:p>
        </p:txBody>
      </p:sp>
      <p:sp>
        <p:nvSpPr>
          <p:cNvPr id="18" name="Oval 17"/>
          <p:cNvSpPr/>
          <p:nvPr/>
        </p:nvSpPr>
        <p:spPr>
          <a:xfrm>
            <a:off x="4763218" y="409430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7513473" y="369654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7609994" y="515167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10247529" y="4124481"/>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TA - FIN1209 teaching chart, drawn for this course. Illustrative data, not a real instrument.</a:t>
            </a:r>
          </a:p>
        </p:txBody>
      </p:sp>
      <p:sp>
        <p:nvSpPr>
          <p:cNvPr id="23" name="TextBox 2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28 of 79</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7.6. Prices and volume are invented for teaching.</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Triple form 2: a narrow, quiet middle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"1st bar closes near its high followed by a narrow range middle bar closing within its range on low volume. The 3rd bar closes at or near its low" (Figure 7.6, p. 213). Let us put invented prices on it. Bar 1 closes at PHP 51.00 </a:t>
            </a:r>
            <a:r>
              <a:rPr sz="1700" b="1" i="0">
                <a:solidFill>
                  <a:srgbClr val="E09B00"/>
                </a:solidFill>
                <a:latin typeface="Arial"/>
              </a:rPr>
              <a:t>(1)</a:t>
            </a:r>
            <a:r>
              <a:rPr sz="1700" b="0" i="0">
                <a:solidFill>
                  <a:srgbClr val="1A1A1A"/>
                </a:solidFill>
                <a:latin typeface="Arial"/>
              </a:rPr>
              <a:t>; the middle bar spans only PHP 0.60 inside it </a:t>
            </a:r>
            <a:r>
              <a:rPr sz="1700" b="1" i="0">
                <a:solidFill>
                  <a:srgbClr val="C62828"/>
                </a:solidFill>
                <a:latin typeface="Arial"/>
              </a:rPr>
              <a:t>(2)</a:t>
            </a:r>
            <a:r>
              <a:rPr sz="1700" b="0" i="0">
                <a:solidFill>
                  <a:srgbClr val="1A1A1A"/>
                </a:solidFill>
                <a:latin typeface="Arial"/>
              </a:rPr>
              <a:t>, on 0.8 million shares </a:t>
            </a:r>
            <a:r>
              <a:rPr sz="1700" b="1" i="0">
                <a:solidFill>
                  <a:srgbClr val="1F5FAD"/>
                </a:solidFill>
                <a:latin typeface="Arial"/>
              </a:rPr>
              <a:t>(3)</a:t>
            </a:r>
            <a:r>
              <a:rPr sz="1700" b="0" i="0">
                <a:solidFill>
                  <a:srgbClr val="1A1A1A"/>
                </a:solidFill>
                <a:latin typeface="Arial"/>
              </a:rPr>
              <a:t>; bar 3 closes at PHP 48.60, near its low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263130" y="2395728"/>
            <a:ext cx="1508986"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263130" y="2395728"/>
            <a:ext cx="1508986"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537450" y="2670048"/>
            <a:ext cx="96034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7.6</a:t>
            </a:r>
          </a:p>
          <a:p>
            <a:pPr algn="l">
              <a:lnSpc>
                <a:spcPct val="115000"/>
              </a:lnSpc>
              <a:spcBef>
                <a:spcPts val="0"/>
              </a:spcBef>
              <a:spcAft>
                <a:spcPts val="0"/>
              </a:spcAft>
            </a:pPr>
            <a:r>
              <a:rPr sz="1500" b="0" i="0">
                <a:solidFill>
                  <a:srgbClr val="1A1A1A"/>
                </a:solidFill>
                <a:latin typeface="Palatino"/>
              </a:rPr>
              <a:t>Figure 7.6, form 2: a narrow middle bar inside the first.</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7.6,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b-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7381950" y="3507050"/>
            <a:ext cx="109727" cy="284117"/>
          </a:xfrm>
          <a:prstGeom prst="rect">
            <a:avLst/>
          </a:prstGeom>
          <a:noFill/>
          <a:ln w="44450">
            <a:solidFill>
              <a:srgbClr val="C62828"/>
            </a:solidFill>
          </a:ln>
        </p:spPr>
        <p:txBody>
          <a:bodyPr rtlCol="0" anchor="ctr"/>
          <a:lstStyle/>
          <a:p>
            <a:pPr algn="ctr"/>
          </a:p>
        </p:txBody>
      </p:sp>
      <p:sp>
        <p:nvSpPr>
          <p:cNvPr id="15" name="Oval 14"/>
          <p:cNvSpPr/>
          <p:nvPr/>
        </p:nvSpPr>
        <p:spPr>
          <a:xfrm>
            <a:off x="4814315" y="3452382"/>
            <a:ext cx="87782" cy="87782"/>
          </a:xfrm>
          <a:prstGeom prst="ellipse">
            <a:avLst/>
          </a:prstGeom>
          <a:noFill/>
          <a:ln w="44450">
            <a:solidFill>
              <a:srgbClr val="E09B00"/>
            </a:solidFill>
          </a:ln>
        </p:spPr>
        <p:txBody>
          <a:bodyPr rtlCol="0" anchor="ctr"/>
          <a:lstStyle/>
          <a:p>
            <a:pPr algn="ctr"/>
          </a:p>
        </p:txBody>
      </p:sp>
      <p:sp>
        <p:nvSpPr>
          <p:cNvPr id="16" name="Rectangle 15"/>
          <p:cNvSpPr/>
          <p:nvPr/>
        </p:nvSpPr>
        <p:spPr>
          <a:xfrm>
            <a:off x="7281367" y="5285231"/>
            <a:ext cx="310895" cy="100584"/>
          </a:xfrm>
          <a:prstGeom prst="rect">
            <a:avLst/>
          </a:prstGeom>
          <a:noFill/>
          <a:ln w="44450">
            <a:solidFill>
              <a:srgbClr val="1F5FAD"/>
            </a:solidFill>
          </a:ln>
        </p:spPr>
        <p:txBody>
          <a:bodyPr rtlCol="0" anchor="ctr"/>
          <a:lstStyle/>
          <a:p>
            <a:pPr algn="ctr"/>
          </a:p>
        </p:txBody>
      </p:sp>
      <p:sp>
        <p:nvSpPr>
          <p:cNvPr id="17" name="Oval 16"/>
          <p:cNvSpPr/>
          <p:nvPr/>
        </p:nvSpPr>
        <p:spPr>
          <a:xfrm>
            <a:off x="10282427" y="4369395"/>
            <a:ext cx="87782" cy="87782"/>
          </a:xfrm>
          <a:prstGeom prst="ellipse">
            <a:avLst/>
          </a:prstGeom>
          <a:noFill/>
          <a:ln w="44450">
            <a:solidFill>
              <a:srgbClr val="7B3FA0"/>
            </a:solidFill>
          </a:ln>
        </p:spPr>
        <p:txBody>
          <a:bodyPr rtlCol="0" anchor="ctr"/>
          <a:lstStyle/>
          <a:p>
            <a:pPr algn="ctr"/>
          </a:p>
        </p:txBody>
      </p:sp>
      <p:sp>
        <p:nvSpPr>
          <p:cNvPr id="18" name="Oval 17"/>
          <p:cNvSpPr/>
          <p:nvPr/>
        </p:nvSpPr>
        <p:spPr>
          <a:xfrm>
            <a:off x="7877474" y="328149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4763218" y="355556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Oval 19"/>
          <p:cNvSpPr/>
          <p:nvPr/>
        </p:nvSpPr>
        <p:spPr>
          <a:xfrm>
            <a:off x="7720279" y="520750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10247529" y="4101555"/>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TB - FIN1209 teaching chart, drawn for this course. Illustrative data, not a real instrument.</a:t>
            </a:r>
          </a:p>
        </p:txBody>
      </p:sp>
      <p:sp>
        <p:nvSpPr>
          <p:cNvPr id="23" name="TextBox 2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29 of 79</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7.6. Prices and volume are invented for teaching.</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Triple form 3: a gap up, then a close back below it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"2nd bar gaps up and closes above the gap. The 3rd bar closes below the gap" (Figure 7.6, p. 213). Here it is with invented prices. Bar 1 tops out at PHP 50.00 and bar 2's low is PHP 50.40, leaving a PHP 0.40 gap </a:t>
            </a:r>
            <a:r>
              <a:rPr sz="1700" b="1" i="0">
                <a:solidFill>
                  <a:srgbClr val="E09B00"/>
                </a:solidFill>
                <a:latin typeface="Arial"/>
              </a:rPr>
              <a:t>(1)</a:t>
            </a:r>
            <a:r>
              <a:rPr sz="1700" b="0" i="0">
                <a:solidFill>
                  <a:srgbClr val="1A1A1A"/>
                </a:solidFill>
                <a:latin typeface="Arial"/>
              </a:rPr>
              <a:t>; bar 2 closes above it at PHP 51.20 </a:t>
            </a:r>
            <a:r>
              <a:rPr sz="1700" b="1" i="0">
                <a:solidFill>
                  <a:srgbClr val="C62828"/>
                </a:solidFill>
                <a:latin typeface="Arial"/>
              </a:rPr>
              <a:t>(2)</a:t>
            </a:r>
            <a:r>
              <a:rPr sz="1700" b="0" i="0">
                <a:solidFill>
                  <a:srgbClr val="1A1A1A"/>
                </a:solidFill>
                <a:latin typeface="Arial"/>
              </a:rPr>
              <a:t>; bar 3 closes at PHP 49.60, below the gap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187680" y="2395728"/>
            <a:ext cx="1659885"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187680" y="2395728"/>
            <a:ext cx="1659885"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462000" y="2670048"/>
            <a:ext cx="1111245"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7.6</a:t>
            </a:r>
          </a:p>
          <a:p>
            <a:pPr algn="l">
              <a:lnSpc>
                <a:spcPct val="115000"/>
              </a:lnSpc>
              <a:spcBef>
                <a:spcPts val="0"/>
              </a:spcBef>
              <a:spcAft>
                <a:spcPts val="0"/>
              </a:spcAft>
            </a:pPr>
            <a:r>
              <a:rPr sz="1500" b="0" i="0">
                <a:solidFill>
                  <a:srgbClr val="1A1A1A"/>
                </a:solidFill>
                <a:latin typeface="Palatino"/>
              </a:rPr>
              <a:t>Figure 7.6, form 3: a gap up, then a close below it.</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7.6,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c-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5987491" y="4024766"/>
            <a:ext cx="164591" cy="241964"/>
          </a:xfrm>
          <a:prstGeom prst="rect">
            <a:avLst/>
          </a:prstGeom>
          <a:noFill/>
          <a:ln w="44450">
            <a:solidFill>
              <a:srgbClr val="E09B00"/>
            </a:solidFill>
          </a:ln>
        </p:spPr>
        <p:txBody>
          <a:bodyPr rtlCol="0" anchor="ctr"/>
          <a:lstStyle/>
          <a:p>
            <a:pPr algn="ctr"/>
          </a:p>
        </p:txBody>
      </p:sp>
      <p:sp>
        <p:nvSpPr>
          <p:cNvPr id="15" name="Oval 14"/>
          <p:cNvSpPr/>
          <p:nvPr/>
        </p:nvSpPr>
        <p:spPr>
          <a:xfrm>
            <a:off x="7548371" y="3496946"/>
            <a:ext cx="87782" cy="87782"/>
          </a:xfrm>
          <a:prstGeom prst="ellipse">
            <a:avLst/>
          </a:prstGeom>
          <a:noFill/>
          <a:ln w="44450">
            <a:solidFill>
              <a:srgbClr val="C62828"/>
            </a:solidFill>
          </a:ln>
        </p:spPr>
        <p:txBody>
          <a:bodyPr rtlCol="0" anchor="ctr"/>
          <a:lstStyle/>
          <a:p>
            <a:pPr algn="ctr"/>
          </a:p>
        </p:txBody>
      </p:sp>
      <p:sp>
        <p:nvSpPr>
          <p:cNvPr id="16" name="Oval 15"/>
          <p:cNvSpPr/>
          <p:nvPr/>
        </p:nvSpPr>
        <p:spPr>
          <a:xfrm>
            <a:off x="10282427" y="4464804"/>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6147720" y="4050865"/>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7497274" y="360012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47529" y="419696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TC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30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7.6. The prices are invented for teaching.</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Triple form 4: a single island reversal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"2nd bar gaps up on low volume. The 3rd bar gaps down and closes at or near its low. Also referred to as a single island reversal bar" (Figure 7.7, p. 214). Let us put invented prices on it. Bar 2 gaps up PHP 0.40 </a:t>
            </a:r>
            <a:r>
              <a:rPr sz="1700" b="1" i="0">
                <a:solidFill>
                  <a:srgbClr val="E09B00"/>
                </a:solidFill>
                <a:latin typeface="Arial"/>
              </a:rPr>
              <a:t>(1)</a:t>
            </a:r>
            <a:r>
              <a:rPr sz="1700" b="0" i="0">
                <a:solidFill>
                  <a:srgbClr val="1A1A1A"/>
                </a:solidFill>
                <a:latin typeface="Arial"/>
              </a:rPr>
              <a:t> on 0.7 million shares </a:t>
            </a:r>
            <a:r>
              <a:rPr sz="1700" b="1" i="0">
                <a:solidFill>
                  <a:srgbClr val="C62828"/>
                </a:solidFill>
                <a:latin typeface="Arial"/>
              </a:rPr>
              <a:t>(2)</a:t>
            </a:r>
            <a:r>
              <a:rPr sz="1700" b="0" i="0">
                <a:solidFill>
                  <a:srgbClr val="1A1A1A"/>
                </a:solidFill>
                <a:latin typeface="Arial"/>
              </a:rPr>
              <a:t>; bar 3 gaps down PHP 0.40 below it </a:t>
            </a:r>
            <a:r>
              <a:rPr sz="1700" b="1" i="0">
                <a:solidFill>
                  <a:srgbClr val="1F5FAD"/>
                </a:solidFill>
                <a:latin typeface="Arial"/>
              </a:rPr>
              <a:t>(3)</a:t>
            </a:r>
            <a:r>
              <a:rPr sz="1700" b="0" i="0">
                <a:solidFill>
                  <a:srgbClr val="1A1A1A"/>
                </a:solidFill>
                <a:latin typeface="Arial"/>
              </a:rPr>
              <a:t> and closes at PHP 48.60, near its low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293272" y="2395728"/>
            <a:ext cx="1448701"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293272" y="2395728"/>
            <a:ext cx="1448701"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567592" y="2670048"/>
            <a:ext cx="900061"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7.7</a:t>
            </a:r>
          </a:p>
          <a:p>
            <a:pPr algn="l">
              <a:lnSpc>
                <a:spcPct val="115000"/>
              </a:lnSpc>
              <a:spcBef>
                <a:spcPts val="0"/>
              </a:spcBef>
              <a:spcAft>
                <a:spcPts val="0"/>
              </a:spcAft>
            </a:pPr>
            <a:r>
              <a:rPr sz="1500" b="0" i="0">
                <a:solidFill>
                  <a:srgbClr val="1A1A1A"/>
                </a:solidFill>
                <a:latin typeface="Palatino"/>
              </a:rPr>
              <a:t>Figure 7.7, form 4: a single island reversal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7.7,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d-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5987491" y="3666744"/>
            <a:ext cx="164591" cy="164591"/>
          </a:xfrm>
          <a:prstGeom prst="rect">
            <a:avLst/>
          </a:prstGeom>
          <a:noFill/>
          <a:ln w="44450">
            <a:solidFill>
              <a:srgbClr val="E09B00"/>
            </a:solidFill>
          </a:ln>
        </p:spPr>
        <p:txBody>
          <a:bodyPr rtlCol="0" anchor="ctr"/>
          <a:lstStyle/>
          <a:p>
            <a:pPr algn="ctr"/>
          </a:p>
        </p:txBody>
      </p:sp>
      <p:sp>
        <p:nvSpPr>
          <p:cNvPr id="15" name="Rectangle 14"/>
          <p:cNvSpPr/>
          <p:nvPr/>
        </p:nvSpPr>
        <p:spPr>
          <a:xfrm>
            <a:off x="7281367" y="5281715"/>
            <a:ext cx="310895" cy="104100"/>
          </a:xfrm>
          <a:prstGeom prst="rect">
            <a:avLst/>
          </a:prstGeom>
          <a:noFill/>
          <a:ln w="44450">
            <a:solidFill>
              <a:srgbClr val="C62828"/>
            </a:solidFill>
          </a:ln>
        </p:spPr>
        <p:txBody>
          <a:bodyPr rtlCol="0" anchor="ctr"/>
          <a:lstStyle/>
          <a:p>
            <a:pPr algn="ctr"/>
          </a:p>
        </p:txBody>
      </p:sp>
      <p:sp>
        <p:nvSpPr>
          <p:cNvPr id="16" name="Rectangle 15"/>
          <p:cNvSpPr/>
          <p:nvPr/>
        </p:nvSpPr>
        <p:spPr>
          <a:xfrm>
            <a:off x="8721546" y="3666744"/>
            <a:ext cx="164591" cy="164591"/>
          </a:xfrm>
          <a:prstGeom prst="rect">
            <a:avLst/>
          </a:prstGeom>
          <a:noFill/>
          <a:ln w="44450">
            <a:solidFill>
              <a:srgbClr val="1F5FAD"/>
            </a:solidFill>
          </a:ln>
        </p:spPr>
        <p:txBody>
          <a:bodyPr rtlCol="0" anchor="ctr"/>
          <a:lstStyle/>
          <a:p>
            <a:pPr algn="ctr"/>
          </a:p>
        </p:txBody>
      </p:sp>
      <p:sp>
        <p:nvSpPr>
          <p:cNvPr id="17" name="Oval 16"/>
          <p:cNvSpPr/>
          <p:nvPr/>
        </p:nvSpPr>
        <p:spPr>
          <a:xfrm>
            <a:off x="10282427" y="4363516"/>
            <a:ext cx="87782" cy="87782"/>
          </a:xfrm>
          <a:prstGeom prst="ellipse">
            <a:avLst/>
          </a:prstGeom>
          <a:noFill/>
          <a:ln w="44450">
            <a:solidFill>
              <a:srgbClr val="7B3FA0"/>
            </a:solidFill>
          </a:ln>
        </p:spPr>
        <p:txBody>
          <a:bodyPr rtlCol="0" anchor="ctr"/>
          <a:lstStyle/>
          <a:p>
            <a:pPr algn="ctr"/>
          </a:p>
        </p:txBody>
      </p:sp>
      <p:sp>
        <p:nvSpPr>
          <p:cNvPr id="18" name="Oval 17"/>
          <p:cNvSpPr/>
          <p:nvPr/>
        </p:nvSpPr>
        <p:spPr>
          <a:xfrm>
            <a:off x="6150151" y="372682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7720279" y="520574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8884207" y="351522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10247529" y="4095677"/>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TD - FIN1209 teaching chart, drawn for this course. Illustrative data, not a real instrument.</a:t>
            </a:r>
          </a:p>
        </p:txBody>
      </p:sp>
      <p:sp>
        <p:nvSpPr>
          <p:cNvPr id="23" name="TextBox 2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31 of 79</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214, Figure 7.7. Prices and volume are invented for teaching.</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Triple form 5: the third bar engulfs the second</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"2nd bar gaps up on low volume. The 3rd bar engulfs the 2nd bar and closes below the gap" (Figure 7.7, p. 214). Here it is with invented prices. Bar 2 gaps up above PHP 50.00 </a:t>
            </a:r>
            <a:r>
              <a:rPr sz="1700" b="1" i="0">
                <a:solidFill>
                  <a:srgbClr val="E09B00"/>
                </a:solidFill>
                <a:latin typeface="Arial"/>
              </a:rPr>
              <a:t>(1)</a:t>
            </a:r>
            <a:r>
              <a:rPr sz="1700" b="0" i="0">
                <a:solidFill>
                  <a:srgbClr val="1A1A1A"/>
                </a:solidFill>
                <a:latin typeface="Arial"/>
              </a:rPr>
              <a:t> on 0.6 million shares </a:t>
            </a:r>
            <a:r>
              <a:rPr sz="1700" b="1" i="0">
                <a:solidFill>
                  <a:srgbClr val="C62828"/>
                </a:solidFill>
                <a:latin typeface="Arial"/>
              </a:rPr>
              <a:t>(2)</a:t>
            </a:r>
            <a:r>
              <a:rPr sz="1700" b="0" i="0">
                <a:solidFill>
                  <a:srgbClr val="1A1A1A"/>
                </a:solidFill>
                <a:latin typeface="Arial"/>
              </a:rPr>
              <a:t>; bar 3 runs from PHP 49.20 to PHP 51.20, beyond both ends of bar 2 </a:t>
            </a:r>
            <a:r>
              <a:rPr sz="1700" b="1" i="0">
                <a:solidFill>
                  <a:srgbClr val="1F5FAD"/>
                </a:solidFill>
                <a:latin typeface="Arial"/>
              </a:rPr>
              <a:t>(3)</a:t>
            </a:r>
            <a:r>
              <a:rPr sz="1700" b="0" i="0">
                <a:solidFill>
                  <a:srgbClr val="1A1A1A"/>
                </a:solidFill>
                <a:latin typeface="Arial"/>
              </a:rPr>
              <a:t>, and closes at PHP 49.40, below the gap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359122" y="2395728"/>
            <a:ext cx="1317001"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359122" y="2395728"/>
            <a:ext cx="1317001"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633442" y="2670048"/>
            <a:ext cx="768361"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7.7</a:t>
            </a:r>
          </a:p>
          <a:p>
            <a:pPr algn="l">
              <a:lnSpc>
                <a:spcPct val="115000"/>
              </a:lnSpc>
              <a:spcBef>
                <a:spcPts val="0"/>
              </a:spcBef>
              <a:spcAft>
                <a:spcPts val="0"/>
              </a:spcAft>
            </a:pPr>
            <a:r>
              <a:rPr sz="1500" b="0" i="0">
                <a:solidFill>
                  <a:srgbClr val="1A1A1A"/>
                </a:solidFill>
                <a:latin typeface="Palatino"/>
              </a:rPr>
              <a:t>Figure 7.7, form 5: a third bar engulfing the second.</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7.7,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e-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10116006" y="3392424"/>
            <a:ext cx="109728" cy="1027453"/>
          </a:xfrm>
          <a:prstGeom prst="rect">
            <a:avLst/>
          </a:prstGeom>
          <a:noFill/>
          <a:ln w="44450">
            <a:solidFill>
              <a:srgbClr val="1F5FAD"/>
            </a:solidFill>
          </a:ln>
        </p:spPr>
        <p:txBody>
          <a:bodyPr rtlCol="0" anchor="ctr"/>
          <a:lstStyle/>
          <a:p>
            <a:pPr algn="ctr"/>
          </a:p>
        </p:txBody>
      </p:sp>
      <p:sp>
        <p:nvSpPr>
          <p:cNvPr id="15" name="Rectangle 14"/>
          <p:cNvSpPr/>
          <p:nvPr/>
        </p:nvSpPr>
        <p:spPr>
          <a:xfrm>
            <a:off x="5987491" y="3808891"/>
            <a:ext cx="164591" cy="194517"/>
          </a:xfrm>
          <a:prstGeom prst="rect">
            <a:avLst/>
          </a:prstGeom>
          <a:noFill/>
          <a:ln w="44450">
            <a:solidFill>
              <a:srgbClr val="E09B00"/>
            </a:solidFill>
          </a:ln>
        </p:spPr>
        <p:txBody>
          <a:bodyPr rtlCol="0" anchor="ctr"/>
          <a:lstStyle/>
          <a:p>
            <a:pPr algn="ctr"/>
          </a:p>
        </p:txBody>
      </p:sp>
      <p:sp>
        <p:nvSpPr>
          <p:cNvPr id="16" name="Rectangle 15"/>
          <p:cNvSpPr/>
          <p:nvPr/>
        </p:nvSpPr>
        <p:spPr>
          <a:xfrm>
            <a:off x="7281367" y="5294376"/>
            <a:ext cx="310895" cy="91439"/>
          </a:xfrm>
          <a:prstGeom prst="rect">
            <a:avLst/>
          </a:prstGeom>
          <a:noFill/>
          <a:ln w="44450">
            <a:solidFill>
              <a:srgbClr val="C62828"/>
            </a:solidFill>
          </a:ln>
        </p:spPr>
        <p:txBody>
          <a:bodyPr rtlCol="0" anchor="ctr"/>
          <a:lstStyle/>
          <a:p>
            <a:pPr algn="ctr"/>
          </a:p>
        </p:txBody>
      </p:sp>
      <p:sp>
        <p:nvSpPr>
          <p:cNvPr id="17" name="Oval 16"/>
          <p:cNvSpPr/>
          <p:nvPr/>
        </p:nvSpPr>
        <p:spPr>
          <a:xfrm>
            <a:off x="10282427" y="4251294"/>
            <a:ext cx="87782" cy="87782"/>
          </a:xfrm>
          <a:prstGeom prst="ellipse">
            <a:avLst/>
          </a:prstGeom>
          <a:noFill/>
          <a:ln w="44450">
            <a:solidFill>
              <a:srgbClr val="7B3FA0"/>
            </a:solidFill>
          </a:ln>
        </p:spPr>
        <p:txBody>
          <a:bodyPr rtlCol="0" anchor="ctr"/>
          <a:lstStyle/>
          <a:p>
            <a:pPr algn="ctr"/>
          </a:p>
        </p:txBody>
      </p:sp>
      <p:sp>
        <p:nvSpPr>
          <p:cNvPr id="18" name="Oval 17"/>
          <p:cNvSpPr/>
          <p:nvPr/>
        </p:nvSpPr>
        <p:spPr>
          <a:xfrm>
            <a:off x="10225734" y="377813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Oval 18"/>
          <p:cNvSpPr/>
          <p:nvPr/>
        </p:nvSpPr>
        <p:spPr>
          <a:xfrm>
            <a:off x="6141619" y="391822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Oval 19"/>
          <p:cNvSpPr/>
          <p:nvPr/>
        </p:nvSpPr>
        <p:spPr>
          <a:xfrm>
            <a:off x="7720279" y="521208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1" name="Oval 20"/>
          <p:cNvSpPr/>
          <p:nvPr/>
        </p:nvSpPr>
        <p:spPr>
          <a:xfrm>
            <a:off x="10475038" y="3890434"/>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TE - FIN1209 teaching chart, drawn for this course. Illustrative data, not a real instrument.</a:t>
            </a:r>
          </a:p>
        </p:txBody>
      </p:sp>
      <p:sp>
        <p:nvSpPr>
          <p:cNvPr id="23" name="TextBox 2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32 of 79</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214, Figure 7.7. Prices and volume are invented for teaching.</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Triple form 6: a close below the middle bar's low</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the 2nd bar "closes at or near its high on low volume followed by a 3rd bar closing below the low of the 2nd bar (and preferably below the close of the 1st bar as well)" (Figure 7.7, p. 214). Say bar 2 closes at PHP 51.30 </a:t>
            </a:r>
            <a:r>
              <a:rPr sz="1700" b="1" i="0">
                <a:solidFill>
                  <a:srgbClr val="E09B00"/>
                </a:solidFill>
                <a:latin typeface="Arial"/>
              </a:rPr>
              <a:t>(1)</a:t>
            </a:r>
            <a:r>
              <a:rPr sz="1700" b="0" i="0">
                <a:solidFill>
                  <a:srgbClr val="1A1A1A"/>
                </a:solidFill>
                <a:latin typeface="Arial"/>
              </a:rPr>
              <a:t> on 0.8 million shares </a:t>
            </a:r>
            <a:r>
              <a:rPr sz="1700" b="1" i="0">
                <a:solidFill>
                  <a:srgbClr val="C62828"/>
                </a:solidFill>
                <a:latin typeface="Arial"/>
              </a:rPr>
              <a:t>(2)</a:t>
            </a:r>
            <a:r>
              <a:rPr sz="1700" b="0" i="0">
                <a:solidFill>
                  <a:srgbClr val="1A1A1A"/>
                </a:solidFill>
                <a:latin typeface="Arial"/>
              </a:rPr>
              <a:t>; bar 3 closes at PHP 49.80 </a:t>
            </a:r>
            <a:r>
              <a:rPr sz="1700" b="1" i="0">
                <a:solidFill>
                  <a:srgbClr val="1F5FAD"/>
                </a:solidFill>
                <a:latin typeface="Arial"/>
              </a:rPr>
              <a:t>(3)</a:t>
            </a:r>
            <a:r>
              <a:rPr sz="1700" b="0" i="0">
                <a:solidFill>
                  <a:srgbClr val="1A1A1A"/>
                </a:solidFill>
                <a:latin typeface="Arial"/>
              </a:rPr>
              <a:t>, below bar 2's PHP 50.10 low and bar 1's PHP 50.20 close.</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305549" y="2395728"/>
            <a:ext cx="1424147"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305549" y="2395728"/>
            <a:ext cx="1424147"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579869" y="2670048"/>
            <a:ext cx="87550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7.7</a:t>
            </a:r>
          </a:p>
          <a:p>
            <a:pPr algn="l">
              <a:lnSpc>
                <a:spcPct val="115000"/>
              </a:lnSpc>
              <a:spcBef>
                <a:spcPts val="0"/>
              </a:spcBef>
              <a:spcAft>
                <a:spcPts val="0"/>
              </a:spcAft>
            </a:pPr>
            <a:r>
              <a:rPr sz="1500" b="0" i="0">
                <a:solidFill>
                  <a:srgbClr val="1A1A1A"/>
                </a:solidFill>
                <a:latin typeface="Palatino"/>
              </a:rPr>
              <a:t>Figure 7.7, form 6: a close below the middle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7.7,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f-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7548371" y="3417112"/>
            <a:ext cx="87782" cy="87782"/>
          </a:xfrm>
          <a:prstGeom prst="ellipse">
            <a:avLst/>
          </a:prstGeom>
          <a:noFill/>
          <a:ln w="44450">
            <a:solidFill>
              <a:srgbClr val="E09B00"/>
            </a:solidFill>
          </a:ln>
        </p:spPr>
        <p:txBody>
          <a:bodyPr rtlCol="0" anchor="ctr"/>
          <a:lstStyle/>
          <a:p>
            <a:pPr algn="ctr"/>
          </a:p>
        </p:txBody>
      </p:sp>
      <p:sp>
        <p:nvSpPr>
          <p:cNvPr id="15" name="Rectangle 14"/>
          <p:cNvSpPr/>
          <p:nvPr/>
        </p:nvSpPr>
        <p:spPr>
          <a:xfrm>
            <a:off x="7281367" y="5278700"/>
            <a:ext cx="310895" cy="107115"/>
          </a:xfrm>
          <a:prstGeom prst="rect">
            <a:avLst/>
          </a:prstGeom>
          <a:noFill/>
          <a:ln w="44450">
            <a:solidFill>
              <a:srgbClr val="C62828"/>
            </a:solidFill>
          </a:ln>
        </p:spPr>
        <p:txBody>
          <a:bodyPr rtlCol="0" anchor="ctr"/>
          <a:lstStyle/>
          <a:p>
            <a:pPr algn="ctr"/>
          </a:p>
        </p:txBody>
      </p:sp>
      <p:sp>
        <p:nvSpPr>
          <p:cNvPr id="16" name="Oval 15"/>
          <p:cNvSpPr/>
          <p:nvPr/>
        </p:nvSpPr>
        <p:spPr>
          <a:xfrm>
            <a:off x="10282427" y="4034332"/>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7497274" y="352029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7701991" y="5204242"/>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47529" y="3766493"/>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TF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33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214, Figure 7.7. Prices and volume are invented for teaching.</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10 OF 30</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Bearish triple bar patterns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does Lim say larger gaps do to a triple bearish pattern?</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Make it a continuation pattern</a:t>
            </a:r>
          </a:p>
          <a:p>
            <a:pPr algn="l">
              <a:lnSpc>
                <a:spcPct val="112000"/>
              </a:lnSpc>
              <a:spcBef>
                <a:spcPts val="0"/>
              </a:spcBef>
              <a:spcAft>
                <a:spcPts val="900"/>
              </a:spcAft>
            </a:pPr>
            <a:r>
              <a:rPr sz="1700" b="0" i="0">
                <a:solidFill>
                  <a:srgbClr val="FFFFFF"/>
                </a:solidFill>
                <a:latin typeface="Arial"/>
              </a:rPr>
              <a:t>B.  Make no difference</a:t>
            </a:r>
          </a:p>
          <a:p>
            <a:pPr algn="l">
              <a:lnSpc>
                <a:spcPct val="112000"/>
              </a:lnSpc>
              <a:spcBef>
                <a:spcPts val="0"/>
              </a:spcBef>
              <a:spcAft>
                <a:spcPts val="900"/>
              </a:spcAft>
            </a:pPr>
            <a:r>
              <a:rPr sz="1700" b="0" i="0">
                <a:solidFill>
                  <a:srgbClr val="FFFFFF"/>
                </a:solidFill>
                <a:latin typeface="Arial"/>
              </a:rPr>
              <a:t>C.  Make it more bearish once complete</a:t>
            </a:r>
          </a:p>
          <a:p>
            <a:pPr algn="l">
              <a:lnSpc>
                <a:spcPct val="112000"/>
              </a:lnSpc>
              <a:spcBef>
                <a:spcPts val="0"/>
              </a:spcBef>
              <a:spcAft>
                <a:spcPts val="900"/>
              </a:spcAft>
            </a:pPr>
            <a:r>
              <a:rPr sz="1700" b="0" i="0">
                <a:solidFill>
                  <a:srgbClr val="FFFFFF"/>
                </a:solidFill>
                <a:latin typeface="Arial"/>
              </a:rPr>
              <a:t>D.  Make the middle bar quieter</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which triple pattern can larger middle-bar volume count as more bearish?</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Pattern 1</a:t>
            </a:r>
          </a:p>
          <a:p>
            <a:pPr algn="l">
              <a:lnSpc>
                <a:spcPct val="112000"/>
              </a:lnSpc>
              <a:spcBef>
                <a:spcPts val="0"/>
              </a:spcBef>
              <a:spcAft>
                <a:spcPts val="900"/>
              </a:spcAft>
            </a:pPr>
            <a:r>
              <a:rPr sz="1700" b="0" i="0">
                <a:solidFill>
                  <a:srgbClr val="FFFFFF"/>
                </a:solidFill>
                <a:latin typeface="Arial"/>
              </a:rPr>
              <a:t>B.  Pattern 2</a:t>
            </a:r>
          </a:p>
          <a:p>
            <a:pPr algn="l">
              <a:lnSpc>
                <a:spcPct val="112000"/>
              </a:lnSpc>
              <a:spcBef>
                <a:spcPts val="0"/>
              </a:spcBef>
              <a:spcAft>
                <a:spcPts val="900"/>
              </a:spcAft>
            </a:pPr>
            <a:r>
              <a:rPr sz="1700" b="0" i="0">
                <a:solidFill>
                  <a:srgbClr val="FFFFFF"/>
                </a:solidFill>
                <a:latin typeface="Arial"/>
              </a:rPr>
              <a:t>C.  Pattern 4</a:t>
            </a:r>
          </a:p>
          <a:p>
            <a:pPr algn="l">
              <a:lnSpc>
                <a:spcPct val="112000"/>
              </a:lnSpc>
              <a:spcBef>
                <a:spcPts val="0"/>
              </a:spcBef>
              <a:spcAft>
                <a:spcPts val="900"/>
              </a:spcAft>
            </a:pPr>
            <a:r>
              <a:rPr sz="1700" b="0" i="0">
                <a:solidFill>
                  <a:srgbClr val="FFFFFF"/>
                </a:solidFill>
                <a:latin typeface="Arial"/>
              </a:rPr>
              <a:t>D.  None of them</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10</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Bearish triple bar patterns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does Lim say larger gaps do to a triple bearish pattern?</a:t>
            </a:r>
          </a:p>
        </p:txBody>
      </p:sp>
      <p:sp>
        <p:nvSpPr>
          <p:cNvPr id="9" name="TextBox 8"/>
          <p:cNvSpPr txBox="1"/>
          <p:nvPr/>
        </p:nvSpPr>
        <p:spPr>
          <a:xfrm>
            <a:off x="1143000" y="1949069"/>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C.  Make it more bearish once complete</a:t>
            </a:r>
          </a:p>
          <a:p>
            <a:pPr algn="l">
              <a:lnSpc>
                <a:spcPct val="115000"/>
              </a:lnSpc>
              <a:spcBef>
                <a:spcPts val="700"/>
              </a:spcBef>
              <a:spcAft>
                <a:spcPts val="0"/>
              </a:spcAft>
            </a:pPr>
            <a:r>
              <a:rPr sz="1700" b="0" i="0">
                <a:solidFill>
                  <a:srgbClr val="1A1A1A"/>
                </a:solidFill>
                <a:latin typeface="Arial"/>
              </a:rPr>
              <a:t>The larger the gaps, the more bearish the pattern upon completion (p. 213).</a:t>
            </a:r>
          </a:p>
        </p:txBody>
      </p:sp>
      <p:sp>
        <p:nvSpPr>
          <p:cNvPr id="10" name="Rectangle 9"/>
          <p:cNvSpPr/>
          <p:nvPr/>
        </p:nvSpPr>
        <p:spPr>
          <a:xfrm>
            <a:off x="777240" y="3082036"/>
            <a:ext cx="10637215" cy="187642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7642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In which triple pattern can larger middle-bar volume count as more bearish?</a:t>
            </a:r>
          </a:p>
        </p:txBody>
      </p:sp>
      <p:sp>
        <p:nvSpPr>
          <p:cNvPr id="13" name="TextBox 12"/>
          <p:cNvSpPr txBox="1"/>
          <p:nvPr/>
        </p:nvSpPr>
        <p:spPr>
          <a:xfrm>
            <a:off x="1143000" y="3824096"/>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Pattern 1</a:t>
            </a:r>
          </a:p>
          <a:p>
            <a:pPr algn="l">
              <a:lnSpc>
                <a:spcPct val="115000"/>
              </a:lnSpc>
              <a:spcBef>
                <a:spcPts val="700"/>
              </a:spcBef>
              <a:spcAft>
                <a:spcPts val="0"/>
              </a:spcAft>
            </a:pPr>
            <a:r>
              <a:rPr sz="1700" b="0" i="0">
                <a:solidFill>
                  <a:srgbClr val="1A1A1A"/>
                </a:solidFill>
                <a:latin typeface="Arial"/>
              </a:rPr>
              <a:t>The middle bar usually trades on low volume, except possibly in pattern 1, where larger volume is also considered more bearish (p. 213).</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10</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six bullish triple forms mirror them in a downtrend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34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 draws six basic triple bar bullish reversal patterns in a downtrend (p. 214).</a:t>
            </a:r>
          </a:p>
          <a:p>
            <a:pPr algn="l">
              <a:lnSpc>
                <a:spcPct val="118000"/>
              </a:lnSpc>
              <a:spcBef>
                <a:spcPts val="0"/>
              </a:spcBef>
              <a:spcAft>
                <a:spcPts val="1300"/>
              </a:spcAft>
            </a:pPr>
            <a:r>
              <a:rPr sz="2100" b="0" i="0">
                <a:solidFill>
                  <a:srgbClr val="1A1A1A"/>
                </a:solidFill>
                <a:latin typeface="Arial"/>
              </a:rPr>
              <a:t>Lim's reliability rule turns around: a bullish three-bar pattern is potentially more reliable if the last bar is overextended and closes at or near its high on high volume (p. 214).</a:t>
            </a:r>
          </a:p>
          <a:p>
            <a:pPr algn="l">
              <a:lnSpc>
                <a:spcPct val="118000"/>
              </a:lnSpc>
              <a:spcBef>
                <a:spcPts val="0"/>
              </a:spcBef>
              <a:spcAft>
                <a:spcPts val="1300"/>
              </a:spcAft>
            </a:pPr>
            <a:r>
              <a:rPr sz="2100" b="0" i="0">
                <a:solidFill>
                  <a:srgbClr val="1A1A1A"/>
                </a:solidFill>
                <a:latin typeface="Arial"/>
              </a:rPr>
              <a:t>Our six charts are the bearish ones turned upside down about PHP 45, so a close at PHP 50.50 becomes PHP 39.50.</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214. The prices are invented for teaching.</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triple form 1: a large middle bar that closes near its high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"1st bar closes near its low followed by a large middle bar closing near its high. The 3rd bar closes at or near its high" (Figure 7.8, p. 214). Here it is with invented prices. Bar 1 closes at PHP 39.50, near its low </a:t>
            </a:r>
            <a:r>
              <a:rPr sz="1700" b="1" i="0">
                <a:solidFill>
                  <a:srgbClr val="E09B00"/>
                </a:solidFill>
                <a:latin typeface="Arial"/>
              </a:rPr>
              <a:t>(1)</a:t>
            </a:r>
            <a:r>
              <a:rPr sz="1700" b="0" i="0">
                <a:solidFill>
                  <a:srgbClr val="1A1A1A"/>
                </a:solidFill>
                <a:latin typeface="Arial"/>
              </a:rPr>
              <a:t>; the large middle bar closes at PHP 39.40, near its high </a:t>
            </a:r>
            <a:r>
              <a:rPr sz="1700" b="1" i="0">
                <a:solidFill>
                  <a:srgbClr val="C62828"/>
                </a:solidFill>
                <a:latin typeface="Arial"/>
              </a:rPr>
              <a:t>(2)</a:t>
            </a:r>
            <a:r>
              <a:rPr sz="1700" b="0" i="0">
                <a:solidFill>
                  <a:srgbClr val="1A1A1A"/>
                </a:solidFill>
                <a:latin typeface="Arial"/>
              </a:rPr>
              <a:t>; bar 3 closes at PHP 41.00, near its high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297653" y="2395728"/>
            <a:ext cx="1439939"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297653" y="2395728"/>
            <a:ext cx="1439939"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571973" y="2670048"/>
            <a:ext cx="891299"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7.8</a:t>
            </a:r>
          </a:p>
          <a:p>
            <a:pPr algn="l">
              <a:lnSpc>
                <a:spcPct val="115000"/>
              </a:lnSpc>
              <a:spcBef>
                <a:spcPts val="0"/>
              </a:spcBef>
              <a:spcAft>
                <a:spcPts val="0"/>
              </a:spcAft>
            </a:pPr>
            <a:r>
              <a:rPr sz="1500" b="0" i="0">
                <a:solidFill>
                  <a:srgbClr val="1A1A1A"/>
                </a:solidFill>
                <a:latin typeface="Palatino"/>
              </a:rPr>
              <a:t>Figure 7.8, form 1: three bars with a large middle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7.8,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g-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4814315" y="4044391"/>
            <a:ext cx="87782" cy="87782"/>
          </a:xfrm>
          <a:prstGeom prst="ellipse">
            <a:avLst/>
          </a:prstGeom>
          <a:noFill/>
          <a:ln w="44450">
            <a:solidFill>
              <a:srgbClr val="E09B00"/>
            </a:solidFill>
          </a:ln>
        </p:spPr>
        <p:txBody>
          <a:bodyPr rtlCol="0" anchor="ctr"/>
          <a:lstStyle/>
          <a:p>
            <a:pPr algn="ctr"/>
          </a:p>
        </p:txBody>
      </p:sp>
      <p:sp>
        <p:nvSpPr>
          <p:cNvPr id="15" name="Oval 14"/>
          <p:cNvSpPr/>
          <p:nvPr/>
        </p:nvSpPr>
        <p:spPr>
          <a:xfrm>
            <a:off x="7548371" y="4083710"/>
            <a:ext cx="87782" cy="87782"/>
          </a:xfrm>
          <a:prstGeom prst="ellipse">
            <a:avLst/>
          </a:prstGeom>
          <a:noFill/>
          <a:ln w="44450">
            <a:solidFill>
              <a:srgbClr val="C62828"/>
            </a:solidFill>
          </a:ln>
        </p:spPr>
        <p:txBody>
          <a:bodyPr rtlCol="0" anchor="ctr"/>
          <a:lstStyle/>
          <a:p>
            <a:pPr algn="ctr"/>
          </a:p>
        </p:txBody>
      </p:sp>
      <p:sp>
        <p:nvSpPr>
          <p:cNvPr id="16" name="Oval 15"/>
          <p:cNvSpPr/>
          <p:nvPr/>
        </p:nvSpPr>
        <p:spPr>
          <a:xfrm>
            <a:off x="10282427" y="3454603"/>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4779417" y="377655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7497274" y="418689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31330" y="355778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TG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35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214, Figure 7.8. The prices are invented for teaching.</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triple form 2: a narrow, quiet middle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"1st bar closes near its low followed by a narrow range middle bar closing within its range on low volume. The 3rd bar closes at or near its high" (Figure 7.8, p. 214). Let us put invented prices on it. Bar 1 closes at PHP 39.00 </a:t>
            </a:r>
            <a:r>
              <a:rPr sz="1700" b="1" i="0">
                <a:solidFill>
                  <a:srgbClr val="E09B00"/>
                </a:solidFill>
                <a:latin typeface="Arial"/>
              </a:rPr>
              <a:t>(1)</a:t>
            </a:r>
            <a:r>
              <a:rPr sz="1700" b="0" i="0">
                <a:solidFill>
                  <a:srgbClr val="1A1A1A"/>
                </a:solidFill>
                <a:latin typeface="Arial"/>
              </a:rPr>
              <a:t>; the middle bar spans only PHP 0.60 inside it </a:t>
            </a:r>
            <a:r>
              <a:rPr sz="1700" b="1" i="0">
                <a:solidFill>
                  <a:srgbClr val="C62828"/>
                </a:solidFill>
                <a:latin typeface="Arial"/>
              </a:rPr>
              <a:t>(2)</a:t>
            </a:r>
            <a:r>
              <a:rPr sz="1700" b="0" i="0">
                <a:solidFill>
                  <a:srgbClr val="1A1A1A"/>
                </a:solidFill>
                <a:latin typeface="Arial"/>
              </a:rPr>
              <a:t>, on 0.8 million shares </a:t>
            </a:r>
            <a:r>
              <a:rPr sz="1700" b="1" i="0">
                <a:solidFill>
                  <a:srgbClr val="1F5FAD"/>
                </a:solidFill>
                <a:latin typeface="Arial"/>
              </a:rPr>
              <a:t>(3)</a:t>
            </a:r>
            <a:r>
              <a:rPr sz="1700" b="0" i="0">
                <a:solidFill>
                  <a:srgbClr val="1A1A1A"/>
                </a:solidFill>
                <a:latin typeface="Arial"/>
              </a:rPr>
              <a:t>; bar 3 closes at PHP 41.40, near its high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269603" y="2395728"/>
            <a:ext cx="1496040"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269603" y="2395728"/>
            <a:ext cx="1496040"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543923" y="2670048"/>
            <a:ext cx="947400"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7.8</a:t>
            </a:r>
          </a:p>
          <a:p>
            <a:pPr algn="l">
              <a:lnSpc>
                <a:spcPct val="115000"/>
              </a:lnSpc>
              <a:spcBef>
                <a:spcPts val="0"/>
              </a:spcBef>
              <a:spcAft>
                <a:spcPts val="0"/>
              </a:spcAft>
            </a:pPr>
            <a:r>
              <a:rPr sz="1500" b="0" i="0">
                <a:solidFill>
                  <a:srgbClr val="1A1A1A"/>
                </a:solidFill>
                <a:latin typeface="Palatino"/>
              </a:rPr>
              <a:t>Figure 7.8, form 2: a narrow middle bar inside the first.</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7.8,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h-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7381950" y="4118392"/>
            <a:ext cx="109727" cy="284117"/>
          </a:xfrm>
          <a:prstGeom prst="rect">
            <a:avLst/>
          </a:prstGeom>
          <a:noFill/>
          <a:ln w="44450">
            <a:solidFill>
              <a:srgbClr val="C62828"/>
            </a:solidFill>
          </a:ln>
        </p:spPr>
        <p:txBody>
          <a:bodyPr rtlCol="0" anchor="ctr"/>
          <a:lstStyle/>
          <a:p>
            <a:pPr algn="ctr"/>
          </a:p>
        </p:txBody>
      </p:sp>
      <p:sp>
        <p:nvSpPr>
          <p:cNvPr id="15" name="Oval 14"/>
          <p:cNvSpPr/>
          <p:nvPr/>
        </p:nvSpPr>
        <p:spPr>
          <a:xfrm>
            <a:off x="4814315" y="4369395"/>
            <a:ext cx="87782" cy="87782"/>
          </a:xfrm>
          <a:prstGeom prst="ellipse">
            <a:avLst/>
          </a:prstGeom>
          <a:noFill/>
          <a:ln w="44450">
            <a:solidFill>
              <a:srgbClr val="E09B00"/>
            </a:solidFill>
          </a:ln>
        </p:spPr>
        <p:txBody>
          <a:bodyPr rtlCol="0" anchor="ctr"/>
          <a:lstStyle/>
          <a:p>
            <a:pPr algn="ctr"/>
          </a:p>
        </p:txBody>
      </p:sp>
      <p:sp>
        <p:nvSpPr>
          <p:cNvPr id="16" name="Rectangle 15"/>
          <p:cNvSpPr/>
          <p:nvPr/>
        </p:nvSpPr>
        <p:spPr>
          <a:xfrm>
            <a:off x="7281367" y="5285231"/>
            <a:ext cx="310895" cy="100584"/>
          </a:xfrm>
          <a:prstGeom prst="rect">
            <a:avLst/>
          </a:prstGeom>
          <a:noFill/>
          <a:ln w="44450">
            <a:solidFill>
              <a:srgbClr val="1F5FAD"/>
            </a:solidFill>
          </a:ln>
        </p:spPr>
        <p:txBody>
          <a:bodyPr rtlCol="0" anchor="ctr"/>
          <a:lstStyle/>
          <a:p>
            <a:pPr algn="ctr"/>
          </a:p>
        </p:txBody>
      </p:sp>
      <p:sp>
        <p:nvSpPr>
          <p:cNvPr id="17" name="Oval 16"/>
          <p:cNvSpPr/>
          <p:nvPr/>
        </p:nvSpPr>
        <p:spPr>
          <a:xfrm>
            <a:off x="10282427" y="3452382"/>
            <a:ext cx="87782" cy="87782"/>
          </a:xfrm>
          <a:prstGeom prst="ellipse">
            <a:avLst/>
          </a:prstGeom>
          <a:noFill/>
          <a:ln w="44450">
            <a:solidFill>
              <a:srgbClr val="7B3FA0"/>
            </a:solidFill>
          </a:ln>
        </p:spPr>
        <p:txBody>
          <a:bodyPr rtlCol="0" anchor="ctr"/>
          <a:lstStyle/>
          <a:p>
            <a:pPr algn="ctr"/>
          </a:p>
        </p:txBody>
      </p:sp>
      <p:sp>
        <p:nvSpPr>
          <p:cNvPr id="18" name="Oval 17"/>
          <p:cNvSpPr/>
          <p:nvPr/>
        </p:nvSpPr>
        <p:spPr>
          <a:xfrm>
            <a:off x="7838799" y="440675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4779417" y="4101555"/>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Oval 19"/>
          <p:cNvSpPr/>
          <p:nvPr/>
        </p:nvSpPr>
        <p:spPr>
          <a:xfrm>
            <a:off x="7720279" y="520750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10231330" y="3555563"/>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TH - FIN1209 teaching chart, drawn for this course. Illustrative data, not a real instrument.</a:t>
            </a:r>
          </a:p>
        </p:txBody>
      </p:sp>
      <p:sp>
        <p:nvSpPr>
          <p:cNvPr id="23" name="TextBox 2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36 of 79</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214, Figure 7.8. Prices and volume are invented for teaching.</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triple form 3: a gap down, then a close back above it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"2nd bar gaps down and closes below the gap. The 3rd bar closes above the gap" (Figure 7.8, p. 214). Here it is with invented prices. Bar 1's low is PHP 40.00 and bar 2's high only PHP 39.60, leaving a PHP 0.40 gap </a:t>
            </a:r>
            <a:r>
              <a:rPr sz="1700" b="1" i="0">
                <a:solidFill>
                  <a:srgbClr val="E09B00"/>
                </a:solidFill>
                <a:latin typeface="Arial"/>
              </a:rPr>
              <a:t>(1)</a:t>
            </a:r>
            <a:r>
              <a:rPr sz="1700" b="0" i="0">
                <a:solidFill>
                  <a:srgbClr val="1A1A1A"/>
                </a:solidFill>
                <a:latin typeface="Arial"/>
              </a:rPr>
              <a:t>; bar 2 closes below it at PHP 38.80 </a:t>
            </a:r>
            <a:r>
              <a:rPr sz="1700" b="1" i="0">
                <a:solidFill>
                  <a:srgbClr val="C62828"/>
                </a:solidFill>
                <a:latin typeface="Arial"/>
              </a:rPr>
              <a:t>(2)</a:t>
            </a:r>
            <a:r>
              <a:rPr sz="1700" b="0" i="0">
                <a:solidFill>
                  <a:srgbClr val="1A1A1A"/>
                </a:solidFill>
                <a:latin typeface="Arial"/>
              </a:rPr>
              <a:t>; bar 3 closes at PHP 40.40, above the gap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223174" y="2395728"/>
            <a:ext cx="1588898"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223174" y="2395728"/>
            <a:ext cx="1588898"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497494" y="2670048"/>
            <a:ext cx="1040258"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7.8</a:t>
            </a:r>
          </a:p>
          <a:p>
            <a:pPr algn="l">
              <a:lnSpc>
                <a:spcPct val="115000"/>
              </a:lnSpc>
              <a:spcBef>
                <a:spcPts val="0"/>
              </a:spcBef>
              <a:spcAft>
                <a:spcPts val="0"/>
              </a:spcAft>
            </a:pPr>
            <a:r>
              <a:rPr sz="1500" b="0" i="0">
                <a:solidFill>
                  <a:srgbClr val="1A1A1A"/>
                </a:solidFill>
                <a:latin typeface="Palatino"/>
              </a:rPr>
              <a:t>Figure 7.8, form 3: a gap down, then a close above it.</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7.8,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i-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5987491" y="4145748"/>
            <a:ext cx="164591" cy="241964"/>
          </a:xfrm>
          <a:prstGeom prst="rect">
            <a:avLst/>
          </a:prstGeom>
          <a:noFill/>
          <a:ln w="44450">
            <a:solidFill>
              <a:srgbClr val="E09B00"/>
            </a:solidFill>
          </a:ln>
        </p:spPr>
        <p:txBody>
          <a:bodyPr rtlCol="0" anchor="ctr"/>
          <a:lstStyle/>
          <a:p>
            <a:pPr algn="ctr"/>
          </a:p>
        </p:txBody>
      </p:sp>
      <p:sp>
        <p:nvSpPr>
          <p:cNvPr id="15" name="Oval 14"/>
          <p:cNvSpPr/>
          <p:nvPr/>
        </p:nvSpPr>
        <p:spPr>
          <a:xfrm>
            <a:off x="7548371" y="4827750"/>
            <a:ext cx="87782" cy="87782"/>
          </a:xfrm>
          <a:prstGeom prst="ellipse">
            <a:avLst/>
          </a:prstGeom>
          <a:noFill/>
          <a:ln w="44450">
            <a:solidFill>
              <a:srgbClr val="C62828"/>
            </a:solidFill>
          </a:ln>
        </p:spPr>
        <p:txBody>
          <a:bodyPr rtlCol="0" anchor="ctr"/>
          <a:lstStyle/>
          <a:p>
            <a:pPr algn="ctr"/>
          </a:p>
        </p:txBody>
      </p:sp>
      <p:sp>
        <p:nvSpPr>
          <p:cNvPr id="16" name="Oval 15"/>
          <p:cNvSpPr/>
          <p:nvPr/>
        </p:nvSpPr>
        <p:spPr>
          <a:xfrm>
            <a:off x="10282427" y="3859893"/>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6147720" y="410558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7513473" y="455991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31330" y="396307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TI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37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214, Figure 7.8. The prices are invented for teaching.</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triple form 4: a single island reversal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"2nd bar gaps down on low volume. The 3rd bar gaps up and closes at or near its high. Also referred to as a single island reversal bar" (Figure 7.9, p. 215). Let us put invented prices on it. Bar 2 gaps down PHP 0.40 </a:t>
            </a:r>
            <a:r>
              <a:rPr sz="1700" b="1" i="0">
                <a:solidFill>
                  <a:srgbClr val="E09B00"/>
                </a:solidFill>
                <a:latin typeface="Arial"/>
              </a:rPr>
              <a:t>(1)</a:t>
            </a:r>
            <a:r>
              <a:rPr sz="1700" b="0" i="0">
                <a:solidFill>
                  <a:srgbClr val="1A1A1A"/>
                </a:solidFill>
                <a:latin typeface="Arial"/>
              </a:rPr>
              <a:t> on 0.7 million shares </a:t>
            </a:r>
            <a:r>
              <a:rPr sz="1700" b="1" i="0">
                <a:solidFill>
                  <a:srgbClr val="C62828"/>
                </a:solidFill>
                <a:latin typeface="Arial"/>
              </a:rPr>
              <a:t>(2)</a:t>
            </a:r>
            <a:r>
              <a:rPr sz="1700" b="0" i="0">
                <a:solidFill>
                  <a:srgbClr val="1A1A1A"/>
                </a:solidFill>
                <a:latin typeface="Arial"/>
              </a:rPr>
              <a:t>; bar 3 gaps up PHP 0.40 above it </a:t>
            </a:r>
            <a:r>
              <a:rPr sz="1700" b="1" i="0">
                <a:solidFill>
                  <a:srgbClr val="1F5FAD"/>
                </a:solidFill>
                <a:latin typeface="Arial"/>
              </a:rPr>
              <a:t>(3)</a:t>
            </a:r>
            <a:r>
              <a:rPr sz="1700" b="0" i="0">
                <a:solidFill>
                  <a:srgbClr val="1A1A1A"/>
                </a:solidFill>
                <a:latin typeface="Arial"/>
              </a:rPr>
              <a:t> and closes at PHP 41.40, near its high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269655" y="2395728"/>
            <a:ext cx="1495936"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269655" y="2395728"/>
            <a:ext cx="1495936"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543975" y="2670048"/>
            <a:ext cx="94729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7.9</a:t>
            </a:r>
          </a:p>
          <a:p>
            <a:pPr algn="l">
              <a:lnSpc>
                <a:spcPct val="115000"/>
              </a:lnSpc>
              <a:spcBef>
                <a:spcPts val="0"/>
              </a:spcBef>
              <a:spcAft>
                <a:spcPts val="0"/>
              </a:spcAft>
            </a:pPr>
            <a:r>
              <a:rPr sz="1500" b="0" i="0">
                <a:solidFill>
                  <a:srgbClr val="1A1A1A"/>
                </a:solidFill>
                <a:latin typeface="Palatino"/>
              </a:rPr>
              <a:t>Figure 7.9, form 4: a single island reversal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7.9,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j-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5987491" y="4078224"/>
            <a:ext cx="164591" cy="164591"/>
          </a:xfrm>
          <a:prstGeom prst="rect">
            <a:avLst/>
          </a:prstGeom>
          <a:noFill/>
          <a:ln w="44450">
            <a:solidFill>
              <a:srgbClr val="E09B00"/>
            </a:solidFill>
          </a:ln>
        </p:spPr>
        <p:txBody>
          <a:bodyPr rtlCol="0" anchor="ctr"/>
          <a:lstStyle/>
          <a:p>
            <a:pPr algn="ctr"/>
          </a:p>
        </p:txBody>
      </p:sp>
      <p:sp>
        <p:nvSpPr>
          <p:cNvPr id="15" name="Rectangle 14"/>
          <p:cNvSpPr/>
          <p:nvPr/>
        </p:nvSpPr>
        <p:spPr>
          <a:xfrm>
            <a:off x="7281367" y="5281715"/>
            <a:ext cx="310895" cy="104100"/>
          </a:xfrm>
          <a:prstGeom prst="rect">
            <a:avLst/>
          </a:prstGeom>
          <a:noFill/>
          <a:ln w="44450">
            <a:solidFill>
              <a:srgbClr val="C62828"/>
            </a:solidFill>
          </a:ln>
        </p:spPr>
        <p:txBody>
          <a:bodyPr rtlCol="0" anchor="ctr"/>
          <a:lstStyle/>
          <a:p>
            <a:pPr algn="ctr"/>
          </a:p>
        </p:txBody>
      </p:sp>
      <p:sp>
        <p:nvSpPr>
          <p:cNvPr id="16" name="Rectangle 15"/>
          <p:cNvSpPr/>
          <p:nvPr/>
        </p:nvSpPr>
        <p:spPr>
          <a:xfrm>
            <a:off x="8721546" y="4078224"/>
            <a:ext cx="164591" cy="164591"/>
          </a:xfrm>
          <a:prstGeom prst="rect">
            <a:avLst/>
          </a:prstGeom>
          <a:noFill/>
          <a:ln w="44450">
            <a:solidFill>
              <a:srgbClr val="1F5FAD"/>
            </a:solidFill>
          </a:ln>
        </p:spPr>
        <p:txBody>
          <a:bodyPr rtlCol="0" anchor="ctr"/>
          <a:lstStyle/>
          <a:p>
            <a:pPr algn="ctr"/>
          </a:p>
        </p:txBody>
      </p:sp>
      <p:sp>
        <p:nvSpPr>
          <p:cNvPr id="17" name="Oval 16"/>
          <p:cNvSpPr/>
          <p:nvPr/>
        </p:nvSpPr>
        <p:spPr>
          <a:xfrm>
            <a:off x="10282427" y="3458260"/>
            <a:ext cx="87782" cy="87782"/>
          </a:xfrm>
          <a:prstGeom prst="ellipse">
            <a:avLst/>
          </a:prstGeom>
          <a:noFill/>
          <a:ln w="44450">
            <a:solidFill>
              <a:srgbClr val="7B3FA0"/>
            </a:solidFill>
          </a:ln>
        </p:spPr>
        <p:txBody>
          <a:bodyPr rtlCol="0" anchor="ctr"/>
          <a:lstStyle/>
          <a:p>
            <a:pPr algn="ctr"/>
          </a:p>
        </p:txBody>
      </p:sp>
      <p:sp>
        <p:nvSpPr>
          <p:cNvPr id="18" name="Oval 17"/>
          <p:cNvSpPr/>
          <p:nvPr/>
        </p:nvSpPr>
        <p:spPr>
          <a:xfrm>
            <a:off x="6150151" y="392670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7720279" y="520574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8884207" y="4138301"/>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10231330" y="3561441"/>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TJ - FIN1209 teaching chart, drawn for this course. Illustrative data, not a real instrument.</a:t>
            </a:r>
          </a:p>
        </p:txBody>
      </p:sp>
      <p:sp>
        <p:nvSpPr>
          <p:cNvPr id="23" name="TextBox 2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38 of 79</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215, Figure 7.9. Prices and volume are invented for teaching.</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triple form 5: the third bar engulfs the second</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"2nd bar gaps down on low volume. The 3rd bar engulfs the 2nd bar and closes above the gap" (Figure 7.9, p. 215). Here it is with invented prices. Bar 2 gaps down below PHP 40.00 </a:t>
            </a:r>
            <a:r>
              <a:rPr sz="1700" b="1" i="0">
                <a:solidFill>
                  <a:srgbClr val="E09B00"/>
                </a:solidFill>
                <a:latin typeface="Arial"/>
              </a:rPr>
              <a:t>(1)</a:t>
            </a:r>
            <a:r>
              <a:rPr sz="1700" b="0" i="0">
                <a:solidFill>
                  <a:srgbClr val="1A1A1A"/>
                </a:solidFill>
                <a:latin typeface="Arial"/>
              </a:rPr>
              <a:t> on 0.6 million shares </a:t>
            </a:r>
            <a:r>
              <a:rPr sz="1700" b="1" i="0">
                <a:solidFill>
                  <a:srgbClr val="C62828"/>
                </a:solidFill>
                <a:latin typeface="Arial"/>
              </a:rPr>
              <a:t>(2)</a:t>
            </a:r>
            <a:r>
              <a:rPr sz="1700" b="0" i="0">
                <a:solidFill>
                  <a:srgbClr val="1A1A1A"/>
                </a:solidFill>
                <a:latin typeface="Arial"/>
              </a:rPr>
              <a:t>; bar 3 runs from PHP 38.80 to PHP 40.80, beyond both ends of bar 2 </a:t>
            </a:r>
            <a:r>
              <a:rPr sz="1700" b="1" i="0">
                <a:solidFill>
                  <a:srgbClr val="1F5FAD"/>
                </a:solidFill>
                <a:latin typeface="Arial"/>
              </a:rPr>
              <a:t>(3)</a:t>
            </a:r>
            <a:r>
              <a:rPr sz="1700" b="0" i="0">
                <a:solidFill>
                  <a:srgbClr val="1A1A1A"/>
                </a:solidFill>
                <a:latin typeface="Arial"/>
              </a:rPr>
              <a:t>, and closes at PHP 40.60, above the gap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316403" y="2395728"/>
            <a:ext cx="1402440"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316403" y="2395728"/>
            <a:ext cx="1402440"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590723" y="2670048"/>
            <a:ext cx="853800"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7.9</a:t>
            </a:r>
          </a:p>
          <a:p>
            <a:pPr algn="l">
              <a:lnSpc>
                <a:spcPct val="115000"/>
              </a:lnSpc>
              <a:spcBef>
                <a:spcPts val="0"/>
              </a:spcBef>
              <a:spcAft>
                <a:spcPts val="0"/>
              </a:spcAft>
            </a:pPr>
            <a:r>
              <a:rPr sz="1500" b="0" i="0">
                <a:solidFill>
                  <a:srgbClr val="1A1A1A"/>
                </a:solidFill>
                <a:latin typeface="Palatino"/>
              </a:rPr>
              <a:t>Figure 7.9, form 5: a third bar engulfing the second.</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7.9,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k-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10116006" y="3489682"/>
            <a:ext cx="109728" cy="1027453"/>
          </a:xfrm>
          <a:prstGeom prst="rect">
            <a:avLst/>
          </a:prstGeom>
          <a:noFill/>
          <a:ln w="44450">
            <a:solidFill>
              <a:srgbClr val="1F5FAD"/>
            </a:solidFill>
          </a:ln>
        </p:spPr>
        <p:txBody>
          <a:bodyPr rtlCol="0" anchor="ctr"/>
          <a:lstStyle/>
          <a:p>
            <a:pPr algn="ctr"/>
          </a:p>
        </p:txBody>
      </p:sp>
      <p:sp>
        <p:nvSpPr>
          <p:cNvPr id="15" name="Rectangle 14"/>
          <p:cNvSpPr/>
          <p:nvPr/>
        </p:nvSpPr>
        <p:spPr>
          <a:xfrm>
            <a:off x="5987491" y="3906150"/>
            <a:ext cx="164591" cy="194517"/>
          </a:xfrm>
          <a:prstGeom prst="rect">
            <a:avLst/>
          </a:prstGeom>
          <a:noFill/>
          <a:ln w="44450">
            <a:solidFill>
              <a:srgbClr val="E09B00"/>
            </a:solidFill>
          </a:ln>
        </p:spPr>
        <p:txBody>
          <a:bodyPr rtlCol="0" anchor="ctr"/>
          <a:lstStyle/>
          <a:p>
            <a:pPr algn="ctr"/>
          </a:p>
        </p:txBody>
      </p:sp>
      <p:sp>
        <p:nvSpPr>
          <p:cNvPr id="16" name="Rectangle 15"/>
          <p:cNvSpPr/>
          <p:nvPr/>
        </p:nvSpPr>
        <p:spPr>
          <a:xfrm>
            <a:off x="7281367" y="5294376"/>
            <a:ext cx="310895" cy="91439"/>
          </a:xfrm>
          <a:prstGeom prst="rect">
            <a:avLst/>
          </a:prstGeom>
          <a:noFill/>
          <a:ln w="44450">
            <a:solidFill>
              <a:srgbClr val="C62828"/>
            </a:solidFill>
          </a:ln>
        </p:spPr>
        <p:txBody>
          <a:bodyPr rtlCol="0" anchor="ctr"/>
          <a:lstStyle/>
          <a:p>
            <a:pPr algn="ctr"/>
          </a:p>
        </p:txBody>
      </p:sp>
      <p:sp>
        <p:nvSpPr>
          <p:cNvPr id="17" name="Oval 16"/>
          <p:cNvSpPr/>
          <p:nvPr/>
        </p:nvSpPr>
        <p:spPr>
          <a:xfrm>
            <a:off x="10282427" y="3570482"/>
            <a:ext cx="87782" cy="87782"/>
          </a:xfrm>
          <a:prstGeom prst="ellipse">
            <a:avLst/>
          </a:prstGeom>
          <a:noFill/>
          <a:ln w="44450">
            <a:solidFill>
              <a:srgbClr val="7B3FA0"/>
            </a:solidFill>
          </a:ln>
        </p:spPr>
        <p:txBody>
          <a:bodyPr rtlCol="0" anchor="ctr"/>
          <a:lstStyle/>
          <a:p>
            <a:pPr algn="ctr"/>
          </a:p>
        </p:txBody>
      </p:sp>
      <p:sp>
        <p:nvSpPr>
          <p:cNvPr id="18" name="Oval 17"/>
          <p:cNvSpPr/>
          <p:nvPr/>
        </p:nvSpPr>
        <p:spPr>
          <a:xfrm>
            <a:off x="10225734" y="3875393"/>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Oval 18"/>
          <p:cNvSpPr/>
          <p:nvPr/>
        </p:nvSpPr>
        <p:spPr>
          <a:xfrm>
            <a:off x="6153382" y="374607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Oval 19"/>
          <p:cNvSpPr/>
          <p:nvPr/>
        </p:nvSpPr>
        <p:spPr>
          <a:xfrm>
            <a:off x="7720279" y="521208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1" name="Oval 20"/>
          <p:cNvSpPr/>
          <p:nvPr/>
        </p:nvSpPr>
        <p:spPr>
          <a:xfrm>
            <a:off x="10475038" y="3763093"/>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TK - FIN1209 teaching chart, drawn for this course. Illustrative data, not a real instrument.</a:t>
            </a:r>
          </a:p>
        </p:txBody>
      </p:sp>
      <p:sp>
        <p:nvSpPr>
          <p:cNvPr id="23" name="TextBox 2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39 of 79</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215, Figure 7.9. Prices and volume are invented for teaching.</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triple form 6: a close above the middle bar's high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the 2nd bar "closes at or near its low on low volume followed by a 3rd bar closing above the high of the 2nd bar (and preferably above the close of the 1st bar as well)" (Figure 7.9, p. 215). Say bar 2 closes at PHP 38.70 </a:t>
            </a:r>
            <a:r>
              <a:rPr sz="1700" b="1" i="0">
                <a:solidFill>
                  <a:srgbClr val="E09B00"/>
                </a:solidFill>
                <a:latin typeface="Arial"/>
              </a:rPr>
              <a:t>(1)</a:t>
            </a:r>
            <a:r>
              <a:rPr sz="1700" b="0" i="0">
                <a:solidFill>
                  <a:srgbClr val="1A1A1A"/>
                </a:solidFill>
                <a:latin typeface="Arial"/>
              </a:rPr>
              <a:t> on 0.8 million shares </a:t>
            </a:r>
            <a:r>
              <a:rPr sz="1700" b="1" i="0">
                <a:solidFill>
                  <a:srgbClr val="C62828"/>
                </a:solidFill>
                <a:latin typeface="Arial"/>
              </a:rPr>
              <a:t>(2)</a:t>
            </a:r>
            <a:r>
              <a:rPr sz="1700" b="0" i="0">
                <a:solidFill>
                  <a:srgbClr val="1A1A1A"/>
                </a:solidFill>
                <a:latin typeface="Arial"/>
              </a:rPr>
              <a:t>; bar 3 closes at PHP 40.20 </a:t>
            </a:r>
            <a:r>
              <a:rPr sz="1700" b="1" i="0">
                <a:solidFill>
                  <a:srgbClr val="1F5FAD"/>
                </a:solidFill>
                <a:latin typeface="Arial"/>
              </a:rPr>
              <a:t>(3)</a:t>
            </a:r>
            <a:r>
              <a:rPr sz="1700" b="0" i="0">
                <a:solidFill>
                  <a:srgbClr val="1A1A1A"/>
                </a:solidFill>
                <a:latin typeface="Arial"/>
              </a:rPr>
              <a:t>, above bar 2's PHP 39.90 high and bar 1's PHP 39.80 close.</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297357" y="2395728"/>
            <a:ext cx="1440531"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297357" y="2395728"/>
            <a:ext cx="1440531"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571677" y="2670048"/>
            <a:ext cx="891891"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7.9</a:t>
            </a:r>
          </a:p>
          <a:p>
            <a:pPr algn="l">
              <a:lnSpc>
                <a:spcPct val="115000"/>
              </a:lnSpc>
              <a:spcBef>
                <a:spcPts val="0"/>
              </a:spcBef>
              <a:spcAft>
                <a:spcPts val="0"/>
              </a:spcAft>
            </a:pPr>
            <a:r>
              <a:rPr sz="1500" b="0" i="0">
                <a:solidFill>
                  <a:srgbClr val="1A1A1A"/>
                </a:solidFill>
                <a:latin typeface="Palatino"/>
              </a:rPr>
              <a:t>Figure 7.9, form 6: a close above the middle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7.9,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l-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7548371" y="4404664"/>
            <a:ext cx="87782" cy="87782"/>
          </a:xfrm>
          <a:prstGeom prst="ellipse">
            <a:avLst/>
          </a:prstGeom>
          <a:noFill/>
          <a:ln w="44450">
            <a:solidFill>
              <a:srgbClr val="E09B00"/>
            </a:solidFill>
          </a:ln>
        </p:spPr>
        <p:txBody>
          <a:bodyPr rtlCol="0" anchor="ctr"/>
          <a:lstStyle/>
          <a:p>
            <a:pPr algn="ctr"/>
          </a:p>
        </p:txBody>
      </p:sp>
      <p:sp>
        <p:nvSpPr>
          <p:cNvPr id="15" name="Rectangle 14"/>
          <p:cNvSpPr/>
          <p:nvPr/>
        </p:nvSpPr>
        <p:spPr>
          <a:xfrm>
            <a:off x="7281367" y="5278700"/>
            <a:ext cx="310895" cy="107115"/>
          </a:xfrm>
          <a:prstGeom prst="rect">
            <a:avLst/>
          </a:prstGeom>
          <a:noFill/>
          <a:ln w="44450">
            <a:solidFill>
              <a:srgbClr val="C62828"/>
            </a:solidFill>
          </a:ln>
        </p:spPr>
        <p:txBody>
          <a:bodyPr rtlCol="0" anchor="ctr"/>
          <a:lstStyle/>
          <a:p>
            <a:pPr algn="ctr"/>
          </a:p>
        </p:txBody>
      </p:sp>
      <p:sp>
        <p:nvSpPr>
          <p:cNvPr id="16" name="Oval 15"/>
          <p:cNvSpPr/>
          <p:nvPr/>
        </p:nvSpPr>
        <p:spPr>
          <a:xfrm>
            <a:off x="10282427" y="3787444"/>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7513473" y="4136825"/>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7701991" y="5204242"/>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31330" y="3890625"/>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TL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40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215, Figure 7.9. Prices and volume are invented for teaching.</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11 OF 30</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Bullish triple bar patterns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last bar makes a bullish three-bar pattern potentially more reliable?</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A narrow bar on low volume</a:t>
            </a:r>
          </a:p>
          <a:p>
            <a:pPr algn="l">
              <a:lnSpc>
                <a:spcPct val="112000"/>
              </a:lnSpc>
              <a:spcBef>
                <a:spcPts val="0"/>
              </a:spcBef>
              <a:spcAft>
                <a:spcPts val="900"/>
              </a:spcAft>
            </a:pPr>
            <a:r>
              <a:rPr sz="1700" b="0" i="0">
                <a:solidFill>
                  <a:srgbClr val="FFFFFF"/>
                </a:solidFill>
                <a:latin typeface="Arial"/>
              </a:rPr>
              <a:t>B.  A bar that gaps down</a:t>
            </a:r>
          </a:p>
          <a:p>
            <a:pPr algn="l">
              <a:lnSpc>
                <a:spcPct val="112000"/>
              </a:lnSpc>
              <a:spcBef>
                <a:spcPts val="0"/>
              </a:spcBef>
              <a:spcAft>
                <a:spcPts val="900"/>
              </a:spcAft>
            </a:pPr>
            <a:r>
              <a:rPr sz="1700" b="0" i="0">
                <a:solidFill>
                  <a:srgbClr val="FFFFFF"/>
                </a:solidFill>
                <a:latin typeface="Arial"/>
              </a:rPr>
              <a:t>C.  A bar closing near its low</a:t>
            </a:r>
          </a:p>
          <a:p>
            <a:pPr algn="l">
              <a:lnSpc>
                <a:spcPct val="112000"/>
              </a:lnSpc>
              <a:spcBef>
                <a:spcPts val="0"/>
              </a:spcBef>
              <a:spcAft>
                <a:spcPts val="900"/>
              </a:spcAft>
            </a:pPr>
            <a:r>
              <a:rPr sz="1700" b="0" i="0">
                <a:solidFill>
                  <a:srgbClr val="FFFFFF"/>
                </a:solidFill>
                <a:latin typeface="Arial"/>
              </a:rPr>
              <a:t>D.  An overextended bar closing near its high on high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does Lim call bullish triple pattern 4?</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An inside bar</a:t>
            </a:r>
          </a:p>
          <a:p>
            <a:pPr algn="l">
              <a:lnSpc>
                <a:spcPct val="112000"/>
              </a:lnSpc>
              <a:spcBef>
                <a:spcPts val="0"/>
              </a:spcBef>
              <a:spcAft>
                <a:spcPts val="900"/>
              </a:spcAft>
            </a:pPr>
            <a:r>
              <a:rPr sz="1700" b="0" i="0">
                <a:solidFill>
                  <a:srgbClr val="FFFFFF"/>
                </a:solidFill>
                <a:latin typeface="Arial"/>
              </a:rPr>
              <a:t>B.  A single island reversal bar</a:t>
            </a:r>
          </a:p>
          <a:p>
            <a:pPr algn="l">
              <a:lnSpc>
                <a:spcPct val="112000"/>
              </a:lnSpc>
              <a:spcBef>
                <a:spcPts val="0"/>
              </a:spcBef>
              <a:spcAft>
                <a:spcPts val="900"/>
              </a:spcAft>
            </a:pPr>
            <a:r>
              <a:rPr sz="1700" b="0" i="0">
                <a:solidFill>
                  <a:srgbClr val="FFFFFF"/>
                </a:solidFill>
                <a:latin typeface="Arial"/>
              </a:rPr>
              <a:t>C.  A key reversal bar</a:t>
            </a:r>
          </a:p>
          <a:p>
            <a:pPr algn="l">
              <a:lnSpc>
                <a:spcPct val="112000"/>
              </a:lnSpc>
              <a:spcBef>
                <a:spcPts val="0"/>
              </a:spcBef>
              <a:spcAft>
                <a:spcPts val="900"/>
              </a:spcAft>
            </a:pPr>
            <a:r>
              <a:rPr sz="1700" b="0" i="0">
                <a:solidFill>
                  <a:srgbClr val="FFFFFF"/>
                </a:solidFill>
                <a:latin typeface="Arial"/>
              </a:rPr>
              <a:t>D.  An outside bar</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11</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Bullish triple bar patterns</a:t>
            </a:r>
          </a:p>
        </p:txBody>
      </p:sp>
      <p:sp>
        <p:nvSpPr>
          <p:cNvPr id="6" name="Rectangle 5"/>
          <p:cNvSpPr/>
          <p:nvPr/>
        </p:nvSpPr>
        <p:spPr>
          <a:xfrm>
            <a:off x="777240" y="1207008"/>
            <a:ext cx="10637215" cy="187642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76425"/>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Which last bar makes a bullish three-bar pattern potentially more reliable?</a:t>
            </a:r>
          </a:p>
        </p:txBody>
      </p:sp>
      <p:sp>
        <p:nvSpPr>
          <p:cNvPr id="9" name="TextBox 8"/>
          <p:cNvSpPr txBox="1"/>
          <p:nvPr/>
        </p:nvSpPr>
        <p:spPr>
          <a:xfrm>
            <a:off x="1143000" y="1949069"/>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An overextended bar closing near its high on high volume</a:t>
            </a:r>
          </a:p>
          <a:p>
            <a:pPr algn="l">
              <a:lnSpc>
                <a:spcPct val="115000"/>
              </a:lnSpc>
              <a:spcBef>
                <a:spcPts val="700"/>
              </a:spcBef>
              <a:spcAft>
                <a:spcPts val="0"/>
              </a:spcAft>
            </a:pPr>
            <a:r>
              <a:rPr sz="1700" b="0" i="0">
                <a:solidFill>
                  <a:srgbClr val="1A1A1A"/>
                </a:solidFill>
                <a:latin typeface="Arial"/>
              </a:rPr>
              <a:t>Lim says a bullish three-bar pattern is potentially more reliable if the last bar is overextended and closes at or near its high on high volume (p. 214).</a:t>
            </a:r>
          </a:p>
        </p:txBody>
      </p:sp>
      <p:sp>
        <p:nvSpPr>
          <p:cNvPr id="10" name="Rectangle 9"/>
          <p:cNvSpPr/>
          <p:nvPr/>
        </p:nvSpPr>
        <p:spPr>
          <a:xfrm>
            <a:off x="777240" y="3330321"/>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30321"/>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68065"/>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What does Lim call bullish triple pattern 4?</a:t>
            </a:r>
          </a:p>
        </p:txBody>
      </p:sp>
      <p:sp>
        <p:nvSpPr>
          <p:cNvPr id="13" name="TextBox 12"/>
          <p:cNvSpPr txBox="1"/>
          <p:nvPr/>
        </p:nvSpPr>
        <p:spPr>
          <a:xfrm>
            <a:off x="1143000" y="4072382"/>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A single island reversal bar</a:t>
            </a:r>
          </a:p>
          <a:p>
            <a:pPr algn="l">
              <a:lnSpc>
                <a:spcPct val="115000"/>
              </a:lnSpc>
              <a:spcBef>
                <a:spcPts val="700"/>
              </a:spcBef>
              <a:spcAft>
                <a:spcPts val="0"/>
              </a:spcAft>
            </a:pPr>
            <a:r>
              <a:rPr sz="1700" b="0" i="0">
                <a:solidFill>
                  <a:srgbClr val="1A1A1A"/>
                </a:solidFill>
                <a:latin typeface="Arial"/>
              </a:rPr>
              <a:t>Its label ends "Also referred to as a single island reversal bar" (p. 215).</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11</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Multiple bar patterns stretch the middle across several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41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 draws four basic multiple bar bearish reversal patterns in an uptrend (p. 214). Between the first and the last bar sit several bars, where a triple pattern had one.</a:t>
            </a:r>
          </a:p>
          <a:p>
            <a:pPr algn="l">
              <a:lnSpc>
                <a:spcPct val="118000"/>
              </a:lnSpc>
              <a:spcBef>
                <a:spcPts val="0"/>
              </a:spcBef>
              <a:spcAft>
                <a:spcPts val="1300"/>
              </a:spcAft>
            </a:pPr>
            <a:r>
              <a:rPr sz="2100" b="0" i="0">
                <a:solidFill>
                  <a:srgbClr val="1A1A1A"/>
                </a:solidFill>
                <a:latin typeface="Arial"/>
              </a:rPr>
              <a:t>The gap rule carries over: the larger the gaps, the more bearish the pattern. And the bars between the first and last should generally trade on low volume (p. 214).</a:t>
            </a:r>
          </a:p>
          <a:p>
            <a:pPr algn="l">
              <a:lnSpc>
                <a:spcPct val="118000"/>
              </a:lnSpc>
              <a:spcBef>
                <a:spcPts val="0"/>
              </a:spcBef>
              <a:spcAft>
                <a:spcPts val="1300"/>
              </a:spcAft>
            </a:pPr>
            <a:r>
              <a:rPr sz="2100" b="0" i="0">
                <a:solidFill>
                  <a:srgbClr val="1A1A1A"/>
                </a:solidFill>
                <a:latin typeface="Arial"/>
              </a:rPr>
              <a:t>The last bar matters most again: an overextended last bar closing near or at its low on high volume makes the pattern potentially more reliable (p. 215).</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214 to 215.</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Pattern 2 is possibly the exception; either extreme warns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42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In pattern 2 the middle bars are wide, each closing near its low. There, Lim says, high volume is possibly also bearish: the sellers are working to keep each close near the low (pp. 214 to 215).</a:t>
            </a:r>
          </a:p>
          <a:p>
            <a:pPr algn="l">
              <a:lnSpc>
                <a:spcPct val="118000"/>
              </a:lnSpc>
              <a:spcBef>
                <a:spcPts val="0"/>
              </a:spcBef>
              <a:spcAft>
                <a:spcPts val="1300"/>
              </a:spcAft>
            </a:pPr>
            <a:r>
              <a:rPr sz="2100" b="0" i="0">
                <a:solidFill>
                  <a:srgbClr val="1A1A1A"/>
                </a:solidFill>
                <a:latin typeface="Arial"/>
              </a:rPr>
              <a:t>Low volume on those wide bars is bearish too: it shows they are not supported by enough demand (p. 215).</a:t>
            </a:r>
          </a:p>
          <a:p>
            <a:pPr algn="l">
              <a:lnSpc>
                <a:spcPct val="118000"/>
              </a:lnSpc>
              <a:spcBef>
                <a:spcPts val="0"/>
              </a:spcBef>
              <a:spcAft>
                <a:spcPts val="1300"/>
              </a:spcAft>
            </a:pPr>
            <a:r>
              <a:rPr sz="2100" b="0" i="0">
                <a:solidFill>
                  <a:srgbClr val="1A1A1A"/>
                </a:solidFill>
                <a:latin typeface="Arial"/>
              </a:rPr>
              <a:t>Lim sums it up: extremely high or low volume on the wide middle bars indicates bearishness in an uptrend (p. 215). So 3.8 million or 0.4 million shares, against an ordinary 2.0 million, would both warn.</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214 to 215. The volumes are invented for teaching.</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Multiple form 1: narrow bars hold near the first high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43 of 79</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Lim's label: "1st bar closes near its high followed by multiple narrow range bars closing near the 1st bar's high. The last bar closes at or near its low" (Figure 7.10, p. 215).</a:t>
            </a:r>
          </a:p>
          <a:p>
            <a:pPr algn="l">
              <a:lnSpc>
                <a:spcPct val="105000"/>
              </a:lnSpc>
              <a:spcBef>
                <a:spcPts val="0"/>
              </a:spcBef>
              <a:spcAft>
                <a:spcPts val="1100"/>
              </a:spcAft>
            </a:pPr>
            <a:r>
              <a:rPr sz="2000" b="0" i="0">
                <a:solidFill>
                  <a:srgbClr val="1A1A1A"/>
                </a:solidFill>
                <a:latin typeface="Arial"/>
              </a:rPr>
              <a:t>In the drawing, </a:t>
            </a:r>
            <a:r>
              <a:rPr sz="2000" b="1" i="0">
                <a:solidFill>
                  <a:srgbClr val="E09B00"/>
                </a:solidFill>
                <a:latin typeface="Arial"/>
              </a:rPr>
              <a:t>(1)</a:t>
            </a:r>
            <a:r>
              <a:rPr sz="2000" b="0" i="0">
                <a:solidFill>
                  <a:srgbClr val="1A1A1A"/>
                </a:solidFill>
                <a:latin typeface="Arial"/>
              </a:rPr>
              <a:t> is the first bar, </a:t>
            </a:r>
            <a:r>
              <a:rPr sz="2000" b="1" i="0">
                <a:solidFill>
                  <a:srgbClr val="C62828"/>
                </a:solidFill>
                <a:latin typeface="Arial"/>
              </a:rPr>
              <a:t>(2)</a:t>
            </a:r>
            <a:r>
              <a:rPr sz="2000" b="0" i="0">
                <a:solidFill>
                  <a:srgbClr val="1A1A1A"/>
                </a:solidFill>
                <a:latin typeface="Arial"/>
              </a:rPr>
              <a:t> the narrow bars and </a:t>
            </a:r>
            <a:r>
              <a:rPr sz="2000" b="1" i="0">
                <a:solidFill>
                  <a:srgbClr val="1F5FAD"/>
                </a:solidFill>
                <a:latin typeface="Arial"/>
              </a:rPr>
              <a:t>(3)</a:t>
            </a:r>
            <a:r>
              <a:rPr sz="2000" b="0" i="0">
                <a:solidFill>
                  <a:srgbClr val="1A1A1A"/>
                </a:solidFill>
                <a:latin typeface="Arial"/>
              </a:rPr>
              <a:t> the last bar.</a:t>
            </a:r>
          </a:p>
        </p:txBody>
      </p:sp>
      <p:sp>
        <p:nvSpPr>
          <p:cNvPr id="8" name="Rectangle 7"/>
          <p:cNvSpPr/>
          <p:nvPr/>
        </p:nvSpPr>
        <p:spPr>
          <a:xfrm>
            <a:off x="6700908" y="1810512"/>
            <a:ext cx="3864797"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819780" y="1929384"/>
            <a:ext cx="3627053"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819780" y="1929384"/>
            <a:ext cx="3627053"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094100" y="2203703"/>
            <a:ext cx="3078413"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7.10</a:t>
            </a:r>
          </a:p>
          <a:p>
            <a:pPr algn="l">
              <a:lnSpc>
                <a:spcPct val="115000"/>
              </a:lnSpc>
              <a:spcBef>
                <a:spcPts val="0"/>
              </a:spcBef>
              <a:spcAft>
                <a:spcPts val="0"/>
              </a:spcAft>
            </a:pPr>
            <a:r>
              <a:rPr sz="1500" b="0" i="0">
                <a:solidFill>
                  <a:srgbClr val="1A1A1A"/>
                </a:solidFill>
                <a:latin typeface="Palatino"/>
              </a:rPr>
              <a:t>Figure 7.10, form 1: narrow bars near the first high, then a low close.</a:t>
            </a:r>
          </a:p>
        </p:txBody>
      </p:sp>
      <p:sp>
        <p:nvSpPr>
          <p:cNvPr id="12" name="Rectangle 11"/>
          <p:cNvSpPr/>
          <p:nvPr/>
        </p:nvSpPr>
        <p:spPr>
          <a:xfrm>
            <a:off x="7481184" y="2645148"/>
            <a:ext cx="512054" cy="2147292"/>
          </a:xfrm>
          <a:prstGeom prst="rect">
            <a:avLst/>
          </a:prstGeom>
          <a:noFill/>
          <a:ln w="44450">
            <a:solidFill>
              <a:srgbClr val="E09B00"/>
            </a:solidFill>
          </a:ln>
        </p:spPr>
        <p:txBody>
          <a:bodyPr rtlCol="0" anchor="ctr"/>
          <a:lstStyle/>
          <a:p>
            <a:pPr algn="ctr"/>
          </a:p>
        </p:txBody>
      </p:sp>
      <p:sp>
        <p:nvSpPr>
          <p:cNvPr id="13" name="Rectangle 12"/>
          <p:cNvSpPr/>
          <p:nvPr/>
        </p:nvSpPr>
        <p:spPr>
          <a:xfrm>
            <a:off x="7993239" y="2334533"/>
            <a:ext cx="1536163" cy="1012873"/>
          </a:xfrm>
          <a:prstGeom prst="rect">
            <a:avLst/>
          </a:prstGeom>
          <a:noFill/>
          <a:ln w="44450">
            <a:solidFill>
              <a:srgbClr val="C62828"/>
            </a:solidFill>
          </a:ln>
        </p:spPr>
        <p:txBody>
          <a:bodyPr rtlCol="0" anchor="ctr"/>
          <a:lstStyle/>
          <a:p>
            <a:pPr algn="ctr"/>
          </a:p>
        </p:txBody>
      </p:sp>
      <p:sp>
        <p:nvSpPr>
          <p:cNvPr id="14" name="Rectangle 13"/>
          <p:cNvSpPr/>
          <p:nvPr/>
        </p:nvSpPr>
        <p:spPr>
          <a:xfrm>
            <a:off x="9529402" y="2604633"/>
            <a:ext cx="490718" cy="2160797"/>
          </a:xfrm>
          <a:prstGeom prst="rect">
            <a:avLst/>
          </a:prstGeom>
          <a:noFill/>
          <a:ln w="44450">
            <a:solidFill>
              <a:srgbClr val="1F5FAD"/>
            </a:solidFill>
          </a:ln>
        </p:spPr>
        <p:txBody>
          <a:bodyPr rtlCol="0" anchor="ctr"/>
          <a:lstStyle/>
          <a:p>
            <a:pPr algn="ctr"/>
          </a:p>
        </p:txBody>
      </p:sp>
      <p:sp>
        <p:nvSpPr>
          <p:cNvPr id="15" name="Oval 14"/>
          <p:cNvSpPr/>
          <p:nvPr/>
        </p:nvSpPr>
        <p:spPr>
          <a:xfrm>
            <a:off x="7353168" y="251713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865223" y="220651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401386" y="247661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852159" y="5650991"/>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7.10 -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215, Figure 7.10.</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multiple form 1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 draws several narrow bars; our chart uses two so every price stays readable. Bar 1 closes at PHP 50.00, near its high </a:t>
            </a:r>
            <a:r>
              <a:rPr sz="1700" b="1" i="0">
                <a:solidFill>
                  <a:srgbClr val="E09B00"/>
                </a:solidFill>
                <a:latin typeface="Arial"/>
              </a:rPr>
              <a:t>(1)</a:t>
            </a:r>
            <a:r>
              <a:rPr sz="1700" b="0" i="0">
                <a:solidFill>
                  <a:srgbClr val="1A1A1A"/>
                </a:solidFill>
                <a:latin typeface="Arial"/>
              </a:rPr>
              <a:t>. The narrow bars </a:t>
            </a:r>
            <a:r>
              <a:rPr sz="1700" b="1" i="0">
                <a:solidFill>
                  <a:srgbClr val="C62828"/>
                </a:solidFill>
                <a:latin typeface="Arial"/>
              </a:rPr>
              <a:t>(2)</a:t>
            </a:r>
            <a:r>
              <a:rPr sz="1700" b="0" i="0">
                <a:solidFill>
                  <a:srgbClr val="1A1A1A"/>
                </a:solidFill>
                <a:latin typeface="Arial"/>
              </a:rPr>
              <a:t> close at PHP 50.10 and PHP 50.20, still near that high. The last bar closes at PHP 48.20, near its PHP 48.00 low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xa-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3463442" y="3008375"/>
            <a:ext cx="5301386" cy="1263335"/>
          </a:xfrm>
          <a:prstGeom prst="rect">
            <a:avLst/>
          </a:prstGeom>
          <a:noFill/>
          <a:ln w="44450">
            <a:solidFill>
              <a:srgbClr val="C62828"/>
            </a:solidFill>
          </a:ln>
        </p:spPr>
        <p:txBody>
          <a:bodyPr rtlCol="0" anchor="ctr"/>
          <a:lstStyle/>
          <a:p>
            <a:pPr algn="ctr"/>
          </a:p>
        </p:txBody>
      </p:sp>
      <p:sp>
        <p:nvSpPr>
          <p:cNvPr id="10" name="Oval 9"/>
          <p:cNvSpPr/>
          <p:nvPr/>
        </p:nvSpPr>
        <p:spPr>
          <a:xfrm>
            <a:off x="2251252" y="3690518"/>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10200131" y="4822911"/>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8764828" y="329029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2186892" y="383230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10155385" y="451546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XA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44 of 79</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215, Figure 7.10. The prices are invented for teaching.</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Multiple form 2: wide bars that all close near their lows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45 of 79</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Lim's label: "1st bar closes near its high followed by multiple wide range bars, all closing near their lows. The last bar closes at or near its low" (Figure 7.10, p. 215).</a:t>
            </a:r>
          </a:p>
          <a:p>
            <a:pPr algn="l">
              <a:lnSpc>
                <a:spcPct val="105000"/>
              </a:lnSpc>
              <a:spcBef>
                <a:spcPts val="0"/>
              </a:spcBef>
              <a:spcAft>
                <a:spcPts val="1100"/>
              </a:spcAft>
            </a:pPr>
            <a:r>
              <a:rPr sz="2000" b="0" i="0">
                <a:solidFill>
                  <a:srgbClr val="1A1A1A"/>
                </a:solidFill>
                <a:latin typeface="Arial"/>
              </a:rPr>
              <a:t>In the drawing, </a:t>
            </a:r>
            <a:r>
              <a:rPr sz="2000" b="1" i="0">
                <a:solidFill>
                  <a:srgbClr val="E09B00"/>
                </a:solidFill>
                <a:latin typeface="Arial"/>
              </a:rPr>
              <a:t>(1)</a:t>
            </a:r>
            <a:r>
              <a:rPr sz="2000" b="0" i="0">
                <a:solidFill>
                  <a:srgbClr val="1A1A1A"/>
                </a:solidFill>
                <a:latin typeface="Arial"/>
              </a:rPr>
              <a:t> is the first bar, </a:t>
            </a:r>
            <a:r>
              <a:rPr sz="2000" b="1" i="0">
                <a:solidFill>
                  <a:srgbClr val="C62828"/>
                </a:solidFill>
                <a:latin typeface="Arial"/>
              </a:rPr>
              <a:t>(2)</a:t>
            </a:r>
            <a:r>
              <a:rPr sz="2000" b="0" i="0">
                <a:solidFill>
                  <a:srgbClr val="1A1A1A"/>
                </a:solidFill>
                <a:latin typeface="Arial"/>
              </a:rPr>
              <a:t> the wide bars and </a:t>
            </a:r>
            <a:r>
              <a:rPr sz="2000" b="1" i="0">
                <a:solidFill>
                  <a:srgbClr val="1F5FAD"/>
                </a:solidFill>
                <a:latin typeface="Arial"/>
              </a:rPr>
              <a:t>(3)</a:t>
            </a:r>
            <a:r>
              <a:rPr sz="2000" b="0" i="0">
                <a:solidFill>
                  <a:srgbClr val="1A1A1A"/>
                </a:solidFill>
                <a:latin typeface="Arial"/>
              </a:rPr>
              <a:t> the last bar.</a:t>
            </a:r>
          </a:p>
        </p:txBody>
      </p:sp>
      <p:sp>
        <p:nvSpPr>
          <p:cNvPr id="8" name="Rectangle 7"/>
          <p:cNvSpPr/>
          <p:nvPr/>
        </p:nvSpPr>
        <p:spPr>
          <a:xfrm>
            <a:off x="7281711" y="1810512"/>
            <a:ext cx="2703191"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400583" y="1929384"/>
            <a:ext cx="2465447"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400583" y="1929384"/>
            <a:ext cx="2465447"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674903" y="2203703"/>
            <a:ext cx="191680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7.10</a:t>
            </a:r>
          </a:p>
          <a:p>
            <a:pPr algn="l">
              <a:lnSpc>
                <a:spcPct val="115000"/>
              </a:lnSpc>
              <a:spcBef>
                <a:spcPts val="0"/>
              </a:spcBef>
              <a:spcAft>
                <a:spcPts val="0"/>
              </a:spcAft>
            </a:pPr>
            <a:r>
              <a:rPr sz="1500" b="0" i="0">
                <a:solidFill>
                  <a:srgbClr val="1A1A1A"/>
                </a:solidFill>
                <a:latin typeface="Palatino"/>
              </a:rPr>
              <a:t>Figure 7.10, form 2: wide middle bars closing near their lows.</a:t>
            </a:r>
          </a:p>
        </p:txBody>
      </p:sp>
      <p:sp>
        <p:nvSpPr>
          <p:cNvPr id="12" name="Rectangle 11"/>
          <p:cNvSpPr/>
          <p:nvPr/>
        </p:nvSpPr>
        <p:spPr>
          <a:xfrm>
            <a:off x="7724173" y="3441192"/>
            <a:ext cx="369817" cy="1560576"/>
          </a:xfrm>
          <a:prstGeom prst="rect">
            <a:avLst/>
          </a:prstGeom>
          <a:noFill/>
          <a:ln w="44450">
            <a:solidFill>
              <a:srgbClr val="E09B00"/>
            </a:solidFill>
          </a:ln>
        </p:spPr>
        <p:txBody>
          <a:bodyPr rtlCol="0" anchor="ctr"/>
          <a:lstStyle/>
          <a:p>
            <a:pPr algn="ctr"/>
          </a:p>
        </p:txBody>
      </p:sp>
      <p:sp>
        <p:nvSpPr>
          <p:cNvPr id="13" name="Rectangle 12"/>
          <p:cNvSpPr/>
          <p:nvPr/>
        </p:nvSpPr>
        <p:spPr>
          <a:xfrm>
            <a:off x="8016945" y="2124456"/>
            <a:ext cx="1109451" cy="1853184"/>
          </a:xfrm>
          <a:prstGeom prst="rect">
            <a:avLst/>
          </a:prstGeom>
          <a:noFill/>
          <a:ln w="44450">
            <a:solidFill>
              <a:srgbClr val="C62828"/>
            </a:solidFill>
          </a:ln>
        </p:spPr>
        <p:txBody>
          <a:bodyPr rtlCol="0" anchor="ctr"/>
          <a:lstStyle/>
          <a:p>
            <a:pPr algn="ctr"/>
          </a:p>
        </p:txBody>
      </p:sp>
      <p:sp>
        <p:nvSpPr>
          <p:cNvPr id="14" name="Rectangle 13"/>
          <p:cNvSpPr/>
          <p:nvPr/>
        </p:nvSpPr>
        <p:spPr>
          <a:xfrm>
            <a:off x="9172624" y="3411931"/>
            <a:ext cx="354408" cy="1589836"/>
          </a:xfrm>
          <a:prstGeom prst="rect">
            <a:avLst/>
          </a:prstGeom>
          <a:noFill/>
          <a:ln w="44450">
            <a:solidFill>
              <a:srgbClr val="1F5FAD"/>
            </a:solidFill>
          </a:ln>
        </p:spPr>
        <p:txBody>
          <a:bodyPr rtlCol="0" anchor="ctr"/>
          <a:lstStyle/>
          <a:p>
            <a:pPr algn="ctr"/>
          </a:p>
        </p:txBody>
      </p:sp>
      <p:sp>
        <p:nvSpPr>
          <p:cNvPr id="15" name="Oval 14"/>
          <p:cNvSpPr/>
          <p:nvPr/>
        </p:nvSpPr>
        <p:spPr>
          <a:xfrm>
            <a:off x="7596157" y="331317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888929" y="19964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044608" y="3283915"/>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852159" y="5650991"/>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7.10 -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214 to 215, Figure 7.10.</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multiple form 2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Bar 1 closes at PHP 50.00, near its high </a:t>
            </a:r>
            <a:r>
              <a:rPr sz="1700" b="1" i="0">
                <a:solidFill>
                  <a:srgbClr val="E09B00"/>
                </a:solidFill>
                <a:latin typeface="Arial"/>
              </a:rPr>
              <a:t>(1)</a:t>
            </a:r>
            <a:r>
              <a:rPr sz="1700" b="0" i="0">
                <a:solidFill>
                  <a:srgbClr val="1A1A1A"/>
                </a:solidFill>
                <a:latin typeface="Arial"/>
              </a:rPr>
              <a:t>. The two wide bars </a:t>
            </a:r>
            <a:r>
              <a:rPr sz="1700" b="1" i="0">
                <a:solidFill>
                  <a:srgbClr val="C62828"/>
                </a:solidFill>
                <a:latin typeface="Arial"/>
              </a:rPr>
              <a:t>(2)</a:t>
            </a:r>
            <a:r>
              <a:rPr sz="1700" b="0" i="0">
                <a:solidFill>
                  <a:srgbClr val="1A1A1A"/>
                </a:solidFill>
                <a:latin typeface="Arial"/>
              </a:rPr>
              <a:t> each span about PHP 2.00 and close near their lows, at PHP 50.20 and PHP 50.30, on 3.8 and 3.6 million shares </a:t>
            </a:r>
            <a:r>
              <a:rPr sz="1700" b="1" i="0">
                <a:solidFill>
                  <a:srgbClr val="1F5FAD"/>
                </a:solidFill>
                <a:latin typeface="Arial"/>
              </a:rPr>
              <a:t>(3)</a:t>
            </a:r>
            <a:r>
              <a:rPr sz="1700" b="0" i="0">
                <a:solidFill>
                  <a:srgbClr val="1A1A1A"/>
                </a:solidFill>
                <a:latin typeface="Arial"/>
              </a:rPr>
              <a:t>. The last bar closes at PHP 48.20, near its low </a:t>
            </a:r>
            <a:r>
              <a:rPr sz="1700" b="1" i="0">
                <a:solidFill>
                  <a:srgbClr val="7B3FA0"/>
                </a:solidFill>
                <a:latin typeface="Arial"/>
              </a:rPr>
              <a:t>(4)</a:t>
            </a:r>
            <a:r>
              <a:rPr sz="1700" b="0" i="0">
                <a:solidFill>
                  <a:srgbClr val="1A1A1A"/>
                </a:solidFill>
                <a:latin typeface="Arial"/>
              </a:rPr>
              <a:t>. That heavy middle volume is possibly the pattern 2 exception: sellers pressing every close down (pp. 214 to 215).</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xb-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3463442" y="3008375"/>
            <a:ext cx="5301386" cy="1383356"/>
          </a:xfrm>
          <a:prstGeom prst="rect">
            <a:avLst/>
          </a:prstGeom>
          <a:noFill/>
          <a:ln w="44450">
            <a:solidFill>
              <a:srgbClr val="C62828"/>
            </a:solidFill>
          </a:ln>
        </p:spPr>
        <p:txBody>
          <a:bodyPr rtlCol="0" anchor="ctr"/>
          <a:lstStyle/>
          <a:p>
            <a:pPr algn="ctr"/>
          </a:p>
        </p:txBody>
      </p:sp>
      <p:sp>
        <p:nvSpPr>
          <p:cNvPr id="10" name="Oval 9"/>
          <p:cNvSpPr/>
          <p:nvPr/>
        </p:nvSpPr>
        <p:spPr>
          <a:xfrm>
            <a:off x="2251252" y="3936361"/>
            <a:ext cx="87782" cy="87782"/>
          </a:xfrm>
          <a:prstGeom prst="ellipse">
            <a:avLst/>
          </a:prstGeom>
          <a:noFill/>
          <a:ln w="44450">
            <a:solidFill>
              <a:srgbClr val="E09B00"/>
            </a:solidFill>
          </a:ln>
        </p:spPr>
        <p:txBody>
          <a:bodyPr rtlCol="0" anchor="ctr"/>
          <a:lstStyle/>
          <a:p>
            <a:pPr algn="ctr"/>
          </a:p>
        </p:txBody>
      </p:sp>
      <p:sp>
        <p:nvSpPr>
          <p:cNvPr id="11" name="Rectangle 10"/>
          <p:cNvSpPr/>
          <p:nvPr/>
        </p:nvSpPr>
        <p:spPr>
          <a:xfrm>
            <a:off x="4633874" y="5148072"/>
            <a:ext cx="2960522" cy="237744"/>
          </a:xfrm>
          <a:prstGeom prst="rect">
            <a:avLst/>
          </a:prstGeom>
          <a:noFill/>
          <a:ln w="44450">
            <a:solidFill>
              <a:srgbClr val="1F5FAD"/>
            </a:solidFill>
          </a:ln>
        </p:spPr>
        <p:txBody>
          <a:bodyPr rtlCol="0" anchor="ctr"/>
          <a:lstStyle/>
          <a:p>
            <a:pPr algn="ctr"/>
          </a:p>
        </p:txBody>
      </p:sp>
      <p:sp>
        <p:nvSpPr>
          <p:cNvPr id="12" name="Oval 11"/>
          <p:cNvSpPr/>
          <p:nvPr/>
        </p:nvSpPr>
        <p:spPr>
          <a:xfrm>
            <a:off x="10200131" y="4394867"/>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8764828" y="357203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2186892" y="407814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7630346" y="5153273"/>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10155385" y="4087416"/>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XB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46 of 79</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214 to 215, Figure 7.10. Prices and volume are invented for teaching.</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Multiple form 3: narrow bars stay inside the first bar's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47 of 79</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Lim's label: "1st bar closes near its high followed by multiple narrow range bars closing within its range. The last bar closes at or near its low" (Figure 7.10, p. 215).</a:t>
            </a:r>
          </a:p>
          <a:p>
            <a:pPr algn="l">
              <a:lnSpc>
                <a:spcPct val="105000"/>
              </a:lnSpc>
              <a:spcBef>
                <a:spcPts val="0"/>
              </a:spcBef>
              <a:spcAft>
                <a:spcPts val="1100"/>
              </a:spcAft>
            </a:pPr>
            <a:r>
              <a:rPr sz="2000" b="0" i="0">
                <a:solidFill>
                  <a:srgbClr val="1A1A1A"/>
                </a:solidFill>
                <a:latin typeface="Arial"/>
              </a:rPr>
              <a:t>In the drawing, </a:t>
            </a:r>
            <a:r>
              <a:rPr sz="2000" b="1" i="0">
                <a:solidFill>
                  <a:srgbClr val="E09B00"/>
                </a:solidFill>
                <a:latin typeface="Arial"/>
              </a:rPr>
              <a:t>(1)</a:t>
            </a:r>
            <a:r>
              <a:rPr sz="2000" b="0" i="0">
                <a:solidFill>
                  <a:srgbClr val="1A1A1A"/>
                </a:solidFill>
                <a:latin typeface="Arial"/>
              </a:rPr>
              <a:t> is the first bar, </a:t>
            </a:r>
            <a:r>
              <a:rPr sz="2000" b="1" i="0">
                <a:solidFill>
                  <a:srgbClr val="C62828"/>
                </a:solidFill>
                <a:latin typeface="Arial"/>
              </a:rPr>
              <a:t>(2)</a:t>
            </a:r>
            <a:r>
              <a:rPr sz="2000" b="0" i="0">
                <a:solidFill>
                  <a:srgbClr val="1A1A1A"/>
                </a:solidFill>
                <a:latin typeface="Arial"/>
              </a:rPr>
              <a:t> the narrow bars and </a:t>
            </a:r>
            <a:r>
              <a:rPr sz="2000" b="1" i="0">
                <a:solidFill>
                  <a:srgbClr val="1F5FAD"/>
                </a:solidFill>
                <a:latin typeface="Arial"/>
              </a:rPr>
              <a:t>(3)</a:t>
            </a:r>
            <a:r>
              <a:rPr sz="2000" b="0" i="0">
                <a:solidFill>
                  <a:srgbClr val="1A1A1A"/>
                </a:solidFill>
                <a:latin typeface="Arial"/>
              </a:rPr>
              <a:t> the last bar.</a:t>
            </a:r>
          </a:p>
        </p:txBody>
      </p:sp>
      <p:sp>
        <p:nvSpPr>
          <p:cNvPr id="8" name="Rectangle 7"/>
          <p:cNvSpPr/>
          <p:nvPr/>
        </p:nvSpPr>
        <p:spPr>
          <a:xfrm>
            <a:off x="6807587" y="1810512"/>
            <a:ext cx="3651440"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926459" y="1929384"/>
            <a:ext cx="3413696"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926459" y="1929384"/>
            <a:ext cx="3413696"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200779" y="2203703"/>
            <a:ext cx="286505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7.10</a:t>
            </a:r>
          </a:p>
          <a:p>
            <a:pPr algn="l">
              <a:lnSpc>
                <a:spcPct val="115000"/>
              </a:lnSpc>
              <a:spcBef>
                <a:spcPts val="0"/>
              </a:spcBef>
              <a:spcAft>
                <a:spcPts val="0"/>
              </a:spcAft>
            </a:pPr>
            <a:r>
              <a:rPr sz="1500" b="0" i="0">
                <a:solidFill>
                  <a:srgbClr val="1A1A1A"/>
                </a:solidFill>
                <a:latin typeface="Palatino"/>
              </a:rPr>
              <a:t>Figure 7.10, form 3: narrow bars inside the first bar.</a:t>
            </a:r>
          </a:p>
        </p:txBody>
      </p:sp>
      <p:sp>
        <p:nvSpPr>
          <p:cNvPr id="12" name="Rectangle 11"/>
          <p:cNvSpPr/>
          <p:nvPr/>
        </p:nvSpPr>
        <p:spPr>
          <a:xfrm>
            <a:off x="7459849" y="2672158"/>
            <a:ext cx="512054" cy="2093272"/>
          </a:xfrm>
          <a:prstGeom prst="rect">
            <a:avLst/>
          </a:prstGeom>
          <a:noFill/>
          <a:ln w="44450">
            <a:solidFill>
              <a:srgbClr val="E09B00"/>
            </a:solidFill>
          </a:ln>
        </p:spPr>
        <p:txBody>
          <a:bodyPr rtlCol="0" anchor="ctr"/>
          <a:lstStyle/>
          <a:p>
            <a:pPr algn="ctr"/>
          </a:p>
        </p:txBody>
      </p:sp>
      <p:sp>
        <p:nvSpPr>
          <p:cNvPr id="13" name="Rectangle 12"/>
          <p:cNvSpPr/>
          <p:nvPr/>
        </p:nvSpPr>
        <p:spPr>
          <a:xfrm>
            <a:off x="7907896" y="3144832"/>
            <a:ext cx="1514828" cy="1080398"/>
          </a:xfrm>
          <a:prstGeom prst="rect">
            <a:avLst/>
          </a:prstGeom>
          <a:noFill/>
          <a:ln w="44450">
            <a:solidFill>
              <a:srgbClr val="C62828"/>
            </a:solidFill>
          </a:ln>
        </p:spPr>
        <p:txBody>
          <a:bodyPr rtlCol="0" anchor="ctr"/>
          <a:lstStyle/>
          <a:p>
            <a:pPr algn="ctr"/>
          </a:p>
        </p:txBody>
      </p:sp>
      <p:sp>
        <p:nvSpPr>
          <p:cNvPr id="14" name="Rectangle 13"/>
          <p:cNvSpPr/>
          <p:nvPr/>
        </p:nvSpPr>
        <p:spPr>
          <a:xfrm>
            <a:off x="9486731" y="2604633"/>
            <a:ext cx="512054" cy="2160797"/>
          </a:xfrm>
          <a:prstGeom prst="rect">
            <a:avLst/>
          </a:prstGeom>
          <a:noFill/>
          <a:ln w="44450">
            <a:solidFill>
              <a:srgbClr val="1F5FAD"/>
            </a:solidFill>
          </a:ln>
        </p:spPr>
        <p:txBody>
          <a:bodyPr rtlCol="0" anchor="ctr"/>
          <a:lstStyle/>
          <a:p>
            <a:pPr algn="ctr"/>
          </a:p>
        </p:txBody>
      </p:sp>
      <p:sp>
        <p:nvSpPr>
          <p:cNvPr id="15" name="Oval 14"/>
          <p:cNvSpPr/>
          <p:nvPr/>
        </p:nvSpPr>
        <p:spPr>
          <a:xfrm>
            <a:off x="7331833" y="254414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779880" y="3016816"/>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358715" y="247661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852159" y="5650991"/>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7.10 -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215, Figure 7.10.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multiple form 3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Bar 1 runs from PHP 48.00 to PHP 50.40 and closes at PHP 50.20 </a:t>
            </a:r>
            <a:r>
              <a:rPr sz="1700" b="1" i="0">
                <a:solidFill>
                  <a:srgbClr val="E09B00"/>
                </a:solidFill>
                <a:latin typeface="Arial"/>
              </a:rPr>
              <a:t>(1)</a:t>
            </a:r>
            <a:r>
              <a:rPr sz="1700" b="0" i="0">
                <a:solidFill>
                  <a:srgbClr val="1A1A1A"/>
                </a:solidFill>
                <a:latin typeface="Arial"/>
              </a:rPr>
              <a:t>. The narrow bars </a:t>
            </a:r>
            <a:r>
              <a:rPr sz="1700" b="1" i="0">
                <a:solidFill>
                  <a:srgbClr val="C62828"/>
                </a:solidFill>
                <a:latin typeface="Arial"/>
              </a:rPr>
              <a:t>(2)</a:t>
            </a:r>
            <a:r>
              <a:rPr sz="1700" b="0" i="0">
                <a:solidFill>
                  <a:srgbClr val="1A1A1A"/>
                </a:solidFill>
                <a:latin typeface="Arial"/>
              </a:rPr>
              <a:t> stay inside that range, between PHP 49.20 and PHP 49.80. The last bar closes at PHP 48.00, near its PHP 47.80 low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xc-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3463442" y="3371322"/>
            <a:ext cx="5301386" cy="1185906"/>
          </a:xfrm>
          <a:prstGeom prst="rect">
            <a:avLst/>
          </a:prstGeom>
          <a:noFill/>
          <a:ln w="44450">
            <a:solidFill>
              <a:srgbClr val="C62828"/>
            </a:solidFill>
          </a:ln>
        </p:spPr>
        <p:txBody>
          <a:bodyPr rtlCol="0" anchor="ctr"/>
          <a:lstStyle/>
          <a:p>
            <a:pPr algn="ctr"/>
          </a:p>
        </p:txBody>
      </p:sp>
      <p:sp>
        <p:nvSpPr>
          <p:cNvPr id="10" name="Oval 9"/>
          <p:cNvSpPr/>
          <p:nvPr/>
        </p:nvSpPr>
        <p:spPr>
          <a:xfrm>
            <a:off x="2251252" y="3496946"/>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10200131" y="4827750"/>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8764828" y="383625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2186892" y="363873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10155385" y="452029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XC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48 of 79</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215, Figure 7.10. The prices are invented for teaching.</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Multiple form 4: an island reversal formation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49 of 79</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Lim's label: "1st bar closes near its high followed by multiple bars forming above a gap. The last bar gaps down and closes at or near its low. Referred to as an island reversal formation" (Figure 7.10, p. 215).</a:t>
            </a:r>
          </a:p>
          <a:p>
            <a:pPr algn="l">
              <a:lnSpc>
                <a:spcPct val="105000"/>
              </a:lnSpc>
              <a:spcBef>
                <a:spcPts val="0"/>
              </a:spcBef>
              <a:spcAft>
                <a:spcPts val="1100"/>
              </a:spcAft>
            </a:pPr>
            <a:r>
              <a:rPr sz="2000" b="0" i="0">
                <a:solidFill>
                  <a:srgbClr val="1A1A1A"/>
                </a:solidFill>
                <a:latin typeface="Arial"/>
              </a:rPr>
              <a:t>In the drawing, </a:t>
            </a:r>
            <a:r>
              <a:rPr sz="2000" b="1" i="0">
                <a:solidFill>
                  <a:srgbClr val="E09B00"/>
                </a:solidFill>
                <a:latin typeface="Arial"/>
              </a:rPr>
              <a:t>(1)</a:t>
            </a:r>
            <a:r>
              <a:rPr sz="2000" b="0" i="0">
                <a:solidFill>
                  <a:srgbClr val="1A1A1A"/>
                </a:solidFill>
                <a:latin typeface="Arial"/>
              </a:rPr>
              <a:t> is the first bar, </a:t>
            </a:r>
            <a:r>
              <a:rPr sz="2000" b="1" i="0">
                <a:solidFill>
                  <a:srgbClr val="C62828"/>
                </a:solidFill>
                <a:latin typeface="Arial"/>
              </a:rPr>
              <a:t>(2)</a:t>
            </a:r>
            <a:r>
              <a:rPr sz="2000" b="0" i="0">
                <a:solidFill>
                  <a:srgbClr val="1A1A1A"/>
                </a:solidFill>
                <a:latin typeface="Arial"/>
              </a:rPr>
              <a:t> the bars above the gap and </a:t>
            </a:r>
            <a:r>
              <a:rPr sz="2000" b="1" i="0">
                <a:solidFill>
                  <a:srgbClr val="1F5FAD"/>
                </a:solidFill>
                <a:latin typeface="Arial"/>
              </a:rPr>
              <a:t>(3)</a:t>
            </a:r>
            <a:r>
              <a:rPr sz="2000" b="0" i="0">
                <a:solidFill>
                  <a:srgbClr val="1A1A1A"/>
                </a:solidFill>
                <a:latin typeface="Arial"/>
              </a:rPr>
              <a:t> the last bar.</a:t>
            </a:r>
          </a:p>
        </p:txBody>
      </p:sp>
      <p:sp>
        <p:nvSpPr>
          <p:cNvPr id="8" name="Rectangle 7"/>
          <p:cNvSpPr/>
          <p:nvPr/>
        </p:nvSpPr>
        <p:spPr>
          <a:xfrm>
            <a:off x="6882889" y="1810512"/>
            <a:ext cx="3500836"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001761" y="1929384"/>
            <a:ext cx="3263092" cy="3511295"/>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001761" y="1929384"/>
            <a:ext cx="3263092"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276081" y="2203703"/>
            <a:ext cx="2714452" cy="30540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7.10</a:t>
            </a:r>
          </a:p>
          <a:p>
            <a:pPr algn="l">
              <a:lnSpc>
                <a:spcPct val="115000"/>
              </a:lnSpc>
              <a:spcBef>
                <a:spcPts val="0"/>
              </a:spcBef>
              <a:spcAft>
                <a:spcPts val="0"/>
              </a:spcAft>
            </a:pPr>
            <a:r>
              <a:rPr sz="1500" b="0" i="0">
                <a:solidFill>
                  <a:srgbClr val="1A1A1A"/>
                </a:solidFill>
                <a:latin typeface="Palatino"/>
              </a:rPr>
              <a:t>Figure 7.10, form 4: an island reversal formation.</a:t>
            </a:r>
          </a:p>
        </p:txBody>
      </p:sp>
      <p:sp>
        <p:nvSpPr>
          <p:cNvPr id="12" name="Rectangle 11"/>
          <p:cNvSpPr/>
          <p:nvPr/>
        </p:nvSpPr>
        <p:spPr>
          <a:xfrm>
            <a:off x="7540171" y="3323575"/>
            <a:ext cx="391571" cy="1704011"/>
          </a:xfrm>
          <a:prstGeom prst="rect">
            <a:avLst/>
          </a:prstGeom>
          <a:noFill/>
          <a:ln w="44450">
            <a:solidFill>
              <a:srgbClr val="E09B00"/>
            </a:solidFill>
          </a:ln>
        </p:spPr>
        <p:txBody>
          <a:bodyPr rtlCol="0" anchor="ctr"/>
          <a:lstStyle/>
          <a:p>
            <a:pPr algn="ctr"/>
          </a:p>
        </p:txBody>
      </p:sp>
      <p:sp>
        <p:nvSpPr>
          <p:cNvPr id="13" name="Rectangle 12"/>
          <p:cNvSpPr/>
          <p:nvPr/>
        </p:nvSpPr>
        <p:spPr>
          <a:xfrm>
            <a:off x="7817534" y="2187567"/>
            <a:ext cx="1827331" cy="1084370"/>
          </a:xfrm>
          <a:prstGeom prst="rect">
            <a:avLst/>
          </a:prstGeom>
          <a:noFill/>
          <a:ln w="44450">
            <a:solidFill>
              <a:srgbClr val="C62828"/>
            </a:solidFill>
          </a:ln>
        </p:spPr>
        <p:txBody>
          <a:bodyPr rtlCol="0" anchor="ctr"/>
          <a:lstStyle/>
          <a:p>
            <a:pPr algn="ctr"/>
          </a:p>
        </p:txBody>
      </p:sp>
      <p:sp>
        <p:nvSpPr>
          <p:cNvPr id="14" name="Rectangle 13"/>
          <p:cNvSpPr/>
          <p:nvPr/>
        </p:nvSpPr>
        <p:spPr>
          <a:xfrm>
            <a:off x="9693812" y="3323575"/>
            <a:ext cx="407886" cy="1652374"/>
          </a:xfrm>
          <a:prstGeom prst="rect">
            <a:avLst/>
          </a:prstGeom>
          <a:noFill/>
          <a:ln w="44450">
            <a:solidFill>
              <a:srgbClr val="1F5FAD"/>
            </a:solidFill>
          </a:ln>
        </p:spPr>
        <p:txBody>
          <a:bodyPr rtlCol="0" anchor="ctr"/>
          <a:lstStyle/>
          <a:p>
            <a:pPr algn="ctr"/>
          </a:p>
        </p:txBody>
      </p:sp>
      <p:sp>
        <p:nvSpPr>
          <p:cNvPr id="15" name="Oval 14"/>
          <p:cNvSpPr/>
          <p:nvPr/>
        </p:nvSpPr>
        <p:spPr>
          <a:xfrm>
            <a:off x="7412155" y="319555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689518" y="205955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565796" y="319555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852159" y="5650991"/>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7.10 -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215, Figure 7.10; Chapter 3, "Gap".</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multiple form 4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Bar 1 tops out at PHP 50.00 </a:t>
            </a:r>
            <a:r>
              <a:rPr sz="1700" b="1" i="0">
                <a:solidFill>
                  <a:srgbClr val="E09B00"/>
                </a:solidFill>
                <a:latin typeface="Arial"/>
              </a:rPr>
              <a:t>(1)</a:t>
            </a:r>
            <a:r>
              <a:rPr sz="1700" b="0" i="0">
                <a:solidFill>
                  <a:srgbClr val="1A1A1A"/>
                </a:solidFill>
                <a:latin typeface="Arial"/>
              </a:rPr>
              <a:t>, and the isolated bars </a:t>
            </a:r>
            <a:r>
              <a:rPr sz="1700" b="1" i="0">
                <a:solidFill>
                  <a:srgbClr val="C62828"/>
                </a:solidFill>
                <a:latin typeface="Arial"/>
              </a:rPr>
              <a:t>(2)</a:t>
            </a:r>
            <a:r>
              <a:rPr sz="1700" b="0" i="0">
                <a:solidFill>
                  <a:srgbClr val="1A1A1A"/>
                </a:solidFill>
                <a:latin typeface="Arial"/>
              </a:rPr>
              <a:t> trade above a gap, between PHP 50.40 and PHP 51.00. The last bar tops out at PHP 50.00 </a:t>
            </a:r>
            <a:r>
              <a:rPr sz="1700" b="1" i="0">
                <a:solidFill>
                  <a:srgbClr val="1F5FAD"/>
                </a:solidFill>
                <a:latin typeface="Arial"/>
              </a:rPr>
              <a:t>(3)</a:t>
            </a:r>
            <a:r>
              <a:rPr sz="1700" b="0" i="0">
                <a:solidFill>
                  <a:srgbClr val="1A1A1A"/>
                </a:solidFill>
                <a:latin typeface="Arial"/>
              </a:rPr>
              <a:t>, so it gaps down below them, and closes at PHP 48.40, near its PHP 48.20 low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xd-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3463442" y="3008375"/>
            <a:ext cx="5301386" cy="1137513"/>
          </a:xfrm>
          <a:prstGeom prst="rect">
            <a:avLst/>
          </a:prstGeom>
          <a:noFill/>
          <a:ln w="44450">
            <a:solidFill>
              <a:srgbClr val="C62828"/>
            </a:solidFill>
          </a:ln>
        </p:spPr>
        <p:txBody>
          <a:bodyPr rtlCol="0" anchor="ctr"/>
          <a:lstStyle/>
          <a:p>
            <a:pPr algn="ctr"/>
          </a:p>
        </p:txBody>
      </p:sp>
      <p:sp>
        <p:nvSpPr>
          <p:cNvPr id="10" name="Oval 9"/>
          <p:cNvSpPr/>
          <p:nvPr/>
        </p:nvSpPr>
        <p:spPr>
          <a:xfrm>
            <a:off x="2095804" y="3900220"/>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10044683" y="3900220"/>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10200131" y="4739030"/>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8764828" y="3449116"/>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821484" y="381609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10106256" y="369384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10155385" y="4431579"/>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XD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50 of 79</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215, Figure 7.10. The prices are invented for teaching.</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bullish multiple forms mirror the bearish ones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51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 draws four basic multiple bar bullish reversal patterns in a downtrend (p. 215).</a:t>
            </a:r>
          </a:p>
          <a:p>
            <a:pPr algn="l">
              <a:lnSpc>
                <a:spcPct val="118000"/>
              </a:lnSpc>
              <a:spcBef>
                <a:spcPts val="0"/>
              </a:spcBef>
              <a:spcAft>
                <a:spcPts val="1300"/>
              </a:spcAft>
            </a:pPr>
            <a:r>
              <a:rPr sz="2100" b="0" i="0">
                <a:solidFill>
                  <a:srgbClr val="1A1A1A"/>
                </a:solidFill>
                <a:latin typeface="Arial"/>
              </a:rPr>
              <a:t>In pattern 2 the wide middle bars can occur on high or above average volume, indicating bullishness. Narrow middle bars on low volume are also a sign of potential bullishness (p. 216).</a:t>
            </a:r>
          </a:p>
          <a:p>
            <a:pPr algn="l">
              <a:lnSpc>
                <a:spcPct val="118000"/>
              </a:lnSpc>
              <a:spcBef>
                <a:spcPts val="0"/>
              </a:spcBef>
              <a:spcAft>
                <a:spcPts val="1300"/>
              </a:spcAft>
            </a:pPr>
            <a:r>
              <a:rPr sz="2100" b="0" i="0">
                <a:solidFill>
                  <a:srgbClr val="1A1A1A"/>
                </a:solidFill>
                <a:latin typeface="Arial"/>
              </a:rPr>
              <a:t>And a bullish pattern is potentially more reliable if the last bar is overextended and closes near or at its high on high volume (p. 216).</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215 to 216.</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Bullish multiple form 1: narrow bars hold near the first low</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52 of 79</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Lim's label: "1st bar closes near its low followed by multiple narrow range bars closing near the 1st bar's low. The last bar closes at or near its high" (Figure 7.11, p. 216).</a:t>
            </a:r>
          </a:p>
          <a:p>
            <a:pPr algn="l">
              <a:lnSpc>
                <a:spcPct val="105000"/>
              </a:lnSpc>
              <a:spcBef>
                <a:spcPts val="0"/>
              </a:spcBef>
              <a:spcAft>
                <a:spcPts val="1100"/>
              </a:spcAft>
            </a:pPr>
            <a:r>
              <a:rPr sz="2000" b="0" i="0">
                <a:solidFill>
                  <a:srgbClr val="1A1A1A"/>
                </a:solidFill>
                <a:latin typeface="Arial"/>
              </a:rPr>
              <a:t>In the drawing, </a:t>
            </a:r>
            <a:r>
              <a:rPr sz="2000" b="1" i="0">
                <a:solidFill>
                  <a:srgbClr val="E09B00"/>
                </a:solidFill>
                <a:latin typeface="Arial"/>
              </a:rPr>
              <a:t>(1)</a:t>
            </a:r>
            <a:r>
              <a:rPr sz="2000" b="0" i="0">
                <a:solidFill>
                  <a:srgbClr val="1A1A1A"/>
                </a:solidFill>
                <a:latin typeface="Arial"/>
              </a:rPr>
              <a:t> is the first bar, </a:t>
            </a:r>
            <a:r>
              <a:rPr sz="2000" b="1" i="0">
                <a:solidFill>
                  <a:srgbClr val="C62828"/>
                </a:solidFill>
                <a:latin typeface="Arial"/>
              </a:rPr>
              <a:t>(2)</a:t>
            </a:r>
            <a:r>
              <a:rPr sz="2000" b="0" i="0">
                <a:solidFill>
                  <a:srgbClr val="1A1A1A"/>
                </a:solidFill>
                <a:latin typeface="Arial"/>
              </a:rPr>
              <a:t> the narrow bars and </a:t>
            </a:r>
            <a:r>
              <a:rPr sz="2000" b="1" i="0">
                <a:solidFill>
                  <a:srgbClr val="1F5FAD"/>
                </a:solidFill>
                <a:latin typeface="Arial"/>
              </a:rPr>
              <a:t>(3)</a:t>
            </a:r>
            <a:r>
              <a:rPr sz="2000" b="0" i="0">
                <a:solidFill>
                  <a:srgbClr val="1A1A1A"/>
                </a:solidFill>
                <a:latin typeface="Arial"/>
              </a:rPr>
              <a:t> the last bar.</a:t>
            </a:r>
          </a:p>
        </p:txBody>
      </p:sp>
      <p:sp>
        <p:nvSpPr>
          <p:cNvPr id="8" name="Rectangle 7"/>
          <p:cNvSpPr/>
          <p:nvPr/>
        </p:nvSpPr>
        <p:spPr>
          <a:xfrm>
            <a:off x="6742162" y="1810512"/>
            <a:ext cx="3782290"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861034" y="1929384"/>
            <a:ext cx="3544546"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861034" y="1929384"/>
            <a:ext cx="3544546"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135354" y="2203703"/>
            <a:ext cx="299590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7.11</a:t>
            </a:r>
          </a:p>
          <a:p>
            <a:pPr algn="l">
              <a:lnSpc>
                <a:spcPct val="115000"/>
              </a:lnSpc>
              <a:spcBef>
                <a:spcPts val="0"/>
              </a:spcBef>
              <a:spcAft>
                <a:spcPts val="0"/>
              </a:spcAft>
            </a:pPr>
            <a:r>
              <a:rPr sz="1500" b="0" i="0">
                <a:solidFill>
                  <a:srgbClr val="1A1A1A"/>
                </a:solidFill>
                <a:latin typeface="Palatino"/>
              </a:rPr>
              <a:t>Figure 7.11, form 1: narrow bars near the first low, then a high close.</a:t>
            </a:r>
          </a:p>
        </p:txBody>
      </p:sp>
      <p:sp>
        <p:nvSpPr>
          <p:cNvPr id="12" name="Rectangle 11"/>
          <p:cNvSpPr/>
          <p:nvPr/>
        </p:nvSpPr>
        <p:spPr>
          <a:xfrm>
            <a:off x="7595879" y="2647603"/>
            <a:ext cx="486294" cy="2154658"/>
          </a:xfrm>
          <a:prstGeom prst="rect">
            <a:avLst/>
          </a:prstGeom>
          <a:noFill/>
          <a:ln w="44450">
            <a:solidFill>
              <a:srgbClr val="E09B00"/>
            </a:solidFill>
          </a:ln>
        </p:spPr>
        <p:txBody>
          <a:bodyPr rtlCol="0" anchor="ctr"/>
          <a:lstStyle/>
          <a:p>
            <a:pPr algn="ctr"/>
          </a:p>
        </p:txBody>
      </p:sp>
      <p:sp>
        <p:nvSpPr>
          <p:cNvPr id="13" name="Rectangle 12"/>
          <p:cNvSpPr/>
          <p:nvPr/>
        </p:nvSpPr>
        <p:spPr>
          <a:xfrm>
            <a:off x="8103786" y="4323449"/>
            <a:ext cx="1512916" cy="670338"/>
          </a:xfrm>
          <a:prstGeom prst="rect">
            <a:avLst/>
          </a:prstGeom>
          <a:noFill/>
          <a:ln w="44450">
            <a:solidFill>
              <a:srgbClr val="C62828"/>
            </a:solidFill>
          </a:ln>
        </p:spPr>
        <p:txBody>
          <a:bodyPr rtlCol="0" anchor="ctr"/>
          <a:lstStyle/>
          <a:p>
            <a:pPr algn="ctr"/>
          </a:p>
        </p:txBody>
      </p:sp>
      <p:sp>
        <p:nvSpPr>
          <p:cNvPr id="14" name="Rectangle 13"/>
          <p:cNvSpPr/>
          <p:nvPr/>
        </p:nvSpPr>
        <p:spPr>
          <a:xfrm>
            <a:off x="9638316" y="2647603"/>
            <a:ext cx="486294" cy="2154658"/>
          </a:xfrm>
          <a:prstGeom prst="rect">
            <a:avLst/>
          </a:prstGeom>
          <a:noFill/>
          <a:ln w="44450">
            <a:solidFill>
              <a:srgbClr val="1F5FAD"/>
            </a:solidFill>
          </a:ln>
        </p:spPr>
        <p:txBody>
          <a:bodyPr rtlCol="0" anchor="ctr"/>
          <a:lstStyle/>
          <a:p>
            <a:pPr algn="ctr"/>
          </a:p>
        </p:txBody>
      </p:sp>
      <p:sp>
        <p:nvSpPr>
          <p:cNvPr id="15" name="Oval 14"/>
          <p:cNvSpPr/>
          <p:nvPr/>
        </p:nvSpPr>
        <p:spPr>
          <a:xfrm>
            <a:off x="7467863" y="251958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721422" y="512113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510300" y="251958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852159" y="5650991"/>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7.11 -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216, Figure 7.11.</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bullish multiple form 1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Bar 1 closes at PHP 40.00, near its low </a:t>
            </a:r>
            <a:r>
              <a:rPr sz="1700" b="1" i="0">
                <a:solidFill>
                  <a:srgbClr val="E09B00"/>
                </a:solidFill>
                <a:latin typeface="Arial"/>
              </a:rPr>
              <a:t>(1)</a:t>
            </a:r>
            <a:r>
              <a:rPr sz="1700" b="0" i="0">
                <a:solidFill>
                  <a:srgbClr val="1A1A1A"/>
                </a:solidFill>
                <a:latin typeface="Arial"/>
              </a:rPr>
              <a:t>. The narrow bars </a:t>
            </a:r>
            <a:r>
              <a:rPr sz="1700" b="1" i="0">
                <a:solidFill>
                  <a:srgbClr val="C62828"/>
                </a:solidFill>
                <a:latin typeface="Arial"/>
              </a:rPr>
              <a:t>(2)</a:t>
            </a:r>
            <a:r>
              <a:rPr sz="1700" b="0" i="0">
                <a:solidFill>
                  <a:srgbClr val="1A1A1A"/>
                </a:solidFill>
                <a:latin typeface="Arial"/>
              </a:rPr>
              <a:t> close at PHP 39.90 and PHP 39.80, still near that low. The last bar closes at PHP 41.80, near its PHP 42.00 high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xe-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3463442" y="4140768"/>
            <a:ext cx="5301386" cy="1263335"/>
          </a:xfrm>
          <a:prstGeom prst="rect">
            <a:avLst/>
          </a:prstGeom>
          <a:noFill/>
          <a:ln w="44450">
            <a:solidFill>
              <a:srgbClr val="C62828"/>
            </a:solidFill>
          </a:ln>
        </p:spPr>
        <p:txBody>
          <a:bodyPr rtlCol="0" anchor="ctr"/>
          <a:lstStyle/>
          <a:p>
            <a:pPr algn="ctr"/>
          </a:p>
        </p:txBody>
      </p:sp>
      <p:sp>
        <p:nvSpPr>
          <p:cNvPr id="10" name="Oval 9"/>
          <p:cNvSpPr/>
          <p:nvPr/>
        </p:nvSpPr>
        <p:spPr>
          <a:xfrm>
            <a:off x="2251252" y="4634179"/>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10200131" y="3501786"/>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8764828" y="486615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2206506" y="432672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10135771" y="364356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XE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53 of 79</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216, Figure 7.11. The prices are invented for teaching.</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Bullish multiple form 2: wide bars closing near their highs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54 of 79</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Lim's label: "1st bar closes near its low followed by multiple wide range bars, all closing near their highs. The last bar closes at or near its high" (Figure 7.11, p. 216).</a:t>
            </a:r>
          </a:p>
          <a:p>
            <a:pPr algn="l">
              <a:lnSpc>
                <a:spcPct val="105000"/>
              </a:lnSpc>
              <a:spcBef>
                <a:spcPts val="0"/>
              </a:spcBef>
              <a:spcAft>
                <a:spcPts val="1100"/>
              </a:spcAft>
            </a:pPr>
            <a:r>
              <a:rPr sz="2000" b="0" i="0">
                <a:solidFill>
                  <a:srgbClr val="1A1A1A"/>
                </a:solidFill>
                <a:latin typeface="Arial"/>
              </a:rPr>
              <a:t>In the drawing, </a:t>
            </a:r>
            <a:r>
              <a:rPr sz="2000" b="1" i="0">
                <a:solidFill>
                  <a:srgbClr val="E09B00"/>
                </a:solidFill>
                <a:latin typeface="Arial"/>
              </a:rPr>
              <a:t>(1)</a:t>
            </a:r>
            <a:r>
              <a:rPr sz="2000" b="0" i="0">
                <a:solidFill>
                  <a:srgbClr val="1A1A1A"/>
                </a:solidFill>
                <a:latin typeface="Arial"/>
              </a:rPr>
              <a:t> is the first bar, </a:t>
            </a:r>
            <a:r>
              <a:rPr sz="2000" b="1" i="0">
                <a:solidFill>
                  <a:srgbClr val="C62828"/>
                </a:solidFill>
                <a:latin typeface="Arial"/>
              </a:rPr>
              <a:t>(2)</a:t>
            </a:r>
            <a:r>
              <a:rPr sz="2000" b="0" i="0">
                <a:solidFill>
                  <a:srgbClr val="1A1A1A"/>
                </a:solidFill>
                <a:latin typeface="Arial"/>
              </a:rPr>
              <a:t> the wide bars and </a:t>
            </a:r>
            <a:r>
              <a:rPr sz="2000" b="1" i="0">
                <a:solidFill>
                  <a:srgbClr val="1F5FAD"/>
                </a:solidFill>
                <a:latin typeface="Arial"/>
              </a:rPr>
              <a:t>(3)</a:t>
            </a:r>
            <a:r>
              <a:rPr sz="2000" b="0" i="0">
                <a:solidFill>
                  <a:srgbClr val="1A1A1A"/>
                </a:solidFill>
                <a:latin typeface="Arial"/>
              </a:rPr>
              <a:t> the last bar.</a:t>
            </a:r>
          </a:p>
        </p:txBody>
      </p:sp>
      <p:sp>
        <p:nvSpPr>
          <p:cNvPr id="8" name="Rectangle 7"/>
          <p:cNvSpPr/>
          <p:nvPr/>
        </p:nvSpPr>
        <p:spPr>
          <a:xfrm>
            <a:off x="7286091" y="1810512"/>
            <a:ext cx="2694431"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404963" y="1929384"/>
            <a:ext cx="2456688"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404963" y="1929384"/>
            <a:ext cx="2456688"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679283" y="2203703"/>
            <a:ext cx="190804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7.11</a:t>
            </a:r>
          </a:p>
          <a:p>
            <a:pPr algn="l">
              <a:lnSpc>
                <a:spcPct val="115000"/>
              </a:lnSpc>
              <a:spcBef>
                <a:spcPts val="0"/>
              </a:spcBef>
              <a:spcAft>
                <a:spcPts val="0"/>
              </a:spcAft>
            </a:pPr>
            <a:r>
              <a:rPr sz="1500" b="0" i="0">
                <a:solidFill>
                  <a:srgbClr val="1A1A1A"/>
                </a:solidFill>
                <a:latin typeface="Palatino"/>
              </a:rPr>
              <a:t>Figure 7.11, form 2: wide middle bars closing near their highs.</a:t>
            </a:r>
          </a:p>
        </p:txBody>
      </p:sp>
      <p:sp>
        <p:nvSpPr>
          <p:cNvPr id="12" name="Rectangle 11"/>
          <p:cNvSpPr/>
          <p:nvPr/>
        </p:nvSpPr>
        <p:spPr>
          <a:xfrm>
            <a:off x="7769504" y="2456078"/>
            <a:ext cx="364540" cy="1580083"/>
          </a:xfrm>
          <a:prstGeom prst="rect">
            <a:avLst/>
          </a:prstGeom>
          <a:noFill/>
          <a:ln w="44450">
            <a:solidFill>
              <a:srgbClr val="E09B00"/>
            </a:solidFill>
          </a:ln>
        </p:spPr>
        <p:txBody>
          <a:bodyPr rtlCol="0" anchor="ctr"/>
          <a:lstStyle/>
          <a:p>
            <a:pPr algn="ctr"/>
          </a:p>
        </p:txBody>
      </p:sp>
      <p:sp>
        <p:nvSpPr>
          <p:cNvPr id="13" name="Rectangle 12"/>
          <p:cNvSpPr/>
          <p:nvPr/>
        </p:nvSpPr>
        <p:spPr>
          <a:xfrm>
            <a:off x="8197443" y="3509467"/>
            <a:ext cx="1077772" cy="1814169"/>
          </a:xfrm>
          <a:prstGeom prst="rect">
            <a:avLst/>
          </a:prstGeom>
          <a:noFill/>
          <a:ln w="44450">
            <a:solidFill>
              <a:srgbClr val="C62828"/>
            </a:solidFill>
          </a:ln>
        </p:spPr>
        <p:txBody>
          <a:bodyPr rtlCol="0" anchor="ctr"/>
          <a:lstStyle/>
          <a:p>
            <a:pPr algn="ctr"/>
          </a:p>
        </p:txBody>
      </p:sp>
      <p:sp>
        <p:nvSpPr>
          <p:cNvPr id="14" name="Rectangle 13"/>
          <p:cNvSpPr/>
          <p:nvPr/>
        </p:nvSpPr>
        <p:spPr>
          <a:xfrm>
            <a:off x="9291065" y="2456078"/>
            <a:ext cx="364540" cy="1580083"/>
          </a:xfrm>
          <a:prstGeom prst="rect">
            <a:avLst/>
          </a:prstGeom>
          <a:noFill/>
          <a:ln w="44450">
            <a:solidFill>
              <a:srgbClr val="1F5FAD"/>
            </a:solidFill>
          </a:ln>
        </p:spPr>
        <p:txBody>
          <a:bodyPr rtlCol="0" anchor="ctr"/>
          <a:lstStyle/>
          <a:p>
            <a:pPr algn="ctr"/>
          </a:p>
        </p:txBody>
      </p:sp>
      <p:sp>
        <p:nvSpPr>
          <p:cNvPr id="15" name="Oval 14"/>
          <p:cNvSpPr/>
          <p:nvPr/>
        </p:nvSpPr>
        <p:spPr>
          <a:xfrm>
            <a:off x="7641488" y="232806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069427" y="338145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163049" y="2328062"/>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852159" y="5650991"/>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7.11 -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216, Figure 7.11.</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bullish multiple form 2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Bar 1 closes at PHP 40.00, near its low </a:t>
            </a:r>
            <a:r>
              <a:rPr sz="1700" b="1" i="0">
                <a:solidFill>
                  <a:srgbClr val="E09B00"/>
                </a:solidFill>
                <a:latin typeface="Arial"/>
              </a:rPr>
              <a:t>(1)</a:t>
            </a:r>
            <a:r>
              <a:rPr sz="1700" b="0" i="0">
                <a:solidFill>
                  <a:srgbClr val="1A1A1A"/>
                </a:solidFill>
                <a:latin typeface="Arial"/>
              </a:rPr>
              <a:t>. The two wide bars </a:t>
            </a:r>
            <a:r>
              <a:rPr sz="1700" b="1" i="0">
                <a:solidFill>
                  <a:srgbClr val="C62828"/>
                </a:solidFill>
                <a:latin typeface="Arial"/>
              </a:rPr>
              <a:t>(2)</a:t>
            </a:r>
            <a:r>
              <a:rPr sz="1700" b="0" i="0">
                <a:solidFill>
                  <a:srgbClr val="1A1A1A"/>
                </a:solidFill>
                <a:latin typeface="Arial"/>
              </a:rPr>
              <a:t> close near their highs, at PHP 39.80 and PHP 39.70, on 3.8 and 3.6 million shares </a:t>
            </a:r>
            <a:r>
              <a:rPr sz="1700" b="1" i="0">
                <a:solidFill>
                  <a:srgbClr val="1F5FAD"/>
                </a:solidFill>
                <a:latin typeface="Arial"/>
              </a:rPr>
              <a:t>(3)</a:t>
            </a:r>
            <a:r>
              <a:rPr sz="1700" b="0" i="0">
                <a:solidFill>
                  <a:srgbClr val="1A1A1A"/>
                </a:solidFill>
                <a:latin typeface="Arial"/>
              </a:rPr>
              <a:t>. The last bar closes at PHP 41.80, near its high </a:t>
            </a:r>
            <a:r>
              <a:rPr sz="1700" b="1" i="0">
                <a:solidFill>
                  <a:srgbClr val="7B3FA0"/>
                </a:solidFill>
                <a:latin typeface="Arial"/>
              </a:rPr>
              <a:t>(4)</a:t>
            </a:r>
            <a:r>
              <a:rPr sz="1700" b="0" i="0">
                <a:solidFill>
                  <a:srgbClr val="1A1A1A"/>
                </a:solidFill>
                <a:latin typeface="Arial"/>
              </a:rPr>
              <a:t>. High volume on these wide bars indicates bullishness here (p. 216).</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xf-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3463442" y="3517827"/>
            <a:ext cx="5301386" cy="1383356"/>
          </a:xfrm>
          <a:prstGeom prst="rect">
            <a:avLst/>
          </a:prstGeom>
          <a:noFill/>
          <a:ln w="44450">
            <a:solidFill>
              <a:srgbClr val="C62828"/>
            </a:solidFill>
          </a:ln>
        </p:spPr>
        <p:txBody>
          <a:bodyPr rtlCol="0" anchor="ctr"/>
          <a:lstStyle/>
          <a:p>
            <a:pPr algn="ctr"/>
          </a:p>
        </p:txBody>
      </p:sp>
      <p:sp>
        <p:nvSpPr>
          <p:cNvPr id="10" name="Oval 9"/>
          <p:cNvSpPr/>
          <p:nvPr/>
        </p:nvSpPr>
        <p:spPr>
          <a:xfrm>
            <a:off x="2251252" y="3885416"/>
            <a:ext cx="87782" cy="87782"/>
          </a:xfrm>
          <a:prstGeom prst="ellipse">
            <a:avLst/>
          </a:prstGeom>
          <a:noFill/>
          <a:ln w="44450">
            <a:solidFill>
              <a:srgbClr val="E09B00"/>
            </a:solidFill>
          </a:ln>
        </p:spPr>
        <p:txBody>
          <a:bodyPr rtlCol="0" anchor="ctr"/>
          <a:lstStyle/>
          <a:p>
            <a:pPr algn="ctr"/>
          </a:p>
        </p:txBody>
      </p:sp>
      <p:sp>
        <p:nvSpPr>
          <p:cNvPr id="11" name="Rectangle 10"/>
          <p:cNvSpPr/>
          <p:nvPr/>
        </p:nvSpPr>
        <p:spPr>
          <a:xfrm>
            <a:off x="4633874" y="5148072"/>
            <a:ext cx="2960522" cy="237744"/>
          </a:xfrm>
          <a:prstGeom prst="rect">
            <a:avLst/>
          </a:prstGeom>
          <a:noFill/>
          <a:ln w="44450">
            <a:solidFill>
              <a:srgbClr val="1F5FAD"/>
            </a:solidFill>
          </a:ln>
        </p:spPr>
        <p:txBody>
          <a:bodyPr rtlCol="0" anchor="ctr"/>
          <a:lstStyle/>
          <a:p>
            <a:pPr algn="ctr"/>
          </a:p>
        </p:txBody>
      </p:sp>
      <p:sp>
        <p:nvSpPr>
          <p:cNvPr id="12" name="Oval 11"/>
          <p:cNvSpPr/>
          <p:nvPr/>
        </p:nvSpPr>
        <p:spPr>
          <a:xfrm>
            <a:off x="10200131" y="3426909"/>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8764828" y="408148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2206506" y="3577965"/>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7630346" y="5153273"/>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10135771" y="3568693"/>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XF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55 of 79</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216, Figure 7.11. Prices and volume are invented for teaching.</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Bullish multiple form 3: narrow bars inside the first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56 of 79</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Lim's label: "1st bar closes near its low followed by multiple narrow range bars closing within its range. The last bar closes at or near its high" (Figure 7.11, p. 216).</a:t>
            </a:r>
          </a:p>
          <a:p>
            <a:pPr algn="l">
              <a:lnSpc>
                <a:spcPct val="105000"/>
              </a:lnSpc>
              <a:spcBef>
                <a:spcPts val="0"/>
              </a:spcBef>
              <a:spcAft>
                <a:spcPts val="1100"/>
              </a:spcAft>
            </a:pPr>
            <a:r>
              <a:rPr sz="2000" b="0" i="0">
                <a:solidFill>
                  <a:srgbClr val="1A1A1A"/>
                </a:solidFill>
                <a:latin typeface="Arial"/>
              </a:rPr>
              <a:t>In the drawing, </a:t>
            </a:r>
            <a:r>
              <a:rPr sz="2000" b="1" i="0">
                <a:solidFill>
                  <a:srgbClr val="E09B00"/>
                </a:solidFill>
                <a:latin typeface="Arial"/>
              </a:rPr>
              <a:t>(1)</a:t>
            </a:r>
            <a:r>
              <a:rPr sz="2000" b="0" i="0">
                <a:solidFill>
                  <a:srgbClr val="1A1A1A"/>
                </a:solidFill>
                <a:latin typeface="Arial"/>
              </a:rPr>
              <a:t> is the first bar, </a:t>
            </a:r>
            <a:r>
              <a:rPr sz="2000" b="1" i="0">
                <a:solidFill>
                  <a:srgbClr val="C62828"/>
                </a:solidFill>
                <a:latin typeface="Arial"/>
              </a:rPr>
              <a:t>(2)</a:t>
            </a:r>
            <a:r>
              <a:rPr sz="2000" b="0" i="0">
                <a:solidFill>
                  <a:srgbClr val="1A1A1A"/>
                </a:solidFill>
                <a:latin typeface="Arial"/>
              </a:rPr>
              <a:t> the narrow bars and </a:t>
            </a:r>
            <a:r>
              <a:rPr sz="2000" b="1" i="0">
                <a:solidFill>
                  <a:srgbClr val="1F5FAD"/>
                </a:solidFill>
                <a:latin typeface="Arial"/>
              </a:rPr>
              <a:t>(3)</a:t>
            </a:r>
            <a:r>
              <a:rPr sz="2000" b="0" i="0">
                <a:solidFill>
                  <a:srgbClr val="1A1A1A"/>
                </a:solidFill>
                <a:latin typeface="Arial"/>
              </a:rPr>
              <a:t> the last bar.</a:t>
            </a:r>
          </a:p>
        </p:txBody>
      </p:sp>
      <p:sp>
        <p:nvSpPr>
          <p:cNvPr id="8" name="Rectangle 7"/>
          <p:cNvSpPr/>
          <p:nvPr/>
        </p:nvSpPr>
        <p:spPr>
          <a:xfrm>
            <a:off x="6759658" y="1810512"/>
            <a:ext cx="3747298"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878530" y="1929384"/>
            <a:ext cx="3509554"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878530" y="1929384"/>
            <a:ext cx="3509554"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152850" y="2203703"/>
            <a:ext cx="2960914"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7.11</a:t>
            </a:r>
          </a:p>
          <a:p>
            <a:pPr algn="l">
              <a:lnSpc>
                <a:spcPct val="115000"/>
              </a:lnSpc>
              <a:spcBef>
                <a:spcPts val="0"/>
              </a:spcBef>
              <a:spcAft>
                <a:spcPts val="0"/>
              </a:spcAft>
            </a:pPr>
            <a:r>
              <a:rPr sz="1500" b="0" i="0">
                <a:solidFill>
                  <a:srgbClr val="1A1A1A"/>
                </a:solidFill>
                <a:latin typeface="Palatino"/>
              </a:rPr>
              <a:t>Figure 7.11, form 3: narrow bars inside the first bar.</a:t>
            </a:r>
          </a:p>
        </p:txBody>
      </p:sp>
      <p:sp>
        <p:nvSpPr>
          <p:cNvPr id="12" name="Rectangle 11"/>
          <p:cNvSpPr/>
          <p:nvPr/>
        </p:nvSpPr>
        <p:spPr>
          <a:xfrm>
            <a:off x="7467229" y="2681804"/>
            <a:ext cx="520772" cy="2340864"/>
          </a:xfrm>
          <a:prstGeom prst="rect">
            <a:avLst/>
          </a:prstGeom>
          <a:noFill/>
          <a:ln w="44450">
            <a:solidFill>
              <a:srgbClr val="E09B00"/>
            </a:solidFill>
          </a:ln>
        </p:spPr>
        <p:txBody>
          <a:bodyPr rtlCol="0" anchor="ctr"/>
          <a:lstStyle/>
          <a:p>
            <a:pPr algn="ctr"/>
          </a:p>
        </p:txBody>
      </p:sp>
      <p:sp>
        <p:nvSpPr>
          <p:cNvPr id="13" name="Rectangle 12"/>
          <p:cNvSpPr/>
          <p:nvPr/>
        </p:nvSpPr>
        <p:spPr>
          <a:xfrm>
            <a:off x="7942717" y="3267020"/>
            <a:ext cx="1720813" cy="1170432"/>
          </a:xfrm>
          <a:prstGeom prst="rect">
            <a:avLst/>
          </a:prstGeom>
          <a:noFill/>
          <a:ln w="44450">
            <a:solidFill>
              <a:srgbClr val="C62828"/>
            </a:solidFill>
          </a:ln>
        </p:spPr>
        <p:txBody>
          <a:bodyPr rtlCol="0" anchor="ctr"/>
          <a:lstStyle/>
          <a:p>
            <a:pPr algn="ctr"/>
          </a:p>
        </p:txBody>
      </p:sp>
      <p:sp>
        <p:nvSpPr>
          <p:cNvPr id="14" name="Rectangle 13"/>
          <p:cNvSpPr/>
          <p:nvPr/>
        </p:nvSpPr>
        <p:spPr>
          <a:xfrm>
            <a:off x="9572962" y="2765406"/>
            <a:ext cx="520772" cy="2257261"/>
          </a:xfrm>
          <a:prstGeom prst="rect">
            <a:avLst/>
          </a:prstGeom>
          <a:noFill/>
          <a:ln w="44450">
            <a:solidFill>
              <a:srgbClr val="1F5FAD"/>
            </a:solidFill>
          </a:ln>
        </p:spPr>
        <p:txBody>
          <a:bodyPr rtlCol="0" anchor="ctr"/>
          <a:lstStyle/>
          <a:p>
            <a:pPr algn="ctr"/>
          </a:p>
        </p:txBody>
      </p:sp>
      <p:sp>
        <p:nvSpPr>
          <p:cNvPr id="15" name="Oval 14"/>
          <p:cNvSpPr/>
          <p:nvPr/>
        </p:nvSpPr>
        <p:spPr>
          <a:xfrm>
            <a:off x="7339213" y="255378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814701" y="313900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444946" y="263739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852159" y="5650991"/>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7.11 -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216, Figure 7.11.</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bullish multiple form 3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Bar 1 runs from PHP 39.60 to PHP 42.00 and closes at PHP 39.80 </a:t>
            </a:r>
            <a:r>
              <a:rPr sz="1700" b="1" i="0">
                <a:solidFill>
                  <a:srgbClr val="E09B00"/>
                </a:solidFill>
                <a:latin typeface="Arial"/>
              </a:rPr>
              <a:t>(1)</a:t>
            </a:r>
            <a:r>
              <a:rPr sz="1700" b="0" i="0">
                <a:solidFill>
                  <a:srgbClr val="1A1A1A"/>
                </a:solidFill>
                <a:latin typeface="Arial"/>
              </a:rPr>
              <a:t>. The narrow bars </a:t>
            </a:r>
            <a:r>
              <a:rPr sz="1700" b="1" i="0">
                <a:solidFill>
                  <a:srgbClr val="C62828"/>
                </a:solidFill>
                <a:latin typeface="Arial"/>
              </a:rPr>
              <a:t>(2)</a:t>
            </a:r>
            <a:r>
              <a:rPr sz="1700" b="0" i="0">
                <a:solidFill>
                  <a:srgbClr val="1A1A1A"/>
                </a:solidFill>
                <a:latin typeface="Arial"/>
              </a:rPr>
              <a:t> stay inside that range, between PHP 40.20 and PHP 40.80. The last bar closes at PHP 42.00, near its PHP 42.20 high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xg-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3463442" y="3855251"/>
            <a:ext cx="5301386" cy="1185906"/>
          </a:xfrm>
          <a:prstGeom prst="rect">
            <a:avLst/>
          </a:prstGeom>
          <a:noFill/>
          <a:ln w="44450">
            <a:solidFill>
              <a:srgbClr val="C62828"/>
            </a:solidFill>
          </a:ln>
        </p:spPr>
        <p:txBody>
          <a:bodyPr rtlCol="0" anchor="ctr"/>
          <a:lstStyle/>
          <a:p>
            <a:pPr algn="ctr"/>
          </a:p>
        </p:txBody>
      </p:sp>
      <p:sp>
        <p:nvSpPr>
          <p:cNvPr id="10" name="Oval 9"/>
          <p:cNvSpPr/>
          <p:nvPr/>
        </p:nvSpPr>
        <p:spPr>
          <a:xfrm>
            <a:off x="2251252" y="4827750"/>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10200131" y="3496946"/>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8764828" y="432018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2206506" y="452029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10135771" y="363873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XG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57 of 79</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216, Figure 7.11. The prices are invented for teaching.</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Bullish multiple form 4: an island reversal formation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58 of 79</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Lim's label: "1st bar closes near its low followed by multiple bars forming below a gap. The last bar gaps up and closes at or near its high. Referred to as an island reversal formation" (Figure 7.11, p. 216).</a:t>
            </a:r>
          </a:p>
          <a:p>
            <a:pPr algn="l">
              <a:lnSpc>
                <a:spcPct val="105000"/>
              </a:lnSpc>
              <a:spcBef>
                <a:spcPts val="0"/>
              </a:spcBef>
              <a:spcAft>
                <a:spcPts val="1100"/>
              </a:spcAft>
            </a:pPr>
            <a:r>
              <a:rPr sz="1900" b="0" i="0">
                <a:solidFill>
                  <a:srgbClr val="1A1A1A"/>
                </a:solidFill>
                <a:latin typeface="Arial"/>
              </a:rPr>
              <a:t>In the drawing, </a:t>
            </a:r>
            <a:r>
              <a:rPr sz="1900" b="1" i="0">
                <a:solidFill>
                  <a:srgbClr val="E09B00"/>
                </a:solidFill>
                <a:latin typeface="Arial"/>
              </a:rPr>
              <a:t>(1)</a:t>
            </a:r>
            <a:r>
              <a:rPr sz="1900" b="0" i="0">
                <a:solidFill>
                  <a:srgbClr val="1A1A1A"/>
                </a:solidFill>
                <a:latin typeface="Arial"/>
              </a:rPr>
              <a:t> is the first bar, </a:t>
            </a:r>
            <a:r>
              <a:rPr sz="1900" b="1" i="0">
                <a:solidFill>
                  <a:srgbClr val="C62828"/>
                </a:solidFill>
                <a:latin typeface="Arial"/>
              </a:rPr>
              <a:t>(2)</a:t>
            </a:r>
            <a:r>
              <a:rPr sz="1900" b="0" i="0">
                <a:solidFill>
                  <a:srgbClr val="1A1A1A"/>
                </a:solidFill>
                <a:latin typeface="Arial"/>
              </a:rPr>
              <a:t> the bars below the gap and </a:t>
            </a:r>
            <a:r>
              <a:rPr sz="1900" b="1" i="0">
                <a:solidFill>
                  <a:srgbClr val="1F5FAD"/>
                </a:solidFill>
                <a:latin typeface="Arial"/>
              </a:rPr>
              <a:t>(3)</a:t>
            </a:r>
            <a:r>
              <a:rPr sz="1900" b="0" i="0">
                <a:solidFill>
                  <a:srgbClr val="1A1A1A"/>
                </a:solidFill>
                <a:latin typeface="Arial"/>
              </a:rPr>
              <a:t> the last bar at the right edge of Lim's drawing. Our chart on the next slide draws it with prices.</a:t>
            </a:r>
          </a:p>
        </p:txBody>
      </p:sp>
      <p:sp>
        <p:nvSpPr>
          <p:cNvPr id="8" name="Rectangle 7"/>
          <p:cNvSpPr/>
          <p:nvPr/>
        </p:nvSpPr>
        <p:spPr>
          <a:xfrm>
            <a:off x="6753368" y="1810512"/>
            <a:ext cx="3759877"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872240" y="1929384"/>
            <a:ext cx="3522133"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872240" y="1929384"/>
            <a:ext cx="3522133"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146560" y="2203703"/>
            <a:ext cx="2973493"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7.11</a:t>
            </a:r>
          </a:p>
          <a:p>
            <a:pPr algn="l">
              <a:lnSpc>
                <a:spcPct val="115000"/>
              </a:lnSpc>
              <a:spcBef>
                <a:spcPts val="0"/>
              </a:spcBef>
              <a:spcAft>
                <a:spcPts val="0"/>
              </a:spcAft>
            </a:pPr>
            <a:r>
              <a:rPr sz="1500" b="0" i="0">
                <a:solidFill>
                  <a:srgbClr val="1A1A1A"/>
                </a:solidFill>
                <a:latin typeface="Palatino"/>
              </a:rPr>
              <a:t>Figure 7.11, form 4: bars isolated below a gap.</a:t>
            </a:r>
          </a:p>
        </p:txBody>
      </p:sp>
      <p:sp>
        <p:nvSpPr>
          <p:cNvPr id="12" name="Rectangle 11"/>
          <p:cNvSpPr/>
          <p:nvPr/>
        </p:nvSpPr>
        <p:spPr>
          <a:xfrm>
            <a:off x="7259675" y="2384552"/>
            <a:ext cx="422656" cy="1820671"/>
          </a:xfrm>
          <a:prstGeom prst="rect">
            <a:avLst/>
          </a:prstGeom>
          <a:noFill/>
          <a:ln w="44450">
            <a:solidFill>
              <a:srgbClr val="E09B00"/>
            </a:solidFill>
          </a:ln>
        </p:spPr>
        <p:txBody>
          <a:bodyPr rtlCol="0" anchor="ctr"/>
          <a:lstStyle/>
          <a:p>
            <a:pPr algn="ctr"/>
          </a:p>
        </p:txBody>
      </p:sp>
      <p:sp>
        <p:nvSpPr>
          <p:cNvPr id="13" name="Rectangle 12"/>
          <p:cNvSpPr/>
          <p:nvPr/>
        </p:nvSpPr>
        <p:spPr>
          <a:xfrm>
            <a:off x="7647110" y="4400296"/>
            <a:ext cx="1866730" cy="975359"/>
          </a:xfrm>
          <a:prstGeom prst="rect">
            <a:avLst/>
          </a:prstGeom>
          <a:noFill/>
          <a:ln w="44450">
            <a:solidFill>
              <a:srgbClr val="C62828"/>
            </a:solidFill>
          </a:ln>
        </p:spPr>
        <p:txBody>
          <a:bodyPr rtlCol="0" anchor="ctr"/>
          <a:lstStyle/>
          <a:p>
            <a:pPr algn="ctr"/>
          </a:p>
        </p:txBody>
      </p:sp>
      <p:sp>
        <p:nvSpPr>
          <p:cNvPr id="14" name="Rectangle 13"/>
          <p:cNvSpPr/>
          <p:nvPr/>
        </p:nvSpPr>
        <p:spPr>
          <a:xfrm>
            <a:off x="9654726" y="2384552"/>
            <a:ext cx="563541" cy="1690623"/>
          </a:xfrm>
          <a:prstGeom prst="rect">
            <a:avLst/>
          </a:prstGeom>
          <a:noFill/>
          <a:ln w="44450">
            <a:solidFill>
              <a:srgbClr val="1F5FAD"/>
            </a:solidFill>
          </a:ln>
        </p:spPr>
        <p:txBody>
          <a:bodyPr rtlCol="0" anchor="ctr"/>
          <a:lstStyle/>
          <a:p>
            <a:pPr algn="ctr"/>
          </a:p>
        </p:txBody>
      </p:sp>
      <p:sp>
        <p:nvSpPr>
          <p:cNvPr id="15" name="Oval 14"/>
          <p:cNvSpPr/>
          <p:nvPr/>
        </p:nvSpPr>
        <p:spPr>
          <a:xfrm>
            <a:off x="7131659" y="225653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519094" y="427228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526710" y="225653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852159" y="5650991"/>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7.11 -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216, Figure 7.11.</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bullish multiple form 4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Bar 1's low is PHP 40.00 </a:t>
            </a:r>
            <a:r>
              <a:rPr sz="1700" b="1" i="0">
                <a:solidFill>
                  <a:srgbClr val="E09B00"/>
                </a:solidFill>
                <a:latin typeface="Arial"/>
              </a:rPr>
              <a:t>(1)</a:t>
            </a:r>
            <a:r>
              <a:rPr sz="1700" b="0" i="0">
                <a:solidFill>
                  <a:srgbClr val="1A1A1A"/>
                </a:solidFill>
                <a:latin typeface="Arial"/>
              </a:rPr>
              <a:t>, and the isolated bars </a:t>
            </a:r>
            <a:r>
              <a:rPr sz="1700" b="1" i="0">
                <a:solidFill>
                  <a:srgbClr val="C62828"/>
                </a:solidFill>
                <a:latin typeface="Arial"/>
              </a:rPr>
              <a:t>(2)</a:t>
            </a:r>
            <a:r>
              <a:rPr sz="1700" b="0" i="0">
                <a:solidFill>
                  <a:srgbClr val="1A1A1A"/>
                </a:solidFill>
                <a:latin typeface="Arial"/>
              </a:rPr>
              <a:t> trade below a gap, between PHP 39.00 and PHP 39.60. The last bar's low is PHP 40.00 </a:t>
            </a:r>
            <a:r>
              <a:rPr sz="1700" b="1" i="0">
                <a:solidFill>
                  <a:srgbClr val="1F5FAD"/>
                </a:solidFill>
                <a:latin typeface="Arial"/>
              </a:rPr>
              <a:t>(3)</a:t>
            </a:r>
            <a:r>
              <a:rPr sz="1700" b="0" i="0">
                <a:solidFill>
                  <a:srgbClr val="1A1A1A"/>
                </a:solidFill>
                <a:latin typeface="Arial"/>
              </a:rPr>
              <a:t>, so it gaps up above them, and closes at PHP 41.60, near its PHP 41.80 high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xh-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3463442" y="4266590"/>
            <a:ext cx="5301386" cy="1137513"/>
          </a:xfrm>
          <a:prstGeom prst="rect">
            <a:avLst/>
          </a:prstGeom>
          <a:noFill/>
          <a:ln w="44450">
            <a:solidFill>
              <a:srgbClr val="C62828"/>
            </a:solidFill>
          </a:ln>
        </p:spPr>
        <p:txBody>
          <a:bodyPr rtlCol="0" anchor="ctr"/>
          <a:lstStyle/>
          <a:p>
            <a:pPr algn="ctr"/>
          </a:p>
        </p:txBody>
      </p:sp>
      <p:sp>
        <p:nvSpPr>
          <p:cNvPr id="10" name="Oval 9"/>
          <p:cNvSpPr/>
          <p:nvPr/>
        </p:nvSpPr>
        <p:spPr>
          <a:xfrm>
            <a:off x="2095804" y="4424476"/>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10044683" y="4424476"/>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10200131" y="3585667"/>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8764828" y="470733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832954" y="427530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9788183" y="4420731"/>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10135771" y="3727450"/>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XH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59 of 79</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216, Figure 7.11. The prices are invented for teaching.</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12 OF 30</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Multiple bar patterns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 bearish multiple pattern, what volume does Lim generally expect on the bars between the first and the last?</a:t>
            </a:r>
          </a:p>
        </p:txBody>
      </p:sp>
      <p:sp>
        <p:nvSpPr>
          <p:cNvPr id="9" name="TextBox 8"/>
          <p:cNvSpPr txBox="1"/>
          <p:nvPr/>
        </p:nvSpPr>
        <p:spPr>
          <a:xfrm>
            <a:off x="1051560"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Low volume</a:t>
            </a:r>
          </a:p>
          <a:p>
            <a:pPr algn="l">
              <a:lnSpc>
                <a:spcPct val="112000"/>
              </a:lnSpc>
              <a:spcBef>
                <a:spcPts val="0"/>
              </a:spcBef>
              <a:spcAft>
                <a:spcPts val="900"/>
              </a:spcAft>
            </a:pPr>
            <a:r>
              <a:rPr sz="1700" b="0" i="0">
                <a:solidFill>
                  <a:srgbClr val="FFFFFF"/>
                </a:solidFill>
                <a:latin typeface="Arial"/>
              </a:rPr>
              <a:t>B.  Steadily rising volume</a:t>
            </a:r>
          </a:p>
          <a:p>
            <a:pPr algn="l">
              <a:lnSpc>
                <a:spcPct val="112000"/>
              </a:lnSpc>
              <a:spcBef>
                <a:spcPts val="0"/>
              </a:spcBef>
              <a:spcAft>
                <a:spcPts val="900"/>
              </a:spcAft>
            </a:pPr>
            <a:r>
              <a:rPr sz="1700" b="0" i="0">
                <a:solidFill>
                  <a:srgbClr val="FFFFFF"/>
                </a:solidFill>
                <a:latin typeface="Arial"/>
              </a:rPr>
              <a:t>C.  The same volume as the first bar</a:t>
            </a:r>
          </a:p>
          <a:p>
            <a:pPr algn="l">
              <a:lnSpc>
                <a:spcPct val="112000"/>
              </a:lnSpc>
              <a:spcBef>
                <a:spcPts val="0"/>
              </a:spcBef>
              <a:spcAft>
                <a:spcPts val="900"/>
              </a:spcAft>
            </a:pPr>
            <a:r>
              <a:rPr sz="1700" b="0" i="0">
                <a:solidFill>
                  <a:srgbClr val="FFFFFF"/>
                </a:solidFill>
                <a:latin typeface="Arial"/>
              </a:rPr>
              <a:t>D.  Volume does not matter</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bullish multiple pattern 2, what can high volume on the wide middle bars indicate?</a:t>
            </a:r>
          </a:p>
        </p:txBody>
      </p:sp>
      <p:sp>
        <p:nvSpPr>
          <p:cNvPr id="13" name="TextBox 12"/>
          <p:cNvSpPr txBox="1"/>
          <p:nvPr/>
        </p:nvSpPr>
        <p:spPr>
          <a:xfrm>
            <a:off x="6690207"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Bearishness</a:t>
            </a:r>
          </a:p>
          <a:p>
            <a:pPr algn="l">
              <a:lnSpc>
                <a:spcPct val="112000"/>
              </a:lnSpc>
              <a:spcBef>
                <a:spcPts val="0"/>
              </a:spcBef>
              <a:spcAft>
                <a:spcPts val="900"/>
              </a:spcAft>
            </a:pPr>
            <a:r>
              <a:rPr sz="1700" b="0" i="0">
                <a:solidFill>
                  <a:srgbClr val="FFFFFF"/>
                </a:solidFill>
                <a:latin typeface="Arial"/>
              </a:rPr>
              <a:t>B.  Bullishness</a:t>
            </a:r>
          </a:p>
          <a:p>
            <a:pPr algn="l">
              <a:lnSpc>
                <a:spcPct val="112000"/>
              </a:lnSpc>
              <a:spcBef>
                <a:spcPts val="0"/>
              </a:spcBef>
              <a:spcAft>
                <a:spcPts val="900"/>
              </a:spcAft>
            </a:pPr>
            <a:r>
              <a:rPr sz="1700" b="0" i="0">
                <a:solidFill>
                  <a:srgbClr val="FFFFFF"/>
                </a:solidFill>
                <a:latin typeface="Arial"/>
              </a:rPr>
              <a:t>C.  A continuation pattern</a:t>
            </a:r>
          </a:p>
          <a:p>
            <a:pPr algn="l">
              <a:lnSpc>
                <a:spcPct val="112000"/>
              </a:lnSpc>
              <a:spcBef>
                <a:spcPts val="0"/>
              </a:spcBef>
              <a:spcAft>
                <a:spcPts val="900"/>
              </a:spcAft>
            </a:pPr>
            <a:r>
              <a:rPr sz="1700" b="0" i="0">
                <a:solidFill>
                  <a:srgbClr val="FFFFFF"/>
                </a:solidFill>
                <a:latin typeface="Arial"/>
              </a:rPr>
              <a:t>D.  Nothing at all</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12</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Multiple bar patterns</a:t>
            </a:r>
          </a:p>
        </p:txBody>
      </p:sp>
      <p:sp>
        <p:nvSpPr>
          <p:cNvPr id="6" name="Rectangle 5"/>
          <p:cNvSpPr/>
          <p:nvPr/>
        </p:nvSpPr>
        <p:spPr>
          <a:xfrm>
            <a:off x="777240" y="1207008"/>
            <a:ext cx="10637215" cy="212471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12471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In a bearish multiple pattern, what volume does Lim generally expect on the bars between the first and the last?</a:t>
            </a:r>
          </a:p>
        </p:txBody>
      </p:sp>
      <p:sp>
        <p:nvSpPr>
          <p:cNvPr id="9" name="TextBox 8"/>
          <p:cNvSpPr txBox="1"/>
          <p:nvPr/>
        </p:nvSpPr>
        <p:spPr>
          <a:xfrm>
            <a:off x="1143000" y="2197354"/>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Low volume</a:t>
            </a:r>
          </a:p>
          <a:p>
            <a:pPr algn="l">
              <a:lnSpc>
                <a:spcPct val="115000"/>
              </a:lnSpc>
              <a:spcBef>
                <a:spcPts val="700"/>
              </a:spcBef>
              <a:spcAft>
                <a:spcPts val="0"/>
              </a:spcAft>
            </a:pPr>
            <a:r>
              <a:rPr sz="1700" b="0" i="0">
                <a:solidFill>
                  <a:srgbClr val="1A1A1A"/>
                </a:solidFill>
                <a:latin typeface="Arial"/>
              </a:rPr>
              <a:t>The numerous bars between the first and last bars should generally occur on low volume, with pattern 2 possibly the exception (p. 214).</a:t>
            </a:r>
          </a:p>
        </p:txBody>
      </p:sp>
      <p:sp>
        <p:nvSpPr>
          <p:cNvPr id="10" name="Rectangle 9"/>
          <p:cNvSpPr/>
          <p:nvPr/>
        </p:nvSpPr>
        <p:spPr>
          <a:xfrm>
            <a:off x="777240" y="3578606"/>
            <a:ext cx="10637215" cy="187642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578606"/>
            <a:ext cx="91440" cy="187642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816349"/>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In bullish multiple pattern 2, what can high volume on the wide middle bars indicate?</a:t>
            </a:r>
          </a:p>
        </p:txBody>
      </p:sp>
      <p:sp>
        <p:nvSpPr>
          <p:cNvPr id="13" name="TextBox 12"/>
          <p:cNvSpPr txBox="1"/>
          <p:nvPr/>
        </p:nvSpPr>
        <p:spPr>
          <a:xfrm>
            <a:off x="1143000" y="4320667"/>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Bullishness</a:t>
            </a:r>
          </a:p>
          <a:p>
            <a:pPr algn="l">
              <a:lnSpc>
                <a:spcPct val="115000"/>
              </a:lnSpc>
              <a:spcBef>
                <a:spcPts val="700"/>
              </a:spcBef>
              <a:spcAft>
                <a:spcPts val="0"/>
              </a:spcAft>
            </a:pPr>
            <a:r>
              <a:rPr sz="1700" b="0" i="0">
                <a:solidFill>
                  <a:srgbClr val="1A1A1A"/>
                </a:solidFill>
                <a:latin typeface="Arial"/>
              </a:rPr>
              <a:t>Wide-ranging bars between the first and last bar in pattern 2 can occur on high or above average volume, indicating bullishness (p. 216).</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12</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Continuation bars show the trend is still strong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60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So far every pattern disagreed with its trend. Lim also draws two patterns where a bullish continuation is expected instead: bullish bars inside an uptrend (p. 216).</a:t>
            </a:r>
          </a:p>
          <a:p>
            <a:pPr algn="l">
              <a:lnSpc>
                <a:spcPct val="118000"/>
              </a:lnSpc>
              <a:spcBef>
                <a:spcPts val="0"/>
              </a:spcBef>
              <a:spcAft>
                <a:spcPts val="1300"/>
              </a:spcAft>
            </a:pPr>
            <a:r>
              <a:rPr sz="2100" b="0" i="0">
                <a:solidFill>
                  <a:srgbClr val="1A1A1A"/>
                </a:solidFill>
                <a:latin typeface="Arial"/>
              </a:rPr>
              <a:t>Lim adds that large volume on a bullish second bar indicates the trend may still be potentially strong (p. 216).</a:t>
            </a:r>
          </a:p>
          <a:p>
            <a:pPr algn="l">
              <a:lnSpc>
                <a:spcPct val="118000"/>
              </a:lnSpc>
              <a:spcBef>
                <a:spcPts val="0"/>
              </a:spcBef>
              <a:spcAft>
                <a:spcPts val="1300"/>
              </a:spcAft>
            </a:pPr>
            <a:r>
              <a:rPr sz="2100" b="0" i="0">
                <a:solidFill>
                  <a:srgbClr val="1A1A1A"/>
                </a:solidFill>
                <a:latin typeface="Arial"/>
              </a:rPr>
              <a:t>For bearish continuation bars he says only that the reverse applies (p. 217); he draws no bearish example.</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216 to 217.</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Continuation pattern 1: the second bar breaks the previous high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 "the second bar breaches the high of the previous bar on high volume" (p. 217); his label adds that it closes at or near its high (Figure 7.12, p. 216). Here it is with invented prices. The previous high is PHP 51.00 </a:t>
            </a:r>
            <a:r>
              <a:rPr sz="1700" b="1" i="0">
                <a:solidFill>
                  <a:srgbClr val="E09B00"/>
                </a:solidFill>
                <a:latin typeface="Arial"/>
              </a:rPr>
              <a:t>(1)</a:t>
            </a:r>
            <a:r>
              <a:rPr sz="1700" b="0" i="0">
                <a:solidFill>
                  <a:srgbClr val="1A1A1A"/>
                </a:solidFill>
                <a:latin typeface="Arial"/>
              </a:rPr>
              <a:t>. Bar 2 reaches PHP 53.40 and closes at PHP 53.20, near its high </a:t>
            </a:r>
            <a:r>
              <a:rPr sz="1700" b="1" i="0">
                <a:solidFill>
                  <a:srgbClr val="C62828"/>
                </a:solidFill>
                <a:latin typeface="Arial"/>
              </a:rPr>
              <a:t>(2)</a:t>
            </a:r>
            <a:r>
              <a:rPr sz="1700" b="0" i="0">
                <a:solidFill>
                  <a:srgbClr val="1A1A1A"/>
                </a:solidFill>
                <a:latin typeface="Arial"/>
              </a:rPr>
              <a:t>, on 4.0 million shares against 2.0 million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367914" y="2395728"/>
            <a:ext cx="1299418"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367914" y="2395728"/>
            <a:ext cx="1299418"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642234" y="2670048"/>
            <a:ext cx="750778"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7.12</a:t>
            </a:r>
          </a:p>
          <a:p>
            <a:pPr algn="l">
              <a:lnSpc>
                <a:spcPct val="115000"/>
              </a:lnSpc>
              <a:spcBef>
                <a:spcPts val="0"/>
              </a:spcBef>
              <a:spcAft>
                <a:spcPts val="0"/>
              </a:spcAft>
            </a:pPr>
            <a:r>
              <a:rPr sz="1500" b="0" i="0">
                <a:solidFill>
                  <a:srgbClr val="1A1A1A"/>
                </a:solidFill>
                <a:latin typeface="Palatino"/>
              </a:rPr>
              <a:t>Figure 7.12, pattern 1: a second bar closing near its high.</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7.12,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ca-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5518403" y="3869740"/>
            <a:ext cx="87782" cy="87782"/>
          </a:xfrm>
          <a:prstGeom prst="ellipse">
            <a:avLst/>
          </a:prstGeom>
          <a:noFill/>
          <a:ln w="44450">
            <a:solidFill>
              <a:srgbClr val="E09B00"/>
            </a:solidFill>
          </a:ln>
        </p:spPr>
        <p:txBody>
          <a:bodyPr rtlCol="0" anchor="ctr"/>
          <a:lstStyle/>
          <a:p>
            <a:pPr algn="ctr"/>
          </a:p>
        </p:txBody>
      </p:sp>
      <p:sp>
        <p:nvSpPr>
          <p:cNvPr id="15" name="Oval 14"/>
          <p:cNvSpPr/>
          <p:nvPr/>
        </p:nvSpPr>
        <p:spPr>
          <a:xfrm>
            <a:off x="10282427" y="3417112"/>
            <a:ext cx="87782" cy="87782"/>
          </a:xfrm>
          <a:prstGeom prst="ellipse">
            <a:avLst/>
          </a:prstGeom>
          <a:noFill/>
          <a:ln w="44450">
            <a:solidFill>
              <a:srgbClr val="C62828"/>
            </a:solidFill>
          </a:ln>
        </p:spPr>
        <p:txBody>
          <a:bodyPr rtlCol="0" anchor="ctr"/>
          <a:lstStyle/>
          <a:p>
            <a:pPr algn="ctr"/>
          </a:p>
        </p:txBody>
      </p:sp>
      <p:sp>
        <p:nvSpPr>
          <p:cNvPr id="16" name="Rectangle 15"/>
          <p:cNvSpPr/>
          <p:nvPr/>
        </p:nvSpPr>
        <p:spPr>
          <a:xfrm>
            <a:off x="10015422" y="5148072"/>
            <a:ext cx="310896" cy="237744"/>
          </a:xfrm>
          <a:prstGeom prst="rect">
            <a:avLst/>
          </a:prstGeom>
          <a:noFill/>
          <a:ln w="44450">
            <a:solidFill>
              <a:srgbClr val="1F5FAD"/>
            </a:solidFill>
          </a:ln>
        </p:spPr>
        <p:txBody>
          <a:bodyPr rtlCol="0" anchor="ctr"/>
          <a:lstStyle/>
          <a:p>
            <a:pPr algn="ctr"/>
          </a:p>
        </p:txBody>
      </p:sp>
      <p:sp>
        <p:nvSpPr>
          <p:cNvPr id="17" name="Oval 16"/>
          <p:cNvSpPr/>
          <p:nvPr/>
        </p:nvSpPr>
        <p:spPr>
          <a:xfrm>
            <a:off x="5244807" y="380219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231330" y="352029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326318" y="513892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CA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61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216 to 217, Figure 7.12. Prices and volume are invented for teaching.</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Continuation pattern 2: a halfway retrace, then a breach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 "price retraces to the 50 percent level of the previous bar and subsequently rebounds on high volume, breaching the previous bar's high" (p. 217). Say bar 1 runs from PHP 48.00 to PHP 52.00, so its 50 percent level is (48.00 + 52.00) / 2 = PHP 50.00. Bar 2 dips to PHP 50.00 </a:t>
            </a:r>
            <a:r>
              <a:rPr sz="1700" b="1" i="0">
                <a:solidFill>
                  <a:srgbClr val="E09B00"/>
                </a:solidFill>
                <a:latin typeface="Arial"/>
              </a:rPr>
              <a:t>(1)</a:t>
            </a:r>
            <a:r>
              <a:rPr sz="1700" b="0" i="0">
                <a:solidFill>
                  <a:srgbClr val="1A1A1A"/>
                </a:solidFill>
                <a:latin typeface="Arial"/>
              </a:rPr>
              <a:t>, then rebounds to PHP 52.80, above the old high </a:t>
            </a:r>
            <a:r>
              <a:rPr sz="1700" b="1" i="0">
                <a:solidFill>
                  <a:srgbClr val="C62828"/>
                </a:solidFill>
                <a:latin typeface="Arial"/>
              </a:rPr>
              <a:t>(2)</a:t>
            </a:r>
            <a:r>
              <a:rPr sz="1700" b="0" i="0">
                <a:solidFill>
                  <a:srgbClr val="1A1A1A"/>
                </a:solidFill>
                <a:latin typeface="Arial"/>
              </a:rPr>
              <a:t>, on 4.2 million shares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777240" y="2555294"/>
            <a:ext cx="2480766" cy="3192163"/>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77240" y="2555294"/>
            <a:ext cx="2480766"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051560" y="2829614"/>
            <a:ext cx="1932126" cy="2734963"/>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7.12</a:t>
            </a:r>
          </a:p>
          <a:p>
            <a:pPr algn="l">
              <a:lnSpc>
                <a:spcPct val="115000"/>
              </a:lnSpc>
              <a:spcBef>
                <a:spcPts val="0"/>
              </a:spcBef>
              <a:spcAft>
                <a:spcPts val="0"/>
              </a:spcAft>
            </a:pPr>
            <a:r>
              <a:rPr sz="1500" b="0" i="0">
                <a:solidFill>
                  <a:srgbClr val="1A1A1A"/>
                </a:solidFill>
                <a:latin typeface="Palatino"/>
              </a:rPr>
              <a:t>Figure 7.12, pattern 2: a retrace to the midpoint, then a rebound.</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7.12,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cb-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10126979" y="4000042"/>
            <a:ext cx="87782" cy="87782"/>
          </a:xfrm>
          <a:prstGeom prst="ellipse">
            <a:avLst/>
          </a:prstGeom>
          <a:noFill/>
          <a:ln w="44450">
            <a:solidFill>
              <a:srgbClr val="E09B00"/>
            </a:solidFill>
          </a:ln>
        </p:spPr>
        <p:txBody>
          <a:bodyPr rtlCol="0" anchor="ctr"/>
          <a:lstStyle/>
          <a:p>
            <a:pPr algn="ctr"/>
          </a:p>
        </p:txBody>
      </p:sp>
      <p:sp>
        <p:nvSpPr>
          <p:cNvPr id="15" name="Oval 14"/>
          <p:cNvSpPr/>
          <p:nvPr/>
        </p:nvSpPr>
        <p:spPr>
          <a:xfrm>
            <a:off x="10126979" y="3375964"/>
            <a:ext cx="87782" cy="87782"/>
          </a:xfrm>
          <a:prstGeom prst="ellipse">
            <a:avLst/>
          </a:prstGeom>
          <a:noFill/>
          <a:ln w="44450">
            <a:solidFill>
              <a:srgbClr val="C62828"/>
            </a:solidFill>
          </a:ln>
        </p:spPr>
        <p:txBody>
          <a:bodyPr rtlCol="0" anchor="ctr"/>
          <a:lstStyle/>
          <a:p>
            <a:pPr algn="ctr"/>
          </a:p>
        </p:txBody>
      </p:sp>
      <p:sp>
        <p:nvSpPr>
          <p:cNvPr id="16" name="Rectangle 15"/>
          <p:cNvSpPr/>
          <p:nvPr/>
        </p:nvSpPr>
        <p:spPr>
          <a:xfrm>
            <a:off x="10015422" y="5148072"/>
            <a:ext cx="310896" cy="237744"/>
          </a:xfrm>
          <a:prstGeom prst="rect">
            <a:avLst/>
          </a:prstGeom>
          <a:noFill/>
          <a:ln w="44450">
            <a:solidFill>
              <a:srgbClr val="1F5FAD"/>
            </a:solidFill>
          </a:ln>
        </p:spPr>
        <p:txBody>
          <a:bodyPr rtlCol="0" anchor="ctr"/>
          <a:lstStyle/>
          <a:p>
            <a:pPr algn="ctr"/>
          </a:p>
        </p:txBody>
      </p:sp>
      <p:sp>
        <p:nvSpPr>
          <p:cNvPr id="17" name="Oval 16"/>
          <p:cNvSpPr/>
          <p:nvPr/>
        </p:nvSpPr>
        <p:spPr>
          <a:xfrm>
            <a:off x="10230160" y="388289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9852659"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344050" y="515167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CB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62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216 to 217, Figure 7.12. Prices and volume are invented for teaching.</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13 OF 30</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Continuation bars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continuation pattern 1, what does the second bar do?</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Gaps down below the first bar</a:t>
            </a:r>
          </a:p>
          <a:p>
            <a:pPr algn="l">
              <a:lnSpc>
                <a:spcPct val="112000"/>
              </a:lnSpc>
              <a:spcBef>
                <a:spcPts val="0"/>
              </a:spcBef>
              <a:spcAft>
                <a:spcPts val="900"/>
              </a:spcAft>
            </a:pPr>
            <a:r>
              <a:rPr sz="1700" b="0" i="0">
                <a:solidFill>
                  <a:srgbClr val="FFFFFF"/>
                </a:solidFill>
                <a:latin typeface="Arial"/>
              </a:rPr>
              <a:t>B.  Breaches the previous high on high volume</a:t>
            </a:r>
          </a:p>
          <a:p>
            <a:pPr algn="l">
              <a:lnSpc>
                <a:spcPct val="112000"/>
              </a:lnSpc>
              <a:spcBef>
                <a:spcPts val="0"/>
              </a:spcBef>
              <a:spcAft>
                <a:spcPts val="900"/>
              </a:spcAft>
            </a:pPr>
            <a:r>
              <a:rPr sz="1700" b="0" i="0">
                <a:solidFill>
                  <a:srgbClr val="FFFFFF"/>
                </a:solidFill>
                <a:latin typeface="Arial"/>
              </a:rPr>
              <a:t>C.  Closes near its low</a:t>
            </a:r>
          </a:p>
          <a:p>
            <a:pPr algn="l">
              <a:lnSpc>
                <a:spcPct val="112000"/>
              </a:lnSpc>
              <a:spcBef>
                <a:spcPts val="0"/>
              </a:spcBef>
              <a:spcAft>
                <a:spcPts val="900"/>
              </a:spcAft>
            </a:pPr>
            <a:r>
              <a:rPr sz="1700" b="0" i="0">
                <a:solidFill>
                  <a:srgbClr val="FFFFFF"/>
                </a:solidFill>
                <a:latin typeface="Arial"/>
              </a:rPr>
              <a:t>D.  Stays inside the first bar</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first bar runs from PHP 48.00 to PHP 52.00. To what level does pattern 2 retrace?</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PHP 49.00</a:t>
            </a:r>
          </a:p>
          <a:p>
            <a:pPr algn="l">
              <a:lnSpc>
                <a:spcPct val="112000"/>
              </a:lnSpc>
              <a:spcBef>
                <a:spcPts val="0"/>
              </a:spcBef>
              <a:spcAft>
                <a:spcPts val="900"/>
              </a:spcAft>
            </a:pPr>
            <a:r>
              <a:rPr sz="1700" b="0" i="0">
                <a:solidFill>
                  <a:srgbClr val="FFFFFF"/>
                </a:solidFill>
                <a:latin typeface="Arial"/>
              </a:rPr>
              <a:t>B.  PHP 51.00</a:t>
            </a:r>
          </a:p>
          <a:p>
            <a:pPr algn="l">
              <a:lnSpc>
                <a:spcPct val="112000"/>
              </a:lnSpc>
              <a:spcBef>
                <a:spcPts val="0"/>
              </a:spcBef>
              <a:spcAft>
                <a:spcPts val="900"/>
              </a:spcAft>
            </a:pPr>
            <a:r>
              <a:rPr sz="1700" b="0" i="0">
                <a:solidFill>
                  <a:srgbClr val="FFFFFF"/>
                </a:solidFill>
                <a:latin typeface="Arial"/>
              </a:rPr>
              <a:t>C.  PHP 52.00</a:t>
            </a:r>
          </a:p>
          <a:p>
            <a:pPr algn="l">
              <a:lnSpc>
                <a:spcPct val="112000"/>
              </a:lnSpc>
              <a:spcBef>
                <a:spcPts val="0"/>
              </a:spcBef>
              <a:spcAft>
                <a:spcPts val="900"/>
              </a:spcAft>
            </a:pPr>
            <a:r>
              <a:rPr sz="1700" b="0" i="0">
                <a:solidFill>
                  <a:srgbClr val="FFFFFF"/>
                </a:solidFill>
                <a:latin typeface="Arial"/>
              </a:rPr>
              <a:t>D.  PHP 50.00</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13</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Continuation bars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In continuation pattern 1, what does the second bar do?</a:t>
            </a:r>
          </a:p>
        </p:txBody>
      </p:sp>
      <p:sp>
        <p:nvSpPr>
          <p:cNvPr id="9" name="TextBox 8"/>
          <p:cNvSpPr txBox="1"/>
          <p:nvPr/>
        </p:nvSpPr>
        <p:spPr>
          <a:xfrm>
            <a:off x="1143000" y="1949069"/>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Breaches the previous high on high volume</a:t>
            </a:r>
          </a:p>
          <a:p>
            <a:pPr algn="l">
              <a:lnSpc>
                <a:spcPct val="115000"/>
              </a:lnSpc>
              <a:spcBef>
                <a:spcPts val="700"/>
              </a:spcBef>
              <a:spcAft>
                <a:spcPts val="0"/>
              </a:spcAft>
            </a:pPr>
            <a:r>
              <a:rPr sz="1700" b="0" i="0">
                <a:solidFill>
                  <a:srgbClr val="1A1A1A"/>
                </a:solidFill>
                <a:latin typeface="Arial"/>
              </a:rPr>
              <a:t>In pattern 1 the second bar breaches the high of the previous bar on high volume (p. 217).</a:t>
            </a:r>
          </a:p>
        </p:txBody>
      </p:sp>
      <p:sp>
        <p:nvSpPr>
          <p:cNvPr id="10" name="Rectangle 9"/>
          <p:cNvSpPr/>
          <p:nvPr/>
        </p:nvSpPr>
        <p:spPr>
          <a:xfrm>
            <a:off x="777240" y="3082036"/>
            <a:ext cx="10637215" cy="187642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7642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A first bar runs from PHP 48.00 to PHP 52.00. To what level does pattern 2 retrace?</a:t>
            </a:r>
          </a:p>
        </p:txBody>
      </p:sp>
      <p:sp>
        <p:nvSpPr>
          <p:cNvPr id="13" name="TextBox 12"/>
          <p:cNvSpPr txBox="1"/>
          <p:nvPr/>
        </p:nvSpPr>
        <p:spPr>
          <a:xfrm>
            <a:off x="1143000" y="3824096"/>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PHP 50.00</a:t>
            </a:r>
          </a:p>
          <a:p>
            <a:pPr algn="l">
              <a:lnSpc>
                <a:spcPct val="115000"/>
              </a:lnSpc>
              <a:spcBef>
                <a:spcPts val="700"/>
              </a:spcBef>
              <a:spcAft>
                <a:spcPts val="0"/>
              </a:spcAft>
            </a:pPr>
            <a:r>
              <a:rPr sz="1700" b="0" i="0">
                <a:solidFill>
                  <a:srgbClr val="1A1A1A"/>
                </a:solidFill>
                <a:latin typeface="Arial"/>
              </a:rPr>
              <a:t>Pattern 2 retraces to the 50 percent level of the previous bar: (48.00 + 52.00) / 2 = PHP 50.00 (p. 217).</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13</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Every pattern is read against the 16 reversal characteristics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63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Besides each pattern's own behaviour, Lim asks us to watch 16 basic price and volume characteristics that indicate a potential reversal (p. 217).</a:t>
            </a:r>
          </a:p>
          <a:p>
            <a:pPr algn="l">
              <a:lnSpc>
                <a:spcPct val="118000"/>
              </a:lnSpc>
              <a:spcBef>
                <a:spcPts val="0"/>
              </a:spcBef>
              <a:spcAft>
                <a:spcPts val="1300"/>
              </a:spcAft>
            </a:pPr>
            <a:r>
              <a:rPr sz="2100" b="0" i="0">
                <a:solidFill>
                  <a:srgbClr val="1A1A1A"/>
                </a:solidFill>
                <a:latin typeface="Arial"/>
              </a:rPr>
              <a:t>They apply equally to Japanese candlestick analysis (Chapter 3, "Japanese candlestick"). Lim calls them strong indications of a potential change in trend or a price retracement, and refers us to Chapter 5 for the detail (p. 217).</a:t>
            </a:r>
          </a:p>
          <a:p>
            <a:pPr algn="l">
              <a:lnSpc>
                <a:spcPct val="118000"/>
              </a:lnSpc>
              <a:spcBef>
                <a:spcPts val="0"/>
              </a:spcBef>
              <a:spcAft>
                <a:spcPts val="1300"/>
              </a:spcAft>
            </a:pPr>
            <a:r>
              <a:rPr sz="2100" b="0" i="0">
                <a:solidFill>
                  <a:srgbClr val="1A1A1A"/>
                </a:solidFill>
                <a:latin typeface="Arial"/>
              </a:rPr>
              <a:t>We met all 16 in Chapter 5. The next eight slides recall them in the book's own words and order, each with invented numbers to show the change.</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Chapter 3, "Japanese candlestick"; Chapter 5.</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Characteristics 1 and 2: the swings get smaller and shorter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64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Characteristic 1, decrease in price cycle amplitude: each swing covers less ground, say rises of 40 points shrinking to 30 (Chapter 5, "1 Cycle amplitude").</a:t>
            </a:r>
          </a:p>
          <a:p>
            <a:pPr algn="l">
              <a:lnSpc>
                <a:spcPct val="118000"/>
              </a:lnSpc>
              <a:spcBef>
                <a:spcPts val="0"/>
              </a:spcBef>
              <a:spcAft>
                <a:spcPts val="1300"/>
              </a:spcAft>
            </a:pPr>
            <a:r>
              <a:rPr sz="2100" b="0" i="0">
                <a:solidFill>
                  <a:srgbClr val="1A1A1A"/>
                </a:solidFill>
                <a:latin typeface="Arial"/>
              </a:rPr>
              <a:t>Characteristic 2, decrease in price cycle period: each swing takes less time, say 20 bars falling to 12 (Chapter 5, "2 Cycle period").</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the Chapter 5 slides named above. The numbers are invented for teaching.</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Characteristics 3 and 4: pullbacks change and bars shrink</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65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Characteristic 3, change in bar retracement symmetry: pullbacks that took 6, 6 and 5 bars suddenly take 2 (Chapter 5, "3 Bar retracement symmetry").</a:t>
            </a:r>
          </a:p>
          <a:p>
            <a:pPr algn="l">
              <a:lnSpc>
                <a:spcPct val="118000"/>
              </a:lnSpc>
              <a:spcBef>
                <a:spcPts val="0"/>
              </a:spcBef>
              <a:spcAft>
                <a:spcPts val="1300"/>
              </a:spcAft>
            </a:pPr>
            <a:r>
              <a:rPr sz="2100" b="0" i="0">
                <a:solidFill>
                  <a:srgbClr val="1A1A1A"/>
                </a:solidFill>
                <a:latin typeface="Arial"/>
              </a:rPr>
              <a:t>Characteristic 4, decrease in average bar range: bars that averaged PHP 3.00 from low to high now average PHP 2.00 (Chapter 5, "4 Average bar range").</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the Chapter 5 slides named above. The numbers are invented for teaching.</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Characteristics 5 and 6: the bars lose their quality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66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Characteristic 5, lack of the quality of price persistence: small, even bars of about PHP 1.00 give way to uneven ones of PHP 0.40, 2.50 and 0.80 (Chapter 5, "5 Price persistence").</a:t>
            </a:r>
          </a:p>
          <a:p>
            <a:pPr algn="l">
              <a:lnSpc>
                <a:spcPct val="118000"/>
              </a:lnSpc>
              <a:spcBef>
                <a:spcPts val="0"/>
              </a:spcBef>
              <a:spcAft>
                <a:spcPts val="1300"/>
              </a:spcAft>
            </a:pPr>
            <a:r>
              <a:rPr sz="2100" b="0" i="0">
                <a:solidFill>
                  <a:srgbClr val="1A1A1A"/>
                </a:solidFill>
                <a:latin typeface="Arial"/>
              </a:rPr>
              <a:t>Characteristic 6, decrease in average bar stochastic ratio: on average, closes sit lower inside their bars, say 0.80 falling to 0.40 (Chapter 5, "6 The average bar stochastic ratio").</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the Chapter 5 slides named above. The numbers are invented for teaching.</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Characteristics 7 and 8: bodies shrink and the angle changes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67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Characteristic 7, decrease in average candlestick real body to range ratio: on average the bodies shrink inside their bars, say 0.60 falling to 0.25 (Chapter 5, "7 Real body to range ratio, BRR").</a:t>
            </a:r>
          </a:p>
          <a:p>
            <a:pPr algn="l">
              <a:lnSpc>
                <a:spcPct val="118000"/>
              </a:lnSpc>
              <a:spcBef>
                <a:spcPts val="0"/>
              </a:spcBef>
              <a:spcAft>
                <a:spcPts val="1300"/>
              </a:spcAft>
            </a:pPr>
            <a:r>
              <a:rPr sz="2100" b="0" i="0">
                <a:solidFill>
                  <a:srgbClr val="1A1A1A"/>
                </a:solidFill>
                <a:latin typeface="Arial"/>
              </a:rPr>
              <a:t>Characteristic 8, changes in angular symmetry and momentum: the trend's angle changes, say from 20 to 35 degrees. Chapter 5 said a steeper climb is generally bullish; Lim adds that a sudden parabolic jump is usually unsustainable and so potentially bearish (p. 218). He gives no cutoff angle (Chapter 5, "8 Angular symmetry and momentum").</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the Chapter 5 slides named above. The numbers are invented for teaching.</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Characteristics 9 and 10: a barrier is near and the dips fade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68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Characteristic 9, proximity to a price barrier: price is near a strong support or resistance, say at PHP 59 under resistance at PHP 60 (Chapter 5, "9 Barrier proximity").</a:t>
            </a:r>
          </a:p>
          <a:p>
            <a:pPr algn="l">
              <a:lnSpc>
                <a:spcPct val="118000"/>
              </a:lnSpc>
              <a:spcBef>
                <a:spcPts val="0"/>
              </a:spcBef>
              <a:spcAft>
                <a:spcPts val="1300"/>
              </a:spcAft>
            </a:pPr>
            <a:r>
              <a:rPr sz="2100" b="0" i="0">
                <a:solidFill>
                  <a:srgbClr val="1A1A1A"/>
                </a:solidFill>
                <a:latin typeface="Arial"/>
              </a:rPr>
              <a:t>Characteristic 10, reduction in frequency and decrease in depth of trend-based oscillations: six dips of about 3 points become two dips of 1 point (Chapter 5, "10 Frequency and depth of oscillations").</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the Chapter 5 slides named above. The numbers are invented for teaching.</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Characteristics 11 and 12: longer pauses and a third gap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69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Characteristic 11, appearance of relatively larger and longer lasting consolidations: pauses of 3 bars give way to one of 12 bars (Chapter 5, "11 Size and duration of a consolidation").</a:t>
            </a:r>
          </a:p>
          <a:p>
            <a:pPr algn="l">
              <a:lnSpc>
                <a:spcPct val="118000"/>
              </a:lnSpc>
              <a:spcBef>
                <a:spcPts val="0"/>
              </a:spcBef>
              <a:spcAft>
                <a:spcPts val="1300"/>
              </a:spcAft>
            </a:pPr>
            <a:r>
              <a:rPr sz="2100" b="0" i="0">
                <a:solidFill>
                  <a:srgbClr val="1A1A1A"/>
                </a:solidFill>
                <a:latin typeface="Arial"/>
              </a:rPr>
              <a:t>Characteristic 12, appearance of an exhaustion gap: a third gap in the trend, say of PHP 0.80, after two earlier ones (Chapter 5, "12 Third gap exhaustion").</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the Chapter 5 slides named above. The numbers are invented for teaching.</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Characteristics 13 and 14: the range is spent, price overshoots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70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Characteristic 13, completion of the average range for the period under observation: the day has already travelled its whole average range, say all PHP 3.00 of it (Chapter 5, "13 Average period range").</a:t>
            </a:r>
          </a:p>
          <a:p>
            <a:pPr algn="l">
              <a:lnSpc>
                <a:spcPct val="118000"/>
              </a:lnSpc>
              <a:spcBef>
                <a:spcPts val="0"/>
              </a:spcBef>
              <a:spcAft>
                <a:spcPts val="1300"/>
              </a:spcAft>
            </a:pPr>
            <a:r>
              <a:rPr sz="2100" b="0" i="0">
                <a:solidFill>
                  <a:srgbClr val="1A1A1A"/>
                </a:solidFill>
                <a:latin typeface="Arial"/>
              </a:rPr>
              <a:t>Characteristic 14, overextended price action with respect to a price barrier: price spikes to PHP 61 above an uptrending overlay line at PHP 60, or above an upper band, as the next chart shows (Chapter 5, "14 Overextension past an overlay barrier").</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the Chapter 5 slides named above. The numbers are invented for teaching.</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Characteristics 15 and 16: extreme volume and divergence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71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Characteristic 15, price accompanied by extremely high or low volume: say 5.0 million shares against an average of 1.2 million (Chapter 5, "15 Volume spread action").</a:t>
            </a:r>
          </a:p>
          <a:p>
            <a:pPr algn="l">
              <a:lnSpc>
                <a:spcPct val="118000"/>
              </a:lnSpc>
              <a:spcBef>
                <a:spcPts val="0"/>
              </a:spcBef>
              <a:spcAft>
                <a:spcPts val="1300"/>
              </a:spcAft>
            </a:pPr>
            <a:r>
              <a:rPr sz="2100" b="0" i="0">
                <a:solidFill>
                  <a:srgbClr val="1A1A1A"/>
                </a:solidFill>
                <a:latin typeface="Arial"/>
              </a:rPr>
              <a:t>Characteristic 16, standard divergences between price, volume, and oscillators: price makes a higher high while volume falls from 3.0 to 1.8 million (Chapter 5, "16 Volume and oscillator divergence").</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the Chapter 5 slides named above. The numbers are invented for teaching.</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7.13 shows three of the characteristics on one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72 of 79</a:t>
            </a:r>
          </a:p>
        </p:txBody>
      </p:sp>
      <p:sp>
        <p:nvSpPr>
          <p:cNvPr id="7" name="TextBox 6"/>
          <p:cNvSpPr txBox="1"/>
          <p:nvPr/>
        </p:nvSpPr>
        <p:spPr>
          <a:xfrm>
            <a:off x="777240" y="1965960"/>
            <a:ext cx="39319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Figure 7.13, a daily chart of the National Bank of Greece, shows three at once (pp. 217 to 218).</a:t>
            </a:r>
          </a:p>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The run-up's last days climb far more steeply: characteristic 8, angular momentum.</a:t>
            </a:r>
          </a:p>
          <a:p>
            <a:pPr algn="l">
              <a:lnSpc>
                <a:spcPct val="105000"/>
              </a:lnSpc>
              <a:spcBef>
                <a:spcPts val="0"/>
              </a:spcBef>
              <a:spcAft>
                <a:spcPts val="1100"/>
              </a:spcAft>
            </a:pPr>
            <a:r>
              <a:rPr sz="1700" b="1" i="0">
                <a:solidFill>
                  <a:srgbClr val="C62828"/>
                </a:solidFill>
                <a:latin typeface="Arial"/>
              </a:rPr>
              <a:t>(2)</a:t>
            </a:r>
            <a:r>
              <a:rPr sz="1700" b="0" i="0">
                <a:solidFill>
                  <a:srgbClr val="1A1A1A"/>
                </a:solidFill>
                <a:latin typeface="Arial"/>
              </a:rPr>
              <a:t> Through the run-up price barely dips: characteristic 10, oscillations.</a:t>
            </a:r>
          </a:p>
          <a:p>
            <a:pPr algn="l">
              <a:lnSpc>
                <a:spcPct val="105000"/>
              </a:lnSpc>
              <a:spcBef>
                <a:spcPts val="0"/>
              </a:spcBef>
              <a:spcAft>
                <a:spcPts val="1100"/>
              </a:spcAft>
            </a:pPr>
            <a:r>
              <a:rPr sz="1700" b="1" i="0">
                <a:solidFill>
                  <a:srgbClr val="1F5FAD"/>
                </a:solidFill>
                <a:latin typeface="Arial"/>
              </a:rPr>
              <a:t>(3)</a:t>
            </a:r>
            <a:r>
              <a:rPr sz="1700" b="0" i="0">
                <a:solidFill>
                  <a:srgbClr val="1A1A1A"/>
                </a:solidFill>
                <a:latin typeface="Arial"/>
              </a:rPr>
              <a:t> The overextended bar pokes above the upper band: characteristic 14.</a:t>
            </a:r>
          </a:p>
        </p:txBody>
      </p:sp>
      <p:sp>
        <p:nvSpPr>
          <p:cNvPr id="8" name="Rectangle 7"/>
          <p:cNvSpPr/>
          <p:nvPr/>
        </p:nvSpPr>
        <p:spPr>
          <a:xfrm>
            <a:off x="5249038" y="1810512"/>
            <a:ext cx="6311337"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367910" y="1929384"/>
            <a:ext cx="6073593"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367910" y="1929384"/>
            <a:ext cx="6073593"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42230" y="2203703"/>
            <a:ext cx="5524953"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7.13</a:t>
            </a:r>
          </a:p>
          <a:p>
            <a:pPr algn="l">
              <a:lnSpc>
                <a:spcPct val="115000"/>
              </a:lnSpc>
              <a:spcBef>
                <a:spcPts val="0"/>
              </a:spcBef>
              <a:spcAft>
                <a:spcPts val="0"/>
              </a:spcAft>
            </a:pPr>
            <a:r>
              <a:rPr sz="1500" b="0" i="0">
                <a:solidFill>
                  <a:srgbClr val="1A1A1A"/>
                </a:solidFill>
                <a:latin typeface="Palatino"/>
              </a:rPr>
              <a:t>Figure 7.13: a parabolic run-up in price ending in an overextended bar above the upper band.</a:t>
            </a:r>
          </a:p>
        </p:txBody>
      </p:sp>
      <p:sp>
        <p:nvSpPr>
          <p:cNvPr id="12" name="Rectangle 11"/>
          <p:cNvSpPr/>
          <p:nvPr/>
        </p:nvSpPr>
        <p:spPr>
          <a:xfrm>
            <a:off x="8518587" y="2641133"/>
            <a:ext cx="275209" cy="948998"/>
          </a:xfrm>
          <a:prstGeom prst="rect">
            <a:avLst/>
          </a:prstGeom>
          <a:noFill/>
          <a:ln w="44450">
            <a:solidFill>
              <a:srgbClr val="E09B00"/>
            </a:solidFill>
          </a:ln>
        </p:spPr>
        <p:txBody>
          <a:bodyPr rtlCol="0" anchor="ctr"/>
          <a:lstStyle/>
          <a:p>
            <a:pPr algn="ctr"/>
          </a:p>
        </p:txBody>
      </p:sp>
      <p:sp>
        <p:nvSpPr>
          <p:cNvPr id="13" name="Rectangle 12"/>
          <p:cNvSpPr/>
          <p:nvPr/>
        </p:nvSpPr>
        <p:spPr>
          <a:xfrm>
            <a:off x="7939698" y="3424057"/>
            <a:ext cx="578889" cy="806649"/>
          </a:xfrm>
          <a:prstGeom prst="rect">
            <a:avLst/>
          </a:prstGeom>
          <a:noFill/>
          <a:ln w="44450">
            <a:solidFill>
              <a:srgbClr val="C62828"/>
            </a:solidFill>
          </a:ln>
        </p:spPr>
        <p:txBody>
          <a:bodyPr rtlCol="0" anchor="ctr"/>
          <a:lstStyle/>
          <a:p>
            <a:pPr algn="ctr"/>
          </a:p>
        </p:txBody>
      </p:sp>
      <p:sp>
        <p:nvSpPr>
          <p:cNvPr id="14" name="Oval 13"/>
          <p:cNvSpPr/>
          <p:nvPr/>
        </p:nvSpPr>
        <p:spPr>
          <a:xfrm>
            <a:off x="8727367" y="2119183"/>
            <a:ext cx="208779" cy="545674"/>
          </a:xfrm>
          <a:prstGeom prst="ellipse">
            <a:avLst/>
          </a:prstGeom>
          <a:noFill/>
          <a:ln w="44450">
            <a:solidFill>
              <a:srgbClr val="1F5FAD"/>
            </a:solidFill>
          </a:ln>
        </p:spPr>
        <p:txBody>
          <a:bodyPr rtlCol="0" anchor="ctr"/>
          <a:lstStyle/>
          <a:p>
            <a:pPr algn="ctr"/>
          </a:p>
        </p:txBody>
      </p:sp>
      <p:sp>
        <p:nvSpPr>
          <p:cNvPr id="15" name="Oval 14"/>
          <p:cNvSpPr/>
          <p:nvPr/>
        </p:nvSpPr>
        <p:spPr>
          <a:xfrm>
            <a:off x="8390571" y="251311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811682" y="329604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466491" y="208606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029199" y="5650991"/>
            <a:ext cx="675101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7.13 -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217 to 218, Figure 7.13.</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those three marks are warnings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73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 says such rapid increases are usually unsustainable, so potentially bearish (p. 218).</a:t>
            </a:r>
          </a:p>
          <a:p>
            <a:pPr algn="l">
              <a:lnSpc>
                <a:spcPct val="118000"/>
              </a:lnSpc>
              <a:spcBef>
                <a:spcPts val="0"/>
              </a:spcBef>
              <a:spcAft>
                <a:spcPts val="1300"/>
              </a:spcAft>
            </a:pPr>
            <a:r>
              <a:rPr sz="2100" b="0" i="0">
                <a:solidFill>
                  <a:srgbClr val="1A1A1A"/>
                </a:solidFill>
                <a:latin typeface="Arial"/>
              </a:rPr>
              <a:t>A lack of oscillations is potentially bearish because there is little healthy profit-taking (p. 218).</a:t>
            </a:r>
          </a:p>
          <a:p>
            <a:pPr algn="l">
              <a:lnSpc>
                <a:spcPct val="118000"/>
              </a:lnSpc>
              <a:spcBef>
                <a:spcPts val="0"/>
              </a:spcBef>
              <a:spcAft>
                <a:spcPts val="1300"/>
              </a:spcAft>
            </a:pPr>
            <a:r>
              <a:rPr sz="2100" b="0" i="0">
                <a:solidFill>
                  <a:srgbClr val="1A1A1A"/>
                </a:solidFill>
                <a:latin typeface="Arial"/>
              </a:rPr>
              <a:t>The overextended bar is stretched past a volatility barrier, the Bollinger upper band, and would be even more bearish with extreme volume (p. 217). Chapter 7 names the Bollinger upper band but does not define it; read it as the overlay barrier from Chapter 5, "14 Overextension past an overlay barrier", and take no formula from this chapter.</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217 to 218.</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are the same three warnings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Our invented price climbs from PHP 40 to PHP 80 in twelve bars. Early bars rise about PHP 1 each; late ones jump PHP 8, to PHP 66 </a:t>
            </a:r>
            <a:r>
              <a:rPr sz="1700" b="1" i="0">
                <a:solidFill>
                  <a:srgbClr val="E09B00"/>
                </a:solidFill>
                <a:latin typeface="Arial"/>
              </a:rPr>
              <a:t>(1)</a:t>
            </a:r>
            <a:r>
              <a:rPr sz="1700" b="0" i="0">
                <a:solidFill>
                  <a:srgbClr val="1A1A1A"/>
                </a:solidFill>
                <a:latin typeface="Arial"/>
              </a:rPr>
              <a:t>, and then PHP 14: a change in angular momentum. The only dips are one point each, the last to PHP 52 </a:t>
            </a:r>
            <a:r>
              <a:rPr sz="1700" b="1" i="0">
                <a:solidFill>
                  <a:srgbClr val="C62828"/>
                </a:solidFill>
                <a:latin typeface="Arial"/>
              </a:rPr>
              <a:t>(2)</a:t>
            </a:r>
            <a:r>
              <a:rPr sz="1700" b="0" i="0">
                <a:solidFill>
                  <a:srgbClr val="1A1A1A"/>
                </a:solidFill>
                <a:latin typeface="Arial"/>
              </a:rPr>
              <a:t>. The final PHP 80 sits PHP 3 above an invented upper band at PHP 77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wa-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358634" y="3926433"/>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8315719" y="4476902"/>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880091" y="337596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446416" y="384230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8403502" y="439277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967874" y="329184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WA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74 of 79</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217 to 218. The prices and the band are invented for teaching.</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Barrier proximity ranks among the most important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75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 calls barrier proximity, item 9, one of the most important reversal characteristics: reversal patterns are most reliable at significant price barriers (p. 217).</a:t>
            </a:r>
          </a:p>
          <a:p>
            <a:pPr algn="l">
              <a:lnSpc>
                <a:spcPct val="118000"/>
              </a:lnSpc>
              <a:spcBef>
                <a:spcPts val="0"/>
              </a:spcBef>
              <a:spcAft>
                <a:spcPts val="1300"/>
              </a:spcAft>
            </a:pPr>
            <a:r>
              <a:rPr sz="2100" b="0" i="0">
                <a:solidFill>
                  <a:srgbClr val="1A1A1A"/>
                </a:solidFill>
                <a:latin typeface="Arial"/>
              </a:rPr>
              <a:t>His examples: a bearish key reversal day is more reliable at a significant resistance level, and a bullish exhaustion bar at a significant support level (p. 217). The exhaustion bar is a Part 3 pattern; for now, read it as a bullish bar at support.</a:t>
            </a:r>
          </a:p>
          <a:p>
            <a:pPr algn="l">
              <a:lnSpc>
                <a:spcPct val="118000"/>
              </a:lnSpc>
              <a:spcBef>
                <a:spcPts val="0"/>
              </a:spcBef>
              <a:spcAft>
                <a:spcPts val="1300"/>
              </a:spcAft>
            </a:pPr>
            <a:r>
              <a:rPr sz="2100" b="0" i="0">
                <a:solidFill>
                  <a:srgbClr val="1A1A1A"/>
                </a:solidFill>
                <a:latin typeface="Arial"/>
              </a:rPr>
              <a:t>So he advises reading every bar formation against all 16 characteristics (p. 218).</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Chapter 5, "9 Barrier proximity".</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key reversal bar at resistance is more reliable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a key reversal bar where Lim says it counts most. Resistance sits at PHP 60.00 </a:t>
            </a:r>
            <a:r>
              <a:rPr sz="1700" b="1" i="0">
                <a:solidFill>
                  <a:srgbClr val="E09B00"/>
                </a:solidFill>
                <a:latin typeface="Arial"/>
              </a:rPr>
              <a:t>(1)</a:t>
            </a:r>
            <a:r>
              <a:rPr sz="1700" b="0" i="0">
                <a:solidFill>
                  <a:srgbClr val="1A1A1A"/>
                </a:solidFill>
                <a:latin typeface="Arial"/>
              </a:rPr>
              <a:t>. The bar opens at PHP 60.20, pushes up to PHP 60.60 into that barrier </a:t>
            </a:r>
            <a:r>
              <a:rPr sz="1700" b="1" i="0">
                <a:solidFill>
                  <a:srgbClr val="C62828"/>
                </a:solidFill>
                <a:latin typeface="Arial"/>
              </a:rPr>
              <a:t>(2)</a:t>
            </a:r>
            <a:r>
              <a:rPr sz="1700" b="0" i="0">
                <a:solidFill>
                  <a:srgbClr val="1A1A1A"/>
                </a:solidFill>
                <a:latin typeface="Arial"/>
              </a:rPr>
              <a:t>, then closes at PHP 59.00, below the previous close of PHP 59.60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ra-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80490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4519796"/>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986162" y="372077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86162"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073670" y="4289973"/>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RA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76 of 79</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The prices are invented for teaching.</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same bar with no barrier nearby is less reliable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Now the identical two bars with no resistance anywhere near: the bar still reaches PHP 60.60 </a:t>
            </a:r>
            <a:r>
              <a:rPr sz="1700" b="1" i="0">
                <a:solidFill>
                  <a:srgbClr val="E09B00"/>
                </a:solidFill>
                <a:latin typeface="Arial"/>
              </a:rPr>
              <a:t>(1)</a:t>
            </a:r>
            <a:r>
              <a:rPr sz="1700" b="0" i="0">
                <a:solidFill>
                  <a:srgbClr val="1A1A1A"/>
                </a:solidFill>
                <a:latin typeface="Arial"/>
              </a:rPr>
              <a:t> and still closes at PHP 59.00 </a:t>
            </a:r>
            <a:r>
              <a:rPr sz="1700" b="1" i="0">
                <a:solidFill>
                  <a:srgbClr val="C62828"/>
                </a:solidFill>
                <a:latin typeface="Arial"/>
              </a:rPr>
              <a:t>(2)</a:t>
            </a:r>
            <a:r>
              <a:rPr sz="1700" b="0" i="0">
                <a:solidFill>
                  <a:srgbClr val="1A1A1A"/>
                </a:solidFill>
                <a:latin typeface="Arial"/>
              </a:rPr>
              <a:t>. The pattern is the same; only its location changed. By Lim's rule this one is the less reliable reading, though neither is a certainty.</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rb-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375964"/>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10035539" y="4519796"/>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986162" y="329184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10073670" y="428997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RB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77 of 79</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The prices are invented for teaching.</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rule works the other way at support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second example is a bullish exhaustion bar at support, a bar Part 3 teaches. The same rule covers the bullish key reversal of Figure 7.5. With support at PHP 40.00 </a:t>
            </a:r>
            <a:r>
              <a:rPr sz="1700" b="1" i="0">
                <a:solidFill>
                  <a:srgbClr val="E09B00"/>
                </a:solidFill>
                <a:latin typeface="Arial"/>
              </a:rPr>
              <a:t>(1)</a:t>
            </a:r>
            <a:r>
              <a:rPr sz="1700" b="0" i="0">
                <a:solidFill>
                  <a:srgbClr val="1A1A1A"/>
                </a:solidFill>
                <a:latin typeface="Arial"/>
              </a:rPr>
              <a:t>, the bar dips to PHP 39.40 </a:t>
            </a:r>
            <a:r>
              <a:rPr sz="1700" b="1" i="0">
                <a:solidFill>
                  <a:srgbClr val="C62828"/>
                </a:solidFill>
                <a:latin typeface="Arial"/>
              </a:rPr>
              <a:t>(2)</a:t>
            </a:r>
            <a:r>
              <a:rPr sz="1700" b="0" i="0">
                <a:solidFill>
                  <a:srgbClr val="1A1A1A"/>
                </a:solidFill>
                <a:latin typeface="Arial"/>
              </a:rPr>
              <a:t> and closes at PHP 41.00, above the previous close of PHP 40.40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rc-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4519796"/>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4948732"/>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3804901"/>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986162" y="443567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83272" y="483158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073670" y="357507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RC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78 of 79</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The prices are invented for teaching.</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14 OF 30</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16 characteristics on Figure 7.13</a:t>
            </a:r>
          </a:p>
        </p:txBody>
      </p:sp>
      <p:sp>
        <p:nvSpPr>
          <p:cNvPr id="6" name="Rectangle 5"/>
          <p:cNvSpPr/>
          <p:nvPr/>
        </p:nvSpPr>
        <p:spPr>
          <a:xfrm>
            <a:off x="777240" y="1207008"/>
            <a:ext cx="4937760" cy="2030475"/>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48056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480560" cy="387807"/>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characteristic is mark 3?</a:t>
            </a:r>
          </a:p>
        </p:txBody>
      </p:sp>
      <p:sp>
        <p:nvSpPr>
          <p:cNvPr id="9" name="TextBox 8"/>
          <p:cNvSpPr txBox="1"/>
          <p:nvPr/>
        </p:nvSpPr>
        <p:spPr>
          <a:xfrm>
            <a:off x="1005840" y="1869135"/>
            <a:ext cx="4480560" cy="1295196"/>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8, momentum</a:t>
            </a:r>
          </a:p>
          <a:p>
            <a:pPr algn="l">
              <a:lnSpc>
                <a:spcPct val="105000"/>
              </a:lnSpc>
              <a:spcBef>
                <a:spcPts val="0"/>
              </a:spcBef>
              <a:spcAft>
                <a:spcPts val="200"/>
              </a:spcAft>
            </a:pPr>
            <a:r>
              <a:rPr sz="1700" b="0" i="0">
                <a:solidFill>
                  <a:srgbClr val="FFFFFF"/>
                </a:solidFill>
                <a:latin typeface="Arial"/>
              </a:rPr>
              <a:t>B.  10, oscillations</a:t>
            </a:r>
          </a:p>
          <a:p>
            <a:pPr algn="l">
              <a:lnSpc>
                <a:spcPct val="105000"/>
              </a:lnSpc>
              <a:spcBef>
                <a:spcPts val="0"/>
              </a:spcBef>
              <a:spcAft>
                <a:spcPts val="200"/>
              </a:spcAft>
            </a:pPr>
            <a:r>
              <a:rPr sz="1700" b="0" i="0">
                <a:solidFill>
                  <a:srgbClr val="FFFFFF"/>
                </a:solidFill>
                <a:latin typeface="Arial"/>
              </a:rPr>
              <a:t>C.  14, overextension</a:t>
            </a:r>
          </a:p>
          <a:p>
            <a:pPr algn="l">
              <a:lnSpc>
                <a:spcPct val="105000"/>
              </a:lnSpc>
              <a:spcBef>
                <a:spcPts val="0"/>
              </a:spcBef>
              <a:spcAft>
                <a:spcPts val="200"/>
              </a:spcAft>
            </a:pPr>
            <a:r>
              <a:rPr sz="1700" b="0" i="0">
                <a:solidFill>
                  <a:srgbClr val="FFFFFF"/>
                </a:solidFill>
                <a:latin typeface="Arial"/>
              </a:rPr>
              <a:t>D.  12, exhaustion gap</a:t>
            </a:r>
          </a:p>
        </p:txBody>
      </p:sp>
      <p:sp>
        <p:nvSpPr>
          <p:cNvPr id="10" name="Rectangle 9"/>
          <p:cNvSpPr/>
          <p:nvPr/>
        </p:nvSpPr>
        <p:spPr>
          <a:xfrm>
            <a:off x="777240" y="3328924"/>
            <a:ext cx="4937760" cy="2308555"/>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0364"/>
            <a:ext cx="448056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1531"/>
            <a:ext cx="4480560" cy="665886"/>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are few oscillations in a run-up bearish?</a:t>
            </a:r>
          </a:p>
        </p:txBody>
      </p:sp>
      <p:sp>
        <p:nvSpPr>
          <p:cNvPr id="13" name="TextBox 12"/>
          <p:cNvSpPr txBox="1"/>
          <p:nvPr/>
        </p:nvSpPr>
        <p:spPr>
          <a:xfrm>
            <a:off x="1005840" y="4269130"/>
            <a:ext cx="4480560" cy="1295196"/>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Low volume</a:t>
            </a:r>
          </a:p>
          <a:p>
            <a:pPr algn="l">
              <a:lnSpc>
                <a:spcPct val="105000"/>
              </a:lnSpc>
              <a:spcBef>
                <a:spcPts val="0"/>
              </a:spcBef>
              <a:spcAft>
                <a:spcPts val="200"/>
              </a:spcAft>
            </a:pPr>
            <a:r>
              <a:rPr sz="1700" b="0" i="0">
                <a:solidFill>
                  <a:srgbClr val="FFFFFF"/>
                </a:solidFill>
                <a:latin typeface="Arial"/>
              </a:rPr>
              <a:t>B.  Little profit-taking</a:t>
            </a:r>
          </a:p>
          <a:p>
            <a:pPr algn="l">
              <a:lnSpc>
                <a:spcPct val="105000"/>
              </a:lnSpc>
              <a:spcBef>
                <a:spcPts val="0"/>
              </a:spcBef>
              <a:spcAft>
                <a:spcPts val="200"/>
              </a:spcAft>
            </a:pPr>
            <a:r>
              <a:rPr sz="1700" b="0" i="0">
                <a:solidFill>
                  <a:srgbClr val="FFFFFF"/>
                </a:solidFill>
                <a:latin typeface="Arial"/>
              </a:rPr>
              <a:t>C.  No band formula</a:t>
            </a:r>
          </a:p>
          <a:p>
            <a:pPr algn="l">
              <a:lnSpc>
                <a:spcPct val="105000"/>
              </a:lnSpc>
              <a:spcBef>
                <a:spcPts val="0"/>
              </a:spcBef>
              <a:spcAft>
                <a:spcPts val="200"/>
              </a:spcAft>
            </a:pPr>
            <a:r>
              <a:rPr sz="1700" b="0" i="0">
                <a:solidFill>
                  <a:srgbClr val="FFFFFF"/>
                </a:solidFill>
                <a:latin typeface="Arial"/>
              </a:rPr>
              <a:t>D.  A downtrend</a:t>
            </a:r>
          </a:p>
        </p:txBody>
      </p:sp>
      <p:sp>
        <p:nvSpPr>
          <p:cNvPr id="14" name="Rectangle 13"/>
          <p:cNvSpPr/>
          <p:nvPr/>
        </p:nvSpPr>
        <p:spPr>
          <a:xfrm>
            <a:off x="6035040" y="1207008"/>
            <a:ext cx="5379414" cy="3210272"/>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153912" y="1325880"/>
            <a:ext cx="5141670" cy="2972528"/>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153912" y="1325880"/>
            <a:ext cx="5141670"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428231" y="1600200"/>
            <a:ext cx="4593031" cy="251532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7.13</a:t>
            </a:r>
          </a:p>
          <a:p>
            <a:pPr algn="l">
              <a:lnSpc>
                <a:spcPct val="115000"/>
              </a:lnSpc>
              <a:spcBef>
                <a:spcPts val="0"/>
              </a:spcBef>
              <a:spcAft>
                <a:spcPts val="0"/>
              </a:spcAft>
            </a:pPr>
            <a:r>
              <a:rPr sz="1500" b="0" i="0">
                <a:solidFill>
                  <a:srgbClr val="1A1A1A"/>
                </a:solidFill>
                <a:latin typeface="Palatino"/>
              </a:rPr>
              <a:t>Figure 7.13: a parabolic run-up in price ending in an overextended bar above the upper band.</a:t>
            </a:r>
          </a:p>
        </p:txBody>
      </p:sp>
      <p:sp>
        <p:nvSpPr>
          <p:cNvPr id="18" name="Rectangle 17"/>
          <p:cNvSpPr/>
          <p:nvPr/>
        </p:nvSpPr>
        <p:spPr>
          <a:xfrm>
            <a:off x="8821153" y="1928419"/>
            <a:ext cx="232981" cy="803386"/>
          </a:xfrm>
          <a:prstGeom prst="rect">
            <a:avLst/>
          </a:prstGeom>
          <a:noFill/>
          <a:ln w="44450">
            <a:solidFill>
              <a:srgbClr val="E09B00"/>
            </a:solidFill>
          </a:ln>
        </p:spPr>
        <p:txBody>
          <a:bodyPr rtlCol="0" anchor="ctr"/>
          <a:lstStyle/>
          <a:p>
            <a:pPr algn="ctr"/>
          </a:p>
        </p:txBody>
      </p:sp>
      <p:sp>
        <p:nvSpPr>
          <p:cNvPr id="19" name="Rectangle 18"/>
          <p:cNvSpPr/>
          <p:nvPr/>
        </p:nvSpPr>
        <p:spPr>
          <a:xfrm>
            <a:off x="8331088" y="2591213"/>
            <a:ext cx="490065" cy="682878"/>
          </a:xfrm>
          <a:prstGeom prst="rect">
            <a:avLst/>
          </a:prstGeom>
          <a:noFill/>
          <a:ln w="44450">
            <a:solidFill>
              <a:srgbClr val="C62828"/>
            </a:solidFill>
          </a:ln>
        </p:spPr>
        <p:txBody>
          <a:bodyPr rtlCol="0" anchor="ctr"/>
          <a:lstStyle/>
          <a:p>
            <a:pPr algn="ctr"/>
          </a:p>
        </p:txBody>
      </p:sp>
      <p:sp>
        <p:nvSpPr>
          <p:cNvPr id="20" name="Oval 19"/>
          <p:cNvSpPr/>
          <p:nvPr/>
        </p:nvSpPr>
        <p:spPr>
          <a:xfrm>
            <a:off x="8997898" y="1486557"/>
            <a:ext cx="176744" cy="461947"/>
          </a:xfrm>
          <a:prstGeom prst="ellipse">
            <a:avLst/>
          </a:prstGeom>
          <a:noFill/>
          <a:ln w="44450">
            <a:solidFill>
              <a:srgbClr val="1F5FAD"/>
            </a:solidFill>
          </a:ln>
        </p:spPr>
        <p:txBody>
          <a:bodyPr rtlCol="0" anchor="ctr"/>
          <a:lstStyle/>
          <a:p>
            <a:pPr algn="ctr"/>
          </a:p>
        </p:txBody>
      </p:sp>
      <p:sp>
        <p:nvSpPr>
          <p:cNvPr id="21" name="Oval 20"/>
          <p:cNvSpPr/>
          <p:nvPr/>
        </p:nvSpPr>
        <p:spPr>
          <a:xfrm>
            <a:off x="8693137" y="180040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8203072" y="246319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8757408" y="143887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035040" y="4508720"/>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7.13 -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14</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16 characteristics on Figure 7.13</a:t>
            </a:r>
          </a:p>
        </p:txBody>
      </p:sp>
      <p:sp>
        <p:nvSpPr>
          <p:cNvPr id="6" name="Rectangle 5"/>
          <p:cNvSpPr/>
          <p:nvPr/>
        </p:nvSpPr>
        <p:spPr>
          <a:xfrm>
            <a:off x="777240" y="1207008"/>
            <a:ext cx="4937760" cy="176847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76847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38912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Which characteristic is mark 3?</a:t>
            </a:r>
          </a:p>
        </p:txBody>
      </p:sp>
      <p:sp>
        <p:nvSpPr>
          <p:cNvPr id="9" name="TextBox 8"/>
          <p:cNvSpPr txBox="1"/>
          <p:nvPr/>
        </p:nvSpPr>
        <p:spPr>
          <a:xfrm>
            <a:off x="1097280" y="1821053"/>
            <a:ext cx="438912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14, overextension</a:t>
            </a:r>
          </a:p>
          <a:p>
            <a:pPr algn="l">
              <a:lnSpc>
                <a:spcPct val="115000"/>
              </a:lnSpc>
              <a:spcBef>
                <a:spcPts val="500"/>
              </a:spcBef>
              <a:spcAft>
                <a:spcPts val="0"/>
              </a:spcAft>
            </a:pPr>
            <a:r>
              <a:rPr sz="1700" b="0" i="0">
                <a:solidFill>
                  <a:srgbClr val="1A1A1A"/>
                </a:solidFill>
                <a:latin typeface="Arial"/>
              </a:rPr>
              <a:t>The overextended bar above the band is characteristic 14 (p. 217).</a:t>
            </a:r>
          </a:p>
        </p:txBody>
      </p:sp>
      <p:sp>
        <p:nvSpPr>
          <p:cNvPr id="10" name="Rectangle 9"/>
          <p:cNvSpPr/>
          <p:nvPr/>
        </p:nvSpPr>
        <p:spPr>
          <a:xfrm>
            <a:off x="777240" y="3158363"/>
            <a:ext cx="4937760" cy="201675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158363"/>
            <a:ext cx="91440" cy="201675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341243"/>
            <a:ext cx="438912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Why are few oscillations in a run-up bearish?</a:t>
            </a:r>
          </a:p>
        </p:txBody>
      </p:sp>
      <p:sp>
        <p:nvSpPr>
          <p:cNvPr id="13" name="TextBox 12"/>
          <p:cNvSpPr txBox="1"/>
          <p:nvPr/>
        </p:nvSpPr>
        <p:spPr>
          <a:xfrm>
            <a:off x="1097280" y="4020693"/>
            <a:ext cx="438912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Little profit-taking</a:t>
            </a:r>
          </a:p>
          <a:p>
            <a:pPr algn="l">
              <a:lnSpc>
                <a:spcPct val="115000"/>
              </a:lnSpc>
              <a:spcBef>
                <a:spcPts val="500"/>
              </a:spcBef>
              <a:spcAft>
                <a:spcPts val="0"/>
              </a:spcAft>
            </a:pPr>
            <a:r>
              <a:rPr sz="1700" b="0" i="0">
                <a:solidFill>
                  <a:srgbClr val="1A1A1A"/>
                </a:solidFill>
                <a:latin typeface="Arial"/>
              </a:rPr>
              <a:t>Lim: a lack of healthy profit-taking makes it potentially bearish (p. 218).</a:t>
            </a:r>
          </a:p>
        </p:txBody>
      </p:sp>
      <p:sp>
        <p:nvSpPr>
          <p:cNvPr id="14" name="Rectangle 13"/>
          <p:cNvSpPr/>
          <p:nvPr/>
        </p:nvSpPr>
        <p:spPr>
          <a:xfrm>
            <a:off x="6035040" y="1207008"/>
            <a:ext cx="5379414" cy="3120195"/>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153912" y="1325880"/>
            <a:ext cx="5141670" cy="2882451"/>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153912" y="1325880"/>
            <a:ext cx="5141670"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428232" y="1600200"/>
            <a:ext cx="4593030" cy="242525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7.13</a:t>
            </a:r>
          </a:p>
          <a:p>
            <a:pPr algn="l">
              <a:lnSpc>
                <a:spcPct val="115000"/>
              </a:lnSpc>
              <a:spcBef>
                <a:spcPts val="0"/>
              </a:spcBef>
              <a:spcAft>
                <a:spcPts val="0"/>
              </a:spcAft>
            </a:pPr>
            <a:r>
              <a:rPr sz="1500" b="0" i="0">
                <a:solidFill>
                  <a:srgbClr val="1A1A1A"/>
                </a:solidFill>
                <a:latin typeface="Palatino"/>
              </a:rPr>
              <a:t>Figure 7.13: a parabolic run-up in price ending in an overextended bar above the upper band.</a:t>
            </a:r>
          </a:p>
        </p:txBody>
      </p:sp>
      <p:sp>
        <p:nvSpPr>
          <p:cNvPr id="18" name="Rectangle 17"/>
          <p:cNvSpPr/>
          <p:nvPr/>
        </p:nvSpPr>
        <p:spPr>
          <a:xfrm>
            <a:off x="8821153" y="1910160"/>
            <a:ext cx="232981" cy="779041"/>
          </a:xfrm>
          <a:prstGeom prst="rect">
            <a:avLst/>
          </a:prstGeom>
          <a:noFill/>
          <a:ln w="44450">
            <a:solidFill>
              <a:srgbClr val="E09B00"/>
            </a:solidFill>
          </a:ln>
        </p:spPr>
        <p:txBody>
          <a:bodyPr rtlCol="0" anchor="ctr"/>
          <a:lstStyle/>
          <a:p>
            <a:pPr algn="ctr"/>
          </a:p>
        </p:txBody>
      </p:sp>
      <p:sp>
        <p:nvSpPr>
          <p:cNvPr id="19" name="Rectangle 18"/>
          <p:cNvSpPr/>
          <p:nvPr/>
        </p:nvSpPr>
        <p:spPr>
          <a:xfrm>
            <a:off x="8331088" y="2552869"/>
            <a:ext cx="490065" cy="662184"/>
          </a:xfrm>
          <a:prstGeom prst="rect">
            <a:avLst/>
          </a:prstGeom>
          <a:noFill/>
          <a:ln w="44450">
            <a:solidFill>
              <a:srgbClr val="C62828"/>
            </a:solidFill>
          </a:ln>
        </p:spPr>
        <p:txBody>
          <a:bodyPr rtlCol="0" anchor="ctr"/>
          <a:lstStyle/>
          <a:p>
            <a:pPr algn="ctr"/>
          </a:p>
        </p:txBody>
      </p:sp>
      <p:sp>
        <p:nvSpPr>
          <p:cNvPr id="20" name="Oval 19"/>
          <p:cNvSpPr/>
          <p:nvPr/>
        </p:nvSpPr>
        <p:spPr>
          <a:xfrm>
            <a:off x="8997898" y="1481688"/>
            <a:ext cx="176744" cy="447948"/>
          </a:xfrm>
          <a:prstGeom prst="ellipse">
            <a:avLst/>
          </a:prstGeom>
          <a:noFill/>
          <a:ln w="44450">
            <a:solidFill>
              <a:srgbClr val="1F5FAD"/>
            </a:solidFill>
          </a:ln>
        </p:spPr>
        <p:txBody>
          <a:bodyPr rtlCol="0" anchor="ctr"/>
          <a:lstStyle/>
          <a:p>
            <a:pPr algn="ctr"/>
          </a:p>
        </p:txBody>
      </p:sp>
      <p:sp>
        <p:nvSpPr>
          <p:cNvPr id="21" name="Oval 20"/>
          <p:cNvSpPr/>
          <p:nvPr/>
        </p:nvSpPr>
        <p:spPr>
          <a:xfrm>
            <a:off x="8693137" y="178214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8203072" y="242485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8757408" y="143157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035040" y="4418643"/>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7.13 -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14</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15 OF 30</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Barrier proximity</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Where does Lim say reversal patterns are most reliable?</a:t>
            </a:r>
          </a:p>
        </p:txBody>
      </p:sp>
      <p:sp>
        <p:nvSpPr>
          <p:cNvPr id="9" name="TextBox 8"/>
          <p:cNvSpPr txBox="1"/>
          <p:nvPr/>
        </p:nvSpPr>
        <p:spPr>
          <a:xfrm>
            <a:off x="1051560"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At significant price barriers</a:t>
            </a:r>
          </a:p>
          <a:p>
            <a:pPr algn="l">
              <a:lnSpc>
                <a:spcPct val="112000"/>
              </a:lnSpc>
              <a:spcBef>
                <a:spcPts val="0"/>
              </a:spcBef>
              <a:spcAft>
                <a:spcPts val="900"/>
              </a:spcAft>
            </a:pPr>
            <a:r>
              <a:rPr sz="1700" b="0" i="0">
                <a:solidFill>
                  <a:srgbClr val="FFFFFF"/>
                </a:solidFill>
                <a:latin typeface="Arial"/>
              </a:rPr>
              <a:t>B.  Far from any barrier</a:t>
            </a:r>
          </a:p>
          <a:p>
            <a:pPr algn="l">
              <a:lnSpc>
                <a:spcPct val="112000"/>
              </a:lnSpc>
              <a:spcBef>
                <a:spcPts val="0"/>
              </a:spcBef>
              <a:spcAft>
                <a:spcPts val="900"/>
              </a:spcAft>
            </a:pPr>
            <a:r>
              <a:rPr sz="1700" b="0" i="0">
                <a:solidFill>
                  <a:srgbClr val="FFFFFF"/>
                </a:solidFill>
                <a:latin typeface="Arial"/>
              </a:rPr>
              <a:t>C.  Only on low volume</a:t>
            </a:r>
          </a:p>
          <a:p>
            <a:pPr algn="l">
              <a:lnSpc>
                <a:spcPct val="112000"/>
              </a:lnSpc>
              <a:spcBef>
                <a:spcPts val="0"/>
              </a:spcBef>
              <a:spcAft>
                <a:spcPts val="900"/>
              </a:spcAft>
            </a:pPr>
            <a:r>
              <a:rPr sz="1700" b="0" i="0">
                <a:solidFill>
                  <a:srgbClr val="FFFFFF"/>
                </a:solidFill>
                <a:latin typeface="Arial"/>
              </a:rPr>
              <a:t>D.  Only in a downtrend</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Two identical key reversal bars: one at resistance, one far from any barrier. Which reading is more reliable?</a:t>
            </a:r>
          </a:p>
        </p:txBody>
      </p:sp>
      <p:sp>
        <p:nvSpPr>
          <p:cNvPr id="13" name="TextBox 12"/>
          <p:cNvSpPr txBox="1"/>
          <p:nvPr/>
        </p:nvSpPr>
        <p:spPr>
          <a:xfrm>
            <a:off x="6690207"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one far from a barrier</a:t>
            </a:r>
          </a:p>
          <a:p>
            <a:pPr algn="l">
              <a:lnSpc>
                <a:spcPct val="112000"/>
              </a:lnSpc>
              <a:spcBef>
                <a:spcPts val="0"/>
              </a:spcBef>
              <a:spcAft>
                <a:spcPts val="900"/>
              </a:spcAft>
            </a:pPr>
            <a:r>
              <a:rPr sz="1700" b="0" i="0">
                <a:solidFill>
                  <a:srgbClr val="FFFFFF"/>
                </a:solidFill>
                <a:latin typeface="Arial"/>
              </a:rPr>
              <a:t>B.  They are equally reliable</a:t>
            </a:r>
          </a:p>
          <a:p>
            <a:pPr algn="l">
              <a:lnSpc>
                <a:spcPct val="112000"/>
              </a:lnSpc>
              <a:spcBef>
                <a:spcPts val="0"/>
              </a:spcBef>
              <a:spcAft>
                <a:spcPts val="900"/>
              </a:spcAft>
            </a:pPr>
            <a:r>
              <a:rPr sz="1700" b="0" i="0">
                <a:solidFill>
                  <a:srgbClr val="FFFFFF"/>
                </a:solidFill>
                <a:latin typeface="Arial"/>
              </a:rPr>
              <a:t>C.  Neither can be read</a:t>
            </a:r>
          </a:p>
          <a:p>
            <a:pPr algn="l">
              <a:lnSpc>
                <a:spcPct val="112000"/>
              </a:lnSpc>
              <a:spcBef>
                <a:spcPts val="0"/>
              </a:spcBef>
              <a:spcAft>
                <a:spcPts val="900"/>
              </a:spcAft>
            </a:pPr>
            <a:r>
              <a:rPr sz="1700" b="0" i="0">
                <a:solidFill>
                  <a:srgbClr val="FFFFFF"/>
                </a:solidFill>
                <a:latin typeface="Arial"/>
              </a:rPr>
              <a:t>D.  The one at resistance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15</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Barrier proximity</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Where does Lim say reversal patterns are most reliable?</a:t>
            </a:r>
          </a:p>
        </p:txBody>
      </p:sp>
      <p:sp>
        <p:nvSpPr>
          <p:cNvPr id="9" name="TextBox 8"/>
          <p:cNvSpPr txBox="1"/>
          <p:nvPr/>
        </p:nvSpPr>
        <p:spPr>
          <a:xfrm>
            <a:off x="1143000" y="1949069"/>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At significant price barriers</a:t>
            </a:r>
          </a:p>
          <a:p>
            <a:pPr algn="l">
              <a:lnSpc>
                <a:spcPct val="115000"/>
              </a:lnSpc>
              <a:spcBef>
                <a:spcPts val="700"/>
              </a:spcBef>
              <a:spcAft>
                <a:spcPts val="0"/>
              </a:spcAft>
            </a:pPr>
            <a:r>
              <a:rPr sz="1700" b="0" i="0">
                <a:solidFill>
                  <a:srgbClr val="1A1A1A"/>
                </a:solidFill>
                <a:latin typeface="Arial"/>
              </a:rPr>
              <a:t>Reversal patterns are most reliable at significant price barriers (p. 217).</a:t>
            </a:r>
          </a:p>
        </p:txBody>
      </p:sp>
      <p:sp>
        <p:nvSpPr>
          <p:cNvPr id="10" name="Rectangle 9"/>
          <p:cNvSpPr/>
          <p:nvPr/>
        </p:nvSpPr>
        <p:spPr>
          <a:xfrm>
            <a:off x="777240" y="3082036"/>
            <a:ext cx="10637215" cy="212471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212471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Two identical key reversal bars: one at resistance, one far from any barrier. Which reading is more reliable?</a:t>
            </a:r>
          </a:p>
        </p:txBody>
      </p:sp>
      <p:sp>
        <p:nvSpPr>
          <p:cNvPr id="13" name="TextBox 12"/>
          <p:cNvSpPr txBox="1"/>
          <p:nvPr/>
        </p:nvSpPr>
        <p:spPr>
          <a:xfrm>
            <a:off x="1143000" y="4072382"/>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The one at resistance</a:t>
            </a:r>
          </a:p>
          <a:p>
            <a:pPr algn="l">
              <a:lnSpc>
                <a:spcPct val="115000"/>
              </a:lnSpc>
              <a:spcBef>
                <a:spcPts val="700"/>
              </a:spcBef>
              <a:spcAft>
                <a:spcPts val="0"/>
              </a:spcAft>
            </a:pPr>
            <a:r>
              <a:rPr sz="1700" b="0" i="0">
                <a:solidFill>
                  <a:srgbClr val="1A1A1A"/>
                </a:solidFill>
                <a:latin typeface="Arial"/>
              </a:rPr>
              <a:t>A bearish key reversal day is more reliable when it occurs at a significant resistance level (p. 217).</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15</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Part 2 in one breath, and where Part 3 begins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79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Read the trend first; a pattern that disagrees with it is a potential reversal. Lim drew seven one- and two-bar forms, six three-bar forms and four multiple-bar forms, each in both directions.</a:t>
            </a:r>
          </a:p>
          <a:p>
            <a:pPr algn="l">
              <a:lnSpc>
                <a:spcPct val="118000"/>
              </a:lnSpc>
              <a:spcBef>
                <a:spcPts val="0"/>
              </a:spcBef>
              <a:spcAft>
                <a:spcPts val="1300"/>
              </a:spcAft>
            </a:pPr>
            <a:r>
              <a:rPr sz="2100" b="0" i="0">
                <a:solidFill>
                  <a:srgbClr val="1A1A1A"/>
                </a:solidFill>
                <a:latin typeface="Arial"/>
              </a:rPr>
              <a:t>The last bar, its volume and the gaps decide how much weight a reading gets, and the 16 characteristics, above all barrier proximity, decide the rest.</a:t>
            </a:r>
          </a:p>
          <a:p>
            <a:pPr algn="l">
              <a:lnSpc>
                <a:spcPct val="118000"/>
              </a:lnSpc>
              <a:spcBef>
                <a:spcPts val="0"/>
              </a:spcBef>
              <a:spcAft>
                <a:spcPts val="1300"/>
              </a:spcAft>
            </a:pPr>
            <a:r>
              <a:rPr sz="2100" b="0" i="0">
                <a:solidFill>
                  <a:srgbClr val="1A1A1A"/>
                </a:solidFill>
                <a:latin typeface="Arial"/>
              </a:rPr>
              <a:t>Part 3 starts with the first form we drew, the key reversal bar, now on the book's real charts.</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211 to 218.</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key reversal is when a strong move suddenly turns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 of 62</a:t>
            </a:r>
          </a:p>
        </p:txBody>
      </p:sp>
      <p:sp>
        <p:nvSpPr>
          <p:cNvPr id="7" name="TextBox 6"/>
          <p:cNvSpPr txBox="1"/>
          <p:nvPr/>
        </p:nvSpPr>
        <p:spPr>
          <a:xfrm>
            <a:off x="777240" y="1965960"/>
            <a:ext cx="50292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In an uptrend, buyers push price higher. A bearish key reversal breaks that habit: it makes a new high, then closes near or below the previous close.</a:t>
            </a:r>
          </a:p>
          <a:p>
            <a:pPr algn="l">
              <a:lnSpc>
                <a:spcPct val="105000"/>
              </a:lnSpc>
              <a:spcBef>
                <a:spcPts val="0"/>
              </a:spcBef>
              <a:spcAft>
                <a:spcPts val="1100"/>
              </a:spcAft>
            </a:pPr>
            <a:r>
              <a:rPr sz="1700" b="0" i="0">
                <a:solidFill>
                  <a:srgbClr val="1A1A1A"/>
                </a:solidFill>
                <a:latin typeface="Arial"/>
              </a:rPr>
              <a:t>Lim defines it this way: "A bearish key reversal bar forms a higher high than the previous bar and closes near or below the close of the previous bar" (p. 218).</a:t>
            </a:r>
          </a:p>
          <a:p>
            <a:pPr algn="l">
              <a:lnSpc>
                <a:spcPct val="105000"/>
              </a:lnSpc>
              <a:spcBef>
                <a:spcPts val="0"/>
              </a:spcBef>
              <a:spcAft>
                <a:spcPts val="1100"/>
              </a:spcAft>
            </a:pPr>
            <a:r>
              <a:rPr sz="1700" b="0" i="0">
                <a:solidFill>
                  <a:srgbClr val="1A1A1A"/>
                </a:solidFill>
                <a:latin typeface="Arial"/>
              </a:rPr>
              <a:t>Why it matters: it warns an uptrend may be running out of buyers. Lim says a wider bar may improve follow-through, but it is not a promise (p. 218).</a:t>
            </a:r>
          </a:p>
        </p:txBody>
      </p:sp>
      <p:sp>
        <p:nvSpPr>
          <p:cNvPr id="8" name="Rectangle 7"/>
          <p:cNvSpPr/>
          <p:nvPr/>
        </p:nvSpPr>
        <p:spPr>
          <a:xfrm>
            <a:off x="6126479" y="1810512"/>
            <a:ext cx="5379414" cy="353626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45351" y="1929384"/>
            <a:ext cx="5141670" cy="3298525"/>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45351" y="1929384"/>
            <a:ext cx="5141670"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19671" y="2203703"/>
            <a:ext cx="4593031" cy="284132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its surrounding bars. The marked day opens above the previous high, forms a new high, closes below the previous close, and has above average volume.</a:t>
            </a:r>
          </a:p>
        </p:txBody>
      </p:sp>
      <p:sp>
        <p:nvSpPr>
          <p:cNvPr id="12" name="TextBox 11"/>
          <p:cNvSpPr txBox="1"/>
          <p:nvPr/>
        </p:nvSpPr>
        <p:spPr>
          <a:xfrm>
            <a:off x="6126479" y="5438221"/>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7.15 - Lim, The Handbook of Technical Analysis (Wiley, 2016)</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218 to 219, Figure 7.15. The crop is for teaching; no invented example is on this slide.</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Walking through one key reversal, price by price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the same pattern with simple prices, so you can see each step. Yesterday the stock reached 52.00 and closed at 51.10. Today it opens higher, at 52.30, already above yesterday's high </a:t>
            </a:r>
            <a:r>
              <a:rPr sz="1700" b="1" i="0">
                <a:solidFill>
                  <a:srgbClr val="E09B00"/>
                </a:solidFill>
                <a:latin typeface="Arial"/>
              </a:rPr>
              <a:t>(1)</a:t>
            </a:r>
            <a:r>
              <a:rPr sz="1700" b="0" i="0">
                <a:solidFill>
                  <a:srgbClr val="1A1A1A"/>
                </a:solidFill>
                <a:latin typeface="Arial"/>
              </a:rPr>
              <a:t>. Buyers push it to 53.20, a new high </a:t>
            </a:r>
            <a:r>
              <a:rPr sz="1700" b="1" i="0">
                <a:solidFill>
                  <a:srgbClr val="C62828"/>
                </a:solidFill>
                <a:latin typeface="Arial"/>
              </a:rPr>
              <a:t>(2)</a:t>
            </a:r>
            <a:r>
              <a:rPr sz="1700" b="0" i="0">
                <a:solidFill>
                  <a:srgbClr val="1A1A1A"/>
                </a:solidFill>
                <a:latin typeface="Arial"/>
              </a:rPr>
              <a:t>. Then the selling starts, and by the close it has fallen to 50.80, below yesterday's close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k-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724643" y="366774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4154036"/>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880091" y="5223052"/>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9640519" y="341170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967874"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10107215" y="399726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9967874" y="5138928"/>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K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 of 62</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Walking through one key reversal, price by price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Volume more than doubles, from 2.0 to 4.2 million shares </a:t>
            </a:r>
            <a:r>
              <a:rPr sz="1700" b="1" i="0">
                <a:solidFill>
                  <a:srgbClr val="7B3FA0"/>
                </a:solidFill>
                <a:latin typeface="Arial"/>
              </a:rPr>
              <a:t>(4)</a:t>
            </a:r>
            <a:r>
              <a:rPr sz="1700" b="0" i="0">
                <a:solidFill>
                  <a:srgbClr val="1A1A1A"/>
                </a:solidFill>
                <a:latin typeface="Arial"/>
              </a:rPr>
              <a:t>, so many traders took part in that turn.</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k-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724643" y="366774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4154036"/>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880091" y="5223052"/>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9640519" y="341170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967874"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10107215" y="399726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9967874" y="5138928"/>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K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 of 62</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bullish key reversal is the same rule in the opposite direction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 of 62</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In a downtrend, a bullish key reversal makes a new low, then closes near or above the previous close.</a:t>
            </a:r>
          </a:p>
          <a:p>
            <a:pPr algn="l">
              <a:lnSpc>
                <a:spcPct val="105000"/>
              </a:lnSpc>
              <a:spcBef>
                <a:spcPts val="0"/>
              </a:spcBef>
              <a:spcAft>
                <a:spcPts val="1100"/>
              </a:spcAft>
            </a:pPr>
            <a:r>
              <a:rPr sz="1900" b="0" i="0">
                <a:solidFill>
                  <a:srgbClr val="1A1A1A"/>
                </a:solidFill>
                <a:latin typeface="Arial"/>
              </a:rPr>
              <a:t>With simple invented values, the prior low is 42.00, the new low is 40.50 </a:t>
            </a:r>
            <a:r>
              <a:rPr sz="1900" b="1" i="0">
                <a:solidFill>
                  <a:srgbClr val="E09B00"/>
                </a:solidFill>
                <a:latin typeface="Arial"/>
              </a:rPr>
              <a:t>(1)</a:t>
            </a:r>
            <a:r>
              <a:rPr sz="1900" b="0" i="0">
                <a:solidFill>
                  <a:srgbClr val="1A1A1A"/>
                </a:solidFill>
                <a:latin typeface="Arial"/>
              </a:rPr>
              <a:t>, the close is 43.20 </a:t>
            </a:r>
            <a:r>
              <a:rPr sz="1900" b="1" i="0">
                <a:solidFill>
                  <a:srgbClr val="C62828"/>
                </a:solidFill>
                <a:latin typeface="Arial"/>
              </a:rPr>
              <a:t>(2)</a:t>
            </a:r>
            <a:r>
              <a:rPr sz="1900" b="0" i="0">
                <a:solidFill>
                  <a:srgbClr val="1A1A1A"/>
                </a:solidFill>
                <a:latin typeface="Arial"/>
              </a:rPr>
              <a:t>, and volume is 4.0m </a:t>
            </a:r>
            <a:r>
              <a:rPr sz="1900" b="1" i="0">
                <a:solidFill>
                  <a:srgbClr val="1F5FAD"/>
                </a:solidFill>
                <a:latin typeface="Arial"/>
              </a:rPr>
              <a:t>(3)</a:t>
            </a:r>
            <a:r>
              <a:rPr sz="1900" b="0" i="0">
                <a:solidFill>
                  <a:srgbClr val="1A1A1A"/>
                </a:solidFill>
                <a:latin typeface="Arial"/>
              </a:rPr>
              <a:t>.</a:t>
            </a:r>
          </a:p>
          <a:p>
            <a:pPr algn="l">
              <a:lnSpc>
                <a:spcPct val="105000"/>
              </a:lnSpc>
              <a:spcBef>
                <a:spcPts val="0"/>
              </a:spcBef>
              <a:spcAft>
                <a:spcPts val="1100"/>
              </a:spcAft>
            </a:pPr>
            <a:r>
              <a:rPr sz="1900" b="0" i="0">
                <a:solidFill>
                  <a:srgbClr val="1A1A1A"/>
                </a:solidFill>
                <a:latin typeface="Arial"/>
              </a:rPr>
              <a:t>A single bar can show sellers losing control after a sustained decline. Lim's rapid rebound is this chart's observation, not a promise.</a:t>
            </a:r>
          </a:p>
        </p:txBody>
      </p:sp>
      <p:sp>
        <p:nvSpPr>
          <p:cNvPr id="8" name="TextBox 7"/>
          <p:cNvSpPr txBox="1"/>
          <p:nvPr/>
        </p:nvSpPr>
        <p:spPr>
          <a:xfrm>
            <a:off x="777240" y="5397246"/>
            <a:ext cx="56692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Lim (2016), p. 218, Figure 7.14. The figure shows the book's bullish converse.</a:t>
            </a:r>
          </a:p>
        </p:txBody>
      </p:sp>
      <p:sp>
        <p:nvSpPr>
          <p:cNvPr id="9" name="Rectangle 8"/>
          <p:cNvSpPr/>
          <p:nvPr/>
        </p:nvSpPr>
        <p:spPr>
          <a:xfrm>
            <a:off x="6766559" y="1810512"/>
            <a:ext cx="5105094" cy="3126214"/>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885431" y="1929384"/>
            <a:ext cx="4867351" cy="288847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885431" y="1929384"/>
            <a:ext cx="4867351"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7159751" y="2203703"/>
            <a:ext cx="4318711" cy="243127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7.14</a:t>
            </a:r>
          </a:p>
          <a:p>
            <a:pPr algn="l">
              <a:lnSpc>
                <a:spcPct val="115000"/>
              </a:lnSpc>
              <a:spcBef>
                <a:spcPts val="0"/>
              </a:spcBef>
              <a:spcAft>
                <a:spcPts val="0"/>
              </a:spcAft>
            </a:pPr>
            <a:r>
              <a:rPr sz="1500" b="0" i="0">
                <a:solidFill>
                  <a:srgbClr val="1A1A1A"/>
                </a:solidFill>
                <a:latin typeface="Palatino"/>
              </a:rPr>
              <a:t>Apple daily chart. The marked bar makes a new low, closes above the previous close, and is followed by a rapid rebound on high volume.</a:t>
            </a:r>
          </a:p>
        </p:txBody>
      </p:sp>
      <p:sp>
        <p:nvSpPr>
          <p:cNvPr id="13" name="Oval 12"/>
          <p:cNvSpPr/>
          <p:nvPr/>
        </p:nvSpPr>
        <p:spPr>
          <a:xfrm>
            <a:off x="8988822" y="3846278"/>
            <a:ext cx="173833" cy="175058"/>
          </a:xfrm>
          <a:prstGeom prst="ellipse">
            <a:avLst/>
          </a:prstGeom>
          <a:noFill/>
          <a:ln w="44450">
            <a:solidFill>
              <a:srgbClr val="E09B00"/>
            </a:solidFill>
          </a:ln>
        </p:spPr>
        <p:txBody>
          <a:bodyPr rtlCol="0" anchor="ctr"/>
          <a:lstStyle/>
          <a:p>
            <a:pPr algn="ctr"/>
          </a:p>
        </p:txBody>
      </p:sp>
      <p:sp>
        <p:nvSpPr>
          <p:cNvPr id="14" name="Oval 13"/>
          <p:cNvSpPr/>
          <p:nvPr/>
        </p:nvSpPr>
        <p:spPr>
          <a:xfrm>
            <a:off x="9040973" y="3741242"/>
            <a:ext cx="173833" cy="140047"/>
          </a:xfrm>
          <a:prstGeom prst="ellipse">
            <a:avLst/>
          </a:prstGeom>
          <a:noFill/>
          <a:ln w="44450">
            <a:solidFill>
              <a:srgbClr val="C62828"/>
            </a:solidFill>
          </a:ln>
        </p:spPr>
        <p:txBody>
          <a:bodyPr rtlCol="0" anchor="ctr"/>
          <a:lstStyle/>
          <a:p>
            <a:pPr algn="ctr"/>
          </a:p>
        </p:txBody>
      </p:sp>
      <p:sp>
        <p:nvSpPr>
          <p:cNvPr id="15" name="Oval 14"/>
          <p:cNvSpPr/>
          <p:nvPr/>
        </p:nvSpPr>
        <p:spPr>
          <a:xfrm>
            <a:off x="8971439" y="4231407"/>
            <a:ext cx="208600" cy="385129"/>
          </a:xfrm>
          <a:prstGeom prst="ellipse">
            <a:avLst/>
          </a:prstGeom>
          <a:noFill/>
          <a:ln w="44450">
            <a:solidFill>
              <a:srgbClr val="1F5FAD"/>
            </a:solidFill>
          </a:ln>
        </p:spPr>
        <p:txBody>
          <a:bodyPr rtlCol="0" anchor="ctr"/>
          <a:lstStyle/>
          <a:p>
            <a:pPr algn="ctr"/>
          </a:p>
        </p:txBody>
      </p:sp>
      <p:sp>
        <p:nvSpPr>
          <p:cNvPr id="16" name="Oval 15"/>
          <p:cNvSpPr/>
          <p:nvPr/>
        </p:nvSpPr>
        <p:spPr>
          <a:xfrm>
            <a:off x="8771317" y="3899354"/>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9306726" y="3466084"/>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9306726" y="4361510"/>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TextBox 18"/>
          <p:cNvSpPr txBox="1"/>
          <p:nvPr/>
        </p:nvSpPr>
        <p:spPr>
          <a:xfrm>
            <a:off x="6766559" y="5028166"/>
            <a:ext cx="51050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7.14 - Lim, The Handbook of Technical Analysis (Wiley, 2016)</a:t>
            </a:r>
          </a:p>
        </p:txBody>
      </p:sp>
      <p:sp>
        <p:nvSpPr>
          <p:cNvPr id="20" name="TextBox 1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218, Figure 7.14. The worked PHP values are ours, invented to show the converse.</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7.15 shows the key reversal on the book's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 of 62</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book's chart shows the same rule: a higher high, then a close near or below the prior close (p. 218).</a:t>
            </a:r>
          </a:p>
          <a:p>
            <a:pPr algn="l">
              <a:lnSpc>
                <a:spcPct val="105000"/>
              </a:lnSpc>
              <a:spcBef>
                <a:spcPts val="0"/>
              </a:spcBef>
              <a:spcAft>
                <a:spcPts val="1100"/>
              </a:spcAft>
            </a:pPr>
            <a:r>
              <a:rPr sz="1700" b="0" i="0">
                <a:solidFill>
                  <a:srgbClr val="1A1A1A"/>
                </a:solidFill>
                <a:latin typeface="Arial"/>
              </a:rPr>
              <a:t>Gold (1) marks the previous bar's high. Red (2) marks the key reversal day's higher high. Blue (3) marks its close, below the previous close. Purple (4) marks the above-average volume beneath it.</a:t>
            </a:r>
          </a:p>
          <a:p>
            <a:pPr algn="l">
              <a:lnSpc>
                <a:spcPct val="105000"/>
              </a:lnSpc>
              <a:spcBef>
                <a:spcPts val="0"/>
              </a:spcBef>
              <a:spcAft>
                <a:spcPts val="1100"/>
              </a:spcAft>
            </a:pPr>
            <a:r>
              <a:rPr sz="1700" b="0" i="0">
                <a:solidFill>
                  <a:srgbClr val="1A1A1A"/>
                </a:solidFill>
                <a:latin typeface="Arial"/>
              </a:rPr>
              <a:t>Why it matters: a key reversal is a warning, not a promise. In the book's example, the market drifts sideways before it falls.</a:t>
            </a:r>
          </a:p>
        </p:txBody>
      </p:sp>
      <p:sp>
        <p:nvSpPr>
          <p:cNvPr id="8" name="Rectangle 7"/>
          <p:cNvSpPr/>
          <p:nvPr/>
        </p:nvSpPr>
        <p:spPr>
          <a:xfrm>
            <a:off x="6052089" y="1810512"/>
            <a:ext cx="5711076"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170961" y="1929384"/>
            <a:ext cx="5473332"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170961" y="1929384"/>
            <a:ext cx="5473332"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445281" y="2203703"/>
            <a:ext cx="4924692"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its surrounding bars. The marked day opens above the previous high, forms a new high, closes below the previous close, and has above average volume.</a:t>
            </a:r>
          </a:p>
        </p:txBody>
      </p:sp>
      <p:sp>
        <p:nvSpPr>
          <p:cNvPr id="12" name="Oval 11"/>
          <p:cNvSpPr/>
          <p:nvPr/>
        </p:nvSpPr>
        <p:spPr>
          <a:xfrm>
            <a:off x="9124823" y="2493970"/>
            <a:ext cx="195476" cy="173719"/>
          </a:xfrm>
          <a:prstGeom prst="ellipse">
            <a:avLst/>
          </a:prstGeom>
          <a:noFill/>
          <a:ln w="44450">
            <a:solidFill>
              <a:srgbClr val="E09B00"/>
            </a:solidFill>
          </a:ln>
        </p:spPr>
        <p:txBody>
          <a:bodyPr rtlCol="0" anchor="ctr"/>
          <a:lstStyle/>
          <a:p>
            <a:pPr algn="ctr"/>
          </a:p>
        </p:txBody>
      </p:sp>
      <p:sp>
        <p:nvSpPr>
          <p:cNvPr id="13" name="Oval 12"/>
          <p:cNvSpPr/>
          <p:nvPr/>
        </p:nvSpPr>
        <p:spPr>
          <a:xfrm>
            <a:off x="9211701" y="2331109"/>
            <a:ext cx="217195" cy="173719"/>
          </a:xfrm>
          <a:prstGeom prst="ellipse">
            <a:avLst/>
          </a:prstGeom>
          <a:noFill/>
          <a:ln w="44450">
            <a:solidFill>
              <a:srgbClr val="C62828"/>
            </a:solidFill>
          </a:ln>
        </p:spPr>
        <p:txBody>
          <a:bodyPr rtlCol="0" anchor="ctr"/>
          <a:lstStyle/>
          <a:p>
            <a:pPr algn="ctr"/>
          </a:p>
        </p:txBody>
      </p:sp>
      <p:sp>
        <p:nvSpPr>
          <p:cNvPr id="14" name="Oval 13"/>
          <p:cNvSpPr/>
          <p:nvPr/>
        </p:nvSpPr>
        <p:spPr>
          <a:xfrm>
            <a:off x="9255140" y="2732834"/>
            <a:ext cx="217195" cy="173719"/>
          </a:xfrm>
          <a:prstGeom prst="ellipse">
            <a:avLst/>
          </a:prstGeom>
          <a:noFill/>
          <a:ln w="44450">
            <a:solidFill>
              <a:srgbClr val="1F5FAD"/>
            </a:solidFill>
          </a:ln>
        </p:spPr>
        <p:txBody>
          <a:bodyPr rtlCol="0" anchor="ctr"/>
          <a:lstStyle/>
          <a:p>
            <a:pPr algn="ctr"/>
          </a:p>
        </p:txBody>
      </p:sp>
      <p:sp>
        <p:nvSpPr>
          <p:cNvPr id="15" name="Oval 14"/>
          <p:cNvSpPr/>
          <p:nvPr/>
        </p:nvSpPr>
        <p:spPr>
          <a:xfrm>
            <a:off x="9200841" y="5056326"/>
            <a:ext cx="238915" cy="260578"/>
          </a:xfrm>
          <a:prstGeom prst="ellipse">
            <a:avLst/>
          </a:prstGeom>
          <a:noFill/>
          <a:ln w="44450">
            <a:solidFill>
              <a:srgbClr val="7B3FA0"/>
            </a:solidFill>
          </a:ln>
        </p:spPr>
        <p:txBody>
          <a:bodyPr rtlCol="0" anchor="ctr"/>
          <a:lstStyle/>
          <a:p>
            <a:pPr algn="ctr"/>
          </a:p>
        </p:txBody>
      </p:sp>
      <p:sp>
        <p:nvSpPr>
          <p:cNvPr id="16" name="Oval 15"/>
          <p:cNvSpPr/>
          <p:nvPr/>
        </p:nvSpPr>
        <p:spPr>
          <a:xfrm>
            <a:off x="8688432" y="2451689"/>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9564166" y="2170785"/>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9618899" y="2732592"/>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Oval 18"/>
          <p:cNvSpPr/>
          <p:nvPr/>
        </p:nvSpPr>
        <p:spPr>
          <a:xfrm>
            <a:off x="9016832" y="4628692"/>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0" name="TextBox 19"/>
          <p:cNvSpPr txBox="1"/>
          <p:nvPr/>
        </p:nvSpPr>
        <p:spPr>
          <a:xfrm>
            <a:off x="5852159" y="5650991"/>
            <a:ext cx="611093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7.15 -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218 to 219, Figure 7.15. The crop and marks are for teaching; no invented example is on this slide.</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16 OF 30</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“Figure 7.15: three observations”</a:t>
            </a:r>
          </a:p>
        </p:txBody>
      </p:sp>
      <p:sp>
        <p:nvSpPr>
          <p:cNvPr id="6" name="Rectangle 5"/>
          <p:cNvSpPr/>
          <p:nvPr/>
        </p:nvSpPr>
        <p:spPr>
          <a:xfrm>
            <a:off x="777240" y="1207008"/>
            <a:ext cx="45720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1148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1148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bearish key reversal makes a higher high, then:</a:t>
            </a:r>
          </a:p>
        </p:txBody>
      </p:sp>
      <p:sp>
        <p:nvSpPr>
          <p:cNvPr id="9" name="TextBox 8"/>
          <p:cNvSpPr txBox="1"/>
          <p:nvPr/>
        </p:nvSpPr>
        <p:spPr>
          <a:xfrm>
            <a:off x="1005840" y="2069338"/>
            <a:ext cx="41148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Near or below prior close</a:t>
            </a:r>
          </a:p>
          <a:p>
            <a:pPr algn="l">
              <a:lnSpc>
                <a:spcPct val="105000"/>
              </a:lnSpc>
              <a:spcBef>
                <a:spcPts val="0"/>
              </a:spcBef>
              <a:spcAft>
                <a:spcPts val="200"/>
              </a:spcAft>
            </a:pPr>
            <a:r>
              <a:rPr sz="1700" b="0" i="0">
                <a:solidFill>
                  <a:srgbClr val="FFFFFF"/>
                </a:solidFill>
                <a:latin typeface="Arial"/>
              </a:rPr>
              <a:t>B.  Above prior high</a:t>
            </a:r>
          </a:p>
          <a:p>
            <a:pPr algn="l">
              <a:lnSpc>
                <a:spcPct val="105000"/>
              </a:lnSpc>
              <a:spcBef>
                <a:spcPts val="0"/>
              </a:spcBef>
              <a:spcAft>
                <a:spcPts val="200"/>
              </a:spcAft>
            </a:pPr>
            <a:r>
              <a:rPr sz="1700" b="0" i="0">
                <a:solidFill>
                  <a:srgbClr val="FFFFFF"/>
                </a:solidFill>
                <a:latin typeface="Arial"/>
              </a:rPr>
              <a:t>C.  Below prior low</a:t>
            </a:r>
          </a:p>
          <a:p>
            <a:pPr algn="l">
              <a:lnSpc>
                <a:spcPct val="105000"/>
              </a:lnSpc>
              <a:spcBef>
                <a:spcPts val="0"/>
              </a:spcBef>
              <a:spcAft>
                <a:spcPts val="200"/>
              </a:spcAft>
            </a:pPr>
            <a:r>
              <a:rPr sz="1700" b="0" i="0">
                <a:solidFill>
                  <a:srgbClr val="FFFFFF"/>
                </a:solidFill>
                <a:latin typeface="Arial"/>
              </a:rPr>
              <a:t>D.  On low volume only</a:t>
            </a:r>
          </a:p>
        </p:txBody>
      </p:sp>
      <p:sp>
        <p:nvSpPr>
          <p:cNvPr id="10" name="Rectangle 9"/>
          <p:cNvSpPr/>
          <p:nvPr/>
        </p:nvSpPr>
        <p:spPr>
          <a:xfrm>
            <a:off x="777240" y="3336798"/>
            <a:ext cx="45720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1148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1148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 Figure 7.15, blue mark 3 identifies:</a:t>
            </a:r>
          </a:p>
        </p:txBody>
      </p:sp>
      <p:sp>
        <p:nvSpPr>
          <p:cNvPr id="13" name="TextBox 12"/>
          <p:cNvSpPr txBox="1"/>
          <p:nvPr/>
        </p:nvSpPr>
        <p:spPr>
          <a:xfrm>
            <a:off x="1005840" y="4199128"/>
            <a:ext cx="41148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Prior close</a:t>
            </a:r>
          </a:p>
          <a:p>
            <a:pPr algn="l">
              <a:lnSpc>
                <a:spcPct val="105000"/>
              </a:lnSpc>
              <a:spcBef>
                <a:spcPts val="0"/>
              </a:spcBef>
              <a:spcAft>
                <a:spcPts val="200"/>
              </a:spcAft>
            </a:pPr>
            <a:r>
              <a:rPr sz="1700" b="0" i="0">
                <a:solidFill>
                  <a:srgbClr val="FFFFFF"/>
                </a:solidFill>
                <a:latin typeface="Arial"/>
              </a:rPr>
              <a:t>B.  New high</a:t>
            </a:r>
          </a:p>
          <a:p>
            <a:pPr algn="l">
              <a:lnSpc>
                <a:spcPct val="105000"/>
              </a:lnSpc>
              <a:spcBef>
                <a:spcPts val="0"/>
              </a:spcBef>
              <a:spcAft>
                <a:spcPts val="200"/>
              </a:spcAft>
            </a:pPr>
            <a:r>
              <a:rPr sz="1700" b="0" i="0">
                <a:solidFill>
                  <a:srgbClr val="FFFFFF"/>
                </a:solidFill>
                <a:latin typeface="Arial"/>
              </a:rPr>
              <a:t>C.  Close below prior close</a:t>
            </a:r>
          </a:p>
          <a:p>
            <a:pPr algn="l">
              <a:lnSpc>
                <a:spcPct val="105000"/>
              </a:lnSpc>
              <a:spcBef>
                <a:spcPts val="0"/>
              </a:spcBef>
              <a:spcAft>
                <a:spcPts val="200"/>
              </a:spcAft>
            </a:pPr>
            <a:r>
              <a:rPr sz="1700" b="0" i="0">
                <a:solidFill>
                  <a:srgbClr val="FFFFFF"/>
                </a:solidFill>
                <a:latin typeface="Arial"/>
              </a:rPr>
              <a:t>D.  Later bars</a:t>
            </a:r>
          </a:p>
        </p:txBody>
      </p:sp>
      <p:sp>
        <p:nvSpPr>
          <p:cNvPr id="14" name="Rectangle 13"/>
          <p:cNvSpPr/>
          <p:nvPr/>
        </p:nvSpPr>
        <p:spPr>
          <a:xfrm>
            <a:off x="5669279" y="1207008"/>
            <a:ext cx="5745175" cy="3770915"/>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788151" y="1325880"/>
            <a:ext cx="5507431" cy="3533171"/>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788151" y="1325880"/>
            <a:ext cx="55074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062471" y="1600200"/>
            <a:ext cx="4958791" cy="307597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its surrounding bars. The marked bar opens above the previous high, forms a new high, and closes below the previous close.</a:t>
            </a:r>
          </a:p>
        </p:txBody>
      </p:sp>
      <p:sp>
        <p:nvSpPr>
          <p:cNvPr id="18" name="Oval 17"/>
          <p:cNvSpPr/>
          <p:nvPr/>
        </p:nvSpPr>
        <p:spPr>
          <a:xfrm>
            <a:off x="8760416" y="1893984"/>
            <a:ext cx="196693" cy="174801"/>
          </a:xfrm>
          <a:prstGeom prst="ellipse">
            <a:avLst/>
          </a:prstGeom>
          <a:noFill/>
          <a:ln w="44450">
            <a:solidFill>
              <a:srgbClr val="E09B00"/>
            </a:solidFill>
          </a:ln>
        </p:spPr>
        <p:txBody>
          <a:bodyPr rtlCol="0" anchor="ctr"/>
          <a:lstStyle/>
          <a:p>
            <a:pPr algn="ctr"/>
          </a:p>
        </p:txBody>
      </p:sp>
      <p:sp>
        <p:nvSpPr>
          <p:cNvPr id="19" name="Oval 18"/>
          <p:cNvSpPr/>
          <p:nvPr/>
        </p:nvSpPr>
        <p:spPr>
          <a:xfrm>
            <a:off x="8847835" y="1730107"/>
            <a:ext cx="218548" cy="174801"/>
          </a:xfrm>
          <a:prstGeom prst="ellipse">
            <a:avLst/>
          </a:prstGeom>
          <a:noFill/>
          <a:ln w="44450">
            <a:solidFill>
              <a:srgbClr val="C62828"/>
            </a:solidFill>
          </a:ln>
        </p:spPr>
        <p:txBody>
          <a:bodyPr rtlCol="0" anchor="ctr"/>
          <a:lstStyle/>
          <a:p>
            <a:pPr algn="ctr"/>
          </a:p>
        </p:txBody>
      </p:sp>
      <p:sp>
        <p:nvSpPr>
          <p:cNvPr id="20" name="Oval 19"/>
          <p:cNvSpPr/>
          <p:nvPr/>
        </p:nvSpPr>
        <p:spPr>
          <a:xfrm>
            <a:off x="8891545" y="2134335"/>
            <a:ext cx="218548" cy="174801"/>
          </a:xfrm>
          <a:prstGeom prst="ellipse">
            <a:avLst/>
          </a:prstGeom>
          <a:noFill/>
          <a:ln w="44450">
            <a:solidFill>
              <a:srgbClr val="1F5FAD"/>
            </a:solidFill>
          </a:ln>
        </p:spPr>
        <p:txBody>
          <a:bodyPr rtlCol="0" anchor="ctr"/>
          <a:lstStyle/>
          <a:p>
            <a:pPr algn="ctr"/>
          </a:p>
        </p:txBody>
      </p:sp>
      <p:sp>
        <p:nvSpPr>
          <p:cNvPr id="21" name="Oval 20"/>
          <p:cNvSpPr/>
          <p:nvPr/>
        </p:nvSpPr>
        <p:spPr>
          <a:xfrm>
            <a:off x="8836908" y="4472303"/>
            <a:ext cx="240403" cy="262201"/>
          </a:xfrm>
          <a:prstGeom prst="ellipse">
            <a:avLst/>
          </a:prstGeom>
          <a:noFill/>
          <a:ln w="44450">
            <a:solidFill>
              <a:srgbClr val="7B3FA0"/>
            </a:solidFill>
          </a:ln>
        </p:spPr>
        <p:txBody>
          <a:bodyPr rtlCol="0" anchor="ctr"/>
          <a:lstStyle/>
          <a:p>
            <a:pPr algn="ctr"/>
          </a:p>
        </p:txBody>
      </p:sp>
      <p:sp>
        <p:nvSpPr>
          <p:cNvPr id="22" name="Oval 21"/>
          <p:cNvSpPr/>
          <p:nvPr/>
        </p:nvSpPr>
        <p:spPr>
          <a:xfrm>
            <a:off x="8321990" y="1852122"/>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203179" y="1569469"/>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9258254" y="2134776"/>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8652436" y="4042688"/>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5669279" y="5069363"/>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7.15 -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16</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“Figure 7.15: three observations”</a:t>
            </a:r>
          </a:p>
        </p:txBody>
      </p:sp>
      <p:sp>
        <p:nvSpPr>
          <p:cNvPr id="6" name="Rectangle 5"/>
          <p:cNvSpPr/>
          <p:nvPr/>
        </p:nvSpPr>
        <p:spPr>
          <a:xfrm>
            <a:off x="777240" y="1207008"/>
            <a:ext cx="4572000" cy="223583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23583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0233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A bearish key reversal makes a higher high, then:</a:t>
            </a:r>
          </a:p>
        </p:txBody>
      </p:sp>
      <p:sp>
        <p:nvSpPr>
          <p:cNvPr id="9" name="TextBox 8"/>
          <p:cNvSpPr txBox="1"/>
          <p:nvPr/>
        </p:nvSpPr>
        <p:spPr>
          <a:xfrm>
            <a:off x="1097280" y="2069338"/>
            <a:ext cx="4023360" cy="137350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Near or below prior close</a:t>
            </a:r>
          </a:p>
          <a:p>
            <a:pPr algn="l">
              <a:lnSpc>
                <a:spcPct val="115000"/>
              </a:lnSpc>
              <a:spcBef>
                <a:spcPts val="500"/>
              </a:spcBef>
              <a:spcAft>
                <a:spcPts val="0"/>
              </a:spcAft>
            </a:pPr>
            <a:r>
              <a:rPr sz="1700" b="0" i="0">
                <a:solidFill>
                  <a:srgbClr val="1A1A1A"/>
                </a:solidFill>
                <a:latin typeface="Arial"/>
              </a:rPr>
              <a:t>Lim defines the bearish pattern as a higher high followed by a close near or below the previous close.</a:t>
            </a:r>
          </a:p>
        </p:txBody>
      </p:sp>
      <p:sp>
        <p:nvSpPr>
          <p:cNvPr id="10" name="Rectangle 9"/>
          <p:cNvSpPr/>
          <p:nvPr/>
        </p:nvSpPr>
        <p:spPr>
          <a:xfrm>
            <a:off x="777240" y="3625723"/>
            <a:ext cx="4572000" cy="223583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625723"/>
            <a:ext cx="91440" cy="223583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808603"/>
            <a:ext cx="40233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On Figure 7.15, blue mark 3 identifies:</a:t>
            </a:r>
          </a:p>
        </p:txBody>
      </p:sp>
      <p:sp>
        <p:nvSpPr>
          <p:cNvPr id="13" name="TextBox 12"/>
          <p:cNvSpPr txBox="1"/>
          <p:nvPr/>
        </p:nvSpPr>
        <p:spPr>
          <a:xfrm>
            <a:off x="1097280" y="4488053"/>
            <a:ext cx="4023360" cy="137350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C.  Close below prior close</a:t>
            </a:r>
          </a:p>
          <a:p>
            <a:pPr algn="l">
              <a:lnSpc>
                <a:spcPct val="115000"/>
              </a:lnSpc>
              <a:spcBef>
                <a:spcPts val="500"/>
              </a:spcBef>
              <a:spcAft>
                <a:spcPts val="0"/>
              </a:spcAft>
            </a:pPr>
            <a:r>
              <a:rPr sz="1700" b="0" i="0">
                <a:solidFill>
                  <a:srgbClr val="1A1A1A"/>
                </a:solidFill>
                <a:latin typeface="Arial"/>
              </a:rPr>
              <a:t>The preceding slide maps blue mark 3 to the close below the previous close (Lim, p. 219).</a:t>
            </a:r>
          </a:p>
        </p:txBody>
      </p:sp>
      <p:sp>
        <p:nvSpPr>
          <p:cNvPr id="14" name="Rectangle 13"/>
          <p:cNvSpPr/>
          <p:nvPr/>
        </p:nvSpPr>
        <p:spPr>
          <a:xfrm>
            <a:off x="5669279" y="1207008"/>
            <a:ext cx="5745175" cy="3694106"/>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788151" y="1325880"/>
            <a:ext cx="5507431" cy="3456362"/>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788151" y="1325880"/>
            <a:ext cx="55074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062471" y="1600200"/>
            <a:ext cx="4958791" cy="299916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its surrounding bars. The marked bar opens above the previous high, forms a new high, and closes below the previous close.</a:t>
            </a:r>
          </a:p>
        </p:txBody>
      </p:sp>
      <p:sp>
        <p:nvSpPr>
          <p:cNvPr id="18" name="Oval 17"/>
          <p:cNvSpPr/>
          <p:nvPr/>
        </p:nvSpPr>
        <p:spPr>
          <a:xfrm>
            <a:off x="8760416" y="1881634"/>
            <a:ext cx="196693" cy="171001"/>
          </a:xfrm>
          <a:prstGeom prst="ellipse">
            <a:avLst/>
          </a:prstGeom>
          <a:noFill/>
          <a:ln w="44450">
            <a:solidFill>
              <a:srgbClr val="E09B00"/>
            </a:solidFill>
          </a:ln>
        </p:spPr>
        <p:txBody>
          <a:bodyPr rtlCol="0" anchor="ctr"/>
          <a:lstStyle/>
          <a:p>
            <a:pPr algn="ctr"/>
          </a:p>
        </p:txBody>
      </p:sp>
      <p:sp>
        <p:nvSpPr>
          <p:cNvPr id="19" name="Oval 18"/>
          <p:cNvSpPr/>
          <p:nvPr/>
        </p:nvSpPr>
        <p:spPr>
          <a:xfrm>
            <a:off x="8847835" y="1721320"/>
            <a:ext cx="218548" cy="171001"/>
          </a:xfrm>
          <a:prstGeom prst="ellipse">
            <a:avLst/>
          </a:prstGeom>
          <a:noFill/>
          <a:ln w="44450">
            <a:solidFill>
              <a:srgbClr val="C62828"/>
            </a:solidFill>
          </a:ln>
        </p:spPr>
        <p:txBody>
          <a:bodyPr rtlCol="0" anchor="ctr"/>
          <a:lstStyle/>
          <a:p>
            <a:pPr algn="ctr"/>
          </a:p>
        </p:txBody>
      </p:sp>
      <p:sp>
        <p:nvSpPr>
          <p:cNvPr id="20" name="Oval 19"/>
          <p:cNvSpPr/>
          <p:nvPr/>
        </p:nvSpPr>
        <p:spPr>
          <a:xfrm>
            <a:off x="8891545" y="2116760"/>
            <a:ext cx="218548" cy="171001"/>
          </a:xfrm>
          <a:prstGeom prst="ellipse">
            <a:avLst/>
          </a:prstGeom>
          <a:noFill/>
          <a:ln w="44450">
            <a:solidFill>
              <a:srgbClr val="1F5FAD"/>
            </a:solidFill>
          </a:ln>
        </p:spPr>
        <p:txBody>
          <a:bodyPr rtlCol="0" anchor="ctr"/>
          <a:lstStyle/>
          <a:p>
            <a:pPr algn="ctr"/>
          </a:p>
        </p:txBody>
      </p:sp>
      <p:sp>
        <p:nvSpPr>
          <p:cNvPr id="21" name="Oval 20"/>
          <p:cNvSpPr/>
          <p:nvPr/>
        </p:nvSpPr>
        <p:spPr>
          <a:xfrm>
            <a:off x="8836908" y="4403902"/>
            <a:ext cx="240403" cy="256501"/>
          </a:xfrm>
          <a:prstGeom prst="ellipse">
            <a:avLst/>
          </a:prstGeom>
          <a:noFill/>
          <a:ln w="44450">
            <a:solidFill>
              <a:srgbClr val="7B3FA0"/>
            </a:solidFill>
          </a:ln>
        </p:spPr>
        <p:txBody>
          <a:bodyPr rtlCol="0" anchor="ctr"/>
          <a:lstStyle/>
          <a:p>
            <a:pPr algn="ctr"/>
          </a:p>
        </p:txBody>
      </p:sp>
      <p:sp>
        <p:nvSpPr>
          <p:cNvPr id="22" name="Oval 21"/>
          <p:cNvSpPr/>
          <p:nvPr/>
        </p:nvSpPr>
        <p:spPr>
          <a:xfrm>
            <a:off x="8321990" y="1838297"/>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203179" y="1561788"/>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9258254" y="2114806"/>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8652436" y="3981242"/>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5669279" y="4992554"/>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7.15 -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16</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17 OF 30</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“Figure 7.15: three observations”</a:t>
            </a:r>
          </a:p>
        </p:txBody>
      </p:sp>
      <p:sp>
        <p:nvSpPr>
          <p:cNvPr id="6" name="Rectangle 5"/>
          <p:cNvSpPr/>
          <p:nvPr/>
        </p:nvSpPr>
        <p:spPr>
          <a:xfrm>
            <a:off x="777240" y="1207008"/>
            <a:ext cx="45720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1148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1148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wider key reversal bar makes downside follow-through:</a:t>
            </a:r>
          </a:p>
        </p:txBody>
      </p:sp>
      <p:sp>
        <p:nvSpPr>
          <p:cNvPr id="9" name="TextBox 8"/>
          <p:cNvSpPr txBox="1"/>
          <p:nvPr/>
        </p:nvSpPr>
        <p:spPr>
          <a:xfrm>
            <a:off x="1005840" y="2069338"/>
            <a:ext cx="41148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Impossible</a:t>
            </a:r>
          </a:p>
          <a:p>
            <a:pPr algn="l">
              <a:lnSpc>
                <a:spcPct val="105000"/>
              </a:lnSpc>
              <a:spcBef>
                <a:spcPts val="0"/>
              </a:spcBef>
              <a:spcAft>
                <a:spcPts val="200"/>
              </a:spcAft>
            </a:pPr>
            <a:r>
              <a:rPr sz="1700" b="0" i="0">
                <a:solidFill>
                  <a:srgbClr val="FFFFFF"/>
                </a:solidFill>
                <a:latin typeface="Arial"/>
              </a:rPr>
              <a:t>B.  Always certain</a:t>
            </a:r>
          </a:p>
          <a:p>
            <a:pPr algn="l">
              <a:lnSpc>
                <a:spcPct val="105000"/>
              </a:lnSpc>
              <a:spcBef>
                <a:spcPts val="0"/>
              </a:spcBef>
              <a:spcAft>
                <a:spcPts val="200"/>
              </a:spcAft>
            </a:pPr>
            <a:r>
              <a:rPr sz="1700" b="0" i="0">
                <a:solidFill>
                  <a:srgbClr val="FFFFFF"/>
                </a:solidFill>
                <a:latin typeface="Arial"/>
              </a:rPr>
              <a:t>C.  Unrelated</a:t>
            </a:r>
          </a:p>
          <a:p>
            <a:pPr algn="l">
              <a:lnSpc>
                <a:spcPct val="105000"/>
              </a:lnSpc>
              <a:spcBef>
                <a:spcPts val="0"/>
              </a:spcBef>
              <a:spcAft>
                <a:spcPts val="200"/>
              </a:spcAft>
            </a:pPr>
            <a:r>
              <a:rPr sz="1700" b="0" i="0">
                <a:solidFill>
                  <a:srgbClr val="FFFFFF"/>
                </a:solidFill>
                <a:latin typeface="Arial"/>
              </a:rPr>
              <a:t>D.  Potentially more reliable</a:t>
            </a:r>
          </a:p>
        </p:txBody>
      </p:sp>
      <p:sp>
        <p:nvSpPr>
          <p:cNvPr id="10" name="Rectangle 9"/>
          <p:cNvSpPr/>
          <p:nvPr/>
        </p:nvSpPr>
        <p:spPr>
          <a:xfrm>
            <a:off x="777240" y="3336798"/>
            <a:ext cx="4572000" cy="1790065"/>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1148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11480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bullish converse is read in a:</a:t>
            </a:r>
          </a:p>
        </p:txBody>
      </p:sp>
      <p:sp>
        <p:nvSpPr>
          <p:cNvPr id="13" name="TextBox 12"/>
          <p:cNvSpPr txBox="1"/>
          <p:nvPr/>
        </p:nvSpPr>
        <p:spPr>
          <a:xfrm>
            <a:off x="1005840" y="3950843"/>
            <a:ext cx="4114800" cy="1102868"/>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Monthly chart only</a:t>
            </a:r>
          </a:p>
          <a:p>
            <a:pPr algn="l">
              <a:lnSpc>
                <a:spcPct val="105000"/>
              </a:lnSpc>
              <a:spcBef>
                <a:spcPts val="0"/>
              </a:spcBef>
              <a:spcAft>
                <a:spcPts val="200"/>
              </a:spcAft>
            </a:pPr>
            <a:r>
              <a:rPr sz="1700" b="0" i="0">
                <a:solidFill>
                  <a:srgbClr val="FFFFFF"/>
                </a:solidFill>
                <a:latin typeface="Arial"/>
              </a:rPr>
              <a:t>B.  Downtrend</a:t>
            </a:r>
          </a:p>
          <a:p>
            <a:pPr algn="l">
              <a:lnSpc>
                <a:spcPct val="105000"/>
              </a:lnSpc>
              <a:spcBef>
                <a:spcPts val="0"/>
              </a:spcBef>
              <a:spcAft>
                <a:spcPts val="200"/>
              </a:spcAft>
            </a:pPr>
            <a:r>
              <a:rPr sz="1700" b="0" i="0">
                <a:solidFill>
                  <a:srgbClr val="FFFFFF"/>
                </a:solidFill>
                <a:latin typeface="Arial"/>
              </a:rPr>
              <a:t>C.  Flat market only</a:t>
            </a:r>
          </a:p>
          <a:p>
            <a:pPr algn="l">
              <a:lnSpc>
                <a:spcPct val="105000"/>
              </a:lnSpc>
              <a:spcBef>
                <a:spcPts val="0"/>
              </a:spcBef>
              <a:spcAft>
                <a:spcPts val="200"/>
              </a:spcAft>
            </a:pPr>
            <a:r>
              <a:rPr sz="1700" b="0" i="0">
                <a:solidFill>
                  <a:srgbClr val="FFFFFF"/>
                </a:solidFill>
                <a:latin typeface="Arial"/>
              </a:rPr>
              <a:t>D.  Volume panel</a:t>
            </a:r>
          </a:p>
        </p:txBody>
      </p:sp>
      <p:sp>
        <p:nvSpPr>
          <p:cNvPr id="14" name="Rectangle 13"/>
          <p:cNvSpPr/>
          <p:nvPr/>
        </p:nvSpPr>
        <p:spPr>
          <a:xfrm>
            <a:off x="5669279" y="1207008"/>
            <a:ext cx="5745175" cy="3770915"/>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788151" y="1325880"/>
            <a:ext cx="5507431" cy="3533171"/>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788151" y="1325880"/>
            <a:ext cx="55074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062471" y="1600200"/>
            <a:ext cx="4958791" cy="307597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its surrounding bars. The marked bar opens above the previous high, forms a new high, and closes below the previous close.</a:t>
            </a:r>
          </a:p>
        </p:txBody>
      </p:sp>
      <p:sp>
        <p:nvSpPr>
          <p:cNvPr id="18" name="Oval 17"/>
          <p:cNvSpPr/>
          <p:nvPr/>
        </p:nvSpPr>
        <p:spPr>
          <a:xfrm>
            <a:off x="8760416" y="1893984"/>
            <a:ext cx="196693" cy="174801"/>
          </a:xfrm>
          <a:prstGeom prst="ellipse">
            <a:avLst/>
          </a:prstGeom>
          <a:noFill/>
          <a:ln w="44450">
            <a:solidFill>
              <a:srgbClr val="E09B00"/>
            </a:solidFill>
          </a:ln>
        </p:spPr>
        <p:txBody>
          <a:bodyPr rtlCol="0" anchor="ctr"/>
          <a:lstStyle/>
          <a:p>
            <a:pPr algn="ctr"/>
          </a:p>
        </p:txBody>
      </p:sp>
      <p:sp>
        <p:nvSpPr>
          <p:cNvPr id="19" name="Oval 18"/>
          <p:cNvSpPr/>
          <p:nvPr/>
        </p:nvSpPr>
        <p:spPr>
          <a:xfrm>
            <a:off x="8847835" y="1730107"/>
            <a:ext cx="218548" cy="174801"/>
          </a:xfrm>
          <a:prstGeom prst="ellipse">
            <a:avLst/>
          </a:prstGeom>
          <a:noFill/>
          <a:ln w="44450">
            <a:solidFill>
              <a:srgbClr val="C62828"/>
            </a:solidFill>
          </a:ln>
        </p:spPr>
        <p:txBody>
          <a:bodyPr rtlCol="0" anchor="ctr"/>
          <a:lstStyle/>
          <a:p>
            <a:pPr algn="ctr"/>
          </a:p>
        </p:txBody>
      </p:sp>
      <p:sp>
        <p:nvSpPr>
          <p:cNvPr id="20" name="Oval 19"/>
          <p:cNvSpPr/>
          <p:nvPr/>
        </p:nvSpPr>
        <p:spPr>
          <a:xfrm>
            <a:off x="8891545" y="2134335"/>
            <a:ext cx="218548" cy="174801"/>
          </a:xfrm>
          <a:prstGeom prst="ellipse">
            <a:avLst/>
          </a:prstGeom>
          <a:noFill/>
          <a:ln w="44450">
            <a:solidFill>
              <a:srgbClr val="1F5FAD"/>
            </a:solidFill>
          </a:ln>
        </p:spPr>
        <p:txBody>
          <a:bodyPr rtlCol="0" anchor="ctr"/>
          <a:lstStyle/>
          <a:p>
            <a:pPr algn="ctr"/>
          </a:p>
        </p:txBody>
      </p:sp>
      <p:sp>
        <p:nvSpPr>
          <p:cNvPr id="21" name="Oval 20"/>
          <p:cNvSpPr/>
          <p:nvPr/>
        </p:nvSpPr>
        <p:spPr>
          <a:xfrm>
            <a:off x="8836908" y="4472303"/>
            <a:ext cx="240403" cy="262201"/>
          </a:xfrm>
          <a:prstGeom prst="ellipse">
            <a:avLst/>
          </a:prstGeom>
          <a:noFill/>
          <a:ln w="44450">
            <a:solidFill>
              <a:srgbClr val="7B3FA0"/>
            </a:solidFill>
          </a:ln>
        </p:spPr>
        <p:txBody>
          <a:bodyPr rtlCol="0" anchor="ctr"/>
          <a:lstStyle/>
          <a:p>
            <a:pPr algn="ctr"/>
          </a:p>
        </p:txBody>
      </p:sp>
      <p:sp>
        <p:nvSpPr>
          <p:cNvPr id="22" name="Oval 21"/>
          <p:cNvSpPr/>
          <p:nvPr/>
        </p:nvSpPr>
        <p:spPr>
          <a:xfrm>
            <a:off x="8321990" y="1852122"/>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203179" y="1569469"/>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9258254" y="2134776"/>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8652436" y="4042688"/>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5669279" y="5069363"/>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7.15 -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17</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“Figure 7.15: three observations”</a:t>
            </a:r>
          </a:p>
        </p:txBody>
      </p:sp>
      <p:sp>
        <p:nvSpPr>
          <p:cNvPr id="6" name="Rectangle 5"/>
          <p:cNvSpPr/>
          <p:nvPr/>
        </p:nvSpPr>
        <p:spPr>
          <a:xfrm>
            <a:off x="777240" y="1207008"/>
            <a:ext cx="4572000" cy="2557144"/>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557144"/>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0233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A wider key reversal bar makes downside follow-through:</a:t>
            </a:r>
          </a:p>
        </p:txBody>
      </p:sp>
      <p:sp>
        <p:nvSpPr>
          <p:cNvPr id="9" name="TextBox 8"/>
          <p:cNvSpPr txBox="1"/>
          <p:nvPr/>
        </p:nvSpPr>
        <p:spPr>
          <a:xfrm>
            <a:off x="1097280" y="2069338"/>
            <a:ext cx="4023360" cy="1694814"/>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Potentially more reliable</a:t>
            </a:r>
          </a:p>
          <a:p>
            <a:pPr algn="l">
              <a:lnSpc>
                <a:spcPct val="115000"/>
              </a:lnSpc>
              <a:spcBef>
                <a:spcPts val="500"/>
              </a:spcBef>
              <a:spcAft>
                <a:spcPts val="0"/>
              </a:spcAft>
            </a:pPr>
            <a:r>
              <a:rPr sz="1700" b="0" i="0">
                <a:solidFill>
                  <a:srgbClr val="1A1A1A"/>
                </a:solidFill>
                <a:latin typeface="Arial"/>
              </a:rPr>
              <a:t>The book says a wider bar makes follow-through potentially more reliable.</a:t>
            </a:r>
          </a:p>
        </p:txBody>
      </p:sp>
      <p:sp>
        <p:nvSpPr>
          <p:cNvPr id="10" name="Rectangle 9"/>
          <p:cNvSpPr/>
          <p:nvPr/>
        </p:nvSpPr>
        <p:spPr>
          <a:xfrm>
            <a:off x="777240" y="3947033"/>
            <a:ext cx="4572000" cy="176847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947033"/>
            <a:ext cx="91440" cy="176847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4129913"/>
            <a:ext cx="402336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The bullish converse is read in a:</a:t>
            </a:r>
          </a:p>
        </p:txBody>
      </p:sp>
      <p:sp>
        <p:nvSpPr>
          <p:cNvPr id="13" name="TextBox 12"/>
          <p:cNvSpPr txBox="1"/>
          <p:nvPr/>
        </p:nvSpPr>
        <p:spPr>
          <a:xfrm>
            <a:off x="1097280" y="4561078"/>
            <a:ext cx="402336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Downtrend</a:t>
            </a:r>
          </a:p>
          <a:p>
            <a:pPr algn="l">
              <a:lnSpc>
                <a:spcPct val="115000"/>
              </a:lnSpc>
              <a:spcBef>
                <a:spcPts val="500"/>
              </a:spcBef>
              <a:spcAft>
                <a:spcPts val="0"/>
              </a:spcAft>
            </a:pPr>
            <a:r>
              <a:rPr sz="1700" b="0" i="0">
                <a:solidFill>
                  <a:srgbClr val="1A1A1A"/>
                </a:solidFill>
                <a:latin typeface="Arial"/>
              </a:rPr>
              <a:t>The bullish key reversal is the converse in a downtrend.</a:t>
            </a:r>
          </a:p>
        </p:txBody>
      </p:sp>
      <p:sp>
        <p:nvSpPr>
          <p:cNvPr id="14" name="Rectangle 13"/>
          <p:cNvSpPr/>
          <p:nvPr/>
        </p:nvSpPr>
        <p:spPr>
          <a:xfrm>
            <a:off x="5669279" y="1207008"/>
            <a:ext cx="5745175" cy="3694106"/>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788151" y="1325880"/>
            <a:ext cx="5507431" cy="3456362"/>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788151" y="1325880"/>
            <a:ext cx="55074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062471" y="1600200"/>
            <a:ext cx="4958791" cy="299916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its surrounding bars. The marked bar opens above the previous high, forms a new high, and closes below the previous close.</a:t>
            </a:r>
          </a:p>
        </p:txBody>
      </p:sp>
      <p:sp>
        <p:nvSpPr>
          <p:cNvPr id="18" name="Oval 17"/>
          <p:cNvSpPr/>
          <p:nvPr/>
        </p:nvSpPr>
        <p:spPr>
          <a:xfrm>
            <a:off x="8760416" y="1881634"/>
            <a:ext cx="196693" cy="171001"/>
          </a:xfrm>
          <a:prstGeom prst="ellipse">
            <a:avLst/>
          </a:prstGeom>
          <a:noFill/>
          <a:ln w="44450">
            <a:solidFill>
              <a:srgbClr val="E09B00"/>
            </a:solidFill>
          </a:ln>
        </p:spPr>
        <p:txBody>
          <a:bodyPr rtlCol="0" anchor="ctr"/>
          <a:lstStyle/>
          <a:p>
            <a:pPr algn="ctr"/>
          </a:p>
        </p:txBody>
      </p:sp>
      <p:sp>
        <p:nvSpPr>
          <p:cNvPr id="19" name="Oval 18"/>
          <p:cNvSpPr/>
          <p:nvPr/>
        </p:nvSpPr>
        <p:spPr>
          <a:xfrm>
            <a:off x="8847835" y="1721320"/>
            <a:ext cx="218548" cy="171001"/>
          </a:xfrm>
          <a:prstGeom prst="ellipse">
            <a:avLst/>
          </a:prstGeom>
          <a:noFill/>
          <a:ln w="44450">
            <a:solidFill>
              <a:srgbClr val="C62828"/>
            </a:solidFill>
          </a:ln>
        </p:spPr>
        <p:txBody>
          <a:bodyPr rtlCol="0" anchor="ctr"/>
          <a:lstStyle/>
          <a:p>
            <a:pPr algn="ctr"/>
          </a:p>
        </p:txBody>
      </p:sp>
      <p:sp>
        <p:nvSpPr>
          <p:cNvPr id="20" name="Oval 19"/>
          <p:cNvSpPr/>
          <p:nvPr/>
        </p:nvSpPr>
        <p:spPr>
          <a:xfrm>
            <a:off x="8891545" y="2116760"/>
            <a:ext cx="218548" cy="171001"/>
          </a:xfrm>
          <a:prstGeom prst="ellipse">
            <a:avLst/>
          </a:prstGeom>
          <a:noFill/>
          <a:ln w="44450">
            <a:solidFill>
              <a:srgbClr val="1F5FAD"/>
            </a:solidFill>
          </a:ln>
        </p:spPr>
        <p:txBody>
          <a:bodyPr rtlCol="0" anchor="ctr"/>
          <a:lstStyle/>
          <a:p>
            <a:pPr algn="ctr"/>
          </a:p>
        </p:txBody>
      </p:sp>
      <p:sp>
        <p:nvSpPr>
          <p:cNvPr id="21" name="Oval 20"/>
          <p:cNvSpPr/>
          <p:nvPr/>
        </p:nvSpPr>
        <p:spPr>
          <a:xfrm>
            <a:off x="8836908" y="4403902"/>
            <a:ext cx="240403" cy="256501"/>
          </a:xfrm>
          <a:prstGeom prst="ellipse">
            <a:avLst/>
          </a:prstGeom>
          <a:noFill/>
          <a:ln w="44450">
            <a:solidFill>
              <a:srgbClr val="7B3FA0"/>
            </a:solidFill>
          </a:ln>
        </p:spPr>
        <p:txBody>
          <a:bodyPr rtlCol="0" anchor="ctr"/>
          <a:lstStyle/>
          <a:p>
            <a:pPr algn="ctr"/>
          </a:p>
        </p:txBody>
      </p:sp>
      <p:sp>
        <p:nvSpPr>
          <p:cNvPr id="22" name="Oval 21"/>
          <p:cNvSpPr/>
          <p:nvPr/>
        </p:nvSpPr>
        <p:spPr>
          <a:xfrm>
            <a:off x="8321990" y="1838297"/>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203179" y="1561788"/>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9258254" y="2114806"/>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8652436" y="3981242"/>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5669279" y="4992554"/>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7.15 -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17</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key reversal can warn early without starting an immediate fall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6 of 62</a:t>
            </a:r>
          </a:p>
        </p:txBody>
      </p:sp>
      <p:sp>
        <p:nvSpPr>
          <p:cNvPr id="7" name="TextBox 6"/>
          <p:cNvSpPr txBox="1"/>
          <p:nvPr/>
        </p:nvSpPr>
        <p:spPr>
          <a:xfrm>
            <a:off x="777240" y="1965960"/>
            <a:ext cx="62179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A key reversal is a warning about changing pressure, not a promise that price will fall at once.</a:t>
            </a:r>
          </a:p>
          <a:p>
            <a:pPr algn="l">
              <a:lnSpc>
                <a:spcPct val="105000"/>
              </a:lnSpc>
              <a:spcBef>
                <a:spcPts val="0"/>
              </a:spcBef>
              <a:spcAft>
                <a:spcPts val="1100"/>
              </a:spcAft>
            </a:pPr>
            <a:r>
              <a:rPr sz="1800" b="0" i="0">
                <a:solidFill>
                  <a:srgbClr val="1A1A1A"/>
                </a:solidFill>
                <a:latin typeface="Arial"/>
              </a:rPr>
              <a:t>Lim's Figure 7.15 shows the market hovering near the key bar </a:t>
            </a:r>
            <a:r>
              <a:rPr sz="1800" b="1" i="0">
                <a:solidFill>
                  <a:srgbClr val="E09B00"/>
                </a:solidFill>
                <a:latin typeface="Arial"/>
              </a:rPr>
              <a:t>(1)</a:t>
            </a:r>
            <a:r>
              <a:rPr sz="1800" b="0" i="0">
                <a:solidFill>
                  <a:srgbClr val="1A1A1A"/>
                </a:solidFill>
                <a:latin typeface="Arial"/>
              </a:rPr>
              <a:t> before the later decline </a:t>
            </a:r>
            <a:r>
              <a:rPr sz="1800" b="1" i="0">
                <a:solidFill>
                  <a:srgbClr val="C62828"/>
                </a:solidFill>
                <a:latin typeface="Arial"/>
              </a:rPr>
              <a:t>(2)</a:t>
            </a:r>
            <a:r>
              <a:rPr sz="1800" b="0" i="0">
                <a:solidFill>
                  <a:srgbClr val="1A1A1A"/>
                </a:solidFill>
                <a:latin typeface="Arial"/>
              </a:rPr>
              <a:t> (p. 219).</a:t>
            </a:r>
          </a:p>
          <a:p>
            <a:pPr algn="l">
              <a:lnSpc>
                <a:spcPct val="105000"/>
              </a:lnSpc>
              <a:spcBef>
                <a:spcPts val="0"/>
              </a:spcBef>
              <a:spcAft>
                <a:spcPts val="1100"/>
              </a:spcAft>
            </a:pPr>
            <a:r>
              <a:rPr sz="1800" b="0" i="0">
                <a:solidFill>
                  <a:srgbClr val="1A1A1A"/>
                </a:solidFill>
                <a:latin typeface="Arial"/>
              </a:rPr>
              <a:t>Read the pattern first, then wait for the surrounding context rather than assuming the timing of the move.</a:t>
            </a:r>
          </a:p>
        </p:txBody>
      </p:sp>
      <p:sp>
        <p:nvSpPr>
          <p:cNvPr id="8" name="Rectangle 7"/>
          <p:cNvSpPr/>
          <p:nvPr/>
        </p:nvSpPr>
        <p:spPr>
          <a:xfrm>
            <a:off x="777240" y="4389120"/>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25696"/>
            <a:ext cx="592531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A wide bar may make follow-through more reliable, but it does not guarantee it.</a:t>
            </a:r>
          </a:p>
        </p:txBody>
      </p:sp>
      <p:sp>
        <p:nvSpPr>
          <p:cNvPr id="10" name="Rectangle 9"/>
          <p:cNvSpPr/>
          <p:nvPr/>
        </p:nvSpPr>
        <p:spPr>
          <a:xfrm>
            <a:off x="7315199" y="1810512"/>
            <a:ext cx="4099255" cy="32927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434071" y="1929384"/>
            <a:ext cx="3861511" cy="3055055"/>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434071" y="1929384"/>
            <a:ext cx="386151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708392" y="2203703"/>
            <a:ext cx="3312871" cy="25978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the later consolidation and decline.</a:t>
            </a:r>
          </a:p>
        </p:txBody>
      </p:sp>
      <p:sp>
        <p:nvSpPr>
          <p:cNvPr id="14" name="Rectangle 13"/>
          <p:cNvSpPr/>
          <p:nvPr/>
        </p:nvSpPr>
        <p:spPr>
          <a:xfrm>
            <a:off x="9326212" y="2357091"/>
            <a:ext cx="424766" cy="458258"/>
          </a:xfrm>
          <a:prstGeom prst="rect">
            <a:avLst/>
          </a:prstGeom>
          <a:noFill/>
          <a:ln w="44450">
            <a:solidFill>
              <a:srgbClr val="E09B00"/>
            </a:solidFill>
          </a:ln>
        </p:spPr>
        <p:txBody>
          <a:bodyPr rtlCol="0" anchor="ctr"/>
          <a:lstStyle/>
          <a:p>
            <a:pPr algn="ctr"/>
          </a:p>
        </p:txBody>
      </p:sp>
      <p:sp>
        <p:nvSpPr>
          <p:cNvPr id="15" name="Rectangle 14"/>
          <p:cNvSpPr/>
          <p:nvPr/>
        </p:nvSpPr>
        <p:spPr>
          <a:xfrm>
            <a:off x="9944054" y="2418192"/>
            <a:ext cx="424766" cy="794314"/>
          </a:xfrm>
          <a:prstGeom prst="rect">
            <a:avLst/>
          </a:prstGeom>
          <a:noFill/>
          <a:ln w="44450">
            <a:solidFill>
              <a:srgbClr val="C62828"/>
            </a:solidFill>
          </a:ln>
        </p:spPr>
        <p:txBody>
          <a:bodyPr rtlCol="0" anchor="ctr"/>
          <a:lstStyle/>
          <a:p>
            <a:pPr algn="ctr"/>
          </a:p>
        </p:txBody>
      </p:sp>
      <p:sp>
        <p:nvSpPr>
          <p:cNvPr id="16" name="Oval 15"/>
          <p:cNvSpPr/>
          <p:nvPr/>
        </p:nvSpPr>
        <p:spPr>
          <a:xfrm>
            <a:off x="9005120" y="210687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10433879" y="317614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7315199" y="5194751"/>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7.15 -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219, Figure 7.15. The PHP path is ours, invented to show consolidation.</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7.14 shows what happened after the bullish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7 of 62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pattern has already been defined. Figure 7.14 adds a later observation: the high-volume reversal bar </a:t>
            </a:r>
            <a:r>
              <a:rPr sz="2000" b="1" i="0">
                <a:solidFill>
                  <a:srgbClr val="1F5FAD"/>
                </a:solidFill>
                <a:latin typeface="Arial"/>
              </a:rPr>
              <a:t>(3)</a:t>
            </a:r>
            <a:r>
              <a:rPr sz="2000" b="0" i="0">
                <a:solidFill>
                  <a:srgbClr val="1A1A1A"/>
                </a:solidFill>
                <a:latin typeface="Arial"/>
              </a:rPr>
              <a:t> is followed by a rapid rebound.</a:t>
            </a:r>
          </a:p>
          <a:p>
            <a:pPr algn="l">
              <a:lnSpc>
                <a:spcPct val="105000"/>
              </a:lnSpc>
              <a:spcBef>
                <a:spcPts val="0"/>
              </a:spcBef>
              <a:spcAft>
                <a:spcPts val="1100"/>
              </a:spcAft>
            </a:pPr>
            <a:r>
              <a:rPr sz="2000" b="0" i="0">
                <a:solidFill>
                  <a:srgbClr val="1A1A1A"/>
                </a:solidFill>
                <a:latin typeface="Arial"/>
              </a:rPr>
              <a:t>Lim presents that rebound as this chart's outcome, not a promise for every bullish key reversal (p. 218).</a:t>
            </a:r>
          </a:p>
          <a:p>
            <a:pPr algn="l">
              <a:lnSpc>
                <a:spcPct val="105000"/>
              </a:lnSpc>
              <a:spcBef>
                <a:spcPts val="0"/>
              </a:spcBef>
              <a:spcAft>
                <a:spcPts val="1100"/>
              </a:spcAft>
            </a:pPr>
            <a:r>
              <a:rPr sz="2000" b="0" i="0">
                <a:solidFill>
                  <a:srgbClr val="1A1A1A"/>
                </a:solidFill>
                <a:latin typeface="Arial"/>
              </a:rPr>
              <a:t>A reversal warns about changing pressure; timing belongs to later price action.</a:t>
            </a:r>
          </a:p>
        </p:txBody>
      </p:sp>
      <p:sp>
        <p:nvSpPr>
          <p:cNvPr id="8" name="Rectangle 7"/>
          <p:cNvSpPr/>
          <p:nvPr/>
        </p:nvSpPr>
        <p:spPr>
          <a:xfrm>
            <a:off x="6400799" y="1810512"/>
            <a:ext cx="5013655" cy="3071950"/>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519671" y="1929384"/>
            <a:ext cx="4775911" cy="283420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519671" y="1929384"/>
            <a:ext cx="477591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793991" y="2203703"/>
            <a:ext cx="4227271" cy="237700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7.14</a:t>
            </a:r>
          </a:p>
          <a:p>
            <a:pPr algn="l">
              <a:lnSpc>
                <a:spcPct val="115000"/>
              </a:lnSpc>
              <a:spcBef>
                <a:spcPts val="0"/>
              </a:spcBef>
              <a:spcAft>
                <a:spcPts val="0"/>
              </a:spcAft>
            </a:pPr>
            <a:r>
              <a:rPr sz="1500" b="0" i="0">
                <a:solidFill>
                  <a:srgbClr val="1A1A1A"/>
                </a:solidFill>
                <a:latin typeface="Palatino"/>
              </a:rPr>
              <a:t>Apple daily chart. The marked bar makes a new low, closes above the previous close, and is followed by a rapid rebound on high volume.</a:t>
            </a:r>
          </a:p>
        </p:txBody>
      </p:sp>
      <p:sp>
        <p:nvSpPr>
          <p:cNvPr id="12" name="Oval 11"/>
          <p:cNvSpPr/>
          <p:nvPr/>
        </p:nvSpPr>
        <p:spPr>
          <a:xfrm>
            <a:off x="8583547" y="3810266"/>
            <a:ext cx="170568" cy="171770"/>
          </a:xfrm>
          <a:prstGeom prst="ellipse">
            <a:avLst/>
          </a:prstGeom>
          <a:noFill/>
          <a:ln w="44450">
            <a:solidFill>
              <a:srgbClr val="E09B00"/>
            </a:solidFill>
          </a:ln>
        </p:spPr>
        <p:txBody>
          <a:bodyPr rtlCol="0" anchor="ctr"/>
          <a:lstStyle/>
          <a:p>
            <a:pPr algn="ctr"/>
          </a:p>
        </p:txBody>
      </p:sp>
      <p:sp>
        <p:nvSpPr>
          <p:cNvPr id="13" name="Oval 12"/>
          <p:cNvSpPr/>
          <p:nvPr/>
        </p:nvSpPr>
        <p:spPr>
          <a:xfrm>
            <a:off x="8634718" y="3707204"/>
            <a:ext cx="170568" cy="137416"/>
          </a:xfrm>
          <a:prstGeom prst="ellipse">
            <a:avLst/>
          </a:prstGeom>
          <a:noFill/>
          <a:ln w="44450">
            <a:solidFill>
              <a:srgbClr val="C62828"/>
            </a:solidFill>
          </a:ln>
        </p:spPr>
        <p:txBody>
          <a:bodyPr rtlCol="0" anchor="ctr"/>
          <a:lstStyle/>
          <a:p>
            <a:pPr algn="ctr"/>
          </a:p>
        </p:txBody>
      </p:sp>
      <p:sp>
        <p:nvSpPr>
          <p:cNvPr id="14" name="Oval 13"/>
          <p:cNvSpPr/>
          <p:nvPr/>
        </p:nvSpPr>
        <p:spPr>
          <a:xfrm>
            <a:off x="8566490" y="4188160"/>
            <a:ext cx="204681" cy="377894"/>
          </a:xfrm>
          <a:prstGeom prst="ellipse">
            <a:avLst/>
          </a:prstGeom>
          <a:noFill/>
          <a:ln w="44450">
            <a:solidFill>
              <a:srgbClr val="1F5FAD"/>
            </a:solidFill>
          </a:ln>
        </p:spPr>
        <p:txBody>
          <a:bodyPr rtlCol="0" anchor="ctr"/>
          <a:lstStyle/>
          <a:p>
            <a:pPr algn="ctr"/>
          </a:p>
        </p:txBody>
      </p:sp>
      <p:sp>
        <p:nvSpPr>
          <p:cNvPr id="15" name="Oval 14"/>
          <p:cNvSpPr/>
          <p:nvPr/>
        </p:nvSpPr>
        <p:spPr>
          <a:xfrm>
            <a:off x="8368067" y="3860284"/>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893417" y="3435153"/>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893417" y="4313757"/>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400799" y="497390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218, Figure 7.14. The figure shows the book's bullish converse.</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7.16: context can strengthen the warning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8 of 62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The price pattern sits below the lower Bollinger band </a:t>
            </a:r>
            <a:r>
              <a:rPr sz="1800" b="1" i="0">
                <a:solidFill>
                  <a:srgbClr val="E09B00"/>
                </a:solidFill>
                <a:latin typeface="Arial"/>
              </a:rPr>
              <a:t>(1)</a:t>
            </a:r>
            <a:r>
              <a:rPr sz="1800" b="0" i="0">
                <a:solidFill>
                  <a:srgbClr val="1A1A1A"/>
                </a:solidFill>
                <a:latin typeface="Arial"/>
              </a:rPr>
              <a:t>, with StochRSI oversold </a:t>
            </a:r>
            <a:r>
              <a:rPr sz="1800" b="1" i="0">
                <a:solidFill>
                  <a:srgbClr val="C62828"/>
                </a:solidFill>
                <a:latin typeface="Arial"/>
              </a:rPr>
              <a:t>(2)</a:t>
            </a:r>
            <a:r>
              <a:rPr sz="1800" b="0" i="0">
                <a:solidFill>
                  <a:srgbClr val="1A1A1A"/>
                </a:solidFill>
                <a:latin typeface="Arial"/>
              </a:rPr>
              <a:t>.</a:t>
            </a:r>
          </a:p>
          <a:p>
            <a:pPr algn="l">
              <a:lnSpc>
                <a:spcPct val="105000"/>
              </a:lnSpc>
              <a:spcBef>
                <a:spcPts val="0"/>
              </a:spcBef>
              <a:spcAft>
                <a:spcPts val="1100"/>
              </a:spcAft>
            </a:pPr>
            <a:r>
              <a:rPr sz="1800" b="0" i="0">
                <a:solidFill>
                  <a:srgbClr val="1A1A1A"/>
                </a:solidFill>
                <a:latin typeface="Arial"/>
              </a:rPr>
              <a:t>It closes near its high and shows extreme volume </a:t>
            </a:r>
            <a:r>
              <a:rPr sz="1800" b="1" i="0">
                <a:solidFill>
                  <a:srgbClr val="1F5FAD"/>
                </a:solidFill>
                <a:latin typeface="Arial"/>
              </a:rPr>
              <a:t>(3)</a:t>
            </a:r>
            <a:r>
              <a:rPr sz="1800" b="0" i="0">
                <a:solidFill>
                  <a:srgbClr val="1A1A1A"/>
                </a:solidFill>
                <a:latin typeface="Arial"/>
              </a:rPr>
              <a:t>, which Lim calls a possible selling climax (p. 220).</a:t>
            </a:r>
          </a:p>
          <a:p>
            <a:pPr algn="l">
              <a:lnSpc>
                <a:spcPct val="105000"/>
              </a:lnSpc>
              <a:spcBef>
                <a:spcPts val="0"/>
              </a:spcBef>
              <a:spcAft>
                <a:spcPts val="1100"/>
              </a:spcAft>
            </a:pPr>
            <a:r>
              <a:rPr sz="1800" b="0" i="0">
                <a:solidFill>
                  <a:srgbClr val="1A1A1A"/>
                </a:solidFill>
                <a:latin typeface="Arial"/>
              </a:rPr>
              <a:t>The book gives no formulas here. These labels are context, not a promise.</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501091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Use the labels as context, not as a promise of a reversal.</a:t>
            </a:r>
          </a:p>
        </p:txBody>
      </p:sp>
      <p:sp>
        <p:nvSpPr>
          <p:cNvPr id="10" name="Rectangle 9"/>
          <p:cNvSpPr/>
          <p:nvPr/>
        </p:nvSpPr>
        <p:spPr>
          <a:xfrm>
            <a:off x="7289880" y="1810512"/>
            <a:ext cx="3875573"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408752" y="1929384"/>
            <a:ext cx="3637829"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408752" y="1929384"/>
            <a:ext cx="3637829"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683072" y="2203703"/>
            <a:ext cx="3089189"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7.16</a:t>
            </a:r>
          </a:p>
          <a:p>
            <a:pPr algn="l">
              <a:lnSpc>
                <a:spcPct val="115000"/>
              </a:lnSpc>
              <a:spcBef>
                <a:spcPts val="0"/>
              </a:spcBef>
              <a:spcAft>
                <a:spcPts val="0"/>
              </a:spcAft>
            </a:pPr>
            <a:r>
              <a:rPr sz="1500" b="0" i="0">
                <a:solidFill>
                  <a:srgbClr val="1A1A1A"/>
                </a:solidFill>
                <a:latin typeface="Palatino"/>
              </a:rPr>
              <a:t>The ITC Holdings daily chart: a bullish key reversal below the lower volatility band, an oversold StochRSI label, and high volume under the reversal bar.</a:t>
            </a:r>
          </a:p>
        </p:txBody>
      </p:sp>
      <p:sp>
        <p:nvSpPr>
          <p:cNvPr id="14" name="Oval 13"/>
          <p:cNvSpPr/>
          <p:nvPr/>
        </p:nvSpPr>
        <p:spPr>
          <a:xfrm>
            <a:off x="8863884" y="3439241"/>
            <a:ext cx="472917" cy="877824"/>
          </a:xfrm>
          <a:prstGeom prst="ellipse">
            <a:avLst/>
          </a:prstGeom>
          <a:noFill/>
          <a:ln w="44450">
            <a:solidFill>
              <a:srgbClr val="E09B00"/>
            </a:solidFill>
          </a:ln>
        </p:spPr>
        <p:txBody>
          <a:bodyPr rtlCol="0" anchor="ctr"/>
          <a:lstStyle/>
          <a:p>
            <a:pPr algn="ctr"/>
          </a:p>
        </p:txBody>
      </p:sp>
      <p:sp>
        <p:nvSpPr>
          <p:cNvPr id="15" name="Oval 14"/>
          <p:cNvSpPr/>
          <p:nvPr/>
        </p:nvSpPr>
        <p:spPr>
          <a:xfrm>
            <a:off x="9009397" y="4387291"/>
            <a:ext cx="363782" cy="561807"/>
          </a:xfrm>
          <a:prstGeom prst="ellipse">
            <a:avLst/>
          </a:prstGeom>
          <a:noFill/>
          <a:ln w="44450">
            <a:solidFill>
              <a:srgbClr val="C62828"/>
            </a:solidFill>
          </a:ln>
        </p:spPr>
        <p:txBody>
          <a:bodyPr rtlCol="0" anchor="ctr"/>
          <a:lstStyle/>
          <a:p>
            <a:pPr algn="ctr"/>
          </a:p>
        </p:txBody>
      </p:sp>
      <p:cxnSp>
        <p:nvCxnSpPr>
          <p:cNvPr id="16" name="Connector 15"/>
          <p:cNvCxnSpPr/>
          <p:nvPr/>
        </p:nvCxnSpPr>
        <p:spPr>
          <a:xfrm>
            <a:off x="9118532" y="3439241"/>
            <a:ext cx="72757" cy="1615196"/>
          </a:xfrm>
          <a:prstGeom prst="line">
            <a:avLst/>
          </a:prstGeom>
          <a:ln w="44450">
            <a:solidFill>
              <a:srgbClr val="1F5FAD"/>
            </a:solidFill>
          </a:ln>
        </p:spPr>
      </p:cxnSp>
      <p:sp>
        <p:nvSpPr>
          <p:cNvPr id="17" name="Oval 16"/>
          <p:cNvSpPr/>
          <p:nvPr/>
        </p:nvSpPr>
        <p:spPr>
          <a:xfrm>
            <a:off x="8508454" y="3337194"/>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8508454" y="4355470"/>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9581713" y="3566159"/>
            <a:ext cx="237744" cy="237744"/>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400799" y="5650991"/>
            <a:ext cx="56537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7.16 -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220, Figure 7.16. Bollinger Bands and StochRSI are shown by the book but not defined here.</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two-day reversal compares the two closing positions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 bearish two-day reversal uses two closing positions: first near the high, second near the low. With simple invented prices, the first closes at PHP 51.80 near its high </a:t>
            </a:r>
            <a:r>
              <a:rPr sz="1700" b="1" i="0">
                <a:solidFill>
                  <a:srgbClr val="E09B00"/>
                </a:solidFill>
                <a:latin typeface="Arial"/>
              </a:rPr>
              <a:t>(1)</a:t>
            </a:r>
            <a:r>
              <a:rPr sz="1700" b="0" i="0">
                <a:solidFill>
                  <a:srgbClr val="1A1A1A"/>
                </a:solidFill>
                <a:latin typeface="Arial"/>
              </a:rPr>
              <a:t>, and the second at PHP 49.60 near its low </a:t>
            </a:r>
            <a:r>
              <a:rPr sz="1700" b="1" i="0">
                <a:solidFill>
                  <a:srgbClr val="C62828"/>
                </a:solidFill>
                <a:latin typeface="Arial"/>
              </a:rPr>
              <a:t>(2)</a:t>
            </a:r>
            <a:r>
              <a:rPr sz="1700" b="0" i="0">
                <a:solidFill>
                  <a:srgbClr val="1A1A1A"/>
                </a:solidFill>
                <a:latin typeface="Arial"/>
              </a:rPr>
              <a:t>. Lim prefers wider ranges for both bars. The pair is a potential warning, not a guarantee (p. 220).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l-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2927908" y="3509695"/>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10035539" y="4245216"/>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2999584" y="335291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10107215" y="40884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9 of 62</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7.17: the book adds CCI divergence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10 of 62</a:t>
            </a:r>
          </a:p>
        </p:txBody>
      </p:sp>
      <p:sp>
        <p:nvSpPr>
          <p:cNvPr id="7" name="TextBox 6"/>
          <p:cNvSpPr txBox="1"/>
          <p:nvPr/>
        </p:nvSpPr>
        <p:spPr>
          <a:xfrm>
            <a:off x="777240" y="1965960"/>
            <a:ext cx="52120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Mark 1 is the first close near its high; mark 2 is the second close near its low.</a:t>
            </a:r>
          </a:p>
          <a:p>
            <a:pPr algn="l">
              <a:lnSpc>
                <a:spcPct val="105000"/>
              </a:lnSpc>
              <a:spcBef>
                <a:spcPts val="0"/>
              </a:spcBef>
              <a:spcAft>
                <a:spcPts val="1100"/>
              </a:spcAft>
            </a:pPr>
            <a:r>
              <a:rPr sz="1800" b="0" i="0">
                <a:solidFill>
                  <a:srgbClr val="1A1A1A"/>
                </a:solidFill>
                <a:latin typeface="Arial"/>
              </a:rPr>
              <a:t>The book says wider ranges would be preferable and labels bearish CCI divergence </a:t>
            </a:r>
            <a:r>
              <a:rPr sz="1800" b="1" i="0">
                <a:solidFill>
                  <a:srgbClr val="1F5FAD"/>
                </a:solidFill>
                <a:latin typeface="Arial"/>
              </a:rPr>
              <a:t>(3)</a:t>
            </a:r>
            <a:r>
              <a:rPr sz="1800" b="0" i="0">
                <a:solidFill>
                  <a:srgbClr val="1A1A1A"/>
                </a:solidFill>
                <a:latin typeface="Arial"/>
              </a:rPr>
              <a:t>.</a:t>
            </a:r>
          </a:p>
          <a:p>
            <a:pPr algn="l">
              <a:lnSpc>
                <a:spcPct val="105000"/>
              </a:lnSpc>
              <a:spcBef>
                <a:spcPts val="0"/>
              </a:spcBef>
              <a:spcAft>
                <a:spcPts val="1100"/>
              </a:spcAft>
            </a:pPr>
            <a:r>
              <a:rPr sz="1800" b="0" i="0">
                <a:solidFill>
                  <a:srgbClr val="1A1A1A"/>
                </a:solidFill>
                <a:latin typeface="Arial"/>
              </a:rPr>
              <a:t>CCI is not defined in Chapter 7. Treat it as the book's supporting label, not a formula to calculate.</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91947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close sequence is the pattern; CCI is context shown by the figure.</a:t>
            </a:r>
          </a:p>
        </p:txBody>
      </p:sp>
      <p:sp>
        <p:nvSpPr>
          <p:cNvPr id="10" name="Rectangle 9"/>
          <p:cNvSpPr/>
          <p:nvPr/>
        </p:nvSpPr>
        <p:spPr>
          <a:xfrm>
            <a:off x="6595168" y="1810512"/>
            <a:ext cx="4533478"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14040" y="1929384"/>
            <a:ext cx="4295734"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14040" y="1929384"/>
            <a:ext cx="429573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88360" y="2203703"/>
            <a:ext cx="3747094"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7.17</a:t>
            </a:r>
          </a:p>
          <a:p>
            <a:pPr algn="l">
              <a:lnSpc>
                <a:spcPct val="115000"/>
              </a:lnSpc>
              <a:spcBef>
                <a:spcPts val="0"/>
              </a:spcBef>
              <a:spcAft>
                <a:spcPts val="0"/>
              </a:spcAft>
            </a:pPr>
            <a:r>
              <a:rPr sz="1500" b="0" i="0">
                <a:solidFill>
                  <a:srgbClr val="1A1A1A"/>
                </a:solidFill>
                <a:latin typeface="Palatino"/>
              </a:rPr>
              <a:t>The TSX Composite daily chart: the first bar closes near its high, the second near its low, and the lower panel labels bearish CCI divergence.</a:t>
            </a:r>
          </a:p>
        </p:txBody>
      </p:sp>
      <p:sp>
        <p:nvSpPr>
          <p:cNvPr id="14" name="Oval 13"/>
          <p:cNvSpPr/>
          <p:nvPr/>
        </p:nvSpPr>
        <p:spPr>
          <a:xfrm>
            <a:off x="8990779" y="2631643"/>
            <a:ext cx="343658" cy="421355"/>
          </a:xfrm>
          <a:prstGeom prst="ellipse">
            <a:avLst/>
          </a:prstGeom>
          <a:noFill/>
          <a:ln w="44450">
            <a:solidFill>
              <a:srgbClr val="E09B00"/>
            </a:solidFill>
          </a:ln>
        </p:spPr>
        <p:txBody>
          <a:bodyPr rtlCol="0" anchor="ctr"/>
          <a:lstStyle/>
          <a:p>
            <a:pPr algn="ctr"/>
          </a:p>
        </p:txBody>
      </p:sp>
      <p:sp>
        <p:nvSpPr>
          <p:cNvPr id="15" name="Oval 14"/>
          <p:cNvSpPr/>
          <p:nvPr/>
        </p:nvSpPr>
        <p:spPr>
          <a:xfrm>
            <a:off x="9377395" y="2561417"/>
            <a:ext cx="343658" cy="456468"/>
          </a:xfrm>
          <a:prstGeom prst="ellipse">
            <a:avLst/>
          </a:prstGeom>
          <a:noFill/>
          <a:ln w="44450">
            <a:solidFill>
              <a:srgbClr val="C62828"/>
            </a:solidFill>
          </a:ln>
        </p:spPr>
        <p:txBody>
          <a:bodyPr rtlCol="0" anchor="ctr"/>
          <a:lstStyle/>
          <a:p>
            <a:pPr algn="ctr"/>
          </a:p>
        </p:txBody>
      </p:sp>
      <p:sp>
        <p:nvSpPr>
          <p:cNvPr id="16" name="Oval 15"/>
          <p:cNvSpPr/>
          <p:nvPr/>
        </p:nvSpPr>
        <p:spPr>
          <a:xfrm>
            <a:off x="8518248" y="4387291"/>
            <a:ext cx="988018" cy="737372"/>
          </a:xfrm>
          <a:prstGeom prst="ellipse">
            <a:avLst/>
          </a:prstGeom>
          <a:noFill/>
          <a:ln w="44450">
            <a:solidFill>
              <a:srgbClr val="1F5FAD"/>
            </a:solidFill>
          </a:ln>
        </p:spPr>
        <p:txBody>
          <a:bodyPr rtlCol="0" anchor="ctr"/>
          <a:lstStyle/>
          <a:p>
            <a:pPr algn="ctr"/>
          </a:p>
        </p:txBody>
      </p:sp>
      <p:sp>
        <p:nvSpPr>
          <p:cNvPr id="17" name="Oval 16"/>
          <p:cNvSpPr/>
          <p:nvPr/>
        </p:nvSpPr>
        <p:spPr>
          <a:xfrm>
            <a:off x="8509960" y="2354031"/>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9927553" y="2424257"/>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9583894" y="4531034"/>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309359" y="5650991"/>
            <a:ext cx="51050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7.17 -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220, Figure 7.17. The CCI label is reproduced as the book's observation, not taught as a formula.</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bullish three-bar reversal can show uncertainty in the middle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 bullish three-bar reversal uses three bars, and the middle bar can show uncertainty between stronger outer bars. With simple invented values, volume is 4.0m on the first bar </a:t>
            </a:r>
            <a:r>
              <a:rPr sz="1700" b="1" i="0">
                <a:solidFill>
                  <a:srgbClr val="E09B00"/>
                </a:solidFill>
                <a:latin typeface="Arial"/>
              </a:rPr>
              <a:t>(1)</a:t>
            </a:r>
            <a:r>
              <a:rPr sz="1700" b="0" i="0">
                <a:solidFill>
                  <a:srgbClr val="1A1A1A"/>
                </a:solidFill>
                <a:latin typeface="Arial"/>
              </a:rPr>
              <a:t>, 0.6m on the middle </a:t>
            </a:r>
            <a:r>
              <a:rPr sz="1700" b="1" i="0">
                <a:solidFill>
                  <a:srgbClr val="C62828"/>
                </a:solidFill>
                <a:latin typeface="Arial"/>
              </a:rPr>
              <a:t>(2)</a:t>
            </a:r>
            <a:r>
              <a:rPr sz="1700" b="0" i="0">
                <a:solidFill>
                  <a:srgbClr val="1A1A1A"/>
                </a:solidFill>
                <a:latin typeface="Arial"/>
              </a:rPr>
              <a:t>, and 4.2m on the third </a:t>
            </a:r>
            <a:r>
              <a:rPr sz="1700" b="1" i="0">
                <a:solidFill>
                  <a:srgbClr val="1F5FAD"/>
                </a:solidFill>
                <a:latin typeface="Arial"/>
              </a:rPr>
              <a:t>(3)</a:t>
            </a:r>
            <a:r>
              <a:rPr sz="1700" b="0" i="0">
                <a:solidFill>
                  <a:srgbClr val="1A1A1A"/>
                </a:solidFill>
                <a:latin typeface="Arial"/>
              </a:rPr>
              <a:t>. A quiet middle supports the potential reversal reading, but does not guarantee follow-through (Lim, pp. 221 to 223).</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m-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2772460" y="5227407"/>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6326276" y="5301429"/>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880091" y="522305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2860243" y="514328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6615226" y="5217305"/>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967874" y="513892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M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11 of 62</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bearish three-bar reversal changes from a strong close to a weak one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12 of 62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bearish three-bar reversal appears in a clear uptrend when the first bar closes near its high and the third near its low.</a:t>
            </a:r>
          </a:p>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red </a:t>
            </a:r>
            <a:r>
              <a:rPr sz="2000" b="1" i="0">
                <a:solidFill>
                  <a:srgbClr val="C62828"/>
                </a:solidFill>
                <a:latin typeface="Arial"/>
              </a:rPr>
              <a:t>(2)</a:t>
            </a:r>
            <a:r>
              <a:rPr sz="2000" b="0" i="0">
                <a:solidFill>
                  <a:srgbClr val="1A1A1A"/>
                </a:solidFill>
                <a:latin typeface="Arial"/>
              </a:rPr>
              <a:t> and blue </a:t>
            </a:r>
            <a:r>
              <a:rPr sz="2000" b="1" i="0">
                <a:solidFill>
                  <a:srgbClr val="1F5FAD"/>
                </a:solidFill>
                <a:latin typeface="Arial"/>
              </a:rPr>
              <a:t>(3)</a:t>
            </a:r>
            <a:r>
              <a:rPr sz="2000" b="0" i="0">
                <a:solidFill>
                  <a:srgbClr val="1A1A1A"/>
                </a:solidFill>
                <a:latin typeface="Arial"/>
              </a:rPr>
              <a:t> mark the first, middle and third price bars. Purple </a:t>
            </a:r>
            <a:r>
              <a:rPr sz="2000" b="1" i="0">
                <a:solidFill>
                  <a:srgbClr val="7B3FA0"/>
                </a:solidFill>
                <a:latin typeface="Arial"/>
              </a:rPr>
              <a:t>(4)</a:t>
            </a:r>
            <a:r>
              <a:rPr sz="2000" b="0" i="0">
                <a:solidFill>
                  <a:srgbClr val="1A1A1A"/>
                </a:solidFill>
                <a:latin typeface="Arial"/>
              </a:rPr>
              <a:t> marks bearish +DM divergence, a book label not defined here.</a:t>
            </a:r>
          </a:p>
          <a:p>
            <a:pPr algn="l">
              <a:lnSpc>
                <a:spcPct val="105000"/>
              </a:lnSpc>
              <a:spcBef>
                <a:spcPts val="0"/>
              </a:spcBef>
              <a:spcAft>
                <a:spcPts val="1100"/>
              </a:spcAft>
            </a:pPr>
            <a:r>
              <a:rPr sz="2000" b="0" i="0">
                <a:solidFill>
                  <a:srgbClr val="1A1A1A"/>
                </a:solidFill>
                <a:latin typeface="Arial"/>
              </a:rPr>
              <a:t>The pattern can warn of changing pressure; the later decline is not guaranteed (p. 221).</a:t>
            </a:r>
          </a:p>
        </p:txBody>
      </p:sp>
      <p:sp>
        <p:nvSpPr>
          <p:cNvPr id="8" name="Rectangle 7"/>
          <p:cNvSpPr/>
          <p:nvPr/>
        </p:nvSpPr>
        <p:spPr>
          <a:xfrm>
            <a:off x="6559448" y="1810512"/>
            <a:ext cx="5153558"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678320" y="1929384"/>
            <a:ext cx="4915814"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678320" y="1929384"/>
            <a:ext cx="4915814"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952640" y="2203703"/>
            <a:ext cx="4367174"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7.18</a:t>
            </a:r>
          </a:p>
          <a:p>
            <a:pPr algn="l">
              <a:lnSpc>
                <a:spcPct val="115000"/>
              </a:lnSpc>
              <a:spcBef>
                <a:spcPts val="0"/>
              </a:spcBef>
              <a:spcAft>
                <a:spcPts val="0"/>
              </a:spcAft>
            </a:pPr>
            <a:r>
              <a:rPr sz="1500" b="0" i="0">
                <a:solidFill>
                  <a:srgbClr val="1A1A1A"/>
                </a:solidFill>
                <a:latin typeface="Palatino"/>
              </a:rPr>
              <a:t>The Apple daily chart in a clear, strong uptrend: the first of three bars closes near its high, the third near its low, and the lower panel labels bearish +DM divergence.</a:t>
            </a:r>
          </a:p>
        </p:txBody>
      </p:sp>
      <p:sp>
        <p:nvSpPr>
          <p:cNvPr id="12" name="Rectangle 11"/>
          <p:cNvSpPr/>
          <p:nvPr/>
        </p:nvSpPr>
        <p:spPr>
          <a:xfrm>
            <a:off x="10119390" y="2280513"/>
            <a:ext cx="172053" cy="526694"/>
          </a:xfrm>
          <a:prstGeom prst="rect">
            <a:avLst/>
          </a:prstGeom>
          <a:noFill/>
          <a:ln w="44450">
            <a:solidFill>
              <a:srgbClr val="E09B00"/>
            </a:solidFill>
          </a:ln>
        </p:spPr>
        <p:txBody>
          <a:bodyPr rtlCol="0" anchor="ctr"/>
          <a:lstStyle/>
          <a:p>
            <a:pPr algn="ctr"/>
          </a:p>
        </p:txBody>
      </p:sp>
      <p:sp>
        <p:nvSpPr>
          <p:cNvPr id="13" name="Rectangle 12"/>
          <p:cNvSpPr/>
          <p:nvPr/>
        </p:nvSpPr>
        <p:spPr>
          <a:xfrm>
            <a:off x="10291443" y="2280513"/>
            <a:ext cx="172053" cy="526694"/>
          </a:xfrm>
          <a:prstGeom prst="rect">
            <a:avLst/>
          </a:prstGeom>
          <a:noFill/>
          <a:ln w="44450">
            <a:solidFill>
              <a:srgbClr val="C62828"/>
            </a:solidFill>
          </a:ln>
        </p:spPr>
        <p:txBody>
          <a:bodyPr rtlCol="0" anchor="ctr"/>
          <a:lstStyle/>
          <a:p>
            <a:pPr algn="ctr"/>
          </a:p>
        </p:txBody>
      </p:sp>
      <p:sp>
        <p:nvSpPr>
          <p:cNvPr id="14" name="Rectangle 13"/>
          <p:cNvSpPr/>
          <p:nvPr/>
        </p:nvSpPr>
        <p:spPr>
          <a:xfrm>
            <a:off x="10463497" y="2280513"/>
            <a:ext cx="172053" cy="526694"/>
          </a:xfrm>
          <a:prstGeom prst="rect">
            <a:avLst/>
          </a:prstGeom>
          <a:noFill/>
          <a:ln w="44450">
            <a:solidFill>
              <a:srgbClr val="1F5FAD"/>
            </a:solidFill>
          </a:ln>
        </p:spPr>
        <p:txBody>
          <a:bodyPr rtlCol="0" anchor="ctr"/>
          <a:lstStyle/>
          <a:p>
            <a:pPr algn="ctr"/>
          </a:p>
        </p:txBody>
      </p:sp>
      <p:sp>
        <p:nvSpPr>
          <p:cNvPr id="15" name="Oval 14"/>
          <p:cNvSpPr/>
          <p:nvPr/>
        </p:nvSpPr>
        <p:spPr>
          <a:xfrm>
            <a:off x="10119390" y="4492630"/>
            <a:ext cx="491581" cy="386242"/>
          </a:xfrm>
          <a:prstGeom prst="ellipse">
            <a:avLst/>
          </a:prstGeom>
          <a:noFill/>
          <a:ln w="44450">
            <a:solidFill>
              <a:srgbClr val="7B3FA0"/>
            </a:solidFill>
          </a:ln>
        </p:spPr>
        <p:txBody>
          <a:bodyPr rtlCol="0" anchor="ctr"/>
          <a:lstStyle/>
          <a:p>
            <a:pPr algn="ctr"/>
          </a:p>
        </p:txBody>
      </p:sp>
      <p:sp>
        <p:nvSpPr>
          <p:cNvPr id="16" name="Oval 15"/>
          <p:cNvSpPr/>
          <p:nvPr/>
        </p:nvSpPr>
        <p:spPr>
          <a:xfrm>
            <a:off x="9611825" y="2166213"/>
            <a:ext cx="228600" cy="22860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10594988" y="2166213"/>
            <a:ext cx="228600" cy="22860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10889936" y="2798246"/>
            <a:ext cx="228600" cy="22860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Oval 18"/>
          <p:cNvSpPr/>
          <p:nvPr/>
        </p:nvSpPr>
        <p:spPr>
          <a:xfrm>
            <a:off x="10840778" y="4202765"/>
            <a:ext cx="228600" cy="22860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0" name="TextBox 19"/>
          <p:cNvSpPr txBox="1"/>
          <p:nvPr/>
        </p:nvSpPr>
        <p:spPr>
          <a:xfrm>
            <a:off x="6400799" y="5650991"/>
            <a:ext cx="547085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7.18 -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221, Figure 7.18. +DM is shown as a book label and is not defined in this chapter.</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bullish three-bar examples use stronger outer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13 of 62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bullish three-bar reversal can be more convincing when the outer bars carry higher volume </a:t>
            </a:r>
            <a:r>
              <a:rPr sz="2000" b="1" i="0">
                <a:solidFill>
                  <a:srgbClr val="E09B00"/>
                </a:solidFill>
                <a:latin typeface="Arial"/>
              </a:rPr>
              <a:t>(1)</a:t>
            </a:r>
            <a:r>
              <a:rPr sz="2000" b="0" i="0">
                <a:solidFill>
                  <a:srgbClr val="1A1A1A"/>
                </a:solidFill>
                <a:latin typeface="Arial"/>
              </a:rPr>
              <a:t> and </a:t>
            </a:r>
            <a:r>
              <a:rPr sz="2000" b="1" i="0">
                <a:solidFill>
                  <a:srgbClr val="1F5FAD"/>
                </a:solidFill>
                <a:latin typeface="Arial"/>
              </a:rPr>
              <a:t>(3)</a:t>
            </a:r>
            <a:r>
              <a:rPr sz="2000" b="0" i="0">
                <a:solidFill>
                  <a:srgbClr val="1A1A1A"/>
                </a:solidFill>
                <a:latin typeface="Arial"/>
              </a:rPr>
              <a:t>, while the middle bar is quieter </a:t>
            </a:r>
            <a:r>
              <a:rPr sz="2000" b="1" i="0">
                <a:solidFill>
                  <a:srgbClr val="C62828"/>
                </a:solidFill>
                <a:latin typeface="Arial"/>
              </a:rPr>
              <a:t>(2)</a:t>
            </a:r>
            <a:r>
              <a:rPr sz="2000" b="0" i="0">
                <a:solidFill>
                  <a:srgbClr val="1A1A1A"/>
                </a:solidFill>
                <a:latin typeface="Arial"/>
              </a:rPr>
              <a:t>.</a:t>
            </a:r>
          </a:p>
          <a:p>
            <a:pPr algn="l">
              <a:lnSpc>
                <a:spcPct val="105000"/>
              </a:lnSpc>
              <a:spcBef>
                <a:spcPts val="0"/>
              </a:spcBef>
              <a:spcAft>
                <a:spcPts val="1100"/>
              </a:spcAft>
            </a:pPr>
            <a:r>
              <a:rPr sz="2000" b="0" i="0">
                <a:solidFill>
                  <a:srgbClr val="1A1A1A"/>
                </a:solidFill>
                <a:latin typeface="Arial"/>
              </a:rPr>
              <a:t>That volume pattern repeats the uncertainty-between-strengthers idea from the worked example. These are observations, not a guarantee.</a:t>
            </a:r>
          </a:p>
        </p:txBody>
      </p:sp>
      <p:sp>
        <p:nvSpPr>
          <p:cNvPr id="8" name="Rectangle 7"/>
          <p:cNvSpPr/>
          <p:nvPr/>
        </p:nvSpPr>
        <p:spPr>
          <a:xfrm>
            <a:off x="6450705" y="1810512"/>
            <a:ext cx="5279604"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569577" y="1929384"/>
            <a:ext cx="5041860"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569577" y="1929384"/>
            <a:ext cx="5041860"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843897" y="2203703"/>
            <a:ext cx="4493220"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7.19</a:t>
            </a:r>
          </a:p>
          <a:p>
            <a:pPr algn="l">
              <a:lnSpc>
                <a:spcPct val="115000"/>
              </a:lnSpc>
              <a:spcBef>
                <a:spcPts val="0"/>
              </a:spcBef>
              <a:spcAft>
                <a:spcPts val="0"/>
              </a:spcAft>
            </a:pPr>
            <a:r>
              <a:rPr sz="1500" b="0" i="0">
                <a:solidFill>
                  <a:srgbClr val="1A1A1A"/>
                </a:solidFill>
                <a:latin typeface="Palatino"/>
              </a:rPr>
              <a:t>The ITC Holdings daily chart: a three-bar bottom reversal with high-volume outer bars and a below-average-volume middle bar.</a:t>
            </a:r>
          </a:p>
        </p:txBody>
      </p:sp>
      <p:sp>
        <p:nvSpPr>
          <p:cNvPr id="12" name="Oval 11"/>
          <p:cNvSpPr/>
          <p:nvPr/>
        </p:nvSpPr>
        <p:spPr>
          <a:xfrm>
            <a:off x="9040088" y="4633081"/>
            <a:ext cx="252093" cy="491581"/>
          </a:xfrm>
          <a:prstGeom prst="ellipse">
            <a:avLst/>
          </a:prstGeom>
          <a:noFill/>
          <a:ln w="44450">
            <a:solidFill>
              <a:srgbClr val="E09B00"/>
            </a:solidFill>
          </a:ln>
        </p:spPr>
        <p:txBody>
          <a:bodyPr rtlCol="0" anchor="ctr"/>
          <a:lstStyle/>
          <a:p>
            <a:pPr algn="ctr"/>
          </a:p>
        </p:txBody>
      </p:sp>
      <p:sp>
        <p:nvSpPr>
          <p:cNvPr id="13" name="Oval 12"/>
          <p:cNvSpPr/>
          <p:nvPr/>
        </p:nvSpPr>
        <p:spPr>
          <a:xfrm>
            <a:off x="9292181" y="4703307"/>
            <a:ext cx="201674" cy="456468"/>
          </a:xfrm>
          <a:prstGeom prst="ellipse">
            <a:avLst/>
          </a:prstGeom>
          <a:noFill/>
          <a:ln w="44450">
            <a:solidFill>
              <a:srgbClr val="C62828"/>
            </a:solidFill>
          </a:ln>
        </p:spPr>
        <p:txBody>
          <a:bodyPr rtlCol="0" anchor="ctr"/>
          <a:lstStyle/>
          <a:p>
            <a:pPr algn="ctr"/>
          </a:p>
        </p:txBody>
      </p:sp>
      <p:sp>
        <p:nvSpPr>
          <p:cNvPr id="14" name="Oval 13"/>
          <p:cNvSpPr/>
          <p:nvPr/>
        </p:nvSpPr>
        <p:spPr>
          <a:xfrm>
            <a:off x="9493856" y="4633081"/>
            <a:ext cx="252093" cy="491581"/>
          </a:xfrm>
          <a:prstGeom prst="ellipse">
            <a:avLst/>
          </a:prstGeom>
          <a:noFill/>
          <a:ln w="44450">
            <a:solidFill>
              <a:srgbClr val="1F5FAD"/>
            </a:solidFill>
          </a:ln>
        </p:spPr>
        <p:txBody>
          <a:bodyPr rtlCol="0" anchor="ctr"/>
          <a:lstStyle/>
          <a:p>
            <a:pPr algn="ctr"/>
          </a:p>
        </p:txBody>
      </p:sp>
      <p:sp>
        <p:nvSpPr>
          <p:cNvPr id="15" name="Oval 14"/>
          <p:cNvSpPr/>
          <p:nvPr/>
        </p:nvSpPr>
        <p:spPr>
          <a:xfrm>
            <a:off x="8623277" y="4343217"/>
            <a:ext cx="228600" cy="22860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581230" y="4413443"/>
            <a:ext cx="228600" cy="22860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934161" y="4343217"/>
            <a:ext cx="228600" cy="22860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400799" y="5650991"/>
            <a:ext cx="537941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7.19 -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221, Figure 7.19. Volume labels are the book's observations.</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Context can strengthen a bullish three-bar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14 of 62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The three-bar reversal is the price pattern. Gold </a:t>
            </a:r>
            <a:r>
              <a:rPr sz="1900" b="1" i="0">
                <a:solidFill>
                  <a:srgbClr val="E09B00"/>
                </a:solidFill>
                <a:latin typeface="Arial"/>
              </a:rPr>
              <a:t>(1)</a:t>
            </a:r>
            <a:r>
              <a:rPr sz="1900" b="0" i="0">
                <a:solidFill>
                  <a:srgbClr val="1A1A1A"/>
                </a:solidFill>
                <a:latin typeface="Arial"/>
              </a:rPr>
              <a:t> boxes it, red </a:t>
            </a:r>
            <a:r>
              <a:rPr sz="1900" b="1" i="0">
                <a:solidFill>
                  <a:srgbClr val="C62828"/>
                </a:solidFill>
                <a:latin typeface="Arial"/>
              </a:rPr>
              <a:t>(2)</a:t>
            </a:r>
            <a:r>
              <a:rPr sz="1900" b="0" i="0">
                <a:solidFill>
                  <a:srgbClr val="1A1A1A"/>
                </a:solidFill>
                <a:latin typeface="Arial"/>
              </a:rPr>
              <a:t> marks the oversold StochRSI label, and blue </a:t>
            </a:r>
            <a:r>
              <a:rPr sz="1900" b="1" i="0">
                <a:solidFill>
                  <a:srgbClr val="1F5FAD"/>
                </a:solidFill>
                <a:latin typeface="Arial"/>
              </a:rPr>
              <a:t>(3)</a:t>
            </a:r>
            <a:r>
              <a:rPr sz="1900" b="0" i="0">
                <a:solidFill>
                  <a:srgbClr val="1A1A1A"/>
                </a:solidFill>
                <a:latin typeface="Arial"/>
              </a:rPr>
              <a:t> sits on the final close between the Bollinger bands.</a:t>
            </a:r>
          </a:p>
          <a:p>
            <a:pPr algn="l">
              <a:lnSpc>
                <a:spcPct val="105000"/>
              </a:lnSpc>
              <a:spcBef>
                <a:spcPts val="0"/>
              </a:spcBef>
              <a:spcAft>
                <a:spcPts val="1100"/>
              </a:spcAft>
            </a:pPr>
            <a:r>
              <a:rPr sz="1900" b="0" i="0">
                <a:solidFill>
                  <a:srgbClr val="1A1A1A"/>
                </a:solidFill>
                <a:latin typeface="Arial"/>
              </a:rPr>
              <a:t>Lim calls that location bullish and links the example to pattern 5 in Figure 7.9.</a:t>
            </a:r>
          </a:p>
          <a:p>
            <a:pPr algn="l">
              <a:lnSpc>
                <a:spcPct val="105000"/>
              </a:lnSpc>
              <a:spcBef>
                <a:spcPts val="0"/>
              </a:spcBef>
              <a:spcAft>
                <a:spcPts val="1100"/>
              </a:spcAft>
            </a:pPr>
            <a:r>
              <a:rPr sz="1900" b="0" i="0">
                <a:solidFill>
                  <a:srgbClr val="1A1A1A"/>
                </a:solidFill>
                <a:latin typeface="Arial"/>
              </a:rPr>
              <a:t>The book gives no formula for either indicator here, so these labels are context rather than a method to calculate.</a:t>
            </a:r>
          </a:p>
        </p:txBody>
      </p:sp>
      <p:sp>
        <p:nvSpPr>
          <p:cNvPr id="8" name="Rectangle 7"/>
          <p:cNvSpPr/>
          <p:nvPr/>
        </p:nvSpPr>
        <p:spPr>
          <a:xfrm>
            <a:off x="6837265" y="1810512"/>
            <a:ext cx="4597924"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956137" y="1929384"/>
            <a:ext cx="4360180"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956137" y="1929384"/>
            <a:ext cx="4360180"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230457" y="2203703"/>
            <a:ext cx="3811540"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7.20</a:t>
            </a:r>
          </a:p>
          <a:p>
            <a:pPr algn="l">
              <a:lnSpc>
                <a:spcPct val="115000"/>
              </a:lnSpc>
              <a:spcBef>
                <a:spcPts val="0"/>
              </a:spcBef>
              <a:spcAft>
                <a:spcPts val="0"/>
              </a:spcAft>
            </a:pPr>
            <a:r>
              <a:rPr sz="1500" b="0" i="0">
                <a:solidFill>
                  <a:srgbClr val="1A1A1A"/>
                </a:solidFill>
                <a:latin typeface="Palatino"/>
              </a:rPr>
              <a:t>The ITC Holdings daily chart: the three-bar reversal, an oversold StochRSI label, and the final close between the two volatility bands.</a:t>
            </a:r>
          </a:p>
        </p:txBody>
      </p:sp>
      <p:sp>
        <p:nvSpPr>
          <p:cNvPr id="12" name="Rectangle 11"/>
          <p:cNvSpPr/>
          <p:nvPr/>
        </p:nvSpPr>
        <p:spPr>
          <a:xfrm>
            <a:off x="8569404" y="3685031"/>
            <a:ext cx="305212" cy="772485"/>
          </a:xfrm>
          <a:prstGeom prst="rect">
            <a:avLst/>
          </a:prstGeom>
          <a:noFill/>
          <a:ln w="44450">
            <a:solidFill>
              <a:srgbClr val="E09B00"/>
            </a:solidFill>
          </a:ln>
        </p:spPr>
        <p:txBody>
          <a:bodyPr rtlCol="0" anchor="ctr"/>
          <a:lstStyle/>
          <a:p>
            <a:pPr algn="ctr"/>
          </a:p>
        </p:txBody>
      </p:sp>
      <p:sp>
        <p:nvSpPr>
          <p:cNvPr id="13" name="Oval 12"/>
          <p:cNvSpPr/>
          <p:nvPr/>
        </p:nvSpPr>
        <p:spPr>
          <a:xfrm>
            <a:off x="8613005" y="5019324"/>
            <a:ext cx="348814" cy="368686"/>
          </a:xfrm>
          <a:prstGeom prst="ellipse">
            <a:avLst/>
          </a:prstGeom>
          <a:noFill/>
          <a:ln w="44450">
            <a:solidFill>
              <a:srgbClr val="C62828"/>
            </a:solidFill>
          </a:ln>
        </p:spPr>
        <p:txBody>
          <a:bodyPr rtlCol="0" anchor="ctr"/>
          <a:lstStyle/>
          <a:p>
            <a:pPr algn="ctr"/>
          </a:p>
        </p:txBody>
      </p:sp>
      <p:sp>
        <p:nvSpPr>
          <p:cNvPr id="14" name="Oval 13"/>
          <p:cNvSpPr/>
          <p:nvPr/>
        </p:nvSpPr>
        <p:spPr>
          <a:xfrm>
            <a:off x="8656607" y="3860596"/>
            <a:ext cx="261610" cy="280903"/>
          </a:xfrm>
          <a:prstGeom prst="ellipse">
            <a:avLst/>
          </a:prstGeom>
          <a:noFill/>
          <a:ln w="44450">
            <a:solidFill>
              <a:srgbClr val="1F5FAD"/>
            </a:solidFill>
          </a:ln>
        </p:spPr>
        <p:txBody>
          <a:bodyPr rtlCol="0" anchor="ctr"/>
          <a:lstStyle/>
          <a:p>
            <a:pPr algn="ctr"/>
          </a:p>
        </p:txBody>
      </p:sp>
      <p:sp>
        <p:nvSpPr>
          <p:cNvPr id="15" name="Oval 14"/>
          <p:cNvSpPr/>
          <p:nvPr/>
        </p:nvSpPr>
        <p:spPr>
          <a:xfrm>
            <a:off x="8048971" y="3311225"/>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705840" y="4750856"/>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366169" y="3109691"/>
            <a:ext cx="237744" cy="237744"/>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400799" y="5650991"/>
            <a:ext cx="547085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7.20 -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222, Figure 7.20. StochRSI and Bollinger Bands are shown but not defined in Chapter 7.</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later outside day is a separate event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15 of 62</a:t>
            </a:r>
          </a:p>
        </p:txBody>
      </p:sp>
      <p:sp>
        <p:nvSpPr>
          <p:cNvPr id="7" name="TextBox 6"/>
          <p:cNvSpPr txBox="1"/>
          <p:nvPr/>
        </p:nvSpPr>
        <p:spPr>
          <a:xfrm>
            <a:off x="777240" y="1965960"/>
            <a:ext cx="58064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Figure 7.21 first shows a bullish three-bar reversal </a:t>
            </a:r>
            <a:r>
              <a:rPr sz="1700" b="1" i="0">
                <a:solidFill>
                  <a:srgbClr val="E09B00"/>
                </a:solidFill>
                <a:latin typeface="Arial"/>
              </a:rPr>
              <a:t>(1)</a:t>
            </a:r>
            <a:r>
              <a:rPr sz="1700" b="0" i="0">
                <a:solidFill>
                  <a:srgbClr val="1A1A1A"/>
                </a:solidFill>
                <a:latin typeface="Arial"/>
              </a:rPr>
              <a:t>, whose large third bar closes near its high </a:t>
            </a:r>
            <a:r>
              <a:rPr sz="1700" b="1" i="0">
                <a:solidFill>
                  <a:srgbClr val="C62828"/>
                </a:solidFill>
                <a:latin typeface="Arial"/>
              </a:rPr>
              <a:t>(2)</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Later, a separate outside day engulfs four preceding bars </a:t>
            </a:r>
            <a:r>
              <a:rPr sz="1700" b="1" i="0">
                <a:solidFill>
                  <a:srgbClr val="7B3FA0"/>
                </a:solidFill>
                <a:latin typeface="Arial"/>
              </a:rPr>
              <a:t>(4)</a:t>
            </a:r>
            <a:r>
              <a:rPr sz="1700" b="0" i="0">
                <a:solidFill>
                  <a:srgbClr val="1A1A1A"/>
                </a:solidFill>
                <a:latin typeface="Arial"/>
              </a:rPr>
              <a:t> and closes near its low </a:t>
            </a:r>
            <a:r>
              <a:rPr sz="1700" b="1" i="0">
                <a:solidFill>
                  <a:srgbClr val="1F5FAD"/>
                </a:solidFill>
                <a:latin typeface="Arial"/>
              </a:rPr>
              <a:t>(3)</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Keep the two formations separate. The outside day is a new event that can reverse the preceding move, not part of the first three-bar count.</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5138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Below-average middle volume and high-volume outer bars are the three-bar clue; the outside day is separate.</a:t>
            </a:r>
          </a:p>
        </p:txBody>
      </p:sp>
      <p:sp>
        <p:nvSpPr>
          <p:cNvPr id="10" name="Rectangle 9"/>
          <p:cNvSpPr/>
          <p:nvPr/>
        </p:nvSpPr>
        <p:spPr>
          <a:xfrm>
            <a:off x="6903719" y="1810512"/>
            <a:ext cx="4510735" cy="3300684"/>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022591" y="1929384"/>
            <a:ext cx="4272991" cy="3062940"/>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022591" y="1929384"/>
            <a:ext cx="42729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296911" y="2203703"/>
            <a:ext cx="3724351" cy="26057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7.21</a:t>
            </a:r>
          </a:p>
          <a:p>
            <a:pPr algn="l">
              <a:lnSpc>
                <a:spcPct val="115000"/>
              </a:lnSpc>
              <a:spcBef>
                <a:spcPts val="0"/>
              </a:spcBef>
              <a:spcAft>
                <a:spcPts val="0"/>
              </a:spcAft>
            </a:pPr>
            <a:r>
              <a:rPr sz="1500" b="0" i="0">
                <a:solidFill>
                  <a:srgbClr val="1A1A1A"/>
                </a:solidFill>
                <a:latin typeface="Palatino"/>
              </a:rPr>
              <a:t>The Newmont Mining daily chart: a three-bar bottom reversal, then a separate outside day engulfing four preceding bars, with high volume under the outside bar.</a:t>
            </a:r>
          </a:p>
        </p:txBody>
      </p:sp>
      <p:sp>
        <p:nvSpPr>
          <p:cNvPr id="14" name="Rectangle 13"/>
          <p:cNvSpPr/>
          <p:nvPr/>
        </p:nvSpPr>
        <p:spPr>
          <a:xfrm>
            <a:off x="8518138" y="3185189"/>
            <a:ext cx="640948" cy="826993"/>
          </a:xfrm>
          <a:prstGeom prst="rect">
            <a:avLst/>
          </a:prstGeom>
          <a:noFill/>
          <a:ln w="44450">
            <a:solidFill>
              <a:srgbClr val="E09B00"/>
            </a:solidFill>
          </a:ln>
        </p:spPr>
        <p:txBody>
          <a:bodyPr rtlCol="0" anchor="ctr"/>
          <a:lstStyle/>
          <a:p>
            <a:pPr algn="ctr"/>
          </a:p>
        </p:txBody>
      </p:sp>
      <p:sp>
        <p:nvSpPr>
          <p:cNvPr id="15" name="Oval 14"/>
          <p:cNvSpPr/>
          <p:nvPr/>
        </p:nvSpPr>
        <p:spPr>
          <a:xfrm>
            <a:off x="8859978" y="3154560"/>
            <a:ext cx="299109" cy="520699"/>
          </a:xfrm>
          <a:prstGeom prst="ellipse">
            <a:avLst/>
          </a:prstGeom>
          <a:noFill/>
          <a:ln w="44450">
            <a:solidFill>
              <a:srgbClr val="C62828"/>
            </a:solidFill>
          </a:ln>
        </p:spPr>
        <p:txBody>
          <a:bodyPr rtlCol="0" anchor="ctr"/>
          <a:lstStyle/>
          <a:p>
            <a:pPr algn="ctr"/>
          </a:p>
        </p:txBody>
      </p:sp>
      <p:sp>
        <p:nvSpPr>
          <p:cNvPr id="16" name="Oval 15"/>
          <p:cNvSpPr/>
          <p:nvPr/>
        </p:nvSpPr>
        <p:spPr>
          <a:xfrm>
            <a:off x="9842766" y="2541972"/>
            <a:ext cx="299109" cy="245035"/>
          </a:xfrm>
          <a:prstGeom prst="ellipse">
            <a:avLst/>
          </a:prstGeom>
          <a:noFill/>
          <a:ln w="44450">
            <a:solidFill>
              <a:srgbClr val="1F5FAD"/>
            </a:solidFill>
          </a:ln>
        </p:spPr>
        <p:txBody>
          <a:bodyPr rtlCol="0" anchor="ctr"/>
          <a:lstStyle/>
          <a:p>
            <a:pPr algn="ctr"/>
          </a:p>
        </p:txBody>
      </p:sp>
      <p:sp>
        <p:nvSpPr>
          <p:cNvPr id="17" name="Rectangle 16"/>
          <p:cNvSpPr/>
          <p:nvPr/>
        </p:nvSpPr>
        <p:spPr>
          <a:xfrm>
            <a:off x="9244547" y="2235678"/>
            <a:ext cx="470029" cy="918882"/>
          </a:xfrm>
          <a:prstGeom prst="rect">
            <a:avLst/>
          </a:prstGeom>
          <a:noFill/>
          <a:ln w="44450">
            <a:solidFill>
              <a:srgbClr val="7B3FA0"/>
            </a:solidFill>
          </a:ln>
        </p:spPr>
        <p:txBody>
          <a:bodyPr rtlCol="0" anchor="ctr"/>
          <a:lstStyle/>
          <a:p>
            <a:pPr algn="ctr"/>
          </a:p>
        </p:txBody>
      </p:sp>
      <p:sp>
        <p:nvSpPr>
          <p:cNvPr id="18" name="Oval 17"/>
          <p:cNvSpPr/>
          <p:nvPr/>
        </p:nvSpPr>
        <p:spPr>
          <a:xfrm>
            <a:off x="8124599" y="2956141"/>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9201991" y="284276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10450302" y="2361841"/>
            <a:ext cx="237744" cy="237744"/>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8921169" y="3136720"/>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6903719" y="5202636"/>
            <a:ext cx="4510735"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7.21 -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222, Figure 7.21. The outside day and volume are the book's observations.</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7.22 links this volume arrangement to pattern 6</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16 of 62</a:t>
            </a:r>
          </a:p>
        </p:txBody>
      </p:sp>
      <p:sp>
        <p:nvSpPr>
          <p:cNvPr id="7" name="TextBox 6"/>
          <p:cNvSpPr txBox="1"/>
          <p:nvPr/>
        </p:nvSpPr>
        <p:spPr>
          <a:xfrm>
            <a:off x="777240" y="1965960"/>
            <a:ext cx="55778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The figure shows a bullish three-bar reversal with a large middle-bar range </a:t>
            </a:r>
            <a:r>
              <a:rPr sz="1800" b="1" i="0">
                <a:solidFill>
                  <a:srgbClr val="C62828"/>
                </a:solidFill>
                <a:latin typeface="Arial"/>
              </a:rPr>
              <a:t>(2)</a:t>
            </a:r>
            <a:r>
              <a:rPr sz="1800" b="0" i="0">
                <a:solidFill>
                  <a:srgbClr val="1A1A1A"/>
                </a:solidFill>
                <a:latin typeface="Arial"/>
              </a:rPr>
              <a:t> and middle-bar volume </a:t>
            </a:r>
            <a:r>
              <a:rPr sz="1800" b="1" i="0">
                <a:solidFill>
                  <a:srgbClr val="1F5FAD"/>
                </a:solidFill>
                <a:latin typeface="Arial"/>
              </a:rPr>
              <a:t>(3)</a:t>
            </a:r>
            <a:r>
              <a:rPr sz="1800" b="0" i="0">
                <a:solidFill>
                  <a:srgbClr val="1A1A1A"/>
                </a:solidFill>
                <a:latin typeface="Arial"/>
              </a:rPr>
              <a:t> lower than the first bar </a:t>
            </a:r>
            <a:r>
              <a:rPr sz="1800" b="1" i="0">
                <a:solidFill>
                  <a:srgbClr val="E09B00"/>
                </a:solidFill>
                <a:latin typeface="Arial"/>
              </a:rPr>
              <a:t>(1)</a:t>
            </a:r>
            <a:r>
              <a:rPr sz="1800" b="0" i="0">
                <a:solidFill>
                  <a:srgbClr val="1A1A1A"/>
                </a:solidFill>
                <a:latin typeface="Arial"/>
              </a:rPr>
              <a:t>.</a:t>
            </a:r>
          </a:p>
          <a:p>
            <a:pPr algn="l">
              <a:lnSpc>
                <a:spcPct val="105000"/>
              </a:lnSpc>
              <a:spcBef>
                <a:spcPts val="0"/>
              </a:spcBef>
              <a:spcAft>
                <a:spcPts val="1100"/>
              </a:spcAft>
            </a:pPr>
            <a:r>
              <a:rPr sz="1800" b="0" i="0">
                <a:solidFill>
                  <a:srgbClr val="1A1A1A"/>
                </a:solidFill>
                <a:latin typeface="Arial"/>
              </a:rPr>
              <a:t>Lim links this arrangement to pattern 6 in Figure 7.9.</a:t>
            </a:r>
          </a:p>
          <a:p>
            <a:pPr algn="l">
              <a:lnSpc>
                <a:spcPct val="105000"/>
              </a:lnSpc>
              <a:spcBef>
                <a:spcPts val="0"/>
              </a:spcBef>
              <a:spcAft>
                <a:spcPts val="1100"/>
              </a:spcAft>
            </a:pPr>
            <a:r>
              <a:rPr sz="1800" b="0" i="0">
                <a:solidFill>
                  <a:srgbClr val="1A1A1A"/>
                </a:solidFill>
                <a:latin typeface="Arial"/>
              </a:rPr>
              <a:t>That link recalls the generic pattern; it does not add a new trading rule or formula (p. 223).</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52852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A large price bar can still carry lower volume than the first bar.</a:t>
            </a:r>
          </a:p>
        </p:txBody>
      </p:sp>
      <p:sp>
        <p:nvSpPr>
          <p:cNvPr id="10" name="Rectangle 9"/>
          <p:cNvSpPr/>
          <p:nvPr/>
        </p:nvSpPr>
        <p:spPr>
          <a:xfrm>
            <a:off x="6675119" y="1810512"/>
            <a:ext cx="4739335" cy="3424711"/>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93991" y="1929384"/>
            <a:ext cx="4501591" cy="3186967"/>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93991" y="1929384"/>
            <a:ext cx="45015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068311" y="2203703"/>
            <a:ext cx="3952951" cy="272976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7.22</a:t>
            </a:r>
          </a:p>
          <a:p>
            <a:pPr algn="l">
              <a:lnSpc>
                <a:spcPct val="115000"/>
              </a:lnSpc>
              <a:spcBef>
                <a:spcPts val="0"/>
              </a:spcBef>
              <a:spcAft>
                <a:spcPts val="0"/>
              </a:spcAft>
            </a:pPr>
            <a:r>
              <a:rPr sz="1500" b="0" i="0">
                <a:solidFill>
                  <a:srgbClr val="1A1A1A"/>
                </a:solidFill>
                <a:latin typeface="Palatino"/>
              </a:rPr>
              <a:t>The TSX Composite daily chart: a bullish three-bar reversal whose large middle bar has lower volume than the first bar.</a:t>
            </a:r>
          </a:p>
        </p:txBody>
      </p:sp>
      <p:sp>
        <p:nvSpPr>
          <p:cNvPr id="14" name="Oval 13"/>
          <p:cNvSpPr/>
          <p:nvPr/>
        </p:nvSpPr>
        <p:spPr>
          <a:xfrm>
            <a:off x="8999771" y="4383348"/>
            <a:ext cx="270095" cy="478045"/>
          </a:xfrm>
          <a:prstGeom prst="ellipse">
            <a:avLst/>
          </a:prstGeom>
          <a:noFill/>
          <a:ln w="44450">
            <a:solidFill>
              <a:srgbClr val="E09B00"/>
            </a:solidFill>
          </a:ln>
        </p:spPr>
        <p:txBody>
          <a:bodyPr rtlCol="0" anchor="ctr"/>
          <a:lstStyle/>
          <a:p>
            <a:pPr algn="ctr"/>
          </a:p>
        </p:txBody>
      </p:sp>
      <p:sp>
        <p:nvSpPr>
          <p:cNvPr id="15" name="Rectangle 14"/>
          <p:cNvSpPr/>
          <p:nvPr/>
        </p:nvSpPr>
        <p:spPr>
          <a:xfrm>
            <a:off x="9134819" y="3459128"/>
            <a:ext cx="315111" cy="733002"/>
          </a:xfrm>
          <a:prstGeom prst="rect">
            <a:avLst/>
          </a:prstGeom>
          <a:noFill/>
          <a:ln w="44450">
            <a:solidFill>
              <a:srgbClr val="C62828"/>
            </a:solidFill>
          </a:ln>
        </p:spPr>
        <p:txBody>
          <a:bodyPr rtlCol="0" anchor="ctr"/>
          <a:lstStyle/>
          <a:p>
            <a:pPr algn="ctr"/>
          </a:p>
        </p:txBody>
      </p:sp>
      <p:sp>
        <p:nvSpPr>
          <p:cNvPr id="16" name="Oval 15"/>
          <p:cNvSpPr/>
          <p:nvPr/>
        </p:nvSpPr>
        <p:spPr>
          <a:xfrm>
            <a:off x="9224851" y="4383348"/>
            <a:ext cx="270095" cy="478045"/>
          </a:xfrm>
          <a:prstGeom prst="ellipse">
            <a:avLst/>
          </a:prstGeom>
          <a:noFill/>
          <a:ln w="44450">
            <a:solidFill>
              <a:srgbClr val="1F5FAD"/>
            </a:solidFill>
          </a:ln>
        </p:spPr>
        <p:txBody>
          <a:bodyPr rtlCol="0" anchor="ctr"/>
          <a:lstStyle/>
          <a:p>
            <a:pPr algn="ctr"/>
          </a:p>
        </p:txBody>
      </p:sp>
      <p:sp>
        <p:nvSpPr>
          <p:cNvPr id="17" name="Oval 16"/>
          <p:cNvSpPr/>
          <p:nvPr/>
        </p:nvSpPr>
        <p:spPr>
          <a:xfrm>
            <a:off x="8615376" y="4109700"/>
            <a:ext cx="228600" cy="22860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9546994" y="317176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9740773" y="4109700"/>
            <a:ext cx="228600" cy="22860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675119" y="5326663"/>
            <a:ext cx="473933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7.22 -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223, Figure 7.22. The reference to pattern 6 is Lim's cross-reference.</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18 OF 30</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two-day and three-bar reversal readings</a:t>
            </a:r>
          </a:p>
        </p:txBody>
      </p:sp>
      <p:sp>
        <p:nvSpPr>
          <p:cNvPr id="6" name="Rectangle 5"/>
          <p:cNvSpPr/>
          <p:nvPr/>
        </p:nvSpPr>
        <p:spPr>
          <a:xfrm>
            <a:off x="777240" y="1207008"/>
            <a:ext cx="530352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84632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84632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the bearish three-bar reversal, the outer closes are:</a:t>
            </a:r>
          </a:p>
        </p:txBody>
      </p:sp>
      <p:sp>
        <p:nvSpPr>
          <p:cNvPr id="9" name="TextBox 8"/>
          <p:cNvSpPr txBox="1"/>
          <p:nvPr/>
        </p:nvSpPr>
        <p:spPr>
          <a:xfrm>
            <a:off x="1005840" y="2069338"/>
            <a:ext cx="484632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Both near the middle</a:t>
            </a:r>
          </a:p>
          <a:p>
            <a:pPr algn="l">
              <a:lnSpc>
                <a:spcPct val="105000"/>
              </a:lnSpc>
              <a:spcBef>
                <a:spcPts val="0"/>
              </a:spcBef>
              <a:spcAft>
                <a:spcPts val="200"/>
              </a:spcAft>
            </a:pPr>
            <a:r>
              <a:rPr sz="1700" b="0" i="0">
                <a:solidFill>
                  <a:srgbClr val="FFFFFF"/>
                </a:solidFill>
                <a:latin typeface="Arial"/>
              </a:rPr>
              <a:t>B.  First near high, third near low</a:t>
            </a:r>
          </a:p>
          <a:p>
            <a:pPr algn="l">
              <a:lnSpc>
                <a:spcPct val="105000"/>
              </a:lnSpc>
              <a:spcBef>
                <a:spcPts val="0"/>
              </a:spcBef>
              <a:spcAft>
                <a:spcPts val="200"/>
              </a:spcAft>
            </a:pPr>
            <a:r>
              <a:rPr sz="1700" b="0" i="0">
                <a:solidFill>
                  <a:srgbClr val="FFFFFF"/>
                </a:solidFill>
                <a:latin typeface="Arial"/>
              </a:rPr>
              <a:t>C.  First near low, third near high</a:t>
            </a:r>
          </a:p>
          <a:p>
            <a:pPr algn="l">
              <a:lnSpc>
                <a:spcPct val="105000"/>
              </a:lnSpc>
              <a:spcBef>
                <a:spcPts val="0"/>
              </a:spcBef>
              <a:spcAft>
                <a:spcPts val="200"/>
              </a:spcAft>
            </a:pPr>
            <a:r>
              <a:rPr sz="1700" b="0" i="0">
                <a:solidFill>
                  <a:srgbClr val="FFFFFF"/>
                </a:solidFill>
                <a:latin typeface="Arial"/>
              </a:rPr>
              <a:t>D.  Both at the exact high</a:t>
            </a:r>
          </a:p>
        </p:txBody>
      </p:sp>
      <p:sp>
        <p:nvSpPr>
          <p:cNvPr id="10" name="Rectangle 9"/>
          <p:cNvSpPr/>
          <p:nvPr/>
        </p:nvSpPr>
        <p:spPr>
          <a:xfrm>
            <a:off x="777240" y="3336798"/>
            <a:ext cx="5303520" cy="2534920"/>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84632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846320"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the bullish three-bar examples, the middle bar can support the reading when it has:</a:t>
            </a:r>
          </a:p>
        </p:txBody>
      </p:sp>
      <p:sp>
        <p:nvSpPr>
          <p:cNvPr id="13" name="TextBox 12"/>
          <p:cNvSpPr txBox="1"/>
          <p:nvPr/>
        </p:nvSpPr>
        <p:spPr>
          <a:xfrm>
            <a:off x="1005840" y="4447413"/>
            <a:ext cx="4846320" cy="1351153"/>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The highest volume</a:t>
            </a:r>
          </a:p>
          <a:p>
            <a:pPr algn="l">
              <a:lnSpc>
                <a:spcPct val="105000"/>
              </a:lnSpc>
              <a:spcBef>
                <a:spcPts val="0"/>
              </a:spcBef>
              <a:spcAft>
                <a:spcPts val="200"/>
              </a:spcAft>
            </a:pPr>
            <a:r>
              <a:rPr sz="1700" b="0" i="0">
                <a:solidFill>
                  <a:srgbClr val="FFFFFF"/>
                </a:solidFill>
                <a:latin typeface="Arial"/>
              </a:rPr>
              <a:t>B.  A new all-time high</a:t>
            </a:r>
          </a:p>
          <a:p>
            <a:pPr algn="l">
              <a:lnSpc>
                <a:spcPct val="105000"/>
              </a:lnSpc>
              <a:spcBef>
                <a:spcPts val="0"/>
              </a:spcBef>
              <a:spcAft>
                <a:spcPts val="200"/>
              </a:spcAft>
            </a:pPr>
            <a:r>
              <a:rPr sz="1700" b="0" i="0">
                <a:solidFill>
                  <a:srgbClr val="FFFFFF"/>
                </a:solidFill>
                <a:latin typeface="Arial"/>
              </a:rPr>
              <a:t>C.  No price range</a:t>
            </a:r>
          </a:p>
          <a:p>
            <a:pPr algn="l">
              <a:lnSpc>
                <a:spcPct val="105000"/>
              </a:lnSpc>
              <a:spcBef>
                <a:spcPts val="0"/>
              </a:spcBef>
              <a:spcAft>
                <a:spcPts val="200"/>
              </a:spcAft>
            </a:pPr>
            <a:r>
              <a:rPr sz="1700" b="0" i="0">
                <a:solidFill>
                  <a:srgbClr val="FFFFFF"/>
                </a:solidFill>
                <a:latin typeface="Arial"/>
              </a:rPr>
              <a:t>D.  Below-average volume between stronger outer bars</a:t>
            </a:r>
          </a:p>
        </p:txBody>
      </p:sp>
      <p:sp>
        <p:nvSpPr>
          <p:cNvPr id="14" name="Rectangle 13"/>
          <p:cNvSpPr/>
          <p:nvPr/>
        </p:nvSpPr>
        <p:spPr>
          <a:xfrm>
            <a:off x="6400799" y="1207008"/>
            <a:ext cx="5013655" cy="3649109"/>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519671" y="1325880"/>
            <a:ext cx="4775911" cy="3411365"/>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519671" y="1325880"/>
            <a:ext cx="477591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793991" y="1600200"/>
            <a:ext cx="4227271" cy="29541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7.18</a:t>
            </a:r>
          </a:p>
          <a:p>
            <a:pPr algn="l">
              <a:lnSpc>
                <a:spcPct val="115000"/>
              </a:lnSpc>
              <a:spcBef>
                <a:spcPts val="0"/>
              </a:spcBef>
              <a:spcAft>
                <a:spcPts val="0"/>
              </a:spcAft>
            </a:pPr>
            <a:r>
              <a:rPr sz="1500" b="0" i="0">
                <a:solidFill>
                  <a:srgbClr val="1A1A1A"/>
                </a:solidFill>
                <a:latin typeface="Palatino"/>
              </a:rPr>
              <a:t>The Apple daily chart in a clear, strong uptrend: the first of three bars closes near its high, the third near its low, and the lower panel labels bearish +DM divergence.</a:t>
            </a:r>
          </a:p>
        </p:txBody>
      </p:sp>
      <p:sp>
        <p:nvSpPr>
          <p:cNvPr id="18" name="Rectangle 17"/>
          <p:cNvSpPr/>
          <p:nvPr/>
        </p:nvSpPr>
        <p:spPr>
          <a:xfrm>
            <a:off x="9862809" y="1667016"/>
            <a:ext cx="167156" cy="511704"/>
          </a:xfrm>
          <a:prstGeom prst="rect">
            <a:avLst/>
          </a:prstGeom>
          <a:noFill/>
          <a:ln w="44450">
            <a:solidFill>
              <a:srgbClr val="E09B00"/>
            </a:solidFill>
          </a:ln>
        </p:spPr>
        <p:txBody>
          <a:bodyPr rtlCol="0" anchor="ctr"/>
          <a:lstStyle/>
          <a:p>
            <a:pPr algn="ctr"/>
          </a:p>
        </p:txBody>
      </p:sp>
      <p:sp>
        <p:nvSpPr>
          <p:cNvPr id="19" name="Rectangle 18"/>
          <p:cNvSpPr/>
          <p:nvPr/>
        </p:nvSpPr>
        <p:spPr>
          <a:xfrm>
            <a:off x="10029966" y="1667016"/>
            <a:ext cx="167156" cy="511704"/>
          </a:xfrm>
          <a:prstGeom prst="rect">
            <a:avLst/>
          </a:prstGeom>
          <a:noFill/>
          <a:ln w="44450">
            <a:solidFill>
              <a:srgbClr val="C62828"/>
            </a:solidFill>
          </a:ln>
        </p:spPr>
        <p:txBody>
          <a:bodyPr rtlCol="0" anchor="ctr"/>
          <a:lstStyle/>
          <a:p>
            <a:pPr algn="ctr"/>
          </a:p>
        </p:txBody>
      </p:sp>
      <p:sp>
        <p:nvSpPr>
          <p:cNvPr id="20" name="Rectangle 19"/>
          <p:cNvSpPr/>
          <p:nvPr/>
        </p:nvSpPr>
        <p:spPr>
          <a:xfrm>
            <a:off x="10197123" y="1667016"/>
            <a:ext cx="167156" cy="511704"/>
          </a:xfrm>
          <a:prstGeom prst="rect">
            <a:avLst/>
          </a:prstGeom>
          <a:noFill/>
          <a:ln w="44450">
            <a:solidFill>
              <a:srgbClr val="1F5FAD"/>
            </a:solidFill>
          </a:ln>
        </p:spPr>
        <p:txBody>
          <a:bodyPr rtlCol="0" anchor="ctr"/>
          <a:lstStyle/>
          <a:p>
            <a:pPr algn="ctr"/>
          </a:p>
        </p:txBody>
      </p:sp>
      <p:sp>
        <p:nvSpPr>
          <p:cNvPr id="21" name="Oval 20"/>
          <p:cNvSpPr/>
          <p:nvPr/>
        </p:nvSpPr>
        <p:spPr>
          <a:xfrm>
            <a:off x="9862809" y="3816176"/>
            <a:ext cx="477591" cy="375250"/>
          </a:xfrm>
          <a:prstGeom prst="ellipse">
            <a:avLst/>
          </a:prstGeom>
          <a:noFill/>
          <a:ln w="44450">
            <a:solidFill>
              <a:srgbClr val="7B3FA0"/>
            </a:solidFill>
          </a:ln>
        </p:spPr>
        <p:txBody>
          <a:bodyPr rtlCol="0" anchor="ctr"/>
          <a:lstStyle/>
          <a:p>
            <a:pPr algn="ctr"/>
          </a:p>
        </p:txBody>
      </p:sp>
      <p:sp>
        <p:nvSpPr>
          <p:cNvPr id="22" name="Oval 21"/>
          <p:cNvSpPr/>
          <p:nvPr/>
        </p:nvSpPr>
        <p:spPr>
          <a:xfrm>
            <a:off x="9366436" y="1552716"/>
            <a:ext cx="228600" cy="22860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10321619" y="1552716"/>
            <a:ext cx="228600" cy="22860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10608173" y="2166762"/>
            <a:ext cx="228600" cy="22860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10560414" y="3531308"/>
            <a:ext cx="228600" cy="22860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6400799" y="4947557"/>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7.18 -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18</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two-day and three-bar reversal readings</a:t>
            </a:r>
          </a:p>
        </p:txBody>
      </p:sp>
      <p:sp>
        <p:nvSpPr>
          <p:cNvPr id="6" name="Rectangle 5"/>
          <p:cNvSpPr/>
          <p:nvPr/>
        </p:nvSpPr>
        <p:spPr>
          <a:xfrm>
            <a:off x="777240" y="1207008"/>
            <a:ext cx="5303520" cy="198755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987550"/>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75488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In the bearish three-bar reversal, the outer closes are:</a:t>
            </a:r>
          </a:p>
        </p:txBody>
      </p:sp>
      <p:sp>
        <p:nvSpPr>
          <p:cNvPr id="9" name="TextBox 8"/>
          <p:cNvSpPr txBox="1"/>
          <p:nvPr/>
        </p:nvSpPr>
        <p:spPr>
          <a:xfrm>
            <a:off x="1097280" y="2069338"/>
            <a:ext cx="4754880" cy="112522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First near high, third near low</a:t>
            </a:r>
          </a:p>
          <a:p>
            <a:pPr algn="l">
              <a:lnSpc>
                <a:spcPct val="115000"/>
              </a:lnSpc>
              <a:spcBef>
                <a:spcPts val="500"/>
              </a:spcBef>
              <a:spcAft>
                <a:spcPts val="0"/>
              </a:spcAft>
            </a:pPr>
            <a:r>
              <a:rPr sz="1700" b="0" i="0">
                <a:solidFill>
                  <a:srgbClr val="1A1A1A"/>
                </a:solidFill>
                <a:latin typeface="Arial"/>
              </a:rPr>
              <a:t>First near high; third near low (Lim, p. 221).</a:t>
            </a:r>
          </a:p>
        </p:txBody>
      </p:sp>
      <p:sp>
        <p:nvSpPr>
          <p:cNvPr id="10" name="Rectangle 9"/>
          <p:cNvSpPr/>
          <p:nvPr/>
        </p:nvSpPr>
        <p:spPr>
          <a:xfrm>
            <a:off x="777240" y="3377438"/>
            <a:ext cx="5303520" cy="274701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77438"/>
            <a:ext cx="91440" cy="274701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560318"/>
            <a:ext cx="4754880" cy="83629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In the bullish three-bar examples, the middle bar can support the reading when it has:</a:t>
            </a:r>
          </a:p>
        </p:txBody>
      </p:sp>
      <p:sp>
        <p:nvSpPr>
          <p:cNvPr id="13" name="TextBox 12"/>
          <p:cNvSpPr txBox="1"/>
          <p:nvPr/>
        </p:nvSpPr>
        <p:spPr>
          <a:xfrm>
            <a:off x="1097280" y="4488053"/>
            <a:ext cx="4754880" cy="163639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Below-average volume between stronger outer bars</a:t>
            </a:r>
          </a:p>
          <a:p>
            <a:pPr algn="l">
              <a:lnSpc>
                <a:spcPct val="115000"/>
              </a:lnSpc>
              <a:spcBef>
                <a:spcPts val="500"/>
              </a:spcBef>
              <a:spcAft>
                <a:spcPts val="0"/>
              </a:spcAft>
            </a:pPr>
            <a:r>
              <a:rPr sz="1700" b="0" i="0">
                <a:solidFill>
                  <a:srgbClr val="1A1A1A"/>
                </a:solidFill>
                <a:latin typeface="Arial"/>
              </a:rPr>
              <a:t>Lim describes a below-average-volume middle bar between high-volume outer bars (pp. 221 to 223).</a:t>
            </a:r>
          </a:p>
        </p:txBody>
      </p:sp>
      <p:sp>
        <p:nvSpPr>
          <p:cNvPr id="14" name="Rectangle 13"/>
          <p:cNvSpPr/>
          <p:nvPr/>
        </p:nvSpPr>
        <p:spPr>
          <a:xfrm>
            <a:off x="6400799" y="1207008"/>
            <a:ext cx="5013655" cy="3649109"/>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519671" y="1325880"/>
            <a:ext cx="4775911" cy="3411365"/>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519671" y="1325880"/>
            <a:ext cx="477591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793991" y="1600200"/>
            <a:ext cx="4227271" cy="29541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7.18</a:t>
            </a:r>
          </a:p>
          <a:p>
            <a:pPr algn="l">
              <a:lnSpc>
                <a:spcPct val="115000"/>
              </a:lnSpc>
              <a:spcBef>
                <a:spcPts val="0"/>
              </a:spcBef>
              <a:spcAft>
                <a:spcPts val="0"/>
              </a:spcAft>
            </a:pPr>
            <a:r>
              <a:rPr sz="1500" b="0" i="0">
                <a:solidFill>
                  <a:srgbClr val="1A1A1A"/>
                </a:solidFill>
                <a:latin typeface="Palatino"/>
              </a:rPr>
              <a:t>The Apple daily chart in a clear, strong uptrend: the first of three bars closes near its high, the third near its low, and the lower panel labels bearish +DM divergence.</a:t>
            </a:r>
          </a:p>
        </p:txBody>
      </p:sp>
      <p:sp>
        <p:nvSpPr>
          <p:cNvPr id="18" name="Rectangle 17"/>
          <p:cNvSpPr/>
          <p:nvPr/>
        </p:nvSpPr>
        <p:spPr>
          <a:xfrm>
            <a:off x="9862809" y="1667016"/>
            <a:ext cx="167156" cy="511704"/>
          </a:xfrm>
          <a:prstGeom prst="rect">
            <a:avLst/>
          </a:prstGeom>
          <a:noFill/>
          <a:ln w="44450">
            <a:solidFill>
              <a:srgbClr val="E09B00"/>
            </a:solidFill>
          </a:ln>
        </p:spPr>
        <p:txBody>
          <a:bodyPr rtlCol="0" anchor="ctr"/>
          <a:lstStyle/>
          <a:p>
            <a:pPr algn="ctr"/>
          </a:p>
        </p:txBody>
      </p:sp>
      <p:sp>
        <p:nvSpPr>
          <p:cNvPr id="19" name="Rectangle 18"/>
          <p:cNvSpPr/>
          <p:nvPr/>
        </p:nvSpPr>
        <p:spPr>
          <a:xfrm>
            <a:off x="10029966" y="1667016"/>
            <a:ext cx="167156" cy="511704"/>
          </a:xfrm>
          <a:prstGeom prst="rect">
            <a:avLst/>
          </a:prstGeom>
          <a:noFill/>
          <a:ln w="44450">
            <a:solidFill>
              <a:srgbClr val="C62828"/>
            </a:solidFill>
          </a:ln>
        </p:spPr>
        <p:txBody>
          <a:bodyPr rtlCol="0" anchor="ctr"/>
          <a:lstStyle/>
          <a:p>
            <a:pPr algn="ctr"/>
          </a:p>
        </p:txBody>
      </p:sp>
      <p:sp>
        <p:nvSpPr>
          <p:cNvPr id="20" name="Rectangle 19"/>
          <p:cNvSpPr/>
          <p:nvPr/>
        </p:nvSpPr>
        <p:spPr>
          <a:xfrm>
            <a:off x="10197123" y="1667016"/>
            <a:ext cx="167156" cy="511704"/>
          </a:xfrm>
          <a:prstGeom prst="rect">
            <a:avLst/>
          </a:prstGeom>
          <a:noFill/>
          <a:ln w="44450">
            <a:solidFill>
              <a:srgbClr val="1F5FAD"/>
            </a:solidFill>
          </a:ln>
        </p:spPr>
        <p:txBody>
          <a:bodyPr rtlCol="0" anchor="ctr"/>
          <a:lstStyle/>
          <a:p>
            <a:pPr algn="ctr"/>
          </a:p>
        </p:txBody>
      </p:sp>
      <p:sp>
        <p:nvSpPr>
          <p:cNvPr id="21" name="Oval 20"/>
          <p:cNvSpPr/>
          <p:nvPr/>
        </p:nvSpPr>
        <p:spPr>
          <a:xfrm>
            <a:off x="9862809" y="3816176"/>
            <a:ext cx="477591" cy="375250"/>
          </a:xfrm>
          <a:prstGeom prst="ellipse">
            <a:avLst/>
          </a:prstGeom>
          <a:noFill/>
          <a:ln w="44450">
            <a:solidFill>
              <a:srgbClr val="7B3FA0"/>
            </a:solidFill>
          </a:ln>
        </p:spPr>
        <p:txBody>
          <a:bodyPr rtlCol="0" anchor="ctr"/>
          <a:lstStyle/>
          <a:p>
            <a:pPr algn="ctr"/>
          </a:p>
        </p:txBody>
      </p:sp>
      <p:sp>
        <p:nvSpPr>
          <p:cNvPr id="22" name="Oval 21"/>
          <p:cNvSpPr/>
          <p:nvPr/>
        </p:nvSpPr>
        <p:spPr>
          <a:xfrm>
            <a:off x="9366436" y="1552716"/>
            <a:ext cx="228600" cy="22860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10321619" y="1552716"/>
            <a:ext cx="228600" cy="22860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10608173" y="2166762"/>
            <a:ext cx="228600" cy="22860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10560414" y="3531308"/>
            <a:ext cx="228600" cy="22860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6400799" y="4947557"/>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7.18 -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18</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An island reversal is isolated by two gaps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An island reversal is a group of bars separated from surrounding price action by a gap up and a gap down. With simple invented prices, price gaps up from PHP 50.00 to PHP 50.80 </a:t>
            </a:r>
            <a:r>
              <a:rPr sz="1700" b="1" i="0">
                <a:solidFill>
                  <a:srgbClr val="E09B00"/>
                </a:solidFill>
                <a:latin typeface="Arial"/>
              </a:rPr>
              <a:t>(1)</a:t>
            </a:r>
            <a:r>
              <a:rPr sz="1700" b="0" i="0">
                <a:solidFill>
                  <a:srgbClr val="1A1A1A"/>
                </a:solidFill>
                <a:latin typeface="Arial"/>
              </a:rPr>
              <a:t>, forms the isolated bars </a:t>
            </a:r>
            <a:r>
              <a:rPr sz="1700" b="1" i="0">
                <a:solidFill>
                  <a:srgbClr val="C62828"/>
                </a:solidFill>
                <a:latin typeface="Arial"/>
              </a:rPr>
              <a:t>(2)</a:t>
            </a:r>
            <a:r>
              <a:rPr sz="1700" b="0" i="0">
                <a:solidFill>
                  <a:srgbClr val="1A1A1A"/>
                </a:solidFill>
                <a:latin typeface="Arial"/>
              </a:rPr>
              <a:t>, then gaps down to PHP 49.40 </a:t>
            </a:r>
            <a:r>
              <a:rPr sz="1700" b="1" i="0">
                <a:solidFill>
                  <a:srgbClr val="1F5FAD"/>
                </a:solidFill>
                <a:latin typeface="Arial"/>
              </a:rPr>
              <a:t>(3)</a:t>
            </a:r>
            <a:r>
              <a:rPr sz="1700" b="0" i="0">
                <a:solidFill>
                  <a:srgbClr val="1A1A1A"/>
                </a:solidFill>
                <a:latin typeface="Arial"/>
              </a:rPr>
              <a:t>. The two gaps create a potential warning. Gap terminology follows Chapter 3.</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n-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7395057" y="3523922"/>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4589983" y="3694642"/>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9889235" y="4013321"/>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7476982" y="339530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4505858" y="343861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760618" y="376314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N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17 of 62</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7.23 shows the island's supporting context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18 of 62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two gaps do the defining work. Mark 1 is the gap up, mark 2 the isolated island, and mark 3 the gap down.</a:t>
            </a:r>
          </a:p>
          <a:p>
            <a:pPr algn="l">
              <a:lnSpc>
                <a:spcPct val="105000"/>
              </a:lnSpc>
              <a:spcBef>
                <a:spcPts val="0"/>
              </a:spcBef>
              <a:spcAft>
                <a:spcPts val="1100"/>
              </a:spcAft>
            </a:pPr>
            <a:r>
              <a:rPr sz="2000" b="0" i="0">
                <a:solidFill>
                  <a:srgbClr val="1A1A1A"/>
                </a:solidFill>
                <a:latin typeface="Arial"/>
              </a:rPr>
              <a:t>The book also observes low volume </a:t>
            </a:r>
            <a:r>
              <a:rPr sz="2000" b="1" i="0">
                <a:solidFill>
                  <a:srgbClr val="7B3FA0"/>
                </a:solidFill>
                <a:latin typeface="Arial"/>
              </a:rPr>
              <a:t>(4)</a:t>
            </a:r>
            <a:r>
              <a:rPr sz="2000" b="0" i="0">
                <a:solidFill>
                  <a:srgbClr val="1A1A1A"/>
                </a:solidFill>
                <a:latin typeface="Arial"/>
              </a:rPr>
              <a:t> and an overbought stochastic label </a:t>
            </a:r>
            <a:r>
              <a:rPr sz="2000" b="1" i="0">
                <a:solidFill>
                  <a:srgbClr val="007A33"/>
                </a:solidFill>
                <a:latin typeface="Arial"/>
              </a:rPr>
              <a:t>(5)</a:t>
            </a:r>
            <a:r>
              <a:rPr sz="2000" b="0" i="0">
                <a:solidFill>
                  <a:srgbClr val="1A1A1A"/>
                </a:solidFill>
                <a:latin typeface="Arial"/>
              </a:rPr>
              <a:t>, calling low volume a lack of conviction.</a:t>
            </a:r>
          </a:p>
          <a:p>
            <a:pPr algn="l">
              <a:lnSpc>
                <a:spcPct val="105000"/>
              </a:lnSpc>
              <a:spcBef>
                <a:spcPts val="0"/>
              </a:spcBef>
              <a:spcAft>
                <a:spcPts val="1100"/>
              </a:spcAft>
            </a:pPr>
            <a:r>
              <a:rPr sz="2000" b="0" i="0">
                <a:solidFill>
                  <a:srgbClr val="1A1A1A"/>
                </a:solidFill>
                <a:latin typeface="Arial"/>
              </a:rPr>
              <a:t>No stochastic method is given here. These labels are context, and the island remains a potential warning.</a:t>
            </a:r>
          </a:p>
        </p:txBody>
      </p:sp>
      <p:sp>
        <p:nvSpPr>
          <p:cNvPr id="8" name="Rectangle 7"/>
          <p:cNvSpPr/>
          <p:nvPr/>
        </p:nvSpPr>
        <p:spPr>
          <a:xfrm>
            <a:off x="7182696" y="1810512"/>
            <a:ext cx="4089942"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301568" y="1929384"/>
            <a:ext cx="3852198"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301568" y="1929384"/>
            <a:ext cx="3852198"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575888" y="2203703"/>
            <a:ext cx="3303558"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7.23</a:t>
            </a:r>
          </a:p>
          <a:p>
            <a:pPr algn="l">
              <a:lnSpc>
                <a:spcPct val="115000"/>
              </a:lnSpc>
              <a:spcBef>
                <a:spcPts val="0"/>
              </a:spcBef>
              <a:spcAft>
                <a:spcPts val="0"/>
              </a:spcAft>
            </a:pPr>
            <a:r>
              <a:rPr sz="1500" b="0" i="0">
                <a:solidFill>
                  <a:srgbClr val="1A1A1A"/>
                </a:solidFill>
                <a:latin typeface="Palatino"/>
              </a:rPr>
              <a:t>The Direxion Gold Miners daily chart: a gap up, an isolated group of bars, a gap down, low volume, and an overbought stochastic label.</a:t>
            </a:r>
          </a:p>
        </p:txBody>
      </p:sp>
      <p:sp>
        <p:nvSpPr>
          <p:cNvPr id="12" name="Oval 11"/>
          <p:cNvSpPr/>
          <p:nvPr/>
        </p:nvSpPr>
        <p:spPr>
          <a:xfrm>
            <a:off x="8958013" y="2912546"/>
            <a:ext cx="269653" cy="526694"/>
          </a:xfrm>
          <a:prstGeom prst="ellipse">
            <a:avLst/>
          </a:prstGeom>
          <a:noFill/>
          <a:ln w="44450">
            <a:solidFill>
              <a:srgbClr val="E09B00"/>
            </a:solidFill>
          </a:ln>
        </p:spPr>
        <p:txBody>
          <a:bodyPr rtlCol="0" anchor="ctr"/>
          <a:lstStyle/>
          <a:p>
            <a:pPr algn="ctr"/>
          </a:p>
        </p:txBody>
      </p:sp>
      <p:sp>
        <p:nvSpPr>
          <p:cNvPr id="13" name="Rectangle 12"/>
          <p:cNvSpPr/>
          <p:nvPr/>
        </p:nvSpPr>
        <p:spPr>
          <a:xfrm>
            <a:off x="9150623" y="2491191"/>
            <a:ext cx="462263" cy="1123614"/>
          </a:xfrm>
          <a:prstGeom prst="rect">
            <a:avLst/>
          </a:prstGeom>
          <a:noFill/>
          <a:ln w="44450">
            <a:solidFill>
              <a:srgbClr val="C62828"/>
            </a:solidFill>
          </a:ln>
        </p:spPr>
        <p:txBody>
          <a:bodyPr rtlCol="0" anchor="ctr"/>
          <a:lstStyle/>
          <a:p>
            <a:pPr algn="ctr"/>
          </a:p>
        </p:txBody>
      </p:sp>
      <p:sp>
        <p:nvSpPr>
          <p:cNvPr id="14" name="Oval 13"/>
          <p:cNvSpPr/>
          <p:nvPr/>
        </p:nvSpPr>
        <p:spPr>
          <a:xfrm>
            <a:off x="9689931" y="2947659"/>
            <a:ext cx="308175" cy="526694"/>
          </a:xfrm>
          <a:prstGeom prst="ellipse">
            <a:avLst/>
          </a:prstGeom>
          <a:noFill/>
          <a:ln w="44450">
            <a:solidFill>
              <a:srgbClr val="1F5FAD"/>
            </a:solidFill>
          </a:ln>
        </p:spPr>
        <p:txBody>
          <a:bodyPr rtlCol="0" anchor="ctr"/>
          <a:lstStyle/>
          <a:p>
            <a:pPr algn="ctr"/>
          </a:p>
        </p:txBody>
      </p:sp>
      <p:sp>
        <p:nvSpPr>
          <p:cNvPr id="15" name="Rectangle 14"/>
          <p:cNvSpPr/>
          <p:nvPr/>
        </p:nvSpPr>
        <p:spPr>
          <a:xfrm>
            <a:off x="8726881" y="4317065"/>
            <a:ext cx="731917" cy="456468"/>
          </a:xfrm>
          <a:prstGeom prst="rect">
            <a:avLst/>
          </a:prstGeom>
          <a:noFill/>
          <a:ln w="44450">
            <a:solidFill>
              <a:srgbClr val="7B3FA0"/>
            </a:solidFill>
          </a:ln>
        </p:spPr>
        <p:txBody>
          <a:bodyPr rtlCol="0" anchor="ctr"/>
          <a:lstStyle/>
          <a:p>
            <a:pPr algn="ctr"/>
          </a:p>
        </p:txBody>
      </p:sp>
      <p:sp>
        <p:nvSpPr>
          <p:cNvPr id="16" name="Rectangle 15"/>
          <p:cNvSpPr/>
          <p:nvPr/>
        </p:nvSpPr>
        <p:spPr>
          <a:xfrm>
            <a:off x="9189145" y="4843759"/>
            <a:ext cx="385219" cy="456468"/>
          </a:xfrm>
          <a:prstGeom prst="rect">
            <a:avLst/>
          </a:prstGeom>
          <a:noFill/>
          <a:ln w="44450">
            <a:solidFill>
              <a:srgbClr val="007A33"/>
            </a:solidFill>
          </a:ln>
        </p:spPr>
        <p:txBody>
          <a:bodyPr rtlCol="0" anchor="ctr"/>
          <a:lstStyle/>
          <a:p>
            <a:pPr algn="ctr"/>
          </a:p>
        </p:txBody>
      </p:sp>
      <p:sp>
        <p:nvSpPr>
          <p:cNvPr id="17" name="Oval 16"/>
          <p:cNvSpPr/>
          <p:nvPr/>
        </p:nvSpPr>
        <p:spPr>
          <a:xfrm>
            <a:off x="8603437" y="2613538"/>
            <a:ext cx="246888" cy="246888"/>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9720575" y="2192182"/>
            <a:ext cx="246888" cy="246888"/>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105795" y="2613538"/>
            <a:ext cx="246888" cy="246888"/>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Oval 19"/>
          <p:cNvSpPr/>
          <p:nvPr/>
        </p:nvSpPr>
        <p:spPr>
          <a:xfrm>
            <a:off x="8342927" y="4764572"/>
            <a:ext cx="228600" cy="22860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1" name="Oval 20"/>
          <p:cNvSpPr/>
          <p:nvPr/>
        </p:nvSpPr>
        <p:spPr>
          <a:xfrm>
            <a:off x="9729719" y="5150815"/>
            <a:ext cx="228600" cy="228600"/>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22" name="TextBox 21"/>
          <p:cNvSpPr txBox="1"/>
          <p:nvPr/>
        </p:nvSpPr>
        <p:spPr>
          <a:xfrm>
            <a:off x="6400799" y="5650991"/>
            <a:ext cx="56537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7.23 -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224, Figure 7.23. Gap meaning points back to Chapter 3; stochastic is shown but not defined here.</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19 OF 30</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island reversal reading</a:t>
            </a:r>
          </a:p>
        </p:txBody>
      </p:sp>
      <p:sp>
        <p:nvSpPr>
          <p:cNvPr id="6" name="Rectangle 5"/>
          <p:cNvSpPr/>
          <p:nvPr/>
        </p:nvSpPr>
        <p:spPr>
          <a:xfrm>
            <a:off x="777240" y="1207008"/>
            <a:ext cx="4572000" cy="1790065"/>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1148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11480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isolates an island reversal?</a:t>
            </a:r>
          </a:p>
        </p:txBody>
      </p:sp>
      <p:sp>
        <p:nvSpPr>
          <p:cNvPr id="9" name="TextBox 8"/>
          <p:cNvSpPr txBox="1"/>
          <p:nvPr/>
        </p:nvSpPr>
        <p:spPr>
          <a:xfrm>
            <a:off x="1005840" y="1821053"/>
            <a:ext cx="4114800" cy="1102868"/>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 gap up followed by a gap down</a:t>
            </a:r>
          </a:p>
          <a:p>
            <a:pPr algn="l">
              <a:lnSpc>
                <a:spcPct val="105000"/>
              </a:lnSpc>
              <a:spcBef>
                <a:spcPts val="0"/>
              </a:spcBef>
              <a:spcAft>
                <a:spcPts val="200"/>
              </a:spcAft>
            </a:pPr>
            <a:r>
              <a:rPr sz="1700" b="0" i="0">
                <a:solidFill>
                  <a:srgbClr val="FFFFFF"/>
                </a:solidFill>
                <a:latin typeface="Arial"/>
              </a:rPr>
              <a:t>B.  A single wide bar</a:t>
            </a:r>
          </a:p>
          <a:p>
            <a:pPr algn="l">
              <a:lnSpc>
                <a:spcPct val="105000"/>
              </a:lnSpc>
              <a:spcBef>
                <a:spcPts val="0"/>
              </a:spcBef>
              <a:spcAft>
                <a:spcPts val="200"/>
              </a:spcAft>
            </a:pPr>
            <a:r>
              <a:rPr sz="1700" b="0" i="0">
                <a:solidFill>
                  <a:srgbClr val="FFFFFF"/>
                </a:solidFill>
                <a:latin typeface="Arial"/>
              </a:rPr>
              <a:t>C.  A high-volume middle bar</a:t>
            </a:r>
          </a:p>
          <a:p>
            <a:pPr algn="l">
              <a:lnSpc>
                <a:spcPct val="105000"/>
              </a:lnSpc>
              <a:spcBef>
                <a:spcPts val="0"/>
              </a:spcBef>
              <a:spcAft>
                <a:spcPts val="200"/>
              </a:spcAft>
            </a:pPr>
            <a:r>
              <a:rPr sz="1700" b="0" i="0">
                <a:solidFill>
                  <a:srgbClr val="FFFFFF"/>
                </a:solidFill>
                <a:latin typeface="Arial"/>
              </a:rPr>
              <a:t>D.  A trendline only</a:t>
            </a:r>
          </a:p>
        </p:txBody>
      </p:sp>
      <p:sp>
        <p:nvSpPr>
          <p:cNvPr id="10" name="Rectangle 9"/>
          <p:cNvSpPr/>
          <p:nvPr/>
        </p:nvSpPr>
        <p:spPr>
          <a:xfrm>
            <a:off x="777240" y="3088513"/>
            <a:ext cx="45720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179953"/>
            <a:ext cx="41148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381121"/>
            <a:ext cx="411480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is the stochastic label here?</a:t>
            </a:r>
          </a:p>
        </p:txBody>
      </p:sp>
      <p:sp>
        <p:nvSpPr>
          <p:cNvPr id="13" name="TextBox 12"/>
          <p:cNvSpPr txBox="1"/>
          <p:nvPr/>
        </p:nvSpPr>
        <p:spPr>
          <a:xfrm>
            <a:off x="1005840" y="3702557"/>
            <a:ext cx="4114800" cy="1351152"/>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As the island definition</a:t>
            </a:r>
          </a:p>
          <a:p>
            <a:pPr algn="l">
              <a:lnSpc>
                <a:spcPct val="105000"/>
              </a:lnSpc>
              <a:spcBef>
                <a:spcPts val="0"/>
              </a:spcBef>
              <a:spcAft>
                <a:spcPts val="200"/>
              </a:spcAft>
            </a:pPr>
            <a:r>
              <a:rPr sz="1700" b="0" i="0">
                <a:solidFill>
                  <a:srgbClr val="FFFFFF"/>
                </a:solidFill>
                <a:latin typeface="Arial"/>
              </a:rPr>
              <a:t>B.  As a formula taught in this chapter</a:t>
            </a:r>
          </a:p>
          <a:p>
            <a:pPr algn="l">
              <a:lnSpc>
                <a:spcPct val="105000"/>
              </a:lnSpc>
              <a:spcBef>
                <a:spcPts val="0"/>
              </a:spcBef>
              <a:spcAft>
                <a:spcPts val="200"/>
              </a:spcAft>
            </a:pPr>
            <a:r>
              <a:rPr sz="1700" b="0" i="0">
                <a:solidFill>
                  <a:srgbClr val="FFFFFF"/>
                </a:solidFill>
                <a:latin typeface="Arial"/>
              </a:rPr>
              <a:t>C.  As supporting context; Chapter 7 gives no method</a:t>
            </a:r>
          </a:p>
          <a:p>
            <a:pPr algn="l">
              <a:lnSpc>
                <a:spcPct val="105000"/>
              </a:lnSpc>
              <a:spcBef>
                <a:spcPts val="0"/>
              </a:spcBef>
              <a:spcAft>
                <a:spcPts val="200"/>
              </a:spcAft>
            </a:pPr>
            <a:r>
              <a:rPr sz="1700" b="0" i="0">
                <a:solidFill>
                  <a:srgbClr val="FFFFFF"/>
                </a:solidFill>
                <a:latin typeface="Arial"/>
              </a:rPr>
              <a:t>D.  As a guaranteed reversal signal</a:t>
            </a:r>
          </a:p>
        </p:txBody>
      </p:sp>
      <p:sp>
        <p:nvSpPr>
          <p:cNvPr id="14" name="Rectangle 13"/>
          <p:cNvSpPr/>
          <p:nvPr/>
        </p:nvSpPr>
        <p:spPr>
          <a:xfrm>
            <a:off x="6165847" y="1207008"/>
            <a:ext cx="4752039"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84719" y="1325880"/>
            <a:ext cx="4514295"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84719" y="1325880"/>
            <a:ext cx="4514295"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59039" y="1600200"/>
            <a:ext cx="3965655"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7.23</a:t>
            </a:r>
          </a:p>
          <a:p>
            <a:pPr algn="l">
              <a:lnSpc>
                <a:spcPct val="115000"/>
              </a:lnSpc>
              <a:spcBef>
                <a:spcPts val="0"/>
              </a:spcBef>
              <a:spcAft>
                <a:spcPts val="0"/>
              </a:spcAft>
            </a:pPr>
            <a:r>
              <a:rPr sz="1500" b="0" i="0">
                <a:solidFill>
                  <a:srgbClr val="1A1A1A"/>
                </a:solidFill>
                <a:latin typeface="Palatino"/>
              </a:rPr>
              <a:t>The Direxion Gold Miners daily chart: a gap up, an isolated group of bars, a gap down, low volume, and an overbought stochastic label.</a:t>
            </a:r>
          </a:p>
        </p:txBody>
      </p:sp>
      <p:sp>
        <p:nvSpPr>
          <p:cNvPr id="18" name="Oval 17"/>
          <p:cNvSpPr/>
          <p:nvPr/>
        </p:nvSpPr>
        <p:spPr>
          <a:xfrm>
            <a:off x="8225866" y="2478024"/>
            <a:ext cx="316000" cy="617219"/>
          </a:xfrm>
          <a:prstGeom prst="ellipse">
            <a:avLst/>
          </a:prstGeom>
          <a:noFill/>
          <a:ln w="44450">
            <a:solidFill>
              <a:srgbClr val="E09B00"/>
            </a:solidFill>
          </a:ln>
        </p:spPr>
        <p:txBody>
          <a:bodyPr rtlCol="0" anchor="ctr"/>
          <a:lstStyle/>
          <a:p>
            <a:pPr algn="ctr"/>
          </a:p>
        </p:txBody>
      </p:sp>
      <p:sp>
        <p:nvSpPr>
          <p:cNvPr id="19" name="Rectangle 18"/>
          <p:cNvSpPr/>
          <p:nvPr/>
        </p:nvSpPr>
        <p:spPr>
          <a:xfrm>
            <a:off x="8451581" y="1984248"/>
            <a:ext cx="541715" cy="1316735"/>
          </a:xfrm>
          <a:prstGeom prst="rect">
            <a:avLst/>
          </a:prstGeom>
          <a:noFill/>
          <a:ln w="44450">
            <a:solidFill>
              <a:srgbClr val="C62828"/>
            </a:solidFill>
          </a:ln>
        </p:spPr>
        <p:txBody>
          <a:bodyPr rtlCol="0" anchor="ctr"/>
          <a:lstStyle/>
          <a:p>
            <a:pPr algn="ctr"/>
          </a:p>
        </p:txBody>
      </p:sp>
      <p:sp>
        <p:nvSpPr>
          <p:cNvPr id="20" name="Oval 19"/>
          <p:cNvSpPr/>
          <p:nvPr/>
        </p:nvSpPr>
        <p:spPr>
          <a:xfrm>
            <a:off x="9083582" y="2519172"/>
            <a:ext cx="361143" cy="617220"/>
          </a:xfrm>
          <a:prstGeom prst="ellipse">
            <a:avLst/>
          </a:prstGeom>
          <a:noFill/>
          <a:ln w="44450">
            <a:solidFill>
              <a:srgbClr val="1F5FAD"/>
            </a:solidFill>
          </a:ln>
        </p:spPr>
        <p:txBody>
          <a:bodyPr rtlCol="0" anchor="ctr"/>
          <a:lstStyle/>
          <a:p>
            <a:pPr algn="ctr"/>
          </a:p>
        </p:txBody>
      </p:sp>
      <p:sp>
        <p:nvSpPr>
          <p:cNvPr id="21" name="Rectangle 20"/>
          <p:cNvSpPr/>
          <p:nvPr/>
        </p:nvSpPr>
        <p:spPr>
          <a:xfrm>
            <a:off x="7955009" y="4123944"/>
            <a:ext cx="857716" cy="534924"/>
          </a:xfrm>
          <a:prstGeom prst="rect">
            <a:avLst/>
          </a:prstGeom>
          <a:noFill/>
          <a:ln w="44450">
            <a:solidFill>
              <a:srgbClr val="7B3FA0"/>
            </a:solidFill>
          </a:ln>
        </p:spPr>
        <p:txBody>
          <a:bodyPr rtlCol="0" anchor="ctr"/>
          <a:lstStyle/>
          <a:p>
            <a:pPr algn="ctr"/>
          </a:p>
        </p:txBody>
      </p:sp>
      <p:sp>
        <p:nvSpPr>
          <p:cNvPr id="22" name="Rectangle 21"/>
          <p:cNvSpPr/>
          <p:nvPr/>
        </p:nvSpPr>
        <p:spPr>
          <a:xfrm>
            <a:off x="8496724" y="4741164"/>
            <a:ext cx="451429" cy="534924"/>
          </a:xfrm>
          <a:prstGeom prst="rect">
            <a:avLst/>
          </a:prstGeom>
          <a:noFill/>
          <a:ln w="44450">
            <a:solidFill>
              <a:srgbClr val="007A33"/>
            </a:solidFill>
          </a:ln>
        </p:spPr>
        <p:txBody>
          <a:bodyPr rtlCol="0" anchor="ctr"/>
          <a:lstStyle/>
          <a:p>
            <a:pPr algn="ctr"/>
          </a:p>
        </p:txBody>
      </p:sp>
      <p:sp>
        <p:nvSpPr>
          <p:cNvPr id="23" name="Oval 22"/>
          <p:cNvSpPr/>
          <p:nvPr/>
        </p:nvSpPr>
        <p:spPr>
          <a:xfrm>
            <a:off x="7831565" y="2148840"/>
            <a:ext cx="246888" cy="246888"/>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4" name="Oval 23"/>
          <p:cNvSpPr/>
          <p:nvPr/>
        </p:nvSpPr>
        <p:spPr>
          <a:xfrm>
            <a:off x="9140710" y="1655064"/>
            <a:ext cx="246888" cy="246888"/>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5" name="Oval 24"/>
          <p:cNvSpPr/>
          <p:nvPr/>
        </p:nvSpPr>
        <p:spPr>
          <a:xfrm>
            <a:off x="9592140" y="2148840"/>
            <a:ext cx="246888" cy="246888"/>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6" name="Oval 25"/>
          <p:cNvSpPr/>
          <p:nvPr/>
        </p:nvSpPr>
        <p:spPr>
          <a:xfrm>
            <a:off x="7524708" y="4668012"/>
            <a:ext cx="228600" cy="22860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7" name="Oval 26"/>
          <p:cNvSpPr/>
          <p:nvPr/>
        </p:nvSpPr>
        <p:spPr>
          <a:xfrm>
            <a:off x="9149854" y="5120640"/>
            <a:ext cx="228600" cy="228600"/>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28" name="TextBox 27"/>
          <p:cNvSpPr txBox="1"/>
          <p:nvPr/>
        </p:nvSpPr>
        <p:spPr>
          <a:xfrm>
            <a:off x="5669279" y="5650992"/>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7.23 - Lim, The Handbook of Technical Analysis (Wiley, 2016)</a:t>
            </a:r>
          </a:p>
        </p:txBody>
      </p:sp>
      <p:sp>
        <p:nvSpPr>
          <p:cNvPr id="29" name="TextBox 28"/>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19</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island reversal reading</a:t>
            </a:r>
          </a:p>
        </p:txBody>
      </p:sp>
      <p:sp>
        <p:nvSpPr>
          <p:cNvPr id="6" name="Rectangle 5"/>
          <p:cNvSpPr/>
          <p:nvPr/>
        </p:nvSpPr>
        <p:spPr>
          <a:xfrm>
            <a:off x="777240" y="1207008"/>
            <a:ext cx="4572000" cy="206057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06057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02336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isolates an island reversal?</a:t>
            </a:r>
          </a:p>
        </p:txBody>
      </p:sp>
      <p:sp>
        <p:nvSpPr>
          <p:cNvPr id="9" name="TextBox 8"/>
          <p:cNvSpPr txBox="1"/>
          <p:nvPr/>
        </p:nvSpPr>
        <p:spPr>
          <a:xfrm>
            <a:off x="1097280" y="1821053"/>
            <a:ext cx="4023360" cy="144653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A gap up followed by a gap down</a:t>
            </a:r>
          </a:p>
          <a:p>
            <a:pPr algn="l">
              <a:lnSpc>
                <a:spcPct val="115000"/>
              </a:lnSpc>
              <a:spcBef>
                <a:spcPts val="500"/>
              </a:spcBef>
              <a:spcAft>
                <a:spcPts val="0"/>
              </a:spcAft>
            </a:pPr>
            <a:r>
              <a:rPr sz="1700" b="0" i="0">
                <a:solidFill>
                  <a:srgbClr val="1A1A1A"/>
                </a:solidFill>
                <a:latin typeface="Arial"/>
              </a:rPr>
              <a:t>Figure 7.23 shows a gap up before and a gap down after the island.</a:t>
            </a:r>
          </a:p>
        </p:txBody>
      </p:sp>
      <p:sp>
        <p:nvSpPr>
          <p:cNvPr id="10" name="Rectangle 9"/>
          <p:cNvSpPr/>
          <p:nvPr/>
        </p:nvSpPr>
        <p:spPr>
          <a:xfrm>
            <a:off x="777240" y="3450463"/>
            <a:ext cx="4572000" cy="206057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450463"/>
            <a:ext cx="91440" cy="206057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633343"/>
            <a:ext cx="402336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What is the stochastic label here?</a:t>
            </a:r>
          </a:p>
        </p:txBody>
      </p:sp>
      <p:sp>
        <p:nvSpPr>
          <p:cNvPr id="13" name="TextBox 12"/>
          <p:cNvSpPr txBox="1"/>
          <p:nvPr/>
        </p:nvSpPr>
        <p:spPr>
          <a:xfrm>
            <a:off x="1097280" y="4064508"/>
            <a:ext cx="4023360" cy="144653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As supporting context; Chapter 7 gives no method</a:t>
            </a:r>
          </a:p>
          <a:p>
            <a:pPr algn="l">
              <a:lnSpc>
                <a:spcPct val="115000"/>
              </a:lnSpc>
              <a:spcBef>
                <a:spcPts val="500"/>
              </a:spcBef>
              <a:spcAft>
                <a:spcPts val="0"/>
              </a:spcAft>
            </a:pPr>
            <a:r>
              <a:rPr sz="1700" b="0" i="0">
                <a:solidFill>
                  <a:srgbClr val="1A1A1A"/>
                </a:solidFill>
                <a:latin typeface="Arial"/>
              </a:rPr>
              <a:t>It is supporting context; Chapter 7 gives no method.</a:t>
            </a:r>
          </a:p>
        </p:txBody>
      </p:sp>
      <p:sp>
        <p:nvSpPr>
          <p:cNvPr id="14" name="Rectangle 13"/>
          <p:cNvSpPr/>
          <p:nvPr/>
        </p:nvSpPr>
        <p:spPr>
          <a:xfrm>
            <a:off x="6165847" y="1207008"/>
            <a:ext cx="4752039"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84719" y="1325880"/>
            <a:ext cx="4514295"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84719" y="1325880"/>
            <a:ext cx="4514295"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59039" y="1600200"/>
            <a:ext cx="3965655"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7.23</a:t>
            </a:r>
          </a:p>
          <a:p>
            <a:pPr algn="l">
              <a:lnSpc>
                <a:spcPct val="115000"/>
              </a:lnSpc>
              <a:spcBef>
                <a:spcPts val="0"/>
              </a:spcBef>
              <a:spcAft>
                <a:spcPts val="0"/>
              </a:spcAft>
            </a:pPr>
            <a:r>
              <a:rPr sz="1500" b="0" i="0">
                <a:solidFill>
                  <a:srgbClr val="1A1A1A"/>
                </a:solidFill>
                <a:latin typeface="Palatino"/>
              </a:rPr>
              <a:t>The Direxion Gold Miners daily chart: a gap up, an isolated group of bars, a gap down, low volume, and an overbought stochastic label.</a:t>
            </a:r>
          </a:p>
        </p:txBody>
      </p:sp>
      <p:sp>
        <p:nvSpPr>
          <p:cNvPr id="18" name="Oval 17"/>
          <p:cNvSpPr/>
          <p:nvPr/>
        </p:nvSpPr>
        <p:spPr>
          <a:xfrm>
            <a:off x="8225866" y="2478024"/>
            <a:ext cx="316000" cy="617219"/>
          </a:xfrm>
          <a:prstGeom prst="ellipse">
            <a:avLst/>
          </a:prstGeom>
          <a:noFill/>
          <a:ln w="44450">
            <a:solidFill>
              <a:srgbClr val="E09B00"/>
            </a:solidFill>
          </a:ln>
        </p:spPr>
        <p:txBody>
          <a:bodyPr rtlCol="0" anchor="ctr"/>
          <a:lstStyle/>
          <a:p>
            <a:pPr algn="ctr"/>
          </a:p>
        </p:txBody>
      </p:sp>
      <p:sp>
        <p:nvSpPr>
          <p:cNvPr id="19" name="Rectangle 18"/>
          <p:cNvSpPr/>
          <p:nvPr/>
        </p:nvSpPr>
        <p:spPr>
          <a:xfrm>
            <a:off x="8451581" y="1984248"/>
            <a:ext cx="541715" cy="1316735"/>
          </a:xfrm>
          <a:prstGeom prst="rect">
            <a:avLst/>
          </a:prstGeom>
          <a:noFill/>
          <a:ln w="44450">
            <a:solidFill>
              <a:srgbClr val="C62828"/>
            </a:solidFill>
          </a:ln>
        </p:spPr>
        <p:txBody>
          <a:bodyPr rtlCol="0" anchor="ctr"/>
          <a:lstStyle/>
          <a:p>
            <a:pPr algn="ctr"/>
          </a:p>
        </p:txBody>
      </p:sp>
      <p:sp>
        <p:nvSpPr>
          <p:cNvPr id="20" name="Oval 19"/>
          <p:cNvSpPr/>
          <p:nvPr/>
        </p:nvSpPr>
        <p:spPr>
          <a:xfrm>
            <a:off x="9083582" y="2519172"/>
            <a:ext cx="361143" cy="617220"/>
          </a:xfrm>
          <a:prstGeom prst="ellipse">
            <a:avLst/>
          </a:prstGeom>
          <a:noFill/>
          <a:ln w="44450">
            <a:solidFill>
              <a:srgbClr val="1F5FAD"/>
            </a:solidFill>
          </a:ln>
        </p:spPr>
        <p:txBody>
          <a:bodyPr rtlCol="0" anchor="ctr"/>
          <a:lstStyle/>
          <a:p>
            <a:pPr algn="ctr"/>
          </a:p>
        </p:txBody>
      </p:sp>
      <p:sp>
        <p:nvSpPr>
          <p:cNvPr id="21" name="Rectangle 20"/>
          <p:cNvSpPr/>
          <p:nvPr/>
        </p:nvSpPr>
        <p:spPr>
          <a:xfrm>
            <a:off x="7955009" y="4123944"/>
            <a:ext cx="857716" cy="534924"/>
          </a:xfrm>
          <a:prstGeom prst="rect">
            <a:avLst/>
          </a:prstGeom>
          <a:noFill/>
          <a:ln w="44450">
            <a:solidFill>
              <a:srgbClr val="7B3FA0"/>
            </a:solidFill>
          </a:ln>
        </p:spPr>
        <p:txBody>
          <a:bodyPr rtlCol="0" anchor="ctr"/>
          <a:lstStyle/>
          <a:p>
            <a:pPr algn="ctr"/>
          </a:p>
        </p:txBody>
      </p:sp>
      <p:sp>
        <p:nvSpPr>
          <p:cNvPr id="22" name="Rectangle 21"/>
          <p:cNvSpPr/>
          <p:nvPr/>
        </p:nvSpPr>
        <p:spPr>
          <a:xfrm>
            <a:off x="8496724" y="4741164"/>
            <a:ext cx="451429" cy="534924"/>
          </a:xfrm>
          <a:prstGeom prst="rect">
            <a:avLst/>
          </a:prstGeom>
          <a:noFill/>
          <a:ln w="44450">
            <a:solidFill>
              <a:srgbClr val="007A33"/>
            </a:solidFill>
          </a:ln>
        </p:spPr>
        <p:txBody>
          <a:bodyPr rtlCol="0" anchor="ctr"/>
          <a:lstStyle/>
          <a:p>
            <a:pPr algn="ctr"/>
          </a:p>
        </p:txBody>
      </p:sp>
      <p:sp>
        <p:nvSpPr>
          <p:cNvPr id="23" name="Oval 22"/>
          <p:cNvSpPr/>
          <p:nvPr/>
        </p:nvSpPr>
        <p:spPr>
          <a:xfrm>
            <a:off x="7831565" y="2148840"/>
            <a:ext cx="246888" cy="246888"/>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4" name="Oval 23"/>
          <p:cNvSpPr/>
          <p:nvPr/>
        </p:nvSpPr>
        <p:spPr>
          <a:xfrm>
            <a:off x="9140710" y="1655064"/>
            <a:ext cx="246888" cy="246888"/>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5" name="Oval 24"/>
          <p:cNvSpPr/>
          <p:nvPr/>
        </p:nvSpPr>
        <p:spPr>
          <a:xfrm>
            <a:off x="9592140" y="2148840"/>
            <a:ext cx="246888" cy="246888"/>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6" name="Oval 25"/>
          <p:cNvSpPr/>
          <p:nvPr/>
        </p:nvSpPr>
        <p:spPr>
          <a:xfrm>
            <a:off x="7524708" y="4668012"/>
            <a:ext cx="228600" cy="22860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7" name="Oval 26"/>
          <p:cNvSpPr/>
          <p:nvPr/>
        </p:nvSpPr>
        <p:spPr>
          <a:xfrm>
            <a:off x="9149854" y="5120640"/>
            <a:ext cx="228600" cy="228600"/>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28" name="TextBox 27"/>
          <p:cNvSpPr txBox="1"/>
          <p:nvPr/>
        </p:nvSpPr>
        <p:spPr>
          <a:xfrm>
            <a:off x="5669279" y="5650992"/>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7.23 - Lim, The Handbook of Technical Analysis (Wiley, 2016)</a:t>
            </a:r>
          </a:p>
        </p:txBody>
      </p:sp>
      <p:sp>
        <p:nvSpPr>
          <p:cNvPr id="29" name="TextBox 28"/>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19</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 outside bar takes over the whole recent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19 of 62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We now turn from key reversals to outside bars. An outside bar engulfs one or more preceding bars, so its range tells us that the recent balance has been broken.</a:t>
            </a:r>
          </a:p>
          <a:p>
            <a:pPr algn="l">
              <a:lnSpc>
                <a:spcPct val="118000"/>
              </a:lnSpc>
              <a:spcBef>
                <a:spcPts val="0"/>
              </a:spcBef>
              <a:spcAft>
                <a:spcPts val="1300"/>
              </a:spcAft>
            </a:pPr>
            <a:r>
              <a:rPr sz="2100" b="0" i="0">
                <a:solidFill>
                  <a:srgbClr val="1A1A1A"/>
                </a:solidFill>
                <a:latin typeface="Arial"/>
              </a:rPr>
              <a:t>Lim says a larger range, more contained bars, a close near an edge, and high volume can make the reading more reliable (pp. 223 to 224).</a:t>
            </a:r>
          </a:p>
          <a:p>
            <a:pPr algn="l">
              <a:lnSpc>
                <a:spcPct val="118000"/>
              </a:lnSpc>
              <a:spcBef>
                <a:spcPts val="0"/>
              </a:spcBef>
              <a:spcAft>
                <a:spcPts val="1300"/>
              </a:spcAft>
            </a:pPr>
            <a:r>
              <a:rPr sz="2100" b="0" i="0">
                <a:solidFill>
                  <a:srgbClr val="1A1A1A"/>
                </a:solidFill>
                <a:latin typeface="Arial"/>
              </a:rPr>
              <a:t>The close also matters for direction: a bearish close near the low can support a reversal, while a close with the trend can support continuation (p. 223).</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First see the outside range. Then read its close and context.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223 to 224. The worked PHP values are ours, invented.</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an outside bar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outside bar contains both earlier ranges: </a:t>
            </a:r>
            <a:r>
              <a:rPr sz="1700" b="1" i="0">
                <a:solidFill>
                  <a:srgbClr val="E09B00"/>
                </a:solidFill>
                <a:latin typeface="Arial"/>
              </a:rPr>
              <a:t>(1)</a:t>
            </a:r>
            <a:r>
              <a:rPr sz="1700" b="0" i="0">
                <a:solidFill>
                  <a:srgbClr val="1A1A1A"/>
                </a:solidFill>
                <a:latin typeface="Arial"/>
              </a:rPr>
              <a:t> marks its range, and </a:t>
            </a:r>
            <a:r>
              <a:rPr sz="1700" b="1" i="0">
                <a:solidFill>
                  <a:srgbClr val="C62828"/>
                </a:solidFill>
                <a:latin typeface="Arial"/>
              </a:rPr>
              <a:t>(2)</a:t>
            </a:r>
            <a:r>
              <a:rPr sz="1700" b="0" i="0">
                <a:solidFill>
                  <a:srgbClr val="1A1A1A"/>
                </a:solidFill>
                <a:latin typeface="Arial"/>
              </a:rPr>
              <a:t> marks its high at PHP 53.00. The earlier bars stay between PHP 48.00 and PHP 52.00. </a:t>
            </a:r>
            <a:r>
              <a:rPr sz="1700" b="1" i="0">
                <a:solidFill>
                  <a:srgbClr val="1F5FAD"/>
                </a:solidFill>
                <a:latin typeface="Arial"/>
              </a:rPr>
              <a:t>(3)</a:t>
            </a:r>
            <a:r>
              <a:rPr sz="1700" b="0" i="0">
                <a:solidFill>
                  <a:srgbClr val="1A1A1A"/>
                </a:solidFill>
                <a:latin typeface="Arial"/>
              </a:rPr>
              <a:t> marks the outside bar's close at PHP 47.50, near its low of PHP 47.00. Those prices show why the wider range and bearish close can support a short reading (pp. 223 to 224).</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a-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910888"/>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4356658"/>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967874" y="382676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67874"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107215" y="4199882"/>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LA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20 of 62</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LA: invented PHP bars and million-share volume.</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7.24 shows the outside bar taking control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21 of 62</a:t>
            </a:r>
          </a:p>
        </p:txBody>
      </p:sp>
      <p:sp>
        <p:nvSpPr>
          <p:cNvPr id="7" name="TextBox 6"/>
          <p:cNvSpPr txBox="1"/>
          <p:nvPr/>
        </p:nvSpPr>
        <p:spPr>
          <a:xfrm>
            <a:off x="777240" y="1965960"/>
            <a:ext cx="50749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Lim defines it this way: “Outside bars are bars that engulf one or more preceding bars” (p. 223). That is why traders compare the new range with the bars before it.</a:t>
            </a:r>
          </a:p>
          <a:p>
            <a:pPr algn="l">
              <a:lnSpc>
                <a:spcPct val="105000"/>
              </a:lnSpc>
              <a:spcBef>
                <a:spcPts val="0"/>
              </a:spcBef>
              <a:spcAft>
                <a:spcPts val="1100"/>
              </a:spcAft>
            </a:pPr>
            <a:r>
              <a:rPr sz="1800" b="0" i="0">
                <a:solidFill>
                  <a:srgbClr val="1A1A1A"/>
                </a:solidFill>
                <a:latin typeface="Arial"/>
              </a:rPr>
              <a:t>Gold </a:t>
            </a:r>
            <a:r>
              <a:rPr sz="1800" b="1" i="0">
                <a:solidFill>
                  <a:srgbClr val="E09B00"/>
                </a:solidFill>
                <a:latin typeface="Arial"/>
              </a:rPr>
              <a:t>(1)</a:t>
            </a:r>
            <a:r>
              <a:rPr sz="1800" b="0" i="0">
                <a:solidFill>
                  <a:srgbClr val="1A1A1A"/>
                </a:solidFill>
                <a:latin typeface="Arial"/>
              </a:rPr>
              <a:t> marks the 11 bars contained inside the outside range. Red </a:t>
            </a:r>
            <a:r>
              <a:rPr sz="1800" b="1" i="0">
                <a:solidFill>
                  <a:srgbClr val="C62828"/>
                </a:solidFill>
                <a:latin typeface="Arial"/>
              </a:rPr>
              <a:t>(2)</a:t>
            </a:r>
            <a:r>
              <a:rPr sz="1800" b="0" i="0">
                <a:solidFill>
                  <a:srgbClr val="1A1A1A"/>
                </a:solidFill>
                <a:latin typeface="Arial"/>
              </a:rPr>
              <a:t> marks the outside bar's high-to-low range.</a:t>
            </a:r>
          </a:p>
          <a:p>
            <a:pPr algn="l">
              <a:lnSpc>
                <a:spcPct val="105000"/>
              </a:lnSpc>
              <a:spcBef>
                <a:spcPts val="0"/>
              </a:spcBef>
              <a:spcAft>
                <a:spcPts val="1100"/>
              </a:spcAft>
            </a:pPr>
            <a:r>
              <a:rPr sz="1800" b="0" i="0">
                <a:solidFill>
                  <a:srgbClr val="1A1A1A"/>
                </a:solidFill>
                <a:latin typeface="Arial"/>
              </a:rPr>
              <a:t>Blue </a:t>
            </a:r>
            <a:r>
              <a:rPr sz="1800" b="1" i="0">
                <a:solidFill>
                  <a:srgbClr val="1F5FAD"/>
                </a:solidFill>
                <a:latin typeface="Arial"/>
              </a:rPr>
              <a:t>(3)</a:t>
            </a:r>
            <a:r>
              <a:rPr sz="1800" b="0" i="0">
                <a:solidFill>
                  <a:srgbClr val="1A1A1A"/>
                </a:solidFill>
                <a:latin typeface="Arial"/>
              </a:rPr>
              <a:t> marks the close near the low. A bearish outside bar can support a short reading, but the book does not make it certain.</a:t>
            </a:r>
          </a:p>
        </p:txBody>
      </p:sp>
      <p:sp>
        <p:nvSpPr>
          <p:cNvPr id="8" name="Rectangle 7"/>
          <p:cNvSpPr/>
          <p:nvPr/>
        </p:nvSpPr>
        <p:spPr>
          <a:xfrm>
            <a:off x="6172199" y="1810512"/>
            <a:ext cx="5242255" cy="3246408"/>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91071" y="1929384"/>
            <a:ext cx="5004511" cy="3008664"/>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91071" y="1929384"/>
            <a:ext cx="500451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65391" y="2203703"/>
            <a:ext cx="4455871" cy="255146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7.24</a:t>
            </a:r>
          </a:p>
          <a:p>
            <a:pPr algn="l">
              <a:lnSpc>
                <a:spcPct val="115000"/>
              </a:lnSpc>
              <a:spcBef>
                <a:spcPts val="0"/>
              </a:spcBef>
              <a:spcAft>
                <a:spcPts val="0"/>
              </a:spcAft>
            </a:pPr>
            <a:r>
              <a:rPr sz="1500" b="0" i="0">
                <a:solidFill>
                  <a:srgbClr val="1A1A1A"/>
                </a:solidFill>
                <a:latin typeface="Palatino"/>
              </a:rPr>
              <a:t>ITC Holdings daily chart. The marked outside bar contains 11 preceding bars, breaks the uptrend line, and closes near its low.</a:t>
            </a:r>
          </a:p>
        </p:txBody>
      </p:sp>
      <p:sp>
        <p:nvSpPr>
          <p:cNvPr id="12" name="Rectangle 11"/>
          <p:cNvSpPr/>
          <p:nvPr/>
        </p:nvSpPr>
        <p:spPr>
          <a:xfrm>
            <a:off x="8042650" y="2170077"/>
            <a:ext cx="950857" cy="1022945"/>
          </a:xfrm>
          <a:prstGeom prst="rect">
            <a:avLst/>
          </a:prstGeom>
          <a:noFill/>
          <a:ln w="44450">
            <a:solidFill>
              <a:srgbClr val="E09B00"/>
            </a:solidFill>
          </a:ln>
        </p:spPr>
        <p:txBody>
          <a:bodyPr rtlCol="0" anchor="ctr"/>
          <a:lstStyle/>
          <a:p>
            <a:pPr algn="ctr"/>
          </a:p>
        </p:txBody>
      </p:sp>
      <p:sp>
        <p:nvSpPr>
          <p:cNvPr id="13" name="Rectangle 12"/>
          <p:cNvSpPr/>
          <p:nvPr/>
        </p:nvSpPr>
        <p:spPr>
          <a:xfrm>
            <a:off x="8793327" y="2170077"/>
            <a:ext cx="500451" cy="1022945"/>
          </a:xfrm>
          <a:prstGeom prst="rect">
            <a:avLst/>
          </a:prstGeom>
          <a:noFill/>
          <a:ln w="44450">
            <a:solidFill>
              <a:srgbClr val="C62828"/>
            </a:solidFill>
          </a:ln>
        </p:spPr>
        <p:txBody>
          <a:bodyPr rtlCol="0" anchor="ctr"/>
          <a:lstStyle/>
          <a:p>
            <a:pPr algn="ctr"/>
          </a:p>
        </p:txBody>
      </p:sp>
      <p:sp>
        <p:nvSpPr>
          <p:cNvPr id="14" name="Oval 13"/>
          <p:cNvSpPr/>
          <p:nvPr/>
        </p:nvSpPr>
        <p:spPr>
          <a:xfrm>
            <a:off x="8743282" y="2952329"/>
            <a:ext cx="300270" cy="210606"/>
          </a:xfrm>
          <a:prstGeom prst="ellipse">
            <a:avLst/>
          </a:prstGeom>
          <a:noFill/>
          <a:ln w="44450">
            <a:solidFill>
              <a:srgbClr val="1F5FAD"/>
            </a:solidFill>
          </a:ln>
        </p:spPr>
        <p:txBody>
          <a:bodyPr rtlCol="0" anchor="ctr"/>
          <a:lstStyle/>
          <a:p>
            <a:pPr algn="ctr"/>
          </a:p>
        </p:txBody>
      </p:sp>
      <p:sp>
        <p:nvSpPr>
          <p:cNvPr id="15" name="Oval 14"/>
          <p:cNvSpPr/>
          <p:nvPr/>
        </p:nvSpPr>
        <p:spPr>
          <a:xfrm>
            <a:off x="7586932" y="195445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438601" y="243584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138330" y="315792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72199" y="5148360"/>
            <a:ext cx="524225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224, Figure 7.24. The crop and marks are for teaching; the worked PHP values are ours, invented.</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outside bar matters more when the surrounding trend breaks too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22 of 62</a:t>
            </a:r>
          </a:p>
        </p:txBody>
      </p:sp>
      <p:sp>
        <p:nvSpPr>
          <p:cNvPr id="7" name="TextBox 6"/>
          <p:cNvSpPr txBox="1"/>
          <p:nvPr/>
        </p:nvSpPr>
        <p:spPr>
          <a:xfrm>
            <a:off x="777240" y="1965960"/>
            <a:ext cx="507492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same figure keeps the context visible because a bar pattern is read with the trend around it.</a:t>
            </a:r>
          </a:p>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contained bars. Red </a:t>
            </a:r>
            <a:r>
              <a:rPr sz="2000" b="1" i="0">
                <a:solidFill>
                  <a:srgbClr val="C62828"/>
                </a:solidFill>
                <a:latin typeface="Arial"/>
              </a:rPr>
              <a:t>(2)</a:t>
            </a:r>
            <a:r>
              <a:rPr sz="2000" b="0" i="0">
                <a:solidFill>
                  <a:srgbClr val="1A1A1A"/>
                </a:solidFill>
                <a:latin typeface="Arial"/>
              </a:rPr>
              <a:t> marks the trendline violation at the outside-bar break.</a:t>
            </a:r>
          </a:p>
          <a:p>
            <a:pPr algn="l">
              <a:lnSpc>
                <a:spcPct val="105000"/>
              </a:lnSpc>
              <a:spcBef>
                <a:spcPts val="0"/>
              </a:spcBef>
              <a:spcAft>
                <a:spcPts val="1100"/>
              </a:spcAft>
            </a:pPr>
            <a:r>
              <a:rPr sz="2000" b="0" i="0">
                <a:solidFill>
                  <a:srgbClr val="1A1A1A"/>
                </a:solidFill>
                <a:latin typeface="Arial"/>
              </a:rPr>
              <a:t>Blue </a:t>
            </a:r>
            <a:r>
              <a:rPr sz="2000" b="1" i="0">
                <a:solidFill>
                  <a:srgbClr val="1F5FAD"/>
                </a:solidFill>
                <a:latin typeface="Arial"/>
              </a:rPr>
              <a:t>(3)</a:t>
            </a:r>
            <a:r>
              <a:rPr sz="2000" b="0" i="0">
                <a:solidFill>
                  <a:srgbClr val="1A1A1A"/>
                </a:solidFill>
                <a:latin typeface="Arial"/>
              </a:rPr>
              <a:t> marks the bearish close near the low. Read the trendline break and the close together, not either mark alone.</a:t>
            </a:r>
          </a:p>
        </p:txBody>
      </p:sp>
      <p:sp>
        <p:nvSpPr>
          <p:cNvPr id="8" name="Rectangle 7"/>
          <p:cNvSpPr/>
          <p:nvPr/>
        </p:nvSpPr>
        <p:spPr>
          <a:xfrm>
            <a:off x="6172199" y="1810512"/>
            <a:ext cx="5242255" cy="3246408"/>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91071" y="1929384"/>
            <a:ext cx="5004511" cy="3008664"/>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91071" y="1929384"/>
            <a:ext cx="500451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65391" y="2203703"/>
            <a:ext cx="4455871" cy="255146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7.24</a:t>
            </a:r>
          </a:p>
          <a:p>
            <a:pPr algn="l">
              <a:lnSpc>
                <a:spcPct val="115000"/>
              </a:lnSpc>
              <a:spcBef>
                <a:spcPts val="0"/>
              </a:spcBef>
              <a:spcAft>
                <a:spcPts val="0"/>
              </a:spcAft>
            </a:pPr>
            <a:r>
              <a:rPr sz="1500" b="0" i="0">
                <a:solidFill>
                  <a:srgbClr val="1A1A1A"/>
                </a:solidFill>
                <a:latin typeface="Palatino"/>
              </a:rPr>
              <a:t>ITC Holdings daily chart. The marked outside bar contains 11 preceding bars, breaks the uptrend line, and closes near its low.</a:t>
            </a:r>
          </a:p>
        </p:txBody>
      </p:sp>
      <p:sp>
        <p:nvSpPr>
          <p:cNvPr id="12" name="Rectangle 11"/>
          <p:cNvSpPr/>
          <p:nvPr/>
        </p:nvSpPr>
        <p:spPr>
          <a:xfrm>
            <a:off x="8042650" y="2170077"/>
            <a:ext cx="950857" cy="1022945"/>
          </a:xfrm>
          <a:prstGeom prst="rect">
            <a:avLst/>
          </a:prstGeom>
          <a:noFill/>
          <a:ln w="44450">
            <a:solidFill>
              <a:srgbClr val="E09B00"/>
            </a:solidFill>
          </a:ln>
        </p:spPr>
        <p:txBody>
          <a:bodyPr rtlCol="0" anchor="ctr"/>
          <a:lstStyle/>
          <a:p>
            <a:pPr algn="ctr"/>
          </a:p>
        </p:txBody>
      </p:sp>
      <p:sp>
        <p:nvSpPr>
          <p:cNvPr id="13" name="Oval 12"/>
          <p:cNvSpPr/>
          <p:nvPr/>
        </p:nvSpPr>
        <p:spPr>
          <a:xfrm>
            <a:off x="8893417" y="2681550"/>
            <a:ext cx="300270" cy="421213"/>
          </a:xfrm>
          <a:prstGeom prst="ellipse">
            <a:avLst/>
          </a:prstGeom>
          <a:noFill/>
          <a:ln w="44450">
            <a:solidFill>
              <a:srgbClr val="C62828"/>
            </a:solidFill>
          </a:ln>
        </p:spPr>
        <p:txBody>
          <a:bodyPr rtlCol="0" anchor="ctr"/>
          <a:lstStyle/>
          <a:p>
            <a:pPr algn="ctr"/>
          </a:p>
        </p:txBody>
      </p:sp>
      <p:sp>
        <p:nvSpPr>
          <p:cNvPr id="14" name="Oval 13"/>
          <p:cNvSpPr/>
          <p:nvPr/>
        </p:nvSpPr>
        <p:spPr>
          <a:xfrm>
            <a:off x="8893417" y="3012503"/>
            <a:ext cx="300270" cy="240693"/>
          </a:xfrm>
          <a:prstGeom prst="ellipse">
            <a:avLst/>
          </a:prstGeom>
          <a:noFill/>
          <a:ln w="44450">
            <a:solidFill>
              <a:srgbClr val="1F5FAD"/>
            </a:solidFill>
          </a:ln>
        </p:spPr>
        <p:txBody>
          <a:bodyPr rtlCol="0" anchor="ctr"/>
          <a:lstStyle/>
          <a:p>
            <a:pPr algn="ctr"/>
          </a:p>
        </p:txBody>
      </p:sp>
      <p:sp>
        <p:nvSpPr>
          <p:cNvPr id="15" name="Oval 14"/>
          <p:cNvSpPr/>
          <p:nvPr/>
        </p:nvSpPr>
        <p:spPr>
          <a:xfrm>
            <a:off x="7586932" y="195445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138330" y="243584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188375" y="318800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72199" y="5148360"/>
            <a:ext cx="524225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224, Figure 7.24. The crop and marks are for teaching; the worked PHP values are ours, invented.</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20 OF 30</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outside bars</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must a bearish outside bar's range contain?</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Only the current bar's body</a:t>
            </a:r>
          </a:p>
          <a:p>
            <a:pPr algn="l">
              <a:lnSpc>
                <a:spcPct val="105000"/>
              </a:lnSpc>
              <a:spcBef>
                <a:spcPts val="0"/>
              </a:spcBef>
              <a:spcAft>
                <a:spcPts val="200"/>
              </a:spcAft>
            </a:pPr>
            <a:r>
              <a:rPr sz="1700" b="0" i="0">
                <a:solidFill>
                  <a:srgbClr val="FFFFFF"/>
                </a:solidFill>
                <a:latin typeface="Arial"/>
              </a:rPr>
              <a:t>B.  One or more prior bars</a:t>
            </a:r>
          </a:p>
          <a:p>
            <a:pPr algn="l">
              <a:lnSpc>
                <a:spcPct val="105000"/>
              </a:lnSpc>
              <a:spcBef>
                <a:spcPts val="0"/>
              </a:spcBef>
              <a:spcAft>
                <a:spcPts val="200"/>
              </a:spcAft>
            </a:pPr>
            <a:r>
              <a:rPr sz="1700" b="0" i="0">
                <a:solidFill>
                  <a:srgbClr val="FFFFFF"/>
                </a:solidFill>
                <a:latin typeface="Arial"/>
              </a:rPr>
              <a:t>C.  A gap on both sides</a:t>
            </a:r>
          </a:p>
          <a:p>
            <a:pPr algn="l">
              <a:lnSpc>
                <a:spcPct val="105000"/>
              </a:lnSpc>
              <a:spcBef>
                <a:spcPts val="0"/>
              </a:spcBef>
              <a:spcAft>
                <a:spcPts val="200"/>
              </a:spcAft>
            </a:pPr>
            <a:r>
              <a:rPr sz="1700" b="0" i="0">
                <a:solidFill>
                  <a:srgbClr val="FFFFFF"/>
                </a:solidFill>
                <a:latin typeface="Arial"/>
              </a:rPr>
              <a:t>D.  Only the volume bars</a:t>
            </a:r>
          </a:p>
        </p:txBody>
      </p:sp>
      <p:sp>
        <p:nvSpPr>
          <p:cNvPr id="10" name="Rectangle 9"/>
          <p:cNvSpPr/>
          <p:nvPr/>
        </p:nvSpPr>
        <p:spPr>
          <a:xfrm>
            <a:off x="777240" y="3336798"/>
            <a:ext cx="50292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close is more reliable for a bearish outside-bar reading?</a:t>
            </a:r>
          </a:p>
        </p:txBody>
      </p:sp>
      <p:sp>
        <p:nvSpPr>
          <p:cNvPr id="13" name="TextBox 12"/>
          <p:cNvSpPr txBox="1"/>
          <p:nvPr/>
        </p:nvSpPr>
        <p:spPr>
          <a:xfrm>
            <a:off x="1005840" y="419912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 close near the low</a:t>
            </a:r>
          </a:p>
          <a:p>
            <a:pPr algn="l">
              <a:lnSpc>
                <a:spcPct val="105000"/>
              </a:lnSpc>
              <a:spcBef>
                <a:spcPts val="0"/>
              </a:spcBef>
              <a:spcAft>
                <a:spcPts val="200"/>
              </a:spcAft>
            </a:pPr>
            <a:r>
              <a:rPr sz="1700" b="0" i="0">
                <a:solidFill>
                  <a:srgbClr val="FFFFFF"/>
                </a:solidFill>
                <a:latin typeface="Arial"/>
              </a:rPr>
              <a:t>B.  A close near the middle</a:t>
            </a:r>
          </a:p>
          <a:p>
            <a:pPr algn="l">
              <a:lnSpc>
                <a:spcPct val="105000"/>
              </a:lnSpc>
              <a:spcBef>
                <a:spcPts val="0"/>
              </a:spcBef>
              <a:spcAft>
                <a:spcPts val="200"/>
              </a:spcAft>
            </a:pPr>
            <a:r>
              <a:rPr sz="1700" b="0" i="0">
                <a:solidFill>
                  <a:srgbClr val="FFFFFF"/>
                </a:solidFill>
                <a:latin typeface="Arial"/>
              </a:rPr>
              <a:t>C.  A close near the high</a:t>
            </a:r>
          </a:p>
          <a:p>
            <a:pPr algn="l">
              <a:lnSpc>
                <a:spcPct val="105000"/>
              </a:lnSpc>
              <a:spcBef>
                <a:spcPts val="0"/>
              </a:spcBef>
              <a:spcAft>
                <a:spcPts val="200"/>
              </a:spcAft>
            </a:pPr>
            <a:r>
              <a:rPr sz="1700" b="0" i="0">
                <a:solidFill>
                  <a:srgbClr val="FFFFFF"/>
                </a:solidFill>
                <a:latin typeface="Arial"/>
              </a:rPr>
              <a:t>D.  The close does not matter</a:t>
            </a:r>
          </a:p>
        </p:txBody>
      </p:sp>
      <p:sp>
        <p:nvSpPr>
          <p:cNvPr id="14" name="Rectangle 13"/>
          <p:cNvSpPr/>
          <p:nvPr/>
        </p:nvSpPr>
        <p:spPr>
          <a:xfrm>
            <a:off x="6126479" y="1207008"/>
            <a:ext cx="5287975" cy="327389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303615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5789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7.24</a:t>
            </a:r>
          </a:p>
          <a:p>
            <a:pPr algn="l">
              <a:lnSpc>
                <a:spcPct val="115000"/>
              </a:lnSpc>
              <a:spcBef>
                <a:spcPts val="0"/>
              </a:spcBef>
              <a:spcAft>
                <a:spcPts val="0"/>
              </a:spcAft>
            </a:pPr>
            <a:r>
              <a:rPr sz="1500" b="0" i="0">
                <a:solidFill>
                  <a:srgbClr val="1A1A1A"/>
                </a:solidFill>
                <a:latin typeface="Palatino"/>
              </a:rPr>
              <a:t>ITC Holdings daily chart. The marked outside bar contains 11 preceding bars, breaks the uptrend line, and closes near its low.</a:t>
            </a:r>
          </a:p>
        </p:txBody>
      </p:sp>
      <p:sp>
        <p:nvSpPr>
          <p:cNvPr id="18" name="Rectangle 17"/>
          <p:cNvSpPr/>
          <p:nvPr/>
        </p:nvSpPr>
        <p:spPr>
          <a:xfrm>
            <a:off x="8012932" y="1568772"/>
            <a:ext cx="959543" cy="1032291"/>
          </a:xfrm>
          <a:prstGeom prst="rect">
            <a:avLst/>
          </a:prstGeom>
          <a:noFill/>
          <a:ln w="44450">
            <a:solidFill>
              <a:srgbClr val="E09B00"/>
            </a:solidFill>
          </a:ln>
        </p:spPr>
        <p:txBody>
          <a:bodyPr rtlCol="0" anchor="ctr"/>
          <a:lstStyle/>
          <a:p>
            <a:pPr algn="ctr"/>
          </a:p>
        </p:txBody>
      </p:sp>
      <p:sp>
        <p:nvSpPr>
          <p:cNvPr id="19" name="Rectangle 18"/>
          <p:cNvSpPr/>
          <p:nvPr/>
        </p:nvSpPr>
        <p:spPr>
          <a:xfrm>
            <a:off x="8770467" y="1568772"/>
            <a:ext cx="505023" cy="1032291"/>
          </a:xfrm>
          <a:prstGeom prst="rect">
            <a:avLst/>
          </a:prstGeom>
          <a:noFill/>
          <a:ln w="44450">
            <a:solidFill>
              <a:srgbClr val="C62828"/>
            </a:solidFill>
          </a:ln>
        </p:spPr>
        <p:txBody>
          <a:bodyPr rtlCol="0" anchor="ctr"/>
          <a:lstStyle/>
          <a:p>
            <a:pPr algn="ctr"/>
          </a:p>
        </p:txBody>
      </p:sp>
      <p:sp>
        <p:nvSpPr>
          <p:cNvPr id="20" name="Oval 19"/>
          <p:cNvSpPr/>
          <p:nvPr/>
        </p:nvSpPr>
        <p:spPr>
          <a:xfrm>
            <a:off x="8719965" y="2358171"/>
            <a:ext cx="303013" cy="212530"/>
          </a:xfrm>
          <a:prstGeom prst="ellipse">
            <a:avLst/>
          </a:prstGeom>
          <a:noFill/>
          <a:ln w="44450">
            <a:solidFill>
              <a:srgbClr val="1F5FAD"/>
            </a:solidFill>
          </a:ln>
        </p:spPr>
        <p:txBody>
          <a:bodyPr rtlCol="0" anchor="ctr"/>
          <a:lstStyle/>
          <a:p>
            <a:pPr algn="ctr"/>
          </a:p>
        </p:txBody>
      </p:sp>
      <p:sp>
        <p:nvSpPr>
          <p:cNvPr id="21" name="Oval 20"/>
          <p:cNvSpPr/>
          <p:nvPr/>
        </p:nvSpPr>
        <p:spPr>
          <a:xfrm>
            <a:off x="7554470" y="135260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423056" y="183838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120042" y="256706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4572342"/>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7.24 -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20</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outside bars</a:t>
            </a:r>
          </a:p>
        </p:txBody>
      </p:sp>
      <p:sp>
        <p:nvSpPr>
          <p:cNvPr id="6" name="Rectangle 5"/>
          <p:cNvSpPr/>
          <p:nvPr/>
        </p:nvSpPr>
        <p:spPr>
          <a:xfrm>
            <a:off x="777240" y="1207008"/>
            <a:ext cx="5029200" cy="176847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76847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must a bearish outside bar's range contain?</a:t>
            </a:r>
          </a:p>
        </p:txBody>
      </p:sp>
      <p:sp>
        <p:nvSpPr>
          <p:cNvPr id="9" name="TextBox 8"/>
          <p:cNvSpPr txBox="1"/>
          <p:nvPr/>
        </p:nvSpPr>
        <p:spPr>
          <a:xfrm>
            <a:off x="1097280" y="2069338"/>
            <a:ext cx="4480560" cy="906144"/>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One or more prior bars</a:t>
            </a:r>
          </a:p>
          <a:p>
            <a:pPr algn="l">
              <a:lnSpc>
                <a:spcPct val="115000"/>
              </a:lnSpc>
              <a:spcBef>
                <a:spcPts val="500"/>
              </a:spcBef>
              <a:spcAft>
                <a:spcPts val="0"/>
              </a:spcAft>
            </a:pPr>
            <a:r>
              <a:rPr sz="1700" b="0" i="0">
                <a:solidFill>
                  <a:srgbClr val="1A1A1A"/>
                </a:solidFill>
                <a:latin typeface="Arial"/>
              </a:rPr>
              <a:t>It engulfs preceding bars (Lim, p. 223).
</a:t>
            </a:r>
          </a:p>
        </p:txBody>
      </p:sp>
      <p:sp>
        <p:nvSpPr>
          <p:cNvPr id="10" name="Rectangle 9"/>
          <p:cNvSpPr/>
          <p:nvPr/>
        </p:nvSpPr>
        <p:spPr>
          <a:xfrm>
            <a:off x="777240" y="3158363"/>
            <a:ext cx="5029200" cy="226504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158363"/>
            <a:ext cx="91440" cy="226504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341243"/>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Which close is more reliable for a bearish outside-bar reading?</a:t>
            </a:r>
          </a:p>
        </p:txBody>
      </p:sp>
      <p:sp>
        <p:nvSpPr>
          <p:cNvPr id="13" name="TextBox 12"/>
          <p:cNvSpPr txBox="1"/>
          <p:nvPr/>
        </p:nvSpPr>
        <p:spPr>
          <a:xfrm>
            <a:off x="1097280" y="4020693"/>
            <a:ext cx="4480560" cy="1402715"/>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A close near the low</a:t>
            </a:r>
          </a:p>
          <a:p>
            <a:pPr algn="l">
              <a:lnSpc>
                <a:spcPct val="115000"/>
              </a:lnSpc>
              <a:spcBef>
                <a:spcPts val="500"/>
              </a:spcBef>
              <a:spcAft>
                <a:spcPts val="0"/>
              </a:spcAft>
            </a:pPr>
            <a:r>
              <a:rPr sz="1700" b="0" i="0">
                <a:solidFill>
                  <a:srgbClr val="1A1A1A"/>
                </a:solidFill>
                <a:latin typeface="Arial"/>
              </a:rPr>
              <a:t>Lim says closes near the low are generally more reliable for the bearish reading (p. 223).</a:t>
            </a:r>
          </a:p>
        </p:txBody>
      </p:sp>
      <p:sp>
        <p:nvSpPr>
          <p:cNvPr id="14" name="Rectangle 13"/>
          <p:cNvSpPr/>
          <p:nvPr/>
        </p:nvSpPr>
        <p:spPr>
          <a:xfrm>
            <a:off x="6126479" y="1207008"/>
            <a:ext cx="5287975" cy="327389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303615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5789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7.24</a:t>
            </a:r>
          </a:p>
          <a:p>
            <a:pPr algn="l">
              <a:lnSpc>
                <a:spcPct val="115000"/>
              </a:lnSpc>
              <a:spcBef>
                <a:spcPts val="0"/>
              </a:spcBef>
              <a:spcAft>
                <a:spcPts val="0"/>
              </a:spcAft>
            </a:pPr>
            <a:r>
              <a:rPr sz="1500" b="0" i="0">
                <a:solidFill>
                  <a:srgbClr val="1A1A1A"/>
                </a:solidFill>
                <a:latin typeface="Palatino"/>
              </a:rPr>
              <a:t>ITC Holdings daily chart. The marked outside bar contains 11 preceding bars, breaks the uptrend line, and closes near its low.</a:t>
            </a:r>
          </a:p>
        </p:txBody>
      </p:sp>
      <p:sp>
        <p:nvSpPr>
          <p:cNvPr id="18" name="Rectangle 17"/>
          <p:cNvSpPr/>
          <p:nvPr/>
        </p:nvSpPr>
        <p:spPr>
          <a:xfrm>
            <a:off x="8012932" y="1568772"/>
            <a:ext cx="959543" cy="1032291"/>
          </a:xfrm>
          <a:prstGeom prst="rect">
            <a:avLst/>
          </a:prstGeom>
          <a:noFill/>
          <a:ln w="44450">
            <a:solidFill>
              <a:srgbClr val="E09B00"/>
            </a:solidFill>
          </a:ln>
        </p:spPr>
        <p:txBody>
          <a:bodyPr rtlCol="0" anchor="ctr"/>
          <a:lstStyle/>
          <a:p>
            <a:pPr algn="ctr"/>
          </a:p>
        </p:txBody>
      </p:sp>
      <p:sp>
        <p:nvSpPr>
          <p:cNvPr id="19" name="Rectangle 18"/>
          <p:cNvSpPr/>
          <p:nvPr/>
        </p:nvSpPr>
        <p:spPr>
          <a:xfrm>
            <a:off x="8770467" y="1568772"/>
            <a:ext cx="505023" cy="1032291"/>
          </a:xfrm>
          <a:prstGeom prst="rect">
            <a:avLst/>
          </a:prstGeom>
          <a:noFill/>
          <a:ln w="44450">
            <a:solidFill>
              <a:srgbClr val="C62828"/>
            </a:solidFill>
          </a:ln>
        </p:spPr>
        <p:txBody>
          <a:bodyPr rtlCol="0" anchor="ctr"/>
          <a:lstStyle/>
          <a:p>
            <a:pPr algn="ctr"/>
          </a:p>
        </p:txBody>
      </p:sp>
      <p:sp>
        <p:nvSpPr>
          <p:cNvPr id="20" name="Oval 19"/>
          <p:cNvSpPr/>
          <p:nvPr/>
        </p:nvSpPr>
        <p:spPr>
          <a:xfrm>
            <a:off x="8719965" y="2358171"/>
            <a:ext cx="303013" cy="212530"/>
          </a:xfrm>
          <a:prstGeom prst="ellipse">
            <a:avLst/>
          </a:prstGeom>
          <a:noFill/>
          <a:ln w="44450">
            <a:solidFill>
              <a:srgbClr val="1F5FAD"/>
            </a:solidFill>
          </a:ln>
        </p:spPr>
        <p:txBody>
          <a:bodyPr rtlCol="0" anchor="ctr"/>
          <a:lstStyle/>
          <a:p>
            <a:pPr algn="ctr"/>
          </a:p>
        </p:txBody>
      </p:sp>
      <p:sp>
        <p:nvSpPr>
          <p:cNvPr id="21" name="Oval 20"/>
          <p:cNvSpPr/>
          <p:nvPr/>
        </p:nvSpPr>
        <p:spPr>
          <a:xfrm>
            <a:off x="7554470" y="135260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423056" y="183838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120042" y="256706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4572342"/>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7.24 -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20</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 inside bar pauses inside the previous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23 of 62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outside bar expanded the range. An inside bar does the opposite: its high and low stay within the preceding bar's range, so price is pausing inside it.</a:t>
            </a:r>
          </a:p>
          <a:p>
            <a:pPr algn="l">
              <a:lnSpc>
                <a:spcPct val="118000"/>
              </a:lnSpc>
              <a:spcBef>
                <a:spcPts val="0"/>
              </a:spcBef>
              <a:spcAft>
                <a:spcPts val="1300"/>
              </a:spcAft>
            </a:pPr>
            <a:r>
              <a:rPr sz="2100" b="0" i="0">
                <a:solidFill>
                  <a:srgbClr val="1A1A1A"/>
                </a:solidFill>
                <a:latin typeface="Arial"/>
              </a:rPr>
              <a:t>Lim treats it as a reversal bar when the first bar is wide on high volume and the second is narrow on very low volume (p. 224), especially at a barrier such as resistance.</a:t>
            </a:r>
          </a:p>
        </p:txBody>
      </p:sp>
      <p:sp>
        <p:nvSpPr>
          <p:cNvPr id="8" name="Rectangle 7"/>
          <p:cNvSpPr/>
          <p:nvPr/>
        </p:nvSpPr>
        <p:spPr>
          <a:xfrm>
            <a:off x="777240" y="4216145"/>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52721"/>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Inside means contained, not engulfing. We will compare the names after this example.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224. The worked PHP values are ours, invented.</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an inside bar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wide first bar </a:t>
            </a:r>
            <a:r>
              <a:rPr sz="1700" b="1" i="0">
                <a:solidFill>
                  <a:srgbClr val="E09B00"/>
                </a:solidFill>
                <a:latin typeface="Arial"/>
              </a:rPr>
              <a:t>(1)</a:t>
            </a:r>
            <a:r>
              <a:rPr sz="1700" b="0" i="0">
                <a:solidFill>
                  <a:srgbClr val="1A1A1A"/>
                </a:solidFill>
                <a:latin typeface="Arial"/>
              </a:rPr>
              <a:t> runs PHP 48.00 to PHP 53.00 on 4.5 million shares; the narrow second </a:t>
            </a:r>
            <a:r>
              <a:rPr sz="1700" b="1" i="0">
                <a:solidFill>
                  <a:srgbClr val="C62828"/>
                </a:solidFill>
                <a:latin typeface="Arial"/>
              </a:rPr>
              <a:t>(2)</a:t>
            </a:r>
            <a:r>
              <a:rPr sz="1700" b="0" i="0">
                <a:solidFill>
                  <a:srgbClr val="1A1A1A"/>
                </a:solidFill>
                <a:latin typeface="Arial"/>
              </a:rPr>
              <a:t> runs PHP 49.20 to PHP 52.50 on 0.5 million. </a:t>
            </a:r>
            <a:r>
              <a:rPr sz="1700" b="1" i="0">
                <a:solidFill>
                  <a:srgbClr val="C62828"/>
                </a:solidFill>
                <a:latin typeface="Arial"/>
              </a:rPr>
              <a:t>(2)</a:t>
            </a:r>
            <a:r>
              <a:rPr sz="1700" b="0" i="0">
                <a:solidFill>
                  <a:srgbClr val="1A1A1A"/>
                </a:solidFill>
                <a:latin typeface="Arial"/>
              </a:rPr>
              <a:t> stays inside </a:t>
            </a:r>
            <a:r>
              <a:rPr sz="1700" b="1" i="0">
                <a:solidFill>
                  <a:srgbClr val="E09B00"/>
                </a:solidFill>
                <a:latin typeface="Arial"/>
              </a:rPr>
              <a:t>(1)</a:t>
            </a:r>
            <a:r>
              <a:rPr sz="1700" b="0" i="0">
                <a:solidFill>
                  <a:srgbClr val="1A1A1A"/>
                </a:solidFill>
                <a:latin typeface="Arial"/>
              </a:rPr>
              <a:t>. </a:t>
            </a:r>
            <a:r>
              <a:rPr sz="1700" b="1" i="0">
                <a:solidFill>
                  <a:srgbClr val="1F5FAD"/>
                </a:solidFill>
                <a:latin typeface="Arial"/>
              </a:rPr>
              <a:t>(3)</a:t>
            </a:r>
            <a:r>
              <a:rPr sz="1700" b="0" i="0">
                <a:solidFill>
                  <a:srgbClr val="1A1A1A"/>
                </a:solidFill>
                <a:latin typeface="Arial"/>
              </a:rPr>
              <a:t> marks resistance at PHP 53.00. This volume contrast is Lim's ideal relationship (p. 224).</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b-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144060" y="3910888"/>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835999"/>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4144060" y="337596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231843" y="382676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67874" y="375187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4231189" y="327685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LB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24 of 62</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LB: invented PHP bars and million-share volume.</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7.25 shows inside bars testing resistance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25 of 62</a:t>
            </a:r>
          </a:p>
        </p:txBody>
      </p:sp>
      <p:sp>
        <p:nvSpPr>
          <p:cNvPr id="7" name="TextBox 6"/>
          <p:cNvSpPr txBox="1"/>
          <p:nvPr/>
        </p:nvSpPr>
        <p:spPr>
          <a:xfrm>
            <a:off x="777240" y="1965960"/>
            <a:ext cx="50292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The point of the inside-bar reversal is the quiet test of a barrier. Gold </a:t>
            </a:r>
            <a:r>
              <a:rPr sz="1900" b="1" i="0">
                <a:solidFill>
                  <a:srgbClr val="E09B00"/>
                </a:solidFill>
                <a:latin typeface="Arial"/>
              </a:rPr>
              <a:t>(1)</a:t>
            </a:r>
            <a:r>
              <a:rPr sz="1900" b="0" i="0">
                <a:solidFill>
                  <a:srgbClr val="1A1A1A"/>
                </a:solidFill>
                <a:latin typeface="Arial"/>
              </a:rPr>
              <a:t> and red </a:t>
            </a:r>
            <a:r>
              <a:rPr sz="1900" b="1" i="0">
                <a:solidFill>
                  <a:srgbClr val="C62828"/>
                </a:solidFill>
                <a:latin typeface="Arial"/>
              </a:rPr>
              <a:t>(2)</a:t>
            </a:r>
            <a:r>
              <a:rPr sz="1900" b="0" i="0">
                <a:solidFill>
                  <a:srgbClr val="1A1A1A"/>
                </a:solidFill>
                <a:latin typeface="Arial"/>
              </a:rPr>
              <a:t> mark the two inside-bar reversals testing one resistance level.</a:t>
            </a:r>
          </a:p>
          <a:p>
            <a:pPr algn="l">
              <a:lnSpc>
                <a:spcPct val="105000"/>
              </a:lnSpc>
              <a:spcBef>
                <a:spcPts val="0"/>
              </a:spcBef>
              <a:spcAft>
                <a:spcPts val="1100"/>
              </a:spcAft>
            </a:pPr>
            <a:r>
              <a:rPr sz="1900" b="0" i="0">
                <a:solidFill>
                  <a:srgbClr val="1A1A1A"/>
                </a:solidFill>
                <a:latin typeface="Arial"/>
              </a:rPr>
              <a:t>Blue </a:t>
            </a:r>
            <a:r>
              <a:rPr sz="1900" b="1" i="0">
                <a:solidFill>
                  <a:srgbClr val="1F5FAD"/>
                </a:solidFill>
                <a:latin typeface="Arial"/>
              </a:rPr>
              <a:t>(3)</a:t>
            </a:r>
            <a:r>
              <a:rPr sz="1900" b="0" i="0">
                <a:solidFill>
                  <a:srgbClr val="1A1A1A"/>
                </a:solidFill>
                <a:latin typeface="Arial"/>
              </a:rPr>
              <a:t> marks the figure's bearish StochRSI divergence. Chapter 7 does not define the oscillator formula, so treat it as context shown by Lim.</a:t>
            </a:r>
          </a:p>
          <a:p>
            <a:pPr algn="l">
              <a:lnSpc>
                <a:spcPct val="105000"/>
              </a:lnSpc>
              <a:spcBef>
                <a:spcPts val="0"/>
              </a:spcBef>
              <a:spcAft>
                <a:spcPts val="1100"/>
              </a:spcAft>
            </a:pPr>
            <a:r>
              <a:rPr sz="1900" b="0" i="0">
                <a:solidFill>
                  <a:srgbClr val="1A1A1A"/>
                </a:solidFill>
                <a:latin typeface="Arial"/>
              </a:rPr>
              <a:t>Repeated failure at resistance warns of a possible reversal; it is not a promise.</a:t>
            </a:r>
          </a:p>
        </p:txBody>
      </p:sp>
      <p:sp>
        <p:nvSpPr>
          <p:cNvPr id="8" name="Rectangle 7"/>
          <p:cNvSpPr/>
          <p:nvPr/>
        </p:nvSpPr>
        <p:spPr>
          <a:xfrm>
            <a:off x="6126479" y="1810512"/>
            <a:ext cx="5287975" cy="3258864"/>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45351" y="1929384"/>
            <a:ext cx="5050231" cy="3021120"/>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45351" y="1929384"/>
            <a:ext cx="505023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19671" y="2203703"/>
            <a:ext cx="4501591" cy="256392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7.25</a:t>
            </a:r>
          </a:p>
          <a:p>
            <a:pPr algn="l">
              <a:lnSpc>
                <a:spcPct val="115000"/>
              </a:lnSpc>
              <a:spcBef>
                <a:spcPts val="0"/>
              </a:spcBef>
              <a:spcAft>
                <a:spcPts val="0"/>
              </a:spcAft>
            </a:pPr>
            <a:r>
              <a:rPr sz="1500" b="0" i="0">
                <a:solidFill>
                  <a:srgbClr val="1A1A1A"/>
                </a:solidFill>
                <a:latin typeface="Palatino"/>
              </a:rPr>
              <a:t>ITC Holdings daily chart. Two inside-bar reversals test the same resistance; the lower panel labels bearish StochRSI divergence.</a:t>
            </a:r>
          </a:p>
        </p:txBody>
      </p:sp>
      <p:sp>
        <p:nvSpPr>
          <p:cNvPr id="12" name="Oval 11"/>
          <p:cNvSpPr/>
          <p:nvPr/>
        </p:nvSpPr>
        <p:spPr>
          <a:xfrm>
            <a:off x="9022979" y="2473185"/>
            <a:ext cx="404018" cy="392745"/>
          </a:xfrm>
          <a:prstGeom prst="ellipse">
            <a:avLst/>
          </a:prstGeom>
          <a:noFill/>
          <a:ln w="44450">
            <a:solidFill>
              <a:srgbClr val="E09B00"/>
            </a:solidFill>
          </a:ln>
        </p:spPr>
        <p:txBody>
          <a:bodyPr rtlCol="0" anchor="ctr"/>
          <a:lstStyle/>
          <a:p>
            <a:pPr algn="ctr"/>
          </a:p>
        </p:txBody>
      </p:sp>
      <p:sp>
        <p:nvSpPr>
          <p:cNvPr id="13" name="Oval 12"/>
          <p:cNvSpPr/>
          <p:nvPr/>
        </p:nvSpPr>
        <p:spPr>
          <a:xfrm>
            <a:off x="9477499" y="2442974"/>
            <a:ext cx="404018" cy="392745"/>
          </a:xfrm>
          <a:prstGeom prst="ellipse">
            <a:avLst/>
          </a:prstGeom>
          <a:noFill/>
          <a:ln w="44450">
            <a:solidFill>
              <a:srgbClr val="C62828"/>
            </a:solidFill>
          </a:ln>
        </p:spPr>
        <p:txBody>
          <a:bodyPr rtlCol="0" anchor="ctr"/>
          <a:lstStyle/>
          <a:p>
            <a:pPr algn="ctr"/>
          </a:p>
        </p:txBody>
      </p:sp>
      <p:sp>
        <p:nvSpPr>
          <p:cNvPr id="14" name="Oval 13"/>
          <p:cNvSpPr/>
          <p:nvPr/>
        </p:nvSpPr>
        <p:spPr>
          <a:xfrm>
            <a:off x="9578504" y="4195224"/>
            <a:ext cx="454520" cy="362534"/>
          </a:xfrm>
          <a:prstGeom prst="ellipse">
            <a:avLst/>
          </a:prstGeom>
          <a:noFill/>
          <a:ln w="44450">
            <a:solidFill>
              <a:srgbClr val="1F5FAD"/>
            </a:solidFill>
          </a:ln>
        </p:spPr>
        <p:txBody>
          <a:bodyPr rtlCol="0" anchor="ctr"/>
          <a:lstStyle/>
          <a:p>
            <a:pPr algn="ctr"/>
          </a:p>
        </p:txBody>
      </p:sp>
      <p:sp>
        <p:nvSpPr>
          <p:cNvPr id="15" name="Oval 14"/>
          <p:cNvSpPr/>
          <p:nvPr/>
        </p:nvSpPr>
        <p:spPr>
          <a:xfrm>
            <a:off x="8514014" y="219689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978581" y="222710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231093" y="443252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26479" y="5160816"/>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225, Figure 7.25. The crop and marks are for teaching; the worked PHP values are ours, invented.</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volume pattern gives the inside-bar reading more context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26 of 62</a:t>
            </a:r>
          </a:p>
        </p:txBody>
      </p:sp>
      <p:sp>
        <p:nvSpPr>
          <p:cNvPr id="7" name="TextBox 6"/>
          <p:cNvSpPr txBox="1"/>
          <p:nvPr/>
        </p:nvSpPr>
        <p:spPr>
          <a:xfrm>
            <a:off x="777240" y="1965960"/>
            <a:ext cx="50292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Read the same two tests again with the condition Lim gives for an ideal inside reversal.</a:t>
            </a:r>
          </a:p>
          <a:p>
            <a:pPr algn="l">
              <a:lnSpc>
                <a:spcPct val="105000"/>
              </a:lnSpc>
              <a:spcBef>
                <a:spcPts val="0"/>
              </a:spcBef>
              <a:spcAft>
                <a:spcPts val="1100"/>
              </a:spcAft>
            </a:pPr>
            <a:r>
              <a:rPr sz="1800" b="0" i="0">
                <a:solidFill>
                  <a:srgbClr val="1A1A1A"/>
                </a:solidFill>
                <a:latin typeface="Arial"/>
              </a:rPr>
              <a:t>Gold </a:t>
            </a:r>
            <a:r>
              <a:rPr sz="1800" b="1" i="0">
                <a:solidFill>
                  <a:srgbClr val="E09B00"/>
                </a:solidFill>
                <a:latin typeface="Arial"/>
              </a:rPr>
              <a:t>(1)</a:t>
            </a:r>
            <a:r>
              <a:rPr sz="1800" b="0" i="0">
                <a:solidFill>
                  <a:srgbClr val="1A1A1A"/>
                </a:solidFill>
                <a:latin typeface="Arial"/>
              </a:rPr>
              <a:t> and red </a:t>
            </a:r>
            <a:r>
              <a:rPr sz="1800" b="1" i="0">
                <a:solidFill>
                  <a:srgbClr val="C62828"/>
                </a:solidFill>
                <a:latin typeface="Arial"/>
              </a:rPr>
              <a:t>(2)</a:t>
            </a:r>
            <a:r>
              <a:rPr sz="1800" b="0" i="0">
                <a:solidFill>
                  <a:srgbClr val="1A1A1A"/>
                </a:solidFill>
                <a:latin typeface="Arial"/>
              </a:rPr>
              <a:t> are the two inside-bar reversals at one resistance. Blue </a:t>
            </a:r>
            <a:r>
              <a:rPr sz="1800" b="1" i="0">
                <a:solidFill>
                  <a:srgbClr val="1F5FAD"/>
                </a:solidFill>
                <a:latin typeface="Arial"/>
              </a:rPr>
              <a:t>(3)</a:t>
            </a:r>
            <a:r>
              <a:rPr sz="1800" b="0" i="0">
                <a:solidFill>
                  <a:srgbClr val="1A1A1A"/>
                </a:solidFill>
                <a:latin typeface="Arial"/>
              </a:rPr>
              <a:t> is the figure's bearish StochRSI divergence.</a:t>
            </a:r>
          </a:p>
          <a:p>
            <a:pPr algn="l">
              <a:lnSpc>
                <a:spcPct val="105000"/>
              </a:lnSpc>
              <a:spcBef>
                <a:spcPts val="0"/>
              </a:spcBef>
              <a:spcAft>
                <a:spcPts val="1100"/>
              </a:spcAft>
            </a:pPr>
            <a:r>
              <a:rPr sz="1800" b="0" i="0">
                <a:solidFill>
                  <a:srgbClr val="1A1A1A"/>
                </a:solidFill>
                <a:latin typeface="Arial"/>
              </a:rPr>
              <a:t>Prefer a wide, high-volume first bar and a narrow, very-low-volume second bar, while keeping the oscillator reading contextual (p. 224).</a:t>
            </a:r>
          </a:p>
        </p:txBody>
      </p:sp>
      <p:sp>
        <p:nvSpPr>
          <p:cNvPr id="8" name="Rectangle 7"/>
          <p:cNvSpPr/>
          <p:nvPr/>
        </p:nvSpPr>
        <p:spPr>
          <a:xfrm>
            <a:off x="6126479" y="1810512"/>
            <a:ext cx="5287975" cy="3258864"/>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45351" y="1929384"/>
            <a:ext cx="5050231" cy="3021120"/>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45351" y="1929384"/>
            <a:ext cx="505023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19671" y="2203703"/>
            <a:ext cx="4501591" cy="256392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7.25</a:t>
            </a:r>
          </a:p>
          <a:p>
            <a:pPr algn="l">
              <a:lnSpc>
                <a:spcPct val="115000"/>
              </a:lnSpc>
              <a:spcBef>
                <a:spcPts val="0"/>
              </a:spcBef>
              <a:spcAft>
                <a:spcPts val="0"/>
              </a:spcAft>
            </a:pPr>
            <a:r>
              <a:rPr sz="1500" b="0" i="0">
                <a:solidFill>
                  <a:srgbClr val="1A1A1A"/>
                </a:solidFill>
                <a:latin typeface="Palatino"/>
              </a:rPr>
              <a:t>ITC Holdings daily chart. Two inside-bar reversals test the same resistance; the lower panel labels bearish StochRSI divergence.</a:t>
            </a:r>
          </a:p>
        </p:txBody>
      </p:sp>
      <p:sp>
        <p:nvSpPr>
          <p:cNvPr id="12" name="Oval 11"/>
          <p:cNvSpPr/>
          <p:nvPr/>
        </p:nvSpPr>
        <p:spPr>
          <a:xfrm>
            <a:off x="9022979" y="2473185"/>
            <a:ext cx="404018" cy="392745"/>
          </a:xfrm>
          <a:prstGeom prst="ellipse">
            <a:avLst/>
          </a:prstGeom>
          <a:noFill/>
          <a:ln w="44450">
            <a:solidFill>
              <a:srgbClr val="E09B00"/>
            </a:solidFill>
          </a:ln>
        </p:spPr>
        <p:txBody>
          <a:bodyPr rtlCol="0" anchor="ctr"/>
          <a:lstStyle/>
          <a:p>
            <a:pPr algn="ctr"/>
          </a:p>
        </p:txBody>
      </p:sp>
      <p:sp>
        <p:nvSpPr>
          <p:cNvPr id="13" name="Oval 12"/>
          <p:cNvSpPr/>
          <p:nvPr/>
        </p:nvSpPr>
        <p:spPr>
          <a:xfrm>
            <a:off x="9477499" y="2442974"/>
            <a:ext cx="404018" cy="392745"/>
          </a:xfrm>
          <a:prstGeom prst="ellipse">
            <a:avLst/>
          </a:prstGeom>
          <a:noFill/>
          <a:ln w="44450">
            <a:solidFill>
              <a:srgbClr val="C62828"/>
            </a:solidFill>
          </a:ln>
        </p:spPr>
        <p:txBody>
          <a:bodyPr rtlCol="0" anchor="ctr"/>
          <a:lstStyle/>
          <a:p>
            <a:pPr algn="ctr"/>
          </a:p>
        </p:txBody>
      </p:sp>
      <p:sp>
        <p:nvSpPr>
          <p:cNvPr id="14" name="Oval 13"/>
          <p:cNvSpPr/>
          <p:nvPr/>
        </p:nvSpPr>
        <p:spPr>
          <a:xfrm>
            <a:off x="9578504" y="4195224"/>
            <a:ext cx="454520" cy="362534"/>
          </a:xfrm>
          <a:prstGeom prst="ellipse">
            <a:avLst/>
          </a:prstGeom>
          <a:noFill/>
          <a:ln w="44450">
            <a:solidFill>
              <a:srgbClr val="1F5FAD"/>
            </a:solidFill>
          </a:ln>
        </p:spPr>
        <p:txBody>
          <a:bodyPr rtlCol="0" anchor="ctr"/>
          <a:lstStyle/>
          <a:p>
            <a:pPr algn="ctr"/>
          </a:p>
        </p:txBody>
      </p:sp>
      <p:sp>
        <p:nvSpPr>
          <p:cNvPr id="15" name="Oval 14"/>
          <p:cNvSpPr/>
          <p:nvPr/>
        </p:nvSpPr>
        <p:spPr>
          <a:xfrm>
            <a:off x="8514014" y="219689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978581" y="222710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231093" y="443252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26479" y="5160816"/>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225, Figure 7.25. The crop and marks are for teaching; the worked PHP values are ours, invented.</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21 OF 30</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ideal inside bars</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bar should be wide in an ideal inside reversal?</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The first bar</a:t>
            </a:r>
          </a:p>
          <a:p>
            <a:pPr algn="l">
              <a:lnSpc>
                <a:spcPct val="105000"/>
              </a:lnSpc>
              <a:spcBef>
                <a:spcPts val="0"/>
              </a:spcBef>
              <a:spcAft>
                <a:spcPts val="200"/>
              </a:spcAft>
            </a:pPr>
            <a:r>
              <a:rPr sz="1700" b="0" i="0">
                <a:solidFill>
                  <a:srgbClr val="FFFFFF"/>
                </a:solidFill>
                <a:latin typeface="Arial"/>
              </a:rPr>
              <a:t>B.  The second bar</a:t>
            </a:r>
          </a:p>
          <a:p>
            <a:pPr algn="l">
              <a:lnSpc>
                <a:spcPct val="105000"/>
              </a:lnSpc>
              <a:spcBef>
                <a:spcPts val="0"/>
              </a:spcBef>
              <a:spcAft>
                <a:spcPts val="200"/>
              </a:spcAft>
            </a:pPr>
            <a:r>
              <a:rPr sz="1700" b="0" i="0">
                <a:solidFill>
                  <a:srgbClr val="FFFFFF"/>
                </a:solidFill>
                <a:latin typeface="Arial"/>
              </a:rPr>
              <a:t>C.  Neither bar</a:t>
            </a:r>
          </a:p>
          <a:p>
            <a:pPr algn="l">
              <a:lnSpc>
                <a:spcPct val="105000"/>
              </a:lnSpc>
              <a:spcBef>
                <a:spcPts val="0"/>
              </a:spcBef>
              <a:spcAft>
                <a:spcPts val="200"/>
              </a:spcAft>
            </a:pPr>
            <a:r>
              <a:rPr sz="1700" b="0" i="0">
                <a:solidFill>
                  <a:srgbClr val="FFFFFF"/>
                </a:solidFill>
                <a:latin typeface="Arial"/>
              </a:rPr>
              <a:t>D.  Only the volume bar</a:t>
            </a:r>
          </a:p>
        </p:txBody>
      </p:sp>
      <p:sp>
        <p:nvSpPr>
          <p:cNvPr id="10" name="Rectangle 9"/>
          <p:cNvSpPr/>
          <p:nvPr/>
        </p:nvSpPr>
        <p:spPr>
          <a:xfrm>
            <a:off x="777240" y="3336798"/>
            <a:ext cx="5029200" cy="1790065"/>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bar should have very low volume?</a:t>
            </a:r>
          </a:p>
        </p:txBody>
      </p:sp>
      <p:sp>
        <p:nvSpPr>
          <p:cNvPr id="13" name="TextBox 12"/>
          <p:cNvSpPr txBox="1"/>
          <p:nvPr/>
        </p:nvSpPr>
        <p:spPr>
          <a:xfrm>
            <a:off x="1005840" y="3950843"/>
            <a:ext cx="4572000" cy="1102868"/>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The first bar</a:t>
            </a:r>
          </a:p>
          <a:p>
            <a:pPr algn="l">
              <a:lnSpc>
                <a:spcPct val="105000"/>
              </a:lnSpc>
              <a:spcBef>
                <a:spcPts val="0"/>
              </a:spcBef>
              <a:spcAft>
                <a:spcPts val="200"/>
              </a:spcAft>
            </a:pPr>
            <a:r>
              <a:rPr sz="1700" b="0" i="0">
                <a:solidFill>
                  <a:srgbClr val="FFFFFF"/>
                </a:solidFill>
                <a:latin typeface="Arial"/>
              </a:rPr>
              <a:t>B.  The second bar</a:t>
            </a:r>
          </a:p>
          <a:p>
            <a:pPr algn="l">
              <a:lnSpc>
                <a:spcPct val="105000"/>
              </a:lnSpc>
              <a:spcBef>
                <a:spcPts val="0"/>
              </a:spcBef>
              <a:spcAft>
                <a:spcPts val="200"/>
              </a:spcAft>
            </a:pPr>
            <a:r>
              <a:rPr sz="1700" b="0" i="0">
                <a:solidFill>
                  <a:srgbClr val="FFFFFF"/>
                </a:solidFill>
                <a:latin typeface="Arial"/>
              </a:rPr>
              <a:t>C.  Both bars</a:t>
            </a:r>
          </a:p>
          <a:p>
            <a:pPr algn="l">
              <a:lnSpc>
                <a:spcPct val="105000"/>
              </a:lnSpc>
              <a:spcBef>
                <a:spcPts val="0"/>
              </a:spcBef>
              <a:spcAft>
                <a:spcPts val="200"/>
              </a:spcAft>
            </a:pPr>
            <a:r>
              <a:rPr sz="1700" b="0" i="0">
                <a:solidFill>
                  <a:srgbClr val="FFFFFF"/>
                </a:solidFill>
                <a:latin typeface="Arial"/>
              </a:rPr>
              <a:t>D.  The resistance line</a:t>
            </a:r>
          </a:p>
        </p:txBody>
      </p:sp>
      <p:sp>
        <p:nvSpPr>
          <p:cNvPr id="14" name="Rectangle 13"/>
          <p:cNvSpPr/>
          <p:nvPr/>
        </p:nvSpPr>
        <p:spPr>
          <a:xfrm>
            <a:off x="6126479" y="1207008"/>
            <a:ext cx="5287975" cy="325886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302112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56392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7.25</a:t>
            </a:r>
          </a:p>
          <a:p>
            <a:pPr algn="l">
              <a:lnSpc>
                <a:spcPct val="115000"/>
              </a:lnSpc>
              <a:spcBef>
                <a:spcPts val="0"/>
              </a:spcBef>
              <a:spcAft>
                <a:spcPts val="0"/>
              </a:spcAft>
            </a:pPr>
            <a:r>
              <a:rPr sz="1500" b="0" i="0">
                <a:solidFill>
                  <a:srgbClr val="1A1A1A"/>
                </a:solidFill>
                <a:latin typeface="Palatino"/>
              </a:rPr>
              <a:t>ITC Holdings daily chart. Two inside-bar reversals test the same resistance; the lower panel labels bearish StochRSI divergence.</a:t>
            </a:r>
          </a:p>
        </p:txBody>
      </p:sp>
      <p:sp>
        <p:nvSpPr>
          <p:cNvPr id="18" name="Oval 17"/>
          <p:cNvSpPr/>
          <p:nvPr/>
        </p:nvSpPr>
        <p:spPr>
          <a:xfrm>
            <a:off x="9022979" y="1869681"/>
            <a:ext cx="404018" cy="392745"/>
          </a:xfrm>
          <a:prstGeom prst="ellipse">
            <a:avLst/>
          </a:prstGeom>
          <a:noFill/>
          <a:ln w="44450">
            <a:solidFill>
              <a:srgbClr val="E09B00"/>
            </a:solidFill>
          </a:ln>
        </p:spPr>
        <p:txBody>
          <a:bodyPr rtlCol="0" anchor="ctr"/>
          <a:lstStyle/>
          <a:p>
            <a:pPr algn="ctr"/>
          </a:p>
        </p:txBody>
      </p:sp>
      <p:sp>
        <p:nvSpPr>
          <p:cNvPr id="19" name="Oval 18"/>
          <p:cNvSpPr/>
          <p:nvPr/>
        </p:nvSpPr>
        <p:spPr>
          <a:xfrm>
            <a:off x="9477499" y="1839470"/>
            <a:ext cx="404018" cy="392745"/>
          </a:xfrm>
          <a:prstGeom prst="ellipse">
            <a:avLst/>
          </a:prstGeom>
          <a:noFill/>
          <a:ln w="44450">
            <a:solidFill>
              <a:srgbClr val="C62828"/>
            </a:solidFill>
          </a:ln>
        </p:spPr>
        <p:txBody>
          <a:bodyPr rtlCol="0" anchor="ctr"/>
          <a:lstStyle/>
          <a:p>
            <a:pPr algn="ctr"/>
          </a:p>
        </p:txBody>
      </p:sp>
      <p:sp>
        <p:nvSpPr>
          <p:cNvPr id="20" name="Oval 19"/>
          <p:cNvSpPr/>
          <p:nvPr/>
        </p:nvSpPr>
        <p:spPr>
          <a:xfrm>
            <a:off x="9578504" y="3591720"/>
            <a:ext cx="454520" cy="362534"/>
          </a:xfrm>
          <a:prstGeom prst="ellipse">
            <a:avLst/>
          </a:prstGeom>
          <a:noFill/>
          <a:ln w="44450">
            <a:solidFill>
              <a:srgbClr val="1F5FAD"/>
            </a:solidFill>
          </a:ln>
        </p:spPr>
        <p:txBody>
          <a:bodyPr rtlCol="0" anchor="ctr"/>
          <a:lstStyle/>
          <a:p>
            <a:pPr algn="ctr"/>
          </a:p>
        </p:txBody>
      </p:sp>
      <p:sp>
        <p:nvSpPr>
          <p:cNvPr id="21" name="Oval 20"/>
          <p:cNvSpPr/>
          <p:nvPr/>
        </p:nvSpPr>
        <p:spPr>
          <a:xfrm>
            <a:off x="8514014" y="159338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978581" y="162360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10231093" y="3829017"/>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4557312"/>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7.25 -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21</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ideal inside bars</a:t>
            </a:r>
          </a:p>
        </p:txBody>
      </p:sp>
      <p:sp>
        <p:nvSpPr>
          <p:cNvPr id="6" name="Rectangle 5"/>
          <p:cNvSpPr/>
          <p:nvPr/>
        </p:nvSpPr>
        <p:spPr>
          <a:xfrm>
            <a:off x="777240" y="1207008"/>
            <a:ext cx="5029200" cy="201675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016759"/>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Which bar should be wide in an ideal inside reversal?</a:t>
            </a:r>
          </a:p>
        </p:txBody>
      </p:sp>
      <p:sp>
        <p:nvSpPr>
          <p:cNvPr id="9" name="TextBox 8"/>
          <p:cNvSpPr txBox="1"/>
          <p:nvPr/>
        </p:nvSpPr>
        <p:spPr>
          <a:xfrm>
            <a:off x="1097280" y="2069338"/>
            <a:ext cx="448056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The first bar</a:t>
            </a:r>
          </a:p>
          <a:p>
            <a:pPr algn="l">
              <a:lnSpc>
                <a:spcPct val="115000"/>
              </a:lnSpc>
              <a:spcBef>
                <a:spcPts val="500"/>
              </a:spcBef>
              <a:spcAft>
                <a:spcPts val="0"/>
              </a:spcAft>
            </a:pPr>
            <a:r>
              <a:rPr sz="1700" b="0" i="0">
                <a:solidFill>
                  <a:srgbClr val="1A1A1A"/>
                </a:solidFill>
                <a:latin typeface="Arial"/>
              </a:rPr>
              <a:t>Lim says the first bar should be wide (p. 224).</a:t>
            </a:r>
          </a:p>
        </p:txBody>
      </p:sp>
      <p:sp>
        <p:nvSpPr>
          <p:cNvPr id="10" name="Rectangle 9"/>
          <p:cNvSpPr/>
          <p:nvPr/>
        </p:nvSpPr>
        <p:spPr>
          <a:xfrm>
            <a:off x="777240" y="3406647"/>
            <a:ext cx="5029200" cy="176847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406647"/>
            <a:ext cx="91440" cy="176847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589528"/>
            <a:ext cx="448056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Which bar should have very low volume?</a:t>
            </a:r>
          </a:p>
        </p:txBody>
      </p:sp>
      <p:sp>
        <p:nvSpPr>
          <p:cNvPr id="13" name="TextBox 12"/>
          <p:cNvSpPr txBox="1"/>
          <p:nvPr/>
        </p:nvSpPr>
        <p:spPr>
          <a:xfrm>
            <a:off x="1097280" y="4020693"/>
            <a:ext cx="448056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The second bar</a:t>
            </a:r>
          </a:p>
          <a:p>
            <a:pPr algn="l">
              <a:lnSpc>
                <a:spcPct val="115000"/>
              </a:lnSpc>
              <a:spcBef>
                <a:spcPts val="500"/>
              </a:spcBef>
              <a:spcAft>
                <a:spcPts val="0"/>
              </a:spcAft>
            </a:pPr>
            <a:r>
              <a:rPr sz="1700" b="0" i="0">
                <a:solidFill>
                  <a:srgbClr val="1A1A1A"/>
                </a:solidFill>
                <a:latin typeface="Arial"/>
              </a:rPr>
              <a:t>Lim says the second bar should be narrow on very low volume (p. 224).</a:t>
            </a:r>
          </a:p>
        </p:txBody>
      </p:sp>
      <p:sp>
        <p:nvSpPr>
          <p:cNvPr id="14" name="Rectangle 13"/>
          <p:cNvSpPr/>
          <p:nvPr/>
        </p:nvSpPr>
        <p:spPr>
          <a:xfrm>
            <a:off x="6126479" y="1207008"/>
            <a:ext cx="5287975" cy="325886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302112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56392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7.25</a:t>
            </a:r>
          </a:p>
          <a:p>
            <a:pPr algn="l">
              <a:lnSpc>
                <a:spcPct val="115000"/>
              </a:lnSpc>
              <a:spcBef>
                <a:spcPts val="0"/>
              </a:spcBef>
              <a:spcAft>
                <a:spcPts val="0"/>
              </a:spcAft>
            </a:pPr>
            <a:r>
              <a:rPr sz="1500" b="0" i="0">
                <a:solidFill>
                  <a:srgbClr val="1A1A1A"/>
                </a:solidFill>
                <a:latin typeface="Palatino"/>
              </a:rPr>
              <a:t>ITC Holdings daily chart. Two inside-bar reversals test the same resistance; the lower panel labels bearish StochRSI divergence.</a:t>
            </a:r>
          </a:p>
        </p:txBody>
      </p:sp>
      <p:sp>
        <p:nvSpPr>
          <p:cNvPr id="18" name="Oval 17"/>
          <p:cNvSpPr/>
          <p:nvPr/>
        </p:nvSpPr>
        <p:spPr>
          <a:xfrm>
            <a:off x="9022979" y="1869681"/>
            <a:ext cx="404018" cy="392745"/>
          </a:xfrm>
          <a:prstGeom prst="ellipse">
            <a:avLst/>
          </a:prstGeom>
          <a:noFill/>
          <a:ln w="44450">
            <a:solidFill>
              <a:srgbClr val="E09B00"/>
            </a:solidFill>
          </a:ln>
        </p:spPr>
        <p:txBody>
          <a:bodyPr rtlCol="0" anchor="ctr"/>
          <a:lstStyle/>
          <a:p>
            <a:pPr algn="ctr"/>
          </a:p>
        </p:txBody>
      </p:sp>
      <p:sp>
        <p:nvSpPr>
          <p:cNvPr id="19" name="Oval 18"/>
          <p:cNvSpPr/>
          <p:nvPr/>
        </p:nvSpPr>
        <p:spPr>
          <a:xfrm>
            <a:off x="9477499" y="1839470"/>
            <a:ext cx="404018" cy="392745"/>
          </a:xfrm>
          <a:prstGeom prst="ellipse">
            <a:avLst/>
          </a:prstGeom>
          <a:noFill/>
          <a:ln w="44450">
            <a:solidFill>
              <a:srgbClr val="C62828"/>
            </a:solidFill>
          </a:ln>
        </p:spPr>
        <p:txBody>
          <a:bodyPr rtlCol="0" anchor="ctr"/>
          <a:lstStyle/>
          <a:p>
            <a:pPr algn="ctr"/>
          </a:p>
        </p:txBody>
      </p:sp>
      <p:sp>
        <p:nvSpPr>
          <p:cNvPr id="20" name="Oval 19"/>
          <p:cNvSpPr/>
          <p:nvPr/>
        </p:nvSpPr>
        <p:spPr>
          <a:xfrm>
            <a:off x="9578504" y="3591720"/>
            <a:ext cx="454520" cy="362534"/>
          </a:xfrm>
          <a:prstGeom prst="ellipse">
            <a:avLst/>
          </a:prstGeom>
          <a:noFill/>
          <a:ln w="44450">
            <a:solidFill>
              <a:srgbClr val="1F5FAD"/>
            </a:solidFill>
          </a:ln>
        </p:spPr>
        <p:txBody>
          <a:bodyPr rtlCol="0" anchor="ctr"/>
          <a:lstStyle/>
          <a:p>
            <a:pPr algn="ctr"/>
          </a:p>
        </p:txBody>
      </p:sp>
      <p:sp>
        <p:nvSpPr>
          <p:cNvPr id="21" name="Oval 20"/>
          <p:cNvSpPr/>
          <p:nvPr/>
        </p:nvSpPr>
        <p:spPr>
          <a:xfrm>
            <a:off x="8514014" y="159338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978581" y="162360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10231093" y="3829017"/>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4557312"/>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7.25 -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21</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Lower inside bars can add an exhaustion warning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27 of 62</a:t>
            </a:r>
          </a:p>
        </p:txBody>
      </p:sp>
      <p:sp>
        <p:nvSpPr>
          <p:cNvPr id="7" name="TextBox 6"/>
          <p:cNvSpPr txBox="1"/>
          <p:nvPr/>
        </p:nvSpPr>
        <p:spPr>
          <a:xfrm>
            <a:off x="777240" y="1965960"/>
            <a:ext cx="50292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next idea is exhaustion: a run of successively lower inside bars can show a decline losing force. Gold </a:t>
            </a:r>
            <a:r>
              <a:rPr sz="1700" b="1" i="0">
                <a:solidFill>
                  <a:srgbClr val="E09B00"/>
                </a:solidFill>
                <a:latin typeface="Arial"/>
              </a:rPr>
              <a:t>(1)</a:t>
            </a:r>
            <a:r>
              <a:rPr sz="1700" b="0" i="0">
                <a:solidFill>
                  <a:srgbClr val="1A1A1A"/>
                </a:solidFill>
                <a:latin typeface="Arial"/>
              </a:rPr>
              <a:t> marks the three lower inside bars; red </a:t>
            </a:r>
            <a:r>
              <a:rPr sz="1700" b="1" i="0">
                <a:solidFill>
                  <a:srgbClr val="C62828"/>
                </a:solidFill>
                <a:latin typeface="Arial"/>
              </a:rPr>
              <a:t>(2)</a:t>
            </a:r>
            <a:r>
              <a:rPr sz="1700" b="0" i="0">
                <a:solidFill>
                  <a:srgbClr val="1A1A1A"/>
                </a:solidFill>
                <a:latin typeface="Arial"/>
              </a:rPr>
              <a:t> marks the band context.</a:t>
            </a:r>
          </a:p>
          <a:p>
            <a:pPr algn="l">
              <a:lnSpc>
                <a:spcPct val="105000"/>
              </a:lnSpc>
              <a:spcBef>
                <a:spcPts val="0"/>
              </a:spcBef>
              <a:spcAft>
                <a:spcPts val="1100"/>
              </a:spcAft>
            </a:pPr>
            <a:r>
              <a:rPr sz="1700" b="0" i="0">
                <a:solidFill>
                  <a:srgbClr val="1A1A1A"/>
                </a:solidFill>
                <a:latin typeface="Arial"/>
              </a:rPr>
              <a:t>Blue </a:t>
            </a:r>
            <a:r>
              <a:rPr sz="1700" b="1" i="0">
                <a:solidFill>
                  <a:srgbClr val="1F5FAD"/>
                </a:solidFill>
                <a:latin typeface="Arial"/>
              </a:rPr>
              <a:t>(3)</a:t>
            </a:r>
            <a:r>
              <a:rPr sz="1700" b="0" i="0">
                <a:solidFill>
                  <a:srgbClr val="1A1A1A"/>
                </a:solidFill>
                <a:latin typeface="Arial"/>
              </a:rPr>
              <a:t> marks the later bearish outside bar. Lim says the exhaustion reading is stronger when declines also show bearish volume (p. 225).</a:t>
            </a:r>
          </a:p>
          <a:p>
            <a:pPr algn="l">
              <a:lnSpc>
                <a:spcPct val="105000"/>
              </a:lnSpc>
              <a:spcBef>
                <a:spcPts val="0"/>
              </a:spcBef>
              <a:spcAft>
                <a:spcPts val="1100"/>
              </a:spcAft>
            </a:pPr>
            <a:r>
              <a:rPr sz="1700" b="0" i="0">
                <a:solidFill>
                  <a:srgbClr val="1A1A1A"/>
                </a:solidFill>
                <a:latin typeface="Arial"/>
              </a:rPr>
              <a:t>Use the formation as a warning, while remembering that the book leaves the volume judgement contextual.</a:t>
            </a:r>
          </a:p>
        </p:txBody>
      </p:sp>
      <p:sp>
        <p:nvSpPr>
          <p:cNvPr id="8" name="Rectangle 7"/>
          <p:cNvSpPr/>
          <p:nvPr/>
        </p:nvSpPr>
        <p:spPr>
          <a:xfrm>
            <a:off x="6126479" y="1810512"/>
            <a:ext cx="5287975" cy="2471084"/>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45351" y="1929384"/>
            <a:ext cx="5050231" cy="2233340"/>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45351" y="1929384"/>
            <a:ext cx="505023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19671" y="2203703"/>
            <a:ext cx="4501591" cy="17761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7.26</a:t>
            </a:r>
          </a:p>
          <a:p>
            <a:pPr algn="l">
              <a:lnSpc>
                <a:spcPct val="115000"/>
              </a:lnSpc>
              <a:spcBef>
                <a:spcPts val="0"/>
              </a:spcBef>
              <a:spcAft>
                <a:spcPts val="0"/>
              </a:spcAft>
            </a:pPr>
            <a:r>
              <a:rPr sz="1500" b="0" i="0">
                <a:solidFill>
                  <a:srgbClr val="1A1A1A"/>
                </a:solidFill>
                <a:latin typeface="Palatino"/>
              </a:rPr>
              <a:t>Silver Wheaton daily chart. Three successively lower inside bars form below the lower band, followed by a bearish outside bar.</a:t>
            </a:r>
          </a:p>
        </p:txBody>
      </p:sp>
      <p:sp>
        <p:nvSpPr>
          <p:cNvPr id="12" name="Rectangle 11"/>
          <p:cNvSpPr/>
          <p:nvPr/>
        </p:nvSpPr>
        <p:spPr>
          <a:xfrm>
            <a:off x="8416951" y="3470388"/>
            <a:ext cx="707032" cy="603001"/>
          </a:xfrm>
          <a:prstGeom prst="rect">
            <a:avLst/>
          </a:prstGeom>
          <a:noFill/>
          <a:ln w="44450">
            <a:solidFill>
              <a:srgbClr val="E09B00"/>
            </a:solidFill>
          </a:ln>
        </p:spPr>
        <p:txBody>
          <a:bodyPr rtlCol="0" anchor="ctr"/>
          <a:lstStyle/>
          <a:p>
            <a:pPr algn="ctr"/>
          </a:p>
        </p:txBody>
      </p:sp>
      <p:cxnSp>
        <p:nvCxnSpPr>
          <p:cNvPr id="13" name="Connector 12"/>
          <p:cNvCxnSpPr/>
          <p:nvPr/>
        </p:nvCxnSpPr>
        <p:spPr>
          <a:xfrm>
            <a:off x="8012932" y="3671389"/>
            <a:ext cx="1161553" cy="0"/>
          </a:xfrm>
          <a:prstGeom prst="line">
            <a:avLst/>
          </a:prstGeom>
          <a:ln w="44450">
            <a:solidFill>
              <a:srgbClr val="C62828"/>
            </a:solidFill>
          </a:ln>
        </p:spPr>
      </p:cxnSp>
      <p:sp>
        <p:nvSpPr>
          <p:cNvPr id="14" name="Oval 13"/>
          <p:cNvSpPr/>
          <p:nvPr/>
        </p:nvSpPr>
        <p:spPr>
          <a:xfrm>
            <a:off x="10134029" y="2353718"/>
            <a:ext cx="454520" cy="335001"/>
          </a:xfrm>
          <a:prstGeom prst="ellipse">
            <a:avLst/>
          </a:prstGeom>
          <a:noFill/>
          <a:ln w="44450">
            <a:solidFill>
              <a:srgbClr val="1F5FAD"/>
            </a:solidFill>
          </a:ln>
        </p:spPr>
        <p:txBody>
          <a:bodyPr rtlCol="0" anchor="ctr"/>
          <a:lstStyle/>
          <a:p>
            <a:pPr algn="ctr"/>
          </a:p>
        </p:txBody>
      </p:sp>
      <p:sp>
        <p:nvSpPr>
          <p:cNvPr id="15" name="Oval 14"/>
          <p:cNvSpPr/>
          <p:nvPr/>
        </p:nvSpPr>
        <p:spPr>
          <a:xfrm>
            <a:off x="7907987" y="3225607"/>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604973" y="362760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635111" y="2175937"/>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26479" y="4373036"/>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7.26 -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225, Figure 7.26. The crop and marks are for teaching; the worked PHP values are ours, invented.</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These three formations are related, but they are not the same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28 of 62</a:t>
            </a:r>
          </a:p>
        </p:txBody>
      </p:sp>
      <p:sp>
        <p:nvSpPr>
          <p:cNvPr id="7" name="TextBox 6"/>
          <p:cNvSpPr txBox="1"/>
          <p:nvPr/>
        </p:nvSpPr>
        <p:spPr>
          <a:xfrm>
            <a:off x="777240" y="1965960"/>
            <a:ext cx="4983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This figure puts three reversal families beside one another. Gold </a:t>
            </a:r>
            <a:r>
              <a:rPr sz="1700" b="1" i="0">
                <a:solidFill>
                  <a:srgbClr val="E09B00"/>
                </a:solidFill>
                <a:latin typeface="Arial"/>
              </a:rPr>
              <a:t>(1)</a:t>
            </a:r>
            <a:r>
              <a:rPr sz="1700" b="0" i="0">
                <a:solidFill>
                  <a:srgbClr val="1A1A1A"/>
                </a:solidFill>
                <a:latin typeface="Arial"/>
              </a:rPr>
              <a:t> is an inside-bar reversal, red </a:t>
            </a:r>
            <a:r>
              <a:rPr sz="1700" b="1" i="0">
                <a:solidFill>
                  <a:srgbClr val="C62828"/>
                </a:solidFill>
                <a:latin typeface="Arial"/>
              </a:rPr>
              <a:t>(2)</a:t>
            </a:r>
            <a:r>
              <a:rPr sz="1700" b="0" i="0">
                <a:solidFill>
                  <a:srgbClr val="1A1A1A"/>
                </a:solidFill>
                <a:latin typeface="Arial"/>
              </a:rPr>
              <a:t> an outside-bar reversal, and blue </a:t>
            </a:r>
            <a:r>
              <a:rPr sz="1700" b="1" i="0">
                <a:solidFill>
                  <a:srgbClr val="1F5FAD"/>
                </a:solidFill>
                <a:latin typeface="Arial"/>
              </a:rPr>
              <a:t>(3)</a:t>
            </a:r>
            <a:r>
              <a:rPr sz="1700" b="0" i="0">
                <a:solidFill>
                  <a:srgbClr val="1A1A1A"/>
                </a:solidFill>
                <a:latin typeface="Arial"/>
              </a:rPr>
              <a:t> a three-bar reversal.</a:t>
            </a:r>
          </a:p>
          <a:p>
            <a:pPr algn="l">
              <a:lnSpc>
                <a:spcPct val="105000"/>
              </a:lnSpc>
              <a:spcBef>
                <a:spcPts val="0"/>
              </a:spcBef>
              <a:spcAft>
                <a:spcPts val="1100"/>
              </a:spcAft>
            </a:pPr>
            <a:r>
              <a:rPr sz="1700" b="0" i="0">
                <a:solidFill>
                  <a:srgbClr val="1A1A1A"/>
                </a:solidFill>
                <a:latin typeface="Arial"/>
              </a:rPr>
              <a:t>In our comparison, the inside range is 6.0 points, the outside bar contains four bars, and the outer volumes are 4.0 million and 4.2 million shares.</a:t>
            </a:r>
          </a:p>
          <a:p>
            <a:pPr algn="l">
              <a:lnSpc>
                <a:spcPct val="105000"/>
              </a:lnSpc>
              <a:spcBef>
                <a:spcPts val="0"/>
              </a:spcBef>
              <a:spcAft>
                <a:spcPts val="1100"/>
              </a:spcAft>
            </a:pPr>
            <a:r>
              <a:rPr sz="1700" b="0" i="0">
                <a:solidFill>
                  <a:srgbClr val="1A1A1A"/>
                </a:solidFill>
                <a:latin typeface="Arial"/>
              </a:rPr>
              <a:t>The indicator panels are shown by the book but are outside this slide's scope. Keep the three price-bar families separate.</a:t>
            </a:r>
          </a:p>
        </p:txBody>
      </p:sp>
      <p:sp>
        <p:nvSpPr>
          <p:cNvPr id="8" name="Rectangle 7"/>
          <p:cNvSpPr/>
          <p:nvPr/>
        </p:nvSpPr>
        <p:spPr>
          <a:xfrm>
            <a:off x="6080759" y="1810512"/>
            <a:ext cx="5333694" cy="3339904"/>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199631" y="1929384"/>
            <a:ext cx="5095951" cy="3102160"/>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199631" y="1929384"/>
            <a:ext cx="509595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473951" y="2203703"/>
            <a:ext cx="4547311" cy="264496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7.27</a:t>
            </a:r>
          </a:p>
          <a:p>
            <a:pPr algn="l">
              <a:lnSpc>
                <a:spcPct val="115000"/>
              </a:lnSpc>
              <a:spcBef>
                <a:spcPts val="0"/>
              </a:spcBef>
              <a:spcAft>
                <a:spcPts val="0"/>
              </a:spcAft>
            </a:pPr>
            <a:r>
              <a:rPr sz="1500" b="0" i="0">
                <a:solidFill>
                  <a:srgbClr val="1A1A1A"/>
                </a:solidFill>
                <a:latin typeface="Palatino"/>
              </a:rPr>
              <a:t>Alacer Gold daily chart. The marked examples show inside, outside, and three-bar reversals aligned with stochastic overbought or oversold readings.</a:t>
            </a:r>
          </a:p>
        </p:txBody>
      </p:sp>
      <p:sp>
        <p:nvSpPr>
          <p:cNvPr id="12" name="Oval 11"/>
          <p:cNvSpPr/>
          <p:nvPr/>
        </p:nvSpPr>
        <p:spPr>
          <a:xfrm>
            <a:off x="7422660" y="2425729"/>
            <a:ext cx="356716" cy="403280"/>
          </a:xfrm>
          <a:prstGeom prst="ellipse">
            <a:avLst/>
          </a:prstGeom>
          <a:noFill/>
          <a:ln w="44450">
            <a:solidFill>
              <a:srgbClr val="E09B00"/>
            </a:solidFill>
          </a:ln>
        </p:spPr>
        <p:txBody>
          <a:bodyPr rtlCol="0" anchor="ctr"/>
          <a:lstStyle/>
          <a:p>
            <a:pPr algn="ctr"/>
          </a:p>
        </p:txBody>
      </p:sp>
      <p:sp>
        <p:nvSpPr>
          <p:cNvPr id="13" name="Oval 12"/>
          <p:cNvSpPr/>
          <p:nvPr/>
        </p:nvSpPr>
        <p:spPr>
          <a:xfrm>
            <a:off x="9766797" y="2704924"/>
            <a:ext cx="356716" cy="403280"/>
          </a:xfrm>
          <a:prstGeom prst="ellipse">
            <a:avLst/>
          </a:prstGeom>
          <a:noFill/>
          <a:ln w="44450">
            <a:solidFill>
              <a:srgbClr val="C62828"/>
            </a:solidFill>
          </a:ln>
        </p:spPr>
        <p:txBody>
          <a:bodyPr rtlCol="0" anchor="ctr"/>
          <a:lstStyle/>
          <a:p>
            <a:pPr algn="ctr"/>
          </a:p>
        </p:txBody>
      </p:sp>
      <p:sp>
        <p:nvSpPr>
          <p:cNvPr id="14" name="Oval 13"/>
          <p:cNvSpPr/>
          <p:nvPr/>
        </p:nvSpPr>
        <p:spPr>
          <a:xfrm>
            <a:off x="9053364" y="3542507"/>
            <a:ext cx="356716" cy="496345"/>
          </a:xfrm>
          <a:prstGeom prst="ellipse">
            <a:avLst/>
          </a:prstGeom>
          <a:noFill/>
          <a:ln w="44450">
            <a:solidFill>
              <a:srgbClr val="1F5FAD"/>
            </a:solidFill>
          </a:ln>
        </p:spPr>
        <p:txBody>
          <a:bodyPr rtlCol="0" anchor="ctr"/>
          <a:lstStyle/>
          <a:p>
            <a:pPr algn="ctr"/>
          </a:p>
        </p:txBody>
      </p:sp>
      <p:sp>
        <p:nvSpPr>
          <p:cNvPr id="15" name="Oval 14"/>
          <p:cNvSpPr/>
          <p:nvPr/>
        </p:nvSpPr>
        <p:spPr>
          <a:xfrm>
            <a:off x="7063374" y="217721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10273823" y="245641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458471" y="3976469"/>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080759" y="5241856"/>
            <a:ext cx="5333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7.27 -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226, Figure 7.27. The crop and marks are for teaching; the worked PHP values are ours, invented.</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 inside bar is not automatically a Harami</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29 of 62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Both names describe a smaller formation inside a larger one, but Lim keeps their rules separate. A Harami has the stricter body proportion.</a:t>
            </a:r>
          </a:p>
          <a:p>
            <a:pPr algn="l">
              <a:lnSpc>
                <a:spcPct val="118000"/>
              </a:lnSpc>
              <a:spcBef>
                <a:spcPts val="0"/>
              </a:spcBef>
              <a:spcAft>
                <a:spcPts val="1300"/>
              </a:spcAft>
            </a:pPr>
            <a:r>
              <a:rPr sz="2100" b="0" i="0">
                <a:solidFill>
                  <a:srgbClr val="1A1A1A"/>
                </a:solidFill>
                <a:latin typeface="Arial"/>
              </a:rPr>
              <a:t>For a preceding range of 6.0 points, one-fourth to one-third is 1.5 to 2.0 points. That is the Harami proportion given on page 226.</a:t>
            </a:r>
          </a:p>
          <a:p>
            <a:pPr algn="l">
              <a:lnSpc>
                <a:spcPct val="118000"/>
              </a:lnSpc>
              <a:spcBef>
                <a:spcPts val="0"/>
              </a:spcBef>
              <a:spcAft>
                <a:spcPts val="1300"/>
              </a:spcAft>
            </a:pPr>
            <a:r>
              <a:rPr sz="2100" b="0" i="0">
                <a:solidFill>
                  <a:srgbClr val="1A1A1A"/>
                </a:solidFill>
                <a:latin typeface="Arial"/>
              </a:rPr>
              <a:t>An inside bar has no one-fourth to one-third restriction. Check the proportion before using the name Harami.</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names are related, not interchangeable.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226. The 6.0-point example is ours, invented.</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22 OF 30</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reversal families</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Is every inside bar a Harami?</a:t>
            </a:r>
          </a:p>
        </p:txBody>
      </p:sp>
      <p:sp>
        <p:nvSpPr>
          <p:cNvPr id="9" name="TextBox 8"/>
          <p:cNvSpPr txBox="1"/>
          <p:nvPr/>
        </p:nvSpPr>
        <p:spPr>
          <a:xfrm>
            <a:off x="1005840" y="1821053"/>
            <a:ext cx="4572000" cy="1351152"/>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No; Harami has a stricter one-fourth to one-third proportion</a:t>
            </a:r>
          </a:p>
          <a:p>
            <a:pPr algn="l">
              <a:lnSpc>
                <a:spcPct val="105000"/>
              </a:lnSpc>
              <a:spcBef>
                <a:spcPts val="0"/>
              </a:spcBef>
              <a:spcAft>
                <a:spcPts val="200"/>
              </a:spcAft>
            </a:pPr>
            <a:r>
              <a:rPr sz="1700" b="0" i="0">
                <a:solidFill>
                  <a:srgbClr val="FFFFFF"/>
                </a:solidFill>
                <a:latin typeface="Arial"/>
              </a:rPr>
              <a:t>B.  Yes; the terms are identical</a:t>
            </a:r>
          </a:p>
          <a:p>
            <a:pPr algn="l">
              <a:lnSpc>
                <a:spcPct val="105000"/>
              </a:lnSpc>
              <a:spcBef>
                <a:spcPts val="0"/>
              </a:spcBef>
              <a:spcAft>
                <a:spcPts val="200"/>
              </a:spcAft>
            </a:pPr>
            <a:r>
              <a:rPr sz="1700" b="0" i="0">
                <a:solidFill>
                  <a:srgbClr val="FFFFFF"/>
                </a:solidFill>
                <a:latin typeface="Arial"/>
              </a:rPr>
              <a:t>C.  Only on high volume</a:t>
            </a:r>
          </a:p>
          <a:p>
            <a:pPr algn="l">
              <a:lnSpc>
                <a:spcPct val="105000"/>
              </a:lnSpc>
              <a:spcBef>
                <a:spcPts val="0"/>
              </a:spcBef>
              <a:spcAft>
                <a:spcPts val="200"/>
              </a:spcAft>
            </a:pPr>
            <a:r>
              <a:rPr sz="1700" b="0" i="0">
                <a:solidFill>
                  <a:srgbClr val="FFFFFF"/>
                </a:solidFill>
                <a:latin typeface="Arial"/>
              </a:rPr>
              <a:t>D.  Only below support</a:t>
            </a:r>
          </a:p>
        </p:txBody>
      </p:sp>
      <p:sp>
        <p:nvSpPr>
          <p:cNvPr id="10" name="Rectangle 9"/>
          <p:cNvSpPr/>
          <p:nvPr/>
        </p:nvSpPr>
        <p:spPr>
          <a:xfrm>
            <a:off x="777240" y="3336798"/>
            <a:ext cx="50292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proportion does the book give for a Harami body?</a:t>
            </a:r>
          </a:p>
        </p:txBody>
      </p:sp>
      <p:sp>
        <p:nvSpPr>
          <p:cNvPr id="13" name="TextBox 12"/>
          <p:cNvSpPr txBox="1"/>
          <p:nvPr/>
        </p:nvSpPr>
        <p:spPr>
          <a:xfrm>
            <a:off x="1005840" y="419912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One-half to two-thirds</a:t>
            </a:r>
          </a:p>
          <a:p>
            <a:pPr algn="l">
              <a:lnSpc>
                <a:spcPct val="105000"/>
              </a:lnSpc>
              <a:spcBef>
                <a:spcPts val="0"/>
              </a:spcBef>
              <a:spcAft>
                <a:spcPts val="200"/>
              </a:spcAft>
            </a:pPr>
            <a:r>
              <a:rPr sz="1700" b="0" i="0">
                <a:solidFill>
                  <a:srgbClr val="FFFFFF"/>
                </a:solidFill>
                <a:latin typeface="Arial"/>
              </a:rPr>
              <a:t>B.  One-fourth to one-third</a:t>
            </a:r>
          </a:p>
          <a:p>
            <a:pPr algn="l">
              <a:lnSpc>
                <a:spcPct val="105000"/>
              </a:lnSpc>
              <a:spcBef>
                <a:spcPts val="0"/>
              </a:spcBef>
              <a:spcAft>
                <a:spcPts val="200"/>
              </a:spcAft>
            </a:pPr>
            <a:r>
              <a:rPr sz="1700" b="0" i="0">
                <a:solidFill>
                  <a:srgbClr val="FFFFFF"/>
                </a:solidFill>
                <a:latin typeface="Arial"/>
              </a:rPr>
              <a:t>C.  One to two points</a:t>
            </a:r>
          </a:p>
          <a:p>
            <a:pPr algn="l">
              <a:lnSpc>
                <a:spcPct val="105000"/>
              </a:lnSpc>
              <a:spcBef>
                <a:spcPts val="0"/>
              </a:spcBef>
              <a:spcAft>
                <a:spcPts val="200"/>
              </a:spcAft>
            </a:pPr>
            <a:r>
              <a:rPr sz="1700" b="0" i="0">
                <a:solidFill>
                  <a:srgbClr val="FFFFFF"/>
                </a:solidFill>
                <a:latin typeface="Arial"/>
              </a:rPr>
              <a:t>D.  No proportion</a:t>
            </a:r>
          </a:p>
        </p:txBody>
      </p:sp>
      <p:sp>
        <p:nvSpPr>
          <p:cNvPr id="14" name="Rectangle 13"/>
          <p:cNvSpPr/>
          <p:nvPr/>
        </p:nvSpPr>
        <p:spPr>
          <a:xfrm>
            <a:off x="6126479" y="1207008"/>
            <a:ext cx="5287975" cy="3312072"/>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3074328"/>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61712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7.27</a:t>
            </a:r>
          </a:p>
          <a:p>
            <a:pPr algn="l">
              <a:lnSpc>
                <a:spcPct val="115000"/>
              </a:lnSpc>
              <a:spcBef>
                <a:spcPts val="0"/>
              </a:spcBef>
              <a:spcAft>
                <a:spcPts val="0"/>
              </a:spcAft>
            </a:pPr>
            <a:r>
              <a:rPr sz="1500" b="0" i="0">
                <a:solidFill>
                  <a:srgbClr val="1A1A1A"/>
                </a:solidFill>
                <a:latin typeface="Palatino"/>
              </a:rPr>
              <a:t>Alacer Gold daily chart. The marked examples show inside, outside, and three-bar reversals aligned with stochastic overbought or oversold readings.</a:t>
            </a:r>
          </a:p>
        </p:txBody>
      </p:sp>
      <p:sp>
        <p:nvSpPr>
          <p:cNvPr id="18" name="Oval 17"/>
          <p:cNvSpPr/>
          <p:nvPr/>
        </p:nvSpPr>
        <p:spPr>
          <a:xfrm>
            <a:off x="7457407" y="1817772"/>
            <a:ext cx="353516" cy="399662"/>
          </a:xfrm>
          <a:prstGeom prst="ellipse">
            <a:avLst/>
          </a:prstGeom>
          <a:noFill/>
          <a:ln w="44450">
            <a:solidFill>
              <a:srgbClr val="E09B00"/>
            </a:solidFill>
          </a:ln>
        </p:spPr>
        <p:txBody>
          <a:bodyPr rtlCol="0" anchor="ctr"/>
          <a:lstStyle/>
          <a:p>
            <a:pPr algn="ctr"/>
          </a:p>
        </p:txBody>
      </p:sp>
      <p:sp>
        <p:nvSpPr>
          <p:cNvPr id="19" name="Oval 18"/>
          <p:cNvSpPr/>
          <p:nvPr/>
        </p:nvSpPr>
        <p:spPr>
          <a:xfrm>
            <a:off x="9780513" y="2094462"/>
            <a:ext cx="353516" cy="399662"/>
          </a:xfrm>
          <a:prstGeom prst="ellipse">
            <a:avLst/>
          </a:prstGeom>
          <a:noFill/>
          <a:ln w="44450">
            <a:solidFill>
              <a:srgbClr val="C62828"/>
            </a:solidFill>
          </a:ln>
        </p:spPr>
        <p:txBody>
          <a:bodyPr rtlCol="0" anchor="ctr"/>
          <a:lstStyle/>
          <a:p>
            <a:pPr algn="ctr"/>
          </a:p>
        </p:txBody>
      </p:sp>
      <p:sp>
        <p:nvSpPr>
          <p:cNvPr id="20" name="Oval 19"/>
          <p:cNvSpPr/>
          <p:nvPr/>
        </p:nvSpPr>
        <p:spPr>
          <a:xfrm>
            <a:off x="9073481" y="2924530"/>
            <a:ext cx="353516" cy="491892"/>
          </a:xfrm>
          <a:prstGeom prst="ellipse">
            <a:avLst/>
          </a:prstGeom>
          <a:noFill/>
          <a:ln w="44450">
            <a:solidFill>
              <a:srgbClr val="1F5FAD"/>
            </a:solidFill>
          </a:ln>
        </p:spPr>
        <p:txBody>
          <a:bodyPr rtlCol="0" anchor="ctr"/>
          <a:lstStyle/>
          <a:p>
            <a:pPr algn="ctr"/>
          </a:p>
        </p:txBody>
      </p:sp>
      <p:sp>
        <p:nvSpPr>
          <p:cNvPr id="21" name="Oval 20"/>
          <p:cNvSpPr/>
          <p:nvPr/>
        </p:nvSpPr>
        <p:spPr>
          <a:xfrm>
            <a:off x="7099950" y="1570094"/>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10281595" y="184678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473558" y="3353204"/>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4610520"/>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7.27 -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22</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reversal families</a:t>
            </a:r>
          </a:p>
        </p:txBody>
      </p:sp>
      <p:sp>
        <p:nvSpPr>
          <p:cNvPr id="6" name="Rectangle 5"/>
          <p:cNvSpPr/>
          <p:nvPr/>
        </p:nvSpPr>
        <p:spPr>
          <a:xfrm>
            <a:off x="777240" y="1207008"/>
            <a:ext cx="5029200" cy="251333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513330"/>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Is every inside bar a Harami?</a:t>
            </a:r>
          </a:p>
        </p:txBody>
      </p:sp>
      <p:sp>
        <p:nvSpPr>
          <p:cNvPr id="9" name="TextBox 8"/>
          <p:cNvSpPr txBox="1"/>
          <p:nvPr/>
        </p:nvSpPr>
        <p:spPr>
          <a:xfrm>
            <a:off x="1097280" y="1821053"/>
            <a:ext cx="4480560" cy="189928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No; Harami has a stricter one-fourth to one-third proportion</a:t>
            </a:r>
          </a:p>
          <a:p>
            <a:pPr algn="l">
              <a:lnSpc>
                <a:spcPct val="115000"/>
              </a:lnSpc>
              <a:spcBef>
                <a:spcPts val="500"/>
              </a:spcBef>
              <a:spcAft>
                <a:spcPts val="0"/>
              </a:spcAft>
            </a:pPr>
            <a:r>
              <a:rPr sz="1700" b="0" i="0">
                <a:solidFill>
                  <a:srgbClr val="1A1A1A"/>
                </a:solidFill>
                <a:latin typeface="Arial"/>
              </a:rPr>
              <a:t>Lim keeps inside bar and Harami rules separate; Harami has the stricter proportion (p. 226).</a:t>
            </a:r>
          </a:p>
        </p:txBody>
      </p:sp>
      <p:sp>
        <p:nvSpPr>
          <p:cNvPr id="10" name="Rectangle 9"/>
          <p:cNvSpPr/>
          <p:nvPr/>
        </p:nvSpPr>
        <p:spPr>
          <a:xfrm>
            <a:off x="777240" y="3903218"/>
            <a:ext cx="5029200" cy="198755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903218"/>
            <a:ext cx="91440" cy="198755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408609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What proportion does the book give for a Harami body?</a:t>
            </a:r>
          </a:p>
        </p:txBody>
      </p:sp>
      <p:sp>
        <p:nvSpPr>
          <p:cNvPr id="13" name="TextBox 12"/>
          <p:cNvSpPr txBox="1"/>
          <p:nvPr/>
        </p:nvSpPr>
        <p:spPr>
          <a:xfrm>
            <a:off x="1097280" y="4765548"/>
            <a:ext cx="4480560" cy="112522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One-fourth to one-third</a:t>
            </a:r>
          </a:p>
          <a:p>
            <a:pPr algn="l">
              <a:lnSpc>
                <a:spcPct val="115000"/>
              </a:lnSpc>
              <a:spcBef>
                <a:spcPts val="500"/>
              </a:spcBef>
              <a:spcAft>
                <a:spcPts val="0"/>
              </a:spcAft>
            </a:pPr>
            <a:r>
              <a:rPr sz="1700" b="0" i="0">
                <a:solidFill>
                  <a:srgbClr val="1A1A1A"/>
                </a:solidFill>
                <a:latin typeface="Arial"/>
              </a:rPr>
              <a:t>The book gives one-fourth to one-third of the preceding candlestick range (p. 226).</a:t>
            </a:r>
          </a:p>
        </p:txBody>
      </p:sp>
      <p:sp>
        <p:nvSpPr>
          <p:cNvPr id="14" name="Rectangle 13"/>
          <p:cNvSpPr/>
          <p:nvPr/>
        </p:nvSpPr>
        <p:spPr>
          <a:xfrm>
            <a:off x="6126479" y="1207008"/>
            <a:ext cx="5287975" cy="3312072"/>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3074328"/>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61712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7.27</a:t>
            </a:r>
          </a:p>
          <a:p>
            <a:pPr algn="l">
              <a:lnSpc>
                <a:spcPct val="115000"/>
              </a:lnSpc>
              <a:spcBef>
                <a:spcPts val="0"/>
              </a:spcBef>
              <a:spcAft>
                <a:spcPts val="0"/>
              </a:spcAft>
            </a:pPr>
            <a:r>
              <a:rPr sz="1500" b="0" i="0">
                <a:solidFill>
                  <a:srgbClr val="1A1A1A"/>
                </a:solidFill>
                <a:latin typeface="Palatino"/>
              </a:rPr>
              <a:t>Alacer Gold daily chart. The marked examples show inside, outside, and three-bar reversals aligned with stochastic overbought or oversold readings.</a:t>
            </a:r>
          </a:p>
        </p:txBody>
      </p:sp>
      <p:sp>
        <p:nvSpPr>
          <p:cNvPr id="18" name="Oval 17"/>
          <p:cNvSpPr/>
          <p:nvPr/>
        </p:nvSpPr>
        <p:spPr>
          <a:xfrm>
            <a:off x="7457407" y="1817772"/>
            <a:ext cx="353516" cy="399662"/>
          </a:xfrm>
          <a:prstGeom prst="ellipse">
            <a:avLst/>
          </a:prstGeom>
          <a:noFill/>
          <a:ln w="44450">
            <a:solidFill>
              <a:srgbClr val="E09B00"/>
            </a:solidFill>
          </a:ln>
        </p:spPr>
        <p:txBody>
          <a:bodyPr rtlCol="0" anchor="ctr"/>
          <a:lstStyle/>
          <a:p>
            <a:pPr algn="ctr"/>
          </a:p>
        </p:txBody>
      </p:sp>
      <p:sp>
        <p:nvSpPr>
          <p:cNvPr id="19" name="Oval 18"/>
          <p:cNvSpPr/>
          <p:nvPr/>
        </p:nvSpPr>
        <p:spPr>
          <a:xfrm>
            <a:off x="9780513" y="2094462"/>
            <a:ext cx="353516" cy="399662"/>
          </a:xfrm>
          <a:prstGeom prst="ellipse">
            <a:avLst/>
          </a:prstGeom>
          <a:noFill/>
          <a:ln w="44450">
            <a:solidFill>
              <a:srgbClr val="C62828"/>
            </a:solidFill>
          </a:ln>
        </p:spPr>
        <p:txBody>
          <a:bodyPr rtlCol="0" anchor="ctr"/>
          <a:lstStyle/>
          <a:p>
            <a:pPr algn="ctr"/>
          </a:p>
        </p:txBody>
      </p:sp>
      <p:sp>
        <p:nvSpPr>
          <p:cNvPr id="20" name="Oval 19"/>
          <p:cNvSpPr/>
          <p:nvPr/>
        </p:nvSpPr>
        <p:spPr>
          <a:xfrm>
            <a:off x="9073481" y="2924530"/>
            <a:ext cx="353516" cy="491892"/>
          </a:xfrm>
          <a:prstGeom prst="ellipse">
            <a:avLst/>
          </a:prstGeom>
          <a:noFill/>
          <a:ln w="44450">
            <a:solidFill>
              <a:srgbClr val="1F5FAD"/>
            </a:solidFill>
          </a:ln>
        </p:spPr>
        <p:txBody>
          <a:bodyPr rtlCol="0" anchor="ctr"/>
          <a:lstStyle/>
          <a:p>
            <a:pPr algn="ctr"/>
          </a:p>
        </p:txBody>
      </p:sp>
      <p:sp>
        <p:nvSpPr>
          <p:cNvPr id="21" name="Oval 20"/>
          <p:cNvSpPr/>
          <p:nvPr/>
        </p:nvSpPr>
        <p:spPr>
          <a:xfrm>
            <a:off x="7099950" y="1570094"/>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10281595" y="184678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473558" y="3353204"/>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4610520"/>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7.27 -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22</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 exhaustion bar shows a trend running out of force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30 of 62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We now move from containment to exhaustion. In an uptrend, an exhaustion bar opens above the previous high, is large in context, and closes near its low.</a:t>
            </a:r>
          </a:p>
          <a:p>
            <a:pPr algn="l">
              <a:lnSpc>
                <a:spcPct val="118000"/>
              </a:lnSpc>
              <a:spcBef>
                <a:spcPts val="0"/>
              </a:spcBef>
              <a:spcAft>
                <a:spcPts val="1300"/>
              </a:spcAft>
            </a:pPr>
            <a:r>
              <a:rPr sz="2100" b="0" i="0">
                <a:solidFill>
                  <a:srgbClr val="1A1A1A"/>
                </a:solidFill>
                <a:latin typeface="Arial"/>
              </a:rPr>
              <a:t>The next bar does not gap away from it. Lim uses those observations together to describe a reversal warning (p. 226).</a:t>
            </a:r>
          </a:p>
          <a:p>
            <a:pPr algn="l">
              <a:lnSpc>
                <a:spcPct val="118000"/>
              </a:lnSpc>
              <a:spcBef>
                <a:spcPts val="0"/>
              </a:spcBef>
              <a:spcAft>
                <a:spcPts val="1300"/>
              </a:spcAft>
            </a:pPr>
            <a:r>
              <a:rPr sz="2100" b="0" i="0">
                <a:solidFill>
                  <a:srgbClr val="1A1A1A"/>
                </a:solidFill>
                <a:latin typeface="Arial"/>
              </a:rPr>
              <a:t>The bullish converse appears at the bottom of a downtrend. It is a warning, not certainty.</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trend, size, close, and the next-bar gap together.</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226. The transition wording is ours.</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the exhaustion rule, price by price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Mark </a:t>
            </a:r>
            <a:r>
              <a:rPr sz="1700" b="1" i="0">
                <a:solidFill>
                  <a:srgbClr val="E09B00"/>
                </a:solidFill>
                <a:latin typeface="Arial"/>
              </a:rPr>
              <a:t>(1)</a:t>
            </a:r>
            <a:r>
              <a:rPr sz="1700" b="0" i="0">
                <a:solidFill>
                  <a:srgbClr val="1A1A1A"/>
                </a:solidFill>
                <a:latin typeface="Arial"/>
              </a:rPr>
              <a:t> shows the prior high at PHP 65.00. Mark </a:t>
            </a:r>
            <a:r>
              <a:rPr sz="1700" b="1" i="0">
                <a:solidFill>
                  <a:srgbClr val="C62828"/>
                </a:solidFill>
                <a:latin typeface="Arial"/>
              </a:rPr>
              <a:t>(2)</a:t>
            </a:r>
            <a:r>
              <a:rPr sz="1700" b="0" i="0">
                <a:solidFill>
                  <a:srgbClr val="1A1A1A"/>
                </a:solidFill>
                <a:latin typeface="Arial"/>
              </a:rPr>
              <a:t> encloses the exhaustion bar: it opens at PHP 65.40, reaches PHP 66.20, falls to PHP 60.00, and closes at PHP 60.50. Mark </a:t>
            </a:r>
            <a:r>
              <a:rPr sz="1700" b="1" i="0">
                <a:solidFill>
                  <a:srgbClr val="1F5FAD"/>
                </a:solidFill>
                <a:latin typeface="Arial"/>
              </a:rPr>
              <a:t>(3)</a:t>
            </a:r>
            <a:r>
              <a:rPr sz="1700" b="0" i="0">
                <a:solidFill>
                  <a:srgbClr val="1A1A1A"/>
                </a:solidFill>
                <a:latin typeface="Arial"/>
              </a:rPr>
              <a:t> shows the next open at PHP 60.20 inside the range, so there is no gap. This is Lim's exhaustion rule (p. 226).</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c-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7012076" y="3836593"/>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4144060" y="3554272"/>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9724643" y="426750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7099858" y="375246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4231843" y="347014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640519" y="4011472"/>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LC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31 of 62</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LC: invented PHP bars and million-share volume.</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7.28 shows the bullish converse at a downtrend bottom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32 of 62</a:t>
            </a:r>
          </a:p>
        </p:txBody>
      </p:sp>
      <p:sp>
        <p:nvSpPr>
          <p:cNvPr id="7" name="TextBox 6"/>
          <p:cNvSpPr txBox="1"/>
          <p:nvPr/>
        </p:nvSpPr>
        <p:spPr>
          <a:xfrm>
            <a:off x="777240" y="1965960"/>
            <a:ext cx="4983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The book's bullish exhaustion case is in a downtrend. Gold </a:t>
            </a:r>
            <a:r>
              <a:rPr sz="1800" b="1" i="0">
                <a:solidFill>
                  <a:srgbClr val="E09B00"/>
                </a:solidFill>
                <a:latin typeface="Arial"/>
              </a:rPr>
              <a:t>(1)</a:t>
            </a:r>
            <a:r>
              <a:rPr sz="1800" b="0" i="0">
                <a:solidFill>
                  <a:srgbClr val="1A1A1A"/>
                </a:solidFill>
                <a:latin typeface="Arial"/>
              </a:rPr>
              <a:t> marks the gap before the bar, red </a:t>
            </a:r>
            <a:r>
              <a:rPr sz="1800" b="1" i="0">
                <a:solidFill>
                  <a:srgbClr val="C62828"/>
                </a:solidFill>
                <a:latin typeface="Arial"/>
              </a:rPr>
              <a:t>(2)</a:t>
            </a:r>
            <a:r>
              <a:rPr sz="1800" b="0" i="0">
                <a:solidFill>
                  <a:srgbClr val="1A1A1A"/>
                </a:solidFill>
                <a:latin typeface="Arial"/>
              </a:rPr>
              <a:t> the exhaustion bar, and blue </a:t>
            </a:r>
            <a:r>
              <a:rPr sz="1800" b="1" i="0">
                <a:solidFill>
                  <a:srgbClr val="1F5FAD"/>
                </a:solidFill>
                <a:latin typeface="Arial"/>
              </a:rPr>
              <a:t>(3)</a:t>
            </a:r>
            <a:r>
              <a:rPr sz="1800" b="0" i="0">
                <a:solidFill>
                  <a:srgbClr val="1A1A1A"/>
                </a:solidFill>
                <a:latin typeface="Arial"/>
              </a:rPr>
              <a:t> the later rebound.</a:t>
            </a:r>
          </a:p>
          <a:p>
            <a:pPr algn="l">
              <a:lnSpc>
                <a:spcPct val="105000"/>
              </a:lnSpc>
              <a:spcBef>
                <a:spcPts val="0"/>
              </a:spcBef>
              <a:spcAft>
                <a:spcPts val="1100"/>
              </a:spcAft>
            </a:pPr>
            <a:r>
              <a:rPr sz="1800" b="0" i="0">
                <a:solidFill>
                  <a:srgbClr val="1A1A1A"/>
                </a:solidFill>
                <a:latin typeface="Arial"/>
              </a:rPr>
              <a:t>The bar closes near its high, which is the bullish converse of the uptrend example. The larger bar still matters in trend context.</a:t>
            </a:r>
          </a:p>
          <a:p>
            <a:pPr algn="l">
              <a:lnSpc>
                <a:spcPct val="105000"/>
              </a:lnSpc>
              <a:spcBef>
                <a:spcPts val="0"/>
              </a:spcBef>
              <a:spcAft>
                <a:spcPts val="1100"/>
              </a:spcAft>
            </a:pPr>
            <a:r>
              <a:rPr sz="1800" b="0" i="0">
                <a:solidFill>
                  <a:srgbClr val="1A1A1A"/>
                </a:solidFill>
                <a:latin typeface="Arial"/>
              </a:rPr>
              <a:t>The prior gap is visible, but Lim's rule concerns the absence of a gap after the exhaustion bar (p. 226).</a:t>
            </a:r>
          </a:p>
        </p:txBody>
      </p:sp>
      <p:sp>
        <p:nvSpPr>
          <p:cNvPr id="8" name="Rectangle 7"/>
          <p:cNvSpPr/>
          <p:nvPr/>
        </p:nvSpPr>
        <p:spPr>
          <a:xfrm>
            <a:off x="6080759" y="1810512"/>
            <a:ext cx="5333694" cy="2505842"/>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199631" y="1929384"/>
            <a:ext cx="5095951" cy="2268098"/>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199631" y="1929384"/>
            <a:ext cx="509595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473951" y="2203703"/>
            <a:ext cx="4547311" cy="181089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7.28</a:t>
            </a:r>
          </a:p>
          <a:p>
            <a:pPr algn="l">
              <a:lnSpc>
                <a:spcPct val="115000"/>
              </a:lnSpc>
              <a:spcBef>
                <a:spcPts val="0"/>
              </a:spcBef>
              <a:spcAft>
                <a:spcPts val="0"/>
              </a:spcAft>
            </a:pPr>
            <a:r>
              <a:rPr sz="1500" b="0" i="0">
                <a:solidFill>
                  <a:srgbClr val="1A1A1A"/>
                </a:solidFill>
                <a:latin typeface="Palatino"/>
              </a:rPr>
              <a:t>J.P. Morgan Chase daily chart. The marked exhaustion bar forms a bottom; the preceding gap and later rebound show the context.</a:t>
            </a:r>
          </a:p>
        </p:txBody>
      </p:sp>
      <p:sp>
        <p:nvSpPr>
          <p:cNvPr id="12" name="Oval 11"/>
          <p:cNvSpPr/>
          <p:nvPr/>
        </p:nvSpPr>
        <p:spPr>
          <a:xfrm>
            <a:off x="8747607" y="3108794"/>
            <a:ext cx="305757" cy="204128"/>
          </a:xfrm>
          <a:prstGeom prst="ellipse">
            <a:avLst/>
          </a:prstGeom>
          <a:noFill/>
          <a:ln w="44450">
            <a:solidFill>
              <a:srgbClr val="E09B00"/>
            </a:solidFill>
          </a:ln>
        </p:spPr>
        <p:txBody>
          <a:bodyPr rtlCol="0" anchor="ctr"/>
          <a:lstStyle/>
          <a:p>
            <a:pPr algn="ctr"/>
          </a:p>
        </p:txBody>
      </p:sp>
      <p:sp>
        <p:nvSpPr>
          <p:cNvPr id="13" name="Rectangle 12"/>
          <p:cNvSpPr/>
          <p:nvPr/>
        </p:nvSpPr>
        <p:spPr>
          <a:xfrm>
            <a:off x="8900486" y="3176837"/>
            <a:ext cx="305757" cy="362895"/>
          </a:xfrm>
          <a:prstGeom prst="rect">
            <a:avLst/>
          </a:prstGeom>
          <a:noFill/>
          <a:ln w="44450">
            <a:solidFill>
              <a:srgbClr val="C62828"/>
            </a:solidFill>
          </a:ln>
        </p:spPr>
        <p:txBody>
          <a:bodyPr rtlCol="0" anchor="ctr"/>
          <a:lstStyle/>
          <a:p>
            <a:pPr algn="ctr"/>
          </a:p>
        </p:txBody>
      </p:sp>
      <p:cxnSp>
        <p:nvCxnSpPr>
          <p:cNvPr id="14" name="Connector 13"/>
          <p:cNvCxnSpPr/>
          <p:nvPr/>
        </p:nvCxnSpPr>
        <p:spPr>
          <a:xfrm flipV="1">
            <a:off x="9308162" y="2836623"/>
            <a:ext cx="866311" cy="952601"/>
          </a:xfrm>
          <a:prstGeom prst="line">
            <a:avLst/>
          </a:prstGeom>
          <a:ln w="44450">
            <a:solidFill>
              <a:srgbClr val="1F5FAD"/>
            </a:solidFill>
            <a:tailEnd type="triangle" w="med" len="med"/>
          </a:ln>
        </p:spPr>
      </p:cxnSp>
      <p:sp>
        <p:nvSpPr>
          <p:cNvPr id="15" name="Oval 14"/>
          <p:cNvSpPr/>
          <p:nvPr/>
        </p:nvSpPr>
        <p:spPr>
          <a:xfrm>
            <a:off x="8388321" y="290798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305592" y="2953346"/>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222863" y="259045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080759" y="4407794"/>
            <a:ext cx="5333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7.28 -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226, Figure 7.28. The crop and marks are for teaching; the worked PHP values are ours, invented.</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23 OF 30</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exhaustion figure</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does the next bar help distinguish in an exhaustion reading?</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Whether the next bar gaps away</a:t>
            </a:r>
          </a:p>
          <a:p>
            <a:pPr algn="l">
              <a:lnSpc>
                <a:spcPct val="105000"/>
              </a:lnSpc>
              <a:spcBef>
                <a:spcPts val="0"/>
              </a:spcBef>
              <a:spcAft>
                <a:spcPts val="200"/>
              </a:spcAft>
            </a:pPr>
            <a:r>
              <a:rPr sz="1700" b="0" i="0">
                <a:solidFill>
                  <a:srgbClr val="FFFFFF"/>
                </a:solidFill>
                <a:latin typeface="Arial"/>
              </a:rPr>
              <a:t>B.  Whether volume is absent</a:t>
            </a:r>
          </a:p>
          <a:p>
            <a:pPr algn="l">
              <a:lnSpc>
                <a:spcPct val="105000"/>
              </a:lnSpc>
              <a:spcBef>
                <a:spcPts val="0"/>
              </a:spcBef>
              <a:spcAft>
                <a:spcPts val="200"/>
              </a:spcAft>
            </a:pPr>
            <a:r>
              <a:rPr sz="1700" b="0" i="0">
                <a:solidFill>
                  <a:srgbClr val="FFFFFF"/>
                </a:solidFill>
                <a:latin typeface="Arial"/>
              </a:rPr>
              <a:t>C.  Whether resistance is horizontal</a:t>
            </a:r>
          </a:p>
          <a:p>
            <a:pPr algn="l">
              <a:lnSpc>
                <a:spcPct val="105000"/>
              </a:lnSpc>
              <a:spcBef>
                <a:spcPts val="0"/>
              </a:spcBef>
              <a:spcAft>
                <a:spcPts val="200"/>
              </a:spcAft>
            </a:pPr>
            <a:r>
              <a:rPr sz="1700" b="0" i="0">
                <a:solidFill>
                  <a:srgbClr val="FFFFFF"/>
                </a:solidFill>
                <a:latin typeface="Arial"/>
              </a:rPr>
              <a:t>D.  Whether the bar is an inside bar</a:t>
            </a:r>
          </a:p>
        </p:txBody>
      </p:sp>
      <p:sp>
        <p:nvSpPr>
          <p:cNvPr id="10" name="Rectangle 9"/>
          <p:cNvSpPr/>
          <p:nvPr/>
        </p:nvSpPr>
        <p:spPr>
          <a:xfrm>
            <a:off x="777240" y="3336798"/>
            <a:ext cx="50292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Where is the bullish exhaustion converse more reliable?</a:t>
            </a:r>
          </a:p>
        </p:txBody>
      </p:sp>
      <p:sp>
        <p:nvSpPr>
          <p:cNvPr id="13" name="TextBox 12"/>
          <p:cNvSpPr txBox="1"/>
          <p:nvPr/>
        </p:nvSpPr>
        <p:spPr>
          <a:xfrm>
            <a:off x="1005840" y="419912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At the top of a downtrend</a:t>
            </a:r>
          </a:p>
          <a:p>
            <a:pPr algn="l">
              <a:lnSpc>
                <a:spcPct val="105000"/>
              </a:lnSpc>
              <a:spcBef>
                <a:spcPts val="0"/>
              </a:spcBef>
              <a:spcAft>
                <a:spcPts val="200"/>
              </a:spcAft>
            </a:pPr>
            <a:r>
              <a:rPr sz="1700" b="0" i="0">
                <a:solidFill>
                  <a:srgbClr val="FFFFFF"/>
                </a:solidFill>
                <a:latin typeface="Arial"/>
              </a:rPr>
              <a:t>B.  Only in a flat market</a:t>
            </a:r>
          </a:p>
          <a:p>
            <a:pPr algn="l">
              <a:lnSpc>
                <a:spcPct val="105000"/>
              </a:lnSpc>
              <a:spcBef>
                <a:spcPts val="0"/>
              </a:spcBef>
              <a:spcAft>
                <a:spcPts val="200"/>
              </a:spcAft>
            </a:pPr>
            <a:r>
              <a:rPr sz="1700" b="0" i="0">
                <a:solidFill>
                  <a:srgbClr val="FFFFFF"/>
                </a:solidFill>
                <a:latin typeface="Arial"/>
              </a:rPr>
              <a:t>C.  Only above resistance</a:t>
            </a:r>
          </a:p>
          <a:p>
            <a:pPr algn="l">
              <a:lnSpc>
                <a:spcPct val="105000"/>
              </a:lnSpc>
              <a:spcBef>
                <a:spcPts val="0"/>
              </a:spcBef>
              <a:spcAft>
                <a:spcPts val="200"/>
              </a:spcAft>
            </a:pPr>
            <a:r>
              <a:rPr sz="1700" b="0" i="0">
                <a:solidFill>
                  <a:srgbClr val="FFFFFF"/>
                </a:solidFill>
                <a:latin typeface="Arial"/>
              </a:rPr>
              <a:t>D.  At the bottom of a downtrend</a:t>
            </a:r>
          </a:p>
        </p:txBody>
      </p:sp>
      <p:sp>
        <p:nvSpPr>
          <p:cNvPr id="14" name="Rectangle 13"/>
          <p:cNvSpPr/>
          <p:nvPr/>
        </p:nvSpPr>
        <p:spPr>
          <a:xfrm>
            <a:off x="6126479" y="1207008"/>
            <a:ext cx="5287975" cy="2485493"/>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47749"/>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9054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7.28</a:t>
            </a:r>
          </a:p>
          <a:p>
            <a:pPr algn="l">
              <a:lnSpc>
                <a:spcPct val="115000"/>
              </a:lnSpc>
              <a:spcBef>
                <a:spcPts val="0"/>
              </a:spcBef>
              <a:spcAft>
                <a:spcPts val="0"/>
              </a:spcAft>
            </a:pPr>
            <a:r>
              <a:rPr sz="1500" b="0" i="0">
                <a:solidFill>
                  <a:srgbClr val="1A1A1A"/>
                </a:solidFill>
                <a:latin typeface="Palatino"/>
              </a:rPr>
              <a:t>J.P. Morgan Chase daily chart. The marked exhaustion bar forms a bottom; the preceding gap and later rebound show the context.</a:t>
            </a:r>
          </a:p>
        </p:txBody>
      </p:sp>
      <p:sp>
        <p:nvSpPr>
          <p:cNvPr id="18" name="Oval 17"/>
          <p:cNvSpPr/>
          <p:nvPr/>
        </p:nvSpPr>
        <p:spPr>
          <a:xfrm>
            <a:off x="8770467" y="2494709"/>
            <a:ext cx="303013" cy="202297"/>
          </a:xfrm>
          <a:prstGeom prst="ellipse">
            <a:avLst/>
          </a:prstGeom>
          <a:noFill/>
          <a:ln w="44450">
            <a:solidFill>
              <a:srgbClr val="E09B00"/>
            </a:solidFill>
          </a:ln>
        </p:spPr>
        <p:txBody>
          <a:bodyPr rtlCol="0" anchor="ctr"/>
          <a:lstStyle/>
          <a:p>
            <a:pPr algn="ctr"/>
          </a:p>
        </p:txBody>
      </p:sp>
      <p:sp>
        <p:nvSpPr>
          <p:cNvPr id="19" name="Rectangle 18"/>
          <p:cNvSpPr/>
          <p:nvPr/>
        </p:nvSpPr>
        <p:spPr>
          <a:xfrm>
            <a:off x="8921974" y="2562141"/>
            <a:ext cx="303013" cy="359639"/>
          </a:xfrm>
          <a:prstGeom prst="rect">
            <a:avLst/>
          </a:prstGeom>
          <a:noFill/>
          <a:ln w="44450">
            <a:solidFill>
              <a:srgbClr val="C62828"/>
            </a:solidFill>
          </a:ln>
        </p:spPr>
        <p:txBody>
          <a:bodyPr rtlCol="0" anchor="ctr"/>
          <a:lstStyle/>
          <a:p>
            <a:pPr algn="ctr"/>
          </a:p>
        </p:txBody>
      </p:sp>
      <p:cxnSp>
        <p:nvCxnSpPr>
          <p:cNvPr id="20" name="Connector 19"/>
          <p:cNvCxnSpPr/>
          <p:nvPr/>
        </p:nvCxnSpPr>
        <p:spPr>
          <a:xfrm flipV="1">
            <a:off x="9325992" y="2224979"/>
            <a:ext cx="858540" cy="944055"/>
          </a:xfrm>
          <a:prstGeom prst="line">
            <a:avLst/>
          </a:prstGeom>
          <a:ln w="44450">
            <a:solidFill>
              <a:srgbClr val="1F5FAD"/>
            </a:solidFill>
            <a:tailEnd type="triangle" w="med" len="med"/>
          </a:ln>
        </p:spPr>
      </p:cxnSp>
      <p:sp>
        <p:nvSpPr>
          <p:cNvPr id="21" name="Oval 20"/>
          <p:cNvSpPr/>
          <p:nvPr/>
        </p:nvSpPr>
        <p:spPr>
          <a:xfrm>
            <a:off x="8413010" y="229430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322051" y="233926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10231093" y="197962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83941"/>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7.28 -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23</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exhaustion figure</a:t>
            </a:r>
          </a:p>
        </p:txBody>
      </p:sp>
      <p:sp>
        <p:nvSpPr>
          <p:cNvPr id="6" name="Rectangle 5"/>
          <p:cNvSpPr/>
          <p:nvPr/>
        </p:nvSpPr>
        <p:spPr>
          <a:xfrm>
            <a:off x="777240" y="1207008"/>
            <a:ext cx="5029200" cy="249872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49872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does the next bar help distinguish in an exhaustion reading?</a:t>
            </a:r>
          </a:p>
        </p:txBody>
      </p:sp>
      <p:sp>
        <p:nvSpPr>
          <p:cNvPr id="9" name="TextBox 8"/>
          <p:cNvSpPr txBox="1"/>
          <p:nvPr/>
        </p:nvSpPr>
        <p:spPr>
          <a:xfrm>
            <a:off x="1097280" y="2069338"/>
            <a:ext cx="4480560" cy="163639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Whether the next bar gaps away</a:t>
            </a:r>
          </a:p>
          <a:p>
            <a:pPr algn="l">
              <a:lnSpc>
                <a:spcPct val="115000"/>
              </a:lnSpc>
              <a:spcBef>
                <a:spcPts val="500"/>
              </a:spcBef>
              <a:spcAft>
                <a:spcPts val="0"/>
              </a:spcAft>
            </a:pPr>
            <a:r>
              <a:rPr sz="1700" b="0" i="0">
                <a:solidFill>
                  <a:srgbClr val="1A1A1A"/>
                </a:solidFill>
                <a:latin typeface="Arial"/>
              </a:rPr>
              <a:t>Lim requires no gap between the exhaustion bar and the subsequent bar (p. 226).</a:t>
            </a:r>
          </a:p>
        </p:txBody>
      </p:sp>
      <p:sp>
        <p:nvSpPr>
          <p:cNvPr id="10" name="Rectangle 9"/>
          <p:cNvSpPr/>
          <p:nvPr/>
        </p:nvSpPr>
        <p:spPr>
          <a:xfrm>
            <a:off x="777240" y="3888613"/>
            <a:ext cx="5029200" cy="198755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888613"/>
            <a:ext cx="91440" cy="198755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4071493"/>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Where is the bullish exhaustion converse more reliable?</a:t>
            </a:r>
          </a:p>
        </p:txBody>
      </p:sp>
      <p:sp>
        <p:nvSpPr>
          <p:cNvPr id="13" name="TextBox 12"/>
          <p:cNvSpPr txBox="1"/>
          <p:nvPr/>
        </p:nvSpPr>
        <p:spPr>
          <a:xfrm>
            <a:off x="1097280" y="4750943"/>
            <a:ext cx="4480560" cy="112522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At the bottom of a downtrend</a:t>
            </a:r>
          </a:p>
          <a:p>
            <a:pPr algn="l">
              <a:lnSpc>
                <a:spcPct val="115000"/>
              </a:lnSpc>
              <a:spcBef>
                <a:spcPts val="500"/>
              </a:spcBef>
              <a:spcAft>
                <a:spcPts val="0"/>
              </a:spcAft>
            </a:pPr>
            <a:r>
              <a:rPr sz="1700" b="0" i="0">
                <a:solidFill>
                  <a:srgbClr val="1A1A1A"/>
                </a:solidFill>
                <a:latin typeface="Arial"/>
              </a:rPr>
              <a:t>The bullish converse appears in a downtrend at a bottom (p. 226).</a:t>
            </a:r>
          </a:p>
        </p:txBody>
      </p:sp>
      <p:sp>
        <p:nvSpPr>
          <p:cNvPr id="14" name="Rectangle 13"/>
          <p:cNvSpPr/>
          <p:nvPr/>
        </p:nvSpPr>
        <p:spPr>
          <a:xfrm>
            <a:off x="6126479" y="1207008"/>
            <a:ext cx="5287975" cy="2485493"/>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47749"/>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9054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7.28</a:t>
            </a:r>
          </a:p>
          <a:p>
            <a:pPr algn="l">
              <a:lnSpc>
                <a:spcPct val="115000"/>
              </a:lnSpc>
              <a:spcBef>
                <a:spcPts val="0"/>
              </a:spcBef>
              <a:spcAft>
                <a:spcPts val="0"/>
              </a:spcAft>
            </a:pPr>
            <a:r>
              <a:rPr sz="1500" b="0" i="0">
                <a:solidFill>
                  <a:srgbClr val="1A1A1A"/>
                </a:solidFill>
                <a:latin typeface="Palatino"/>
              </a:rPr>
              <a:t>J.P. Morgan Chase daily chart. The marked exhaustion bar forms a bottom; the preceding gap and later rebound show the context.</a:t>
            </a:r>
          </a:p>
        </p:txBody>
      </p:sp>
      <p:sp>
        <p:nvSpPr>
          <p:cNvPr id="18" name="Oval 17"/>
          <p:cNvSpPr/>
          <p:nvPr/>
        </p:nvSpPr>
        <p:spPr>
          <a:xfrm>
            <a:off x="8770467" y="2494709"/>
            <a:ext cx="303013" cy="202297"/>
          </a:xfrm>
          <a:prstGeom prst="ellipse">
            <a:avLst/>
          </a:prstGeom>
          <a:noFill/>
          <a:ln w="44450">
            <a:solidFill>
              <a:srgbClr val="E09B00"/>
            </a:solidFill>
          </a:ln>
        </p:spPr>
        <p:txBody>
          <a:bodyPr rtlCol="0" anchor="ctr"/>
          <a:lstStyle/>
          <a:p>
            <a:pPr algn="ctr"/>
          </a:p>
        </p:txBody>
      </p:sp>
      <p:sp>
        <p:nvSpPr>
          <p:cNvPr id="19" name="Rectangle 18"/>
          <p:cNvSpPr/>
          <p:nvPr/>
        </p:nvSpPr>
        <p:spPr>
          <a:xfrm>
            <a:off x="8921974" y="2562141"/>
            <a:ext cx="303013" cy="359639"/>
          </a:xfrm>
          <a:prstGeom prst="rect">
            <a:avLst/>
          </a:prstGeom>
          <a:noFill/>
          <a:ln w="44450">
            <a:solidFill>
              <a:srgbClr val="C62828"/>
            </a:solidFill>
          </a:ln>
        </p:spPr>
        <p:txBody>
          <a:bodyPr rtlCol="0" anchor="ctr"/>
          <a:lstStyle/>
          <a:p>
            <a:pPr algn="ctr"/>
          </a:p>
        </p:txBody>
      </p:sp>
      <p:cxnSp>
        <p:nvCxnSpPr>
          <p:cNvPr id="20" name="Connector 19"/>
          <p:cNvCxnSpPr/>
          <p:nvPr/>
        </p:nvCxnSpPr>
        <p:spPr>
          <a:xfrm flipV="1">
            <a:off x="9325992" y="2224979"/>
            <a:ext cx="858540" cy="944055"/>
          </a:xfrm>
          <a:prstGeom prst="line">
            <a:avLst/>
          </a:prstGeom>
          <a:ln w="44450">
            <a:solidFill>
              <a:srgbClr val="1F5FAD"/>
            </a:solidFill>
            <a:tailEnd type="triangle" w="med" len="med"/>
          </a:ln>
        </p:spPr>
      </p:cxnSp>
      <p:sp>
        <p:nvSpPr>
          <p:cNvPr id="21" name="Oval 20"/>
          <p:cNvSpPr/>
          <p:nvPr/>
        </p:nvSpPr>
        <p:spPr>
          <a:xfrm>
            <a:off x="8413010" y="229430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322051" y="233926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10231093" y="197962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83941"/>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7.28 -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23</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 emotion spike is read through range and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33 of 62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Exhaustion uses trend, bar shape, and the next-bar gap. The next idea, an emotion spike, is recognised by an unusually wide range and unusually high volume.</a:t>
            </a:r>
          </a:p>
          <a:p>
            <a:pPr algn="l">
              <a:lnSpc>
                <a:spcPct val="118000"/>
              </a:lnSpc>
              <a:spcBef>
                <a:spcPts val="0"/>
              </a:spcBef>
              <a:spcAft>
                <a:spcPts val="1300"/>
              </a:spcAft>
            </a:pPr>
            <a:r>
              <a:rPr sz="2100" b="0" i="0">
                <a:solidFill>
                  <a:srgbClr val="1A1A1A"/>
                </a:solidFill>
                <a:latin typeface="Arial"/>
              </a:rPr>
              <a:t>Lim says the spike belongs to an emotional market and can appear with a reversal pattern. The invented chart shows the comparison, not a prediction (p. 227).</a:t>
            </a:r>
          </a:p>
        </p:txBody>
      </p:sp>
      <p:sp>
        <p:nvSpPr>
          <p:cNvPr id="8" name="Rectangle 7"/>
          <p:cNvSpPr/>
          <p:nvPr/>
        </p:nvSpPr>
        <p:spPr>
          <a:xfrm>
            <a:off x="777240" y="453085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6742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Range and volume together tell us why the bar is called a spike.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Transition wording is ours; the next chart is invented.</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an emotion spike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middle bar is the spike: </a:t>
            </a:r>
            <a:r>
              <a:rPr sz="1700" b="1" i="0">
                <a:solidFill>
                  <a:srgbClr val="E09B00"/>
                </a:solidFill>
                <a:latin typeface="Arial"/>
              </a:rPr>
              <a:t>(1)</a:t>
            </a:r>
            <a:r>
              <a:rPr sz="1700" b="0" i="0">
                <a:solidFill>
                  <a:srgbClr val="1A1A1A"/>
                </a:solidFill>
                <a:latin typeface="Arial"/>
              </a:rPr>
              <a:t> marks its 8.0-point range, versus 3.0 on ordinary bars. </a:t>
            </a:r>
            <a:r>
              <a:rPr sz="1700" b="1" i="0">
                <a:solidFill>
                  <a:srgbClr val="C62828"/>
                </a:solidFill>
                <a:latin typeface="Arial"/>
              </a:rPr>
              <a:t>(2)</a:t>
            </a:r>
            <a:r>
              <a:rPr sz="1700" b="0" i="0">
                <a:solidFill>
                  <a:srgbClr val="1A1A1A"/>
                </a:solidFill>
                <a:latin typeface="Arial"/>
              </a:rPr>
              <a:t> marks its 6.0 million shares, versus 1.5 million.</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d-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726734"/>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5223052"/>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967874" y="364260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9967874" y="513892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LD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34 of 62</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LD: invented PHP bars and million-share volume.</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an emotion spike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F5FAD"/>
                </a:solidFill>
                <a:latin typeface="Arial"/>
              </a:rPr>
              <a:t>(3)</a:t>
            </a:r>
            <a:r>
              <a:rPr sz="1700" b="0" i="0">
                <a:solidFill>
                  <a:srgbClr val="1A1A1A"/>
                </a:solidFill>
                <a:latin typeface="Arial"/>
              </a:rPr>
              <a:t> marks the reversal context. This wide range and high volume fit Lim's emotion-spike description (p. 227).</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d-1.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6326276" y="3989812"/>
            <a:ext cx="87782" cy="87782"/>
          </a:xfrm>
          <a:prstGeom prst="ellipse">
            <a:avLst/>
          </a:prstGeom>
          <a:noFill/>
          <a:ln w="44450">
            <a:solidFill>
              <a:srgbClr val="1F5FAD"/>
            </a:solidFill>
          </a:ln>
        </p:spPr>
        <p:txBody>
          <a:bodyPr rtlCol="0" anchor="ctr"/>
          <a:lstStyle/>
          <a:p>
            <a:pPr algn="ctr"/>
          </a:p>
        </p:txBody>
      </p:sp>
      <p:sp>
        <p:nvSpPr>
          <p:cNvPr id="10" name="Oval 9"/>
          <p:cNvSpPr/>
          <p:nvPr/>
        </p:nvSpPr>
        <p:spPr>
          <a:xfrm>
            <a:off x="6414058" y="390568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1" name="TextBox 10"/>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LD - FIN1209 teaching chart, drawn for this course. Illustrative data, not a real instrument.</a:t>
            </a:r>
          </a:p>
        </p:txBody>
      </p:sp>
      <p:sp>
        <p:nvSpPr>
          <p:cNvPr id="12" name="TextBox 1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35 of 62</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LD: invented PHP bars and million-share volume.</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7.29 shows the wide bar and the volume behind it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36 of 62</a:t>
            </a:r>
          </a:p>
        </p:txBody>
      </p:sp>
      <p:sp>
        <p:nvSpPr>
          <p:cNvPr id="7" name="TextBox 6"/>
          <p:cNvSpPr txBox="1"/>
          <p:nvPr/>
        </p:nvSpPr>
        <p:spPr>
          <a:xfrm>
            <a:off x="777240" y="1965960"/>
            <a:ext cx="507492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In an emotional market, a price spike is usually wide-ranging and accompanied by high volume (p. 227).</a:t>
            </a:r>
          </a:p>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wide spike, red </a:t>
            </a:r>
            <a:r>
              <a:rPr sz="2000" b="1" i="0">
                <a:solidFill>
                  <a:srgbClr val="C62828"/>
                </a:solidFill>
                <a:latin typeface="Arial"/>
              </a:rPr>
              <a:t>(2)</a:t>
            </a:r>
            <a:r>
              <a:rPr sz="2000" b="0" i="0">
                <a:solidFill>
                  <a:srgbClr val="1A1A1A"/>
                </a:solidFill>
                <a:latin typeface="Arial"/>
              </a:rPr>
              <a:t> its high volume, and blue </a:t>
            </a:r>
            <a:r>
              <a:rPr sz="2000" b="1" i="0">
                <a:solidFill>
                  <a:srgbClr val="1F5FAD"/>
                </a:solidFill>
                <a:latin typeface="Arial"/>
              </a:rPr>
              <a:t>(3)</a:t>
            </a:r>
            <a:r>
              <a:rPr sz="2000" b="0" i="0">
                <a:solidFill>
                  <a:srgbClr val="1A1A1A"/>
                </a:solidFill>
                <a:latin typeface="Arial"/>
              </a:rPr>
              <a:t> the three-bar bearish reversal at the top.</a:t>
            </a:r>
          </a:p>
          <a:p>
            <a:pPr algn="l">
              <a:lnSpc>
                <a:spcPct val="105000"/>
              </a:lnSpc>
              <a:spcBef>
                <a:spcPts val="0"/>
              </a:spcBef>
              <a:spcAft>
                <a:spcPts val="1100"/>
              </a:spcAft>
            </a:pPr>
            <a:r>
              <a:rPr sz="2000" b="0" i="0">
                <a:solidFill>
                  <a:srgbClr val="1A1A1A"/>
                </a:solidFill>
                <a:latin typeface="Arial"/>
              </a:rPr>
              <a:t>The wide range and high volume explain the name. The reversal context is a warning, not a prediction.</a:t>
            </a:r>
          </a:p>
        </p:txBody>
      </p:sp>
      <p:sp>
        <p:nvSpPr>
          <p:cNvPr id="8" name="Rectangle 7"/>
          <p:cNvSpPr/>
          <p:nvPr/>
        </p:nvSpPr>
        <p:spPr>
          <a:xfrm>
            <a:off x="6172199" y="1810512"/>
            <a:ext cx="5242255" cy="329327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91071" y="1929384"/>
            <a:ext cx="5004511" cy="3055535"/>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91071" y="1929384"/>
            <a:ext cx="500451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65391" y="2203703"/>
            <a:ext cx="4455871" cy="259833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7.29</a:t>
            </a:r>
          </a:p>
          <a:p>
            <a:pPr algn="l">
              <a:lnSpc>
                <a:spcPct val="115000"/>
              </a:lnSpc>
              <a:spcBef>
                <a:spcPts val="0"/>
              </a:spcBef>
              <a:spcAft>
                <a:spcPts val="0"/>
              </a:spcAft>
            </a:pPr>
            <a:r>
              <a:rPr sz="1500" b="0" i="0">
                <a:solidFill>
                  <a:srgbClr val="1A1A1A"/>
                </a:solidFill>
                <a:latin typeface="Palatino"/>
              </a:rPr>
              <a:t>Mad Catz Interactive daily chart. A wide price spike occurs on high volume and a three-bar bearish reversal forms near the top.</a:t>
            </a:r>
          </a:p>
        </p:txBody>
      </p:sp>
      <p:sp>
        <p:nvSpPr>
          <p:cNvPr id="12" name="Oval 11"/>
          <p:cNvSpPr/>
          <p:nvPr/>
        </p:nvSpPr>
        <p:spPr>
          <a:xfrm>
            <a:off x="8292876" y="2540491"/>
            <a:ext cx="350315" cy="1008326"/>
          </a:xfrm>
          <a:prstGeom prst="ellipse">
            <a:avLst/>
          </a:prstGeom>
          <a:noFill/>
          <a:ln w="44450">
            <a:solidFill>
              <a:srgbClr val="E09B00"/>
            </a:solidFill>
          </a:ln>
        </p:spPr>
        <p:txBody>
          <a:bodyPr rtlCol="0" anchor="ctr"/>
          <a:lstStyle/>
          <a:p>
            <a:pPr algn="ctr"/>
          </a:p>
        </p:txBody>
      </p:sp>
      <p:sp>
        <p:nvSpPr>
          <p:cNvPr id="13" name="Oval 12"/>
          <p:cNvSpPr/>
          <p:nvPr/>
        </p:nvSpPr>
        <p:spPr>
          <a:xfrm>
            <a:off x="8392966" y="4373812"/>
            <a:ext cx="300270" cy="458330"/>
          </a:xfrm>
          <a:prstGeom prst="ellipse">
            <a:avLst/>
          </a:prstGeom>
          <a:noFill/>
          <a:ln w="44450">
            <a:solidFill>
              <a:srgbClr val="C62828"/>
            </a:solidFill>
          </a:ln>
        </p:spPr>
        <p:txBody>
          <a:bodyPr rtlCol="0" anchor="ctr"/>
          <a:lstStyle/>
          <a:p>
            <a:pPr algn="ctr"/>
          </a:p>
        </p:txBody>
      </p:sp>
      <p:sp>
        <p:nvSpPr>
          <p:cNvPr id="14" name="Oval 13"/>
          <p:cNvSpPr/>
          <p:nvPr/>
        </p:nvSpPr>
        <p:spPr>
          <a:xfrm>
            <a:off x="9994410" y="2112716"/>
            <a:ext cx="400360" cy="427775"/>
          </a:xfrm>
          <a:prstGeom prst="ellipse">
            <a:avLst/>
          </a:prstGeom>
          <a:noFill/>
          <a:ln w="44450">
            <a:solidFill>
              <a:srgbClr val="1F5FAD"/>
            </a:solidFill>
          </a:ln>
        </p:spPr>
        <p:txBody>
          <a:bodyPr rtlCol="0" anchor="ctr"/>
          <a:lstStyle/>
          <a:p>
            <a:pPr algn="ctr"/>
          </a:p>
        </p:txBody>
      </p:sp>
      <p:sp>
        <p:nvSpPr>
          <p:cNvPr id="15" name="Oval 14"/>
          <p:cNvSpPr/>
          <p:nvPr/>
        </p:nvSpPr>
        <p:spPr>
          <a:xfrm>
            <a:off x="7937247" y="2293377"/>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788014" y="470725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489548" y="220171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72199" y="5195231"/>
            <a:ext cx="524225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7.29 -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227, Figure 7.29. The crop and marks are for teaching; the worked PHP values are ours, invented.</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pin bar makes a barrier break look more convincing than it is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37 of 62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We now add a barrier test. Lim calls a pin bar a single-bar misrepresentation of strength or weakness: price penetrates a moving average, support, resistance, or trendline, then rapidly retraces (p. 227).</a:t>
            </a:r>
          </a:p>
          <a:p>
            <a:pPr algn="l">
              <a:lnSpc>
                <a:spcPct val="118000"/>
              </a:lnSpc>
              <a:spcBef>
                <a:spcPts val="0"/>
              </a:spcBef>
              <a:spcAft>
                <a:spcPts val="1300"/>
              </a:spcAft>
            </a:pPr>
            <a:r>
              <a:rPr sz="2100" b="0" i="0">
                <a:solidFill>
                  <a:srgbClr val="1A1A1A"/>
                </a:solidFill>
                <a:latin typeface="Arial"/>
              </a:rPr>
              <a:t>Pin bars usually form on low volume. The barrier break can fool a trader, so wait for the return before treating the move as a real breakout.</a:t>
            </a:r>
          </a:p>
        </p:txBody>
      </p:sp>
      <p:sp>
        <p:nvSpPr>
          <p:cNvPr id="8" name="Rectangle 7"/>
          <p:cNvSpPr/>
          <p:nvPr/>
        </p:nvSpPr>
        <p:spPr>
          <a:xfrm>
            <a:off x="777240" y="4216145"/>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52721"/>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false barrier impression separates a pin bar from an exhaustion bar.</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227. The worked PHP values are ours, invented.</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pin bar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pin bar tests support and then returns: </a:t>
            </a:r>
            <a:r>
              <a:rPr sz="1700" b="1" i="0">
                <a:solidFill>
                  <a:srgbClr val="E09B00"/>
                </a:solidFill>
                <a:latin typeface="Arial"/>
              </a:rPr>
              <a:t>(1)</a:t>
            </a:r>
            <a:r>
              <a:rPr sz="1700" b="0" i="0">
                <a:solidFill>
                  <a:srgbClr val="1A1A1A"/>
                </a:solidFill>
                <a:latin typeface="Arial"/>
              </a:rPr>
              <a:t> marks support at PHP 40.00. The bar trades down to PHP 38.80 at </a:t>
            </a:r>
            <a:r>
              <a:rPr sz="1700" b="1" i="0">
                <a:solidFill>
                  <a:srgbClr val="C62828"/>
                </a:solidFill>
                <a:latin typeface="Arial"/>
              </a:rPr>
              <a:t>(2)</a:t>
            </a:r>
            <a:r>
              <a:rPr sz="1700" b="0" i="0">
                <a:solidFill>
                  <a:srgbClr val="1A1A1A"/>
                </a:solidFill>
                <a:latin typeface="Arial"/>
              </a:rPr>
              <a:t>, then closes back above support at PHP 40.60 at </a:t>
            </a:r>
            <a:r>
              <a:rPr sz="1700" b="1" i="0">
                <a:solidFill>
                  <a:srgbClr val="1F5FAD"/>
                </a:solidFill>
                <a:latin typeface="Arial"/>
              </a:rPr>
              <a:t>(3)</a:t>
            </a:r>
            <a:r>
              <a:rPr sz="1700" b="0" i="0">
                <a:solidFill>
                  <a:srgbClr val="1A1A1A"/>
                </a:solidFill>
                <a:latin typeface="Arial"/>
              </a:rPr>
              <a:t> on 0.8 million shares. The low is the bar's lowest price and the close is below its high, so the prices are possible. The return above support is the false-break clue (p. 227).</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j-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414014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4445812"/>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3987306"/>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647090" y="397006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67874" y="436168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107215" y="383053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LJ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38 of 62</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7.30 shows the barrier, the penetration, and the return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39 of 62</a:t>
            </a:r>
          </a:p>
        </p:txBody>
      </p:sp>
      <p:sp>
        <p:nvSpPr>
          <p:cNvPr id="7" name="TextBox 6"/>
          <p:cNvSpPr txBox="1"/>
          <p:nvPr/>
        </p:nvSpPr>
        <p:spPr>
          <a:xfrm>
            <a:off x="777240" y="1965960"/>
            <a:ext cx="50292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Lim calls pin bars “single bar misrepresentations of market strength or weakness” (p. 227).</a:t>
            </a:r>
          </a:p>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support, red </a:t>
            </a:r>
            <a:r>
              <a:rPr sz="2000" b="1" i="0">
                <a:solidFill>
                  <a:srgbClr val="C62828"/>
                </a:solidFill>
                <a:latin typeface="Arial"/>
              </a:rPr>
              <a:t>(2)</a:t>
            </a:r>
            <a:r>
              <a:rPr sz="2000" b="0" i="0">
                <a:solidFill>
                  <a:srgbClr val="1A1A1A"/>
                </a:solidFill>
                <a:latin typeface="Arial"/>
              </a:rPr>
              <a:t> the intra-period penetration, and blue </a:t>
            </a:r>
            <a:r>
              <a:rPr sz="2000" b="1" i="0">
                <a:solidFill>
                  <a:srgbClr val="1F5FAD"/>
                </a:solidFill>
                <a:latin typeface="Arial"/>
              </a:rPr>
              <a:t>(3)</a:t>
            </a:r>
            <a:r>
              <a:rPr sz="2000" b="0" i="0">
                <a:solidFill>
                  <a:srgbClr val="1A1A1A"/>
                </a:solidFill>
                <a:latin typeface="Arial"/>
              </a:rPr>
              <a:t> the close back above support.</a:t>
            </a:r>
          </a:p>
          <a:p>
            <a:pPr algn="l">
              <a:lnSpc>
                <a:spcPct val="105000"/>
              </a:lnSpc>
              <a:spcBef>
                <a:spcPts val="0"/>
              </a:spcBef>
              <a:spcAft>
                <a:spcPts val="1100"/>
              </a:spcAft>
            </a:pPr>
            <a:r>
              <a:rPr sz="2000" b="0" i="0">
                <a:solidFill>
                  <a:srgbClr val="1A1A1A"/>
                </a:solidFill>
                <a:latin typeface="Arial"/>
              </a:rPr>
              <a:t>The breach can look like a breakout, but the rapid retrace says that first impression was false. Lim also says pin bars usually form on low volume.</a:t>
            </a:r>
          </a:p>
        </p:txBody>
      </p:sp>
      <p:sp>
        <p:nvSpPr>
          <p:cNvPr id="8" name="Rectangle 7"/>
          <p:cNvSpPr/>
          <p:nvPr/>
        </p:nvSpPr>
        <p:spPr>
          <a:xfrm>
            <a:off x="6126479" y="1810512"/>
            <a:ext cx="5287975" cy="2453111"/>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45351" y="1929384"/>
            <a:ext cx="5050231" cy="2215367"/>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45351" y="1929384"/>
            <a:ext cx="505023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19671" y="2203703"/>
            <a:ext cx="4501591" cy="175816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7.30</a:t>
            </a:r>
          </a:p>
          <a:p>
            <a:pPr algn="l">
              <a:lnSpc>
                <a:spcPct val="115000"/>
              </a:lnSpc>
              <a:spcBef>
                <a:spcPts val="0"/>
              </a:spcBef>
              <a:spcAft>
                <a:spcPts val="0"/>
              </a:spcAft>
            </a:pPr>
            <a:r>
              <a:rPr sz="1500" b="0" i="0">
                <a:solidFill>
                  <a:srgbClr val="1A1A1A"/>
                </a:solidFill>
                <a:latin typeface="Palatino"/>
              </a:rPr>
              <a:t>Micron Technology daily chart. The marked pin bar penetrates support and then retraces above the level.</a:t>
            </a:r>
          </a:p>
        </p:txBody>
      </p:sp>
      <p:cxnSp>
        <p:nvCxnSpPr>
          <p:cNvPr id="12" name="Connector 11"/>
          <p:cNvCxnSpPr/>
          <p:nvPr/>
        </p:nvCxnSpPr>
        <p:spPr>
          <a:xfrm>
            <a:off x="6649370" y="3834600"/>
            <a:ext cx="3131143" cy="0"/>
          </a:xfrm>
          <a:prstGeom prst="line">
            <a:avLst/>
          </a:prstGeom>
          <a:ln w="44450">
            <a:solidFill>
              <a:srgbClr val="E09B00"/>
            </a:solidFill>
          </a:ln>
        </p:spPr>
      </p:cxnSp>
      <p:sp>
        <p:nvSpPr>
          <p:cNvPr id="13" name="Oval 12"/>
          <p:cNvSpPr/>
          <p:nvPr/>
        </p:nvSpPr>
        <p:spPr>
          <a:xfrm>
            <a:off x="7204895" y="3790293"/>
            <a:ext cx="252511" cy="199383"/>
          </a:xfrm>
          <a:prstGeom prst="ellipse">
            <a:avLst/>
          </a:prstGeom>
          <a:noFill/>
          <a:ln w="44450">
            <a:solidFill>
              <a:srgbClr val="C62828"/>
            </a:solidFill>
          </a:ln>
        </p:spPr>
        <p:txBody>
          <a:bodyPr rtlCol="0" anchor="ctr"/>
          <a:lstStyle/>
          <a:p>
            <a:pPr algn="ctr"/>
          </a:p>
        </p:txBody>
      </p:sp>
      <p:sp>
        <p:nvSpPr>
          <p:cNvPr id="14" name="Oval 13"/>
          <p:cNvSpPr/>
          <p:nvPr/>
        </p:nvSpPr>
        <p:spPr>
          <a:xfrm>
            <a:off x="7356402" y="3723832"/>
            <a:ext cx="353516" cy="177229"/>
          </a:xfrm>
          <a:prstGeom prst="ellipse">
            <a:avLst/>
          </a:prstGeom>
          <a:noFill/>
          <a:ln w="44450">
            <a:solidFill>
              <a:srgbClr val="1F5FAD"/>
            </a:solidFill>
          </a:ln>
        </p:spPr>
        <p:txBody>
          <a:bodyPr rtlCol="0" anchor="ctr"/>
          <a:lstStyle/>
          <a:p>
            <a:pPr algn="ctr"/>
          </a:p>
        </p:txBody>
      </p:sp>
      <p:sp>
        <p:nvSpPr>
          <p:cNvPr id="15" name="Oval 14"/>
          <p:cNvSpPr/>
          <p:nvPr/>
        </p:nvSpPr>
        <p:spPr>
          <a:xfrm>
            <a:off x="6342415" y="3812074"/>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6897940" y="387853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7806982" y="3479769"/>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26479" y="4355063"/>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7.30 -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227, Figure 7.30. The crop and marks are for teaching; the worked PHP values are ours, invented.</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24 OF 30</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pin-bar figure</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does a pin bar penetrate during the interval?</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 volume average</a:t>
            </a:r>
          </a:p>
          <a:p>
            <a:pPr algn="l">
              <a:lnSpc>
                <a:spcPct val="105000"/>
              </a:lnSpc>
              <a:spcBef>
                <a:spcPts val="0"/>
              </a:spcBef>
              <a:spcAft>
                <a:spcPts val="200"/>
              </a:spcAft>
            </a:pPr>
            <a:r>
              <a:rPr sz="1700" b="0" i="0">
                <a:solidFill>
                  <a:srgbClr val="FFFFFF"/>
                </a:solidFill>
                <a:latin typeface="Arial"/>
              </a:rPr>
              <a:t>B.  A prior close only</a:t>
            </a:r>
          </a:p>
          <a:p>
            <a:pPr algn="l">
              <a:lnSpc>
                <a:spcPct val="105000"/>
              </a:lnSpc>
              <a:spcBef>
                <a:spcPts val="0"/>
              </a:spcBef>
              <a:spcAft>
                <a:spcPts val="200"/>
              </a:spcAft>
            </a:pPr>
            <a:r>
              <a:rPr sz="1700" b="0" i="0">
                <a:solidFill>
                  <a:srgbClr val="FFFFFF"/>
                </a:solidFill>
                <a:latin typeface="Arial"/>
              </a:rPr>
              <a:t>C.  A stochastic formula</a:t>
            </a:r>
          </a:p>
          <a:p>
            <a:pPr algn="l">
              <a:lnSpc>
                <a:spcPct val="105000"/>
              </a:lnSpc>
              <a:spcBef>
                <a:spcPts val="0"/>
              </a:spcBef>
              <a:spcAft>
                <a:spcPts val="200"/>
              </a:spcAft>
            </a:pPr>
            <a:r>
              <a:rPr sz="1700" b="0" i="0">
                <a:solidFill>
                  <a:srgbClr val="FFFFFF"/>
                </a:solidFill>
                <a:latin typeface="Arial"/>
              </a:rPr>
              <a:t>D.  A barrier such as support or resistance</a:t>
            </a:r>
          </a:p>
        </p:txBody>
      </p:sp>
      <p:sp>
        <p:nvSpPr>
          <p:cNvPr id="10" name="Rectangle 9"/>
          <p:cNvSpPr/>
          <p:nvPr/>
        </p:nvSpPr>
        <p:spPr>
          <a:xfrm>
            <a:off x="777240" y="3336798"/>
            <a:ext cx="5029200" cy="1790065"/>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does the rapid retrace imply?</a:t>
            </a:r>
          </a:p>
        </p:txBody>
      </p:sp>
      <p:sp>
        <p:nvSpPr>
          <p:cNvPr id="13" name="TextBox 12"/>
          <p:cNvSpPr txBox="1"/>
          <p:nvPr/>
        </p:nvSpPr>
        <p:spPr>
          <a:xfrm>
            <a:off x="1005840" y="3950843"/>
            <a:ext cx="4572000" cy="1102868"/>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The barrier break is certain</a:t>
            </a:r>
          </a:p>
          <a:p>
            <a:pPr algn="l">
              <a:lnSpc>
                <a:spcPct val="105000"/>
              </a:lnSpc>
              <a:spcBef>
                <a:spcPts val="0"/>
              </a:spcBef>
              <a:spcAft>
                <a:spcPts val="200"/>
              </a:spcAft>
            </a:pPr>
            <a:r>
              <a:rPr sz="1700" b="0" i="0">
                <a:solidFill>
                  <a:srgbClr val="FFFFFF"/>
                </a:solidFill>
                <a:latin typeface="Arial"/>
              </a:rPr>
              <a:t>B.  The apparent breakout may be false</a:t>
            </a:r>
          </a:p>
          <a:p>
            <a:pPr algn="l">
              <a:lnSpc>
                <a:spcPct val="105000"/>
              </a:lnSpc>
              <a:spcBef>
                <a:spcPts val="0"/>
              </a:spcBef>
              <a:spcAft>
                <a:spcPts val="200"/>
              </a:spcAft>
            </a:pPr>
            <a:r>
              <a:rPr sz="1700" b="0" i="0">
                <a:solidFill>
                  <a:srgbClr val="FFFFFF"/>
                </a:solidFill>
                <a:latin typeface="Arial"/>
              </a:rPr>
              <a:t>C.  The trend must continue</a:t>
            </a:r>
          </a:p>
          <a:p>
            <a:pPr algn="l">
              <a:lnSpc>
                <a:spcPct val="105000"/>
              </a:lnSpc>
              <a:spcBef>
                <a:spcPts val="0"/>
              </a:spcBef>
              <a:spcAft>
                <a:spcPts val="200"/>
              </a:spcAft>
            </a:pPr>
            <a:r>
              <a:rPr sz="1700" b="0" i="0">
                <a:solidFill>
                  <a:srgbClr val="FFFFFF"/>
                </a:solidFill>
                <a:latin typeface="Arial"/>
              </a:rPr>
              <a:t>D.  The volume is high</a:t>
            </a:r>
          </a:p>
        </p:txBody>
      </p:sp>
      <p:sp>
        <p:nvSpPr>
          <p:cNvPr id="14" name="Rectangle 13"/>
          <p:cNvSpPr/>
          <p:nvPr/>
        </p:nvSpPr>
        <p:spPr>
          <a:xfrm>
            <a:off x="6126479" y="1207008"/>
            <a:ext cx="5287975" cy="2453111"/>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15367"/>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5816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7.30</a:t>
            </a:r>
          </a:p>
          <a:p>
            <a:pPr algn="l">
              <a:lnSpc>
                <a:spcPct val="115000"/>
              </a:lnSpc>
              <a:spcBef>
                <a:spcPts val="0"/>
              </a:spcBef>
              <a:spcAft>
                <a:spcPts val="0"/>
              </a:spcAft>
            </a:pPr>
            <a:r>
              <a:rPr sz="1500" b="0" i="0">
                <a:solidFill>
                  <a:srgbClr val="1A1A1A"/>
                </a:solidFill>
                <a:latin typeface="Palatino"/>
              </a:rPr>
              <a:t>Micron Technology daily chart. The marked pin bar penetrates support and then retraces above the level.</a:t>
            </a:r>
          </a:p>
        </p:txBody>
      </p:sp>
      <p:cxnSp>
        <p:nvCxnSpPr>
          <p:cNvPr id="18" name="Connector 17"/>
          <p:cNvCxnSpPr/>
          <p:nvPr/>
        </p:nvCxnSpPr>
        <p:spPr>
          <a:xfrm>
            <a:off x="6649370" y="3231096"/>
            <a:ext cx="3131143" cy="0"/>
          </a:xfrm>
          <a:prstGeom prst="line">
            <a:avLst/>
          </a:prstGeom>
          <a:ln w="44450">
            <a:solidFill>
              <a:srgbClr val="E09B00"/>
            </a:solidFill>
          </a:ln>
        </p:spPr>
      </p:cxnSp>
      <p:sp>
        <p:nvSpPr>
          <p:cNvPr id="19" name="Oval 18"/>
          <p:cNvSpPr/>
          <p:nvPr/>
        </p:nvSpPr>
        <p:spPr>
          <a:xfrm>
            <a:off x="7204895" y="3186789"/>
            <a:ext cx="252511" cy="199383"/>
          </a:xfrm>
          <a:prstGeom prst="ellipse">
            <a:avLst/>
          </a:prstGeom>
          <a:noFill/>
          <a:ln w="44450">
            <a:solidFill>
              <a:srgbClr val="C62828"/>
            </a:solidFill>
          </a:ln>
        </p:spPr>
        <p:txBody>
          <a:bodyPr rtlCol="0" anchor="ctr"/>
          <a:lstStyle/>
          <a:p>
            <a:pPr algn="ctr"/>
          </a:p>
        </p:txBody>
      </p:sp>
      <p:sp>
        <p:nvSpPr>
          <p:cNvPr id="20" name="Oval 19"/>
          <p:cNvSpPr/>
          <p:nvPr/>
        </p:nvSpPr>
        <p:spPr>
          <a:xfrm>
            <a:off x="7356402" y="3120328"/>
            <a:ext cx="353516" cy="177229"/>
          </a:xfrm>
          <a:prstGeom prst="ellipse">
            <a:avLst/>
          </a:prstGeom>
          <a:noFill/>
          <a:ln w="44450">
            <a:solidFill>
              <a:srgbClr val="1F5FAD"/>
            </a:solidFill>
          </a:ln>
        </p:spPr>
        <p:txBody>
          <a:bodyPr rtlCol="0" anchor="ctr"/>
          <a:lstStyle/>
          <a:p>
            <a:pPr algn="ctr"/>
          </a:p>
        </p:txBody>
      </p:sp>
      <p:sp>
        <p:nvSpPr>
          <p:cNvPr id="21" name="Oval 20"/>
          <p:cNvSpPr/>
          <p:nvPr/>
        </p:nvSpPr>
        <p:spPr>
          <a:xfrm>
            <a:off x="6342415" y="320857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6897940" y="327503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7806982" y="287626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51559"/>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7.30 -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24</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pin-bar figure</a:t>
            </a:r>
          </a:p>
        </p:txBody>
      </p:sp>
      <p:sp>
        <p:nvSpPr>
          <p:cNvPr id="6" name="Rectangle 5"/>
          <p:cNvSpPr/>
          <p:nvPr/>
        </p:nvSpPr>
        <p:spPr>
          <a:xfrm>
            <a:off x="777240" y="1207008"/>
            <a:ext cx="5029200" cy="225043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250439"/>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does a pin bar penetrate during the interval?</a:t>
            </a:r>
          </a:p>
        </p:txBody>
      </p:sp>
      <p:sp>
        <p:nvSpPr>
          <p:cNvPr id="9" name="TextBox 8"/>
          <p:cNvSpPr txBox="1"/>
          <p:nvPr/>
        </p:nvSpPr>
        <p:spPr>
          <a:xfrm>
            <a:off x="1097280" y="2069338"/>
            <a:ext cx="4480560" cy="138810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A barrier such as support or resistance</a:t>
            </a:r>
          </a:p>
          <a:p>
            <a:pPr algn="l">
              <a:lnSpc>
                <a:spcPct val="115000"/>
              </a:lnSpc>
              <a:spcBef>
                <a:spcPts val="500"/>
              </a:spcBef>
              <a:spcAft>
                <a:spcPts val="0"/>
              </a:spcAft>
            </a:pPr>
            <a:r>
              <a:rPr sz="1700" b="0" i="0">
                <a:solidFill>
                  <a:srgbClr val="1A1A1A"/>
                </a:solidFill>
                <a:latin typeface="Arial"/>
              </a:rPr>
              <a:t>Lim describes a pin bar as penetrating a barrier and then retracing (p. 227).</a:t>
            </a:r>
          </a:p>
        </p:txBody>
      </p:sp>
      <p:sp>
        <p:nvSpPr>
          <p:cNvPr id="10" name="Rectangle 9"/>
          <p:cNvSpPr/>
          <p:nvPr/>
        </p:nvSpPr>
        <p:spPr>
          <a:xfrm>
            <a:off x="777240" y="3640327"/>
            <a:ext cx="5029200" cy="22504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640327"/>
            <a:ext cx="91440" cy="22504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823208"/>
            <a:ext cx="448056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What does the rapid retrace imply?</a:t>
            </a:r>
          </a:p>
        </p:txBody>
      </p:sp>
      <p:sp>
        <p:nvSpPr>
          <p:cNvPr id="13" name="TextBox 12"/>
          <p:cNvSpPr txBox="1"/>
          <p:nvPr/>
        </p:nvSpPr>
        <p:spPr>
          <a:xfrm>
            <a:off x="1097280" y="4254373"/>
            <a:ext cx="4480560" cy="163639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The apparent breakout may be false</a:t>
            </a:r>
          </a:p>
          <a:p>
            <a:pPr algn="l">
              <a:lnSpc>
                <a:spcPct val="115000"/>
              </a:lnSpc>
              <a:spcBef>
                <a:spcPts val="500"/>
              </a:spcBef>
              <a:spcAft>
                <a:spcPts val="0"/>
              </a:spcAft>
            </a:pPr>
            <a:r>
              <a:rPr sz="1700" b="0" i="0">
                <a:solidFill>
                  <a:srgbClr val="1A1A1A"/>
                </a:solidFill>
                <a:latin typeface="Arial"/>
              </a:rPr>
              <a:t>The retrace shows that the initial impression of breaking the barrier was false (p. 227).</a:t>
            </a:r>
          </a:p>
        </p:txBody>
      </p:sp>
      <p:sp>
        <p:nvSpPr>
          <p:cNvPr id="14" name="Rectangle 13"/>
          <p:cNvSpPr/>
          <p:nvPr/>
        </p:nvSpPr>
        <p:spPr>
          <a:xfrm>
            <a:off x="6126479" y="1207008"/>
            <a:ext cx="5287975" cy="2453111"/>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15367"/>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5816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7.30</a:t>
            </a:r>
          </a:p>
          <a:p>
            <a:pPr algn="l">
              <a:lnSpc>
                <a:spcPct val="115000"/>
              </a:lnSpc>
              <a:spcBef>
                <a:spcPts val="0"/>
              </a:spcBef>
              <a:spcAft>
                <a:spcPts val="0"/>
              </a:spcAft>
            </a:pPr>
            <a:r>
              <a:rPr sz="1500" b="0" i="0">
                <a:solidFill>
                  <a:srgbClr val="1A1A1A"/>
                </a:solidFill>
                <a:latin typeface="Palatino"/>
              </a:rPr>
              <a:t>Micron Technology daily chart. The marked pin bar penetrates support and then retraces above the level.</a:t>
            </a:r>
          </a:p>
        </p:txBody>
      </p:sp>
      <p:cxnSp>
        <p:nvCxnSpPr>
          <p:cNvPr id="18" name="Connector 17"/>
          <p:cNvCxnSpPr/>
          <p:nvPr/>
        </p:nvCxnSpPr>
        <p:spPr>
          <a:xfrm>
            <a:off x="6649370" y="3231096"/>
            <a:ext cx="3131143" cy="0"/>
          </a:xfrm>
          <a:prstGeom prst="line">
            <a:avLst/>
          </a:prstGeom>
          <a:ln w="44450">
            <a:solidFill>
              <a:srgbClr val="E09B00"/>
            </a:solidFill>
          </a:ln>
        </p:spPr>
      </p:cxnSp>
      <p:sp>
        <p:nvSpPr>
          <p:cNvPr id="19" name="Oval 18"/>
          <p:cNvSpPr/>
          <p:nvPr/>
        </p:nvSpPr>
        <p:spPr>
          <a:xfrm>
            <a:off x="7204895" y="3186789"/>
            <a:ext cx="252511" cy="199383"/>
          </a:xfrm>
          <a:prstGeom prst="ellipse">
            <a:avLst/>
          </a:prstGeom>
          <a:noFill/>
          <a:ln w="44450">
            <a:solidFill>
              <a:srgbClr val="C62828"/>
            </a:solidFill>
          </a:ln>
        </p:spPr>
        <p:txBody>
          <a:bodyPr rtlCol="0" anchor="ctr"/>
          <a:lstStyle/>
          <a:p>
            <a:pPr algn="ctr"/>
          </a:p>
        </p:txBody>
      </p:sp>
      <p:sp>
        <p:nvSpPr>
          <p:cNvPr id="20" name="Oval 19"/>
          <p:cNvSpPr/>
          <p:nvPr/>
        </p:nvSpPr>
        <p:spPr>
          <a:xfrm>
            <a:off x="7356402" y="3120328"/>
            <a:ext cx="353516" cy="177229"/>
          </a:xfrm>
          <a:prstGeom prst="ellipse">
            <a:avLst/>
          </a:prstGeom>
          <a:noFill/>
          <a:ln w="44450">
            <a:solidFill>
              <a:srgbClr val="1F5FAD"/>
            </a:solidFill>
          </a:ln>
        </p:spPr>
        <p:txBody>
          <a:bodyPr rtlCol="0" anchor="ctr"/>
          <a:lstStyle/>
          <a:p>
            <a:pPr algn="ctr"/>
          </a:p>
        </p:txBody>
      </p:sp>
      <p:sp>
        <p:nvSpPr>
          <p:cNvPr id="21" name="Oval 20"/>
          <p:cNvSpPr/>
          <p:nvPr/>
        </p:nvSpPr>
        <p:spPr>
          <a:xfrm>
            <a:off x="6342415" y="320857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6897940" y="327503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7806982" y="287626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51559"/>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7.30 -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24</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An exhaustion bar ends a long run</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An exhaustion bar ends a long run: it opens beyond the prior high </a:t>
            </a:r>
            <a:r>
              <a:rPr sz="1700" b="1" i="0">
                <a:solidFill>
                  <a:srgbClr val="E09B00"/>
                </a:solidFill>
                <a:latin typeface="Arial"/>
              </a:rPr>
              <a:t>(1)</a:t>
            </a:r>
            <a:r>
              <a:rPr sz="1700" b="0" i="0">
                <a:solidFill>
                  <a:srgbClr val="1A1A1A"/>
                </a:solidFill>
                <a:latin typeface="Arial"/>
              </a:rPr>
              <a:t>, reaches a new high </a:t>
            </a:r>
            <a:r>
              <a:rPr sz="1700" b="1" i="0">
                <a:solidFill>
                  <a:srgbClr val="C62828"/>
                </a:solidFill>
                <a:latin typeface="Arial"/>
              </a:rPr>
              <a:t>(2)</a:t>
            </a:r>
            <a:r>
              <a:rPr sz="1700" b="0" i="0">
                <a:solidFill>
                  <a:srgbClr val="1A1A1A"/>
                </a:solidFill>
                <a:latin typeface="Arial"/>
              </a:rPr>
              <a:t>, gives most back, and the next bar does not gap </a:t>
            </a:r>
            <a:r>
              <a:rPr sz="1700" b="1" i="0">
                <a:solidFill>
                  <a:srgbClr val="1F5FAD"/>
                </a:solidFill>
                <a:latin typeface="Arial"/>
              </a:rPr>
              <a:t>(3)</a:t>
            </a:r>
            <a:r>
              <a:rPr sz="1700" b="0" i="0">
                <a:solidFill>
                  <a:srgbClr val="1A1A1A"/>
                </a:solidFill>
                <a:latin typeface="Arial"/>
              </a:rPr>
              <a:t> (p. 226).</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a-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6856628" y="3509695"/>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012076"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724643" y="4378947"/>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6713707" y="326403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099858"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640519" y="4122915"/>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A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40 of 62</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226 to 227. Chart A is ours, with invented PHP bars and volume to answer review question 1.</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pin bar pierces support and then snaps back inside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 pin bar pierces support </a:t>
            </a:r>
            <a:r>
              <a:rPr sz="1700" b="1" i="0">
                <a:solidFill>
                  <a:srgbClr val="7B3FA0"/>
                </a:solidFill>
                <a:latin typeface="Arial"/>
              </a:rPr>
              <a:t>(1)</a:t>
            </a:r>
            <a:r>
              <a:rPr sz="1700" b="0" i="0">
                <a:solidFill>
                  <a:srgbClr val="1A1A1A"/>
                </a:solidFill>
                <a:latin typeface="Arial"/>
              </a:rPr>
              <a:t> then snaps back inside </a:t>
            </a:r>
            <a:r>
              <a:rPr sz="1700" b="1" i="0">
                <a:solidFill>
                  <a:srgbClr val="C62828"/>
                </a:solidFill>
                <a:latin typeface="Arial"/>
              </a:rPr>
              <a:t>(2)</a:t>
            </a:r>
            <a:r>
              <a:rPr sz="1700" b="0" i="0">
                <a:solidFill>
                  <a:srgbClr val="1A1A1A"/>
                </a:solidFill>
                <a:latin typeface="Arial"/>
              </a:rPr>
              <a:t>. Lim calls it a "single bar misrepresentation" (p. 227); its volume is low </a:t>
            </a:r>
            <a:r>
              <a:rPr sz="1700" b="1" i="0">
                <a:solidFill>
                  <a:srgbClr val="E09B00"/>
                </a:solidFill>
                <a:latin typeface="Arial"/>
              </a:rPr>
              <a:t>(3)</a:t>
            </a:r>
            <a:r>
              <a:rPr sz="1700" b="0" i="0">
                <a:solidFill>
                  <a:srgbClr val="1A1A1A"/>
                </a:solidFill>
                <a:latin typeface="Arial"/>
              </a:rPr>
              <a:t>. Ask whether the move ended a tiring run or rejected a level.</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a-1.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7012076" y="4068219"/>
            <a:ext cx="87782" cy="87782"/>
          </a:xfrm>
          <a:prstGeom prst="ellipse">
            <a:avLst/>
          </a:prstGeom>
          <a:noFill/>
          <a:ln w="44450">
            <a:solidFill>
              <a:srgbClr val="7B3FA0"/>
            </a:solidFill>
          </a:ln>
        </p:spPr>
        <p:txBody>
          <a:bodyPr rtlCol="0" anchor="ctr"/>
          <a:lstStyle/>
          <a:p>
            <a:pPr algn="ctr"/>
          </a:p>
        </p:txBody>
      </p:sp>
      <p:sp>
        <p:nvSpPr>
          <p:cNvPr id="10" name="Oval 9"/>
          <p:cNvSpPr/>
          <p:nvPr/>
        </p:nvSpPr>
        <p:spPr>
          <a:xfrm>
            <a:off x="7012076" y="5268772"/>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7167524" y="3879422"/>
            <a:ext cx="87782" cy="87782"/>
          </a:xfrm>
          <a:prstGeom prst="ellipse">
            <a:avLst/>
          </a:prstGeom>
          <a:noFill/>
          <a:ln w="44450">
            <a:solidFill>
              <a:srgbClr val="C62828"/>
            </a:solidFill>
          </a:ln>
        </p:spPr>
        <p:txBody>
          <a:bodyPr rtlCol="0" anchor="ctr"/>
          <a:lstStyle/>
          <a:p>
            <a:pPr algn="ctr"/>
          </a:p>
        </p:txBody>
      </p:sp>
      <p:sp>
        <p:nvSpPr>
          <p:cNvPr id="12" name="Oval 11"/>
          <p:cNvSpPr/>
          <p:nvPr/>
        </p:nvSpPr>
        <p:spPr>
          <a:xfrm>
            <a:off x="7099858" y="3984094"/>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264450" y="518464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4" name="Oval 13"/>
          <p:cNvSpPr/>
          <p:nvPr/>
        </p:nvSpPr>
        <p:spPr>
          <a:xfrm>
            <a:off x="7239200" y="3722646"/>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A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41 of 62</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226 to 227. Chart A is ours, with invented PHP bars and volume to answer review question 1.</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25 OF 30</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exhaustion and pin bars</a:t>
            </a:r>
          </a:p>
        </p:txBody>
      </p:sp>
      <p:sp>
        <p:nvSpPr>
          <p:cNvPr id="6" name="Rectangle 5"/>
          <p:cNvSpPr/>
          <p:nvPr/>
        </p:nvSpPr>
        <p:spPr>
          <a:xfrm>
            <a:off x="777240" y="1207008"/>
            <a:ext cx="5029200" cy="2286634"/>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separates an exhaustion bar from a pin bar?</a:t>
            </a:r>
          </a:p>
        </p:txBody>
      </p:sp>
      <p:sp>
        <p:nvSpPr>
          <p:cNvPr id="9" name="TextBox 8"/>
          <p:cNvSpPr txBox="1"/>
          <p:nvPr/>
        </p:nvSpPr>
        <p:spPr>
          <a:xfrm>
            <a:off x="1005840" y="2069338"/>
            <a:ext cx="4572000" cy="1351152"/>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Exhaustion uses no trend context</a:t>
            </a:r>
          </a:p>
          <a:p>
            <a:pPr algn="l">
              <a:lnSpc>
                <a:spcPct val="105000"/>
              </a:lnSpc>
              <a:spcBef>
                <a:spcPts val="0"/>
              </a:spcBef>
              <a:spcAft>
                <a:spcPts val="200"/>
              </a:spcAft>
            </a:pPr>
            <a:r>
              <a:rPr sz="1700" b="0" i="0">
                <a:solidFill>
                  <a:srgbClr val="FFFFFF"/>
                </a:solidFill>
                <a:latin typeface="Arial"/>
              </a:rPr>
              <a:t>B.  A pin bar gives a false barrier-penetration impression</a:t>
            </a:r>
          </a:p>
          <a:p>
            <a:pPr algn="l">
              <a:lnSpc>
                <a:spcPct val="105000"/>
              </a:lnSpc>
              <a:spcBef>
                <a:spcPts val="0"/>
              </a:spcBef>
              <a:spcAft>
                <a:spcPts val="200"/>
              </a:spcAft>
            </a:pPr>
            <a:r>
              <a:rPr sz="1700" b="0" i="0">
                <a:solidFill>
                  <a:srgbClr val="FFFFFF"/>
                </a:solidFill>
                <a:latin typeface="Arial"/>
              </a:rPr>
              <a:t>C.  A pin bar must gap from the next bar</a:t>
            </a:r>
          </a:p>
          <a:p>
            <a:pPr algn="l">
              <a:lnSpc>
                <a:spcPct val="105000"/>
              </a:lnSpc>
              <a:spcBef>
                <a:spcPts val="0"/>
              </a:spcBef>
              <a:spcAft>
                <a:spcPts val="200"/>
              </a:spcAft>
            </a:pPr>
            <a:r>
              <a:rPr sz="1700" b="0" i="0">
                <a:solidFill>
                  <a:srgbClr val="FFFFFF"/>
                </a:solidFill>
                <a:latin typeface="Arial"/>
              </a:rPr>
              <a:t>D.  Exhaustion is always narrow</a:t>
            </a:r>
          </a:p>
        </p:txBody>
      </p:sp>
      <p:sp>
        <p:nvSpPr>
          <p:cNvPr id="10" name="Rectangle 9"/>
          <p:cNvSpPr/>
          <p:nvPr/>
        </p:nvSpPr>
        <p:spPr>
          <a:xfrm>
            <a:off x="777240" y="3585082"/>
            <a:ext cx="5029200" cy="1790065"/>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676522"/>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877691"/>
            <a:ext cx="457200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Pin bars usually form on:</a:t>
            </a:r>
          </a:p>
        </p:txBody>
      </p:sp>
      <p:sp>
        <p:nvSpPr>
          <p:cNvPr id="13" name="TextBox 12"/>
          <p:cNvSpPr txBox="1"/>
          <p:nvPr/>
        </p:nvSpPr>
        <p:spPr>
          <a:xfrm>
            <a:off x="1005840" y="4199128"/>
            <a:ext cx="4572000" cy="1102868"/>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High volume</a:t>
            </a:r>
          </a:p>
          <a:p>
            <a:pPr algn="l">
              <a:lnSpc>
                <a:spcPct val="105000"/>
              </a:lnSpc>
              <a:spcBef>
                <a:spcPts val="0"/>
              </a:spcBef>
              <a:spcAft>
                <a:spcPts val="200"/>
              </a:spcAft>
            </a:pPr>
            <a:r>
              <a:rPr sz="1700" b="0" i="0">
                <a:solidFill>
                  <a:srgbClr val="FFFFFF"/>
                </a:solidFill>
                <a:latin typeface="Arial"/>
              </a:rPr>
              <a:t>B.  The same volume as the prior bar</a:t>
            </a:r>
          </a:p>
          <a:p>
            <a:pPr algn="l">
              <a:lnSpc>
                <a:spcPct val="105000"/>
              </a:lnSpc>
              <a:spcBef>
                <a:spcPts val="0"/>
              </a:spcBef>
              <a:spcAft>
                <a:spcPts val="200"/>
              </a:spcAft>
            </a:pPr>
            <a:r>
              <a:rPr sz="1700" b="0" i="0">
                <a:solidFill>
                  <a:srgbClr val="FFFFFF"/>
                </a:solidFill>
                <a:latin typeface="Arial"/>
              </a:rPr>
              <a:t>C.  Low volume</a:t>
            </a:r>
          </a:p>
          <a:p>
            <a:pPr algn="l">
              <a:lnSpc>
                <a:spcPct val="105000"/>
              </a:lnSpc>
              <a:spcBef>
                <a:spcPts val="0"/>
              </a:spcBef>
              <a:spcAft>
                <a:spcPts val="200"/>
              </a:spcAft>
            </a:pPr>
            <a:r>
              <a:rPr sz="1700" b="0" i="0">
                <a:solidFill>
                  <a:srgbClr val="FFFFFF"/>
                </a:solidFill>
                <a:latin typeface="Arial"/>
              </a:rPr>
              <a:t>D.  No volume data</a:t>
            </a:r>
          </a:p>
        </p:txBody>
      </p:sp>
      <p:sp>
        <p:nvSpPr>
          <p:cNvPr id="14" name="Rectangle 13"/>
          <p:cNvSpPr/>
          <p:nvPr/>
        </p:nvSpPr>
        <p:spPr>
          <a:xfrm>
            <a:off x="6126479" y="1207008"/>
            <a:ext cx="5287975" cy="2485493"/>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47749"/>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9054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7.28</a:t>
            </a:r>
          </a:p>
          <a:p>
            <a:pPr algn="l">
              <a:lnSpc>
                <a:spcPct val="115000"/>
              </a:lnSpc>
              <a:spcBef>
                <a:spcPts val="0"/>
              </a:spcBef>
              <a:spcAft>
                <a:spcPts val="0"/>
              </a:spcAft>
            </a:pPr>
            <a:r>
              <a:rPr sz="1500" b="0" i="0">
                <a:solidFill>
                  <a:srgbClr val="1A1A1A"/>
                </a:solidFill>
                <a:latin typeface="Palatino"/>
              </a:rPr>
              <a:t>J.P. Morgan Chase daily chart. The crop keeps the bullish exhaustion bar and its following bar readable for the comparison.</a:t>
            </a:r>
          </a:p>
        </p:txBody>
      </p:sp>
      <p:sp>
        <p:nvSpPr>
          <p:cNvPr id="18" name="Oval 17"/>
          <p:cNvSpPr/>
          <p:nvPr/>
        </p:nvSpPr>
        <p:spPr>
          <a:xfrm>
            <a:off x="8770467" y="2494709"/>
            <a:ext cx="303013" cy="202297"/>
          </a:xfrm>
          <a:prstGeom prst="ellipse">
            <a:avLst/>
          </a:prstGeom>
          <a:noFill/>
          <a:ln w="44450">
            <a:solidFill>
              <a:srgbClr val="E09B00"/>
            </a:solidFill>
          </a:ln>
        </p:spPr>
        <p:txBody>
          <a:bodyPr rtlCol="0" anchor="ctr"/>
          <a:lstStyle/>
          <a:p>
            <a:pPr algn="ctr"/>
          </a:p>
        </p:txBody>
      </p:sp>
      <p:sp>
        <p:nvSpPr>
          <p:cNvPr id="19" name="Oval 18"/>
          <p:cNvSpPr/>
          <p:nvPr/>
        </p:nvSpPr>
        <p:spPr>
          <a:xfrm>
            <a:off x="8921974" y="2539664"/>
            <a:ext cx="303013" cy="157342"/>
          </a:xfrm>
          <a:prstGeom prst="ellipse">
            <a:avLst/>
          </a:prstGeom>
          <a:noFill/>
          <a:ln w="44450">
            <a:solidFill>
              <a:srgbClr val="C62828"/>
            </a:solidFill>
          </a:ln>
        </p:spPr>
        <p:txBody>
          <a:bodyPr rtlCol="0" anchor="ctr"/>
          <a:lstStyle/>
          <a:p>
            <a:pPr algn="ctr"/>
          </a:p>
        </p:txBody>
      </p:sp>
      <p:cxnSp>
        <p:nvCxnSpPr>
          <p:cNvPr id="20" name="Connector 19"/>
          <p:cNvCxnSpPr/>
          <p:nvPr/>
        </p:nvCxnSpPr>
        <p:spPr>
          <a:xfrm>
            <a:off x="9073481" y="2674529"/>
            <a:ext cx="353516" cy="0"/>
          </a:xfrm>
          <a:prstGeom prst="line">
            <a:avLst/>
          </a:prstGeom>
          <a:ln w="44450">
            <a:solidFill>
              <a:srgbClr val="1F5FAD"/>
            </a:solidFill>
          </a:ln>
        </p:spPr>
      </p:cxnSp>
      <p:sp>
        <p:nvSpPr>
          <p:cNvPr id="21" name="Oval 20"/>
          <p:cNvSpPr/>
          <p:nvPr/>
        </p:nvSpPr>
        <p:spPr>
          <a:xfrm>
            <a:off x="8413010" y="229430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322051" y="231678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524061" y="269890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83941"/>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7.28 -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25</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exhaustion and pin bars</a:t>
            </a:r>
          </a:p>
        </p:txBody>
      </p:sp>
      <p:sp>
        <p:nvSpPr>
          <p:cNvPr id="6" name="Rectangle 5"/>
          <p:cNvSpPr/>
          <p:nvPr/>
        </p:nvSpPr>
        <p:spPr>
          <a:xfrm>
            <a:off x="777240" y="1207008"/>
            <a:ext cx="5029200" cy="249872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49872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separates an exhaustion bar from a pin bar?</a:t>
            </a:r>
          </a:p>
        </p:txBody>
      </p:sp>
      <p:sp>
        <p:nvSpPr>
          <p:cNvPr id="9" name="TextBox 8"/>
          <p:cNvSpPr txBox="1"/>
          <p:nvPr/>
        </p:nvSpPr>
        <p:spPr>
          <a:xfrm>
            <a:off x="1097280" y="2069338"/>
            <a:ext cx="4480560" cy="163639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A pin bar gives a false barrier-penetration impression</a:t>
            </a:r>
          </a:p>
          <a:p>
            <a:pPr algn="l">
              <a:lnSpc>
                <a:spcPct val="115000"/>
              </a:lnSpc>
              <a:spcBef>
                <a:spcPts val="500"/>
              </a:spcBef>
              <a:spcAft>
                <a:spcPts val="0"/>
              </a:spcAft>
            </a:pPr>
            <a:r>
              <a:rPr sz="1700" b="0" i="0">
                <a:solidFill>
                  <a:srgbClr val="1A1A1A"/>
                </a:solidFill>
                <a:latin typeface="Arial"/>
              </a:rPr>
              <a:t>Lim says exhaustion bars do not usually provide a false impression of penetrating a barrier, while pin bars do (p. 227).</a:t>
            </a:r>
          </a:p>
        </p:txBody>
      </p:sp>
      <p:sp>
        <p:nvSpPr>
          <p:cNvPr id="10" name="Rectangle 9"/>
          <p:cNvSpPr/>
          <p:nvPr/>
        </p:nvSpPr>
        <p:spPr>
          <a:xfrm>
            <a:off x="777240" y="3888613"/>
            <a:ext cx="5029200" cy="173926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888613"/>
            <a:ext cx="91440" cy="173926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4071493"/>
            <a:ext cx="448056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Pin bars usually form on:</a:t>
            </a:r>
          </a:p>
        </p:txBody>
      </p:sp>
      <p:sp>
        <p:nvSpPr>
          <p:cNvPr id="13" name="TextBox 12"/>
          <p:cNvSpPr txBox="1"/>
          <p:nvPr/>
        </p:nvSpPr>
        <p:spPr>
          <a:xfrm>
            <a:off x="1097280" y="4502658"/>
            <a:ext cx="4480560" cy="112522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C.  Low volume</a:t>
            </a:r>
          </a:p>
          <a:p>
            <a:pPr algn="l">
              <a:lnSpc>
                <a:spcPct val="115000"/>
              </a:lnSpc>
              <a:spcBef>
                <a:spcPts val="500"/>
              </a:spcBef>
              <a:spcAft>
                <a:spcPts val="0"/>
              </a:spcAft>
            </a:pPr>
            <a:r>
              <a:rPr sz="1700" b="0" i="0">
                <a:solidFill>
                  <a:srgbClr val="1A1A1A"/>
                </a:solidFill>
                <a:latin typeface="Arial"/>
              </a:rPr>
              <a:t>Lim says pin bars are usually breakouts that form on low volume (p. 227).</a:t>
            </a:r>
          </a:p>
        </p:txBody>
      </p:sp>
      <p:sp>
        <p:nvSpPr>
          <p:cNvPr id="14" name="Rectangle 13"/>
          <p:cNvSpPr/>
          <p:nvPr/>
        </p:nvSpPr>
        <p:spPr>
          <a:xfrm>
            <a:off x="6126479" y="1207008"/>
            <a:ext cx="5287975" cy="2485493"/>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47749"/>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9054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7.28</a:t>
            </a:r>
          </a:p>
          <a:p>
            <a:pPr algn="l">
              <a:lnSpc>
                <a:spcPct val="115000"/>
              </a:lnSpc>
              <a:spcBef>
                <a:spcPts val="0"/>
              </a:spcBef>
              <a:spcAft>
                <a:spcPts val="0"/>
              </a:spcAft>
            </a:pPr>
            <a:r>
              <a:rPr sz="1500" b="0" i="0">
                <a:solidFill>
                  <a:srgbClr val="1A1A1A"/>
                </a:solidFill>
                <a:latin typeface="Palatino"/>
              </a:rPr>
              <a:t>J.P. Morgan Chase daily chart. The crop keeps the bullish exhaustion bar and its following bar readable for the comparison.</a:t>
            </a:r>
          </a:p>
        </p:txBody>
      </p:sp>
      <p:sp>
        <p:nvSpPr>
          <p:cNvPr id="18" name="Oval 17"/>
          <p:cNvSpPr/>
          <p:nvPr/>
        </p:nvSpPr>
        <p:spPr>
          <a:xfrm>
            <a:off x="8770467" y="2494709"/>
            <a:ext cx="303013" cy="202297"/>
          </a:xfrm>
          <a:prstGeom prst="ellipse">
            <a:avLst/>
          </a:prstGeom>
          <a:noFill/>
          <a:ln w="44450">
            <a:solidFill>
              <a:srgbClr val="E09B00"/>
            </a:solidFill>
          </a:ln>
        </p:spPr>
        <p:txBody>
          <a:bodyPr rtlCol="0" anchor="ctr"/>
          <a:lstStyle/>
          <a:p>
            <a:pPr algn="ctr"/>
          </a:p>
        </p:txBody>
      </p:sp>
      <p:sp>
        <p:nvSpPr>
          <p:cNvPr id="19" name="Oval 18"/>
          <p:cNvSpPr/>
          <p:nvPr/>
        </p:nvSpPr>
        <p:spPr>
          <a:xfrm>
            <a:off x="8921974" y="2539664"/>
            <a:ext cx="303013" cy="157342"/>
          </a:xfrm>
          <a:prstGeom prst="ellipse">
            <a:avLst/>
          </a:prstGeom>
          <a:noFill/>
          <a:ln w="44450">
            <a:solidFill>
              <a:srgbClr val="C62828"/>
            </a:solidFill>
          </a:ln>
        </p:spPr>
        <p:txBody>
          <a:bodyPr rtlCol="0" anchor="ctr"/>
          <a:lstStyle/>
          <a:p>
            <a:pPr algn="ctr"/>
          </a:p>
        </p:txBody>
      </p:sp>
      <p:cxnSp>
        <p:nvCxnSpPr>
          <p:cNvPr id="20" name="Connector 19"/>
          <p:cNvCxnSpPr/>
          <p:nvPr/>
        </p:nvCxnSpPr>
        <p:spPr>
          <a:xfrm>
            <a:off x="9073481" y="2674529"/>
            <a:ext cx="353516" cy="0"/>
          </a:xfrm>
          <a:prstGeom prst="line">
            <a:avLst/>
          </a:prstGeom>
          <a:ln w="44450">
            <a:solidFill>
              <a:srgbClr val="1F5FAD"/>
            </a:solidFill>
          </a:ln>
        </p:spPr>
      </p:cxnSp>
      <p:sp>
        <p:nvSpPr>
          <p:cNvPr id="21" name="Oval 20"/>
          <p:cNvSpPr/>
          <p:nvPr/>
        </p:nvSpPr>
        <p:spPr>
          <a:xfrm>
            <a:off x="8413010" y="229430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322051" y="231678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524061" y="269890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83941"/>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7.28 -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25</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False breakouts apply the pin-bar warning to a whole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42 of 62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pin bar gives a false impression within one bar. A false breakout applies the same warning to a support or resistance break: price crosses the level, then returns through it.</a:t>
            </a:r>
          </a:p>
          <a:p>
            <a:pPr algn="l">
              <a:lnSpc>
                <a:spcPct val="118000"/>
              </a:lnSpc>
              <a:spcBef>
                <a:spcPts val="0"/>
              </a:spcBef>
              <a:spcAft>
                <a:spcPts val="1300"/>
              </a:spcAft>
            </a:pPr>
            <a:r>
              <a:rPr sz="2100" b="0" i="0">
                <a:solidFill>
                  <a:srgbClr val="1A1A1A"/>
                </a:solidFill>
                <a:latin typeface="Arial"/>
              </a:rPr>
              <a:t>The next chart shows both directions with invented prices. The return is the evidence that the first break may have failed (p. 229).</a:t>
            </a:r>
          </a:p>
        </p:txBody>
      </p:sp>
      <p:sp>
        <p:nvSpPr>
          <p:cNvPr id="8" name="Rectangle 7"/>
          <p:cNvSpPr/>
          <p:nvPr/>
        </p:nvSpPr>
        <p:spPr>
          <a:xfrm>
            <a:off x="777240" y="4216145"/>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52721"/>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Wait for the return before choosing the opposite direction.</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Transition wording is ours; the next chart is invented.</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False upside breakout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two cases show a break that returns inside its barrier. </a:t>
            </a:r>
            <a:r>
              <a:rPr sz="1700" b="1" i="0">
                <a:solidFill>
                  <a:srgbClr val="E09B00"/>
                </a:solidFill>
                <a:latin typeface="Arial"/>
              </a:rPr>
              <a:t>(1)</a:t>
            </a:r>
            <a:r>
              <a:rPr sz="1700" b="0" i="0">
                <a:solidFill>
                  <a:srgbClr val="1A1A1A"/>
                </a:solidFill>
                <a:latin typeface="Arial"/>
              </a:rPr>
              <a:t> marks the PHP 62.00 false high; </a:t>
            </a:r>
            <a:r>
              <a:rPr sz="1700" b="1" i="0">
                <a:solidFill>
                  <a:srgbClr val="1F5FAD"/>
                </a:solidFill>
                <a:latin typeface="Arial"/>
              </a:rPr>
              <a:t>(2)</a:t>
            </a:r>
            <a:r>
              <a:rPr sz="1700" b="0" i="0">
                <a:solidFill>
                  <a:srgbClr val="1A1A1A"/>
                </a:solidFill>
                <a:latin typeface="Arial"/>
              </a:rPr>
              <a:t> marks the PHP 59.40 close below PHP 60.00 resistance.</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e-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375964"/>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10035539" y="4193804"/>
            <a:ext cx="87782" cy="87782"/>
          </a:xfrm>
          <a:prstGeom prst="ellipse">
            <a:avLst/>
          </a:prstGeom>
          <a:noFill/>
          <a:ln w="44450">
            <a:solidFill>
              <a:srgbClr val="1F5FAD"/>
            </a:solidFill>
          </a:ln>
        </p:spPr>
        <p:txBody>
          <a:bodyPr rtlCol="0" anchor="ctr"/>
          <a:lstStyle/>
          <a:p>
            <a:pPr algn="ctr"/>
          </a:p>
        </p:txBody>
      </p:sp>
      <p:sp>
        <p:nvSpPr>
          <p:cNvPr id="11" name="Oval 10"/>
          <p:cNvSpPr/>
          <p:nvPr/>
        </p:nvSpPr>
        <p:spPr>
          <a:xfrm>
            <a:off x="9967874" y="329184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10107215" y="403702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LE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43 of 62</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LE: invented PHP barriers and closes.</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False downside breakout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C62828"/>
                </a:solidFill>
                <a:latin typeface="Arial"/>
              </a:rPr>
              <a:t>(1)</a:t>
            </a:r>
            <a:r>
              <a:rPr sz="1700" b="0" i="0">
                <a:solidFill>
                  <a:srgbClr val="1A1A1A"/>
                </a:solidFill>
                <a:latin typeface="Arial"/>
              </a:rPr>
              <a:t> marks the PHP 38.50 false low; </a:t>
            </a:r>
            <a:r>
              <a:rPr sz="1700" b="1" i="0">
                <a:solidFill>
                  <a:srgbClr val="7B3FA0"/>
                </a:solidFill>
                <a:latin typeface="Arial"/>
              </a:rPr>
              <a:t>(2)</a:t>
            </a:r>
            <a:r>
              <a:rPr sz="1700" b="0" i="0">
                <a:solidFill>
                  <a:srgbClr val="1A1A1A"/>
                </a:solidFill>
                <a:latin typeface="Arial"/>
              </a:rPr>
              <a:t> marks the PHP 40.60 close above PHP 40.00 support (p. 229).</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e-1.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4948732"/>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10035539" y="4214774"/>
            <a:ext cx="87782" cy="87782"/>
          </a:xfrm>
          <a:prstGeom prst="ellipse">
            <a:avLst/>
          </a:prstGeom>
          <a:noFill/>
          <a:ln w="44450">
            <a:solidFill>
              <a:srgbClr val="7B3FA0"/>
            </a:solidFill>
          </a:ln>
        </p:spPr>
        <p:txBody>
          <a:bodyPr rtlCol="0" anchor="ctr"/>
          <a:lstStyle/>
          <a:p>
            <a:pPr algn="ctr"/>
          </a:p>
        </p:txBody>
      </p:sp>
      <p:sp>
        <p:nvSpPr>
          <p:cNvPr id="11" name="Oval 10"/>
          <p:cNvSpPr/>
          <p:nvPr/>
        </p:nvSpPr>
        <p:spPr>
          <a:xfrm>
            <a:off x="9967874" y="486460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10107215" y="4057998"/>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LE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44 of 62</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LE: invented PHP barriers and closes.</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course drawing makes the bearish entry explicit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On the course drawing, </a:t>
            </a:r>
            <a:r>
              <a:rPr sz="1700" b="1" i="0">
                <a:solidFill>
                  <a:srgbClr val="E09B00"/>
                </a:solidFill>
                <a:latin typeface="Arial"/>
              </a:rPr>
              <a:t>(1)</a:t>
            </a:r>
            <a:r>
              <a:rPr sz="1700" b="0" i="0">
                <a:solidFill>
                  <a:srgbClr val="1A1A1A"/>
                </a:solidFill>
                <a:latin typeface="Arial"/>
              </a:rPr>
              <a:t> is PHP 60.00 resistance, </a:t>
            </a:r>
            <a:r>
              <a:rPr sz="1700" b="1" i="0">
                <a:solidFill>
                  <a:srgbClr val="C62828"/>
                </a:solidFill>
                <a:latin typeface="Arial"/>
              </a:rPr>
              <a:t>(2)</a:t>
            </a:r>
            <a:r>
              <a:rPr sz="1700" b="0" i="0">
                <a:solidFill>
                  <a:srgbClr val="1A1A1A"/>
                </a:solidFill>
                <a:latin typeface="Arial"/>
              </a:rPr>
              <a:t> the PHP 62.00 false high, </a:t>
            </a:r>
            <a:r>
              <a:rPr sz="1700" b="1" i="0">
                <a:solidFill>
                  <a:srgbClr val="1F5FAD"/>
                </a:solidFill>
                <a:latin typeface="Arial"/>
              </a:rPr>
              <a:t>(3)</a:t>
            </a:r>
            <a:r>
              <a:rPr sz="1700" b="0" i="0">
                <a:solidFill>
                  <a:srgbClr val="1A1A1A"/>
                </a:solidFill>
                <a:latin typeface="Arial"/>
              </a:rPr>
              <a:t> the PHP 59.40 returned close, and </a:t>
            </a:r>
            <a:r>
              <a:rPr sz="1700" b="1" i="0">
                <a:solidFill>
                  <a:srgbClr val="7B3FA0"/>
                </a:solidFill>
                <a:latin typeface="Arial"/>
              </a:rPr>
              <a:t>(4)</a:t>
            </a:r>
            <a:r>
              <a:rPr sz="1700" b="0" i="0">
                <a:solidFill>
                  <a:srgbClr val="1A1A1A"/>
                </a:solidFill>
                <a:latin typeface="Arial"/>
              </a:rPr>
              <a:t> the PHP 62.20 stop. The short follows </a:t>
            </a:r>
            <a:r>
              <a:rPr sz="1700" b="1" i="0">
                <a:solidFill>
                  <a:srgbClr val="1F5FAD"/>
                </a:solidFill>
                <a:latin typeface="Arial"/>
              </a:rPr>
              <a:t>(3)</a:t>
            </a:r>
            <a:r>
              <a:rPr sz="1700" b="0" i="0">
                <a:solidFill>
                  <a:srgbClr val="1A1A1A"/>
                </a:solidFill>
                <a:latin typeface="Arial"/>
              </a:rPr>
              <a:t> below resistance; </a:t>
            </a:r>
            <a:r>
              <a:rPr sz="1700" b="1" i="0">
                <a:solidFill>
                  <a:srgbClr val="7B3FA0"/>
                </a:solidFill>
                <a:latin typeface="Arial"/>
              </a:rPr>
              <a:t>(4)</a:t>
            </a:r>
            <a:r>
              <a:rPr sz="1700" b="0" i="0">
                <a:solidFill>
                  <a:srgbClr val="1A1A1A"/>
                </a:solidFill>
                <a:latin typeface="Arial"/>
              </a:rPr>
              <a:t> stays above the breakout high. These values are invented, and the book's drawing follows.</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f-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4041366"/>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436455"/>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4222839"/>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880091" y="3375964"/>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9967874" y="395724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967874" y="335233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9951415" y="4310622"/>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9608661" y="3324867"/>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LF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45 of 62</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LF: invented PHP values; the book's drawing is shown separately.</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7.31 shows the bearish entry after a false upside break</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46 of 62</a:t>
            </a:r>
          </a:p>
        </p:txBody>
      </p:sp>
      <p:sp>
        <p:nvSpPr>
          <p:cNvPr id="7" name="TextBox 6"/>
          <p:cNvSpPr txBox="1"/>
          <p:nvPr/>
        </p:nvSpPr>
        <p:spPr>
          <a:xfrm>
            <a:off x="777240" y="1965960"/>
            <a:ext cx="4892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Lim calls this a non-failure swing and credits Sperandeo's 2B entry (p. 228). The book's drawing supplies the pattern, not a PHP price list.</a:t>
            </a:r>
          </a:p>
          <a:p>
            <a:pPr algn="l">
              <a:lnSpc>
                <a:spcPct val="105000"/>
              </a:lnSpc>
              <a:spcBef>
                <a:spcPts val="0"/>
              </a:spcBef>
              <a:spcAft>
                <a:spcPts val="1100"/>
              </a:spcAft>
            </a:pPr>
            <a:r>
              <a:rPr sz="1800" b="0" i="0">
                <a:solidFill>
                  <a:srgbClr val="1A1A1A"/>
                </a:solidFill>
                <a:latin typeface="Arial"/>
              </a:rPr>
              <a:t>Gold </a:t>
            </a:r>
            <a:r>
              <a:rPr sz="1800" b="1" i="0">
                <a:solidFill>
                  <a:srgbClr val="E09B00"/>
                </a:solidFill>
                <a:latin typeface="Arial"/>
              </a:rPr>
              <a:t>(1)</a:t>
            </a:r>
            <a:r>
              <a:rPr sz="1800" b="0" i="0">
                <a:solidFill>
                  <a:srgbClr val="1A1A1A"/>
                </a:solidFill>
                <a:latin typeface="Arial"/>
              </a:rPr>
              <a:t> marks resistance, red </a:t>
            </a:r>
            <a:r>
              <a:rPr sz="1800" b="1" i="0">
                <a:solidFill>
                  <a:srgbClr val="C62828"/>
                </a:solidFill>
                <a:latin typeface="Arial"/>
              </a:rPr>
              <a:t>(2)</a:t>
            </a:r>
            <a:r>
              <a:rPr sz="1800" b="0" i="0">
                <a:solidFill>
                  <a:srgbClr val="1A1A1A"/>
                </a:solidFill>
                <a:latin typeface="Arial"/>
              </a:rPr>
              <a:t> the false high, blue </a:t>
            </a:r>
            <a:r>
              <a:rPr sz="1800" b="1" i="0">
                <a:solidFill>
                  <a:srgbClr val="1F5FAD"/>
                </a:solidFill>
                <a:latin typeface="Arial"/>
              </a:rPr>
              <a:t>(3)</a:t>
            </a:r>
            <a:r>
              <a:rPr sz="1800" b="0" i="0">
                <a:solidFill>
                  <a:srgbClr val="1A1A1A"/>
                </a:solidFill>
                <a:latin typeface="Arial"/>
              </a:rPr>
              <a:t> the close back below, and purple </a:t>
            </a:r>
            <a:r>
              <a:rPr sz="1800" b="1" i="0">
                <a:solidFill>
                  <a:srgbClr val="7B3FA0"/>
                </a:solidFill>
                <a:latin typeface="Arial"/>
              </a:rPr>
              <a:t>(4)</a:t>
            </a:r>
            <a:r>
              <a:rPr sz="1800" b="0" i="0">
                <a:solidFill>
                  <a:srgbClr val="1A1A1A"/>
                </a:solidFill>
                <a:latin typeface="Arial"/>
              </a:rPr>
              <a:t> the stop above the high.</a:t>
            </a:r>
          </a:p>
          <a:p>
            <a:pPr algn="l">
              <a:lnSpc>
                <a:spcPct val="105000"/>
              </a:lnSpc>
              <a:spcBef>
                <a:spcPts val="0"/>
              </a:spcBef>
              <a:spcAft>
                <a:spcPts val="1100"/>
              </a:spcAft>
            </a:pPr>
            <a:r>
              <a:rPr sz="1800" b="0" i="0">
                <a:solidFill>
                  <a:srgbClr val="1A1A1A"/>
                </a:solidFill>
                <a:latin typeface="Arial"/>
              </a:rPr>
              <a:t>The bearish entry comes only after price returns below resistance. The stop belongs just above the breakout high in this drawing.</a:t>
            </a:r>
          </a:p>
        </p:txBody>
      </p:sp>
      <p:sp>
        <p:nvSpPr>
          <p:cNvPr id="8" name="Rectangle 7"/>
          <p:cNvSpPr/>
          <p:nvPr/>
        </p:nvSpPr>
        <p:spPr>
          <a:xfrm>
            <a:off x="6493950" y="1810512"/>
            <a:ext cx="4415873"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612822" y="1929384"/>
            <a:ext cx="4178129"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612822" y="1929384"/>
            <a:ext cx="4178129"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887142" y="2203703"/>
            <a:ext cx="3629489"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7.31</a:t>
            </a:r>
          </a:p>
          <a:p>
            <a:pPr algn="l">
              <a:lnSpc>
                <a:spcPct val="115000"/>
              </a:lnSpc>
              <a:spcBef>
                <a:spcPts val="0"/>
              </a:spcBef>
              <a:spcAft>
                <a:spcPts val="0"/>
              </a:spcAft>
            </a:pPr>
            <a:r>
              <a:rPr sz="1500" b="0" i="0">
                <a:solidFill>
                  <a:srgbClr val="1A1A1A"/>
                </a:solidFill>
                <a:latin typeface="Palatino"/>
              </a:rPr>
              <a:t>Bearish non-failure swing. Price breaks above resistance, returns below it, and creates a short entry with a stop above the breakout high.</a:t>
            </a:r>
          </a:p>
        </p:txBody>
      </p:sp>
      <p:cxnSp>
        <p:nvCxnSpPr>
          <p:cNvPr id="12" name="Connector 11"/>
          <p:cNvCxnSpPr/>
          <p:nvPr/>
        </p:nvCxnSpPr>
        <p:spPr>
          <a:xfrm>
            <a:off x="6905291" y="2280513"/>
            <a:ext cx="2214409" cy="0"/>
          </a:xfrm>
          <a:prstGeom prst="line">
            <a:avLst/>
          </a:prstGeom>
          <a:ln w="44450">
            <a:solidFill>
              <a:srgbClr val="E09B00"/>
            </a:solidFill>
          </a:ln>
        </p:spPr>
      </p:cxnSp>
      <p:sp>
        <p:nvSpPr>
          <p:cNvPr id="13" name="Oval 12"/>
          <p:cNvSpPr/>
          <p:nvPr/>
        </p:nvSpPr>
        <p:spPr>
          <a:xfrm>
            <a:off x="7824480" y="2034722"/>
            <a:ext cx="292469" cy="316016"/>
          </a:xfrm>
          <a:prstGeom prst="ellipse">
            <a:avLst/>
          </a:prstGeom>
          <a:noFill/>
          <a:ln w="44450">
            <a:solidFill>
              <a:srgbClr val="C62828"/>
            </a:solidFill>
          </a:ln>
        </p:spPr>
        <p:txBody>
          <a:bodyPr rtlCol="0" anchor="ctr"/>
          <a:lstStyle/>
          <a:p>
            <a:pPr algn="ctr"/>
          </a:p>
        </p:txBody>
      </p:sp>
      <p:sp>
        <p:nvSpPr>
          <p:cNvPr id="14" name="Oval 13"/>
          <p:cNvSpPr/>
          <p:nvPr/>
        </p:nvSpPr>
        <p:spPr>
          <a:xfrm>
            <a:off x="8116949" y="2280513"/>
            <a:ext cx="250687" cy="280903"/>
          </a:xfrm>
          <a:prstGeom prst="ellipse">
            <a:avLst/>
          </a:prstGeom>
          <a:noFill/>
          <a:ln w="44450">
            <a:solidFill>
              <a:srgbClr val="1F5FAD"/>
            </a:solidFill>
          </a:ln>
        </p:spPr>
        <p:txBody>
          <a:bodyPr rtlCol="0" anchor="ctr"/>
          <a:lstStyle/>
          <a:p>
            <a:pPr algn="ctr"/>
          </a:p>
        </p:txBody>
      </p:sp>
      <p:cxnSp>
        <p:nvCxnSpPr>
          <p:cNvPr id="15" name="Connector 14"/>
          <p:cNvCxnSpPr/>
          <p:nvPr/>
        </p:nvCxnSpPr>
        <p:spPr>
          <a:xfrm>
            <a:off x="7740917" y="2034722"/>
            <a:ext cx="626720" cy="0"/>
          </a:xfrm>
          <a:prstGeom prst="line">
            <a:avLst/>
          </a:prstGeom>
          <a:ln w="44450">
            <a:solidFill>
              <a:srgbClr val="7B3FA0"/>
            </a:solidFill>
          </a:ln>
        </p:spPr>
      </p:cxnSp>
      <p:sp>
        <p:nvSpPr>
          <p:cNvPr id="16" name="Oval 15"/>
          <p:cNvSpPr/>
          <p:nvPr/>
        </p:nvSpPr>
        <p:spPr>
          <a:xfrm>
            <a:off x="6791625" y="247619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7543688" y="240596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8462876" y="2265517"/>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Oval 18"/>
          <p:cNvSpPr/>
          <p:nvPr/>
        </p:nvSpPr>
        <p:spPr>
          <a:xfrm>
            <a:off x="7293000" y="1914387"/>
            <a:ext cx="310896" cy="31089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0" name="TextBox 19"/>
          <p:cNvSpPr txBox="1"/>
          <p:nvPr/>
        </p:nvSpPr>
        <p:spPr>
          <a:xfrm>
            <a:off x="5989319" y="5650991"/>
            <a:ext cx="54251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7.31 -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228, Figure 7.31. The crop and marks are for teaching; the worked PHP values are ours, invented.</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7.32 shows the same failed-break idea in both directions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47 of 62</a:t>
            </a:r>
          </a:p>
        </p:txBody>
      </p:sp>
      <p:sp>
        <p:nvSpPr>
          <p:cNvPr id="7" name="TextBox 6"/>
          <p:cNvSpPr txBox="1"/>
          <p:nvPr/>
        </p:nvSpPr>
        <p:spPr>
          <a:xfrm>
            <a:off x="777240" y="1965960"/>
            <a:ext cx="50749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Gold </a:t>
            </a:r>
            <a:r>
              <a:rPr sz="1700" b="1" i="0">
                <a:solidFill>
                  <a:srgbClr val="E09B00"/>
                </a:solidFill>
                <a:latin typeface="Arial"/>
              </a:rPr>
              <a:t>(1)</a:t>
            </a:r>
            <a:r>
              <a:rPr sz="1700" b="0" i="0">
                <a:solidFill>
                  <a:srgbClr val="1A1A1A"/>
                </a:solidFill>
                <a:latin typeface="Arial"/>
              </a:rPr>
              <a:t> marks the false upside high and red </a:t>
            </a:r>
            <a:r>
              <a:rPr sz="1700" b="1" i="0">
                <a:solidFill>
                  <a:srgbClr val="C62828"/>
                </a:solidFill>
                <a:latin typeface="Arial"/>
              </a:rPr>
              <a:t>(2)</a:t>
            </a:r>
            <a:r>
              <a:rPr sz="1700" b="0" i="0">
                <a:solidFill>
                  <a:srgbClr val="1A1A1A"/>
                </a:solidFill>
                <a:latin typeface="Arial"/>
              </a:rPr>
              <a:t> the false downside low. Blue </a:t>
            </a:r>
            <a:r>
              <a:rPr sz="1700" b="1" i="0">
                <a:solidFill>
                  <a:srgbClr val="1F5FAD"/>
                </a:solidFill>
                <a:latin typeface="Arial"/>
              </a:rPr>
              <a:t>(3)</a:t>
            </a:r>
            <a:r>
              <a:rPr sz="1700" b="0" i="0">
                <a:solidFill>
                  <a:srgbClr val="1A1A1A"/>
                </a:solidFill>
                <a:latin typeface="Arial"/>
              </a:rPr>
              <a:t> marks the upper close back below resistance; purple </a:t>
            </a:r>
            <a:r>
              <a:rPr sz="1700" b="1" i="0">
                <a:solidFill>
                  <a:srgbClr val="7B3FA0"/>
                </a:solidFill>
                <a:latin typeface="Arial"/>
              </a:rPr>
              <a:t>(4)</a:t>
            </a:r>
            <a:r>
              <a:rPr sz="1700" b="0" i="0">
                <a:solidFill>
                  <a:srgbClr val="1A1A1A"/>
                </a:solidFill>
                <a:latin typeface="Arial"/>
              </a:rPr>
              <a:t> marks the lower close back above support.</a:t>
            </a:r>
          </a:p>
          <a:p>
            <a:pPr algn="l">
              <a:lnSpc>
                <a:spcPct val="105000"/>
              </a:lnSpc>
              <a:spcBef>
                <a:spcPts val="0"/>
              </a:spcBef>
              <a:spcAft>
                <a:spcPts val="1100"/>
              </a:spcAft>
            </a:pPr>
            <a:r>
              <a:rPr sz="1700" b="0" i="0">
                <a:solidFill>
                  <a:srgbClr val="1A1A1A"/>
                </a:solidFill>
                <a:latin typeface="Arial"/>
              </a:rPr>
              <a:t>In our example, resistance is PHP 60.00 and support is PHP 40.00. The returned closes are PHP 59.40 and PHP 40.60, so both prices are back inside their barriers.</a:t>
            </a:r>
          </a:p>
          <a:p>
            <a:pPr algn="l">
              <a:lnSpc>
                <a:spcPct val="105000"/>
              </a:lnSpc>
              <a:spcBef>
                <a:spcPts val="0"/>
              </a:spcBef>
              <a:spcAft>
                <a:spcPts val="1100"/>
              </a:spcAft>
            </a:pPr>
            <a:r>
              <a:rPr sz="1700" b="0" i="0">
                <a:solidFill>
                  <a:srgbClr val="1A1A1A"/>
                </a:solidFill>
                <a:latin typeface="Arial"/>
              </a:rPr>
              <a:t>That return supports a short after the false upside break or a long after the false downside break (p. 229).</a:t>
            </a:r>
          </a:p>
        </p:txBody>
      </p:sp>
      <p:sp>
        <p:nvSpPr>
          <p:cNvPr id="8" name="Rectangle 7"/>
          <p:cNvSpPr/>
          <p:nvPr/>
        </p:nvSpPr>
        <p:spPr>
          <a:xfrm>
            <a:off x="6172199" y="1810512"/>
            <a:ext cx="5242255" cy="2806627"/>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91071" y="1929384"/>
            <a:ext cx="5004511" cy="2568883"/>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91071" y="1929384"/>
            <a:ext cx="500451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65391" y="2203703"/>
            <a:ext cx="4455871" cy="2111683"/>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7.32</a:t>
            </a:r>
          </a:p>
          <a:p>
            <a:pPr algn="l">
              <a:lnSpc>
                <a:spcPct val="115000"/>
              </a:lnSpc>
              <a:spcBef>
                <a:spcPts val="0"/>
              </a:spcBef>
              <a:spcAft>
                <a:spcPts val="0"/>
              </a:spcAft>
            </a:pPr>
            <a:r>
              <a:rPr sz="1500" b="0" i="0">
                <a:solidFill>
                  <a:srgbClr val="1A1A1A"/>
                </a:solidFill>
                <a:latin typeface="Palatino"/>
              </a:rPr>
              <a:t>Silver daily chart. The marked examples return through resistance for shorts or through support for longs.</a:t>
            </a:r>
          </a:p>
        </p:txBody>
      </p:sp>
      <p:sp>
        <p:nvSpPr>
          <p:cNvPr id="12" name="Oval 11"/>
          <p:cNvSpPr/>
          <p:nvPr/>
        </p:nvSpPr>
        <p:spPr>
          <a:xfrm>
            <a:off x="7742380" y="2520227"/>
            <a:ext cx="350315" cy="282577"/>
          </a:xfrm>
          <a:prstGeom prst="ellipse">
            <a:avLst/>
          </a:prstGeom>
          <a:noFill/>
          <a:ln w="44450">
            <a:solidFill>
              <a:srgbClr val="E09B00"/>
            </a:solidFill>
          </a:ln>
        </p:spPr>
        <p:txBody>
          <a:bodyPr rtlCol="0" anchor="ctr"/>
          <a:lstStyle/>
          <a:p>
            <a:pPr algn="ctr"/>
          </a:p>
        </p:txBody>
      </p:sp>
      <p:sp>
        <p:nvSpPr>
          <p:cNvPr id="13" name="Oval 12"/>
          <p:cNvSpPr/>
          <p:nvPr/>
        </p:nvSpPr>
        <p:spPr>
          <a:xfrm>
            <a:off x="8943462" y="3111070"/>
            <a:ext cx="400360" cy="333954"/>
          </a:xfrm>
          <a:prstGeom prst="ellipse">
            <a:avLst/>
          </a:prstGeom>
          <a:noFill/>
          <a:ln w="44450">
            <a:solidFill>
              <a:srgbClr val="C62828"/>
            </a:solidFill>
          </a:ln>
        </p:spPr>
        <p:txBody>
          <a:bodyPr rtlCol="0" anchor="ctr"/>
          <a:lstStyle/>
          <a:p>
            <a:pPr algn="ctr"/>
          </a:p>
        </p:txBody>
      </p:sp>
      <p:sp>
        <p:nvSpPr>
          <p:cNvPr id="14" name="Oval 13"/>
          <p:cNvSpPr/>
          <p:nvPr/>
        </p:nvSpPr>
        <p:spPr>
          <a:xfrm>
            <a:off x="7942560" y="2674360"/>
            <a:ext cx="300270" cy="205510"/>
          </a:xfrm>
          <a:prstGeom prst="ellipse">
            <a:avLst/>
          </a:prstGeom>
          <a:noFill/>
          <a:ln w="44450">
            <a:solidFill>
              <a:srgbClr val="1F5FAD"/>
            </a:solidFill>
          </a:ln>
        </p:spPr>
        <p:txBody>
          <a:bodyPr rtlCol="0" anchor="ctr"/>
          <a:lstStyle/>
          <a:p>
            <a:pPr algn="ctr"/>
          </a:p>
        </p:txBody>
      </p:sp>
      <p:sp>
        <p:nvSpPr>
          <p:cNvPr id="15" name="Oval 14"/>
          <p:cNvSpPr/>
          <p:nvPr/>
        </p:nvSpPr>
        <p:spPr>
          <a:xfrm>
            <a:off x="10144545" y="3393647"/>
            <a:ext cx="350315" cy="282577"/>
          </a:xfrm>
          <a:prstGeom prst="ellipse">
            <a:avLst/>
          </a:prstGeom>
          <a:noFill/>
          <a:ln w="44450">
            <a:solidFill>
              <a:srgbClr val="7B3FA0"/>
            </a:solidFill>
          </a:ln>
        </p:spPr>
        <p:txBody>
          <a:bodyPr rtlCol="0" anchor="ctr"/>
          <a:lstStyle/>
          <a:p>
            <a:pPr algn="ctr"/>
          </a:p>
        </p:txBody>
      </p:sp>
      <p:sp>
        <p:nvSpPr>
          <p:cNvPr id="16" name="Oval 15"/>
          <p:cNvSpPr/>
          <p:nvPr/>
        </p:nvSpPr>
        <p:spPr>
          <a:xfrm>
            <a:off x="7386751" y="228771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9488646" y="346939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8287563" y="2775800"/>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Oval 18"/>
          <p:cNvSpPr/>
          <p:nvPr/>
        </p:nvSpPr>
        <p:spPr>
          <a:xfrm>
            <a:off x="10589638" y="3135444"/>
            <a:ext cx="310896" cy="31089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0" name="TextBox 19"/>
          <p:cNvSpPr txBox="1"/>
          <p:nvPr/>
        </p:nvSpPr>
        <p:spPr>
          <a:xfrm>
            <a:off x="6172199" y="4708579"/>
            <a:ext cx="524225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7.32 -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229, Figure 7.32. The crop and marks are for teaching; the worked PHP values are ours, invented.</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26 OF 30</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false breakouts</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After a false upside breakout, the bearish entry is:</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At a close below resistance</a:t>
            </a:r>
          </a:p>
          <a:p>
            <a:pPr algn="l">
              <a:lnSpc>
                <a:spcPct val="105000"/>
              </a:lnSpc>
              <a:spcBef>
                <a:spcPts val="0"/>
              </a:spcBef>
              <a:spcAft>
                <a:spcPts val="200"/>
              </a:spcAft>
            </a:pPr>
            <a:r>
              <a:rPr sz="1700" b="0" i="0">
                <a:solidFill>
                  <a:srgbClr val="FFFFFF"/>
                </a:solidFill>
                <a:latin typeface="Arial"/>
              </a:rPr>
              <a:t>B.  At the new high</a:t>
            </a:r>
          </a:p>
          <a:p>
            <a:pPr algn="l">
              <a:lnSpc>
                <a:spcPct val="105000"/>
              </a:lnSpc>
              <a:spcBef>
                <a:spcPts val="0"/>
              </a:spcBef>
              <a:spcAft>
                <a:spcPts val="200"/>
              </a:spcAft>
            </a:pPr>
            <a:r>
              <a:rPr sz="1700" b="0" i="0">
                <a:solidFill>
                  <a:srgbClr val="FFFFFF"/>
                </a:solidFill>
                <a:latin typeface="Arial"/>
              </a:rPr>
              <a:t>C.  Only after a gap down</a:t>
            </a:r>
          </a:p>
          <a:p>
            <a:pPr algn="l">
              <a:lnSpc>
                <a:spcPct val="105000"/>
              </a:lnSpc>
              <a:spcBef>
                <a:spcPts val="0"/>
              </a:spcBef>
              <a:spcAft>
                <a:spcPts val="200"/>
              </a:spcAft>
            </a:pPr>
            <a:r>
              <a:rPr sz="1700" b="0" i="0">
                <a:solidFill>
                  <a:srgbClr val="FFFFFF"/>
                </a:solidFill>
                <a:latin typeface="Arial"/>
              </a:rPr>
              <a:t>D.  Above support</a:t>
            </a:r>
          </a:p>
        </p:txBody>
      </p:sp>
      <p:sp>
        <p:nvSpPr>
          <p:cNvPr id="10" name="Rectangle 9"/>
          <p:cNvSpPr/>
          <p:nvPr/>
        </p:nvSpPr>
        <p:spPr>
          <a:xfrm>
            <a:off x="777240" y="3336798"/>
            <a:ext cx="50292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After a false downside breakout, the bullish entry is:</a:t>
            </a:r>
          </a:p>
        </p:txBody>
      </p:sp>
      <p:sp>
        <p:nvSpPr>
          <p:cNvPr id="13" name="TextBox 12"/>
          <p:cNvSpPr txBox="1"/>
          <p:nvPr/>
        </p:nvSpPr>
        <p:spPr>
          <a:xfrm>
            <a:off x="1005840" y="419912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Below support</a:t>
            </a:r>
          </a:p>
          <a:p>
            <a:pPr algn="l">
              <a:lnSpc>
                <a:spcPct val="105000"/>
              </a:lnSpc>
              <a:spcBef>
                <a:spcPts val="0"/>
              </a:spcBef>
              <a:spcAft>
                <a:spcPts val="200"/>
              </a:spcAft>
            </a:pPr>
            <a:r>
              <a:rPr sz="1700" b="0" i="0">
                <a:solidFill>
                  <a:srgbClr val="FFFFFF"/>
                </a:solidFill>
                <a:latin typeface="Arial"/>
              </a:rPr>
              <a:t>B.  At the false low</a:t>
            </a:r>
          </a:p>
          <a:p>
            <a:pPr algn="l">
              <a:lnSpc>
                <a:spcPct val="105000"/>
              </a:lnSpc>
              <a:spcBef>
                <a:spcPts val="0"/>
              </a:spcBef>
              <a:spcAft>
                <a:spcPts val="200"/>
              </a:spcAft>
            </a:pPr>
            <a:r>
              <a:rPr sz="1700" b="0" i="0">
                <a:solidFill>
                  <a:srgbClr val="FFFFFF"/>
                </a:solidFill>
                <a:latin typeface="Arial"/>
              </a:rPr>
              <a:t>C.  Only after a gap up</a:t>
            </a:r>
          </a:p>
          <a:p>
            <a:pPr algn="l">
              <a:lnSpc>
                <a:spcPct val="105000"/>
              </a:lnSpc>
              <a:spcBef>
                <a:spcPts val="0"/>
              </a:spcBef>
              <a:spcAft>
                <a:spcPts val="200"/>
              </a:spcAft>
            </a:pPr>
            <a:r>
              <a:rPr sz="1700" b="0" i="0">
                <a:solidFill>
                  <a:srgbClr val="FFFFFF"/>
                </a:solidFill>
                <a:latin typeface="Arial"/>
              </a:rPr>
              <a:t>D.  At a close above support</a:t>
            </a:r>
          </a:p>
        </p:txBody>
      </p:sp>
      <p:sp>
        <p:nvSpPr>
          <p:cNvPr id="14" name="Rectangle 13"/>
          <p:cNvSpPr/>
          <p:nvPr/>
        </p:nvSpPr>
        <p:spPr>
          <a:xfrm>
            <a:off x="6126479" y="1207008"/>
            <a:ext cx="5287975" cy="2830096"/>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592352"/>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13515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7.32</a:t>
            </a:r>
          </a:p>
          <a:p>
            <a:pPr algn="l">
              <a:lnSpc>
                <a:spcPct val="115000"/>
              </a:lnSpc>
              <a:spcBef>
                <a:spcPts val="0"/>
              </a:spcBef>
              <a:spcAft>
                <a:spcPts val="0"/>
              </a:spcAft>
            </a:pPr>
            <a:r>
              <a:rPr sz="1500" b="0" i="0">
                <a:solidFill>
                  <a:srgbClr val="1A1A1A"/>
                </a:solidFill>
                <a:latin typeface="Palatino"/>
              </a:rPr>
              <a:t>Silver daily chart. The marked examples return through resistance for shorts or through support for longs.</a:t>
            </a:r>
          </a:p>
        </p:txBody>
      </p:sp>
      <p:sp>
        <p:nvSpPr>
          <p:cNvPr id="18" name="Oval 17"/>
          <p:cNvSpPr/>
          <p:nvPr/>
        </p:nvSpPr>
        <p:spPr>
          <a:xfrm>
            <a:off x="7709918" y="1922121"/>
            <a:ext cx="353516" cy="285158"/>
          </a:xfrm>
          <a:prstGeom prst="ellipse">
            <a:avLst/>
          </a:prstGeom>
          <a:noFill/>
          <a:ln w="44450">
            <a:solidFill>
              <a:srgbClr val="E09B00"/>
            </a:solidFill>
          </a:ln>
        </p:spPr>
        <p:txBody>
          <a:bodyPr rtlCol="0" anchor="ctr"/>
          <a:lstStyle/>
          <a:p>
            <a:pPr algn="ctr"/>
          </a:p>
        </p:txBody>
      </p:sp>
      <p:sp>
        <p:nvSpPr>
          <p:cNvPr id="19" name="Oval 18"/>
          <p:cNvSpPr/>
          <p:nvPr/>
        </p:nvSpPr>
        <p:spPr>
          <a:xfrm>
            <a:off x="8921974" y="2518362"/>
            <a:ext cx="404018" cy="337005"/>
          </a:xfrm>
          <a:prstGeom prst="ellipse">
            <a:avLst/>
          </a:prstGeom>
          <a:noFill/>
          <a:ln w="44450">
            <a:solidFill>
              <a:srgbClr val="C62828"/>
            </a:solidFill>
          </a:ln>
        </p:spPr>
        <p:txBody>
          <a:bodyPr rtlCol="0" anchor="ctr"/>
          <a:lstStyle/>
          <a:p>
            <a:pPr algn="ctr"/>
          </a:p>
        </p:txBody>
      </p:sp>
      <p:sp>
        <p:nvSpPr>
          <p:cNvPr id="20" name="Oval 19"/>
          <p:cNvSpPr/>
          <p:nvPr/>
        </p:nvSpPr>
        <p:spPr>
          <a:xfrm>
            <a:off x="7911928" y="2077662"/>
            <a:ext cx="303013" cy="207388"/>
          </a:xfrm>
          <a:prstGeom prst="ellipse">
            <a:avLst/>
          </a:prstGeom>
          <a:noFill/>
          <a:ln w="44450">
            <a:solidFill>
              <a:srgbClr val="1F5FAD"/>
            </a:solidFill>
          </a:ln>
        </p:spPr>
        <p:txBody>
          <a:bodyPr rtlCol="0" anchor="ctr"/>
          <a:lstStyle/>
          <a:p>
            <a:pPr algn="ctr"/>
          </a:p>
        </p:txBody>
      </p:sp>
      <p:sp>
        <p:nvSpPr>
          <p:cNvPr id="21" name="Oval 20"/>
          <p:cNvSpPr/>
          <p:nvPr/>
        </p:nvSpPr>
        <p:spPr>
          <a:xfrm>
            <a:off x="10134029" y="2803520"/>
            <a:ext cx="353516" cy="285158"/>
          </a:xfrm>
          <a:prstGeom prst="ellipse">
            <a:avLst/>
          </a:prstGeom>
          <a:noFill/>
          <a:ln w="44450">
            <a:solidFill>
              <a:srgbClr val="7B3FA0"/>
            </a:solidFill>
          </a:ln>
        </p:spPr>
        <p:txBody>
          <a:bodyPr rtlCol="0" anchor="ctr"/>
          <a:lstStyle/>
          <a:p>
            <a:pPr algn="ctr"/>
          </a:p>
        </p:txBody>
      </p:sp>
      <p:sp>
        <p:nvSpPr>
          <p:cNvPr id="22" name="Oval 21"/>
          <p:cNvSpPr/>
          <p:nvPr/>
        </p:nvSpPr>
        <p:spPr>
          <a:xfrm>
            <a:off x="7352461" y="168890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473558" y="288138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8261503" y="2181449"/>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10584609" y="2544378"/>
            <a:ext cx="310896" cy="31089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6126479" y="4128544"/>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7.32 -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26</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false breakouts</a:t>
            </a:r>
          </a:p>
        </p:txBody>
      </p:sp>
      <p:sp>
        <p:nvSpPr>
          <p:cNvPr id="6" name="Rectangle 5"/>
          <p:cNvSpPr/>
          <p:nvPr/>
        </p:nvSpPr>
        <p:spPr>
          <a:xfrm>
            <a:off x="777240" y="1207008"/>
            <a:ext cx="5029200" cy="223583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23583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After a false upside breakout, the bearish entry is:</a:t>
            </a:r>
          </a:p>
        </p:txBody>
      </p:sp>
      <p:sp>
        <p:nvSpPr>
          <p:cNvPr id="9" name="TextBox 8"/>
          <p:cNvSpPr txBox="1"/>
          <p:nvPr/>
        </p:nvSpPr>
        <p:spPr>
          <a:xfrm>
            <a:off x="1097280" y="2069338"/>
            <a:ext cx="4480560" cy="137350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At a close below resistance</a:t>
            </a:r>
          </a:p>
          <a:p>
            <a:pPr algn="l">
              <a:lnSpc>
                <a:spcPct val="115000"/>
              </a:lnSpc>
              <a:spcBef>
                <a:spcPts val="500"/>
              </a:spcBef>
              <a:spcAft>
                <a:spcPts val="0"/>
              </a:spcAft>
            </a:pPr>
            <a:r>
              <a:rPr sz="1700" b="0" i="0">
                <a:solidFill>
                  <a:srgbClr val="1A1A1A"/>
                </a:solidFill>
                <a:latin typeface="Arial"/>
              </a:rPr>
              <a:t>The short is normally initiated when price closes below resistance after the false upside breakout (p. 229).</a:t>
            </a:r>
          </a:p>
        </p:txBody>
      </p:sp>
      <p:sp>
        <p:nvSpPr>
          <p:cNvPr id="10" name="Rectangle 9"/>
          <p:cNvSpPr/>
          <p:nvPr/>
        </p:nvSpPr>
        <p:spPr>
          <a:xfrm>
            <a:off x="777240" y="3625723"/>
            <a:ext cx="5029200" cy="223583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625723"/>
            <a:ext cx="91440" cy="223583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808603"/>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After a false downside breakout, the bullish entry is:</a:t>
            </a:r>
          </a:p>
        </p:txBody>
      </p:sp>
      <p:sp>
        <p:nvSpPr>
          <p:cNvPr id="13" name="TextBox 12"/>
          <p:cNvSpPr txBox="1"/>
          <p:nvPr/>
        </p:nvSpPr>
        <p:spPr>
          <a:xfrm>
            <a:off x="1097280" y="4488053"/>
            <a:ext cx="4480560" cy="137350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At a close above support</a:t>
            </a:r>
          </a:p>
          <a:p>
            <a:pPr algn="l">
              <a:lnSpc>
                <a:spcPct val="115000"/>
              </a:lnSpc>
              <a:spcBef>
                <a:spcPts val="500"/>
              </a:spcBef>
              <a:spcAft>
                <a:spcPts val="0"/>
              </a:spcAft>
            </a:pPr>
            <a:r>
              <a:rPr sz="1700" b="0" i="0">
                <a:solidFill>
                  <a:srgbClr val="1A1A1A"/>
                </a:solidFill>
                <a:latin typeface="Arial"/>
              </a:rPr>
              <a:t>The opposite entry is taken when price closes back above support after the false downside breakout (p. 229).</a:t>
            </a:r>
          </a:p>
        </p:txBody>
      </p:sp>
      <p:sp>
        <p:nvSpPr>
          <p:cNvPr id="14" name="Rectangle 13"/>
          <p:cNvSpPr/>
          <p:nvPr/>
        </p:nvSpPr>
        <p:spPr>
          <a:xfrm>
            <a:off x="6126479" y="1207008"/>
            <a:ext cx="5287975" cy="2830096"/>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592352"/>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13515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7.32</a:t>
            </a:r>
          </a:p>
          <a:p>
            <a:pPr algn="l">
              <a:lnSpc>
                <a:spcPct val="115000"/>
              </a:lnSpc>
              <a:spcBef>
                <a:spcPts val="0"/>
              </a:spcBef>
              <a:spcAft>
                <a:spcPts val="0"/>
              </a:spcAft>
            </a:pPr>
            <a:r>
              <a:rPr sz="1500" b="0" i="0">
                <a:solidFill>
                  <a:srgbClr val="1A1A1A"/>
                </a:solidFill>
                <a:latin typeface="Palatino"/>
              </a:rPr>
              <a:t>Silver daily chart. The marked examples return through resistance for shorts or through support for longs.</a:t>
            </a:r>
          </a:p>
        </p:txBody>
      </p:sp>
      <p:sp>
        <p:nvSpPr>
          <p:cNvPr id="18" name="Oval 17"/>
          <p:cNvSpPr/>
          <p:nvPr/>
        </p:nvSpPr>
        <p:spPr>
          <a:xfrm>
            <a:off x="7709918" y="1922121"/>
            <a:ext cx="353516" cy="285158"/>
          </a:xfrm>
          <a:prstGeom prst="ellipse">
            <a:avLst/>
          </a:prstGeom>
          <a:noFill/>
          <a:ln w="44450">
            <a:solidFill>
              <a:srgbClr val="E09B00"/>
            </a:solidFill>
          </a:ln>
        </p:spPr>
        <p:txBody>
          <a:bodyPr rtlCol="0" anchor="ctr"/>
          <a:lstStyle/>
          <a:p>
            <a:pPr algn="ctr"/>
          </a:p>
        </p:txBody>
      </p:sp>
      <p:sp>
        <p:nvSpPr>
          <p:cNvPr id="19" name="Oval 18"/>
          <p:cNvSpPr/>
          <p:nvPr/>
        </p:nvSpPr>
        <p:spPr>
          <a:xfrm>
            <a:off x="8921974" y="2518362"/>
            <a:ext cx="404018" cy="337005"/>
          </a:xfrm>
          <a:prstGeom prst="ellipse">
            <a:avLst/>
          </a:prstGeom>
          <a:noFill/>
          <a:ln w="44450">
            <a:solidFill>
              <a:srgbClr val="C62828"/>
            </a:solidFill>
          </a:ln>
        </p:spPr>
        <p:txBody>
          <a:bodyPr rtlCol="0" anchor="ctr"/>
          <a:lstStyle/>
          <a:p>
            <a:pPr algn="ctr"/>
          </a:p>
        </p:txBody>
      </p:sp>
      <p:sp>
        <p:nvSpPr>
          <p:cNvPr id="20" name="Oval 19"/>
          <p:cNvSpPr/>
          <p:nvPr/>
        </p:nvSpPr>
        <p:spPr>
          <a:xfrm>
            <a:off x="7911928" y="2077662"/>
            <a:ext cx="303013" cy="207388"/>
          </a:xfrm>
          <a:prstGeom prst="ellipse">
            <a:avLst/>
          </a:prstGeom>
          <a:noFill/>
          <a:ln w="44450">
            <a:solidFill>
              <a:srgbClr val="1F5FAD"/>
            </a:solidFill>
          </a:ln>
        </p:spPr>
        <p:txBody>
          <a:bodyPr rtlCol="0" anchor="ctr"/>
          <a:lstStyle/>
          <a:p>
            <a:pPr algn="ctr"/>
          </a:p>
        </p:txBody>
      </p:sp>
      <p:sp>
        <p:nvSpPr>
          <p:cNvPr id="21" name="Oval 20"/>
          <p:cNvSpPr/>
          <p:nvPr/>
        </p:nvSpPr>
        <p:spPr>
          <a:xfrm>
            <a:off x="10134029" y="2803520"/>
            <a:ext cx="353516" cy="285158"/>
          </a:xfrm>
          <a:prstGeom prst="ellipse">
            <a:avLst/>
          </a:prstGeom>
          <a:noFill/>
          <a:ln w="44450">
            <a:solidFill>
              <a:srgbClr val="7B3FA0"/>
            </a:solidFill>
          </a:ln>
        </p:spPr>
        <p:txBody>
          <a:bodyPr rtlCol="0" anchor="ctr"/>
          <a:lstStyle/>
          <a:p>
            <a:pPr algn="ctr"/>
          </a:p>
        </p:txBody>
      </p:sp>
      <p:sp>
        <p:nvSpPr>
          <p:cNvPr id="22" name="Oval 21"/>
          <p:cNvSpPr/>
          <p:nvPr/>
        </p:nvSpPr>
        <p:spPr>
          <a:xfrm>
            <a:off x="7352461" y="168890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473558" y="288138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8261503" y="2181449"/>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10584609" y="2544378"/>
            <a:ext cx="310896" cy="31089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6126479" y="4128544"/>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7.32 -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26</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Double Repo names two crossings of a moving average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48 of 62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bearish Double Repo closes above and below a three-day SMA twice, so the second pair can mark a sell signal (p. 229). Lim calls the average forward-shifted when it is plotted three days forward.</a:t>
            </a:r>
          </a:p>
          <a:p>
            <a:pPr algn="l">
              <a:lnSpc>
                <a:spcPct val="118000"/>
              </a:lnSpc>
              <a:spcBef>
                <a:spcPts val="0"/>
              </a:spcBef>
              <a:spcAft>
                <a:spcPts val="1300"/>
              </a:spcAft>
            </a:pPr>
            <a:r>
              <a:rPr sz="2100" b="0" i="0">
                <a:solidFill>
                  <a:srgbClr val="1A1A1A"/>
                </a:solidFill>
                <a:latin typeface="Arial"/>
              </a:rPr>
              <a:t>Our SMA is PHP 50.00. The pairs close at PHP 50.80 above and PHP 49.60 below, then PHP 50.70 above and PHP 49.00 below after nine bullish days. Lim gives 8 to 10 days first and a top no more than 8 to 10 bars; the complete method is in DiNapoli's text.</a:t>
            </a:r>
          </a:p>
        </p:txBody>
      </p:sp>
      <p:sp>
        <p:nvSpPr>
          <p:cNvPr id="8" name="Rectangle 7"/>
          <p:cNvSpPr/>
          <p:nvPr/>
        </p:nvSpPr>
        <p:spPr>
          <a:xfrm>
            <a:off x="777240" y="4845558"/>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82134"/>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Count the two crossing pairs and keep the book's limits visible.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229. The worked PHP values are ours, invented.</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Double Repo with simple closes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forward-shifted three-day SMA is PHP 50.00.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g-0.png"/>
          <p:cNvPicPr>
            <a:picLocks noChangeAspect="1"/>
          </p:cNvPicPr>
          <p:nvPr/>
        </p:nvPicPr>
        <p:blipFill>
          <a:blip r:embed="rId2"/>
          <a:stretch>
            <a:fillRect/>
          </a:stretch>
        </p:blipFill>
        <p:spPr>
          <a:xfrm>
            <a:off x="896112" y="2395728"/>
            <a:ext cx="10399471" cy="3511296"/>
          </a:xfrm>
          <a:prstGeom prst="rect">
            <a:avLst/>
          </a:prstGeom>
        </p:spPr>
      </p:pic>
      <p:sp>
        <p:nvSpPr>
          <p:cNvPr id="9" name="TextBox 8"/>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LG - FIN1209 teaching chart, drawn for this course. Illustrative data, not a real instrument.</a:t>
            </a:r>
          </a:p>
        </p:txBody>
      </p:sp>
      <p:sp>
        <p:nvSpPr>
          <p:cNvPr id="10" name="TextBox 9"/>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49 of 62</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LG: invented PHP closes and a three-day SMA.</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Double Repo with simple closes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forward-shifted three-day SMA is PHP 50.00.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g-1.png"/>
          <p:cNvPicPr>
            <a:picLocks noChangeAspect="1"/>
          </p:cNvPicPr>
          <p:nvPr/>
        </p:nvPicPr>
        <p:blipFill>
          <a:blip r:embed="rId2"/>
          <a:stretch>
            <a:fillRect/>
          </a:stretch>
        </p:blipFill>
        <p:spPr>
          <a:xfrm>
            <a:off x="896112" y="2395728"/>
            <a:ext cx="10399471" cy="3511296"/>
          </a:xfrm>
          <a:prstGeom prst="rect">
            <a:avLst/>
          </a:prstGeom>
        </p:spPr>
      </p:pic>
      <p:sp>
        <p:nvSpPr>
          <p:cNvPr id="9" name="TextBox 8"/>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LG - FIN1209 teaching chart, drawn for this course. Illustrative data, not a real instrument.</a:t>
            </a:r>
          </a:p>
        </p:txBody>
      </p:sp>
      <p:sp>
        <p:nvSpPr>
          <p:cNvPr id="10" name="TextBox 9"/>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50 of 62</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LG: invented PHP closes and a three-day SMA.</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Double Repo with simple closes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forward-shifted three-day SMA is PHP 50.00.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g-2.png"/>
          <p:cNvPicPr>
            <a:picLocks noChangeAspect="1"/>
          </p:cNvPicPr>
          <p:nvPr/>
        </p:nvPicPr>
        <p:blipFill>
          <a:blip r:embed="rId2"/>
          <a:stretch>
            <a:fillRect/>
          </a:stretch>
        </p:blipFill>
        <p:spPr>
          <a:xfrm>
            <a:off x="896112" y="2395728"/>
            <a:ext cx="10399471" cy="3511296"/>
          </a:xfrm>
          <a:prstGeom prst="rect">
            <a:avLst/>
          </a:prstGeom>
        </p:spPr>
      </p:pic>
      <p:sp>
        <p:nvSpPr>
          <p:cNvPr id="9" name="TextBox 8"/>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LG - FIN1209 teaching chart, drawn for this course. Illustrative data, not a real instrument.</a:t>
            </a:r>
          </a:p>
        </p:txBody>
      </p:sp>
      <p:sp>
        <p:nvSpPr>
          <p:cNvPr id="10" name="TextBox 9"/>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51 of 62</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LG: invented PHP closes and a three-day SMA.</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Double Repo with simple closes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E09B00"/>
                </a:solidFill>
                <a:latin typeface="Arial"/>
              </a:rPr>
              <a:t>(1)</a:t>
            </a:r>
            <a:r>
              <a:rPr sz="1700" b="0" i="0">
                <a:solidFill>
                  <a:srgbClr val="1A1A1A"/>
                </a:solidFill>
                <a:latin typeface="Arial"/>
              </a:rPr>
              <a:t> marks the first close above it at PHP 50.80, and </a:t>
            </a:r>
            <a:r>
              <a:rPr sz="1700" b="1" i="0">
                <a:solidFill>
                  <a:srgbClr val="C62828"/>
                </a:solidFill>
                <a:latin typeface="Arial"/>
              </a:rPr>
              <a:t>(2)</a:t>
            </a:r>
            <a:r>
              <a:rPr sz="1700" b="0" i="0">
                <a:solidFill>
                  <a:srgbClr val="1A1A1A"/>
                </a:solidFill>
                <a:latin typeface="Arial"/>
              </a:rPr>
              <a:t> the first close below it at PHP 49.60.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g-3.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299508" y="3864065"/>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10035539" y="4189465"/>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4371184" y="370728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10107215" y="403268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LG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52 of 62</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LG: invented PHP closes and a three-day SMA.</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Double Repo with simple closes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After nine bullish days, </a:t>
            </a:r>
            <a:r>
              <a:rPr sz="1700" b="1" i="0">
                <a:solidFill>
                  <a:srgbClr val="1F5FAD"/>
                </a:solidFill>
                <a:latin typeface="Arial"/>
              </a:rPr>
              <a:t>(3)</a:t>
            </a:r>
            <a:r>
              <a:rPr sz="1700" b="0" i="0">
                <a:solidFill>
                  <a:srgbClr val="1A1A1A"/>
                </a:solidFill>
                <a:latin typeface="Arial"/>
              </a:rPr>
              <a:t> encloses the second pair: PHP 50.70 above and PHP 49.00 below. The two pairs are the named structure; the full method is in DiNapoli's text.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g-4.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2862072" y="3442243"/>
            <a:ext cx="5519775" cy="1500877"/>
          </a:xfrm>
          <a:prstGeom prst="rect">
            <a:avLst/>
          </a:prstGeom>
          <a:noFill/>
          <a:ln w="44450">
            <a:solidFill>
              <a:srgbClr val="1F5FAD"/>
            </a:solidFill>
          </a:ln>
        </p:spPr>
        <p:txBody>
          <a:bodyPr rtlCol="0" anchor="ctr"/>
          <a:lstStyle/>
          <a:p>
            <a:pPr algn="ctr"/>
          </a:p>
        </p:txBody>
      </p:sp>
      <p:sp>
        <p:nvSpPr>
          <p:cNvPr id="10" name="Oval 9"/>
          <p:cNvSpPr/>
          <p:nvPr/>
        </p:nvSpPr>
        <p:spPr>
          <a:xfrm>
            <a:off x="8381847" y="4064665"/>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1" name="TextBox 10"/>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LG - FIN1209 teaching chart, drawn for this course. Illustrative data, not a real instrument.</a:t>
            </a:r>
          </a:p>
        </p:txBody>
      </p:sp>
      <p:sp>
        <p:nvSpPr>
          <p:cNvPr id="12" name="TextBox 1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53 of 62</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LG: invented PHP closes and a three-day SMA.</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7.33 shows the Double Repo reversal in the book's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54 of 62</a:t>
            </a:r>
          </a:p>
        </p:txBody>
      </p:sp>
      <p:sp>
        <p:nvSpPr>
          <p:cNvPr id="7" name="TextBox 6"/>
          <p:cNvSpPr txBox="1"/>
          <p:nvPr/>
        </p:nvSpPr>
        <p:spPr>
          <a:xfrm>
            <a:off x="777240" y="1965960"/>
            <a:ext cx="50292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Gold </a:t>
            </a:r>
            <a:r>
              <a:rPr sz="1800" b="1" i="0">
                <a:solidFill>
                  <a:srgbClr val="E09B00"/>
                </a:solidFill>
                <a:latin typeface="Arial"/>
              </a:rPr>
              <a:t>(1)</a:t>
            </a:r>
            <a:r>
              <a:rPr sz="1800" b="0" i="0">
                <a:solidFill>
                  <a:srgbClr val="1A1A1A"/>
                </a:solidFill>
                <a:latin typeface="Arial"/>
              </a:rPr>
              <a:t> and red </a:t>
            </a:r>
            <a:r>
              <a:rPr sz="1800" b="1" i="0">
                <a:solidFill>
                  <a:srgbClr val="C62828"/>
                </a:solidFill>
                <a:latin typeface="Arial"/>
              </a:rPr>
              <a:t>(2)</a:t>
            </a:r>
            <a:r>
              <a:rPr sz="1800" b="0" i="0">
                <a:solidFill>
                  <a:srgbClr val="1A1A1A"/>
                </a:solidFill>
                <a:latin typeface="Arial"/>
              </a:rPr>
              <a:t> mark the first two closes across the forward-shifted three-day SMA. Blue </a:t>
            </a:r>
            <a:r>
              <a:rPr sz="1800" b="1" i="0">
                <a:solidFill>
                  <a:srgbClr val="1F5FAD"/>
                </a:solidFill>
                <a:latin typeface="Arial"/>
              </a:rPr>
              <a:t>(3)</a:t>
            </a:r>
            <a:r>
              <a:rPr sz="1800" b="0" i="0">
                <a:solidFill>
                  <a:srgbClr val="1A1A1A"/>
                </a:solidFill>
                <a:latin typeface="Arial"/>
              </a:rPr>
              <a:t> marks the later decline.</a:t>
            </a:r>
          </a:p>
          <a:p>
            <a:pPr algn="l">
              <a:lnSpc>
                <a:spcPct val="105000"/>
              </a:lnSpc>
              <a:spcBef>
                <a:spcPts val="0"/>
              </a:spcBef>
              <a:spcAft>
                <a:spcPts val="1100"/>
              </a:spcAft>
            </a:pPr>
            <a:r>
              <a:rPr sz="1800" b="0" i="0">
                <a:solidFill>
                  <a:srgbClr val="1A1A1A"/>
                </a:solidFill>
                <a:latin typeface="Arial"/>
              </a:rPr>
              <a:t>Lim presents a bearish reversal in an uptrend. The converse applies in a downtrend, but the book sends readers to DiNapoli for the complete method.</a:t>
            </a:r>
          </a:p>
          <a:p>
            <a:pPr algn="l">
              <a:lnSpc>
                <a:spcPct val="105000"/>
              </a:lnSpc>
              <a:spcBef>
                <a:spcPts val="0"/>
              </a:spcBef>
              <a:spcAft>
                <a:spcPts val="1100"/>
              </a:spcAft>
            </a:pPr>
            <a:r>
              <a:rPr sz="1800" b="0" i="0">
                <a:solidFill>
                  <a:srgbClr val="1A1A1A"/>
                </a:solidFill>
                <a:latin typeface="Arial"/>
              </a:rPr>
              <a:t>Read the two crossings as the named structure, not as a complete trading system.</a:t>
            </a:r>
          </a:p>
        </p:txBody>
      </p:sp>
      <p:sp>
        <p:nvSpPr>
          <p:cNvPr id="8" name="Rectangle 7"/>
          <p:cNvSpPr/>
          <p:nvPr/>
        </p:nvSpPr>
        <p:spPr>
          <a:xfrm>
            <a:off x="6126479" y="1810512"/>
            <a:ext cx="5287975" cy="249140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45351" y="1929384"/>
            <a:ext cx="5050231" cy="2253665"/>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45351" y="1929384"/>
            <a:ext cx="505023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19671" y="2203703"/>
            <a:ext cx="4501591" cy="17964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7.33</a:t>
            </a:r>
          </a:p>
          <a:p>
            <a:pPr algn="l">
              <a:lnSpc>
                <a:spcPct val="115000"/>
              </a:lnSpc>
              <a:spcBef>
                <a:spcPts val="0"/>
              </a:spcBef>
              <a:spcAft>
                <a:spcPts val="0"/>
              </a:spcAft>
            </a:pPr>
            <a:r>
              <a:rPr sz="1500" b="0" i="0">
                <a:solidFill>
                  <a:srgbClr val="1A1A1A"/>
                </a:solidFill>
                <a:latin typeface="Palatino"/>
              </a:rPr>
              <a:t>Continuous daily sugar chart. The marked sequence crosses a forward-shifted three-day SMA twice before the rapid decline.</a:t>
            </a:r>
          </a:p>
        </p:txBody>
      </p:sp>
      <p:sp>
        <p:nvSpPr>
          <p:cNvPr id="12" name="Oval 11"/>
          <p:cNvSpPr/>
          <p:nvPr/>
        </p:nvSpPr>
        <p:spPr>
          <a:xfrm>
            <a:off x="8164439" y="2380117"/>
            <a:ext cx="303013" cy="202829"/>
          </a:xfrm>
          <a:prstGeom prst="ellipse">
            <a:avLst/>
          </a:prstGeom>
          <a:noFill/>
          <a:ln w="44450">
            <a:solidFill>
              <a:srgbClr val="E09B00"/>
            </a:solidFill>
          </a:ln>
        </p:spPr>
        <p:txBody>
          <a:bodyPr rtlCol="0" anchor="ctr"/>
          <a:lstStyle/>
          <a:p>
            <a:pPr algn="ctr"/>
          </a:p>
        </p:txBody>
      </p:sp>
      <p:sp>
        <p:nvSpPr>
          <p:cNvPr id="13" name="Oval 12"/>
          <p:cNvSpPr/>
          <p:nvPr/>
        </p:nvSpPr>
        <p:spPr>
          <a:xfrm>
            <a:off x="8770467" y="2380117"/>
            <a:ext cx="303013" cy="202829"/>
          </a:xfrm>
          <a:prstGeom prst="ellipse">
            <a:avLst/>
          </a:prstGeom>
          <a:noFill/>
          <a:ln w="44450">
            <a:solidFill>
              <a:srgbClr val="C62828"/>
            </a:solidFill>
          </a:ln>
        </p:spPr>
        <p:txBody>
          <a:bodyPr rtlCol="0" anchor="ctr"/>
          <a:lstStyle/>
          <a:p>
            <a:pPr algn="ctr"/>
          </a:p>
        </p:txBody>
      </p:sp>
      <p:cxnSp>
        <p:nvCxnSpPr>
          <p:cNvPr id="14" name="Connector 13"/>
          <p:cNvCxnSpPr/>
          <p:nvPr/>
        </p:nvCxnSpPr>
        <p:spPr>
          <a:xfrm>
            <a:off x="9224988" y="2830850"/>
            <a:ext cx="909041" cy="631026"/>
          </a:xfrm>
          <a:prstGeom prst="line">
            <a:avLst/>
          </a:prstGeom>
          <a:ln w="44450">
            <a:solidFill>
              <a:srgbClr val="1F5FAD"/>
            </a:solidFill>
            <a:tailEnd type="triangle" w="med" len="med"/>
          </a:ln>
        </p:spPr>
      </p:cxnSp>
      <p:sp>
        <p:nvSpPr>
          <p:cNvPr id="15" name="Oval 14"/>
          <p:cNvSpPr/>
          <p:nvPr/>
        </p:nvSpPr>
        <p:spPr>
          <a:xfrm>
            <a:off x="7857484" y="2157059"/>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120042" y="215705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180591" y="339657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26479" y="4393361"/>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7.33 -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229, Figure 7.33. The crop and marks are for teaching; the worked PHP values are ours, invented.</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Double Repo also has timing limits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55 of 62</a:t>
            </a:r>
          </a:p>
        </p:txBody>
      </p:sp>
      <p:sp>
        <p:nvSpPr>
          <p:cNvPr id="7" name="TextBox 6"/>
          <p:cNvSpPr txBox="1"/>
          <p:nvPr/>
        </p:nvSpPr>
        <p:spPr>
          <a:xfrm>
            <a:off x="777240" y="1965960"/>
            <a:ext cx="50292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forward-shifted three-day SMA. Red </a:t>
            </a:r>
            <a:r>
              <a:rPr sz="2000" b="1" i="0">
                <a:solidFill>
                  <a:srgbClr val="C62828"/>
                </a:solidFill>
                <a:latin typeface="Arial"/>
              </a:rPr>
              <a:t>(2)</a:t>
            </a:r>
            <a:r>
              <a:rPr sz="2000" b="0" i="0">
                <a:solidFill>
                  <a:srgbClr val="1A1A1A"/>
                </a:solidFill>
                <a:latin typeface="Arial"/>
              </a:rPr>
              <a:t> marks the required 8 to 10 bullish days before the pattern.</a:t>
            </a:r>
          </a:p>
          <a:p>
            <a:pPr algn="l">
              <a:lnSpc>
                <a:spcPct val="105000"/>
              </a:lnSpc>
              <a:spcBef>
                <a:spcPts val="0"/>
              </a:spcBef>
              <a:spcAft>
                <a:spcPts val="1100"/>
              </a:spcAft>
            </a:pPr>
            <a:r>
              <a:rPr sz="2000" b="0" i="0">
                <a:solidFill>
                  <a:srgbClr val="1A1A1A"/>
                </a:solidFill>
                <a:latin typeface="Arial"/>
              </a:rPr>
              <a:t>Blue </a:t>
            </a:r>
            <a:r>
              <a:rPr sz="2000" b="1" i="0">
                <a:solidFill>
                  <a:srgbClr val="1F5FAD"/>
                </a:solidFill>
                <a:latin typeface="Arial"/>
              </a:rPr>
              <a:t>(3)</a:t>
            </a:r>
            <a:r>
              <a:rPr sz="2000" b="0" i="0">
                <a:solidFill>
                  <a:srgbClr val="1A1A1A"/>
                </a:solidFill>
                <a:latin typeface="Arial"/>
              </a:rPr>
              <a:t> marks the topping formation. Lim says it should not exceed 8 to 10 bars (p. 229).</a:t>
            </a:r>
          </a:p>
          <a:p>
            <a:pPr algn="l">
              <a:lnSpc>
                <a:spcPct val="105000"/>
              </a:lnSpc>
              <a:spcBef>
                <a:spcPts val="0"/>
              </a:spcBef>
              <a:spcAft>
                <a:spcPts val="1100"/>
              </a:spcAft>
            </a:pPr>
            <a:r>
              <a:rPr sz="2000" b="0" i="0">
                <a:solidFill>
                  <a:srgbClr val="1A1A1A"/>
                </a:solidFill>
                <a:latin typeface="Arial"/>
              </a:rPr>
              <a:t>Count both limits before treating the two crossings as the named sell signal.</a:t>
            </a:r>
          </a:p>
        </p:txBody>
      </p:sp>
      <p:sp>
        <p:nvSpPr>
          <p:cNvPr id="8" name="Rectangle 7"/>
          <p:cNvSpPr/>
          <p:nvPr/>
        </p:nvSpPr>
        <p:spPr>
          <a:xfrm>
            <a:off x="6126479" y="1810512"/>
            <a:ext cx="5287975" cy="249140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45351" y="1929384"/>
            <a:ext cx="5050231" cy="2253665"/>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45351" y="1929384"/>
            <a:ext cx="505023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19671" y="2203703"/>
            <a:ext cx="4501591" cy="17964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7.33</a:t>
            </a:r>
          </a:p>
          <a:p>
            <a:pPr algn="l">
              <a:lnSpc>
                <a:spcPct val="115000"/>
              </a:lnSpc>
              <a:spcBef>
                <a:spcPts val="0"/>
              </a:spcBef>
              <a:spcAft>
                <a:spcPts val="0"/>
              </a:spcAft>
            </a:pPr>
            <a:r>
              <a:rPr sz="1500" b="0" i="0">
                <a:solidFill>
                  <a:srgbClr val="1A1A1A"/>
                </a:solidFill>
                <a:latin typeface="Palatino"/>
              </a:rPr>
              <a:t>Continuous daily sugar chart. The marked sequence crosses a forward-shifted three-day SMA twice before the rapid decline.</a:t>
            </a:r>
          </a:p>
        </p:txBody>
      </p:sp>
      <p:cxnSp>
        <p:nvCxnSpPr>
          <p:cNvPr id="12" name="Connector 11"/>
          <p:cNvCxnSpPr/>
          <p:nvPr/>
        </p:nvCxnSpPr>
        <p:spPr>
          <a:xfrm>
            <a:off x="8921974" y="2425190"/>
            <a:ext cx="1010046" cy="270440"/>
          </a:xfrm>
          <a:prstGeom prst="line">
            <a:avLst/>
          </a:prstGeom>
          <a:ln w="44450">
            <a:solidFill>
              <a:srgbClr val="E09B00"/>
            </a:solidFill>
          </a:ln>
        </p:spPr>
      </p:cxnSp>
      <p:sp>
        <p:nvSpPr>
          <p:cNvPr id="13" name="Oval 12"/>
          <p:cNvSpPr/>
          <p:nvPr/>
        </p:nvSpPr>
        <p:spPr>
          <a:xfrm>
            <a:off x="7255398" y="2335043"/>
            <a:ext cx="1010046" cy="270439"/>
          </a:xfrm>
          <a:prstGeom prst="ellipse">
            <a:avLst/>
          </a:prstGeom>
          <a:noFill/>
          <a:ln w="44450">
            <a:solidFill>
              <a:srgbClr val="C62828"/>
            </a:solidFill>
          </a:ln>
        </p:spPr>
        <p:txBody>
          <a:bodyPr rtlCol="0" anchor="ctr"/>
          <a:lstStyle/>
          <a:p>
            <a:pPr algn="ctr"/>
          </a:p>
        </p:txBody>
      </p:sp>
      <p:sp>
        <p:nvSpPr>
          <p:cNvPr id="14" name="Rectangle 13"/>
          <p:cNvSpPr/>
          <p:nvPr/>
        </p:nvSpPr>
        <p:spPr>
          <a:xfrm>
            <a:off x="8214942" y="2019530"/>
            <a:ext cx="808036" cy="518343"/>
          </a:xfrm>
          <a:prstGeom prst="rect">
            <a:avLst/>
          </a:prstGeom>
          <a:noFill/>
          <a:ln w="44450">
            <a:solidFill>
              <a:srgbClr val="1F5FAD"/>
            </a:solidFill>
          </a:ln>
        </p:spPr>
        <p:txBody>
          <a:bodyPr rtlCol="0" anchor="ctr"/>
          <a:lstStyle/>
          <a:p>
            <a:pPr algn="ctr"/>
          </a:p>
        </p:txBody>
      </p:sp>
      <p:sp>
        <p:nvSpPr>
          <p:cNvPr id="15" name="Oval 14"/>
          <p:cNvSpPr/>
          <p:nvPr/>
        </p:nvSpPr>
        <p:spPr>
          <a:xfrm>
            <a:off x="9928079" y="217959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6948443" y="208944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120042" y="1886619"/>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26479" y="4393361"/>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7.33 -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229, Figure 7.33. The crop and marks are for teaching; the worked PHP values are ours, invented.</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27 OF 30</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Double Repo limits</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How many crossing pairs generate the named Double Repo sell signal?</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One pair</a:t>
            </a:r>
          </a:p>
          <a:p>
            <a:pPr algn="l">
              <a:lnSpc>
                <a:spcPct val="105000"/>
              </a:lnSpc>
              <a:spcBef>
                <a:spcPts val="0"/>
              </a:spcBef>
              <a:spcAft>
                <a:spcPts val="200"/>
              </a:spcAft>
            </a:pPr>
            <a:r>
              <a:rPr sz="1700" b="0" i="0">
                <a:solidFill>
                  <a:srgbClr val="FFFFFF"/>
                </a:solidFill>
                <a:latin typeface="Arial"/>
              </a:rPr>
              <a:t>B.  Three pairs</a:t>
            </a:r>
          </a:p>
          <a:p>
            <a:pPr algn="l">
              <a:lnSpc>
                <a:spcPct val="105000"/>
              </a:lnSpc>
              <a:spcBef>
                <a:spcPts val="0"/>
              </a:spcBef>
              <a:spcAft>
                <a:spcPts val="200"/>
              </a:spcAft>
            </a:pPr>
            <a:r>
              <a:rPr sz="1700" b="0" i="0">
                <a:solidFill>
                  <a:srgbClr val="FFFFFF"/>
                </a:solidFill>
                <a:latin typeface="Arial"/>
              </a:rPr>
              <a:t>C.  Two pairs</a:t>
            </a:r>
          </a:p>
          <a:p>
            <a:pPr algn="l">
              <a:lnSpc>
                <a:spcPct val="105000"/>
              </a:lnSpc>
              <a:spcBef>
                <a:spcPts val="0"/>
              </a:spcBef>
              <a:spcAft>
                <a:spcPts val="200"/>
              </a:spcAft>
            </a:pPr>
            <a:r>
              <a:rPr sz="1700" b="0" i="0">
                <a:solidFill>
                  <a:srgbClr val="FFFFFF"/>
                </a:solidFill>
                <a:latin typeface="Arial"/>
              </a:rPr>
              <a:t>D.  No pairs</a:t>
            </a:r>
          </a:p>
        </p:txBody>
      </p:sp>
      <p:sp>
        <p:nvSpPr>
          <p:cNvPr id="10" name="Rectangle 9"/>
          <p:cNvSpPr/>
          <p:nvPr/>
        </p:nvSpPr>
        <p:spPr>
          <a:xfrm>
            <a:off x="777240" y="3336798"/>
            <a:ext cx="50292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Where does Lim place the complete Double Repo method?</a:t>
            </a:r>
          </a:p>
        </p:txBody>
      </p:sp>
      <p:sp>
        <p:nvSpPr>
          <p:cNvPr id="13" name="TextBox 12"/>
          <p:cNvSpPr txBox="1"/>
          <p:nvPr/>
        </p:nvSpPr>
        <p:spPr>
          <a:xfrm>
            <a:off x="1005840" y="419912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DiNapoli's original text</a:t>
            </a:r>
          </a:p>
          <a:p>
            <a:pPr algn="l">
              <a:lnSpc>
                <a:spcPct val="105000"/>
              </a:lnSpc>
              <a:spcBef>
                <a:spcPts val="0"/>
              </a:spcBef>
              <a:spcAft>
                <a:spcPts val="200"/>
              </a:spcAft>
            </a:pPr>
            <a:r>
              <a:rPr sz="1700" b="0" i="0">
                <a:solidFill>
                  <a:srgbClr val="FFFFFF"/>
                </a:solidFill>
                <a:latin typeface="Arial"/>
              </a:rPr>
              <a:t>B.  The volume panel</a:t>
            </a:r>
          </a:p>
          <a:p>
            <a:pPr algn="l">
              <a:lnSpc>
                <a:spcPct val="105000"/>
              </a:lnSpc>
              <a:spcBef>
                <a:spcPts val="0"/>
              </a:spcBef>
              <a:spcAft>
                <a:spcPts val="200"/>
              </a:spcAft>
            </a:pPr>
            <a:r>
              <a:rPr sz="1700" b="0" i="0">
                <a:solidFill>
                  <a:srgbClr val="FFFFFF"/>
                </a:solidFill>
                <a:latin typeface="Arial"/>
              </a:rPr>
              <a:t>C.  The Hikkake figure</a:t>
            </a:r>
          </a:p>
          <a:p>
            <a:pPr algn="l">
              <a:lnSpc>
                <a:spcPct val="105000"/>
              </a:lnSpc>
              <a:spcBef>
                <a:spcPts val="0"/>
              </a:spcBef>
              <a:spcAft>
                <a:spcPts val="200"/>
              </a:spcAft>
            </a:pPr>
            <a:r>
              <a:rPr sz="1700" b="0" i="0">
                <a:solidFill>
                  <a:srgbClr val="FFFFFF"/>
                </a:solidFill>
                <a:latin typeface="Arial"/>
              </a:rPr>
              <a:t>D.  No source</a:t>
            </a:r>
          </a:p>
        </p:txBody>
      </p:sp>
      <p:sp>
        <p:nvSpPr>
          <p:cNvPr id="14" name="Rectangle 13"/>
          <p:cNvSpPr/>
          <p:nvPr/>
        </p:nvSpPr>
        <p:spPr>
          <a:xfrm>
            <a:off x="6126479" y="1207008"/>
            <a:ext cx="5287975" cy="2491409"/>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53665"/>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964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7.33</a:t>
            </a:r>
          </a:p>
          <a:p>
            <a:pPr algn="l">
              <a:lnSpc>
                <a:spcPct val="115000"/>
              </a:lnSpc>
              <a:spcBef>
                <a:spcPts val="0"/>
              </a:spcBef>
              <a:spcAft>
                <a:spcPts val="0"/>
              </a:spcAft>
            </a:pPr>
            <a:r>
              <a:rPr sz="1500" b="0" i="0">
                <a:solidFill>
                  <a:srgbClr val="1A1A1A"/>
                </a:solidFill>
                <a:latin typeface="Palatino"/>
              </a:rPr>
              <a:t>Continuous daily sugar chart. The marked sequence crosses a forward-shifted three-day SMA twice before the rapid decline.</a:t>
            </a:r>
          </a:p>
        </p:txBody>
      </p:sp>
      <p:cxnSp>
        <p:nvCxnSpPr>
          <p:cNvPr id="18" name="Connector 17"/>
          <p:cNvCxnSpPr/>
          <p:nvPr/>
        </p:nvCxnSpPr>
        <p:spPr>
          <a:xfrm>
            <a:off x="8921974" y="1821686"/>
            <a:ext cx="1010046" cy="270440"/>
          </a:xfrm>
          <a:prstGeom prst="line">
            <a:avLst/>
          </a:prstGeom>
          <a:ln w="44450">
            <a:solidFill>
              <a:srgbClr val="E09B00"/>
            </a:solidFill>
          </a:ln>
        </p:spPr>
      </p:cxnSp>
      <p:sp>
        <p:nvSpPr>
          <p:cNvPr id="19" name="Oval 18"/>
          <p:cNvSpPr/>
          <p:nvPr/>
        </p:nvSpPr>
        <p:spPr>
          <a:xfrm>
            <a:off x="7255398" y="1731539"/>
            <a:ext cx="1010046" cy="270439"/>
          </a:xfrm>
          <a:prstGeom prst="ellipse">
            <a:avLst/>
          </a:prstGeom>
          <a:noFill/>
          <a:ln w="44450">
            <a:solidFill>
              <a:srgbClr val="C62828"/>
            </a:solidFill>
          </a:ln>
        </p:spPr>
        <p:txBody>
          <a:bodyPr rtlCol="0" anchor="ctr"/>
          <a:lstStyle/>
          <a:p>
            <a:pPr algn="ctr"/>
          </a:p>
        </p:txBody>
      </p:sp>
      <p:sp>
        <p:nvSpPr>
          <p:cNvPr id="20" name="Rectangle 19"/>
          <p:cNvSpPr/>
          <p:nvPr/>
        </p:nvSpPr>
        <p:spPr>
          <a:xfrm>
            <a:off x="8214942" y="1416026"/>
            <a:ext cx="808036" cy="518343"/>
          </a:xfrm>
          <a:prstGeom prst="rect">
            <a:avLst/>
          </a:prstGeom>
          <a:noFill/>
          <a:ln w="44450">
            <a:solidFill>
              <a:srgbClr val="1F5FAD"/>
            </a:solidFill>
          </a:ln>
        </p:spPr>
        <p:txBody>
          <a:bodyPr rtlCol="0" anchor="ctr"/>
          <a:lstStyle/>
          <a:p>
            <a:pPr algn="ctr"/>
          </a:p>
        </p:txBody>
      </p:sp>
      <p:sp>
        <p:nvSpPr>
          <p:cNvPr id="21" name="Oval 20"/>
          <p:cNvSpPr/>
          <p:nvPr/>
        </p:nvSpPr>
        <p:spPr>
          <a:xfrm>
            <a:off x="9928079" y="157609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6948443" y="148594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120042" y="128311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89857"/>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7.33 -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27</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Double Repo limits</a:t>
            </a:r>
          </a:p>
        </p:txBody>
      </p:sp>
      <p:sp>
        <p:nvSpPr>
          <p:cNvPr id="6" name="Rectangle 5"/>
          <p:cNvSpPr/>
          <p:nvPr/>
        </p:nvSpPr>
        <p:spPr>
          <a:xfrm>
            <a:off x="777240" y="1207008"/>
            <a:ext cx="5029200" cy="226504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26504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How many crossing pairs generate the named Double Repo sell signal?</a:t>
            </a:r>
          </a:p>
        </p:txBody>
      </p:sp>
      <p:sp>
        <p:nvSpPr>
          <p:cNvPr id="9" name="TextBox 8"/>
          <p:cNvSpPr txBox="1"/>
          <p:nvPr/>
        </p:nvSpPr>
        <p:spPr>
          <a:xfrm>
            <a:off x="1097280" y="2069338"/>
            <a:ext cx="4480560" cy="1402715"/>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Two pairs</a:t>
            </a:r>
          </a:p>
          <a:p>
            <a:pPr algn="l">
              <a:lnSpc>
                <a:spcPct val="115000"/>
              </a:lnSpc>
              <a:spcBef>
                <a:spcPts val="500"/>
              </a:spcBef>
              <a:spcAft>
                <a:spcPts val="0"/>
              </a:spcAft>
            </a:pPr>
            <a:r>
              <a:rPr sz="1700" b="0" i="0">
                <a:solidFill>
                  <a:srgbClr val="1A1A1A"/>
                </a:solidFill>
                <a:latin typeface="Arial"/>
              </a:rPr>
              <a:t>The named bearish Double Repo has two closes above and below the forward-shifted SMA (p. 229).</a:t>
            </a:r>
          </a:p>
        </p:txBody>
      </p:sp>
      <p:sp>
        <p:nvSpPr>
          <p:cNvPr id="10" name="Rectangle 9"/>
          <p:cNvSpPr/>
          <p:nvPr/>
        </p:nvSpPr>
        <p:spPr>
          <a:xfrm>
            <a:off x="777240" y="3654933"/>
            <a:ext cx="5029200" cy="201675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654933"/>
            <a:ext cx="91440" cy="201675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837813"/>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Where does Lim place the complete Double Repo method?</a:t>
            </a:r>
          </a:p>
        </p:txBody>
      </p:sp>
      <p:sp>
        <p:nvSpPr>
          <p:cNvPr id="13" name="TextBox 12"/>
          <p:cNvSpPr txBox="1"/>
          <p:nvPr/>
        </p:nvSpPr>
        <p:spPr>
          <a:xfrm>
            <a:off x="1097280" y="4517263"/>
            <a:ext cx="448056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DiNapoli's original text</a:t>
            </a:r>
          </a:p>
          <a:p>
            <a:pPr algn="l">
              <a:lnSpc>
                <a:spcPct val="115000"/>
              </a:lnSpc>
              <a:spcBef>
                <a:spcPts val="500"/>
              </a:spcBef>
              <a:spcAft>
                <a:spcPts val="0"/>
              </a:spcAft>
            </a:pPr>
            <a:r>
              <a:rPr sz="1700" b="0" i="0">
                <a:solidFill>
                  <a:srgbClr val="1A1A1A"/>
                </a:solidFill>
                <a:latin typeface="Arial"/>
              </a:rPr>
              <a:t>Lim sends readers to DiNapoli's original text for the detailed method (p. 229).</a:t>
            </a:r>
          </a:p>
        </p:txBody>
      </p:sp>
      <p:sp>
        <p:nvSpPr>
          <p:cNvPr id="14" name="Rectangle 13"/>
          <p:cNvSpPr/>
          <p:nvPr/>
        </p:nvSpPr>
        <p:spPr>
          <a:xfrm>
            <a:off x="6126479" y="1207008"/>
            <a:ext cx="5287975" cy="2491409"/>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53665"/>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964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7.33</a:t>
            </a:r>
          </a:p>
          <a:p>
            <a:pPr algn="l">
              <a:lnSpc>
                <a:spcPct val="115000"/>
              </a:lnSpc>
              <a:spcBef>
                <a:spcPts val="0"/>
              </a:spcBef>
              <a:spcAft>
                <a:spcPts val="0"/>
              </a:spcAft>
            </a:pPr>
            <a:r>
              <a:rPr sz="1500" b="0" i="0">
                <a:solidFill>
                  <a:srgbClr val="1A1A1A"/>
                </a:solidFill>
                <a:latin typeface="Palatino"/>
              </a:rPr>
              <a:t>Continuous daily sugar chart. The marked sequence crosses a forward-shifted three-day SMA twice before the rapid decline.</a:t>
            </a:r>
          </a:p>
        </p:txBody>
      </p:sp>
      <p:cxnSp>
        <p:nvCxnSpPr>
          <p:cNvPr id="18" name="Connector 17"/>
          <p:cNvCxnSpPr/>
          <p:nvPr/>
        </p:nvCxnSpPr>
        <p:spPr>
          <a:xfrm>
            <a:off x="8921974" y="1821686"/>
            <a:ext cx="1010046" cy="270440"/>
          </a:xfrm>
          <a:prstGeom prst="line">
            <a:avLst/>
          </a:prstGeom>
          <a:ln w="44450">
            <a:solidFill>
              <a:srgbClr val="E09B00"/>
            </a:solidFill>
          </a:ln>
        </p:spPr>
      </p:cxnSp>
      <p:sp>
        <p:nvSpPr>
          <p:cNvPr id="19" name="Oval 18"/>
          <p:cNvSpPr/>
          <p:nvPr/>
        </p:nvSpPr>
        <p:spPr>
          <a:xfrm>
            <a:off x="7255398" y="1731539"/>
            <a:ext cx="1010046" cy="270439"/>
          </a:xfrm>
          <a:prstGeom prst="ellipse">
            <a:avLst/>
          </a:prstGeom>
          <a:noFill/>
          <a:ln w="44450">
            <a:solidFill>
              <a:srgbClr val="C62828"/>
            </a:solidFill>
          </a:ln>
        </p:spPr>
        <p:txBody>
          <a:bodyPr rtlCol="0" anchor="ctr"/>
          <a:lstStyle/>
          <a:p>
            <a:pPr algn="ctr"/>
          </a:p>
        </p:txBody>
      </p:sp>
      <p:sp>
        <p:nvSpPr>
          <p:cNvPr id="20" name="Rectangle 19"/>
          <p:cNvSpPr/>
          <p:nvPr/>
        </p:nvSpPr>
        <p:spPr>
          <a:xfrm>
            <a:off x="8214942" y="1416026"/>
            <a:ext cx="808036" cy="518343"/>
          </a:xfrm>
          <a:prstGeom prst="rect">
            <a:avLst/>
          </a:prstGeom>
          <a:noFill/>
          <a:ln w="44450">
            <a:solidFill>
              <a:srgbClr val="1F5FAD"/>
            </a:solidFill>
          </a:ln>
        </p:spPr>
        <p:txBody>
          <a:bodyPr rtlCol="0" anchor="ctr"/>
          <a:lstStyle/>
          <a:p>
            <a:pPr algn="ctr"/>
          </a:p>
        </p:txBody>
      </p:sp>
      <p:sp>
        <p:nvSpPr>
          <p:cNvPr id="21" name="Oval 20"/>
          <p:cNvSpPr/>
          <p:nvPr/>
        </p:nvSpPr>
        <p:spPr>
          <a:xfrm>
            <a:off x="9928079" y="157609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6948443" y="148594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120042" y="128311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89857"/>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7.33 -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27</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Hikkake is an inside-bar trap followed by the opposite entry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56 of 62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We finish with Hikkake, a trap or ensnaring in Lim's wording: an inside-bar breakout fails, and the entry is taken only in the opposite direction (p. 230).</a:t>
            </a:r>
          </a:p>
          <a:p>
            <a:pPr algn="l">
              <a:lnSpc>
                <a:spcPct val="118000"/>
              </a:lnSpc>
              <a:spcBef>
                <a:spcPts val="0"/>
              </a:spcBef>
              <a:spcAft>
                <a:spcPts val="1300"/>
              </a:spcAft>
            </a:pPr>
            <a:r>
              <a:rPr sz="2100" b="0" i="0">
                <a:solidFill>
                  <a:srgbClr val="1A1A1A"/>
                </a:solidFill>
                <a:latin typeface="Arial"/>
              </a:rPr>
              <a:t>Our bearish example has inside high PHP 52.00, inside low PHP 49.00, false high PHP 53.00, and re-entry below PHP 49.00 within three bars. The bullish converse follows a failed downside break.</a:t>
            </a:r>
          </a:p>
        </p:txBody>
      </p:sp>
      <p:sp>
        <p:nvSpPr>
          <p:cNvPr id="8" name="Rectangle 7"/>
          <p:cNvSpPr/>
          <p:nvPr/>
        </p:nvSpPr>
        <p:spPr>
          <a:xfrm>
            <a:off x="777240" y="4216145"/>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52721"/>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three-bar window is part of the rule.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230. The worked PHP values are ours, invented.</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bearish Hikkake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bearish Hikkake begins with an inside bar: </a:t>
            </a:r>
            <a:r>
              <a:rPr sz="1700" b="1" i="0">
                <a:solidFill>
                  <a:srgbClr val="E09B00"/>
                </a:solidFill>
                <a:latin typeface="Arial"/>
              </a:rPr>
              <a:t>(1)</a:t>
            </a:r>
            <a:r>
              <a:rPr sz="1700" b="0" i="0">
                <a:solidFill>
                  <a:srgbClr val="1A1A1A"/>
                </a:solidFill>
                <a:latin typeface="Arial"/>
              </a:rPr>
              <a:t> marks its high of PHP 52.00 and low of PHP 49.00. Price breaks above the inside high to PHP 53.00 at </a:t>
            </a:r>
            <a:r>
              <a:rPr sz="1700" b="1" i="0">
                <a:solidFill>
                  <a:srgbClr val="C62828"/>
                </a:solidFill>
                <a:latin typeface="Arial"/>
              </a:rPr>
              <a:t>(2)</a:t>
            </a:r>
            <a:r>
              <a:rPr sz="1700" b="0" i="0">
                <a:solidFill>
                  <a:srgbClr val="1A1A1A"/>
                </a:solidFill>
                <a:latin typeface="Arial"/>
              </a:rPr>
              <a:t>. Price re-enters below PHP 49.00 at </a:t>
            </a:r>
            <a:r>
              <a:rPr sz="1700" b="1" i="0">
                <a:solidFill>
                  <a:srgbClr val="1F5FAD"/>
                </a:solidFill>
                <a:latin typeface="Arial"/>
              </a:rPr>
              <a:t>(3)</a:t>
            </a:r>
            <a:r>
              <a:rPr sz="1700" b="0" i="0">
                <a:solidFill>
                  <a:srgbClr val="1A1A1A"/>
                </a:solidFill>
                <a:latin typeface="Arial"/>
              </a:rPr>
              <a:t> within three bars. The failed upside break is not the entry; the bearish entry is the opposite re-entry (p. 230).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h-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144060" y="4249724"/>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012076"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4773980"/>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231843" y="416560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099858"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107215" y="461720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LH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57 of 62</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LH: invented PHP levels and entries.</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Hikkake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In the bullish case, </a:t>
            </a:r>
            <a:r>
              <a:rPr sz="1700" b="1" i="0">
                <a:solidFill>
                  <a:srgbClr val="E09B00"/>
                </a:solidFill>
                <a:latin typeface="Arial"/>
              </a:rPr>
              <a:t>(1)</a:t>
            </a:r>
            <a:r>
              <a:rPr sz="1700" b="0" i="0">
                <a:solidFill>
                  <a:srgbClr val="1A1A1A"/>
                </a:solidFill>
                <a:latin typeface="Arial"/>
              </a:rPr>
              <a:t> marks the inside bar, </a:t>
            </a:r>
            <a:r>
              <a:rPr sz="1700" b="1" i="0">
                <a:solidFill>
                  <a:srgbClr val="C62828"/>
                </a:solidFill>
                <a:latin typeface="Arial"/>
              </a:rPr>
              <a:t>(2)</a:t>
            </a:r>
            <a:r>
              <a:rPr sz="1700" b="0" i="0">
                <a:solidFill>
                  <a:srgbClr val="1A1A1A"/>
                </a:solidFill>
                <a:latin typeface="Arial"/>
              </a:rPr>
              <a:t> its false downside breakout, and </a:t>
            </a:r>
            <a:r>
              <a:rPr sz="1700" b="1" i="0">
                <a:solidFill>
                  <a:srgbClr val="1F5FAD"/>
                </a:solidFill>
                <a:latin typeface="Arial"/>
              </a:rPr>
              <a:t>(3)</a:t>
            </a:r>
            <a:r>
              <a:rPr sz="1700" b="0" i="0">
                <a:solidFill>
                  <a:srgbClr val="1A1A1A"/>
                </a:solidFill>
                <a:latin typeface="Arial"/>
              </a:rPr>
              <a:t> the long re-entry above PHP 43.00. Its invented levels are high 43.00, low 40.00 and false low 39.00.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i-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144060" y="4162348"/>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012076" y="4948732"/>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3690518"/>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231843" y="407822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099858" y="486460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107215" y="3533742"/>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LI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58 of 62</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LI: invented PHP values; the book's drawing is shown separately.</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Bearish Hikkake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In the bearish case, </a:t>
            </a:r>
            <a:r>
              <a:rPr sz="1700" b="1" i="0">
                <a:solidFill>
                  <a:srgbClr val="E09B00"/>
                </a:solidFill>
                <a:latin typeface="Arial"/>
              </a:rPr>
              <a:t>(1)</a:t>
            </a:r>
            <a:r>
              <a:rPr sz="1700" b="0" i="0">
                <a:solidFill>
                  <a:srgbClr val="1A1A1A"/>
                </a:solidFill>
                <a:latin typeface="Arial"/>
              </a:rPr>
              <a:t> marks the inside bar, </a:t>
            </a:r>
            <a:r>
              <a:rPr sz="1700" b="1" i="0">
                <a:solidFill>
                  <a:srgbClr val="C62828"/>
                </a:solidFill>
                <a:latin typeface="Arial"/>
              </a:rPr>
              <a:t>(2)</a:t>
            </a:r>
            <a:r>
              <a:rPr sz="1700" b="0" i="0">
                <a:solidFill>
                  <a:srgbClr val="1A1A1A"/>
                </a:solidFill>
                <a:latin typeface="Arial"/>
              </a:rPr>
              <a:t> its false upside breakout, and </a:t>
            </a:r>
            <a:r>
              <a:rPr sz="1700" b="1" i="0">
                <a:solidFill>
                  <a:srgbClr val="1F5FAD"/>
                </a:solidFill>
                <a:latin typeface="Arial"/>
              </a:rPr>
              <a:t>(3)</a:t>
            </a:r>
            <a:r>
              <a:rPr sz="1700" b="0" i="0">
                <a:solidFill>
                  <a:srgbClr val="1A1A1A"/>
                </a:solidFill>
                <a:latin typeface="Arial"/>
              </a:rPr>
              <a:t> the short re-entry below PHP 49.00. Its invented levels are high 52.00, low 49.00 and false high 53.00.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i-1.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144060" y="4249724"/>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012076"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4773980"/>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231843" y="416560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099858"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107215" y="461720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LI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59 of 62</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LI: invented PHP values; the book's drawing is shown separately.</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7.34 shows the bullish Hikkake sequence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60 of 62</a:t>
            </a:r>
          </a:p>
        </p:txBody>
      </p:sp>
      <p:sp>
        <p:nvSpPr>
          <p:cNvPr id="7" name="TextBox 6"/>
          <p:cNvSpPr txBox="1"/>
          <p:nvPr/>
        </p:nvSpPr>
        <p:spPr>
          <a:xfrm>
            <a:off x="777240" y="1965960"/>
            <a:ext cx="50292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inside bar, red </a:t>
            </a:r>
            <a:r>
              <a:rPr sz="2000" b="1" i="0">
                <a:solidFill>
                  <a:srgbClr val="C62828"/>
                </a:solidFill>
                <a:latin typeface="Arial"/>
              </a:rPr>
              <a:t>(2)</a:t>
            </a:r>
            <a:r>
              <a:rPr sz="2000" b="0" i="0">
                <a:solidFill>
                  <a:srgbClr val="1A1A1A"/>
                </a:solidFill>
                <a:latin typeface="Arial"/>
              </a:rPr>
              <a:t> the failed downside breakout, and blue </a:t>
            </a:r>
            <a:r>
              <a:rPr sz="2000" b="1" i="0">
                <a:solidFill>
                  <a:srgbClr val="1F5FAD"/>
                </a:solidFill>
                <a:latin typeface="Arial"/>
              </a:rPr>
              <a:t>(3)</a:t>
            </a:r>
            <a:r>
              <a:rPr sz="2000" b="0" i="0">
                <a:solidFill>
                  <a:srgbClr val="1A1A1A"/>
                </a:solidFill>
                <a:latin typeface="Arial"/>
              </a:rPr>
              <a:t> the re-entry above the inside high.</a:t>
            </a:r>
          </a:p>
          <a:p>
            <a:pPr algn="l">
              <a:lnSpc>
                <a:spcPct val="105000"/>
              </a:lnSpc>
              <a:spcBef>
                <a:spcPts val="0"/>
              </a:spcBef>
              <a:spcAft>
                <a:spcPts val="1100"/>
              </a:spcAft>
            </a:pPr>
            <a:r>
              <a:rPr sz="2000" b="0" i="0">
                <a:solidFill>
                  <a:srgbClr val="1A1A1A"/>
                </a:solidFill>
                <a:latin typeface="Arial"/>
              </a:rPr>
              <a:t>The entry is taken only in the opposite direction and within three bars (Lim, p. 230).</a:t>
            </a:r>
          </a:p>
        </p:txBody>
      </p:sp>
      <p:sp>
        <p:nvSpPr>
          <p:cNvPr id="8" name="Rectangle 7"/>
          <p:cNvSpPr/>
          <p:nvPr/>
        </p:nvSpPr>
        <p:spPr>
          <a:xfrm>
            <a:off x="6764742" y="1810512"/>
            <a:ext cx="4011450"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883614" y="1929384"/>
            <a:ext cx="3773706"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883614" y="1929384"/>
            <a:ext cx="3773706"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157934" y="2203703"/>
            <a:ext cx="322506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7.34</a:t>
            </a:r>
          </a:p>
          <a:p>
            <a:pPr algn="l">
              <a:lnSpc>
                <a:spcPct val="115000"/>
              </a:lnSpc>
              <a:spcBef>
                <a:spcPts val="0"/>
              </a:spcBef>
              <a:spcAft>
                <a:spcPts val="0"/>
              </a:spcAft>
            </a:pPr>
            <a:r>
              <a:rPr sz="1500" b="0" i="0">
                <a:solidFill>
                  <a:srgbClr val="1A1A1A"/>
                </a:solidFill>
                <a:latin typeface="Palatino"/>
              </a:rPr>
              <a:t>The bullish schematic: an inside bar, a failed downside breakout, and the opposite re-entry above the inside high.</a:t>
            </a:r>
          </a:p>
        </p:txBody>
      </p:sp>
      <p:sp>
        <p:nvSpPr>
          <p:cNvPr id="12" name="Rectangle 11"/>
          <p:cNvSpPr/>
          <p:nvPr/>
        </p:nvSpPr>
        <p:spPr>
          <a:xfrm>
            <a:off x="7864778" y="2877433"/>
            <a:ext cx="1207585" cy="1509857"/>
          </a:xfrm>
          <a:prstGeom prst="rect">
            <a:avLst/>
          </a:prstGeom>
          <a:noFill/>
          <a:ln w="44450">
            <a:solidFill>
              <a:srgbClr val="E09B00"/>
            </a:solidFill>
          </a:ln>
        </p:spPr>
        <p:txBody>
          <a:bodyPr rtlCol="0" anchor="ctr"/>
          <a:lstStyle/>
          <a:p>
            <a:pPr algn="ctr"/>
          </a:p>
        </p:txBody>
      </p:sp>
      <p:sp>
        <p:nvSpPr>
          <p:cNvPr id="13" name="Oval 12"/>
          <p:cNvSpPr/>
          <p:nvPr/>
        </p:nvSpPr>
        <p:spPr>
          <a:xfrm>
            <a:off x="8619519" y="3790370"/>
            <a:ext cx="377370" cy="667146"/>
          </a:xfrm>
          <a:prstGeom prst="ellipse">
            <a:avLst/>
          </a:prstGeom>
          <a:noFill/>
          <a:ln w="44450">
            <a:solidFill>
              <a:srgbClr val="C62828"/>
            </a:solidFill>
          </a:ln>
        </p:spPr>
        <p:txBody>
          <a:bodyPr rtlCol="0" anchor="ctr"/>
          <a:lstStyle/>
          <a:p>
            <a:pPr algn="ctr"/>
          </a:p>
        </p:txBody>
      </p:sp>
      <p:cxnSp>
        <p:nvCxnSpPr>
          <p:cNvPr id="14" name="Connector 13"/>
          <p:cNvCxnSpPr/>
          <p:nvPr/>
        </p:nvCxnSpPr>
        <p:spPr>
          <a:xfrm flipV="1">
            <a:off x="9638419" y="2807208"/>
            <a:ext cx="490582" cy="807598"/>
          </a:xfrm>
          <a:prstGeom prst="line">
            <a:avLst/>
          </a:prstGeom>
          <a:ln w="44450">
            <a:solidFill>
              <a:srgbClr val="1F5FAD"/>
            </a:solidFill>
            <a:tailEnd type="triangle" w="med" len="med"/>
          </a:ln>
        </p:spPr>
      </p:cxnSp>
      <p:sp>
        <p:nvSpPr>
          <p:cNvPr id="15" name="Oval 14"/>
          <p:cNvSpPr/>
          <p:nvPr/>
        </p:nvSpPr>
        <p:spPr>
          <a:xfrm>
            <a:off x="7407433" y="254642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143338" y="440740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162238" y="247619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26479" y="5650991"/>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230, Figure 7.34. The crop and marks are for teaching; the worked PHP values are ours, invented.</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bearish Hikkake is the same trap in reverse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61 of 62</a:t>
            </a:r>
          </a:p>
        </p:txBody>
      </p:sp>
      <p:sp>
        <p:nvSpPr>
          <p:cNvPr id="7" name="TextBox 6"/>
          <p:cNvSpPr txBox="1"/>
          <p:nvPr/>
        </p:nvSpPr>
        <p:spPr>
          <a:xfrm>
            <a:off x="777240" y="1965960"/>
            <a:ext cx="50292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inside bar, red </a:t>
            </a:r>
            <a:r>
              <a:rPr sz="2000" b="1" i="0">
                <a:solidFill>
                  <a:srgbClr val="C62828"/>
                </a:solidFill>
                <a:latin typeface="Arial"/>
              </a:rPr>
              <a:t>(2)</a:t>
            </a:r>
            <a:r>
              <a:rPr sz="2000" b="0" i="0">
                <a:solidFill>
                  <a:srgbClr val="1A1A1A"/>
                </a:solidFill>
                <a:latin typeface="Arial"/>
              </a:rPr>
              <a:t> the failed upside breakout, and blue </a:t>
            </a:r>
            <a:r>
              <a:rPr sz="2000" b="1" i="0">
                <a:solidFill>
                  <a:srgbClr val="1F5FAD"/>
                </a:solidFill>
                <a:latin typeface="Arial"/>
              </a:rPr>
              <a:t>(3)</a:t>
            </a:r>
            <a:r>
              <a:rPr sz="2000" b="0" i="0">
                <a:solidFill>
                  <a:srgbClr val="1A1A1A"/>
                </a:solidFill>
                <a:latin typeface="Arial"/>
              </a:rPr>
              <a:t> the re-entry below the inside low.</a:t>
            </a:r>
          </a:p>
          <a:p>
            <a:pPr algn="l">
              <a:lnSpc>
                <a:spcPct val="105000"/>
              </a:lnSpc>
              <a:spcBef>
                <a:spcPts val="0"/>
              </a:spcBef>
              <a:spcAft>
                <a:spcPts val="1100"/>
              </a:spcAft>
            </a:pPr>
            <a:r>
              <a:rPr sz="2000" b="0" i="0">
                <a:solidFill>
                  <a:srgbClr val="1A1A1A"/>
                </a:solidFill>
                <a:latin typeface="Arial"/>
              </a:rPr>
              <a:t>The failed upside direction is not the entry. The bearish entry is the opposite re-entry within three bars (Lim, p. 230).</a:t>
            </a:r>
          </a:p>
        </p:txBody>
      </p:sp>
      <p:sp>
        <p:nvSpPr>
          <p:cNvPr id="8" name="Rectangle 7"/>
          <p:cNvSpPr/>
          <p:nvPr/>
        </p:nvSpPr>
        <p:spPr>
          <a:xfrm>
            <a:off x="6764742" y="1810512"/>
            <a:ext cx="4011450"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883614" y="1929384"/>
            <a:ext cx="3773706"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883614" y="1929384"/>
            <a:ext cx="3773706"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157934" y="2203703"/>
            <a:ext cx="322506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7.34</a:t>
            </a:r>
          </a:p>
          <a:p>
            <a:pPr algn="l">
              <a:lnSpc>
                <a:spcPct val="115000"/>
              </a:lnSpc>
              <a:spcBef>
                <a:spcPts val="0"/>
              </a:spcBef>
              <a:spcAft>
                <a:spcPts val="0"/>
              </a:spcAft>
            </a:pPr>
            <a:r>
              <a:rPr sz="1500" b="0" i="0">
                <a:solidFill>
                  <a:srgbClr val="1A1A1A"/>
                </a:solidFill>
                <a:latin typeface="Palatino"/>
              </a:rPr>
              <a:t>The bearish schematic: an inside bar, a failed upside breakout, and the opposite re-entry below the inside low.</a:t>
            </a:r>
          </a:p>
        </p:txBody>
      </p:sp>
      <p:sp>
        <p:nvSpPr>
          <p:cNvPr id="12" name="Rectangle 11"/>
          <p:cNvSpPr/>
          <p:nvPr/>
        </p:nvSpPr>
        <p:spPr>
          <a:xfrm>
            <a:off x="7260985" y="2877433"/>
            <a:ext cx="905689" cy="1509857"/>
          </a:xfrm>
          <a:prstGeom prst="rect">
            <a:avLst/>
          </a:prstGeom>
          <a:noFill/>
          <a:ln w="44450">
            <a:solidFill>
              <a:srgbClr val="E09B00"/>
            </a:solidFill>
          </a:ln>
        </p:spPr>
        <p:txBody>
          <a:bodyPr rtlCol="0" anchor="ctr"/>
          <a:lstStyle/>
          <a:p>
            <a:pPr algn="ctr"/>
          </a:p>
        </p:txBody>
      </p:sp>
      <p:sp>
        <p:nvSpPr>
          <p:cNvPr id="13" name="Oval 12"/>
          <p:cNvSpPr/>
          <p:nvPr/>
        </p:nvSpPr>
        <p:spPr>
          <a:xfrm>
            <a:off x="8242148" y="2877433"/>
            <a:ext cx="905689" cy="702259"/>
          </a:xfrm>
          <a:prstGeom prst="ellipse">
            <a:avLst/>
          </a:prstGeom>
          <a:noFill/>
          <a:ln w="44450">
            <a:solidFill>
              <a:srgbClr val="C62828"/>
            </a:solidFill>
          </a:ln>
        </p:spPr>
        <p:txBody>
          <a:bodyPr rtlCol="0" anchor="ctr"/>
          <a:lstStyle/>
          <a:p>
            <a:pPr algn="ctr"/>
          </a:p>
        </p:txBody>
      </p:sp>
      <p:cxnSp>
        <p:nvCxnSpPr>
          <p:cNvPr id="14" name="Connector 13"/>
          <p:cNvCxnSpPr/>
          <p:nvPr/>
        </p:nvCxnSpPr>
        <p:spPr>
          <a:xfrm>
            <a:off x="8921415" y="3755257"/>
            <a:ext cx="1056638" cy="702260"/>
          </a:xfrm>
          <a:prstGeom prst="line">
            <a:avLst/>
          </a:prstGeom>
          <a:ln w="44450">
            <a:solidFill>
              <a:srgbClr val="1F5FAD"/>
            </a:solidFill>
            <a:tailEnd type="triangle" w="med" len="med"/>
          </a:ln>
        </p:spPr>
      </p:cxnSp>
      <p:sp>
        <p:nvSpPr>
          <p:cNvPr id="15" name="Oval 14"/>
          <p:cNvSpPr/>
          <p:nvPr/>
        </p:nvSpPr>
        <p:spPr>
          <a:xfrm>
            <a:off x="6879114" y="254642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218812" y="254642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162238" y="458297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26479" y="5650991"/>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230, Figure 7.34. The crop and marks are for teaching; the worked PHP values are ours, invented.</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7.35 places a bullish Hikkake at a bottom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62 of 62</a:t>
            </a:r>
          </a:p>
        </p:txBody>
      </p:sp>
      <p:sp>
        <p:nvSpPr>
          <p:cNvPr id="7" name="TextBox 6"/>
          <p:cNvSpPr txBox="1"/>
          <p:nvPr/>
        </p:nvSpPr>
        <p:spPr>
          <a:xfrm>
            <a:off x="777240" y="1965960"/>
            <a:ext cx="4983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Hikkake formation at the channel bottom, red </a:t>
            </a:r>
            <a:r>
              <a:rPr sz="2000" b="1" i="0">
                <a:solidFill>
                  <a:srgbClr val="C62828"/>
                </a:solidFill>
                <a:latin typeface="Arial"/>
              </a:rPr>
              <a:t>(2)</a:t>
            </a:r>
            <a:r>
              <a:rPr sz="2000" b="0" i="0">
                <a:solidFill>
                  <a:srgbClr val="1A1A1A"/>
                </a:solidFill>
                <a:latin typeface="Arial"/>
              </a:rPr>
              <a:t> its failed downside breakout, and blue </a:t>
            </a:r>
            <a:r>
              <a:rPr sz="2000" b="1" i="0">
                <a:solidFill>
                  <a:srgbClr val="1F5FAD"/>
                </a:solidFill>
                <a:latin typeface="Arial"/>
              </a:rPr>
              <a:t>(3)</a:t>
            </a:r>
            <a:r>
              <a:rPr sz="2000" b="0" i="0">
                <a:solidFill>
                  <a:srgbClr val="1A1A1A"/>
                </a:solidFill>
                <a:latin typeface="Arial"/>
              </a:rPr>
              <a:t> the upside re-entry.</a:t>
            </a:r>
          </a:p>
          <a:p>
            <a:pPr algn="l">
              <a:lnSpc>
                <a:spcPct val="105000"/>
              </a:lnSpc>
              <a:spcBef>
                <a:spcPts val="0"/>
              </a:spcBef>
              <a:spcAft>
                <a:spcPts val="1100"/>
              </a:spcAft>
            </a:pPr>
            <a:r>
              <a:rPr sz="2000" b="0" i="0">
                <a:solidFill>
                  <a:srgbClr val="1A1A1A"/>
                </a:solidFill>
                <a:latin typeface="Arial"/>
              </a:rPr>
              <a:t>The re-entry is the signal described by the book. The indicator panels are shown by Lim, but this slide does not interpret their formulas.</a:t>
            </a:r>
          </a:p>
        </p:txBody>
      </p:sp>
      <p:sp>
        <p:nvSpPr>
          <p:cNvPr id="8" name="Rectangle 7"/>
          <p:cNvSpPr/>
          <p:nvPr/>
        </p:nvSpPr>
        <p:spPr>
          <a:xfrm>
            <a:off x="6500055" y="1810512"/>
            <a:ext cx="4495104"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618927" y="1929384"/>
            <a:ext cx="4257360"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618927" y="1929384"/>
            <a:ext cx="4257360"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893247" y="2203703"/>
            <a:ext cx="3708720"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7.35</a:t>
            </a:r>
          </a:p>
          <a:p>
            <a:pPr algn="l">
              <a:lnSpc>
                <a:spcPct val="115000"/>
              </a:lnSpc>
              <a:spcBef>
                <a:spcPts val="0"/>
              </a:spcBef>
              <a:spcAft>
                <a:spcPts val="0"/>
              </a:spcAft>
            </a:pPr>
            <a:r>
              <a:rPr sz="1500" b="0" i="0">
                <a:solidFill>
                  <a:srgbClr val="1A1A1A"/>
                </a:solidFill>
                <a:latin typeface="Palatino"/>
              </a:rPr>
              <a:t>iShares Emerging Markets daily chart. A bullish Hikkake forms at a linear regression channel bottom.</a:t>
            </a:r>
          </a:p>
        </p:txBody>
      </p:sp>
      <p:sp>
        <p:nvSpPr>
          <p:cNvPr id="12" name="Rectangle 11"/>
          <p:cNvSpPr/>
          <p:nvPr/>
        </p:nvSpPr>
        <p:spPr>
          <a:xfrm>
            <a:off x="8407018" y="3404128"/>
            <a:ext cx="340588" cy="491581"/>
          </a:xfrm>
          <a:prstGeom prst="rect">
            <a:avLst/>
          </a:prstGeom>
          <a:noFill/>
          <a:ln w="44450">
            <a:solidFill>
              <a:srgbClr val="E09B00"/>
            </a:solidFill>
          </a:ln>
        </p:spPr>
        <p:txBody>
          <a:bodyPr rtlCol="0" anchor="ctr"/>
          <a:lstStyle/>
          <a:p>
            <a:pPr algn="ctr"/>
          </a:p>
        </p:txBody>
      </p:sp>
      <p:sp>
        <p:nvSpPr>
          <p:cNvPr id="13" name="Oval 12"/>
          <p:cNvSpPr/>
          <p:nvPr/>
        </p:nvSpPr>
        <p:spPr>
          <a:xfrm>
            <a:off x="8619886" y="3755257"/>
            <a:ext cx="212868" cy="386242"/>
          </a:xfrm>
          <a:prstGeom prst="ellipse">
            <a:avLst/>
          </a:prstGeom>
          <a:noFill/>
          <a:ln w="44450">
            <a:solidFill>
              <a:srgbClr val="C62828"/>
            </a:solidFill>
          </a:ln>
        </p:spPr>
        <p:txBody>
          <a:bodyPr rtlCol="0" anchor="ctr"/>
          <a:lstStyle/>
          <a:p>
            <a:pPr algn="ctr"/>
          </a:p>
        </p:txBody>
      </p:sp>
      <p:cxnSp>
        <p:nvCxnSpPr>
          <p:cNvPr id="14" name="Connector 13"/>
          <p:cNvCxnSpPr/>
          <p:nvPr/>
        </p:nvCxnSpPr>
        <p:spPr>
          <a:xfrm flipV="1">
            <a:off x="8832754" y="3263676"/>
            <a:ext cx="255442" cy="702259"/>
          </a:xfrm>
          <a:prstGeom prst="line">
            <a:avLst/>
          </a:prstGeom>
          <a:ln w="44450">
            <a:solidFill>
              <a:srgbClr val="1F5FAD"/>
            </a:solidFill>
            <a:tailEnd type="triangle" w="med" len="med"/>
          </a:ln>
        </p:spPr>
      </p:cxnSp>
      <p:sp>
        <p:nvSpPr>
          <p:cNvPr id="15" name="Oval 14"/>
          <p:cNvSpPr/>
          <p:nvPr/>
        </p:nvSpPr>
        <p:spPr>
          <a:xfrm>
            <a:off x="8038702" y="3178454"/>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847601" y="409139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103042" y="2967776"/>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080759" y="5650991"/>
            <a:ext cx="5333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230, Figure 7.35. The crop and marks are for teaching; the worked PHP values are ours, invented.</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28 OF 30</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Hikkake example</a:t>
            </a:r>
          </a:p>
        </p:txBody>
      </p:sp>
      <p:sp>
        <p:nvSpPr>
          <p:cNvPr id="6" name="Rectangle 5"/>
          <p:cNvSpPr/>
          <p:nvPr/>
        </p:nvSpPr>
        <p:spPr>
          <a:xfrm>
            <a:off x="777240" y="1207008"/>
            <a:ext cx="498348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2628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2628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Within how many bars must the opposite Hikkake re-entry occur?</a:t>
            </a:r>
          </a:p>
        </p:txBody>
      </p:sp>
      <p:sp>
        <p:nvSpPr>
          <p:cNvPr id="9" name="TextBox 8"/>
          <p:cNvSpPr txBox="1"/>
          <p:nvPr/>
        </p:nvSpPr>
        <p:spPr>
          <a:xfrm>
            <a:off x="1005840" y="2069338"/>
            <a:ext cx="452628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One bar</a:t>
            </a:r>
          </a:p>
          <a:p>
            <a:pPr algn="l">
              <a:lnSpc>
                <a:spcPct val="105000"/>
              </a:lnSpc>
              <a:spcBef>
                <a:spcPts val="0"/>
              </a:spcBef>
              <a:spcAft>
                <a:spcPts val="200"/>
              </a:spcAft>
            </a:pPr>
            <a:r>
              <a:rPr sz="1700" b="0" i="0">
                <a:solidFill>
                  <a:srgbClr val="FFFFFF"/>
                </a:solidFill>
                <a:latin typeface="Arial"/>
              </a:rPr>
              <a:t>B.  Three bars</a:t>
            </a:r>
          </a:p>
          <a:p>
            <a:pPr algn="l">
              <a:lnSpc>
                <a:spcPct val="105000"/>
              </a:lnSpc>
              <a:spcBef>
                <a:spcPts val="0"/>
              </a:spcBef>
              <a:spcAft>
                <a:spcPts val="200"/>
              </a:spcAft>
            </a:pPr>
            <a:r>
              <a:rPr sz="1700" b="0" i="0">
                <a:solidFill>
                  <a:srgbClr val="FFFFFF"/>
                </a:solidFill>
                <a:latin typeface="Arial"/>
              </a:rPr>
              <a:t>C.  Eight bars</a:t>
            </a:r>
          </a:p>
          <a:p>
            <a:pPr algn="l">
              <a:lnSpc>
                <a:spcPct val="105000"/>
              </a:lnSpc>
              <a:spcBef>
                <a:spcPts val="0"/>
              </a:spcBef>
              <a:spcAft>
                <a:spcPts val="200"/>
              </a:spcAft>
            </a:pPr>
            <a:r>
              <a:rPr sz="1700" b="0" i="0">
                <a:solidFill>
                  <a:srgbClr val="FFFFFF"/>
                </a:solidFill>
                <a:latin typeface="Arial"/>
              </a:rPr>
              <a:t>D.  Ten bars</a:t>
            </a:r>
          </a:p>
        </p:txBody>
      </p:sp>
      <p:sp>
        <p:nvSpPr>
          <p:cNvPr id="10" name="Rectangle 9"/>
          <p:cNvSpPr/>
          <p:nvPr/>
        </p:nvSpPr>
        <p:spPr>
          <a:xfrm>
            <a:off x="777240" y="3336798"/>
            <a:ext cx="498348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2628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2628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direction is taken after the initial Hikkake failure?</a:t>
            </a:r>
          </a:p>
        </p:txBody>
      </p:sp>
      <p:sp>
        <p:nvSpPr>
          <p:cNvPr id="13" name="TextBox 12"/>
          <p:cNvSpPr txBox="1"/>
          <p:nvPr/>
        </p:nvSpPr>
        <p:spPr>
          <a:xfrm>
            <a:off x="1005840" y="4199128"/>
            <a:ext cx="452628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The failed direction</a:t>
            </a:r>
          </a:p>
          <a:p>
            <a:pPr algn="l">
              <a:lnSpc>
                <a:spcPct val="105000"/>
              </a:lnSpc>
              <a:spcBef>
                <a:spcPts val="0"/>
              </a:spcBef>
              <a:spcAft>
                <a:spcPts val="200"/>
              </a:spcAft>
            </a:pPr>
            <a:r>
              <a:rPr sz="1700" b="0" i="0">
                <a:solidFill>
                  <a:srgbClr val="FFFFFF"/>
                </a:solidFill>
                <a:latin typeface="Arial"/>
              </a:rPr>
              <a:t>B.  No direction</a:t>
            </a:r>
          </a:p>
          <a:p>
            <a:pPr algn="l">
              <a:lnSpc>
                <a:spcPct val="105000"/>
              </a:lnSpc>
              <a:spcBef>
                <a:spcPts val="0"/>
              </a:spcBef>
              <a:spcAft>
                <a:spcPts val="200"/>
              </a:spcAft>
            </a:pPr>
            <a:r>
              <a:rPr sz="1700" b="0" i="0">
                <a:solidFill>
                  <a:srgbClr val="FFFFFF"/>
                </a:solidFill>
                <a:latin typeface="Arial"/>
              </a:rPr>
              <a:t>C.  The opposite direction</a:t>
            </a:r>
          </a:p>
          <a:p>
            <a:pPr algn="l">
              <a:lnSpc>
                <a:spcPct val="105000"/>
              </a:lnSpc>
              <a:spcBef>
                <a:spcPts val="0"/>
              </a:spcBef>
              <a:spcAft>
                <a:spcPts val="200"/>
              </a:spcAft>
            </a:pPr>
            <a:r>
              <a:rPr sz="1700" b="0" i="0">
                <a:solidFill>
                  <a:srgbClr val="FFFFFF"/>
                </a:solidFill>
                <a:latin typeface="Arial"/>
              </a:rPr>
              <a:t>D.  Only the trend direction</a:t>
            </a:r>
          </a:p>
        </p:txBody>
      </p:sp>
      <p:sp>
        <p:nvSpPr>
          <p:cNvPr id="14" name="Rectangle 13"/>
          <p:cNvSpPr/>
          <p:nvPr/>
        </p:nvSpPr>
        <p:spPr>
          <a:xfrm>
            <a:off x="6134188" y="1207008"/>
            <a:ext cx="5226838"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53060" y="1325880"/>
            <a:ext cx="4989094"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53060" y="1325880"/>
            <a:ext cx="4989094"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27380" y="1600200"/>
            <a:ext cx="4440454"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7.35</a:t>
            </a:r>
          </a:p>
          <a:p>
            <a:pPr algn="l">
              <a:lnSpc>
                <a:spcPct val="115000"/>
              </a:lnSpc>
              <a:spcBef>
                <a:spcPts val="0"/>
              </a:spcBef>
              <a:spcAft>
                <a:spcPts val="0"/>
              </a:spcAft>
            </a:pPr>
            <a:r>
              <a:rPr sz="1500" b="0" i="0">
                <a:solidFill>
                  <a:srgbClr val="1A1A1A"/>
                </a:solidFill>
                <a:latin typeface="Palatino"/>
              </a:rPr>
              <a:t>iShares Emerging Markets daily chart. A bullish Hikkake forms at a linear regression channel bottom.</a:t>
            </a:r>
          </a:p>
        </p:txBody>
      </p:sp>
      <p:sp>
        <p:nvSpPr>
          <p:cNvPr id="18" name="Rectangle 17"/>
          <p:cNvSpPr/>
          <p:nvPr/>
        </p:nvSpPr>
        <p:spPr>
          <a:xfrm>
            <a:off x="8348479" y="3054096"/>
            <a:ext cx="399127" cy="576072"/>
          </a:xfrm>
          <a:prstGeom prst="rect">
            <a:avLst/>
          </a:prstGeom>
          <a:noFill/>
          <a:ln w="44450">
            <a:solidFill>
              <a:srgbClr val="E09B00"/>
            </a:solidFill>
          </a:ln>
        </p:spPr>
        <p:txBody>
          <a:bodyPr rtlCol="0" anchor="ctr"/>
          <a:lstStyle/>
          <a:p>
            <a:pPr algn="ctr"/>
          </a:p>
        </p:txBody>
      </p:sp>
      <p:sp>
        <p:nvSpPr>
          <p:cNvPr id="19" name="Oval 18"/>
          <p:cNvSpPr/>
          <p:nvPr/>
        </p:nvSpPr>
        <p:spPr>
          <a:xfrm>
            <a:off x="8597934" y="3465576"/>
            <a:ext cx="249454" cy="452627"/>
          </a:xfrm>
          <a:prstGeom prst="ellipse">
            <a:avLst/>
          </a:prstGeom>
          <a:noFill/>
          <a:ln w="44450">
            <a:solidFill>
              <a:srgbClr val="C62828"/>
            </a:solidFill>
          </a:ln>
        </p:spPr>
        <p:txBody>
          <a:bodyPr rtlCol="0" anchor="ctr"/>
          <a:lstStyle/>
          <a:p>
            <a:pPr algn="ctr"/>
          </a:p>
        </p:txBody>
      </p:sp>
      <p:cxnSp>
        <p:nvCxnSpPr>
          <p:cNvPr id="20" name="Connector 19"/>
          <p:cNvCxnSpPr/>
          <p:nvPr/>
        </p:nvCxnSpPr>
        <p:spPr>
          <a:xfrm flipV="1">
            <a:off x="8847389" y="2889504"/>
            <a:ext cx="299346" cy="822960"/>
          </a:xfrm>
          <a:prstGeom prst="line">
            <a:avLst/>
          </a:prstGeom>
          <a:ln w="44450">
            <a:solidFill>
              <a:srgbClr val="1F5FAD"/>
            </a:solidFill>
            <a:tailEnd type="triangle" w="med" len="med"/>
          </a:ln>
        </p:spPr>
      </p:cxnSp>
      <p:sp>
        <p:nvSpPr>
          <p:cNvPr id="21" name="Oval 20"/>
          <p:cNvSpPr/>
          <p:nvPr/>
        </p:nvSpPr>
        <p:spPr>
          <a:xfrm>
            <a:off x="7943577" y="281635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8891505" y="388620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190850" y="2569464"/>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080759" y="5650992"/>
            <a:ext cx="5333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7.35 -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28</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Hikkake example</a:t>
            </a:r>
          </a:p>
        </p:txBody>
      </p:sp>
      <p:sp>
        <p:nvSpPr>
          <p:cNvPr id="6" name="Rectangle 5"/>
          <p:cNvSpPr/>
          <p:nvPr/>
        </p:nvSpPr>
        <p:spPr>
          <a:xfrm>
            <a:off x="777240" y="1207008"/>
            <a:ext cx="4983480" cy="226504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26504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3484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Within how many bars must the opposite Hikkake re-entry occur?</a:t>
            </a:r>
          </a:p>
        </p:txBody>
      </p:sp>
      <p:sp>
        <p:nvSpPr>
          <p:cNvPr id="9" name="TextBox 8"/>
          <p:cNvSpPr txBox="1"/>
          <p:nvPr/>
        </p:nvSpPr>
        <p:spPr>
          <a:xfrm>
            <a:off x="1097280" y="2069338"/>
            <a:ext cx="4434840" cy="1402715"/>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Three bars</a:t>
            </a:r>
          </a:p>
          <a:p>
            <a:pPr algn="l">
              <a:lnSpc>
                <a:spcPct val="115000"/>
              </a:lnSpc>
              <a:spcBef>
                <a:spcPts val="500"/>
              </a:spcBef>
              <a:spcAft>
                <a:spcPts val="0"/>
              </a:spcAft>
            </a:pPr>
            <a:r>
              <a:rPr sz="1700" b="0" i="0">
                <a:solidFill>
                  <a:srgbClr val="1A1A1A"/>
                </a:solidFill>
                <a:latin typeface="Arial"/>
              </a:rPr>
              <a:t>Lim says the breakout must occur within three bars of the initial failed breakout (p. 230).</a:t>
            </a:r>
          </a:p>
        </p:txBody>
      </p:sp>
      <p:sp>
        <p:nvSpPr>
          <p:cNvPr id="10" name="Rectangle 9"/>
          <p:cNvSpPr/>
          <p:nvPr/>
        </p:nvSpPr>
        <p:spPr>
          <a:xfrm>
            <a:off x="777240" y="3654933"/>
            <a:ext cx="4983480" cy="201675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654933"/>
            <a:ext cx="91440" cy="201675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837813"/>
            <a:ext cx="443484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Which direction is taken after the initial Hikkake failure?</a:t>
            </a:r>
          </a:p>
        </p:txBody>
      </p:sp>
      <p:sp>
        <p:nvSpPr>
          <p:cNvPr id="13" name="TextBox 12"/>
          <p:cNvSpPr txBox="1"/>
          <p:nvPr/>
        </p:nvSpPr>
        <p:spPr>
          <a:xfrm>
            <a:off x="1097280" y="4517263"/>
            <a:ext cx="443484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The opposite direction</a:t>
            </a:r>
          </a:p>
          <a:p>
            <a:pPr algn="l">
              <a:lnSpc>
                <a:spcPct val="115000"/>
              </a:lnSpc>
              <a:spcBef>
                <a:spcPts val="500"/>
              </a:spcBef>
              <a:spcAft>
                <a:spcPts val="0"/>
              </a:spcAft>
            </a:pPr>
            <a:r>
              <a:rPr sz="1700" b="0" i="0">
                <a:solidFill>
                  <a:srgbClr val="1A1A1A"/>
                </a:solidFill>
                <a:latin typeface="Arial"/>
              </a:rPr>
              <a:t>Hikkake takes the opposite re-entry after the inside-bar breakout fails (p. 230).</a:t>
            </a:r>
          </a:p>
        </p:txBody>
      </p:sp>
      <p:sp>
        <p:nvSpPr>
          <p:cNvPr id="14" name="Rectangle 13"/>
          <p:cNvSpPr/>
          <p:nvPr/>
        </p:nvSpPr>
        <p:spPr>
          <a:xfrm>
            <a:off x="6134188" y="1207008"/>
            <a:ext cx="5226838"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53060" y="1325880"/>
            <a:ext cx="4989094"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53060" y="1325880"/>
            <a:ext cx="4989094"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27380" y="1600200"/>
            <a:ext cx="4440454"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7.35</a:t>
            </a:r>
          </a:p>
          <a:p>
            <a:pPr algn="l">
              <a:lnSpc>
                <a:spcPct val="115000"/>
              </a:lnSpc>
              <a:spcBef>
                <a:spcPts val="0"/>
              </a:spcBef>
              <a:spcAft>
                <a:spcPts val="0"/>
              </a:spcAft>
            </a:pPr>
            <a:r>
              <a:rPr sz="1500" b="0" i="0">
                <a:solidFill>
                  <a:srgbClr val="1A1A1A"/>
                </a:solidFill>
                <a:latin typeface="Palatino"/>
              </a:rPr>
              <a:t>iShares Emerging Markets daily chart. A bullish Hikkake forms at a linear regression channel bottom.</a:t>
            </a:r>
          </a:p>
        </p:txBody>
      </p:sp>
      <p:sp>
        <p:nvSpPr>
          <p:cNvPr id="18" name="Rectangle 17"/>
          <p:cNvSpPr/>
          <p:nvPr/>
        </p:nvSpPr>
        <p:spPr>
          <a:xfrm>
            <a:off x="8348479" y="3054096"/>
            <a:ext cx="399127" cy="576072"/>
          </a:xfrm>
          <a:prstGeom prst="rect">
            <a:avLst/>
          </a:prstGeom>
          <a:noFill/>
          <a:ln w="44450">
            <a:solidFill>
              <a:srgbClr val="E09B00"/>
            </a:solidFill>
          </a:ln>
        </p:spPr>
        <p:txBody>
          <a:bodyPr rtlCol="0" anchor="ctr"/>
          <a:lstStyle/>
          <a:p>
            <a:pPr algn="ctr"/>
          </a:p>
        </p:txBody>
      </p:sp>
      <p:sp>
        <p:nvSpPr>
          <p:cNvPr id="19" name="Oval 18"/>
          <p:cNvSpPr/>
          <p:nvPr/>
        </p:nvSpPr>
        <p:spPr>
          <a:xfrm>
            <a:off x="8597934" y="3465576"/>
            <a:ext cx="249454" cy="452627"/>
          </a:xfrm>
          <a:prstGeom prst="ellipse">
            <a:avLst/>
          </a:prstGeom>
          <a:noFill/>
          <a:ln w="44450">
            <a:solidFill>
              <a:srgbClr val="C62828"/>
            </a:solidFill>
          </a:ln>
        </p:spPr>
        <p:txBody>
          <a:bodyPr rtlCol="0" anchor="ctr"/>
          <a:lstStyle/>
          <a:p>
            <a:pPr algn="ctr"/>
          </a:p>
        </p:txBody>
      </p:sp>
      <p:cxnSp>
        <p:nvCxnSpPr>
          <p:cNvPr id="20" name="Connector 19"/>
          <p:cNvCxnSpPr/>
          <p:nvPr/>
        </p:nvCxnSpPr>
        <p:spPr>
          <a:xfrm flipV="1">
            <a:off x="8847389" y="2889504"/>
            <a:ext cx="299346" cy="822960"/>
          </a:xfrm>
          <a:prstGeom prst="line">
            <a:avLst/>
          </a:prstGeom>
          <a:ln w="44450">
            <a:solidFill>
              <a:srgbClr val="1F5FAD"/>
            </a:solidFill>
            <a:tailEnd type="triangle" w="med" len="med"/>
          </a:ln>
        </p:spPr>
      </p:cxnSp>
      <p:sp>
        <p:nvSpPr>
          <p:cNvPr id="21" name="Oval 20"/>
          <p:cNvSpPr/>
          <p:nvPr/>
        </p:nvSpPr>
        <p:spPr>
          <a:xfrm>
            <a:off x="7943577" y="281635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8891505" y="388620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190850" y="2569464"/>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080759" y="5650992"/>
            <a:ext cx="5333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7.35 -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28</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29 OF 30</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false breakouts and Hikkake</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After a false upside breakout, the bearish entry is:</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At the new high</a:t>
            </a:r>
          </a:p>
          <a:p>
            <a:pPr algn="l">
              <a:lnSpc>
                <a:spcPct val="105000"/>
              </a:lnSpc>
              <a:spcBef>
                <a:spcPts val="0"/>
              </a:spcBef>
              <a:spcAft>
                <a:spcPts val="200"/>
              </a:spcAft>
            </a:pPr>
            <a:r>
              <a:rPr sz="1700" b="0" i="0">
                <a:solidFill>
                  <a:srgbClr val="FFFFFF"/>
                </a:solidFill>
                <a:latin typeface="Arial"/>
              </a:rPr>
              <a:t>B.  Above support</a:t>
            </a:r>
          </a:p>
          <a:p>
            <a:pPr algn="l">
              <a:lnSpc>
                <a:spcPct val="105000"/>
              </a:lnSpc>
              <a:spcBef>
                <a:spcPts val="0"/>
              </a:spcBef>
              <a:spcAft>
                <a:spcPts val="200"/>
              </a:spcAft>
            </a:pPr>
            <a:r>
              <a:rPr sz="1700" b="0" i="0">
                <a:solidFill>
                  <a:srgbClr val="FFFFFF"/>
                </a:solidFill>
                <a:latin typeface="Arial"/>
              </a:rPr>
              <a:t>C.  Only after a gap down</a:t>
            </a:r>
          </a:p>
          <a:p>
            <a:pPr algn="l">
              <a:lnSpc>
                <a:spcPct val="105000"/>
              </a:lnSpc>
              <a:spcBef>
                <a:spcPts val="0"/>
              </a:spcBef>
              <a:spcAft>
                <a:spcPts val="200"/>
              </a:spcAft>
            </a:pPr>
            <a:r>
              <a:rPr sz="1700" b="0" i="0">
                <a:solidFill>
                  <a:srgbClr val="FFFFFF"/>
                </a:solidFill>
                <a:latin typeface="Arial"/>
              </a:rPr>
              <a:t>D.  At a close below resistance</a:t>
            </a:r>
          </a:p>
        </p:txBody>
      </p:sp>
      <p:sp>
        <p:nvSpPr>
          <p:cNvPr id="10" name="Rectangle 9"/>
          <p:cNvSpPr/>
          <p:nvPr/>
        </p:nvSpPr>
        <p:spPr>
          <a:xfrm>
            <a:off x="777240" y="3336798"/>
            <a:ext cx="50292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Hikkake opposite re-entry must occur within:</a:t>
            </a:r>
          </a:p>
        </p:txBody>
      </p:sp>
      <p:sp>
        <p:nvSpPr>
          <p:cNvPr id="13" name="TextBox 12"/>
          <p:cNvSpPr txBox="1"/>
          <p:nvPr/>
        </p:nvSpPr>
        <p:spPr>
          <a:xfrm>
            <a:off x="1005840" y="419912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One bar</a:t>
            </a:r>
          </a:p>
          <a:p>
            <a:pPr algn="l">
              <a:lnSpc>
                <a:spcPct val="105000"/>
              </a:lnSpc>
              <a:spcBef>
                <a:spcPts val="0"/>
              </a:spcBef>
              <a:spcAft>
                <a:spcPts val="200"/>
              </a:spcAft>
            </a:pPr>
            <a:r>
              <a:rPr sz="1700" b="0" i="0">
                <a:solidFill>
                  <a:srgbClr val="FFFFFF"/>
                </a:solidFill>
                <a:latin typeface="Arial"/>
              </a:rPr>
              <a:t>B.  Two bars</a:t>
            </a:r>
          </a:p>
          <a:p>
            <a:pPr algn="l">
              <a:lnSpc>
                <a:spcPct val="105000"/>
              </a:lnSpc>
              <a:spcBef>
                <a:spcPts val="0"/>
              </a:spcBef>
              <a:spcAft>
                <a:spcPts val="200"/>
              </a:spcAft>
            </a:pPr>
            <a:r>
              <a:rPr sz="1700" b="0" i="0">
                <a:solidFill>
                  <a:srgbClr val="FFFFFF"/>
                </a:solidFill>
                <a:latin typeface="Arial"/>
              </a:rPr>
              <a:t>C.  Three bars</a:t>
            </a:r>
          </a:p>
          <a:p>
            <a:pPr algn="l">
              <a:lnSpc>
                <a:spcPct val="105000"/>
              </a:lnSpc>
              <a:spcBef>
                <a:spcPts val="0"/>
              </a:spcBef>
              <a:spcAft>
                <a:spcPts val="200"/>
              </a:spcAft>
            </a:pPr>
            <a:r>
              <a:rPr sz="1700" b="0" i="0">
                <a:solidFill>
                  <a:srgbClr val="FFFFFF"/>
                </a:solidFill>
                <a:latin typeface="Arial"/>
              </a:rPr>
              <a:t>D.  Ten bars</a:t>
            </a:r>
          </a:p>
        </p:txBody>
      </p:sp>
      <p:sp>
        <p:nvSpPr>
          <p:cNvPr id="14" name="Rectangle 13"/>
          <p:cNvSpPr/>
          <p:nvPr/>
        </p:nvSpPr>
        <p:spPr>
          <a:xfrm>
            <a:off x="6440439" y="1207008"/>
            <a:ext cx="4660055"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559311" y="1325880"/>
            <a:ext cx="4422311"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559311" y="1325880"/>
            <a:ext cx="442231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833631" y="1600200"/>
            <a:ext cx="3873671"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7.34</a:t>
            </a:r>
          </a:p>
          <a:p>
            <a:pPr algn="l">
              <a:lnSpc>
                <a:spcPct val="115000"/>
              </a:lnSpc>
              <a:spcBef>
                <a:spcPts val="0"/>
              </a:spcBef>
              <a:spcAft>
                <a:spcPts val="0"/>
              </a:spcAft>
            </a:pPr>
            <a:r>
              <a:rPr sz="1500" b="0" i="0">
                <a:solidFill>
                  <a:srgbClr val="1A1A1A"/>
                </a:solidFill>
                <a:latin typeface="Palatino"/>
              </a:rPr>
              <a:t>The bearish schematic: an inside bar, a failed upside breakout, and the opposite re-entry below the inside low.</a:t>
            </a:r>
          </a:p>
        </p:txBody>
      </p:sp>
      <p:sp>
        <p:nvSpPr>
          <p:cNvPr id="18" name="Rectangle 17"/>
          <p:cNvSpPr/>
          <p:nvPr/>
        </p:nvSpPr>
        <p:spPr>
          <a:xfrm>
            <a:off x="7001542" y="2436876"/>
            <a:ext cx="1061354" cy="1769363"/>
          </a:xfrm>
          <a:prstGeom prst="rect">
            <a:avLst/>
          </a:prstGeom>
          <a:noFill/>
          <a:ln w="44450">
            <a:solidFill>
              <a:srgbClr val="E09B00"/>
            </a:solidFill>
          </a:ln>
        </p:spPr>
        <p:txBody>
          <a:bodyPr rtlCol="0" anchor="ctr"/>
          <a:lstStyle/>
          <a:p>
            <a:pPr algn="ctr"/>
          </a:p>
        </p:txBody>
      </p:sp>
      <p:sp>
        <p:nvSpPr>
          <p:cNvPr id="19" name="Oval 18"/>
          <p:cNvSpPr/>
          <p:nvPr/>
        </p:nvSpPr>
        <p:spPr>
          <a:xfrm>
            <a:off x="8151343" y="2436876"/>
            <a:ext cx="1061354" cy="822959"/>
          </a:xfrm>
          <a:prstGeom prst="ellipse">
            <a:avLst/>
          </a:prstGeom>
          <a:noFill/>
          <a:ln w="44450">
            <a:solidFill>
              <a:srgbClr val="C62828"/>
            </a:solidFill>
          </a:ln>
        </p:spPr>
        <p:txBody>
          <a:bodyPr rtlCol="0" anchor="ctr"/>
          <a:lstStyle/>
          <a:p>
            <a:pPr algn="ctr"/>
          </a:p>
        </p:txBody>
      </p:sp>
      <p:cxnSp>
        <p:nvCxnSpPr>
          <p:cNvPr id="20" name="Connector 19"/>
          <p:cNvCxnSpPr/>
          <p:nvPr/>
        </p:nvCxnSpPr>
        <p:spPr>
          <a:xfrm>
            <a:off x="8947359" y="3465576"/>
            <a:ext cx="1238248" cy="822960"/>
          </a:xfrm>
          <a:prstGeom prst="line">
            <a:avLst/>
          </a:prstGeom>
          <a:ln w="44450">
            <a:solidFill>
              <a:srgbClr val="1F5FAD"/>
            </a:solidFill>
            <a:tailEnd type="triangle" w="med" len="med"/>
          </a:ln>
        </p:spPr>
      </p:cxnSp>
      <p:sp>
        <p:nvSpPr>
          <p:cNvPr id="21" name="Oval 20"/>
          <p:cNvSpPr/>
          <p:nvPr/>
        </p:nvSpPr>
        <p:spPr>
          <a:xfrm>
            <a:off x="6580756" y="207568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322589" y="207568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10428167" y="446227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5650992"/>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7.34 -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29</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false breakouts and Hikkake</a:t>
            </a:r>
          </a:p>
        </p:txBody>
      </p:sp>
      <p:sp>
        <p:nvSpPr>
          <p:cNvPr id="6" name="Rectangle 5"/>
          <p:cNvSpPr/>
          <p:nvPr/>
        </p:nvSpPr>
        <p:spPr>
          <a:xfrm>
            <a:off x="777240" y="1207008"/>
            <a:ext cx="5029200" cy="248412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484120"/>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After a false upside breakout, the bearish entry is:</a:t>
            </a:r>
          </a:p>
        </p:txBody>
      </p:sp>
      <p:sp>
        <p:nvSpPr>
          <p:cNvPr id="9" name="TextBox 8"/>
          <p:cNvSpPr txBox="1"/>
          <p:nvPr/>
        </p:nvSpPr>
        <p:spPr>
          <a:xfrm>
            <a:off x="1097280" y="2069338"/>
            <a:ext cx="4480560" cy="16217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At a close below resistance</a:t>
            </a:r>
          </a:p>
          <a:p>
            <a:pPr algn="l">
              <a:lnSpc>
                <a:spcPct val="115000"/>
              </a:lnSpc>
              <a:spcBef>
                <a:spcPts val="500"/>
              </a:spcBef>
              <a:spcAft>
                <a:spcPts val="0"/>
              </a:spcAft>
            </a:pPr>
            <a:r>
              <a:rPr sz="1700" b="0" i="0">
                <a:solidFill>
                  <a:srgbClr val="1A1A1A"/>
                </a:solidFill>
                <a:latin typeface="Arial"/>
              </a:rPr>
              <a:t>The book says a short is normally initiated when price closes below resistance after the false upside breakout (p. 229).</a:t>
            </a:r>
          </a:p>
        </p:txBody>
      </p:sp>
      <p:sp>
        <p:nvSpPr>
          <p:cNvPr id="10" name="Rectangle 9"/>
          <p:cNvSpPr/>
          <p:nvPr/>
        </p:nvSpPr>
        <p:spPr>
          <a:xfrm>
            <a:off x="777240" y="3874008"/>
            <a:ext cx="5029200" cy="223583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874008"/>
            <a:ext cx="91440" cy="223583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4056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A Hikkake opposite re-entry must occur within:</a:t>
            </a:r>
          </a:p>
        </p:txBody>
      </p:sp>
      <p:sp>
        <p:nvSpPr>
          <p:cNvPr id="13" name="TextBox 12"/>
          <p:cNvSpPr txBox="1"/>
          <p:nvPr/>
        </p:nvSpPr>
        <p:spPr>
          <a:xfrm>
            <a:off x="1097280" y="4736338"/>
            <a:ext cx="4480560" cy="137350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C.  Three bars</a:t>
            </a:r>
          </a:p>
          <a:p>
            <a:pPr algn="l">
              <a:lnSpc>
                <a:spcPct val="115000"/>
              </a:lnSpc>
              <a:spcBef>
                <a:spcPts val="500"/>
              </a:spcBef>
              <a:spcAft>
                <a:spcPts val="0"/>
              </a:spcAft>
            </a:pPr>
            <a:r>
              <a:rPr sz="1700" b="0" i="0">
                <a:solidFill>
                  <a:srgbClr val="1A1A1A"/>
                </a:solidFill>
                <a:latin typeface="Arial"/>
              </a:rPr>
              <a:t>Lim says the breakout must occur within three bars of the initial failed breakout (p. 230).</a:t>
            </a:r>
          </a:p>
        </p:txBody>
      </p:sp>
      <p:sp>
        <p:nvSpPr>
          <p:cNvPr id="14" name="Rectangle 13"/>
          <p:cNvSpPr/>
          <p:nvPr/>
        </p:nvSpPr>
        <p:spPr>
          <a:xfrm>
            <a:off x="6351993" y="1207008"/>
            <a:ext cx="4836948"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470865" y="1325880"/>
            <a:ext cx="4599204"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470865" y="1325880"/>
            <a:ext cx="4599204"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745185" y="1600200"/>
            <a:ext cx="4050564"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7.34</a:t>
            </a:r>
          </a:p>
          <a:p>
            <a:pPr algn="l">
              <a:lnSpc>
                <a:spcPct val="115000"/>
              </a:lnSpc>
              <a:spcBef>
                <a:spcPts val="0"/>
              </a:spcBef>
              <a:spcAft>
                <a:spcPts val="0"/>
              </a:spcAft>
            </a:pPr>
            <a:r>
              <a:rPr sz="1500" b="0" i="0">
                <a:solidFill>
                  <a:srgbClr val="1A1A1A"/>
                </a:solidFill>
                <a:latin typeface="Palatino"/>
              </a:rPr>
              <a:t>The bearish schematic: an inside bar, a failed upside breakout, and the opposite re-entry below the inside low.</a:t>
            </a:r>
          </a:p>
        </p:txBody>
      </p:sp>
      <p:sp>
        <p:nvSpPr>
          <p:cNvPr id="18" name="Rectangle 17"/>
          <p:cNvSpPr/>
          <p:nvPr/>
        </p:nvSpPr>
        <p:spPr>
          <a:xfrm>
            <a:off x="6930785" y="2436876"/>
            <a:ext cx="1103809" cy="1769363"/>
          </a:xfrm>
          <a:prstGeom prst="rect">
            <a:avLst/>
          </a:prstGeom>
          <a:noFill/>
          <a:ln w="44450">
            <a:solidFill>
              <a:srgbClr val="E09B00"/>
            </a:solidFill>
          </a:ln>
        </p:spPr>
        <p:txBody>
          <a:bodyPr rtlCol="0" anchor="ctr"/>
          <a:lstStyle/>
          <a:p>
            <a:pPr algn="ctr"/>
          </a:p>
        </p:txBody>
      </p:sp>
      <p:sp>
        <p:nvSpPr>
          <p:cNvPr id="19" name="Oval 18"/>
          <p:cNvSpPr/>
          <p:nvPr/>
        </p:nvSpPr>
        <p:spPr>
          <a:xfrm>
            <a:off x="8126578" y="2436876"/>
            <a:ext cx="1103809" cy="822959"/>
          </a:xfrm>
          <a:prstGeom prst="ellipse">
            <a:avLst/>
          </a:prstGeom>
          <a:noFill/>
          <a:ln w="44450">
            <a:solidFill>
              <a:srgbClr val="C62828"/>
            </a:solidFill>
          </a:ln>
        </p:spPr>
        <p:txBody>
          <a:bodyPr rtlCol="0" anchor="ctr"/>
          <a:lstStyle/>
          <a:p>
            <a:pPr algn="ctr"/>
          </a:p>
        </p:txBody>
      </p:sp>
      <p:cxnSp>
        <p:nvCxnSpPr>
          <p:cNvPr id="20" name="Connector 19"/>
          <p:cNvCxnSpPr/>
          <p:nvPr/>
        </p:nvCxnSpPr>
        <p:spPr>
          <a:xfrm>
            <a:off x="8954435" y="3465576"/>
            <a:ext cx="1287777" cy="822960"/>
          </a:xfrm>
          <a:prstGeom prst="line">
            <a:avLst/>
          </a:prstGeom>
          <a:ln w="44450">
            <a:solidFill>
              <a:srgbClr val="1F5FAD"/>
            </a:solidFill>
            <a:tailEnd type="triangle" w="med" len="med"/>
          </a:ln>
        </p:spPr>
      </p:cxnSp>
      <p:sp>
        <p:nvSpPr>
          <p:cNvPr id="21" name="Oval 20"/>
          <p:cNvSpPr/>
          <p:nvPr/>
        </p:nvSpPr>
        <p:spPr>
          <a:xfrm>
            <a:off x="6499385" y="207568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350892" y="207568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10500693" y="446227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5650992"/>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7.34 -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29</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Williams' Oops starts with a gap beyond the previous range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An Oops gaps beyond the prior range. Sell-stop triggers below; buy-stop above; stoploss protects at the new extreme. Yesterday's high was PHP 52.00. Today opened PHP 53.00 </a:t>
            </a:r>
            <a:r>
              <a:rPr sz="1700" b="1" i="0">
                <a:solidFill>
                  <a:srgbClr val="E09B00"/>
                </a:solidFill>
                <a:latin typeface="Arial"/>
              </a:rPr>
              <a:t>(1)</a:t>
            </a:r>
            <a:r>
              <a:rPr sz="1700" b="0" i="0">
                <a:solidFill>
                  <a:srgbClr val="1A1A1A"/>
                </a:solidFill>
                <a:latin typeface="Arial"/>
              </a:rPr>
              <a:t>, reached PHP 54.00 </a:t>
            </a:r>
            <a:r>
              <a:rPr sz="1700" b="1" i="0">
                <a:solidFill>
                  <a:srgbClr val="1F5FAD"/>
                </a:solidFill>
                <a:latin typeface="Arial"/>
              </a:rPr>
              <a:t>(3)</a:t>
            </a:r>
            <a:r>
              <a:rPr sz="1700" b="0" i="0">
                <a:solidFill>
                  <a:srgbClr val="1A1A1A"/>
                </a:solidFill>
                <a:latin typeface="Arial"/>
              </a:rPr>
              <a:t>, then placed sell-stop PHP 52.00 </a:t>
            </a:r>
            <a:r>
              <a:rPr sz="1700" b="1" i="0">
                <a:solidFill>
                  <a:srgbClr val="C62828"/>
                </a:solidFill>
                <a:latin typeface="Arial"/>
              </a:rPr>
              <a:t>(2)</a:t>
            </a:r>
            <a:r>
              <a:rPr sz="1700" b="0" i="0">
                <a:solidFill>
                  <a:srgbClr val="1A1A1A"/>
                </a:solidFill>
                <a:latin typeface="Arial"/>
              </a:rPr>
              <a:t>. Above the stoploss, Lim says stop and reverse. He prefers bearish Oops in a downtrend.</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n-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724643" y="3725468"/>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4074972"/>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880091" y="337596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640519" y="346943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67874" y="399084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967874" y="329184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N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 of 13</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N is ours, with invented PHP values to show Lim (2016), p. 231.</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7.36 shows both directions of Williams' Oops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2 of 13</a:t>
            </a:r>
          </a:p>
        </p:txBody>
      </p:sp>
      <p:sp>
        <p:nvSpPr>
          <p:cNvPr id="7" name="TextBox 6"/>
          <p:cNvSpPr txBox="1"/>
          <p:nvPr/>
        </p:nvSpPr>
        <p:spPr>
          <a:xfrm>
            <a:off x="777240" y="1965960"/>
            <a:ext cx="62179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The preceding Williams' Oops slide defined a buy-stop above its level and a stoploss at the new extreme.</a:t>
            </a:r>
          </a:p>
          <a:p>
            <a:pPr algn="l">
              <a:lnSpc>
                <a:spcPct val="105000"/>
              </a:lnSpc>
              <a:spcBef>
                <a:spcPts val="0"/>
              </a:spcBef>
              <a:spcAft>
                <a:spcPts val="1100"/>
              </a:spcAft>
            </a:pPr>
            <a:r>
              <a:rPr sz="1800" b="0" i="0">
                <a:solidFill>
                  <a:srgbClr val="1A1A1A"/>
                </a:solidFill>
                <a:latin typeface="Arial"/>
              </a:rPr>
              <a:t>Left: mark 1 is the gap down, mark 2 the buy-stop at the prior low, and mark 3 the stoploss at the new low. Right: the gap-up converse.</a:t>
            </a:r>
          </a:p>
          <a:p>
            <a:pPr algn="l">
              <a:lnSpc>
                <a:spcPct val="105000"/>
              </a:lnSpc>
              <a:spcBef>
                <a:spcPts val="0"/>
              </a:spcBef>
              <a:spcAft>
                <a:spcPts val="1100"/>
              </a:spcAft>
            </a:pPr>
            <a:r>
              <a:rPr sz="1800" b="0" i="0">
                <a:solidFill>
                  <a:srgbClr val="1A1A1A"/>
                </a:solidFill>
                <a:latin typeface="Arial"/>
              </a:rPr>
              <a:t>Lim says to stop and reverse at the stoploss. Figure 7.36 shows sequence, not result.</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592531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gap direction changes, but the order locations reverse exactly.</a:t>
            </a:r>
          </a:p>
        </p:txBody>
      </p:sp>
      <p:sp>
        <p:nvSpPr>
          <p:cNvPr id="10" name="TextBox 9"/>
          <p:cNvSpPr txBox="1"/>
          <p:nvPr/>
        </p:nvSpPr>
        <p:spPr>
          <a:xfrm>
            <a:off x="777240" y="5603748"/>
            <a:ext cx="621792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Lim (2016), p. 231, Figure 7.36. The marks are for teaching.</a:t>
            </a:r>
          </a:p>
        </p:txBody>
      </p:sp>
      <p:sp>
        <p:nvSpPr>
          <p:cNvPr id="11" name="Rectangle 10"/>
          <p:cNvSpPr/>
          <p:nvPr/>
        </p:nvSpPr>
        <p:spPr>
          <a:xfrm>
            <a:off x="7315199" y="1810512"/>
            <a:ext cx="4190694" cy="2171252"/>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434071" y="1929384"/>
            <a:ext cx="3952950" cy="1933508"/>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7434071" y="1929384"/>
            <a:ext cx="3952950"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7708392" y="2203703"/>
            <a:ext cx="3404310" cy="147630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7.36</a:t>
            </a:r>
          </a:p>
          <a:p>
            <a:pPr algn="l">
              <a:lnSpc>
                <a:spcPct val="115000"/>
              </a:lnSpc>
              <a:spcBef>
                <a:spcPts val="0"/>
              </a:spcBef>
              <a:spcAft>
                <a:spcPts val="0"/>
              </a:spcAft>
            </a:pPr>
            <a:r>
              <a:rPr sz="1100" b="0" i="0">
                <a:solidFill>
                  <a:srgbClr val="1A1A1A"/>
                </a:solidFill>
                <a:latin typeface="Palatino"/>
              </a:rPr>
              <a:t>The book's two Williams' Oops schematics: a gap below the prior range with a buy-stop at the prior low, and a gap above it with a sell-stop at the prior high; each stoploss is at the new extreme.</a:t>
            </a:r>
          </a:p>
        </p:txBody>
      </p:sp>
      <p:cxnSp>
        <p:nvCxnSpPr>
          <p:cNvPr id="15" name="Connector 14"/>
          <p:cNvCxnSpPr/>
          <p:nvPr/>
        </p:nvCxnSpPr>
        <p:spPr>
          <a:xfrm>
            <a:off x="7671249" y="3128159"/>
            <a:ext cx="711531" cy="0"/>
          </a:xfrm>
          <a:prstGeom prst="line">
            <a:avLst/>
          </a:prstGeom>
          <a:ln w="44450">
            <a:solidFill>
              <a:srgbClr val="E09B00"/>
            </a:solidFill>
            <a:tailEnd type="triangle" w="med" len="med"/>
          </a:ln>
        </p:spPr>
      </p:cxnSp>
      <p:cxnSp>
        <p:nvCxnSpPr>
          <p:cNvPr id="16" name="Connector 15"/>
          <p:cNvCxnSpPr/>
          <p:nvPr/>
        </p:nvCxnSpPr>
        <p:spPr>
          <a:xfrm>
            <a:off x="8027014" y="2876803"/>
            <a:ext cx="830120" cy="0"/>
          </a:xfrm>
          <a:prstGeom prst="line">
            <a:avLst/>
          </a:prstGeom>
          <a:ln w="44450">
            <a:solidFill>
              <a:srgbClr val="C62828"/>
            </a:solidFill>
          </a:ln>
        </p:spPr>
      </p:cxnSp>
      <p:cxnSp>
        <p:nvCxnSpPr>
          <p:cNvPr id="17" name="Connector 16"/>
          <p:cNvCxnSpPr/>
          <p:nvPr/>
        </p:nvCxnSpPr>
        <p:spPr>
          <a:xfrm>
            <a:off x="8027014" y="3321510"/>
            <a:ext cx="830120" cy="0"/>
          </a:xfrm>
          <a:prstGeom prst="line">
            <a:avLst/>
          </a:prstGeom>
          <a:ln w="44450">
            <a:solidFill>
              <a:srgbClr val="1F5FAD"/>
            </a:solidFill>
          </a:ln>
        </p:spPr>
      </p:cxnSp>
      <p:sp>
        <p:nvSpPr>
          <p:cNvPr id="18" name="Oval 17"/>
          <p:cNvSpPr/>
          <p:nvPr/>
        </p:nvSpPr>
        <p:spPr>
          <a:xfrm>
            <a:off x="7771266" y="2816983"/>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8996680" y="2604297"/>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9036210" y="3319695"/>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7315199" y="4073204"/>
            <a:ext cx="41906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7.36 -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231, Figure 7.36. The numbered marks are for teaching.</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bullish Oops is the same rule after a gap down</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preceding slide defines buy-stop and stoploss. After a gap down, the bullish Oops reverses the order. Yesterday's low was PHP 48.00. Today opened PHP 47.00 </a:t>
            </a:r>
            <a:r>
              <a:rPr sz="1700" b="1" i="0">
                <a:solidFill>
                  <a:srgbClr val="E09B00"/>
                </a:solidFill>
                <a:latin typeface="Arial"/>
              </a:rPr>
              <a:t>(1)</a:t>
            </a:r>
            <a:r>
              <a:rPr sz="1700" b="0" i="0">
                <a:solidFill>
                  <a:srgbClr val="1A1A1A"/>
                </a:solidFill>
                <a:latin typeface="Arial"/>
              </a:rPr>
              <a:t>, reached PHP 46.00 </a:t>
            </a:r>
            <a:r>
              <a:rPr sz="1700" b="1" i="0">
                <a:solidFill>
                  <a:srgbClr val="1F5FAD"/>
                </a:solidFill>
                <a:latin typeface="Arial"/>
              </a:rPr>
              <a:t>(3)</a:t>
            </a:r>
            <a:r>
              <a:rPr sz="1700" b="0" i="0">
                <a:solidFill>
                  <a:srgbClr val="1A1A1A"/>
                </a:solidFill>
                <a:latin typeface="Arial"/>
              </a:rPr>
              <a:t>, and placed buy-stop PHP 48.00 </a:t>
            </a:r>
            <a:r>
              <a:rPr sz="1700" b="1" i="0">
                <a:solidFill>
                  <a:srgbClr val="C62828"/>
                </a:solidFill>
                <a:latin typeface="Arial"/>
              </a:rPr>
              <a:t>(2)</a:t>
            </a:r>
            <a:r>
              <a:rPr sz="1700" b="0" i="0">
                <a:solidFill>
                  <a:srgbClr val="1A1A1A"/>
                </a:solidFill>
                <a:latin typeface="Arial"/>
              </a:rPr>
              <a:t>. Below the stoploss, Lim says stop and reverse. He prefers bullish Oops in an uptrend.</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v-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724643" y="4555540"/>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4162348"/>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880091" y="494873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640519" y="429950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67874"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967874" y="486460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V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3 of 13</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V is ours, with invented PHP values to show Lim (2016), p. 231.</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7.37 applies the bearish Oops rule to a daily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4 of 13</a:t>
            </a:r>
          </a:p>
        </p:txBody>
      </p:sp>
      <p:sp>
        <p:nvSpPr>
          <p:cNvPr id="7" name="TextBox 6"/>
          <p:cNvSpPr txBox="1"/>
          <p:nvPr/>
        </p:nvSpPr>
        <p:spPr>
          <a:xfrm>
            <a:off x="777240" y="1965960"/>
            <a:ext cx="438912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Figure 7.37 applies the preceding bearish Oops rule to Dynegy. Marks 1, 2, and 3 show the gap, sell-stop, and stop-and-reverse high.</a:t>
            </a:r>
          </a:p>
          <a:p>
            <a:pPr algn="l">
              <a:lnSpc>
                <a:spcPct val="105000"/>
              </a:lnSpc>
              <a:spcBef>
                <a:spcPts val="0"/>
              </a:spcBef>
              <a:spcAft>
                <a:spcPts val="1100"/>
              </a:spcAft>
            </a:pPr>
            <a:r>
              <a:rPr sz="2000" b="0" i="0">
                <a:solidFill>
                  <a:srgbClr val="1A1A1A"/>
                </a:solidFill>
                <a:latin typeface="Arial"/>
              </a:rPr>
              <a:t>That downside path is the book's example, not a promise; Chapter 7 leaves the four candlestick companions undefined.</a:t>
            </a:r>
          </a:p>
        </p:txBody>
      </p:sp>
      <p:sp>
        <p:nvSpPr>
          <p:cNvPr id="8" name="Rectangle 7"/>
          <p:cNvSpPr/>
          <p:nvPr/>
        </p:nvSpPr>
        <p:spPr>
          <a:xfrm>
            <a:off x="5486399" y="1810512"/>
            <a:ext cx="6019494" cy="284338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605271" y="1929384"/>
            <a:ext cx="5781751" cy="2605642"/>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605271" y="1929384"/>
            <a:ext cx="578175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879591" y="2203703"/>
            <a:ext cx="5233111" cy="214844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7.37</a:t>
            </a:r>
          </a:p>
          <a:p>
            <a:pPr algn="l">
              <a:lnSpc>
                <a:spcPct val="115000"/>
              </a:lnSpc>
              <a:spcBef>
                <a:spcPts val="0"/>
              </a:spcBef>
              <a:spcAft>
                <a:spcPts val="0"/>
              </a:spcAft>
            </a:pPr>
            <a:r>
              <a:rPr sz="1500" b="0" i="0">
                <a:solidFill>
                  <a:srgbClr val="1A1A1A"/>
                </a:solidFill>
                <a:latin typeface="Palatino"/>
              </a:rPr>
              <a:t>The book's daily Dynegy chart marked at the bearish Oops opening gap, sell-stop at the prior high, stop-and-reverse buy level, and expected downside move.</a:t>
            </a:r>
          </a:p>
        </p:txBody>
      </p:sp>
      <p:sp>
        <p:nvSpPr>
          <p:cNvPr id="12" name="Oval 11"/>
          <p:cNvSpPr/>
          <p:nvPr/>
        </p:nvSpPr>
        <p:spPr>
          <a:xfrm>
            <a:off x="9854858" y="3362487"/>
            <a:ext cx="317996" cy="338733"/>
          </a:xfrm>
          <a:prstGeom prst="ellipse">
            <a:avLst/>
          </a:prstGeom>
          <a:noFill/>
          <a:ln w="44450">
            <a:solidFill>
              <a:srgbClr val="E09B00"/>
            </a:solidFill>
          </a:ln>
        </p:spPr>
        <p:txBody>
          <a:bodyPr rtlCol="0" anchor="ctr"/>
          <a:lstStyle/>
          <a:p>
            <a:pPr algn="ctr"/>
          </a:p>
        </p:txBody>
      </p:sp>
      <p:cxnSp>
        <p:nvCxnSpPr>
          <p:cNvPr id="13" name="Connector 12"/>
          <p:cNvCxnSpPr/>
          <p:nvPr/>
        </p:nvCxnSpPr>
        <p:spPr>
          <a:xfrm>
            <a:off x="10115037" y="3531854"/>
            <a:ext cx="751628" cy="0"/>
          </a:xfrm>
          <a:prstGeom prst="line">
            <a:avLst/>
          </a:prstGeom>
          <a:ln w="44450">
            <a:solidFill>
              <a:srgbClr val="C62828"/>
            </a:solidFill>
          </a:ln>
        </p:spPr>
      </p:cxnSp>
      <p:cxnSp>
        <p:nvCxnSpPr>
          <p:cNvPr id="14" name="Connector 13"/>
          <p:cNvCxnSpPr/>
          <p:nvPr/>
        </p:nvCxnSpPr>
        <p:spPr>
          <a:xfrm>
            <a:off x="10115037" y="3401571"/>
            <a:ext cx="751628" cy="0"/>
          </a:xfrm>
          <a:prstGeom prst="line">
            <a:avLst/>
          </a:prstGeom>
          <a:ln w="44450">
            <a:solidFill>
              <a:srgbClr val="1F5FAD"/>
            </a:solidFill>
          </a:ln>
        </p:spPr>
      </p:cxnSp>
      <p:sp>
        <p:nvSpPr>
          <p:cNvPr id="15" name="Oval 14"/>
          <p:cNvSpPr/>
          <p:nvPr/>
        </p:nvSpPr>
        <p:spPr>
          <a:xfrm>
            <a:off x="9399702" y="3616173"/>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862242" y="3694342"/>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862242" y="2704198"/>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486399" y="4745338"/>
            <a:ext cx="60194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7.37 -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231, Figure 7.37. The crop and marks are for teaching.</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trend gives Williams' Oops its preferred context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5 of 13</a:t>
            </a:r>
          </a:p>
        </p:txBody>
      </p:sp>
      <p:sp>
        <p:nvSpPr>
          <p:cNvPr id="7" name="TextBox 6"/>
          <p:cNvSpPr txBox="1"/>
          <p:nvPr/>
        </p:nvSpPr>
        <p:spPr>
          <a:xfrm>
            <a:off x="777240" y="1965960"/>
            <a:ext cx="62179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trend gives an Oops context. Figure 7.36 shows bullish buy setup </a:t>
            </a:r>
            <a:r>
              <a:rPr sz="1700" b="1" i="0">
                <a:solidFill>
                  <a:srgbClr val="E09B00"/>
                </a:solidFill>
                <a:latin typeface="Arial"/>
              </a:rPr>
              <a:t>(1)</a:t>
            </a:r>
            <a:r>
              <a:rPr sz="1700" b="0" i="0">
                <a:solidFill>
                  <a:srgbClr val="1A1A1A"/>
                </a:solidFill>
                <a:latin typeface="Arial"/>
              </a:rPr>
              <a:t> and bearish sell setup </a:t>
            </a:r>
            <a:r>
              <a:rPr sz="1700" b="1" i="0">
                <a:solidFill>
                  <a:srgbClr val="C62828"/>
                </a:solidFill>
                <a:latin typeface="Arial"/>
              </a:rPr>
              <a:t>(2)</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Lim prefers bullish Oops in an uptrend and bearish Oops in a downtrend, but those trends are not drawn here.</a:t>
            </a:r>
          </a:p>
          <a:p>
            <a:pPr algn="l">
              <a:lnSpc>
                <a:spcPct val="105000"/>
              </a:lnSpc>
              <a:spcBef>
                <a:spcPts val="0"/>
              </a:spcBef>
              <a:spcAft>
                <a:spcPts val="1100"/>
              </a:spcAft>
            </a:pPr>
            <a:r>
              <a:rPr sz="1700" b="0" i="0">
                <a:solidFill>
                  <a:srgbClr val="1A1A1A"/>
                </a:solidFill>
                <a:latin typeface="Arial"/>
              </a:rPr>
              <a:t>The book names morning star, evening star, piercing line, and dark cloud cover; Chapter 7 defines none of them. Next comes ID/NR.</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92531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trend supplies context, while the chapter leaves the companion definitions open.</a:t>
            </a:r>
          </a:p>
        </p:txBody>
      </p:sp>
      <p:sp>
        <p:nvSpPr>
          <p:cNvPr id="10" name="TextBox 9"/>
          <p:cNvSpPr txBox="1"/>
          <p:nvPr/>
        </p:nvSpPr>
        <p:spPr>
          <a:xfrm>
            <a:off x="777240" y="5461254"/>
            <a:ext cx="621792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Lim (2016), p. 231. The named candlestick companions are not defined in this chapter.</a:t>
            </a:r>
          </a:p>
        </p:txBody>
      </p:sp>
      <p:sp>
        <p:nvSpPr>
          <p:cNvPr id="11" name="Rectangle 10"/>
          <p:cNvSpPr/>
          <p:nvPr/>
        </p:nvSpPr>
        <p:spPr>
          <a:xfrm>
            <a:off x="7315199" y="1810512"/>
            <a:ext cx="4144974" cy="214888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434071" y="1929384"/>
            <a:ext cx="3907231" cy="1911145"/>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7434071" y="1929384"/>
            <a:ext cx="390723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7708392" y="2203703"/>
            <a:ext cx="3358590" cy="145394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7.36</a:t>
            </a:r>
          </a:p>
          <a:p>
            <a:pPr algn="l">
              <a:lnSpc>
                <a:spcPct val="115000"/>
              </a:lnSpc>
              <a:spcBef>
                <a:spcPts val="0"/>
              </a:spcBef>
              <a:spcAft>
                <a:spcPts val="0"/>
              </a:spcAft>
            </a:pPr>
            <a:r>
              <a:rPr sz="1300" b="0" i="0">
                <a:solidFill>
                  <a:srgbClr val="1A1A1A"/>
                </a:solidFill>
                <a:latin typeface="Palatino"/>
              </a:rPr>
              <a:t>Figure 7.36's two Oops panels, with marks on the bullish and bearish setups; the chapter's named candlestick companions are not shown or defined here.</a:t>
            </a:r>
          </a:p>
        </p:txBody>
      </p:sp>
      <p:sp>
        <p:nvSpPr>
          <p:cNvPr id="15" name="Oval 14"/>
          <p:cNvSpPr/>
          <p:nvPr/>
        </p:nvSpPr>
        <p:spPr>
          <a:xfrm>
            <a:off x="8410879" y="2751176"/>
            <a:ext cx="312578" cy="229337"/>
          </a:xfrm>
          <a:prstGeom prst="ellipse">
            <a:avLst/>
          </a:prstGeom>
          <a:noFill/>
          <a:ln w="44450">
            <a:solidFill>
              <a:srgbClr val="E09B00"/>
            </a:solidFill>
          </a:ln>
        </p:spPr>
        <p:txBody>
          <a:bodyPr rtlCol="0" anchor="ctr"/>
          <a:lstStyle/>
          <a:p>
            <a:pPr algn="ctr"/>
          </a:p>
        </p:txBody>
      </p:sp>
      <p:sp>
        <p:nvSpPr>
          <p:cNvPr id="16" name="Oval 15"/>
          <p:cNvSpPr/>
          <p:nvPr/>
        </p:nvSpPr>
        <p:spPr>
          <a:xfrm>
            <a:off x="10130061" y="2751176"/>
            <a:ext cx="312578" cy="229337"/>
          </a:xfrm>
          <a:prstGeom prst="ellipse">
            <a:avLst/>
          </a:prstGeom>
          <a:noFill/>
          <a:ln w="44450">
            <a:solidFill>
              <a:srgbClr val="C62828"/>
            </a:solidFill>
          </a:ln>
        </p:spPr>
        <p:txBody>
          <a:bodyPr rtlCol="0" anchor="ctr"/>
          <a:lstStyle/>
          <a:p>
            <a:pPr algn="ctr"/>
          </a:p>
        </p:txBody>
      </p:sp>
      <p:sp>
        <p:nvSpPr>
          <p:cNvPr id="17" name="Oval 16"/>
          <p:cNvSpPr/>
          <p:nvPr/>
        </p:nvSpPr>
        <p:spPr>
          <a:xfrm>
            <a:off x="8078358" y="2518459"/>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578986" y="2518459"/>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TextBox 18"/>
          <p:cNvSpPr txBox="1"/>
          <p:nvPr/>
        </p:nvSpPr>
        <p:spPr>
          <a:xfrm>
            <a:off x="7315199" y="4050841"/>
            <a:ext cx="41449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7.36 - Lim, The Handbook of Technical Analysis (Wiley, 2016)</a:t>
            </a:r>
          </a:p>
        </p:txBody>
      </p:sp>
      <p:sp>
        <p:nvSpPr>
          <p:cNvPr id="20" name="TextBox 1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231, Figure 7.36. The numbered marks are for teaching.</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ID/NR combines an inside day with a narrow recent range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After Williams' Oops, ID/NR asks whether an inside day stays within the prior range and has the narrowest range in n days. Six invented ranges are 4.0, 3.2, 2.8, 2.1, 1.6, and 1.2 PHP.</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o-0.png"/>
          <p:cNvPicPr>
            <a:picLocks noChangeAspect="1"/>
          </p:cNvPicPr>
          <p:nvPr/>
        </p:nvPicPr>
        <p:blipFill>
          <a:blip r:embed="rId2"/>
          <a:stretch>
            <a:fillRect/>
          </a:stretch>
        </p:blipFill>
        <p:spPr>
          <a:xfrm>
            <a:off x="896112" y="2395728"/>
            <a:ext cx="10399471" cy="3511296"/>
          </a:xfrm>
          <a:prstGeom prst="rect">
            <a:avLst/>
          </a:prstGeom>
        </p:spPr>
      </p:pic>
      <p:sp>
        <p:nvSpPr>
          <p:cNvPr id="9" name="TextBox 8"/>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O - FIN1209 teaching chart, drawn for this course. Illustrative data, not a real instrument.</a:t>
            </a:r>
          </a:p>
        </p:txBody>
      </p:sp>
      <p:sp>
        <p:nvSpPr>
          <p:cNvPr id="10" name="TextBox 9"/>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6 of 13</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O is ours, with invented PHP ranges to show Lim (2016), p. 232.</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ID/NR combines an inside day with a narrow recent range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Bar 6 is inside bar 5 </a:t>
            </a:r>
            <a:r>
              <a:rPr sz="1700" b="1" i="0">
                <a:solidFill>
                  <a:srgbClr val="E09B00"/>
                </a:solidFill>
                <a:latin typeface="Arial"/>
              </a:rPr>
              <a:t>(1)</a:t>
            </a:r>
            <a:r>
              <a:rPr sz="1700" b="0" i="0">
                <a:solidFill>
                  <a:srgbClr val="1A1A1A"/>
                </a:solidFill>
                <a:latin typeface="Arial"/>
              </a:rPr>
              <a:t> and narrowest </a:t>
            </a:r>
            <a:r>
              <a:rPr sz="1700" b="1" i="0">
                <a:solidFill>
                  <a:srgbClr val="C62828"/>
                </a:solidFill>
                <a:latin typeface="Arial"/>
              </a:rPr>
              <a:t>(2)</a:t>
            </a:r>
            <a:r>
              <a:rPr sz="1700" b="0" i="0">
                <a:solidFill>
                  <a:srgbClr val="1A1A1A"/>
                </a:solidFill>
                <a:latin typeface="Arial"/>
              </a:rPr>
              <a:t>. The final bar </a:t>
            </a:r>
            <a:r>
              <a:rPr sz="1700" b="1" i="0">
                <a:solidFill>
                  <a:srgbClr val="1F5FAD"/>
                </a:solidFill>
                <a:latin typeface="Arial"/>
              </a:rPr>
              <a:t>(3)</a:t>
            </a:r>
            <a:r>
              <a:rPr sz="1700" b="0" i="0">
                <a:solidFill>
                  <a:srgbClr val="1A1A1A"/>
                </a:solidFill>
                <a:latin typeface="Arial"/>
              </a:rPr>
              <a:t> can break up or down; ID/NR is neutral before its trigger.</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o-1.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520825"/>
            <a:ext cx="87782" cy="87782"/>
          </a:xfrm>
          <a:prstGeom prst="ellipse">
            <a:avLst/>
          </a:prstGeom>
          <a:noFill/>
          <a:ln w="44450">
            <a:solidFill>
              <a:srgbClr val="1F5FAD"/>
            </a:solidFill>
          </a:ln>
        </p:spPr>
        <p:txBody>
          <a:bodyPr rtlCol="0" anchor="ctr"/>
          <a:lstStyle/>
          <a:p>
            <a:pPr algn="ctr"/>
          </a:p>
        </p:txBody>
      </p:sp>
      <p:sp>
        <p:nvSpPr>
          <p:cNvPr id="10" name="Oval 9"/>
          <p:cNvSpPr/>
          <p:nvPr/>
        </p:nvSpPr>
        <p:spPr>
          <a:xfrm>
            <a:off x="9880091" y="3396659"/>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9880091" y="3644990"/>
            <a:ext cx="87782" cy="87782"/>
          </a:xfrm>
          <a:prstGeom prst="ellipse">
            <a:avLst/>
          </a:prstGeom>
          <a:noFill/>
          <a:ln w="44450">
            <a:solidFill>
              <a:srgbClr val="C62828"/>
            </a:solidFill>
          </a:ln>
        </p:spPr>
        <p:txBody>
          <a:bodyPr rtlCol="0" anchor="ctr"/>
          <a:lstStyle/>
          <a:p>
            <a:pPr algn="ctr"/>
          </a:p>
        </p:txBody>
      </p:sp>
      <p:sp>
        <p:nvSpPr>
          <p:cNvPr id="12" name="Oval 11"/>
          <p:cNvSpPr/>
          <p:nvPr/>
        </p:nvSpPr>
        <p:spPr>
          <a:xfrm>
            <a:off x="9615415" y="333245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3" name="Oval 12"/>
          <p:cNvSpPr/>
          <p:nvPr/>
        </p:nvSpPr>
        <p:spPr>
          <a:xfrm>
            <a:off x="10058312" y="328958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967874" y="3560866"/>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O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7 of 13</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O is ours, with invented PHP ranges to show Lim (2016), p. 232.</a:t>
            </a: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7.38 names the six-bar ID/NR6 window</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8 of 13</a:t>
            </a:r>
          </a:p>
        </p:txBody>
      </p:sp>
      <p:sp>
        <p:nvSpPr>
          <p:cNvPr id="7" name="TextBox 6"/>
          <p:cNvSpPr txBox="1"/>
          <p:nvPr/>
        </p:nvSpPr>
        <p:spPr>
          <a:xfrm>
            <a:off x="777240" y="1965960"/>
            <a:ext cx="59436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ID/NR6 is an inside day with the narrowest range in six bars. Mark 1 counts bars, mark 2 shows containment, and mark 3 the narrowest bar.</a:t>
            </a:r>
          </a:p>
          <a:p>
            <a:pPr algn="l">
              <a:lnSpc>
                <a:spcPct val="105000"/>
              </a:lnSpc>
              <a:spcBef>
                <a:spcPts val="0"/>
              </a:spcBef>
              <a:spcAft>
                <a:spcPts val="1100"/>
              </a:spcAft>
            </a:pPr>
            <a:r>
              <a:rPr sz="1700" b="0" i="0">
                <a:solidFill>
                  <a:srgbClr val="1A1A1A"/>
                </a:solidFill>
                <a:latin typeface="Arial"/>
              </a:rPr>
              <a:t>Lim calls this a volatility breakout because recent movement has compressed. Before the breakout it is neutral, so either direction remains possible.</a:t>
            </a:r>
          </a:p>
          <a:p>
            <a:pPr algn="l">
              <a:lnSpc>
                <a:spcPct val="105000"/>
              </a:lnSpc>
              <a:spcBef>
                <a:spcPts val="0"/>
              </a:spcBef>
              <a:spcAft>
                <a:spcPts val="1100"/>
              </a:spcAft>
            </a:pPr>
            <a:r>
              <a:rPr sz="1700" b="0" i="0">
                <a:solidFill>
                  <a:srgbClr val="1A1A1A"/>
                </a:solidFill>
                <a:latin typeface="Arial"/>
              </a:rPr>
              <a:t>Read the window and inside condition first. The number 6 names the count, not the direction.</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6509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ID/NR6 names a six-bar count and a compressed range, not a forecast direction.</a:t>
            </a:r>
          </a:p>
        </p:txBody>
      </p:sp>
      <p:sp>
        <p:nvSpPr>
          <p:cNvPr id="10" name="TextBox 9"/>
          <p:cNvSpPr txBox="1"/>
          <p:nvPr/>
        </p:nvSpPr>
        <p:spPr>
          <a:xfrm>
            <a:off x="777240" y="5733288"/>
            <a:ext cx="59436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Lim (2016), p. 232, Figure 7.38.</a:t>
            </a:r>
          </a:p>
        </p:txBody>
      </p:sp>
      <p:sp>
        <p:nvSpPr>
          <p:cNvPr id="11" name="Rectangle 10"/>
          <p:cNvSpPr/>
          <p:nvPr/>
        </p:nvSpPr>
        <p:spPr>
          <a:xfrm>
            <a:off x="7508253" y="1810512"/>
            <a:ext cx="3575988"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627125" y="1929384"/>
            <a:ext cx="3338244" cy="3511296"/>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7627125" y="1929384"/>
            <a:ext cx="3338244"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7901445" y="2203703"/>
            <a:ext cx="2789604"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7.38</a:t>
            </a:r>
          </a:p>
          <a:p>
            <a:pPr algn="l">
              <a:lnSpc>
                <a:spcPct val="115000"/>
              </a:lnSpc>
              <a:spcBef>
                <a:spcPts val="0"/>
              </a:spcBef>
              <a:spcAft>
                <a:spcPts val="0"/>
              </a:spcAft>
            </a:pPr>
            <a:r>
              <a:rPr sz="1500" b="0" i="0">
                <a:solidFill>
                  <a:srgbClr val="1A1A1A"/>
                </a:solidFill>
                <a:latin typeface="Palatino"/>
              </a:rPr>
              <a:t>The book's ID/NR6 schematic: six numbered bars, with the sixth bar inside the prior range and the narrowest range, followed by long and short trigger levels.</a:t>
            </a:r>
          </a:p>
        </p:txBody>
      </p:sp>
      <p:sp>
        <p:nvSpPr>
          <p:cNvPr id="15" name="Rectangle 14"/>
          <p:cNvSpPr/>
          <p:nvPr/>
        </p:nvSpPr>
        <p:spPr>
          <a:xfrm>
            <a:off x="7627125" y="2069835"/>
            <a:ext cx="1435445" cy="2809036"/>
          </a:xfrm>
          <a:prstGeom prst="rect">
            <a:avLst/>
          </a:prstGeom>
          <a:noFill/>
          <a:ln w="44450">
            <a:solidFill>
              <a:srgbClr val="E09B00"/>
            </a:solidFill>
          </a:ln>
        </p:spPr>
        <p:txBody>
          <a:bodyPr rtlCol="0" anchor="ctr"/>
          <a:lstStyle/>
          <a:p>
            <a:pPr algn="ctr"/>
          </a:p>
        </p:txBody>
      </p:sp>
      <p:sp>
        <p:nvSpPr>
          <p:cNvPr id="16" name="Rectangle 15"/>
          <p:cNvSpPr/>
          <p:nvPr/>
        </p:nvSpPr>
        <p:spPr>
          <a:xfrm>
            <a:off x="8828893" y="3825483"/>
            <a:ext cx="233677" cy="737372"/>
          </a:xfrm>
          <a:prstGeom prst="rect">
            <a:avLst/>
          </a:prstGeom>
          <a:noFill/>
          <a:ln w="44450">
            <a:solidFill>
              <a:srgbClr val="C62828"/>
            </a:solidFill>
          </a:ln>
        </p:spPr>
        <p:txBody>
          <a:bodyPr rtlCol="0" anchor="ctr"/>
          <a:lstStyle/>
          <a:p>
            <a:pPr algn="ctr"/>
          </a:p>
        </p:txBody>
      </p:sp>
      <p:sp>
        <p:nvSpPr>
          <p:cNvPr id="17" name="Rectangle 16"/>
          <p:cNvSpPr/>
          <p:nvPr/>
        </p:nvSpPr>
        <p:spPr>
          <a:xfrm>
            <a:off x="8962423" y="3298789"/>
            <a:ext cx="300441" cy="1509857"/>
          </a:xfrm>
          <a:prstGeom prst="rect">
            <a:avLst/>
          </a:prstGeom>
          <a:noFill/>
          <a:ln w="44450">
            <a:solidFill>
              <a:srgbClr val="1F5FAD"/>
            </a:solidFill>
          </a:ln>
        </p:spPr>
        <p:txBody>
          <a:bodyPr rtlCol="0" anchor="ctr"/>
          <a:lstStyle/>
          <a:p>
            <a:pPr algn="ctr"/>
          </a:p>
        </p:txBody>
      </p:sp>
      <p:sp>
        <p:nvSpPr>
          <p:cNvPr id="18" name="Oval 17"/>
          <p:cNvSpPr/>
          <p:nvPr/>
        </p:nvSpPr>
        <p:spPr>
          <a:xfrm>
            <a:off x="9092322" y="4952390"/>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9058940" y="3477646"/>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9325999" y="2986064"/>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7040879" y="5650991"/>
            <a:ext cx="4510735"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7.38 -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232, Figure 7.38. The numbered marks are for teaching.</a:t>
            </a: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number in ID/NR tells us how far back to count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9 of 13</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ID/NR4 through ID/NR7 use the same idea with different look-back windows. Each version counts its named number of bars and needs an inside day.</a:t>
            </a:r>
          </a:p>
          <a:p>
            <a:pPr algn="l">
              <a:lnSpc>
                <a:spcPct val="118000"/>
              </a:lnSpc>
              <a:spcBef>
                <a:spcPts val="0"/>
              </a:spcBef>
              <a:spcAft>
                <a:spcPts val="1300"/>
              </a:spcAft>
            </a:pPr>
            <a:r>
              <a:rPr sz="2100" b="0" i="0">
                <a:solidFill>
                  <a:srgbClr val="1A1A1A"/>
                </a:solidFill>
                <a:latin typeface="Arial"/>
              </a:rPr>
              <a:t>NR4 counts four bars and its narrowest range is 1.6 PHP. NR5 counts five bars and reaches 1.2 PHP. NR6 counts six bars and remains at 1.2 PHP. NR7 counts seven bars and reaches 1.0 PHP.</a:t>
            </a:r>
          </a:p>
          <a:p>
            <a:pPr algn="l">
              <a:lnSpc>
                <a:spcPct val="118000"/>
              </a:lnSpc>
              <a:spcBef>
                <a:spcPts val="0"/>
              </a:spcBef>
              <a:spcAft>
                <a:spcPts val="1300"/>
              </a:spcAft>
            </a:pPr>
            <a:r>
              <a:rPr sz="2100" b="0" i="0">
                <a:solidFill>
                  <a:srgbClr val="1A1A1A"/>
                </a:solidFill>
                <a:latin typeface="Arial"/>
              </a:rPr>
              <a:t>These are invented comparison values. The later breakout reveals direction.</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count changes; the neutral-before-breakout rule does not.</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Lim (2016), p. 232. The comparative ranges are invented for teaching.</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232. The comparative ranges are invented for teaching.</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 ID/NR setup has no direction until price breaks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10 of 13</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ID/NR shows compressed range, not sentiment. Figure 7.38 mark 1 is narrowest; mark 2 is containment.</a:t>
            </a:r>
          </a:p>
          <a:p>
            <a:pPr algn="l">
              <a:lnSpc>
                <a:spcPct val="105000"/>
              </a:lnSpc>
              <a:spcBef>
                <a:spcPts val="0"/>
              </a:spcBef>
              <a:spcAft>
                <a:spcPts val="1100"/>
              </a:spcAft>
            </a:pPr>
            <a:r>
              <a:rPr sz="2000" b="0" i="0">
                <a:solidFill>
                  <a:srgbClr val="1A1A1A"/>
                </a:solidFill>
                <a:latin typeface="Arial"/>
              </a:rPr>
              <a:t>Before breakout, mark 3 shows either direction. Direction comes later.</a:t>
            </a:r>
          </a:p>
          <a:p>
            <a:pPr algn="l">
              <a:lnSpc>
                <a:spcPct val="105000"/>
              </a:lnSpc>
              <a:spcBef>
                <a:spcPts val="0"/>
              </a:spcBef>
              <a:spcAft>
                <a:spcPts val="1100"/>
              </a:spcAft>
            </a:pPr>
            <a:r>
              <a:rPr sz="2000" b="0" i="0">
                <a:solidFill>
                  <a:srgbClr val="1A1A1A"/>
                </a:solidFill>
                <a:latin typeface="Arial"/>
              </a:rPr>
              <a:t>Count, confirm inside, then wait for the trigger.</a:t>
            </a:r>
          </a:p>
        </p:txBody>
      </p:sp>
      <p:sp>
        <p:nvSpPr>
          <p:cNvPr id="8" name="Rectangle 7"/>
          <p:cNvSpPr/>
          <p:nvPr/>
        </p:nvSpPr>
        <p:spPr>
          <a:xfrm>
            <a:off x="777240" y="4261104"/>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97680"/>
            <a:ext cx="629107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ID/NR is neutral first and directional only after the breakout.</a:t>
            </a:r>
          </a:p>
        </p:txBody>
      </p:sp>
      <p:sp>
        <p:nvSpPr>
          <p:cNvPr id="10" name="TextBox 9"/>
          <p:cNvSpPr txBox="1"/>
          <p:nvPr/>
        </p:nvSpPr>
        <p:spPr>
          <a:xfrm>
            <a:off x="777240" y="5248656"/>
            <a:ext cx="65836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Lim (2016), p. 232. ID/NR has no bearish or bullish sentiment before its breakout.</a:t>
            </a:r>
          </a:p>
        </p:txBody>
      </p:sp>
      <p:sp>
        <p:nvSpPr>
          <p:cNvPr id="11" name="Rectangle 10"/>
          <p:cNvSpPr/>
          <p:nvPr/>
        </p:nvSpPr>
        <p:spPr>
          <a:xfrm>
            <a:off x="7730951" y="1810512"/>
            <a:ext cx="3679232"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849823" y="1929384"/>
            <a:ext cx="3441488" cy="3511296"/>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7849823" y="1929384"/>
            <a:ext cx="3441488"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8124143" y="2203703"/>
            <a:ext cx="2892848"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7.38</a:t>
            </a:r>
          </a:p>
          <a:p>
            <a:pPr algn="l">
              <a:lnSpc>
                <a:spcPct val="115000"/>
              </a:lnSpc>
              <a:spcBef>
                <a:spcPts val="0"/>
              </a:spcBef>
              <a:spcAft>
                <a:spcPts val="0"/>
              </a:spcAft>
            </a:pPr>
            <a:r>
              <a:rPr sz="1500" b="0" i="0">
                <a:solidFill>
                  <a:srgbClr val="1A1A1A"/>
                </a:solidFill>
                <a:latin typeface="Palatino"/>
              </a:rPr>
              <a:t>Figure 7.38's ID/NR6 schematic, with the narrowest inside bar and both possible trigger directions visible.</a:t>
            </a:r>
          </a:p>
        </p:txBody>
      </p:sp>
      <p:cxnSp>
        <p:nvCxnSpPr>
          <p:cNvPr id="15" name="Connector 14"/>
          <p:cNvCxnSpPr/>
          <p:nvPr/>
        </p:nvCxnSpPr>
        <p:spPr>
          <a:xfrm>
            <a:off x="9088759" y="3965935"/>
            <a:ext cx="0" cy="561808"/>
          </a:xfrm>
          <a:prstGeom prst="line">
            <a:avLst/>
          </a:prstGeom>
          <a:ln w="44450">
            <a:solidFill>
              <a:srgbClr val="E09B00"/>
            </a:solidFill>
          </a:ln>
        </p:spPr>
      </p:cxnSp>
      <p:sp>
        <p:nvSpPr>
          <p:cNvPr id="16" name="Rectangle 15"/>
          <p:cNvSpPr/>
          <p:nvPr/>
        </p:nvSpPr>
        <p:spPr>
          <a:xfrm>
            <a:off x="9019929" y="3825483"/>
            <a:ext cx="309734" cy="737372"/>
          </a:xfrm>
          <a:prstGeom prst="rect">
            <a:avLst/>
          </a:prstGeom>
          <a:noFill/>
          <a:ln w="44450">
            <a:solidFill>
              <a:srgbClr val="C62828"/>
            </a:solidFill>
          </a:ln>
        </p:spPr>
        <p:txBody>
          <a:bodyPr rtlCol="0" anchor="ctr"/>
          <a:lstStyle/>
          <a:p>
            <a:pPr algn="ctr"/>
          </a:p>
        </p:txBody>
      </p:sp>
      <p:sp>
        <p:nvSpPr>
          <p:cNvPr id="17" name="Rectangle 16"/>
          <p:cNvSpPr/>
          <p:nvPr/>
        </p:nvSpPr>
        <p:spPr>
          <a:xfrm>
            <a:off x="9467322" y="3825483"/>
            <a:ext cx="791542" cy="877824"/>
          </a:xfrm>
          <a:prstGeom prst="rect">
            <a:avLst/>
          </a:prstGeom>
          <a:noFill/>
          <a:ln w="44450">
            <a:solidFill>
              <a:srgbClr val="1F5FAD"/>
            </a:solidFill>
          </a:ln>
        </p:spPr>
        <p:txBody>
          <a:bodyPr rtlCol="0" anchor="ctr"/>
          <a:lstStyle/>
          <a:p>
            <a:pPr algn="ctr"/>
          </a:p>
        </p:txBody>
      </p:sp>
      <p:sp>
        <p:nvSpPr>
          <p:cNvPr id="18" name="Oval 17"/>
          <p:cNvSpPr/>
          <p:nvPr/>
        </p:nvSpPr>
        <p:spPr>
          <a:xfrm>
            <a:off x="8779524" y="3547871"/>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9330162" y="3477646"/>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10224949" y="3653210"/>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7680960" y="5650991"/>
            <a:ext cx="37792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7.38 -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232, Figure 7.38. The numbered marks are for teaching.</a:t>
            </a: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Inside Month/NR5 carries the same range idea to monthly bars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Inside Month applies ID/NR to monthly bars. The timeframe changes; the rules stay. Invented ranges are 12, 10, 9, 7, and 5 PHP.</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w-0.png"/>
          <p:cNvPicPr>
            <a:picLocks noChangeAspect="1"/>
          </p:cNvPicPr>
          <p:nvPr/>
        </p:nvPicPr>
        <p:blipFill>
          <a:blip r:embed="rId2"/>
          <a:stretch>
            <a:fillRect/>
          </a:stretch>
        </p:blipFill>
        <p:spPr>
          <a:xfrm>
            <a:off x="896112" y="2395728"/>
            <a:ext cx="10399471" cy="3511296"/>
          </a:xfrm>
          <a:prstGeom prst="rect">
            <a:avLst/>
          </a:prstGeom>
        </p:spPr>
      </p:pic>
      <p:sp>
        <p:nvSpPr>
          <p:cNvPr id="9" name="TextBox 8"/>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W - FIN1209 teaching chart, drawn for this course. Illustrative data, not a real instrument.</a:t>
            </a:r>
          </a:p>
        </p:txBody>
      </p:sp>
      <p:sp>
        <p:nvSpPr>
          <p:cNvPr id="10" name="TextBox 9"/>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11 of 13</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W is ours, with invented monthly PHP values to show Lim (2016), p. 232.</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Inside Month/NR5 carries the same range idea to monthly bars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Bar 5 is inside bar 4 and narrowest </a:t>
            </a:r>
            <a:r>
              <a:rPr sz="1700" b="1" i="0">
                <a:solidFill>
                  <a:srgbClr val="E09B00"/>
                </a:solidFill>
                <a:latin typeface="Arial"/>
              </a:rPr>
              <a:t>(1)</a:t>
            </a:r>
            <a:r>
              <a:rPr sz="1700" b="0" i="0">
                <a:solidFill>
                  <a:srgbClr val="1A1A1A"/>
                </a:solidFill>
                <a:latin typeface="Arial"/>
              </a:rPr>
              <a:t> </a:t>
            </a:r>
            <a:r>
              <a:rPr sz="1700" b="1" i="0">
                <a:solidFill>
                  <a:srgbClr val="C62828"/>
                </a:solidFill>
                <a:latin typeface="Arial"/>
              </a:rPr>
              <a:t>(2)</a:t>
            </a:r>
            <a:r>
              <a:rPr sz="1700" b="0" i="0">
                <a:solidFill>
                  <a:srgbClr val="1A1A1A"/>
                </a:solidFill>
                <a:latin typeface="Arial"/>
              </a:rPr>
              <a:t>. Bar 6 moves up PHP 8.00 </a:t>
            </a:r>
            <a:r>
              <a:rPr sz="1700" b="1" i="0">
                <a:solidFill>
                  <a:srgbClr val="1F5FAD"/>
                </a:solidFill>
                <a:latin typeface="Arial"/>
              </a:rPr>
              <a:t>(3)</a:t>
            </a:r>
            <a:r>
              <a:rPr sz="1700" b="0" i="0">
                <a:solidFill>
                  <a:srgbClr val="1A1A1A"/>
                </a:solidFill>
                <a:latin typeface="Arial"/>
              </a:rPr>
              <a:t>. Figure 7.39 is a separate Dynegy example.</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w-1.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7012076" y="3900220"/>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012076" y="4337100"/>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337596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7099858" y="381609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099858" y="4252975"/>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951415" y="346374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W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12 of 13</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W is ours, with invented monthly PHP values to show Lim (2016), p. 232.</a:t>
            </a: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7.39 applies ID/NR to five monthly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13 of 13</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Figure 7.39 extends neutral ID/NR to monthly bars. Mark 1 is the inside month, mark 2 the five-month count, and mark 3 the later rise.</a:t>
            </a:r>
          </a:p>
          <a:p>
            <a:pPr algn="l">
              <a:lnSpc>
                <a:spcPct val="105000"/>
              </a:lnSpc>
              <a:spcBef>
                <a:spcPts val="0"/>
              </a:spcBef>
              <a:spcAft>
                <a:spcPts val="1100"/>
              </a:spcAft>
            </a:pPr>
            <a:r>
              <a:rPr sz="1800" b="0" i="0">
                <a:solidFill>
                  <a:srgbClr val="1A1A1A"/>
                </a:solidFill>
                <a:latin typeface="Arial"/>
              </a:rPr>
              <a:t>The upside move is this Dynegy example, not a promise for every Inside Month.</a:t>
            </a:r>
          </a:p>
          <a:p>
            <a:pPr algn="l">
              <a:lnSpc>
                <a:spcPct val="105000"/>
              </a:lnSpc>
              <a:spcBef>
                <a:spcPts val="0"/>
              </a:spcBef>
              <a:spcAft>
                <a:spcPts val="1100"/>
              </a:spcAft>
            </a:pPr>
            <a:r>
              <a:rPr sz="1800" b="0" i="0">
                <a:solidFill>
                  <a:srgbClr val="1A1A1A"/>
                </a:solidFill>
                <a:latin typeface="Arial"/>
              </a:rPr>
              <a:t>Stay neutral until the monthly bar breaks, then read direction from price.</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629107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monthly figure extends ID/NR without adding a new direction rule.</a:t>
            </a:r>
          </a:p>
        </p:txBody>
      </p:sp>
      <p:sp>
        <p:nvSpPr>
          <p:cNvPr id="10" name="TextBox 9"/>
          <p:cNvSpPr txBox="1"/>
          <p:nvPr/>
        </p:nvSpPr>
        <p:spPr>
          <a:xfrm>
            <a:off x="777240" y="5603748"/>
            <a:ext cx="65836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Lim (2016), p. 232, Figure 7.39. The monthly chart is Dynegy Inc.</a:t>
            </a:r>
          </a:p>
        </p:txBody>
      </p:sp>
      <p:sp>
        <p:nvSpPr>
          <p:cNvPr id="11" name="Rectangle 10"/>
          <p:cNvSpPr/>
          <p:nvPr/>
        </p:nvSpPr>
        <p:spPr>
          <a:xfrm>
            <a:off x="7680960" y="1810512"/>
            <a:ext cx="3779214" cy="186434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799832" y="1929384"/>
            <a:ext cx="3541470" cy="1626605"/>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7799832" y="1929384"/>
            <a:ext cx="3541470"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8074152" y="2203703"/>
            <a:ext cx="2992830" cy="116940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7.39</a:t>
            </a:r>
          </a:p>
          <a:p>
            <a:pPr algn="l">
              <a:lnSpc>
                <a:spcPct val="115000"/>
              </a:lnSpc>
              <a:spcBef>
                <a:spcPts val="0"/>
              </a:spcBef>
              <a:spcAft>
                <a:spcPts val="0"/>
              </a:spcAft>
            </a:pPr>
            <a:r>
              <a:rPr sz="1100" b="0" i="0">
                <a:solidFill>
                  <a:srgbClr val="1A1A1A"/>
                </a:solidFill>
                <a:latin typeface="Palatino"/>
              </a:rPr>
              <a:t>The book's monthly Dynegy chart: an inside month after five monthly ranges, followed by an upside breakout.</a:t>
            </a:r>
          </a:p>
        </p:txBody>
      </p:sp>
      <p:sp>
        <p:nvSpPr>
          <p:cNvPr id="15" name="Oval 14"/>
          <p:cNvSpPr/>
          <p:nvPr/>
        </p:nvSpPr>
        <p:spPr>
          <a:xfrm>
            <a:off x="8950810" y="2889081"/>
            <a:ext cx="141658" cy="178926"/>
          </a:xfrm>
          <a:prstGeom prst="ellipse">
            <a:avLst/>
          </a:prstGeom>
          <a:noFill/>
          <a:ln w="44450">
            <a:solidFill>
              <a:srgbClr val="E09B00"/>
            </a:solidFill>
          </a:ln>
        </p:spPr>
        <p:txBody>
          <a:bodyPr rtlCol="0" anchor="ctr"/>
          <a:lstStyle/>
          <a:p>
            <a:pPr algn="ctr"/>
          </a:p>
        </p:txBody>
      </p:sp>
      <p:cxnSp>
        <p:nvCxnSpPr>
          <p:cNvPr id="16" name="Connector 15"/>
          <p:cNvCxnSpPr/>
          <p:nvPr/>
        </p:nvCxnSpPr>
        <p:spPr>
          <a:xfrm>
            <a:off x="8153979" y="3360797"/>
            <a:ext cx="920782" cy="0"/>
          </a:xfrm>
          <a:prstGeom prst="line">
            <a:avLst/>
          </a:prstGeom>
          <a:ln w="44450">
            <a:solidFill>
              <a:srgbClr val="C62828"/>
            </a:solidFill>
            <a:tailEnd type="triangle" w="med" len="med"/>
          </a:ln>
        </p:spPr>
      </p:cxnSp>
      <p:sp>
        <p:nvSpPr>
          <p:cNvPr id="17" name="Oval 16"/>
          <p:cNvSpPr/>
          <p:nvPr/>
        </p:nvSpPr>
        <p:spPr>
          <a:xfrm>
            <a:off x="9127883" y="2222173"/>
            <a:ext cx="177073" cy="845835"/>
          </a:xfrm>
          <a:prstGeom prst="ellipse">
            <a:avLst/>
          </a:prstGeom>
          <a:noFill/>
          <a:ln w="44450">
            <a:solidFill>
              <a:srgbClr val="1F5FAD"/>
            </a:solidFill>
          </a:ln>
        </p:spPr>
        <p:txBody>
          <a:bodyPr rtlCol="0" anchor="ctr"/>
          <a:lstStyle/>
          <a:p>
            <a:pPr algn="ctr"/>
          </a:p>
        </p:txBody>
      </p:sp>
      <p:sp>
        <p:nvSpPr>
          <p:cNvPr id="18" name="Oval 17"/>
          <p:cNvSpPr/>
          <p:nvPr/>
        </p:nvSpPr>
        <p:spPr>
          <a:xfrm>
            <a:off x="8725113" y="2995912"/>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9433407" y="3288701"/>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9256333" y="2036214"/>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7680960" y="3766301"/>
            <a:ext cx="37792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7.39 -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232, Figure 7.39. The numbered marks are for teaching.</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30 OF 30</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Williams' Oops and ID/NR</a:t>
            </a:r>
          </a:p>
        </p:txBody>
      </p:sp>
      <p:sp>
        <p:nvSpPr>
          <p:cNvPr id="6" name="Rectangle 5"/>
          <p:cNvSpPr/>
          <p:nvPr/>
        </p:nvSpPr>
        <p:spPr>
          <a:xfrm>
            <a:off x="777240" y="1207008"/>
            <a:ext cx="539496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93776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9377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After a gap up, the Williams' Oops sell-stop is placed at:</a:t>
            </a:r>
          </a:p>
        </p:txBody>
      </p:sp>
      <p:sp>
        <p:nvSpPr>
          <p:cNvPr id="9" name="TextBox 8"/>
          <p:cNvSpPr txBox="1"/>
          <p:nvPr/>
        </p:nvSpPr>
        <p:spPr>
          <a:xfrm>
            <a:off x="1005840" y="2069338"/>
            <a:ext cx="493776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The previous bar's high</a:t>
            </a:r>
          </a:p>
          <a:p>
            <a:pPr algn="l">
              <a:lnSpc>
                <a:spcPct val="105000"/>
              </a:lnSpc>
              <a:spcBef>
                <a:spcPts val="0"/>
              </a:spcBef>
              <a:spcAft>
                <a:spcPts val="200"/>
              </a:spcAft>
            </a:pPr>
            <a:r>
              <a:rPr sz="1700" b="0" i="0">
                <a:solidFill>
                  <a:srgbClr val="FFFFFF"/>
                </a:solidFill>
                <a:latin typeface="Arial"/>
              </a:rPr>
              <a:t>B.  The new bar's high</a:t>
            </a:r>
          </a:p>
          <a:p>
            <a:pPr algn="l">
              <a:lnSpc>
                <a:spcPct val="105000"/>
              </a:lnSpc>
              <a:spcBef>
                <a:spcPts val="0"/>
              </a:spcBef>
              <a:spcAft>
                <a:spcPts val="200"/>
              </a:spcAft>
            </a:pPr>
            <a:r>
              <a:rPr sz="1700" b="0" i="0">
                <a:solidFill>
                  <a:srgbClr val="FFFFFF"/>
                </a:solidFill>
                <a:latin typeface="Arial"/>
              </a:rPr>
              <a:t>C.  The previous bar's low</a:t>
            </a:r>
          </a:p>
          <a:p>
            <a:pPr algn="l">
              <a:lnSpc>
                <a:spcPct val="105000"/>
              </a:lnSpc>
              <a:spcBef>
                <a:spcPts val="0"/>
              </a:spcBef>
              <a:spcAft>
                <a:spcPts val="200"/>
              </a:spcAft>
            </a:pPr>
            <a:r>
              <a:rPr sz="1700" b="0" i="0">
                <a:solidFill>
                  <a:srgbClr val="FFFFFF"/>
                </a:solidFill>
                <a:latin typeface="Arial"/>
              </a:rPr>
              <a:t>D.  The midpoint of both bars</a:t>
            </a:r>
          </a:p>
        </p:txBody>
      </p:sp>
      <p:sp>
        <p:nvSpPr>
          <p:cNvPr id="10" name="Rectangle 9"/>
          <p:cNvSpPr/>
          <p:nvPr/>
        </p:nvSpPr>
        <p:spPr>
          <a:xfrm>
            <a:off x="777240" y="3336798"/>
            <a:ext cx="5394960" cy="2286634"/>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93776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9377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is ID/NR7 a volatility breakout pattern?</a:t>
            </a:r>
          </a:p>
        </p:txBody>
      </p:sp>
      <p:sp>
        <p:nvSpPr>
          <p:cNvPr id="13" name="TextBox 12"/>
          <p:cNvSpPr txBox="1"/>
          <p:nvPr/>
        </p:nvSpPr>
        <p:spPr>
          <a:xfrm>
            <a:off x="1005840" y="4199128"/>
            <a:ext cx="4937760" cy="1351152"/>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It always breaks upward</a:t>
            </a:r>
          </a:p>
          <a:p>
            <a:pPr algn="l">
              <a:lnSpc>
                <a:spcPct val="105000"/>
              </a:lnSpc>
              <a:spcBef>
                <a:spcPts val="0"/>
              </a:spcBef>
              <a:spcAft>
                <a:spcPts val="200"/>
              </a:spcAft>
            </a:pPr>
            <a:r>
              <a:rPr sz="1700" b="0" i="0">
                <a:solidFill>
                  <a:srgbClr val="FFFFFF"/>
                </a:solidFill>
                <a:latin typeface="Arial"/>
              </a:rPr>
              <a:t>B.  It combines an inside day with the narrowest range in seven bars</a:t>
            </a:r>
          </a:p>
          <a:p>
            <a:pPr algn="l">
              <a:lnSpc>
                <a:spcPct val="105000"/>
              </a:lnSpc>
              <a:spcBef>
                <a:spcPts val="0"/>
              </a:spcBef>
              <a:spcAft>
                <a:spcPts val="200"/>
              </a:spcAft>
            </a:pPr>
            <a:r>
              <a:rPr sz="1700" b="0" i="0">
                <a:solidFill>
                  <a:srgbClr val="FFFFFF"/>
                </a:solidFill>
                <a:latin typeface="Arial"/>
              </a:rPr>
              <a:t>C.  It counts seven volume readings only</a:t>
            </a:r>
          </a:p>
          <a:p>
            <a:pPr algn="l">
              <a:lnSpc>
                <a:spcPct val="105000"/>
              </a:lnSpc>
              <a:spcBef>
                <a:spcPts val="0"/>
              </a:spcBef>
              <a:spcAft>
                <a:spcPts val="200"/>
              </a:spcAft>
            </a:pPr>
            <a:r>
              <a:rPr sz="1700" b="0" i="0">
                <a:solidFill>
                  <a:srgbClr val="FFFFFF"/>
                </a:solidFill>
                <a:latin typeface="Arial"/>
              </a:rPr>
              <a:t>D.  It requires seven bullish closes</a:t>
            </a:r>
          </a:p>
        </p:txBody>
      </p:sp>
      <p:sp>
        <p:nvSpPr>
          <p:cNvPr id="14" name="Rectangle 13"/>
          <p:cNvSpPr/>
          <p:nvPr/>
        </p:nvSpPr>
        <p:spPr>
          <a:xfrm>
            <a:off x="6878473" y="1207008"/>
            <a:ext cx="4149748"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997345" y="1325880"/>
            <a:ext cx="3912004"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997345" y="1325880"/>
            <a:ext cx="3912004"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7271665" y="1600200"/>
            <a:ext cx="3363364"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7.38</a:t>
            </a:r>
          </a:p>
          <a:p>
            <a:pPr algn="l">
              <a:lnSpc>
                <a:spcPct val="115000"/>
              </a:lnSpc>
              <a:spcBef>
                <a:spcPts val="0"/>
              </a:spcBef>
              <a:spcAft>
                <a:spcPts val="0"/>
              </a:spcAft>
            </a:pPr>
            <a:r>
              <a:rPr sz="1500" b="0" i="0">
                <a:solidFill>
                  <a:srgbClr val="1A1A1A"/>
                </a:solidFill>
                <a:latin typeface="Palatino"/>
              </a:rPr>
              <a:t>The book's ID/NR6 schematic: six numbered bars, with the sixth bar inside the prior range and the narrowest range, followed by long and short trigger levels.</a:t>
            </a:r>
          </a:p>
        </p:txBody>
      </p:sp>
      <p:sp>
        <p:nvSpPr>
          <p:cNvPr id="18" name="Rectangle 17"/>
          <p:cNvSpPr/>
          <p:nvPr/>
        </p:nvSpPr>
        <p:spPr>
          <a:xfrm>
            <a:off x="6997345" y="1490472"/>
            <a:ext cx="1682162" cy="3291839"/>
          </a:xfrm>
          <a:prstGeom prst="rect">
            <a:avLst/>
          </a:prstGeom>
          <a:noFill/>
          <a:ln w="44450">
            <a:solidFill>
              <a:srgbClr val="E09B00"/>
            </a:solidFill>
          </a:ln>
        </p:spPr>
        <p:txBody>
          <a:bodyPr rtlCol="0" anchor="ctr"/>
          <a:lstStyle/>
          <a:p>
            <a:pPr algn="ctr"/>
          </a:p>
        </p:txBody>
      </p:sp>
      <p:sp>
        <p:nvSpPr>
          <p:cNvPr id="19" name="Rectangle 18"/>
          <p:cNvSpPr/>
          <p:nvPr/>
        </p:nvSpPr>
        <p:spPr>
          <a:xfrm>
            <a:off x="8405666" y="3547872"/>
            <a:ext cx="273840" cy="864107"/>
          </a:xfrm>
          <a:prstGeom prst="rect">
            <a:avLst/>
          </a:prstGeom>
          <a:noFill/>
          <a:ln w="44450">
            <a:solidFill>
              <a:srgbClr val="C62828"/>
            </a:solidFill>
          </a:ln>
        </p:spPr>
        <p:txBody>
          <a:bodyPr rtlCol="0" anchor="ctr"/>
          <a:lstStyle/>
          <a:p>
            <a:pPr algn="ctr"/>
          </a:p>
        </p:txBody>
      </p:sp>
      <p:sp>
        <p:nvSpPr>
          <p:cNvPr id="20" name="Rectangle 19"/>
          <p:cNvSpPr/>
          <p:nvPr/>
        </p:nvSpPr>
        <p:spPr>
          <a:xfrm>
            <a:off x="8562147" y="2930652"/>
            <a:ext cx="352080" cy="1769363"/>
          </a:xfrm>
          <a:prstGeom prst="rect">
            <a:avLst/>
          </a:prstGeom>
          <a:noFill/>
          <a:ln w="44450">
            <a:solidFill>
              <a:srgbClr val="1F5FAD"/>
            </a:solidFill>
          </a:ln>
        </p:spPr>
        <p:txBody>
          <a:bodyPr rtlCol="0" anchor="ctr"/>
          <a:lstStyle/>
          <a:p>
            <a:pPr algn="ctr"/>
          </a:p>
        </p:txBody>
      </p:sp>
      <p:sp>
        <p:nvSpPr>
          <p:cNvPr id="21" name="Oval 20"/>
          <p:cNvSpPr/>
          <p:nvPr/>
        </p:nvSpPr>
        <p:spPr>
          <a:xfrm>
            <a:off x="8737947" y="4892040"/>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8698827" y="3163824"/>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011787" y="2587752"/>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492240" y="5650992"/>
            <a:ext cx="492221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7.38 -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4 - 7.4 Volatility breakouts  |  Check 30</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Williams' Oops and ID/NR</a:t>
            </a:r>
          </a:p>
        </p:txBody>
      </p:sp>
      <p:sp>
        <p:nvSpPr>
          <p:cNvPr id="6" name="Rectangle 5"/>
          <p:cNvSpPr/>
          <p:nvPr/>
        </p:nvSpPr>
        <p:spPr>
          <a:xfrm>
            <a:off x="777240" y="1207008"/>
            <a:ext cx="5394960" cy="223583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23583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84632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After a gap up, the Williams' Oops sell-stop is placed at:</a:t>
            </a:r>
          </a:p>
        </p:txBody>
      </p:sp>
      <p:sp>
        <p:nvSpPr>
          <p:cNvPr id="9" name="TextBox 8"/>
          <p:cNvSpPr txBox="1"/>
          <p:nvPr/>
        </p:nvSpPr>
        <p:spPr>
          <a:xfrm>
            <a:off x="1097280" y="2069338"/>
            <a:ext cx="4846320" cy="137350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The previous bar's high</a:t>
            </a:r>
          </a:p>
          <a:p>
            <a:pPr algn="l">
              <a:lnSpc>
                <a:spcPct val="115000"/>
              </a:lnSpc>
              <a:spcBef>
                <a:spcPts val="500"/>
              </a:spcBef>
              <a:spcAft>
                <a:spcPts val="0"/>
              </a:spcAft>
            </a:pPr>
            <a:r>
              <a:rPr sz="1700" b="0" i="0">
                <a:solidFill>
                  <a:srgbClr val="1A1A1A"/>
                </a:solidFill>
                <a:latin typeface="Arial"/>
              </a:rPr>
              <a:t>Lim places the sell-stop at the previous bar's high after a gap above that high (p. 231).</a:t>
            </a:r>
          </a:p>
        </p:txBody>
      </p:sp>
      <p:sp>
        <p:nvSpPr>
          <p:cNvPr id="10" name="Rectangle 9"/>
          <p:cNvSpPr/>
          <p:nvPr/>
        </p:nvSpPr>
        <p:spPr>
          <a:xfrm>
            <a:off x="777240" y="3625723"/>
            <a:ext cx="5394960" cy="22504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625723"/>
            <a:ext cx="91440" cy="225043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808603"/>
            <a:ext cx="484632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Why is ID/NR7 a volatility breakout pattern?</a:t>
            </a:r>
          </a:p>
        </p:txBody>
      </p:sp>
      <p:sp>
        <p:nvSpPr>
          <p:cNvPr id="13" name="TextBox 12"/>
          <p:cNvSpPr txBox="1"/>
          <p:nvPr/>
        </p:nvSpPr>
        <p:spPr>
          <a:xfrm>
            <a:off x="1097280" y="4488053"/>
            <a:ext cx="4846320" cy="138810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It combines an inside day with the narrowest range in seven bars</a:t>
            </a:r>
          </a:p>
          <a:p>
            <a:pPr algn="l">
              <a:lnSpc>
                <a:spcPct val="115000"/>
              </a:lnSpc>
              <a:spcBef>
                <a:spcPts val="500"/>
              </a:spcBef>
              <a:spcAft>
                <a:spcPts val="0"/>
              </a:spcAft>
            </a:pPr>
            <a:r>
              <a:rPr sz="1700" b="0" i="0">
                <a:solidFill>
                  <a:srgbClr val="1A1A1A"/>
                </a:solidFill>
                <a:latin typeface="Arial"/>
              </a:rPr>
              <a:t>ID/NR7 combines an inside day with the narrowest seven-bar range (p. 232).</a:t>
            </a:r>
          </a:p>
        </p:txBody>
      </p:sp>
      <p:sp>
        <p:nvSpPr>
          <p:cNvPr id="14" name="Rectangle 13"/>
          <p:cNvSpPr/>
          <p:nvPr/>
        </p:nvSpPr>
        <p:spPr>
          <a:xfrm>
            <a:off x="6838143" y="1207008"/>
            <a:ext cx="4230408"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957015" y="1325880"/>
            <a:ext cx="3992664"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957015" y="1325880"/>
            <a:ext cx="3992664"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7231335" y="1600200"/>
            <a:ext cx="3444024"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7.38</a:t>
            </a:r>
          </a:p>
          <a:p>
            <a:pPr algn="l">
              <a:lnSpc>
                <a:spcPct val="115000"/>
              </a:lnSpc>
              <a:spcBef>
                <a:spcPts val="0"/>
              </a:spcBef>
              <a:spcAft>
                <a:spcPts val="0"/>
              </a:spcAft>
            </a:pPr>
            <a:r>
              <a:rPr sz="1500" b="0" i="0">
                <a:solidFill>
                  <a:srgbClr val="1A1A1A"/>
                </a:solidFill>
                <a:latin typeface="Palatino"/>
              </a:rPr>
              <a:t>The book's ID/NR6 schematic: six numbered bars, with the sixth bar inside the prior range and the narrowest range, followed by long and short trigger levels.</a:t>
            </a:r>
          </a:p>
        </p:txBody>
      </p:sp>
      <p:sp>
        <p:nvSpPr>
          <p:cNvPr id="18" name="Rectangle 17"/>
          <p:cNvSpPr/>
          <p:nvPr/>
        </p:nvSpPr>
        <p:spPr>
          <a:xfrm>
            <a:off x="6957015" y="1490472"/>
            <a:ext cx="1716845" cy="3291839"/>
          </a:xfrm>
          <a:prstGeom prst="rect">
            <a:avLst/>
          </a:prstGeom>
          <a:noFill/>
          <a:ln w="44450">
            <a:solidFill>
              <a:srgbClr val="E09B00"/>
            </a:solidFill>
          </a:ln>
        </p:spPr>
        <p:txBody>
          <a:bodyPr rtlCol="0" anchor="ctr"/>
          <a:lstStyle/>
          <a:p>
            <a:pPr algn="ctr"/>
          </a:p>
        </p:txBody>
      </p:sp>
      <p:sp>
        <p:nvSpPr>
          <p:cNvPr id="19" name="Rectangle 18"/>
          <p:cNvSpPr/>
          <p:nvPr/>
        </p:nvSpPr>
        <p:spPr>
          <a:xfrm>
            <a:off x="8394374" y="3547872"/>
            <a:ext cx="279486" cy="864107"/>
          </a:xfrm>
          <a:prstGeom prst="rect">
            <a:avLst/>
          </a:prstGeom>
          <a:noFill/>
          <a:ln w="44450">
            <a:solidFill>
              <a:srgbClr val="C62828"/>
            </a:solidFill>
          </a:ln>
        </p:spPr>
        <p:txBody>
          <a:bodyPr rtlCol="0" anchor="ctr"/>
          <a:lstStyle/>
          <a:p>
            <a:pPr algn="ctr"/>
          </a:p>
        </p:txBody>
      </p:sp>
      <p:sp>
        <p:nvSpPr>
          <p:cNvPr id="20" name="Rectangle 19"/>
          <p:cNvSpPr/>
          <p:nvPr/>
        </p:nvSpPr>
        <p:spPr>
          <a:xfrm>
            <a:off x="8554081" y="2930652"/>
            <a:ext cx="359339" cy="1769363"/>
          </a:xfrm>
          <a:prstGeom prst="rect">
            <a:avLst/>
          </a:prstGeom>
          <a:noFill/>
          <a:ln w="44450">
            <a:solidFill>
              <a:srgbClr val="1F5FAD"/>
            </a:solidFill>
          </a:ln>
        </p:spPr>
        <p:txBody>
          <a:bodyPr rtlCol="0" anchor="ctr"/>
          <a:lstStyle/>
          <a:p>
            <a:pPr algn="ctr"/>
          </a:p>
        </p:txBody>
      </p:sp>
      <p:sp>
        <p:nvSpPr>
          <p:cNvPr id="21" name="Oval 20"/>
          <p:cNvSpPr/>
          <p:nvPr/>
        </p:nvSpPr>
        <p:spPr>
          <a:xfrm>
            <a:off x="8736334" y="4892040"/>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8696407" y="3163824"/>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015820" y="2587752"/>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492240" y="5650992"/>
            <a:ext cx="492221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7.38 -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Check 30</a:t>
            </a:r>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Here is the chapter's reading habit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Bar, indicator, and volume action may indicate future price activity.</a:t>
            </a:r>
          </a:p>
          <a:p>
            <a:pPr algn="l">
              <a:lnSpc>
                <a:spcPct val="118000"/>
              </a:lnSpc>
              <a:spcBef>
                <a:spcPts val="0"/>
              </a:spcBef>
              <a:spcAft>
                <a:spcPts val="1300"/>
              </a:spcAft>
            </a:pPr>
            <a:r>
              <a:rPr sz="2100" b="0" i="0">
                <a:solidFill>
                  <a:srgbClr val="1A1A1A"/>
                </a:solidFill>
                <a:latin typeface="Arial"/>
              </a:rPr>
              <a:t>Chapter 7 reads OHLC, formation count, trend and intrinsic sentiment, gaps, barriers, volume, and 16 reversal characteristics.</a:t>
            </a:r>
          </a:p>
          <a:p>
            <a:pPr algn="l">
              <a:lnSpc>
                <a:spcPct val="118000"/>
              </a:lnSpc>
              <a:spcBef>
                <a:spcPts val="0"/>
              </a:spcBef>
              <a:spcAft>
                <a:spcPts val="1300"/>
              </a:spcAft>
            </a:pPr>
            <a:r>
              <a:rPr sz="2100" b="0" i="0">
                <a:solidFill>
                  <a:srgbClr val="1A1A1A"/>
                </a:solidFill>
                <a:latin typeface="Arial"/>
              </a:rPr>
              <a:t>Breakout patterns may catch continuations or reversals, but every reading remains potential. Chapter 8 teaches the oscillator method.</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This is a reading habit, not a complete trade plan.</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233. The chapter summary is paraphrased for teaching.</a:t>
            </a:r>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Review answer 1 begins with the exhaustion-bar structure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An exhaustion bar opens beyond the prior extreme and has no following gap. Figure 7.28 mark 1 shows the exhaustion example.</a:t>
            </a:r>
          </a:p>
          <a:p>
            <a:pPr algn="l">
              <a:lnSpc>
                <a:spcPct val="105000"/>
              </a:lnSpc>
              <a:spcBef>
                <a:spcPts val="0"/>
              </a:spcBef>
              <a:spcAft>
                <a:spcPts val="1100"/>
              </a:spcAft>
            </a:pPr>
            <a:r>
              <a:rPr sz="2000" b="0" i="0">
                <a:solidFill>
                  <a:srgbClr val="1A1A1A"/>
                </a:solidFill>
                <a:latin typeface="Arial"/>
              </a:rPr>
              <a:t>1. The pattern warns of a possible reversal; the figure supplies the observed context, not a guarantee.</a:t>
            </a:r>
          </a:p>
        </p:txBody>
      </p:sp>
      <p:sp>
        <p:nvSpPr>
          <p:cNvPr id="8" name="Rectangle 7"/>
          <p:cNvSpPr/>
          <p:nvPr/>
        </p:nvSpPr>
        <p:spPr>
          <a:xfrm>
            <a:off x="777240" y="441655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53128"/>
            <a:ext cx="519379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exhaustion-bar structure comes before the pin-bar comparison.</a:t>
            </a:r>
          </a:p>
        </p:txBody>
      </p:sp>
      <p:sp>
        <p:nvSpPr>
          <p:cNvPr id="10" name="Rectangle 9"/>
          <p:cNvSpPr/>
          <p:nvPr/>
        </p:nvSpPr>
        <p:spPr>
          <a:xfrm>
            <a:off x="7150854" y="1810512"/>
            <a:ext cx="3787866"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269726" y="1929384"/>
            <a:ext cx="3550122"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269726" y="1929384"/>
            <a:ext cx="3550122"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544046" y="2203703"/>
            <a:ext cx="3001482"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7.28</a:t>
            </a:r>
          </a:p>
          <a:p>
            <a:pPr algn="l">
              <a:lnSpc>
                <a:spcPct val="115000"/>
              </a:lnSpc>
              <a:spcBef>
                <a:spcPts val="0"/>
              </a:spcBef>
              <a:spcAft>
                <a:spcPts val="0"/>
              </a:spcAft>
            </a:pPr>
            <a:r>
              <a:rPr sz="1500" b="0" i="0">
                <a:solidFill>
                  <a:srgbClr val="1A1A1A"/>
                </a:solidFill>
                <a:latin typeface="Palatino"/>
              </a:rPr>
              <a:t>A crop of Figure 7.28 showing the marked exhaustion bar and the following price action.</a:t>
            </a:r>
          </a:p>
        </p:txBody>
      </p:sp>
      <p:sp>
        <p:nvSpPr>
          <p:cNvPr id="14" name="Oval 13"/>
          <p:cNvSpPr/>
          <p:nvPr/>
        </p:nvSpPr>
        <p:spPr>
          <a:xfrm>
            <a:off x="8441266" y="3755257"/>
            <a:ext cx="497017" cy="667146"/>
          </a:xfrm>
          <a:prstGeom prst="ellipse">
            <a:avLst/>
          </a:prstGeom>
          <a:noFill/>
          <a:ln w="44450">
            <a:solidFill>
              <a:srgbClr val="E09B00"/>
            </a:solidFill>
          </a:ln>
        </p:spPr>
        <p:txBody>
          <a:bodyPr rtlCol="0" anchor="ctr"/>
          <a:lstStyle/>
          <a:p>
            <a:pPr algn="ctr"/>
          </a:p>
        </p:txBody>
      </p:sp>
      <p:sp>
        <p:nvSpPr>
          <p:cNvPr id="15" name="Oval 14"/>
          <p:cNvSpPr/>
          <p:nvPr/>
        </p:nvSpPr>
        <p:spPr>
          <a:xfrm>
            <a:off x="8020096" y="3442533"/>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TextBox 15"/>
          <p:cNvSpPr txBox="1"/>
          <p:nvPr/>
        </p:nvSpPr>
        <p:spPr>
          <a:xfrm>
            <a:off x="6583679" y="5650991"/>
            <a:ext cx="492221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7.28 - Lim, The Handbook of Technical Analysis (Wiley, 2016)</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226, Figure 7.28. The crop and marks are for teaching; the worked PHP values are ours, invented.</a:t>
            </a: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Review answer 1 continues with the pin-bar structure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pin bar falsely penetrates a barrier and rapidly retraces. Figure 7.30 mark 1 locates the pin-bar area.</a:t>
            </a:r>
          </a:p>
          <a:p>
            <a:pPr algn="l">
              <a:lnSpc>
                <a:spcPct val="105000"/>
              </a:lnSpc>
              <a:spcBef>
                <a:spcPts val="0"/>
              </a:spcBef>
              <a:spcAft>
                <a:spcPts val="1100"/>
              </a:spcAft>
            </a:pPr>
            <a:r>
              <a:rPr sz="2000" b="0" i="0">
                <a:solidFill>
                  <a:srgbClr val="1A1A1A"/>
                </a:solidFill>
                <a:latin typeface="Arial"/>
              </a:rPr>
              <a:t>1. The pin bar is another potential reversal reading, not a promise of follow-through.</a:t>
            </a:r>
          </a:p>
        </p:txBody>
      </p:sp>
      <p:sp>
        <p:nvSpPr>
          <p:cNvPr id="8" name="Rectangle 7"/>
          <p:cNvSpPr/>
          <p:nvPr/>
        </p:nvSpPr>
        <p:spPr>
          <a:xfrm>
            <a:off x="777240" y="441655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53128"/>
            <a:ext cx="519379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Both answers describe a structure before judging its reliability.</a:t>
            </a:r>
          </a:p>
        </p:txBody>
      </p:sp>
      <p:sp>
        <p:nvSpPr>
          <p:cNvPr id="10" name="Rectangle 9"/>
          <p:cNvSpPr/>
          <p:nvPr/>
        </p:nvSpPr>
        <p:spPr>
          <a:xfrm>
            <a:off x="6583679" y="1810512"/>
            <a:ext cx="4922214" cy="229266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684470" cy="2054921"/>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684470"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135831" cy="159772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7.30</a:t>
            </a:r>
          </a:p>
          <a:p>
            <a:pPr algn="l">
              <a:lnSpc>
                <a:spcPct val="115000"/>
              </a:lnSpc>
              <a:spcBef>
                <a:spcPts val="0"/>
              </a:spcBef>
              <a:spcAft>
                <a:spcPts val="0"/>
              </a:spcAft>
            </a:pPr>
            <a:r>
              <a:rPr sz="1500" b="0" i="0">
                <a:solidFill>
                  <a:srgbClr val="1A1A1A"/>
                </a:solidFill>
                <a:latin typeface="Palatino"/>
              </a:rPr>
              <a:t>A crop of Figure 7.30 showing the pin bar at the support barrier.</a:t>
            </a:r>
          </a:p>
        </p:txBody>
      </p:sp>
      <p:sp>
        <p:nvSpPr>
          <p:cNvPr id="14" name="Oval 13"/>
          <p:cNvSpPr/>
          <p:nvPr/>
        </p:nvSpPr>
        <p:spPr>
          <a:xfrm>
            <a:off x="8670029" y="3244533"/>
            <a:ext cx="562136" cy="431533"/>
          </a:xfrm>
          <a:prstGeom prst="ellipse">
            <a:avLst/>
          </a:prstGeom>
          <a:noFill/>
          <a:ln w="44450">
            <a:solidFill>
              <a:srgbClr val="E09B00"/>
            </a:solidFill>
          </a:ln>
        </p:spPr>
        <p:txBody>
          <a:bodyPr rtlCol="0" anchor="ctr"/>
          <a:lstStyle/>
          <a:p>
            <a:pPr algn="ctr"/>
          </a:p>
        </p:txBody>
      </p:sp>
      <p:sp>
        <p:nvSpPr>
          <p:cNvPr id="15" name="Oval 14"/>
          <p:cNvSpPr/>
          <p:nvPr/>
        </p:nvSpPr>
        <p:spPr>
          <a:xfrm>
            <a:off x="8158112" y="2984078"/>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TextBox 15"/>
          <p:cNvSpPr txBox="1"/>
          <p:nvPr/>
        </p:nvSpPr>
        <p:spPr>
          <a:xfrm>
            <a:off x="6583679" y="4194617"/>
            <a:ext cx="492221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7.30 - Lim, The Handbook of Technical Analysis (Wiley, 2016)</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227, Figure 7.30. The crop and marks are for teaching; the worked PHP values are ours, invented.</a:t>
            </a: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Review answer 2 names ID/NR7 as a volatility breakout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ID/NR7 combines an inside day with the narrowest range in the last seven bars. Figure 7.38 mark 1 shows the narrow inside-bar idea.</a:t>
            </a:r>
          </a:p>
          <a:p>
            <a:pPr algn="l">
              <a:lnSpc>
                <a:spcPct val="105000"/>
              </a:lnSpc>
              <a:spcBef>
                <a:spcPts val="0"/>
              </a:spcBef>
              <a:spcAft>
                <a:spcPts val="1100"/>
              </a:spcAft>
            </a:pPr>
            <a:r>
              <a:rPr sz="1900" b="0" i="0">
                <a:solidFill>
                  <a:srgbClr val="1A1A1A"/>
                </a:solidFill>
                <a:latin typeface="Arial"/>
              </a:rPr>
              <a:t>2. The pattern is a volatility breakout because range has compressed before the later trigger.</a:t>
            </a:r>
          </a:p>
        </p:txBody>
      </p:sp>
      <p:sp>
        <p:nvSpPr>
          <p:cNvPr id="8" name="Rectangle 7"/>
          <p:cNvSpPr/>
          <p:nvPr/>
        </p:nvSpPr>
        <p:spPr>
          <a:xfrm>
            <a:off x="777240" y="4624578"/>
            <a:ext cx="82296" cy="10607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61154"/>
            <a:ext cx="5193792" cy="10607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The narrow range describes compression; the later break supplies direction.</a:t>
            </a:r>
          </a:p>
        </p:txBody>
      </p:sp>
      <p:sp>
        <p:nvSpPr>
          <p:cNvPr id="10" name="Rectangle 9"/>
          <p:cNvSpPr/>
          <p:nvPr/>
        </p:nvSpPr>
        <p:spPr>
          <a:xfrm>
            <a:off x="7549319" y="1810512"/>
            <a:ext cx="29909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668191" y="1929384"/>
            <a:ext cx="2753191"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668191" y="1929384"/>
            <a:ext cx="27531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942511" y="2203703"/>
            <a:ext cx="2204551"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7.38</a:t>
            </a:r>
          </a:p>
          <a:p>
            <a:pPr algn="l">
              <a:lnSpc>
                <a:spcPct val="115000"/>
              </a:lnSpc>
              <a:spcBef>
                <a:spcPts val="0"/>
              </a:spcBef>
              <a:spcAft>
                <a:spcPts val="0"/>
              </a:spcAft>
            </a:pPr>
            <a:r>
              <a:rPr sz="1500" b="0" i="0">
                <a:solidFill>
                  <a:srgbClr val="1A1A1A"/>
                </a:solidFill>
                <a:latin typeface="Palatino"/>
              </a:rPr>
              <a:t>A crop of Figure 7.38 showing the final narrow inside bar in the ID/NR6 schematic.</a:t>
            </a:r>
          </a:p>
        </p:txBody>
      </p:sp>
      <p:sp>
        <p:nvSpPr>
          <p:cNvPr id="14" name="Rectangle 13"/>
          <p:cNvSpPr/>
          <p:nvPr/>
        </p:nvSpPr>
        <p:spPr>
          <a:xfrm>
            <a:off x="8218830" y="3825483"/>
            <a:ext cx="247787" cy="737372"/>
          </a:xfrm>
          <a:prstGeom prst="rect">
            <a:avLst/>
          </a:prstGeom>
          <a:noFill/>
          <a:ln w="44450">
            <a:solidFill>
              <a:srgbClr val="E09B00"/>
            </a:solidFill>
          </a:ln>
        </p:spPr>
        <p:txBody>
          <a:bodyPr rtlCol="0" anchor="ctr"/>
          <a:lstStyle/>
          <a:p>
            <a:pPr algn="ctr"/>
          </a:p>
        </p:txBody>
      </p:sp>
      <p:sp>
        <p:nvSpPr>
          <p:cNvPr id="15" name="Oval 14"/>
          <p:cNvSpPr/>
          <p:nvPr/>
        </p:nvSpPr>
        <p:spPr>
          <a:xfrm>
            <a:off x="7944010" y="3477646"/>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TextBox 15"/>
          <p:cNvSpPr txBox="1"/>
          <p:nvPr/>
        </p:nvSpPr>
        <p:spPr>
          <a:xfrm>
            <a:off x="6583679" y="5650991"/>
            <a:ext cx="492221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7.38 - Lim, The Handbook of Technical Analysis (Wiley, 2016)</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232, Figure 7.38. The crop and marks are for teaching; the worked PHP values are ours, invented.</a:t>
            </a:r>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Review answer 3 identifies the key-reversal structure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A key reversal makes a higher high and then closes near or below the prior close. Figure 7.15 mark 1 shows the key-reversal day.</a:t>
            </a:r>
          </a:p>
          <a:p>
            <a:pPr algn="l">
              <a:lnSpc>
                <a:spcPct val="105000"/>
              </a:lnSpc>
              <a:spcBef>
                <a:spcPts val="0"/>
              </a:spcBef>
              <a:spcAft>
                <a:spcPts val="1100"/>
              </a:spcAft>
            </a:pPr>
            <a:r>
              <a:rPr sz="1900" b="0" i="0">
                <a:solidFill>
                  <a:srgbClr val="1A1A1A"/>
                </a:solidFill>
                <a:latin typeface="Arial"/>
              </a:rPr>
              <a:t>3. The bullish converse makes a new low and closes near or above the prior close. A wider bar and high volume may strengthen the potential reading.</a:t>
            </a:r>
          </a:p>
        </p:txBody>
      </p:sp>
      <p:sp>
        <p:nvSpPr>
          <p:cNvPr id="8" name="Rectangle 7"/>
          <p:cNvSpPr/>
          <p:nvPr/>
        </p:nvSpPr>
        <p:spPr>
          <a:xfrm>
            <a:off x="777240" y="4624578"/>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61154"/>
            <a:ext cx="519379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Structure comes first; range and volume add context without certainty.</a:t>
            </a:r>
          </a:p>
        </p:txBody>
      </p:sp>
      <p:sp>
        <p:nvSpPr>
          <p:cNvPr id="10" name="Rectangle 9"/>
          <p:cNvSpPr/>
          <p:nvPr/>
        </p:nvSpPr>
        <p:spPr>
          <a:xfrm>
            <a:off x="7721264" y="1810512"/>
            <a:ext cx="264704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840136" y="1929384"/>
            <a:ext cx="2409301"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840136" y="1929384"/>
            <a:ext cx="240930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8114456" y="2203703"/>
            <a:ext cx="1860661"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A crop of Figure 7.15 showing the key reversal day and its surrounding bars.</a:t>
            </a:r>
          </a:p>
        </p:txBody>
      </p:sp>
      <p:sp>
        <p:nvSpPr>
          <p:cNvPr id="14" name="Oval 13"/>
          <p:cNvSpPr/>
          <p:nvPr/>
        </p:nvSpPr>
        <p:spPr>
          <a:xfrm>
            <a:off x="8996601" y="2157618"/>
            <a:ext cx="192744" cy="140451"/>
          </a:xfrm>
          <a:prstGeom prst="ellipse">
            <a:avLst/>
          </a:prstGeom>
          <a:noFill/>
          <a:ln w="44450">
            <a:solidFill>
              <a:srgbClr val="E09B00"/>
            </a:solidFill>
          </a:ln>
        </p:spPr>
        <p:txBody>
          <a:bodyPr rtlCol="0" anchor="ctr"/>
          <a:lstStyle/>
          <a:p>
            <a:pPr algn="ctr"/>
          </a:p>
        </p:txBody>
      </p:sp>
      <p:sp>
        <p:nvSpPr>
          <p:cNvPr id="15" name="Oval 14"/>
          <p:cNvSpPr/>
          <p:nvPr/>
        </p:nvSpPr>
        <p:spPr>
          <a:xfrm>
            <a:off x="8305302" y="2108240"/>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TextBox 15"/>
          <p:cNvSpPr txBox="1"/>
          <p:nvPr/>
        </p:nvSpPr>
        <p:spPr>
          <a:xfrm>
            <a:off x="6583679" y="5650991"/>
            <a:ext cx="492221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7.15 - Lim, The Handbook of Technical Analysis (Wiley, 2016)</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219, Figure 7.15. The crop and marks are for teaching; the worked PHP values are ours, invented.</a:t>
            </a:r>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Review answer 4 begins with the first eight reversal characteristics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16 reversal characteristics are potential clues that add context to a bar pattern. The first four are a decrease in price-cycle amplitude, a decrease in price-cycle period, a change in bar-retracement symmetry, and a decrease in average bar range.</a:t>
            </a:r>
          </a:p>
          <a:p>
            <a:pPr algn="l">
              <a:lnSpc>
                <a:spcPct val="118000"/>
              </a:lnSpc>
              <a:spcBef>
                <a:spcPts val="0"/>
              </a:spcBef>
              <a:spcAft>
                <a:spcPts val="1300"/>
              </a:spcAft>
            </a:pPr>
            <a:r>
              <a:rPr sz="2100" b="0" i="0">
                <a:solidFill>
                  <a:srgbClr val="1A1A1A"/>
                </a:solidFill>
                <a:latin typeface="Arial"/>
              </a:rPr>
              <a:t>The next four are a lack of the quality of price persistence, a decrease in average bar stochastic ratio, a decrease in average candlestick real-body-to-range ratio, and changes in angular symmetry and momentum.</a:t>
            </a:r>
          </a:p>
        </p:txBody>
      </p:sp>
      <p:sp>
        <p:nvSpPr>
          <p:cNvPr id="8" name="Rectangle 7"/>
          <p:cNvSpPr/>
          <p:nvPr/>
        </p:nvSpPr>
        <p:spPr>
          <a:xfrm>
            <a:off x="777240" y="4845558"/>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82134"/>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These first eight are potential reversal clues, not guarantees. Chapter 5 gives the detailed discussion.</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216 to 218; the 16 names follow the book's order.</a:t>
            </a:r>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Review answer 4 continues with the remaining eight characteristics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next four are proximity to a price barrier, a reduction in the frequency and depth of trend-based oscillations, larger and longer-lasting consolidations, and an exhaustion gap.</a:t>
            </a:r>
          </a:p>
          <a:p>
            <a:pPr algn="l">
              <a:lnSpc>
                <a:spcPct val="118000"/>
              </a:lnSpc>
              <a:spcBef>
                <a:spcPts val="0"/>
              </a:spcBef>
              <a:spcAft>
                <a:spcPts val="1300"/>
              </a:spcAft>
            </a:pPr>
            <a:r>
              <a:rPr sz="2100" b="0" i="0">
                <a:solidFill>
                  <a:srgbClr val="1A1A1A"/>
                </a:solidFill>
                <a:latin typeface="Arial"/>
              </a:rPr>
              <a:t>The final four are completion of the average range for the period under observation, overextended price action with respect to a price barrier, price accompanied by extremely high or low volume, and standard divergences between price, volume, and oscillators.</a:t>
            </a:r>
          </a:p>
        </p:txBody>
      </p:sp>
      <p:sp>
        <p:nvSpPr>
          <p:cNvPr id="8" name="Rectangle 7"/>
          <p:cNvSpPr/>
          <p:nvPr/>
        </p:nvSpPr>
        <p:spPr>
          <a:xfrm>
            <a:off x="777240" y="4845558"/>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82134"/>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Barrier proximity is the especially important context; these clues still do not guarantee reversal.</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216 to 218; the 16 names follow the book's order.</a:t>
            </a: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Review answer 5 explains how volume adds context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can strengthen or weaken a reversal read.</a:t>
            </a:r>
          </a:p>
          <a:p>
            <a:pPr algn="l">
              <a:lnSpc>
                <a:spcPct val="118000"/>
              </a:lnSpc>
              <a:spcBef>
                <a:spcPts val="0"/>
              </a:spcBef>
              <a:spcAft>
                <a:spcPts val="1300"/>
              </a:spcAft>
            </a:pPr>
            <a:r>
              <a:rPr sz="2100" b="0" i="0">
                <a:solidFill>
                  <a:srgbClr val="1A1A1A"/>
                </a:solidFill>
                <a:latin typeface="Arial"/>
              </a:rPr>
              <a:t>5. High volume can strengthen a wide final reversal bar; low volume can signal uncertainty.</a:t>
            </a:r>
          </a:p>
        </p:txBody>
      </p:sp>
      <p:sp>
        <p:nvSpPr>
          <p:cNvPr id="8" name="Rectangle 7"/>
          <p:cNvSpPr/>
          <p:nvPr/>
        </p:nvSpPr>
        <p:spPr>
          <a:xfrm>
            <a:off x="777240" y="3586734"/>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623310"/>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Volume adds context to a pattern; it does not guarantee the result.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216. Review answer 5 is written from the preceding volume slides.</a:t>
            </a:r>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Review answer 6 returns to triple-bar structure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Triple-bar structure separates the examples. 6. Figure 7.6 shows pattern 1 </a:t>
            </a:r>
            <a:r>
              <a:rPr sz="2000" b="1" i="0">
                <a:solidFill>
                  <a:srgbClr val="E09B00"/>
                </a:solidFill>
                <a:latin typeface="Arial"/>
              </a:rPr>
              <a:t>(1)</a:t>
            </a:r>
            <a:r>
              <a:rPr sz="2000" b="0" i="0">
                <a:solidFill>
                  <a:srgbClr val="1A1A1A"/>
                </a:solidFill>
                <a:latin typeface="Arial"/>
              </a:rPr>
              <a:t> with a large middle bar and pattern 2 </a:t>
            </a:r>
            <a:r>
              <a:rPr sz="2000" b="1" i="0">
                <a:solidFill>
                  <a:srgbClr val="C62828"/>
                </a:solidFill>
                <a:latin typeface="Arial"/>
              </a:rPr>
              <a:t>(2)</a:t>
            </a:r>
            <a:r>
              <a:rPr sz="2000" b="0" i="0">
                <a:solidFill>
                  <a:srgbClr val="1A1A1A"/>
                </a:solidFill>
                <a:latin typeface="Arial"/>
              </a:rPr>
              <a:t> with a narrow, low-volume middle bar. Blue mark 3 points to pattern 1's uptrend.</a:t>
            </a:r>
          </a:p>
          <a:p>
            <a:pPr algn="l">
              <a:lnSpc>
                <a:spcPct val="105000"/>
              </a:lnSpc>
              <a:spcBef>
                <a:spcPts val="0"/>
              </a:spcBef>
              <a:spcAft>
                <a:spcPts val="1100"/>
              </a:spcAft>
            </a:pPr>
            <a:r>
              <a:rPr sz="2000" b="0" i="0">
                <a:solidFill>
                  <a:srgbClr val="1A1A1A"/>
                </a:solidFill>
                <a:latin typeface="Arial"/>
              </a:rPr>
              <a:t>Wider ranges and gaps may add reliability; Chapter 7 gives no complete trade plan.</a:t>
            </a:r>
          </a:p>
        </p:txBody>
      </p:sp>
      <p:sp>
        <p:nvSpPr>
          <p:cNvPr id="8" name="Rectangle 7"/>
          <p:cNvSpPr/>
          <p:nvPr/>
        </p:nvSpPr>
        <p:spPr>
          <a:xfrm>
            <a:off x="777240" y="473659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73168"/>
            <a:ext cx="629107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Pattern evidence does not make a complete trade plan.</a:t>
            </a:r>
          </a:p>
        </p:txBody>
      </p:sp>
      <p:sp>
        <p:nvSpPr>
          <p:cNvPr id="10" name="Rectangle 9"/>
          <p:cNvSpPr/>
          <p:nvPr/>
        </p:nvSpPr>
        <p:spPr>
          <a:xfrm>
            <a:off x="8105150" y="1810512"/>
            <a:ext cx="297655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8224022" y="1929384"/>
            <a:ext cx="2738810"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8224022" y="1929384"/>
            <a:ext cx="2738810"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8498342" y="2203703"/>
            <a:ext cx="2190170"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7.6</a:t>
            </a:r>
          </a:p>
          <a:p>
            <a:pPr algn="l">
              <a:lnSpc>
                <a:spcPct val="115000"/>
              </a:lnSpc>
              <a:spcBef>
                <a:spcPts val="0"/>
              </a:spcBef>
              <a:spcAft>
                <a:spcPts val="0"/>
              </a:spcAft>
            </a:pPr>
            <a:r>
              <a:rPr sz="1500" b="0" i="0">
                <a:solidFill>
                  <a:srgbClr val="1A1A1A"/>
                </a:solidFill>
                <a:latin typeface="Palatino"/>
              </a:rPr>
              <a:t>Figure 7.6's first two bearish triple-bar schematics, marked for the review answer.</a:t>
            </a:r>
          </a:p>
        </p:txBody>
      </p:sp>
      <p:sp>
        <p:nvSpPr>
          <p:cNvPr id="14" name="Rectangle 13"/>
          <p:cNvSpPr/>
          <p:nvPr/>
        </p:nvSpPr>
        <p:spPr>
          <a:xfrm>
            <a:off x="8525291" y="1999609"/>
            <a:ext cx="1122912" cy="1123614"/>
          </a:xfrm>
          <a:prstGeom prst="rect">
            <a:avLst/>
          </a:prstGeom>
          <a:noFill/>
          <a:ln w="44450">
            <a:solidFill>
              <a:srgbClr val="E09B00"/>
            </a:solidFill>
          </a:ln>
        </p:spPr>
        <p:txBody>
          <a:bodyPr rtlCol="0" anchor="ctr"/>
          <a:lstStyle/>
          <a:p>
            <a:pPr algn="ctr"/>
          </a:p>
        </p:txBody>
      </p:sp>
      <p:sp>
        <p:nvSpPr>
          <p:cNvPr id="15" name="Rectangle 14"/>
          <p:cNvSpPr/>
          <p:nvPr/>
        </p:nvSpPr>
        <p:spPr>
          <a:xfrm>
            <a:off x="9894696" y="1999609"/>
            <a:ext cx="684702" cy="1123614"/>
          </a:xfrm>
          <a:prstGeom prst="rect">
            <a:avLst/>
          </a:prstGeom>
          <a:noFill/>
          <a:ln w="44450">
            <a:solidFill>
              <a:srgbClr val="C62828"/>
            </a:solidFill>
          </a:ln>
        </p:spPr>
        <p:txBody>
          <a:bodyPr rtlCol="0" anchor="ctr"/>
          <a:lstStyle/>
          <a:p>
            <a:pPr algn="ctr"/>
          </a:p>
        </p:txBody>
      </p:sp>
      <p:sp>
        <p:nvSpPr>
          <p:cNvPr id="16" name="Oval 15"/>
          <p:cNvSpPr/>
          <p:nvPr/>
        </p:nvSpPr>
        <p:spPr>
          <a:xfrm>
            <a:off x="8853948" y="3088111"/>
            <a:ext cx="356045" cy="1053388"/>
          </a:xfrm>
          <a:prstGeom prst="ellipse">
            <a:avLst/>
          </a:prstGeom>
          <a:noFill/>
          <a:ln w="44450">
            <a:solidFill>
              <a:srgbClr val="1F5FAD"/>
            </a:solidFill>
          </a:ln>
        </p:spPr>
        <p:txBody>
          <a:bodyPr rtlCol="0" anchor="ctr"/>
          <a:lstStyle/>
          <a:p>
            <a:pPr algn="ctr"/>
          </a:p>
        </p:txBody>
      </p:sp>
      <p:sp>
        <p:nvSpPr>
          <p:cNvPr id="17" name="Oval 16"/>
          <p:cNvSpPr/>
          <p:nvPr/>
        </p:nvSpPr>
        <p:spPr>
          <a:xfrm>
            <a:off x="8223802" y="3126516"/>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9647984" y="3126516"/>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8552459" y="2845612"/>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7680960" y="5650991"/>
            <a:ext cx="382493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7.6 -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7.6. The numbered marks are for teaching.</a:t>
            </a:r>
          </a:p>
        </p:txBody>
      </p:sp>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Review answer 7 describes an ideal inside-bar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69494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An inside-bar reversal begins when the inside bar stays within the prior high and low, then breaks in reversal direction.</a:t>
            </a:r>
          </a:p>
          <a:p>
            <a:pPr algn="l">
              <a:lnSpc>
                <a:spcPct val="105000"/>
              </a:lnSpc>
              <a:spcBef>
                <a:spcPts val="0"/>
              </a:spcBef>
              <a:spcAft>
                <a:spcPts val="1100"/>
              </a:spcAft>
            </a:pPr>
            <a:r>
              <a:rPr sz="2000" b="0" i="0">
                <a:solidFill>
                  <a:srgbClr val="1A1A1A"/>
                </a:solidFill>
                <a:latin typeface="Arial"/>
              </a:rPr>
              <a:t>7. Ideal conditions are a wide, high-volume first bar and a narrow, very-low-volume second bar. Figure 7.25 marks them </a:t>
            </a:r>
            <a:r>
              <a:rPr sz="2000" b="1" i="0">
                <a:solidFill>
                  <a:srgbClr val="E09B00"/>
                </a:solidFill>
                <a:latin typeface="Arial"/>
              </a:rPr>
              <a:t>(1)</a:t>
            </a:r>
            <a:r>
              <a:rPr sz="2000" b="0" i="0">
                <a:solidFill>
                  <a:srgbClr val="1A1A1A"/>
                </a:solidFill>
                <a:latin typeface="Arial"/>
              </a:rPr>
              <a:t> </a:t>
            </a:r>
            <a:r>
              <a:rPr sz="2000" b="1" i="0">
                <a:solidFill>
                  <a:srgbClr val="C62828"/>
                </a:solidFill>
                <a:latin typeface="Arial"/>
              </a:rPr>
              <a:t>(2)</a:t>
            </a:r>
            <a:r>
              <a:rPr sz="2000" b="0" i="0">
                <a:solidFill>
                  <a:srgbClr val="1A1A1A"/>
                </a:solidFill>
                <a:latin typeface="Arial"/>
              </a:rPr>
              <a:t>, with oscillator label </a:t>
            </a:r>
            <a:r>
              <a:rPr sz="2000" b="1" i="0">
                <a:solidFill>
                  <a:srgbClr val="1F5FAD"/>
                </a:solidFill>
                <a:latin typeface="Arial"/>
              </a:rPr>
              <a:t>(3)</a:t>
            </a:r>
            <a:r>
              <a:rPr sz="2000" b="0" i="0">
                <a:solidFill>
                  <a:srgbClr val="1A1A1A"/>
                </a:solidFill>
                <a:latin typeface="Arial"/>
              </a:rPr>
              <a:t>.</a:t>
            </a:r>
          </a:p>
          <a:p>
            <a:pPr algn="l">
              <a:lnSpc>
                <a:spcPct val="105000"/>
              </a:lnSpc>
              <a:spcBef>
                <a:spcPts val="0"/>
              </a:spcBef>
              <a:spcAft>
                <a:spcPts val="1100"/>
              </a:spcAft>
            </a:pPr>
            <a:r>
              <a:rPr sz="2000" b="0" i="0">
                <a:solidFill>
                  <a:srgbClr val="1A1A1A"/>
                </a:solidFill>
                <a:latin typeface="Arial"/>
              </a:rPr>
              <a:t>Lim says the narrow candlestick in a Harami is no more than one-fourth to one-third the range of the larger preceding candlestick, while an inside bar has no such size restriction.</a:t>
            </a:r>
          </a:p>
        </p:txBody>
      </p:sp>
      <p:sp>
        <p:nvSpPr>
          <p:cNvPr id="8" name="Rectangle 7"/>
          <p:cNvSpPr/>
          <p:nvPr/>
        </p:nvSpPr>
        <p:spPr>
          <a:xfrm>
            <a:off x="8046719" y="1810512"/>
            <a:ext cx="3459174" cy="2164850"/>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8165592" y="1929384"/>
            <a:ext cx="3221431" cy="192710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8165592" y="1929384"/>
            <a:ext cx="322143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8439912" y="2203703"/>
            <a:ext cx="2672790" cy="146990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7.25</a:t>
            </a:r>
          </a:p>
          <a:p>
            <a:pPr algn="l">
              <a:lnSpc>
                <a:spcPct val="115000"/>
              </a:lnSpc>
              <a:spcBef>
                <a:spcPts val="0"/>
              </a:spcBef>
              <a:spcAft>
                <a:spcPts val="0"/>
              </a:spcAft>
            </a:pPr>
            <a:r>
              <a:rPr sz="1300" b="0" i="0">
                <a:solidFill>
                  <a:srgbClr val="1A1A1A"/>
                </a:solidFill>
                <a:latin typeface="Palatino"/>
              </a:rPr>
              <a:t>Figure 7.25's ITC Holdings chart, with the wide first bar, the narrow inside bar, and the lower oscillator region marked.</a:t>
            </a:r>
          </a:p>
        </p:txBody>
      </p:sp>
      <p:sp>
        <p:nvSpPr>
          <p:cNvPr id="12" name="Oval 11"/>
          <p:cNvSpPr/>
          <p:nvPr/>
        </p:nvSpPr>
        <p:spPr>
          <a:xfrm>
            <a:off x="10001807" y="2218449"/>
            <a:ext cx="193285" cy="462505"/>
          </a:xfrm>
          <a:prstGeom prst="ellipse">
            <a:avLst/>
          </a:prstGeom>
          <a:noFill/>
          <a:ln w="44450">
            <a:solidFill>
              <a:srgbClr val="E09B00"/>
            </a:solidFill>
          </a:ln>
        </p:spPr>
        <p:txBody>
          <a:bodyPr rtlCol="0" anchor="ctr"/>
          <a:lstStyle/>
          <a:p>
            <a:pPr algn="ctr"/>
          </a:p>
        </p:txBody>
      </p:sp>
      <p:sp>
        <p:nvSpPr>
          <p:cNvPr id="13" name="Oval 12"/>
          <p:cNvSpPr/>
          <p:nvPr/>
        </p:nvSpPr>
        <p:spPr>
          <a:xfrm>
            <a:off x="10323950" y="2218449"/>
            <a:ext cx="193285" cy="462505"/>
          </a:xfrm>
          <a:prstGeom prst="ellipse">
            <a:avLst/>
          </a:prstGeom>
          <a:noFill/>
          <a:ln w="44450">
            <a:solidFill>
              <a:srgbClr val="C62828"/>
            </a:solidFill>
          </a:ln>
        </p:spPr>
        <p:txBody>
          <a:bodyPr rtlCol="0" anchor="ctr"/>
          <a:lstStyle/>
          <a:p>
            <a:pPr algn="ctr"/>
          </a:p>
        </p:txBody>
      </p:sp>
      <p:sp>
        <p:nvSpPr>
          <p:cNvPr id="14" name="Oval 13"/>
          <p:cNvSpPr/>
          <p:nvPr/>
        </p:nvSpPr>
        <p:spPr>
          <a:xfrm>
            <a:off x="10034021" y="3259087"/>
            <a:ext cx="225500" cy="327608"/>
          </a:xfrm>
          <a:prstGeom prst="ellipse">
            <a:avLst/>
          </a:prstGeom>
          <a:noFill/>
          <a:ln w="44450">
            <a:solidFill>
              <a:srgbClr val="1F5FAD"/>
            </a:solidFill>
          </a:ln>
        </p:spPr>
        <p:txBody>
          <a:bodyPr rtlCol="0" anchor="ctr"/>
          <a:lstStyle/>
          <a:p>
            <a:pPr algn="ctr"/>
          </a:p>
        </p:txBody>
      </p:sp>
      <p:sp>
        <p:nvSpPr>
          <p:cNvPr id="15" name="Oval 14"/>
          <p:cNvSpPr/>
          <p:nvPr/>
        </p:nvSpPr>
        <p:spPr>
          <a:xfrm>
            <a:off x="9735790" y="1984934"/>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10508933" y="1984934"/>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347862" y="3545890"/>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8046719" y="4066802"/>
            <a:ext cx="34591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7.25 -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225, Figure 7.25. The numbered marks are for teaching.</a:t>
            </a:r>
          </a:p>
        </p:txBody>
      </p:sp>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Review answer 8 belongs to Chapter 8</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book asks how oscillators can help gauge bullishness or bearishness in bar reversal patterns.</a:t>
            </a:r>
          </a:p>
          <a:p>
            <a:pPr algn="l">
              <a:lnSpc>
                <a:spcPct val="105000"/>
              </a:lnSpc>
              <a:spcBef>
                <a:spcPts val="0"/>
              </a:spcBef>
              <a:spcAft>
                <a:spcPts val="1100"/>
              </a:spcAft>
            </a:pPr>
            <a:r>
              <a:rPr sz="2000" b="0" i="0">
                <a:solidFill>
                  <a:srgbClr val="1A1A1A"/>
                </a:solidFill>
                <a:latin typeface="Arial"/>
              </a:rPr>
              <a:t>8. Figure 7.13 shows an overextended bar above its upper price barrier </a:t>
            </a:r>
            <a:r>
              <a:rPr sz="2000" b="1" i="0">
                <a:solidFill>
                  <a:srgbClr val="E09B00"/>
                </a:solidFill>
                <a:latin typeface="Arial"/>
              </a:rPr>
              <a:t>(1)</a:t>
            </a:r>
            <a:r>
              <a:rPr sz="2000" b="0" i="0">
                <a:solidFill>
                  <a:srgbClr val="1A1A1A"/>
                </a:solidFill>
                <a:latin typeface="Arial"/>
              </a:rPr>
              <a:t>, not an oscillator method.</a:t>
            </a:r>
          </a:p>
          <a:p>
            <a:pPr algn="l">
              <a:lnSpc>
                <a:spcPct val="105000"/>
              </a:lnSpc>
              <a:spcBef>
                <a:spcPts val="0"/>
              </a:spcBef>
              <a:spcAft>
                <a:spcPts val="1100"/>
              </a:spcAft>
            </a:pPr>
            <a:r>
              <a:rPr sz="2000" b="0" i="0">
                <a:solidFill>
                  <a:srgbClr val="1A1A1A"/>
                </a:solidFill>
                <a:latin typeface="Arial"/>
              </a:rPr>
              <a:t>The full treatment belongs to Chapter 8, so this slide adds no unassessed method.</a:t>
            </a:r>
          </a:p>
        </p:txBody>
      </p:sp>
      <p:sp>
        <p:nvSpPr>
          <p:cNvPr id="8" name="TextBox 7"/>
          <p:cNvSpPr txBox="1"/>
          <p:nvPr/>
        </p:nvSpPr>
        <p:spPr>
          <a:xfrm>
            <a:off x="777240" y="5221223"/>
            <a:ext cx="56692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Lim (2016), p. 233, review question 8; Figure 7.13, p. 217. The price-bar context is shown here; oscillator method is deferred to Chapter 8.</a:t>
            </a:r>
          </a:p>
        </p:txBody>
      </p:sp>
      <p:sp>
        <p:nvSpPr>
          <p:cNvPr id="9" name="Rectangle 8"/>
          <p:cNvSpPr/>
          <p:nvPr/>
        </p:nvSpPr>
        <p:spPr>
          <a:xfrm>
            <a:off x="6766559" y="1810512"/>
            <a:ext cx="4739334" cy="248853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885431" y="1929384"/>
            <a:ext cx="4501590" cy="225079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885431" y="1929384"/>
            <a:ext cx="4501590"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7159751" y="2203703"/>
            <a:ext cx="3952950" cy="17935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7.13</a:t>
            </a:r>
          </a:p>
          <a:p>
            <a:pPr algn="l">
              <a:lnSpc>
                <a:spcPct val="115000"/>
              </a:lnSpc>
              <a:spcBef>
                <a:spcPts val="0"/>
              </a:spcBef>
              <a:spcAft>
                <a:spcPts val="0"/>
              </a:spcAft>
            </a:pPr>
            <a:r>
              <a:rPr sz="1500" b="0" i="0">
                <a:solidFill>
                  <a:srgbClr val="1A1A1A"/>
                </a:solidFill>
                <a:latin typeface="Palatino"/>
              </a:rPr>
              <a:t>Figure 7.13's overextension chart, with mark 1 on the bar that extends above the upper price barrier after the parabolic rise.</a:t>
            </a:r>
          </a:p>
        </p:txBody>
      </p:sp>
      <p:sp>
        <p:nvSpPr>
          <p:cNvPr id="13" name="Rectangle 12"/>
          <p:cNvSpPr/>
          <p:nvPr/>
        </p:nvSpPr>
        <p:spPr>
          <a:xfrm>
            <a:off x="8596036" y="2086939"/>
            <a:ext cx="225079" cy="1012857"/>
          </a:xfrm>
          <a:prstGeom prst="rect">
            <a:avLst/>
          </a:prstGeom>
          <a:noFill/>
          <a:ln w="44450">
            <a:solidFill>
              <a:srgbClr val="E09B00"/>
            </a:solidFill>
          </a:ln>
        </p:spPr>
        <p:txBody>
          <a:bodyPr rtlCol="0" anchor="ctr"/>
          <a:lstStyle/>
          <a:p>
            <a:pPr algn="ctr"/>
          </a:p>
        </p:txBody>
      </p:sp>
      <p:sp>
        <p:nvSpPr>
          <p:cNvPr id="14" name="Oval 13"/>
          <p:cNvSpPr/>
          <p:nvPr/>
        </p:nvSpPr>
        <p:spPr>
          <a:xfrm>
            <a:off x="8864019" y="1882255"/>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TextBox 14"/>
          <p:cNvSpPr txBox="1"/>
          <p:nvPr/>
        </p:nvSpPr>
        <p:spPr>
          <a:xfrm>
            <a:off x="6766559" y="4390491"/>
            <a:ext cx="473933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7.13 - Lim, The Handbook of Technical Analysis (Wiley, 2016)</a:t>
            </a:r>
          </a:p>
        </p:txBody>
      </p:sp>
      <p:sp>
        <p:nvSpPr>
          <p:cNvPr id="16" name="TextBox 15"/>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Figure 7.13. The numbered mark is for teaching.</a:t>
            </a:r>
          </a:p>
        </p:txBody>
      </p:sp>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to carry forward from Chapter 7</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potential reversal is a reading, not a guarantee. Define the bar, show the numbers, and read the figure.</a:t>
            </a:r>
          </a:p>
          <a:p>
            <a:pPr algn="l">
              <a:lnSpc>
                <a:spcPct val="118000"/>
              </a:lnSpc>
              <a:spcBef>
                <a:spcPts val="0"/>
              </a:spcBef>
              <a:spcAft>
                <a:spcPts val="1300"/>
              </a:spcAft>
            </a:pPr>
            <a:r>
              <a:rPr sz="2100" b="0" i="0">
                <a:solidFill>
                  <a:srgbClr val="1A1A1A"/>
                </a:solidFill>
                <a:latin typeface="Arial"/>
              </a:rPr>
              <a:t>Then check the 16 reversal characteristics and name what the book leaves open.</a:t>
            </a:r>
          </a:p>
          <a:p>
            <a:pPr algn="l">
              <a:lnSpc>
                <a:spcPct val="118000"/>
              </a:lnSpc>
              <a:spcBef>
                <a:spcPts val="0"/>
              </a:spcBef>
              <a:spcAft>
                <a:spcPts val="1300"/>
              </a:spcAft>
            </a:pPr>
            <a:r>
              <a:rPr sz="2100" b="0" i="0">
                <a:solidFill>
                  <a:srgbClr val="1A1A1A"/>
                </a:solidFill>
                <a:latin typeface="Arial"/>
              </a:rPr>
              <a:t>Chapter 7 does not provide a complete trade plan, and its figures alone do not supply one.</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potential evidence honestly; it is not a promise.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216 to 233. The closing synthesis follows the approved outline.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FIN1209 Chapter 7 - Bar Chart Analysis</dc:title>
  <dc:subject>Technical Analysis in Investment</dc:subject>
  <dc:creator>Faculty of Economics University</dc:creator>
  <cp:keywords/>
  <dc:description>generated using python-pptx</dc:description>
  <cp:lastModifiedBy>Faculty of Economics University</cp:lastModifiedBy>
  <cp:revision>1</cp:revision>
  <dcterms:created xsi:type="dcterms:W3CDTF">2020-01-01T00:00:00Z</dcterms:created>
  <dcterms:modified xsi:type="dcterms:W3CDTF">2020-01-01T00:00:00Z</dcterms:modified>
  <cp:category/>
</cp:coreProperties>
</file>