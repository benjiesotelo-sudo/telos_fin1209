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after this session they can read a chart argument and say what it does and does not claim.</a:t>
            </a:r>
          </a:p>
          <a:p>
            <a:r>
              <a:rPr sz="1400"/>
              <a:t>- Point at the roadmap slide next and promise a clean stopping point every twenty five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these out once, slowly. These are the exact learning objectives in the course booklet for this week.</a:t>
            </a:r>
          </a:p>
          <a:p>
            <a:r>
              <a:rPr sz="1400"/>
              <a:t>- Tell them every one of these is examinable.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the shape of the session out loud: six parts, roughly twenty five minutes each.</a:t>
            </a:r>
          </a:p>
          <a:p>
            <a:r>
              <a:rPr sz="1400"/>
              <a:t>- Tell them the checks are for reading the room, not for 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1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2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3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prior high and prior close lines before reading marks 1 to 3.</a:t>
            </a:r>
          </a:p>
          <a:p>
            <a:r>
              <a:rPr sz="1400"/>
              <a:t>- The second bar opens above 52.00, reaches a new high of 53.20, and closes at 50.80, below the prior close of 51.10.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the worked PHP example first. Then use the crop to locate the same three actions in the book's chart.</a:t>
            </a:r>
          </a:p>
          <a:p>
            <a:r>
              <a:rPr sz="1400"/>
              <a:t>- The three marks identify open, new high, and close. The later bars show that the decline does not have to be immediate.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exact converse: a new low, then a close above the previous close, in a downtrend.</a:t>
            </a:r>
          </a:p>
          <a:p>
            <a:r>
              <a:rPr sz="1400"/>
              <a:t>- The book says the bullish key reversal occurs on high volume and price rebounds rapidly in this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left to right. The exhaustion bar opens beyond the previous high, but its distinction is the absence of a following gap.</a:t>
            </a:r>
          </a:p>
          <a:p>
            <a:r>
              <a:rPr sz="1400"/>
              <a:t>- The pin bar gives a false impression of breaking support, then retraces back above it. Its volume is low in the invented example.</a:t>
            </a:r>
          </a:p>
          <a:p>
            <a:r>
              <a:rPr sz="1400"/>
              <a:t>- The book's difference is the false barrier penetration, not the size of the bar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Let the room answer from the earlier marked slide. Do not reveal the answers on this question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Use this second two-item check so the foundation build keeps a balanced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Say we are starting Part 4 of 4.</a:t>
            </a:r>
          </a:p>
          <a:p>
            <a:r>
              <a:rPr sz="1400"/>
              <a:t>- Read the three covers lines, then move. Do not linger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back to the plan folder PDF, not to an unbuilt slide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7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Bar Chart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How a bar can warn of a potential reversal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Faculty of Economics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OHLC construction and the range of a price bar.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Separate intrinsic sentiment from trend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Read the book’s bar reversal patterns with numbers and figures.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Use the 16 reversal characteristics as context, not certainty.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How today is laid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1  The price bar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2  Reading a pattern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3  Popular reversal patterns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Part 4  Volatility-based breakouts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Six parts, a check every few terms, and a clean stop at every boundary.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1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The Price Bar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OHLC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range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higher timeframe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2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Reading a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continuation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16 characteristics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3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Popular Reversal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key reversal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exhaustion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pin bar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Bearish key reversal: the numbers first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1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200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Higher high, then close near or below prior close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Prior O 50.80 H 52.00 L 50.60 C 51.10. New O 52.30 H 53.20 L 49.90 C 50.80. Ours.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Open above old high.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high.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below old close. Volume shares: 4.2m versus 2.0m (Chapter 6). Next Figure 7.15.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04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363" y="1929384"/>
            <a:ext cx="751636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9319839" y="2947659"/>
            <a:ext cx="375818" cy="17556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19839" y="2561417"/>
            <a:ext cx="375818" cy="17556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319839" y="3755257"/>
            <a:ext cx="375818" cy="17556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62426" y="2967776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10141518" y="2230404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141518" y="3950939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79" y="5650991"/>
            <a:ext cx="7939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Chart B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Chart B is ours, with invented PHP bars and million-share volume.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Figure 7.15: three observations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2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60350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From “Three marked observations”: a key reversal makes a higher high, then closes near or below the previous close (Lim, p. 218).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Figure 7.15: </a:t>
            </a: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open above prior high,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high,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below prior close (Lim, p. 219).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Meaning/action: potential warning; consolidation may precede decline. Check Lim's 16-item p. 217 list, recalled in Chapter 5 slide “16 Volume and Price Action Reversal Characteristics”, and barrier context from “Barrier proximity”. No indicator formulas here. Next, compare the bullish converse.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4145" y="1810512"/>
            <a:ext cx="327848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53017" y="1929384"/>
            <a:ext cx="3040740" cy="3511296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53017" y="1929384"/>
            <a:ext cx="30407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27337" y="2203703"/>
            <a:ext cx="2492100" cy="30540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2" name="Oval 11"/>
          <p:cNvSpPr/>
          <p:nvPr/>
        </p:nvSpPr>
        <p:spPr>
          <a:xfrm>
            <a:off x="9060535" y="2280513"/>
            <a:ext cx="243259" cy="28090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82165" y="1999609"/>
            <a:ext cx="212851" cy="280903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73387" y="2772095"/>
            <a:ext cx="243259" cy="280903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08561" y="1961753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490375" y="1786188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Oval 16"/>
          <p:cNvSpPr/>
          <p:nvPr/>
        </p:nvSpPr>
        <p:spPr>
          <a:xfrm>
            <a:off x="9672820" y="2980029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19" y="5650991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218 to 219, Figure 7.15. The crop and marks are for teaching; the worked PHP values are ours, invented.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bullish converse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3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8521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 a downtrend, a bullish key reversal makes a new low, then closes near or above the previous close.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Ours: previous low PHP 42.00 and close PHP 41.00. New bar reaches PHP 40.50 and closes PHP 43.20 on 4.0 million shares.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New low. </a:t>
            </a:r>
            <a:r>
              <a:rPr sz="18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Close above the previous close. </a:t>
            </a:r>
            <a:r>
              <a:rPr sz="18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800" b="0" i="0">
                <a:solidFill>
                  <a:srgbClr val="1A1A1A"/>
                </a:solidFill>
                <a:latin typeface="Arial"/>
              </a:rPr>
              <a:t> High volume supports the potential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43586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5559552" cy="435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Same five-step reading, reversed direction.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314188"/>
            <a:ext cx="5852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Book p. 218 and Figure 7.14. The values are ours, invented to show the converse.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0" y="1810512"/>
            <a:ext cx="4465014" cy="2746367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68312" y="1929384"/>
            <a:ext cx="4227270" cy="2508623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68312" y="1929384"/>
            <a:ext cx="422727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2203703"/>
            <a:ext cx="3678631" cy="20514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Apple daily chart. The marked bar makes a new low, closes above the previous close, and is followed by a rapid rebound on high volume.</a:t>
            </a:r>
          </a:p>
        </p:txBody>
      </p:sp>
      <p:sp>
        <p:nvSpPr>
          <p:cNvPr id="15" name="Oval 14"/>
          <p:cNvSpPr/>
          <p:nvPr/>
        </p:nvSpPr>
        <p:spPr>
          <a:xfrm>
            <a:off x="8822629" y="3309126"/>
            <a:ext cx="295908" cy="5769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822629" y="3660333"/>
            <a:ext cx="295908" cy="426465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80356" y="3886109"/>
            <a:ext cx="401590" cy="526810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34681" y="3153678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8392408" y="3931351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8350136" y="4232386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648319"/>
            <a:ext cx="44650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7.14 - Lim, The Handbook of Technical Analysis (Wiley, 2016)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p. 218, Figure 7.14. The worked PHP values are ours, invented to show the converse.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Exhaustion bar versus pin bar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4 of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32004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Exhaustion: uptrend, open above prior high, close near low, no gap next bar (Lim, p. 226).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Pin bar: false barrier penetration, then rapid retracement (Lim, p. 227).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1" i="0">
                <a:solidFill>
                  <a:srgbClr val="E09B00"/>
                </a:solidFill>
                <a:latin typeface="Arial"/>
              </a:rPr>
              <a:t>(1)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O65.40 &gt;65.00. </a:t>
            </a:r>
            <a:r>
              <a:rPr sz="1700" b="1" i="0">
                <a:solidFill>
                  <a:srgbClr val="C62828"/>
                </a:solidFill>
                <a:latin typeface="Arial"/>
              </a:rPr>
              <a:t>(2)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C60.50 near L; next O60.20, no gap. </a:t>
            </a:r>
            <a:r>
              <a:rPr sz="1700" b="1" i="0">
                <a:solidFill>
                  <a:srgbClr val="1F5FAD"/>
                </a:solidFill>
                <a:latin typeface="Arial"/>
              </a:rPr>
              <a:t>(3)</a:t>
            </a:r>
            <a:r>
              <a:rPr sz="1700" b="0" i="0">
                <a:solidFill>
                  <a:srgbClr val="1A1A1A"/>
                </a:solidFill>
                <a:latin typeface="Arial"/>
              </a:rPr>
              <a:t> L38.80 &lt; support40.00. Ours. Next: key reversal.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90491" y="1810512"/>
            <a:ext cx="7754112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char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9363" y="1929384"/>
            <a:ext cx="7516368" cy="3511296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388455" y="2947659"/>
            <a:ext cx="375818" cy="175564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88455" y="3860596"/>
            <a:ext cx="375818" cy="17556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146639" y="3509467"/>
            <a:ext cx="375818" cy="17556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255879" y="2581534"/>
            <a:ext cx="310896" cy="31089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5255879" y="4196730"/>
            <a:ext cx="310896" cy="31089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10968319" y="3810487"/>
            <a:ext cx="310896" cy="31089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79" y="5650991"/>
            <a:ext cx="79397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Chart A - FIN1209 teaching chart, drawn for this course. Illustrative data, not a real instrument.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Lim (2016), pp. 226 to 227. Chart A is ours, with invented PHP bars and volume to answer review question 1.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Near or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Above prior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Below prior 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On low volume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New high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Close below prior close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Later bars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26504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26504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bearish key reversal makes a higher high, then: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A.  Near or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Lim defines the bearish pattern as a higher high followed by a close near or below the previous close.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654933"/>
            <a:ext cx="5303520" cy="2016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654933"/>
            <a:ext cx="91440" cy="201676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837813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On Figure 7.15, blue mark 3 identifies: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268978"/>
            <a:ext cx="4754880" cy="14027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C.  Close below prior close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preceding slide maps blue mark 3 to the close below the previous close (Lim, p. 219).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6359" y="1207008"/>
            <a:ext cx="380253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231" y="1325880"/>
            <a:ext cx="356479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231" y="1325880"/>
            <a:ext cx="356479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99551" y="1600200"/>
            <a:ext cx="301615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091" y="1737360"/>
            <a:ext cx="285183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683" y="1408176"/>
            <a:ext cx="2495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183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8952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742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63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38349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29844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499616"/>
            <a:ext cx="484632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069338"/>
            <a:ext cx="4846320" cy="110286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Impossible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Always certain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Unrelated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Potentially more reliable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336798"/>
            <a:ext cx="5303520" cy="1790065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28238"/>
            <a:ext cx="48463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9406"/>
            <a:ext cx="484632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50843"/>
            <a:ext cx="4846320" cy="11028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A.  Monthly chart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B.  Downtrend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C.  Flat market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Arial"/>
              </a:rPr>
              <a:t>D.  Volume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7071" y="1207008"/>
            <a:ext cx="3801111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943" y="1325880"/>
            <a:ext cx="3563367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943" y="1325880"/>
            <a:ext cx="3563367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0263" y="1600200"/>
            <a:ext cx="301472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191" y="1737360"/>
            <a:ext cx="285069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726" y="1408176"/>
            <a:ext cx="2494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069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9180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557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359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234440" cy="32918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521207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07A33"/>
                </a:solidFill>
                <a:latin typeface="Arial"/>
              </a:rPr>
              <a:t>From “Figure 7.15: three observations”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5303520" cy="201675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207008"/>
            <a:ext cx="91440" cy="2016759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754880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Q1   A wider key reversal bar makes downside follow-through: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069338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D.  Potentially more reliable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book says a wider bar makes follow-through potentially more reliable.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406647"/>
            <a:ext cx="5303520" cy="176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3406647"/>
            <a:ext cx="91440" cy="1768475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589528"/>
            <a:ext cx="4754880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818181"/>
                </a:solidFill>
                <a:latin typeface="Arial"/>
              </a:rPr>
              <a:t>Q2   The bullish converse is read in a: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020693"/>
            <a:ext cx="4754880" cy="11544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007A33"/>
                </a:solidFill>
                <a:latin typeface="Courier New"/>
              </a:rPr>
              <a:t>B.  Downtrend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bullish key reversal is the converse in a downtrend.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6359" y="1207008"/>
            <a:ext cx="3802536" cy="4352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25231" y="1325880"/>
            <a:ext cx="3564792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25231" y="1325880"/>
            <a:ext cx="3564792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99551" y="1600200"/>
            <a:ext cx="3016152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FIGURE 7.15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Palatino"/>
              </a:rPr>
              <a:t>The Apple daily chart, cropped to the key reversal day and its surrounding bars. The marked bar opens above the previous high, forms a new high, and closes below the previous close.</a:t>
            </a:r>
          </a:p>
        </p:txBody>
      </p:sp>
      <p:sp>
        <p:nvSpPr>
          <p:cNvPr id="18" name="Oval 17"/>
          <p:cNvSpPr/>
          <p:nvPr/>
        </p:nvSpPr>
        <p:spPr>
          <a:xfrm>
            <a:off x="8658091" y="1737360"/>
            <a:ext cx="285183" cy="329183"/>
          </a:xfrm>
          <a:prstGeom prst="ellipse">
            <a:avLst/>
          </a:prstGeom>
          <a:noFill/>
          <a:ln w="44450">
            <a:solidFill>
              <a:srgbClr val="E09B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00683" y="1408176"/>
            <a:ext cx="249535" cy="329184"/>
          </a:xfrm>
          <a:prstGeom prst="ellipse">
            <a:avLst/>
          </a:prstGeom>
          <a:noFill/>
          <a:ln w="44450">
            <a:solidFill>
              <a:srgbClr val="C6282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907627" y="2313432"/>
            <a:ext cx="285183" cy="329184"/>
          </a:xfrm>
          <a:prstGeom prst="ellipse">
            <a:avLst/>
          </a:prstGeom>
          <a:noFill/>
          <a:ln w="44450">
            <a:solidFill>
              <a:srgbClr val="1F5FA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8952" y="1394460"/>
            <a:ext cx="356616" cy="356616"/>
          </a:xfrm>
          <a:prstGeom prst="ellipse">
            <a:avLst/>
          </a:prstGeom>
          <a:solidFill>
            <a:srgbClr val="E09B00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2" name="Oval 21"/>
          <p:cNvSpPr/>
          <p:nvPr/>
        </p:nvSpPr>
        <p:spPr>
          <a:xfrm>
            <a:off x="9192742" y="1188720"/>
            <a:ext cx="356616" cy="356616"/>
          </a:xfrm>
          <a:prstGeom prst="ellipse">
            <a:avLst/>
          </a:prstGeom>
          <a:solidFill>
            <a:srgbClr val="C62828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Oval 22"/>
          <p:cNvSpPr/>
          <p:nvPr/>
        </p:nvSpPr>
        <p:spPr>
          <a:xfrm>
            <a:off x="9406630" y="2587752"/>
            <a:ext cx="356616" cy="356616"/>
          </a:xfrm>
          <a:prstGeom prst="ellipse">
            <a:avLst/>
          </a:prstGeom>
          <a:solidFill>
            <a:srgbClr val="1F5FAD"/>
          </a:solidFill>
          <a:ln w="12700">
            <a:solidFill>
              <a:srgbClr val="FFFFFF"/>
            </a:solidFill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7.15 - Lim, The Handbook of Technical Analysis (Wiley, 2016)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4 - 7.3 Popular reversals  |  Check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Part 4 of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00200"/>
            <a:ext cx="106372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Palatino"/>
              </a:rPr>
              <a:t>Volatility-Based Breakouts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1463040" cy="381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383280"/>
            <a:ext cx="1063721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Williams’ Oops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900" b="0" i="0">
                <a:solidFill>
                  <a:srgbClr val="FFFFFF"/>
                </a:solidFill>
                <a:latin typeface="Arial"/>
              </a:rPr>
              <a:t>ID/NR4 to NR7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03504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2A900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Foundation build close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7 -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full Chapter 7 deck follows the approved outline in four parts.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These samples establish the five-step teaching pattern, readable figures, numbered marks, and separate question and answer slides.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586734"/>
            <a:ext cx="82296" cy="46761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623310"/>
            <a:ext cx="10344607" cy="4676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Approval of the outline and samples is the gate for the full build.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6199632"/>
            <a:ext cx="6339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818181"/>
                </a:solidFill>
                <a:latin typeface="Arial"/>
              </a:rPr>
              <a:t>Foundation scaffold for the approved Chapter 7 plan.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7 - Bar Chart Analysis</dc:title>
  <dc:subject>Technical Analysis in Investment</dc:subject>
  <dc:creator>Faculty of Economics University</dc:creator>
  <cp:keywords/>
  <dc:description>generated using python-pptx</dc:description>
  <cp:lastModifiedBy>Faculty of Economics University</cp:lastModifiedBy>
  <cp:revision>1</cp:revision>
  <dcterms:created xsi:type="dcterms:W3CDTF">2020-01-01T00:00:00Z</dcterms:created>
  <dcterms:modified xsi:type="dcterms:W3CDTF">2020-01-01T00:00:00Z</dcterms:modified>
  <cp:category/>
</cp:coreProperties>
</file>