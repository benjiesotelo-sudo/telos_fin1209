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four objectives in plain words. The title slide has already introduced the four retained prices.</a:t>
            </a:r>
          </a:p>
          <a:p>
            <a:r>
              <a:rPr sz="1400"/>
              <a:t>- Keep potential visible: the chapter teaches warnings and expectations,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four parts, not six. The checks are for reading the room, not for marks.</a:t>
            </a:r>
          </a:p>
          <a:p>
            <a:r>
              <a:rPr sz="1400"/>
              <a:t>- Point to Part 1 as the first stop: one interval becomes one bar before patterns are named.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Start with the book's definition and the invented arithmetic. The figure shows the same four prices as a compact record.</a:t>
            </a:r>
          </a:p>
          <a:p>
            <a:r>
              <a:rPr sz="1400"/>
              <a:t>- Point to gold 1, red 2 and blue 3 in the figure as the open, high and low. The close is named in the body and shown on the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construction panel so the sequence can be read. Gold 1 is the first trade, red 2 the highest trade, blue 3 the last trade, and purple 4 the lowest trade.</a:t>
            </a:r>
          </a:p>
          <a:p>
            <a:r>
              <a:rPr sz="1400"/>
              <a:t>- The lowest trade is also retained as the low, even though this crop's three teaching marks focus on first, highest and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isolates the higher-timeframe bar. Gold 1 is the first open, red 2 the highest high, blue 3 the lowest low, and purple 4 the last close.</a:t>
            </a:r>
          </a:p>
          <a:p>
            <a:r>
              <a:rPr sz="1400"/>
              <a:t>- The labels show what survives when three lower-timeframe intervals are combined. No intermediate open or close survives in the composite.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one interval at a time from left to right. Gold 1 identifies the first interval, red 2 a later sequence, and blue 3 the corresponding OHLC bars below.</a:t>
            </a:r>
          </a:p>
          <a:p>
            <a:r>
              <a:rPr sz="1400"/>
              <a:t>- The figure shows the book's sequence, not a new trading signal. Classification comes only after the intervals have been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first classification question in Lim's list on p. 210.</a:t>
            </a:r>
          </a:p>
          <a:p>
            <a:r>
              <a:rPr sz="1400"/>
              <a:t>- Use the invented counts to separate structure from direction. A count does not predict price by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intrinsic sentiment separate from trend sentiment. Chapter 4 is the named pointer for the earlier term.</a:t>
            </a:r>
          </a:p>
          <a:p>
            <a:r>
              <a:rPr sz="1400"/>
              <a:t>- The invented example is only a classification test, not a claim that every bullish pattern works in every trend.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Lim states the agreement rule on p. 211. Keep the word potential because a classification is not a guarantee.</a:t>
            </a:r>
          </a:p>
          <a:p>
            <a:r>
              <a:rPr sz="1400"/>
              <a:t>- The full four-cell table and the book's head and shoulders examples begin in Part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worked read combines the three classification questions without introducing a new pattern name.</a:t>
            </a:r>
          </a:p>
          <a:p>
            <a:r>
              <a:rPr sz="1400"/>
              <a:t>- Say potential reversal, not reversal certainty. The next slide checks the construction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 and the marked bar remains visible.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 and the marked bar remains visible.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crop keeps the three classification cues visible.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crop keeps the three classification cues visible.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book's explicit distinction on p. 211. Chapter 4 supplies the earlier intrinsic-bias meaning.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four cases as a table. Keep potential for every directional expectation.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check is the first Part 2 question. Its answers are stated on the two preceding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check is the first Part 2 question. Its answers are stated on the two preceding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prior high and prior close lines before reading marks 1 to 4.</a:t>
            </a:r>
          </a:p>
          <a:p>
            <a:r>
              <a:rPr sz="1400"/>
              <a:t>- The second bar opens above 52.00, reaches a new high of 53.20, and closes at 50.80, below the prior close of 51.10. Mark 4 identifies the 4.2 million-share volume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definition first, then explain marks 1 to 4 in the same order: gap/open, new high, close, and above-average volume.</a:t>
            </a:r>
          </a:p>
          <a:p>
            <a:r>
              <a:rPr sz="1400"/>
              <a:t>- The figure shows consolidation before the later decline. Keep the word potentially: this is a warning, not a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exact converse: a new low, then a close above the previous close, in a downtrend.</a:t>
            </a:r>
          </a:p>
          <a:p>
            <a:r>
              <a:rPr sz="1400"/>
              <a:t>- The book says the bullish key reversal occurs on high volume and price rebounds rapidly in this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left to right. The exhaustion bar opens beyond the previous high, but its distinction is the absence of a following gap.</a:t>
            </a:r>
          </a:p>
          <a:p>
            <a:r>
              <a:rPr sz="1400"/>
              <a:t>- The pin bar gives a false impression of breaking support, then retraces back above it. Its volume is low in the invented example.</a:t>
            </a:r>
          </a:p>
          <a:p>
            <a:r>
              <a:rPr sz="1400"/>
              <a:t>- The book's difference is the false barrier penetration, not the size of the bar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plan folder PDF, not to an unbuilt slide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7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Bar Chart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 price bar records opening, highest, lowest and closing prices; it can warn of a possible top or bottom. First, make one bar from the trades that made it.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Faculty of Economics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this chapter lets you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price bar is a compact record of opening, highest, lowest, and closing prices. This chapter teaches how to read that four-price record.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will calculate a bar, classify a formation by its number of bars and its own bullish or bearish bias, and judge a possible continuation or reversal.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will also recall the book's 16 price and volume reversal characteristics. Every signal is a potential warning, not a promise.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route follows the book from one bar to the full pattern.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209 to 217. The plain-language objectives follow the book's four learning objectives.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Four parts, one reading habit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makes and combines the four prices in a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compares continuation and reversal using trend sentiment and intrinsic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reads popular reversal patterns. Part 4 reads volatility breakouts.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check follows key ideas, and each part stops cleanly. The route follows the book from one bar to the full pattern.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96612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3188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Part 1 starts with the four prices every bar keeps.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 sections 7.1 to 7.4. The four-part route follows the approved outline.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four prices in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1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writes, "A standard price bar comprises an open (O), high (H), low (L), and close (C) price" (p. 209).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defines range as |H - L| (p. 209). Ours, invented: O 50.00, H 52.40, L 49.60, C 51.10; range = Philippine pesos (PHP) 2.80.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Action: read these four prices before a pattern. Figure 7.1 marks the close (4).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37667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Now show how five trades become these four prices.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59" y="1810512"/>
            <a:ext cx="4647894" cy="3419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85431" y="1929384"/>
            <a:ext cx="4410151" cy="3181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85431" y="1929384"/>
            <a:ext cx="44101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59751" y="2203703"/>
            <a:ext cx="3861511" cy="2724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4" name="Oval 13"/>
          <p:cNvSpPr/>
          <p:nvPr/>
        </p:nvSpPr>
        <p:spPr>
          <a:xfrm>
            <a:off x="9619725" y="3138395"/>
            <a:ext cx="308710" cy="25452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19725" y="2565705"/>
            <a:ext cx="308710" cy="25452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19725" y="4092878"/>
            <a:ext cx="308710" cy="25452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8436" y="3361108"/>
            <a:ext cx="308710" cy="254528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62058" y="3001235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99986" y="2269465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99986" y="440114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10408697" y="3478476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59" y="5321304"/>
            <a:ext cx="4647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7.1. The marks and worked PHP values are ours, added for teaching.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Five minutes become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2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Now trace Figure 7.1's five invented trades: 50.00, 50.80, 49.60, 52.40, and 51.10 Philippine pesos.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First becomes O 50.00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highest H 52.40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last C 51.10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Lowest 49.60 supplies L </a:t>
            </a:r>
            <a:r>
              <a:rPr sz="20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 Keep first, highest, lowest, and last.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01183"/>
            <a:ext cx="82296" cy="7863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7759"/>
            <a:ext cx="501091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  <a:latin typeface="Arial"/>
              </a:rPr>
              <a:t>One interval is one OHLC bar. Next, combine several intervals.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1229" y="1810512"/>
            <a:ext cx="319279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30101" y="1929384"/>
            <a:ext cx="295505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0101" y="1929384"/>
            <a:ext cx="29550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4421" y="2203703"/>
            <a:ext cx="240641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 construction panel, cropped to the five-minute price path. The first trade, highest trade and last trade become the bar's open, high and close; the lowest trade supplies the low.</a:t>
            </a:r>
          </a:p>
        </p:txBody>
      </p:sp>
      <p:sp>
        <p:nvSpPr>
          <p:cNvPr id="14" name="Oval 13"/>
          <p:cNvSpPr/>
          <p:nvPr/>
        </p:nvSpPr>
        <p:spPr>
          <a:xfrm>
            <a:off x="8109763" y="3193450"/>
            <a:ext cx="295505" cy="4213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53021" y="2456078"/>
            <a:ext cx="295505" cy="45646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907627" y="3404128"/>
            <a:ext cx="295505" cy="45646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9425" y="4317065"/>
            <a:ext cx="295505" cy="421355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824851" y="347764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859119" y="210824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213725" y="382877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9065972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5650991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7.1, construction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Three small bars become one larger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3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Now extend the same rule to three invented five-minute bars: first O 50.00, highest H 50.90, lowest L 49.40, last C 50.30.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Figure 7.2 keeps O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H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L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and C </a:t>
            </a:r>
            <a:r>
              <a:rPr sz="18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in the 15-minute composite.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Action: a higher-timeframe bar preserves first, extreme, and last values; it does not average intermediate opens or closes.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0109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book's composite rule is the same four-price rule at a longer interval.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15986" y="1810512"/>
            <a:ext cx="3583281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34858" y="1929384"/>
            <a:ext cx="3345537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34858" y="1929384"/>
            <a:ext cx="334553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09178" y="2203703"/>
            <a:ext cx="2796897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7.2 composite-bar panel, cropped to the 15-minute bar. Three five-minute bars are summarized by the first open, highest high, lowest low and last close.</a:t>
            </a:r>
          </a:p>
        </p:txBody>
      </p:sp>
      <p:sp>
        <p:nvSpPr>
          <p:cNvPr id="14" name="Oval 13"/>
          <p:cNvSpPr/>
          <p:nvPr/>
        </p:nvSpPr>
        <p:spPr>
          <a:xfrm>
            <a:off x="9175270" y="3193450"/>
            <a:ext cx="468375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75270" y="2456078"/>
            <a:ext cx="468375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75270" y="4949098"/>
            <a:ext cx="468375" cy="35112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75270" y="4001048"/>
            <a:ext cx="468375" cy="386242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918005" y="3175345"/>
            <a:ext cx="246888" cy="246888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55487" y="2157069"/>
            <a:ext cx="246888" cy="24688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55487" y="5247010"/>
            <a:ext cx="246888" cy="246888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8918005" y="3982943"/>
            <a:ext cx="246888" cy="24688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5650991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7.2, composite-bar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Read each interval before naming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4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next shows five-minute intervals before it classifies a formation (Lim, p. 210).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first interval,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 later interval, and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the OHLC bar below one interval.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Action: read each interval first; then count bars, identify intrinsic sentiment, and ask continuation or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0109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three classification questions come after the interval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799" y="1810512"/>
            <a:ext cx="5013655" cy="304025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19671" y="1929384"/>
            <a:ext cx="4775911" cy="280250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9671" y="1929384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1" y="2203703"/>
            <a:ext cx="4227271" cy="23453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shows a series of five-minute price intervals above the corresponding OHLC bars below. Each interval becomes one bar before a formation is classified.</a:t>
            </a:r>
          </a:p>
        </p:txBody>
      </p:sp>
      <p:sp>
        <p:nvSpPr>
          <p:cNvPr id="14" name="Oval 13"/>
          <p:cNvSpPr/>
          <p:nvPr/>
        </p:nvSpPr>
        <p:spPr>
          <a:xfrm>
            <a:off x="6686828" y="2714086"/>
            <a:ext cx="334313" cy="420376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94182" y="2770136"/>
            <a:ext cx="334313" cy="42037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41941" y="3779038"/>
            <a:ext cx="334313" cy="39235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87174" y="2445944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591516" y="2501994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639275" y="415547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799" y="4942203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7.3. Marks are ours, added for teaching.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First question: how many bars?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5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With the intervals read, first count the bars in the formation. The book's four categories are single, double, triple, and multiple (Lim, p. 210).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one bar is single, two are double, three are triple, and five are multiple.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the count describes structure, not direction. A triple formation is not automatically bullish or bearish.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Count first. Next ask what bias the formation carries.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210. The counts and examples are ours, invented to show the classification.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Second question: intrinsic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6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Now identify intrinsic sentiment, the formation's own bullish or bearish bias. Lim points back to Chapter 4 for intrinsic bias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an intrinsically bullish formation stays bullish in either an uptrend or a downtrend; location does not rename it.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separate the formation's own bias from what the surrounding trend expects next.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pattern's own bias comes before the trend-context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211, with a pointer to Chapter 4. The placement example is ours.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Third question: continuation or reversal?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7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Trend sentiment is bullish in an uptrend and bearish in a downtrend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Compare intrinsic sentiment: agreement suggests continuation; disagreement suggests potential reversal (p.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bearish formation plus uptrend means potential reversal; bullish plus uptrend means potential continuation, not certainty.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Agreement suggests continuation; disagreement suggests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two invented placements illustrate the book's agreement rule.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Part 1 in one worked read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8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Ours, invented: two bars make a double formation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second closes at 49.80 below first low 50.20.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second bar's intrinsic sentiment is bearish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rising upper price sequence beside the pair is bullish trend context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Read: potential reversal, not a promise of a fall.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4782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Count, intrinsic bias, and trend expectation now have one worked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3571" y="1810512"/>
            <a:ext cx="52395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-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443" y="1929384"/>
            <a:ext cx="5001768" cy="351129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443203" y="2631643"/>
            <a:ext cx="2400848" cy="2036551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93787" y="2912546"/>
            <a:ext cx="700247" cy="182587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92620" y="2807208"/>
            <a:ext cx="2600919" cy="1860986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65099" y="2292949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0866089" y="2679192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6514551" y="2398288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199" y="5650991"/>
            <a:ext cx="5242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U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FIN1209 teaching chart U. All PHP values, marks and labels are ours, invented.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PHP 1.40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PHP 2.80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PHP 3.80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PHP 102.00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Open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Close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42109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88151" y="1325880"/>
            <a:ext cx="5507431" cy="39732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88151" y="1325880"/>
            <a:ext cx="5507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2471" y="1600200"/>
            <a:ext cx="4958791" cy="35160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8" name="Oval 17"/>
          <p:cNvSpPr/>
          <p:nvPr/>
        </p:nvSpPr>
        <p:spPr>
          <a:xfrm>
            <a:off x="9202759" y="2835702"/>
            <a:ext cx="385520" cy="31785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02759" y="2120523"/>
            <a:ext cx="385520" cy="31785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02759" y="4027668"/>
            <a:ext cx="385520" cy="31785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88279" y="3113828"/>
            <a:ext cx="385520" cy="31785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90227" y="269854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836639" y="178470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836639" y="444675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222159" y="3294525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79" y="5509410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PHP 2.80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Range is the absolute distance from high to low: |52.40 - 49.60| = PHP 2.80 (Lim, p. 209).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023360" cy="1621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last trade becomes the close. The first trade becomes the open; extremes become high and low (Lim, p. 210).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42109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88151" y="1325880"/>
            <a:ext cx="5507431" cy="39732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88151" y="1325880"/>
            <a:ext cx="5507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2471" y="1600200"/>
            <a:ext cx="4958791" cy="35160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8" name="Oval 17"/>
          <p:cNvSpPr/>
          <p:nvPr/>
        </p:nvSpPr>
        <p:spPr>
          <a:xfrm>
            <a:off x="9202759" y="2835702"/>
            <a:ext cx="385520" cy="31785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02759" y="2120523"/>
            <a:ext cx="385520" cy="31785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02759" y="4027668"/>
            <a:ext cx="385520" cy="31785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88279" y="3113828"/>
            <a:ext cx="385520" cy="31785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90227" y="269854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836639" y="178470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836639" y="444675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222159" y="3294525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79" y="5509410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Number of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Trading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high price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trend duration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 continuation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wider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potential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 new timeframe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06582" y="1207008"/>
            <a:ext cx="2670569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25454" y="1325880"/>
            <a:ext cx="2432825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25454" y="1325880"/>
            <a:ext cx="243282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99774" y="1600200"/>
            <a:ext cx="188418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crop showing the two counted OHLC bars, the second bar's location, and the rising price context used in the worked read.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2019" y="3547872"/>
            <a:ext cx="1192084" cy="172821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6195" y="3794760"/>
            <a:ext cx="413580" cy="139903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63508" y="1655064"/>
            <a:ext cx="608206" cy="144018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89377" y="333756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949073" y="3584448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241012" y="140360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Number of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first classification asks for the number of bars in the formation (Lim, p. 210).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36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A potential reversal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agreement indicates continuation and disagreement indicates reversal (Lim, p. 211).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5028" y="1207008"/>
            <a:ext cx="2813677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53900" y="1325880"/>
            <a:ext cx="2575933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53900" y="1325880"/>
            <a:ext cx="2575933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28220" y="1600200"/>
            <a:ext cx="2027293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crop showing the two counted OHLC bars, the second bar's location, and the rising price context used in the worked read.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69087" y="3547872"/>
            <a:ext cx="1262207" cy="172821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7626" y="3794760"/>
            <a:ext cx="437908" cy="139903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70664" y="1655064"/>
            <a:ext cx="643983" cy="144018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34996" y="333756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980556" y="3584448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289668" y="140360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Trend sentiment and intrinsic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With the three questions in place, define trend sentiment: bullish in an uptrend, bearish in a downtrend. Intrinsic sentiment is a formation's own bullish or bearish bias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Chapter 4 defines an inverted head and shoulders as bullish; in an uptrend, bullish biases agree.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Four invented cells: uptrend plus bullish formation and downtrend plus bearish formation are continuation; the mixed pairs are potential reversals.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Agreement gives continuation; disagreement gives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placement example is ours, invented to show agreement.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two-by-two rule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5720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Read the rows first: an uptrend has bullish trend sentiment; a downtrend has bearish trend sentiment. Columns show bullish or bearish formation.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two agreement cells are continuation; the two mixed cells are potential reversal.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Lim's rule: agreement means continuation; disagreement means reversal (p. 211). Compare both sentiments.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70651" y="1810512"/>
            <a:ext cx="57424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9523" y="1929384"/>
            <a:ext cx="5504688" cy="35112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79" y="5650991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four cases are ours, invented to show the rule.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3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Continuation or reversal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formation in an uptrend is a potential: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Continuation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Higher timeframe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Range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An inverted head and shoulders in an uptrend is a potential: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Single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Low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Continuation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375078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chart-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1" y="1325880"/>
            <a:ext cx="5507431" cy="351304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79" y="5049237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4 - 7.2 Pattern reading  |  Check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Continuation or reversal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formation in an uptrend is a potential: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621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Reversal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bearish intrinsic bias disagrees with bullish trend sentiment in an uptrend, so Lim classifies it as a potential reversal (p. 211).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874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874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56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An inverted head and shoulders in an uptrend is a potential: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36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Continuation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Chapter 4 calls it bullish. In an uptrend, bullish biases agree: potential continuation (p. 211).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375078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chart-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1" y="1325880"/>
            <a:ext cx="5507431" cy="351304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79" y="5049237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Check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Bearish key reversal: the numbers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86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1. Prior bar: open 50.80, high 52.00, low 50.60, close 51.10.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2. It opens at 52.30 above prior high 52.00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3. It makes a new high of 53.20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4. It closes at 50.80 below prior close 51.10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5. Volume is 4.2 million versus 2.0 million </a:t>
            </a:r>
            <a:r>
              <a:rPr sz="16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That is a bearish key reversal (Lim, p. 218).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83479" y="1810512"/>
            <a:ext cx="6430975" cy="31309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1" y="1929384"/>
            <a:ext cx="6193231" cy="2893188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066019" y="2768408"/>
            <a:ext cx="309661" cy="1446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66019" y="2450157"/>
            <a:ext cx="309661" cy="1446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66019" y="3433841"/>
            <a:ext cx="309661" cy="14465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66019" y="4186070"/>
            <a:ext cx="371593" cy="173591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67384" y="275761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9715691" y="215005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9715691" y="35677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9910632" y="4329085"/>
            <a:ext cx="292608" cy="29260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79" y="5032884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B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B is ours, with invented PHP bars and million-share volume.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7.15: the same reading on a real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035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it: “A bearish key reversal bar forms a higher high than the previous bar and closes near or below the close of the previous bar.” (Lim, p. 218).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key reversal day opening above the prior high.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close below the prior close. Purple </a:t>
            </a:r>
            <a:r>
              <a:rPr sz="17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above-average volume under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a potential warning, not a promise. The book's chart shows consolidation before the decline. Check the 16 characteristics and barrier proximity.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864" y="1810512"/>
            <a:ext cx="264704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68736" y="1929384"/>
            <a:ext cx="240930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68736" y="1929384"/>
            <a:ext cx="240930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056" y="2203703"/>
            <a:ext cx="186066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day opens above the previous high, forms a new high, closes below the previous close, and has above average volume.</a:t>
            </a:r>
          </a:p>
        </p:txBody>
      </p:sp>
      <p:sp>
        <p:nvSpPr>
          <p:cNvPr id="12" name="Oval 11"/>
          <p:cNvSpPr/>
          <p:nvPr/>
        </p:nvSpPr>
        <p:spPr>
          <a:xfrm>
            <a:off x="9225201" y="2157618"/>
            <a:ext cx="192744" cy="14045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49294" y="2052279"/>
            <a:ext cx="144558" cy="14045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97480" y="2456078"/>
            <a:ext cx="192744" cy="15800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25201" y="4633081"/>
            <a:ext cx="192744" cy="280903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33902" y="210824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9690366" y="200290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9738552" y="256470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9473529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19" y="5650991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219, Figure 7.15. The crop and marks are for teaching; no invented example is on this slide.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In a downtrend, a bullish key reversal makes a new low, then closes near or above the previous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previous low PHP 42.00 and close PHP 41.00. New bar reaches PHP 40.50 and closes PHP 43.20 on 4.0 million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New low.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 above the previous close.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High volume supports the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435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559552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Same five-step reading, reversed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141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Book p. 218 and Figure 7.14. The values are ours, invented to show the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465014" cy="2746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68312" y="1929384"/>
            <a:ext cx="4227270" cy="250862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68312" y="1929384"/>
            <a:ext cx="42272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2203703"/>
            <a:ext cx="3678631" cy="20514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5" name="Oval 14"/>
          <p:cNvSpPr/>
          <p:nvPr/>
        </p:nvSpPr>
        <p:spPr>
          <a:xfrm>
            <a:off x="8822629" y="3309126"/>
            <a:ext cx="295908" cy="5769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22629" y="3660333"/>
            <a:ext cx="295908" cy="42646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0356" y="3886109"/>
            <a:ext cx="401590" cy="52681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34681" y="315367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92408" y="393135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350136" y="423238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648319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worked PHP values are ours, invented to show the converse.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2918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Exhaustion: in an uptrend, it opens at 65.40 above prior high 65.00, reaches 66.20, and closes at 60.50; the next bar opens at 60.20 with no gap.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Pin bar: it penetrates support at 40.00 to 38.80, then rapidly retraces and closes at 40.60.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exhaustion warns of a tiring trend; a pin bar warns of a false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04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363" y="1929384"/>
            <a:ext cx="751636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388455" y="2947659"/>
            <a:ext cx="375818" cy="17556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88455" y="3860596"/>
            <a:ext cx="375818" cy="17556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46639" y="3509467"/>
            <a:ext cx="375818" cy="17556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55879" y="258153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5255879" y="419673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68319" y="381048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5650991"/>
            <a:ext cx="7756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Chart A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Chart A is ours, with invented PHP bars and volume to answer review question 1.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4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Near or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prior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Below prior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Close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Later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Near or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the bearish pattern as a higher high followed by a close near or below the previous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03520" cy="2016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1676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Close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preceding slide maps blue mark 3 to the close below the previous close (Lim, p. 219).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5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Impossible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Always certain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Unrelated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Potentially more reliable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Monthly chart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Downtrend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Flat market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Volume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Potentially more reliable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wider bar makes follow-through potentially more reliable.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06647"/>
            <a:ext cx="530352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406647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89528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693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key reversal is the converse in a downtrend.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Foundation build close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full Chapter 7 deck follows the approved outline in four parts.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These samples establish the five-step teaching pattern, readable figures, numbered marks, and separate question and answer slides.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58673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62331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Approval of the outline and samples is the gate for the full build.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Foundation scaffold for the approved Chapter 7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7 - Bar Chart Analysis</dc:title>
  <dc:subject>Technical Analysis in Investment</dc:subject>
  <dc:creator>Faculty of Economics University</dc:creator>
  <cp:keywords/>
  <dc:description>generated using python-pptx</dc:description>
  <cp:lastModifiedBy>Faculty of Economics University</cp:lastModifiedBy>
  <cp:revision>1</cp:revision>
  <dcterms:created xsi:type="dcterms:W3CDTF">2020-01-01T00:00:00Z</dcterms:created>
  <dcterms:modified xsi:type="dcterms:W3CDTF">2020-01-01T00:00:00Z</dcterms:modified>
  <cp:category/>
</cp:coreProperties>
</file>