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objectives in plain words. The title slide has already introduced the four retained prices.</a:t>
            </a:r>
          </a:p>
          <a:p>
            <a:r>
              <a:rPr sz="1400"/>
              <a:t>- Keep potential visible: the chapter teaches warnings and expectations,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four parts, not six. The checks are for reading the room, not for marks.</a:t>
            </a:r>
          </a:p>
          <a:p>
            <a:r>
              <a:rPr sz="1400"/>
              <a:t>- Point to Part 1 as the first stop: one interval becomes one bar before patterns are named.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Start with the book's definition and the invented arithmetic. The figure shows the same four prices as a compact record.</a:t>
            </a:r>
          </a:p>
          <a:p>
            <a:r>
              <a:rPr sz="1400"/>
              <a:t>- Point to gold 1, red 2 and blue 3 in the figure as the open, high and low. The close is named in the body and shown on the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construction panel so the sequence can be read. Gold 1 is the first trade, red 2 the highest trade, blue 3 the last trade, and purple 4 the lowest trade.</a:t>
            </a:r>
          </a:p>
          <a:p>
            <a:r>
              <a:rPr sz="1400"/>
              <a:t>- The lowest trade is also retained as the low, even though this crop's three teaching marks focus on first, highest and last.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isolates the higher-timeframe bar. Gold 1 is the first open, red 2 the highest high, blue 3 the lowest low, and purple 4 the last close.</a:t>
            </a:r>
          </a:p>
          <a:p>
            <a:r>
              <a:rPr sz="1400"/>
              <a:t>- The labels show what survives when three lower-timeframe intervals are combined. No intermediate open or close survives in the composite.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one interval at a time from left to right. Gold 1 identifies the first interval, red 2 a later sequence, and blue 3 the corresponding OHLC bars below.</a:t>
            </a:r>
          </a:p>
          <a:p>
            <a:r>
              <a:rPr sz="1400"/>
              <a:t>- The figure shows the book's sequence, not a new trading signal. Classification comes only after the intervals have been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first classification question in Lim's list on p. 210.</a:t>
            </a:r>
          </a:p>
          <a:p>
            <a:r>
              <a:rPr sz="1400"/>
              <a:t>- Use the invented counts to separate structure from direction. A count does not predict price by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Keep intrinsic sentiment separate from trend sentiment. Chapter 4 is the named pointer for the earlier term.</a:t>
            </a:r>
          </a:p>
          <a:p>
            <a:r>
              <a:rPr sz="1400"/>
              <a:t>- The invented example is only a classification test, not a claim that every bullish pattern works in every trend.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Lim states the agreement rule on p. 211. Keep the word potential because a classification is not a guarantee.</a:t>
            </a:r>
          </a:p>
          <a:p>
            <a:r>
              <a:rPr sz="1400"/>
              <a:t>- The full four-cell table and the book's head and shoulders examples begin in Part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worked read combines the three classification questions without introducing a new pattern name.</a:t>
            </a:r>
          </a:p>
          <a:p>
            <a:r>
              <a:rPr sz="1400"/>
              <a:t>- Say potential reversal, not reversal certainty. The next slide checks the construction arithmetic.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students calculate before revealing. Both answers are stated in the preceding worked slides and the marked bar remains visible.</a:t>
            </a:r>
          </a:p>
          <a:p>
            <a:r>
              <a:rPr sz="1400"/>
              <a:t>- Remind the room that range is a distance, not a fourth OHLC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the room to separate count, intrinsic bias, and expected direction.</a:t>
            </a:r>
          </a:p>
          <a:p>
            <a:r>
              <a:rPr sz="1400"/>
              <a:t>- The crop keeps the three classification cues visible. Part 2 adds the four-cell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book's explicit distinction on p. 211. Chapter 4 supplies the earlier intrinsic-bias meaning.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four cases as a table. Keep potential for every directional expectation.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check is the first Part 2 question. Its answers are stated on the two preceding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4.</a:t>
            </a:r>
          </a:p>
          <a:p>
            <a:r>
              <a:rPr sz="1400"/>
              <a:t>- The second bar opens above 52.00, reaches a new high of 53.20, and closes at 50.80, below the prior close of 51.10. Mark 4 identifies the 4.2 million-share volume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definition first, then explain marks 1 to 4 in the same order: gap/open, new high, close, and above-average volume.</a:t>
            </a:r>
          </a:p>
          <a:p>
            <a:r>
              <a:rPr sz="1400"/>
              <a:t>- The figure shows consolidation before the later decline. Keep the word potentially: this is a warning, not a promise.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 closes at 51.00 and has a high of 52.00. The next bar opens at 53.00, so it gaps above the prior range.</a:t>
            </a:r>
          </a:p>
          <a:p>
            <a:r>
              <a:rPr sz="1400"/>
              <a:t>- The sell-stop is 52.00, the prior high. The stoploss is 54.00, the new bar's high.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left setup first, then the exact directional converse on the right.</a:t>
            </a:r>
          </a:p>
          <a:p>
            <a:r>
              <a:rPr sz="1400"/>
              <a:t>- Mark 1 is the opening gap, mark 2 is the prior-bar trigger level, and mark 3 is the stoploss at the new extreme.</a:t>
            </a:r>
          </a:p>
          <a:p>
            <a:r>
              <a:rPr sz="1400"/>
              <a:t>- If price reverses through the stoploss, the book says to stop and reverse.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previous bar's low is PHP 48.00. The next bar opens at PHP 47.00, below that low.</a:t>
            </a:r>
          </a:p>
          <a:p>
            <a:r>
              <a:rPr sz="1400"/>
              <a:t>- The buy-stop is PHP 48.00 and the new low and stoploss are PHP 46.00.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crop enlarges the Oops annotations and leaves the price sequence visible.</a:t>
            </a:r>
          </a:p>
          <a:p>
            <a:r>
              <a:rPr sz="1400"/>
              <a:t>- The book gives a bearish example; the exact order rule was defined on the previous slide.</a:t>
            </a:r>
          </a:p>
          <a:p>
            <a:r>
              <a:rPr sz="1400"/>
              <a:t>- Keep this as a potential setup. The book does not give a complete trade plan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mark 1 for the buy setup and mark 2 for the sell setup. The exact order levels were defined on the earlier slides.</a:t>
            </a:r>
          </a:p>
          <a:p>
            <a:r>
              <a:rPr sz="1400"/>
              <a:t>- The companion names are not attached to an unrelated mark. Chapter 7 does not define or show them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six range labels are invented teaching numbers. Compare each with the same six-bar window.</a:t>
            </a:r>
          </a:p>
          <a:p>
            <a:r>
              <a:rPr sz="1400"/>
              <a:t>- The last bar is the narrowest and remains inside the prior bar. A later break can go up or 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Count the last six bars in the source schematic, then locate its final inside bar and narrowest range.</a:t>
            </a:r>
          </a:p>
          <a:p>
            <a:r>
              <a:rPr sz="1400"/>
              <a:t>- The two trigger arrows show that direction is not built into ID/NR.</a:t>
            </a:r>
          </a:p>
          <a:p>
            <a:r>
              <a:rPr sz="1400"/>
              <a:t>- The next slide extends the same count to NR4, NR5, NR6, and NR7.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the marked schematic as the anchor, then read the four window lengths from the body.</a:t>
            </a:r>
          </a:p>
          <a:p>
            <a:r>
              <a:rPr sz="1400"/>
              <a:t>- The book defines the pattern in words rather than giving these comparative ranges; they are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Mark 1 is the narrowest final bar and mark 2 boxes its inside relationship with the prior bar.</a:t>
            </a:r>
          </a:p>
          <a:p>
            <a:r>
              <a:rPr sz="1400"/>
              <a:t>- Mark 3's top and bottom edges sit on the printed long and short trigger levels; either direction is possible before the break.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five counted monthly ranges are 12, 10, 9, 7, and 5 PHP; the fifth bar is inside the fourth.</a:t>
            </a:r>
          </a:p>
          <a:p>
            <a:r>
              <a:rPr sz="1400"/>
              <a:t>- The sixth bar breaks above PHP 31.00. The example is invented to show the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monthly extension, not an ordinary daily ID/NR example.</a:t>
            </a:r>
          </a:p>
          <a:p>
            <a:r>
              <a:rPr sz="1400"/>
              <a:t>- Mark 1 identifies the inside month, mark 2 spans the five-month range count, and mark 3 is on the first upside breakout bar.</a:t>
            </a:r>
          </a:p>
          <a:p>
            <a:r>
              <a:rPr sz="1400"/>
              <a:t>- The count and neutral direction rule remain the same before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order diagram and marked ID/NR6 slide.</a:t>
            </a:r>
          </a:p>
          <a:p>
            <a:r>
              <a:rPr sz="1400"/>
              <a:t>- Do not reveal the answers here; the next slide gives the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book's summary on p. 233 as the scope of the chapter.</a:t>
            </a:r>
          </a:p>
          <a:p>
            <a:r>
              <a:rPr sz="1400"/>
              <a:t>- Emphasise that potential evidence is not a guarantee or a complete trading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students to say the difference before reading the answer text.</a:t>
            </a:r>
          </a:p>
          <a:p>
            <a:r>
              <a:rPr sz="1400"/>
              <a:t>- Keep the words may and potential: the book does not promise follow-through.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first eight characteristics.</a:t>
            </a:r>
          </a:p>
          <a:p>
            <a:r>
              <a:rPr sz="1400"/>
              <a:t>- Read every name as evidence, not certainty.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earlier Chapter 5 terms for the remaining definitions the book says to recall.</a:t>
            </a:r>
          </a:p>
          <a:p>
            <a:r>
              <a:rPr sz="1400"/>
              <a:t>- Read barrier proximity as the strongest reliability emphasis in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brackets pattern 1 and red mark 2 brackets pattern 2.</a:t>
            </a:r>
          </a:p>
          <a:p>
            <a:r>
              <a:rPr sz="1400"/>
              <a:t>- Blue mark 3 sits beside the source's uptrend context. Read the source conditions rather than inventing a trade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Gold mark 1 identifies the wide first bar near resistance; red mark 2 identifies the narrow inside bar.</a:t>
            </a:r>
          </a:p>
          <a:p>
            <a:r>
              <a:rPr sz="1400"/>
              <a:t>- Blue mark 3 identifies the lower oscillator region shown in the source. Chapter 7 does not teach its calculation.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to the lower labelled oscillator region, not to a formula.</a:t>
            </a:r>
          </a:p>
          <a:p>
            <a:r>
              <a:rPr sz="1400"/>
              <a:t>- The book uses the label as context in Chapter 7; the method is deferred to Chapter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 price bar records opening, highest, lowest and closing prices; it can warn of a possible top or bottom. First, make one bar from the trades that made it.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lets you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price bar is a compact record of opening, highest, lowest, and closing prices. This chapter teaches how to read that four-price record.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calculate a bar, classify a formation by its number of bars and its own bullish or bearish bias, and judge a possible continuation or reversal.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You will also recall the book's 16 price and volume reversal characteristics. Every signal is a potential warning, not a promise.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route follows the book from one bar to the full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209 to 217. The plain-language objectives follow the book's four learning objectives.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Four parts, one reading habit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makes and combines the four prices in a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compares continuation and reversal using trend sentiment and intrinsic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reads popular reversal patterns. Part 4 reads volatility breakouts.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 check follows key ideas, and each part stops cleanly. The route follows the book from one bar to the full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2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8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Part 1 starts with the four prices every bar keeps.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Chapter 7 sections 7.1 to 7.4. The four-part route follows the approved outline.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four prices in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1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writes, "A standard price bar comprises an open (O), high (H), low (L), and close (C) price" (p. 209).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 defines range as |H - L| (p. 209). Ours, invented: O 50.00, H 52.40, L 49.60, C 51.10; range = Philippine pesos (PHP) 2.80.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read these four prices before a pattern. Figure 7.1 marks the close (4).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37667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Now show how five trades become these four prices.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59" y="1810512"/>
            <a:ext cx="4647894" cy="3419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85431" y="1929384"/>
            <a:ext cx="4410151" cy="31816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4101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59751" y="2203703"/>
            <a:ext cx="3861511" cy="2724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4" name="Oval 13"/>
          <p:cNvSpPr/>
          <p:nvPr/>
        </p:nvSpPr>
        <p:spPr>
          <a:xfrm>
            <a:off x="9619725" y="3138395"/>
            <a:ext cx="308710" cy="254528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19725" y="2565705"/>
            <a:ext cx="308710" cy="25452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19725" y="4092878"/>
            <a:ext cx="308710" cy="25452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8436" y="3361108"/>
            <a:ext cx="308710" cy="254528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62058" y="3001235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99986" y="226946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99986" y="44011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10408697" y="3478476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59" y="5321304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7.1. The marks and worked PHP values are ours, added for teaching.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minutes become one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2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Now trace Figure 7.1's five invented trades: 50.00, 50.80, 49.60, 52.40, and 51.10 Philippine pesos.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First becomes O 50.00 </a:t>
            </a:r>
            <a:r>
              <a:rPr sz="20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highest H 52.40 </a:t>
            </a:r>
            <a:r>
              <a:rPr sz="20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; last C 51.10 </a:t>
            </a:r>
            <a:r>
              <a:rPr sz="20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2000" b="0" i="0">
                <a:solidFill>
                  <a:srgbClr val="1A1A1A"/>
                </a:solidFill>
                <a:latin typeface="Arial"/>
              </a:rPr>
              <a:t>Lowest 49.60 supplies L </a:t>
            </a:r>
            <a:r>
              <a:rPr sz="20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2000" b="0" i="0">
                <a:solidFill>
                  <a:srgbClr val="1A1A1A"/>
                </a:solidFill>
                <a:latin typeface="Arial"/>
              </a:rPr>
              <a:t>. Keep first, highest, lowest, and last.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01183"/>
            <a:ext cx="82296" cy="7863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7759"/>
            <a:ext cx="5010912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  <a:latin typeface="Arial"/>
              </a:rPr>
              <a:t>One interval is one OHLC bar. Next, combine several intervals.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1229" y="1810512"/>
            <a:ext cx="319279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30101" y="1929384"/>
            <a:ext cx="295505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0101" y="1929384"/>
            <a:ext cx="295505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04421" y="2203703"/>
            <a:ext cx="240641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 construction panel, cropped to the five-minute price path. The first trade, highest trade and last trade become the bar's open, high and close; the lowest trade supplies the low.</a:t>
            </a:r>
          </a:p>
        </p:txBody>
      </p:sp>
      <p:sp>
        <p:nvSpPr>
          <p:cNvPr id="14" name="Oval 13"/>
          <p:cNvSpPr/>
          <p:nvPr/>
        </p:nvSpPr>
        <p:spPr>
          <a:xfrm>
            <a:off x="8109763" y="3193450"/>
            <a:ext cx="295505" cy="421355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53021" y="2456078"/>
            <a:ext cx="295505" cy="456468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907627" y="3404128"/>
            <a:ext cx="295505" cy="45646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9425" y="4317065"/>
            <a:ext cx="295505" cy="421355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824851" y="347764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859119" y="210824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213725" y="382877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9065972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7.1, construction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Three small bars become one larger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3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Now extend the same rule to three invented five-minute bars: first O 50.00, highest H 50.90, lowest L 49.40, last C 50.30.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7.2 keeps O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H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L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, and C </a:t>
            </a:r>
            <a:r>
              <a:rPr sz="18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in the 15-minute composite.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Action: a higher-timeframe bar preserves first, extreme, and last values; it does not average intermediate opens or closes.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965192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01768"/>
            <a:ext cx="50109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book's composite rule is the same four-price rule at a longer interval.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15986" y="1810512"/>
            <a:ext cx="3583281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34858" y="1929384"/>
            <a:ext cx="3345537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34858" y="1929384"/>
            <a:ext cx="334553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09178" y="2203703"/>
            <a:ext cx="2796897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7.2 composite-bar panel, cropped to the 15-minute bar. Three five-minute bars are summarized by the first open, highest high, lowest low and last close.</a:t>
            </a:r>
          </a:p>
        </p:txBody>
      </p:sp>
      <p:sp>
        <p:nvSpPr>
          <p:cNvPr id="14" name="Oval 13"/>
          <p:cNvSpPr/>
          <p:nvPr/>
        </p:nvSpPr>
        <p:spPr>
          <a:xfrm>
            <a:off x="9175270" y="3193450"/>
            <a:ext cx="468375" cy="35112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75270" y="2456078"/>
            <a:ext cx="468375" cy="35112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75270" y="4949098"/>
            <a:ext cx="468375" cy="35112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75270" y="4001048"/>
            <a:ext cx="468375" cy="386242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918005" y="3175345"/>
            <a:ext cx="246888" cy="246888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55487" y="2157069"/>
            <a:ext cx="246888" cy="246888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055487" y="5247010"/>
            <a:ext cx="246888" cy="246888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Oval 20"/>
          <p:cNvSpPr/>
          <p:nvPr/>
        </p:nvSpPr>
        <p:spPr>
          <a:xfrm>
            <a:off x="8918005" y="3982943"/>
            <a:ext cx="246888" cy="24688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799" y="5650991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7.2 - Lim, The Handbook of Technical Analysis (Wiley, 2016)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7.2, composite-bar panel. The crop, marks and worked PHP values are ours, added for teaching.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Read each interval before naming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4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next shows five-minute intervals before it classifies a formation (Lim, p. 210).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first interval,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 later interval, and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the OHLC bar below one interval.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read each interval first; then count bars, identify intrinsic sentiment, and ask continuation or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0109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three classification questions come after the interval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04025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19671" y="1929384"/>
            <a:ext cx="4775911" cy="280250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9671" y="1929384"/>
            <a:ext cx="477591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93991" y="2203703"/>
            <a:ext cx="4227271" cy="23453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shows a series of five-minute price intervals above the corresponding OHLC bars below. Each interval becomes one bar before a formation is classified.</a:t>
            </a:r>
          </a:p>
        </p:txBody>
      </p:sp>
      <p:sp>
        <p:nvSpPr>
          <p:cNvPr id="14" name="Oval 13"/>
          <p:cNvSpPr/>
          <p:nvPr/>
        </p:nvSpPr>
        <p:spPr>
          <a:xfrm>
            <a:off x="6686828" y="2714086"/>
            <a:ext cx="334313" cy="420376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94182" y="2770136"/>
            <a:ext cx="334313" cy="420376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41941" y="3779038"/>
            <a:ext cx="334313" cy="39235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87174" y="2445944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591516" y="2501994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9639275" y="415547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799" y="4942203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210, Figure 7.3. Marks are ours, added for teaching.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First question: how many bars?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5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intervals read, first count the bars in the formation. The book's four categories are single, double, triple, and multiple (Lim, p. 210).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one bar is single, two are double, three are triple, and five are multiple.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the count describes structure, not direction. A triple formation is not automatically bullish or bearish.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Count first. Next ask what bias the formation carries.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210. The counts and examples are ours, invented to show the classification.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Second question: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6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Now identify intrinsic sentiment, the formation's own bullish or bearish bias. Lim points back to Chapter 4 for intrinsic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Ours, invented: an intrinsically bullish formation stays bullish in either an uptrend or a downtrend; location does not rename it.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Meaning/action: separate the formation's own bias from what the surrounding trend expects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pattern's own bias comes before the trend-context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211, with a pointer to Chapter 4. The placement example is ours.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Third question: continuation or reversal?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7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Trend sentiment is bullish in an uptrend and bearish in a downtrend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intrinsic sentiment: agreement suggests continuation; disagreement suggests potential reversal (p.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bearish formation plus uptrend means potential reversal; bullish plus uptrend means potential continuation, not certainty.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suggests continuation; disagreement suggests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two invented placements illustrate the book's agreement rule.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Part 1 in one worked read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8 of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074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Ours, invented: two bars make a double formation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second closes at 49.80 below first low 50.20.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second bar's intrinsic sentiment is bearish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rising upper price sequence beside the pair is bullish trend context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Read: potential reversal, not a promise of a fall.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4782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Count, intrinsic bias, and trend expectation now have one worked read.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3571" y="1810512"/>
            <a:ext cx="52395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2443" y="1929384"/>
            <a:ext cx="5001768" cy="351129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93504" y="2315626"/>
            <a:ext cx="1150406" cy="66714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993751" y="2736982"/>
            <a:ext cx="300106" cy="245790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7642920" y="3404128"/>
            <a:ext cx="1450513" cy="807598"/>
          </a:xfrm>
          <a:prstGeom prst="line">
            <a:avLst/>
          </a:prstGeom>
          <a:ln w="44450">
            <a:solidFill>
              <a:srgbClr val="1F5FAD"/>
            </a:solidFill>
            <a:tailEnd type="triangle" w="med" len="med"/>
          </a:ln>
        </p:spPr>
      </p:cxnSp>
      <p:sp>
        <p:nvSpPr>
          <p:cNvPr id="15" name="Oval 14"/>
          <p:cNvSpPr/>
          <p:nvPr/>
        </p:nvSpPr>
        <p:spPr>
          <a:xfrm>
            <a:off x="9001993" y="2399751"/>
            <a:ext cx="182880" cy="18288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0411632" y="2654686"/>
            <a:ext cx="164592" cy="16459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202064" y="3172236"/>
            <a:ext cx="182880" cy="18288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199" y="5650991"/>
            <a:ext cx="52422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U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FIN1209 teaching chart U. All PHP values, marks and labels are ours, invented.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PHP 1.40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PHP 2.80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PHP 3.80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PHP 102.00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Open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Close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Building a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With H 52.40 and L 49.60, what is the range?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PHP 2.80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Range is the absolute distance from high to low: |52.40 - 49.60| = PHP 2.80 (Lim, p. 209).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Which price comes from the last trade in the interval?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488053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last trade becomes the close. The first trade becomes the open; extremes become high and low (Lim, p. 210).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421096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88151" y="1325880"/>
            <a:ext cx="5507431" cy="397321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88151" y="1325880"/>
            <a:ext cx="5507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62471" y="1600200"/>
            <a:ext cx="4958791" cy="35160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7.1: five minutes of changing price are filtered into one bar that keeps only the open, high, low and close. The range is the distance from high to low.</a:t>
            </a:r>
          </a:p>
        </p:txBody>
      </p:sp>
      <p:sp>
        <p:nvSpPr>
          <p:cNvPr id="18" name="Oval 17"/>
          <p:cNvSpPr/>
          <p:nvPr/>
        </p:nvSpPr>
        <p:spPr>
          <a:xfrm>
            <a:off x="9202759" y="2835702"/>
            <a:ext cx="385520" cy="31785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202759" y="2120523"/>
            <a:ext cx="385520" cy="31785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202759" y="4027668"/>
            <a:ext cx="385520" cy="317857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88279" y="3113828"/>
            <a:ext cx="385520" cy="317857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790227" y="2698542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3" name="Oval 22"/>
          <p:cNvSpPr/>
          <p:nvPr/>
        </p:nvSpPr>
        <p:spPr>
          <a:xfrm>
            <a:off x="9836639" y="1784702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9836639" y="4446758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Oval 24"/>
          <p:cNvSpPr/>
          <p:nvPr/>
        </p:nvSpPr>
        <p:spPr>
          <a:xfrm>
            <a:off x="10222159" y="3294525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79" y="5509410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7.1 - Lim, The Handbook of Technical Analysis (Wiley, 2016)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Number of bars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Trading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high price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trend duration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 wider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A potential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A new timeframe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06582" y="1207008"/>
            <a:ext cx="2670569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25454" y="1325880"/>
            <a:ext cx="243282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25454" y="1325880"/>
            <a:ext cx="243282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9774" y="1600200"/>
            <a:ext cx="1884185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12019" y="3547872"/>
            <a:ext cx="1192084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6195" y="3794760"/>
            <a:ext cx="413580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63508" y="1655064"/>
            <a:ext cx="608206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89377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49073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41012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Classifying a formation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Single, double, triple and multiple describe what?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A.  Number of bars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first classification asks for the number of bars in the formation (Lim, p. 210).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25723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25723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08603"/>
            <a:ext cx="4023360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When intrinsic and trend sentiments disagree, the expectation is: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C.  A potential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says agreement indicates continuation and disagreement indicates reversal (Lim, 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5028" y="1207008"/>
            <a:ext cx="2813677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53900" y="1325880"/>
            <a:ext cx="2575933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900" y="1325880"/>
            <a:ext cx="2575933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8220" y="1600200"/>
            <a:ext cx="2027293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 crop showing the two counted OHLC bars, the second bar's location, and the rising price context used in the worked read.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69087" y="3547872"/>
            <a:ext cx="1262207" cy="1728215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567626" y="3794760"/>
            <a:ext cx="437908" cy="139903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70664" y="1655064"/>
            <a:ext cx="643983" cy="144018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434996" y="3337560"/>
            <a:ext cx="256032" cy="256032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8980556" y="3584448"/>
            <a:ext cx="256032" cy="256032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289668" y="1403604"/>
            <a:ext cx="256032" cy="256032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7.3 -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4 - 7.1 Price bar  |  Check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Trend sentiment and intrinsic sentiment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1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With the three questions in place, define trend sentiment: bullish in an uptrend, bearish in a downtrend. Intrinsic sentiment is a formation's own bullish or bearish bias (Lim, p. 211).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4 defines an inverted head and shoulders as bullish; in an uptrend, bullish biases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Four invented cells: uptrend plus bullish formation and downtrend plus bearish formation are continuation; the mixed pairs are potential reversals.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Agreement gives continuation; disagreement gives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placement example is ours, invented to show agreement.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two-by-two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2 of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Read the rows first: an uptrend has bullish trend sentiment; a downtrend has bearish trend sentiment. Columns show bullish or bearish formation.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two agreement cells are continuation; the two mixed cells are potential reversal.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Lim's rule: agreement means continuation; disagreement means reversal (p. 211). Compare both sentiments.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670651" y="1810512"/>
            <a:ext cx="574243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523" y="1929384"/>
            <a:ext cx="5504688" cy="35112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79" y="5650991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211. The four cases are ours, invented to show the rule.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Continuation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Higher timeframe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Range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457200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11480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199128"/>
            <a:ext cx="411480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Reversal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Single bar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Low volume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Continuation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07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151" y="1325880"/>
            <a:ext cx="5507431" cy="35130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49237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Continuation or reversal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572000" cy="2484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48412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formation in an uptrend is a potential: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023360" cy="16217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B.  Reversal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bearish intrinsic bias disagrees with bullish trend sentiment in an uptrend, so Lim classifies it as a potential reversal (p. 211).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874008"/>
            <a:ext cx="4572000" cy="223583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874008"/>
            <a:ext cx="91440" cy="223583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056888"/>
            <a:ext cx="40233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An inverted head and shoulders in an uptrend is a potential: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736338"/>
            <a:ext cx="4023360" cy="1373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07A33"/>
                </a:solidFill>
                <a:latin typeface="Courier New"/>
              </a:rPr>
              <a:t>D.  Continuation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4 calls it bullish. In an uptrend, bullish biases agree: potential continuation (p. 211).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1207008"/>
            <a:ext cx="5745175" cy="375430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chart-s.png"/>
          <p:cNvPicPr>
            <a:picLocks noChangeAspect="1"/>
          </p:cNvPicPr>
          <p:nvPr/>
        </p:nvPicPr>
        <p:blipFill>
          <a:blip r:embed="rId2"/>
          <a:srcRect l="50" r="50"/>
          <a:stretch>
            <a:fillRect/>
          </a:stretch>
        </p:blipFill>
        <p:spPr>
          <a:xfrm>
            <a:off x="5788151" y="1325880"/>
            <a:ext cx="5507431" cy="351656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79" y="5052754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S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4 - 7.2 Pattern reading  |  Check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8862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1. Prior bar: open 50.80, high 52.00, low 50.60, close 51.10.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2. It opens at 52.30 above prior high 52.00 </a:t>
            </a:r>
            <a:r>
              <a:rPr sz="16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3. It makes a new high of 53.20 </a:t>
            </a:r>
            <a:r>
              <a:rPr sz="16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4. It closes at 50.80 below prior close 51.10 </a:t>
            </a:r>
            <a:r>
              <a:rPr sz="16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 i="0">
                <a:solidFill>
                  <a:srgbClr val="1A1A1A"/>
                </a:solidFill>
                <a:latin typeface="Arial"/>
              </a:rPr>
              <a:t>Step 5. Volume is 4.2 million versus 2.0 million </a:t>
            </a:r>
            <a:r>
              <a:rPr sz="16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600" b="0" i="0">
                <a:solidFill>
                  <a:srgbClr val="1A1A1A"/>
                </a:solidFill>
                <a:latin typeface="Arial"/>
              </a:rPr>
              <a:t>. That is a bearish key reversal (Lim, p. 218).</a:t>
            </a:r>
          </a:p>
        </p:txBody>
      </p:sp>
      <p:sp>
        <p:nvSpPr>
          <p:cNvPr id="8" name="Rectangle 7"/>
          <p:cNvSpPr/>
          <p:nvPr/>
        </p:nvSpPr>
        <p:spPr>
          <a:xfrm>
            <a:off x="4983479" y="1810512"/>
            <a:ext cx="6430975" cy="31309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2351" y="1929384"/>
            <a:ext cx="6193231" cy="289318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066019" y="2768408"/>
            <a:ext cx="309661" cy="1446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066019" y="2450157"/>
            <a:ext cx="309661" cy="14465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066019" y="3433841"/>
            <a:ext cx="309661" cy="144659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066019" y="4186070"/>
            <a:ext cx="371593" cy="173591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67384" y="2757619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Oval 14"/>
          <p:cNvSpPr/>
          <p:nvPr/>
        </p:nvSpPr>
        <p:spPr>
          <a:xfrm>
            <a:off x="9715691" y="215005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Oval 15"/>
          <p:cNvSpPr/>
          <p:nvPr/>
        </p:nvSpPr>
        <p:spPr>
          <a:xfrm>
            <a:off x="9715691" y="3567712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Oval 16"/>
          <p:cNvSpPr/>
          <p:nvPr/>
        </p:nvSpPr>
        <p:spPr>
          <a:xfrm>
            <a:off x="9910632" y="4329085"/>
            <a:ext cx="292608" cy="292608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5032884"/>
            <a:ext cx="64309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the same reading on a real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it: “A bearish key reversal bar forms a higher high than the previous bar and closes near or below the close of the previous bar.”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Gold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key reversal day opening above the prior high. Red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its close below the prior close. Purple </a:t>
            </a:r>
            <a:r>
              <a:rPr sz="1700" b="1" i="0">
                <a:solidFill>
                  <a:srgbClr val="7B3FA0"/>
                </a:solidFill>
                <a:latin typeface="Arial"/>
              </a:rPr>
              <a:t>(4)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the above-average volume under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a potential warning, not a promise. The book's chart shows consolidation before the decline. Check the 16 characteristics and barrier proximity.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949864" y="1810512"/>
            <a:ext cx="264704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68736" y="1929384"/>
            <a:ext cx="2409301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68736" y="1929384"/>
            <a:ext cx="240930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43056" y="2203703"/>
            <a:ext cx="1860661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day opens above the previous high, forms a new high, closes below the previous close, and has above average volume.</a:t>
            </a:r>
          </a:p>
        </p:txBody>
      </p:sp>
      <p:sp>
        <p:nvSpPr>
          <p:cNvPr id="12" name="Oval 11"/>
          <p:cNvSpPr/>
          <p:nvPr/>
        </p:nvSpPr>
        <p:spPr>
          <a:xfrm>
            <a:off x="9225201" y="2157618"/>
            <a:ext cx="192744" cy="140451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49294" y="2052279"/>
            <a:ext cx="144558" cy="14045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97480" y="2456078"/>
            <a:ext cx="192744" cy="158008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25201" y="4633081"/>
            <a:ext cx="192744" cy="280903"/>
          </a:xfrm>
          <a:prstGeom prst="ellipse">
            <a:avLst/>
          </a:prstGeom>
          <a:noFill/>
          <a:ln w="44450">
            <a:solidFill>
              <a:srgbClr val="7B3F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33902" y="210824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9690366" y="200290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9738552" y="256470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Oval 18"/>
          <p:cNvSpPr/>
          <p:nvPr/>
        </p:nvSpPr>
        <p:spPr>
          <a:xfrm>
            <a:off x="9473529" y="4741712"/>
            <a:ext cx="274320" cy="274320"/>
          </a:xfrm>
          <a:prstGeom prst="ellipse">
            <a:avLst/>
          </a:prstGeom>
          <a:solidFill>
            <a:srgbClr val="7B3FA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no invented example is on this slide.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918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in an uptrend, it opens at 65.40 above prior high 65.00, reaches 66.20, and closes at 60.50; the next bar opens at 60.20 with no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it penetrates support at 40.00 to 38.80, then rapidly retraces and closes at 40.60.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exhaustion warns of a tiring trend; a pin bar warns of a false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5650991"/>
            <a:ext cx="77568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35804" y="1207008"/>
            <a:ext cx="394364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54676" y="1325880"/>
            <a:ext cx="370590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054676" y="1325880"/>
            <a:ext cx="370590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28996" y="1600200"/>
            <a:ext cx="315726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48214" y="1737360"/>
            <a:ext cx="296472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96450" y="1408176"/>
            <a:ext cx="259413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96472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36375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211086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3344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up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an Oops begins when a bar opens beyond the previous bar's range. After a gap up, the bearish setup places a sell-stop at the previous high and the stoploss at the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prior high PHP 52.00; new open PHP 53.00; sell-stop PHP 52.00; new high and stoploss PHP 54.00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the stoploss, stop and reverse there. Lim says to seek this bearish Oops in a downtrend.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up means bearish Oops; gap down is its bullish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order sequence.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82135" cy="212709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4044391" cy="1889350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 flipV="1">
            <a:off x="10143813" y="2628443"/>
            <a:ext cx="0" cy="245616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sp>
        <p:nvSpPr>
          <p:cNvPr id="14" name="Oval 13"/>
          <p:cNvSpPr/>
          <p:nvPr/>
        </p:nvSpPr>
        <p:spPr>
          <a:xfrm>
            <a:off x="9901150" y="2779591"/>
            <a:ext cx="242663" cy="113361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901150" y="2156106"/>
            <a:ext cx="242663" cy="11336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330205" y="2604644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30205" y="273689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330205" y="205673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29046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TA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TA is ours, with invented PHP values to show Lim (2016), p. 231.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7.36: both Oops directions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2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Definition: an Oops opens beyond the previous bar's range. Left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gaps down: buy-stop at previous low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stoploss at new low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Right is the unmarked converse: gap up, sell-stop at previous high, stoploss at new high.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Action: if price reverses, stop and reverse at the stoploss. The book promises no result.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Read the bearish and bullish order locations as exact opposites.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four named candlestick companions are not defined in Chapter 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21712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9335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4763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two Williams' Oops schematics: a gap below the prior range with a buy-stop at the prior low, and a gap above it with a sell-stop at the prior high; each stoploss is at the new extreme.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66544" y="3205499"/>
            <a:ext cx="513883" cy="0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8619957" y="3031483"/>
            <a:ext cx="632472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8619957" y="3379515"/>
            <a:ext cx="71153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7771266" y="285565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312917" y="279764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391976" y="3358365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4073204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Williams' Oops: gap down and reverse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converse opens below the previous low. Ours: prior low PHP 48.00; new open PHP 47.00; buy-stop PHP 48.00; new low and stoploss PHP 46.00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If price reverses through PHP 46.00, stop and reverse at that stoploss. Lim says to seek this bullish Oops in an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Morning star, evening star, piercing line, and dark cloud cover are named as possible companions, not defined here.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592531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Gap down means bullish Oops; gap up is its bearish converse.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Values are ours, invented to show the bearish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236415" cy="21057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1" y="1929384"/>
            <a:ext cx="3998671" cy="1867992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10113181" y="2956779"/>
            <a:ext cx="0" cy="186799"/>
          </a:xfrm>
          <a:prstGeom prst="line">
            <a:avLst/>
          </a:prstGeom>
          <a:ln w="44450">
            <a:solidFill>
              <a:srgbClr val="E09B00"/>
            </a:solidFill>
            <a:tailEnd type="triangle" w="med" len="med"/>
          </a:ln>
        </p:spPr>
      </p:cxnSp>
      <p:cxnSp>
        <p:nvCxnSpPr>
          <p:cNvPr id="14" name="Connector 13"/>
          <p:cNvCxnSpPr/>
          <p:nvPr/>
        </p:nvCxnSpPr>
        <p:spPr>
          <a:xfrm>
            <a:off x="8993553" y="2938099"/>
            <a:ext cx="959681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8993553" y="3498497"/>
            <a:ext cx="959681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10335901" y="28756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415875" y="2670180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495848" y="3417377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07688"/>
            <a:ext cx="4236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V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V is ours, with invented PHP values to show Lim (2016), p. 231.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7.37: a bearish Oops on a daily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Dynegy shows a bearish Oops: mark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is the opening gap,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sell-stop at the previous high, and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the current high where stop-and-reverse buys.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expected downside is the book's chart annotation, not a guarantee.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four companion names remain undefined here; import no outside formula.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7254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925312" cy="7254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example applies the rule; it does not complete a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3748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231, Figure 7.37. The figure is a Dynegy daily chart.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90694" cy="182598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52950" cy="15882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5295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404310" cy="1131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7.37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daily Dynegy chart marked at the bearish Oops opening gap, sell-stop at the prior high, stop-and-reverse buy level, and expected downside move.</a:t>
            </a:r>
          </a:p>
        </p:txBody>
      </p:sp>
      <p:sp>
        <p:nvSpPr>
          <p:cNvPr id="15" name="Oval 14"/>
          <p:cNvSpPr/>
          <p:nvPr/>
        </p:nvSpPr>
        <p:spPr>
          <a:xfrm>
            <a:off x="10359255" y="2882327"/>
            <a:ext cx="237177" cy="12705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0517373" y="2977621"/>
            <a:ext cx="513884" cy="0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10517373" y="2898209"/>
            <a:ext cx="513884" cy="0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10024448" y="293575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0063977" y="295163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1012685" y="258634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199" y="3727935"/>
            <a:ext cx="41906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7.37 -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7.37. The crop and marks are for teaching.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Oops context and undefined companions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2179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Prefer bullish Oops in an uptrend and bearish Oops in a downtrend. Figure 7.36 shows the directions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names morning star, evening star, piercing line, and dark cloud cover, but Figure 7.36 does not show them.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Chapter 7 defines none of the four; they are context names 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92531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Context chooses which Oops direction to study; the chapter leaves the companion definitions open.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62179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231. The named candlestick companions are not defined in this chapter.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199" y="1810512"/>
            <a:ext cx="4144974" cy="214888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34071" y="1929384"/>
            <a:ext cx="3907231" cy="19111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34071" y="1929384"/>
            <a:ext cx="39072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08392" y="2203703"/>
            <a:ext cx="3358590" cy="14539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7.36's two Oops panels, with marks on the bullish and bearish setups; the chapter's named candlestick companions are not shown or defined here.</a:t>
            </a:r>
          </a:p>
        </p:txBody>
      </p:sp>
      <p:sp>
        <p:nvSpPr>
          <p:cNvPr id="15" name="Oval 14"/>
          <p:cNvSpPr/>
          <p:nvPr/>
        </p:nvSpPr>
        <p:spPr>
          <a:xfrm>
            <a:off x="8410879" y="2751176"/>
            <a:ext cx="312578" cy="229337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30061" y="2751176"/>
            <a:ext cx="312578" cy="229337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078358" y="251845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78986" y="251845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99" y="4050841"/>
            <a:ext cx="41449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7.36 - Lim, The Handbook of Technical Analysis (Wiley, 2016)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231, Figure 7.36. The numbered marks are for teaching.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ID/NR: inside day plus narrowest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Plain words: ID/NR means an inside-day breakout from the narrowest bar in the last n days. An inside day stays within the previous day's high and low.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Ours: six ranges are 4.0, 3.2, 2.8, 2.1, 1.6, and 1.2 PHP. Bar 6 is inside bar 5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has the narrowest range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later breakout can occur in either direction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pattern is a volatility breakout, not a bullish or bearish signal by itself.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Count the window first, then wait for direction from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33288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Ranges are ours, invented to show the six-bar count.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t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301301" y="2359005"/>
            <a:ext cx="588580" cy="30932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742736" y="2307450"/>
            <a:ext cx="0" cy="360882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10485232" y="2290265"/>
            <a:ext cx="0" cy="326512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6" name="Oval 15"/>
          <p:cNvSpPr/>
          <p:nvPr/>
        </p:nvSpPr>
        <p:spPr>
          <a:xfrm>
            <a:off x="9980209" y="261709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899867" y="259991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0164141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TB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TB is ours, with invented PHP ranges to show Lim (2016), p. 232.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7.38: ID/NR6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book's schematic shows the last six bars counted for ID/NR6 </a:t>
            </a:r>
            <a:r>
              <a:rPr sz="19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 The final bar is inside the prior range </a:t>
            </a:r>
            <a:r>
              <a:rPr sz="19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 and is the narrowest of those six </a:t>
            </a:r>
            <a:r>
              <a:rPr sz="19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9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Lim calls this an ID/NR6 volatility breakout. It has no bearish or bullish sentiment before the breakout, so either trigger direction remains possible.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Meaning/action: identify the exact n-day window and the inside condition before reading the breakout.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93208"/>
            <a:ext cx="82296" cy="45110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129784"/>
            <a:ext cx="6291072" cy="4511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1A1A"/>
                </a:solidFill>
                <a:latin typeface="Arial"/>
              </a:rPr>
              <a:t>The number 6 names the count, not a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745480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824934" cy="2368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2131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3038550" cy="1673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68373" y="2675279"/>
            <a:ext cx="1004413" cy="1278677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593427" y="3122816"/>
            <a:ext cx="179359" cy="83114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9701043" y="3144127"/>
            <a:ext cx="0" cy="809829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18" name="Oval 17"/>
          <p:cNvSpPr/>
          <p:nvPr/>
        </p:nvSpPr>
        <p:spPr>
          <a:xfrm>
            <a:off x="8200750" y="353974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43242" y="371023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173705" y="371023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270824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ID/NR4, NR5, NR6, and NR7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n in ID/NR n is the number of bars counted: ID/NR4 counts four, NR5 counts five, NR6 counts six, and NR7 counts seven.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Ours: separate invented windows make the arithmetic visible: NR4 ranges 3.1, 2.4, 2.0, 1.6 PHP; NR5 adds 1.2 PHP; NR6 adds 1.8 PHP; NR7 adds 1.0 PHP.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Every version still needs the inside-day condition. The label says how far back to count, not which way price must break.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volatility breakout compresses recent range; direction comes later.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19089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Lim (2016), p. 232. The comparative ranges are ours, invented to show the n-day windows.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232. The comparative ranges are ours, invented.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ID/NR has no built-in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inside and narrowest-range conditions describe compression, not sentiment. Figure 7.38 marks the narrowest bar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and its inside condition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Before the breakout, the same setup can trigger long or short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The direction comes from the later price break.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do not label ID/NR bullish or bearish before the trigger; count the window and wait.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42062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4206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Neutral first, directional only after the breakout.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8693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ID/NR has no bearish or bullish sentiment before its breakout.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2278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204084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15836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7.38's ID/NR6 schematic, with the narrowest inside bar and both possible trigger directions visible.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676811" y="3092667"/>
            <a:ext cx="0" cy="775522"/>
          </a:xfrm>
          <a:prstGeom prst="line">
            <a:avLst/>
          </a:prstGeom>
          <a:ln w="44450">
            <a:solidFill>
              <a:srgbClr val="E09B00"/>
            </a:solidFill>
          </a:ln>
        </p:spPr>
      </p:cxnSp>
      <p:sp>
        <p:nvSpPr>
          <p:cNvPr id="16" name="Rectangle 15"/>
          <p:cNvSpPr/>
          <p:nvPr/>
        </p:nvSpPr>
        <p:spPr>
          <a:xfrm>
            <a:off x="9570567" y="3072258"/>
            <a:ext cx="177073" cy="79593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53885" y="3174301"/>
            <a:ext cx="247902" cy="346944"/>
          </a:xfrm>
          <a:prstGeom prst="rect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752139" y="3628986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9716725" y="2608563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0849995" y="354735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180543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7.38. The numbered marks are for teaching.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Inside Month/NR5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month applies the idea to monthly bars. Ours: ranges 12, 10, 9, 7, 5 PHP; the fifth is inside the fourth and narrowest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Invented, not the book figure.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sixth invented bar breaks upward through PHP 31.00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Before the break, the pattern is neutral.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7.39 is a separate Dynegy extension, not a source for these values.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timeframe changes; the inside plus narrowest-range logic stays.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232. Monthly ranges and breakout are ours, invented to show the extension.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916374" cy="19562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har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9832" y="1929384"/>
            <a:ext cx="3678631" cy="171848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9749506" y="2582408"/>
            <a:ext cx="625367" cy="360881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10264514" y="2599592"/>
            <a:ext cx="0" cy="274958"/>
          </a:xfrm>
          <a:prstGeom prst="line">
            <a:avLst/>
          </a:prstGeom>
          <a:ln w="44450">
            <a:solidFill>
              <a:srgbClr val="C62828"/>
            </a:solidFill>
          </a:ln>
        </p:spPr>
      </p:cxnSp>
      <p:sp>
        <p:nvSpPr>
          <p:cNvPr id="15" name="Oval 14"/>
          <p:cNvSpPr/>
          <p:nvPr/>
        </p:nvSpPr>
        <p:spPr>
          <a:xfrm>
            <a:off x="10669164" y="2238711"/>
            <a:ext cx="220717" cy="53273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465201" y="287486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Oval 16"/>
          <p:cNvSpPr/>
          <p:nvPr/>
        </p:nvSpPr>
        <p:spPr>
          <a:xfrm>
            <a:off x="10384858" y="2874869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Oval 17"/>
          <p:cNvSpPr/>
          <p:nvPr/>
        </p:nvSpPr>
        <p:spPr>
          <a:xfrm>
            <a:off x="11010226" y="273739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858180"/>
            <a:ext cx="39163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Chart W - FIN1209 teaching chart, drawn for this course. Illustrative data, not a real instrument.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W is ours, with invented monthly PHP values to show Lim (2016), p. 232.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7.39: Inside Month/NR5 breakout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11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book's monthly chart shows the inside-month setup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the five-month range count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the later upside breakout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observed breakout is the book's example, not a promise that every inside month breaks upward.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Meaning/action: keep the pattern neutral until the monthly bar actually breaks, then read direction from price.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monthly figure extends ID/NR without adding a new direction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6583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232, Figure 7.39. The monthly chart is Dynegy Inc.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810512"/>
            <a:ext cx="3779214" cy="162903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41470" cy="13912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99832" y="1929384"/>
            <a:ext cx="3541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74152" y="2203703"/>
            <a:ext cx="2992830" cy="934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7.39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A1A1A"/>
                </a:solidFill>
                <a:latin typeface="Palatino"/>
              </a:rPr>
              <a:t>The book's monthly Dynegy chart: an inside month after five monthly ranges, followed by an upside breakout.</a:t>
            </a:r>
          </a:p>
        </p:txBody>
      </p:sp>
      <p:sp>
        <p:nvSpPr>
          <p:cNvPr id="15" name="Oval 14"/>
          <p:cNvSpPr/>
          <p:nvPr/>
        </p:nvSpPr>
        <p:spPr>
          <a:xfrm>
            <a:off x="9464323" y="2791985"/>
            <a:ext cx="212488" cy="250432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8578955" y="3153721"/>
            <a:ext cx="1133271" cy="0"/>
          </a:xfrm>
          <a:prstGeom prst="line">
            <a:avLst/>
          </a:prstGeom>
          <a:ln w="44450">
            <a:solidFill>
              <a:srgbClr val="C62828"/>
            </a:solidFill>
            <a:tailEnd type="triangle" w="med" len="med"/>
          </a:ln>
        </p:spPr>
      </p:cxnSp>
      <p:sp>
        <p:nvSpPr>
          <p:cNvPr id="17" name="Oval 16"/>
          <p:cNvSpPr/>
          <p:nvPr/>
        </p:nvSpPr>
        <p:spPr>
          <a:xfrm>
            <a:off x="9676811" y="2165903"/>
            <a:ext cx="212488" cy="34782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50089" y="2960909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00136" y="3086125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9893798" y="1959179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530988"/>
            <a:ext cx="3779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7.39 -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232, Figure 7.39. The numbered marks are for teaching.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93776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93776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The previous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The new bar's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The previous bar's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The midpoint of both bars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9496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93776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93776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Six months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Six bars and the narrowest range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Six volume readings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Six bullish closes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3020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8301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325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99935"/>
            <a:ext cx="1311651" cy="1669809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84369"/>
            <a:ext cx="234223" cy="1085376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912199"/>
            <a:ext cx="0" cy="1057546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70793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934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934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19208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4 - 7.4 Volatility breakouts  |  Check 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Williams' Oops and ID/NR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9496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After a gap up, the Williams' Oops sell-stop is placed 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84632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The previous bar's high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places the sell-stop at the previous bar's high after a gap above that high (p. 231).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94960" cy="20605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605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What does ID/NR6 count?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846320" cy="1446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Six bars and the narrowest range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ID/NR6 uses an inside day and the narrowest bar over the last six days (p. 232).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207008"/>
            <a:ext cx="4922214" cy="296453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11112" y="1325880"/>
            <a:ext cx="4684470" cy="272679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11112" y="1325880"/>
            <a:ext cx="46844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85431" y="1600200"/>
            <a:ext cx="4135831" cy="2269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7.38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book's ID/NR6 schematic: six numbered bars, with the sixth bar inside the prior range and the narrowest range, followed by long and short trigger levels.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75919" y="2280257"/>
            <a:ext cx="1311651" cy="1636076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53347" y="2852884"/>
            <a:ext cx="234223" cy="1063449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9093881" y="2880152"/>
            <a:ext cx="0" cy="1036181"/>
          </a:xfrm>
          <a:prstGeom prst="line">
            <a:avLst/>
          </a:prstGeom>
          <a:ln w="44450">
            <a:solidFill>
              <a:srgbClr val="1F5FAD"/>
            </a:solidFill>
          </a:ln>
        </p:spPr>
      </p:cxnSp>
      <p:sp>
        <p:nvSpPr>
          <p:cNvPr id="21" name="Oval 20"/>
          <p:cNvSpPr/>
          <p:nvPr/>
        </p:nvSpPr>
        <p:spPr>
          <a:xfrm>
            <a:off x="7176622" y="342469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0945" y="3642834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753081" y="3642834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262985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7.38 -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4 - 7.4 Volatility breakouts  |  Check 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Summary: read the bar, then the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Bar action, indicator action, and volume action may indicate future price activity, especially when significant indicator and volume action accompanies the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7 reads OHLC, formation count, sentiment, gaps, barriers, volume, and the 16 reversal characteristics.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Breakout patterns may catch continuations or reversals, but readings remain potential. Oscillator method is deferred to Chapter 8.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summary is a reading habit, not a complete trade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233. The chapter summary is paraphrased for teaching.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1 to 3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1. Exhaustion versus pin bar: exhaustion opens beyond the prior extreme and has no following gap; a pin bar falsely penetrates a barrier and rapidly retraces.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2. ID/NR7 is a volatility breakout because it combines an inside day with the narrowest range in the last seven days.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3. A key reversal makes a higher high then closes near or below the prior close, or the bullish converse in a downtrend. A wider bar and high volume may strengthen the potential reading.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28437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65013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first three answers distinguish pattern structure from reliability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232. Review answers are written from the preceding slides.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(1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 to 4: decrease in price cycle amplitude; decrease in price cycle period; change in bar retracement symmetry; decrease in average bar range.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5 to 8: lack of the quality of price persistence; decrease in average bar stochastic ratio; decrease in average candlestick real body to range ratio; changes in angular symmetry and momentum.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1614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25272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These first eight are potential reversal clues, not guarantees. Chapter 5 gives the detailed discussion.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4: the 16 characteristics (2 of 2)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9 to 12: proximity to a price barrier; reduction in frequency and decrease in depth of trend-based oscillations; appearance of relatively larger and longer lasting consolidations; appearance of an exhaustion gap.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13 to 16: completion of the average range for the period under observation; overextended price action with respect to a price barrier; price accompanied by extremely high or low volume; standard divergences between price, volume, and oscillators.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45558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82134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Barrier proximity is the especially important context; these clues still do not guarantee reversal.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216 to 218; the 16 names follow the book's order.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answers 5 and 6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583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5. Volume: high volume can strengthen a wide final reversal bar; low volume can signal uncertainty. Pattern 1 allows larger middle volume to be more bearish.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6. Figure 7.6: pattern 1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first and third closes near low with a large middle bar; pattern 2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has a narrow, low-volume middle bar. Blue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marks shared uptrend.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Wider outer ranges and gaps add potential reliability. Chapter 7 supplies evidence, not a complete trade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37176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73752"/>
            <a:ext cx="62910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Pattern evidence does not make a complete trade plan.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80960" y="1810512"/>
            <a:ext cx="3824934" cy="242266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9832" y="1929384"/>
            <a:ext cx="3587190" cy="218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99832" y="1929384"/>
            <a:ext cx="35871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74152" y="2203703"/>
            <a:ext cx="3038550" cy="1727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7.06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7.6's three bearish triple-bar schematics, with the first two structures marked for the review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89014" y="1973082"/>
            <a:ext cx="645694" cy="1442050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14067" y="1973082"/>
            <a:ext cx="645694" cy="1442050"/>
          </a:xfrm>
          <a:prstGeom prst="rect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60757" y="2978148"/>
            <a:ext cx="286975" cy="262191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72494" y="2535098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9097548" y="2535098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8236622" y="3059480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24621"/>
            <a:ext cx="38249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7.06 -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213, Figure 7.6. The numbered marks are for teaching.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7: ideal inside-bar reversal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9494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Inside reversal: the inside bar stays within the prior high and low, then breaks in the reversal direction.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Ideal: wide/high-volume first bar; narrow/very-low-volume second bar. Barrier and trend context add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7.25 marks wide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narrow inside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and oscillator region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. Chapter 7 gives no formula.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Harami is one-fourth to one-third the prior range; an inside bar has no restriction.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665683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The inside condition comes first; reversal direction comes from the later break.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19" y="1810512"/>
            <a:ext cx="3459174" cy="207011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65592" y="1929384"/>
            <a:ext cx="3221431" cy="183237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65592" y="1929384"/>
            <a:ext cx="3221431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39912" y="2203703"/>
            <a:ext cx="2672790" cy="13751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7.25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Palatino"/>
              </a:rPr>
              <a:t>Figure 7.25's ITC Holdings chart, with the wide first bar, the narrow inside bar, and the lower oscillator region marked.</a:t>
            </a:r>
          </a:p>
        </p:txBody>
      </p:sp>
      <p:sp>
        <p:nvSpPr>
          <p:cNvPr id="14" name="Oval 13"/>
          <p:cNvSpPr/>
          <p:nvPr/>
        </p:nvSpPr>
        <p:spPr>
          <a:xfrm>
            <a:off x="10001807" y="2204240"/>
            <a:ext cx="193285" cy="439769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323950" y="2204240"/>
            <a:ext cx="193285" cy="439769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34021" y="3193721"/>
            <a:ext cx="225500" cy="3115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735790" y="1975461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8" name="Oval 17"/>
          <p:cNvSpPr/>
          <p:nvPr/>
        </p:nvSpPr>
        <p:spPr>
          <a:xfrm>
            <a:off x="10508933" y="1975461"/>
            <a:ext cx="274320" cy="274320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10347862" y="3459683"/>
            <a:ext cx="274320" cy="274320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3972069"/>
            <a:ext cx="34591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18181"/>
                </a:solidFill>
                <a:latin typeface="Arial"/>
              </a:rPr>
              <a:t>Figure 7.25 - Lim, The Handbook of Technical Analysis (Wiley, 2016)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225, Figure 7.25. The numbered marks are for teaching.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Review answer 8: the Chapter 8 boundary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asks how oscillators can help gauge bullishness or bearishness in bar reversal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Figure 7.13 labels an oscillator region </a:t>
            </a: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, but Chapter 7 does not teach the method or a formula for using oscillators.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full treatment belongs to Chapter 8. This is a forward pointer, not an assessed Chapter 7 method.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Use the figure as context only; do not import a method the chapter does not teach.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Lim (2016), p. 233, review question 8; Figure 7.13, p. 218. Oscillator method is deferred to Chapter 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739334" cy="21487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85431" y="1929384"/>
            <a:ext cx="4501590" cy="19110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85431" y="1929384"/>
            <a:ext cx="450159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1" y="2203703"/>
            <a:ext cx="3952950" cy="14538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Figure 7.13's overextension chart, with mark 1 on the lower labelled oscillator region.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306641" y="3343563"/>
            <a:ext cx="765270" cy="458652"/>
          </a:xfrm>
          <a:prstGeom prst="rect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024783" y="3129960"/>
            <a:ext cx="274320" cy="274320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050748"/>
            <a:ext cx="473933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7.13 - Lim, The Handbook of Technical Analysis (Wiley, 2016)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7.13. The numbered mark is for teaching.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