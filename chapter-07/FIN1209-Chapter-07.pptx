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containment before naming direction. Keep the book's generally and can qualifiers.</a:t>
            </a:r>
          </a:p>
          <a:p>
            <a:r>
              <a:rPr sz="1400"/>
              <a:t>- The next chart puts the invented values on the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two bars run from PHP 48.00 to PHP 52.00. The outside bar runs from PHP 47.00 to PHP 53.00 and closes at PHP 47.50.</a:t>
            </a:r>
          </a:p>
          <a:p>
            <a:r>
              <a:rPr sz="1400"/>
              <a:t>- Its 5.0 million volume is invented to show the book's high-volume reliability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first to the 11 contained bars, then to the outside high and low.</a:t>
            </a:r>
          </a:p>
          <a:p>
            <a:r>
              <a:rPr sz="1400"/>
              <a:t>- The book says a trendline violation with the bearish breakout should be a reliable short-entry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11 preceding bars contained in the outside range.</a:t>
            </a:r>
          </a:p>
          <a:p>
            <a:r>
              <a:rPr sz="1400"/>
              <a:t>- Red [2] marks the trendline violation at the outside-bar break. Blue [3] marks the bearish close near the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inside bar separate from outside bar: the second bar is contained rather than engulfing.</a:t>
            </a:r>
          </a:p>
          <a:p>
            <a:r>
              <a:rPr sz="1400"/>
              <a:t>- The next chart shows the volume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bar is O 50.00, H 53.00, L 48.00, C 52.40 on 4.5 million shares.</a:t>
            </a:r>
          </a:p>
          <a:p>
            <a:r>
              <a:rPr sz="1400"/>
              <a:t>- The second is O 51.80, H 52.50, L 49.20, C 50.10 on 0.5 million shares. It stays inside the first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nested bars from left to right, then the later outside bar.</a:t>
            </a:r>
          </a:p>
          <a:p>
            <a:r>
              <a:rPr sz="1400"/>
              <a:t>- The book says the exhaustion reading is especially strong when the declines also have bearish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places three named reversal families on one chart.</a:t>
            </a:r>
          </a:p>
          <a:p>
            <a:r>
              <a:rPr sz="1400"/>
              <a:t>- This slide names the three price-bar families; the indicator panels are outside this slide's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State the proportion arithmetic. It is the distinction the book gives.</a:t>
            </a:r>
          </a:p>
          <a:p>
            <a:r>
              <a:rPr sz="1400"/>
              <a:t>- The check now returns to the containment and volume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all four book conditions visible before the figure.</a:t>
            </a:r>
          </a:p>
          <a:p>
            <a:r>
              <a:rPr sz="1400"/>
              <a:t>- The next slide works the numbers without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line to signal the shift from the gap test to the range-and-volume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ordinary bars have a PHP 3.0 range and 1.5 million shares. The spike has an 8.0 range and 6.0 million shares.</a:t>
            </a:r>
          </a:p>
          <a:p>
            <a:r>
              <a:rPr sz="1400"/>
              <a:t>- The numbers are invented to make Lim's wide-range and high-volume description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price panel shows the wide spike; the lower panel shows its high volume.</a:t>
            </a:r>
          </a:p>
          <a:p>
            <a:r>
              <a:rPr sz="1400"/>
              <a:t>- Lim also identifies a typical three-bar bearish reversal at the top of the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exact plural definition on the next slide.</a:t>
            </a:r>
          </a:p>
          <a:p>
            <a:r>
              <a:rPr sz="1400"/>
              <a:t>- The next figure places the barrier and retrace on the real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exhaustion bar's open context, red [2] its close near the trend-side extreme, and blue [3] the no-gap relationship to the following bar.</a:t>
            </a:r>
          </a:p>
          <a:p>
            <a:r>
              <a:rPr sz="1400"/>
              <a:t>- The crop is read with the invented numbers on the left, not as a second definition of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transition before showing the two-direction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upper barrier is resistance at PHP 60.00; the false high is PHP 62.00 and the short close is PHP 59.40.</a:t>
            </a:r>
          </a:p>
          <a:p>
            <a:r>
              <a:rPr sz="1400"/>
              <a:t>- The lower barrier is support at PHP 40.00; the false low is PHP 38.50 and the long close is PHP 40.60.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course drawing labels resistance PHP 60.00, high PHP 62.00, close PHP 59.40, and stop PHP 62.20.</a:t>
            </a:r>
          </a:p>
          <a:p>
            <a:r>
              <a:rPr sz="1400"/>
              <a:t>- The book's drawing follows on its own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calls this a non-failure swing and attributes the setup to a 2B entry.</a:t>
            </a:r>
          </a:p>
          <a:p>
            <a:r>
              <a:rPr sz="1400"/>
              <a:t>- The short begins after the close returns below resistance; the stop sits just above the breakout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separately: short below resistance after a false upside break, long above support after a false downside break.</a:t>
            </a:r>
          </a:p>
          <a:p>
            <a:r>
              <a:rPr sz="1400"/>
              <a:t>- The book does not give a complete trade plan beyond these entry and stop descriptions.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import a formula beyond the book's wording. The chart shows both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forward-shifted three-day SMA is PHP 50.00. Invented closes cross above at 50.80, below at 49.60, then repeat after nine bullish days.</a:t>
            </a:r>
          </a:p>
          <a:p>
            <a:r>
              <a:rPr sz="1400"/>
              <a:t>- The book says the full method belongs in DiNapoli's original text, so this chart teaches only the named Chapter 7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crossings are the pattern's named structure; the later decline is the observed follow-through.</a:t>
            </a:r>
          </a:p>
          <a:p>
            <a:r>
              <a:rPr sz="1400"/>
              <a:t>- Lim directs readers to DiNapoli's original text for a complete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forward-shifted three-day SMA. Red [2] marks the long bullish run before the pattern.</a:t>
            </a:r>
          </a:p>
          <a:p>
            <a:r>
              <a:rPr sz="1400"/>
              <a:t>- Blue [3] marks the topping formation, which the book limits to eight to ten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the term before showing both directions.</a:t>
            </a:r>
          </a:p>
          <a:p>
            <a:r>
              <a:rPr sz="1400"/>
              <a:t>- The next chart puts the levels on an invented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In the bearish case, the inside high is PHP 52.00, the false high is PHP 53.00, and the short re-entry is below PHP 49.00.</a:t>
            </a:r>
          </a:p>
          <a:p>
            <a:r>
              <a:rPr sz="1400"/>
              <a:t>- The bullish converse uses an inside low of PHP 40.00, a false low of PHP 39.20, and an upside re-entry at PHP 41.00.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Left: inside high 43.00, inside low 40.00, false low 39.00, long re-entry at 43.00.</a:t>
            </a:r>
          </a:p>
          <a:p>
            <a:r>
              <a:rPr sz="1400"/>
              <a:t>- Right: inside high 52.00, inside low 49.00, false high 53.00, short re-entry at 49.00.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downside breakout, and blue [3] the bullish re-entry above the inside high.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upside breakout, and blue [3] the bearish re-entry below the inside low.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includes indicator panels, but this slide does not interpret their formulas.</a:t>
            </a:r>
          </a:p>
          <a:p>
            <a:r>
              <a:rPr sz="1400"/>
              <a:t>- Read the formation, failed downside breakout, and upside re-entry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compare the trend with the pattern's own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are comparing trend sentiment with intrinsic sentiment, the pattern's own bullish or bearish bias.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 trend sentiment is bullish; in a downtrend it is bearish. The book uses intrinsic sentiment where Chapter 4 used intrinsic bias.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Here is the simple case: a bullish pattern in an uptrend has two bullish labels. Call it a reversal only when the labels disagree.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book uses intrinsic sentiment where Chapter 4 used intrinsic bias.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Agreement suggests continuation; disagreement suggests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two-by-two rule compares intrinsic and trend sentiment. Agreement suggests continuation; disagreement suggests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Bullish with a bullish uptrend, or bearish with a bearish downtrend, is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Bearish in an uptrend, or bullish in a downtrend, is a reversal case. These labels are potential,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expectation is potential continuation or potential reversal, not certainty.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pattern polarity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book's head and shoulders example is bearish.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Its inverted head and shoulders example is bullish. (Lim, p. 211.)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these intrinsic labels with the trend sentiment before classifying the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examples supply the polarity used in the next check.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pattern in an uptrend is 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Neutral bar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pattern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Bearish pattern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bearish pattern in an uptrend is 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Reversal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sentiments disagree: bearish intrinsic sentiment meets bullish trend sentiment.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An inverted head and shoulders in an uptrend is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Continuation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Both the pattern's intrinsic sentiment and the uptrend are bullish, so they agree.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Answer: continuation or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bearish pattern in an uptrend is a reversal because bearish intrinsic sentiment disagrees with bullish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inverted head and shoulders in an uptrend is a continuation because both sentiments are bullish.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four cases are a classification rule. They do not forecast with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Next, the book assumes an uptrend while it draws bearish reversals.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bearish reversal bar can warn that buying is weakening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We are looking at a bearish single-bar reversal: the close turns down, the range is wide, and volume can add confidence to the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Here is the same pattern with simple prices. The prior close is PHP 51.10 and the final close is PHP 50.80, below it. 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that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final bar is wide, closes near its low, and carries 4.0 million shares.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range;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303379" y="3614806"/>
            <a:ext cx="385145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303379" y="2666756"/>
            <a:ext cx="38514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303379" y="4668194"/>
            <a:ext cx="385145" cy="21067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6023" y="370514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046604" y="226551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174985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bearish reversal bar can warn that buying is weakening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narrow or low-volume bar shows uncertainty. A wide bar that closes near its low on high volume is potentially more reliable, not guaranteed to follow 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compare the first three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We are comparing the book's first three generic bearish forms, where the final bar turns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bar opening above the previous high;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its large range and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next slide supplies the book's cropped drawing with the same numbered reading. (Lim, p. 212.)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88525" y="3755257"/>
            <a:ext cx="513527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19550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QL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compare the first three bearish forms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Lim's definition is generally bearish, not a promise of follow-through.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7.4: seven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9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813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1701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1701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133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8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15815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15815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59771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7000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7000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7.4. The worked values are ours, invented to show the rule.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three bearish forms use the same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These forms still ask whether the final bar turns bearish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 chart repeats the generic bearish form: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final close;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relationship;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wide range and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next slide supplies the book's drawing, cropped to this same form. (Lim, p. 212.)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88525" y="3755257"/>
            <a:ext cx="513527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19550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QV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three bearish forms use the same test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figure has no volume panel. Use our chart for the invented PHP and volume example.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shape is a potential reversal clue, not a guaranteed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7.4: seven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12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813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1701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1701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133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8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15815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15815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59771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7000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7000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7.4. The worked values are ours, invented to show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bearish form adds a reliability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After identifying the bearish form, we ask whether its context makes the reading more reliable.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 course chart marks the close, opening relationship, and large range with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next slide supplies the book's cropped drawing with the same numbered reading. (Lim, p. 212.)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88525" y="3755257"/>
            <a:ext cx="513527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19550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QW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bearish form adds a reliability question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figure has no volume panel, so do not infer volume from it. Lim discusses high volume in the surrounding text.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Treat the pattern as potentially more reliable, then check its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7.4: seven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15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813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1701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1701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133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8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15815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15815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59771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7000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7000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7.4. The worked values are ours, invented to show the rule.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Overextended, near its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Narrow,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Near its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Any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Uncertainty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guaranteed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Trend agreement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6016" y="1207008"/>
            <a:ext cx="2063142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74888" y="1325880"/>
            <a:ext cx="1825398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74888" y="1325880"/>
            <a:ext cx="18253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9208" y="1600200"/>
            <a:ext cx="1276758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5047" y="1737360"/>
            <a:ext cx="693651" cy="189280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660603" y="3300984"/>
            <a:ext cx="43809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660603" y="2066544"/>
            <a:ext cx="0" cy="1563624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030551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052774" y="306324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052774" y="191109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Overextended, near its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reliability qualifiers are an overextended final bar, a close near its low, and high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Uncertainty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reading says a narrow or low-volume bar shows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48639" y="1207008"/>
            <a:ext cx="22778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67511" y="1325880"/>
            <a:ext cx="20401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67511" y="1325880"/>
            <a:ext cx="204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1831" y="1600200"/>
            <a:ext cx="14915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3572" y="1737360"/>
            <a:ext cx="775257" cy="189280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669193" y="3300984"/>
            <a:ext cx="4896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669193" y="2066544"/>
            <a:ext cx="0" cy="1563624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983306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5790" y="306324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5790" y="191109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 starts with the same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now looking for the bullish converse: does the final bar close above the previous close or high while the broader trend is down?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final close above the previous close;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crop has no volume panel, so volume is read from the surrounding book text, not from this image.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688525" y="3614806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560131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QM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 starts with the same question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bullish pattern in a downtrend is a potential reversal.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7.5: seven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18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44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031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031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463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1" name="Oval 10"/>
          <p:cNvSpPr/>
          <p:nvPr/>
        </p:nvSpPr>
        <p:spPr>
          <a:xfrm>
            <a:off x="603940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26517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26517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65818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4838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4838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7.5. The worked values are ours, invented to show the 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remaining bullish forms turn the close upward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These forms keep the same bullish test: the final close must finish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above the prior close or high;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final close above the prior close or high before naming the drawing.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688525" y="3614806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560131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QY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remaining bullish forms turn the close upward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crop's large final bar and near-high close are the visible bullish clues.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has no volume panel; Lim discusses high volume in the surrounding text.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opposite-trend caveat remains: bullish intrinsic sentiment in a downtrend is a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Do not treat a shape or volume clue as a guarantee.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7.5: seven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21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44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031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031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463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1" name="Oval 10"/>
          <p:cNvSpPr/>
          <p:nvPr/>
        </p:nvSpPr>
        <p:spPr>
          <a:xfrm>
            <a:off x="603940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26517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26517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65818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4838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4838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7.5. The worked values are ours, invented to show the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bullish form asks whether the close is convincing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bullish form still depends on the final close finishing above the previous close, with context deciding how convincing it 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above the previous close;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crop's near-high close is the visible bullish reliability clue.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688525" y="3614806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560131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QZ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bullish form asks whether the close is convincing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has no volume panel, so do not claim that blue [3] marks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Lim's qualifiers apply in the converse direction: potential, not certainty.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7.5: seven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24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44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031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031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463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1" name="Oval 10"/>
          <p:cNvSpPr/>
          <p:nvPr/>
        </p:nvSpPr>
        <p:spPr>
          <a:xfrm>
            <a:off x="603940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26517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26517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65818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4838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4838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7.5. The worked values are ours, invented to show the rule.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 a triple bearish form, the gaps add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We are looking at a triple bearish form, where gaps between the bars add to the pressure of the reversal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Here is an invented three-bar example with successive gaps of PHP 0.30, PHP 0.60, and PHP 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gap,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larger final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891180" y="2807208"/>
            <a:ext cx="770290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40516" y="3158337"/>
            <a:ext cx="770290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88525" y="3404128"/>
            <a:ext cx="770290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22205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5732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88512" y="275709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 a triple bearish form, the gaps add pressure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larger gap adds a stronger bearish clue in the triple pattern; the gap term keeps Chapter 3's meaning.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first three drawings share rules; they are not a shopping list of promises.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bearish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first triple group uses the outer-bar closes and the gaps to frame the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outer close,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outer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Pattern 1 can be more bearish when the middle bar has larger volume; larger first and third ranges help reliability.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35744" y="3263676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6325" y="3755257"/>
            <a:ext cx="38514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816906" y="4352178"/>
            <a:ext cx="38514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066769" y="289755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5732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QN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bearish drawings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potential readings, not a complete trade plan. (Lim, p. 213.)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7.6: triple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29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4368" y="1810512"/>
            <a:ext cx="214295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43240" y="1929384"/>
            <a:ext cx="190521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43240" y="1929384"/>
            <a:ext cx="19052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7560" y="2203703"/>
            <a:ext cx="135657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1" name="Oval 10"/>
          <p:cNvSpPr/>
          <p:nvPr/>
        </p:nvSpPr>
        <p:spPr>
          <a:xfrm>
            <a:off x="5905326" y="2456078"/>
            <a:ext cx="609668" cy="94804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76795" y="2912546"/>
            <a:ext cx="247677" cy="94804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943430" y="3755257"/>
            <a:ext cx="685877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445043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588172" y="3038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588172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worked values are ours, invented to show the rule.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triple pattern also compares ranges and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triple bearish reading also asks how wide the three ranges are and whether the middle and final bars carry meaningful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Here is the invented example: the first range is PHP 3.0, the middle range PHP 0.8, and the final range PHP 3.4.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Middle volume is 0.7 million; final volume is 4.2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35744" y="3123224"/>
            <a:ext cx="513527" cy="49158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6325" y="3193450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73670" y="3123224"/>
            <a:ext cx="0" cy="189610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938387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5732" y="381048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688512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QD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triple pattern also compares ranges and volume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the first wide range, red [2] the quiet middle range, and blue [3] the final wide range beside its 4.2 million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middle bar is normally low volume, except pattern 1 can be more bearish with larger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final bar that is overextended, near its low, and high volume is potentially more reliable.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bearish drawings add an island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 above the first bar;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island bar;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bearish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crop shows the gap structure and the final close near the low. It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discusses volume in the surrounding text, but this image cannot show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276325" y="3123224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6325" y="2631643"/>
            <a:ext cx="385145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816906" y="4352178"/>
            <a:ext cx="38514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735732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5732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QO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bearish drawings add an island bar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triple pattern is a potential reversal clue, not a trade guarantee.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7.7: triple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34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505" y="1810512"/>
            <a:ext cx="213268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48377" y="1929384"/>
            <a:ext cx="189493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48377" y="1929384"/>
            <a:ext cx="189493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2697" y="2203703"/>
            <a:ext cx="134629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fourth triple bearish formation: a gap up followed by a gap down, the single-island reversal bar.</a:t>
            </a:r>
          </a:p>
        </p:txBody>
      </p:sp>
      <p:sp>
        <p:nvSpPr>
          <p:cNvPr id="11" name="Oval 10"/>
          <p:cNvSpPr/>
          <p:nvPr/>
        </p:nvSpPr>
        <p:spPr>
          <a:xfrm>
            <a:off x="5811606" y="2280513"/>
            <a:ext cx="568481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44252" y="2772095"/>
            <a:ext cx="4358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5944252" y="3158337"/>
            <a:ext cx="568481" cy="87782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09816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584679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603628" y="40211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7.7 -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214, Figure 7.7. The worked values are ours, invented to show the rule.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They remove the 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They guarantee a top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They define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They add a stronger bearish clue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Narrow, near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Overextended, near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Any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Low range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52378" y="1207008"/>
            <a:ext cx="247041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71250" y="1325880"/>
            <a:ext cx="223267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71250" y="1325880"/>
            <a:ext cx="2232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5570" y="1600200"/>
            <a:ext cx="168403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64320" y="1943100"/>
            <a:ext cx="714455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5260" y="2478024"/>
            <a:ext cx="29024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408973" y="3465576"/>
            <a:ext cx="80376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5164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1248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1248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They add a stronger bearish clue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larger gaps make the triple pattern more bearish.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Overextended, near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final-bar qualifiers are overextension, a near-low close, and high volume.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5917" y="1207008"/>
            <a:ext cx="26233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94789" y="1325880"/>
            <a:ext cx="23855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94789" y="1325880"/>
            <a:ext cx="23855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69109" y="1600200"/>
            <a:ext cx="18369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49027" y="1943100"/>
            <a:ext cx="763390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3731" y="2478024"/>
            <a:ext cx="31012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396739" y="3465576"/>
            <a:ext cx="85881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1188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43242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3242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triple pattern reverses the outer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now reading the bullish triple form. Its outer bars reverse the close direction: the first is near its low and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 the first, middle, and final bars in the crop.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shows bar shape and close direction, but no volume panel. Chart QJ carries the invented volume example.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50599" y="3860596"/>
            <a:ext cx="385145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47943" y="3860596"/>
            <a:ext cx="385145" cy="21067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45288" y="2772095"/>
            <a:ext cx="385145" cy="21067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10006" y="38104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5732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QE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triple pattern reverses the outer closes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potential range and volume tests apply in the bullish direction.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bullish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first three bullish drawings reverse the outer-bar close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figure has no volume panel. Use Chart QJ for the invented quiet-middle and high-volume comparison.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35744" y="3860596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76325" y="3825483"/>
            <a:ext cx="38514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816906" y="2842320"/>
            <a:ext cx="38514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66769" y="42318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019550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QP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bullish drawings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next group for the remaining three forms.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7.8: triple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39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4736" y="1810512"/>
            <a:ext cx="20222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03608" y="1929384"/>
            <a:ext cx="17844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03608" y="1929384"/>
            <a:ext cx="17844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7928" y="2203703"/>
            <a:ext cx="12358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the first triple bullish formation: the first bar closes near its low, the middle bar closes near its high, and the third bar closes near its high.</a:t>
            </a:r>
          </a:p>
        </p:txBody>
      </p:sp>
      <p:sp>
        <p:nvSpPr>
          <p:cNvPr id="11" name="Oval 10"/>
          <p:cNvSpPr/>
          <p:nvPr/>
        </p:nvSpPr>
        <p:spPr>
          <a:xfrm>
            <a:off x="5881710" y="4387291"/>
            <a:ext cx="249826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02916" y="4387291"/>
            <a:ext cx="214137" cy="9831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8432" y="4317065"/>
            <a:ext cx="249826" cy="94804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9969" y="40562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75742" y="405627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618500" y="37402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7.8 -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214, Figure 7.8. The worked values are ours, invented to show the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final bullish group uses the same volume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final bullish group asks whether the middle bar stays quiet while the final bar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Here is the invented example: middle volume is 0.7 million and the final bar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quiet middle,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high,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volume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147943" y="3860596"/>
            <a:ext cx="385145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945288" y="2877433"/>
            <a:ext cx="385145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945288" y="4773533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735732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60131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QJ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final bullish group uses the same volume test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high-volume final bar near its high can make the bullish reversal potentially more reliable.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figure's labels are observations; Chapter 7 does not define an oscillator formula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bullish drawings complete the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outer bars carry the bullish direction while the middle bar is commonly quieter.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figure has no volume panel, so its marks do not claim volume. Pattern 2's volume exception is taught on Chart QJ.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276325" y="3614806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816906" y="2807208"/>
            <a:ext cx="38514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816906" y="4738420"/>
            <a:ext cx="385145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35732" y="324868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60131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QQ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bullish drawings complete the group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Keep the final-bar rule potential, not certain. (Lim, p. 215.)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7.9: triple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44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0859" y="1810511"/>
            <a:ext cx="1409976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09731" y="1929383"/>
            <a:ext cx="117223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09731" y="1929383"/>
            <a:ext cx="117223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4051" y="2203703"/>
            <a:ext cx="62359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Palatino"/>
              </a:rPr>
              <a:t>A readable crop of the fourth triple bullish formation: the second bar gaps down and the third bar gaps up and closes near its high.</a:t>
            </a:r>
          </a:p>
        </p:txBody>
      </p:sp>
      <p:sp>
        <p:nvSpPr>
          <p:cNvPr id="11" name="Oval 10"/>
          <p:cNvSpPr/>
          <p:nvPr/>
        </p:nvSpPr>
        <p:spPr>
          <a:xfrm>
            <a:off x="5931734" y="4036161"/>
            <a:ext cx="257891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025513" y="4317065"/>
            <a:ext cx="3047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236515" y="4457517"/>
            <a:ext cx="328225" cy="7022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7341" y="367003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315513" y="3740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385847" y="510966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7.9 -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215, Figure 7.9. The worked values are ours, invented to show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Multiple bearish forms can contain a volume exception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We are looking at multiple bearish forms, where the intermediate bars are usually quiet but one pattern allows a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Here is the invented sequence: intermediate volumes are 0.6, 0.8, 3.8, and 0.7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Intermediate volume is normally low, but pattern 2 can be bearish with high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377653" y="3052998"/>
            <a:ext cx="513527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9562" y="2982772"/>
            <a:ext cx="1540581" cy="98316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945288" y="4071274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837060" y="261664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634404" y="261664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60131" y="388071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Multiple bearish forms can contain a volume exception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a gap, red [2] the intermediate bars, and blue [3] the final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Extremely high or low volume in a wide intermediate bar can also be bearish.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multiple forms reverse that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multiple forms use the same idea in the other direction: intermediate bars are usually quiet, with a possible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Here is the invented sequence: the two quiet middle volumes are 0.6 and 0.8 million shares; the wide exception is 3.8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normally has low intermediate volume and a final close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891180" y="3895709"/>
            <a:ext cx="38514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46616" y="3439241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0073670" y="2842320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22205" y="44425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634404" y="261664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816894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multiple forms reverse that sequence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narrow bars, red [2] the high-volume exception, and blue [3] the final close.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pattern 2, a wide-ranging intermediate bar on high or above-average volume can support the bullish reading.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Narrow intermediate bars on very low volume show the quiet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continuation bar can confirm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now looking at a bullish continuation pattern: price stays aligned with the uptrend when a later bar breaks the previous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Here is the invented example. The prior high is PHP 52.00; the second bar reaches PHP 53.20 on 4.0 million shares versus 2.0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breach,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high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350599" y="3158337"/>
            <a:ext cx="3979834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688525" y="2631643"/>
            <a:ext cx="32095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688525" y="4738420"/>
            <a:ext cx="385145" cy="21067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38387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60131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continuation bar can confirm the trend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second bar breaches the previous high on high volume, so intrinsic and trend sentiment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This is continuation, not a reversal.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first continuation example breaks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checking the same continuation rule in the book figure: the second bar takes out the previous high and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breach,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second bar closing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crop shows the second bar taking out the previous high. It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350599" y="3158337"/>
            <a:ext cx="3979834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688525" y="2736982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560143" y="3474354"/>
            <a:ext cx="513527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38387" y="28273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688512" y="226551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QT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first continuation example breaks the prior high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 presents this as a bullish continuation example, where the pattern and trend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bearish reverse uses the same structure downward.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7.12: bullish continuation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53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5828" y="1810511"/>
            <a:ext cx="2920037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700" y="1929383"/>
            <a:ext cx="268229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700" y="1929383"/>
            <a:ext cx="268229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020" y="2203703"/>
            <a:ext cx="213365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27618" y="3123224"/>
            <a:ext cx="965625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6364076" y="2210287"/>
            <a:ext cx="482812" cy="77248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10431" y="2210287"/>
            <a:ext cx="536458" cy="77248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35711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852379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852379" y="31784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216, Figure 7.12. The worked values are ours, invented to show the rule.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50 percent retrace can still continue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second bullish continuation pattern starts with a retracement to the 50 percent level, then asks whether price rebounds through the old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Here is the invented example. The previous bar runs from PHP 48.00 to PHP 52.00, so its 50 percent level is PHP 50.00.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next price retraces to PHP 50.00, rebounds to PHP 52.40 on 4.0 million shares, and breaches PHP 52.00.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891180" y="3895709"/>
            <a:ext cx="385145" cy="2106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74998" y="3333902"/>
            <a:ext cx="385145" cy="21067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02052" y="2736982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350587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634404" y="3038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816894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QI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50 percent retrace can still continue the trend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Gold [1] marks the midpoint, red [2] the rebound, and blue [3] the breach.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 says large volume on the second bar may mean the trend remains potentially strong.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lower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second bar closing near its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close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It stops at the midpoint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It makes no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It uses only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50% retrace, then breach old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7058" y="1207008"/>
            <a:ext cx="338105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15930" y="1325880"/>
            <a:ext cx="314331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15930" y="1325880"/>
            <a:ext cx="314331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0250" y="1600200"/>
            <a:ext cx="259467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73256" y="2724912"/>
            <a:ext cx="113159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8901918" y="1655064"/>
            <a:ext cx="565796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39052" y="1655064"/>
            <a:ext cx="628662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145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500865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00865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second bar closing near its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7.12 crop shows a second bar closing near its high after the prior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50% retrace, then breach old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rule is a 50 percent retrace followed by a rebound that breaches the previous high.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23445" y="1207008"/>
            <a:ext cx="3528284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2317" y="1325880"/>
            <a:ext cx="32905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2317" y="1325880"/>
            <a:ext cx="32905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6637" y="1600200"/>
            <a:ext cx="27419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8533" y="2724912"/>
            <a:ext cx="1184595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8916641" y="1655064"/>
            <a:ext cx="592297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50830" y="1655064"/>
            <a:ext cx="658108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44977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550923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50923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second continuation example retraces halfway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continuation bar,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midpoint retrace,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rebound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labels the midpoint as 50% of the first bar.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 rebounds to the upside. Lim says large volume may mean the trend remains potentially strong, but it is not visible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019562" y="3755257"/>
            <a:ext cx="513527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60143" y="3614806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73670" y="2807208"/>
            <a:ext cx="513527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22205" y="416161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762786" y="317845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45276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QU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second continuation example retraces halfway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bearish reverse applies the same structure downward.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7.12: bullish continuation form two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58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4094" y="1810512"/>
            <a:ext cx="244350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92966" y="1929384"/>
            <a:ext cx="220576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2966" y="1929384"/>
            <a:ext cx="220576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286" y="2203703"/>
            <a:ext cx="165712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second simple bullish continuation formation: a second bar retracing to the first bar's midpoint before rebounding.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5271" y="3123224"/>
            <a:ext cx="794074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6316423" y="2210287"/>
            <a:ext cx="397037" cy="77248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72308" y="2210287"/>
            <a:ext cx="441152" cy="77248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78670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690358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690358" y="31784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216, Figure 7.12. The worked values are ours, invented to show the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characteristics show a move losing energy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are starting the 16 reversal characteristics with the way a price move can lose energy before a reversal or retracement.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Cycle amplitude decreases from 40 to 30 points, and cycle period decreases from 20 to 12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retracement symmetry changes from 28, 30, and 26 bars to 14 bars; average range decreases from 3.0 to 2.0.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invented values showing the direction. The characteristics indicate potential, never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more characteristics describe weaker follow-through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group asks whether price persists and bar measures weaken.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persistence loses quality; bar stochastic falls from 0.80 to 0.40. BRR falls from 0.60 to 0.25.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Angular symmetry and momentum change from 20 to 35 degrees. Chapter 5 taught stochastic and BRR.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book's terms stay connected to their earlier FIN1209 definitions.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Chapter 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Chapter 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Chapter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book does not name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Chapter 5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Chapter 5 taught the real body to range ratio, recalled here as characteristic 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8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Characteristic 8 is changes in angular symmetry and momentum.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Location and consolidation add four more warnings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This group moves from bar behaviour to context: a reversal matters more when price is close to a significant barrier.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is PHP 1.00 below resistance, and trend oscillations become fewer or shallower, from 6 to 2.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Consolidations become larger and longer, from 3 to 12 bars, and an exhaustion gap appears at PHP 0.80.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gap and barrier terms keep the meanings taught in Chapters 3 and 5.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location of the pattern matters as much as its shape.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last four characteristics combine range, volume, and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final group asks whether the move is nearly complete, overextended, unusually active, or diverging.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Range completes 9 of 10 points; price extends PHP 1.00 above resistance. Volume is 5.0 million versus 1.2 million.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Standard divergences compare price, volume, and oscillators. The warning chart combines several; Chapter 7 gives no oscillator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list ends with range completion, overextension, volume, and divergence.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reversal warnings appear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using this warning chart to see several reversal characteristics on one price path: changing momentum, fewer oscillations, and overextension.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Here is our invented path: price rises from PHP 40.00 to PHP 80.00 in 12 bars, with only two pullbacks.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changing angular rise and momentum;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few oscillations.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735744" y="2912546"/>
            <a:ext cx="2182490" cy="1544971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8789852" y="3333902"/>
            <a:ext cx="385145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9770" y="2526304"/>
            <a:ext cx="385145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5151" y="43722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276313" y="296777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046604" y="21250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QK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reversal warnings appear together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Blue [3] marks the overextended bar against the upper band.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names the Bollinger upper band but never gives its formula here. These are potential warnings,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65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5679" y="1810512"/>
            <a:ext cx="726033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84551" y="1929384"/>
            <a:ext cx="702259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84551" y="1929384"/>
            <a:ext cx="70225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8871" y="2203703"/>
            <a:ext cx="647395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1" name="Oval 10"/>
          <p:cNvSpPr/>
          <p:nvPr/>
        </p:nvSpPr>
        <p:spPr>
          <a:xfrm>
            <a:off x="4691329" y="3509467"/>
            <a:ext cx="702259" cy="5969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17203" y="4176613"/>
            <a:ext cx="842711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63814" y="2210287"/>
            <a:ext cx="772485" cy="5969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41957" y="31356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7653253" y="3908145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529638" y="2082271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217, Figure 7.13. The worked values are ours, invented to show the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 figure shows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exponential rise and changing momentum;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few trend oscillations.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price overextension against the Bollinger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figure has no separate volume panel, so this reading does not mark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 the chart as potential evidence, then apply the barrier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88971" y="2133222"/>
            <a:ext cx="560554" cy="4331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00520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Barrier proximity is the reliability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barrier proximity as one of the most important reversal characteristics: patterns are more reliable at significant barriers.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In Figure 7.13,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rapid rise,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few oscillations,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overextended bar against the upper band.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735744" y="2912546"/>
            <a:ext cx="2182490" cy="1544971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8789852" y="3333902"/>
            <a:ext cx="385145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9770" y="2526304"/>
            <a:ext cx="385145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5151" y="43722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276313" y="296777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046604" y="21250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Barrier proximity is the reliability rule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upper band is the visible barrier in this book figure. The scan does not provide a numeric barrier level.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Check the pattern's barrier context. A barrier raises potential reliability,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69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5679" y="1810512"/>
            <a:ext cx="726033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84551" y="1929384"/>
            <a:ext cx="702259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84551" y="1929384"/>
            <a:ext cx="70225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8871" y="2203703"/>
            <a:ext cx="647395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1" name="Oval 10"/>
          <p:cNvSpPr/>
          <p:nvPr/>
        </p:nvSpPr>
        <p:spPr>
          <a:xfrm>
            <a:off x="4691329" y="3509467"/>
            <a:ext cx="702259" cy="5969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17203" y="4176613"/>
            <a:ext cx="842711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63814" y="2210287"/>
            <a:ext cx="772485" cy="5969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41957" y="31356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7653253" y="3908145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529638" y="2082271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217, Figure 7.13. The worked values are ours, invented to show the rule.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8, 10, and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1, 2, and 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5, 7, and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13, 15, and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9457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707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50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44477"/>
            <a:ext cx="541599" cy="4603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58997"/>
            <a:ext cx="649918" cy="43327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00148" y="1542519"/>
            <a:ext cx="595759" cy="4603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26902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822661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92850" y="141450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244187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9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Characteristic 9 is proximity to a price barrier.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466344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11480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8, 10, and 14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reads characteristic 8, fewer oscillations in 10, and overextension against a barrier in 14.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9457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707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50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44477"/>
            <a:ext cx="541599" cy="4603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58997"/>
            <a:ext cx="649918" cy="43327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00148" y="1542519"/>
            <a:ext cx="595759" cy="4603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26902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822661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92850" y="141450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244187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16 characteristics point to a potential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Item 9 is proximity to a price barrier, one of the most important reversal characteristics.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7.13's marks read characteristics 8, 10, and 14: angular change and momentum, fewer oscillations, and overextension against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these are strong indications of a potential trend change or retracement,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Part 3 now applies the context to named reversal bars.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88971" y="2133222"/>
            <a:ext cx="560554" cy="4331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00520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Let us read the first dedicated bearish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matching the book's drawing to the generic bearish test: 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to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next slide supplies the book's cropped drawing with the same numbered reading. It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wording is generally and potentially: context changes reliability.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88525" y="3755257"/>
            <a:ext cx="513527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9019550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Let us read the first dedicated bearish figure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 we compare the bullish converse.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7.4: seven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73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813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1701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1701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133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80" y="2280513"/>
            <a:ext cx="591915" cy="161519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158154" y="3614806"/>
            <a:ext cx="37384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158154" y="2561417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597711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70008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70008" y="24059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7.4. The worked values are ours, invented to show the rule.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read the dedicated bullish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matching the bullish converse to its book drawing: the formation closes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to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next slide supplies the book's cropped drawing with the same numbered reading and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688525" y="2631643"/>
            <a:ext cx="513527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9688525" y="3614806"/>
            <a:ext cx="513527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431761" y="2701869"/>
            <a:ext cx="0" cy="23876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560131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431749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31749" y="50745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RH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read the dedicated bullish figure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bullish pattern in a downtrend is a potential reversal; the same bias in an uptrend is continuation.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7.5: seven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76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441" y="1810512"/>
            <a:ext cx="16488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0313" y="1929384"/>
            <a:ext cx="141106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0313" y="1929384"/>
            <a:ext cx="141106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4633" y="2203703"/>
            <a:ext cx="86242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1" name="Oval 10"/>
          <p:cNvSpPr/>
          <p:nvPr/>
        </p:nvSpPr>
        <p:spPr>
          <a:xfrm>
            <a:off x="6039404" y="4387291"/>
            <a:ext cx="423320" cy="6320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265175" y="3755257"/>
            <a:ext cx="22577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265175" y="3965935"/>
            <a:ext cx="0" cy="129918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658185" y="40211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448384" y="338913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448384" y="500432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212, Figure 7.5. The worked values are ours, invented to show the rule.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multiple-bearish figure shows the final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reading the multiple-bearish family from left to right: a high first close, narrow intermediate bars, and a final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intermediate sequence,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final bearish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crop has no volume panel. Lim's volume exceptions belong to the surrounding text, not this mark.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35744" y="3123224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62798" y="2631643"/>
            <a:ext cx="1797344" cy="126406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02052" y="4352178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066769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78968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816894" y="388071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QR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multiple-bearish figure shows the final turn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final bar remains the potential decision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7.10: multiple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79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4839876" y="1810512"/>
            <a:ext cx="251194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8748" y="1929384"/>
            <a:ext cx="227419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58748" y="1929384"/>
            <a:ext cx="227419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3068" y="2203703"/>
            <a:ext cx="172555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multiple bearish formation: a high first close followed by narrow bars and a final close near its low.</a:t>
            </a:r>
          </a:p>
        </p:txBody>
      </p:sp>
      <p:sp>
        <p:nvSpPr>
          <p:cNvPr id="11" name="Oval 10"/>
          <p:cNvSpPr/>
          <p:nvPr/>
        </p:nvSpPr>
        <p:spPr>
          <a:xfrm>
            <a:off x="5641008" y="2210287"/>
            <a:ext cx="1137098" cy="147474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68427" y="2491191"/>
            <a:ext cx="682259" cy="91293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596170" y="2701869"/>
            <a:ext cx="0" cy="105338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212656" y="198461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713626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759110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7.10 -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215, Figure 7.10. The worked values are ours, invented to show the rule.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multiple-bullish figure reverses that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We are reading the multiple-bullish family as the directional converse of Figure 7.10.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narrow middle sequence,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close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 has no volume panel, so it cannot show the pattern 2 volume exception.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6291" y="1810512"/>
            <a:ext cx="66568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163" y="1929384"/>
            <a:ext cx="641908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735744" y="3860596"/>
            <a:ext cx="38514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62798" y="3263676"/>
            <a:ext cx="1797344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02052" y="2807208"/>
            <a:ext cx="38514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066769" y="42318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78968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816894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5650991"/>
            <a:ext cx="6933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QS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multiple-bullish figure reverses that direction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figure supplies a potential reading, not a complete trade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7.11: multiple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82 of 83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59010" y="1810512"/>
            <a:ext cx="167367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7882" y="1929384"/>
            <a:ext cx="1435930" cy="35112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77882" y="1929384"/>
            <a:ext cx="143593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52202" y="2203704"/>
            <a:ext cx="887290" cy="3054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the first multiple bullish formation: a low first close followed by narrow bars and a final close near its high.</a:t>
            </a:r>
          </a:p>
        </p:txBody>
      </p:sp>
      <p:sp>
        <p:nvSpPr>
          <p:cNvPr id="11" name="Oval 10"/>
          <p:cNvSpPr/>
          <p:nvPr/>
        </p:nvSpPr>
        <p:spPr>
          <a:xfrm>
            <a:off x="5693786" y="4106387"/>
            <a:ext cx="890277" cy="126406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23535" y="4387291"/>
            <a:ext cx="459497" cy="98316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497908" y="4457517"/>
            <a:ext cx="0" cy="91293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5452183" y="374026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651477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514771" y="514478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7.11 -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216, Figure 7.11. The worked values are ours, invented to show the rule.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warning chart keeps the context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checking the same three context clues in the book figure: 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changing angular momentum,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fewer oscillations,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overextension at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crop has no separate volume panel, so this marked reading does not claim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Bollinger Bands are named but not defined in Chapter 7, so no formula is imported.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88971" y="2133222"/>
            <a:ext cx="560554" cy="4331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00520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449982" y="23216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key-reversal check, compare two one-bar warnings: exhaustion has no following gap; pin falsely penetrates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O65.40 &gt; prior high65.00; H66.20; next O60.20 means no gap. Pin support40.00; low38.80; C40.60; return.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a tiring trend; pin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7391095" cy="35794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7153351" cy="33417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26322" y="2681269"/>
            <a:ext cx="143067" cy="1336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6322" y="2497474"/>
            <a:ext cx="143067" cy="1336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6322" y="3834159"/>
            <a:ext cx="178833" cy="20050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6805156" y="3867576"/>
            <a:ext cx="715335" cy="66834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1464" y="3934410"/>
            <a:ext cx="250367" cy="2339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31464" y="3165817"/>
            <a:ext cx="250367" cy="20050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0122" y="2349757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976990" y="231634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905457" y="405403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763859" y="3653025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766797" y="4254533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696733" y="3084934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5481407"/>
            <a:ext cx="7391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41044" y="2667038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0161" y="344741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2475042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98655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containment and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turn from key reversals to containment: an outside bar engulfs preceding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prior 48.00 to 52.00; outside 47.00 to 53.00; close 47.50 near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range and more contained bars generally strengthen; near-edge close and high volume add reliability (pp. 223 to 224).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is possible when the close follows the existing trend (p. 223).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Trendline break plus bearish outside bar can support a short.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The worked PHP values are ours, invented.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an invented containment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71665" y="2561417"/>
            <a:ext cx="1052291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647" y="2561417"/>
            <a:ext cx="676473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860596"/>
            <a:ext cx="676473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0399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894655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7969818" y="433718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SA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SA is ours, with invented PHP bars and million-share volume.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it: “Outside bars are bars that engulf one or more preceding bars.” (Lim, p. 223).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11 bars contained inside the outside range.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outside bar's high-to-low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close near the low. Meaning/action: a bearish outside bar can support a short entry.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93507" y="2170077"/>
            <a:ext cx="0" cy="1022946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743282" y="2952329"/>
            <a:ext cx="300270" cy="21060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38330" y="31579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bar's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figure keeps the context visible: the marked outside bar contains 11 preceding bars.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those contained bars.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trendline violation at the outside-bar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bearish close near the low. Meaning/action: use the break and close together, not either mark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93417" y="2681550"/>
            <a:ext cx="300270" cy="42121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93417" y="3012503"/>
            <a:ext cx="300270" cy="24069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88375" y="31880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Only the current bar's body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 or more prior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on both sides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close near the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close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close near the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close does not matter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906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One or more prior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engulfs preceding bars (Lim, p. 223).
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58363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8363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4124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close near the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closes near the low are generally more reliable for the bearish reading (p.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quiet containment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keep the containment idea and reverse it: an inside bar stays within the preceding bar's high and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first range 48.00 to 53.00 on 4.5m; second range 49.20 to 52.50 on 0.5m.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Reliable case: wide, high-volume first bar; narrow, very-low-volume second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resistance is tested in the next figure, then lower bars add exhaustion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 means containment. It is not Harami.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224. The worked PHP values are ours, invented.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an invented quiet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68392" y="2561417"/>
            <a:ext cx="1578437" cy="203655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647" y="3017885"/>
            <a:ext cx="826800" cy="115872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42246" y="2631643"/>
            <a:ext cx="3683020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4211634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969818" y="27570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SB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SB is ours, with invented PHP bars and million-share volume.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inside bars at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inside bars are considered reversal bars. The first should be wide on high volume; the second narrow on very low volume (p. 224).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 the two inside-bar reversals testing one resistance level.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bearish StochRSI divergence. Meaning/action: repeated failure at resistance warns of a possible reversal; no oscillator formula is taught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volume and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two tests again, this time with the book's volume condition.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are the two inside-bar reversals at one resistance.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figure's bearish StochRSI divergence.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prefer the wide, high-volume first bar and narrow, very-low-volume second bar, but keep the oscillator reading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Neither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resistance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first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first bar should be wide (p. 224).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second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second bar should be narrow on very low volume (p.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7.26: lower inside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three successively lower inside bars below the lower band.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band context.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bearish outside bar. Lim says the exhaustion reading is stronger when declines also show bearish volume (p. 225).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lower inside bars can warn of exhaustion, but the book leaves the volume judgement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710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3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76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Wheaton daily chart. Three successively lower inside bars form below the lower band, followed by a bearish outside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6951" y="3470388"/>
            <a:ext cx="707032" cy="60300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12932" y="3671389"/>
            <a:ext cx="1161553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4029" y="2353718"/>
            <a:ext cx="454520" cy="33500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07987" y="3225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604973" y="36276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35111" y="217593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7303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7.26.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7.27: three reversal families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an inside-bar reversal;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 outside-bar reversal;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 three-bar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inside range 6.0 points; outside bar contains four bars; outer volumes 4.0m and 4.2m.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slide names the three price-bar families; the indicator panels are outside this slide's scope.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3339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310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64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2" name="Oval 11"/>
          <p:cNvSpPr/>
          <p:nvPr/>
        </p:nvSpPr>
        <p:spPr>
          <a:xfrm>
            <a:off x="7422660" y="2425729"/>
            <a:ext cx="356716" cy="40328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66797" y="2704924"/>
            <a:ext cx="356716" cy="40328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3364" y="3542507"/>
            <a:ext cx="356716" cy="4963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63374" y="21772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273823" y="245641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458471" y="39764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241856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7.27.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 versus Harami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describe a smaller formation inside a larger one, but the book keeps their rules separate.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if the preceding candlestick range is 6.0 points, a Harami's narrow range is at most 1.5 to 2.0 points, one-fourth to one-third.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inside bar has no such one-fourth to one-third restriction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do not rename every inside bar as Harami; check the internal proportion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names are related, not interchangeable.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6.0-point example is ours, invented.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No; Harami has a stricter one-fourth to one-third proportion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Yes; the terms are identical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on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One-half to two-thirds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One-fourth to one-third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One to two 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proportion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51333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133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899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No; Harami has a stricter one-fourth to one-third proportion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keeps inside bar and Harami rules separate; Harami has the stricter proportion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03218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0321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8609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6554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One-fourth to one-third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gives one-fourth to one-third of the preceding candlestick range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move from containment to a bar that can exhaust a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uptrend, it opens above the previous high, is larger in context, and closes near its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There is no gap between the exhaustion bar and the subsequent bar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read the larger bar, trend context, close, and next-bar gap together; the pattern is a reversal warning,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bullish exhaustion bar is the converse in a downtrend.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transition wording is ours.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worked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Ours, invented: prior high 65.00; exhaustion O 65.40, H 66.20, L 60.00, C 60.50.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65.40 is above 65.00; the 6.20-point range is large in this uptrend; 60.50 is near low 60.00.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O 60.20 lies inside 60.00 to 66.20, so there is no following gap. Meaning/action: all four observations support the reading; now read Figure 7.28.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Numbers first: compare each value with the named level.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6858" y="3053726"/>
            <a:ext cx="275581" cy="327081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9504300" y="2747087"/>
            <a:ext cx="780816" cy="85858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86643" y="28369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13389" y="25098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The worked PHP values are ours, invented to show Lim's p. 226 rule.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7.28: bullish exhaustion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exhaustion case is in a downtrend.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 before the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exhaustion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later rebound.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PHP 40.00; low PHP 39.60 and close PHP 41.20. The bar closes near its high, the bullish converse.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the larger bar matters in trend context. The prior gap is visible, but the rule concerns no gap after the exhaustion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50584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26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1810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2" name="Oval 11"/>
          <p:cNvSpPr/>
          <p:nvPr/>
        </p:nvSpPr>
        <p:spPr>
          <a:xfrm>
            <a:off x="8747607" y="3108794"/>
            <a:ext cx="305757" cy="2041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00486" y="3176837"/>
            <a:ext cx="305757" cy="36289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8162" y="2836623"/>
            <a:ext cx="866311" cy="95260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388321" y="2907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05592" y="295334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22863" y="259045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407794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7.28.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Whether the next bar gaps away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Whether volume is absent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Whether resistance is horizontal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Whether the bar is an inside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top of a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Only in a flat market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above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the bottom of a downtrend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Whether the next bar gaps away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requires no gap between the exhaustion bar and the subsequent bar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the bottom of a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appears in a downtrend at a bottom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exhaustion to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Next, the book shifts from exhaustion's next-bar gap test to an emotion spike read by range and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as context, not as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range and volume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Emotion spike: a wide bar on high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20029" y="2420965"/>
            <a:ext cx="901964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0029" y="4457517"/>
            <a:ext cx="901964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97156" y="2912546"/>
            <a:ext cx="2555565" cy="1334292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13599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6992691" y="50043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9247601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SC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SC is ours, with invented PHP bars and million-share volume.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7.29: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an emotional market, a price spike is usually wide-ranging and accompanied by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wide spike;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its high volume;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three-bar bearish reversal at the top (Lim, 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ordinary range 3.0 and volume 1.5 million; spike range 8.0 and volume 6.0 million. Treat it as reversal context, not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9327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555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9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Mad Catz Interactive daily chart. A wide price spike occurs on high volume and a three-bar bearish reversal forms near the top.</a:t>
            </a:r>
          </a:p>
        </p:txBody>
      </p:sp>
      <p:sp>
        <p:nvSpPr>
          <p:cNvPr id="12" name="Oval 11"/>
          <p:cNvSpPr/>
          <p:nvPr/>
        </p:nvSpPr>
        <p:spPr>
          <a:xfrm>
            <a:off x="8292876" y="2540491"/>
            <a:ext cx="350315" cy="10083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92966" y="4373812"/>
            <a:ext cx="300270" cy="45833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94410" y="2112716"/>
            <a:ext cx="400360" cy="4277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37247" y="229337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88014" y="47072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489548" y="220171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9523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7.29.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a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add a barrier test: a pin bar penetrates a barrier during the interval, then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support PHP 40.00, low PHP 38.80, close PHP 40.60, volume 0.8m.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Book-named barriers are moving averages, support or resistance, and trendlines. Pin bars usually form on low volume (Lim, p. 227).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breach can fool a trader; wait for the return through the barrier.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false impression separates pin from exhaustion.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7.30: pin bar at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“single bar misrepresentations of market strength or weakness.”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support,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intra-period penetration,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the breach suggests a potential breakout, but the rapid retrace warns that impression was false. The book says pin bars usually form on low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49370" y="3834600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04895" y="3790293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04895" y="2926299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2415" y="381207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897940" y="387853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554470" y="26822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55063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7.30.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volume average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prior close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stochastic formula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barrier such as support or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barrier break is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apparent breakout may be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trend must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volume is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 barrier such as support or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pin bar as penetrating a barrier and then retracing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5029200" cy="225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250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The apparent breakout may be false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retrace shows that the initial impression of breaking the barrier was false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Transition: compare exhaustion with pin's false-barrier story.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O65.40 &gt; prior high 65.00; H66.20; C60.50; next O60.20 means no gap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no-gap relationship in Figure 7.28.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 next-bar gap separates the exhaustion bar from its next bar (p. 226); trend may tire.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Next: pin definition, barriers, low-volume tendency, marked return.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2" name="Oval 11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36858" y="3033283"/>
            <a:ext cx="275581" cy="14309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74649" y="3155939"/>
            <a:ext cx="32151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86643" y="28165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0365" y="31640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The comparison values are ours, invented.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the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calls a pin bar a “single bar misrepresentations of market strength or weakness”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40.00; low 38.80; close 40.60; volume 0.8m.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support;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penetration;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Barriers: moving average, support/resistance, or trendline; low volume is usual. Action: wait for return; penetration can look like a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5255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14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576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9994" y="3662120"/>
            <a:ext cx="284767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575227" y="3621824"/>
            <a:ext cx="229651" cy="18133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5227" y="2836048"/>
            <a:ext cx="275581" cy="2216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76755" y="362756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281988" y="368800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879082" y="26000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5450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Exhaustion uses no trend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pin bar gives a false barrier-penetration impression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pin bar must gap from the next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Exhaustion is always narrow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same volume as the prior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volume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A pin bar gives a false barrier-penetration impression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exhaustion bars do not usually provide a false impression of penetrating a barrier, while pin bars do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739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73926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Low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pin bars are usually breakouts that form on low volume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pin bar to false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generalise the pin-bar false-barrier read to support and resistance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to show both returned directions.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Wait for the return through the barrier.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False breakouts: return through the barrier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592573" y="2631643"/>
            <a:ext cx="450982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594" y="4878872"/>
            <a:ext cx="601309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2573" y="3825483"/>
            <a:ext cx="450982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75594" y="3790370"/>
            <a:ext cx="601309" cy="351129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6798" y="23357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594000" y="51447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5339090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9022110" y="3529583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SD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SD is ours, with invented PHP barriers and closes.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own course drawing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41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3690609" y="3439241"/>
            <a:ext cx="48104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6922647" y="2420965"/>
            <a:ext cx="977127" cy="49158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579693"/>
            <a:ext cx="977127" cy="4213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922647" y="2631643"/>
            <a:ext cx="977128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3084179" y="30380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8345637" y="39860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345637" y="2195291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SE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SE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false upside breakout (the book's drawing)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 non-failure swing and credits Sperandeo's 2B entry (p. 228).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resistance;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false high;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back below;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stop above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This slide reads Lim's drawing; the source drawing supplies no PHP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Action: short after return below resistance; stop just above breakout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3950" y="1810512"/>
            <a:ext cx="44158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2822" y="1929384"/>
            <a:ext cx="41781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2822" y="1929384"/>
            <a:ext cx="41781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87142" y="2203703"/>
            <a:ext cx="36294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Bearish non-failure swing. Price breaks above resistance, returns below it, and creates a short entry with a stop above the breakout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5291" y="2280513"/>
            <a:ext cx="221440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824480" y="2034722"/>
            <a:ext cx="292469" cy="3160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6949" y="2280513"/>
            <a:ext cx="250687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740917" y="2034722"/>
            <a:ext cx="626720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6791625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543688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462876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293000" y="1914387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5650991"/>
            <a:ext cx="5425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228, Figure 7.31.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7.32: both breakout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false upside high,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false downside low,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upper close back below resistance, and purple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lower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upside barrier PHP 60.00 and downside barrier PHP 40.00; returned closes PHP 59.40 and PHP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short below resistance after a false upside break, or long above support after a false downside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280662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25688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111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2" name="Oval 11"/>
          <p:cNvSpPr/>
          <p:nvPr/>
        </p:nvSpPr>
        <p:spPr>
          <a:xfrm>
            <a:off x="7742380" y="2520227"/>
            <a:ext cx="350315" cy="2825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43462" y="3111070"/>
            <a:ext cx="400360" cy="33395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42560" y="2674360"/>
            <a:ext cx="300270" cy="2055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44545" y="3393647"/>
            <a:ext cx="350315" cy="28257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86751" y="22877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88646" y="346939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87563" y="277580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10589638" y="3135444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4708579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7.32.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a close below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Above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Below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false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above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above support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opposite entry is taken when price closes back above support after the false downside breakout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the named crossings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use a moving average as the crossing level: a bearish Double Repo closes above and below a three-day SMA twice.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Forward-shifted means plotted three days forward (Lim, p. 229). Ours: SMA 50.00; first pair 50.80 above, 49.60 below.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After 9 bullish days, the second pair is 50.70 above and 49.00 below. Lim requires 8 to 10 days first and a top no more than 8 to 10 bars (p. 229).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second pair gives the sell signal; the complete method is in DiNapoli's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229. The worked PHP values are ours, invented.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two crossings of a three-day SMA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45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148139" y="2912546"/>
            <a:ext cx="450982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99121" y="3614806"/>
            <a:ext cx="450982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24612" y="2912546"/>
            <a:ext cx="676473" cy="112361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2036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8044982" y="395093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4629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SF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SF is ours, with invented PHP closes and a three-day SMA.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in the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 two closes across the forward-shifted three-day SMA.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decline.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Lim presents a bearish reversal in an uptrend; the reverse applies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sends the reader to DiNapoli's original text for detailed and complete discussion.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sp>
        <p:nvSpPr>
          <p:cNvPr id="12" name="Oval 11"/>
          <p:cNvSpPr/>
          <p:nvPr/>
        </p:nvSpPr>
        <p:spPr>
          <a:xfrm>
            <a:off x="8164439" y="2380117"/>
            <a:ext cx="303013" cy="2028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0467" y="2380117"/>
            <a:ext cx="303013" cy="2028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24988" y="2830850"/>
            <a:ext cx="909041" cy="631026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857484" y="215705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20042" y="215705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80591" y="339657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forward-shifted three-day SMA.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required 8 to 10 bullish days before the pattern.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topping formation. The book says it should not exceed 8 to 10 bars (Lim, p. 229).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count both limits before treating the two crossings as the named sell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21974" y="2425190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55398" y="2335043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4942" y="2019530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28079" y="21795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48443" y="20894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20042" y="188661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pair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Two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DiNapoli's original 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volume panel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Hikkake figure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Two pairs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named bearish Double Repo has two closes above and below the forward-shifted SMA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DiNapoli's original text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sends readers to DiNapoli's original text for the detailed method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trap, then the opposite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finish this reversal group with Hikkake, an inside-bar breakout that fails; take only the opposite re-entry.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 bearish: inside high 52.00, inside low 49.00, false high 53.00, re-entry below 49.00 within 3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“Trap or ensnare” is the meaning. The bullish converse follows a failed downside break (Lim, p. 230).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Action: wait for the opposite re-entry, never the failed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three-bar window is part of the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230. The worked PHP values are ours, invented.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failed breakout, opposite re-entry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089300" y="3052998"/>
            <a:ext cx="751636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91264" y="2456078"/>
            <a:ext cx="601309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98466" y="3965935"/>
            <a:ext cx="676473" cy="84271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2708361" y="2721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737780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992691" y="42318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SG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SG is ours, with invented PHP levels and entries.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own course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40282" y="2807208"/>
            <a:ext cx="977127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7737" y="4071274"/>
            <a:ext cx="601309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94538" y="2877433"/>
            <a:ext cx="601309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73630" y="2807208"/>
            <a:ext cx="901964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50757" y="2420965"/>
            <a:ext cx="601309" cy="52669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0757" y="4071274"/>
            <a:ext cx="601309" cy="56180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3852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414253" y="46531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015563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917527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9097274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22110" y="370514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SH - FIN1209 teaching chart, drawn for this course. Illustrative data, not a real instrument.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SH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bullish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above the inside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bullish schematic: an inside bar, a failed downside breakout, and the opposite re-entry above the inside high.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4778" y="2877433"/>
            <a:ext cx="1207585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519" y="3790370"/>
            <a:ext cx="377370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638419" y="2807208"/>
            <a:ext cx="490582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407433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43338" y="44074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bearish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upside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below the inside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0985" y="2877433"/>
            <a:ext cx="905689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2148" y="2877433"/>
            <a:ext cx="905689" cy="7022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921415" y="3755257"/>
            <a:ext cx="1056638" cy="7022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6879114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218812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45829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7.35: bullish Hikkake at a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Hikkake formation at the channel bottom,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upside re-entry.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low PHP 40.00, false low PHP 39.20, re-entry PHP 41.00.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the re-entry is the signal described by the book; this slide does not interpret the indicator panels.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55" y="1810512"/>
            <a:ext cx="449510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8927" y="1929384"/>
            <a:ext cx="425736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8927" y="1929384"/>
            <a:ext cx="425736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3247" y="2203703"/>
            <a:ext cx="370872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7018" y="3404128"/>
            <a:ext cx="340588" cy="4915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886" y="3755257"/>
            <a:ext cx="212868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8832754" y="3263676"/>
            <a:ext cx="255442" cy="70225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038702" y="317845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84760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03042" y="29677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65099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Eight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failed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No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opposite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trend direction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3484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498348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3484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opposite direction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Hikkake takes the opposite re-entry after the inside-bar breakout fails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below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Two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0439" y="1207008"/>
            <a:ext cx="466005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59311" y="1325880"/>
            <a:ext cx="442231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9311" y="1325880"/>
            <a:ext cx="44223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3631" y="1600200"/>
            <a:ext cx="387367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1542" y="2436876"/>
            <a:ext cx="1061354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51343" y="2436876"/>
            <a:ext cx="1061354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47359" y="3465576"/>
            <a:ext cx="1238248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580756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589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428167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1993" y="1207008"/>
            <a:ext cx="48369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0865" y="1325880"/>
            <a:ext cx="45992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0865" y="1325880"/>
            <a:ext cx="45992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5185" y="1600200"/>
            <a:ext cx="40505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0785" y="2436876"/>
            <a:ext cx="1103809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6578" y="2436876"/>
            <a:ext cx="1103809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54435" y="3465576"/>
            <a:ext cx="1287777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499385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50892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500693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01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78146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324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39490" y="2909188"/>
            <a:ext cx="217412" cy="23159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3024983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935910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9984918" y="303924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143036" y="26473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43036" y="271858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921159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08253" y="1810512"/>
            <a:ext cx="357598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7125" y="1929384"/>
            <a:ext cx="333824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7125" y="1929384"/>
            <a:ext cx="333824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1445" y="2203703"/>
            <a:ext cx="278960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7125" y="2069835"/>
            <a:ext cx="1435445" cy="280903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8893" y="3825483"/>
            <a:ext cx="233677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6100" y="3825483"/>
            <a:ext cx="767796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92322" y="49523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058940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26883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5650991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30951" y="1810512"/>
            <a:ext cx="36792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9823" y="1929384"/>
            <a:ext cx="344148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49823" y="1929384"/>
            <a:ext cx="344148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4143" y="2203703"/>
            <a:ext cx="289284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88759" y="3965935"/>
            <a:ext cx="0" cy="561808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019929" y="3825483"/>
            <a:ext cx="309734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7322" y="3825483"/>
            <a:ext cx="791542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79524" y="354787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30162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224949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65099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8643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62660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169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8950810" y="2889081"/>
            <a:ext cx="141658" cy="1789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53979" y="3360797"/>
            <a:ext cx="920782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127883" y="2222173"/>
            <a:ext cx="177073" cy="8458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25113" y="299591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433407" y="32887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56333" y="203621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6630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8473" y="1207008"/>
            <a:ext cx="41497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7345" y="1325880"/>
            <a:ext cx="39120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7345" y="1325880"/>
            <a:ext cx="39120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1665" y="1600200"/>
            <a:ext cx="33633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7345" y="1490472"/>
            <a:ext cx="1682162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05666" y="3547872"/>
            <a:ext cx="273840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5987" y="3547872"/>
            <a:ext cx="899761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7947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882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15948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8143" y="1207008"/>
            <a:ext cx="423040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57015" y="1325880"/>
            <a:ext cx="399266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57015" y="1325880"/>
            <a:ext cx="399266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1335" y="1600200"/>
            <a:ext cx="344402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57015" y="1490472"/>
            <a:ext cx="1716845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374" y="3547872"/>
            <a:ext cx="279486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3567" y="3547872"/>
            <a:ext cx="918312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6334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640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34500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3273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3035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2578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0935" y="1990090"/>
            <a:ext cx="968541" cy="9713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4708" y="1990090"/>
            <a:ext cx="609822" cy="9713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7910" y="2931038"/>
            <a:ext cx="322847" cy="9105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42031" y="294564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25804" y="294564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021391" y="270281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517501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164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9271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469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18449"/>
            <a:ext cx="193285" cy="46250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18449"/>
            <a:ext cx="193285" cy="4625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259087"/>
            <a:ext cx="225500" cy="3276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8493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849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5458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066802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4885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22507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793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572464"/>
            <a:ext cx="810286" cy="24758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36778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390491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