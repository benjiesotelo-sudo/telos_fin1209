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second classification. Chapter 4 already taught intrinsic bias; Lim points back to it.</a:t>
            </a:r>
          </a:p>
          <a:p>
            <a:r>
              <a:rPr sz="1400"/>
              <a:t>- Use only the book's own example, the head and shoulders and its inverted form.</a:t>
            </a:r>
          </a:p>
          <a:p>
            <a:r>
              <a:rPr sz="1400"/>
              <a:t>- Stress that the lean belongs to the formation, so moving it to another trend does not change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this rule on p. 212, when he starts the generic reversal patterns; we need it now to read a lean from plain bars.</a:t>
            </a:r>
          </a:p>
          <a:p>
            <a:r>
              <a:rPr sz="1400"/>
              <a:t>- Work the example: the close of 47.50 is below the previous low of 47.90, so the pair leans bearish.</a:t>
            </a:r>
          </a:p>
          <a:p>
            <a:r>
              <a:rPr sz="1400"/>
              <a:t>- Keep his wording: it is a general rule, a clue rather than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keeps the two sentiments apart with numbers: the formation stays the same and only the trend around it changes.</a:t>
            </a:r>
          </a:p>
          <a:p>
            <a:r>
              <a:rPr sz="1400"/>
              <a:t>- Work both cases aloud: bullish and bullish agree, continuation; bullish and bearish disagree, potential reversal.</a:t>
            </a:r>
          </a:p>
          <a:p>
            <a:r>
              <a:rPr sz="1400"/>
              <a:t>- The prices are ours,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Put the two inputs together: there are only four cases, and Lim names them on p. 211.</a:t>
            </a:r>
          </a:p>
          <a:p>
            <a:r>
              <a:rPr sz="1400"/>
              <a:t>- Read each case as agree or disagree first, then name the result.</a:t>
            </a:r>
          </a:p>
          <a:p>
            <a:r>
              <a:rPr sz="1400"/>
              <a:t>- Keep potential on the reversal cases; Lim considers them reversal patterns, not certainties.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example, so it is safe to test.</a:t>
            </a:r>
          </a:p>
          <a:p>
            <a:r>
              <a:rPr sz="1400"/>
              <a:t>- Walk the two cases: same place, same trend, opposite patterns, opposite readings.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Lim's word: generally. The rule is a clue, not a law.</a:t>
            </a:r>
          </a:p>
          <a:p>
            <a:r>
              <a:rPr sz="1400"/>
              <a:t>- Do the two closes slowly: one below the close, one below the low.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would call a gap measured from the previous low to the open a Type 2 gap.</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means the bar stretches far beyond what the bars before it did.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seven shapes, upside down,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bars now: a first bar, a middle bar, a last bar.</a:t>
            </a:r>
          </a:p>
          <a:p>
            <a:r>
              <a:rPr sz="1400"/>
              <a:t>- Gap keeps its Chapter 3 meaning: prices where nothing traded.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Pattern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a:p>
            <a:r>
              <a:rPr sz="1400"/>
              <a:t>- Our charts draw two middle bars so every price stays readable.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each Chapter 5 slide by name; the numbers only make the change visible.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why the three marks matter: each one is a reason to doubt the run-up.</a:t>
            </a:r>
          </a:p>
          <a:p>
            <a:r>
              <a:rPr sz="1400"/>
              <a:t>- State the silence plainly: no Bollinger formula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exact converse: a new low, then a close above the previous close, in a downtrend.</a:t>
            </a:r>
          </a:p>
          <a:p>
            <a:r>
              <a:rPr sz="1400"/>
              <a:t>- The book says the bullish key reversal occurs on high volume and price rebounds rapidly in this example.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key reversal bar's low, below the lower band. Mark 2 is its close near the high.</a:t>
            </a:r>
          </a:p>
          <a:p>
            <a:r>
              <a:rPr sz="1400"/>
              <a:t>-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label. Mark 4 is the extreme volume under the key reversal bar.</a:t>
            </a:r>
          </a:p>
          <a:p>
            <a:r>
              <a:rPr sz="1400"/>
              <a:t>- Lim calls the close near the high on extreme volume indicative of a selling climax.</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last bar, which closes above the lower band.</a:t>
            </a:r>
          </a:p>
          <a:p>
            <a:r>
              <a:rPr sz="1400"/>
              <a:t>-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reading under the pattern.</a:t>
            </a:r>
          </a:p>
          <a:p>
            <a:r>
              <a:rPr sz="1400"/>
              <a:t>- The book gives no StochRSI formula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4 is the low volume under the island. Mark 5 is the overbought stochastic label.</a:t>
            </a:r>
          </a:p>
          <a:p>
            <a:r>
              <a:rPr sz="1400"/>
              <a:t>- No stochastic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bars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Lim gives only the short version and sends readers to DiNapoli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crossings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Bullish: inside bar 40.00 to 43.00, false low 39.00, long when bar 4 closes at 43.40, above 43.00.</a:t>
            </a:r>
          </a:p>
          <a:p>
            <a:r>
              <a:rPr sz="1400"/>
              <a:t>- This mirrors the bearish example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pattern 1, red 2 is pattern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17</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second way: the formation's own lean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second way of sorting is the intrinsic bias or sentiment of a formation: whether the formation itself leans bullish or bearish (pp. 210 to 211). Chapter 4 called this intrinsic bias.</a:t>
            </a:r>
          </a:p>
          <a:p>
            <a:pPr algn="l">
              <a:lnSpc>
                <a:spcPct val="118000"/>
              </a:lnSpc>
              <a:spcBef>
                <a:spcPts val="0"/>
              </a:spcBef>
              <a:spcAft>
                <a:spcPts val="1300"/>
              </a:spcAft>
            </a:pPr>
            <a:r>
              <a:rPr sz="2100" b="0" i="0">
                <a:solidFill>
                  <a:srgbClr val="1A1A1A"/>
                </a:solidFill>
                <a:latin typeface="Arial"/>
              </a:rPr>
              <a:t>His example: a standard head and shoulders is intrinsically bearish, and an inverted head and shoulders is intrinsically bullish (p. 211).</a:t>
            </a:r>
          </a:p>
          <a:p>
            <a:pPr algn="l">
              <a:lnSpc>
                <a:spcPct val="118000"/>
              </a:lnSpc>
              <a:spcBef>
                <a:spcPts val="0"/>
              </a:spcBef>
              <a:spcAft>
                <a:spcPts val="1300"/>
              </a:spcAft>
            </a:pPr>
            <a:r>
              <a:rPr sz="2100" b="0" i="0">
                <a:solidFill>
                  <a:srgbClr val="1A1A1A"/>
                </a:solidFill>
                <a:latin typeface="Arial"/>
              </a:rPr>
              <a:t>The lean belongs to the formation, so it stays the same whichever trend the formation appears in.</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Intrinsic sentiment is about the formation, not the trend around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with a pointer to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low leans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How do we see that lean in plain bars? Lim gives a general rule: a close below the previous bar's close or low is considered bearish, and a close above the previous bar's close or high is considered bullish (p. 212).</a:t>
            </a:r>
          </a:p>
          <a:p>
            <a:pPr algn="l">
              <a:lnSpc>
                <a:spcPct val="118000"/>
              </a:lnSpc>
              <a:spcBef>
                <a:spcPts val="0"/>
              </a:spcBef>
              <a:spcAft>
                <a:spcPts val="1300"/>
              </a:spcAft>
            </a:pPr>
            <a:r>
              <a:rPr sz="2100" b="0" i="0">
                <a:solidFill>
                  <a:srgbClr val="1A1A1A"/>
                </a:solidFill>
                <a:latin typeface="Arial"/>
              </a:rPr>
              <a:t>For example, with prices of ours: one bar has a low of PHP 47.90 and the next bar closes at PHP 47.50. The close is below the previous low, so this two-bar formation leans bearish.</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calls it a general rule, so treat it as a clue, not a certainty.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PHP values are invented for teaching.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14300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One bar has a low of PHP 61.20 and the next bar closes at PHP 60.80. By Lim's general rule, how does this two-bar formation lean?</a:t>
            </a:r>
          </a:p>
        </p:txBody>
      </p:sp>
      <p:sp>
        <p:nvSpPr>
          <p:cNvPr id="13" name="TextBox 12"/>
          <p:cNvSpPr txBox="1"/>
          <p:nvPr/>
        </p:nvSpPr>
        <p:spPr>
          <a:xfrm>
            <a:off x="6690207" y="308152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bullish formation in two different trends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Here is why we keep the two sentiments apart. In a formation of ours the second bar closes at PHP 48.60, above the first bar's high of PHP 48.30, so it is intrinsically bullish.</a:t>
            </a:r>
          </a:p>
          <a:p>
            <a:pPr algn="l">
              <a:lnSpc>
                <a:spcPct val="118000"/>
              </a:lnSpc>
              <a:spcBef>
                <a:spcPts val="0"/>
              </a:spcBef>
              <a:spcAft>
                <a:spcPts val="1300"/>
              </a:spcAft>
            </a:pPr>
            <a:r>
              <a:rPr sz="2100" b="0" i="0">
                <a:solidFill>
                  <a:srgbClr val="1A1A1A"/>
                </a:solidFill>
                <a:latin typeface="Arial"/>
              </a:rPr>
              <a:t>Suppose prices rose from PHP 45.60 to PHP 48.10 before it. Trend sentiment is bullish, the two agree, and the expectation is continuation.</a:t>
            </a:r>
          </a:p>
          <a:p>
            <a:pPr algn="l">
              <a:lnSpc>
                <a:spcPct val="118000"/>
              </a:lnSpc>
              <a:spcBef>
                <a:spcPts val="0"/>
              </a:spcBef>
              <a:spcAft>
                <a:spcPts val="1300"/>
              </a:spcAft>
            </a:pPr>
            <a:r>
              <a:rPr sz="2100" b="0" i="0">
                <a:solidFill>
                  <a:srgbClr val="1A1A1A"/>
                </a:solidFill>
                <a:latin typeface="Arial"/>
              </a:rPr>
              <a:t>Now suppose prices fell from PHP 50.60 to PHP 48.10 before it. Trend sentiment is bearish, the two disagree, and the expectation is a potential reversal.</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formation never changed; only the trend around it did.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 The PHP values are invented for teaching.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rule gives four combinations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Put the two sentiments together and there are four cases (p. 211).</a:t>
            </a:r>
          </a:p>
          <a:p>
            <a:pPr algn="l">
              <a:lnSpc>
                <a:spcPct val="118000"/>
              </a:lnSpc>
              <a:spcBef>
                <a:spcPts val="0"/>
              </a:spcBef>
              <a:spcAft>
                <a:spcPts val="1300"/>
              </a:spcAft>
            </a:pPr>
            <a:r>
              <a:rPr sz="2100" b="0" i="0">
                <a:solidFill>
                  <a:srgbClr val="1A1A1A"/>
                </a:solidFill>
                <a:latin typeface="Arial"/>
              </a:rPr>
              <a:t>In an uptrend, a bullish formation agrees with the trend, so Lim considers it a continuation. A bearish formation disagrees, so it is a potential reversal.</a:t>
            </a:r>
          </a:p>
          <a:p>
            <a:pPr algn="l">
              <a:lnSpc>
                <a:spcPct val="118000"/>
              </a:lnSpc>
              <a:spcBef>
                <a:spcPts val="0"/>
              </a:spcBef>
              <a:spcAft>
                <a:spcPts val="1300"/>
              </a:spcAft>
            </a:pPr>
            <a:r>
              <a:rPr sz="2100" b="0" i="0">
                <a:solidFill>
                  <a:srgbClr val="1A1A1A"/>
                </a:solidFill>
                <a:latin typeface="Arial"/>
              </a:rPr>
              <a:t>In a downtrend, a bearish formation agrees, so it is a continuation. A bullish formation disagrees, so it is a potential reversal.</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Agreement suggests continuation; disagreement suggests a potential reversal.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17</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Lim's own example is the head and shoulders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head and shoulders has bearish intrinsic sentiment and an inverted head and shoulders bullish, as Chapter 4's "Intrinsic bias" explains (p. 211).</a:t>
            </a:r>
          </a:p>
          <a:p>
            <a:pPr algn="l">
              <a:lnSpc>
                <a:spcPct val="118000"/>
              </a:lnSpc>
              <a:spcBef>
                <a:spcPts val="0"/>
              </a:spcBef>
              <a:spcAft>
                <a:spcPts val="1300"/>
              </a:spcAft>
            </a:pPr>
            <a:r>
              <a:rPr sz="2100" b="0" i="0">
                <a:solidFill>
                  <a:srgbClr val="1A1A1A"/>
                </a:solidFill>
                <a:latin typeface="Arial"/>
              </a:rPr>
              <a:t>Let us put invented prices on it. A stock climbs from PHP 40 to PHP 50 over ten days, so the trend sentiment is bullish.</a:t>
            </a:r>
          </a:p>
          <a:p>
            <a:pPr algn="l">
              <a:lnSpc>
                <a:spcPct val="118000"/>
              </a:lnSpc>
              <a:spcBef>
                <a:spcPts val="0"/>
              </a:spcBef>
              <a:spcAft>
                <a:spcPts val="1300"/>
              </a:spcAft>
            </a:pPr>
            <a:r>
              <a:rPr sz="2100" b="0" i="0">
                <a:solidFill>
                  <a:srgbClr val="1A1A1A"/>
                </a:solidFill>
                <a:latin typeface="Arial"/>
              </a:rPr>
              <a:t>An inverted head and shoulders at PHP 50 agrees with that trend, so Lim calls it a continuation pattern. A head and shoulders in the same place disagrees, so it is a reversal pattern.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 Chapter 4, "Intrinsic bias". The prices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close below the previous bar is Lim's basic bearish clue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For one-bar and two-bar patterns in an uptrend, Lim's general rule is that a close below the previous bar's close or low is bearish, especially when that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49.00 to PHP 52.00 and closed at PHP 51.80. A close today at PHP 51.20 is below yesterday's close; a close at PHP 48.80 is below yesterday's low as well.</a:t>
            </a:r>
          </a:p>
          <a:p>
            <a:pPr algn="l">
              <a:lnSpc>
                <a:spcPct val="118000"/>
              </a:lnSpc>
              <a:spcBef>
                <a:spcPts val="0"/>
              </a:spcBef>
              <a:spcAft>
                <a:spcPts val="1300"/>
              </a:spcAft>
            </a:pPr>
            <a:r>
              <a:rPr sz="2100" b="0" i="0">
                <a:solidFill>
                  <a:srgbClr val="1A1A1A"/>
                </a:solidFill>
                <a:latin typeface="Arial"/>
              </a:rPr>
              <a:t>Yesterday's PHP 3.00 range is wide, the case Lim says counts for more.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Chapter 3's "Gap" is a range of prices where no trading took place. 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Chapter 3, "Gap". The prices are invented for teaching.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5: "An overextended bar closes at or near its low" (Figure 7.4, p. 212). It is the one form drawn as a single bar: it stretches far up, then gives almost all of it back. Beside an ordinary PHP 1.00 bar, form 5 stretches up to PHP 53.60 </a:t>
            </a:r>
            <a:r>
              <a:rPr sz="1700" b="1" i="0">
                <a:solidFill>
                  <a:srgbClr val="E09B00"/>
                </a:solidFill>
                <a:latin typeface="Arial"/>
              </a:rPr>
              <a:t>(1)</a:t>
            </a:r>
            <a:r>
              <a:rPr sz="1700" b="0" i="0">
                <a:solidFill>
                  <a:srgbClr val="1A1A1A"/>
                </a:solidFill>
                <a:latin typeface="Arial"/>
              </a:rPr>
              <a:t> and closes at PHP 51.00, only PHP 0.20 above its low of PHP 50.80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3375964"/>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452069"/>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3050"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18422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 a downtrend Lim's close rule turns around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 downtrend Lim's general rule is the mirror image: a close above the previous bar's close or high is bullish, especially if the previous bar is large or wide-ranging (p. 212).</a:t>
            </a:r>
          </a:p>
          <a:p>
            <a:pPr algn="l">
              <a:lnSpc>
                <a:spcPct val="118000"/>
              </a:lnSpc>
              <a:spcBef>
                <a:spcPts val="0"/>
              </a:spcBef>
              <a:spcAft>
                <a:spcPts val="1300"/>
              </a:spcAft>
            </a:pPr>
            <a:r>
              <a:rPr sz="2100" b="0" i="0">
                <a:solidFill>
                  <a:srgbClr val="1A1A1A"/>
                </a:solidFill>
                <a:latin typeface="Arial"/>
              </a:rPr>
              <a:t>Here it is with invented prices. Yesterday's bar ran from PHP 38.00 to PHP 41.00 and closed at PHP 38.20. A close today at PHP 38.80 is above yesterday's close; a close at PHP 41.20 is above yesterday's high as well.</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Now the close has to climb past yesterday's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79</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Chapter 3, "Gap".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Let us put invented prices on it, beside an ordinary PHP 1.00 bar for comparison. Form 5 stretches down to PHP 36.40 </a:t>
            </a:r>
            <a:r>
              <a:rPr sz="1700" b="1" i="0">
                <a:solidFill>
                  <a:srgbClr val="E09B00"/>
                </a:solidFill>
                <a:latin typeface="Arial"/>
              </a:rPr>
              <a:t>(1)</a:t>
            </a:r>
            <a:r>
              <a:rPr sz="1700" b="0" i="0">
                <a:solidFill>
                  <a:srgbClr val="1A1A1A"/>
                </a:solidFill>
                <a:latin typeface="Arial"/>
              </a:rPr>
              <a:t> and closes at PHP 39.00, only PHP 0.20 below its high of PHP 39.20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94873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872628"/>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30160" y="483158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97580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79</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Three-bar patterns add a middle bar, and sometimes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bearish reversal patterns in an uptrend (p. 213). Each has a first bar, a middle bar and a last bar.</a:t>
            </a:r>
          </a:p>
          <a:p>
            <a:pPr algn="l">
              <a:lnSpc>
                <a:spcPct val="118000"/>
              </a:lnSpc>
              <a:spcBef>
                <a:spcPts val="0"/>
              </a:spcBef>
              <a:spcAft>
                <a:spcPts val="1300"/>
              </a:spcAft>
            </a:pPr>
            <a:r>
              <a:rPr sz="2100" b="0" i="0">
                <a:solidFill>
                  <a:srgbClr val="1A1A1A"/>
                </a:solidFill>
                <a:latin typeface="Arial"/>
              </a:rPr>
              <a:t>His first rule is about gaps: the larger the gaps, the more bearish the pattern once it is complete (p. 213).</a:t>
            </a:r>
          </a:p>
          <a:p>
            <a:pPr algn="l">
              <a:lnSpc>
                <a:spcPct val="118000"/>
              </a:lnSpc>
              <a:spcBef>
                <a:spcPts val="0"/>
              </a:spcBef>
              <a:spcAft>
                <a:spcPts val="1300"/>
              </a:spcAft>
            </a:pPr>
            <a:r>
              <a:rPr sz="2100" b="0" i="0">
                <a:solidFill>
                  <a:srgbClr val="1A1A1A"/>
                </a:solidFill>
                <a:latin typeface="Arial"/>
              </a:rPr>
              <a:t>Let us put invented prices on it. If the first bar's high is PHP 50.00 and the middle bar's low is PHP 50.40, the gap is PHP 0.40. A middle bar whose low is PHP 51.00 would leave a PHP 1.00 gap, and Lim would read that pattern as more bearish.</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Chapter 3, "Gap".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Pattern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3.40 </a:t>
            </a:r>
            <a:r>
              <a:rPr sz="1700" b="1" i="0">
                <a:solidFill>
                  <a:srgbClr val="7B3FA0"/>
                </a:solidFill>
                <a:latin typeface="Arial"/>
              </a:rPr>
              <a:t>(4)</a:t>
            </a:r>
            <a:r>
              <a:rPr sz="1700" b="0" i="0">
                <a:solidFill>
                  <a:srgbClr val="1A1A1A"/>
                </a:solidFill>
                <a:latin typeface="Arial"/>
              </a:rPr>
              <a:t>. Bar 3 also closes at PHP 47.20, near its PHP 47.00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761488" y="3392424"/>
            <a:ext cx="109727" cy="857250"/>
          </a:xfrm>
          <a:prstGeom prst="rect">
            <a:avLst/>
          </a:prstGeom>
          <a:noFill/>
          <a:ln w="44450">
            <a:solidFill>
              <a:srgbClr val="E09B00"/>
            </a:solidFill>
          </a:ln>
        </p:spPr>
        <p:txBody>
          <a:bodyPr rtlCol="0" anchor="ctr"/>
          <a:lstStyle/>
          <a:p>
            <a:pPr algn="ctr"/>
          </a:p>
        </p:txBody>
      </p:sp>
      <p:sp>
        <p:nvSpPr>
          <p:cNvPr id="10" name="Rectangle 9"/>
          <p:cNvSpPr/>
          <p:nvPr/>
        </p:nvSpPr>
        <p:spPr>
          <a:xfrm>
            <a:off x="6315303" y="3419170"/>
            <a:ext cx="109727" cy="268833"/>
          </a:xfrm>
          <a:prstGeom prst="rect">
            <a:avLst/>
          </a:prstGeom>
          <a:noFill/>
          <a:ln w="44450">
            <a:solidFill>
              <a:srgbClr val="C62828"/>
            </a:solidFill>
          </a:ln>
        </p:spPr>
        <p:txBody>
          <a:bodyPr rtlCol="0" anchor="ctr"/>
          <a:lstStyle/>
          <a:p>
            <a:pPr algn="ctr"/>
          </a:p>
        </p:txBody>
      </p:sp>
      <p:sp>
        <p:nvSpPr>
          <p:cNvPr id="11" name="Rectangle 10"/>
          <p:cNvSpPr/>
          <p:nvPr/>
        </p:nvSpPr>
        <p:spPr>
          <a:xfrm>
            <a:off x="9869119" y="3552901"/>
            <a:ext cx="109728" cy="964234"/>
          </a:xfrm>
          <a:prstGeom prst="rect">
            <a:avLst/>
          </a:prstGeom>
          <a:noFill/>
          <a:ln w="44450">
            <a:solidFill>
              <a:srgbClr val="7B3FA0"/>
            </a:solidFill>
          </a:ln>
        </p:spPr>
        <p:txBody>
          <a:bodyPr rtlCol="0" anchor="ctr"/>
          <a:lstStyle/>
          <a:p>
            <a:pPr algn="ctr"/>
          </a:p>
        </p:txBody>
      </p:sp>
      <p:sp>
        <p:nvSpPr>
          <p:cNvPr id="12" name="Rectangle 11"/>
          <p:cNvSpPr/>
          <p:nvPr/>
        </p:nvSpPr>
        <p:spPr>
          <a:xfrm>
            <a:off x="621471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2871216" y="369303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520421" y="334425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78847" y="39070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665363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large middle bar closing near its low. The 3rd bar closes at or near its low" (Figure 7.6, p. 213). Here it is with invented prices. Bar 1 closes at PHP 50.50 </a:t>
            </a:r>
            <a:r>
              <a:rPr sz="1700" b="1" i="0">
                <a:solidFill>
                  <a:srgbClr val="E09B00"/>
                </a:solidFill>
                <a:latin typeface="Arial"/>
              </a:rPr>
              <a:t>(1)</a:t>
            </a:r>
            <a:r>
              <a:rPr sz="1700" b="0" i="0">
                <a:solidFill>
                  <a:srgbClr val="1A1A1A"/>
                </a:solidFill>
                <a:latin typeface="Arial"/>
              </a:rPr>
              <a:t>; the large middle bar closes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closes at PHP 49.00,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high followed by a narrow range middle bar closing within its range on low volume. The 3rd bar closes at or near its low" (Figure 7.6, p. 213). Let us put invented prices on it. Bar 1 closes at PHP 51.00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and closes above the gap. The 3rd bar closes below the gap" (Figure 7.6, p. 213). Here it is with invented prices.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gaps down and closes at or near its low. Also referred to as a single island reversal bar" (Figure 7.7, p. 214). Let us put invented prices on it.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near its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up on low volume. The 3rd bar engulfs the 2nd bar and closes below the gap" (Figure 7.7, p. 214). Here it is with invented prices.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below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high on low volume followed by a 3rd bar closing below the low of the 2nd bar (and preferably below the close of the 1st bar as well)" (Figure 7.7, p. 214). Say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49.80 </a:t>
            </a:r>
            <a:r>
              <a:rPr sz="1700" b="1" i="0">
                <a:solidFill>
                  <a:srgbClr val="1F5FAD"/>
                </a:solidFill>
                <a:latin typeface="Arial"/>
              </a:rPr>
              <a:t>(3)</a:t>
            </a:r>
            <a:r>
              <a:rPr sz="1700" b="0" i="0">
                <a:solidFill>
                  <a:srgbClr val="1A1A1A"/>
                </a:solidFill>
                <a:latin typeface="Arial"/>
              </a:rPr>
              <a:t>, below bar 2's PHP 50.10 low and bar 1's PHP 50.20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pattern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Pattern 1</a:t>
            </a:r>
          </a:p>
          <a:p>
            <a:pPr algn="l">
              <a:lnSpc>
                <a:spcPct val="112000"/>
              </a:lnSpc>
              <a:spcBef>
                <a:spcPts val="0"/>
              </a:spcBef>
              <a:spcAft>
                <a:spcPts val="900"/>
              </a:spcAft>
            </a:pPr>
            <a:r>
              <a:rPr sz="1700" b="0" i="0">
                <a:solidFill>
                  <a:srgbClr val="FFFFFF"/>
                </a:solidFill>
                <a:latin typeface="Arial"/>
              </a:rPr>
              <a:t>B.  Pattern 2</a:t>
            </a:r>
          </a:p>
          <a:p>
            <a:pPr algn="l">
              <a:lnSpc>
                <a:spcPct val="112000"/>
              </a:lnSpc>
              <a:spcBef>
                <a:spcPts val="0"/>
              </a:spcBef>
              <a:spcAft>
                <a:spcPts val="900"/>
              </a:spcAft>
            </a:pPr>
            <a:r>
              <a:rPr sz="1700" b="0" i="0">
                <a:solidFill>
                  <a:srgbClr val="FFFFFF"/>
                </a:solidFill>
                <a:latin typeface="Arial"/>
              </a:rPr>
              <a:t>C.  Pattern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pattern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Pattern 1</a:t>
            </a:r>
          </a:p>
          <a:p>
            <a:pPr algn="l">
              <a:lnSpc>
                <a:spcPct val="115000"/>
              </a:lnSpc>
              <a:spcBef>
                <a:spcPts val="700"/>
              </a:spcBef>
              <a:spcAft>
                <a:spcPts val="0"/>
              </a:spcAft>
            </a:pPr>
            <a:r>
              <a:rPr sz="1700" b="0" i="0">
                <a:solidFill>
                  <a:srgbClr val="1A1A1A"/>
                </a:solidFill>
                <a:latin typeface="Arial"/>
              </a:rPr>
              <a:t>The middle bar usually trades on low volume, except possibly in pattern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six bullish triple forms mirror them in a downtrend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six basic triple bar bullish reversal patterns in a downtrend (p. 214).</a:t>
            </a:r>
          </a:p>
          <a:p>
            <a:pPr algn="l">
              <a:lnSpc>
                <a:spcPct val="118000"/>
              </a:lnSpc>
              <a:spcBef>
                <a:spcPts val="0"/>
              </a:spcBef>
              <a:spcAft>
                <a:spcPts val="1300"/>
              </a:spcAft>
            </a:pPr>
            <a:r>
              <a:rPr sz="2100" b="0" i="0">
                <a:solidFill>
                  <a:srgbClr val="1A1A1A"/>
                </a:solidFill>
                <a:latin typeface="Arial"/>
              </a:rPr>
              <a:t>Lim's reliability rule turns around: a bullish three-bar pattern is potentially more reliable if the last bar is overextended and closes at or near its high on high volume (p. 214).</a:t>
            </a:r>
          </a:p>
          <a:p>
            <a:pPr algn="l">
              <a:lnSpc>
                <a:spcPct val="118000"/>
              </a:lnSpc>
              <a:spcBef>
                <a:spcPts val="0"/>
              </a:spcBef>
              <a:spcAft>
                <a:spcPts val="1300"/>
              </a:spcAft>
            </a:pPr>
            <a:r>
              <a:rPr sz="2100" b="0" i="0">
                <a:solidFill>
                  <a:srgbClr val="1A1A1A"/>
                </a:solidFill>
                <a:latin typeface="Arial"/>
              </a:rPr>
              <a:t>Our six charts are the bearish ones turned upside down about PHP 45, so a close at PHP 50.50 becomes PHP 39.50.</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large middle bar closing near its high. The 3rd bar closes at or near its high" (Figure 7.8, p. 214). Here it is with invented prices.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bar closes near its low followed by a narrow range middle bar closing within its range on low volume. The 3rd bar closes at or near its high" (Figure 7.8, p. 214). Let us put invented prices on it. Bar 1 closes at PHP 39.00 </a:t>
            </a:r>
            <a:r>
              <a:rPr sz="1700" b="1" i="0">
                <a:solidFill>
                  <a:srgbClr val="E09B00"/>
                </a:solidFill>
                <a:latin typeface="Arial"/>
              </a:rPr>
              <a:t>(1)</a:t>
            </a:r>
            <a:r>
              <a:rPr sz="1700" b="0" i="0">
                <a:solidFill>
                  <a:srgbClr val="1A1A1A"/>
                </a:solidFill>
                <a:latin typeface="Arial"/>
              </a:rPr>
              <a:t>; the middle bar spans only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and closes below the gap. The 3rd bar closes above the gap" (Figure 7.8, p. 214). Here it is with invented prices.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gaps up and closes at or near its high. Also referred to as a single island reversal bar" (Figure 7.9, p. 215). Let us put invented prices on it.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near its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"2nd bar gaps down on low volume. The 3rd bar engulfs the 2nd bar and closes above the gap" (Figure 7.9, p. 215). Here it is with invented prices.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above the gap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79</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the 2nd bar "closes at or near its low on low volume followed by a 3rd bar closing above the high of the 2nd bar (and preferably above the close of the 1st bar as well)" (Figure 7.9, p. 215). Say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closes at PHP 40.20 </a:t>
            </a:r>
            <a:r>
              <a:rPr sz="1700" b="1" i="0">
                <a:solidFill>
                  <a:srgbClr val="1F5FAD"/>
                </a:solidFill>
                <a:latin typeface="Arial"/>
              </a:rPr>
              <a:t>(3)</a:t>
            </a:r>
            <a:r>
              <a:rPr sz="1700" b="0" i="0">
                <a:solidFill>
                  <a:srgbClr val="1A1A1A"/>
                </a:solidFill>
                <a:latin typeface="Arial"/>
              </a:rPr>
              <a:t>, above bar 2's PHP 39.90 high and bar 1's PHP 39.80 close.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pattern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pattern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bar patterns stretch the middle across several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bearish reversal patterns in an uptrend (p. 214). Between the first and the last bar sit several bars, where a triple pattern had one.</a:t>
            </a:r>
          </a:p>
          <a:p>
            <a:pPr algn="l">
              <a:lnSpc>
                <a:spcPct val="118000"/>
              </a:lnSpc>
              <a:spcBef>
                <a:spcPts val="0"/>
              </a:spcBef>
              <a:spcAft>
                <a:spcPts val="1300"/>
              </a:spcAft>
            </a:pPr>
            <a:r>
              <a:rPr sz="2100" b="0" i="0">
                <a:solidFill>
                  <a:srgbClr val="1A1A1A"/>
                </a:solidFill>
                <a:latin typeface="Arial"/>
              </a:rPr>
              <a:t>The gap rule carries over: the larger the gaps, the more bearish the pattern. And the bars between the first and last should generally trade on low volume (p. 214).</a:t>
            </a:r>
          </a:p>
          <a:p>
            <a:pPr algn="l">
              <a:lnSpc>
                <a:spcPct val="118000"/>
              </a:lnSpc>
              <a:spcBef>
                <a:spcPts val="0"/>
              </a:spcBef>
              <a:spcAft>
                <a:spcPts val="1300"/>
              </a:spcAft>
            </a:pPr>
            <a:r>
              <a:rPr sz="2100" b="0" i="0">
                <a:solidFill>
                  <a:srgbClr val="1A1A1A"/>
                </a:solidFill>
                <a:latin typeface="Arial"/>
              </a:rPr>
              <a:t>The last bar matters most again: an overextended last bar closing near or at its low on high volume makes the pattern potentially more reliable (p. 215).</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Pattern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pattern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pattern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Chapter 3, "Gap".</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bullish multiple forms mirror the bearish ones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draws four basic multiple bar bullish reversal patterns in a downtrend (p. 215).</a:t>
            </a:r>
          </a:p>
          <a:p>
            <a:pPr algn="l">
              <a:lnSpc>
                <a:spcPct val="118000"/>
              </a:lnSpc>
              <a:spcBef>
                <a:spcPts val="0"/>
              </a:spcBef>
              <a:spcAft>
                <a:spcPts val="1300"/>
              </a:spcAft>
            </a:pPr>
            <a:r>
              <a:rPr sz="2100" b="0" i="0">
                <a:solidFill>
                  <a:srgbClr val="1A1A1A"/>
                </a:solidFill>
                <a:latin typeface="Arial"/>
              </a:rPr>
              <a:t>In pattern 2 the wide middle bars can occur on high or above average volume, indicating bullishness. Narrow middle bars on low volume are also a sign of potential bullishness (p. 216).</a:t>
            </a:r>
          </a:p>
          <a:p>
            <a:pPr algn="l">
              <a:lnSpc>
                <a:spcPct val="118000"/>
              </a:lnSpc>
              <a:spcBef>
                <a:spcPts val="0"/>
              </a:spcBef>
              <a:spcAft>
                <a:spcPts val="1300"/>
              </a:spcAft>
            </a:pPr>
            <a:r>
              <a:rPr sz="2100" b="0" i="0">
                <a:solidFill>
                  <a:srgbClr val="1A1A1A"/>
                </a:solidFill>
                <a:latin typeface="Arial"/>
              </a:rPr>
              <a:t>And a bullish pattern is potentially more reliable if the last bar is overextended and closes near or at its high on high volume (p. 216).</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79</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79</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pattern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pattern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pattern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pattern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79</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eight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 and 2: the swings get smaller and shorter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 decrease in price cycle amplitude: each swing covers less ground, say rises of 40 points shrinking to 30 (Chapter 5, "1 Cycle amplitude").</a:t>
            </a:r>
          </a:p>
          <a:p>
            <a:pPr algn="l">
              <a:lnSpc>
                <a:spcPct val="118000"/>
              </a:lnSpc>
              <a:spcBef>
                <a:spcPts val="0"/>
              </a:spcBef>
              <a:spcAft>
                <a:spcPts val="1300"/>
              </a:spcAft>
            </a:pPr>
            <a:r>
              <a:rPr sz="2100" b="0" i="0">
                <a:solidFill>
                  <a:srgbClr val="1A1A1A"/>
                </a:solidFill>
                <a:latin typeface="Arial"/>
              </a:rPr>
              <a:t>Characteristic 2, decrease in price cycle period: each swing takes less time, say 20 bars falling to 12 (Chapter 5, "2 Cycle period").</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3 and 4: pullbacks change and bars shrink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3, change in bar retracement symmetry: pullbacks that took 6, 6 and 5 bars suddenly take 2 (Chapter 5, "3 Bar retracement symmetry").</a:t>
            </a:r>
          </a:p>
          <a:p>
            <a:pPr algn="l">
              <a:lnSpc>
                <a:spcPct val="118000"/>
              </a:lnSpc>
              <a:spcBef>
                <a:spcPts val="0"/>
              </a:spcBef>
              <a:spcAft>
                <a:spcPts val="1300"/>
              </a:spcAft>
            </a:pPr>
            <a:r>
              <a:rPr sz="2100" b="0" i="0">
                <a:solidFill>
                  <a:srgbClr val="1A1A1A"/>
                </a:solidFill>
                <a:latin typeface="Arial"/>
              </a:rPr>
              <a:t>Characteristic 4, decrease in average bar range: bars that averaged PHP 3.00 from low to high now average PHP 2.00 (Chapter 5, "4 Average bar range").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5 and 6: the bars lose their quality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5, lack of the quality of price persistence: small, even bars of about PHP 1.00 give way to uneven ones of PHP 0.40, 2.50 and 0.80 (Chapter 5, "5 Price persistence").</a:t>
            </a:r>
          </a:p>
          <a:p>
            <a:pPr algn="l">
              <a:lnSpc>
                <a:spcPct val="118000"/>
              </a:lnSpc>
              <a:spcBef>
                <a:spcPts val="0"/>
              </a:spcBef>
              <a:spcAft>
                <a:spcPts val="1300"/>
              </a:spcAft>
            </a:pPr>
            <a:r>
              <a:rPr sz="2100" b="0" i="0">
                <a:solidFill>
                  <a:srgbClr val="1A1A1A"/>
                </a:solidFill>
                <a:latin typeface="Arial"/>
              </a:rPr>
              <a:t>Characteristic 6, decrease in average bar stochastic ratio: on average, closes sit lower inside their bars, say 0.80 falling to 0.40 (Chapter 5, "6 The average bar stochastic ratio").</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7 and 8: bodies shrink and the angle changes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7, decrease in average candlestick real body to range ratio: on average the bodies shrink inside their bars, say 0.60 falling to 0.25 (Chapter 5, "7 Real body to range ratio, BRR").</a:t>
            </a:r>
          </a:p>
          <a:p>
            <a:pPr algn="l">
              <a:lnSpc>
                <a:spcPct val="118000"/>
              </a:lnSpc>
              <a:spcBef>
                <a:spcPts val="0"/>
              </a:spcBef>
              <a:spcAft>
                <a:spcPts val="1300"/>
              </a:spcAft>
            </a:pPr>
            <a:r>
              <a:rPr sz="2100" b="0" i="0">
                <a:solidFill>
                  <a:srgbClr val="1A1A1A"/>
                </a:solidFill>
                <a:latin typeface="Arial"/>
              </a:rPr>
              <a:t>Characteristic 8, changes in angular symmetry and momentum: the trend's angle changes, say from 20 to 35 degrees. Chapter 5 said a steeper climb is generally bullish; Lim adds that a sudden parabolic jump is usually unsustainable and so potentially bearish (p. 218). He gives no cutoff angle (Chapter 5, "8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9 and 10: a barrier is near and the dips fade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9, proximity to a price barrier: price is near a strong support or resistance, say at PHP 59 under resistance at PHP 60 (Chapter 5, "9 Barrier proximity").</a:t>
            </a:r>
          </a:p>
          <a:p>
            <a:pPr algn="l">
              <a:lnSpc>
                <a:spcPct val="118000"/>
              </a:lnSpc>
              <a:spcBef>
                <a:spcPts val="0"/>
              </a:spcBef>
              <a:spcAft>
                <a:spcPts val="1300"/>
              </a:spcAft>
            </a:pPr>
            <a:r>
              <a:rPr sz="2100" b="0" i="0">
                <a:solidFill>
                  <a:srgbClr val="1A1A1A"/>
                </a:solidFill>
                <a:latin typeface="Arial"/>
              </a:rPr>
              <a:t>Characteristic 10, reduction in frequency and decrease in depth of trend-based oscillations: six dips of about 3 points become two dips of 1 point (Chapter 5, "10 Frequency and depth of oscillations").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11 and 12: longer pauses and a third gap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11, appearance of relatively larger and longer lasting consolidations: pauses of 3 bars give way to one of 12 bars (Chapter 5, "11 Size and duration of a consolidation").</a:t>
            </a:r>
          </a:p>
          <a:p>
            <a:pPr algn="l">
              <a:lnSpc>
                <a:spcPct val="118000"/>
              </a:lnSpc>
              <a:spcBef>
                <a:spcPts val="0"/>
              </a:spcBef>
              <a:spcAft>
                <a:spcPts val="1300"/>
              </a:spcAft>
            </a:pPr>
            <a:r>
              <a:rPr sz="2100" b="0" i="0">
                <a:solidFill>
                  <a:srgbClr val="1A1A1A"/>
                </a:solidFill>
                <a:latin typeface="Arial"/>
              </a:rPr>
              <a:t>Characteristic 12, appearance of an exhaustion gap: a third gap in the trend, say of PHP 0.80, after two earlier ones (Chapter 5, "12 Third gap exhaustion").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13 and 14: the range is spent, price overshoots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13, completion of the average range for the period under observation: the day has already travelled its whole average range, say all PHP 3.00 of it (Chapter 5, "13 Average period range").</a:t>
            </a:r>
          </a:p>
          <a:p>
            <a:pPr algn="l">
              <a:lnSpc>
                <a:spcPct val="118000"/>
              </a:lnSpc>
              <a:spcBef>
                <a:spcPts val="0"/>
              </a:spcBef>
              <a:spcAft>
                <a:spcPts val="1300"/>
              </a:spcAft>
            </a:pPr>
            <a:r>
              <a:rPr sz="2100" b="0" i="0">
                <a:solidFill>
                  <a:srgbClr val="1A1A1A"/>
                </a:solidFill>
                <a:latin typeface="Arial"/>
              </a:rPr>
              <a:t>Characteristic 14, overextended price action with respect to a price barrier: price spikes to PHP 61 above an uptrending overlay line at PHP 60, or above an upper band, as the next chart shows (Chapter 5, "14 Overextension past an overlay barrier").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Characteristics 15 and 16: extreme volume and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Characteristic 15, price accompanied by extremely high or low volume: say 5.0 million shares against an average of 1.2 million (Chapter 5, "15 Volume spread action").</a:t>
            </a:r>
          </a:p>
          <a:p>
            <a:pPr algn="l">
              <a:lnSpc>
                <a:spcPct val="118000"/>
              </a:lnSpc>
              <a:spcBef>
                <a:spcPts val="0"/>
              </a:spcBef>
              <a:spcAft>
                <a:spcPts val="1300"/>
              </a:spcAft>
            </a:pPr>
            <a:r>
              <a:rPr sz="2100" b="0" i="0">
                <a:solidFill>
                  <a:srgbClr val="1A1A1A"/>
                </a:solidFill>
                <a:latin typeface="Arial"/>
              </a:rPr>
              <a:t>Characteristic 16, standard divergences between price, volume, and oscillators: price makes a higher high while volume falls from 3.0 to 1.8 million (Chapter 5, "16 Volume and oscillator divergence").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Chapter 5 slides named above. The numbers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79</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those three marks are warnings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such rapid increases are usually unsustainable, so potentially bearish (p. 218).</a:t>
            </a:r>
          </a:p>
          <a:p>
            <a:pPr algn="l">
              <a:lnSpc>
                <a:spcPct val="118000"/>
              </a:lnSpc>
              <a:spcBef>
                <a:spcPts val="0"/>
              </a:spcBef>
              <a:spcAft>
                <a:spcPts val="1300"/>
              </a:spcAft>
            </a:pPr>
            <a:r>
              <a:rPr sz="2100" b="0" i="0">
                <a:solidFill>
                  <a:srgbClr val="1A1A1A"/>
                </a:solidFill>
                <a:latin typeface="Arial"/>
              </a:rPr>
              <a:t>A lack of oscillations is potentially bearish because there is little healthy profit-taking (p. 218).</a:t>
            </a:r>
          </a:p>
          <a:p>
            <a:pPr algn="l">
              <a:lnSpc>
                <a:spcPct val="118000"/>
              </a:lnSpc>
              <a:spcBef>
                <a:spcPts val="0"/>
              </a:spcBef>
              <a:spcAft>
                <a:spcPts val="1300"/>
              </a:spcAft>
            </a:pPr>
            <a:r>
              <a:rPr sz="2100" b="0" i="0">
                <a:solidFill>
                  <a:srgbClr val="1A1A1A"/>
                </a:solidFill>
                <a:latin typeface="Arial"/>
              </a:rPr>
              <a:t>The overextended bar is stretched past a volatility barrier, the Bollinger upper band, and would be even more bearish with extreme volume (p. 217). Chapter 7 names the Bollinger upper band but does not define it; read it as the overlay barrier from Chapter 5, "14 Overextension past an overlay barrier", and take no formula from this chapter.</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446416" y="3842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3502" y="439277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79</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79</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79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65</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an uptrend, buyers push price higher. A bearish key reversal breaks that habit: it makes a new high, then closes near or below the previous close.</a:t>
            </a:r>
          </a:p>
          <a:p>
            <a:pPr algn="l">
              <a:lnSpc>
                <a:spcPct val="105000"/>
              </a:lnSpc>
              <a:spcBef>
                <a:spcPts val="0"/>
              </a:spcBef>
              <a:spcAft>
                <a:spcPts val="1100"/>
              </a:spcAft>
            </a:pPr>
            <a:r>
              <a:rPr sz="17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Why it matters: it warns an uptrend may be running out of buyers. Lim says a wider bar may improve follow-through, but it is not a promise (p.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65</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6677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1540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640519" y="341170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07215" y="39972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65</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key reversal is the same rule in the opposite direction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 downtrend, a bullish key reversal makes a new low, then closes near or above the previous close.</a:t>
            </a:r>
          </a:p>
          <a:p>
            <a:pPr algn="l">
              <a:lnSpc>
                <a:spcPct val="105000"/>
              </a:lnSpc>
              <a:spcBef>
                <a:spcPts val="0"/>
              </a:spcBef>
              <a:spcAft>
                <a:spcPts val="1100"/>
              </a:spcAft>
            </a:pPr>
            <a:r>
              <a:rPr sz="1800" b="0" i="0">
                <a:solidFill>
                  <a:srgbClr val="1A1A1A"/>
                </a:solidFill>
                <a:latin typeface="Arial"/>
              </a:rPr>
              <a:t>With simple invented prices: yesterday's low was 41.00 and its close 41.50. Today it falls to a new low of 40.50 </a:t>
            </a:r>
            <a:r>
              <a:rPr sz="1800" b="1" i="0">
                <a:solidFill>
                  <a:srgbClr val="E09B00"/>
                </a:solidFill>
                <a:latin typeface="Arial"/>
              </a:rPr>
              <a:t>(1)</a:t>
            </a:r>
            <a:r>
              <a:rPr sz="1800" b="0" i="0">
                <a:solidFill>
                  <a:srgbClr val="1A1A1A"/>
                </a:solidFill>
                <a:latin typeface="Arial"/>
              </a:rPr>
              <a:t>, then closes at 43.20 </a:t>
            </a:r>
            <a:r>
              <a:rPr sz="1800" b="1" i="0">
                <a:solidFill>
                  <a:srgbClr val="C62828"/>
                </a:solidFill>
                <a:latin typeface="Arial"/>
              </a:rPr>
              <a:t>(2)</a:t>
            </a:r>
            <a:r>
              <a:rPr sz="1800" b="0" i="0">
                <a:solidFill>
                  <a:srgbClr val="1A1A1A"/>
                </a:solidFill>
                <a:latin typeface="Arial"/>
              </a:rPr>
              <a:t>, above yesterday's close of 41.50, on 4.0 million shares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In Lim's chart price then rebounds rapidly, but that is not a promise (p. 218).</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Lim (2016), p. 218, Figure 7.14. The figure shows the book's bullish converse.</a:t>
            </a:r>
          </a:p>
        </p:txBody>
      </p:sp>
      <p:sp>
        <p:nvSpPr>
          <p:cNvPr id="9" name="Rectangle 8"/>
          <p:cNvSpPr/>
          <p:nvPr/>
        </p:nvSpPr>
        <p:spPr>
          <a:xfrm>
            <a:off x="6217919" y="1810512"/>
            <a:ext cx="5653735" cy="345179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336791" y="1929384"/>
            <a:ext cx="5415991" cy="321405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5415991"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11111" y="2203703"/>
            <a:ext cx="4867351" cy="275685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3" name="Oval 12"/>
          <p:cNvSpPr/>
          <p:nvPr/>
        </p:nvSpPr>
        <p:spPr>
          <a:xfrm>
            <a:off x="8692748" y="4066730"/>
            <a:ext cx="189559" cy="160702"/>
          </a:xfrm>
          <a:prstGeom prst="ellipse">
            <a:avLst/>
          </a:prstGeom>
          <a:noFill/>
          <a:ln w="44450">
            <a:solidFill>
              <a:srgbClr val="E09B00"/>
            </a:solidFill>
          </a:ln>
        </p:spPr>
        <p:txBody>
          <a:bodyPr rtlCol="0" anchor="ctr"/>
          <a:lstStyle/>
          <a:p>
            <a:pPr algn="ctr"/>
          </a:p>
        </p:txBody>
      </p:sp>
      <p:sp>
        <p:nvSpPr>
          <p:cNvPr id="14" name="Oval 13"/>
          <p:cNvSpPr/>
          <p:nvPr/>
        </p:nvSpPr>
        <p:spPr>
          <a:xfrm>
            <a:off x="8746907" y="3873887"/>
            <a:ext cx="178727" cy="160702"/>
          </a:xfrm>
          <a:prstGeom prst="ellipse">
            <a:avLst/>
          </a:prstGeom>
          <a:noFill/>
          <a:ln w="44450">
            <a:solidFill>
              <a:srgbClr val="C62828"/>
            </a:solidFill>
          </a:ln>
        </p:spPr>
        <p:txBody>
          <a:bodyPr rtlCol="0" anchor="ctr"/>
          <a:lstStyle/>
          <a:p>
            <a:pPr algn="ctr"/>
          </a:p>
        </p:txBody>
      </p:sp>
      <p:sp>
        <p:nvSpPr>
          <p:cNvPr id="15" name="Oval 14"/>
          <p:cNvSpPr/>
          <p:nvPr/>
        </p:nvSpPr>
        <p:spPr>
          <a:xfrm>
            <a:off x="8708996" y="4323854"/>
            <a:ext cx="162479" cy="771373"/>
          </a:xfrm>
          <a:prstGeom prst="ellipse">
            <a:avLst/>
          </a:prstGeom>
          <a:noFill/>
          <a:ln w="44450">
            <a:solidFill>
              <a:srgbClr val="1F5FAD"/>
            </a:solidFill>
          </a:ln>
        </p:spPr>
        <p:txBody>
          <a:bodyPr rtlCol="0" anchor="ctr"/>
          <a:lstStyle/>
          <a:p>
            <a:pPr algn="ctr"/>
          </a:p>
        </p:txBody>
      </p:sp>
      <p:sp>
        <p:nvSpPr>
          <p:cNvPr id="16" name="Oval 15"/>
          <p:cNvSpPr/>
          <p:nvPr/>
        </p:nvSpPr>
        <p:spPr>
          <a:xfrm>
            <a:off x="8447620" y="406949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35059" y="37320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935059" y="439089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6217919" y="5353750"/>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worked PHP values are ours, invented to show the converse.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65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previous bar's high. Red </a:t>
            </a:r>
            <a:r>
              <a:rPr sz="1700" b="1" i="0">
                <a:solidFill>
                  <a:srgbClr val="C62828"/>
                </a:solidFill>
                <a:latin typeface="Arial"/>
              </a:rPr>
              <a:t>(2)</a:t>
            </a:r>
            <a:r>
              <a:rPr sz="1700" b="0" i="0">
                <a:solidFill>
                  <a:srgbClr val="1A1A1A"/>
                </a:solidFill>
                <a:latin typeface="Arial"/>
              </a:rPr>
              <a:t> marks the key reversal day's higher high. Blue </a:t>
            </a:r>
            <a:r>
              <a:rPr sz="1700" b="1" i="0">
                <a:solidFill>
                  <a:srgbClr val="1F5FAD"/>
                </a:solidFill>
                <a:latin typeface="Arial"/>
              </a:rPr>
              <a:t>(3)</a:t>
            </a:r>
            <a:r>
              <a:rPr sz="1700" b="0" i="0">
                <a:solidFill>
                  <a:srgbClr val="1A1A1A"/>
                </a:solidFill>
                <a:latin typeface="Arial"/>
              </a:rPr>
              <a:t> marks its close, below the previous close. Purple </a:t>
            </a:r>
            <a:r>
              <a:rPr sz="1700" b="1" i="0">
                <a:solidFill>
                  <a:srgbClr val="7B3FA0"/>
                </a:solidFill>
                <a:latin typeface="Arial"/>
              </a:rPr>
              <a:t>(4)</a:t>
            </a:r>
            <a:r>
              <a:rPr sz="1700" b="0" i="0">
                <a:solidFill>
                  <a:srgbClr val="1A1A1A"/>
                </a:solidFill>
                <a:latin typeface="Arial"/>
              </a:rPr>
              <a:t>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14352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240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240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3672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21626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30314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34658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9228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77987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5560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71033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10827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035040" y="5650991"/>
            <a:ext cx="592805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218).</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65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2000" b="0" i="0">
                <a:solidFill>
                  <a:srgbClr val="1A1A1A"/>
                </a:solidFill>
                <a:latin typeface="Arial"/>
              </a:rPr>
              <a:t>Lim's Figure 7.15 shows the market hovering near the key bar </a:t>
            </a:r>
            <a:r>
              <a:rPr sz="2000" b="1" i="0">
                <a:solidFill>
                  <a:srgbClr val="E09B00"/>
                </a:solidFill>
                <a:latin typeface="Arial"/>
              </a:rPr>
              <a:t>(1)</a:t>
            </a:r>
            <a:r>
              <a:rPr sz="2000" b="0" i="0">
                <a:solidFill>
                  <a:srgbClr val="1A1A1A"/>
                </a:solidFill>
                <a:latin typeface="Arial"/>
              </a:rPr>
              <a:t> before the later decline </a:t>
            </a:r>
            <a:r>
              <a:rPr sz="2000" b="1" i="0">
                <a:solidFill>
                  <a:srgbClr val="C62828"/>
                </a:solidFill>
                <a:latin typeface="Arial"/>
              </a:rPr>
              <a:t>(2)</a:t>
            </a:r>
            <a:r>
              <a:rPr sz="2000" b="0" i="0">
                <a:solidFill>
                  <a:srgbClr val="1A1A1A"/>
                </a:solidFill>
                <a:latin typeface="Arial"/>
              </a:rPr>
              <a:t> (p. 218).</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wide bar may make follow-through more reliable, but it does not guarantee it.</a:t>
            </a:r>
          </a:p>
        </p:txBody>
      </p:sp>
      <p:sp>
        <p:nvSpPr>
          <p:cNvPr id="10" name="Rectangle 9"/>
          <p:cNvSpPr/>
          <p:nvPr/>
        </p:nvSpPr>
        <p:spPr>
          <a:xfrm>
            <a:off x="6611718" y="1810512"/>
            <a:ext cx="486613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30590" y="1929384"/>
            <a:ext cx="462839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30590" y="1929384"/>
            <a:ext cx="46283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04910" y="2203703"/>
            <a:ext cx="40797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8981378" y="2302985"/>
            <a:ext cx="760908" cy="672413"/>
          </a:xfrm>
          <a:prstGeom prst="rect">
            <a:avLst/>
          </a:prstGeom>
          <a:noFill/>
          <a:ln w="44450">
            <a:solidFill>
              <a:srgbClr val="E09B00"/>
            </a:solidFill>
          </a:ln>
        </p:spPr>
        <p:txBody>
          <a:bodyPr rtlCol="0" anchor="ctr"/>
          <a:lstStyle/>
          <a:p>
            <a:pPr algn="ctr"/>
          </a:p>
        </p:txBody>
      </p:sp>
      <p:sp>
        <p:nvSpPr>
          <p:cNvPr id="15" name="Rectangle 14"/>
          <p:cNvSpPr/>
          <p:nvPr/>
        </p:nvSpPr>
        <p:spPr>
          <a:xfrm>
            <a:off x="9805695" y="2414996"/>
            <a:ext cx="602154" cy="1531627"/>
          </a:xfrm>
          <a:prstGeom prst="rect">
            <a:avLst/>
          </a:prstGeom>
          <a:noFill/>
          <a:ln w="44450">
            <a:solidFill>
              <a:srgbClr val="C62828"/>
            </a:solidFill>
          </a:ln>
        </p:spPr>
        <p:txBody>
          <a:bodyPr rtlCol="0" anchor="ctr"/>
          <a:lstStyle/>
          <a:p>
            <a:pPr algn="ctr"/>
          </a:p>
        </p:txBody>
      </p:sp>
      <p:sp>
        <p:nvSpPr>
          <p:cNvPr id="16" name="Oval 15"/>
          <p:cNvSpPr/>
          <p:nvPr/>
        </p:nvSpPr>
        <p:spPr>
          <a:xfrm>
            <a:off x="9156759" y="20812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88348" y="33512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7.15. The crop and marks are for teaching.</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Here is the bullish key reversal on the book's chart. Gold </a:t>
            </a:r>
            <a:r>
              <a:rPr sz="1700" b="1" i="0">
                <a:solidFill>
                  <a:srgbClr val="E09B00"/>
                </a:solidFill>
                <a:latin typeface="Arial"/>
              </a:rPr>
              <a:t>(1)</a:t>
            </a:r>
            <a:r>
              <a:rPr sz="1700" b="0" i="0">
                <a:solidFill>
                  <a:srgbClr val="1A1A1A"/>
                </a:solidFill>
                <a:latin typeface="Arial"/>
              </a:rPr>
              <a:t> marks the day's new low, red </a:t>
            </a:r>
            <a:r>
              <a:rPr sz="1700" b="1" i="0">
                <a:solidFill>
                  <a:srgbClr val="C62828"/>
                </a:solidFill>
                <a:latin typeface="Arial"/>
              </a:rPr>
              <a:t>(2)</a:t>
            </a:r>
            <a:r>
              <a:rPr sz="1700" b="0" i="0">
                <a:solidFill>
                  <a:srgbClr val="1A1A1A"/>
                </a:solidFill>
                <a:latin typeface="Arial"/>
              </a:rPr>
              <a:t> its close above the previous close, and blue </a:t>
            </a:r>
            <a:r>
              <a:rPr sz="1700" b="1" i="0">
                <a:solidFill>
                  <a:srgbClr val="1F5FAD"/>
                </a:solidFill>
                <a:latin typeface="Arial"/>
              </a:rPr>
              <a:t>(3)</a:t>
            </a:r>
            <a:r>
              <a:rPr sz="1700" b="0" i="0">
                <a:solidFill>
                  <a:srgbClr val="1A1A1A"/>
                </a:solidFill>
                <a:latin typeface="Arial"/>
              </a:rPr>
              <a:t> the high volume beneath it. After that bar, price rebounds rapidly.</a:t>
            </a:r>
          </a:p>
          <a:p>
            <a:pPr algn="l">
              <a:lnSpc>
                <a:spcPct val="105000"/>
              </a:lnSpc>
              <a:spcBef>
                <a:spcPts val="0"/>
              </a:spcBef>
              <a:spcAft>
                <a:spcPts val="1100"/>
              </a:spcAft>
            </a:pPr>
            <a:r>
              <a:rPr sz="17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1700" b="0" i="0">
                <a:solidFill>
                  <a:srgbClr val="1A1A1A"/>
                </a:solidFill>
                <a:latin typeface="Arial"/>
              </a:rPr>
              <a:t>A reversal warns about changing pressure; timing belongs to later price action.</a:t>
            </a:r>
          </a:p>
        </p:txBody>
      </p:sp>
      <p:sp>
        <p:nvSpPr>
          <p:cNvPr id="8" name="Rectangle 7"/>
          <p:cNvSpPr/>
          <p:nvPr/>
        </p:nvSpPr>
        <p:spPr>
          <a:xfrm>
            <a:off x="5303519" y="1810512"/>
            <a:ext cx="6110935" cy="37231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4853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30281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7977230" y="4247157"/>
            <a:ext cx="205561" cy="174268"/>
          </a:xfrm>
          <a:prstGeom prst="ellipse">
            <a:avLst/>
          </a:prstGeom>
          <a:noFill/>
          <a:ln w="44450">
            <a:solidFill>
              <a:srgbClr val="E09B00"/>
            </a:solidFill>
          </a:ln>
        </p:spPr>
        <p:txBody>
          <a:bodyPr rtlCol="0" anchor="ctr"/>
          <a:lstStyle/>
          <a:p>
            <a:pPr algn="ctr"/>
          </a:p>
        </p:txBody>
      </p:sp>
      <p:sp>
        <p:nvSpPr>
          <p:cNvPr id="13" name="Oval 12"/>
          <p:cNvSpPr/>
          <p:nvPr/>
        </p:nvSpPr>
        <p:spPr>
          <a:xfrm>
            <a:off x="8035961" y="4038035"/>
            <a:ext cx="193815" cy="174268"/>
          </a:xfrm>
          <a:prstGeom prst="ellipse">
            <a:avLst/>
          </a:prstGeom>
          <a:noFill/>
          <a:ln w="44450">
            <a:solidFill>
              <a:srgbClr val="C62828"/>
            </a:solidFill>
          </a:ln>
        </p:spPr>
        <p:txBody>
          <a:bodyPr rtlCol="0" anchor="ctr"/>
          <a:lstStyle/>
          <a:p>
            <a:pPr algn="ctr"/>
          </a:p>
        </p:txBody>
      </p:sp>
      <p:sp>
        <p:nvSpPr>
          <p:cNvPr id="14" name="Oval 13"/>
          <p:cNvSpPr/>
          <p:nvPr/>
        </p:nvSpPr>
        <p:spPr>
          <a:xfrm>
            <a:off x="7994849" y="4525987"/>
            <a:ext cx="176195" cy="836489"/>
          </a:xfrm>
          <a:prstGeom prst="ellipse">
            <a:avLst/>
          </a:prstGeom>
          <a:noFill/>
          <a:ln w="44450">
            <a:solidFill>
              <a:srgbClr val="1F5FAD"/>
            </a:solidFill>
          </a:ln>
        </p:spPr>
        <p:txBody>
          <a:bodyPr rtlCol="0" anchor="ctr"/>
          <a:lstStyle/>
          <a:p>
            <a:pPr algn="ctr"/>
          </a:p>
        </p:txBody>
      </p:sp>
      <p:sp>
        <p:nvSpPr>
          <p:cNvPr id="15" name="Oval 14"/>
          <p:cNvSpPr/>
          <p:nvPr/>
        </p:nvSpPr>
        <p:spPr>
          <a:xfrm>
            <a:off x="7720672" y="425941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249259" y="38934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249259" y="460795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250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crop and marks are for teaching.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7.16 shows a bullish key reversal with some of the 16 reversal characteristics around it (p. 219).</a:t>
            </a:r>
          </a:p>
          <a:p>
            <a:pPr algn="l">
              <a:lnSpc>
                <a:spcPct val="105000"/>
              </a:lnSpc>
              <a:spcBef>
                <a:spcPts val="0"/>
              </a:spcBef>
              <a:spcAft>
                <a:spcPts val="1100"/>
              </a:spcAft>
            </a:pPr>
            <a:r>
              <a:rPr sz="1700" b="0" i="0">
                <a:solidFill>
                  <a:srgbClr val="1A1A1A"/>
                </a:solidFill>
                <a:latin typeface="Arial"/>
              </a:rPr>
              <a:t>The bar forms below the lower Bollinger band </a:t>
            </a:r>
            <a:r>
              <a:rPr sz="1700" b="1" i="0">
                <a:solidFill>
                  <a:srgbClr val="E09B00"/>
                </a:solidFill>
                <a:latin typeface="Arial"/>
              </a:rPr>
              <a:t>(1)</a:t>
            </a:r>
            <a:r>
              <a:rPr sz="1700" b="0" i="0">
                <a:solidFill>
                  <a:srgbClr val="1A1A1A"/>
                </a:solidFill>
                <a:latin typeface="Arial"/>
              </a:rPr>
              <a:t>, which Lim reads as an overextended or oversold condition. It closes near its high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book draws Bollinger Bands but does not teach them in this chapter, so we read the band as a label, not a formula.</a:t>
            </a:r>
          </a:p>
        </p:txBody>
      </p:sp>
      <p:sp>
        <p:nvSpPr>
          <p:cNvPr id="8" name="Rectangle 7"/>
          <p:cNvSpPr/>
          <p:nvPr/>
        </p:nvSpPr>
        <p:spPr>
          <a:xfrm>
            <a:off x="5303519" y="1810512"/>
            <a:ext cx="6751015" cy="333744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09970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4250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price panel: the bullish key reversal bar forms below the lower Bollinger band and closes near its high.</a:t>
            </a:r>
          </a:p>
        </p:txBody>
      </p:sp>
      <p:sp>
        <p:nvSpPr>
          <p:cNvPr id="12" name="Oval 11"/>
          <p:cNvSpPr/>
          <p:nvPr/>
        </p:nvSpPr>
        <p:spPr>
          <a:xfrm>
            <a:off x="9402651" y="4330414"/>
            <a:ext cx="316544" cy="654967"/>
          </a:xfrm>
          <a:prstGeom prst="ellipse">
            <a:avLst/>
          </a:prstGeom>
          <a:noFill/>
          <a:ln w="44450">
            <a:solidFill>
              <a:srgbClr val="E09B00"/>
            </a:solidFill>
          </a:ln>
        </p:spPr>
        <p:txBody>
          <a:bodyPr rtlCol="0" anchor="ctr"/>
          <a:lstStyle/>
          <a:p>
            <a:pPr algn="ctr"/>
          </a:p>
        </p:txBody>
      </p:sp>
      <p:sp>
        <p:nvSpPr>
          <p:cNvPr id="13" name="Oval 12"/>
          <p:cNvSpPr/>
          <p:nvPr/>
        </p:nvSpPr>
        <p:spPr>
          <a:xfrm>
            <a:off x="9448244" y="3500933"/>
            <a:ext cx="270952" cy="436748"/>
          </a:xfrm>
          <a:prstGeom prst="ellipse">
            <a:avLst/>
          </a:prstGeom>
          <a:noFill/>
          <a:ln w="44450">
            <a:solidFill>
              <a:srgbClr val="C62828"/>
            </a:solidFill>
          </a:ln>
        </p:spPr>
        <p:txBody>
          <a:bodyPr rtlCol="0" anchor="ctr"/>
          <a:lstStyle/>
          <a:p>
            <a:pPr algn="ctr"/>
          </a:p>
        </p:txBody>
      </p:sp>
      <p:sp>
        <p:nvSpPr>
          <p:cNvPr id="14" name="Oval 13"/>
          <p:cNvSpPr/>
          <p:nvPr/>
        </p:nvSpPr>
        <p:spPr>
          <a:xfrm>
            <a:off x="9926013" y="461372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428399" y="323405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239399"/>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StochRSI and volume add to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lower panels of the same figure add two more warnings. StochRSI is at oversold </a:t>
            </a:r>
            <a:r>
              <a:rPr sz="1900" b="1" i="0">
                <a:solidFill>
                  <a:srgbClr val="1F5FAD"/>
                </a:solidFill>
                <a:latin typeface="Arial"/>
              </a:rPr>
              <a:t>(3)</a:t>
            </a:r>
            <a:r>
              <a:rPr sz="1900" b="0" i="0">
                <a:solidFill>
                  <a:srgbClr val="1A1A1A"/>
                </a:solidFill>
                <a:latin typeface="Arial"/>
              </a:rPr>
              <a:t>, and the key reversal bar trades on extreme volume </a:t>
            </a:r>
            <a:r>
              <a:rPr sz="1900" b="1" i="0">
                <a:solidFill>
                  <a:srgbClr val="7B3FA0"/>
                </a:solidFill>
                <a:latin typeface="Arial"/>
              </a:rPr>
              <a:t>(4)</a:t>
            </a:r>
            <a:r>
              <a:rPr sz="1900" b="0" i="0">
                <a:solidFill>
                  <a:srgbClr val="1A1A1A"/>
                </a:solidFill>
                <a:latin typeface="Arial"/>
              </a:rPr>
              <a:t> (p. 219).</a:t>
            </a:r>
          </a:p>
          <a:p>
            <a:pPr algn="l">
              <a:lnSpc>
                <a:spcPct val="105000"/>
              </a:lnSpc>
              <a:spcBef>
                <a:spcPts val="0"/>
              </a:spcBef>
              <a:spcAft>
                <a:spcPts val="1100"/>
              </a:spcAft>
            </a:pPr>
            <a:r>
              <a:rPr sz="1900" b="0" i="0">
                <a:solidFill>
                  <a:srgbClr val="1A1A1A"/>
                </a:solidFill>
                <a:latin typeface="Arial"/>
              </a:rPr>
              <a:t>Lim says these conditions point to a greater potential for a bullish reversal, and a close near the high on extreme volume suggests a selling climax (p. 219).</a:t>
            </a:r>
          </a:p>
        </p:txBody>
      </p:sp>
      <p:sp>
        <p:nvSpPr>
          <p:cNvPr id="8" name="Rectangle 7"/>
          <p:cNvSpPr/>
          <p:nvPr/>
        </p:nvSpPr>
        <p:spPr>
          <a:xfrm>
            <a:off x="5303519" y="1810512"/>
            <a:ext cx="6751015" cy="362668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38893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9317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StochRSI and volume panels: StochRSI is oversold and the key reversal bar has extreme volume.</a:t>
            </a:r>
          </a:p>
        </p:txBody>
      </p:sp>
      <p:sp>
        <p:nvSpPr>
          <p:cNvPr id="12" name="Oval 11"/>
          <p:cNvSpPr/>
          <p:nvPr/>
        </p:nvSpPr>
        <p:spPr>
          <a:xfrm>
            <a:off x="8577420" y="3108056"/>
            <a:ext cx="814158" cy="618819"/>
          </a:xfrm>
          <a:prstGeom prst="ellipse">
            <a:avLst/>
          </a:prstGeom>
          <a:noFill/>
          <a:ln w="44450">
            <a:solidFill>
              <a:srgbClr val="1F5FAD"/>
            </a:solidFill>
          </a:ln>
        </p:spPr>
        <p:txBody>
          <a:bodyPr rtlCol="0" anchor="ctr"/>
          <a:lstStyle/>
          <a:p>
            <a:pPr algn="ctr"/>
          </a:p>
        </p:txBody>
      </p:sp>
      <p:sp>
        <p:nvSpPr>
          <p:cNvPr id="13" name="Oval 12"/>
          <p:cNvSpPr/>
          <p:nvPr/>
        </p:nvSpPr>
        <p:spPr>
          <a:xfrm>
            <a:off x="9086106" y="3795671"/>
            <a:ext cx="305472" cy="1502993"/>
          </a:xfrm>
          <a:prstGeom prst="ellipse">
            <a:avLst/>
          </a:prstGeom>
          <a:noFill/>
          <a:ln w="44450">
            <a:solidFill>
              <a:srgbClr val="7B3FA0"/>
            </a:solidFill>
          </a:ln>
        </p:spPr>
        <p:txBody>
          <a:bodyPr rtlCol="0" anchor="ctr"/>
          <a:lstStyle/>
          <a:p>
            <a:pPr algn="ctr"/>
          </a:p>
        </p:txBody>
      </p:sp>
      <p:sp>
        <p:nvSpPr>
          <p:cNvPr id="14" name="Oval 13"/>
          <p:cNvSpPr/>
          <p:nvPr/>
        </p:nvSpPr>
        <p:spPr>
          <a:xfrm>
            <a:off x="8162220" y="324402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9485065" y="334230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TextBox 15"/>
          <p:cNvSpPr txBox="1"/>
          <p:nvPr/>
        </p:nvSpPr>
        <p:spPr>
          <a:xfrm>
            <a:off x="5303519" y="552863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two-day reversal uses two closing positions: first near the high, second near the low.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 The pair is a potential warning, not a guarantee (p. 219).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92790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24521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2999584" y="33529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88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65</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65</a:t>
            </a:r>
          </a:p>
        </p:txBody>
      </p:sp>
      <p:sp>
        <p:nvSpPr>
          <p:cNvPr id="7" name="TextBox 6"/>
          <p:cNvSpPr txBox="1"/>
          <p:nvPr/>
        </p:nvSpPr>
        <p:spPr>
          <a:xfrm>
            <a:off x="777240" y="1965960"/>
            <a:ext cx="3566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close near its high, and red </a:t>
            </a:r>
            <a:r>
              <a:rPr sz="1700" b="1" i="0">
                <a:solidFill>
                  <a:srgbClr val="C62828"/>
                </a:solidFill>
                <a:latin typeface="Arial"/>
              </a:rPr>
              <a:t>(2)</a:t>
            </a:r>
            <a:r>
              <a:rPr sz="1700" b="0" i="0">
                <a:solidFill>
                  <a:srgbClr val="1A1A1A"/>
                </a:solidFill>
                <a:latin typeface="Arial"/>
              </a:rPr>
              <a:t> the second close near its low.</a:t>
            </a:r>
          </a:p>
          <a:p>
            <a:pPr algn="l">
              <a:lnSpc>
                <a:spcPct val="105000"/>
              </a:lnSpc>
              <a:spcBef>
                <a:spcPts val="0"/>
              </a:spcBef>
              <a:spcAft>
                <a:spcPts val="1100"/>
              </a:spcAft>
            </a:pPr>
            <a:r>
              <a:rPr sz="1700" b="0" i="0">
                <a:solidFill>
                  <a:srgbClr val="1A1A1A"/>
                </a:solidFill>
                <a:latin typeface="Arial"/>
              </a:rPr>
              <a:t>The book says wider ranges would be preferable and labels bearish divergence with the commodity channel index (CCI) oscillator </a:t>
            </a:r>
            <a:r>
              <a:rPr sz="1700" b="1" i="0">
                <a:solidFill>
                  <a:srgbClr val="1F5FAD"/>
                </a:solidFill>
                <a:latin typeface="Arial"/>
              </a:rPr>
              <a:t>(3)</a:t>
            </a:r>
            <a:r>
              <a:rPr sz="1700" b="0" i="0">
                <a:solidFill>
                  <a:srgbClr val="1A1A1A"/>
                </a:solidFill>
                <a:latin typeface="Arial"/>
              </a:rPr>
              <a:t> (p. 221).</a:t>
            </a:r>
          </a:p>
          <a:p>
            <a:pPr algn="l">
              <a:lnSpc>
                <a:spcPct val="105000"/>
              </a:lnSpc>
              <a:spcBef>
                <a:spcPts val="0"/>
              </a:spcBef>
              <a:spcAft>
                <a:spcPts val="1100"/>
              </a:spcAft>
            </a:pPr>
            <a:r>
              <a:rPr sz="1700" b="0" i="0">
                <a:solidFill>
                  <a:srgbClr val="1A1A1A"/>
                </a:solidFill>
                <a:latin typeface="Arial"/>
              </a:rPr>
              <a:t>CCI is not defined in Chapter 7. Treat it as the book's supporting label, not a formula to calculate.</a:t>
            </a:r>
          </a:p>
        </p:txBody>
      </p:sp>
      <p:sp>
        <p:nvSpPr>
          <p:cNvPr id="8" name="Rectangle 7"/>
          <p:cNvSpPr/>
          <p:nvPr/>
        </p:nvSpPr>
        <p:spPr>
          <a:xfrm>
            <a:off x="5647027" y="1810512"/>
            <a:ext cx="551536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65899" y="1929384"/>
            <a:ext cx="527761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65899" y="1929384"/>
            <a:ext cx="527761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40219" y="2203703"/>
            <a:ext cx="472897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2" name="Oval 11"/>
          <p:cNvSpPr/>
          <p:nvPr/>
        </p:nvSpPr>
        <p:spPr>
          <a:xfrm>
            <a:off x="7813614" y="2140061"/>
            <a:ext cx="147773" cy="298460"/>
          </a:xfrm>
          <a:prstGeom prst="ellipse">
            <a:avLst/>
          </a:prstGeom>
          <a:noFill/>
          <a:ln w="44450">
            <a:solidFill>
              <a:srgbClr val="E09B00"/>
            </a:solidFill>
          </a:ln>
        </p:spPr>
        <p:txBody>
          <a:bodyPr rtlCol="0" anchor="ctr"/>
          <a:lstStyle/>
          <a:p>
            <a:pPr algn="ctr"/>
          </a:p>
        </p:txBody>
      </p:sp>
      <p:sp>
        <p:nvSpPr>
          <p:cNvPr id="13" name="Oval 12"/>
          <p:cNvSpPr/>
          <p:nvPr/>
        </p:nvSpPr>
        <p:spPr>
          <a:xfrm>
            <a:off x="7940277" y="2491191"/>
            <a:ext cx="147773" cy="298460"/>
          </a:xfrm>
          <a:prstGeom prst="ellipse">
            <a:avLst/>
          </a:prstGeom>
          <a:noFill/>
          <a:ln w="44450">
            <a:solidFill>
              <a:srgbClr val="C62828"/>
            </a:solidFill>
          </a:ln>
        </p:spPr>
        <p:txBody>
          <a:bodyPr rtlCol="0" anchor="ctr"/>
          <a:lstStyle/>
          <a:p>
            <a:pPr algn="ctr"/>
          </a:p>
        </p:txBody>
      </p:sp>
      <p:sp>
        <p:nvSpPr>
          <p:cNvPr id="14" name="Oval 13"/>
          <p:cNvSpPr/>
          <p:nvPr/>
        </p:nvSpPr>
        <p:spPr>
          <a:xfrm>
            <a:off x="7792503" y="5089550"/>
            <a:ext cx="364155" cy="316016"/>
          </a:xfrm>
          <a:prstGeom prst="ellipse">
            <a:avLst/>
          </a:prstGeom>
          <a:noFill/>
          <a:ln w="44450">
            <a:solidFill>
              <a:srgbClr val="1F5FAD"/>
            </a:solidFill>
          </a:ln>
        </p:spPr>
        <p:txBody>
          <a:bodyPr rtlCol="0" anchor="ctr"/>
          <a:lstStyle/>
          <a:p>
            <a:pPr algn="ctr"/>
          </a:p>
        </p:txBody>
      </p:sp>
      <p:sp>
        <p:nvSpPr>
          <p:cNvPr id="15" name="Oval 14"/>
          <p:cNvSpPr/>
          <p:nvPr/>
        </p:nvSpPr>
        <p:spPr>
          <a:xfrm>
            <a:off x="7239456" y="19952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14441"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239456" y="508516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663440" y="5650991"/>
            <a:ext cx="7482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221, Figure 7.17. The CCI label is reproduced as the book's observation, not taught as a formula.</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three-bar reversal with simple prices. Bar 1 runs from PHP 49.00 to PHP 52.20 and closes near its high, at PHP 52.00 </a:t>
            </a:r>
            <a:r>
              <a:rPr sz="1700" b="1" i="0">
                <a:solidFill>
                  <a:srgbClr val="E09B00"/>
                </a:solidFill>
                <a:latin typeface="Arial"/>
              </a:rPr>
              <a:t>(1)</a:t>
            </a:r>
            <a:r>
              <a:rPr sz="1700" b="0" i="0">
                <a:solidFill>
                  <a:srgbClr val="1A1A1A"/>
                </a:solidFill>
                <a:latin typeface="Arial"/>
              </a:rPr>
              <a:t>. Bar 2 is small: it stays between PHP 51.40 and PHP 52.40 and closes at PHP 51.70 </a:t>
            </a:r>
            <a:r>
              <a:rPr sz="1700" b="1" i="0">
                <a:solidFill>
                  <a:srgbClr val="C62828"/>
                </a:solidFill>
                <a:latin typeface="Arial"/>
              </a:rPr>
              <a:t>(2)</a:t>
            </a:r>
            <a:r>
              <a:rPr sz="1700" b="0" i="0">
                <a:solidFill>
                  <a:srgbClr val="1A1A1A"/>
                </a:solidFill>
                <a:latin typeface="Arial"/>
              </a:rPr>
              <a:t>. Bar 3 falls from PHP 52.10 to PHP 48.70 and closes near its low, at PHP 48.80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65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first close near the high and a third close near the low is the pattern Lim describes (p. 221).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326276" y="358850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2927908" y="354599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35539" y="4906225"/>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403691" y="3445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999584" y="33892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07215" y="474944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65</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third price bars. Purple </a:t>
            </a:r>
            <a:r>
              <a:rPr sz="1700" b="1" i="0">
                <a:solidFill>
                  <a:srgbClr val="7B3FA0"/>
                </a:solidFill>
                <a:latin typeface="Arial"/>
              </a:rPr>
              <a:t>(4)</a:t>
            </a:r>
            <a:r>
              <a:rPr sz="1700" b="0" i="0">
                <a:solidFill>
                  <a:srgbClr val="1A1A1A"/>
                </a:solidFill>
                <a:latin typeface="Arial"/>
              </a:rPr>
              <a:t> marks bearish +DM divergence, a book label not defined here.</a:t>
            </a:r>
          </a:p>
          <a:p>
            <a:pPr algn="l">
              <a:lnSpc>
                <a:spcPct val="105000"/>
              </a:lnSpc>
              <a:spcBef>
                <a:spcPts val="0"/>
              </a:spcBef>
              <a:spcAft>
                <a:spcPts val="1100"/>
              </a:spcAft>
            </a:pPr>
            <a:r>
              <a:rPr sz="1700" b="0" i="0">
                <a:solidFill>
                  <a:srgbClr val="1A1A1A"/>
                </a:solidFill>
                <a:latin typeface="Arial"/>
              </a:rPr>
              <a:t>The pattern can warn of changing pressure; the later decline is not guaranteed (p. 221).</a:t>
            </a:r>
          </a:p>
        </p:txBody>
      </p:sp>
      <p:sp>
        <p:nvSpPr>
          <p:cNvPr id="8" name="Rectangle 7"/>
          <p:cNvSpPr/>
          <p:nvPr/>
        </p:nvSpPr>
        <p:spPr>
          <a:xfrm>
            <a:off x="61022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211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211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954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9740843" y="2333183"/>
            <a:ext cx="73737" cy="438911"/>
          </a:xfrm>
          <a:prstGeom prst="rect">
            <a:avLst/>
          </a:prstGeom>
          <a:noFill/>
          <a:ln w="44450">
            <a:solidFill>
              <a:srgbClr val="E09B00"/>
            </a:solidFill>
          </a:ln>
        </p:spPr>
        <p:txBody>
          <a:bodyPr rtlCol="0" anchor="ctr"/>
          <a:lstStyle/>
          <a:p>
            <a:pPr algn="ctr"/>
          </a:p>
        </p:txBody>
      </p:sp>
      <p:sp>
        <p:nvSpPr>
          <p:cNvPr id="13" name="Rectangle 12"/>
          <p:cNvSpPr/>
          <p:nvPr/>
        </p:nvSpPr>
        <p:spPr>
          <a:xfrm>
            <a:off x="9819496" y="2333183"/>
            <a:ext cx="73737" cy="438911"/>
          </a:xfrm>
          <a:prstGeom prst="rect">
            <a:avLst/>
          </a:prstGeom>
          <a:noFill/>
          <a:ln w="44450">
            <a:solidFill>
              <a:srgbClr val="C62828"/>
            </a:solidFill>
          </a:ln>
        </p:spPr>
        <p:txBody>
          <a:bodyPr rtlCol="0" anchor="ctr"/>
          <a:lstStyle/>
          <a:p>
            <a:pPr algn="ctr"/>
          </a:p>
        </p:txBody>
      </p:sp>
      <p:sp>
        <p:nvSpPr>
          <p:cNvPr id="14" name="Rectangle 13"/>
          <p:cNvSpPr/>
          <p:nvPr/>
        </p:nvSpPr>
        <p:spPr>
          <a:xfrm>
            <a:off x="9898149" y="2333183"/>
            <a:ext cx="68821" cy="438911"/>
          </a:xfrm>
          <a:prstGeom prst="rect">
            <a:avLst/>
          </a:prstGeom>
          <a:noFill/>
          <a:ln w="44450">
            <a:solidFill>
              <a:srgbClr val="1F5FAD"/>
            </a:solidFill>
          </a:ln>
        </p:spPr>
        <p:txBody>
          <a:bodyPr rtlCol="0" anchor="ctr"/>
          <a:lstStyle/>
          <a:p>
            <a:pPr algn="ctr"/>
          </a:p>
        </p:txBody>
      </p:sp>
      <p:sp>
        <p:nvSpPr>
          <p:cNvPr id="15" name="Oval 14"/>
          <p:cNvSpPr/>
          <p:nvPr/>
        </p:nvSpPr>
        <p:spPr>
          <a:xfrm>
            <a:off x="96621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552462" y="283793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27883" y="308372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906401" y="308372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404987" y="4786701"/>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three-bar reversal is the converse of the bearish one, at the end of a downtrend, and Lim adds a point about volume (p. 221). With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 A quiet middle supports the reversal reading, but guarantees nothing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660904" y="5069694"/>
            <a:ext cx="310895" cy="316121"/>
          </a:xfrm>
          <a:prstGeom prst="rect">
            <a:avLst/>
          </a:prstGeom>
          <a:noFill/>
          <a:ln w="44450">
            <a:solidFill>
              <a:srgbClr val="E09B00"/>
            </a:solidFill>
          </a:ln>
        </p:spPr>
        <p:txBody>
          <a:bodyPr rtlCol="0" anchor="ctr"/>
          <a:lstStyle/>
          <a:p>
            <a:pPr algn="ctr"/>
          </a:p>
        </p:txBody>
      </p:sp>
      <p:sp>
        <p:nvSpPr>
          <p:cNvPr id="10" name="Rectangle 9"/>
          <p:cNvSpPr/>
          <p:nvPr/>
        </p:nvSpPr>
        <p:spPr>
          <a:xfrm>
            <a:off x="6214719" y="5291763"/>
            <a:ext cx="310895" cy="94052"/>
          </a:xfrm>
          <a:prstGeom prst="rect">
            <a:avLst/>
          </a:prstGeom>
          <a:noFill/>
          <a:ln w="44450">
            <a:solidFill>
              <a:srgbClr val="C62828"/>
            </a:solidFill>
          </a:ln>
        </p:spPr>
        <p:txBody>
          <a:bodyPr rtlCol="0" anchor="ctr"/>
          <a:lstStyle/>
          <a:p>
            <a:pPr algn="ctr"/>
          </a:p>
        </p:txBody>
      </p:sp>
      <p:sp>
        <p:nvSpPr>
          <p:cNvPr id="11" name="Rectangle 10"/>
          <p:cNvSpPr/>
          <p:nvPr/>
        </p:nvSpPr>
        <p:spPr>
          <a:xfrm>
            <a:off x="9768535" y="5056631"/>
            <a:ext cx="310895" cy="329184"/>
          </a:xfrm>
          <a:prstGeom prst="rect">
            <a:avLst/>
          </a:prstGeom>
          <a:noFill/>
          <a:ln w="44450">
            <a:solidFill>
              <a:srgbClr val="1F5FAD"/>
            </a:solidFill>
          </a:ln>
        </p:spPr>
        <p:txBody>
          <a:bodyPr rtlCol="0" anchor="ctr"/>
          <a:lstStyle/>
          <a:p>
            <a:pPr algn="ctr"/>
          </a:p>
        </p:txBody>
      </p:sp>
      <p:sp>
        <p:nvSpPr>
          <p:cNvPr id="12" name="Oval 11"/>
          <p:cNvSpPr/>
          <p:nvPr/>
        </p:nvSpPr>
        <p:spPr>
          <a:xfrm>
            <a:off x="2971800" y="509973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6653631" y="52107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9431" y="5093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65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Figure 7.19 the middle bar </a:t>
            </a:r>
            <a:r>
              <a:rPr sz="2000" b="1" i="0">
                <a:solidFill>
                  <a:srgbClr val="C62828"/>
                </a:solidFill>
                <a:latin typeface="Arial"/>
              </a:rPr>
              <a:t>(2)</a:t>
            </a:r>
            <a:r>
              <a:rPr sz="2000" b="0" i="0">
                <a:solidFill>
                  <a:srgbClr val="1A1A1A"/>
                </a:solidFill>
                <a:latin typeface="Arial"/>
              </a:rPr>
              <a:t> trades on below-average volume, while the first </a:t>
            </a:r>
            <a:r>
              <a:rPr sz="2000" b="1" i="0">
                <a:solidFill>
                  <a:srgbClr val="E09B00"/>
                </a:solidFill>
                <a:latin typeface="Arial"/>
              </a:rPr>
              <a:t>(1)</a:t>
            </a:r>
            <a:r>
              <a:rPr sz="2000" b="0" i="0">
                <a:solidFill>
                  <a:srgbClr val="1A1A1A"/>
                </a:solidFill>
                <a:latin typeface="Arial"/>
              </a:rPr>
              <a:t> and third </a:t>
            </a:r>
            <a:r>
              <a:rPr sz="2000" b="1" i="0">
                <a:solidFill>
                  <a:srgbClr val="1F5FAD"/>
                </a:solidFill>
                <a:latin typeface="Arial"/>
              </a:rPr>
              <a:t>(3)</a:t>
            </a:r>
            <a:r>
              <a:rPr sz="2000" b="0" i="0">
                <a:solidFill>
                  <a:srgbClr val="1A1A1A"/>
                </a:solidFill>
                <a:latin typeface="Arial"/>
              </a:rPr>
              <a:t> bars close on high volume (p. 221).</a:t>
            </a:r>
          </a:p>
          <a:p>
            <a:pPr algn="l">
              <a:lnSpc>
                <a:spcPct val="105000"/>
              </a:lnSpc>
              <a:spcBef>
                <a:spcPts val="0"/>
              </a:spcBef>
              <a:spcAft>
                <a:spcPts val="1100"/>
              </a:spcAft>
            </a:pPr>
            <a:r>
              <a:rPr sz="2000" b="0" i="0">
                <a:solidFill>
                  <a:srgbClr val="1A1A1A"/>
                </a:solidFill>
                <a:latin typeface="Arial"/>
              </a:rPr>
              <a:t>That is the same quiet middle between busier outer bars as our worked example. It is an observation about this chart, not a guarantee.</a:t>
            </a:r>
          </a:p>
        </p:txBody>
      </p:sp>
      <p:sp>
        <p:nvSpPr>
          <p:cNvPr id="8" name="Rectangle 7"/>
          <p:cNvSpPr/>
          <p:nvPr/>
        </p:nvSpPr>
        <p:spPr>
          <a:xfrm>
            <a:off x="6319328" y="1810512"/>
            <a:ext cx="47193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38200" y="1929384"/>
            <a:ext cx="44816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38200" y="1929384"/>
            <a:ext cx="44816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12520" y="2203703"/>
            <a:ext cx="39330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8208453" y="4190658"/>
            <a:ext cx="134449" cy="1211397"/>
          </a:xfrm>
          <a:prstGeom prst="ellipse">
            <a:avLst/>
          </a:prstGeom>
          <a:noFill/>
          <a:ln w="44450">
            <a:solidFill>
              <a:srgbClr val="E09B00"/>
            </a:solidFill>
          </a:ln>
        </p:spPr>
        <p:txBody>
          <a:bodyPr rtlCol="0" anchor="ctr"/>
          <a:lstStyle/>
          <a:p>
            <a:pPr algn="ctr"/>
          </a:p>
        </p:txBody>
      </p:sp>
      <p:sp>
        <p:nvSpPr>
          <p:cNvPr id="13" name="Oval 12"/>
          <p:cNvSpPr/>
          <p:nvPr/>
        </p:nvSpPr>
        <p:spPr>
          <a:xfrm>
            <a:off x="8365311" y="4503163"/>
            <a:ext cx="134449" cy="898891"/>
          </a:xfrm>
          <a:prstGeom prst="ellipse">
            <a:avLst/>
          </a:prstGeom>
          <a:noFill/>
          <a:ln w="44450">
            <a:solidFill>
              <a:srgbClr val="C62828"/>
            </a:solidFill>
          </a:ln>
        </p:spPr>
        <p:txBody>
          <a:bodyPr rtlCol="0" anchor="ctr"/>
          <a:lstStyle/>
          <a:p>
            <a:pPr algn="ctr"/>
          </a:p>
        </p:txBody>
      </p:sp>
      <p:sp>
        <p:nvSpPr>
          <p:cNvPr id="14" name="Oval 13"/>
          <p:cNvSpPr/>
          <p:nvPr/>
        </p:nvSpPr>
        <p:spPr>
          <a:xfrm>
            <a:off x="8522169" y="4271418"/>
            <a:ext cx="125486" cy="1130637"/>
          </a:xfrm>
          <a:prstGeom prst="ellipse">
            <a:avLst/>
          </a:prstGeom>
          <a:noFill/>
          <a:ln w="44450">
            <a:solidFill>
              <a:srgbClr val="1F5FAD"/>
            </a:solidFill>
          </a:ln>
        </p:spPr>
        <p:txBody>
          <a:bodyPr rtlCol="0" anchor="ctr"/>
          <a:lstStyle/>
          <a:p>
            <a:pPr algn="ctr"/>
          </a:p>
        </p:txBody>
      </p:sp>
      <p:sp>
        <p:nvSpPr>
          <p:cNvPr id="15" name="Oval 14"/>
          <p:cNvSpPr/>
          <p:nvPr/>
        </p:nvSpPr>
        <p:spPr>
          <a:xfrm>
            <a:off x="7941867" y="377193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210767" y="377193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658932" y="377193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7.20 shows a bullish three-bar reversal </a:t>
            </a:r>
            <a:r>
              <a:rPr sz="1900" b="1" i="0">
                <a:solidFill>
                  <a:srgbClr val="E09B00"/>
                </a:solidFill>
                <a:latin typeface="Arial"/>
              </a:rPr>
              <a:t>(1)</a:t>
            </a:r>
            <a:r>
              <a:rPr sz="1900" b="0" i="0">
                <a:solidFill>
                  <a:srgbClr val="1A1A1A"/>
                </a:solidFill>
                <a:latin typeface="Arial"/>
              </a:rPr>
              <a:t> on the daily chart of ITC Holdings (p. 222).</a:t>
            </a:r>
          </a:p>
          <a:p>
            <a:pPr algn="l">
              <a:lnSpc>
                <a:spcPct val="105000"/>
              </a:lnSpc>
              <a:spcBef>
                <a:spcPts val="0"/>
              </a:spcBef>
              <a:spcAft>
                <a:spcPts val="1100"/>
              </a:spcAft>
            </a:pPr>
            <a:r>
              <a:rPr sz="1900" b="0" i="0">
                <a:solidFill>
                  <a:srgbClr val="1A1A1A"/>
                </a:solidFill>
                <a:latin typeface="Arial"/>
              </a:rPr>
              <a:t>Lim notes that the last bar closes between the Bollinger bands </a:t>
            </a:r>
            <a:r>
              <a:rPr sz="1900" b="1" i="0">
                <a:solidFill>
                  <a:srgbClr val="C62828"/>
                </a:solidFill>
                <a:latin typeface="Arial"/>
              </a:rPr>
              <a:t>(2)</a:t>
            </a:r>
            <a:r>
              <a:rPr sz="1900" b="0" i="0">
                <a:solidFill>
                  <a:srgbClr val="1A1A1A"/>
                </a:solidFill>
                <a:latin typeface="Arial"/>
              </a:rPr>
              <a:t>, which is bullish, and that the pattern matches pattern 5 in Figure 7.9, which Part 2 called bullish triple form 5: the third bar engulfs the second (p. 222).</a:t>
            </a:r>
          </a:p>
        </p:txBody>
      </p:sp>
      <p:sp>
        <p:nvSpPr>
          <p:cNvPr id="8" name="Rectangle 7"/>
          <p:cNvSpPr/>
          <p:nvPr/>
        </p:nvSpPr>
        <p:spPr>
          <a:xfrm>
            <a:off x="5445740" y="1810512"/>
            <a:ext cx="64665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64612" y="1929384"/>
            <a:ext cx="62288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64612" y="1929384"/>
            <a:ext cx="62288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38932" y="2203703"/>
            <a:ext cx="5680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price panel: the three-bar bottom reversal and its last bar closing above the lower Bollinger band.</a:t>
            </a:r>
          </a:p>
        </p:txBody>
      </p:sp>
      <p:sp>
        <p:nvSpPr>
          <p:cNvPr id="12" name="Rectangle 11"/>
          <p:cNvSpPr/>
          <p:nvPr/>
        </p:nvSpPr>
        <p:spPr>
          <a:xfrm>
            <a:off x="8295954" y="4128859"/>
            <a:ext cx="383073" cy="1195947"/>
          </a:xfrm>
          <a:prstGeom prst="rect">
            <a:avLst/>
          </a:prstGeom>
          <a:noFill/>
          <a:ln w="44450">
            <a:solidFill>
              <a:srgbClr val="E09B00"/>
            </a:solidFill>
          </a:ln>
        </p:spPr>
        <p:txBody>
          <a:bodyPr rtlCol="0" anchor="ctr"/>
          <a:lstStyle/>
          <a:p>
            <a:pPr algn="ctr"/>
          </a:p>
        </p:txBody>
      </p:sp>
      <p:sp>
        <p:nvSpPr>
          <p:cNvPr id="13" name="Oval 12"/>
          <p:cNvSpPr/>
          <p:nvPr/>
        </p:nvSpPr>
        <p:spPr>
          <a:xfrm>
            <a:off x="8487179" y="4167484"/>
            <a:ext cx="239809" cy="462788"/>
          </a:xfrm>
          <a:prstGeom prst="ellipse">
            <a:avLst/>
          </a:prstGeom>
          <a:noFill/>
          <a:ln w="44450">
            <a:solidFill>
              <a:srgbClr val="C62828"/>
            </a:solidFill>
          </a:ln>
        </p:spPr>
        <p:txBody>
          <a:bodyPr rtlCol="0" anchor="ctr"/>
          <a:lstStyle/>
          <a:p>
            <a:pPr algn="ctr"/>
          </a:p>
        </p:txBody>
      </p:sp>
      <p:sp>
        <p:nvSpPr>
          <p:cNvPr id="14" name="Oval 13"/>
          <p:cNvSpPr/>
          <p:nvPr/>
        </p:nvSpPr>
        <p:spPr>
          <a:xfrm>
            <a:off x="7946416" y="45977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857071" y="382601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whole three-bar pattern forms while StochRSI is oversold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panel under the same chart shows that the entire pattern occurs on an oversold condition on the StochRSI </a:t>
            </a:r>
            <a:r>
              <a:rPr sz="2000" b="1" i="0">
                <a:solidFill>
                  <a:srgbClr val="1F5FAD"/>
                </a:solidFill>
                <a:latin typeface="Arial"/>
              </a:rPr>
              <a:t>(3)</a:t>
            </a:r>
            <a:r>
              <a:rPr sz="2000" b="0" i="0">
                <a:solidFill>
                  <a:srgbClr val="1A1A1A"/>
                </a:solidFill>
                <a:latin typeface="Arial"/>
              </a:rPr>
              <a:t> (p. 222).</a:t>
            </a:r>
          </a:p>
          <a:p>
            <a:pPr algn="l">
              <a:lnSpc>
                <a:spcPct val="105000"/>
              </a:lnSpc>
              <a:spcBef>
                <a:spcPts val="0"/>
              </a:spcBef>
              <a:spcAft>
                <a:spcPts val="1100"/>
              </a:spcAft>
            </a:pPr>
            <a:r>
              <a:rPr sz="2000" b="0" i="0">
                <a:solidFill>
                  <a:srgbClr val="1A1A1A"/>
                </a:solidFill>
                <a:latin typeface="Arial"/>
              </a:rPr>
              <a:t>The book gives no formula for StochRSI in this chapter, so this is context rather than a method to calculate.</a:t>
            </a:r>
          </a:p>
        </p:txBody>
      </p:sp>
      <p:sp>
        <p:nvSpPr>
          <p:cNvPr id="8" name="Rectangle 7"/>
          <p:cNvSpPr/>
          <p:nvPr/>
        </p:nvSpPr>
        <p:spPr>
          <a:xfrm>
            <a:off x="5303519" y="1810512"/>
            <a:ext cx="6751015" cy="205339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181564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35844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StochRSI panel: the oversold reading under the three-bar reversal.</a:t>
            </a:r>
          </a:p>
        </p:txBody>
      </p:sp>
      <p:sp>
        <p:nvSpPr>
          <p:cNvPr id="12" name="Oval 11"/>
          <p:cNvSpPr/>
          <p:nvPr/>
        </p:nvSpPr>
        <p:spPr>
          <a:xfrm>
            <a:off x="8128004" y="3059079"/>
            <a:ext cx="601174" cy="605336"/>
          </a:xfrm>
          <a:prstGeom prst="ellipse">
            <a:avLst/>
          </a:prstGeom>
          <a:noFill/>
          <a:ln w="44450">
            <a:solidFill>
              <a:srgbClr val="1F5FAD"/>
            </a:solidFill>
          </a:ln>
        </p:spPr>
        <p:txBody>
          <a:bodyPr rtlCol="0" anchor="ctr"/>
          <a:lstStyle/>
          <a:p>
            <a:pPr algn="ctr"/>
          </a:p>
        </p:txBody>
      </p:sp>
      <p:sp>
        <p:nvSpPr>
          <p:cNvPr id="13" name="Oval 12"/>
          <p:cNvSpPr/>
          <p:nvPr/>
        </p:nvSpPr>
        <p:spPr>
          <a:xfrm>
            <a:off x="7767515" y="315106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TextBox 13"/>
          <p:cNvSpPr txBox="1"/>
          <p:nvPr/>
        </p:nvSpPr>
        <p:spPr>
          <a:xfrm>
            <a:off x="5303519" y="395534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7.21 first shows a bullish three-bar reversal </a:t>
            </a:r>
            <a:r>
              <a:rPr sz="2000" b="1" i="0">
                <a:solidFill>
                  <a:srgbClr val="E09B00"/>
                </a:solidFill>
                <a:latin typeface="Arial"/>
              </a:rPr>
              <a:t>(1)</a:t>
            </a:r>
            <a:r>
              <a:rPr sz="2000" b="0" i="0">
                <a:solidFill>
                  <a:srgbClr val="1A1A1A"/>
                </a:solidFill>
                <a:latin typeface="Arial"/>
              </a:rPr>
              <a:t>, whose large third bar closes near its high </a:t>
            </a:r>
            <a:r>
              <a:rPr sz="2000" b="1" i="0">
                <a:solidFill>
                  <a:srgbClr val="C62828"/>
                </a:solidFill>
                <a:latin typeface="Arial"/>
              </a:rPr>
              <a:t>(2)</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Later, a separate outside day engulfs four preceding bars </a:t>
            </a:r>
            <a:r>
              <a:rPr sz="2000" b="1" i="0">
                <a:solidFill>
                  <a:srgbClr val="7B3FA0"/>
                </a:solidFill>
                <a:latin typeface="Arial"/>
              </a:rPr>
              <a:t>(4)</a:t>
            </a:r>
            <a:r>
              <a:rPr sz="2000" b="0" i="0">
                <a:solidFill>
                  <a:srgbClr val="1A1A1A"/>
                </a:solidFill>
                <a:latin typeface="Arial"/>
              </a:rPr>
              <a:t> and closes near its low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Keep the two apart: the outside day is a new event, not part of the three-bar count (p. 222).</a:t>
            </a:r>
          </a:p>
        </p:txBody>
      </p:sp>
      <p:sp>
        <p:nvSpPr>
          <p:cNvPr id="8" name="Rectangle 7"/>
          <p:cNvSpPr/>
          <p:nvPr/>
        </p:nvSpPr>
        <p:spPr>
          <a:xfrm>
            <a:off x="5790878" y="1810512"/>
            <a:ext cx="513621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9750" y="1929384"/>
            <a:ext cx="489847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9750" y="1929384"/>
            <a:ext cx="48984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84070" y="2203703"/>
            <a:ext cx="434983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2" name="Rectangle 11"/>
          <p:cNvSpPr/>
          <p:nvPr/>
        </p:nvSpPr>
        <p:spPr>
          <a:xfrm>
            <a:off x="7795662" y="3544580"/>
            <a:ext cx="342893" cy="948049"/>
          </a:xfrm>
          <a:prstGeom prst="rect">
            <a:avLst/>
          </a:prstGeom>
          <a:noFill/>
          <a:ln w="44450">
            <a:solidFill>
              <a:srgbClr val="E09B00"/>
            </a:solidFill>
          </a:ln>
        </p:spPr>
        <p:txBody>
          <a:bodyPr rtlCol="0" anchor="ctr"/>
          <a:lstStyle/>
          <a:p>
            <a:pPr algn="ctr"/>
          </a:p>
        </p:txBody>
      </p:sp>
      <p:sp>
        <p:nvSpPr>
          <p:cNvPr id="13" name="Oval 12"/>
          <p:cNvSpPr/>
          <p:nvPr/>
        </p:nvSpPr>
        <p:spPr>
          <a:xfrm>
            <a:off x="8016094" y="3597249"/>
            <a:ext cx="146954" cy="210677"/>
          </a:xfrm>
          <a:prstGeom prst="ellipse">
            <a:avLst/>
          </a:prstGeom>
          <a:noFill/>
          <a:ln w="44450">
            <a:solidFill>
              <a:srgbClr val="C62828"/>
            </a:solidFill>
          </a:ln>
        </p:spPr>
        <p:txBody>
          <a:bodyPr rtlCol="0" anchor="ctr"/>
          <a:lstStyle/>
          <a:p>
            <a:pPr algn="ctr"/>
          </a:p>
        </p:txBody>
      </p:sp>
      <p:sp>
        <p:nvSpPr>
          <p:cNvPr id="14" name="Oval 13"/>
          <p:cNvSpPr/>
          <p:nvPr/>
        </p:nvSpPr>
        <p:spPr>
          <a:xfrm>
            <a:off x="9314190" y="2561417"/>
            <a:ext cx="146954" cy="245790"/>
          </a:xfrm>
          <a:prstGeom prst="ellipse">
            <a:avLst/>
          </a:prstGeom>
          <a:noFill/>
          <a:ln w="44450">
            <a:solidFill>
              <a:srgbClr val="1F5FAD"/>
            </a:solidFill>
          </a:ln>
        </p:spPr>
        <p:txBody>
          <a:bodyPr rtlCol="0" anchor="ctr"/>
          <a:lstStyle/>
          <a:p>
            <a:pPr algn="ctr"/>
          </a:p>
        </p:txBody>
      </p:sp>
      <p:sp>
        <p:nvSpPr>
          <p:cNvPr id="15" name="Rectangle 14"/>
          <p:cNvSpPr/>
          <p:nvPr/>
        </p:nvSpPr>
        <p:spPr>
          <a:xfrm>
            <a:off x="9034977" y="2333183"/>
            <a:ext cx="264517" cy="438911"/>
          </a:xfrm>
          <a:prstGeom prst="rect">
            <a:avLst/>
          </a:prstGeom>
          <a:noFill/>
          <a:ln w="44450">
            <a:solidFill>
              <a:srgbClr val="7B3FA0"/>
            </a:solidFill>
          </a:ln>
        </p:spPr>
        <p:txBody>
          <a:bodyPr rtlCol="0" anchor="ctr"/>
          <a:lstStyle/>
          <a:p>
            <a:pPr algn="ctr"/>
          </a:p>
        </p:txBody>
      </p:sp>
      <p:sp>
        <p:nvSpPr>
          <p:cNvPr id="16" name="Oval 15"/>
          <p:cNvSpPr/>
          <p:nvPr/>
        </p:nvSpPr>
        <p:spPr>
          <a:xfrm>
            <a:off x="7538980" y="399665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02305" y="32241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449385" y="257458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8837076" y="217078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 Part 2's bullish triple form 6: a close above the middle bar's high (p. 223).</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a:t>
            </a:r>
          </a:p>
        </p:txBody>
      </p:sp>
      <p:sp>
        <p:nvSpPr>
          <p:cNvPr id="8" name="Rectangle 7"/>
          <p:cNvSpPr/>
          <p:nvPr/>
        </p:nvSpPr>
        <p:spPr>
          <a:xfrm>
            <a:off x="5656935" y="1810512"/>
            <a:ext cx="5404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75807" y="1929384"/>
            <a:ext cx="5166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75807" y="1929384"/>
            <a:ext cx="5166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50127" y="2203703"/>
            <a:ext cx="4617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2" name="Oval 11"/>
          <p:cNvSpPr/>
          <p:nvPr/>
        </p:nvSpPr>
        <p:spPr>
          <a:xfrm>
            <a:off x="8193663" y="4562856"/>
            <a:ext cx="103327" cy="512649"/>
          </a:xfrm>
          <a:prstGeom prst="ellipse">
            <a:avLst/>
          </a:prstGeom>
          <a:noFill/>
          <a:ln w="44450">
            <a:solidFill>
              <a:srgbClr val="E09B00"/>
            </a:solidFill>
          </a:ln>
        </p:spPr>
        <p:txBody>
          <a:bodyPr rtlCol="0" anchor="ctr"/>
          <a:lstStyle/>
          <a:p>
            <a:pPr algn="ctr"/>
          </a:p>
        </p:txBody>
      </p:sp>
      <p:sp>
        <p:nvSpPr>
          <p:cNvPr id="13" name="Rectangle 12"/>
          <p:cNvSpPr/>
          <p:nvPr/>
        </p:nvSpPr>
        <p:spPr>
          <a:xfrm>
            <a:off x="8296991" y="3923800"/>
            <a:ext cx="98160" cy="530205"/>
          </a:xfrm>
          <a:prstGeom prst="rect">
            <a:avLst/>
          </a:prstGeom>
          <a:noFill/>
          <a:ln w="44450">
            <a:solidFill>
              <a:srgbClr val="C62828"/>
            </a:solidFill>
          </a:ln>
        </p:spPr>
        <p:txBody>
          <a:bodyPr rtlCol="0" anchor="ctr"/>
          <a:lstStyle/>
          <a:p>
            <a:pPr algn="ctr"/>
          </a:p>
        </p:txBody>
      </p:sp>
      <p:sp>
        <p:nvSpPr>
          <p:cNvPr id="14" name="Oval 13"/>
          <p:cNvSpPr/>
          <p:nvPr/>
        </p:nvSpPr>
        <p:spPr>
          <a:xfrm>
            <a:off x="8307323" y="4854293"/>
            <a:ext cx="77495" cy="256324"/>
          </a:xfrm>
          <a:prstGeom prst="ellipse">
            <a:avLst/>
          </a:prstGeom>
          <a:noFill/>
          <a:ln w="44450">
            <a:solidFill>
              <a:srgbClr val="1F5FAD"/>
            </a:solidFill>
          </a:ln>
        </p:spPr>
        <p:txBody>
          <a:bodyPr rtlCol="0" anchor="ctr"/>
          <a:lstStyle/>
          <a:p>
            <a:pPr algn="ctr"/>
          </a:p>
        </p:txBody>
      </p:sp>
      <p:sp>
        <p:nvSpPr>
          <p:cNvPr id="15" name="Oval 14"/>
          <p:cNvSpPr/>
          <p:nvPr/>
        </p:nvSpPr>
        <p:spPr>
          <a:xfrm>
            <a:off x="7934705" y="458900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89289" y="36974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51341" y="4659233"/>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island reversal is a group of bars separated from surrounding price action by a gap up and a gap down. With simple invented prices, price gaps up from PHP 50.00 to PHP 50.80 </a:t>
            </a:r>
            <a:r>
              <a:rPr sz="1700" b="1" i="0">
                <a:solidFill>
                  <a:srgbClr val="E09B00"/>
                </a:solidFill>
                <a:latin typeface="Arial"/>
              </a:rPr>
              <a:t>(1)</a:t>
            </a:r>
            <a:r>
              <a:rPr sz="1700" b="0" i="0">
                <a:solidFill>
                  <a:srgbClr val="1A1A1A"/>
                </a:solidFill>
                <a:latin typeface="Arial"/>
              </a:rPr>
              <a:t>, forms the isolated bars </a:t>
            </a:r>
            <a:r>
              <a:rPr sz="1700" b="1" i="0">
                <a:solidFill>
                  <a:srgbClr val="C62828"/>
                </a:solidFill>
                <a:latin typeface="Arial"/>
              </a:rPr>
              <a:t>(2)</a:t>
            </a:r>
            <a:r>
              <a:rPr sz="1700" b="0" i="0">
                <a:solidFill>
                  <a:srgbClr val="1A1A1A"/>
                </a:solidFill>
                <a:latin typeface="Arial"/>
              </a:rPr>
              <a:t>, then gaps down to PHP 49.40 </a:t>
            </a:r>
            <a:r>
              <a:rPr sz="1700" b="1" i="0">
                <a:solidFill>
                  <a:srgbClr val="1F5FAD"/>
                </a:solidFill>
                <a:latin typeface="Arial"/>
              </a:rPr>
              <a:t>(3)</a:t>
            </a:r>
            <a:r>
              <a:rPr sz="1700" b="0" i="0">
                <a:solidFill>
                  <a:srgbClr val="1A1A1A"/>
                </a:solidFill>
                <a:latin typeface="Arial"/>
              </a:rPr>
              <a:t>. The two gaps create a potential warning. Gap terminology follows Chapter 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589983" y="369464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89235" y="401332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505858" y="343861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60618" y="376314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65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gap up, the island, and the gap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island reversal is a group of bars cut off from the rest of the chart by two gaps.</a:t>
            </a:r>
          </a:p>
          <a:p>
            <a:pPr algn="l">
              <a:lnSpc>
                <a:spcPct val="105000"/>
              </a:lnSpc>
              <a:spcBef>
                <a:spcPts val="0"/>
              </a:spcBef>
              <a:spcAft>
                <a:spcPts val="1100"/>
              </a:spcAft>
            </a:pPr>
            <a:r>
              <a:rPr sz="2000" b="0" i="0">
                <a:solidFill>
                  <a:srgbClr val="1A1A1A"/>
                </a:solidFill>
                <a:latin typeface="Arial"/>
              </a:rPr>
              <a:t>In Figure 7.23 the gap up </a:t>
            </a:r>
            <a:r>
              <a:rPr sz="2000" b="1" i="0">
                <a:solidFill>
                  <a:srgbClr val="E09B00"/>
                </a:solidFill>
                <a:latin typeface="Arial"/>
              </a:rPr>
              <a:t>(1)</a:t>
            </a:r>
            <a:r>
              <a:rPr sz="2000" b="0" i="0">
                <a:solidFill>
                  <a:srgbClr val="1A1A1A"/>
                </a:solidFill>
                <a:latin typeface="Arial"/>
              </a:rPr>
              <a:t> comes first, then the isolated island </a:t>
            </a:r>
            <a:r>
              <a:rPr sz="2000" b="1" i="0">
                <a:solidFill>
                  <a:srgbClr val="C62828"/>
                </a:solidFill>
                <a:latin typeface="Arial"/>
              </a:rPr>
              <a:t>(2)</a:t>
            </a:r>
            <a:r>
              <a:rPr sz="2000" b="0" i="0">
                <a:solidFill>
                  <a:srgbClr val="1A1A1A"/>
                </a:solidFill>
                <a:latin typeface="Arial"/>
              </a:rPr>
              <a:t>, then the gap down </a:t>
            </a:r>
            <a:r>
              <a:rPr sz="2000" b="1" i="0">
                <a:solidFill>
                  <a:srgbClr val="1F5FAD"/>
                </a:solidFill>
                <a:latin typeface="Arial"/>
              </a:rPr>
              <a:t>(3)</a:t>
            </a:r>
            <a:r>
              <a:rPr sz="2000" b="0" i="0">
                <a:solidFill>
                  <a:srgbClr val="1A1A1A"/>
                </a:solidFill>
                <a:latin typeface="Arial"/>
              </a:rPr>
              <a:t> (p. 223). Together the two gaps leave the island standing on its own.</a:t>
            </a:r>
          </a:p>
        </p:txBody>
      </p:sp>
      <p:sp>
        <p:nvSpPr>
          <p:cNvPr id="8" name="Rectangle 7"/>
          <p:cNvSpPr/>
          <p:nvPr/>
        </p:nvSpPr>
        <p:spPr>
          <a:xfrm>
            <a:off x="5303519" y="1810512"/>
            <a:ext cx="6751015" cy="336145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12370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6650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price panel: a gap up, an isolated group of bars, and a gap down.</a:t>
            </a:r>
          </a:p>
        </p:txBody>
      </p:sp>
      <p:sp>
        <p:nvSpPr>
          <p:cNvPr id="12" name="Oval 11"/>
          <p:cNvSpPr/>
          <p:nvPr/>
        </p:nvSpPr>
        <p:spPr>
          <a:xfrm>
            <a:off x="7576982" y="3591822"/>
            <a:ext cx="350413" cy="730635"/>
          </a:xfrm>
          <a:prstGeom prst="ellipse">
            <a:avLst/>
          </a:prstGeom>
          <a:noFill/>
          <a:ln w="44450">
            <a:solidFill>
              <a:srgbClr val="E09B00"/>
            </a:solidFill>
          </a:ln>
        </p:spPr>
        <p:txBody>
          <a:bodyPr rtlCol="0" anchor="ctr"/>
          <a:lstStyle/>
          <a:p>
            <a:pPr algn="ctr"/>
          </a:p>
        </p:txBody>
      </p:sp>
      <p:sp>
        <p:nvSpPr>
          <p:cNvPr id="13" name="Rectangle 12"/>
          <p:cNvSpPr/>
          <p:nvPr/>
        </p:nvSpPr>
        <p:spPr>
          <a:xfrm>
            <a:off x="7627134" y="1929384"/>
            <a:ext cx="1152197" cy="2347467"/>
          </a:xfrm>
          <a:prstGeom prst="rect">
            <a:avLst/>
          </a:prstGeom>
          <a:noFill/>
          <a:ln w="44450">
            <a:solidFill>
              <a:srgbClr val="C62828"/>
            </a:solidFill>
          </a:ln>
        </p:spPr>
        <p:txBody>
          <a:bodyPr rtlCol="0" anchor="ctr"/>
          <a:lstStyle/>
          <a:p>
            <a:pPr algn="ctr"/>
          </a:p>
        </p:txBody>
      </p:sp>
      <p:sp>
        <p:nvSpPr>
          <p:cNvPr id="14" name="Oval 13"/>
          <p:cNvSpPr/>
          <p:nvPr/>
        </p:nvSpPr>
        <p:spPr>
          <a:xfrm>
            <a:off x="8578723" y="3226348"/>
            <a:ext cx="351065" cy="730635"/>
          </a:xfrm>
          <a:prstGeom prst="ellipse">
            <a:avLst/>
          </a:prstGeom>
          <a:noFill/>
          <a:ln w="44450">
            <a:solidFill>
              <a:srgbClr val="1F5FAD"/>
            </a:solidFill>
          </a:ln>
        </p:spPr>
        <p:txBody>
          <a:bodyPr rtlCol="0" anchor="ctr"/>
          <a:lstStyle/>
          <a:p>
            <a:pPr algn="ctr"/>
          </a:p>
        </p:txBody>
      </p:sp>
      <p:sp>
        <p:nvSpPr>
          <p:cNvPr id="15" name="Oval 14"/>
          <p:cNvSpPr/>
          <p:nvPr/>
        </p:nvSpPr>
        <p:spPr>
          <a:xfrm>
            <a:off x="7066036" y="40299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20060" y="265993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71083" y="37560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263405"/>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adds volume and stochastic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 notes that the whole island forms on low volume </a:t>
            </a:r>
            <a:r>
              <a:rPr sz="1900" b="1" i="0">
                <a:solidFill>
                  <a:srgbClr val="7B3FA0"/>
                </a:solidFill>
                <a:latin typeface="Arial"/>
              </a:rPr>
              <a:t>(4)</a:t>
            </a:r>
            <a:r>
              <a:rPr sz="1900" b="0" i="0">
                <a:solidFill>
                  <a:srgbClr val="1A1A1A"/>
                </a:solidFill>
                <a:latin typeface="Arial"/>
              </a:rPr>
              <a:t>, which shows a lack of conviction by market participants, and on overbought conditions on the stochastic oscillator </a:t>
            </a:r>
            <a:r>
              <a:rPr sz="1900" b="1" i="0">
                <a:solidFill>
                  <a:srgbClr val="007A33"/>
                </a:solidFill>
                <a:latin typeface="Arial"/>
              </a:rPr>
              <a:t>(5)</a:t>
            </a:r>
            <a:r>
              <a:rPr sz="1900" b="0" i="0">
                <a:solidFill>
                  <a:srgbClr val="1A1A1A"/>
                </a:solidFill>
                <a:latin typeface="Arial"/>
              </a:rPr>
              <a:t> (p. 223).</a:t>
            </a:r>
          </a:p>
          <a:p>
            <a:pPr algn="l">
              <a:lnSpc>
                <a:spcPct val="105000"/>
              </a:lnSpc>
              <a:spcBef>
                <a:spcPts val="0"/>
              </a:spcBef>
              <a:spcAft>
                <a:spcPts val="1100"/>
              </a:spcAft>
            </a:pPr>
            <a:r>
              <a:rPr sz="1900" b="0" i="0">
                <a:solidFill>
                  <a:srgbClr val="1A1A1A"/>
                </a:solidFill>
                <a:latin typeface="Arial"/>
              </a:rPr>
              <a:t>No stochastic method is given in this chapter, so these labels are context, and the island remains a potential warning.</a:t>
            </a:r>
          </a:p>
        </p:txBody>
      </p:sp>
      <p:sp>
        <p:nvSpPr>
          <p:cNvPr id="8" name="Rectangle 7"/>
          <p:cNvSpPr/>
          <p:nvPr/>
        </p:nvSpPr>
        <p:spPr>
          <a:xfrm>
            <a:off x="5303519" y="1810512"/>
            <a:ext cx="6751015" cy="264609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240835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9511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volume and stochastic panels: low volume under the island and an overbought stochastic reading.</a:t>
            </a:r>
          </a:p>
        </p:txBody>
      </p:sp>
      <p:sp>
        <p:nvSpPr>
          <p:cNvPr id="12" name="Rectangle 11"/>
          <p:cNvSpPr/>
          <p:nvPr/>
        </p:nvSpPr>
        <p:spPr>
          <a:xfrm>
            <a:off x="8555926" y="2825532"/>
            <a:ext cx="1352155" cy="728045"/>
          </a:xfrm>
          <a:prstGeom prst="rect">
            <a:avLst/>
          </a:prstGeom>
          <a:noFill/>
          <a:ln w="44450">
            <a:solidFill>
              <a:srgbClr val="7B3FA0"/>
            </a:solidFill>
          </a:ln>
        </p:spPr>
        <p:txBody>
          <a:bodyPr rtlCol="0" anchor="ctr"/>
          <a:lstStyle/>
          <a:p>
            <a:pPr algn="ctr"/>
          </a:p>
        </p:txBody>
      </p:sp>
      <p:sp>
        <p:nvSpPr>
          <p:cNvPr id="13" name="Rectangle 12"/>
          <p:cNvSpPr/>
          <p:nvPr/>
        </p:nvSpPr>
        <p:spPr>
          <a:xfrm>
            <a:off x="8555926" y="3609693"/>
            <a:ext cx="737302" cy="559942"/>
          </a:xfrm>
          <a:prstGeom prst="rect">
            <a:avLst/>
          </a:prstGeom>
          <a:noFill/>
          <a:ln w="44450">
            <a:solidFill>
              <a:srgbClr val="007A33"/>
            </a:solidFill>
          </a:ln>
        </p:spPr>
        <p:txBody>
          <a:bodyPr rtlCol="0" anchor="ctr"/>
          <a:lstStyle/>
          <a:p>
            <a:pPr algn="ctr"/>
          </a:p>
        </p:txBody>
      </p:sp>
      <p:sp>
        <p:nvSpPr>
          <p:cNvPr id="14" name="Oval 13"/>
          <p:cNvSpPr/>
          <p:nvPr/>
        </p:nvSpPr>
        <p:spPr>
          <a:xfrm>
            <a:off x="9982679" y="271580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8200648" y="3892045"/>
            <a:ext cx="219456" cy="21945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6" name="TextBox 15"/>
          <p:cNvSpPr txBox="1"/>
          <p:nvPr/>
        </p:nvSpPr>
        <p:spPr>
          <a:xfrm>
            <a:off x="5303519" y="454805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Gap meaning points back to Chapter 3; stochastic is shown but not defined here.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179006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an island reversal?</a:t>
            </a:r>
          </a:p>
        </p:txBody>
      </p:sp>
      <p:sp>
        <p:nvSpPr>
          <p:cNvPr id="9" name="TextBox 8"/>
          <p:cNvSpPr txBox="1"/>
          <p:nvPr/>
        </p:nvSpPr>
        <p:spPr>
          <a:xfrm>
            <a:off x="1005840" y="182105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088513"/>
            <a:ext cx="457200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179953"/>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381121"/>
            <a:ext cx="41148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does Chapter 7 treat the overbought stochastic label beside the island?</a:t>
            </a:r>
          </a:p>
        </p:txBody>
      </p:sp>
      <p:sp>
        <p:nvSpPr>
          <p:cNvPr id="13" name="TextBox 12"/>
          <p:cNvSpPr txBox="1"/>
          <p:nvPr/>
        </p:nvSpPr>
        <p:spPr>
          <a:xfrm>
            <a:off x="1005840" y="4199128"/>
            <a:ext cx="411480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5669279" y="1207008"/>
            <a:ext cx="5745175" cy="287906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64131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8411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731589"/>
            <a:ext cx="296299" cy="617804"/>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84950"/>
          </a:xfrm>
          <a:prstGeom prst="rect">
            <a:avLst/>
          </a:prstGeom>
          <a:noFill/>
          <a:ln w="44450">
            <a:solidFill>
              <a:srgbClr val="C62828"/>
            </a:solidFill>
          </a:ln>
        </p:spPr>
        <p:txBody>
          <a:bodyPr rtlCol="0" anchor="ctr"/>
          <a:lstStyle/>
          <a:p>
            <a:pPr algn="ctr"/>
          </a:p>
        </p:txBody>
      </p:sp>
      <p:sp>
        <p:nvSpPr>
          <p:cNvPr id="20" name="Oval 19"/>
          <p:cNvSpPr/>
          <p:nvPr/>
        </p:nvSpPr>
        <p:spPr>
          <a:xfrm>
            <a:off x="8457053" y="2422554"/>
            <a:ext cx="296850" cy="617804"/>
          </a:xfrm>
          <a:prstGeom prst="ellipse">
            <a:avLst/>
          </a:prstGeom>
          <a:noFill/>
          <a:ln w="44450">
            <a:solidFill>
              <a:srgbClr val="1F5FAD"/>
            </a:solidFill>
          </a:ln>
        </p:spPr>
        <p:txBody>
          <a:bodyPr rtlCol="0" anchor="ctr"/>
          <a:lstStyle/>
          <a:p>
            <a:pPr algn="ctr"/>
          </a:p>
        </p:txBody>
      </p:sp>
      <p:sp>
        <p:nvSpPr>
          <p:cNvPr id="21" name="Oval 20"/>
          <p:cNvSpPr/>
          <p:nvPr/>
        </p:nvSpPr>
        <p:spPr>
          <a:xfrm>
            <a:off x="7161024" y="308514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2666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535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177509"/>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00215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0215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an island reversal?</a:t>
            </a:r>
          </a:p>
        </p:txBody>
      </p:sp>
      <p:sp>
        <p:nvSpPr>
          <p:cNvPr id="9" name="TextBox 8"/>
          <p:cNvSpPr txBox="1"/>
          <p:nvPr/>
        </p:nvSpPr>
        <p:spPr>
          <a:xfrm>
            <a:off x="1097280" y="1821053"/>
            <a:ext cx="40233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392043"/>
            <a:ext cx="457200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92043"/>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74923"/>
            <a:ext cx="40233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does Chapter 7 treat the overbought stochastic label beside the island?</a:t>
            </a:r>
          </a:p>
        </p:txBody>
      </p:sp>
      <p:sp>
        <p:nvSpPr>
          <p:cNvPr id="13" name="TextBox 12"/>
          <p:cNvSpPr txBox="1"/>
          <p:nvPr/>
        </p:nvSpPr>
        <p:spPr>
          <a:xfrm>
            <a:off x="1097280" y="4502658"/>
            <a:ext cx="40233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Lim shows it as supporting context, and Chapter 7 gives no stochastic method (p. 223).</a:t>
            </a:r>
          </a:p>
        </p:txBody>
      </p:sp>
      <p:sp>
        <p:nvSpPr>
          <p:cNvPr id="14" name="Rectangle 13"/>
          <p:cNvSpPr/>
          <p:nvPr/>
        </p:nvSpPr>
        <p:spPr>
          <a:xfrm>
            <a:off x="5669279" y="1207008"/>
            <a:ext cx="5745175" cy="280021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56247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0527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689627"/>
            <a:ext cx="296299" cy="599362"/>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25697"/>
          </a:xfrm>
          <a:prstGeom prst="rect">
            <a:avLst/>
          </a:prstGeom>
          <a:noFill/>
          <a:ln w="44450">
            <a:solidFill>
              <a:srgbClr val="C62828"/>
            </a:solidFill>
          </a:ln>
        </p:spPr>
        <p:txBody>
          <a:bodyPr rtlCol="0" anchor="ctr"/>
          <a:lstStyle/>
          <a:p>
            <a:pPr algn="ctr"/>
          </a:p>
        </p:txBody>
      </p:sp>
      <p:sp>
        <p:nvSpPr>
          <p:cNvPr id="20" name="Oval 19"/>
          <p:cNvSpPr/>
          <p:nvPr/>
        </p:nvSpPr>
        <p:spPr>
          <a:xfrm>
            <a:off x="8457053" y="2389818"/>
            <a:ext cx="296850" cy="599362"/>
          </a:xfrm>
          <a:prstGeom prst="ellipse">
            <a:avLst/>
          </a:prstGeom>
          <a:noFill/>
          <a:ln w="44450">
            <a:solidFill>
              <a:srgbClr val="1F5FAD"/>
            </a:solidFill>
          </a:ln>
        </p:spPr>
        <p:txBody>
          <a:bodyPr rtlCol="0" anchor="ctr"/>
          <a:lstStyle/>
          <a:p>
            <a:pPr algn="ctr"/>
          </a:p>
        </p:txBody>
      </p:sp>
      <p:sp>
        <p:nvSpPr>
          <p:cNvPr id="21" name="Oval 20"/>
          <p:cNvSpPr/>
          <p:nvPr/>
        </p:nvSpPr>
        <p:spPr>
          <a:xfrm>
            <a:off x="7161024" y="302935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05457"/>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04628"/>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09866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the island reversal, which gaps cut off from the chart,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outside bar with simple prices. The first two bars stay between PHP 48.00 and PHP 52.00. The third bar opens at PHP 52.00, runs up to PHP 53.00 </a:t>
            </a:r>
            <a:r>
              <a:rPr sz="1700" b="1" i="0">
                <a:solidFill>
                  <a:srgbClr val="C62828"/>
                </a:solidFill>
                <a:latin typeface="Arial"/>
              </a:rPr>
              <a:t>(2)</a:t>
            </a:r>
            <a:r>
              <a:rPr sz="1700" b="0" i="0">
                <a:solidFill>
                  <a:srgbClr val="1A1A1A"/>
                </a:solidFill>
                <a:latin typeface="Arial"/>
              </a:rPr>
              <a:t> and down to PHP 47.00, so its range </a:t>
            </a:r>
            <a:r>
              <a:rPr sz="1700" b="1" i="0">
                <a:solidFill>
                  <a:srgbClr val="E09B00"/>
                </a:solidFill>
                <a:latin typeface="Arial"/>
              </a:rPr>
              <a:t>(1)</a:t>
            </a:r>
            <a:r>
              <a:rPr sz="1700" b="0" i="0">
                <a:solidFill>
                  <a:srgbClr val="1A1A1A"/>
                </a:solidFill>
                <a:latin typeface="Arial"/>
              </a:rPr>
              <a:t> covers both earlier bars. It closes at PHP 47.50 </a:t>
            </a:r>
            <a:r>
              <a:rPr sz="1700" b="1" i="0">
                <a:solidFill>
                  <a:srgbClr val="1F5FAD"/>
                </a:solidFill>
                <a:latin typeface="Arial"/>
              </a:rPr>
              <a:t>(3)</a:t>
            </a:r>
            <a:r>
              <a:rPr sz="1700" b="0" i="0">
                <a:solidFill>
                  <a:srgbClr val="1A1A1A"/>
                </a:solidFill>
                <a:latin typeface="Arial"/>
              </a:rPr>
              <a:t>, near its low. Lim says an outside bar that closes at or near its low gives a more reliable reversal (p.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631375" y="3419856"/>
            <a:ext cx="0" cy="1069848"/>
          </a:xfrm>
          <a:prstGeom prst="line">
            <a:avLst/>
          </a:prstGeom>
          <a:ln w="44450">
            <a:solidFill>
              <a:srgbClr val="E09B00"/>
            </a:solidFill>
          </a:ln>
        </p:spPr>
      </p:cxn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35665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010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419988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defines it this way: “Outside bars are bars that engulf one or more preceding bars” (p. 223).</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11 bars inside the outside range, red </a:t>
            </a:r>
            <a:r>
              <a:rPr sz="1700" b="1" i="0">
                <a:solidFill>
                  <a:srgbClr val="C62828"/>
                </a:solidFill>
                <a:latin typeface="Arial"/>
              </a:rPr>
              <a:t>(2)</a:t>
            </a:r>
            <a:r>
              <a:rPr sz="1700" b="0" i="0">
                <a:solidFill>
                  <a:srgbClr val="1A1A1A"/>
                </a:solidFill>
                <a:latin typeface="Arial"/>
              </a:rPr>
              <a:t> the outside bar's full range, and blue </a:t>
            </a:r>
            <a:r>
              <a:rPr sz="1700" b="1" i="0">
                <a:solidFill>
                  <a:srgbClr val="1F5FAD"/>
                </a:solidFill>
                <a:latin typeface="Arial"/>
              </a:rPr>
              <a:t>(3)</a:t>
            </a:r>
            <a:r>
              <a:rPr sz="1700" b="0" i="0">
                <a:solidFill>
                  <a:srgbClr val="1A1A1A"/>
                </a:solidFill>
                <a:latin typeface="Arial"/>
              </a:rPr>
              <a:t> its close near the low.</a:t>
            </a:r>
          </a:p>
          <a:p>
            <a:pPr algn="l">
              <a:lnSpc>
                <a:spcPct val="105000"/>
              </a:lnSpc>
              <a:spcBef>
                <a:spcPts val="0"/>
              </a:spcBef>
              <a:spcAft>
                <a:spcPts val="1100"/>
              </a:spcAft>
            </a:pPr>
            <a:r>
              <a:rPr sz="1700" b="0" i="0">
                <a:solidFill>
                  <a:srgbClr val="1A1A1A"/>
                </a:solidFill>
                <a:latin typeface="Arial"/>
              </a:rPr>
              <a:t>The book's caption calls this an inside day reversal, but its text and the figure's own label describe an outside bar engulfing 11 bars, so we follow the text.</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94582" y="2122505"/>
            <a:ext cx="1016259" cy="1176284"/>
          </a:xfrm>
          <a:prstGeom prst="rect">
            <a:avLst/>
          </a:prstGeom>
          <a:noFill/>
          <a:ln w="44450">
            <a:solidFill>
              <a:srgbClr val="E09B00"/>
            </a:solidFill>
          </a:ln>
        </p:spPr>
        <p:txBody>
          <a:bodyPr rtlCol="0" anchor="ctr"/>
          <a:lstStyle/>
          <a:p>
            <a:pPr algn="ctr"/>
          </a:p>
        </p:txBody>
      </p:sp>
      <p:sp>
        <p:nvSpPr>
          <p:cNvPr id="13" name="Rectangle 12"/>
          <p:cNvSpPr/>
          <p:nvPr/>
        </p:nvSpPr>
        <p:spPr>
          <a:xfrm>
            <a:off x="8510842" y="2140061"/>
            <a:ext cx="128492" cy="1141171"/>
          </a:xfrm>
          <a:prstGeom prst="rect">
            <a:avLst/>
          </a:prstGeom>
          <a:noFill/>
          <a:ln w="44450">
            <a:solidFill>
              <a:srgbClr val="C62828"/>
            </a:solidFill>
          </a:ln>
        </p:spPr>
        <p:txBody>
          <a:bodyPr rtlCol="0" anchor="ctr"/>
          <a:lstStyle/>
          <a:p>
            <a:pPr algn="ctr"/>
          </a:p>
        </p:txBody>
      </p:sp>
      <p:sp>
        <p:nvSpPr>
          <p:cNvPr id="14" name="Oval 13"/>
          <p:cNvSpPr/>
          <p:nvPr/>
        </p:nvSpPr>
        <p:spPr>
          <a:xfrm>
            <a:off x="8505001" y="3017885"/>
            <a:ext cx="204420" cy="316016"/>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41582" y="26166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3716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contained bars. Red </a:t>
            </a:r>
            <a:r>
              <a:rPr sz="1800" b="1" i="0">
                <a:solidFill>
                  <a:srgbClr val="C62828"/>
                </a:solidFill>
                <a:latin typeface="Arial"/>
              </a:rPr>
              <a:t>(2)</a:t>
            </a:r>
            <a:r>
              <a:rPr sz="1800" b="0" i="0">
                <a:solidFill>
                  <a:srgbClr val="1A1A1A"/>
                </a:solidFill>
                <a:latin typeface="Arial"/>
              </a:rPr>
              <a:t> marks the trendline violation at the outside-bar break.</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82901" y="2210287"/>
            <a:ext cx="1109708" cy="1193840"/>
          </a:xfrm>
          <a:prstGeom prst="rect">
            <a:avLst/>
          </a:prstGeom>
          <a:noFill/>
          <a:ln w="44450">
            <a:solidFill>
              <a:srgbClr val="E09B00"/>
            </a:solidFill>
          </a:ln>
        </p:spPr>
        <p:txBody>
          <a:bodyPr rtlCol="0" anchor="ctr"/>
          <a:lstStyle/>
          <a:p>
            <a:pPr algn="ctr"/>
          </a:p>
        </p:txBody>
      </p:sp>
      <p:sp>
        <p:nvSpPr>
          <p:cNvPr id="13" name="Oval 12"/>
          <p:cNvSpPr/>
          <p:nvPr/>
        </p:nvSpPr>
        <p:spPr>
          <a:xfrm>
            <a:off x="8475798" y="2807208"/>
            <a:ext cx="350434" cy="491581"/>
          </a:xfrm>
          <a:prstGeom prst="ellipse">
            <a:avLst/>
          </a:prstGeom>
          <a:noFill/>
          <a:ln w="44450">
            <a:solidFill>
              <a:srgbClr val="C62828"/>
            </a:solidFill>
          </a:ln>
        </p:spPr>
        <p:txBody>
          <a:bodyPr rtlCol="0" anchor="ctr"/>
          <a:lstStyle/>
          <a:p>
            <a:pPr algn="ctr"/>
          </a:p>
        </p:txBody>
      </p:sp>
      <p:sp>
        <p:nvSpPr>
          <p:cNvPr id="14" name="Oval 13"/>
          <p:cNvSpPr/>
          <p:nvPr/>
        </p:nvSpPr>
        <p:spPr>
          <a:xfrm>
            <a:off x="8475798" y="3193450"/>
            <a:ext cx="350434" cy="280903"/>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7596"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600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high and low stay within the preceding bar's range, so price is pausing inside it.</a:t>
            </a:r>
          </a:p>
          <a:p>
            <a:pPr algn="l">
              <a:lnSpc>
                <a:spcPct val="118000"/>
              </a:lnSpc>
              <a:spcBef>
                <a:spcPts val="0"/>
              </a:spcBef>
              <a:spcAft>
                <a:spcPts val="1300"/>
              </a:spcAft>
            </a:pPr>
            <a:r>
              <a:rPr sz="2100" b="0" i="0">
                <a:solidFill>
                  <a:srgbClr val="1A1A1A"/>
                </a:solidFill>
                <a:latin typeface="Arial"/>
              </a:rPr>
              <a:t>Lim treats inside bars as reversal bars. The reversal is more reliable when the first bar is wide on high volume and the second is narrow on very low volume (p. 224).</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inside bar with simple prices. The first bar </a:t>
            </a:r>
            <a:r>
              <a:rPr sz="1700" b="1" i="0">
                <a:solidFill>
                  <a:srgbClr val="E09B00"/>
                </a:solidFill>
                <a:latin typeface="Arial"/>
              </a:rPr>
              <a:t>(1)</a:t>
            </a:r>
            <a:r>
              <a:rPr sz="1700" b="0" i="0">
                <a:solidFill>
                  <a:srgbClr val="1A1A1A"/>
                </a:solidFill>
                <a:latin typeface="Arial"/>
              </a:rPr>
              <a:t> is wide: it runs from PHP 48.00 to PHP 53.00 on 4.5 million shares. The second bar </a:t>
            </a:r>
            <a:r>
              <a:rPr sz="1700" b="1" i="0">
                <a:solidFill>
                  <a:srgbClr val="C62828"/>
                </a:solidFill>
                <a:latin typeface="Arial"/>
              </a:rPr>
              <a:t>(2)</a:t>
            </a:r>
            <a:r>
              <a:rPr sz="1700" b="0" i="0">
                <a:solidFill>
                  <a:srgbClr val="1A1A1A"/>
                </a:solidFill>
                <a:latin typeface="Arial"/>
              </a:rPr>
              <a:t> is narrow, from PHP 49.20 to PHP 52.50 on only 0.5 million shares, so it stays inside the first. The first bar also tests resistance at PHP 53.00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wide, busy first bar and a narrow, quiet second bar is the relationship Lim says makes the reversal more reliable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391088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83599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1440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23184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75187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4231189" y="327685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Lim's Figure 7.25 the two inside bars test the same resistance level (p. 224). 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those two inside-bar reversals.</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800" b="0" i="0">
                <a:solidFill>
                  <a:srgbClr val="1A1A1A"/>
                </a:solidFill>
                <a:latin typeface="Arial"/>
              </a:rPr>
              <a:t>Repeated failure at resistance warns of a possible reversal; it is not a promise.</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makes an inside-bar reversal more reliable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first bar should be as wide as possible on high volume, the second as narrow as possible on very low volume (p. 224).</a:t>
            </a:r>
          </a:p>
          <a:p>
            <a:pPr algn="l">
              <a:lnSpc>
                <a:spcPct val="105000"/>
              </a:lnSpc>
              <a:spcBef>
                <a:spcPts val="0"/>
              </a:spcBef>
              <a:spcAft>
                <a:spcPts val="1100"/>
              </a:spcAft>
            </a:pPr>
            <a:r>
              <a:rPr sz="1700" b="0" i="0">
                <a:solidFill>
                  <a:srgbClr val="1A1A1A"/>
                </a:solidFill>
                <a:latin typeface="Arial"/>
              </a:rPr>
              <a:t>This crop shows no volume. Gold </a:t>
            </a:r>
            <a:r>
              <a:rPr sz="1700" b="1" i="0">
                <a:solidFill>
                  <a:srgbClr val="E09B00"/>
                </a:solidFill>
                <a:latin typeface="Arial"/>
              </a:rPr>
              <a:t>(1)</a:t>
            </a:r>
            <a:r>
              <a:rPr sz="1700" b="0" i="0">
                <a:solidFill>
                  <a:srgbClr val="1A1A1A"/>
                </a:solidFill>
                <a:latin typeface="Arial"/>
              </a:rPr>
              <a:t> and red </a:t>
            </a:r>
            <a:r>
              <a:rPr sz="1700" b="1" i="0">
                <a:solidFill>
                  <a:srgbClr val="C62828"/>
                </a:solidFill>
                <a:latin typeface="Arial"/>
              </a:rPr>
              <a:t>(2)</a:t>
            </a:r>
            <a:r>
              <a:rPr sz="1700" b="0" i="0">
                <a:solidFill>
                  <a:srgbClr val="1A1A1A"/>
                </a:solidFill>
                <a:latin typeface="Arial"/>
              </a:rPr>
              <a:t> are the two inside bars at one resistance.</a:t>
            </a:r>
          </a:p>
          <a:p>
            <a:pPr algn="l">
              <a:lnSpc>
                <a:spcPct val="105000"/>
              </a:lnSpc>
              <a:spcBef>
                <a:spcPts val="0"/>
              </a:spcBef>
              <a:spcAft>
                <a:spcPts val="1100"/>
              </a:spcAft>
            </a:pPr>
            <a:r>
              <a:rPr sz="1700" b="0" i="0">
                <a:solidFill>
                  <a:srgbClr val="1A1A1A"/>
                </a:solidFill>
                <a:latin typeface="Arial"/>
              </a:rPr>
              <a:t>Both highs poke above the upper Bollinger band but close below it, a sign of price exhaustion. Blue </a:t>
            </a:r>
            <a:r>
              <a:rPr sz="1700" b="1" i="0">
                <a:solidFill>
                  <a:srgbClr val="1F5FAD"/>
                </a:solidFill>
                <a:latin typeface="Arial"/>
              </a:rPr>
              <a:t>(3)</a:t>
            </a:r>
            <a:r>
              <a:rPr sz="1700" b="0" i="0">
                <a:solidFill>
                  <a:srgbClr val="1A1A1A"/>
                </a:solidFill>
                <a:latin typeface="Arial"/>
              </a:rPr>
              <a:t> is the bearish StochRSI divergence (p. 225).</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7.26 shows three successively lower inside bars </a:t>
            </a:r>
            <a:r>
              <a:rPr sz="1800" b="1" i="0">
                <a:solidFill>
                  <a:srgbClr val="E09B00"/>
                </a:solidFill>
                <a:latin typeface="Arial"/>
              </a:rPr>
              <a:t>(1)</a:t>
            </a:r>
            <a:r>
              <a:rPr sz="1800" b="0" i="0">
                <a:solidFill>
                  <a:srgbClr val="1A1A1A"/>
                </a:solidFill>
                <a:latin typeface="Arial"/>
              </a:rPr>
              <a:t>, each below the Bollinger band. Lim reads that as potential price exhaustion, more so on bearish volume (p. 225).</a:t>
            </a:r>
          </a:p>
          <a:p>
            <a:pPr algn="l">
              <a:lnSpc>
                <a:spcPct val="105000"/>
              </a:lnSpc>
              <a:spcBef>
                <a:spcPts val="0"/>
              </a:spcBef>
              <a:spcAft>
                <a:spcPts val="1100"/>
              </a:spcAft>
            </a:pPr>
            <a:r>
              <a:rPr sz="1800" b="0" i="0">
                <a:solidFill>
                  <a:srgbClr val="1A1A1A"/>
                </a:solidFill>
                <a:latin typeface="Arial"/>
              </a:rPr>
              <a:t>Later a bearish outside bar forms </a:t>
            </a:r>
            <a:r>
              <a:rPr sz="1800" b="1" i="0">
                <a:solidFill>
                  <a:srgbClr val="C62828"/>
                </a:solidFill>
                <a:latin typeface="Arial"/>
              </a:rPr>
              <a:t>(2)</a:t>
            </a:r>
            <a:r>
              <a:rPr sz="1800" b="0" i="0">
                <a:solidFill>
                  <a:srgbClr val="1A1A1A"/>
                </a:solidFill>
                <a:latin typeface="Arial"/>
              </a:rPr>
              <a:t>, and prices decline (p. 225).</a:t>
            </a:r>
          </a:p>
          <a:p>
            <a:pPr algn="l">
              <a:lnSpc>
                <a:spcPct val="105000"/>
              </a:lnSpc>
              <a:spcBef>
                <a:spcPts val="0"/>
              </a:spcBef>
              <a:spcAft>
                <a:spcPts val="1100"/>
              </a:spcAft>
            </a:pPr>
            <a:r>
              <a:rPr sz="1800" b="0" i="0">
                <a:solidFill>
                  <a:srgbClr val="1A1A1A"/>
                </a:solidFill>
                <a:latin typeface="Arial"/>
              </a:rPr>
              <a:t>The figure shows no volume, so read this as a warning, not a promise.</a:t>
            </a:r>
          </a:p>
        </p:txBody>
      </p:sp>
      <p:sp>
        <p:nvSpPr>
          <p:cNvPr id="8" name="Rectangle 7"/>
          <p:cNvSpPr/>
          <p:nvPr/>
        </p:nvSpPr>
        <p:spPr>
          <a:xfrm>
            <a:off x="5303519" y="1810512"/>
            <a:ext cx="6110935" cy="28350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5972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400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124059" y="3734489"/>
            <a:ext cx="381757" cy="701264"/>
          </a:xfrm>
          <a:prstGeom prst="rect">
            <a:avLst/>
          </a:prstGeom>
          <a:noFill/>
          <a:ln w="44450">
            <a:solidFill>
              <a:srgbClr val="E09B00"/>
            </a:solidFill>
          </a:ln>
        </p:spPr>
        <p:txBody>
          <a:bodyPr rtlCol="0" anchor="ctr"/>
          <a:lstStyle/>
          <a:p>
            <a:pPr algn="ctr"/>
          </a:p>
        </p:txBody>
      </p:sp>
      <p:sp>
        <p:nvSpPr>
          <p:cNvPr id="13" name="Rectangle 12"/>
          <p:cNvSpPr/>
          <p:nvPr/>
        </p:nvSpPr>
        <p:spPr>
          <a:xfrm>
            <a:off x="10238408" y="2435852"/>
            <a:ext cx="234927" cy="493482"/>
          </a:xfrm>
          <a:prstGeom prst="rect">
            <a:avLst/>
          </a:prstGeom>
          <a:noFill/>
          <a:ln w="44450">
            <a:solidFill>
              <a:srgbClr val="C62828"/>
            </a:solidFill>
          </a:ln>
        </p:spPr>
        <p:txBody>
          <a:bodyPr rtlCol="0" anchor="ctr"/>
          <a:lstStyle/>
          <a:p>
            <a:pPr algn="ctr"/>
          </a:p>
        </p:txBody>
      </p:sp>
      <p:sp>
        <p:nvSpPr>
          <p:cNvPr id="14" name="Oval 13"/>
          <p:cNvSpPr/>
          <p:nvPr/>
        </p:nvSpPr>
        <p:spPr>
          <a:xfrm>
            <a:off x="8513553" y="36377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451706" y="23650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47369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This figure puts three reversal families beside one another. Gold </a:t>
            </a:r>
            <a:r>
              <a:rPr sz="1900" b="1" i="0">
                <a:solidFill>
                  <a:srgbClr val="E09B00"/>
                </a:solidFill>
                <a:latin typeface="Arial"/>
              </a:rPr>
              <a:t>(1)</a:t>
            </a:r>
            <a:r>
              <a:rPr sz="1900" b="0" i="0">
                <a:solidFill>
                  <a:srgbClr val="1A1A1A"/>
                </a:solidFill>
                <a:latin typeface="Arial"/>
              </a:rPr>
              <a:t> is an inside-bar reversal, red </a:t>
            </a:r>
            <a:r>
              <a:rPr sz="1900" b="1" i="0">
                <a:solidFill>
                  <a:srgbClr val="C62828"/>
                </a:solidFill>
                <a:latin typeface="Arial"/>
              </a:rPr>
              <a:t>(2)</a:t>
            </a:r>
            <a:r>
              <a:rPr sz="1900" b="0" i="0">
                <a:solidFill>
                  <a:srgbClr val="1A1A1A"/>
                </a:solidFill>
                <a:latin typeface="Arial"/>
              </a:rPr>
              <a:t> an outside-bar reversal, and blue </a:t>
            </a:r>
            <a:r>
              <a:rPr sz="1900" b="1" i="0">
                <a:solidFill>
                  <a:srgbClr val="1F5FAD"/>
                </a:solidFill>
                <a:latin typeface="Arial"/>
              </a:rPr>
              <a:t>(3)</a:t>
            </a:r>
            <a:r>
              <a:rPr sz="1900" b="0" i="0">
                <a:solidFill>
                  <a:srgbClr val="1A1A1A"/>
                </a:solidFill>
                <a:latin typeface="Arial"/>
              </a:rPr>
              <a:t> a three-bar reversal.</a:t>
            </a:r>
          </a:p>
          <a:p>
            <a:pPr algn="l">
              <a:lnSpc>
                <a:spcPct val="105000"/>
              </a:lnSpc>
              <a:spcBef>
                <a:spcPts val="0"/>
              </a:spcBef>
              <a:spcAft>
                <a:spcPts val="1100"/>
              </a:spcAft>
            </a:pPr>
            <a:r>
              <a:rPr sz="1900" b="0" i="0">
                <a:solidFill>
                  <a:srgbClr val="1A1A1A"/>
                </a:solidFill>
                <a:latin typeface="Arial"/>
              </a:rPr>
              <a:t>Lim notes that these bullish and bearish patterns line up with the stochastic oscillator's overbought and oversold readings (p. 225). Chapter 7 gives no stochastic method, so read them as context.</a:t>
            </a:r>
          </a:p>
        </p:txBody>
      </p:sp>
      <p:sp>
        <p:nvSpPr>
          <p:cNvPr id="8" name="Rectangle 7"/>
          <p:cNvSpPr/>
          <p:nvPr/>
        </p:nvSpPr>
        <p:spPr>
          <a:xfrm>
            <a:off x="5356094" y="1810512"/>
            <a:ext cx="600578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74966" y="1929384"/>
            <a:ext cx="576804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74966" y="1929384"/>
            <a:ext cx="576804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49286" y="2203703"/>
            <a:ext cx="521940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Rectangle 11"/>
          <p:cNvSpPr/>
          <p:nvPr/>
        </p:nvSpPr>
        <p:spPr>
          <a:xfrm>
            <a:off x="7407260" y="3509467"/>
            <a:ext cx="173041"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060560" y="2947659"/>
            <a:ext cx="144201" cy="386242"/>
          </a:xfrm>
          <a:prstGeom prst="rect">
            <a:avLst/>
          </a:prstGeom>
          <a:noFill/>
          <a:ln w="44450">
            <a:solidFill>
              <a:srgbClr val="C62828"/>
            </a:solidFill>
          </a:ln>
        </p:spPr>
        <p:txBody>
          <a:bodyPr rtlCol="0" anchor="ctr"/>
          <a:lstStyle/>
          <a:p>
            <a:pPr algn="ctr"/>
          </a:p>
        </p:txBody>
      </p:sp>
      <p:sp>
        <p:nvSpPr>
          <p:cNvPr id="14" name="Rectangle 13"/>
          <p:cNvSpPr/>
          <p:nvPr/>
        </p:nvSpPr>
        <p:spPr>
          <a:xfrm>
            <a:off x="8849271" y="3965935"/>
            <a:ext cx="144201" cy="438912"/>
          </a:xfrm>
          <a:prstGeom prst="rect">
            <a:avLst/>
          </a:prstGeom>
          <a:noFill/>
          <a:ln w="44450">
            <a:solidFill>
              <a:srgbClr val="1F5FAD"/>
            </a:solidFill>
          </a:ln>
        </p:spPr>
        <p:txBody>
          <a:bodyPr rtlCol="0" anchor="ctr"/>
          <a:lstStyle/>
          <a:p>
            <a:pPr algn="ctr"/>
          </a:p>
        </p:txBody>
      </p:sp>
      <p:sp>
        <p:nvSpPr>
          <p:cNvPr id="15" name="Oval 14"/>
          <p:cNvSpPr/>
          <p:nvPr/>
        </p:nvSpPr>
        <p:spPr>
          <a:xfrm>
            <a:off x="7153331" y="346996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10394" y="28028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945" y="42073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the inside bar's Japanese candlestick equivalent is the Harami pattern (p. 225): a narrow candle inside the larger candle before it. Lim keeps the two rules separate.</a:t>
            </a:r>
          </a:p>
          <a:p>
            <a:pPr algn="l">
              <a:lnSpc>
                <a:spcPct val="118000"/>
              </a:lnSpc>
              <a:spcBef>
                <a:spcPts val="0"/>
              </a:spcBef>
              <a:spcAft>
                <a:spcPts val="1300"/>
              </a:spcAft>
            </a:pPr>
            <a:r>
              <a:rPr sz="2100" b="0" i="0">
                <a:solidFill>
                  <a:srgbClr val="1A1A1A"/>
                </a:solidFill>
                <a:latin typeface="Arial"/>
              </a:rPr>
              <a:t>Lim's rule is that the narrow bar's range is no more than one-fourth to one-third of the larger bar's (pp. 225 to 226). A 6.0 point bar allows only 1.5 to 2.0.</a:t>
            </a:r>
          </a:p>
          <a:p>
            <a:pPr algn="l">
              <a:lnSpc>
                <a:spcPct val="118000"/>
              </a:lnSpc>
              <a:spcBef>
                <a:spcPts val="0"/>
              </a:spcBef>
              <a:spcAft>
                <a:spcPts val="1300"/>
              </a:spcAft>
            </a:pPr>
            <a:r>
              <a:rPr sz="2100" b="0" i="0">
                <a:solidFill>
                  <a:srgbClr val="1A1A1A"/>
                </a:solidFill>
                <a:latin typeface="Arial"/>
              </a:rPr>
              <a:t>An inside bar has no such limit. Check the proportion before you say Harami.</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225 to 226. The 6.0-point example is ours, invented.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small must a Harami's narrow bar be?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(pp. 225 to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small must a Harami's narrow bar be?</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No more than one-fourth to one-third of the larger bar's range (pp. 225 to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move from containment to exhaustion. In an uptrend, an exhaustion bar opens above the previous high, is large in context, and closes near its low.</a:t>
            </a:r>
          </a:p>
          <a:p>
            <a:pPr algn="l">
              <a:lnSpc>
                <a:spcPct val="118000"/>
              </a:lnSpc>
              <a:spcBef>
                <a:spcPts val="0"/>
              </a:spcBef>
              <a:spcAft>
                <a:spcPts val="1300"/>
              </a:spcAft>
            </a:pPr>
            <a:r>
              <a:rPr sz="2100" b="0" i="0">
                <a:solidFill>
                  <a:srgbClr val="1A1A1A"/>
                </a:solidFill>
                <a:latin typeface="Arial"/>
              </a:rPr>
              <a:t>The next bar does not gap away from it. Lim uses those observations together to describe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exhaustion bar with simple prices. The previous bar reached a high of PHP 65.00 </a:t>
            </a:r>
            <a:r>
              <a:rPr sz="1700" b="1" i="0">
                <a:solidFill>
                  <a:srgbClr val="E09B00"/>
                </a:solidFill>
                <a:latin typeface="Arial"/>
              </a:rPr>
              <a:t>(1)</a:t>
            </a:r>
            <a:r>
              <a:rPr sz="1700" b="0" i="0">
                <a:solidFill>
                  <a:srgbClr val="1A1A1A"/>
                </a:solidFill>
                <a:latin typeface="Arial"/>
              </a:rPr>
              <a:t>. The exhaustion bar </a:t>
            </a:r>
            <a:r>
              <a:rPr sz="1700" b="1" i="0">
                <a:solidFill>
                  <a:srgbClr val="C62828"/>
                </a:solidFill>
                <a:latin typeface="Arial"/>
              </a:rPr>
              <a:t>(2)</a:t>
            </a:r>
            <a:r>
              <a:rPr sz="1700" b="0" i="0">
                <a:solidFill>
                  <a:srgbClr val="1A1A1A"/>
                </a:solidFill>
                <a:latin typeface="Arial"/>
              </a:rPr>
              <a:t> opens above it at PHP 65.40 and reaches PHP 66.20, then falls to close near its low at PHP 60.50. The next bar opens at PHP 60.20 </a:t>
            </a:r>
            <a:r>
              <a:rPr sz="1700" b="1" i="0">
                <a:solidFill>
                  <a:srgbClr val="1F5FAD"/>
                </a:solidFill>
                <a:latin typeface="Arial"/>
              </a:rPr>
              <a:t>(3)</a:t>
            </a:r>
            <a:r>
              <a:rPr sz="1700" b="0" i="0">
                <a:solidFill>
                  <a:srgbClr val="1A1A1A"/>
                </a:solidFill>
                <a:latin typeface="Arial"/>
              </a:rPr>
              <a:t>, inside that range, so there is no gap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38941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144060" y="3576561"/>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99858" y="38100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4231843" y="3492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bullish exhaustion case is in a downtrend. Gold </a:t>
            </a:r>
            <a:r>
              <a:rPr sz="1700" b="1" i="0">
                <a:solidFill>
                  <a:srgbClr val="E09B00"/>
                </a:solidFill>
                <a:latin typeface="Arial"/>
              </a:rPr>
              <a:t>(1)</a:t>
            </a:r>
            <a:r>
              <a:rPr sz="1700" b="0" i="0">
                <a:solidFill>
                  <a:srgbClr val="1A1A1A"/>
                </a:solidFill>
                <a:latin typeface="Arial"/>
              </a:rPr>
              <a:t> marks the gap before the bar, red </a:t>
            </a:r>
            <a:r>
              <a:rPr sz="1700" b="1" i="0">
                <a:solidFill>
                  <a:srgbClr val="C62828"/>
                </a:solidFill>
                <a:latin typeface="Arial"/>
              </a:rPr>
              <a:t>(2)</a:t>
            </a:r>
            <a:r>
              <a:rPr sz="1700" b="0" i="0">
                <a:solidFill>
                  <a:srgbClr val="1A1A1A"/>
                </a:solidFill>
                <a:latin typeface="Arial"/>
              </a:rPr>
              <a:t> the exhaustion bar, and blue </a:t>
            </a:r>
            <a:r>
              <a:rPr sz="1700" b="1" i="0">
                <a:solidFill>
                  <a:srgbClr val="1F5FAD"/>
                </a:solidFill>
                <a:latin typeface="Arial"/>
              </a:rPr>
              <a:t>(3)</a:t>
            </a:r>
            <a:r>
              <a:rPr sz="1700" b="0" i="0">
                <a:solidFill>
                  <a:srgbClr val="1A1A1A"/>
                </a:solidFill>
                <a:latin typeface="Arial"/>
              </a:rPr>
              <a:t> the later rebound.</a:t>
            </a:r>
          </a:p>
          <a:p>
            <a:pPr algn="l">
              <a:lnSpc>
                <a:spcPct val="105000"/>
              </a:lnSpc>
              <a:spcBef>
                <a:spcPts val="0"/>
              </a:spcBef>
              <a:spcAft>
                <a:spcPts val="1100"/>
              </a:spcAft>
            </a:pPr>
            <a:r>
              <a:rPr sz="17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700" b="0" i="0">
                <a:solidFill>
                  <a:srgbClr val="1A1A1A"/>
                </a:solidFill>
                <a:latin typeface="Arial"/>
              </a:rPr>
              <a:t>The prior gap is visible, but Lim's rule concerns the absence of a gap after the exhaustion bar (p. 226).</a:t>
            </a:r>
          </a:p>
        </p:txBody>
      </p:sp>
      <p:sp>
        <p:nvSpPr>
          <p:cNvPr id="8" name="Rectangle 7"/>
          <p:cNvSpPr/>
          <p:nvPr/>
        </p:nvSpPr>
        <p:spPr>
          <a:xfrm>
            <a:off x="5303519" y="1810512"/>
            <a:ext cx="6110935" cy="285177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1403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568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358987" y="3288680"/>
            <a:ext cx="352391" cy="235262"/>
          </a:xfrm>
          <a:prstGeom prst="ellipse">
            <a:avLst/>
          </a:prstGeom>
          <a:noFill/>
          <a:ln w="44450">
            <a:solidFill>
              <a:srgbClr val="E09B00"/>
            </a:solidFill>
          </a:ln>
        </p:spPr>
        <p:txBody>
          <a:bodyPr rtlCol="0" anchor="ctr"/>
          <a:lstStyle/>
          <a:p>
            <a:pPr algn="ctr"/>
          </a:p>
        </p:txBody>
      </p:sp>
      <p:sp>
        <p:nvSpPr>
          <p:cNvPr id="13" name="Rectangle 12"/>
          <p:cNvSpPr/>
          <p:nvPr/>
        </p:nvSpPr>
        <p:spPr>
          <a:xfrm>
            <a:off x="8564549" y="3393241"/>
            <a:ext cx="117463" cy="365964"/>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8828842" y="2792014"/>
            <a:ext cx="822247" cy="444385"/>
          </a:xfrm>
          <a:prstGeom prst="line">
            <a:avLst/>
          </a:prstGeom>
          <a:ln w="44450">
            <a:solidFill>
              <a:srgbClr val="1F5FAD"/>
            </a:solidFill>
            <a:tailEnd type="triangle" w="med" len="med"/>
          </a:ln>
        </p:spPr>
      </p:cxnSp>
      <p:sp>
        <p:nvSpPr>
          <p:cNvPr id="15" name="Oval 14"/>
          <p:cNvSpPr/>
          <p:nvPr/>
        </p:nvSpPr>
        <p:spPr>
          <a:xfrm>
            <a:off x="8014331" y="312667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89748" y="33880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688191" y="263000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5372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the bullish exhaustion converse appear?</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the bullish exhaustion converse appear?</a:t>
            </a:r>
          </a:p>
        </p:txBody>
      </p:sp>
      <p:sp>
        <p:nvSpPr>
          <p:cNvPr id="13" name="TextBox 12"/>
          <p:cNvSpPr txBox="1"/>
          <p:nvPr/>
        </p:nvSpPr>
        <p:spPr>
          <a:xfrm>
            <a:off x="1097280" y="475094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Lim says the reverse is true in a downtrend; Figure 7.28 shows it forming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emotion spike with simple prices. Bars 1, 2 and 4 are ordinary: each spans 3.0 points and trades 1.5 million shares. Bar 3 is the spike. It runs from PHP 62.00 to PHP 70.00, a range of 8.0 points </a:t>
            </a:r>
            <a:r>
              <a:rPr sz="1700" b="1" i="0">
                <a:solidFill>
                  <a:srgbClr val="E09B00"/>
                </a:solidFill>
                <a:latin typeface="Arial"/>
              </a:rPr>
              <a:t>(1)</a:t>
            </a:r>
            <a:r>
              <a:rPr sz="1700" b="0" i="0">
                <a:solidFill>
                  <a:srgbClr val="1A1A1A"/>
                </a:solidFill>
                <a:latin typeface="Arial"/>
              </a:rPr>
              <a:t>, and it trades 6.0 million shares </a:t>
            </a:r>
            <a:r>
              <a:rPr sz="1700" b="1" i="0">
                <a:solidFill>
                  <a:srgbClr val="C62828"/>
                </a:solidFill>
                <a:latin typeface="Arial"/>
              </a:rPr>
              <a:t>(2)</a:t>
            </a:r>
            <a:r>
              <a:rPr sz="1700" b="0" i="0">
                <a:solidFill>
                  <a:srgbClr val="1A1A1A"/>
                </a:solidFill>
                <a:latin typeface="Arial"/>
              </a:rPr>
              <a:t>, four times the ordinary volume. A wide range on high volume is exactly how Lim describes a price spike in an emotional market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74808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7482839" y="366396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7482839"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wide spike, red </a:t>
            </a:r>
            <a:r>
              <a:rPr sz="1800" b="1" i="0">
                <a:solidFill>
                  <a:srgbClr val="C62828"/>
                </a:solidFill>
                <a:latin typeface="Arial"/>
              </a:rPr>
              <a:t>(2)</a:t>
            </a:r>
            <a:r>
              <a:rPr sz="1800" b="0" i="0">
                <a:solidFill>
                  <a:srgbClr val="1A1A1A"/>
                </a:solidFill>
                <a:latin typeface="Arial"/>
              </a:rPr>
              <a:t> its high volume, and blue </a:t>
            </a:r>
            <a:r>
              <a:rPr sz="1800" b="1" i="0">
                <a:solidFill>
                  <a:srgbClr val="1F5FAD"/>
                </a:solidFill>
                <a:latin typeface="Arial"/>
              </a:rPr>
              <a:t>(3)</a:t>
            </a:r>
            <a:r>
              <a:rPr sz="1800" b="0" i="0">
                <a:solidFill>
                  <a:srgbClr val="1A1A1A"/>
                </a:solidFill>
                <a:latin typeface="Arial"/>
              </a:rPr>
              <a:t> the three-bar bearish reversal at the top.</a:t>
            </a:r>
          </a:p>
          <a:p>
            <a:pPr algn="l">
              <a:lnSpc>
                <a:spcPct val="105000"/>
              </a:lnSpc>
              <a:spcBef>
                <a:spcPts val="0"/>
              </a:spcBef>
              <a:spcAft>
                <a:spcPts val="1100"/>
              </a:spcAft>
            </a:pPr>
            <a:r>
              <a:rPr sz="1800" b="0" i="0">
                <a:solidFill>
                  <a:srgbClr val="1A1A1A"/>
                </a:solidFill>
                <a:latin typeface="Arial"/>
              </a:rPr>
              <a:t>The wide range and high volume explain the name. The reversal context is a warning, not a prediction.</a:t>
            </a:r>
          </a:p>
        </p:txBody>
      </p:sp>
      <p:sp>
        <p:nvSpPr>
          <p:cNvPr id="8" name="Rectangle 7"/>
          <p:cNvSpPr/>
          <p:nvPr/>
        </p:nvSpPr>
        <p:spPr>
          <a:xfrm>
            <a:off x="5364626" y="1810512"/>
            <a:ext cx="59887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83498" y="1929384"/>
            <a:ext cx="57509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3498" y="1929384"/>
            <a:ext cx="57509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57818" y="2203703"/>
            <a:ext cx="52023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7783889" y="2631643"/>
            <a:ext cx="402568" cy="1158727"/>
          </a:xfrm>
          <a:prstGeom prst="ellipse">
            <a:avLst/>
          </a:prstGeom>
          <a:noFill/>
          <a:ln w="44450">
            <a:solidFill>
              <a:srgbClr val="E09B00"/>
            </a:solidFill>
          </a:ln>
        </p:spPr>
        <p:txBody>
          <a:bodyPr rtlCol="0" anchor="ctr"/>
          <a:lstStyle/>
          <a:p>
            <a:pPr algn="ctr"/>
          </a:p>
        </p:txBody>
      </p:sp>
      <p:sp>
        <p:nvSpPr>
          <p:cNvPr id="13" name="Oval 12"/>
          <p:cNvSpPr/>
          <p:nvPr/>
        </p:nvSpPr>
        <p:spPr>
          <a:xfrm>
            <a:off x="7898909" y="4562856"/>
            <a:ext cx="115019" cy="807598"/>
          </a:xfrm>
          <a:prstGeom prst="ellipse">
            <a:avLst/>
          </a:prstGeom>
          <a:noFill/>
          <a:ln w="44450">
            <a:solidFill>
              <a:srgbClr val="C62828"/>
            </a:solidFill>
          </a:ln>
        </p:spPr>
        <p:txBody>
          <a:bodyPr rtlCol="0" anchor="ctr"/>
          <a:lstStyle/>
          <a:p>
            <a:pPr algn="ctr"/>
          </a:p>
        </p:txBody>
      </p:sp>
      <p:sp>
        <p:nvSpPr>
          <p:cNvPr id="14" name="Oval 13"/>
          <p:cNvSpPr/>
          <p:nvPr/>
        </p:nvSpPr>
        <p:spPr>
          <a:xfrm>
            <a:off x="9739222" y="2140061"/>
            <a:ext cx="460078" cy="491581"/>
          </a:xfrm>
          <a:prstGeom prst="ellipse">
            <a:avLst/>
          </a:prstGeom>
          <a:noFill/>
          <a:ln w="44450">
            <a:solidFill>
              <a:srgbClr val="1F5FAD"/>
            </a:solidFill>
          </a:ln>
        </p:spPr>
        <p:txBody>
          <a:bodyPr rtlCol="0" anchor="ctr"/>
          <a:lstStyle/>
          <a:p>
            <a:pPr algn="ctr"/>
          </a:p>
        </p:txBody>
      </p:sp>
      <p:sp>
        <p:nvSpPr>
          <p:cNvPr id="15" name="Oval 14"/>
          <p:cNvSpPr/>
          <p:nvPr/>
        </p:nvSpPr>
        <p:spPr>
          <a:xfrm>
            <a:off x="7444122" y="241657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990465" y="462869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77121"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add a barrier test. 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Pin bars usually form on low volume. The barrier break can fool a trader, so wait for the return before treating the move as a real breakout.</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false barrier impression separates a pin bar from an exhaustion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pin bar with simple prices. Support sits at PHP 40.00 </a:t>
            </a:r>
            <a:r>
              <a:rPr sz="1700" b="1" i="0">
                <a:solidFill>
                  <a:srgbClr val="E09B00"/>
                </a:solidFill>
                <a:latin typeface="Arial"/>
              </a:rPr>
              <a:t>(1)</a:t>
            </a:r>
            <a:r>
              <a:rPr sz="1700" b="0" i="0">
                <a:solidFill>
                  <a:srgbClr val="1A1A1A"/>
                </a:solidFill>
                <a:latin typeface="Arial"/>
              </a:rPr>
              <a:t>. The pin bar trades down through it to PHP 38.80 </a:t>
            </a:r>
            <a:r>
              <a:rPr sz="1700" b="1" i="0">
                <a:solidFill>
                  <a:srgbClr val="C62828"/>
                </a:solidFill>
                <a:latin typeface="Arial"/>
              </a:rPr>
              <a:t>(2)</a:t>
            </a:r>
            <a:r>
              <a:rPr sz="1700" b="0" i="0">
                <a:solidFill>
                  <a:srgbClr val="1A1A1A"/>
                </a:solidFill>
                <a:latin typeface="Arial"/>
              </a:rPr>
              <a:t>, then closes back above it at PHP 40.60 </a:t>
            </a:r>
            <a:r>
              <a:rPr sz="1700" b="1" i="0">
                <a:solidFill>
                  <a:srgbClr val="1F5FAD"/>
                </a:solidFill>
                <a:latin typeface="Arial"/>
              </a:rPr>
              <a:t>(3)</a:t>
            </a:r>
            <a:r>
              <a:rPr sz="1700" b="0" i="0">
                <a:solidFill>
                  <a:srgbClr val="1A1A1A"/>
                </a:solidFill>
                <a:latin typeface="Arial"/>
              </a:rPr>
              <a:t>, on only 0.8 million shares. The return above support is the clue that the break was false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14014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9873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7090" y="39700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07215" y="38305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65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support, red </a:t>
            </a:r>
            <a:r>
              <a:rPr sz="1800" b="1" i="0">
                <a:solidFill>
                  <a:srgbClr val="C62828"/>
                </a:solidFill>
                <a:latin typeface="Arial"/>
              </a:rPr>
              <a:t>(2)</a:t>
            </a:r>
            <a:r>
              <a:rPr sz="1800" b="0" i="0">
                <a:solidFill>
                  <a:srgbClr val="1A1A1A"/>
                </a:solidFill>
                <a:latin typeface="Arial"/>
              </a:rPr>
              <a:t> the intra-period penetration, and blue </a:t>
            </a:r>
            <a:r>
              <a:rPr sz="1800" b="1" i="0">
                <a:solidFill>
                  <a:srgbClr val="1F5FAD"/>
                </a:solidFill>
                <a:latin typeface="Arial"/>
              </a:rPr>
              <a:t>(3)</a:t>
            </a:r>
            <a:r>
              <a:rPr sz="1800" b="0" i="0">
                <a:solidFill>
                  <a:srgbClr val="1A1A1A"/>
                </a:solidFill>
                <a:latin typeface="Arial"/>
              </a:rPr>
              <a:t> the close back above support.</a:t>
            </a:r>
          </a:p>
          <a:p>
            <a:pPr algn="l">
              <a:lnSpc>
                <a:spcPct val="105000"/>
              </a:lnSpc>
              <a:spcBef>
                <a:spcPts val="0"/>
              </a:spcBef>
              <a:spcAft>
                <a:spcPts val="1100"/>
              </a:spcAft>
            </a:pPr>
            <a:r>
              <a:rPr sz="18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5303519" y="1810512"/>
            <a:ext cx="6110935" cy="307175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83401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3768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185906" y="4125742"/>
            <a:ext cx="4992213" cy="0"/>
          </a:xfrm>
          <a:prstGeom prst="line">
            <a:avLst/>
          </a:prstGeom>
          <a:ln w="44450">
            <a:solidFill>
              <a:srgbClr val="E09B00"/>
            </a:solidFill>
          </a:ln>
        </p:spPr>
      </p:cxnSp>
      <p:sp>
        <p:nvSpPr>
          <p:cNvPr id="13" name="Oval 12"/>
          <p:cNvSpPr/>
          <p:nvPr/>
        </p:nvSpPr>
        <p:spPr>
          <a:xfrm>
            <a:off x="7066885" y="4139912"/>
            <a:ext cx="176195" cy="340081"/>
          </a:xfrm>
          <a:prstGeom prst="ellipse">
            <a:avLst/>
          </a:prstGeom>
          <a:noFill/>
          <a:ln w="44450">
            <a:solidFill>
              <a:srgbClr val="C62828"/>
            </a:solidFill>
          </a:ln>
        </p:spPr>
        <p:txBody>
          <a:bodyPr rtlCol="0" anchor="ctr"/>
          <a:lstStyle/>
          <a:p>
            <a:pPr algn="ctr"/>
          </a:p>
        </p:txBody>
      </p:sp>
      <p:sp>
        <p:nvSpPr>
          <p:cNvPr id="14" name="Oval 13"/>
          <p:cNvSpPr/>
          <p:nvPr/>
        </p:nvSpPr>
        <p:spPr>
          <a:xfrm>
            <a:off x="7008153" y="3714810"/>
            <a:ext cx="469855" cy="368421"/>
          </a:xfrm>
          <a:prstGeom prst="ellipse">
            <a:avLst/>
          </a:prstGeom>
          <a:noFill/>
          <a:ln w="44450">
            <a:solidFill>
              <a:srgbClr val="1F5FAD"/>
            </a:solidFill>
          </a:ln>
        </p:spPr>
        <p:txBody>
          <a:bodyPr rtlCol="0" anchor="ctr"/>
          <a:lstStyle/>
          <a:p>
            <a:pPr algn="ctr"/>
          </a:p>
        </p:txBody>
      </p:sp>
      <p:sp>
        <p:nvSpPr>
          <p:cNvPr id="15" name="Oval 14"/>
          <p:cNvSpPr/>
          <p:nvPr/>
        </p:nvSpPr>
        <p:spPr>
          <a:xfrm>
            <a:off x="5665055" y="40160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663497" y="425690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661940" y="329334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97370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for teaching.</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67464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43690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97970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214481"/>
            <a:ext cx="4292696" cy="0"/>
          </a:xfrm>
          <a:prstGeom prst="line">
            <a:avLst/>
          </a:prstGeom>
          <a:ln w="44450">
            <a:solidFill>
              <a:srgbClr val="E09B00"/>
            </a:solidFill>
          </a:ln>
        </p:spPr>
      </p:cxnSp>
      <p:sp>
        <p:nvSpPr>
          <p:cNvPr id="19" name="Oval 18"/>
          <p:cNvSpPr/>
          <p:nvPr/>
        </p:nvSpPr>
        <p:spPr>
          <a:xfrm>
            <a:off x="7659416" y="3226665"/>
            <a:ext cx="151506" cy="292428"/>
          </a:xfrm>
          <a:prstGeom prst="ellipse">
            <a:avLst/>
          </a:prstGeom>
          <a:noFill/>
          <a:ln w="44450">
            <a:solidFill>
              <a:srgbClr val="C62828"/>
            </a:solidFill>
          </a:ln>
        </p:spPr>
        <p:txBody>
          <a:bodyPr rtlCol="0" anchor="ctr"/>
          <a:lstStyle/>
          <a:p>
            <a:pPr algn="ctr"/>
          </a:p>
        </p:txBody>
      </p:sp>
      <p:sp>
        <p:nvSpPr>
          <p:cNvPr id="20" name="Oval 19"/>
          <p:cNvSpPr/>
          <p:nvPr/>
        </p:nvSpPr>
        <p:spPr>
          <a:xfrm>
            <a:off x="7608914" y="2861130"/>
            <a:ext cx="404018" cy="316797"/>
          </a:xfrm>
          <a:prstGeom prst="ellipse">
            <a:avLst/>
          </a:prstGeom>
          <a:noFill/>
          <a:ln w="44450">
            <a:solidFill>
              <a:srgbClr val="1F5FAD"/>
            </a:solidFill>
          </a:ln>
        </p:spPr>
        <p:txBody>
          <a:bodyPr rtlCol="0" anchor="ctr"/>
          <a:lstStyle/>
          <a:p>
            <a:pPr algn="ctr"/>
          </a:p>
        </p:txBody>
      </p:sp>
      <p:sp>
        <p:nvSpPr>
          <p:cNvPr id="21" name="Oval 20"/>
          <p:cNvSpPr/>
          <p:nvPr/>
        </p:nvSpPr>
        <p:spPr>
          <a:xfrm>
            <a:off x="6438637" y="310475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31189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8334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97309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58092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34317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88597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141842"/>
            <a:ext cx="4292696" cy="0"/>
          </a:xfrm>
          <a:prstGeom prst="line">
            <a:avLst/>
          </a:prstGeom>
          <a:ln w="44450">
            <a:solidFill>
              <a:srgbClr val="E09B00"/>
            </a:solidFill>
          </a:ln>
        </p:spPr>
      </p:cxnSp>
      <p:sp>
        <p:nvSpPr>
          <p:cNvPr id="19" name="Oval 18"/>
          <p:cNvSpPr/>
          <p:nvPr/>
        </p:nvSpPr>
        <p:spPr>
          <a:xfrm>
            <a:off x="7659416" y="3153558"/>
            <a:ext cx="151506" cy="281181"/>
          </a:xfrm>
          <a:prstGeom prst="ellipse">
            <a:avLst/>
          </a:prstGeom>
          <a:noFill/>
          <a:ln w="44450">
            <a:solidFill>
              <a:srgbClr val="C62828"/>
            </a:solidFill>
          </a:ln>
        </p:spPr>
        <p:txBody>
          <a:bodyPr rtlCol="0" anchor="ctr"/>
          <a:lstStyle/>
          <a:p>
            <a:pPr algn="ctr"/>
          </a:p>
        </p:txBody>
      </p:sp>
      <p:sp>
        <p:nvSpPr>
          <p:cNvPr id="20" name="Oval 19"/>
          <p:cNvSpPr/>
          <p:nvPr/>
        </p:nvSpPr>
        <p:spPr>
          <a:xfrm>
            <a:off x="7608914" y="2802081"/>
            <a:ext cx="404018" cy="304613"/>
          </a:xfrm>
          <a:prstGeom prst="ellipse">
            <a:avLst/>
          </a:prstGeom>
          <a:noFill/>
          <a:ln w="44450">
            <a:solidFill>
              <a:srgbClr val="1F5FAD"/>
            </a:solidFill>
          </a:ln>
        </p:spPr>
        <p:txBody>
          <a:bodyPr rtlCol="0" anchor="ctr"/>
          <a:lstStyle/>
          <a:p>
            <a:pPr algn="ctr"/>
          </a:p>
        </p:txBody>
      </p:sp>
      <p:sp>
        <p:nvSpPr>
          <p:cNvPr id="21" name="Oval 20"/>
          <p:cNvSpPr/>
          <p:nvPr/>
        </p:nvSpPr>
        <p:spPr>
          <a:xfrm>
            <a:off x="6438637" y="30321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2312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346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87936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ends a long run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An exhaustion bar comes at the end of a run. It opens above the previous high </a:t>
            </a:r>
            <a:r>
              <a:rPr sz="1700" b="1" i="0">
                <a:solidFill>
                  <a:srgbClr val="E09B00"/>
                </a:solidFill>
                <a:latin typeface="Arial"/>
              </a:rPr>
              <a:t>(1)</a:t>
            </a:r>
            <a:r>
              <a:rPr sz="1700" b="0" i="0">
                <a:solidFill>
                  <a:srgbClr val="1A1A1A"/>
                </a:solidFill>
                <a:latin typeface="Arial"/>
              </a:rPr>
              <a:t>, pushes to a new high </a:t>
            </a:r>
            <a:r>
              <a:rPr sz="1700" b="1" i="0">
                <a:solidFill>
                  <a:srgbClr val="C62828"/>
                </a:solidFill>
                <a:latin typeface="Arial"/>
              </a:rPr>
              <a:t>(2)</a:t>
            </a:r>
            <a:r>
              <a:rPr sz="1700" b="0" i="0">
                <a:solidFill>
                  <a:srgbClr val="1A1A1A"/>
                </a:solidFill>
                <a:latin typeface="Arial"/>
              </a:rPr>
              <a:t>, then gives most of it back, and the next bar opens without a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6856628" y="350969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01207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724643" y="4378947"/>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713707" y="3264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09985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640519" y="4122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pokes through support </a:t>
            </a:r>
            <a:r>
              <a:rPr sz="1700" b="1" i="0">
                <a:solidFill>
                  <a:srgbClr val="7B3FA0"/>
                </a:solidFill>
                <a:latin typeface="Arial"/>
              </a:rPr>
              <a:t>(1)</a:t>
            </a:r>
            <a:r>
              <a:rPr sz="1700" b="0" i="0">
                <a:solidFill>
                  <a:srgbClr val="1A1A1A"/>
                </a:solidFill>
                <a:latin typeface="Arial"/>
              </a:rPr>
              <a:t> and then closes back above it </a:t>
            </a:r>
            <a:r>
              <a:rPr sz="1700" b="1" i="0">
                <a:solidFill>
                  <a:srgbClr val="C62828"/>
                </a:solidFill>
                <a:latin typeface="Arial"/>
              </a:rPr>
              <a:t>(2)</a:t>
            </a:r>
            <a:r>
              <a:rPr sz="1700" b="0" i="0">
                <a:solidFill>
                  <a:srgbClr val="1A1A1A"/>
                </a:solidFill>
                <a:latin typeface="Arial"/>
              </a:rPr>
              <a:t>, on low volume </a:t>
            </a:r>
            <a:r>
              <a:rPr sz="1700" b="1" i="0">
                <a:solidFill>
                  <a:srgbClr val="E09B00"/>
                </a:solidFill>
                <a:latin typeface="Arial"/>
              </a:rPr>
              <a:t>(3)</a:t>
            </a:r>
            <a:r>
              <a:rPr sz="1700" b="0" i="0">
                <a:solidFill>
                  <a:srgbClr val="1A1A1A"/>
                </a:solidFill>
                <a:latin typeface="Arial"/>
              </a:rPr>
              <a:t>. Lim calls pin bars "single bar misrepresentations of market strength or weakness" (p. 227). So ask whether the bar ended a tiring run, or broke a level and came straight back.</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39200" y="37226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228).</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false breakout goes through a barrier and then comes back inside it. In the upside case, price rises through PHP 60.00 resistance to a false high of PHP 62.00 </a:t>
            </a:r>
            <a:r>
              <a:rPr sz="1700" b="1" i="0">
                <a:solidFill>
                  <a:srgbClr val="E09B00"/>
                </a:solidFill>
                <a:latin typeface="Arial"/>
              </a:rPr>
              <a:t>(1)</a:t>
            </a:r>
            <a:r>
              <a:rPr sz="1700" b="0" i="0">
                <a:solidFill>
                  <a:srgbClr val="1A1A1A"/>
                </a:solidFill>
                <a:latin typeface="Arial"/>
              </a:rPr>
              <a:t>, then closes back below it at PHP 59.40 </a:t>
            </a:r>
            <a:r>
              <a:rPr sz="1700" b="1" i="0">
                <a:solidFill>
                  <a:srgbClr val="1F5FAD"/>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downside case, price falls through PHP 40.00 support to a false low of PHP 38.50 </a:t>
            </a:r>
            <a:r>
              <a:rPr sz="1700" b="1" i="0">
                <a:solidFill>
                  <a:srgbClr val="C62828"/>
                </a:solidFill>
                <a:latin typeface="Arial"/>
              </a:rPr>
              <a:t>(1)</a:t>
            </a:r>
            <a:r>
              <a:rPr sz="1700" b="0" i="0">
                <a:solidFill>
                  <a:srgbClr val="1A1A1A"/>
                </a:solidFill>
                <a:latin typeface="Arial"/>
              </a:rPr>
              <a:t>, then closes back above it at PHP 40.60 </a:t>
            </a:r>
            <a:r>
              <a:rPr sz="1700" b="1" i="0">
                <a:solidFill>
                  <a:srgbClr val="7B3FA0"/>
                </a:solidFill>
                <a:latin typeface="Arial"/>
              </a:rPr>
              <a:t>(2)</a:t>
            </a:r>
            <a:r>
              <a:rPr sz="1700" b="0" i="0">
                <a:solidFill>
                  <a:srgbClr val="1A1A1A"/>
                </a:solidFill>
                <a:latin typeface="Arial"/>
              </a:rPr>
              <a:t> (p. 228).</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65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the short is taken once price falls back below resistance, with the stoploss just above the high of the breakout (p. 228). Here is that trade with simple prices. Resistance sits at PHP 60.00 </a:t>
            </a:r>
            <a:r>
              <a:rPr sz="1700" b="1" i="0">
                <a:solidFill>
                  <a:srgbClr val="E09B00"/>
                </a:solidFill>
                <a:latin typeface="Arial"/>
              </a:rPr>
              <a:t>(1)</a:t>
            </a:r>
            <a:r>
              <a:rPr sz="1700" b="0" i="0">
                <a:solidFill>
                  <a:srgbClr val="1A1A1A"/>
                </a:solidFill>
                <a:latin typeface="Arial"/>
              </a:rPr>
              <a:t>. Price breaks above it to a high of PHP 62.00 </a:t>
            </a:r>
            <a:r>
              <a:rPr sz="1700" b="1" i="0">
                <a:solidFill>
                  <a:srgbClr val="C62828"/>
                </a:solidFill>
                <a:latin typeface="Arial"/>
              </a:rPr>
              <a:t>(2)</a:t>
            </a:r>
            <a:r>
              <a:rPr sz="1700" b="0" i="0">
                <a:solidFill>
                  <a:srgbClr val="1A1A1A"/>
                </a:solidFill>
                <a:latin typeface="Arial"/>
              </a:rPr>
              <a:t>, then closes back below it at PHP 59.40 </a:t>
            </a:r>
            <a:r>
              <a:rPr sz="1700" b="1" i="0">
                <a:solidFill>
                  <a:srgbClr val="1F5FAD"/>
                </a:solidFill>
                <a:latin typeface="Arial"/>
              </a:rPr>
              <a:t>(3)</a:t>
            </a:r>
            <a:r>
              <a:rPr sz="1700" b="0" i="0">
                <a:solidFill>
                  <a:srgbClr val="1A1A1A"/>
                </a:solidFill>
                <a:latin typeface="Arial"/>
              </a:rPr>
              <a:t>, and that close is the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stoploss goes just above the breakout high, at PHP 62.50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65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this a non-failure swing and Sperandeo's 2B entry, but defines neither name (p. 228). For us the pattern is a break above resistance that closes back below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resistance, red </a:t>
            </a:r>
            <a:r>
              <a:rPr sz="2000" b="1" i="0">
                <a:solidFill>
                  <a:srgbClr val="C62828"/>
                </a:solidFill>
                <a:latin typeface="Arial"/>
              </a:rPr>
              <a:t>(2)</a:t>
            </a:r>
            <a:r>
              <a:rPr sz="2000" b="0" i="0">
                <a:solidFill>
                  <a:srgbClr val="1A1A1A"/>
                </a:solidFill>
                <a:latin typeface="Arial"/>
              </a:rPr>
              <a:t> the false high, blue </a:t>
            </a:r>
            <a:r>
              <a:rPr sz="2000" b="1" i="0">
                <a:solidFill>
                  <a:srgbClr val="1F5FAD"/>
                </a:solidFill>
                <a:latin typeface="Arial"/>
              </a:rPr>
              <a:t>(3)</a:t>
            </a:r>
            <a:r>
              <a:rPr sz="2000" b="0" i="0">
                <a:solidFill>
                  <a:srgbClr val="1A1A1A"/>
                </a:solidFill>
                <a:latin typeface="Arial"/>
              </a:rPr>
              <a:t> the close back below, and purple </a:t>
            </a:r>
            <a:r>
              <a:rPr sz="2000" b="1" i="0">
                <a:solidFill>
                  <a:srgbClr val="7B3FA0"/>
                </a:solidFill>
                <a:latin typeface="Arial"/>
              </a:rPr>
              <a:t>(4)</a:t>
            </a:r>
            <a:r>
              <a:rPr sz="2000" b="0" i="0">
                <a:solidFill>
                  <a:srgbClr val="1A1A1A"/>
                </a:solidFill>
                <a:latin typeface="Arial"/>
              </a:rPr>
              <a:t> the stop above the high.</a:t>
            </a:r>
          </a:p>
        </p:txBody>
      </p:sp>
      <p:sp>
        <p:nvSpPr>
          <p:cNvPr id="8" name="Rectangle 7"/>
          <p:cNvSpPr/>
          <p:nvPr/>
        </p:nvSpPr>
        <p:spPr>
          <a:xfrm>
            <a:off x="61510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99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99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442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7314455" y="2301581"/>
            <a:ext cx="1420564" cy="0"/>
          </a:xfrm>
          <a:prstGeom prst="line">
            <a:avLst/>
          </a:prstGeom>
          <a:ln w="44450">
            <a:solidFill>
              <a:srgbClr val="E09B00"/>
            </a:solidFill>
          </a:ln>
        </p:spPr>
      </p:cxnSp>
      <p:sp>
        <p:nvSpPr>
          <p:cNvPr id="13" name="Oval 12"/>
          <p:cNvSpPr/>
          <p:nvPr/>
        </p:nvSpPr>
        <p:spPr>
          <a:xfrm>
            <a:off x="74815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77740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398017" y="2034722"/>
            <a:ext cx="626720" cy="0"/>
          </a:xfrm>
          <a:prstGeom prst="line">
            <a:avLst/>
          </a:prstGeom>
          <a:ln w="44450">
            <a:solidFill>
              <a:srgbClr val="7B3FA0"/>
            </a:solidFill>
          </a:ln>
        </p:spPr>
      </p:cxnSp>
      <p:sp>
        <p:nvSpPr>
          <p:cNvPr id="16" name="Oval 15"/>
          <p:cNvSpPr/>
          <p:nvPr/>
        </p:nvSpPr>
        <p:spPr>
          <a:xfrm>
            <a:off x="8750635" y="220589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246508" y="245168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165696"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183836" y="192499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is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is the close back below resistance; purple </a:t>
            </a:r>
            <a:r>
              <a:rPr sz="1700" b="1" i="0">
                <a:solidFill>
                  <a:srgbClr val="7B3FA0"/>
                </a:solidFill>
                <a:latin typeface="Arial"/>
              </a:rPr>
              <a:t>(4)</a:t>
            </a:r>
            <a:r>
              <a:rPr sz="1700" b="0" i="0">
                <a:solidFill>
                  <a:srgbClr val="1A1A1A"/>
                </a:solidFill>
                <a:latin typeface="Arial"/>
              </a:rPr>
              <a:t> the close back above support.</a:t>
            </a:r>
          </a:p>
          <a:p>
            <a:pPr algn="l">
              <a:lnSpc>
                <a:spcPct val="105000"/>
              </a:lnSpc>
              <a:spcBef>
                <a:spcPts val="0"/>
              </a:spcBef>
              <a:spcAft>
                <a:spcPts val="1100"/>
              </a:spcAft>
            </a:pPr>
            <a:r>
              <a:rPr sz="1700" b="0" i="0">
                <a:solidFill>
                  <a:srgbClr val="1A1A1A"/>
                </a:solidFill>
                <a:latin typeface="Arial"/>
              </a:rPr>
              <a:t>In our example, the closes return to PHP 59.40 under PHP 60.00 resistance and PHP 40.60 over PHP 40.00 support.</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228).</a:t>
            </a:r>
          </a:p>
        </p:txBody>
      </p:sp>
      <p:sp>
        <p:nvSpPr>
          <p:cNvPr id="8" name="Rectangle 7"/>
          <p:cNvSpPr/>
          <p:nvPr/>
        </p:nvSpPr>
        <p:spPr>
          <a:xfrm>
            <a:off x="5303519" y="1810512"/>
            <a:ext cx="6110935" cy="325253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01478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55758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243081" y="2652933"/>
            <a:ext cx="176195" cy="211035"/>
          </a:xfrm>
          <a:prstGeom prst="ellipse">
            <a:avLst/>
          </a:prstGeom>
          <a:noFill/>
          <a:ln w="44450">
            <a:solidFill>
              <a:srgbClr val="E09B00"/>
            </a:solidFill>
          </a:ln>
        </p:spPr>
        <p:txBody>
          <a:bodyPr rtlCol="0" anchor="ctr"/>
          <a:lstStyle/>
          <a:p>
            <a:pPr algn="ctr"/>
          </a:p>
        </p:txBody>
      </p:sp>
      <p:sp>
        <p:nvSpPr>
          <p:cNvPr id="13" name="Oval 12"/>
          <p:cNvSpPr/>
          <p:nvPr/>
        </p:nvSpPr>
        <p:spPr>
          <a:xfrm>
            <a:off x="8916940" y="3768405"/>
            <a:ext cx="205561" cy="195961"/>
          </a:xfrm>
          <a:prstGeom prst="ellipse">
            <a:avLst/>
          </a:prstGeom>
          <a:noFill/>
          <a:ln w="44450">
            <a:solidFill>
              <a:srgbClr val="C62828"/>
            </a:solidFill>
          </a:ln>
        </p:spPr>
        <p:txBody>
          <a:bodyPr rtlCol="0" anchor="ctr"/>
          <a:lstStyle/>
          <a:p>
            <a:pPr algn="ctr"/>
          </a:p>
        </p:txBody>
      </p:sp>
      <p:sp>
        <p:nvSpPr>
          <p:cNvPr id="14" name="Oval 13"/>
          <p:cNvSpPr/>
          <p:nvPr/>
        </p:nvSpPr>
        <p:spPr>
          <a:xfrm>
            <a:off x="7431023" y="2818746"/>
            <a:ext cx="164449" cy="226109"/>
          </a:xfrm>
          <a:prstGeom prst="ellipse">
            <a:avLst/>
          </a:prstGeom>
          <a:noFill/>
          <a:ln w="44450">
            <a:solidFill>
              <a:srgbClr val="1F5FAD"/>
            </a:solidFill>
          </a:ln>
        </p:spPr>
        <p:txBody>
          <a:bodyPr rtlCol="0" anchor="ctr"/>
          <a:lstStyle/>
          <a:p>
            <a:pPr algn="ctr"/>
          </a:p>
        </p:txBody>
      </p:sp>
      <p:sp>
        <p:nvSpPr>
          <p:cNvPr id="15" name="Oval 14"/>
          <p:cNvSpPr/>
          <p:nvPr/>
        </p:nvSpPr>
        <p:spPr>
          <a:xfrm>
            <a:off x="9110755" y="3632739"/>
            <a:ext cx="187942" cy="150739"/>
          </a:xfrm>
          <a:prstGeom prst="ellipse">
            <a:avLst/>
          </a:prstGeom>
          <a:noFill/>
          <a:ln w="44450">
            <a:solidFill>
              <a:srgbClr val="7B3FA0"/>
            </a:solidFill>
          </a:ln>
        </p:spPr>
        <p:txBody>
          <a:bodyPr rtlCol="0" anchor="ctr"/>
          <a:lstStyle/>
          <a:p>
            <a:pPr algn="ctr"/>
          </a:p>
        </p:txBody>
      </p:sp>
      <p:sp>
        <p:nvSpPr>
          <p:cNvPr id="16" name="Oval 15"/>
          <p:cNvSpPr/>
          <p:nvPr/>
        </p:nvSpPr>
        <p:spPr>
          <a:xfrm>
            <a:off x="6986523" y="242261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30238" y="393000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7661940" y="302557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335799" y="371897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154484"/>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228 to 229, Figure 7.32. The crop and marks are for teaching; the PHP prices in the text are ours, invented.</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228).</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228).</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crossings of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Joe DiNapoli's Double Repo is a topping pattern. In an uptrend, price closes above and below a three-day simple moving average (SMA) twice, and that gives a sell signal (p. 229).</a:t>
            </a:r>
          </a:p>
          <a:p>
            <a:pPr algn="l">
              <a:lnSpc>
                <a:spcPct val="118000"/>
              </a:lnSpc>
              <a:spcBef>
                <a:spcPts val="0"/>
              </a:spcBef>
              <a:spcAft>
                <a:spcPts val="1300"/>
              </a:spcAft>
            </a:pPr>
            <a:r>
              <a:rPr sz="2100" b="0" i="0">
                <a:solidFill>
                  <a:srgbClr val="1A1A1A"/>
                </a:solidFill>
                <a:latin typeface="Arial"/>
              </a:rPr>
              <a:t>The SMA is forward shifted by three days. DiNapoli also asks for at least eight to ten days of bullish price action first, and a top of no more than eight to ten bars.</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the bullish run, then two closes below the line inside a short top.</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Double Repo with simple closes. The dashed line is the three-day SMA shifted three days forward: each point is the average of the three closes that ended three bars earlier, so the line starts at bar 6. For ten bars every close is higher than the one before, from PHP 45.00 up to PHP 50.70 </a:t>
            </a:r>
            <a:r>
              <a:rPr sz="1700" b="1" i="0">
                <a:solidFill>
                  <a:srgbClr val="E09B00"/>
                </a:solidFill>
                <a:latin typeface="Arial"/>
              </a:rPr>
              <a:t>(1)</a:t>
            </a:r>
            <a:r>
              <a:rPr sz="1700" b="0" i="0">
                <a:solidFill>
                  <a:srgbClr val="1A1A1A"/>
                </a:solidFill>
                <a:latin typeface="Arial"/>
              </a:rPr>
              <a:t>, well above the line. That is the bullish run DiNapoli asks for first.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65</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the top forms. At bar 13 price closes at PHP 49.20, below the line at PHP 50.10 </a:t>
            </a:r>
            <a:r>
              <a:rPr sz="1700" b="1" i="0">
                <a:solidFill>
                  <a:srgbClr val="C62828"/>
                </a:solidFill>
                <a:latin typeface="Arial"/>
              </a:rPr>
              <a:t>(2)</a:t>
            </a:r>
            <a:r>
              <a:rPr sz="1700" b="0" i="0">
                <a:solidFill>
                  <a:srgbClr val="1A1A1A"/>
                </a:solidFill>
                <a:latin typeface="Arial"/>
              </a:rPr>
              <a:t>. At bar 14 it closes back above, at PHP 50.70 against PHP 50.40 </a:t>
            </a:r>
            <a:r>
              <a:rPr sz="1700" b="1" i="0">
                <a:solidFill>
                  <a:srgbClr val="1F5FAD"/>
                </a:solidFill>
                <a:latin typeface="Arial"/>
              </a:rPr>
              <a:t>(3)</a:t>
            </a:r>
            <a:r>
              <a:rPr sz="1700" b="0" i="0">
                <a:solidFill>
                  <a:srgbClr val="1A1A1A"/>
                </a:solidFill>
                <a:latin typeface="Arial"/>
              </a:rPr>
              <a:t>. At bar 15 it closes below again, at PHP 49.40 against PHP 50.30 </a:t>
            </a:r>
            <a:r>
              <a:rPr sz="1700" b="1" i="0">
                <a:solidFill>
                  <a:srgbClr val="7B3FA0"/>
                </a:solidFill>
                <a:latin typeface="Arial"/>
              </a:rPr>
              <a:t>(4)</a:t>
            </a:r>
            <a:r>
              <a:rPr sz="1700" b="0" i="0">
                <a:solidFill>
                  <a:srgbClr val="1A1A1A"/>
                </a:solidFill>
                <a:latin typeface="Arial"/>
              </a:rPr>
              <a:t>. That second close below is the sell signal, five bars into the top, and the next bar falls to PHP 48.30.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30722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796808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924086" y="4183053"/>
            <a:ext cx="87782" cy="87782"/>
          </a:xfrm>
          <a:prstGeom prst="ellipse">
            <a:avLst/>
          </a:prstGeom>
          <a:noFill/>
          <a:ln w="44450">
            <a:solidFill>
              <a:srgbClr val="7B3FA0"/>
            </a:solidFill>
          </a:ln>
        </p:spPr>
        <p:txBody>
          <a:bodyPr rtlCol="0" anchor="ctr"/>
          <a:lstStyle/>
          <a:p>
            <a:pPr algn="ctr"/>
          </a:p>
        </p:txBody>
      </p:sp>
      <p:sp>
        <p:nvSpPr>
          <p:cNvPr id="12" name="Oval 11"/>
          <p:cNvSpPr/>
          <p:nvPr/>
        </p:nvSpPr>
        <p:spPr>
          <a:xfrm>
            <a:off x="7099858" y="4223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8055863"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11869" y="409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a close above the forward-shifted three-day SMA and red </a:t>
            </a:r>
            <a:r>
              <a:rPr sz="1700" b="1" i="0">
                <a:solidFill>
                  <a:srgbClr val="C62828"/>
                </a:solidFill>
                <a:latin typeface="Arial"/>
              </a:rPr>
              <a:t>(2)</a:t>
            </a:r>
            <a:r>
              <a:rPr sz="1700" b="0" i="0">
                <a:solidFill>
                  <a:srgbClr val="1A1A1A"/>
                </a:solidFill>
                <a:latin typeface="Arial"/>
              </a:rPr>
              <a:t> the first close below it, inside the topping block. Blue </a:t>
            </a:r>
            <a:r>
              <a:rPr sz="1700" b="1" i="0">
                <a:solidFill>
                  <a:srgbClr val="1F5FAD"/>
                </a:solidFill>
                <a:latin typeface="Arial"/>
              </a:rPr>
              <a:t>(3)</a:t>
            </a:r>
            <a:r>
              <a:rPr sz="1700" b="0" i="0">
                <a:solidFill>
                  <a:srgbClr val="1A1A1A"/>
                </a:solidFill>
                <a:latin typeface="Arial"/>
              </a:rPr>
              <a:t> marks the later decline.</a:t>
            </a:r>
          </a:p>
          <a:p>
            <a:pPr algn="l">
              <a:lnSpc>
                <a:spcPct val="105000"/>
              </a:lnSpc>
              <a:spcBef>
                <a:spcPts val="0"/>
              </a:spcBef>
              <a:spcAft>
                <a:spcPts val="1100"/>
              </a:spcAft>
            </a:pPr>
            <a:r>
              <a:rPr sz="17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700" b="0" i="0">
                <a:solidFill>
                  <a:srgbClr val="1A1A1A"/>
                </a:solidFill>
                <a:latin typeface="Arial"/>
              </a:rPr>
              <a:t>Read the two crossings as the named structure, not as a complete trading system.</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7771668" y="2243893"/>
            <a:ext cx="146829" cy="183463"/>
          </a:xfrm>
          <a:prstGeom prst="ellipse">
            <a:avLst/>
          </a:prstGeom>
          <a:noFill/>
          <a:ln w="44450">
            <a:solidFill>
              <a:srgbClr val="E09B00"/>
            </a:solidFill>
          </a:ln>
        </p:spPr>
        <p:txBody>
          <a:bodyPr rtlCol="0" anchor="ctr"/>
          <a:lstStyle/>
          <a:p>
            <a:pPr algn="ctr"/>
          </a:p>
        </p:txBody>
      </p:sp>
      <p:sp>
        <p:nvSpPr>
          <p:cNvPr id="13" name="Oval 12"/>
          <p:cNvSpPr/>
          <p:nvPr/>
        </p:nvSpPr>
        <p:spPr>
          <a:xfrm>
            <a:off x="7918498" y="2453566"/>
            <a:ext cx="146829" cy="23588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887574" y="2977748"/>
            <a:ext cx="1057175" cy="733855"/>
          </a:xfrm>
          <a:prstGeom prst="line">
            <a:avLst/>
          </a:prstGeom>
          <a:ln w="44450">
            <a:solidFill>
              <a:srgbClr val="1F5FAD"/>
            </a:solidFill>
            <a:tailEnd type="triangle" w="med" len="med"/>
          </a:ln>
        </p:spPr>
      </p:cxnSp>
      <p:sp>
        <p:nvSpPr>
          <p:cNvPr id="15" name="Oval 14"/>
          <p:cNvSpPr/>
          <p:nvPr/>
        </p:nvSpPr>
        <p:spPr>
          <a:xfrm>
            <a:off x="7632574" y="195070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02429" y="256661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69948" y="370671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forward-shifted three-day SMA. Red </a:t>
            </a:r>
            <a:r>
              <a:rPr sz="1900" b="1" i="0">
                <a:solidFill>
                  <a:srgbClr val="C62828"/>
                </a:solidFill>
                <a:latin typeface="Arial"/>
              </a:rPr>
              <a:t>(2)</a:t>
            </a:r>
            <a:r>
              <a:rPr sz="1900" b="0" i="0">
                <a:solidFill>
                  <a:srgbClr val="1A1A1A"/>
                </a:solidFill>
                <a:latin typeface="Arial"/>
              </a:rPr>
              <a:t> marks the required 8 to 10 bullish days before the pattern.</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1900" b="0" i="0">
                <a:solidFill>
                  <a:srgbClr val="1A1A1A"/>
                </a:solidFill>
                <a:latin typeface="Arial"/>
              </a:rPr>
              <a:t>Count both limits before treating the two crossings as the named sell signal.</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535183" y="2335625"/>
            <a:ext cx="1057174" cy="576600"/>
          </a:xfrm>
          <a:prstGeom prst="line">
            <a:avLst/>
          </a:prstGeom>
          <a:ln w="44450">
            <a:solidFill>
              <a:srgbClr val="E09B00"/>
            </a:solidFill>
          </a:ln>
        </p:spPr>
      </p:cxnSp>
      <p:sp>
        <p:nvSpPr>
          <p:cNvPr id="13" name="Oval 12"/>
          <p:cNvSpPr/>
          <p:nvPr/>
        </p:nvSpPr>
        <p:spPr>
          <a:xfrm>
            <a:off x="6597030" y="2401148"/>
            <a:ext cx="1174638" cy="314509"/>
          </a:xfrm>
          <a:prstGeom prst="ellipse">
            <a:avLst/>
          </a:prstGeom>
          <a:noFill/>
          <a:ln w="44450">
            <a:solidFill>
              <a:srgbClr val="C62828"/>
            </a:solidFill>
          </a:ln>
        </p:spPr>
        <p:txBody>
          <a:bodyPr rtlCol="0" anchor="ctr"/>
          <a:lstStyle/>
          <a:p>
            <a:pPr algn="ctr"/>
          </a:p>
        </p:txBody>
      </p:sp>
      <p:sp>
        <p:nvSpPr>
          <p:cNvPr id="14" name="Rectangle 13"/>
          <p:cNvSpPr/>
          <p:nvPr/>
        </p:nvSpPr>
        <p:spPr>
          <a:xfrm>
            <a:off x="7742302" y="2139056"/>
            <a:ext cx="763514" cy="629018"/>
          </a:xfrm>
          <a:prstGeom prst="rect">
            <a:avLst/>
          </a:prstGeom>
          <a:noFill/>
          <a:ln w="44450">
            <a:solidFill>
              <a:srgbClr val="1F5FAD"/>
            </a:solidFill>
          </a:ln>
        </p:spPr>
        <p:txBody>
          <a:bodyPr rtlCol="0" anchor="ctr"/>
          <a:lstStyle/>
          <a:p>
            <a:pPr algn="ctr"/>
          </a:p>
        </p:txBody>
      </p:sp>
      <p:sp>
        <p:nvSpPr>
          <p:cNvPr id="15" name="Oval 14"/>
          <p:cNvSpPr/>
          <p:nvPr/>
        </p:nvSpPr>
        <p:spPr>
          <a:xfrm>
            <a:off x="9776289" y="22914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722229" y="286802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2919" y="22652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crossing pairs generate the named Double Repo sell signal?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pair</a:t>
            </a:r>
          </a:p>
          <a:p>
            <a:pPr algn="l">
              <a:lnSpc>
                <a:spcPct val="105000"/>
              </a:lnSpc>
              <a:spcBef>
                <a:spcPts val="0"/>
              </a:spcBef>
              <a:spcAft>
                <a:spcPts val="200"/>
              </a:spcAft>
            </a:pPr>
            <a:r>
              <a:rPr sz="1700" b="0" i="0">
                <a:solidFill>
                  <a:srgbClr val="FFFFFF"/>
                </a:solidFill>
                <a:latin typeface="Arial"/>
              </a:rPr>
              <a:t>B.  Three pairs</a:t>
            </a:r>
          </a:p>
          <a:p>
            <a:pPr algn="l">
              <a:lnSpc>
                <a:spcPct val="105000"/>
              </a:lnSpc>
              <a:spcBef>
                <a:spcPts val="0"/>
              </a:spcBef>
              <a:spcAft>
                <a:spcPts val="200"/>
              </a:spcAft>
            </a:pPr>
            <a:r>
              <a:rPr sz="1700" b="0" i="0">
                <a:solidFill>
                  <a:srgbClr val="FFFFFF"/>
                </a:solidFill>
                <a:latin typeface="Arial"/>
              </a:rPr>
              <a:t>C.  Two pairs</a:t>
            </a:r>
          </a:p>
          <a:p>
            <a:pPr algn="l">
              <a:lnSpc>
                <a:spcPct val="105000"/>
              </a:lnSpc>
              <a:spcBef>
                <a:spcPts val="0"/>
              </a:spcBef>
              <a:spcAft>
                <a:spcPts val="200"/>
              </a:spcAft>
            </a:pPr>
            <a:r>
              <a:rPr sz="1700" b="0" i="0">
                <a:solidFill>
                  <a:srgbClr val="FFFFFF"/>
                </a:solidFill>
                <a:latin typeface="Arial"/>
              </a:rPr>
              <a:t>D.  No pairs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crossing pairs generate the named Double Repo sell signal?</a:t>
            </a:r>
          </a:p>
        </p:txBody>
      </p:sp>
      <p:sp>
        <p:nvSpPr>
          <p:cNvPr id="9" name="TextBox 8"/>
          <p:cNvSpPr txBox="1"/>
          <p:nvPr/>
        </p:nvSpPr>
        <p:spPr>
          <a:xfrm>
            <a:off x="1097280" y="2069338"/>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Two pairs</a:t>
            </a:r>
          </a:p>
          <a:p>
            <a:pPr algn="l">
              <a:lnSpc>
                <a:spcPct val="115000"/>
              </a:lnSpc>
              <a:spcBef>
                <a:spcPts val="500"/>
              </a:spcBef>
              <a:spcAft>
                <a:spcPts val="0"/>
              </a:spcAft>
            </a:pPr>
            <a:r>
              <a:rPr sz="1700" b="0" i="0">
                <a:solidFill>
                  <a:srgbClr val="1A1A1A"/>
                </a:solidFill>
                <a:latin typeface="Arial"/>
              </a:rPr>
              <a:t>The named bearish Double Repo has two closes above and below the forward-shifted SMA (p. 229).</a:t>
            </a:r>
          </a:p>
        </p:txBody>
      </p:sp>
      <p:sp>
        <p:nvSpPr>
          <p:cNvPr id="10" name="Rectangle 9"/>
          <p:cNvSpPr/>
          <p:nvPr/>
        </p:nvSpPr>
        <p:spPr>
          <a:xfrm>
            <a:off x="777240" y="3654933"/>
            <a:ext cx="502920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51726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65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the Hikkake. Lim says the word means to trap or ensnare: price breaks out of an inside bar, the breakout fails, and the traders who followed it are caught (p. 230).</a:t>
            </a:r>
          </a:p>
          <a:p>
            <a:pPr algn="l">
              <a:lnSpc>
                <a:spcPct val="118000"/>
              </a:lnSpc>
              <a:spcBef>
                <a:spcPts val="0"/>
              </a:spcBef>
              <a:spcAft>
                <a:spcPts val="1300"/>
              </a:spcAft>
            </a:pPr>
            <a:r>
              <a:rPr sz="2100" b="0" i="0">
                <a:solidFill>
                  <a:srgbClr val="1A1A1A"/>
                </a:solidFill>
                <a:latin typeface="Arial"/>
              </a:rPr>
              <a:t>So we take the entry only in the opposite direction of the failed breakout, once price breaks the other side of the inside bar. Lim says that breakout should come within three bars of the failed one (p. 230).</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prints the Hikkake at the start of section 7.4, but it is a failed-breakout reversal, so we finish Part 3 with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Hikkake with simple prices. Bar 2 is the inside bar </a:t>
            </a:r>
            <a:r>
              <a:rPr sz="1700" b="1" i="0">
                <a:solidFill>
                  <a:srgbClr val="E09B00"/>
                </a:solidFill>
                <a:latin typeface="Arial"/>
              </a:rPr>
              <a:t>(1)</a:t>
            </a:r>
            <a:r>
              <a:rPr sz="1700" b="0" i="0">
                <a:solidFill>
                  <a:srgbClr val="1A1A1A"/>
                </a:solidFill>
                <a:latin typeface="Arial"/>
              </a:rPr>
              <a:t>: it stays inside bar 1, between PHP 49.00 and PHP 52.00. Bar 3 breaks above the inside high to PHP 53.00 </a:t>
            </a:r>
            <a:r>
              <a:rPr sz="1700" b="1" i="0">
                <a:solidFill>
                  <a:srgbClr val="C62828"/>
                </a:solidFill>
                <a:latin typeface="Arial"/>
              </a:rPr>
              <a:t>(2)</a:t>
            </a:r>
            <a:r>
              <a:rPr sz="1700" b="0" i="0">
                <a:solidFill>
                  <a:srgbClr val="1A1A1A"/>
                </a:solidFill>
                <a:latin typeface="Arial"/>
              </a:rPr>
              <a:t> and closes at PHP 52.50, so it looks like an upside breakout. Bar 4 falls back and closes at PHP 48.70, below the inside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close is the short entry: the opposite direction of the failed breakout, one bar after it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the inside bar </a:t>
            </a:r>
            <a:r>
              <a:rPr sz="1700" b="1" i="0">
                <a:solidFill>
                  <a:srgbClr val="E09B00"/>
                </a:solidFill>
                <a:latin typeface="Arial"/>
              </a:rPr>
              <a:t>(1)</a:t>
            </a:r>
            <a:r>
              <a:rPr sz="1700" b="0" i="0">
                <a:solidFill>
                  <a:srgbClr val="1A1A1A"/>
                </a:solidFill>
                <a:latin typeface="Arial"/>
              </a:rPr>
              <a:t> runs from PHP 40.00 to PHP 43.00. Bar 3 breaks below it to a false low of PHP 39.00 </a:t>
            </a:r>
            <a:r>
              <a:rPr sz="1700" b="1" i="0">
                <a:solidFill>
                  <a:srgbClr val="C62828"/>
                </a:solidFill>
                <a:latin typeface="Arial"/>
              </a:rPr>
              <a:t>(2)</a:t>
            </a:r>
            <a:r>
              <a:rPr sz="1700" b="0" i="0">
                <a:solidFill>
                  <a:srgbClr val="1A1A1A"/>
                </a:solidFill>
                <a:latin typeface="Arial"/>
              </a:rPr>
              <a:t>, then bar 4 closes at PHP 43.40, above the inside high, and that is the long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3321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47786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34403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65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63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49537" y="2982772"/>
            <a:ext cx="150948" cy="983162"/>
          </a:xfrm>
          <a:prstGeom prst="rect">
            <a:avLst/>
          </a:prstGeom>
          <a:noFill/>
          <a:ln w="44450">
            <a:solidFill>
              <a:srgbClr val="E09B00"/>
            </a:solidFill>
          </a:ln>
        </p:spPr>
        <p:txBody>
          <a:bodyPr rtlCol="0" anchor="ctr"/>
          <a:lstStyle/>
          <a:p>
            <a:pPr algn="ctr"/>
          </a:p>
        </p:txBody>
      </p:sp>
      <p:sp>
        <p:nvSpPr>
          <p:cNvPr id="13" name="Oval 12"/>
          <p:cNvSpPr/>
          <p:nvPr/>
        </p:nvSpPr>
        <p:spPr>
          <a:xfrm>
            <a:off x="8113696" y="3895709"/>
            <a:ext cx="188685" cy="667146"/>
          </a:xfrm>
          <a:prstGeom prst="ellipse">
            <a:avLst/>
          </a:prstGeom>
          <a:noFill/>
          <a:ln w="44450">
            <a:solidFill>
              <a:srgbClr val="C62828"/>
            </a:solidFill>
          </a:ln>
        </p:spPr>
        <p:txBody>
          <a:bodyPr rtlCol="0" anchor="ctr"/>
          <a:lstStyle/>
          <a:p>
            <a:pPr algn="ctr"/>
          </a:p>
        </p:txBody>
      </p:sp>
      <p:sp>
        <p:nvSpPr>
          <p:cNvPr id="14" name="Oval 13"/>
          <p:cNvSpPr/>
          <p:nvPr/>
        </p:nvSpPr>
        <p:spPr>
          <a:xfrm>
            <a:off x="8736358" y="2842320"/>
            <a:ext cx="188685" cy="421355"/>
          </a:xfrm>
          <a:prstGeom prst="ellipse">
            <a:avLst/>
          </a:prstGeom>
          <a:noFill/>
          <a:ln w="44450">
            <a:solidFill>
              <a:srgbClr val="1F5FAD"/>
            </a:solidFill>
          </a:ln>
        </p:spPr>
        <p:txBody>
          <a:bodyPr rtlCol="0" anchor="ctr"/>
          <a:lstStyle/>
          <a:p>
            <a:pPr algn="ctr"/>
          </a:p>
        </p:txBody>
      </p:sp>
      <p:sp>
        <p:nvSpPr>
          <p:cNvPr id="15" name="Oval 14"/>
          <p:cNvSpPr/>
          <p:nvPr/>
        </p:nvSpPr>
        <p:spPr>
          <a:xfrm>
            <a:off x="7796414" y="269748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324733" y="448824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04000" y="322417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64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377823" y="2947659"/>
            <a:ext cx="169816" cy="1053388"/>
          </a:xfrm>
          <a:prstGeom prst="rect">
            <a:avLst/>
          </a:prstGeom>
          <a:noFill/>
          <a:ln w="44450">
            <a:solidFill>
              <a:srgbClr val="E09B00"/>
            </a:solidFill>
          </a:ln>
        </p:spPr>
        <p:txBody>
          <a:bodyPr rtlCol="0" anchor="ctr"/>
          <a:lstStyle/>
          <a:p>
            <a:pPr algn="ctr"/>
          </a:p>
        </p:txBody>
      </p:sp>
      <p:sp>
        <p:nvSpPr>
          <p:cNvPr id="13" name="Oval 12"/>
          <p:cNvSpPr/>
          <p:nvPr/>
        </p:nvSpPr>
        <p:spPr>
          <a:xfrm>
            <a:off x="7641983" y="2596530"/>
            <a:ext cx="188685" cy="526694"/>
          </a:xfrm>
          <a:prstGeom prst="ellipse">
            <a:avLst/>
          </a:prstGeom>
          <a:noFill/>
          <a:ln w="44450">
            <a:solidFill>
              <a:srgbClr val="C62828"/>
            </a:solidFill>
          </a:ln>
        </p:spPr>
        <p:txBody>
          <a:bodyPr rtlCol="0" anchor="ctr"/>
          <a:lstStyle/>
          <a:p>
            <a:pPr algn="ctr"/>
          </a:p>
        </p:txBody>
      </p:sp>
      <p:sp>
        <p:nvSpPr>
          <p:cNvPr id="14" name="Oval 13"/>
          <p:cNvSpPr/>
          <p:nvPr/>
        </p:nvSpPr>
        <p:spPr>
          <a:xfrm>
            <a:off x="8264644" y="3685031"/>
            <a:ext cx="188685" cy="491581"/>
          </a:xfrm>
          <a:prstGeom prst="ellipse">
            <a:avLst/>
          </a:prstGeom>
          <a:noFill/>
          <a:ln w="44450">
            <a:solidFill>
              <a:srgbClr val="1F5FAD"/>
            </a:solidFill>
          </a:ln>
        </p:spPr>
        <p:txBody>
          <a:bodyPr rtlCol="0" anchor="ctr"/>
          <a:lstStyle/>
          <a:p>
            <a:pPr algn="ctr"/>
          </a:p>
        </p:txBody>
      </p:sp>
      <p:sp>
        <p:nvSpPr>
          <p:cNvPr id="15" name="Oval 14"/>
          <p:cNvSpPr/>
          <p:nvPr/>
        </p:nvSpPr>
        <p:spPr>
          <a:xfrm>
            <a:off x="7343570" y="266236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456781" y="239901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022837" y="413711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65 of 65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Hikkake formation at the channel bottom, red </a:t>
            </a:r>
            <a:r>
              <a:rPr sz="1900" b="1" i="0">
                <a:solidFill>
                  <a:srgbClr val="C62828"/>
                </a:solidFill>
                <a:latin typeface="Arial"/>
              </a:rPr>
              <a:t>(2)</a:t>
            </a:r>
            <a:r>
              <a:rPr sz="1900" b="0" i="0">
                <a:solidFill>
                  <a:srgbClr val="1A1A1A"/>
                </a:solidFill>
                <a:latin typeface="Arial"/>
              </a:rPr>
              <a:t> its failed downside breakout, and blue </a:t>
            </a:r>
            <a:r>
              <a:rPr sz="1900" b="1" i="0">
                <a:solidFill>
                  <a:srgbClr val="1F5FAD"/>
                </a:solidFill>
                <a:latin typeface="Arial"/>
              </a:rPr>
              <a:t>(3)</a:t>
            </a:r>
            <a:r>
              <a:rPr sz="1900" b="0" i="0">
                <a:solidFill>
                  <a:srgbClr val="1A1A1A"/>
                </a:solidFill>
                <a:latin typeface="Arial"/>
              </a:rPr>
              <a:t> the upside re-entry.</a:t>
            </a:r>
          </a:p>
          <a:p>
            <a:pPr algn="l">
              <a:lnSpc>
                <a:spcPct val="105000"/>
              </a:lnSpc>
              <a:spcBef>
                <a:spcPts val="0"/>
              </a:spcBef>
              <a:spcAft>
                <a:spcPts val="1100"/>
              </a:spcAft>
            </a:pPr>
            <a:r>
              <a:rPr sz="1900" b="0" i="0">
                <a:solidFill>
                  <a:srgbClr val="1A1A1A"/>
                </a:solidFill>
                <a:latin typeface="Arial"/>
              </a:rPr>
              <a:t>Lim notes the pattern forms on high volume, a selling climax, with stochastics oversold (pp. 230 to 231). The book draws the linear regression channel but does not teach it in this chapter.</a:t>
            </a:r>
          </a:p>
        </p:txBody>
      </p:sp>
      <p:sp>
        <p:nvSpPr>
          <p:cNvPr id="8" name="Rectangle 7"/>
          <p:cNvSpPr/>
          <p:nvPr/>
        </p:nvSpPr>
        <p:spPr>
          <a:xfrm>
            <a:off x="611143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3030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3030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0462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018398" y="3404128"/>
            <a:ext cx="340588" cy="351129"/>
          </a:xfrm>
          <a:prstGeom prst="rect">
            <a:avLst/>
          </a:prstGeom>
          <a:noFill/>
          <a:ln w="44450">
            <a:solidFill>
              <a:srgbClr val="E09B00"/>
            </a:solidFill>
          </a:ln>
        </p:spPr>
        <p:txBody>
          <a:bodyPr rtlCol="0" anchor="ctr"/>
          <a:lstStyle/>
          <a:p>
            <a:pPr algn="ctr"/>
          </a:p>
        </p:txBody>
      </p:sp>
      <p:sp>
        <p:nvSpPr>
          <p:cNvPr id="13" name="Oval 12"/>
          <p:cNvSpPr/>
          <p:nvPr/>
        </p:nvSpPr>
        <p:spPr>
          <a:xfrm>
            <a:off x="8124832" y="3614806"/>
            <a:ext cx="106434" cy="140451"/>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273840" y="3088111"/>
            <a:ext cx="170294" cy="386243"/>
          </a:xfrm>
          <a:prstGeom prst="line">
            <a:avLst/>
          </a:prstGeom>
          <a:ln w="44450">
            <a:solidFill>
              <a:srgbClr val="1F5FAD"/>
            </a:solidFill>
            <a:tailEnd type="triangle" w="med" len="med"/>
          </a:ln>
        </p:spPr>
      </p:cxnSp>
      <p:sp>
        <p:nvSpPr>
          <p:cNvPr id="15" name="Oval 14"/>
          <p:cNvSpPr/>
          <p:nvPr/>
        </p:nvSpPr>
        <p:spPr>
          <a:xfrm>
            <a:off x="7695802" y="322417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02236" y="357530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398267" y="283793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230 to 231, Figure 7.35. The crop and marks are for teaching.</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new high</a:t>
            </a:r>
          </a:p>
          <a:p>
            <a:pPr algn="l">
              <a:lnSpc>
                <a:spcPct val="105000"/>
              </a:lnSpc>
              <a:spcBef>
                <a:spcPts val="0"/>
              </a:spcBef>
              <a:spcAft>
                <a:spcPts val="200"/>
              </a:spcAft>
            </a:pPr>
            <a:r>
              <a:rPr sz="1700" b="0" i="0">
                <a:solidFill>
                  <a:srgbClr val="FFFFFF"/>
                </a:solidFill>
                <a:latin typeface="Arial"/>
              </a:rPr>
              <a:t>B.  Above support</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At a close below resistance</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Hikkake opposite re-entry must occur within:</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Two bars</a:t>
            </a:r>
          </a:p>
          <a:p>
            <a:pPr algn="l">
              <a:lnSpc>
                <a:spcPct val="105000"/>
              </a:lnSpc>
              <a:spcBef>
                <a:spcPts val="0"/>
              </a:spcBef>
              <a:spcAft>
                <a:spcPts val="200"/>
              </a:spcAft>
            </a:pPr>
            <a:r>
              <a:rPr sz="1700" b="0" i="0">
                <a:solidFill>
                  <a:srgbClr val="FFFFFF"/>
                </a:solidFill>
                <a:latin typeface="Arial"/>
              </a:rPr>
              <a:t>C.  Three bars</a:t>
            </a:r>
          </a:p>
          <a:p>
            <a:pPr algn="l">
              <a:lnSpc>
                <a:spcPct val="105000"/>
              </a:lnSpc>
              <a:spcBef>
                <a:spcPts val="0"/>
              </a:spcBef>
              <a:spcAft>
                <a:spcPts val="200"/>
              </a:spcAft>
            </a:pPr>
            <a:r>
              <a:rPr sz="1700" b="0" i="0">
                <a:solidFill>
                  <a:srgbClr val="FFFFFF"/>
                </a:solidFill>
                <a:latin typeface="Arial"/>
              </a:rPr>
              <a:t>D.  Ten bars</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620666" y="2519172"/>
            <a:ext cx="199004" cy="1234439"/>
          </a:xfrm>
          <a:prstGeom prst="rect">
            <a:avLst/>
          </a:prstGeom>
          <a:noFill/>
          <a:ln w="44450">
            <a:solidFill>
              <a:srgbClr val="E09B00"/>
            </a:solidFill>
          </a:ln>
        </p:spPr>
        <p:txBody>
          <a:bodyPr rtlCol="0" anchor="ctr"/>
          <a:lstStyle/>
          <a:p>
            <a:pPr algn="ctr"/>
          </a:p>
        </p:txBody>
      </p:sp>
      <p:sp>
        <p:nvSpPr>
          <p:cNvPr id="19" name="Oval 18"/>
          <p:cNvSpPr/>
          <p:nvPr/>
        </p:nvSpPr>
        <p:spPr>
          <a:xfrm>
            <a:off x="7930228" y="2107692"/>
            <a:ext cx="221115"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9909" y="3383280"/>
            <a:ext cx="221115" cy="576072"/>
          </a:xfrm>
          <a:prstGeom prst="ellipse">
            <a:avLst/>
          </a:prstGeom>
          <a:noFill/>
          <a:ln w="44450">
            <a:solidFill>
              <a:srgbClr val="1F5FAD"/>
            </a:solidFill>
          </a:ln>
        </p:spPr>
        <p:txBody>
          <a:bodyPr rtlCol="0" anchor="ctr"/>
          <a:lstStyle/>
          <a:p>
            <a:pPr algn="ctr"/>
          </a:p>
        </p:txBody>
      </p:sp>
      <p:sp>
        <p:nvSpPr>
          <p:cNvPr id="21" name="Oval 20"/>
          <p:cNvSpPr/>
          <p:nvPr/>
        </p:nvSpPr>
        <p:spPr>
          <a:xfrm>
            <a:off x="7599384"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732054"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95400"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6217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below resistance</a:t>
            </a:r>
          </a:p>
          <a:p>
            <a:pPr algn="l">
              <a:lnSpc>
                <a:spcPct val="115000"/>
              </a:lnSpc>
              <a:spcBef>
                <a:spcPts val="500"/>
              </a:spcBef>
              <a:spcAft>
                <a:spcPts val="0"/>
              </a:spcAft>
            </a:pPr>
            <a:r>
              <a:rPr sz="1700" b="0" i="0">
                <a:solidFill>
                  <a:srgbClr val="1A1A1A"/>
                </a:solidFill>
                <a:latin typeface="Arial"/>
              </a:rPr>
              <a:t>The book says a short is normally initiated when price closes below resistance after the false upside breakout (p. 228).</a:t>
            </a:r>
          </a:p>
        </p:txBody>
      </p:sp>
      <p:sp>
        <p:nvSpPr>
          <p:cNvPr id="10" name="Rectangle 9"/>
          <p:cNvSpPr/>
          <p:nvPr/>
        </p:nvSpPr>
        <p:spPr>
          <a:xfrm>
            <a:off x="777240" y="3874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Hikkake opposite re-entry must occur within:</a:t>
            </a:r>
          </a:p>
        </p:txBody>
      </p:sp>
      <p:sp>
        <p:nvSpPr>
          <p:cNvPr id="13" name="TextBox 12"/>
          <p:cNvSpPr txBox="1"/>
          <p:nvPr/>
        </p:nvSpPr>
        <p:spPr>
          <a:xfrm>
            <a:off x="1097280" y="4736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574674" y="2519172"/>
            <a:ext cx="206964" cy="1234439"/>
          </a:xfrm>
          <a:prstGeom prst="rect">
            <a:avLst/>
          </a:prstGeom>
          <a:noFill/>
          <a:ln w="44450">
            <a:solidFill>
              <a:srgbClr val="E09B00"/>
            </a:solidFill>
          </a:ln>
        </p:spPr>
        <p:txBody>
          <a:bodyPr rtlCol="0" anchor="ctr"/>
          <a:lstStyle/>
          <a:p>
            <a:pPr algn="ctr"/>
          </a:p>
        </p:txBody>
      </p:sp>
      <p:sp>
        <p:nvSpPr>
          <p:cNvPr id="19" name="Oval 18"/>
          <p:cNvSpPr/>
          <p:nvPr/>
        </p:nvSpPr>
        <p:spPr>
          <a:xfrm>
            <a:off x="7896618" y="2107692"/>
            <a:ext cx="229960"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5487" y="3383280"/>
            <a:ext cx="229960" cy="576072"/>
          </a:xfrm>
          <a:prstGeom prst="ellipse">
            <a:avLst/>
          </a:prstGeom>
          <a:noFill/>
          <a:ln w="44450">
            <a:solidFill>
              <a:srgbClr val="1F5FAD"/>
            </a:solidFill>
          </a:ln>
        </p:spPr>
        <p:txBody>
          <a:bodyPr rtlCol="0" anchor="ctr"/>
          <a:lstStyle/>
          <a:p>
            <a:pPr algn="ctr"/>
          </a:p>
        </p:txBody>
      </p:sp>
      <p:sp>
        <p:nvSpPr>
          <p:cNvPr id="21" name="Oval 20"/>
          <p:cNvSpPr/>
          <p:nvPr/>
        </p:nvSpPr>
        <p:spPr>
          <a:xfrm>
            <a:off x="7556930"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694906"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84787"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The trade is taken only if price falls back to the previous high, against the gap, and the stoploss at the new high limits the loss if the gap keeps going.</a:t>
            </a:r>
          </a:p>
        </p:txBody>
      </p:sp>
      <p:sp>
        <p:nvSpPr>
          <p:cNvPr id="8" name="Rectangle 7"/>
          <p:cNvSpPr/>
          <p:nvPr/>
        </p:nvSpPr>
        <p:spPr>
          <a:xfrm>
            <a:off x="777240" y="484555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372546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640519" y="34694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7497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99084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9967874"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N is ours, with invented PHP values to show Lim (2016), p. 231.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20</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Here are prices of ours, and bar 1's low is PHP 48.00. 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724643" y="455554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16234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640519" y="42995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996787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20</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 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9967874"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20</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adds when to look: a bullish Oops in an uptrend and a bearish Oops in a downtrend (p. 231).</a:t>
            </a:r>
          </a:p>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high and low stay within the previous bar's range, the inside bar of Part 3.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plain reading is that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t>
            </a:r>
            <a:r>
              <a:rPr sz="1700" b="1" i="0">
                <a:solidFill>
                  <a:srgbClr val="E09B00"/>
                </a:solidFill>
                <a:latin typeface="Arial"/>
              </a:rPr>
              <a:t>(1)</a:t>
            </a:r>
            <a:r>
              <a:rPr sz="1700" b="0" i="0">
                <a:solidFill>
                  <a:srgbClr val="1A1A1A"/>
                </a:solidFill>
                <a:latin typeface="Arial"/>
              </a:rPr>
              <a:t>: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20</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20</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t>
            </a:r>
            <a:r>
              <a:rPr sz="1700" b="1" i="0">
                <a:solidFill>
                  <a:srgbClr val="E09B00"/>
                </a:solidFill>
                <a:latin typeface="Arial"/>
              </a:rPr>
              <a:t>(1)</a:t>
            </a:r>
            <a:r>
              <a:rPr sz="1700" b="0" i="0">
                <a:solidFill>
                  <a:srgbClr val="1A1A1A"/>
                </a:solidFill>
                <a:latin typeface="Arial"/>
              </a:rPr>
              <a:t>: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20</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dotted lines sit at February's own high and low, while Figure 7.38 drew them from the bar before the inside bar; Lim's text does not say which to use. Here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20</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ID/NR7 a volatility breakout pattern, like the inside bar </a:t>
            </a:r>
            <a:r>
              <a:rPr sz="1700" b="1" i="0">
                <a:solidFill>
                  <a:srgbClr val="F2A900"/>
                </a:solidFill>
                <a:latin typeface="Arial"/>
              </a:rPr>
              <a:t>(1)</a:t>
            </a:r>
            <a:r>
              <a:rPr sz="1700" b="1" i="0">
                <a:solidFill>
                  <a:srgbClr val="FFFFFF"/>
                </a:solidFill>
                <a:latin typeface="Arial"/>
              </a:rPr>
              <a:t> in Figure 7.38?</a:t>
            </a:r>
          </a:p>
        </p:txBody>
      </p:sp>
      <p:sp>
        <p:nvSpPr>
          <p:cNvPr id="13" name="TextBox 12"/>
          <p:cNvSpPr txBox="1"/>
          <p:nvPr/>
        </p:nvSpPr>
        <p:spPr>
          <a:xfrm>
            <a:off x="4861407" y="3023107"/>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6482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4820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297942"/>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687830"/>
            <a:ext cx="6583680" cy="984504"/>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2992374"/>
            <a:ext cx="7132320" cy="28575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2992374"/>
            <a:ext cx="91440" cy="28575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102102"/>
            <a:ext cx="6583680" cy="595884"/>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ID/NR7 a volatility breakout pattern, like the inside bar </a:t>
            </a:r>
            <a:r>
              <a:rPr sz="1700" b="1" i="0">
                <a:solidFill>
                  <a:srgbClr val="E09B00"/>
                </a:solidFill>
                <a:latin typeface="Arial"/>
              </a:rPr>
              <a:t>(1)</a:t>
            </a:r>
            <a:r>
              <a:rPr sz="1700" b="0" i="0">
                <a:solidFill>
                  <a:srgbClr val="818181"/>
                </a:solidFill>
                <a:latin typeface="Arial"/>
              </a:rPr>
              <a:t> in Figure 7.38?</a:t>
            </a:r>
          </a:p>
        </p:txBody>
      </p:sp>
      <p:sp>
        <p:nvSpPr>
          <p:cNvPr id="13" name="TextBox 12"/>
          <p:cNvSpPr txBox="1"/>
          <p:nvPr/>
        </p:nvSpPr>
        <p:spPr>
          <a:xfrm>
            <a:off x="1051560" y="3771138"/>
            <a:ext cx="6583680" cy="1895856"/>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a:t>
            </a:r>
          </a:p>
          <a:p>
            <a:pPr algn="l">
              <a:lnSpc>
                <a:spcPct val="115000"/>
              </a:lnSpc>
              <a:spcBef>
                <a:spcPts val="600"/>
              </a:spcBef>
              <a:spcAft>
                <a:spcPts val="0"/>
              </a:spcAft>
            </a:pPr>
            <a:r>
              <a:rPr sz="1700" b="0" i="0">
                <a:solidFill>
                  <a:srgbClr val="1A1A1A"/>
                </a:solidFill>
                <a:latin typeface="Arial"/>
              </a:rPr>
              <a:t>Lim calls ID/NR a volatility breakout pattern and defines ID/NR n as an inside day breakout from the narrowest bar over the last n days (p. 232). He gives no other reason. Reading the narrowest bar as the quietest is ours, not his.</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Its Gap label is the opening gap from the previous bar; the rule is that no gap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plain reading: the narrowest bar is the quietest in a while, like the inside bar the book's arrow names in Figure 7.38 </a:t>
            </a:r>
            <a:r>
              <a:rPr sz="1700" b="1" i="0">
                <a:solidFill>
                  <a:srgbClr val="E09B00"/>
                </a:solidFill>
                <a:latin typeface="Arial"/>
              </a:rPr>
              <a:t>(1)</a:t>
            </a:r>
            <a:r>
              <a:rPr sz="1700" b="0" i="0">
                <a:solidFill>
                  <a:srgbClr val="1A1A1A"/>
                </a:solidFill>
                <a:latin typeface="Arial"/>
              </a:rPr>
              <a:t>,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pattern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bar closes at or near its low. In pattern 2 </a:t>
            </a:r>
            <a:r>
              <a:rPr sz="1700" b="1" i="0">
                <a:solidFill>
                  <a:srgbClr val="C62828"/>
                </a:solidFill>
                <a:latin typeface="Arial"/>
              </a:rPr>
              <a:t>(2)</a:t>
            </a:r>
            <a:r>
              <a:rPr sz="1700" b="0" i="0">
                <a:solidFill>
                  <a:srgbClr val="1A1A1A"/>
                </a:solidFill>
                <a:latin typeface="Arial"/>
              </a:rPr>
              <a:t>, a narrow range middle bar closes within its range on low volume, and the third bar closes at or near its low.</a:t>
            </a:r>
          </a:p>
          <a:p>
            <a:pPr algn="l">
              <a:lnSpc>
                <a:spcPct val="105000"/>
              </a:lnSpc>
              <a:spcBef>
                <a:spcPts val="0"/>
              </a:spcBef>
              <a:spcAft>
                <a:spcPts val="1100"/>
              </a:spcAft>
            </a:pPr>
            <a:r>
              <a:rPr sz="1700" b="0" i="0">
                <a:solidFill>
                  <a:srgbClr val="1A1A1A"/>
                </a:solidFill>
                <a:latin typeface="Arial"/>
              </a:rPr>
              <a:t>On trading, Lim gives only what makes the pattern more reliable: larger gaps, wider first and third bars, and a last bar closing near its low on high volume (pp. 213 to 214). He gives no entry or exit rule.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