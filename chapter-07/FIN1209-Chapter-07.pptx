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these out once, slowly. These are the exact learning objectives in the course booklet for this week.</a:t>
            </a:r>
          </a:p>
          <a:p>
            <a:r>
              <a:rPr sz="1400"/>
              <a:t>- Tell them every one of these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shape of the session out loud: six parts, roughly twenty five minutes each.</a:t>
            </a:r>
          </a:p>
          <a:p>
            <a:r>
              <a:rPr sz="1400"/>
              <a:t>- Tell them the checks are for reading the room, not for 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1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2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3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Start with the five steps in the body, then point to the same three numbered places on Figure 7.15.</a:t>
            </a:r>
          </a:p>
          <a:p>
            <a:r>
              <a:rPr sz="1400"/>
              <a:t>- The book says the bar opens above the previous high, makes a new high, and closes below the previous close. Above average volume strengthens the reading, but does not guarantee a rapid decline.</a:t>
            </a:r>
          </a:p>
          <a:p>
            <a:r>
              <a:rPr sz="1400"/>
              <a:t>- The figure also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4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plan folder PDF, not to an unbuilt slide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How a bar can warn of a potential reversal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OHLC construction and the range of a price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Separate intrinsic sentiment from trend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the book’s bar reversal patterns with numbers and figures.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Use the 16 reversal characteristics as context, not certainty.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How today is laid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 The price bar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 Reading a pattern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 Popular reversal patterns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4  Volatility-based breakouts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Six parts, a check every few terms, and a clean stop at every boundary.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The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OHLC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range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higher timeframe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Reading a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continuation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16 characteristics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Popular Reversal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key 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exhaustion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pin 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five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In an uptrend, the bar makes a higher high, then closes near or below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Ours: previous high 52.00, close 51.10. New bar opens 52.30, reaches 53.20, closes 50.80, volume 4.2 million versus 2.0 million.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Open above the old high. </a:t>
            </a:r>
            <a:r>
              <a:rPr sz="15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Make a new high. </a:t>
            </a:r>
            <a:r>
              <a:rPr sz="15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Close below the old close; read the above-average volume.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A wider bar can make downside follow-through potentially more reliable. A decline may wait through consolidation.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85766"/>
            <a:ext cx="82296" cy="6339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22342"/>
            <a:ext cx="5925312" cy="633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Arial"/>
              </a:rPr>
              <a:t>A warning of potential reversal, not a promise of immediate decline.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199" y="1810512"/>
            <a:ext cx="4099255" cy="251278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4071" y="1929384"/>
            <a:ext cx="3861511" cy="227504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8615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8392" y="2203703"/>
            <a:ext cx="3312871" cy="18178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opens above the previous high, makes a new high, closes below the previous close, and has above average volume.</a:t>
            </a:r>
          </a:p>
        </p:txBody>
      </p:sp>
      <p:sp>
        <p:nvSpPr>
          <p:cNvPr id="14" name="Oval 13"/>
          <p:cNvSpPr/>
          <p:nvPr/>
        </p:nvSpPr>
        <p:spPr>
          <a:xfrm>
            <a:off x="9422750" y="1997635"/>
            <a:ext cx="270305" cy="45500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22750" y="2429893"/>
            <a:ext cx="270305" cy="3867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84135" y="3612914"/>
            <a:ext cx="347535" cy="54600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72760" y="184218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711375" y="266120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749991" y="373047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199" y="4414737"/>
            <a:ext cx="4099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worked PHP values are ours, invented to show the rule.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Exhaustion, ours: prior high 65.00; open 65.40, high 66.20, low 60.00, close 60.50; next open 60.20, so no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Pin bar, ours: support 40.00; low 38.80, close 40.60, volume 0.8 million. It penetrates support, then closes back above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Exhaustion does not usually falsely penetrate a barrier. Pin bars do, and the book says they usually form on low volume.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6644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559552" cy="664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The difference is the false barrier penetration, not simply a long wick.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1810512"/>
            <a:ext cx="4465014" cy="297975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312" y="1929384"/>
            <a:ext cx="4227270" cy="274201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49440" y="488170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Key reversal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9109" y="987552"/>
            <a:ext cx="2533476" cy="15902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47981" y="1106424"/>
            <a:ext cx="2295732" cy="135254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47981" y="1106424"/>
            <a:ext cx="229573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22301" y="1380744"/>
            <a:ext cx="1747092" cy="8953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alatino"/>
              </a:rPr>
              <a:t>Apple daily chart. The marked bar opens above the previous high, makes a new high, closes below the previous close, and has above average volume.</a:t>
            </a:r>
          </a:p>
        </p:txBody>
      </p:sp>
      <p:sp>
        <p:nvSpPr>
          <p:cNvPr id="10" name="Oval 9"/>
          <p:cNvSpPr/>
          <p:nvPr/>
        </p:nvSpPr>
        <p:spPr>
          <a:xfrm>
            <a:off x="6130283" y="1147000"/>
            <a:ext cx="160701" cy="27050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30283" y="1403984"/>
            <a:ext cx="160701" cy="22993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07326" y="2107310"/>
            <a:ext cx="206615" cy="32461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5887" y="99155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6238844" y="147847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6261802" y="211416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669285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3605"/>
            <a:ext cx="4998567" cy="304571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144774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419093"/>
            <a:ext cx="4449927" cy="9852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bar must make a higher high than the previous bar and then: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477511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Close near or below the previous close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Close above the previous high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Open below the previous low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Trade on low volume 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15887" y="2943605"/>
            <a:ext cx="4998567" cy="304571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90207" y="3144774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0207" y="3419093"/>
            <a:ext cx="4449927" cy="6873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In the invented example, what does the blue mark identify on Figure 7.15?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0207" y="4477511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previous bar's close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The new high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The above-average volume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The later consolidation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Key reversal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212818" y="987552"/>
            <a:ext cx="3766058" cy="2316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31690" y="1106424"/>
            <a:ext cx="3528314" cy="2078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31690" y="1106424"/>
            <a:ext cx="352831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6010" y="1380744"/>
            <a:ext cx="2979674" cy="1621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opens above the previous high, makes a new high, closes below the previous close, and has above average volume.</a:t>
            </a:r>
          </a:p>
        </p:txBody>
      </p:sp>
      <p:sp>
        <p:nvSpPr>
          <p:cNvPr id="10" name="Oval 9"/>
          <p:cNvSpPr/>
          <p:nvPr/>
        </p:nvSpPr>
        <p:spPr>
          <a:xfrm>
            <a:off x="6148772" y="1168786"/>
            <a:ext cx="246982" cy="41574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48772" y="1563745"/>
            <a:ext cx="246982" cy="35338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13489" y="2644688"/>
            <a:ext cx="317548" cy="498896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63797" y="101333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6399080" y="1761683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6434363" y="273868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3954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69792"/>
            <a:ext cx="5090007" cy="23195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669792"/>
            <a:ext cx="91440" cy="231952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852672"/>
            <a:ext cx="4541367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bearish key reversal bar must make a higher high than the previous bar and then: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484624"/>
            <a:ext cx="4541367" cy="148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Close near or below the previous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4447" y="3669792"/>
            <a:ext cx="5090007" cy="23195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24447" y="3669792"/>
            <a:ext cx="91440" cy="231952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4487" y="3852672"/>
            <a:ext cx="4541367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In the invented example, what does the blue mark identify on Figure 7.15?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487" y="4484624"/>
            <a:ext cx="4541367" cy="1486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The above-average volume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Blue mark 3 identifies the above-average volume below the key reversal bar.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Key reversal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6255" y="987552"/>
            <a:ext cx="3039184" cy="18882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695127" y="1106424"/>
            <a:ext cx="2801440" cy="165049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95127" y="1106424"/>
            <a:ext cx="28014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69447" y="1380744"/>
            <a:ext cx="2252800" cy="1193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Palatino"/>
              </a:rPr>
              <a:t>Apple daily chart. The marked bar opens above the previous high, makes a new high, closes below the previous close, and has above average volume.</a:t>
            </a:r>
          </a:p>
        </p:txBody>
      </p:sp>
      <p:sp>
        <p:nvSpPr>
          <p:cNvPr id="10" name="Oval 9"/>
          <p:cNvSpPr/>
          <p:nvPr/>
        </p:nvSpPr>
        <p:spPr>
          <a:xfrm>
            <a:off x="6137869" y="1155938"/>
            <a:ext cx="196100" cy="33009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37869" y="1469532"/>
            <a:ext cx="196100" cy="28058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09854" y="2327788"/>
            <a:ext cx="252129" cy="39611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76572" y="100049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6304586" y="1594667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6332601" y="237039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967227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241548"/>
            <a:ext cx="4998567" cy="2747772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44271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717035"/>
            <a:ext cx="4449927" cy="6873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477511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15887" y="3241548"/>
            <a:ext cx="4998567" cy="2747772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90207" y="344271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0207" y="3717035"/>
            <a:ext cx="4449927" cy="389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0207" y="4477511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Downtrend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Flat market only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Monthly chart only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Key reversal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6605" y="987552"/>
            <a:ext cx="4658484" cy="28422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85477" y="1106424"/>
            <a:ext cx="4420740" cy="260451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85477" y="1106424"/>
            <a:ext cx="44207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59797" y="1380744"/>
            <a:ext cx="3872100" cy="2147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opens above the previous high, makes a new high, closes below the previous close, and has above average volume.</a:t>
            </a:r>
          </a:p>
        </p:txBody>
      </p:sp>
      <p:sp>
        <p:nvSpPr>
          <p:cNvPr id="10" name="Oval 9"/>
          <p:cNvSpPr/>
          <p:nvPr/>
        </p:nvSpPr>
        <p:spPr>
          <a:xfrm>
            <a:off x="6162158" y="1184559"/>
            <a:ext cx="309451" cy="52090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62158" y="1679417"/>
            <a:ext cx="309451" cy="44276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17951" y="3033765"/>
            <a:ext cx="397866" cy="62508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0888" y="1029111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6515095" y="1966737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6559303" y="319085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921251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95572"/>
            <a:ext cx="5090007" cy="17937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95572"/>
            <a:ext cx="91440" cy="179374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378452"/>
            <a:ext cx="4541367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010403"/>
            <a:ext cx="4541367" cy="9606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4447" y="4195572"/>
            <a:ext cx="5090007" cy="17937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24447" y="4195572"/>
            <a:ext cx="91440" cy="179374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4487" y="4378452"/>
            <a:ext cx="4541367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487" y="4776723"/>
            <a:ext cx="4541367" cy="11943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Flat market only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4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Volatility-Based Breakouts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Williams’ Oops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ID/NR4 to NR7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Foundation build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full Chapter 7 deck follows the approved outline in four parts.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These samples establish the five-step teaching pattern, readable figures, numbered marks, and separate question and answer slides.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Approval of the outline and samples is the gate for the full build.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Foundation scaffold for the approved Chapter 7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