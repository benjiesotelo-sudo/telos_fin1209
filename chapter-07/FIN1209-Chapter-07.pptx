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a bullish formation after the uptrend: it agrees, a continuation.</a:t>
            </a:r>
          </a:p>
          <a:p>
            <a:r>
              <a:rPr sz="1400"/>
              <a:t>- Red 2 boxes a bearish formation after the same uptrend: it disagrees,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boxes the PHP 1.00 gap when the middle bar's low is 51.00.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boxes the PHP 1.00 gap when the middle bar's low is 51.00.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way of sorting is the intrinsic bias or sentiment of a formation: whether the formation itself leans bullish or bearish (pp. 210 to 211). Chapter 4 called this intrinsic bias. His example: a standard head and shoulders </a:t>
            </a:r>
            <a:r>
              <a:rPr sz="1700" b="1" i="0">
                <a:solidFill>
                  <a:srgbClr val="E09B00"/>
                </a:solidFill>
                <a:latin typeface="Arial"/>
              </a:rPr>
              <a:t>(1)</a:t>
            </a:r>
            <a:r>
              <a:rPr sz="1700" b="0" i="0">
                <a:solidFill>
                  <a:srgbClr val="1A1A1A"/>
                </a:solidFill>
                <a:latin typeface="Arial"/>
              </a:rPr>
              <a:t> is intrinsically bearish, and an inverted head and shoulders </a:t>
            </a:r>
            <a:r>
              <a:rPr sz="1700" b="1" i="0">
                <a:solidFill>
                  <a:srgbClr val="C62828"/>
                </a:solidFill>
                <a:latin typeface="Arial"/>
              </a:rPr>
              <a:t>(2)</a:t>
            </a:r>
            <a:r>
              <a:rPr sz="1700" b="0" i="0">
                <a:solidFill>
                  <a:srgbClr val="1A1A1A"/>
                </a:solidFill>
                <a:latin typeface="Arial"/>
              </a:rPr>
              <a:t> is intrinsically bullish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lean belongs to the formation, so it stays the same whichever trend the formation appears in. Intrinsic sentiment is about the formation, not the trend around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 For example, with prices of ours: one bar has a low of PHP 47.90 </a:t>
            </a:r>
            <a:r>
              <a:rPr sz="1700" b="1" i="0">
                <a:solidFill>
                  <a:srgbClr val="E09B00"/>
                </a:solidFill>
                <a:latin typeface="Arial"/>
              </a:rPr>
              <a:t>(1)</a:t>
            </a:r>
            <a:r>
              <a:rPr sz="1700" b="0" i="0">
                <a:solidFill>
                  <a:srgbClr val="1A1A1A"/>
                </a:solidFill>
                <a:latin typeface="Arial"/>
              </a:rPr>
              <a:t> and the next bar closes at PHP 47.50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close is below the previous low, so this two-bar formation leans bearish. Lim calls it a general rule, so treat it as a clue, not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uptrend with two different formations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comparison drawn. In both panels prices have been rising, so the trend sentiment is bullish. A bullish formation </a:t>
            </a:r>
            <a:r>
              <a:rPr sz="1700" b="1" i="0">
                <a:solidFill>
                  <a:srgbClr val="E09B00"/>
                </a:solidFill>
                <a:latin typeface="Arial"/>
              </a:rPr>
              <a:t>(1)</a:t>
            </a:r>
            <a:r>
              <a:rPr sz="1700" b="0" i="0">
                <a:solidFill>
                  <a:srgbClr val="1A1A1A"/>
                </a:solidFill>
                <a:latin typeface="Arial"/>
              </a:rPr>
              <a:t> agrees with it, so Lim considers it a continuation. A bearish formation </a:t>
            </a:r>
            <a:r>
              <a:rPr sz="1700" b="1" i="0">
                <a:solidFill>
                  <a:srgbClr val="C62828"/>
                </a:solidFill>
                <a:latin typeface="Arial"/>
              </a:rPr>
              <a:t>(2)</a:t>
            </a:r>
            <a:r>
              <a:rPr sz="1700" b="0" i="0">
                <a:solidFill>
                  <a:srgbClr val="1A1A1A"/>
                </a:solidFill>
                <a:latin typeface="Arial"/>
              </a:rPr>
              <a:t> disagrees, so it is a reversal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x-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069080" y="3063239"/>
            <a:ext cx="1719072" cy="1188720"/>
          </a:xfrm>
          <a:prstGeom prst="rect">
            <a:avLst/>
          </a:prstGeom>
          <a:noFill/>
          <a:ln w="44450">
            <a:solidFill>
              <a:srgbClr val="E09B00"/>
            </a:solidFill>
          </a:ln>
        </p:spPr>
        <p:txBody>
          <a:bodyPr rtlCol="0" anchor="ctr"/>
          <a:lstStyle/>
          <a:p>
            <a:pPr algn="ctr"/>
          </a:p>
        </p:txBody>
      </p:sp>
      <p:sp>
        <p:nvSpPr>
          <p:cNvPr id="10" name="Rectangle 9"/>
          <p:cNvSpPr/>
          <p:nvPr/>
        </p:nvSpPr>
        <p:spPr>
          <a:xfrm>
            <a:off x="9281160" y="3479291"/>
            <a:ext cx="1719072" cy="1124712"/>
          </a:xfrm>
          <a:prstGeom prst="rect">
            <a:avLst/>
          </a:prstGeom>
          <a:noFill/>
          <a:ln w="44450">
            <a:solidFill>
              <a:srgbClr val="C62828"/>
            </a:solidFill>
          </a:ln>
        </p:spPr>
        <p:txBody>
          <a:bodyPr rtlCol="0" anchor="ctr"/>
          <a:lstStyle/>
          <a:p>
            <a:pPr algn="ctr"/>
          </a:p>
        </p:txBody>
      </p:sp>
      <p:sp>
        <p:nvSpPr>
          <p:cNvPr id="11" name="Oval 10"/>
          <p:cNvSpPr/>
          <p:nvPr/>
        </p:nvSpPr>
        <p:spPr>
          <a:xfrm>
            <a:off x="5952744" y="352958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999243" y="31932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EX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rule, p. 211.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why we keep the two sentiments apart. In a formation of ours the second bar closes at PHP 48.60 </a:t>
            </a:r>
            <a:r>
              <a:rPr sz="1700" b="1" i="0">
                <a:solidFill>
                  <a:srgbClr val="E09B00"/>
                </a:solidFill>
                <a:latin typeface="Arial"/>
              </a:rPr>
              <a:t>(1)</a:t>
            </a:r>
            <a:r>
              <a:rPr sz="1700" b="0" i="0">
                <a:solidFill>
                  <a:srgbClr val="1A1A1A"/>
                </a:solidFill>
                <a:latin typeface="Arial"/>
              </a:rPr>
              <a:t>, above the first bar's high of PHP 48.30 </a:t>
            </a:r>
            <a:r>
              <a:rPr sz="1700" b="1" i="0">
                <a:solidFill>
                  <a:srgbClr val="C62828"/>
                </a:solidFill>
                <a:latin typeface="Arial"/>
              </a:rPr>
              <a:t>(2)</a:t>
            </a:r>
            <a:r>
              <a:rPr sz="1700" b="0" i="0">
                <a:solidFill>
                  <a:srgbClr val="1A1A1A"/>
                </a:solidFill>
                <a:latin typeface="Arial"/>
              </a:rPr>
              <a:t>, so it is intrinsically bullish. Suppose prices rose </a:t>
            </a:r>
            <a:r>
              <a:rPr sz="1700" b="1" i="0">
                <a:solidFill>
                  <a:srgbClr val="1F5FAD"/>
                </a:solidFill>
                <a:latin typeface="Arial"/>
              </a:rPr>
              <a:t>(3)</a:t>
            </a:r>
            <a:r>
              <a:rPr sz="1700" b="0" i="0">
                <a:solidFill>
                  <a:srgbClr val="1A1A1A"/>
                </a:solidFill>
                <a:latin typeface="Arial"/>
              </a:rPr>
              <a:t> from PHP 45.60 to PHP 48.10 before it. Trend sentiment is bullish, the two agree, and the expectation is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suppose prices fell </a:t>
            </a:r>
            <a:r>
              <a:rPr sz="1700" b="1" i="0">
                <a:solidFill>
                  <a:srgbClr val="7B3FA0"/>
                </a:solidFill>
                <a:latin typeface="Arial"/>
              </a:rPr>
              <a:t>(4)</a:t>
            </a:r>
            <a:r>
              <a:rPr sz="1700" b="0" i="0">
                <a:solidFill>
                  <a:srgbClr val="1A1A1A"/>
                </a:solidFill>
                <a:latin typeface="Arial"/>
              </a:rPr>
              <a:t> from PHP 50.60 to PHP 48.10 before it. Trend sentiment is bearish, the two disagree, and the expectation is a potential reversal. The formation never changed; only the trend around it did.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18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Put the two sentiments together and there are four cases (p. 211). In an uptrend, a bullish formation </a:t>
            </a:r>
            <a:r>
              <a:rPr sz="1700" b="1" i="0">
                <a:solidFill>
                  <a:srgbClr val="E09B00"/>
                </a:solidFill>
                <a:latin typeface="Arial"/>
              </a:rPr>
              <a:t>(1)</a:t>
            </a:r>
            <a:r>
              <a:rPr sz="1700" b="0" i="0">
                <a:solidFill>
                  <a:srgbClr val="1A1A1A"/>
                </a:solidFill>
                <a:latin typeface="Arial"/>
              </a:rPr>
              <a:t> agrees with the trend, so Lim considers it a continuation. A bearish formation </a:t>
            </a:r>
            <a:r>
              <a:rPr sz="1700" b="1" i="0">
                <a:solidFill>
                  <a:srgbClr val="C62828"/>
                </a:solidFill>
                <a:latin typeface="Arial"/>
              </a:rPr>
              <a:t>(2)</a:t>
            </a:r>
            <a:r>
              <a:rPr sz="1700" b="0" i="0">
                <a:solidFill>
                  <a:srgbClr val="1A1A1A"/>
                </a:solidFill>
                <a:latin typeface="Arial"/>
              </a:rPr>
              <a:t> disagrees, so it is a potential reversal. In a downtrend, a bullish formation </a:t>
            </a:r>
            <a:r>
              <a:rPr sz="1700" b="1" i="0">
                <a:solidFill>
                  <a:srgbClr val="1F5FAD"/>
                </a:solidFill>
                <a:latin typeface="Arial"/>
              </a:rPr>
              <a:t>(3)</a:t>
            </a:r>
            <a:r>
              <a:rPr sz="1700" b="0" i="0">
                <a:solidFill>
                  <a:srgbClr val="1A1A1A"/>
                </a:solidFill>
                <a:latin typeface="Arial"/>
              </a:rPr>
              <a:t> disagrees, so it is a potential reversal. A bearish formation </a:t>
            </a:r>
            <a:r>
              <a:rPr sz="1700" b="1" i="0">
                <a:solidFill>
                  <a:srgbClr val="7B3FA0"/>
                </a:solidFill>
                <a:latin typeface="Arial"/>
              </a:rPr>
              <a:t>(4)</a:t>
            </a:r>
            <a:r>
              <a:rPr sz="1700" b="0" i="0">
                <a:solidFill>
                  <a:srgbClr val="1A1A1A"/>
                </a:solidFill>
                <a:latin typeface="Arial"/>
              </a:rPr>
              <a:t> agrees, so it is a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suggests continuation; disagreement suggests a potential reversal.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21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has bearish intrinsic sentiment and an inverted head and shoulders bullish, as Chapter 4's "Intrinsic bias" explains (p. 211). Let us put invented prices on it. A stock climbs from PHP 40 to PHP 50 </a:t>
            </a:r>
            <a:r>
              <a:rPr sz="1700" b="1" i="0">
                <a:solidFill>
                  <a:srgbClr val="E09B00"/>
                </a:solidFill>
                <a:latin typeface="Arial"/>
              </a:rPr>
              <a:t>(1)</a:t>
            </a:r>
            <a:r>
              <a:rPr sz="1700" b="0" i="0">
                <a:solidFill>
                  <a:srgbClr val="1A1A1A"/>
                </a:solidFill>
                <a:latin typeface="Arial"/>
              </a:rPr>
              <a:t> over ten days, so the trend sentiment is bullish. An inverted head and shoulders </a:t>
            </a:r>
            <a:r>
              <a:rPr sz="1700" b="1" i="0">
                <a:solidFill>
                  <a:srgbClr val="C62828"/>
                </a:solidFill>
                <a:latin typeface="Arial"/>
              </a:rPr>
              <a:t>(2)</a:t>
            </a:r>
            <a:r>
              <a:rPr sz="1700" b="0" i="0">
                <a:solidFill>
                  <a:srgbClr val="1A1A1A"/>
                </a:solidFill>
                <a:latin typeface="Arial"/>
              </a:rPr>
              <a:t> at PHP 50 agrees with that trend, so Lim calls it a continuation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a:t>
            </a:r>
            <a:r>
              <a:rPr sz="1700" b="1" i="0">
                <a:solidFill>
                  <a:srgbClr val="1F5FAD"/>
                </a:solidFill>
                <a:latin typeface="Arial"/>
              </a:rPr>
              <a:t>(3)</a:t>
            </a:r>
            <a:r>
              <a:rPr sz="1700" b="0" i="0">
                <a:solidFill>
                  <a:srgbClr val="1A1A1A"/>
                </a:solidFill>
                <a:latin typeface="Arial"/>
              </a:rPr>
              <a:t> in the same place disagrees, so it is a reversal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For one-bar and two-bar patterns in an uptrend, Lim's general rule is that a close below the previous bar's close or low is bearish, especially when that previous bar is large or wide-ranging (p. 212). Here it is with invented prices. Yesterday's bar ran from PHP 49.00 to PHP 52.00 and closed at PHP 51.80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51.20 </a:t>
            </a:r>
            <a:r>
              <a:rPr sz="1700" b="1" i="0">
                <a:solidFill>
                  <a:srgbClr val="C62828"/>
                </a:solidFill>
                <a:latin typeface="Arial"/>
              </a:rPr>
              <a:t>(2)</a:t>
            </a:r>
            <a:r>
              <a:rPr sz="1700" b="0" i="0">
                <a:solidFill>
                  <a:srgbClr val="1A1A1A"/>
                </a:solidFill>
                <a:latin typeface="Arial"/>
              </a:rPr>
              <a:t> is below yesterday's close; a close at PHP 48.80 </a:t>
            </a:r>
            <a:r>
              <a:rPr sz="1700" b="1" i="0">
                <a:solidFill>
                  <a:srgbClr val="1F5FAD"/>
                </a:solidFill>
                <a:latin typeface="Arial"/>
              </a:rPr>
              <a:t>(3)</a:t>
            </a:r>
            <a:r>
              <a:rPr sz="1700" b="0" i="0">
                <a:solidFill>
                  <a:srgbClr val="1A1A1A"/>
                </a:solidFill>
                <a:latin typeface="Arial"/>
              </a:rPr>
              <a:t> is below yesterday's low </a:t>
            </a:r>
            <a:r>
              <a:rPr sz="1700" b="1" i="0">
                <a:solidFill>
                  <a:srgbClr val="7B3FA0"/>
                </a:solidFill>
                <a:latin typeface="Arial"/>
              </a:rPr>
              <a:t>(4)</a:t>
            </a:r>
            <a:r>
              <a:rPr sz="1700" b="0" i="0">
                <a:solidFill>
                  <a:srgbClr val="1A1A1A"/>
                </a:solidFill>
                <a:latin typeface="Arial"/>
              </a:rPr>
              <a:t> as well. Yesterday's PHP 3.00 range is wide, the case Lim says counts for more.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87</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87</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87</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downtrend Lim's close rule turns around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general rule is the mirror image: a close above the previous bar's close or high is bullish, especially if the previous bar is large or wide-ranging (p. 212). Here it is with invented prices. Yesterday's bar ran from PHP 38.00 to PHP 41.00 and closed at PHP 38.20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downtrend Lim's close rule turns around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38.80 </a:t>
            </a:r>
            <a:r>
              <a:rPr sz="1700" b="1" i="0">
                <a:solidFill>
                  <a:srgbClr val="C62828"/>
                </a:solidFill>
                <a:latin typeface="Arial"/>
              </a:rPr>
              <a:t>(2)</a:t>
            </a:r>
            <a:r>
              <a:rPr sz="1700" b="0" i="0">
                <a:solidFill>
                  <a:srgbClr val="1A1A1A"/>
                </a:solidFill>
                <a:latin typeface="Arial"/>
              </a:rPr>
              <a:t> is above yesterday's close; a close at PHP 41.20 </a:t>
            </a:r>
            <a:r>
              <a:rPr sz="1700" b="1" i="0">
                <a:solidFill>
                  <a:srgbClr val="1F5FAD"/>
                </a:solidFill>
                <a:latin typeface="Arial"/>
              </a:rPr>
              <a:t>(3)</a:t>
            </a:r>
            <a:r>
              <a:rPr sz="1700" b="0" i="0">
                <a:solidFill>
                  <a:srgbClr val="1A1A1A"/>
                </a:solidFill>
                <a:latin typeface="Arial"/>
              </a:rPr>
              <a:t> is above yesterday's high </a:t>
            </a:r>
            <a:r>
              <a:rPr sz="1700" b="1" i="0">
                <a:solidFill>
                  <a:srgbClr val="7B3FA0"/>
                </a:solidFill>
                <a:latin typeface="Arial"/>
              </a:rPr>
              <a:t>(4)</a:t>
            </a:r>
            <a:r>
              <a:rPr sz="1700" b="0" i="0">
                <a:solidFill>
                  <a:srgbClr val="1A1A1A"/>
                </a:solidFill>
                <a:latin typeface="Arial"/>
              </a:rPr>
              <a:t> as well. Now the close has to climb past yesterday's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87</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87</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87</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Three-bar patterns add a middle bar, and sometimes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six basic triple bar bearish reversal patterns in an uptrend (p. 213). Each has a first bar, a middle bar and a last bar. His first rule is about gaps: the larger the gaps, the more bearish the pattern once it is complete (p. 213). Let us put invented prices on it. If the first bar's high is PHP 50.00 and the middle bar's low is PHP 50.40, the gap is PHP 0.40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209544" y="4055364"/>
            <a:ext cx="585215" cy="231289"/>
          </a:xfrm>
          <a:prstGeom prst="rect">
            <a:avLst/>
          </a:prstGeom>
          <a:noFill/>
          <a:ln w="44450">
            <a:solidFill>
              <a:srgbClr val="E09B00"/>
            </a:solidFill>
          </a:ln>
        </p:spPr>
        <p:txBody>
          <a:bodyPr rtlCol="0" anchor="ctr"/>
          <a:lstStyle/>
          <a:p>
            <a:pPr algn="ctr"/>
          </a:p>
        </p:txBody>
      </p:sp>
      <p:sp>
        <p:nvSpPr>
          <p:cNvPr id="10" name="Rectangle 9"/>
          <p:cNvSpPr/>
          <p:nvPr/>
        </p:nvSpPr>
        <p:spPr>
          <a:xfrm>
            <a:off x="8421624" y="3708429"/>
            <a:ext cx="585216" cy="578223"/>
          </a:xfrm>
          <a:prstGeom prst="rect">
            <a:avLst/>
          </a:prstGeom>
          <a:noFill/>
          <a:ln w="44450">
            <a:solidFill>
              <a:srgbClr val="C62828"/>
            </a:solidFill>
          </a:ln>
        </p:spPr>
        <p:txBody>
          <a:bodyPr rtlCol="0" anchor="ctr"/>
          <a:lstStyle/>
          <a:p>
            <a:pPr algn="ctr"/>
          </a:p>
        </p:txBody>
      </p:sp>
      <p:sp>
        <p:nvSpPr>
          <p:cNvPr id="11" name="Oval 10"/>
          <p:cNvSpPr/>
          <p:nvPr/>
        </p:nvSpPr>
        <p:spPr>
          <a:xfrm>
            <a:off x="395935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171432" y="38695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87</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Three-bar patterns add a middle bar, and sometimes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middle bar whose low is PHP 51.00 would leave a PHP 1.00 gap </a:t>
            </a:r>
            <a:r>
              <a:rPr sz="1700" b="1" i="0">
                <a:solidFill>
                  <a:srgbClr val="C62828"/>
                </a:solidFill>
                <a:latin typeface="Arial"/>
              </a:rPr>
              <a:t>(2)</a:t>
            </a:r>
            <a:r>
              <a:rPr sz="1700" b="0" i="0">
                <a:solidFill>
                  <a:srgbClr val="1A1A1A"/>
                </a:solidFill>
                <a:latin typeface="Arial"/>
              </a:rPr>
              <a:t>, and Lim would read that pattern as more bearish.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209544" y="4055364"/>
            <a:ext cx="585215" cy="231289"/>
          </a:xfrm>
          <a:prstGeom prst="rect">
            <a:avLst/>
          </a:prstGeom>
          <a:noFill/>
          <a:ln w="44450">
            <a:solidFill>
              <a:srgbClr val="E09B00"/>
            </a:solidFill>
          </a:ln>
        </p:spPr>
        <p:txBody>
          <a:bodyPr rtlCol="0" anchor="ctr"/>
          <a:lstStyle/>
          <a:p>
            <a:pPr algn="ctr"/>
          </a:p>
        </p:txBody>
      </p:sp>
      <p:sp>
        <p:nvSpPr>
          <p:cNvPr id="10" name="Rectangle 9"/>
          <p:cNvSpPr/>
          <p:nvPr/>
        </p:nvSpPr>
        <p:spPr>
          <a:xfrm>
            <a:off x="8421624" y="3708429"/>
            <a:ext cx="585216" cy="578223"/>
          </a:xfrm>
          <a:prstGeom prst="rect">
            <a:avLst/>
          </a:prstGeom>
          <a:noFill/>
          <a:ln w="44450">
            <a:solidFill>
              <a:srgbClr val="C62828"/>
            </a:solidFill>
          </a:ln>
        </p:spPr>
        <p:txBody>
          <a:bodyPr rtlCol="0" anchor="ctr"/>
          <a:lstStyle/>
          <a:p>
            <a:pPr algn="ctr"/>
          </a:p>
        </p:txBody>
      </p:sp>
      <p:sp>
        <p:nvSpPr>
          <p:cNvPr id="11" name="Oval 10"/>
          <p:cNvSpPr/>
          <p:nvPr/>
        </p:nvSpPr>
        <p:spPr>
          <a:xfrm>
            <a:off x="395935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171432" y="38695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87</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87</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87</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eleven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 and 2: the swings get smaller and shorter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 decrease in price cycle amplitude: each swing covers less ground, say rises of 40 points </a:t>
            </a:r>
            <a:r>
              <a:rPr sz="1700" b="1" i="0">
                <a:solidFill>
                  <a:srgbClr val="E09B00"/>
                </a:solidFill>
                <a:latin typeface="Arial"/>
              </a:rPr>
              <a:t>(1)</a:t>
            </a:r>
            <a:r>
              <a:rPr sz="1700" b="0" i="0">
                <a:solidFill>
                  <a:srgbClr val="1A1A1A"/>
                </a:solidFill>
                <a:latin typeface="Arial"/>
              </a:rPr>
              <a:t> shrinking to 30 </a:t>
            </a:r>
            <a:r>
              <a:rPr sz="1700" b="1" i="0">
                <a:solidFill>
                  <a:srgbClr val="C62828"/>
                </a:solidFill>
                <a:latin typeface="Arial"/>
              </a:rPr>
              <a:t>(2)</a:t>
            </a:r>
            <a:r>
              <a:rPr sz="1700" b="0" i="0">
                <a:solidFill>
                  <a:srgbClr val="1A1A1A"/>
                </a:solidFill>
                <a:latin typeface="Arial"/>
              </a:rPr>
              <a:t> (Chapter 5, "1 Cycle amplitude"). Characteristic 2, decrease in price cycle period: each swing takes less time, say 20 bars </a:t>
            </a:r>
            <a:r>
              <a:rPr sz="1700" b="1" i="0">
                <a:solidFill>
                  <a:srgbClr val="1F5FAD"/>
                </a:solidFill>
                <a:latin typeface="Arial"/>
              </a:rPr>
              <a:t>(3)</a:t>
            </a:r>
            <a:r>
              <a:rPr sz="1700" b="0" i="0">
                <a:solidFill>
                  <a:srgbClr val="1A1A1A"/>
                </a:solidFill>
                <a:latin typeface="Arial"/>
              </a:rPr>
              <a:t> falling to 12 </a:t>
            </a:r>
            <a:r>
              <a:rPr sz="1700" b="1" i="0">
                <a:solidFill>
                  <a:srgbClr val="7B3FA0"/>
                </a:solidFill>
                <a:latin typeface="Arial"/>
              </a:rPr>
              <a:t>(4)</a:t>
            </a:r>
            <a:r>
              <a:rPr sz="1700" b="0" i="0">
                <a:solidFill>
                  <a:srgbClr val="1A1A1A"/>
                </a:solidFill>
                <a:latin typeface="Arial"/>
              </a:rPr>
              <a:t> (Chapter 5, "2 Cycle period").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283208" y="3957945"/>
            <a:ext cx="1267968" cy="1195753"/>
          </a:xfrm>
          <a:prstGeom prst="rect">
            <a:avLst/>
          </a:prstGeom>
          <a:noFill/>
          <a:ln w="44450">
            <a:solidFill>
              <a:srgbClr val="E09B00"/>
            </a:solidFill>
          </a:ln>
        </p:spPr>
        <p:txBody>
          <a:bodyPr rtlCol="0" anchor="ctr"/>
          <a:lstStyle/>
          <a:p>
            <a:pPr algn="ctr"/>
          </a:p>
        </p:txBody>
      </p:sp>
      <p:sp>
        <p:nvSpPr>
          <p:cNvPr id="10" name="Rectangle 9"/>
          <p:cNvSpPr/>
          <p:nvPr/>
        </p:nvSpPr>
        <p:spPr>
          <a:xfrm>
            <a:off x="4453128" y="3766624"/>
            <a:ext cx="1267968" cy="908772"/>
          </a:xfrm>
          <a:prstGeom prst="rect">
            <a:avLst/>
          </a:prstGeom>
          <a:noFill/>
          <a:ln w="44450">
            <a:solidFill>
              <a:srgbClr val="C62828"/>
            </a:solidFill>
          </a:ln>
        </p:spPr>
        <p:txBody>
          <a:bodyPr rtlCol="0" anchor="ctr"/>
          <a:lstStyle/>
          <a:p>
            <a:pPr algn="ctr"/>
          </a:p>
        </p:txBody>
      </p:sp>
      <p:sp>
        <p:nvSpPr>
          <p:cNvPr id="11" name="Rectangle 10"/>
          <p:cNvSpPr/>
          <p:nvPr/>
        </p:nvSpPr>
        <p:spPr>
          <a:xfrm>
            <a:off x="6512898" y="4077520"/>
            <a:ext cx="1937173" cy="1028348"/>
          </a:xfrm>
          <a:prstGeom prst="rect">
            <a:avLst/>
          </a:prstGeom>
          <a:noFill/>
          <a:ln w="44450">
            <a:solidFill>
              <a:srgbClr val="1F5FAD"/>
            </a:solidFill>
          </a:ln>
        </p:spPr>
        <p:txBody>
          <a:bodyPr rtlCol="0" anchor="ctr"/>
          <a:lstStyle/>
          <a:p>
            <a:pPr algn="ctr"/>
          </a:p>
        </p:txBody>
      </p:sp>
      <p:sp>
        <p:nvSpPr>
          <p:cNvPr id="12" name="Rectangle 11"/>
          <p:cNvSpPr/>
          <p:nvPr/>
        </p:nvSpPr>
        <p:spPr>
          <a:xfrm>
            <a:off x="9682818" y="4077520"/>
            <a:ext cx="1232746" cy="908772"/>
          </a:xfrm>
          <a:prstGeom prst="rect">
            <a:avLst/>
          </a:prstGeom>
          <a:noFill/>
          <a:ln w="44450">
            <a:solidFill>
              <a:srgbClr val="7B3FA0"/>
            </a:solidFill>
          </a:ln>
        </p:spPr>
        <p:txBody>
          <a:bodyPr rtlCol="0" anchor="ctr"/>
          <a:lstStyle/>
          <a:p>
            <a:pPr algn="ctr"/>
          </a:p>
        </p:txBody>
      </p:sp>
      <p:sp>
        <p:nvSpPr>
          <p:cNvPr id="13" name="Oval 12"/>
          <p:cNvSpPr/>
          <p:nvPr/>
        </p:nvSpPr>
        <p:spPr>
          <a:xfrm>
            <a:off x="2705797" y="46829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5688" y="4229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614663" y="46179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27239" y="437237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3 and 4: pullbacks change and bars shrink</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3, change in bar retracement symmetry: pullbacks that took 6 </a:t>
            </a:r>
            <a:r>
              <a:rPr sz="1700" b="1" i="0">
                <a:solidFill>
                  <a:srgbClr val="E09B00"/>
                </a:solidFill>
                <a:latin typeface="Arial"/>
              </a:rPr>
              <a:t>(1)</a:t>
            </a:r>
            <a:r>
              <a:rPr sz="1700" b="0" i="0">
                <a:solidFill>
                  <a:srgbClr val="1A1A1A"/>
                </a:solidFill>
                <a:latin typeface="Arial"/>
              </a:rPr>
              <a:t>, 6 and 5 bars suddenly take 2 </a:t>
            </a:r>
            <a:r>
              <a:rPr sz="1700" b="1" i="0">
                <a:solidFill>
                  <a:srgbClr val="C62828"/>
                </a:solidFill>
                <a:latin typeface="Arial"/>
              </a:rPr>
              <a:t>(2)</a:t>
            </a:r>
            <a:r>
              <a:rPr sz="1700" b="0" i="0">
                <a:solidFill>
                  <a:srgbClr val="1A1A1A"/>
                </a:solidFill>
                <a:latin typeface="Arial"/>
              </a:rPr>
              <a:t> (Chapter 5, "3 Bar retracement symmetry"). Characteristic 4, decrease in average bar range: bars that averaged PHP 3.00 </a:t>
            </a:r>
            <a:r>
              <a:rPr sz="1700" b="1" i="0">
                <a:solidFill>
                  <a:srgbClr val="1F5FAD"/>
                </a:solidFill>
                <a:latin typeface="Arial"/>
              </a:rPr>
              <a:t>(3)</a:t>
            </a:r>
            <a:r>
              <a:rPr sz="1700" b="0" i="0">
                <a:solidFill>
                  <a:srgbClr val="1A1A1A"/>
                </a:solidFill>
                <a:latin typeface="Arial"/>
              </a:rPr>
              <a:t> from low to high now average PHP 2.00 </a:t>
            </a:r>
            <a:r>
              <a:rPr sz="1700" b="1" i="0">
                <a:solidFill>
                  <a:srgbClr val="7B3FA0"/>
                </a:solidFill>
                <a:latin typeface="Arial"/>
              </a:rPr>
              <a:t>(4)</a:t>
            </a:r>
            <a:r>
              <a:rPr sz="1700" b="0" i="0">
                <a:solidFill>
                  <a:srgbClr val="1A1A1A"/>
                </a:solidFill>
                <a:latin typeface="Arial"/>
              </a:rPr>
              <a:t> (Chapter 5, "4 Average bar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2538" y="4280001"/>
            <a:ext cx="819806" cy="621791"/>
          </a:xfrm>
          <a:prstGeom prst="rect">
            <a:avLst/>
          </a:prstGeom>
          <a:noFill/>
          <a:ln w="44450">
            <a:solidFill>
              <a:srgbClr val="E09B00"/>
            </a:solidFill>
          </a:ln>
        </p:spPr>
        <p:txBody>
          <a:bodyPr rtlCol="0" anchor="ctr"/>
          <a:lstStyle/>
          <a:p>
            <a:pPr algn="ctr"/>
          </a:p>
        </p:txBody>
      </p:sp>
      <p:sp>
        <p:nvSpPr>
          <p:cNvPr id="10" name="Rectangle 9"/>
          <p:cNvSpPr/>
          <p:nvPr/>
        </p:nvSpPr>
        <p:spPr>
          <a:xfrm>
            <a:off x="5264736" y="3658209"/>
            <a:ext cx="450893" cy="455980"/>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857936"/>
            <a:ext cx="1849119" cy="1158794"/>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773146"/>
            <a:ext cx="1981199" cy="960951"/>
          </a:xfrm>
          <a:prstGeom prst="rect">
            <a:avLst/>
          </a:prstGeom>
          <a:noFill/>
          <a:ln w="44450">
            <a:solidFill>
              <a:srgbClr val="7B3FA0"/>
            </a:solidFill>
          </a:ln>
        </p:spPr>
        <p:txBody>
          <a:bodyPr rtlCol="0" anchor="ctr"/>
          <a:lstStyle/>
          <a:p>
            <a:pPr algn="ctr"/>
          </a:p>
        </p:txBody>
      </p:sp>
      <p:sp>
        <p:nvSpPr>
          <p:cNvPr id="13" name="Oval 12"/>
          <p:cNvSpPr/>
          <p:nvPr/>
        </p:nvSpPr>
        <p:spPr>
          <a:xfrm>
            <a:off x="2846937" y="45561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0222" y="382658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483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412344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5 and 6: the bars lose their quality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5, lack of the quality of price persistence: small, even bars of about PHP 1.00 </a:t>
            </a:r>
            <a:r>
              <a:rPr sz="1700" b="1" i="0">
                <a:solidFill>
                  <a:srgbClr val="E09B00"/>
                </a:solidFill>
                <a:latin typeface="Arial"/>
              </a:rPr>
              <a:t>(1)</a:t>
            </a:r>
            <a:r>
              <a:rPr sz="1700" b="0" i="0">
                <a:solidFill>
                  <a:srgbClr val="1A1A1A"/>
                </a:solidFill>
                <a:latin typeface="Arial"/>
              </a:rPr>
              <a:t> give way to uneven ones of PHP 0.40, 2.50 and 0.80 </a:t>
            </a:r>
            <a:r>
              <a:rPr sz="1700" b="1" i="0">
                <a:solidFill>
                  <a:srgbClr val="C62828"/>
                </a:solidFill>
                <a:latin typeface="Arial"/>
              </a:rPr>
              <a:t>(2)</a:t>
            </a:r>
            <a:r>
              <a:rPr sz="1700" b="0" i="0">
                <a:solidFill>
                  <a:srgbClr val="1A1A1A"/>
                </a:solidFill>
                <a:latin typeface="Arial"/>
              </a:rPr>
              <a:t> (Chapter 5, "5 Price persistence"). Characteristic 6, decrease in average bar stochastic ratio: on average, closes sit lower inside their bars, say 0.80 </a:t>
            </a:r>
            <a:r>
              <a:rPr sz="1700" b="1" i="0">
                <a:solidFill>
                  <a:srgbClr val="1F5FAD"/>
                </a:solidFill>
                <a:latin typeface="Arial"/>
              </a:rPr>
              <a:t>(3)</a:t>
            </a:r>
            <a:r>
              <a:rPr sz="1700" b="0" i="0">
                <a:solidFill>
                  <a:srgbClr val="1A1A1A"/>
                </a:solidFill>
                <a:latin typeface="Arial"/>
              </a:rPr>
              <a:t> falling to 0.40 </a:t>
            </a:r>
            <a:r>
              <a:rPr sz="1700" b="1" i="0">
                <a:solidFill>
                  <a:srgbClr val="7B3FA0"/>
                </a:solidFill>
                <a:latin typeface="Arial"/>
              </a:rPr>
              <a:t>(4)</a:t>
            </a:r>
            <a:r>
              <a:rPr sz="1700" b="0" i="0">
                <a:solidFill>
                  <a:srgbClr val="1A1A1A"/>
                </a:solidFill>
                <a:latin typeface="Arial"/>
              </a:rPr>
              <a:t> (Chapter 5, "6 The average bar stochastic ratio").</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4010558"/>
            <a:ext cx="1849119" cy="90159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86200"/>
            <a:ext cx="1981199" cy="1119225"/>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923321"/>
            <a:ext cx="1849119" cy="1136858"/>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644907"/>
            <a:ext cx="1981199" cy="858444"/>
          </a:xfrm>
          <a:prstGeom prst="rect">
            <a:avLst/>
          </a:prstGeom>
          <a:noFill/>
          <a:ln w="44450">
            <a:solidFill>
              <a:srgbClr val="7B3FA0"/>
            </a:solidFill>
          </a:ln>
        </p:spPr>
        <p:txBody>
          <a:bodyPr rtlCol="0" anchor="ctr"/>
          <a:lstStyle/>
          <a:p>
            <a:pPr algn="ctr"/>
          </a:p>
        </p:txBody>
      </p:sp>
      <p:sp>
        <p:nvSpPr>
          <p:cNvPr id="13" name="Oval 12"/>
          <p:cNvSpPr/>
          <p:nvPr/>
        </p:nvSpPr>
        <p:spPr>
          <a:xfrm>
            <a:off x="3336544" y="4468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4856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53426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392857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7, decrease in average candlestick real body to range ratio: on average the bodies shrink inside their bars, say 0.60 </a:t>
            </a:r>
            <a:r>
              <a:rPr sz="1700" b="1" i="0">
                <a:solidFill>
                  <a:srgbClr val="E09B00"/>
                </a:solidFill>
                <a:latin typeface="Arial"/>
              </a:rPr>
              <a:t>(1)</a:t>
            </a:r>
            <a:r>
              <a:rPr sz="1700" b="0" i="0">
                <a:solidFill>
                  <a:srgbClr val="1A1A1A"/>
                </a:solidFill>
                <a:latin typeface="Arial"/>
              </a:rPr>
              <a:t> falling to 0.25 </a:t>
            </a:r>
            <a:r>
              <a:rPr sz="1700" b="1" i="0">
                <a:solidFill>
                  <a:srgbClr val="C62828"/>
                </a:solidFill>
                <a:latin typeface="Arial"/>
              </a:rPr>
              <a:t>(2)</a:t>
            </a:r>
            <a:r>
              <a:rPr sz="1700" b="0" i="0">
                <a:solidFill>
                  <a:srgbClr val="1A1A1A"/>
                </a:solidFill>
                <a:latin typeface="Arial"/>
              </a:rPr>
              <a:t> (Chapter 5, "7 Real body to range ratio, BRR"). Characteristic 8, changes in angular symmetry and momentum: the trend's angle changes, say from 20 </a:t>
            </a:r>
            <a:r>
              <a:rPr sz="1700" b="1" i="0">
                <a:solidFill>
                  <a:srgbClr val="1F5FAD"/>
                </a:solidFill>
                <a:latin typeface="Arial"/>
              </a:rPr>
              <a:t>(3)</a:t>
            </a:r>
            <a:r>
              <a:rPr sz="1700" b="0" i="0">
                <a:solidFill>
                  <a:srgbClr val="1A1A1A"/>
                </a:solidFill>
                <a:latin typeface="Arial"/>
              </a:rPr>
              <a:t> to 35 degrees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5 said a steeper climb is generally bullish; Lim adds that a sudden parabolic jump is usually unsustainable and so potentially bearish (p. 218). He gives no cutoff angle (Chapter 5, "8 Angular symmetry and momentum").</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9, proximity to a price barrier: price is near a strong support or resistance, say at PHP 59 </a:t>
            </a:r>
            <a:r>
              <a:rPr sz="1700" b="1" i="0">
                <a:solidFill>
                  <a:srgbClr val="E09B00"/>
                </a:solidFill>
                <a:latin typeface="Arial"/>
              </a:rPr>
              <a:t>(1)</a:t>
            </a:r>
            <a:r>
              <a:rPr sz="1700" b="0" i="0">
                <a:solidFill>
                  <a:srgbClr val="1A1A1A"/>
                </a:solidFill>
                <a:latin typeface="Arial"/>
              </a:rPr>
              <a:t> under resistance at PHP 60 </a:t>
            </a:r>
            <a:r>
              <a:rPr sz="1700" b="1" i="0">
                <a:solidFill>
                  <a:srgbClr val="C62828"/>
                </a:solidFill>
                <a:latin typeface="Arial"/>
              </a:rPr>
              <a:t>(2)</a:t>
            </a:r>
            <a:r>
              <a:rPr sz="1700" b="0" i="0">
                <a:solidFill>
                  <a:srgbClr val="1A1A1A"/>
                </a:solidFill>
                <a:latin typeface="Arial"/>
              </a:rPr>
              <a:t> (Chapter 5, "9 Barrier proximity").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10, reduction in frequency and decrease in depth of trend-based oscillations: six dips of about 3 points </a:t>
            </a:r>
            <a:r>
              <a:rPr sz="1700" b="1" i="0">
                <a:solidFill>
                  <a:srgbClr val="1F5FAD"/>
                </a:solidFill>
                <a:latin typeface="Arial"/>
              </a:rPr>
              <a:t>(3)</a:t>
            </a:r>
            <a:r>
              <a:rPr sz="1700" b="0" i="0">
                <a:solidFill>
                  <a:srgbClr val="1A1A1A"/>
                </a:solidFill>
                <a:latin typeface="Arial"/>
              </a:rPr>
              <a:t> become two dips of 1 point </a:t>
            </a:r>
            <a:r>
              <a:rPr sz="1700" b="1" i="0">
                <a:solidFill>
                  <a:srgbClr val="7B3FA0"/>
                </a:solidFill>
                <a:latin typeface="Arial"/>
              </a:rPr>
              <a:t>(4)</a:t>
            </a:r>
            <a:r>
              <a:rPr sz="1700" b="0" i="0">
                <a:solidFill>
                  <a:srgbClr val="1A1A1A"/>
                </a:solidFill>
                <a:latin typeface="Arial"/>
              </a:rPr>
              <a:t> (Chapter 5, "10 Frequency and depth of oscillations").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11, appearance of relatively larger and longer lasting consolidations: pauses of 3 bars </a:t>
            </a:r>
            <a:r>
              <a:rPr sz="1700" b="1" i="0">
                <a:solidFill>
                  <a:srgbClr val="E09B00"/>
                </a:solidFill>
                <a:latin typeface="Arial"/>
              </a:rPr>
              <a:t>(1)</a:t>
            </a:r>
            <a:r>
              <a:rPr sz="1700" b="0" i="0">
                <a:solidFill>
                  <a:srgbClr val="1A1A1A"/>
                </a:solidFill>
                <a:latin typeface="Arial"/>
              </a:rPr>
              <a:t> give way to one of 12 bars </a:t>
            </a:r>
            <a:r>
              <a:rPr sz="1700" b="1" i="0">
                <a:solidFill>
                  <a:srgbClr val="C62828"/>
                </a:solidFill>
                <a:latin typeface="Arial"/>
              </a:rPr>
              <a:t>(2)</a:t>
            </a:r>
            <a:r>
              <a:rPr sz="1700" b="0" i="0">
                <a:solidFill>
                  <a:srgbClr val="1A1A1A"/>
                </a:solidFill>
                <a:latin typeface="Arial"/>
              </a:rPr>
              <a:t> (Chapter 5, "11 Size and duration of a consolidation"). Characteristic 12, appearance of an exhaustion gap: a third gap in the trend, say of PHP 0.80 </a:t>
            </a:r>
            <a:r>
              <a:rPr sz="1700" b="1" i="0">
                <a:solidFill>
                  <a:srgbClr val="1F5FAD"/>
                </a:solidFill>
                <a:latin typeface="Arial"/>
              </a:rPr>
              <a:t>(3)</a:t>
            </a:r>
            <a:r>
              <a:rPr sz="1700" b="0" i="0">
                <a:solidFill>
                  <a:srgbClr val="1A1A1A"/>
                </a:solidFill>
                <a:latin typeface="Arial"/>
              </a:rPr>
              <a:t>, after two earlier ones </a:t>
            </a:r>
            <a:r>
              <a:rPr sz="1700" b="1" i="0">
                <a:solidFill>
                  <a:srgbClr val="7B3FA0"/>
                </a:solidFill>
                <a:latin typeface="Arial"/>
              </a:rPr>
              <a:t>(4)</a:t>
            </a:r>
            <a:r>
              <a:rPr sz="1700" b="0" i="0">
                <a:solidFill>
                  <a:srgbClr val="1A1A1A"/>
                </a:solidFill>
                <a:latin typeface="Arial"/>
              </a:rPr>
              <a:t> (Chapter 5, "12 Third gap exhaustion").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13, completion of the average range for the period under observation: the day has already travelled its whole average range </a:t>
            </a:r>
            <a:r>
              <a:rPr sz="1700" b="1" i="0">
                <a:solidFill>
                  <a:srgbClr val="E09B00"/>
                </a:solidFill>
                <a:latin typeface="Arial"/>
              </a:rPr>
              <a:t>(1)</a:t>
            </a:r>
            <a:r>
              <a:rPr sz="1700" b="0" i="0">
                <a:solidFill>
                  <a:srgbClr val="1A1A1A"/>
                </a:solidFill>
                <a:latin typeface="Arial"/>
              </a:rPr>
              <a:t>, say all PHP 3.00 of it </a:t>
            </a:r>
            <a:r>
              <a:rPr sz="1700" b="1" i="0">
                <a:solidFill>
                  <a:srgbClr val="C62828"/>
                </a:solidFill>
                <a:latin typeface="Arial"/>
              </a:rPr>
              <a:t>(2)</a:t>
            </a:r>
            <a:r>
              <a:rPr sz="1700" b="0" i="0">
                <a:solidFill>
                  <a:srgbClr val="1A1A1A"/>
                </a:solidFill>
                <a:latin typeface="Arial"/>
              </a:rPr>
              <a:t> (Chapter 5, "13 Average period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14, overextended price action with respect to a price barrier: price spikes to PHP 61 </a:t>
            </a:r>
            <a:r>
              <a:rPr sz="1700" b="1" i="0">
                <a:solidFill>
                  <a:srgbClr val="1F5FAD"/>
                </a:solidFill>
                <a:latin typeface="Arial"/>
              </a:rPr>
              <a:t>(3)</a:t>
            </a:r>
            <a:r>
              <a:rPr sz="1700" b="0" i="0">
                <a:solidFill>
                  <a:srgbClr val="1A1A1A"/>
                </a:solidFill>
                <a:latin typeface="Arial"/>
              </a:rPr>
              <a:t> above an uptrending overlay line at PHP 60 </a:t>
            </a:r>
            <a:r>
              <a:rPr sz="1700" b="1" i="0">
                <a:solidFill>
                  <a:srgbClr val="7B3FA0"/>
                </a:solidFill>
                <a:latin typeface="Arial"/>
              </a:rPr>
              <a:t>(4)</a:t>
            </a:r>
            <a:r>
              <a:rPr sz="1700" b="0" i="0">
                <a:solidFill>
                  <a:srgbClr val="1A1A1A"/>
                </a:solidFill>
                <a:latin typeface="Arial"/>
              </a:rPr>
              <a:t>, or above an upper band, as Figure 7.13 shows two slides on (Chapter 5, "14 Overextension past an overlay barrier").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15 and 16: extreme volume and divergence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15, price accompanied by extremely high or low volume: say 5.0 million shares </a:t>
            </a:r>
            <a:r>
              <a:rPr sz="1700" b="1" i="0">
                <a:solidFill>
                  <a:srgbClr val="E09B00"/>
                </a:solidFill>
                <a:latin typeface="Arial"/>
              </a:rPr>
              <a:t>(1)</a:t>
            </a:r>
            <a:r>
              <a:rPr sz="1700" b="0" i="0">
                <a:solidFill>
                  <a:srgbClr val="1A1A1A"/>
                </a:solidFill>
                <a:latin typeface="Arial"/>
              </a:rPr>
              <a:t> against an average of 1.2 million </a:t>
            </a:r>
            <a:r>
              <a:rPr sz="1700" b="1" i="0">
                <a:solidFill>
                  <a:srgbClr val="C62828"/>
                </a:solidFill>
                <a:latin typeface="Arial"/>
              </a:rPr>
              <a:t>(2)</a:t>
            </a:r>
            <a:r>
              <a:rPr sz="1700" b="0" i="0">
                <a:solidFill>
                  <a:srgbClr val="1A1A1A"/>
                </a:solidFill>
                <a:latin typeface="Arial"/>
              </a:rPr>
              <a:t> (Chapter 5, "15 Volume spread action"). Characteristic 16, standard divergences between price, volume, and oscillators: price makes a higher high while volume falls from 3.0 </a:t>
            </a:r>
            <a:r>
              <a:rPr sz="1700" b="1" i="0">
                <a:solidFill>
                  <a:srgbClr val="1F5FAD"/>
                </a:solidFill>
                <a:latin typeface="Arial"/>
              </a:rPr>
              <a:t>(3)</a:t>
            </a:r>
            <a:r>
              <a:rPr sz="1700" b="0" i="0">
                <a:solidFill>
                  <a:srgbClr val="1A1A1A"/>
                </a:solidFill>
                <a:latin typeface="Arial"/>
              </a:rPr>
              <a:t> to 1.8 million </a:t>
            </a:r>
            <a:r>
              <a:rPr sz="1700" b="1" i="0">
                <a:solidFill>
                  <a:srgbClr val="7B3FA0"/>
                </a:solidFill>
                <a:latin typeface="Arial"/>
              </a:rPr>
              <a:t>(4)</a:t>
            </a:r>
            <a:r>
              <a:rPr sz="1700" b="0" i="0">
                <a:solidFill>
                  <a:srgbClr val="1A1A1A"/>
                </a:solidFill>
                <a:latin typeface="Arial"/>
              </a:rPr>
              <a:t> (Chapter 5, "16 Volume and oscillator divergence").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22952" y="3803904"/>
            <a:ext cx="905691" cy="1371599"/>
          </a:xfrm>
          <a:prstGeom prst="rect">
            <a:avLst/>
          </a:prstGeom>
          <a:noFill/>
          <a:ln w="44450">
            <a:solidFill>
              <a:srgbClr val="E09B00"/>
            </a:solidFill>
          </a:ln>
        </p:spPr>
        <p:txBody>
          <a:bodyPr rtlCol="0" anchor="ctr"/>
          <a:lstStyle/>
          <a:p>
            <a:pPr algn="ctr"/>
          </a:p>
        </p:txBody>
      </p:sp>
      <p:sp>
        <p:nvSpPr>
          <p:cNvPr id="10" name="Rectangle 9"/>
          <p:cNvSpPr/>
          <p:nvPr/>
        </p:nvSpPr>
        <p:spPr>
          <a:xfrm>
            <a:off x="1313397" y="4626864"/>
            <a:ext cx="2943497" cy="548639"/>
          </a:xfrm>
          <a:prstGeom prst="rect">
            <a:avLst/>
          </a:prstGeom>
          <a:noFill/>
          <a:ln w="44450">
            <a:solidFill>
              <a:srgbClr val="C62828"/>
            </a:solidFill>
          </a:ln>
        </p:spPr>
        <p:txBody>
          <a:bodyPr rtlCol="0" anchor="ctr"/>
          <a:lstStyle/>
          <a:p>
            <a:pPr algn="ctr"/>
          </a:p>
        </p:txBody>
      </p:sp>
      <p:sp>
        <p:nvSpPr>
          <p:cNvPr id="11" name="Rectangle 10"/>
          <p:cNvSpPr/>
          <p:nvPr/>
        </p:nvSpPr>
        <p:spPr>
          <a:xfrm>
            <a:off x="7466076" y="3726751"/>
            <a:ext cx="713231" cy="1448752"/>
          </a:xfrm>
          <a:prstGeom prst="rect">
            <a:avLst/>
          </a:prstGeom>
          <a:noFill/>
          <a:ln w="44450">
            <a:solidFill>
              <a:srgbClr val="1F5FAD"/>
            </a:solidFill>
          </a:ln>
        </p:spPr>
        <p:txBody>
          <a:bodyPr rtlCol="0" anchor="ctr"/>
          <a:lstStyle/>
          <a:p>
            <a:pPr algn="ctr"/>
          </a:p>
        </p:txBody>
      </p:sp>
      <p:sp>
        <p:nvSpPr>
          <p:cNvPr id="12" name="Rectangle 11"/>
          <p:cNvSpPr/>
          <p:nvPr/>
        </p:nvSpPr>
        <p:spPr>
          <a:xfrm>
            <a:off x="9843516" y="3503866"/>
            <a:ext cx="713232" cy="1671637"/>
          </a:xfrm>
          <a:prstGeom prst="rect">
            <a:avLst/>
          </a:prstGeom>
          <a:noFill/>
          <a:ln w="44450">
            <a:solidFill>
              <a:srgbClr val="7B3FA0"/>
            </a:solidFill>
          </a:ln>
        </p:spPr>
        <p:txBody>
          <a:bodyPr rtlCol="0" anchor="ctr"/>
          <a:lstStyle/>
          <a:p>
            <a:pPr algn="ctr"/>
          </a:p>
        </p:txBody>
      </p:sp>
      <p:sp>
        <p:nvSpPr>
          <p:cNvPr id="13" name="Oval 12"/>
          <p:cNvSpPr/>
          <p:nvPr/>
        </p:nvSpPr>
        <p:spPr>
          <a:xfrm>
            <a:off x="5893235" y="45674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421486" y="485546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343900" y="454042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721340" y="446241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87</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such rapid increases </a:t>
            </a:r>
            <a:r>
              <a:rPr sz="1700" b="1" i="0">
                <a:solidFill>
                  <a:srgbClr val="E09B00"/>
                </a:solidFill>
                <a:latin typeface="Arial"/>
              </a:rPr>
              <a:t>(1)</a:t>
            </a:r>
            <a:r>
              <a:rPr sz="1700" b="0" i="0">
                <a:solidFill>
                  <a:srgbClr val="1A1A1A"/>
                </a:solidFill>
                <a:latin typeface="Arial"/>
              </a:rPr>
              <a:t> are usually unsustainable, so potentially bearish (p. 218). A lack of oscillations </a:t>
            </a:r>
            <a:r>
              <a:rPr sz="1700" b="1" i="0">
                <a:solidFill>
                  <a:srgbClr val="C62828"/>
                </a:solidFill>
                <a:latin typeface="Arial"/>
              </a:rPr>
              <a:t>(2)</a:t>
            </a:r>
            <a:r>
              <a:rPr sz="1700" b="0" i="0">
                <a:solidFill>
                  <a:srgbClr val="1A1A1A"/>
                </a:solidFill>
                <a:latin typeface="Arial"/>
              </a:rPr>
              <a:t> is potentially bearish because there is little healthy profit-taking (p. 218). The overextended price </a:t>
            </a:r>
            <a:r>
              <a:rPr sz="1700" b="1" i="0">
                <a:solidFill>
                  <a:srgbClr val="1F5FAD"/>
                </a:solidFill>
                <a:latin typeface="Arial"/>
              </a:rPr>
              <a:t>(3)</a:t>
            </a:r>
            <a:r>
              <a:rPr sz="1700" b="0" i="0">
                <a:solidFill>
                  <a:srgbClr val="1A1A1A"/>
                </a:solidFill>
                <a:latin typeface="Arial"/>
              </a:rPr>
              <a:t> is stretched past a volatility barrier, the Bollinger upper band, and would be even more bearish with extreme volume (p. 217).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7 names the Bollinger upper band but does not define it; read it as the overlay barrier from Chapter 5, "14 Overextension past an overlay barrier", and take no formula from this chapter.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87</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87 of 87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65</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800" b="0" i="0">
                <a:solidFill>
                  <a:srgbClr val="1A1A1A"/>
                </a:solidFill>
                <a:latin typeface="Arial"/>
              </a:rPr>
              <a:t>With simple invented prices: yesterday's low was 41.00 and its close 41.50. Today it falls to a new low of 40.50 </a:t>
            </a:r>
            <a:r>
              <a:rPr sz="1800" b="1" i="0">
                <a:solidFill>
                  <a:srgbClr val="E09B00"/>
                </a:solidFill>
                <a:latin typeface="Arial"/>
              </a:rPr>
              <a:t>(1)</a:t>
            </a:r>
            <a:r>
              <a:rPr sz="1800" b="0" i="0">
                <a:solidFill>
                  <a:srgbClr val="1A1A1A"/>
                </a:solidFill>
                <a:latin typeface="Arial"/>
              </a:rPr>
              <a:t>, then closes at 43.20 </a:t>
            </a:r>
            <a:r>
              <a:rPr sz="1800" b="1" i="0">
                <a:solidFill>
                  <a:srgbClr val="C62828"/>
                </a:solidFill>
                <a:latin typeface="Arial"/>
              </a:rPr>
              <a:t>(2)</a:t>
            </a:r>
            <a:r>
              <a:rPr sz="1800" b="0" i="0">
                <a:solidFill>
                  <a:srgbClr val="1A1A1A"/>
                </a:solidFill>
                <a:latin typeface="Arial"/>
              </a:rPr>
              <a:t>, above yesterday's close of 41.50, on 4.0 million shares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In Lim's chart price then rebounds rapidly, but that is not a promise (p. 218).</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217919" y="1810512"/>
            <a:ext cx="5653735" cy="34517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336791" y="1929384"/>
            <a:ext cx="5415991" cy="321405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541599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11111" y="2203703"/>
            <a:ext cx="4867351" cy="275685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692748" y="4066730"/>
            <a:ext cx="189559" cy="160702"/>
          </a:xfrm>
          <a:prstGeom prst="ellipse">
            <a:avLst/>
          </a:prstGeom>
          <a:noFill/>
          <a:ln w="44450">
            <a:solidFill>
              <a:srgbClr val="E09B00"/>
            </a:solidFill>
          </a:ln>
        </p:spPr>
        <p:txBody>
          <a:bodyPr rtlCol="0" anchor="ctr"/>
          <a:lstStyle/>
          <a:p>
            <a:pPr algn="ctr"/>
          </a:p>
        </p:txBody>
      </p:sp>
      <p:sp>
        <p:nvSpPr>
          <p:cNvPr id="14" name="Oval 13"/>
          <p:cNvSpPr/>
          <p:nvPr/>
        </p:nvSpPr>
        <p:spPr>
          <a:xfrm>
            <a:off x="8746907" y="3873887"/>
            <a:ext cx="178727" cy="160702"/>
          </a:xfrm>
          <a:prstGeom prst="ellipse">
            <a:avLst/>
          </a:prstGeom>
          <a:noFill/>
          <a:ln w="44450">
            <a:solidFill>
              <a:srgbClr val="C62828"/>
            </a:solidFill>
          </a:ln>
        </p:spPr>
        <p:txBody>
          <a:bodyPr rtlCol="0" anchor="ctr"/>
          <a:lstStyle/>
          <a:p>
            <a:pPr algn="ctr"/>
          </a:p>
        </p:txBody>
      </p:sp>
      <p:sp>
        <p:nvSpPr>
          <p:cNvPr id="15" name="Oval 14"/>
          <p:cNvSpPr/>
          <p:nvPr/>
        </p:nvSpPr>
        <p:spPr>
          <a:xfrm>
            <a:off x="8708996" y="4323854"/>
            <a:ext cx="162479" cy="771373"/>
          </a:xfrm>
          <a:prstGeom prst="ellipse">
            <a:avLst/>
          </a:prstGeom>
          <a:noFill/>
          <a:ln w="44450">
            <a:solidFill>
              <a:srgbClr val="1F5FAD"/>
            </a:solidFill>
          </a:ln>
        </p:spPr>
        <p:txBody>
          <a:bodyPr rtlCol="0" anchor="ctr"/>
          <a:lstStyle/>
          <a:p>
            <a:pPr algn="ctr"/>
          </a:p>
        </p:txBody>
      </p:sp>
      <p:sp>
        <p:nvSpPr>
          <p:cNvPr id="16" name="Oval 15"/>
          <p:cNvSpPr/>
          <p:nvPr/>
        </p:nvSpPr>
        <p:spPr>
          <a:xfrm>
            <a:off x="8447620" y="406949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35059" y="37320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935059" y="439089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217919" y="5353750"/>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700" b="0" i="0">
                <a:solidFill>
                  <a:srgbClr val="1A1A1A"/>
                </a:solidFill>
                <a:latin typeface="Arial"/>
              </a:rPr>
              <a:t>The bar forms below the lower Bollinger band </a:t>
            </a:r>
            <a:r>
              <a:rPr sz="1700" b="1" i="0">
                <a:solidFill>
                  <a:srgbClr val="E09B00"/>
                </a:solidFill>
                <a:latin typeface="Arial"/>
              </a:rPr>
              <a:t>(1)</a:t>
            </a:r>
            <a:r>
              <a:rPr sz="1700" b="0" i="0">
                <a:solidFill>
                  <a:srgbClr val="1A1A1A"/>
                </a:solidFill>
                <a:latin typeface="Arial"/>
              </a:rPr>
              <a:t>, which Lim reads as an overextended or oversold condition. It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65</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three-bar reversal with simple prices.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 Bar 3 falls from PHP 52.10 to PHP 48.70 and closes near its low, at PHP 48.80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and Lim adds a point about volume (p. 221).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660904" y="5069694"/>
            <a:ext cx="310895" cy="316121"/>
          </a:xfrm>
          <a:prstGeom prst="rect">
            <a:avLst/>
          </a:prstGeom>
          <a:noFill/>
          <a:ln w="44450">
            <a:solidFill>
              <a:srgbClr val="E09B00"/>
            </a:solidFill>
          </a:ln>
        </p:spPr>
        <p:txBody>
          <a:bodyPr rtlCol="0" anchor="ctr"/>
          <a:lstStyle/>
          <a:p>
            <a:pPr algn="ctr"/>
          </a:p>
        </p:txBody>
      </p:sp>
      <p:sp>
        <p:nvSpPr>
          <p:cNvPr id="10" name="Rectangle 9"/>
          <p:cNvSpPr/>
          <p:nvPr/>
        </p:nvSpPr>
        <p:spPr>
          <a:xfrm>
            <a:off x="6214719" y="5291763"/>
            <a:ext cx="310895" cy="94052"/>
          </a:xfrm>
          <a:prstGeom prst="rect">
            <a:avLst/>
          </a:prstGeom>
          <a:noFill/>
          <a:ln w="44450">
            <a:solidFill>
              <a:srgbClr val="C62828"/>
            </a:solidFill>
          </a:ln>
        </p:spPr>
        <p:txBody>
          <a:bodyPr rtlCol="0" anchor="ctr"/>
          <a:lstStyle/>
          <a:p>
            <a:pPr algn="ctr"/>
          </a:p>
        </p:txBody>
      </p:sp>
      <p:sp>
        <p:nvSpPr>
          <p:cNvPr id="11" name="Rectangle 10"/>
          <p:cNvSpPr/>
          <p:nvPr/>
        </p:nvSpPr>
        <p:spPr>
          <a:xfrm>
            <a:off x="9768535" y="5056631"/>
            <a:ext cx="310895" cy="329184"/>
          </a:xfrm>
          <a:prstGeom prst="rect">
            <a:avLst/>
          </a:prstGeom>
          <a:noFill/>
          <a:ln w="44450">
            <a:solidFill>
              <a:srgbClr val="1F5FAD"/>
            </a:solidFill>
          </a:ln>
        </p:spPr>
        <p:txBody>
          <a:bodyPr rtlCol="0" anchor="ctr"/>
          <a:lstStyle/>
          <a:p>
            <a:pPr algn="ctr"/>
          </a:p>
        </p:txBody>
      </p:sp>
      <p:sp>
        <p:nvSpPr>
          <p:cNvPr id="12" name="Oval 11"/>
          <p:cNvSpPr/>
          <p:nvPr/>
        </p:nvSpPr>
        <p:spPr>
          <a:xfrm>
            <a:off x="2971800" y="50997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53631" y="52107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9431" y="5093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65</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5759121" y="1810512"/>
            <a:ext cx="583981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77993" y="1929384"/>
            <a:ext cx="560206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77993" y="1929384"/>
            <a:ext cx="560206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2313" y="2203703"/>
            <a:ext cx="50534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768660"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925518"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9082376" y="4271418"/>
            <a:ext cx="123245" cy="1130637"/>
          </a:xfrm>
          <a:prstGeom prst="ellipse">
            <a:avLst/>
          </a:prstGeom>
          <a:noFill/>
          <a:ln w="44450">
            <a:solidFill>
              <a:srgbClr val="1F5FAD"/>
            </a:solidFill>
          </a:ln>
        </p:spPr>
        <p:txBody>
          <a:bodyPr rtlCol="0" anchor="ctr"/>
          <a:lstStyle/>
          <a:p>
            <a:pPr algn="ctr"/>
          </a:p>
        </p:txBody>
      </p:sp>
      <p:sp>
        <p:nvSpPr>
          <p:cNvPr id="15" name="Oval 14"/>
          <p:cNvSpPr/>
          <p:nvPr/>
        </p:nvSpPr>
        <p:spPr>
          <a:xfrm>
            <a:off x="8502074"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70973"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9139"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7.21 first shows a bullish three-bar reversal </a:t>
            </a:r>
            <a:r>
              <a:rPr sz="2000" b="1" i="0">
                <a:solidFill>
                  <a:srgbClr val="E09B00"/>
                </a:solidFill>
                <a:latin typeface="Arial"/>
              </a:rPr>
              <a:t>(1)</a:t>
            </a:r>
            <a:r>
              <a:rPr sz="2000" b="0" i="0">
                <a:solidFill>
                  <a:srgbClr val="1A1A1A"/>
                </a:solidFill>
                <a:latin typeface="Arial"/>
              </a:rPr>
              <a:t>, whose large third bar closes near its high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Later, a separate outside day engulfs four preceding bars </a:t>
            </a:r>
            <a:r>
              <a:rPr sz="2000" b="1" i="0">
                <a:solidFill>
                  <a:srgbClr val="7B3FA0"/>
                </a:solidFill>
                <a:latin typeface="Arial"/>
              </a:rPr>
              <a:t>(4)</a:t>
            </a:r>
            <a:r>
              <a:rPr sz="2000" b="0" i="0">
                <a:solidFill>
                  <a:srgbClr val="1A1A1A"/>
                </a:solidFill>
                <a:latin typeface="Arial"/>
              </a:rPr>
              <a:t> and closes near its low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island reversal is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199128"/>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0215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0215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392043"/>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9204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74923"/>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502658"/>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outside bar with simple prices. The first two bars stay between PHP 48.00 and PHP 52.00. The third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earlier bars. It closes at PHP 47.50 </a:t>
            </a:r>
            <a:r>
              <a:rPr sz="1700" b="1" i="0">
                <a:solidFill>
                  <a:srgbClr val="1F5FAD"/>
                </a:solidFill>
                <a:latin typeface="Arial"/>
              </a:rPr>
              <a:t>(3)</a:t>
            </a:r>
            <a:r>
              <a:rPr sz="1700" b="0" i="0">
                <a:solidFill>
                  <a:srgbClr val="1A1A1A"/>
                </a:solidFill>
                <a:latin typeface="Arial"/>
              </a:rPr>
              <a:t>, near its low. 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631375" y="3419856"/>
            <a:ext cx="0" cy="1069848"/>
          </a:xfrm>
          <a:prstGeom prst="line">
            <a:avLst/>
          </a:prstGeom>
          <a:ln w="44450">
            <a:solidFill>
              <a:srgbClr val="E09B00"/>
            </a:solidFill>
          </a:ln>
        </p:spPr>
      </p:cxn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010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inside bar with simple prices. The first bar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The first bar also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exhaustion bar with simple prices.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there is no gap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941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7656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00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92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pin bar with simple prices. Support sits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65</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comes at the end of a run. It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gives most of it back,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ended a tiring run,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65</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crossings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two crossings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228).</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