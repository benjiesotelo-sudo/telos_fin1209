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example, so it is safe to test.</a:t>
            </a:r>
          </a:p>
          <a:p>
            <a:r>
              <a:rPr sz="1400"/>
              <a:t>- Walk the two cases: same place, same trend, opposite patterns, opposite readings.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Lim's word: generally. The rule is a clue, not a law.</a:t>
            </a:r>
          </a:p>
          <a:p>
            <a:r>
              <a:rPr sz="1400"/>
              <a:t>- Do the two closes slowly: one below the close, one below the low.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means the bar stretches far beyond what the bars before it did.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seven shapes, upside down,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bars now: a first bar, a middle bar, a last bar.</a:t>
            </a:r>
          </a:p>
          <a:p>
            <a:r>
              <a:rPr sz="1400"/>
              <a:t>- Gap keeps its Chapter 3 meaning: prices where nothing traded.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why the three marks matter: each one is a reason to doubt the run-up.</a:t>
            </a:r>
          </a:p>
          <a:p>
            <a:r>
              <a:rPr sz="1400"/>
              <a:t>- State the silence plainly: no Bollinger formula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bullish key reversal below the lower band. Mark 2 is the book's oversold StochRSI label.</a:t>
            </a:r>
          </a:p>
          <a:p>
            <a:r>
              <a:rPr sz="1400"/>
              <a:t>- Mark 3 is the high-volume reading.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oversold StochRSI label.</a:t>
            </a:r>
          </a:p>
          <a:p>
            <a:r>
              <a:rPr sz="1400"/>
              <a:t>- Mark 3 points to the last close between the bands, which Lim calls bullish.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 Lim also observes low volume and an overbought stochastic label; no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62.20.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The chart shows both pairs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forward-shifted three-day SMA is PHP 50.00. Invented closes cross above at 50.80, below at 49.60, then repeat after nine bullish days.</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bearish case, the inside high is PHP 52.00, the false high is PHP 53.00, and the short re-entry is below PHP 49.00.</a:t>
            </a:r>
          </a:p>
          <a:p>
            <a:r>
              <a:rPr sz="1400"/>
              <a:t>- The bullish converse uses an inside low of PHP 40.00, a false low of PHP 39.20, and an upside re-entry at PHP 41.00.</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inside high 43.00, inside low 40.00, false low 39.00, long re-entry at 43.00.</a:t>
            </a:r>
          </a:p>
          <a:p>
            <a:r>
              <a:rPr sz="1400"/>
              <a:t>- Right: inside high 52.00, inside low 49.00, false high 53.00, short re-entry at 49.00.</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and Part 4 reads two of them.</a:t>
            </a:r>
          </a:p>
          <a:p>
            <a:r>
              <a:rPr sz="1400"/>
              <a:t>- Recall Chapter 5: a sell-stop waits below the market and fills only if price falls to it; a stoploss closes a position that moves against us.</a:t>
            </a:r>
          </a:p>
          <a:p>
            <a:r>
              <a:rPr sz="1400"/>
              <a:t>- Say why the Oops matters: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the two orders from Chapter 5 before any number.</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setup 2: gold 1 the gap-up open, red 2 the sell-stop level, blue 3 the stop and reverse level.</a:t>
            </a:r>
          </a:p>
          <a:p>
            <a:r>
              <a:rPr sz="1400"/>
              <a:t>- Then the left-hand drawing, setup 1, purple 4: the gap down. Its buy-stop and stop and reverse levels are the mirror image.</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fall from about 23.00 to about 19.50; red 2 is the bearish Oops bar in October.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a:p>
            <a:r>
              <a:rPr sz="1400"/>
              <a:t>- Lim gives no reason for the name volatility breakout; say that our plain reading is ours.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then bar 6: gold 1 its range of 1.2, inside bar 5.</a:t>
            </a:r>
          </a:p>
          <a:p>
            <a:r>
              <a:rPr sz="1400"/>
              <a:t>-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then bar 6: gold 1 its range of 1.2, inside bar 5.</a:t>
            </a:r>
          </a:p>
          <a:p>
            <a:r>
              <a:rPr sz="1400"/>
              <a:t>-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then bar 6: gold 1 its range of 1.2, inside bar 5.</a:t>
            </a:r>
          </a:p>
          <a:p>
            <a:r>
              <a:rPr sz="1400"/>
              <a:t>-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long arrow in this drawing, which runs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own example is the head and shoulders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head and shoulders has bearish intrinsic sentiment and an inverted head and shoulders bullish, as Chapter 4's "Intrinsic bias" explains (p. 211).</a:t>
            </a:r>
          </a:p>
          <a:p>
            <a:pPr algn="l">
              <a:lnSpc>
                <a:spcPct val="118000"/>
              </a:lnSpc>
              <a:spcBef>
                <a:spcPts val="0"/>
              </a:spcBef>
              <a:spcAft>
                <a:spcPts val="1300"/>
              </a:spcAft>
            </a:pPr>
            <a:r>
              <a:rPr sz="2100" b="0" i="0">
                <a:solidFill>
                  <a:srgbClr val="1A1A1A"/>
                </a:solidFill>
                <a:latin typeface="Arial"/>
              </a:rPr>
              <a:t>Let us put invented prices on it. A stock climbs from PHP 40 to PHP 50 over ten days, so the trend sentiment is bullish.</a:t>
            </a:r>
          </a:p>
          <a:p>
            <a:pPr algn="l">
              <a:lnSpc>
                <a:spcPct val="118000"/>
              </a:lnSpc>
              <a:spcBef>
                <a:spcPts val="0"/>
              </a:spcBef>
              <a:spcAft>
                <a:spcPts val="1300"/>
              </a:spcAft>
            </a:pPr>
            <a:r>
              <a:rPr sz="2100" b="0" i="0">
                <a:solidFill>
                  <a:srgbClr val="1A1A1A"/>
                </a:solidFill>
                <a:latin typeface="Arial"/>
              </a:rPr>
              <a:t>An inverted head and shoulders at PHP 50 agrees with that trend, so Lim calls it a continuation pattern. A head and shoulders in the same place disagrees, so it is a reversal pattern.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Chapter 4, "Intrinsic bias". The prices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bar is Lim's basic bearish clue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For one-bar and two-bar patterns in an uptrend, Lim's general rule is that a close below the previous bar's close or low is bearish, especially when that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49.00 to PHP 52.00 and closed at PHP 51.80. A close today at PHP 51.20 is below yesterday's close; a close at PHP 48.80 is below yesterday's low as well.</a:t>
            </a:r>
          </a:p>
          <a:p>
            <a:pPr algn="l">
              <a:lnSpc>
                <a:spcPct val="118000"/>
              </a:lnSpc>
              <a:spcBef>
                <a:spcPts val="0"/>
              </a:spcBef>
              <a:spcAft>
                <a:spcPts val="1300"/>
              </a:spcAft>
            </a:pPr>
            <a:r>
              <a:rPr sz="2100" b="0" i="0">
                <a:solidFill>
                  <a:srgbClr val="1A1A1A"/>
                </a:solidFill>
                <a:latin typeface="Arial"/>
              </a:rPr>
              <a:t>Yesterday's PHP 3.00 range is wide, the case Lim says counts for more.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5: "An overextended bar closes at or near its low" (Figure 7.4, p. 212). It is the one form drawn as a single bar: it stretches far up, then gives almost all of it back. Beside an ordinary PHP 1.00 bar, form 5 stretches up to PHP 53.60 </a:t>
            </a:r>
            <a:r>
              <a:rPr sz="1700" b="1" i="0">
                <a:solidFill>
                  <a:srgbClr val="E09B00"/>
                </a:solidFill>
                <a:latin typeface="Arial"/>
              </a:rPr>
              <a:t>(1)</a:t>
            </a:r>
            <a:r>
              <a:rPr sz="1700" b="0" i="0">
                <a:solidFill>
                  <a:srgbClr val="1A1A1A"/>
                </a:solidFill>
                <a:latin typeface="Arial"/>
              </a:rPr>
              <a:t> and closes at PHP 51.00, only PHP 0.20 above its low of PHP 50.80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3375964"/>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452069"/>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3050"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1842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 a downtrend Lim's close rule turns around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 downtrend Lim's general rule is the mirror image: a close above the previous bar's close or high is bullish, especially if the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38.00 to PHP 41.00 and closed at PHP 38.20. A close today at PHP 38.80 is above yesterday's close; a close at PHP 41.20 is above yesterday's high as well.</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Now the close has to climb past yesterday's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Let us put invented prices on it, beside an ordinary PHP 1.00 bar for comparison. Form 5 stretches down to PHP 36.40 </a:t>
            </a:r>
            <a:r>
              <a:rPr sz="1700" b="1" i="0">
                <a:solidFill>
                  <a:srgbClr val="E09B00"/>
                </a:solidFill>
                <a:latin typeface="Arial"/>
              </a:rPr>
              <a:t>(1)</a:t>
            </a:r>
            <a:r>
              <a:rPr sz="1700" b="0" i="0">
                <a:solidFill>
                  <a:srgbClr val="1A1A1A"/>
                </a:solidFill>
                <a:latin typeface="Arial"/>
              </a:rPr>
              <a:t> and closes at PHP 39.00, only PHP 0.20 below its high of PHP 39.20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94873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872628"/>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0160" y="483158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97580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Three-bar patterns add a middle bar, and sometimes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bearish reversal patterns in an uptrend (p. 213). Each has a first bar, a middle bar and a last bar.</a:t>
            </a:r>
          </a:p>
          <a:p>
            <a:pPr algn="l">
              <a:lnSpc>
                <a:spcPct val="118000"/>
              </a:lnSpc>
              <a:spcBef>
                <a:spcPts val="0"/>
              </a:spcBef>
              <a:spcAft>
                <a:spcPts val="1300"/>
              </a:spcAft>
            </a:pPr>
            <a:r>
              <a:rPr sz="2100" b="0" i="0">
                <a:solidFill>
                  <a:srgbClr val="1A1A1A"/>
                </a:solidFill>
                <a:latin typeface="Arial"/>
              </a:rPr>
              <a:t>His first rule is about gaps: the larger the gaps, the more bearish the pattern once it is complete (p. 213).</a:t>
            </a:r>
          </a:p>
          <a:p>
            <a:pPr algn="l">
              <a:lnSpc>
                <a:spcPct val="118000"/>
              </a:lnSpc>
              <a:spcBef>
                <a:spcPts val="0"/>
              </a:spcBef>
              <a:spcAft>
                <a:spcPts val="1300"/>
              </a:spcAft>
            </a:pPr>
            <a:r>
              <a:rPr sz="2100" b="0" i="0">
                <a:solidFill>
                  <a:srgbClr val="1A1A1A"/>
                </a:solidFill>
                <a:latin typeface="Arial"/>
              </a:rPr>
              <a:t>Let us put invented prices on it. If the first bar's high is PHP 50.00 and the middle bar's low is PHP 50.40, the gap is PHP 0.40. A middle bar whose low is PHP 51.00 would leave a PHP 1.00 gap, and Lim would read that pattern as more bearish.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3.40 </a:t>
            </a:r>
            <a:r>
              <a:rPr sz="1700" b="1" i="0">
                <a:solidFill>
                  <a:srgbClr val="7B3FA0"/>
                </a:solidFill>
                <a:latin typeface="Arial"/>
              </a:rPr>
              <a:t>(4)</a:t>
            </a:r>
            <a:r>
              <a:rPr sz="1700" b="0" i="0">
                <a:solidFill>
                  <a:srgbClr val="1A1A1A"/>
                </a:solidFill>
                <a:latin typeface="Arial"/>
              </a:rPr>
              <a:t>. Bar 3 also closes at PHP 47.20, near its PHP 47.00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857250"/>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19170"/>
            <a:ext cx="109727" cy="268833"/>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552901"/>
            <a:ext cx="109728" cy="964234"/>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69303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520421" y="334425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9070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large middle bar closing near its low. The 3rd bar closes at or near its low" (Figure 7.6, p. 213). Here it is with invented prices. Bar 1 closes at PHP 50.50 </a:t>
            </a:r>
            <a:r>
              <a:rPr sz="1700" b="1" i="0">
                <a:solidFill>
                  <a:srgbClr val="E09B00"/>
                </a:solidFill>
                <a:latin typeface="Arial"/>
              </a:rPr>
              <a:t>(1)</a:t>
            </a:r>
            <a:r>
              <a:rPr sz="1700" b="0" i="0">
                <a:solidFill>
                  <a:srgbClr val="1A1A1A"/>
                </a:solidFill>
                <a:latin typeface="Arial"/>
              </a:rPr>
              <a:t>; the large middle bar closes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closes at PHP 49.00,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narrow range middle bar closing within its range on low volume. The 3rd bar closes at or near its low" (Figure 7.6, p. 213). Let us put invented prices on it. Bar 1 closes at PHP 51.00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and closes above the gap. The 3rd bar closes below the gap" (Figure 7.6, p. 213). Here it is with invented prices.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gaps down and closes at or near its low. Also referred to as a single island reversal bar" (Figure 7.7, p. 214). Let us put invented prices on it.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engulfs the 2nd bar and closes below the gap" (Figure 7.7, p. 214). Here it is with invented prices.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below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high on low volume followed by a 3rd bar closing below the low of the 2nd bar (and preferably below the close of the 1st bar as well)" (Figure 7.7, p. 214). Say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49.80 </a:t>
            </a:r>
            <a:r>
              <a:rPr sz="1700" b="1" i="0">
                <a:solidFill>
                  <a:srgbClr val="1F5FAD"/>
                </a:solidFill>
                <a:latin typeface="Arial"/>
              </a:rPr>
              <a:t>(3)</a:t>
            </a:r>
            <a:r>
              <a:rPr sz="1700" b="0" i="0">
                <a:solidFill>
                  <a:srgbClr val="1A1A1A"/>
                </a:solidFill>
                <a:latin typeface="Arial"/>
              </a:rPr>
              <a:t>, below bar 2's PHP 50.10 low and bar 1's PHP 50.20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large middle bar closing near its high. The 3rd bar closes at or near its high" (Figure 7.8, p. 214). Here it is with invented prices.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narrow range middle bar closing within its range on low volume. The 3rd bar closes at or near its high" (Figure 7.8, p. 214). Let us put invented prices on it. Bar 1 closes at PHP 39.00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and closes below the gap. The 3rd bar closes above the gap" (Figure 7.8, p. 214). Here it is with invented prices.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gaps up and closes at or near its high. Also referred to as a single island reversal bar" (Figure 7.9, p. 215). Let us put invented prices on it.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engulfs the 2nd bar and closes above the gap" (Figure 7.9, p. 215). Here it is with invented prices.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above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low on low volume followed by a 3rd bar closing above the high of the 2nd bar (and preferably above the close of the 1st bar as well)" (Figure 7.9, p. 215). Say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40.20 </a:t>
            </a:r>
            <a:r>
              <a:rPr sz="1700" b="1" i="0">
                <a:solidFill>
                  <a:srgbClr val="1F5FAD"/>
                </a:solidFill>
                <a:latin typeface="Arial"/>
              </a:rPr>
              <a:t>(3)</a:t>
            </a:r>
            <a:r>
              <a:rPr sz="1700" b="0" i="0">
                <a:solidFill>
                  <a:srgbClr val="1A1A1A"/>
                </a:solidFill>
                <a:latin typeface="Arial"/>
              </a:rPr>
              <a:t>, above bar 2's PHP 39.90 high and bar 1's PHP 39.80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and closes near or at its high on high volume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eight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 and 2: the swings get smaller and shorter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 decrease in price cycle amplitude: each swing covers less ground, say rises of 40 points shrinking to 30 (Chapter 5, "1 Cycle amplitude").</a:t>
            </a:r>
          </a:p>
          <a:p>
            <a:pPr algn="l">
              <a:lnSpc>
                <a:spcPct val="118000"/>
              </a:lnSpc>
              <a:spcBef>
                <a:spcPts val="0"/>
              </a:spcBef>
              <a:spcAft>
                <a:spcPts val="1300"/>
              </a:spcAft>
            </a:pPr>
            <a:r>
              <a:rPr sz="2100" b="0" i="0">
                <a:solidFill>
                  <a:srgbClr val="1A1A1A"/>
                </a:solidFill>
                <a:latin typeface="Arial"/>
              </a:rPr>
              <a:t>Characteristic 2, decrease in price cycle period: each swing takes less time, say 20 bars falling to 12 (Chapter 5, "2 Cycle period").</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3 and 4: pullbacks change and bars shrink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3, change in bar retracement symmetry: pullbacks that took 6, 6 and 5 bars suddenly take 2 (Chapter 5, "3 Bar retracement symmetry").</a:t>
            </a:r>
          </a:p>
          <a:p>
            <a:pPr algn="l">
              <a:lnSpc>
                <a:spcPct val="118000"/>
              </a:lnSpc>
              <a:spcBef>
                <a:spcPts val="0"/>
              </a:spcBef>
              <a:spcAft>
                <a:spcPts val="1300"/>
              </a:spcAft>
            </a:pPr>
            <a:r>
              <a:rPr sz="2100" b="0" i="0">
                <a:solidFill>
                  <a:srgbClr val="1A1A1A"/>
                </a:solidFill>
                <a:latin typeface="Arial"/>
              </a:rPr>
              <a:t>Characteristic 4, decrease in average bar range: bars that averaged PHP 3.00 from low to high now average PHP 2.00 (Chapter 5, "4 Average bar range").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5 and 6: the bars lose their quality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5, lack of the quality of price persistence: small, even bars of about PHP 1.00 give way to uneven ones of PHP 0.40, 2.50 and 0.80 (Chapter 5, "5 Price persistence").</a:t>
            </a:r>
          </a:p>
          <a:p>
            <a:pPr algn="l">
              <a:lnSpc>
                <a:spcPct val="118000"/>
              </a:lnSpc>
              <a:spcBef>
                <a:spcPts val="0"/>
              </a:spcBef>
              <a:spcAft>
                <a:spcPts val="1300"/>
              </a:spcAft>
            </a:pPr>
            <a:r>
              <a:rPr sz="2100" b="0" i="0">
                <a:solidFill>
                  <a:srgbClr val="1A1A1A"/>
                </a:solidFill>
                <a:latin typeface="Arial"/>
              </a:rPr>
              <a:t>Characteristic 6, decrease in average bar stochastic ratio: on average, closes sit lower inside their bars, say 0.80 falling to 0.40 (Chapter 5, "6 The average bar stochastic ratio").</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7 and 8: bodies shrink and the angle changes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7, decrease in average candlestick real body to range ratio: on average the bodies shrink inside their bars, say 0.60 falling to 0.25 (Chapter 5, "7 Real body to range ratio, BRR").</a:t>
            </a:r>
          </a:p>
          <a:p>
            <a:pPr algn="l">
              <a:lnSpc>
                <a:spcPct val="118000"/>
              </a:lnSpc>
              <a:spcBef>
                <a:spcPts val="0"/>
              </a:spcBef>
              <a:spcAft>
                <a:spcPts val="1300"/>
              </a:spcAft>
            </a:pPr>
            <a:r>
              <a:rPr sz="2100" b="0" i="0">
                <a:solidFill>
                  <a:srgbClr val="1A1A1A"/>
                </a:solidFill>
                <a:latin typeface="Arial"/>
              </a:rPr>
              <a:t>Characteristic 8, changes in angular symmetry and momentum: the trend's angle changes, say from 20 to 35 degrees. Chapter 5 said a steeper climb is generally bullish; Lim adds that a sudden parabolic jump is usually unsustainable and so potentially bearish (p. 218). He gives no cutoff angle (Chapter 5, "8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9 and 10: a barrier is near and the dips fade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9, proximity to a price barrier: price is near a strong support or resistance, say at PHP 59 under resistance at PHP 60 (Chapter 5, "9 Barrier proximity").</a:t>
            </a:r>
          </a:p>
          <a:p>
            <a:pPr algn="l">
              <a:lnSpc>
                <a:spcPct val="118000"/>
              </a:lnSpc>
              <a:spcBef>
                <a:spcPts val="0"/>
              </a:spcBef>
              <a:spcAft>
                <a:spcPts val="1300"/>
              </a:spcAft>
            </a:pPr>
            <a:r>
              <a:rPr sz="2100" b="0" i="0">
                <a:solidFill>
                  <a:srgbClr val="1A1A1A"/>
                </a:solidFill>
                <a:latin typeface="Arial"/>
              </a:rPr>
              <a:t>Characteristic 10, reduction in frequency and decrease in depth of trend-based oscillations: six dips of about 3 points become two dips of 1 point (Chapter 5, "10 Frequency and depth of oscillations").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11 and 12: longer pauses and a third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11, appearance of relatively larger and longer lasting consolidations: pauses of 3 bars give way to one of 12 bars (Chapter 5, "11 Size and duration of a consolidation").</a:t>
            </a:r>
          </a:p>
          <a:p>
            <a:pPr algn="l">
              <a:lnSpc>
                <a:spcPct val="118000"/>
              </a:lnSpc>
              <a:spcBef>
                <a:spcPts val="0"/>
              </a:spcBef>
              <a:spcAft>
                <a:spcPts val="1300"/>
              </a:spcAft>
            </a:pPr>
            <a:r>
              <a:rPr sz="2100" b="0" i="0">
                <a:solidFill>
                  <a:srgbClr val="1A1A1A"/>
                </a:solidFill>
                <a:latin typeface="Arial"/>
              </a:rPr>
              <a:t>Characteristic 12, appearance of an exhaustion gap: a third gap in the trend, say of PHP 0.80, after two earlier ones (Chapter 5, "12 Third gap exhaustion").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13 and 14: the range is spent, price overshoots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13, completion of the average range for the period under observation: the day has already travelled its whole average range, say all PHP 3.00 of it (Chapter 5, "13 Average period range").</a:t>
            </a:r>
          </a:p>
          <a:p>
            <a:pPr algn="l">
              <a:lnSpc>
                <a:spcPct val="118000"/>
              </a:lnSpc>
              <a:spcBef>
                <a:spcPts val="0"/>
              </a:spcBef>
              <a:spcAft>
                <a:spcPts val="1300"/>
              </a:spcAft>
            </a:pPr>
            <a:r>
              <a:rPr sz="2100" b="0" i="0">
                <a:solidFill>
                  <a:srgbClr val="1A1A1A"/>
                </a:solidFill>
                <a:latin typeface="Arial"/>
              </a:rPr>
              <a:t>Characteristic 14, overextended price action with respect to a price barrier: price spikes to PHP 61 above an uptrending overlay line at PHP 60, or above an upper band, as the next chart shows (Chapter 5, "14 Overextension past an overlay barrier").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15 and 16: extreme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15, price accompanied by extremely high or low volume: say 5.0 million shares against an average of 1.2 million (Chapter 5, "15 Volume spread action").</a:t>
            </a:r>
          </a:p>
          <a:p>
            <a:pPr algn="l">
              <a:lnSpc>
                <a:spcPct val="118000"/>
              </a:lnSpc>
              <a:spcBef>
                <a:spcPts val="0"/>
              </a:spcBef>
              <a:spcAft>
                <a:spcPts val="1300"/>
              </a:spcAft>
            </a:pPr>
            <a:r>
              <a:rPr sz="2100" b="0" i="0">
                <a:solidFill>
                  <a:srgbClr val="1A1A1A"/>
                </a:solidFill>
                <a:latin typeface="Arial"/>
              </a:rPr>
              <a:t>Characteristic 16, standard divergences between price, volume, and oscillators: price makes a higher high while volume falls from 3.0 to 1.8 million (Chapter 5, "16 Volume and oscillator divergence").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79</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those three marks are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such rapid increases are usually unsustainable, so potentially bearish (p. 218).</a:t>
            </a:r>
          </a:p>
          <a:p>
            <a:pPr algn="l">
              <a:lnSpc>
                <a:spcPct val="118000"/>
              </a:lnSpc>
              <a:spcBef>
                <a:spcPts val="0"/>
              </a:spcBef>
              <a:spcAft>
                <a:spcPts val="1300"/>
              </a:spcAft>
            </a:pPr>
            <a:r>
              <a:rPr sz="2100" b="0" i="0">
                <a:solidFill>
                  <a:srgbClr val="1A1A1A"/>
                </a:solidFill>
                <a:latin typeface="Arial"/>
              </a:rPr>
              <a:t>A lack of oscillations is potentially bearish because there is little healthy profit-taking (p. 218).</a:t>
            </a:r>
          </a:p>
          <a:p>
            <a:pPr algn="l">
              <a:lnSpc>
                <a:spcPct val="118000"/>
              </a:lnSpc>
              <a:spcBef>
                <a:spcPts val="0"/>
              </a:spcBef>
              <a:spcAft>
                <a:spcPts val="1300"/>
              </a:spcAft>
            </a:pPr>
            <a:r>
              <a:rPr sz="2100" b="0" i="0">
                <a:solidFill>
                  <a:srgbClr val="1A1A1A"/>
                </a:solidFill>
                <a:latin typeface="Arial"/>
              </a:rPr>
              <a:t>The overextended bar is stretched past a volatility barrier, the Bollinger upper band, and would be even more bearish with extreme volume (p. 217). Chapter 7 names the Bollinger upper band but does not define it; read it as the overlay barrier from Chapter 5, "14 Overextension past an overlay barrier", and take no formula from this chapter.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446416" y="3842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3502" y="439277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79</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900" b="0" i="0">
                <a:solidFill>
                  <a:srgbClr val="1A1A1A"/>
                </a:solidFill>
                <a:latin typeface="Arial"/>
              </a:rPr>
              <a:t>With simple invented values, the prior low is 42.00, the new low is 40.50 </a:t>
            </a:r>
            <a:r>
              <a:rPr sz="1900" b="1" i="0">
                <a:solidFill>
                  <a:srgbClr val="E09B00"/>
                </a:solidFill>
                <a:latin typeface="Arial"/>
              </a:rPr>
              <a:t>(1)</a:t>
            </a:r>
            <a:r>
              <a:rPr sz="1900" b="0" i="0">
                <a:solidFill>
                  <a:srgbClr val="1A1A1A"/>
                </a:solidFill>
                <a:latin typeface="Arial"/>
              </a:rPr>
              <a:t>, the close is 43.20 </a:t>
            </a:r>
            <a:r>
              <a:rPr sz="1900" b="1" i="0">
                <a:solidFill>
                  <a:srgbClr val="C62828"/>
                </a:solidFill>
                <a:latin typeface="Arial"/>
              </a:rPr>
              <a:t>(2)</a:t>
            </a:r>
            <a:r>
              <a:rPr sz="1900" b="0" i="0">
                <a:solidFill>
                  <a:srgbClr val="1A1A1A"/>
                </a:solidFill>
                <a:latin typeface="Arial"/>
              </a:rPr>
              <a:t>, and volume is 4.0m </a:t>
            </a:r>
            <a:r>
              <a:rPr sz="1900" b="1" i="0">
                <a:solidFill>
                  <a:srgbClr val="1F5FAD"/>
                </a:solidFill>
                <a:latin typeface="Arial"/>
              </a:rPr>
              <a:t>(3)</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A single bar can show sellers losing control after a sustained decline. Lim's rapid rebound is this chart's observation, not a promise.</a:t>
            </a:r>
          </a:p>
        </p:txBody>
      </p:sp>
      <p:sp>
        <p:nvSpPr>
          <p:cNvPr id="8" name="TextBox 7"/>
          <p:cNvSpPr txBox="1"/>
          <p:nvPr/>
        </p:nvSpPr>
        <p:spPr>
          <a:xfrm>
            <a:off x="777240" y="5397246"/>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766559" y="1810512"/>
            <a:ext cx="5105094" cy="312621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5431" y="1929384"/>
            <a:ext cx="4867351" cy="288847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86735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59751" y="2203703"/>
            <a:ext cx="4318711" cy="243127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988822" y="3846278"/>
            <a:ext cx="173833" cy="175058"/>
          </a:xfrm>
          <a:prstGeom prst="ellipse">
            <a:avLst/>
          </a:prstGeom>
          <a:noFill/>
          <a:ln w="44450">
            <a:solidFill>
              <a:srgbClr val="E09B00"/>
            </a:solidFill>
          </a:ln>
        </p:spPr>
        <p:txBody>
          <a:bodyPr rtlCol="0" anchor="ctr"/>
          <a:lstStyle/>
          <a:p>
            <a:pPr algn="ctr"/>
          </a:p>
        </p:txBody>
      </p:sp>
      <p:sp>
        <p:nvSpPr>
          <p:cNvPr id="14" name="Oval 13"/>
          <p:cNvSpPr/>
          <p:nvPr/>
        </p:nvSpPr>
        <p:spPr>
          <a:xfrm>
            <a:off x="9040973" y="3741242"/>
            <a:ext cx="173833" cy="140047"/>
          </a:xfrm>
          <a:prstGeom prst="ellipse">
            <a:avLst/>
          </a:prstGeom>
          <a:noFill/>
          <a:ln w="44450">
            <a:solidFill>
              <a:srgbClr val="C62828"/>
            </a:solidFill>
          </a:ln>
        </p:spPr>
        <p:txBody>
          <a:bodyPr rtlCol="0" anchor="ctr"/>
          <a:lstStyle/>
          <a:p>
            <a:pPr algn="ctr"/>
          </a:p>
        </p:txBody>
      </p:sp>
      <p:sp>
        <p:nvSpPr>
          <p:cNvPr id="15" name="Oval 14"/>
          <p:cNvSpPr/>
          <p:nvPr/>
        </p:nvSpPr>
        <p:spPr>
          <a:xfrm>
            <a:off x="8971439" y="4231407"/>
            <a:ext cx="208600" cy="385129"/>
          </a:xfrm>
          <a:prstGeom prst="ellipse">
            <a:avLst/>
          </a:prstGeom>
          <a:noFill/>
          <a:ln w="44450">
            <a:solidFill>
              <a:srgbClr val="1F5FAD"/>
            </a:solidFill>
          </a:ln>
        </p:spPr>
        <p:txBody>
          <a:bodyPr rtlCol="0" anchor="ctr"/>
          <a:lstStyle/>
          <a:p>
            <a:pPr algn="ctr"/>
          </a:p>
        </p:txBody>
      </p:sp>
      <p:sp>
        <p:nvSpPr>
          <p:cNvPr id="16" name="Oval 15"/>
          <p:cNvSpPr/>
          <p:nvPr/>
        </p:nvSpPr>
        <p:spPr>
          <a:xfrm>
            <a:off x="8771317" y="38993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306726" y="34660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306726" y="43615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766559" y="5028166"/>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(1) marks the previous bar's high. Red (2) marks the key reversal day's higher high. Blue (3) marks its close, below the previous close. Purple (4)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05208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7096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7096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528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12482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21170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25514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0084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68843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6416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61889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01683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852159" y="5650991"/>
            <a:ext cx="611093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219).</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“Figure 7.15: three observations”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“Figure 7.15: three observations”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62</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1800" b="0" i="0">
                <a:solidFill>
                  <a:srgbClr val="1A1A1A"/>
                </a:solidFill>
                <a:latin typeface="Arial"/>
              </a:rPr>
              <a:t>Lim's Figure 7.15 shows the market hovering near the key bar </a:t>
            </a:r>
            <a:r>
              <a:rPr sz="1800" b="1" i="0">
                <a:solidFill>
                  <a:srgbClr val="E09B00"/>
                </a:solidFill>
                <a:latin typeface="Arial"/>
              </a:rPr>
              <a:t>(1)</a:t>
            </a:r>
            <a:r>
              <a:rPr sz="1800" b="0" i="0">
                <a:solidFill>
                  <a:srgbClr val="1A1A1A"/>
                </a:solidFill>
                <a:latin typeface="Arial"/>
              </a:rPr>
              <a:t> before the later decline </a:t>
            </a:r>
            <a:r>
              <a:rPr sz="1800" b="1" i="0">
                <a:solidFill>
                  <a:srgbClr val="C62828"/>
                </a:solidFill>
                <a:latin typeface="Arial"/>
              </a:rPr>
              <a:t>(2)</a:t>
            </a:r>
            <a:r>
              <a:rPr sz="1800" b="0" i="0">
                <a:solidFill>
                  <a:srgbClr val="1A1A1A"/>
                </a:solidFill>
                <a:latin typeface="Arial"/>
              </a:rPr>
              <a:t> (p. 219).</a:t>
            </a:r>
          </a:p>
          <a:p>
            <a:pPr algn="l">
              <a:lnSpc>
                <a:spcPct val="105000"/>
              </a:lnSpc>
              <a:spcBef>
                <a:spcPts val="0"/>
              </a:spcBef>
              <a:spcAft>
                <a:spcPts val="1100"/>
              </a:spcAft>
            </a:pPr>
            <a:r>
              <a:rPr sz="1800" b="0" i="0">
                <a:solidFill>
                  <a:srgbClr val="1A1A1A"/>
                </a:solidFill>
                <a:latin typeface="Arial"/>
              </a:rPr>
              <a:t>Read the pattern first, then wait for the surrounding context rather than assuming the timing of the move.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9253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wide bar may make follow-through more reliable, but it does not guarantee it.</a:t>
            </a:r>
          </a:p>
        </p:txBody>
      </p:sp>
      <p:sp>
        <p:nvSpPr>
          <p:cNvPr id="10" name="Rectangle 9"/>
          <p:cNvSpPr/>
          <p:nvPr/>
        </p:nvSpPr>
        <p:spPr>
          <a:xfrm>
            <a:off x="7315199" y="1810512"/>
            <a:ext cx="4099255" cy="32927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34071" y="1929384"/>
            <a:ext cx="3861511" cy="305505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34071" y="1929384"/>
            <a:ext cx="38615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08392" y="2203703"/>
            <a:ext cx="3312871" cy="25978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9326212" y="2357091"/>
            <a:ext cx="424766" cy="458258"/>
          </a:xfrm>
          <a:prstGeom prst="rect">
            <a:avLst/>
          </a:prstGeom>
          <a:noFill/>
          <a:ln w="44450">
            <a:solidFill>
              <a:srgbClr val="E09B00"/>
            </a:solidFill>
          </a:ln>
        </p:spPr>
        <p:txBody>
          <a:bodyPr rtlCol="0" anchor="ctr"/>
          <a:lstStyle/>
          <a:p>
            <a:pPr algn="ctr"/>
          </a:p>
        </p:txBody>
      </p:sp>
      <p:sp>
        <p:nvSpPr>
          <p:cNvPr id="15" name="Rectangle 14"/>
          <p:cNvSpPr/>
          <p:nvPr/>
        </p:nvSpPr>
        <p:spPr>
          <a:xfrm>
            <a:off x="9944054" y="2418192"/>
            <a:ext cx="424766" cy="794314"/>
          </a:xfrm>
          <a:prstGeom prst="rect">
            <a:avLst/>
          </a:prstGeom>
          <a:noFill/>
          <a:ln w="44450">
            <a:solidFill>
              <a:srgbClr val="C62828"/>
            </a:solidFill>
          </a:ln>
        </p:spPr>
        <p:txBody>
          <a:bodyPr rtlCol="0" anchor="ctr"/>
          <a:lstStyle/>
          <a:p>
            <a:pPr algn="ctr"/>
          </a:p>
        </p:txBody>
      </p:sp>
      <p:sp>
        <p:nvSpPr>
          <p:cNvPr id="16" name="Oval 15"/>
          <p:cNvSpPr/>
          <p:nvPr/>
        </p:nvSpPr>
        <p:spPr>
          <a:xfrm>
            <a:off x="9005120" y="210687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33879" y="317614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315199" y="519475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219, Figure 7.15. The PHP path is ours, invented to show consolidation.</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pattern has already been defined. Figure 7.14 adds a later observation: the high-volume reversal bar </a:t>
            </a:r>
            <a:r>
              <a:rPr sz="2000" b="1" i="0">
                <a:solidFill>
                  <a:srgbClr val="1F5FAD"/>
                </a:solidFill>
                <a:latin typeface="Arial"/>
              </a:rPr>
              <a:t>(3)</a:t>
            </a:r>
            <a:r>
              <a:rPr sz="2000" b="0" i="0">
                <a:solidFill>
                  <a:srgbClr val="1A1A1A"/>
                </a:solidFill>
                <a:latin typeface="Arial"/>
              </a:rPr>
              <a:t> is followed by a rapid rebound.</a:t>
            </a:r>
          </a:p>
          <a:p>
            <a:pPr algn="l">
              <a:lnSpc>
                <a:spcPct val="105000"/>
              </a:lnSpc>
              <a:spcBef>
                <a:spcPts val="0"/>
              </a:spcBef>
              <a:spcAft>
                <a:spcPts val="1100"/>
              </a:spcAft>
            </a:pPr>
            <a:r>
              <a:rPr sz="20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2000" b="0" i="0">
                <a:solidFill>
                  <a:srgbClr val="1A1A1A"/>
                </a:solidFill>
                <a:latin typeface="Arial"/>
              </a:rPr>
              <a:t>A reversal warns about changing pressure; timing belongs to later price action.</a:t>
            </a:r>
          </a:p>
        </p:txBody>
      </p:sp>
      <p:sp>
        <p:nvSpPr>
          <p:cNvPr id="8" name="Rectangle 7"/>
          <p:cNvSpPr/>
          <p:nvPr/>
        </p:nvSpPr>
        <p:spPr>
          <a:xfrm>
            <a:off x="6400799" y="1810512"/>
            <a:ext cx="5013655" cy="307195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19671" y="1929384"/>
            <a:ext cx="4775911" cy="283420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93991" y="2203703"/>
            <a:ext cx="4227271" cy="237700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8583547" y="3810266"/>
            <a:ext cx="170568" cy="171770"/>
          </a:xfrm>
          <a:prstGeom prst="ellipse">
            <a:avLst/>
          </a:prstGeom>
          <a:noFill/>
          <a:ln w="44450">
            <a:solidFill>
              <a:srgbClr val="E09B00"/>
            </a:solidFill>
          </a:ln>
        </p:spPr>
        <p:txBody>
          <a:bodyPr rtlCol="0" anchor="ctr"/>
          <a:lstStyle/>
          <a:p>
            <a:pPr algn="ctr"/>
          </a:p>
        </p:txBody>
      </p:sp>
      <p:sp>
        <p:nvSpPr>
          <p:cNvPr id="13" name="Oval 12"/>
          <p:cNvSpPr/>
          <p:nvPr/>
        </p:nvSpPr>
        <p:spPr>
          <a:xfrm>
            <a:off x="8634718" y="3707204"/>
            <a:ext cx="170568" cy="137416"/>
          </a:xfrm>
          <a:prstGeom prst="ellipse">
            <a:avLst/>
          </a:prstGeom>
          <a:noFill/>
          <a:ln w="44450">
            <a:solidFill>
              <a:srgbClr val="C62828"/>
            </a:solidFill>
          </a:ln>
        </p:spPr>
        <p:txBody>
          <a:bodyPr rtlCol="0" anchor="ctr"/>
          <a:lstStyle/>
          <a:p>
            <a:pPr algn="ctr"/>
          </a:p>
        </p:txBody>
      </p:sp>
      <p:sp>
        <p:nvSpPr>
          <p:cNvPr id="14" name="Oval 13"/>
          <p:cNvSpPr/>
          <p:nvPr/>
        </p:nvSpPr>
        <p:spPr>
          <a:xfrm>
            <a:off x="8566490" y="4188160"/>
            <a:ext cx="204681" cy="377894"/>
          </a:xfrm>
          <a:prstGeom prst="ellipse">
            <a:avLst/>
          </a:prstGeom>
          <a:noFill/>
          <a:ln w="44450">
            <a:solidFill>
              <a:srgbClr val="1F5FAD"/>
            </a:solidFill>
          </a:ln>
        </p:spPr>
        <p:txBody>
          <a:bodyPr rtlCol="0" anchor="ctr"/>
          <a:lstStyle/>
          <a:p>
            <a:pPr algn="ctr"/>
          </a:p>
        </p:txBody>
      </p:sp>
      <p:sp>
        <p:nvSpPr>
          <p:cNvPr id="15" name="Oval 14"/>
          <p:cNvSpPr/>
          <p:nvPr/>
        </p:nvSpPr>
        <p:spPr>
          <a:xfrm>
            <a:off x="8368067" y="386028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93417" y="34351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93417" y="431375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497390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figure shows the book's bullish converse.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price pattern sits below the lower Bollinger band </a:t>
            </a:r>
            <a:r>
              <a:rPr sz="1800" b="1" i="0">
                <a:solidFill>
                  <a:srgbClr val="E09B00"/>
                </a:solidFill>
                <a:latin typeface="Arial"/>
              </a:rPr>
              <a:t>(1)</a:t>
            </a:r>
            <a:r>
              <a:rPr sz="1800" b="0" i="0">
                <a:solidFill>
                  <a:srgbClr val="1A1A1A"/>
                </a:solidFill>
                <a:latin typeface="Arial"/>
              </a:rPr>
              <a:t>, with StochRSI oversold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 closes near its high and shows extreme volume </a:t>
            </a:r>
            <a:r>
              <a:rPr sz="1800" b="1" i="0">
                <a:solidFill>
                  <a:srgbClr val="1F5FAD"/>
                </a:solidFill>
                <a:latin typeface="Arial"/>
              </a:rPr>
              <a:t>(3)</a:t>
            </a:r>
            <a:r>
              <a:rPr sz="1800" b="0" i="0">
                <a:solidFill>
                  <a:srgbClr val="1A1A1A"/>
                </a:solidFill>
                <a:latin typeface="Arial"/>
              </a:rPr>
              <a:t>, which Lim calls a possible selling climax (p. 220).</a:t>
            </a:r>
          </a:p>
          <a:p>
            <a:pPr algn="l">
              <a:lnSpc>
                <a:spcPct val="105000"/>
              </a:lnSpc>
              <a:spcBef>
                <a:spcPts val="0"/>
              </a:spcBef>
              <a:spcAft>
                <a:spcPts val="1100"/>
              </a:spcAft>
            </a:pPr>
            <a:r>
              <a:rPr sz="1800" b="0" i="0">
                <a:solidFill>
                  <a:srgbClr val="1A1A1A"/>
                </a:solidFill>
                <a:latin typeface="Arial"/>
              </a:rPr>
              <a:t>The book gives no formulas here. These labels are context, not a promise.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Use the labels as context, not as a promise of a reversal.</a:t>
            </a:r>
          </a:p>
        </p:txBody>
      </p:sp>
      <p:sp>
        <p:nvSpPr>
          <p:cNvPr id="10" name="Rectangle 9"/>
          <p:cNvSpPr/>
          <p:nvPr/>
        </p:nvSpPr>
        <p:spPr>
          <a:xfrm>
            <a:off x="7289880" y="1810512"/>
            <a:ext cx="3875573"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08752" y="1929384"/>
            <a:ext cx="3637829"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08752" y="1929384"/>
            <a:ext cx="3637829"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683072" y="2203703"/>
            <a:ext cx="3089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a bullish key reversal below the lower volatility band, an oversold StochRSI label, and high volume under the reversal bar.</a:t>
            </a:r>
          </a:p>
        </p:txBody>
      </p:sp>
      <p:sp>
        <p:nvSpPr>
          <p:cNvPr id="14" name="Oval 13"/>
          <p:cNvSpPr/>
          <p:nvPr/>
        </p:nvSpPr>
        <p:spPr>
          <a:xfrm>
            <a:off x="8863884" y="3439241"/>
            <a:ext cx="472917" cy="877824"/>
          </a:xfrm>
          <a:prstGeom prst="ellipse">
            <a:avLst/>
          </a:prstGeom>
          <a:noFill/>
          <a:ln w="44450">
            <a:solidFill>
              <a:srgbClr val="E09B00"/>
            </a:solidFill>
          </a:ln>
        </p:spPr>
        <p:txBody>
          <a:bodyPr rtlCol="0" anchor="ctr"/>
          <a:lstStyle/>
          <a:p>
            <a:pPr algn="ctr"/>
          </a:p>
        </p:txBody>
      </p:sp>
      <p:sp>
        <p:nvSpPr>
          <p:cNvPr id="15" name="Oval 14"/>
          <p:cNvSpPr/>
          <p:nvPr/>
        </p:nvSpPr>
        <p:spPr>
          <a:xfrm>
            <a:off x="9009397" y="4387291"/>
            <a:ext cx="363782" cy="561807"/>
          </a:xfrm>
          <a:prstGeom prst="ellipse">
            <a:avLst/>
          </a:prstGeom>
          <a:noFill/>
          <a:ln w="44450">
            <a:solidFill>
              <a:srgbClr val="C62828"/>
            </a:solidFill>
          </a:ln>
        </p:spPr>
        <p:txBody>
          <a:bodyPr rtlCol="0" anchor="ctr"/>
          <a:lstStyle/>
          <a:p>
            <a:pPr algn="ctr"/>
          </a:p>
        </p:txBody>
      </p:sp>
      <p:cxnSp>
        <p:nvCxnSpPr>
          <p:cNvPr id="16" name="Connector 15"/>
          <p:cNvCxnSpPr/>
          <p:nvPr/>
        </p:nvCxnSpPr>
        <p:spPr>
          <a:xfrm>
            <a:off x="9118532" y="3439241"/>
            <a:ext cx="72757" cy="1615196"/>
          </a:xfrm>
          <a:prstGeom prst="line">
            <a:avLst/>
          </a:prstGeom>
          <a:ln w="44450">
            <a:solidFill>
              <a:srgbClr val="1F5FAD"/>
            </a:solidFill>
          </a:ln>
        </p:spPr>
      </p:cxnSp>
      <p:sp>
        <p:nvSpPr>
          <p:cNvPr id="17" name="Oval 16"/>
          <p:cNvSpPr/>
          <p:nvPr/>
        </p:nvSpPr>
        <p:spPr>
          <a:xfrm>
            <a:off x="8508454" y="333719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508454" y="435547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1713" y="3566159"/>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7.16. Bollinger Bands and StochRSI are shown by the book but not defined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220).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62</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Mark 1 is the first close near its high; mark 2 is the second close near its low.</a:t>
            </a:r>
          </a:p>
          <a:p>
            <a:pPr algn="l">
              <a:lnSpc>
                <a:spcPct val="105000"/>
              </a:lnSpc>
              <a:spcBef>
                <a:spcPts val="0"/>
              </a:spcBef>
              <a:spcAft>
                <a:spcPts val="1100"/>
              </a:spcAft>
            </a:pPr>
            <a:r>
              <a:rPr sz="1800" b="0" i="0">
                <a:solidFill>
                  <a:srgbClr val="1A1A1A"/>
                </a:solidFill>
                <a:latin typeface="Arial"/>
              </a:rPr>
              <a:t>The book says wider ranges would be preferable and labels bearish CCI divergence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CCI is not defined in Chapter 7. Treat it as the book's supporting label, not a formula to calculate.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close sequence is the pattern; CCI is context shown by the figure.</a:t>
            </a:r>
          </a:p>
        </p:txBody>
      </p:sp>
      <p:sp>
        <p:nvSpPr>
          <p:cNvPr id="10" name="Rectangle 9"/>
          <p:cNvSpPr/>
          <p:nvPr/>
        </p:nvSpPr>
        <p:spPr>
          <a:xfrm>
            <a:off x="6595168" y="1810512"/>
            <a:ext cx="453347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14040" y="1929384"/>
            <a:ext cx="42957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14040" y="1929384"/>
            <a:ext cx="42957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88360" y="2203703"/>
            <a:ext cx="37470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4" name="Oval 13"/>
          <p:cNvSpPr/>
          <p:nvPr/>
        </p:nvSpPr>
        <p:spPr>
          <a:xfrm>
            <a:off x="8990779" y="2631643"/>
            <a:ext cx="343658" cy="421355"/>
          </a:xfrm>
          <a:prstGeom prst="ellipse">
            <a:avLst/>
          </a:prstGeom>
          <a:noFill/>
          <a:ln w="44450">
            <a:solidFill>
              <a:srgbClr val="E09B00"/>
            </a:solidFill>
          </a:ln>
        </p:spPr>
        <p:txBody>
          <a:bodyPr rtlCol="0" anchor="ctr"/>
          <a:lstStyle/>
          <a:p>
            <a:pPr algn="ctr"/>
          </a:p>
        </p:txBody>
      </p:sp>
      <p:sp>
        <p:nvSpPr>
          <p:cNvPr id="15" name="Oval 14"/>
          <p:cNvSpPr/>
          <p:nvPr/>
        </p:nvSpPr>
        <p:spPr>
          <a:xfrm>
            <a:off x="9377395" y="2561417"/>
            <a:ext cx="343658" cy="456468"/>
          </a:xfrm>
          <a:prstGeom prst="ellipse">
            <a:avLst/>
          </a:prstGeom>
          <a:noFill/>
          <a:ln w="44450">
            <a:solidFill>
              <a:srgbClr val="C62828"/>
            </a:solidFill>
          </a:ln>
        </p:spPr>
        <p:txBody>
          <a:bodyPr rtlCol="0" anchor="ctr"/>
          <a:lstStyle/>
          <a:p>
            <a:pPr algn="ctr"/>
          </a:p>
        </p:txBody>
      </p:sp>
      <p:sp>
        <p:nvSpPr>
          <p:cNvPr id="16" name="Oval 15"/>
          <p:cNvSpPr/>
          <p:nvPr/>
        </p:nvSpPr>
        <p:spPr>
          <a:xfrm>
            <a:off x="8518248" y="4387291"/>
            <a:ext cx="988018" cy="737372"/>
          </a:xfrm>
          <a:prstGeom prst="ellipse">
            <a:avLst/>
          </a:prstGeom>
          <a:noFill/>
          <a:ln w="44450">
            <a:solidFill>
              <a:srgbClr val="1F5FAD"/>
            </a:solidFill>
          </a:ln>
        </p:spPr>
        <p:txBody>
          <a:bodyPr rtlCol="0" anchor="ctr"/>
          <a:lstStyle/>
          <a:p>
            <a:pPr algn="ctr"/>
          </a:p>
        </p:txBody>
      </p:sp>
      <p:sp>
        <p:nvSpPr>
          <p:cNvPr id="17" name="Oval 16"/>
          <p:cNvSpPr/>
          <p:nvPr/>
        </p:nvSpPr>
        <p:spPr>
          <a:xfrm>
            <a:off x="8509960" y="235403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927553" y="242425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583894" y="453103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309359" y="5650991"/>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220, Figure 7.17. The CCI label is reproduced as the book's observation, not taught as a formula.</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bullish three-bar reversal uses three bars, and the middle bar can show uncertainty between stronger outer bars. With simple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potential reversal reading, but does not guarantee follow-through (Lim,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522740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530142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2860243" y="51432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15226" y="52173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red </a:t>
            </a:r>
            <a:r>
              <a:rPr sz="2000" b="1" i="0">
                <a:solidFill>
                  <a:srgbClr val="C62828"/>
                </a:solidFill>
                <a:latin typeface="Arial"/>
              </a:rPr>
              <a:t>(2)</a:t>
            </a:r>
            <a:r>
              <a:rPr sz="2000" b="0" i="0">
                <a:solidFill>
                  <a:srgbClr val="1A1A1A"/>
                </a:solidFill>
                <a:latin typeface="Arial"/>
              </a:rPr>
              <a:t> and blue </a:t>
            </a:r>
            <a:r>
              <a:rPr sz="2000" b="1" i="0">
                <a:solidFill>
                  <a:srgbClr val="1F5FAD"/>
                </a:solidFill>
                <a:latin typeface="Arial"/>
              </a:rPr>
              <a:t>(3)</a:t>
            </a:r>
            <a:r>
              <a:rPr sz="2000" b="0" i="0">
                <a:solidFill>
                  <a:srgbClr val="1A1A1A"/>
                </a:solidFill>
                <a:latin typeface="Arial"/>
              </a:rPr>
              <a:t> mark the first, middle and third price bars. Purple </a:t>
            </a:r>
            <a:r>
              <a:rPr sz="2000" b="1" i="0">
                <a:solidFill>
                  <a:srgbClr val="7B3FA0"/>
                </a:solidFill>
                <a:latin typeface="Arial"/>
              </a:rPr>
              <a:t>(4)</a:t>
            </a:r>
            <a:r>
              <a:rPr sz="2000" b="0" i="0">
                <a:solidFill>
                  <a:srgbClr val="1A1A1A"/>
                </a:solidFill>
                <a:latin typeface="Arial"/>
              </a:rPr>
              <a:t> marks bearish +DM divergence, a book label not defined here.</a:t>
            </a:r>
          </a:p>
          <a:p>
            <a:pPr algn="l">
              <a:lnSpc>
                <a:spcPct val="105000"/>
              </a:lnSpc>
              <a:spcBef>
                <a:spcPts val="0"/>
              </a:spcBef>
              <a:spcAft>
                <a:spcPts val="1100"/>
              </a:spcAft>
            </a:pPr>
            <a:r>
              <a:rPr sz="2000" b="0" i="0">
                <a:solidFill>
                  <a:srgbClr val="1A1A1A"/>
                </a:solidFill>
                <a:latin typeface="Arial"/>
              </a:rPr>
              <a:t>The pattern can warn of changing pressure; the later decline is not guaranteed (p. 221).</a:t>
            </a:r>
          </a:p>
        </p:txBody>
      </p:sp>
      <p:sp>
        <p:nvSpPr>
          <p:cNvPr id="8" name="Rectangle 7"/>
          <p:cNvSpPr/>
          <p:nvPr/>
        </p:nvSpPr>
        <p:spPr>
          <a:xfrm>
            <a:off x="65594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783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783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526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10119390" y="2280513"/>
            <a:ext cx="172053"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291443" y="2280513"/>
            <a:ext cx="172053"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63497" y="2280513"/>
            <a:ext cx="172053" cy="526694"/>
          </a:xfrm>
          <a:prstGeom prst="rect">
            <a:avLst/>
          </a:prstGeom>
          <a:noFill/>
          <a:ln w="44450">
            <a:solidFill>
              <a:srgbClr val="1F5FAD"/>
            </a:solidFill>
          </a:ln>
        </p:spPr>
        <p:txBody>
          <a:bodyPr rtlCol="0" anchor="ctr"/>
          <a:lstStyle/>
          <a:p>
            <a:pPr algn="ctr"/>
          </a:p>
        </p:txBody>
      </p:sp>
      <p:sp>
        <p:nvSpPr>
          <p:cNvPr id="15" name="Oval 14"/>
          <p:cNvSpPr/>
          <p:nvPr/>
        </p:nvSpPr>
        <p:spPr>
          <a:xfrm>
            <a:off x="101193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611825" y="2166213"/>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594988" y="216621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889936" y="2798246"/>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840778" y="4202765"/>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three-bar reversal can be more convincing when the outer bars carry higher volume </a:t>
            </a:r>
            <a:r>
              <a:rPr sz="2000" b="1" i="0">
                <a:solidFill>
                  <a:srgbClr val="E09B00"/>
                </a:solidFill>
                <a:latin typeface="Arial"/>
              </a:rPr>
              <a:t>(1)</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while the middle bar is quieter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That volume pattern repeats the uncertainty-between-strengthers idea from the worked example. These are observations, not a guarantee.</a:t>
            </a:r>
          </a:p>
        </p:txBody>
      </p:sp>
      <p:sp>
        <p:nvSpPr>
          <p:cNvPr id="8" name="Rectangle 7"/>
          <p:cNvSpPr/>
          <p:nvPr/>
        </p:nvSpPr>
        <p:spPr>
          <a:xfrm>
            <a:off x="6450705" y="1810512"/>
            <a:ext cx="52796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69577" y="1929384"/>
            <a:ext cx="50418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69577" y="1929384"/>
            <a:ext cx="50418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43897" y="2203703"/>
            <a:ext cx="44932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9040088" y="4633081"/>
            <a:ext cx="252093" cy="491581"/>
          </a:xfrm>
          <a:prstGeom prst="ellipse">
            <a:avLst/>
          </a:prstGeom>
          <a:noFill/>
          <a:ln w="44450">
            <a:solidFill>
              <a:srgbClr val="E09B00"/>
            </a:solidFill>
          </a:ln>
        </p:spPr>
        <p:txBody>
          <a:bodyPr rtlCol="0" anchor="ctr"/>
          <a:lstStyle/>
          <a:p>
            <a:pPr algn="ctr"/>
          </a:p>
        </p:txBody>
      </p:sp>
      <p:sp>
        <p:nvSpPr>
          <p:cNvPr id="13" name="Oval 12"/>
          <p:cNvSpPr/>
          <p:nvPr/>
        </p:nvSpPr>
        <p:spPr>
          <a:xfrm>
            <a:off x="9292181" y="4703307"/>
            <a:ext cx="201674" cy="456468"/>
          </a:xfrm>
          <a:prstGeom prst="ellipse">
            <a:avLst/>
          </a:prstGeom>
          <a:noFill/>
          <a:ln w="44450">
            <a:solidFill>
              <a:srgbClr val="C62828"/>
            </a:solidFill>
          </a:ln>
        </p:spPr>
        <p:txBody>
          <a:bodyPr rtlCol="0" anchor="ctr"/>
          <a:lstStyle/>
          <a:p>
            <a:pPr algn="ctr"/>
          </a:p>
        </p:txBody>
      </p:sp>
      <p:sp>
        <p:nvSpPr>
          <p:cNvPr id="14" name="Oval 13"/>
          <p:cNvSpPr/>
          <p:nvPr/>
        </p:nvSpPr>
        <p:spPr>
          <a:xfrm>
            <a:off x="9493856" y="4633081"/>
            <a:ext cx="252093" cy="491581"/>
          </a:xfrm>
          <a:prstGeom prst="ellipse">
            <a:avLst/>
          </a:prstGeom>
          <a:noFill/>
          <a:ln w="44450">
            <a:solidFill>
              <a:srgbClr val="1F5FAD"/>
            </a:solidFill>
          </a:ln>
        </p:spPr>
        <p:txBody>
          <a:bodyPr rtlCol="0" anchor="ctr"/>
          <a:lstStyle/>
          <a:p>
            <a:pPr algn="ctr"/>
          </a:p>
        </p:txBody>
      </p:sp>
      <p:sp>
        <p:nvSpPr>
          <p:cNvPr id="15" name="Oval 14"/>
          <p:cNvSpPr/>
          <p:nvPr/>
        </p:nvSpPr>
        <p:spPr>
          <a:xfrm>
            <a:off x="8623277" y="434321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581230" y="4413443"/>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934161" y="4343217"/>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3794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three-bar reversal is the price pattern. Gold </a:t>
            </a:r>
            <a:r>
              <a:rPr sz="1900" b="1" i="0">
                <a:solidFill>
                  <a:srgbClr val="E09B00"/>
                </a:solidFill>
                <a:latin typeface="Arial"/>
              </a:rPr>
              <a:t>(1)</a:t>
            </a:r>
            <a:r>
              <a:rPr sz="1900" b="0" i="0">
                <a:solidFill>
                  <a:srgbClr val="1A1A1A"/>
                </a:solidFill>
                <a:latin typeface="Arial"/>
              </a:rPr>
              <a:t> boxes it, red </a:t>
            </a:r>
            <a:r>
              <a:rPr sz="1900" b="1" i="0">
                <a:solidFill>
                  <a:srgbClr val="C62828"/>
                </a:solidFill>
                <a:latin typeface="Arial"/>
              </a:rPr>
              <a:t>(2)</a:t>
            </a:r>
            <a:r>
              <a:rPr sz="1900" b="0" i="0">
                <a:solidFill>
                  <a:srgbClr val="1A1A1A"/>
                </a:solidFill>
                <a:latin typeface="Arial"/>
              </a:rPr>
              <a:t> marks the oversold StochRSI label, and blue </a:t>
            </a:r>
            <a:r>
              <a:rPr sz="1900" b="1" i="0">
                <a:solidFill>
                  <a:srgbClr val="1F5FAD"/>
                </a:solidFill>
                <a:latin typeface="Arial"/>
              </a:rPr>
              <a:t>(3)</a:t>
            </a:r>
            <a:r>
              <a:rPr sz="1900" b="0" i="0">
                <a:solidFill>
                  <a:srgbClr val="1A1A1A"/>
                </a:solidFill>
                <a:latin typeface="Arial"/>
              </a:rPr>
              <a:t> sits on the final close between the Bollinger bands.</a:t>
            </a:r>
          </a:p>
          <a:p>
            <a:pPr algn="l">
              <a:lnSpc>
                <a:spcPct val="105000"/>
              </a:lnSpc>
              <a:spcBef>
                <a:spcPts val="0"/>
              </a:spcBef>
              <a:spcAft>
                <a:spcPts val="1100"/>
              </a:spcAft>
            </a:pPr>
            <a:r>
              <a:rPr sz="1900" b="0" i="0">
                <a:solidFill>
                  <a:srgbClr val="1A1A1A"/>
                </a:solidFill>
                <a:latin typeface="Arial"/>
              </a:rPr>
              <a:t>Lim calls that location bullish and links the example to pattern 5 in Figure 7.9.</a:t>
            </a:r>
          </a:p>
          <a:p>
            <a:pPr algn="l">
              <a:lnSpc>
                <a:spcPct val="105000"/>
              </a:lnSpc>
              <a:spcBef>
                <a:spcPts val="0"/>
              </a:spcBef>
              <a:spcAft>
                <a:spcPts val="1100"/>
              </a:spcAft>
            </a:pPr>
            <a:r>
              <a:rPr sz="1900" b="0" i="0">
                <a:solidFill>
                  <a:srgbClr val="1A1A1A"/>
                </a:solidFill>
                <a:latin typeface="Arial"/>
              </a:rPr>
              <a:t>The book gives no formula for either indicator here, so these labels are context rather than a method to calculate.</a:t>
            </a:r>
          </a:p>
        </p:txBody>
      </p:sp>
      <p:sp>
        <p:nvSpPr>
          <p:cNvPr id="8" name="Rectangle 7"/>
          <p:cNvSpPr/>
          <p:nvPr/>
        </p:nvSpPr>
        <p:spPr>
          <a:xfrm>
            <a:off x="6837265" y="1810512"/>
            <a:ext cx="459792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56137" y="1929384"/>
            <a:ext cx="436018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56137" y="1929384"/>
            <a:ext cx="436018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30457" y="2203703"/>
            <a:ext cx="381154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the three-bar reversal, an oversold StochRSI label, and the final close between the two volatility bands.</a:t>
            </a:r>
          </a:p>
        </p:txBody>
      </p:sp>
      <p:sp>
        <p:nvSpPr>
          <p:cNvPr id="12" name="Rectangle 11"/>
          <p:cNvSpPr/>
          <p:nvPr/>
        </p:nvSpPr>
        <p:spPr>
          <a:xfrm>
            <a:off x="8569404" y="3685031"/>
            <a:ext cx="305212" cy="772485"/>
          </a:xfrm>
          <a:prstGeom prst="rect">
            <a:avLst/>
          </a:prstGeom>
          <a:noFill/>
          <a:ln w="44450">
            <a:solidFill>
              <a:srgbClr val="E09B00"/>
            </a:solidFill>
          </a:ln>
        </p:spPr>
        <p:txBody>
          <a:bodyPr rtlCol="0" anchor="ctr"/>
          <a:lstStyle/>
          <a:p>
            <a:pPr algn="ctr"/>
          </a:p>
        </p:txBody>
      </p:sp>
      <p:sp>
        <p:nvSpPr>
          <p:cNvPr id="13" name="Oval 12"/>
          <p:cNvSpPr/>
          <p:nvPr/>
        </p:nvSpPr>
        <p:spPr>
          <a:xfrm>
            <a:off x="8613005" y="5019324"/>
            <a:ext cx="348814" cy="368686"/>
          </a:xfrm>
          <a:prstGeom prst="ellipse">
            <a:avLst/>
          </a:prstGeom>
          <a:noFill/>
          <a:ln w="44450">
            <a:solidFill>
              <a:srgbClr val="C62828"/>
            </a:solidFill>
          </a:ln>
        </p:spPr>
        <p:txBody>
          <a:bodyPr rtlCol="0" anchor="ctr"/>
          <a:lstStyle/>
          <a:p>
            <a:pPr algn="ctr"/>
          </a:p>
        </p:txBody>
      </p:sp>
      <p:sp>
        <p:nvSpPr>
          <p:cNvPr id="14" name="Oval 13"/>
          <p:cNvSpPr/>
          <p:nvPr/>
        </p:nvSpPr>
        <p:spPr>
          <a:xfrm>
            <a:off x="8656607" y="3860596"/>
            <a:ext cx="261610" cy="280903"/>
          </a:xfrm>
          <a:prstGeom prst="ellipse">
            <a:avLst/>
          </a:prstGeom>
          <a:noFill/>
          <a:ln w="44450">
            <a:solidFill>
              <a:srgbClr val="1F5FAD"/>
            </a:solidFill>
          </a:ln>
        </p:spPr>
        <p:txBody>
          <a:bodyPr rtlCol="0" anchor="ctr"/>
          <a:lstStyle/>
          <a:p>
            <a:pPr algn="ctr"/>
          </a:p>
        </p:txBody>
      </p:sp>
      <p:sp>
        <p:nvSpPr>
          <p:cNvPr id="15" name="Oval 14"/>
          <p:cNvSpPr/>
          <p:nvPr/>
        </p:nvSpPr>
        <p:spPr>
          <a:xfrm>
            <a:off x="8048971" y="33112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05840" y="4750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66169" y="310969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650991"/>
            <a:ext cx="54708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62</a:t>
            </a:r>
          </a:p>
        </p:txBody>
      </p:sp>
      <p:sp>
        <p:nvSpPr>
          <p:cNvPr id="7" name="TextBox 6"/>
          <p:cNvSpPr txBox="1"/>
          <p:nvPr/>
        </p:nvSpPr>
        <p:spPr>
          <a:xfrm>
            <a:off x="777240" y="1965960"/>
            <a:ext cx="58064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7.21 first shows a bullish three-bar reversal </a:t>
            </a:r>
            <a:r>
              <a:rPr sz="1700" b="1" i="0">
                <a:solidFill>
                  <a:srgbClr val="E09B00"/>
                </a:solidFill>
                <a:latin typeface="Arial"/>
              </a:rPr>
              <a:t>(1)</a:t>
            </a:r>
            <a:r>
              <a:rPr sz="1700" b="0" i="0">
                <a:solidFill>
                  <a:srgbClr val="1A1A1A"/>
                </a:solidFill>
                <a:latin typeface="Arial"/>
              </a:rPr>
              <a:t>, whose large third bar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Later, a separate outside day engulfs four preceding bars </a:t>
            </a:r>
            <a:r>
              <a:rPr sz="1700" b="1" i="0">
                <a:solidFill>
                  <a:srgbClr val="7B3FA0"/>
                </a:solidFill>
                <a:latin typeface="Arial"/>
              </a:rPr>
              <a:t>(4)</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Keep the two formations separate. The outside day is a new event that can reverse the preceding move, not part of the first three-bar count.</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5138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Below-average middle volume and high-volume outer bars are the three-bar clue; the outside day is separate.</a:t>
            </a:r>
          </a:p>
        </p:txBody>
      </p:sp>
      <p:sp>
        <p:nvSpPr>
          <p:cNvPr id="10" name="Rectangle 9"/>
          <p:cNvSpPr/>
          <p:nvPr/>
        </p:nvSpPr>
        <p:spPr>
          <a:xfrm>
            <a:off x="6903719" y="1810512"/>
            <a:ext cx="4510735" cy="330068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22591" y="1929384"/>
            <a:ext cx="4272991" cy="306294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22591" y="1929384"/>
            <a:ext cx="42729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296911" y="2203703"/>
            <a:ext cx="3724351" cy="260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4" name="Rectangle 13"/>
          <p:cNvSpPr/>
          <p:nvPr/>
        </p:nvSpPr>
        <p:spPr>
          <a:xfrm>
            <a:off x="8518138" y="3185189"/>
            <a:ext cx="640948" cy="826993"/>
          </a:xfrm>
          <a:prstGeom prst="rect">
            <a:avLst/>
          </a:prstGeom>
          <a:noFill/>
          <a:ln w="44450">
            <a:solidFill>
              <a:srgbClr val="E09B00"/>
            </a:solidFill>
          </a:ln>
        </p:spPr>
        <p:txBody>
          <a:bodyPr rtlCol="0" anchor="ctr"/>
          <a:lstStyle/>
          <a:p>
            <a:pPr algn="ctr"/>
          </a:p>
        </p:txBody>
      </p:sp>
      <p:sp>
        <p:nvSpPr>
          <p:cNvPr id="15" name="Oval 14"/>
          <p:cNvSpPr/>
          <p:nvPr/>
        </p:nvSpPr>
        <p:spPr>
          <a:xfrm>
            <a:off x="8859978" y="3154560"/>
            <a:ext cx="299109" cy="520699"/>
          </a:xfrm>
          <a:prstGeom prst="ellipse">
            <a:avLst/>
          </a:prstGeom>
          <a:noFill/>
          <a:ln w="44450">
            <a:solidFill>
              <a:srgbClr val="C62828"/>
            </a:solidFill>
          </a:ln>
        </p:spPr>
        <p:txBody>
          <a:bodyPr rtlCol="0" anchor="ctr"/>
          <a:lstStyle/>
          <a:p>
            <a:pPr algn="ctr"/>
          </a:p>
        </p:txBody>
      </p:sp>
      <p:sp>
        <p:nvSpPr>
          <p:cNvPr id="16" name="Oval 15"/>
          <p:cNvSpPr/>
          <p:nvPr/>
        </p:nvSpPr>
        <p:spPr>
          <a:xfrm>
            <a:off x="9842766" y="2541972"/>
            <a:ext cx="299109" cy="245035"/>
          </a:xfrm>
          <a:prstGeom prst="ellipse">
            <a:avLst/>
          </a:prstGeom>
          <a:noFill/>
          <a:ln w="44450">
            <a:solidFill>
              <a:srgbClr val="1F5FAD"/>
            </a:solidFill>
          </a:ln>
        </p:spPr>
        <p:txBody>
          <a:bodyPr rtlCol="0" anchor="ctr"/>
          <a:lstStyle/>
          <a:p>
            <a:pPr algn="ctr"/>
          </a:p>
        </p:txBody>
      </p:sp>
      <p:sp>
        <p:nvSpPr>
          <p:cNvPr id="17" name="Rectangle 16"/>
          <p:cNvSpPr/>
          <p:nvPr/>
        </p:nvSpPr>
        <p:spPr>
          <a:xfrm>
            <a:off x="9244547" y="2235678"/>
            <a:ext cx="470029" cy="918882"/>
          </a:xfrm>
          <a:prstGeom prst="rect">
            <a:avLst/>
          </a:prstGeom>
          <a:noFill/>
          <a:ln w="44450">
            <a:solidFill>
              <a:srgbClr val="7B3FA0"/>
            </a:solidFill>
          </a:ln>
        </p:spPr>
        <p:txBody>
          <a:bodyPr rtlCol="0" anchor="ctr"/>
          <a:lstStyle/>
          <a:p>
            <a:pPr algn="ctr"/>
          </a:p>
        </p:txBody>
      </p:sp>
      <p:sp>
        <p:nvSpPr>
          <p:cNvPr id="18" name="Oval 17"/>
          <p:cNvSpPr/>
          <p:nvPr/>
        </p:nvSpPr>
        <p:spPr>
          <a:xfrm>
            <a:off x="8124599" y="295614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201991" y="28427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50302" y="2361841"/>
            <a:ext cx="237744" cy="237744"/>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921169" y="3136720"/>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03719" y="5202636"/>
            <a:ext cx="45107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7.21 -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62</a:t>
            </a:r>
          </a:p>
        </p:txBody>
      </p:sp>
      <p:sp>
        <p:nvSpPr>
          <p:cNvPr id="7" name="TextBox 6"/>
          <p:cNvSpPr txBox="1"/>
          <p:nvPr/>
        </p:nvSpPr>
        <p:spPr>
          <a:xfrm>
            <a:off x="777240" y="1965960"/>
            <a:ext cx="55778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 (p. 223).</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2852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large price bar can still carry lower volume than the first bar.</a:t>
            </a:r>
          </a:p>
        </p:txBody>
      </p:sp>
      <p:sp>
        <p:nvSpPr>
          <p:cNvPr id="10" name="Rectangle 9"/>
          <p:cNvSpPr/>
          <p:nvPr/>
        </p:nvSpPr>
        <p:spPr>
          <a:xfrm>
            <a:off x="6675119" y="1810512"/>
            <a:ext cx="4739335" cy="342471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93991" y="1929384"/>
            <a:ext cx="4501591" cy="318696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93991" y="1929384"/>
            <a:ext cx="45015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68311" y="2203703"/>
            <a:ext cx="3952951" cy="27297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4" name="Oval 13"/>
          <p:cNvSpPr/>
          <p:nvPr/>
        </p:nvSpPr>
        <p:spPr>
          <a:xfrm>
            <a:off x="8999771" y="4383348"/>
            <a:ext cx="270095" cy="478045"/>
          </a:xfrm>
          <a:prstGeom prst="ellipse">
            <a:avLst/>
          </a:prstGeom>
          <a:noFill/>
          <a:ln w="44450">
            <a:solidFill>
              <a:srgbClr val="E09B00"/>
            </a:solidFill>
          </a:ln>
        </p:spPr>
        <p:txBody>
          <a:bodyPr rtlCol="0" anchor="ctr"/>
          <a:lstStyle/>
          <a:p>
            <a:pPr algn="ctr"/>
          </a:p>
        </p:txBody>
      </p:sp>
      <p:sp>
        <p:nvSpPr>
          <p:cNvPr id="15" name="Rectangle 14"/>
          <p:cNvSpPr/>
          <p:nvPr/>
        </p:nvSpPr>
        <p:spPr>
          <a:xfrm>
            <a:off x="9134819" y="3459128"/>
            <a:ext cx="315111" cy="733002"/>
          </a:xfrm>
          <a:prstGeom prst="rect">
            <a:avLst/>
          </a:prstGeom>
          <a:noFill/>
          <a:ln w="44450">
            <a:solidFill>
              <a:srgbClr val="C62828"/>
            </a:solidFill>
          </a:ln>
        </p:spPr>
        <p:txBody>
          <a:bodyPr rtlCol="0" anchor="ctr"/>
          <a:lstStyle/>
          <a:p>
            <a:pPr algn="ctr"/>
          </a:p>
        </p:txBody>
      </p:sp>
      <p:sp>
        <p:nvSpPr>
          <p:cNvPr id="16" name="Oval 15"/>
          <p:cNvSpPr/>
          <p:nvPr/>
        </p:nvSpPr>
        <p:spPr>
          <a:xfrm>
            <a:off x="9224851" y="4383348"/>
            <a:ext cx="270095" cy="478045"/>
          </a:xfrm>
          <a:prstGeom prst="ellipse">
            <a:avLst/>
          </a:prstGeom>
          <a:noFill/>
          <a:ln w="44450">
            <a:solidFill>
              <a:srgbClr val="1F5FAD"/>
            </a:solidFill>
          </a:ln>
        </p:spPr>
        <p:txBody>
          <a:bodyPr rtlCol="0" anchor="ctr"/>
          <a:lstStyle/>
          <a:p>
            <a:pPr algn="ctr"/>
          </a:p>
        </p:txBody>
      </p:sp>
      <p:sp>
        <p:nvSpPr>
          <p:cNvPr id="17" name="Oval 16"/>
          <p:cNvSpPr/>
          <p:nvPr/>
        </p:nvSpPr>
        <p:spPr>
          <a:xfrm>
            <a:off x="8615376" y="4109700"/>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546994" y="317176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740773" y="4109700"/>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675119" y="5326663"/>
            <a:ext cx="473933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862809" y="1667016"/>
            <a:ext cx="167156" cy="511704"/>
          </a:xfrm>
          <a:prstGeom prst="rect">
            <a:avLst/>
          </a:prstGeom>
          <a:noFill/>
          <a:ln w="44450">
            <a:solidFill>
              <a:srgbClr val="E09B00"/>
            </a:solidFill>
          </a:ln>
        </p:spPr>
        <p:txBody>
          <a:bodyPr rtlCol="0" anchor="ctr"/>
          <a:lstStyle/>
          <a:p>
            <a:pPr algn="ctr"/>
          </a:p>
        </p:txBody>
      </p:sp>
      <p:sp>
        <p:nvSpPr>
          <p:cNvPr id="19" name="Rectangle 18"/>
          <p:cNvSpPr/>
          <p:nvPr/>
        </p:nvSpPr>
        <p:spPr>
          <a:xfrm>
            <a:off x="10029966" y="1667016"/>
            <a:ext cx="167156" cy="511704"/>
          </a:xfrm>
          <a:prstGeom prst="rect">
            <a:avLst/>
          </a:prstGeom>
          <a:noFill/>
          <a:ln w="44450">
            <a:solidFill>
              <a:srgbClr val="C62828"/>
            </a:solidFill>
          </a:ln>
        </p:spPr>
        <p:txBody>
          <a:bodyPr rtlCol="0" anchor="ctr"/>
          <a:lstStyle/>
          <a:p>
            <a:pPr algn="ctr"/>
          </a:p>
        </p:txBody>
      </p:sp>
      <p:sp>
        <p:nvSpPr>
          <p:cNvPr id="20" name="Rectangle 19"/>
          <p:cNvSpPr/>
          <p:nvPr/>
        </p:nvSpPr>
        <p:spPr>
          <a:xfrm>
            <a:off x="10197123" y="1667016"/>
            <a:ext cx="167156" cy="511704"/>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366436" y="1552716"/>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10321619" y="1552716"/>
            <a:ext cx="228600" cy="22860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608173" y="2166762"/>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60414" y="3531308"/>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island's supporting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two gaps do the defining work. Mark 1 is the gap up, mark 2 the isolated island, and mark 3 the gap down.</a:t>
            </a:r>
          </a:p>
          <a:p>
            <a:pPr algn="l">
              <a:lnSpc>
                <a:spcPct val="105000"/>
              </a:lnSpc>
              <a:spcBef>
                <a:spcPts val="0"/>
              </a:spcBef>
              <a:spcAft>
                <a:spcPts val="1100"/>
              </a:spcAft>
            </a:pPr>
            <a:r>
              <a:rPr sz="2000" b="0" i="0">
                <a:solidFill>
                  <a:srgbClr val="1A1A1A"/>
                </a:solidFill>
                <a:latin typeface="Arial"/>
              </a:rPr>
              <a:t>The book also observes low volume </a:t>
            </a:r>
            <a:r>
              <a:rPr sz="2000" b="1" i="0">
                <a:solidFill>
                  <a:srgbClr val="7B3FA0"/>
                </a:solidFill>
                <a:latin typeface="Arial"/>
              </a:rPr>
              <a:t>(4)</a:t>
            </a:r>
            <a:r>
              <a:rPr sz="2000" b="0" i="0">
                <a:solidFill>
                  <a:srgbClr val="1A1A1A"/>
                </a:solidFill>
                <a:latin typeface="Arial"/>
              </a:rPr>
              <a:t> and an overbought stochastic label </a:t>
            </a:r>
            <a:r>
              <a:rPr sz="2000" b="1" i="0">
                <a:solidFill>
                  <a:srgbClr val="007A33"/>
                </a:solidFill>
                <a:latin typeface="Arial"/>
              </a:rPr>
              <a:t>(5)</a:t>
            </a:r>
            <a:r>
              <a:rPr sz="2000" b="0" i="0">
                <a:solidFill>
                  <a:srgbClr val="1A1A1A"/>
                </a:solidFill>
                <a:latin typeface="Arial"/>
              </a:rPr>
              <a:t>, calling low volume a lack of conviction.</a:t>
            </a:r>
          </a:p>
          <a:p>
            <a:pPr algn="l">
              <a:lnSpc>
                <a:spcPct val="105000"/>
              </a:lnSpc>
              <a:spcBef>
                <a:spcPts val="0"/>
              </a:spcBef>
              <a:spcAft>
                <a:spcPts val="1100"/>
              </a:spcAft>
            </a:pPr>
            <a:r>
              <a:rPr sz="2000" b="0" i="0">
                <a:solidFill>
                  <a:srgbClr val="1A1A1A"/>
                </a:solidFill>
                <a:latin typeface="Arial"/>
              </a:rPr>
              <a:t>No stochastic method is given here. These labels are context, and the island remains a potential warning.</a:t>
            </a:r>
          </a:p>
        </p:txBody>
      </p:sp>
      <p:sp>
        <p:nvSpPr>
          <p:cNvPr id="8" name="Rectangle 7"/>
          <p:cNvSpPr/>
          <p:nvPr/>
        </p:nvSpPr>
        <p:spPr>
          <a:xfrm>
            <a:off x="7182696" y="1810512"/>
            <a:ext cx="4089942"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301568" y="1929384"/>
            <a:ext cx="385219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301568" y="1929384"/>
            <a:ext cx="385219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575888" y="2203703"/>
            <a:ext cx="33035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2" name="Oval 11"/>
          <p:cNvSpPr/>
          <p:nvPr/>
        </p:nvSpPr>
        <p:spPr>
          <a:xfrm>
            <a:off x="8958013" y="2912546"/>
            <a:ext cx="269653" cy="526694"/>
          </a:xfrm>
          <a:prstGeom prst="ellipse">
            <a:avLst/>
          </a:prstGeom>
          <a:noFill/>
          <a:ln w="44450">
            <a:solidFill>
              <a:srgbClr val="E09B00"/>
            </a:solidFill>
          </a:ln>
        </p:spPr>
        <p:txBody>
          <a:bodyPr rtlCol="0" anchor="ctr"/>
          <a:lstStyle/>
          <a:p>
            <a:pPr algn="ctr"/>
          </a:p>
        </p:txBody>
      </p:sp>
      <p:sp>
        <p:nvSpPr>
          <p:cNvPr id="13" name="Rectangle 12"/>
          <p:cNvSpPr/>
          <p:nvPr/>
        </p:nvSpPr>
        <p:spPr>
          <a:xfrm>
            <a:off x="9150623" y="2491191"/>
            <a:ext cx="462263" cy="1123614"/>
          </a:xfrm>
          <a:prstGeom prst="rect">
            <a:avLst/>
          </a:prstGeom>
          <a:noFill/>
          <a:ln w="44450">
            <a:solidFill>
              <a:srgbClr val="C62828"/>
            </a:solidFill>
          </a:ln>
        </p:spPr>
        <p:txBody>
          <a:bodyPr rtlCol="0" anchor="ctr"/>
          <a:lstStyle/>
          <a:p>
            <a:pPr algn="ctr"/>
          </a:p>
        </p:txBody>
      </p:sp>
      <p:sp>
        <p:nvSpPr>
          <p:cNvPr id="14" name="Oval 13"/>
          <p:cNvSpPr/>
          <p:nvPr/>
        </p:nvSpPr>
        <p:spPr>
          <a:xfrm>
            <a:off x="9689931" y="2947659"/>
            <a:ext cx="308175" cy="526694"/>
          </a:xfrm>
          <a:prstGeom prst="ellipse">
            <a:avLst/>
          </a:prstGeom>
          <a:noFill/>
          <a:ln w="44450">
            <a:solidFill>
              <a:srgbClr val="1F5FAD"/>
            </a:solidFill>
          </a:ln>
        </p:spPr>
        <p:txBody>
          <a:bodyPr rtlCol="0" anchor="ctr"/>
          <a:lstStyle/>
          <a:p>
            <a:pPr algn="ctr"/>
          </a:p>
        </p:txBody>
      </p:sp>
      <p:sp>
        <p:nvSpPr>
          <p:cNvPr id="15" name="Rectangle 14"/>
          <p:cNvSpPr/>
          <p:nvPr/>
        </p:nvSpPr>
        <p:spPr>
          <a:xfrm>
            <a:off x="8726881" y="4317065"/>
            <a:ext cx="731917" cy="456468"/>
          </a:xfrm>
          <a:prstGeom prst="rect">
            <a:avLst/>
          </a:prstGeom>
          <a:noFill/>
          <a:ln w="44450">
            <a:solidFill>
              <a:srgbClr val="7B3FA0"/>
            </a:solidFill>
          </a:ln>
        </p:spPr>
        <p:txBody>
          <a:bodyPr rtlCol="0" anchor="ctr"/>
          <a:lstStyle/>
          <a:p>
            <a:pPr algn="ctr"/>
          </a:p>
        </p:txBody>
      </p:sp>
      <p:sp>
        <p:nvSpPr>
          <p:cNvPr id="16" name="Rectangle 15"/>
          <p:cNvSpPr/>
          <p:nvPr/>
        </p:nvSpPr>
        <p:spPr>
          <a:xfrm>
            <a:off x="9189145" y="4843759"/>
            <a:ext cx="385219" cy="456468"/>
          </a:xfrm>
          <a:prstGeom prst="rect">
            <a:avLst/>
          </a:prstGeom>
          <a:noFill/>
          <a:ln w="44450">
            <a:solidFill>
              <a:srgbClr val="007A33"/>
            </a:solidFill>
          </a:ln>
        </p:spPr>
        <p:txBody>
          <a:bodyPr rtlCol="0" anchor="ctr"/>
          <a:lstStyle/>
          <a:p>
            <a:pPr algn="ctr"/>
          </a:p>
        </p:txBody>
      </p:sp>
      <p:sp>
        <p:nvSpPr>
          <p:cNvPr id="17" name="Oval 16"/>
          <p:cNvSpPr/>
          <p:nvPr/>
        </p:nvSpPr>
        <p:spPr>
          <a:xfrm>
            <a:off x="8603437" y="2613538"/>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20575" y="2192182"/>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105795" y="2613538"/>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42927" y="476457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9729719" y="5150815"/>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TextBox 21"/>
          <p:cNvSpPr txBox="1"/>
          <p:nvPr/>
        </p:nvSpPr>
        <p:spPr>
          <a:xfrm>
            <a:off x="640079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7.23. Gap meaning points back to Chapter 3; stochastic is shown but not defined here.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 the stochastic label here?</a:t>
            </a:r>
          </a:p>
        </p:txBody>
      </p:sp>
      <p:sp>
        <p:nvSpPr>
          <p:cNvPr id="13" name="TextBox 12"/>
          <p:cNvSpPr txBox="1"/>
          <p:nvPr/>
        </p:nvSpPr>
        <p:spPr>
          <a:xfrm>
            <a:off x="1005840" y="3702557"/>
            <a:ext cx="41148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605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605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450463"/>
            <a:ext cx="4572000" cy="20605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50463"/>
            <a:ext cx="91440" cy="20605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63334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stochastic label here?</a:t>
            </a:r>
          </a:p>
        </p:txBody>
      </p:sp>
      <p:sp>
        <p:nvSpPr>
          <p:cNvPr id="13" name="TextBox 12"/>
          <p:cNvSpPr txBox="1"/>
          <p:nvPr/>
        </p:nvSpPr>
        <p:spPr>
          <a:xfrm>
            <a:off x="1097280" y="4064508"/>
            <a:ext cx="4023360" cy="144653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It is supporting context; Chapter 7 gives no method.</a:t>
            </a:r>
          </a:p>
        </p:txBody>
      </p:sp>
      <p:sp>
        <p:nvSpPr>
          <p:cNvPr id="14" name="Rectangle 13"/>
          <p:cNvSpPr/>
          <p:nvPr/>
        </p:nvSpPr>
        <p:spPr>
          <a:xfrm>
            <a:off x="6165847" y="1207008"/>
            <a:ext cx="4752039"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84719" y="1325880"/>
            <a:ext cx="4514295"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84719" y="1325880"/>
            <a:ext cx="4514295"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59039" y="1600200"/>
            <a:ext cx="3965655"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8225866" y="2478024"/>
            <a:ext cx="316000" cy="617219"/>
          </a:xfrm>
          <a:prstGeom prst="ellipse">
            <a:avLst/>
          </a:prstGeom>
          <a:noFill/>
          <a:ln w="44450">
            <a:solidFill>
              <a:srgbClr val="E09B00"/>
            </a:solidFill>
          </a:ln>
        </p:spPr>
        <p:txBody>
          <a:bodyPr rtlCol="0" anchor="ctr"/>
          <a:lstStyle/>
          <a:p>
            <a:pPr algn="ctr"/>
          </a:p>
        </p:txBody>
      </p:sp>
      <p:sp>
        <p:nvSpPr>
          <p:cNvPr id="19" name="Rectangle 18"/>
          <p:cNvSpPr/>
          <p:nvPr/>
        </p:nvSpPr>
        <p:spPr>
          <a:xfrm>
            <a:off x="8451581" y="1984248"/>
            <a:ext cx="541715" cy="1316735"/>
          </a:xfrm>
          <a:prstGeom prst="rect">
            <a:avLst/>
          </a:prstGeom>
          <a:noFill/>
          <a:ln w="44450">
            <a:solidFill>
              <a:srgbClr val="C62828"/>
            </a:solidFill>
          </a:ln>
        </p:spPr>
        <p:txBody>
          <a:bodyPr rtlCol="0" anchor="ctr"/>
          <a:lstStyle/>
          <a:p>
            <a:pPr algn="ctr"/>
          </a:p>
        </p:txBody>
      </p:sp>
      <p:sp>
        <p:nvSpPr>
          <p:cNvPr id="20" name="Oval 19"/>
          <p:cNvSpPr/>
          <p:nvPr/>
        </p:nvSpPr>
        <p:spPr>
          <a:xfrm>
            <a:off x="9083582" y="2519172"/>
            <a:ext cx="361143" cy="617220"/>
          </a:xfrm>
          <a:prstGeom prst="ellipse">
            <a:avLst/>
          </a:prstGeom>
          <a:noFill/>
          <a:ln w="44450">
            <a:solidFill>
              <a:srgbClr val="1F5FAD"/>
            </a:solidFill>
          </a:ln>
        </p:spPr>
        <p:txBody>
          <a:bodyPr rtlCol="0" anchor="ctr"/>
          <a:lstStyle/>
          <a:p>
            <a:pPr algn="ctr"/>
          </a:p>
        </p:txBody>
      </p:sp>
      <p:sp>
        <p:nvSpPr>
          <p:cNvPr id="21" name="Rectangle 20"/>
          <p:cNvSpPr/>
          <p:nvPr/>
        </p:nvSpPr>
        <p:spPr>
          <a:xfrm>
            <a:off x="7955009" y="4123944"/>
            <a:ext cx="857716" cy="534924"/>
          </a:xfrm>
          <a:prstGeom prst="rect">
            <a:avLst/>
          </a:prstGeom>
          <a:noFill/>
          <a:ln w="44450">
            <a:solidFill>
              <a:srgbClr val="7B3FA0"/>
            </a:solidFill>
          </a:ln>
        </p:spPr>
        <p:txBody>
          <a:bodyPr rtlCol="0" anchor="ctr"/>
          <a:lstStyle/>
          <a:p>
            <a:pPr algn="ctr"/>
          </a:p>
        </p:txBody>
      </p:sp>
      <p:sp>
        <p:nvSpPr>
          <p:cNvPr id="22" name="Rectangle 21"/>
          <p:cNvSpPr/>
          <p:nvPr/>
        </p:nvSpPr>
        <p:spPr>
          <a:xfrm>
            <a:off x="8496724" y="4741164"/>
            <a:ext cx="451429" cy="534924"/>
          </a:xfrm>
          <a:prstGeom prst="rect">
            <a:avLst/>
          </a:prstGeom>
          <a:noFill/>
          <a:ln w="44450">
            <a:solidFill>
              <a:srgbClr val="007A33"/>
            </a:solidFill>
          </a:ln>
        </p:spPr>
        <p:txBody>
          <a:bodyPr rtlCol="0" anchor="ctr"/>
          <a:lstStyle/>
          <a:p>
            <a:pPr algn="ctr"/>
          </a:p>
        </p:txBody>
      </p:sp>
      <p:sp>
        <p:nvSpPr>
          <p:cNvPr id="23" name="Oval 22"/>
          <p:cNvSpPr/>
          <p:nvPr/>
        </p:nvSpPr>
        <p:spPr>
          <a:xfrm>
            <a:off x="7831565" y="2148840"/>
            <a:ext cx="246888" cy="246888"/>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4" name="Oval 23"/>
          <p:cNvSpPr/>
          <p:nvPr/>
        </p:nvSpPr>
        <p:spPr>
          <a:xfrm>
            <a:off x="9140710" y="1655064"/>
            <a:ext cx="246888" cy="246888"/>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5" name="Oval 24"/>
          <p:cNvSpPr/>
          <p:nvPr/>
        </p:nvSpPr>
        <p:spPr>
          <a:xfrm>
            <a:off x="9592140" y="2148840"/>
            <a:ext cx="246888" cy="246888"/>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6" name="Oval 25"/>
          <p:cNvSpPr/>
          <p:nvPr/>
        </p:nvSpPr>
        <p:spPr>
          <a:xfrm>
            <a:off x="7524708" y="4668012"/>
            <a:ext cx="228600" cy="22860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7" name="Oval 26"/>
          <p:cNvSpPr/>
          <p:nvPr/>
        </p:nvSpPr>
        <p:spPr>
          <a:xfrm>
            <a:off x="9149854" y="5120640"/>
            <a:ext cx="228600" cy="228600"/>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8" name="TextBox 27"/>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9" name="TextBox 2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key reversals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The worked PHP values are ours, invented.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outside bar contains both earlier ranges: </a:t>
            </a:r>
            <a:r>
              <a:rPr sz="1700" b="1" i="0">
                <a:solidFill>
                  <a:srgbClr val="E09B00"/>
                </a:solidFill>
                <a:latin typeface="Arial"/>
              </a:rPr>
              <a:t>(1)</a:t>
            </a:r>
            <a:r>
              <a:rPr sz="1700" b="0" i="0">
                <a:solidFill>
                  <a:srgbClr val="1A1A1A"/>
                </a:solidFill>
                <a:latin typeface="Arial"/>
              </a:rPr>
              <a:t> marks its range, and </a:t>
            </a:r>
            <a:r>
              <a:rPr sz="1700" b="1" i="0">
                <a:solidFill>
                  <a:srgbClr val="C62828"/>
                </a:solidFill>
                <a:latin typeface="Arial"/>
              </a:rPr>
              <a:t>(2)</a:t>
            </a:r>
            <a:r>
              <a:rPr sz="1700" b="0" i="0">
                <a:solidFill>
                  <a:srgbClr val="1A1A1A"/>
                </a:solidFill>
                <a:latin typeface="Arial"/>
              </a:rPr>
              <a:t> marks its high at PHP 53.00. The earlier bars stay between PHP 48.00 and PHP 52.00. </a:t>
            </a:r>
            <a:r>
              <a:rPr sz="1700" b="1" i="0">
                <a:solidFill>
                  <a:srgbClr val="1F5FAD"/>
                </a:solidFill>
                <a:latin typeface="Arial"/>
              </a:rPr>
              <a:t>(3)</a:t>
            </a:r>
            <a:r>
              <a:rPr sz="1700" b="0" i="0">
                <a:solidFill>
                  <a:srgbClr val="1A1A1A"/>
                </a:solidFill>
                <a:latin typeface="Arial"/>
              </a:rPr>
              <a:t> marks the outside bar's close at PHP 47.50, near its low of PHP 47.00. Those prices show why the wider range and bearish close can support a short reading (pp. 223 to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67874"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defines it this way: “Outside bars are bars that engulf one or more preceding bars” (p. 223). That is why traders compare the new range with the bars before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11 bars contained inside the outside range. Red </a:t>
            </a:r>
            <a:r>
              <a:rPr sz="1800" b="1" i="0">
                <a:solidFill>
                  <a:srgbClr val="C62828"/>
                </a:solidFill>
                <a:latin typeface="Arial"/>
              </a:rPr>
              <a:t>(2)</a:t>
            </a:r>
            <a:r>
              <a:rPr sz="1800" b="0" i="0">
                <a:solidFill>
                  <a:srgbClr val="1A1A1A"/>
                </a:solidFill>
                <a:latin typeface="Arial"/>
              </a:rPr>
              <a:t> marks the outside bar's high-to-low range.</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close near the low. A bearish outside bar can support a short reading, but the book does not make it certain.</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Rectangle 12"/>
          <p:cNvSpPr/>
          <p:nvPr/>
        </p:nvSpPr>
        <p:spPr>
          <a:xfrm>
            <a:off x="8793327" y="2170077"/>
            <a:ext cx="500451" cy="1022945"/>
          </a:xfrm>
          <a:prstGeom prst="rect">
            <a:avLst/>
          </a:prstGeom>
          <a:noFill/>
          <a:ln w="44450">
            <a:solidFill>
              <a:srgbClr val="C62828"/>
            </a:solidFill>
          </a:ln>
        </p:spPr>
        <p:txBody>
          <a:bodyPr rtlCol="0" anchor="ctr"/>
          <a:lstStyle/>
          <a:p>
            <a:pPr algn="ctr"/>
          </a:p>
        </p:txBody>
      </p:sp>
      <p:sp>
        <p:nvSpPr>
          <p:cNvPr id="14" name="Oval 13"/>
          <p:cNvSpPr/>
          <p:nvPr/>
        </p:nvSpPr>
        <p:spPr>
          <a:xfrm>
            <a:off x="8743282" y="2952329"/>
            <a:ext cx="300270" cy="210606"/>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438601"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38330" y="31579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contained bars. Red </a:t>
            </a:r>
            <a:r>
              <a:rPr sz="2000" b="1" i="0">
                <a:solidFill>
                  <a:srgbClr val="C62828"/>
                </a:solidFill>
                <a:latin typeface="Arial"/>
              </a:rPr>
              <a:t>(2)</a:t>
            </a:r>
            <a:r>
              <a:rPr sz="2000" b="0" i="0">
                <a:solidFill>
                  <a:srgbClr val="1A1A1A"/>
                </a:solidFill>
                <a:latin typeface="Arial"/>
              </a:rPr>
              <a:t> marks the trendline violation at the outside-bar break.</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6172199" y="1810512"/>
            <a:ext cx="5242255" cy="324640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0866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514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8042650" y="2170077"/>
            <a:ext cx="950857" cy="1022945"/>
          </a:xfrm>
          <a:prstGeom prst="rect">
            <a:avLst/>
          </a:prstGeom>
          <a:noFill/>
          <a:ln w="44450">
            <a:solidFill>
              <a:srgbClr val="E09B00"/>
            </a:solidFill>
          </a:ln>
        </p:spPr>
        <p:txBody>
          <a:bodyPr rtlCol="0" anchor="ctr"/>
          <a:lstStyle/>
          <a:p>
            <a:pPr algn="ctr"/>
          </a:p>
        </p:txBody>
      </p:sp>
      <p:sp>
        <p:nvSpPr>
          <p:cNvPr id="13" name="Oval 12"/>
          <p:cNvSpPr/>
          <p:nvPr/>
        </p:nvSpPr>
        <p:spPr>
          <a:xfrm>
            <a:off x="8893417" y="2681550"/>
            <a:ext cx="300270" cy="421213"/>
          </a:xfrm>
          <a:prstGeom prst="ellipse">
            <a:avLst/>
          </a:prstGeom>
          <a:noFill/>
          <a:ln w="44450">
            <a:solidFill>
              <a:srgbClr val="C62828"/>
            </a:solidFill>
          </a:ln>
        </p:spPr>
        <p:txBody>
          <a:bodyPr rtlCol="0" anchor="ctr"/>
          <a:lstStyle/>
          <a:p>
            <a:pPr algn="ctr"/>
          </a:p>
        </p:txBody>
      </p:sp>
      <p:sp>
        <p:nvSpPr>
          <p:cNvPr id="14" name="Oval 13"/>
          <p:cNvSpPr/>
          <p:nvPr/>
        </p:nvSpPr>
        <p:spPr>
          <a:xfrm>
            <a:off x="8893417" y="3012503"/>
            <a:ext cx="300270" cy="240693"/>
          </a:xfrm>
          <a:prstGeom prst="ellipse">
            <a:avLst/>
          </a:prstGeom>
          <a:noFill/>
          <a:ln w="44450">
            <a:solidFill>
              <a:srgbClr val="1F5FAD"/>
            </a:solidFill>
          </a:ln>
        </p:spPr>
        <p:txBody>
          <a:bodyPr rtlCol="0" anchor="ctr"/>
          <a:lstStyle/>
          <a:p>
            <a:pPr algn="ctr"/>
          </a:p>
        </p:txBody>
      </p:sp>
      <p:sp>
        <p:nvSpPr>
          <p:cNvPr id="15" name="Oval 14"/>
          <p:cNvSpPr/>
          <p:nvPr/>
        </p:nvSpPr>
        <p:spPr>
          <a:xfrm>
            <a:off x="7586932" y="19544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38330" y="24358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88375" y="31880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48360"/>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 the worked PHP values are ours, invented.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12932" y="1568772"/>
            <a:ext cx="959543" cy="1032291"/>
          </a:xfrm>
          <a:prstGeom prst="rect">
            <a:avLst/>
          </a:prstGeom>
          <a:noFill/>
          <a:ln w="44450">
            <a:solidFill>
              <a:srgbClr val="E09B00"/>
            </a:solidFill>
          </a:ln>
        </p:spPr>
        <p:txBody>
          <a:bodyPr rtlCol="0" anchor="ctr"/>
          <a:lstStyle/>
          <a:p>
            <a:pPr algn="ctr"/>
          </a:p>
        </p:txBody>
      </p:sp>
      <p:sp>
        <p:nvSpPr>
          <p:cNvPr id="19" name="Rectangle 18"/>
          <p:cNvSpPr/>
          <p:nvPr/>
        </p:nvSpPr>
        <p:spPr>
          <a:xfrm>
            <a:off x="8770467" y="1568772"/>
            <a:ext cx="505023" cy="1032291"/>
          </a:xfrm>
          <a:prstGeom prst="rect">
            <a:avLst/>
          </a:prstGeom>
          <a:noFill/>
          <a:ln w="44450">
            <a:solidFill>
              <a:srgbClr val="C62828"/>
            </a:solidFill>
          </a:ln>
        </p:spPr>
        <p:txBody>
          <a:bodyPr rtlCol="0" anchor="ctr"/>
          <a:lstStyle/>
          <a:p>
            <a:pPr algn="ctr"/>
          </a:p>
        </p:txBody>
      </p:sp>
      <p:sp>
        <p:nvSpPr>
          <p:cNvPr id="20" name="Oval 19"/>
          <p:cNvSpPr/>
          <p:nvPr/>
        </p:nvSpPr>
        <p:spPr>
          <a:xfrm>
            <a:off x="8719965" y="2358171"/>
            <a:ext cx="303013" cy="212530"/>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23056" y="18383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256706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it as a reversal bar when the first bar is wide on high volume and the second is narrow on very low volume (p. 224), especially at a barrier such as resistance.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The worked PHP values are ours, invented.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wide first bar </a:t>
            </a:r>
            <a:r>
              <a:rPr sz="1700" b="1" i="0">
                <a:solidFill>
                  <a:srgbClr val="E09B00"/>
                </a:solidFill>
                <a:latin typeface="Arial"/>
              </a:rPr>
              <a:t>(1)</a:t>
            </a:r>
            <a:r>
              <a:rPr sz="1700" b="0" i="0">
                <a:solidFill>
                  <a:srgbClr val="1A1A1A"/>
                </a:solidFill>
                <a:latin typeface="Arial"/>
              </a:rPr>
              <a:t> runs PHP 48.00 to PHP 53.00 on 4.5 million shares; the narrow second </a:t>
            </a:r>
            <a:r>
              <a:rPr sz="1700" b="1" i="0">
                <a:solidFill>
                  <a:srgbClr val="C62828"/>
                </a:solidFill>
                <a:latin typeface="Arial"/>
              </a:rPr>
              <a:t>(2)</a:t>
            </a:r>
            <a:r>
              <a:rPr sz="1700" b="0" i="0">
                <a:solidFill>
                  <a:srgbClr val="1A1A1A"/>
                </a:solidFill>
                <a:latin typeface="Arial"/>
              </a:rPr>
              <a:t> runs PHP 49.20 to PHP 52.50 on 0.5 million. </a:t>
            </a:r>
            <a:r>
              <a:rPr sz="1700" b="1" i="0">
                <a:solidFill>
                  <a:srgbClr val="C62828"/>
                </a:solidFill>
                <a:latin typeface="Arial"/>
              </a:rPr>
              <a:t>(2)</a:t>
            </a:r>
            <a:r>
              <a:rPr sz="1700" b="0" i="0">
                <a:solidFill>
                  <a:srgbClr val="1A1A1A"/>
                </a:solidFill>
                <a:latin typeface="Arial"/>
              </a:rPr>
              <a:t> stays inside </a:t>
            </a:r>
            <a:r>
              <a:rPr sz="1700" b="1" i="0">
                <a:solidFill>
                  <a:srgbClr val="E09B00"/>
                </a:solidFill>
                <a:latin typeface="Arial"/>
              </a:rPr>
              <a:t>(1)</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marks resistance at PHP 53.00. This volume contrast is Lim's ideal relationship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point of the inside-bar reversal is the quiet test of a barrier. Gold </a:t>
            </a:r>
            <a:r>
              <a:rPr sz="1900" b="1" i="0">
                <a:solidFill>
                  <a:srgbClr val="E09B00"/>
                </a:solidFill>
                <a:latin typeface="Arial"/>
              </a:rPr>
              <a:t>(1)</a:t>
            </a:r>
            <a:r>
              <a:rPr sz="1900" b="0" i="0">
                <a:solidFill>
                  <a:srgbClr val="1A1A1A"/>
                </a:solidFill>
                <a:latin typeface="Arial"/>
              </a:rPr>
              <a:t> and red </a:t>
            </a:r>
            <a:r>
              <a:rPr sz="1900" b="1" i="0">
                <a:solidFill>
                  <a:srgbClr val="C62828"/>
                </a:solidFill>
                <a:latin typeface="Arial"/>
              </a:rPr>
              <a:t>(2)</a:t>
            </a:r>
            <a:r>
              <a:rPr sz="1900" b="0" i="0">
                <a:solidFill>
                  <a:srgbClr val="1A1A1A"/>
                </a:solidFill>
                <a:latin typeface="Arial"/>
              </a:rPr>
              <a:t> mark the two inside-bar reversals testing one resistance level.</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900" b="0" i="0">
                <a:solidFill>
                  <a:srgbClr val="1A1A1A"/>
                </a:solidFill>
                <a:latin typeface="Arial"/>
              </a:rPr>
              <a:t>Repeated failure at resistance warns of a possible reversal; it is not a promise.</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pattern gives the inside-bar reading more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Read the same two tests again with the condition Lim gives for an ideal inside reversal.</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are the two inside-bar reversals at one resistance. Blue </a:t>
            </a:r>
            <a:r>
              <a:rPr sz="1800" b="1" i="0">
                <a:solidFill>
                  <a:srgbClr val="1F5FAD"/>
                </a:solidFill>
                <a:latin typeface="Arial"/>
              </a:rPr>
              <a:t>(3)</a:t>
            </a:r>
            <a:r>
              <a:rPr sz="1800" b="0" i="0">
                <a:solidFill>
                  <a:srgbClr val="1A1A1A"/>
                </a:solidFill>
                <a:latin typeface="Arial"/>
              </a:rPr>
              <a:t> is the figure's bearish StochRSI divergence.</a:t>
            </a:r>
          </a:p>
          <a:p>
            <a:pPr algn="l">
              <a:lnSpc>
                <a:spcPct val="105000"/>
              </a:lnSpc>
              <a:spcBef>
                <a:spcPts val="0"/>
              </a:spcBef>
              <a:spcAft>
                <a:spcPts val="1100"/>
              </a:spcAft>
            </a:pPr>
            <a:r>
              <a:rPr sz="1800" b="0" i="0">
                <a:solidFill>
                  <a:srgbClr val="1A1A1A"/>
                </a:solidFill>
                <a:latin typeface="Arial"/>
              </a:rPr>
              <a:t>Prefer a wide, high-volume first bar and a narrow, very-low-volume second bar, while keeping the oscillator reading contextual (p. 224).</a:t>
            </a:r>
          </a:p>
        </p:txBody>
      </p:sp>
      <p:sp>
        <p:nvSpPr>
          <p:cNvPr id="8" name="Rectangle 7"/>
          <p:cNvSpPr/>
          <p:nvPr/>
        </p:nvSpPr>
        <p:spPr>
          <a:xfrm>
            <a:off x="6126479" y="1810512"/>
            <a:ext cx="5287975" cy="325886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302112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Oval 11"/>
          <p:cNvSpPr/>
          <p:nvPr/>
        </p:nvSpPr>
        <p:spPr>
          <a:xfrm>
            <a:off x="9022979" y="2473185"/>
            <a:ext cx="404018" cy="392745"/>
          </a:xfrm>
          <a:prstGeom prst="ellipse">
            <a:avLst/>
          </a:prstGeom>
          <a:noFill/>
          <a:ln w="44450">
            <a:solidFill>
              <a:srgbClr val="E09B00"/>
            </a:solidFill>
          </a:ln>
        </p:spPr>
        <p:txBody>
          <a:bodyPr rtlCol="0" anchor="ctr"/>
          <a:lstStyle/>
          <a:p>
            <a:pPr algn="ctr"/>
          </a:p>
        </p:txBody>
      </p:sp>
      <p:sp>
        <p:nvSpPr>
          <p:cNvPr id="13" name="Oval 12"/>
          <p:cNvSpPr/>
          <p:nvPr/>
        </p:nvSpPr>
        <p:spPr>
          <a:xfrm>
            <a:off x="9477499" y="2442974"/>
            <a:ext cx="404018" cy="392745"/>
          </a:xfrm>
          <a:prstGeom prst="ellipse">
            <a:avLst/>
          </a:prstGeom>
          <a:noFill/>
          <a:ln w="44450">
            <a:solidFill>
              <a:srgbClr val="C62828"/>
            </a:solidFill>
          </a:ln>
        </p:spPr>
        <p:txBody>
          <a:bodyPr rtlCol="0" anchor="ctr"/>
          <a:lstStyle/>
          <a:p>
            <a:pPr algn="ctr"/>
          </a:p>
        </p:txBody>
      </p:sp>
      <p:sp>
        <p:nvSpPr>
          <p:cNvPr id="14" name="Oval 13"/>
          <p:cNvSpPr/>
          <p:nvPr/>
        </p:nvSpPr>
        <p:spPr>
          <a:xfrm>
            <a:off x="9578504" y="4195224"/>
            <a:ext cx="454520" cy="362534"/>
          </a:xfrm>
          <a:prstGeom prst="ellipse">
            <a:avLst/>
          </a:prstGeom>
          <a:noFill/>
          <a:ln w="44450">
            <a:solidFill>
              <a:srgbClr val="1F5FAD"/>
            </a:solidFill>
          </a:ln>
        </p:spPr>
        <p:txBody>
          <a:bodyPr rtlCol="0" anchor="ctr"/>
          <a:lstStyle/>
          <a:p>
            <a:pPr algn="ctr"/>
          </a:p>
        </p:txBody>
      </p:sp>
      <p:sp>
        <p:nvSpPr>
          <p:cNvPr id="15" name="Oval 14"/>
          <p:cNvSpPr/>
          <p:nvPr/>
        </p:nvSpPr>
        <p:spPr>
          <a:xfrm>
            <a:off x="8514014" y="219689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8581" y="22271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31093" y="44325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16081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 the worked PHP values are ours, invented.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Oval 17"/>
          <p:cNvSpPr/>
          <p:nvPr/>
        </p:nvSpPr>
        <p:spPr>
          <a:xfrm>
            <a:off x="9022979" y="1869681"/>
            <a:ext cx="404018" cy="392745"/>
          </a:xfrm>
          <a:prstGeom prst="ellipse">
            <a:avLst/>
          </a:prstGeom>
          <a:noFill/>
          <a:ln w="44450">
            <a:solidFill>
              <a:srgbClr val="E09B00"/>
            </a:solidFill>
          </a:ln>
        </p:spPr>
        <p:txBody>
          <a:bodyPr rtlCol="0" anchor="ctr"/>
          <a:lstStyle/>
          <a:p>
            <a:pPr algn="ctr"/>
          </a:p>
        </p:txBody>
      </p:sp>
      <p:sp>
        <p:nvSpPr>
          <p:cNvPr id="19" name="Oval 18"/>
          <p:cNvSpPr/>
          <p:nvPr/>
        </p:nvSpPr>
        <p:spPr>
          <a:xfrm>
            <a:off x="9477499" y="1839470"/>
            <a:ext cx="404018" cy="392745"/>
          </a:xfrm>
          <a:prstGeom prst="ellipse">
            <a:avLst/>
          </a:prstGeom>
          <a:noFill/>
          <a:ln w="44450">
            <a:solidFill>
              <a:srgbClr val="C62828"/>
            </a:solidFill>
          </a:ln>
        </p:spPr>
        <p:txBody>
          <a:bodyPr rtlCol="0" anchor="ctr"/>
          <a:lstStyle/>
          <a:p>
            <a:pPr algn="ctr"/>
          </a:p>
        </p:txBody>
      </p:sp>
      <p:sp>
        <p:nvSpPr>
          <p:cNvPr id="20" name="Oval 19"/>
          <p:cNvSpPr/>
          <p:nvPr/>
        </p:nvSpPr>
        <p:spPr>
          <a:xfrm>
            <a:off x="9578504" y="3591720"/>
            <a:ext cx="454520" cy="362534"/>
          </a:xfrm>
          <a:prstGeom prst="ellipse">
            <a:avLst/>
          </a:prstGeom>
          <a:noFill/>
          <a:ln w="44450">
            <a:solidFill>
              <a:srgbClr val="1F5FAD"/>
            </a:solidFill>
          </a:ln>
        </p:spPr>
        <p:txBody>
          <a:bodyPr rtlCol="0" anchor="ctr"/>
          <a:lstStyle/>
          <a:p>
            <a:pPr algn="ctr"/>
          </a:p>
        </p:txBody>
      </p:sp>
      <p:sp>
        <p:nvSpPr>
          <p:cNvPr id="21" name="Oval 20"/>
          <p:cNvSpPr/>
          <p:nvPr/>
        </p:nvSpPr>
        <p:spPr>
          <a:xfrm>
            <a:off x="8514014" y="1593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978581" y="16236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38290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next idea is exhaustion: a run of successively lower inside bars can show a decline losing force. Gold </a:t>
            </a:r>
            <a:r>
              <a:rPr sz="1700" b="1" i="0">
                <a:solidFill>
                  <a:srgbClr val="E09B00"/>
                </a:solidFill>
                <a:latin typeface="Arial"/>
              </a:rPr>
              <a:t>(1)</a:t>
            </a:r>
            <a:r>
              <a:rPr sz="1700" b="0" i="0">
                <a:solidFill>
                  <a:srgbClr val="1A1A1A"/>
                </a:solidFill>
                <a:latin typeface="Arial"/>
              </a:rPr>
              <a:t> marks the three lower inside bars; red </a:t>
            </a:r>
            <a:r>
              <a:rPr sz="1700" b="1" i="0">
                <a:solidFill>
                  <a:srgbClr val="C62828"/>
                </a:solidFill>
                <a:latin typeface="Arial"/>
              </a:rPr>
              <a:t>(2)</a:t>
            </a:r>
            <a:r>
              <a:rPr sz="1700" b="0" i="0">
                <a:solidFill>
                  <a:srgbClr val="1A1A1A"/>
                </a:solidFill>
                <a:latin typeface="Arial"/>
              </a:rPr>
              <a:t> marks the band context.</a:t>
            </a:r>
          </a:p>
          <a:p>
            <a:pPr algn="l">
              <a:lnSpc>
                <a:spcPct val="105000"/>
              </a:lnSpc>
              <a:spcBef>
                <a:spcPts val="0"/>
              </a:spcBef>
              <a:spcAft>
                <a:spcPts val="1100"/>
              </a:spcAft>
            </a:pPr>
            <a:r>
              <a:rPr sz="1700" b="0" i="0">
                <a:solidFill>
                  <a:srgbClr val="1A1A1A"/>
                </a:solidFill>
                <a:latin typeface="Arial"/>
              </a:rPr>
              <a:t>Blue </a:t>
            </a:r>
            <a:r>
              <a:rPr sz="1700" b="1" i="0">
                <a:solidFill>
                  <a:srgbClr val="1F5FAD"/>
                </a:solidFill>
                <a:latin typeface="Arial"/>
              </a:rPr>
              <a:t>(3)</a:t>
            </a:r>
            <a:r>
              <a:rPr sz="1700" b="0" i="0">
                <a:solidFill>
                  <a:srgbClr val="1A1A1A"/>
                </a:solidFill>
                <a:latin typeface="Arial"/>
              </a:rPr>
              <a:t> marks the later bearish outside bar. Lim says the exhaustion reading is stronger when declines also show bearish volume (p. 225).</a:t>
            </a:r>
          </a:p>
          <a:p>
            <a:pPr algn="l">
              <a:lnSpc>
                <a:spcPct val="105000"/>
              </a:lnSpc>
              <a:spcBef>
                <a:spcPts val="0"/>
              </a:spcBef>
              <a:spcAft>
                <a:spcPts val="1100"/>
              </a:spcAft>
            </a:pPr>
            <a:r>
              <a:rPr sz="1700" b="0" i="0">
                <a:solidFill>
                  <a:srgbClr val="1A1A1A"/>
                </a:solidFill>
                <a:latin typeface="Arial"/>
              </a:rPr>
              <a:t>Use the formation as a warning, while remembering that the book leaves the volume judgement contextual.</a:t>
            </a:r>
          </a:p>
        </p:txBody>
      </p:sp>
      <p:sp>
        <p:nvSpPr>
          <p:cNvPr id="8" name="Rectangle 7"/>
          <p:cNvSpPr/>
          <p:nvPr/>
        </p:nvSpPr>
        <p:spPr>
          <a:xfrm>
            <a:off x="6126479" y="1810512"/>
            <a:ext cx="5287975" cy="247108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3334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761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416951" y="3470388"/>
            <a:ext cx="707032" cy="603001"/>
          </a:xfrm>
          <a:prstGeom prst="rect">
            <a:avLst/>
          </a:prstGeom>
          <a:noFill/>
          <a:ln w="44450">
            <a:solidFill>
              <a:srgbClr val="E09B00"/>
            </a:solidFill>
          </a:ln>
        </p:spPr>
        <p:txBody>
          <a:bodyPr rtlCol="0" anchor="ctr"/>
          <a:lstStyle/>
          <a:p>
            <a:pPr algn="ctr"/>
          </a:p>
        </p:txBody>
      </p:sp>
      <p:cxnSp>
        <p:nvCxnSpPr>
          <p:cNvPr id="13" name="Connector 12"/>
          <p:cNvCxnSpPr/>
          <p:nvPr/>
        </p:nvCxnSpPr>
        <p:spPr>
          <a:xfrm>
            <a:off x="8012932" y="3671389"/>
            <a:ext cx="1161553" cy="0"/>
          </a:xfrm>
          <a:prstGeom prst="line">
            <a:avLst/>
          </a:prstGeom>
          <a:ln w="44450">
            <a:solidFill>
              <a:srgbClr val="C62828"/>
            </a:solidFill>
          </a:ln>
        </p:spPr>
      </p:cxnSp>
      <p:sp>
        <p:nvSpPr>
          <p:cNvPr id="14" name="Oval 13"/>
          <p:cNvSpPr/>
          <p:nvPr/>
        </p:nvSpPr>
        <p:spPr>
          <a:xfrm>
            <a:off x="10134029" y="2353718"/>
            <a:ext cx="454520" cy="335001"/>
          </a:xfrm>
          <a:prstGeom prst="ellipse">
            <a:avLst/>
          </a:prstGeom>
          <a:noFill/>
          <a:ln w="44450">
            <a:solidFill>
              <a:srgbClr val="1F5FAD"/>
            </a:solidFill>
          </a:ln>
        </p:spPr>
        <p:txBody>
          <a:bodyPr rtlCol="0" anchor="ctr"/>
          <a:lstStyle/>
          <a:p>
            <a:pPr algn="ctr"/>
          </a:p>
        </p:txBody>
      </p:sp>
      <p:sp>
        <p:nvSpPr>
          <p:cNvPr id="15" name="Oval 14"/>
          <p:cNvSpPr/>
          <p:nvPr/>
        </p:nvSpPr>
        <p:spPr>
          <a:xfrm>
            <a:off x="7907987" y="322560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04973" y="36276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35111" y="21759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7303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 the worked PHP values are ours, invented.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This figure puts three reversal families beside one another. Gold </a:t>
            </a:r>
            <a:r>
              <a:rPr sz="1700" b="1" i="0">
                <a:solidFill>
                  <a:srgbClr val="E09B00"/>
                </a:solidFill>
                <a:latin typeface="Arial"/>
              </a:rPr>
              <a:t>(1)</a:t>
            </a:r>
            <a:r>
              <a:rPr sz="1700" b="0" i="0">
                <a:solidFill>
                  <a:srgbClr val="1A1A1A"/>
                </a:solidFill>
                <a:latin typeface="Arial"/>
              </a:rPr>
              <a:t> is an inside-bar reversal, red </a:t>
            </a:r>
            <a:r>
              <a:rPr sz="1700" b="1" i="0">
                <a:solidFill>
                  <a:srgbClr val="C62828"/>
                </a:solidFill>
                <a:latin typeface="Arial"/>
              </a:rPr>
              <a:t>(2)</a:t>
            </a:r>
            <a:r>
              <a:rPr sz="1700" b="0" i="0">
                <a:solidFill>
                  <a:srgbClr val="1A1A1A"/>
                </a:solidFill>
                <a:latin typeface="Arial"/>
              </a:rPr>
              <a:t> an outside-bar reversal, and blue </a:t>
            </a:r>
            <a:r>
              <a:rPr sz="1700" b="1" i="0">
                <a:solidFill>
                  <a:srgbClr val="1F5FAD"/>
                </a:solidFill>
                <a:latin typeface="Arial"/>
              </a:rPr>
              <a:t>(3)</a:t>
            </a:r>
            <a:r>
              <a:rPr sz="1700" b="0" i="0">
                <a:solidFill>
                  <a:srgbClr val="1A1A1A"/>
                </a:solidFill>
                <a:latin typeface="Arial"/>
              </a:rPr>
              <a:t> a three-bar reversal.</a:t>
            </a:r>
          </a:p>
          <a:p>
            <a:pPr algn="l">
              <a:lnSpc>
                <a:spcPct val="105000"/>
              </a:lnSpc>
              <a:spcBef>
                <a:spcPts val="0"/>
              </a:spcBef>
              <a:spcAft>
                <a:spcPts val="1100"/>
              </a:spcAft>
            </a:pPr>
            <a:r>
              <a:rPr sz="1700" b="0" i="0">
                <a:solidFill>
                  <a:srgbClr val="1A1A1A"/>
                </a:solidFill>
                <a:latin typeface="Arial"/>
              </a:rPr>
              <a:t>In our comparison, the inside range is 6.0 points, the outside bar contains four bars, and the outer volumes are 4.0 million and 4.2 million shares.</a:t>
            </a:r>
          </a:p>
          <a:p>
            <a:pPr algn="l">
              <a:lnSpc>
                <a:spcPct val="105000"/>
              </a:lnSpc>
              <a:spcBef>
                <a:spcPts val="0"/>
              </a:spcBef>
              <a:spcAft>
                <a:spcPts val="1100"/>
              </a:spcAft>
            </a:pPr>
            <a:r>
              <a:rPr sz="1700" b="0" i="0">
                <a:solidFill>
                  <a:srgbClr val="1A1A1A"/>
                </a:solidFill>
                <a:latin typeface="Arial"/>
              </a:rPr>
              <a:t>The indicator panels are shown by the book but are outside this slide's scope. Keep the three price-bar families separate.</a:t>
            </a:r>
          </a:p>
        </p:txBody>
      </p:sp>
      <p:sp>
        <p:nvSpPr>
          <p:cNvPr id="8" name="Rectangle 7"/>
          <p:cNvSpPr/>
          <p:nvPr/>
        </p:nvSpPr>
        <p:spPr>
          <a:xfrm>
            <a:off x="6080759" y="1810512"/>
            <a:ext cx="5333694" cy="333990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310216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264496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Oval 11"/>
          <p:cNvSpPr/>
          <p:nvPr/>
        </p:nvSpPr>
        <p:spPr>
          <a:xfrm>
            <a:off x="7422660" y="2425729"/>
            <a:ext cx="356716" cy="403280"/>
          </a:xfrm>
          <a:prstGeom prst="ellipse">
            <a:avLst/>
          </a:prstGeom>
          <a:noFill/>
          <a:ln w="44450">
            <a:solidFill>
              <a:srgbClr val="E09B00"/>
            </a:solidFill>
          </a:ln>
        </p:spPr>
        <p:txBody>
          <a:bodyPr rtlCol="0" anchor="ctr"/>
          <a:lstStyle/>
          <a:p>
            <a:pPr algn="ctr"/>
          </a:p>
        </p:txBody>
      </p:sp>
      <p:sp>
        <p:nvSpPr>
          <p:cNvPr id="13" name="Oval 12"/>
          <p:cNvSpPr/>
          <p:nvPr/>
        </p:nvSpPr>
        <p:spPr>
          <a:xfrm>
            <a:off x="9766797" y="2704924"/>
            <a:ext cx="356716" cy="403280"/>
          </a:xfrm>
          <a:prstGeom prst="ellipse">
            <a:avLst/>
          </a:prstGeom>
          <a:noFill/>
          <a:ln w="44450">
            <a:solidFill>
              <a:srgbClr val="C62828"/>
            </a:solidFill>
          </a:ln>
        </p:spPr>
        <p:txBody>
          <a:bodyPr rtlCol="0" anchor="ctr"/>
          <a:lstStyle/>
          <a:p>
            <a:pPr algn="ctr"/>
          </a:p>
        </p:txBody>
      </p:sp>
      <p:sp>
        <p:nvSpPr>
          <p:cNvPr id="14" name="Oval 13"/>
          <p:cNvSpPr/>
          <p:nvPr/>
        </p:nvSpPr>
        <p:spPr>
          <a:xfrm>
            <a:off x="9053364" y="3542507"/>
            <a:ext cx="356716" cy="496345"/>
          </a:xfrm>
          <a:prstGeom prst="ellipse">
            <a:avLst/>
          </a:prstGeom>
          <a:noFill/>
          <a:ln w="44450">
            <a:solidFill>
              <a:srgbClr val="1F5FAD"/>
            </a:solidFill>
          </a:ln>
        </p:spPr>
        <p:txBody>
          <a:bodyPr rtlCol="0" anchor="ctr"/>
          <a:lstStyle/>
          <a:p>
            <a:pPr algn="ctr"/>
          </a:p>
        </p:txBody>
      </p:sp>
      <p:sp>
        <p:nvSpPr>
          <p:cNvPr id="15" name="Oval 14"/>
          <p:cNvSpPr/>
          <p:nvPr/>
        </p:nvSpPr>
        <p:spPr>
          <a:xfrm>
            <a:off x="7063374" y="217721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73823" y="24564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58471" y="39764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241856"/>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 the worked PHP values are ours, invented.</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names describe a smaller formation inside a larger one, but Lim keeps their rules separate. A Harami has the stricter body proportion.</a:t>
            </a:r>
          </a:p>
          <a:p>
            <a:pPr algn="l">
              <a:lnSpc>
                <a:spcPct val="118000"/>
              </a:lnSpc>
              <a:spcBef>
                <a:spcPts val="0"/>
              </a:spcBef>
              <a:spcAft>
                <a:spcPts val="1300"/>
              </a:spcAft>
            </a:pPr>
            <a:r>
              <a:rPr sz="2100" b="0" i="0">
                <a:solidFill>
                  <a:srgbClr val="1A1A1A"/>
                </a:solidFill>
                <a:latin typeface="Arial"/>
              </a:rPr>
              <a:t>For a preceding range of 6.0 points, one-fourth to one-third is 1.5 to 2.0 points. That is the Harami proportion given on page 226.</a:t>
            </a:r>
          </a:p>
          <a:p>
            <a:pPr algn="l">
              <a:lnSpc>
                <a:spcPct val="118000"/>
              </a:lnSpc>
              <a:spcBef>
                <a:spcPts val="0"/>
              </a:spcBef>
              <a:spcAft>
                <a:spcPts val="1300"/>
              </a:spcAft>
            </a:pPr>
            <a:r>
              <a:rPr sz="2100" b="0" i="0">
                <a:solidFill>
                  <a:srgbClr val="1A1A1A"/>
                </a:solidFill>
                <a:latin typeface="Arial"/>
              </a:rPr>
              <a:t>An inside bar has no one-fourth to one-third restriction. Check the proportion before using the name Harami.</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6.0-point example is ours, invented.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proportion does the book give for a Harami body?</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proportion does the book give for a Harami body?</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The book gives one-fourth to one-third of the preceding candlestick range (p.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Oval 17"/>
          <p:cNvSpPr/>
          <p:nvPr/>
        </p:nvSpPr>
        <p:spPr>
          <a:xfrm>
            <a:off x="7457407" y="1817772"/>
            <a:ext cx="353516" cy="399662"/>
          </a:xfrm>
          <a:prstGeom prst="ellipse">
            <a:avLst/>
          </a:prstGeom>
          <a:noFill/>
          <a:ln w="44450">
            <a:solidFill>
              <a:srgbClr val="E09B00"/>
            </a:solidFill>
          </a:ln>
        </p:spPr>
        <p:txBody>
          <a:bodyPr rtlCol="0" anchor="ctr"/>
          <a:lstStyle/>
          <a:p>
            <a:pPr algn="ctr"/>
          </a:p>
        </p:txBody>
      </p:sp>
      <p:sp>
        <p:nvSpPr>
          <p:cNvPr id="19" name="Oval 18"/>
          <p:cNvSpPr/>
          <p:nvPr/>
        </p:nvSpPr>
        <p:spPr>
          <a:xfrm>
            <a:off x="9780513" y="2094462"/>
            <a:ext cx="353516" cy="399662"/>
          </a:xfrm>
          <a:prstGeom prst="ellipse">
            <a:avLst/>
          </a:prstGeom>
          <a:noFill/>
          <a:ln w="44450">
            <a:solidFill>
              <a:srgbClr val="C62828"/>
            </a:solidFill>
          </a:ln>
        </p:spPr>
        <p:txBody>
          <a:bodyPr rtlCol="0" anchor="ctr"/>
          <a:lstStyle/>
          <a:p>
            <a:pPr algn="ctr"/>
          </a:p>
        </p:txBody>
      </p:sp>
      <p:sp>
        <p:nvSpPr>
          <p:cNvPr id="20" name="Oval 19"/>
          <p:cNvSpPr/>
          <p:nvPr/>
        </p:nvSpPr>
        <p:spPr>
          <a:xfrm>
            <a:off x="9073481" y="2924530"/>
            <a:ext cx="353516" cy="491892"/>
          </a:xfrm>
          <a:prstGeom prst="ellipse">
            <a:avLst/>
          </a:prstGeom>
          <a:noFill/>
          <a:ln w="44450">
            <a:solidFill>
              <a:srgbClr val="1F5FAD"/>
            </a:solidFill>
          </a:ln>
        </p:spPr>
        <p:txBody>
          <a:bodyPr rtlCol="0" anchor="ctr"/>
          <a:lstStyle/>
          <a:p>
            <a:pPr algn="ctr"/>
          </a:p>
        </p:txBody>
      </p:sp>
      <p:sp>
        <p:nvSpPr>
          <p:cNvPr id="21" name="Oval 20"/>
          <p:cNvSpPr/>
          <p:nvPr/>
        </p:nvSpPr>
        <p:spPr>
          <a:xfrm>
            <a:off x="7099950" y="157009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281595" y="184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73558" y="33532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Mark </a:t>
            </a:r>
            <a:r>
              <a:rPr sz="1700" b="1" i="0">
                <a:solidFill>
                  <a:srgbClr val="E09B00"/>
                </a:solidFill>
                <a:latin typeface="Arial"/>
              </a:rPr>
              <a:t>(1)</a:t>
            </a:r>
            <a:r>
              <a:rPr sz="1700" b="0" i="0">
                <a:solidFill>
                  <a:srgbClr val="1A1A1A"/>
                </a:solidFill>
                <a:latin typeface="Arial"/>
              </a:rPr>
              <a:t> shows the prior high at PHP 65.00. Mark </a:t>
            </a:r>
            <a:r>
              <a:rPr sz="1700" b="1" i="0">
                <a:solidFill>
                  <a:srgbClr val="C62828"/>
                </a:solidFill>
                <a:latin typeface="Arial"/>
              </a:rPr>
              <a:t>(2)</a:t>
            </a:r>
            <a:r>
              <a:rPr sz="1700" b="0" i="0">
                <a:solidFill>
                  <a:srgbClr val="1A1A1A"/>
                </a:solidFill>
                <a:latin typeface="Arial"/>
              </a:rPr>
              <a:t> encloses the exhaustion bar: it opens at PHP 65.40, reaches PHP 66.20, falls to PHP 60.00, and closes at PHP 60.50. Mark </a:t>
            </a:r>
            <a:r>
              <a:rPr sz="1700" b="1" i="0">
                <a:solidFill>
                  <a:srgbClr val="1F5FAD"/>
                </a:solidFill>
                <a:latin typeface="Arial"/>
              </a:rPr>
              <a:t>(3)</a:t>
            </a:r>
            <a:r>
              <a:rPr sz="1700" b="0" i="0">
                <a:solidFill>
                  <a:srgbClr val="1A1A1A"/>
                </a:solidFill>
                <a:latin typeface="Arial"/>
              </a:rPr>
              <a:t> shows the next open at PHP 60.20 inside the range, so there is no gap. This is Lim's exhaustion rule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3659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542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26750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75246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7014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0114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book's bullish exhaustion case is in a downtrend. Gold </a:t>
            </a:r>
            <a:r>
              <a:rPr sz="1800" b="1" i="0">
                <a:solidFill>
                  <a:srgbClr val="E09B00"/>
                </a:solidFill>
                <a:latin typeface="Arial"/>
              </a:rPr>
              <a:t>(1)</a:t>
            </a:r>
            <a:r>
              <a:rPr sz="1800" b="0" i="0">
                <a:solidFill>
                  <a:srgbClr val="1A1A1A"/>
                </a:solidFill>
                <a:latin typeface="Arial"/>
              </a:rPr>
              <a:t> marks the gap before the bar, red </a:t>
            </a:r>
            <a:r>
              <a:rPr sz="1800" b="1" i="0">
                <a:solidFill>
                  <a:srgbClr val="C62828"/>
                </a:solidFill>
                <a:latin typeface="Arial"/>
              </a:rPr>
              <a:t>(2)</a:t>
            </a:r>
            <a:r>
              <a:rPr sz="1800" b="0" i="0">
                <a:solidFill>
                  <a:srgbClr val="1A1A1A"/>
                </a:solidFill>
                <a:latin typeface="Arial"/>
              </a:rPr>
              <a:t> the exhaustion bar, and blue </a:t>
            </a:r>
            <a:r>
              <a:rPr sz="1800" b="1" i="0">
                <a:solidFill>
                  <a:srgbClr val="1F5FAD"/>
                </a:solidFill>
                <a:latin typeface="Arial"/>
              </a:rPr>
              <a:t>(3)</a:t>
            </a:r>
            <a:r>
              <a:rPr sz="1800" b="0" i="0">
                <a:solidFill>
                  <a:srgbClr val="1A1A1A"/>
                </a:solidFill>
                <a:latin typeface="Arial"/>
              </a:rPr>
              <a:t> the later rebound.</a:t>
            </a:r>
          </a:p>
          <a:p>
            <a:pPr algn="l">
              <a:lnSpc>
                <a:spcPct val="105000"/>
              </a:lnSpc>
              <a:spcBef>
                <a:spcPts val="0"/>
              </a:spcBef>
              <a:spcAft>
                <a:spcPts val="1100"/>
              </a:spcAft>
            </a:pPr>
            <a:r>
              <a:rPr sz="18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800" b="0" i="0">
                <a:solidFill>
                  <a:srgbClr val="1A1A1A"/>
                </a:solidFill>
                <a:latin typeface="Arial"/>
              </a:rPr>
              <a:t>The prior gap is visible, but Lim's rule concerns the absence of a gap after the exhaustion bar (p. 226).</a:t>
            </a:r>
          </a:p>
        </p:txBody>
      </p:sp>
      <p:sp>
        <p:nvSpPr>
          <p:cNvPr id="8" name="Rectangle 7"/>
          <p:cNvSpPr/>
          <p:nvPr/>
        </p:nvSpPr>
        <p:spPr>
          <a:xfrm>
            <a:off x="6080759" y="1810512"/>
            <a:ext cx="5333694" cy="250584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99631" y="1929384"/>
            <a:ext cx="5095951" cy="22680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99631" y="1929384"/>
            <a:ext cx="509595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73951" y="2203703"/>
            <a:ext cx="4547311" cy="181089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747607" y="3108794"/>
            <a:ext cx="305757" cy="204128"/>
          </a:xfrm>
          <a:prstGeom prst="ellipse">
            <a:avLst/>
          </a:prstGeom>
          <a:noFill/>
          <a:ln w="44450">
            <a:solidFill>
              <a:srgbClr val="E09B00"/>
            </a:solidFill>
          </a:ln>
        </p:spPr>
        <p:txBody>
          <a:bodyPr rtlCol="0" anchor="ctr"/>
          <a:lstStyle/>
          <a:p>
            <a:pPr algn="ctr"/>
          </a:p>
        </p:txBody>
      </p:sp>
      <p:sp>
        <p:nvSpPr>
          <p:cNvPr id="13" name="Rectangle 12"/>
          <p:cNvSpPr/>
          <p:nvPr/>
        </p:nvSpPr>
        <p:spPr>
          <a:xfrm>
            <a:off x="8900486" y="3176837"/>
            <a:ext cx="305757" cy="362895"/>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9308162" y="2836623"/>
            <a:ext cx="866311" cy="952601"/>
          </a:xfrm>
          <a:prstGeom prst="line">
            <a:avLst/>
          </a:prstGeom>
          <a:ln w="44450">
            <a:solidFill>
              <a:srgbClr val="1F5FAD"/>
            </a:solidFill>
            <a:tailEnd type="triangle" w="med" len="med"/>
          </a:ln>
        </p:spPr>
      </p:cxnSp>
      <p:sp>
        <p:nvSpPr>
          <p:cNvPr id="15" name="Oval 14"/>
          <p:cNvSpPr/>
          <p:nvPr/>
        </p:nvSpPr>
        <p:spPr>
          <a:xfrm>
            <a:off x="8388321" y="2907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05592" y="295334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2863" y="25904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4407794"/>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 the worked PHP values are ours, invented.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is the bullish exhaustion converse more reliable?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is the bullish exhaustion converse more reliable?</a:t>
            </a:r>
          </a:p>
        </p:txBody>
      </p:sp>
      <p:sp>
        <p:nvSpPr>
          <p:cNvPr id="13" name="TextBox 12"/>
          <p:cNvSpPr txBox="1"/>
          <p:nvPr/>
        </p:nvSpPr>
        <p:spPr>
          <a:xfrm>
            <a:off x="1097280" y="475094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The bullish converse appears in a downtrend at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21974" y="2562141"/>
            <a:ext cx="303013" cy="359639"/>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325992" y="2224979"/>
            <a:ext cx="858540" cy="944055"/>
          </a:xfrm>
          <a:prstGeom prst="line">
            <a:avLst/>
          </a:prstGeom>
          <a:ln w="44450">
            <a:solidFill>
              <a:srgbClr val="1F5FAD"/>
            </a:solidFill>
            <a:tailEnd type="triangle" w="med" len="med"/>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39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231093" y="197962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middle bar is the spike: </a:t>
            </a:r>
            <a:r>
              <a:rPr sz="1700" b="1" i="0">
                <a:solidFill>
                  <a:srgbClr val="E09B00"/>
                </a:solidFill>
                <a:latin typeface="Arial"/>
              </a:rPr>
              <a:t>(1)</a:t>
            </a:r>
            <a:r>
              <a:rPr sz="1700" b="0" i="0">
                <a:solidFill>
                  <a:srgbClr val="1A1A1A"/>
                </a:solidFill>
                <a:latin typeface="Arial"/>
              </a:rPr>
              <a:t> marks its 8.0-point range, versus 3.0 on ordinary bars. </a:t>
            </a:r>
            <a:r>
              <a:rPr sz="1700" b="1" i="0">
                <a:solidFill>
                  <a:srgbClr val="C62828"/>
                </a:solidFill>
                <a:latin typeface="Arial"/>
              </a:rPr>
              <a:t>(2)</a:t>
            </a:r>
            <a:r>
              <a:rPr sz="1700" b="0" i="0">
                <a:solidFill>
                  <a:srgbClr val="1A1A1A"/>
                </a:solidFill>
                <a:latin typeface="Arial"/>
              </a:rPr>
              <a:t> marks its 6.0 million shares, versus 1.5 million.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72673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67874" y="36426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F5FAD"/>
                </a:solidFill>
                <a:latin typeface="Arial"/>
              </a:rPr>
              <a:t>(3)</a:t>
            </a:r>
            <a:r>
              <a:rPr sz="1700" b="0" i="0">
                <a:solidFill>
                  <a:srgbClr val="1A1A1A"/>
                </a:solidFill>
                <a:latin typeface="Arial"/>
              </a:rPr>
              <a:t> marks the reversal context. This wide range and high volume fit Lim's emotion-spike description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98981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6414058" y="39056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wide spike, red </a:t>
            </a:r>
            <a:r>
              <a:rPr sz="2000" b="1" i="0">
                <a:solidFill>
                  <a:srgbClr val="C62828"/>
                </a:solidFill>
                <a:latin typeface="Arial"/>
              </a:rPr>
              <a:t>(2)</a:t>
            </a:r>
            <a:r>
              <a:rPr sz="2000" b="0" i="0">
                <a:solidFill>
                  <a:srgbClr val="1A1A1A"/>
                </a:solidFill>
                <a:latin typeface="Arial"/>
              </a:rPr>
              <a:t> its high volume, and blue </a:t>
            </a:r>
            <a:r>
              <a:rPr sz="2000" b="1" i="0">
                <a:solidFill>
                  <a:srgbClr val="1F5FAD"/>
                </a:solidFill>
                <a:latin typeface="Arial"/>
              </a:rPr>
              <a:t>(3)</a:t>
            </a:r>
            <a:r>
              <a:rPr sz="2000" b="0" i="0">
                <a:solidFill>
                  <a:srgbClr val="1A1A1A"/>
                </a:solidFill>
                <a:latin typeface="Arial"/>
              </a:rPr>
              <a:t> the three-bar bearish reversal at the top.</a:t>
            </a:r>
          </a:p>
          <a:p>
            <a:pPr algn="l">
              <a:lnSpc>
                <a:spcPct val="105000"/>
              </a:lnSpc>
              <a:spcBef>
                <a:spcPts val="0"/>
              </a:spcBef>
              <a:spcAft>
                <a:spcPts val="1100"/>
              </a:spcAft>
            </a:pPr>
            <a:r>
              <a:rPr sz="2000" b="0" i="0">
                <a:solidFill>
                  <a:srgbClr val="1A1A1A"/>
                </a:solidFill>
                <a:latin typeface="Arial"/>
              </a:rPr>
              <a:t>The wide range and high volume explain the name. The reversal context is a warning, not a prediction.</a:t>
            </a:r>
          </a:p>
        </p:txBody>
      </p:sp>
      <p:sp>
        <p:nvSpPr>
          <p:cNvPr id="8" name="Rectangle 7"/>
          <p:cNvSpPr/>
          <p:nvPr/>
        </p:nvSpPr>
        <p:spPr>
          <a:xfrm>
            <a:off x="6172199" y="1810512"/>
            <a:ext cx="5242255" cy="329327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305553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5983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8292876" y="2540491"/>
            <a:ext cx="350315" cy="1008326"/>
          </a:xfrm>
          <a:prstGeom prst="ellipse">
            <a:avLst/>
          </a:prstGeom>
          <a:noFill/>
          <a:ln w="44450">
            <a:solidFill>
              <a:srgbClr val="E09B00"/>
            </a:solidFill>
          </a:ln>
        </p:spPr>
        <p:txBody>
          <a:bodyPr rtlCol="0" anchor="ctr"/>
          <a:lstStyle/>
          <a:p>
            <a:pPr algn="ctr"/>
          </a:p>
        </p:txBody>
      </p:sp>
      <p:sp>
        <p:nvSpPr>
          <p:cNvPr id="13" name="Oval 12"/>
          <p:cNvSpPr/>
          <p:nvPr/>
        </p:nvSpPr>
        <p:spPr>
          <a:xfrm>
            <a:off x="8392966" y="4373812"/>
            <a:ext cx="300270" cy="458330"/>
          </a:xfrm>
          <a:prstGeom prst="ellipse">
            <a:avLst/>
          </a:prstGeom>
          <a:noFill/>
          <a:ln w="44450">
            <a:solidFill>
              <a:srgbClr val="C62828"/>
            </a:solidFill>
          </a:ln>
        </p:spPr>
        <p:txBody>
          <a:bodyPr rtlCol="0" anchor="ctr"/>
          <a:lstStyle/>
          <a:p>
            <a:pPr algn="ctr"/>
          </a:p>
        </p:txBody>
      </p:sp>
      <p:sp>
        <p:nvSpPr>
          <p:cNvPr id="14" name="Oval 13"/>
          <p:cNvSpPr/>
          <p:nvPr/>
        </p:nvSpPr>
        <p:spPr>
          <a:xfrm>
            <a:off x="9994410" y="2112716"/>
            <a:ext cx="400360" cy="427775"/>
          </a:xfrm>
          <a:prstGeom prst="ellipse">
            <a:avLst/>
          </a:prstGeom>
          <a:noFill/>
          <a:ln w="44450">
            <a:solidFill>
              <a:srgbClr val="1F5FAD"/>
            </a:solidFill>
          </a:ln>
        </p:spPr>
        <p:txBody>
          <a:bodyPr rtlCol="0" anchor="ctr"/>
          <a:lstStyle/>
          <a:p>
            <a:pPr algn="ctr"/>
          </a:p>
        </p:txBody>
      </p:sp>
      <p:sp>
        <p:nvSpPr>
          <p:cNvPr id="15" name="Oval 14"/>
          <p:cNvSpPr/>
          <p:nvPr/>
        </p:nvSpPr>
        <p:spPr>
          <a:xfrm>
            <a:off x="7937247" y="229337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8014" y="470725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489548" y="22017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72199" y="5195231"/>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 the worked PHP values are ours, invented.</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The worked PHP values are ours, invented.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pin bar tests support and then returns: </a:t>
            </a:r>
            <a:r>
              <a:rPr sz="1700" b="1" i="0">
                <a:solidFill>
                  <a:srgbClr val="E09B00"/>
                </a:solidFill>
                <a:latin typeface="Arial"/>
              </a:rPr>
              <a:t>(1)</a:t>
            </a:r>
            <a:r>
              <a:rPr sz="1700" b="0" i="0">
                <a:solidFill>
                  <a:srgbClr val="1A1A1A"/>
                </a:solidFill>
                <a:latin typeface="Arial"/>
              </a:rPr>
              <a:t> marks support at PHP 40.00. The bar trades down to PHP 38.80 at </a:t>
            </a:r>
            <a:r>
              <a:rPr sz="1700" b="1" i="0">
                <a:solidFill>
                  <a:srgbClr val="C62828"/>
                </a:solidFill>
                <a:latin typeface="Arial"/>
              </a:rPr>
              <a:t>(2)</a:t>
            </a:r>
            <a:r>
              <a:rPr sz="1700" b="0" i="0">
                <a:solidFill>
                  <a:srgbClr val="1A1A1A"/>
                </a:solidFill>
                <a:latin typeface="Arial"/>
              </a:rPr>
              <a:t>, then closes back above support at PHP 40.60 at </a:t>
            </a:r>
            <a:r>
              <a:rPr sz="1700" b="1" i="0">
                <a:solidFill>
                  <a:srgbClr val="1F5FAD"/>
                </a:solidFill>
                <a:latin typeface="Arial"/>
              </a:rPr>
              <a:t>(3)</a:t>
            </a:r>
            <a:r>
              <a:rPr sz="1700" b="0" i="0">
                <a:solidFill>
                  <a:srgbClr val="1A1A1A"/>
                </a:solidFill>
                <a:latin typeface="Arial"/>
              </a:rPr>
              <a:t> on 0.8 million shares. The low is the bar's lowest price and the close is below its high, so the prices are possible. The return above support is the false-break clue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62</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support, red </a:t>
            </a:r>
            <a:r>
              <a:rPr sz="2000" b="1" i="0">
                <a:solidFill>
                  <a:srgbClr val="C62828"/>
                </a:solidFill>
                <a:latin typeface="Arial"/>
              </a:rPr>
              <a:t>(2)</a:t>
            </a:r>
            <a:r>
              <a:rPr sz="2000" b="0" i="0">
                <a:solidFill>
                  <a:srgbClr val="1A1A1A"/>
                </a:solidFill>
                <a:latin typeface="Arial"/>
              </a:rPr>
              <a:t> the intra-period penetration, and blue </a:t>
            </a:r>
            <a:r>
              <a:rPr sz="2000" b="1" i="0">
                <a:solidFill>
                  <a:srgbClr val="1F5FAD"/>
                </a:solidFill>
                <a:latin typeface="Arial"/>
              </a:rPr>
              <a:t>(3)</a:t>
            </a:r>
            <a:r>
              <a:rPr sz="2000" b="0" i="0">
                <a:solidFill>
                  <a:srgbClr val="1A1A1A"/>
                </a:solidFill>
                <a:latin typeface="Arial"/>
              </a:rPr>
              <a:t> the close back above support.</a:t>
            </a:r>
          </a:p>
          <a:p>
            <a:pPr algn="l">
              <a:lnSpc>
                <a:spcPct val="105000"/>
              </a:lnSpc>
              <a:spcBef>
                <a:spcPts val="0"/>
              </a:spcBef>
              <a:spcAft>
                <a:spcPts val="1100"/>
              </a:spcAft>
            </a:pPr>
            <a:r>
              <a:rPr sz="20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6126479" y="1810512"/>
            <a:ext cx="5287975" cy="245311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1536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649370" y="3834600"/>
            <a:ext cx="3131143" cy="0"/>
          </a:xfrm>
          <a:prstGeom prst="line">
            <a:avLst/>
          </a:prstGeom>
          <a:ln w="44450">
            <a:solidFill>
              <a:srgbClr val="E09B00"/>
            </a:solidFill>
          </a:ln>
        </p:spPr>
      </p:cxnSp>
      <p:sp>
        <p:nvSpPr>
          <p:cNvPr id="13" name="Oval 12"/>
          <p:cNvSpPr/>
          <p:nvPr/>
        </p:nvSpPr>
        <p:spPr>
          <a:xfrm>
            <a:off x="7204895" y="3790293"/>
            <a:ext cx="252511" cy="199383"/>
          </a:xfrm>
          <a:prstGeom prst="ellipse">
            <a:avLst/>
          </a:prstGeom>
          <a:noFill/>
          <a:ln w="44450">
            <a:solidFill>
              <a:srgbClr val="C62828"/>
            </a:solidFill>
          </a:ln>
        </p:spPr>
        <p:txBody>
          <a:bodyPr rtlCol="0" anchor="ctr"/>
          <a:lstStyle/>
          <a:p>
            <a:pPr algn="ctr"/>
          </a:p>
        </p:txBody>
      </p:sp>
      <p:sp>
        <p:nvSpPr>
          <p:cNvPr id="14" name="Oval 13"/>
          <p:cNvSpPr/>
          <p:nvPr/>
        </p:nvSpPr>
        <p:spPr>
          <a:xfrm>
            <a:off x="7356402" y="3723832"/>
            <a:ext cx="353516" cy="177229"/>
          </a:xfrm>
          <a:prstGeom prst="ellipse">
            <a:avLst/>
          </a:prstGeom>
          <a:noFill/>
          <a:ln w="44450">
            <a:solidFill>
              <a:srgbClr val="1F5FAD"/>
            </a:solidFill>
          </a:ln>
        </p:spPr>
        <p:txBody>
          <a:bodyPr rtlCol="0" anchor="ctr"/>
          <a:lstStyle/>
          <a:p>
            <a:pPr algn="ctr"/>
          </a:p>
        </p:txBody>
      </p:sp>
      <p:sp>
        <p:nvSpPr>
          <p:cNvPr id="15" name="Oval 14"/>
          <p:cNvSpPr/>
          <p:nvPr/>
        </p:nvSpPr>
        <p:spPr>
          <a:xfrm>
            <a:off x="6342415" y="3812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897940" y="38785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806982" y="34797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55063"/>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7.30. The crop and marks are for teaching; the worked PHP values are ours, invented.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45311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1536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581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649370" y="3231096"/>
            <a:ext cx="3131143" cy="0"/>
          </a:xfrm>
          <a:prstGeom prst="line">
            <a:avLst/>
          </a:prstGeom>
          <a:ln w="44450">
            <a:solidFill>
              <a:srgbClr val="E09B00"/>
            </a:solidFill>
          </a:ln>
        </p:spPr>
      </p:cxnSp>
      <p:sp>
        <p:nvSpPr>
          <p:cNvPr id="19" name="Oval 18"/>
          <p:cNvSpPr/>
          <p:nvPr/>
        </p:nvSpPr>
        <p:spPr>
          <a:xfrm>
            <a:off x="7204895" y="3186789"/>
            <a:ext cx="252511" cy="199383"/>
          </a:xfrm>
          <a:prstGeom prst="ellipse">
            <a:avLst/>
          </a:prstGeom>
          <a:noFill/>
          <a:ln w="44450">
            <a:solidFill>
              <a:srgbClr val="C62828"/>
            </a:solidFill>
          </a:ln>
        </p:spPr>
        <p:txBody>
          <a:bodyPr rtlCol="0" anchor="ctr"/>
          <a:lstStyle/>
          <a:p>
            <a:pPr algn="ctr"/>
          </a:p>
        </p:txBody>
      </p:sp>
      <p:sp>
        <p:nvSpPr>
          <p:cNvPr id="20" name="Oval 19"/>
          <p:cNvSpPr/>
          <p:nvPr/>
        </p:nvSpPr>
        <p:spPr>
          <a:xfrm>
            <a:off x="7356402" y="3120328"/>
            <a:ext cx="353516" cy="177229"/>
          </a:xfrm>
          <a:prstGeom prst="ellipse">
            <a:avLst/>
          </a:prstGeom>
          <a:noFill/>
          <a:ln w="44450">
            <a:solidFill>
              <a:srgbClr val="1F5FAD"/>
            </a:solidFill>
          </a:ln>
        </p:spPr>
        <p:txBody>
          <a:bodyPr rtlCol="0" anchor="ctr"/>
          <a:lstStyle/>
          <a:p>
            <a:pPr algn="ctr"/>
          </a:p>
        </p:txBody>
      </p:sp>
      <p:sp>
        <p:nvSpPr>
          <p:cNvPr id="21" name="Oval 20"/>
          <p:cNvSpPr/>
          <p:nvPr/>
        </p:nvSpPr>
        <p:spPr>
          <a:xfrm>
            <a:off x="6342415" y="32085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897940" y="327503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7806982" y="28762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5155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ends a long run: it opens beyond the prior high </a:t>
            </a:r>
            <a:r>
              <a:rPr sz="1700" b="1" i="0">
                <a:solidFill>
                  <a:srgbClr val="E09B00"/>
                </a:solidFill>
                <a:latin typeface="Arial"/>
              </a:rPr>
              <a:t>(1)</a:t>
            </a:r>
            <a:r>
              <a:rPr sz="1700" b="0" i="0">
                <a:solidFill>
                  <a:srgbClr val="1A1A1A"/>
                </a:solidFill>
                <a:latin typeface="Arial"/>
              </a:rPr>
              <a:t>, reaches a new high </a:t>
            </a:r>
            <a:r>
              <a:rPr sz="1700" b="1" i="0">
                <a:solidFill>
                  <a:srgbClr val="C62828"/>
                </a:solidFill>
                <a:latin typeface="Arial"/>
              </a:rPr>
              <a:t>(2)</a:t>
            </a:r>
            <a:r>
              <a:rPr sz="1700" b="0" i="0">
                <a:solidFill>
                  <a:srgbClr val="1A1A1A"/>
                </a:solidFill>
                <a:latin typeface="Arial"/>
              </a:rPr>
              <a:t>, gives most back, and the next bar does not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pierces support </a:t>
            </a:r>
            <a:r>
              <a:rPr sz="1700" b="1" i="0">
                <a:solidFill>
                  <a:srgbClr val="7B3FA0"/>
                </a:solidFill>
                <a:latin typeface="Arial"/>
              </a:rPr>
              <a:t>(1)</a:t>
            </a:r>
            <a:r>
              <a:rPr sz="1700" b="0" i="0">
                <a:solidFill>
                  <a:srgbClr val="1A1A1A"/>
                </a:solidFill>
                <a:latin typeface="Arial"/>
              </a:rPr>
              <a:t> then snaps back inside </a:t>
            </a:r>
            <a:r>
              <a:rPr sz="1700" b="1" i="0">
                <a:solidFill>
                  <a:srgbClr val="C62828"/>
                </a:solidFill>
                <a:latin typeface="Arial"/>
              </a:rPr>
              <a:t>(2)</a:t>
            </a:r>
            <a:r>
              <a:rPr sz="1700" b="0" i="0">
                <a:solidFill>
                  <a:srgbClr val="1A1A1A"/>
                </a:solidFill>
                <a:latin typeface="Arial"/>
              </a:rPr>
              <a:t>. Lim calls it a "single bar misrepresentation" (p. 227); its volume is low </a:t>
            </a:r>
            <a:r>
              <a:rPr sz="1700" b="1" i="0">
                <a:solidFill>
                  <a:srgbClr val="E09B00"/>
                </a:solidFill>
                <a:latin typeface="Arial"/>
              </a:rPr>
              <a:t>(3)</a:t>
            </a:r>
            <a:r>
              <a:rPr sz="1700" b="0" i="0">
                <a:solidFill>
                  <a:srgbClr val="1A1A1A"/>
                </a:solidFill>
                <a:latin typeface="Arial"/>
              </a:rPr>
              <a:t>. Ask whether the move ended a tiring run or rejected a level.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Oval 18"/>
          <p:cNvSpPr/>
          <p:nvPr/>
        </p:nvSpPr>
        <p:spPr>
          <a:xfrm>
            <a:off x="8921974" y="2539664"/>
            <a:ext cx="303013" cy="15734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9073481" y="2674529"/>
            <a:ext cx="353516" cy="0"/>
          </a:xfrm>
          <a:prstGeom prst="line">
            <a:avLst/>
          </a:prstGeom>
          <a:ln w="44450">
            <a:solidFill>
              <a:srgbClr val="1F5FAD"/>
            </a:solidFill>
          </a:ln>
        </p:spPr>
      </p:cxnSp>
      <p:sp>
        <p:nvSpPr>
          <p:cNvPr id="21" name="Oval 20"/>
          <p:cNvSpPr/>
          <p:nvPr/>
        </p:nvSpPr>
        <p:spPr>
          <a:xfrm>
            <a:off x="8413010" y="2294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051" y="23167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524061" y="269890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229).</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two cases show a break that returns inside its barrier. </a:t>
            </a:r>
            <a:r>
              <a:rPr sz="1700" b="1" i="0">
                <a:solidFill>
                  <a:srgbClr val="E09B00"/>
                </a:solidFill>
                <a:latin typeface="Arial"/>
              </a:rPr>
              <a:t>(1)</a:t>
            </a:r>
            <a:r>
              <a:rPr sz="1700" b="0" i="0">
                <a:solidFill>
                  <a:srgbClr val="1A1A1A"/>
                </a:solidFill>
                <a:latin typeface="Arial"/>
              </a:rPr>
              <a:t> marks the PHP 62.00 false high; </a:t>
            </a:r>
            <a:r>
              <a:rPr sz="1700" b="1" i="0">
                <a:solidFill>
                  <a:srgbClr val="1F5FAD"/>
                </a:solidFill>
                <a:latin typeface="Arial"/>
              </a:rPr>
              <a:t>(2)</a:t>
            </a:r>
            <a:r>
              <a:rPr sz="1700" b="0" i="0">
                <a:solidFill>
                  <a:srgbClr val="1A1A1A"/>
                </a:solidFill>
                <a:latin typeface="Arial"/>
              </a:rPr>
              <a:t> marks the PHP 59.40 close below PHP 60.00 resistance.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C62828"/>
                </a:solidFill>
                <a:latin typeface="Arial"/>
              </a:rPr>
              <a:t>(1)</a:t>
            </a:r>
            <a:r>
              <a:rPr sz="1700" b="0" i="0">
                <a:solidFill>
                  <a:srgbClr val="1A1A1A"/>
                </a:solidFill>
                <a:latin typeface="Arial"/>
              </a:rPr>
              <a:t> marks the PHP 38.50 false low; </a:t>
            </a:r>
            <a:r>
              <a:rPr sz="1700" b="1" i="0">
                <a:solidFill>
                  <a:srgbClr val="7B3FA0"/>
                </a:solidFill>
                <a:latin typeface="Arial"/>
              </a:rPr>
              <a:t>(2)</a:t>
            </a:r>
            <a:r>
              <a:rPr sz="1700" b="0" i="0">
                <a:solidFill>
                  <a:srgbClr val="1A1A1A"/>
                </a:solidFill>
                <a:latin typeface="Arial"/>
              </a:rPr>
              <a:t> marks the PHP 40.60 close above PHP 40.00 support (p. 229).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course drawing makes the bearish entry explicit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 the course drawing, </a:t>
            </a:r>
            <a:r>
              <a:rPr sz="1700" b="1" i="0">
                <a:solidFill>
                  <a:srgbClr val="E09B00"/>
                </a:solidFill>
                <a:latin typeface="Arial"/>
              </a:rPr>
              <a:t>(1)</a:t>
            </a:r>
            <a:r>
              <a:rPr sz="1700" b="0" i="0">
                <a:solidFill>
                  <a:srgbClr val="1A1A1A"/>
                </a:solidFill>
                <a:latin typeface="Arial"/>
              </a:rPr>
              <a:t> is PHP 60.00 resistance, </a:t>
            </a:r>
            <a:r>
              <a:rPr sz="1700" b="1" i="0">
                <a:solidFill>
                  <a:srgbClr val="C62828"/>
                </a:solidFill>
                <a:latin typeface="Arial"/>
              </a:rPr>
              <a:t>(2)</a:t>
            </a:r>
            <a:r>
              <a:rPr sz="1700" b="0" i="0">
                <a:solidFill>
                  <a:srgbClr val="1A1A1A"/>
                </a:solidFill>
                <a:latin typeface="Arial"/>
              </a:rPr>
              <a:t> the PHP 62.00 false high, </a:t>
            </a:r>
            <a:r>
              <a:rPr sz="1700" b="1" i="0">
                <a:solidFill>
                  <a:srgbClr val="1F5FAD"/>
                </a:solidFill>
                <a:latin typeface="Arial"/>
              </a:rPr>
              <a:t>(3)</a:t>
            </a:r>
            <a:r>
              <a:rPr sz="1700" b="0" i="0">
                <a:solidFill>
                  <a:srgbClr val="1A1A1A"/>
                </a:solidFill>
                <a:latin typeface="Arial"/>
              </a:rPr>
              <a:t> the PHP 59.40 returned close, and </a:t>
            </a:r>
            <a:r>
              <a:rPr sz="1700" b="1" i="0">
                <a:solidFill>
                  <a:srgbClr val="7B3FA0"/>
                </a:solidFill>
                <a:latin typeface="Arial"/>
              </a:rPr>
              <a:t>(4)</a:t>
            </a:r>
            <a:r>
              <a:rPr sz="1700" b="0" i="0">
                <a:solidFill>
                  <a:srgbClr val="1A1A1A"/>
                </a:solidFill>
                <a:latin typeface="Arial"/>
              </a:rPr>
              <a:t> the PHP 62.20 stop. The short follows </a:t>
            </a:r>
            <a:r>
              <a:rPr sz="1700" b="1" i="0">
                <a:solidFill>
                  <a:srgbClr val="1F5FAD"/>
                </a:solidFill>
                <a:latin typeface="Arial"/>
              </a:rPr>
              <a:t>(3)</a:t>
            </a:r>
            <a:r>
              <a:rPr sz="1700" b="0" i="0">
                <a:solidFill>
                  <a:srgbClr val="1A1A1A"/>
                </a:solidFill>
                <a:latin typeface="Arial"/>
              </a:rPr>
              <a:t> below resistance; </a:t>
            </a:r>
            <a:r>
              <a:rPr sz="1700" b="1" i="0">
                <a:solidFill>
                  <a:srgbClr val="7B3FA0"/>
                </a:solidFill>
                <a:latin typeface="Arial"/>
              </a:rPr>
              <a:t>(4)</a:t>
            </a:r>
            <a:r>
              <a:rPr sz="1700" b="0" i="0">
                <a:solidFill>
                  <a:srgbClr val="1A1A1A"/>
                </a:solidFill>
                <a:latin typeface="Arial"/>
              </a:rPr>
              <a:t> stays above the breakout high. These values are invented, and the book's drawing follows.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4136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43645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2283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395724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352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1062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08661" y="332486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62</a:t>
            </a:r>
          </a:p>
        </p:txBody>
      </p:sp>
      <p:sp>
        <p:nvSpPr>
          <p:cNvPr id="7" name="TextBox 6"/>
          <p:cNvSpPr txBox="1"/>
          <p:nvPr/>
        </p:nvSpPr>
        <p:spPr>
          <a:xfrm>
            <a:off x="777240" y="1965960"/>
            <a:ext cx="4892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this a non-failure swing and credits Sperandeo's 2B entry (p. 228). The book's drawing supplies the pattern, not a PHP price list.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resistance, red </a:t>
            </a:r>
            <a:r>
              <a:rPr sz="1800" b="1" i="0">
                <a:solidFill>
                  <a:srgbClr val="C62828"/>
                </a:solidFill>
                <a:latin typeface="Arial"/>
              </a:rPr>
              <a:t>(2)</a:t>
            </a:r>
            <a:r>
              <a:rPr sz="1800" b="0" i="0">
                <a:solidFill>
                  <a:srgbClr val="1A1A1A"/>
                </a:solidFill>
                <a:latin typeface="Arial"/>
              </a:rPr>
              <a:t> the false high, blue </a:t>
            </a:r>
            <a:r>
              <a:rPr sz="1800" b="1" i="0">
                <a:solidFill>
                  <a:srgbClr val="1F5FAD"/>
                </a:solidFill>
                <a:latin typeface="Arial"/>
              </a:rPr>
              <a:t>(3)</a:t>
            </a:r>
            <a:r>
              <a:rPr sz="1800" b="0" i="0">
                <a:solidFill>
                  <a:srgbClr val="1A1A1A"/>
                </a:solidFill>
                <a:latin typeface="Arial"/>
              </a:rPr>
              <a:t> the close back below, and purple </a:t>
            </a:r>
            <a:r>
              <a:rPr sz="1800" b="1" i="0">
                <a:solidFill>
                  <a:srgbClr val="7B3FA0"/>
                </a:solidFill>
                <a:latin typeface="Arial"/>
              </a:rPr>
              <a:t>(4)</a:t>
            </a:r>
            <a:r>
              <a:rPr sz="1800" b="0" i="0">
                <a:solidFill>
                  <a:srgbClr val="1A1A1A"/>
                </a:solidFill>
                <a:latin typeface="Arial"/>
              </a:rPr>
              <a:t> the stop above the high.</a:t>
            </a:r>
          </a:p>
          <a:p>
            <a:pPr algn="l">
              <a:lnSpc>
                <a:spcPct val="105000"/>
              </a:lnSpc>
              <a:spcBef>
                <a:spcPts val="0"/>
              </a:spcBef>
              <a:spcAft>
                <a:spcPts val="1100"/>
              </a:spcAft>
            </a:pPr>
            <a:r>
              <a:rPr sz="1800" b="0" i="0">
                <a:solidFill>
                  <a:srgbClr val="1A1A1A"/>
                </a:solidFill>
                <a:latin typeface="Arial"/>
              </a:rPr>
              <a:t>The bearish entry comes only after price returns below resistance. The stop belongs just above the breakout high in this drawing.</a:t>
            </a:r>
          </a:p>
        </p:txBody>
      </p:sp>
      <p:sp>
        <p:nvSpPr>
          <p:cNvPr id="8" name="Rectangle 7"/>
          <p:cNvSpPr/>
          <p:nvPr/>
        </p:nvSpPr>
        <p:spPr>
          <a:xfrm>
            <a:off x="64939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28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28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871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6905291" y="2280513"/>
            <a:ext cx="2214409" cy="0"/>
          </a:xfrm>
          <a:prstGeom prst="line">
            <a:avLst/>
          </a:prstGeom>
          <a:ln w="44450">
            <a:solidFill>
              <a:srgbClr val="E09B00"/>
            </a:solidFill>
          </a:ln>
        </p:spPr>
      </p:cxnSp>
      <p:sp>
        <p:nvSpPr>
          <p:cNvPr id="13" name="Oval 12"/>
          <p:cNvSpPr/>
          <p:nvPr/>
        </p:nvSpPr>
        <p:spPr>
          <a:xfrm>
            <a:off x="78244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81169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740917" y="2034722"/>
            <a:ext cx="626720" cy="0"/>
          </a:xfrm>
          <a:prstGeom prst="line">
            <a:avLst/>
          </a:prstGeom>
          <a:ln w="44450">
            <a:solidFill>
              <a:srgbClr val="7B3FA0"/>
            </a:solidFill>
          </a:ln>
        </p:spPr>
      </p:cxnSp>
      <p:sp>
        <p:nvSpPr>
          <p:cNvPr id="16" name="Oval 15"/>
          <p:cNvSpPr/>
          <p:nvPr/>
        </p:nvSpPr>
        <p:spPr>
          <a:xfrm>
            <a:off x="6791625" y="24761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543688" y="24059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462876" y="22655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293000" y="1914387"/>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989319" y="5650991"/>
            <a:ext cx="54251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 the worked PHP values are ours, invented.</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62</a:t>
            </a:r>
          </a:p>
        </p:txBody>
      </p:sp>
      <p:sp>
        <p:nvSpPr>
          <p:cNvPr id="7" name="TextBox 6"/>
          <p:cNvSpPr txBox="1"/>
          <p:nvPr/>
        </p:nvSpPr>
        <p:spPr>
          <a:xfrm>
            <a:off x="777240" y="1965960"/>
            <a:ext cx="5074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marks the upper close back below resistance; purple </a:t>
            </a:r>
            <a:r>
              <a:rPr sz="1700" b="1" i="0">
                <a:solidFill>
                  <a:srgbClr val="7B3FA0"/>
                </a:solidFill>
                <a:latin typeface="Arial"/>
              </a:rPr>
              <a:t>(4)</a:t>
            </a:r>
            <a:r>
              <a:rPr sz="1700" b="0" i="0">
                <a:solidFill>
                  <a:srgbClr val="1A1A1A"/>
                </a:solidFill>
                <a:latin typeface="Arial"/>
              </a:rPr>
              <a:t> marks the lower close back above support.</a:t>
            </a:r>
          </a:p>
          <a:p>
            <a:pPr algn="l">
              <a:lnSpc>
                <a:spcPct val="105000"/>
              </a:lnSpc>
              <a:spcBef>
                <a:spcPts val="0"/>
              </a:spcBef>
              <a:spcAft>
                <a:spcPts val="1100"/>
              </a:spcAft>
            </a:pPr>
            <a:r>
              <a:rPr sz="1700" b="0" i="0">
                <a:solidFill>
                  <a:srgbClr val="1A1A1A"/>
                </a:solidFill>
                <a:latin typeface="Arial"/>
              </a:rPr>
              <a:t>In our example, resistance is PHP 60.00 and support is PHP 40.00. The returned closes are PHP 59.40 and PHP 40.60, so both prices are back inside their barriers.</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229).</a:t>
            </a:r>
          </a:p>
        </p:txBody>
      </p:sp>
      <p:sp>
        <p:nvSpPr>
          <p:cNvPr id="8" name="Rectangle 7"/>
          <p:cNvSpPr/>
          <p:nvPr/>
        </p:nvSpPr>
        <p:spPr>
          <a:xfrm>
            <a:off x="6172199" y="1810512"/>
            <a:ext cx="5242255" cy="280662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91071" y="1929384"/>
            <a:ext cx="5004511" cy="256888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91071" y="1929384"/>
            <a:ext cx="500451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65391" y="2203703"/>
            <a:ext cx="4455871" cy="21116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742380" y="2520227"/>
            <a:ext cx="350315" cy="282577"/>
          </a:xfrm>
          <a:prstGeom prst="ellipse">
            <a:avLst/>
          </a:prstGeom>
          <a:noFill/>
          <a:ln w="44450">
            <a:solidFill>
              <a:srgbClr val="E09B00"/>
            </a:solidFill>
          </a:ln>
        </p:spPr>
        <p:txBody>
          <a:bodyPr rtlCol="0" anchor="ctr"/>
          <a:lstStyle/>
          <a:p>
            <a:pPr algn="ctr"/>
          </a:p>
        </p:txBody>
      </p:sp>
      <p:sp>
        <p:nvSpPr>
          <p:cNvPr id="13" name="Oval 12"/>
          <p:cNvSpPr/>
          <p:nvPr/>
        </p:nvSpPr>
        <p:spPr>
          <a:xfrm>
            <a:off x="8943462" y="3111070"/>
            <a:ext cx="400360" cy="333954"/>
          </a:xfrm>
          <a:prstGeom prst="ellipse">
            <a:avLst/>
          </a:prstGeom>
          <a:noFill/>
          <a:ln w="44450">
            <a:solidFill>
              <a:srgbClr val="C62828"/>
            </a:solidFill>
          </a:ln>
        </p:spPr>
        <p:txBody>
          <a:bodyPr rtlCol="0" anchor="ctr"/>
          <a:lstStyle/>
          <a:p>
            <a:pPr algn="ctr"/>
          </a:p>
        </p:txBody>
      </p:sp>
      <p:sp>
        <p:nvSpPr>
          <p:cNvPr id="14" name="Oval 13"/>
          <p:cNvSpPr/>
          <p:nvPr/>
        </p:nvSpPr>
        <p:spPr>
          <a:xfrm>
            <a:off x="7942560" y="2674360"/>
            <a:ext cx="300270" cy="205510"/>
          </a:xfrm>
          <a:prstGeom prst="ellipse">
            <a:avLst/>
          </a:prstGeom>
          <a:noFill/>
          <a:ln w="44450">
            <a:solidFill>
              <a:srgbClr val="1F5FAD"/>
            </a:solidFill>
          </a:ln>
        </p:spPr>
        <p:txBody>
          <a:bodyPr rtlCol="0" anchor="ctr"/>
          <a:lstStyle/>
          <a:p>
            <a:pPr algn="ctr"/>
          </a:p>
        </p:txBody>
      </p:sp>
      <p:sp>
        <p:nvSpPr>
          <p:cNvPr id="15" name="Oval 14"/>
          <p:cNvSpPr/>
          <p:nvPr/>
        </p:nvSpPr>
        <p:spPr>
          <a:xfrm>
            <a:off x="10144545" y="3393647"/>
            <a:ext cx="350315" cy="282577"/>
          </a:xfrm>
          <a:prstGeom prst="ellipse">
            <a:avLst/>
          </a:prstGeom>
          <a:noFill/>
          <a:ln w="44450">
            <a:solidFill>
              <a:srgbClr val="7B3FA0"/>
            </a:solidFill>
          </a:ln>
        </p:spPr>
        <p:txBody>
          <a:bodyPr rtlCol="0" anchor="ctr"/>
          <a:lstStyle/>
          <a:p>
            <a:pPr algn="ctr"/>
          </a:p>
        </p:txBody>
      </p:sp>
      <p:sp>
        <p:nvSpPr>
          <p:cNvPr id="16" name="Oval 15"/>
          <p:cNvSpPr/>
          <p:nvPr/>
        </p:nvSpPr>
        <p:spPr>
          <a:xfrm>
            <a:off x="7386751" y="2287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88646" y="3469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287563" y="27758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589638" y="3135444"/>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172199" y="4708579"/>
            <a:ext cx="52422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7.32. The crop and marks are for teaching; the worked PHP values are ours,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229).</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229).</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709918" y="1922121"/>
            <a:ext cx="353516" cy="285158"/>
          </a:xfrm>
          <a:prstGeom prst="ellipse">
            <a:avLst/>
          </a:prstGeom>
          <a:noFill/>
          <a:ln w="44450">
            <a:solidFill>
              <a:srgbClr val="E09B00"/>
            </a:solidFill>
          </a:ln>
        </p:spPr>
        <p:txBody>
          <a:bodyPr rtlCol="0" anchor="ctr"/>
          <a:lstStyle/>
          <a:p>
            <a:pPr algn="ctr"/>
          </a:p>
        </p:txBody>
      </p:sp>
      <p:sp>
        <p:nvSpPr>
          <p:cNvPr id="19" name="Oval 18"/>
          <p:cNvSpPr/>
          <p:nvPr/>
        </p:nvSpPr>
        <p:spPr>
          <a:xfrm>
            <a:off x="8921974" y="2518362"/>
            <a:ext cx="404018" cy="337005"/>
          </a:xfrm>
          <a:prstGeom prst="ellipse">
            <a:avLst/>
          </a:prstGeom>
          <a:noFill/>
          <a:ln w="44450">
            <a:solidFill>
              <a:srgbClr val="C62828"/>
            </a:solidFill>
          </a:ln>
        </p:spPr>
        <p:txBody>
          <a:bodyPr rtlCol="0" anchor="ctr"/>
          <a:lstStyle/>
          <a:p>
            <a:pPr algn="ctr"/>
          </a:p>
        </p:txBody>
      </p:sp>
      <p:sp>
        <p:nvSpPr>
          <p:cNvPr id="20" name="Oval 19"/>
          <p:cNvSpPr/>
          <p:nvPr/>
        </p:nvSpPr>
        <p:spPr>
          <a:xfrm>
            <a:off x="7911928" y="2077662"/>
            <a:ext cx="303013" cy="207388"/>
          </a:xfrm>
          <a:prstGeom prst="ellipse">
            <a:avLst/>
          </a:prstGeom>
          <a:noFill/>
          <a:ln w="44450">
            <a:solidFill>
              <a:srgbClr val="1F5FAD"/>
            </a:solidFill>
          </a:ln>
        </p:spPr>
        <p:txBody>
          <a:bodyPr rtlCol="0" anchor="ctr"/>
          <a:lstStyle/>
          <a:p>
            <a:pPr algn="ctr"/>
          </a:p>
        </p:txBody>
      </p:sp>
      <p:sp>
        <p:nvSpPr>
          <p:cNvPr id="21" name="Oval 20"/>
          <p:cNvSpPr/>
          <p:nvPr/>
        </p:nvSpPr>
        <p:spPr>
          <a:xfrm>
            <a:off x="10134029" y="2803520"/>
            <a:ext cx="353516" cy="285158"/>
          </a:xfrm>
          <a:prstGeom prst="ellipse">
            <a:avLst/>
          </a:prstGeom>
          <a:noFill/>
          <a:ln w="44450">
            <a:solidFill>
              <a:srgbClr val="7B3FA0"/>
            </a:solidFill>
          </a:ln>
        </p:spPr>
        <p:txBody>
          <a:bodyPr rtlCol="0" anchor="ctr"/>
          <a:lstStyle/>
          <a:p>
            <a:pPr algn="ctr"/>
          </a:p>
        </p:txBody>
      </p:sp>
      <p:sp>
        <p:nvSpPr>
          <p:cNvPr id="22" name="Oval 21"/>
          <p:cNvSpPr/>
          <p:nvPr/>
        </p:nvSpPr>
        <p:spPr>
          <a:xfrm>
            <a:off x="7352461" y="16889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73558" y="288138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261503" y="218144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10584609" y="254437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bearish Double Repo closes above and below a three-day SMA twice, so the second pair can mark a sell signal (p. 229). Lim calls the average forward-shifted when it is plotted three days forward.</a:t>
            </a:r>
          </a:p>
          <a:p>
            <a:pPr algn="l">
              <a:lnSpc>
                <a:spcPct val="118000"/>
              </a:lnSpc>
              <a:spcBef>
                <a:spcPts val="0"/>
              </a:spcBef>
              <a:spcAft>
                <a:spcPts val="1300"/>
              </a:spcAft>
            </a:pPr>
            <a:r>
              <a:rPr sz="2100" b="0" i="0">
                <a:solidFill>
                  <a:srgbClr val="1A1A1A"/>
                </a:solidFill>
                <a:latin typeface="Arial"/>
              </a:rPr>
              <a:t>Our SMA is PHP 50.00. The pairs close at PHP 50.80 above and PHP 49.60 below, then PHP 50.70 above and PHP 49.00 below after nine bullish days. Lim gives 8 to 10 days first and a top no more than 8 to 10 bars; the complete method is in DiNapoli's text.</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Count the two crossing pairs and keep the book's limits visible.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The worked PHP values are ours, invented.</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forward-shifted three-day SMA is PHP 50.00.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2.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E09B00"/>
                </a:solidFill>
                <a:latin typeface="Arial"/>
              </a:rPr>
              <a:t>(1)</a:t>
            </a:r>
            <a:r>
              <a:rPr sz="1700" b="0" i="0">
                <a:solidFill>
                  <a:srgbClr val="1A1A1A"/>
                </a:solidFill>
                <a:latin typeface="Arial"/>
              </a:rPr>
              <a:t> marks the first close above it at PHP 50.80, and </a:t>
            </a:r>
            <a:r>
              <a:rPr sz="1700" b="1" i="0">
                <a:solidFill>
                  <a:srgbClr val="C62828"/>
                </a:solidFill>
                <a:latin typeface="Arial"/>
              </a:rPr>
              <a:t>(2)</a:t>
            </a:r>
            <a:r>
              <a:rPr sz="1700" b="0" i="0">
                <a:solidFill>
                  <a:srgbClr val="1A1A1A"/>
                </a:solidFill>
                <a:latin typeface="Arial"/>
              </a:rPr>
              <a:t> the first close below it at PHP 49.60.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3.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299508" y="386406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8946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371184" y="370728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26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nine bullish days, </a:t>
            </a:r>
            <a:r>
              <a:rPr sz="1700" b="1" i="0">
                <a:solidFill>
                  <a:srgbClr val="1F5FAD"/>
                </a:solidFill>
                <a:latin typeface="Arial"/>
              </a:rPr>
              <a:t>(3)</a:t>
            </a:r>
            <a:r>
              <a:rPr sz="1700" b="0" i="0">
                <a:solidFill>
                  <a:srgbClr val="1A1A1A"/>
                </a:solidFill>
                <a:latin typeface="Arial"/>
              </a:rPr>
              <a:t> encloses the second pair: PHP 50.70 above and PHP 49.00 below. The two pairs are the named structure; the full method is in DiNapoli's text.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4.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862072" y="3442243"/>
            <a:ext cx="5519775" cy="1500877"/>
          </a:xfrm>
          <a:prstGeom prst="rect">
            <a:avLst/>
          </a:prstGeom>
          <a:noFill/>
          <a:ln w="44450">
            <a:solidFill>
              <a:srgbClr val="1F5FAD"/>
            </a:solidFill>
          </a:ln>
        </p:spPr>
        <p:txBody>
          <a:bodyPr rtlCol="0" anchor="ctr"/>
          <a:lstStyle/>
          <a:p>
            <a:pPr algn="ctr"/>
          </a:p>
        </p:txBody>
      </p:sp>
      <p:sp>
        <p:nvSpPr>
          <p:cNvPr id="10" name="Oval 9"/>
          <p:cNvSpPr/>
          <p:nvPr/>
        </p:nvSpPr>
        <p:spPr>
          <a:xfrm>
            <a:off x="8381847" y="406466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the first two closes across the forward-shifted three-day SMA. Blue </a:t>
            </a:r>
            <a:r>
              <a:rPr sz="1800" b="1" i="0">
                <a:solidFill>
                  <a:srgbClr val="1F5FAD"/>
                </a:solidFill>
                <a:latin typeface="Arial"/>
              </a:rPr>
              <a:t>(3)</a:t>
            </a:r>
            <a:r>
              <a:rPr sz="1800" b="0" i="0">
                <a:solidFill>
                  <a:srgbClr val="1A1A1A"/>
                </a:solidFill>
                <a:latin typeface="Arial"/>
              </a:rPr>
              <a:t> marks the later decline.</a:t>
            </a:r>
          </a:p>
          <a:p>
            <a:pPr algn="l">
              <a:lnSpc>
                <a:spcPct val="105000"/>
              </a:lnSpc>
              <a:spcBef>
                <a:spcPts val="0"/>
              </a:spcBef>
              <a:spcAft>
                <a:spcPts val="1100"/>
              </a:spcAft>
            </a:pPr>
            <a:r>
              <a:rPr sz="18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800" b="0" i="0">
                <a:solidFill>
                  <a:srgbClr val="1A1A1A"/>
                </a:solidFill>
                <a:latin typeface="Arial"/>
              </a:rPr>
              <a:t>Read the two crossings as the named structure, not as a complete trading system.</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8164439" y="2380117"/>
            <a:ext cx="303013" cy="202829"/>
          </a:xfrm>
          <a:prstGeom prst="ellipse">
            <a:avLst/>
          </a:prstGeom>
          <a:noFill/>
          <a:ln w="44450">
            <a:solidFill>
              <a:srgbClr val="E09B00"/>
            </a:solidFill>
          </a:ln>
        </p:spPr>
        <p:txBody>
          <a:bodyPr rtlCol="0" anchor="ctr"/>
          <a:lstStyle/>
          <a:p>
            <a:pPr algn="ctr"/>
          </a:p>
        </p:txBody>
      </p:sp>
      <p:sp>
        <p:nvSpPr>
          <p:cNvPr id="13" name="Oval 12"/>
          <p:cNvSpPr/>
          <p:nvPr/>
        </p:nvSpPr>
        <p:spPr>
          <a:xfrm>
            <a:off x="8770467" y="2380117"/>
            <a:ext cx="303013" cy="20282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9224988" y="2830850"/>
            <a:ext cx="909041" cy="631026"/>
          </a:xfrm>
          <a:prstGeom prst="line">
            <a:avLst/>
          </a:prstGeom>
          <a:ln w="44450">
            <a:solidFill>
              <a:srgbClr val="1F5FAD"/>
            </a:solidFill>
            <a:tailEnd type="triangle" w="med" len="med"/>
          </a:ln>
        </p:spPr>
      </p:cxnSp>
      <p:sp>
        <p:nvSpPr>
          <p:cNvPr id="15" name="Oval 14"/>
          <p:cNvSpPr/>
          <p:nvPr/>
        </p:nvSpPr>
        <p:spPr>
          <a:xfrm>
            <a:off x="7857484" y="21570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20042" y="21570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0591" y="33965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forward-shifted three-day SMA. Red </a:t>
            </a:r>
            <a:r>
              <a:rPr sz="2000" b="1" i="0">
                <a:solidFill>
                  <a:srgbClr val="C62828"/>
                </a:solidFill>
                <a:latin typeface="Arial"/>
              </a:rPr>
              <a:t>(2)</a:t>
            </a:r>
            <a:r>
              <a:rPr sz="2000" b="0" i="0">
                <a:solidFill>
                  <a:srgbClr val="1A1A1A"/>
                </a:solidFill>
                <a:latin typeface="Arial"/>
              </a:rPr>
              <a:t> marks the required 8 to 10 bullish days before the pattern.</a:t>
            </a:r>
          </a:p>
          <a:p>
            <a:pPr algn="l">
              <a:lnSpc>
                <a:spcPct val="105000"/>
              </a:lnSpc>
              <a:spcBef>
                <a:spcPts val="0"/>
              </a:spcBef>
              <a:spcAft>
                <a:spcPts val="1100"/>
              </a:spcAft>
            </a:pPr>
            <a:r>
              <a:rPr sz="2000" b="0" i="0">
                <a:solidFill>
                  <a:srgbClr val="1A1A1A"/>
                </a:solidFill>
                <a:latin typeface="Arial"/>
              </a:rPr>
              <a:t>Blue </a:t>
            </a:r>
            <a:r>
              <a:rPr sz="2000" b="1" i="0">
                <a:solidFill>
                  <a:srgbClr val="1F5FAD"/>
                </a:solidFill>
                <a:latin typeface="Arial"/>
              </a:rPr>
              <a:t>(3)</a:t>
            </a:r>
            <a:r>
              <a:rPr sz="20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2000" b="0" i="0">
                <a:solidFill>
                  <a:srgbClr val="1A1A1A"/>
                </a:solidFill>
                <a:latin typeface="Arial"/>
              </a:rPr>
              <a:t>Count both limits before treating the two crossings as the named sell signal.</a:t>
            </a:r>
          </a:p>
        </p:txBody>
      </p:sp>
      <p:sp>
        <p:nvSpPr>
          <p:cNvPr id="8" name="Rectangle 7"/>
          <p:cNvSpPr/>
          <p:nvPr/>
        </p:nvSpPr>
        <p:spPr>
          <a:xfrm>
            <a:off x="6126479" y="1810512"/>
            <a:ext cx="5287975" cy="249140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050231" cy="225366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05023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921974" y="2425190"/>
            <a:ext cx="1010046" cy="270440"/>
          </a:xfrm>
          <a:prstGeom prst="line">
            <a:avLst/>
          </a:prstGeom>
          <a:ln w="44450">
            <a:solidFill>
              <a:srgbClr val="E09B00"/>
            </a:solidFill>
          </a:ln>
        </p:spPr>
      </p:cxnSp>
      <p:sp>
        <p:nvSpPr>
          <p:cNvPr id="13" name="Oval 12"/>
          <p:cNvSpPr/>
          <p:nvPr/>
        </p:nvSpPr>
        <p:spPr>
          <a:xfrm>
            <a:off x="7255398" y="2335043"/>
            <a:ext cx="1010046" cy="270439"/>
          </a:xfrm>
          <a:prstGeom prst="ellipse">
            <a:avLst/>
          </a:prstGeom>
          <a:noFill/>
          <a:ln w="44450">
            <a:solidFill>
              <a:srgbClr val="C62828"/>
            </a:solidFill>
          </a:ln>
        </p:spPr>
        <p:txBody>
          <a:bodyPr rtlCol="0" anchor="ctr"/>
          <a:lstStyle/>
          <a:p>
            <a:pPr algn="ctr"/>
          </a:p>
        </p:txBody>
      </p:sp>
      <p:sp>
        <p:nvSpPr>
          <p:cNvPr id="14" name="Rectangle 13"/>
          <p:cNvSpPr/>
          <p:nvPr/>
        </p:nvSpPr>
        <p:spPr>
          <a:xfrm>
            <a:off x="8214942" y="2019530"/>
            <a:ext cx="808036" cy="518343"/>
          </a:xfrm>
          <a:prstGeom prst="rect">
            <a:avLst/>
          </a:prstGeom>
          <a:noFill/>
          <a:ln w="44450">
            <a:solidFill>
              <a:srgbClr val="1F5FAD"/>
            </a:solidFill>
          </a:ln>
        </p:spPr>
        <p:txBody>
          <a:bodyPr rtlCol="0" anchor="ctr"/>
          <a:lstStyle/>
          <a:p>
            <a:pPr algn="ctr"/>
          </a:p>
        </p:txBody>
      </p:sp>
      <p:sp>
        <p:nvSpPr>
          <p:cNvPr id="15" name="Oval 14"/>
          <p:cNvSpPr/>
          <p:nvPr/>
        </p:nvSpPr>
        <p:spPr>
          <a:xfrm>
            <a:off x="9928079" y="2179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948443" y="20894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20042" y="188661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439336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 the worked PHP values are ours, invented.</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821686"/>
            <a:ext cx="1010046" cy="270440"/>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14942" y="1416026"/>
            <a:ext cx="808036" cy="518343"/>
          </a:xfrm>
          <a:prstGeom prst="rect">
            <a:avLst/>
          </a:prstGeom>
          <a:noFill/>
          <a:ln w="44450">
            <a:solidFill>
              <a:srgbClr val="1F5FAD"/>
            </a:solidFill>
          </a:ln>
        </p:spPr>
        <p:txBody>
          <a:bodyPr rtlCol="0" anchor="ctr"/>
          <a:lstStyle/>
          <a:p>
            <a:pPr algn="ctr"/>
          </a:p>
        </p:txBody>
      </p:sp>
      <p:sp>
        <p:nvSpPr>
          <p:cNvPr id="21" name="Oval 20"/>
          <p:cNvSpPr/>
          <p:nvPr/>
        </p:nvSpPr>
        <p:spPr>
          <a:xfrm>
            <a:off x="9928079" y="1576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6948443" y="14859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20042" y="128311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Hikkake, a trap or ensnaring in Lim's wording: an inside-bar breakout fails, and the entry is taken only in the opposite direction (p. 230).</a:t>
            </a:r>
          </a:p>
          <a:p>
            <a:pPr algn="l">
              <a:lnSpc>
                <a:spcPct val="118000"/>
              </a:lnSpc>
              <a:spcBef>
                <a:spcPts val="0"/>
              </a:spcBef>
              <a:spcAft>
                <a:spcPts val="1300"/>
              </a:spcAft>
            </a:pPr>
            <a:r>
              <a:rPr sz="2100" b="0" i="0">
                <a:solidFill>
                  <a:srgbClr val="1A1A1A"/>
                </a:solidFill>
                <a:latin typeface="Arial"/>
              </a:rPr>
              <a:t>Our bearish example has inside high PHP 52.00, inside low PHP 49.00, false high PHP 53.00, and re-entry below PHP 49.00 within three bars. The bullish converse follows a failed downside break.</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three-bar window is part of the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The worked PHP values are ours, invented.</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bearish Hikkake begins with an inside bar: </a:t>
            </a:r>
            <a:r>
              <a:rPr sz="1700" b="1" i="0">
                <a:solidFill>
                  <a:srgbClr val="E09B00"/>
                </a:solidFill>
                <a:latin typeface="Arial"/>
              </a:rPr>
              <a:t>(1)</a:t>
            </a:r>
            <a:r>
              <a:rPr sz="1700" b="0" i="0">
                <a:solidFill>
                  <a:srgbClr val="1A1A1A"/>
                </a:solidFill>
                <a:latin typeface="Arial"/>
              </a:rPr>
              <a:t> marks its high of PHP 52.00 and low of PHP 49.00. Price breaks above the inside high to PHP 53.00 at </a:t>
            </a:r>
            <a:r>
              <a:rPr sz="1700" b="1" i="0">
                <a:solidFill>
                  <a:srgbClr val="C62828"/>
                </a:solidFill>
                <a:latin typeface="Arial"/>
              </a:rPr>
              <a:t>(2)</a:t>
            </a:r>
            <a:r>
              <a:rPr sz="1700" b="0" i="0">
                <a:solidFill>
                  <a:srgbClr val="1A1A1A"/>
                </a:solidFill>
                <a:latin typeface="Arial"/>
              </a:rPr>
              <a:t>. Price re-enters below PHP 49.00 at </a:t>
            </a:r>
            <a:r>
              <a:rPr sz="1700" b="1" i="0">
                <a:solidFill>
                  <a:srgbClr val="1F5FAD"/>
                </a:solidFill>
                <a:latin typeface="Arial"/>
              </a:rPr>
              <a:t>(3)</a:t>
            </a:r>
            <a:r>
              <a:rPr sz="1700" b="0" i="0">
                <a:solidFill>
                  <a:srgbClr val="1A1A1A"/>
                </a:solidFill>
                <a:latin typeface="Arial"/>
              </a:rPr>
              <a:t> within three bars. The failed upside break is not the entry; the bearish entry is the opposite re-entry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downside breakout, and </a:t>
            </a:r>
            <a:r>
              <a:rPr sz="1700" b="1" i="0">
                <a:solidFill>
                  <a:srgbClr val="1F5FAD"/>
                </a:solidFill>
                <a:latin typeface="Arial"/>
              </a:rPr>
              <a:t>(3)</a:t>
            </a:r>
            <a:r>
              <a:rPr sz="1700" b="0" i="0">
                <a:solidFill>
                  <a:srgbClr val="1A1A1A"/>
                </a:solidFill>
                <a:latin typeface="Arial"/>
              </a:rPr>
              <a:t> the long re-entry above PHP 43.00. Its invented levels are high 43.00, low 40.00 and false low 39.00.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1623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53374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Bearish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bearish case, </a:t>
            </a:r>
            <a:r>
              <a:rPr sz="1700" b="1" i="0">
                <a:solidFill>
                  <a:srgbClr val="E09B00"/>
                </a:solidFill>
                <a:latin typeface="Arial"/>
              </a:rPr>
              <a:t>(1)</a:t>
            </a:r>
            <a:r>
              <a:rPr sz="1700" b="0" i="0">
                <a:solidFill>
                  <a:srgbClr val="1A1A1A"/>
                </a:solidFill>
                <a:latin typeface="Arial"/>
              </a:rPr>
              <a:t> marks the inside bar, </a:t>
            </a:r>
            <a:r>
              <a:rPr sz="1700" b="1" i="0">
                <a:solidFill>
                  <a:srgbClr val="C62828"/>
                </a:solidFill>
                <a:latin typeface="Arial"/>
              </a:rPr>
              <a:t>(2)</a:t>
            </a:r>
            <a:r>
              <a:rPr sz="1700" b="0" i="0">
                <a:solidFill>
                  <a:srgbClr val="1A1A1A"/>
                </a:solidFill>
                <a:latin typeface="Arial"/>
              </a:rPr>
              <a:t> its false upside breakout, and </a:t>
            </a:r>
            <a:r>
              <a:rPr sz="1700" b="1" i="0">
                <a:solidFill>
                  <a:srgbClr val="1F5FAD"/>
                </a:solidFill>
                <a:latin typeface="Arial"/>
              </a:rPr>
              <a:t>(3)</a:t>
            </a:r>
            <a:r>
              <a:rPr sz="1700" b="0" i="0">
                <a:solidFill>
                  <a:srgbClr val="1A1A1A"/>
                </a:solidFill>
                <a:latin typeface="Arial"/>
              </a:rPr>
              <a:t> the short re-entry below PHP 49.00. Its invented levels are high 52.00, low 49.00 and false high 53.00.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24972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77398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416560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61720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64778" y="2877433"/>
            <a:ext cx="1207585" cy="1509857"/>
          </a:xfrm>
          <a:prstGeom prst="rect">
            <a:avLst/>
          </a:prstGeom>
          <a:noFill/>
          <a:ln w="44450">
            <a:solidFill>
              <a:srgbClr val="E09B00"/>
            </a:solidFill>
          </a:ln>
        </p:spPr>
        <p:txBody>
          <a:bodyPr rtlCol="0" anchor="ctr"/>
          <a:lstStyle/>
          <a:p>
            <a:pPr algn="ctr"/>
          </a:p>
        </p:txBody>
      </p:sp>
      <p:sp>
        <p:nvSpPr>
          <p:cNvPr id="13" name="Oval 12"/>
          <p:cNvSpPr/>
          <p:nvPr/>
        </p:nvSpPr>
        <p:spPr>
          <a:xfrm>
            <a:off x="8619519" y="3790370"/>
            <a:ext cx="377370" cy="667146"/>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9638419" y="2807208"/>
            <a:ext cx="490582" cy="807598"/>
          </a:xfrm>
          <a:prstGeom prst="line">
            <a:avLst/>
          </a:prstGeom>
          <a:ln w="44450">
            <a:solidFill>
              <a:srgbClr val="1F5FAD"/>
            </a:solidFill>
            <a:tailEnd type="triangle" w="med" len="med"/>
          </a:ln>
        </p:spPr>
      </p:cxnSp>
      <p:sp>
        <p:nvSpPr>
          <p:cNvPr id="15" name="Oval 14"/>
          <p:cNvSpPr/>
          <p:nvPr/>
        </p:nvSpPr>
        <p:spPr>
          <a:xfrm>
            <a:off x="7407433"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43338" y="44074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24761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62</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76474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8361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8361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793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260985" y="2877433"/>
            <a:ext cx="905689" cy="1509857"/>
          </a:xfrm>
          <a:prstGeom prst="rect">
            <a:avLst/>
          </a:prstGeom>
          <a:noFill/>
          <a:ln w="44450">
            <a:solidFill>
              <a:srgbClr val="E09B00"/>
            </a:solidFill>
          </a:ln>
        </p:spPr>
        <p:txBody>
          <a:bodyPr rtlCol="0" anchor="ctr"/>
          <a:lstStyle/>
          <a:p>
            <a:pPr algn="ctr"/>
          </a:p>
        </p:txBody>
      </p:sp>
      <p:sp>
        <p:nvSpPr>
          <p:cNvPr id="13" name="Oval 12"/>
          <p:cNvSpPr/>
          <p:nvPr/>
        </p:nvSpPr>
        <p:spPr>
          <a:xfrm>
            <a:off x="8242148" y="2877433"/>
            <a:ext cx="905689" cy="702259"/>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921415" y="3755257"/>
            <a:ext cx="1056638" cy="702260"/>
          </a:xfrm>
          <a:prstGeom prst="line">
            <a:avLst/>
          </a:prstGeom>
          <a:ln w="44450">
            <a:solidFill>
              <a:srgbClr val="1F5FAD"/>
            </a:solidFill>
            <a:tailEnd type="triangle" w="med" len="med"/>
          </a:ln>
        </p:spPr>
      </p:cxnSp>
      <p:sp>
        <p:nvSpPr>
          <p:cNvPr id="15" name="Oval 14"/>
          <p:cNvSpPr/>
          <p:nvPr/>
        </p:nvSpPr>
        <p:spPr>
          <a:xfrm>
            <a:off x="6879114" y="254642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812"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2238" y="45829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126479" y="565099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 the worked PHP values are ours, invented.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62</a:t>
            </a:r>
          </a:p>
        </p:txBody>
      </p:sp>
      <p:sp>
        <p:nvSpPr>
          <p:cNvPr id="7" name="TextBox 6"/>
          <p:cNvSpPr txBox="1"/>
          <p:nvPr/>
        </p:nvSpPr>
        <p:spPr>
          <a:xfrm>
            <a:off x="777240" y="1965960"/>
            <a:ext cx="49834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Hikkake formation at the channel bottom, red </a:t>
            </a:r>
            <a:r>
              <a:rPr sz="2000" b="1" i="0">
                <a:solidFill>
                  <a:srgbClr val="C62828"/>
                </a:solidFill>
                <a:latin typeface="Arial"/>
              </a:rPr>
              <a:t>(2)</a:t>
            </a:r>
            <a:r>
              <a:rPr sz="2000" b="0" i="0">
                <a:solidFill>
                  <a:srgbClr val="1A1A1A"/>
                </a:solidFill>
                <a:latin typeface="Arial"/>
              </a:rPr>
              <a:t> its failed downside breakout, and blue </a:t>
            </a:r>
            <a:r>
              <a:rPr sz="2000" b="1" i="0">
                <a:solidFill>
                  <a:srgbClr val="1F5FAD"/>
                </a:solidFill>
                <a:latin typeface="Arial"/>
              </a:rPr>
              <a:t>(3)</a:t>
            </a:r>
            <a:r>
              <a:rPr sz="2000" b="0" i="0">
                <a:solidFill>
                  <a:srgbClr val="1A1A1A"/>
                </a:solidFill>
                <a:latin typeface="Arial"/>
              </a:rPr>
              <a:t> the upside re-entry.</a:t>
            </a:r>
          </a:p>
          <a:p>
            <a:pPr algn="l">
              <a:lnSpc>
                <a:spcPct val="105000"/>
              </a:lnSpc>
              <a:spcBef>
                <a:spcPts val="0"/>
              </a:spcBef>
              <a:spcAft>
                <a:spcPts val="1100"/>
              </a:spcAft>
            </a:pPr>
            <a:r>
              <a:rPr sz="2000" b="0" i="0">
                <a:solidFill>
                  <a:srgbClr val="1A1A1A"/>
                </a:solidFill>
                <a:latin typeface="Arial"/>
              </a:rPr>
              <a:t>The re-entry is the signal described by the book. The indicator panels are shown by Lim, but this slide does not interpret their formulas.</a:t>
            </a:r>
          </a:p>
        </p:txBody>
      </p:sp>
      <p:sp>
        <p:nvSpPr>
          <p:cNvPr id="8" name="Rectangle 7"/>
          <p:cNvSpPr/>
          <p:nvPr/>
        </p:nvSpPr>
        <p:spPr>
          <a:xfrm>
            <a:off x="650005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892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892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9324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407018" y="3404128"/>
            <a:ext cx="340588" cy="491581"/>
          </a:xfrm>
          <a:prstGeom prst="rect">
            <a:avLst/>
          </a:prstGeom>
          <a:noFill/>
          <a:ln w="44450">
            <a:solidFill>
              <a:srgbClr val="E09B00"/>
            </a:solidFill>
          </a:ln>
        </p:spPr>
        <p:txBody>
          <a:bodyPr rtlCol="0" anchor="ctr"/>
          <a:lstStyle/>
          <a:p>
            <a:pPr algn="ctr"/>
          </a:p>
        </p:txBody>
      </p:sp>
      <p:sp>
        <p:nvSpPr>
          <p:cNvPr id="13" name="Oval 12"/>
          <p:cNvSpPr/>
          <p:nvPr/>
        </p:nvSpPr>
        <p:spPr>
          <a:xfrm>
            <a:off x="8619886" y="3755257"/>
            <a:ext cx="212868" cy="38624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832754" y="3263676"/>
            <a:ext cx="255442" cy="702259"/>
          </a:xfrm>
          <a:prstGeom prst="line">
            <a:avLst/>
          </a:prstGeom>
          <a:ln w="44450">
            <a:solidFill>
              <a:srgbClr val="1F5FAD"/>
            </a:solidFill>
            <a:tailEnd type="triangle" w="med" len="med"/>
          </a:ln>
        </p:spPr>
      </p:cxnSp>
      <p:sp>
        <p:nvSpPr>
          <p:cNvPr id="15" name="Oval 14"/>
          <p:cNvSpPr/>
          <p:nvPr/>
        </p:nvSpPr>
        <p:spPr>
          <a:xfrm>
            <a:off x="8038702"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47601" y="40913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03042" y="29677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080759" y="5650991"/>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7.35. The crop and marks are for teaching; the worked PHP values are ours, invented.</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576072"/>
          </a:xfrm>
          <a:prstGeom prst="rect">
            <a:avLst/>
          </a:prstGeom>
          <a:noFill/>
          <a:ln w="44450">
            <a:solidFill>
              <a:srgbClr val="E09B00"/>
            </a:solidFill>
          </a:ln>
        </p:spPr>
        <p:txBody>
          <a:bodyPr rtlCol="0" anchor="ctr"/>
          <a:lstStyle/>
          <a:p>
            <a:pPr algn="ctr"/>
          </a:p>
        </p:txBody>
      </p:sp>
      <p:sp>
        <p:nvSpPr>
          <p:cNvPr id="19" name="Oval 18"/>
          <p:cNvSpPr/>
          <p:nvPr/>
        </p:nvSpPr>
        <p:spPr>
          <a:xfrm>
            <a:off x="8597934" y="3465576"/>
            <a:ext cx="249454" cy="452627"/>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847389" y="2889504"/>
            <a:ext cx="299346" cy="822960"/>
          </a:xfrm>
          <a:prstGeom prst="line">
            <a:avLst/>
          </a:prstGeom>
          <a:ln w="44450">
            <a:solidFill>
              <a:srgbClr val="1F5FAD"/>
            </a:solidFill>
            <a:tailEnd type="triangle" w="med" len="med"/>
          </a:ln>
        </p:spPr>
      </p:cxnSp>
      <p:sp>
        <p:nvSpPr>
          <p:cNvPr id="21" name="Oval 20"/>
          <p:cNvSpPr/>
          <p:nvPr/>
        </p:nvSpPr>
        <p:spPr>
          <a:xfrm>
            <a:off x="7943577" y="28163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891505" y="388620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90850" y="25694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001542" y="2436876"/>
            <a:ext cx="1061354" cy="1769363"/>
          </a:xfrm>
          <a:prstGeom prst="rect">
            <a:avLst/>
          </a:prstGeom>
          <a:noFill/>
          <a:ln w="44450">
            <a:solidFill>
              <a:srgbClr val="E09B00"/>
            </a:solidFill>
          </a:ln>
        </p:spPr>
        <p:txBody>
          <a:bodyPr rtlCol="0" anchor="ctr"/>
          <a:lstStyle/>
          <a:p>
            <a:pPr algn="ctr"/>
          </a:p>
        </p:txBody>
      </p:sp>
      <p:sp>
        <p:nvSpPr>
          <p:cNvPr id="19" name="Oval 18"/>
          <p:cNvSpPr/>
          <p:nvPr/>
        </p:nvSpPr>
        <p:spPr>
          <a:xfrm>
            <a:off x="8151343" y="2436876"/>
            <a:ext cx="1061354"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47359" y="3465576"/>
            <a:ext cx="1238248" cy="822960"/>
          </a:xfrm>
          <a:prstGeom prst="line">
            <a:avLst/>
          </a:prstGeom>
          <a:ln w="44450">
            <a:solidFill>
              <a:srgbClr val="1F5FAD"/>
            </a:solidFill>
            <a:tailEnd type="triangle" w="med" len="med"/>
          </a:ln>
        </p:spPr>
      </p:cxnSp>
      <p:sp>
        <p:nvSpPr>
          <p:cNvPr id="21" name="Oval 20"/>
          <p:cNvSpPr/>
          <p:nvPr/>
        </p:nvSpPr>
        <p:spPr>
          <a:xfrm>
            <a:off x="6580756"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22589"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428167"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229).</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6930785" y="2436876"/>
            <a:ext cx="1103809" cy="1769363"/>
          </a:xfrm>
          <a:prstGeom prst="rect">
            <a:avLst/>
          </a:prstGeom>
          <a:noFill/>
          <a:ln w="44450">
            <a:solidFill>
              <a:srgbClr val="E09B00"/>
            </a:solidFill>
          </a:ln>
        </p:spPr>
        <p:txBody>
          <a:bodyPr rtlCol="0" anchor="ctr"/>
          <a:lstStyle/>
          <a:p>
            <a:pPr algn="ctr"/>
          </a:p>
        </p:txBody>
      </p:sp>
      <p:sp>
        <p:nvSpPr>
          <p:cNvPr id="19" name="Oval 18"/>
          <p:cNvSpPr/>
          <p:nvPr/>
        </p:nvSpPr>
        <p:spPr>
          <a:xfrm>
            <a:off x="8126578" y="2436876"/>
            <a:ext cx="1103809" cy="822959"/>
          </a:xfrm>
          <a:prstGeom prst="ellipse">
            <a:avLst/>
          </a:prstGeom>
          <a:noFill/>
          <a:ln w="44450">
            <a:solidFill>
              <a:srgbClr val="C62828"/>
            </a:solidFill>
          </a:ln>
        </p:spPr>
        <p:txBody>
          <a:bodyPr rtlCol="0" anchor="ctr"/>
          <a:lstStyle/>
          <a:p>
            <a:pPr algn="ctr"/>
          </a:p>
        </p:txBody>
      </p:sp>
      <p:cxnSp>
        <p:nvCxnSpPr>
          <p:cNvPr id="20" name="Connector 19"/>
          <p:cNvCxnSpPr/>
          <p:nvPr/>
        </p:nvCxnSpPr>
        <p:spPr>
          <a:xfrm>
            <a:off x="8954435" y="3465576"/>
            <a:ext cx="1287777" cy="822960"/>
          </a:xfrm>
          <a:prstGeom prst="line">
            <a:avLst/>
          </a:prstGeom>
          <a:ln w="44450">
            <a:solidFill>
              <a:srgbClr val="1F5FAD"/>
            </a:solidFill>
            <a:tailEnd type="triangle" w="med" len="med"/>
          </a:ln>
        </p:spPr>
      </p:cxnSp>
      <p:sp>
        <p:nvSpPr>
          <p:cNvPr id="21" name="Oval 20"/>
          <p:cNvSpPr/>
          <p:nvPr/>
        </p:nvSpPr>
        <p:spPr>
          <a:xfrm>
            <a:off x="6499385" y="20756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50892" y="207568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500693" y="4462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We read two of them: Larry Williams' Oops entry and the inside day narrow range pattern.</a:t>
            </a:r>
          </a:p>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230 to 231, with Chapter 5's stop orders.</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Oops uses two orders we met in Chapter 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Chapter 5 taught both orders. A sell-stop waits below the market and is filled only if price falls to it. A stoploss closes a position that moves against us.</a:t>
            </a:r>
          </a:p>
          <a:p>
            <a:pPr algn="l">
              <a:lnSpc>
                <a:spcPct val="118000"/>
              </a:lnSpc>
              <a:spcBef>
                <a:spcPts val="0"/>
              </a:spcBef>
              <a:spcAft>
                <a:spcPts val="1300"/>
              </a:spcAft>
            </a:pPr>
            <a:r>
              <a:rPr sz="2100" b="0" i="0">
                <a:solidFill>
                  <a:srgbClr val="1A1A1A"/>
                </a:solidFill>
                <a:latin typeface="Arial"/>
              </a:rPr>
              <a:t>So the bearish Oops trade is taken only if price falls back to the previous high, against the gap, and the stoploss at the new high limits the loss if the gap keeps going.</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with Chapter 5's stop orders.</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PHP 52.00, and the sell-stop is filled: we are now short. If price had instead turned up through PHP 54.00,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and the stop and reverse level is at the new low.</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sp>
        <p:nvSpPr>
          <p:cNvPr id="15" name="Oval 14"/>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Oval 17"/>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9" name="TextBox 18"/>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23</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A buy-stop waits above the market and is filled only if price rises to it. Here are prices of ours. Bar 1's low is PHP 48.00.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 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Had price instead fallen through PHP 46.00,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8774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31459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85739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95036"/>
            <a:ext cx="164995" cy="711907"/>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75484"/>
            <a:ext cx="1588843" cy="0"/>
          </a:xfrm>
          <a:prstGeom prst="line">
            <a:avLst/>
          </a:prstGeom>
          <a:ln w="44450">
            <a:solidFill>
              <a:srgbClr val="C62828"/>
            </a:solidFill>
          </a:ln>
        </p:spPr>
      </p:cxnSp>
      <p:cxnSp>
        <p:nvCxnSpPr>
          <p:cNvPr id="15" name="Connector 14"/>
          <p:cNvCxnSpPr/>
          <p:nvPr/>
        </p:nvCxnSpPr>
        <p:spPr>
          <a:xfrm>
            <a:off x="8603424" y="3651126"/>
            <a:ext cx="1717173" cy="0"/>
          </a:xfrm>
          <a:prstGeom prst="line">
            <a:avLst/>
          </a:prstGeom>
          <a:ln w="44450">
            <a:solidFill>
              <a:srgbClr val="1F5FAD"/>
            </a:solidFill>
          </a:ln>
        </p:spPr>
      </p:cxnSp>
      <p:sp>
        <p:nvSpPr>
          <p:cNvPr id="16" name="Oval 15"/>
          <p:cNvSpPr/>
          <p:nvPr/>
        </p:nvSpPr>
        <p:spPr>
          <a:xfrm>
            <a:off x="8631260" y="332843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80304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26371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23</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75488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for an Oops: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from about 23.00 in late July to about 19.50 in August </a:t>
            </a:r>
            <a:r>
              <a:rPr sz="1700" b="1" i="0">
                <a:solidFill>
                  <a:srgbClr val="E09B00"/>
                </a:solidFill>
                <a:latin typeface="Arial"/>
              </a:rPr>
              <a:t>(1)</a:t>
            </a:r>
            <a:r>
              <a:rPr sz="1700" b="0" i="0">
                <a:solidFill>
                  <a:srgbClr val="1A1A1A"/>
                </a:solidFill>
                <a:latin typeface="Arial"/>
              </a:rPr>
              <a:t>, then drifts sideways, so the bearish Oops in October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adds that the morning and evening star, piercing line and dark cloud cover candlestick patterns can help find Oops setups; Chapter 7 does not define them.</a:t>
            </a:r>
          </a:p>
        </p:txBody>
      </p:sp>
      <p:sp>
        <p:nvSpPr>
          <p:cNvPr id="7" name="Rectangle 6"/>
          <p:cNvSpPr/>
          <p:nvPr/>
        </p:nvSpPr>
        <p:spPr>
          <a:xfrm>
            <a:off x="5815583" y="1207008"/>
            <a:ext cx="5635447" cy="25798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852159" y="1243584"/>
            <a:ext cx="5562294" cy="25067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52159" y="1243584"/>
            <a:ext cx="556229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126479" y="1517904"/>
            <a:ext cx="5013655" cy="20495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fall from about 23.00 to about 19.50, a sideways stretch, and the bearish Oops bar in October.</a:t>
            </a:r>
          </a:p>
        </p:txBody>
      </p:sp>
      <p:cxnSp>
        <p:nvCxnSpPr>
          <p:cNvPr id="11" name="Connector 10"/>
          <p:cNvCxnSpPr/>
          <p:nvPr/>
        </p:nvCxnSpPr>
        <p:spPr>
          <a:xfrm>
            <a:off x="6519635" y="1494258"/>
            <a:ext cx="500606" cy="1052831"/>
          </a:xfrm>
          <a:prstGeom prst="line">
            <a:avLst/>
          </a:prstGeom>
          <a:ln w="44450">
            <a:solidFill>
              <a:srgbClr val="E09B00"/>
            </a:solidFill>
            <a:tailEnd type="triangle" w="med" len="med"/>
          </a:ln>
        </p:spPr>
      </p:cxnSp>
      <p:sp>
        <p:nvSpPr>
          <p:cNvPr id="12" name="Rectangle 11"/>
          <p:cNvSpPr/>
          <p:nvPr/>
        </p:nvSpPr>
        <p:spPr>
          <a:xfrm>
            <a:off x="10040568" y="2672426"/>
            <a:ext cx="88996" cy="401078"/>
          </a:xfrm>
          <a:prstGeom prst="rect">
            <a:avLst/>
          </a:prstGeom>
          <a:noFill/>
          <a:ln w="44450">
            <a:solidFill>
              <a:srgbClr val="C62828"/>
            </a:solidFill>
          </a:ln>
        </p:spPr>
        <p:txBody>
          <a:bodyPr rtlCol="0" anchor="ctr"/>
          <a:lstStyle/>
          <a:p>
            <a:pPr algn="ctr"/>
          </a:p>
        </p:txBody>
      </p:sp>
      <p:sp>
        <p:nvSpPr>
          <p:cNvPr id="13" name="Oval 12"/>
          <p:cNvSpPr/>
          <p:nvPr/>
        </p:nvSpPr>
        <p:spPr>
          <a:xfrm>
            <a:off x="6938704" y="18584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220458" y="228459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75488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 So bar 6 is an inside day and the narrowest of the last six bars: an ID/NR6.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69051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44843" y="35204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07285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641405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69051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44843" y="35204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07285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641405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835640" cy="0"/>
          </a:xfrm>
          <a:prstGeom prst="line">
            <a:avLst/>
          </a:prstGeom>
          <a:ln w="44450">
            <a:solidFill>
              <a:srgbClr val="E09B00"/>
            </a:solidFill>
          </a:ln>
        </p:spPr>
      </p:cxnSp>
      <p:sp>
        <p:nvSpPr>
          <p:cNvPr id="14" name="Rectangle 13"/>
          <p:cNvSpPr/>
          <p:nvPr/>
        </p:nvSpPr>
        <p:spPr>
          <a:xfrm>
            <a:off x="8331562" y="4040733"/>
            <a:ext cx="524468"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8903709" y="4089379"/>
            <a:ext cx="667506" cy="0"/>
          </a:xfrm>
          <a:prstGeom prst="line">
            <a:avLst/>
          </a:prstGeom>
          <a:ln w="44450">
            <a:solidFill>
              <a:srgbClr val="1F5FAD"/>
            </a:solidFill>
          </a:ln>
        </p:spPr>
      </p:cxnSp>
      <p:cxnSp>
        <p:nvCxnSpPr>
          <p:cNvPr id="16" name="Connector 15"/>
          <p:cNvCxnSpPr/>
          <p:nvPr/>
        </p:nvCxnSpPr>
        <p:spPr>
          <a:xfrm>
            <a:off x="8903709" y="4746101"/>
            <a:ext cx="667506"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147981"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147981"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23</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482986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398203" y="47457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23</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482986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398203" y="47457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23</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long arrow from bar 7 </a:t>
            </a:r>
            <a:r>
              <a:rPr sz="1700" b="1" i="0">
                <a:solidFill>
                  <a:srgbClr val="1F5FAD"/>
                </a:solidFill>
                <a:latin typeface="Arial"/>
              </a:rPr>
              <a:t>(3)</a:t>
            </a:r>
            <a:r>
              <a:rPr sz="1700" b="0" i="0">
                <a:solidFill>
                  <a:srgbClr val="1A1A1A"/>
                </a:solidFill>
                <a:latin typeface="Arial"/>
              </a:rPr>
              <a:t> runs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8903709" y="4089379"/>
            <a:ext cx="667506" cy="0"/>
          </a:xfrm>
          <a:prstGeom prst="line">
            <a:avLst/>
          </a:prstGeom>
          <a:ln w="44450">
            <a:solidFill>
              <a:srgbClr val="E09B00"/>
            </a:solidFill>
          </a:ln>
        </p:spPr>
      </p:cxnSp>
      <p:cxnSp>
        <p:nvCxnSpPr>
          <p:cNvPr id="12" name="Connector 11"/>
          <p:cNvCxnSpPr/>
          <p:nvPr/>
        </p:nvCxnSpPr>
        <p:spPr>
          <a:xfrm>
            <a:off x="8903709" y="4746101"/>
            <a:ext cx="667506"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147981"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147981"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23</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23</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 So bar 5 is an inside month and the narrowest of the last five: an Inside Month/NR5. Then bar 6 breaks out upward.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11866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70898" y="404951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1405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5141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21 of 23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411866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326276"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70898" y="404951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41405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5141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22 of 23</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75488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the monthly chart of Dynegy Inc. (p. 232). February </a:t>
            </a:r>
            <a:r>
              <a:rPr sz="1700" b="1" i="0">
                <a:solidFill>
                  <a:srgbClr val="E09B00"/>
                </a:solidFill>
                <a:latin typeface="Arial"/>
              </a:rPr>
              <a:t>(1)</a:t>
            </a:r>
            <a:r>
              <a:rPr sz="1700" b="0" i="0">
                <a:solidFill>
                  <a:srgbClr val="1A1A1A"/>
                </a:solidFill>
                <a:latin typeface="Arial"/>
              </a:rPr>
              <a:t> sits inside January and is the narrowest of the last five months,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Here the dotted lines sit at February's own high and low, while Figure 7.38 drew them from the bar before the inside bar. Lim's text does not say which to use. In this example it does not matter: March </a:t>
            </a:r>
            <a:r>
              <a:rPr sz="1700" b="1" i="0">
                <a:solidFill>
                  <a:srgbClr val="1F5FAD"/>
                </a:solidFill>
                <a:latin typeface="Arial"/>
              </a:rPr>
              <a:t>(3)</a:t>
            </a:r>
            <a:r>
              <a:rPr sz="1700" b="0" i="0">
                <a:solidFill>
                  <a:srgbClr val="1A1A1A"/>
                </a:solidFill>
                <a:latin typeface="Arial"/>
              </a:rPr>
              <a:t> rises above both February's high and January's high.</a:t>
            </a:r>
          </a:p>
        </p:txBody>
      </p:sp>
      <p:sp>
        <p:nvSpPr>
          <p:cNvPr id="7" name="Rectangle 6"/>
          <p:cNvSpPr/>
          <p:nvPr/>
        </p:nvSpPr>
        <p:spPr>
          <a:xfrm>
            <a:off x="5815583" y="1207008"/>
            <a:ext cx="5635447" cy="413341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852159" y="1243584"/>
            <a:ext cx="5562294" cy="406026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52159" y="1243584"/>
            <a:ext cx="556229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126479" y="1517904"/>
            <a:ext cx="5013655" cy="360306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April: February inside January, the five months October to February, and March's upside breakout.</a:t>
            </a:r>
          </a:p>
        </p:txBody>
      </p:sp>
      <p:sp>
        <p:nvSpPr>
          <p:cNvPr id="11" name="Rectangle 10"/>
          <p:cNvSpPr/>
          <p:nvPr/>
        </p:nvSpPr>
        <p:spPr>
          <a:xfrm>
            <a:off x="9050479" y="3342742"/>
            <a:ext cx="394922" cy="637461"/>
          </a:xfrm>
          <a:prstGeom prst="rect">
            <a:avLst/>
          </a:prstGeom>
          <a:noFill/>
          <a:ln w="44450">
            <a:solidFill>
              <a:srgbClr val="E09B00"/>
            </a:solidFill>
          </a:ln>
        </p:spPr>
        <p:txBody>
          <a:bodyPr rtlCol="0" anchor="ctr"/>
          <a:lstStyle/>
          <a:p>
            <a:pPr algn="ctr"/>
          </a:p>
        </p:txBody>
      </p:sp>
      <p:sp>
        <p:nvSpPr>
          <p:cNvPr id="12" name="Rectangle 11"/>
          <p:cNvSpPr/>
          <p:nvPr/>
        </p:nvSpPr>
        <p:spPr>
          <a:xfrm>
            <a:off x="6497386" y="3066644"/>
            <a:ext cx="3031450" cy="2009832"/>
          </a:xfrm>
          <a:prstGeom prst="rect">
            <a:avLst/>
          </a:prstGeom>
          <a:noFill/>
          <a:ln w="44450">
            <a:solidFill>
              <a:srgbClr val="C62828"/>
            </a:solidFill>
          </a:ln>
        </p:spPr>
        <p:txBody>
          <a:bodyPr rtlCol="0" anchor="ctr"/>
          <a:lstStyle/>
          <a:p>
            <a:pPr algn="ctr"/>
          </a:p>
        </p:txBody>
      </p:sp>
      <p:sp>
        <p:nvSpPr>
          <p:cNvPr id="13" name="Rectangle 12"/>
          <p:cNvSpPr/>
          <p:nvPr/>
        </p:nvSpPr>
        <p:spPr>
          <a:xfrm>
            <a:off x="9578897" y="1609008"/>
            <a:ext cx="495044" cy="2326533"/>
          </a:xfrm>
          <a:prstGeom prst="rect">
            <a:avLst/>
          </a:prstGeom>
          <a:noFill/>
          <a:ln w="44450">
            <a:solidFill>
              <a:srgbClr val="1F5FAD"/>
            </a:solidFill>
          </a:ln>
        </p:spPr>
        <p:txBody>
          <a:bodyPr rtlCol="0" anchor="ctr"/>
          <a:lstStyle/>
          <a:p>
            <a:pPr algn="ctr"/>
          </a:p>
        </p:txBody>
      </p:sp>
      <p:sp>
        <p:nvSpPr>
          <p:cNvPr id="14" name="Oval 13"/>
          <p:cNvSpPr/>
          <p:nvPr/>
        </p:nvSpPr>
        <p:spPr>
          <a:xfrm>
            <a:off x="9113562" y="403387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6171108" y="306753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10203772" y="222705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475488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23 of 23</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30</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up, the Williams' Oops sell-stop is placed at: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Why is ID/NR7 a volatility breakout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combines an inside day with the narrowest range in seven bars</a:t>
            </a:r>
          </a:p>
          <a:p>
            <a:pPr algn="l">
              <a:lnSpc>
                <a:spcPct val="112000"/>
              </a:lnSpc>
              <a:spcBef>
                <a:spcPts val="0"/>
              </a:spcBef>
              <a:spcAft>
                <a:spcPts val="900"/>
              </a:spcAft>
            </a:pPr>
            <a:r>
              <a:rPr sz="1700" b="0" i="0">
                <a:solidFill>
                  <a:srgbClr val="FFFFFF"/>
                </a:solidFill>
                <a:latin typeface="Arial"/>
              </a:rPr>
              <a:t>C.  It counts seven volume readings only</a:t>
            </a:r>
          </a:p>
          <a:p>
            <a:pPr algn="l">
              <a:lnSpc>
                <a:spcPct val="112000"/>
              </a:lnSpc>
              <a:spcBef>
                <a:spcPts val="0"/>
              </a:spcBef>
              <a:spcAft>
                <a:spcPts val="900"/>
              </a:spcAft>
            </a:pPr>
            <a:r>
              <a:rPr sz="1700" b="0" i="0">
                <a:solidFill>
                  <a:srgbClr val="FFFFFF"/>
                </a:solidFill>
                <a:latin typeface="Arial"/>
              </a:rPr>
              <a:t>D.  It requires seven bullish closes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previous bar's high</a:t>
            </a:r>
          </a:p>
          <a:p>
            <a:pPr algn="l">
              <a:lnSpc>
                <a:spcPct val="115000"/>
              </a:lnSpc>
              <a:spcBef>
                <a:spcPts val="700"/>
              </a:spcBef>
              <a:spcAft>
                <a:spcPts val="0"/>
              </a:spcAft>
            </a:pPr>
            <a:r>
              <a:rPr sz="1700" b="0" i="0">
                <a:solidFill>
                  <a:srgbClr val="1A1A1A"/>
                </a:solidFill>
                <a:latin typeface="Arial"/>
              </a:rPr>
              <a:t>If the new bar opens above the previous bar's high, Lim places the sell-stop at the previous bar's high; the new bar's high is the stoploss (p. 231).</a:t>
            </a:r>
          </a:p>
        </p:txBody>
      </p:sp>
      <p:sp>
        <p:nvSpPr>
          <p:cNvPr id="10" name="Rectangle 9"/>
          <p:cNvSpPr/>
          <p:nvPr/>
        </p:nvSpPr>
        <p:spPr>
          <a:xfrm>
            <a:off x="777240" y="3359531"/>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combines an inside day with the narrowest range in seven bars</a:t>
            </a:r>
          </a:p>
          <a:p>
            <a:pPr algn="l">
              <a:lnSpc>
                <a:spcPct val="115000"/>
              </a:lnSpc>
              <a:spcBef>
                <a:spcPts val="700"/>
              </a:spcBef>
              <a:spcAft>
                <a:spcPts val="0"/>
              </a:spcAft>
            </a:pPr>
            <a:r>
              <a:rPr sz="1700" b="0" i="0">
                <a:solidFill>
                  <a:srgbClr val="1A1A1A"/>
                </a:solidFill>
                <a:latin typeface="Arial"/>
              </a:rPr>
              <a:t>Lim names it a volatility breakout and defines ID/NR n as an inside day breakout from the narrowest bar over the last n days; for ID/NR7, n is seven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for the difference between exhaustion bars and pin bars (p. 233). Start with the exhaustion bar, which Lim regards as a reversal bar (p. 226).</a:t>
            </a:r>
          </a:p>
          <a:p>
            <a:pPr algn="l">
              <a:lnSpc>
                <a:spcPct val="105000"/>
              </a:lnSpc>
              <a:spcBef>
                <a:spcPts val="0"/>
              </a:spcBef>
              <a:spcAft>
                <a:spcPts val="1100"/>
              </a:spcAft>
            </a:pPr>
            <a:r>
              <a:rPr sz="1700" b="0" i="0">
                <a:solidFill>
                  <a:srgbClr val="1A1A1A"/>
                </a:solidFill>
                <a:latin typeface="Arial"/>
              </a:rPr>
              <a:t>In an uptrend it opens above the previous bar's high and should close at or near its low, and there is no gap between it and the next bar. 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47365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exhaustion bar marks the tired end of a run.</a:t>
            </a:r>
          </a:p>
        </p:txBody>
      </p:sp>
      <p:sp>
        <p:nvSpPr>
          <p:cNvPr id="9" name="Rectangle 8"/>
          <p:cNvSpPr/>
          <p:nvPr/>
        </p:nvSpPr>
        <p:spPr>
          <a:xfrm>
            <a:off x="6110745" y="1207008"/>
            <a:ext cx="5319444"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147321" y="1243584"/>
            <a:ext cx="5246292"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47321" y="1243584"/>
            <a:ext cx="5246292"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21641" y="1517904"/>
            <a:ext cx="4697652"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245838" y="3286719"/>
            <a:ext cx="629555" cy="972921"/>
          </a:xfrm>
          <a:prstGeom prst="ellipse">
            <a:avLst/>
          </a:prstGeom>
          <a:noFill/>
          <a:ln w="44450">
            <a:solidFill>
              <a:srgbClr val="E09B00"/>
            </a:solidFill>
          </a:ln>
        </p:spPr>
        <p:txBody>
          <a:bodyPr rtlCol="0" anchor="ctr"/>
          <a:lstStyle/>
          <a:p>
            <a:pPr algn="ctr"/>
          </a:p>
        </p:txBody>
      </p:sp>
      <p:sp>
        <p:nvSpPr>
          <p:cNvPr id="14" name="Oval 13"/>
          <p:cNvSpPr/>
          <p:nvPr/>
        </p:nvSpPr>
        <p:spPr>
          <a:xfrm>
            <a:off x="7741437" y="38549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726039" y="3515355"/>
            <a:ext cx="224091" cy="841577"/>
          </a:xfrm>
          <a:prstGeom prst="rect">
            <a:avLst/>
          </a:prstGeom>
          <a:noFill/>
          <a:ln w="44450">
            <a:solidFill>
              <a:srgbClr val="E09B00"/>
            </a:solidFill>
          </a:ln>
        </p:spPr>
        <p:txBody>
          <a:bodyPr rtlCol="0" anchor="ctr"/>
          <a:lstStyle/>
          <a:p>
            <a:pPr algn="ctr"/>
          </a:p>
        </p:txBody>
      </p:sp>
      <p:sp>
        <p:nvSpPr>
          <p:cNvPr id="12" name="Oval 11"/>
          <p:cNvSpPr/>
          <p:nvPr/>
        </p:nvSpPr>
        <p:spPr>
          <a:xfrm>
            <a:off x="8051365" y="45116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84833"/>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4011681"/>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55448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323817"/>
            <a:ext cx="185079" cy="76221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93629"/>
            <a:ext cx="169215" cy="561635"/>
          </a:xfrm>
          <a:prstGeom prst="rect">
            <a:avLst/>
          </a:prstGeom>
          <a:noFill/>
          <a:ln w="44450">
            <a:solidFill>
              <a:srgbClr val="C62828"/>
            </a:solidFill>
          </a:ln>
        </p:spPr>
        <p:txBody>
          <a:bodyPr rtlCol="0" anchor="ctr"/>
          <a:lstStyle/>
          <a:p>
            <a:pPr algn="ctr"/>
          </a:p>
        </p:txBody>
      </p:sp>
      <p:sp>
        <p:nvSpPr>
          <p:cNvPr id="13" name="Oval 12"/>
          <p:cNvSpPr/>
          <p:nvPr/>
        </p:nvSpPr>
        <p:spPr>
          <a:xfrm>
            <a:off x="8791946" y="130700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355885"/>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471283"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396078" cy="1092432"/>
          </a:xfrm>
          <a:prstGeom prst="rect">
            <a:avLst/>
          </a:prstGeom>
          <a:noFill/>
          <a:ln w="44450">
            <a:solidFill>
              <a:srgbClr val="C62828"/>
            </a:solidFill>
          </a:ln>
        </p:spPr>
        <p:txBody>
          <a:bodyPr rtlCol="0" anchor="ctr"/>
          <a:lstStyle/>
          <a:p>
            <a:pPr algn="ctr"/>
          </a:p>
        </p:txBody>
      </p:sp>
      <p:sp>
        <p:nvSpPr>
          <p:cNvPr id="13" name="Oval 12"/>
          <p:cNvSpPr/>
          <p:nvPr/>
        </p:nvSpPr>
        <p:spPr>
          <a:xfrm>
            <a:off x="7767736"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4512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352736"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