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Open with what the chapter is about: reading price bars, the most basic skill in technical analysis, as Lim puts it on p. 209.</a:t>
            </a:r>
          </a:p>
          <a:p>
            <a:r>
              <a:rPr sz="1400"/>
              <a:t>- Say the route in one breath: one bar, then formations, then named reversal patterns, then breakouts.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Start with what bar chart analysis is and why it matters: Lim calls it the most fundamental skill a technician should have (p. 209).</a:t>
            </a:r>
          </a:p>
          <a:p>
            <a:r>
              <a:rPr sz="1400"/>
              <a:t>- Keep the word potential. The chapter teaches warnings to weigh, not certainty.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book's last two objectives, in plain words.</a:t>
            </a:r>
          </a:p>
          <a:p>
            <a:r>
              <a:rPr sz="1400"/>
              <a:t>- Chapter 5 taught the 16 characteristics; this chapter uses them again to read bars, rather than teaching them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four parts as one route: from one bar, to formations, to named patterns, to breakouts.</a:t>
            </a:r>
          </a:p>
          <a:p>
            <a:r>
              <a:rPr sz="1400"/>
              <a:t>- Part 1 starts where the book starts, with what one price bar records.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Start with why: every pattern in this chapter is read from price bars, so first we need to know what one bar keeps.</a:t>
            </a:r>
          </a:p>
          <a:p>
            <a:r>
              <a:rPr sz="1400"/>
              <a:t>- Point to the four marks on Lim's bar: gold 1 the open, red 2 the high, blue 3 the low, purple 4 the close.</a:t>
            </a:r>
          </a:p>
          <a:p>
            <a:r>
              <a:rPr sz="1400"/>
              <a:t>- The book's drawing has no price scale. Say only what it shows by position; the prices come on the next slide, on our own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numbers from the chart itself: gold 1 the open at 50.00, red 2 the high at 52.40, blue 3 the low at 49.60, purple 4 the close at 51.10.</a:t>
            </a:r>
          </a:p>
          <a:p>
            <a:r>
              <a:rPr sz="1400"/>
              <a:t>- Then work the range out loud: high minus low, 52.40 minus 49.60, is PHP 2.80.</a:t>
            </a:r>
          </a:p>
          <a:p>
            <a:r>
              <a:rPr sz="1400"/>
              <a:t>- The prices are ours and the bar is possible: the low is the lowest price and the high the highest.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five trades left to right: 50.00, 50.80, 49.60, 52.40, 51.10.</a:t>
            </a:r>
          </a:p>
          <a:p>
            <a:r>
              <a:rPr sz="1400"/>
              <a:t>- Gold 1 is the first trade and becomes the open; red 2 is the highest and blue 3 the lowest; purple 4 is the last and becomes the close.</a:t>
            </a:r>
          </a:p>
          <a:p>
            <a:r>
              <a:rPr sz="1400"/>
              <a:t>- Ask the class what happened to the trade at 50.80. It is real trading, but the bar does not keep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five trades left to right: 50.00, 50.80, 49.60, 52.40, 51.10.</a:t>
            </a:r>
          </a:p>
          <a:p>
            <a:r>
              <a:rPr sz="1400"/>
              <a:t>- Gold 1 is the first trade and becomes the open; red 2 is the highest and blue 3 the lowest; purple 4 is the last and becomes the close.</a:t>
            </a:r>
          </a:p>
          <a:p>
            <a:r>
              <a:rPr sz="1400"/>
              <a:t>- Ask the class what happened to the trade at 50.80. It is real trading, but the bar does not keep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from the five trades and the range sentence before advancing.</a:t>
            </a:r>
          </a:p>
          <a:p>
            <a:r>
              <a:rPr sz="1400"/>
              <a:t>- The second question is the range of the same 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from the five trades and the range sentence before advancing.</a:t>
            </a:r>
          </a:p>
          <a:p>
            <a:r>
              <a:rPr sz="1400"/>
              <a:t>- The second question is the range of the same 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Move from one interval to a longer stretch: a 15-minute bar built from three five-minute intervals.</a:t>
            </a:r>
          </a:p>
          <a:p>
            <a:r>
              <a:rPr sz="1400"/>
              <a:t>- Point to the marks on the five-minute trace: gold 1 where the first interval opens, red 2 the highest high, blue 3 the lowest low, purple 4 where the last interval closes. Then follow each dashed line across to the 15-minute bar.</a:t>
            </a:r>
          </a:p>
          <a:p>
            <a:r>
              <a:rPr sz="1400"/>
              <a:t>- Again the drawing has no prices; our own numbers come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each mark from the bar it comes from: gold 1 is bar 1 open, red 2 and blue 3 are both on bar 2, purple 4 is bar 3 close.</a:t>
            </a:r>
          </a:p>
          <a:p>
            <a:r>
              <a:rPr sz="1400"/>
              <a:t>- Then show that bar 4 carries exactly those four numbers: 50.00, 50.90, 49.40 and 50.30.</a:t>
            </a:r>
          </a:p>
          <a:p>
            <a:r>
              <a:rPr sz="1400"/>
              <a:t>- Every bar is possible: each low is its lowest price and each high its highest.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rule on the Figure 7.2 slide: first open, highest high, lowest low, last close.</a:t>
            </a:r>
          </a:p>
          <a:p>
            <a:r>
              <a:rPr sz="1400"/>
              <a:t>- Ask which prices drop out before revealing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rule on the Figure 7.2 slide: first open, highest high, lowest low, last close.</a:t>
            </a:r>
          </a:p>
          <a:p>
            <a:r>
              <a:rPr sz="1400"/>
              <a:t>- Ask which prices drop out before revealing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Many patterns use several bars in a row, so the book now follows price through several intervals.</a:t>
            </a:r>
          </a:p>
          <a:p>
            <a:r>
              <a:rPr sz="1400"/>
              <a:t>- Trace interval 1 with your finger: gold 1 where it opens, red 2 its high, blue 3 its low, purple 4 where it ends.</a:t>
            </a:r>
          </a:p>
          <a:p>
            <a:r>
              <a:rPr sz="1400"/>
              <a:t>- The full figure has eight intervals; this crop shows the first two so the letters can be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figure, lower half: under each interval Lim draws the bar it becomes.</a:t>
            </a:r>
          </a:p>
          <a:p>
            <a:r>
              <a:rPr sz="1400"/>
              <a:t>- Bar 1 keeps the four prices of interval 1: gold 1 open, red 2 high, blue 3 low, purple 4 close.</a:t>
            </a:r>
          </a:p>
          <a:p>
            <a:r>
              <a:rPr sz="1400"/>
              <a:t>- Its open and close ticks are level because interval 1 ended about where it began.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first of Lim's three ways to classify a formation, on p. 210.</a:t>
            </a:r>
          </a:p>
          <a:p>
            <a:r>
              <a:rPr sz="1400"/>
              <a:t>- Say plainly that the book never says where multiple begins, so we do not set a number for it.</a:t>
            </a:r>
          </a:p>
          <a:p>
            <a:r>
              <a:rPr sz="1400"/>
              <a:t>- A count describes shape only; it predicts nothing by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each group aloud: gold 1 has one bar, red 2 two, blue 3 three and purple 4 five.</a:t>
            </a:r>
          </a:p>
          <a:p>
            <a:r>
              <a:rPr sz="1400"/>
              <a:t>- The shapes are only for counting. Whether a group leans bullish or bearish is the next question, not this one.</a:t>
            </a:r>
          </a:p>
          <a:p>
            <a:r>
              <a:rPr sz="1400"/>
              <a:t>- Lim gives no number at which multiple begins; five is simply our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class to name the count before discussing direction.</a:t>
            </a:r>
          </a:p>
          <a:p>
            <a:r>
              <a:rPr sz="1400"/>
              <a:t>- The second question separates shape from sentiment.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class to name the count before discussing direction.</a:t>
            </a:r>
          </a:p>
          <a:p>
            <a:r>
              <a:rPr sz="1400"/>
              <a:t>- The second question separates shape from sentiment.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standard head and shoulders: a left shoulder, a higher head and a right shoulder. Lim calls it intrinsically bearish.</a:t>
            </a:r>
          </a:p>
          <a:p>
            <a:r>
              <a:rPr sz="1400"/>
              <a:t>- Red 2 boxes the inverted head and shoulders, the same shape turned over. Lim calls it intrinsically bullish.</a:t>
            </a:r>
          </a:p>
          <a:p>
            <a:r>
              <a:rPr sz="1400"/>
              <a:t>- The sketches carry no prices; they only show the two shapes.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standard head and shoulders: a left shoulder, a higher head and a right shoulder. Lim calls it intrinsically bearish.</a:t>
            </a:r>
          </a:p>
          <a:p>
            <a:r>
              <a:rPr sz="1400"/>
              <a:t>- Red 2 boxes the inverted head and shoulders, the same shape turned over. Lim calls it intrinsically bullish.</a:t>
            </a:r>
          </a:p>
          <a:p>
            <a:r>
              <a:rPr sz="1400"/>
              <a:t>- The sketches carry no prices; they only show the two shapes.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the previous bar's low at 47.90, carried across on the dashed line.</a:t>
            </a:r>
          </a:p>
          <a:p>
            <a:r>
              <a:rPr sz="1400"/>
              <a:t>- Red 2 is the next bar's close at 47.50, below that line, so the formation leans bearish.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the previous bar's low at 47.90, carried across on the dashed line.</a:t>
            </a:r>
          </a:p>
          <a:p>
            <a:r>
              <a:rPr sz="1400"/>
              <a:t>- Red 2 is the next bar's close at 47.50, below that line, so the formation leans bearish.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formation's own lean separate from the trend around it.</a:t>
            </a:r>
          </a:p>
          <a:p>
            <a:r>
              <a:rPr sz="1400"/>
              <a:t>- The second question applies the p. 212 rule to new prices.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formation's own lean separate from the trend around it.</a:t>
            </a:r>
          </a:p>
          <a:p>
            <a:r>
              <a:rPr sz="1400"/>
              <a:t>- The second question applies the p. 212 rule to new prices.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third classification is the directional expectation: continuation or reversal. It is not trend sentiment.</a:t>
            </a:r>
          </a:p>
          <a:p>
            <a:r>
              <a:rPr sz="1400"/>
              <a:t>- Trend sentiment and intrinsic sentiment are the two inputs; the expectation is the result.</a:t>
            </a:r>
          </a:p>
          <a:p>
            <a:r>
              <a:rPr sz="1400"/>
              <a:t>- Keep the word potential on a reversal: the book calls these patterns,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a bullish formation after the uptrend: it agrees, a continuation.</a:t>
            </a:r>
          </a:p>
          <a:p>
            <a:r>
              <a:rPr sz="1400"/>
              <a:t>- Red 2 boxes a bearish formation after the same uptrend: it disagrees, a potential reversal.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read the formation: the second bar closes at 48.60, above the first bar's high of 48.30.</a:t>
            </a:r>
          </a:p>
          <a:p>
            <a:r>
              <a:rPr sz="1400"/>
              <a:t>- Blue 3 boxes the rise before the left copy, closes 45.60 to 48.10; purple 4 boxes the fall before the right copy, 50.60 to 48.10.</a:t>
            </a:r>
          </a:p>
          <a:p>
            <a:r>
              <a:rPr sz="1400"/>
              <a:t>- The two bars are identical in both panels; only the trend before them differs.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read the formation: the second bar closes at 48.60, above the first bar's high of 48.30.</a:t>
            </a:r>
          </a:p>
          <a:p>
            <a:r>
              <a:rPr sz="1400"/>
              <a:t>- Blue 3 boxes the rise before the left copy, closes 45.60 to 48.10; purple 4 boxes the fall before the right copy, 50.60 to 48.10.</a:t>
            </a:r>
          </a:p>
          <a:p>
            <a:r>
              <a:rPr sz="1400"/>
              <a:t>- The two bars are identical in both panels; only the trend before them differs.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Four small panels, one for each combination of trend and formation.</a:t>
            </a:r>
          </a:p>
          <a:p>
            <a:r>
              <a:rPr sz="1400"/>
              <a:t>- Gold 1 and red 2 are the uptrend cases; blue 3 and purple 4 are the downtrend cases.</a:t>
            </a:r>
          </a:p>
          <a:p>
            <a:r>
              <a:rPr sz="1400"/>
              <a:t>- Agreement is a continuation; disagreement is a potential reversal.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Four small panels, one for each combination of trend and formation.</a:t>
            </a:r>
          </a:p>
          <a:p>
            <a:r>
              <a:rPr sz="1400"/>
              <a:t>- Gold 1 and red 2 are the uptrend cases; blue 3 and purple 4 are the downtrend cases.</a:t>
            </a:r>
          </a:p>
          <a:p>
            <a:r>
              <a:rPr sz="1400"/>
              <a:t>- Agreement is a continuation; disagreement is a potential reversal.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Trend sentiment describes the surrounding trend, not the formation.</a:t>
            </a:r>
          </a:p>
          <a:p>
            <a:r>
              <a:rPr sz="1400"/>
              <a:t>- The second question applies the rule to new prices: a bullish formation after a fall.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Trend sentiment describes the surrounding trend, not the formation.</a:t>
            </a:r>
          </a:p>
          <a:p>
            <a:r>
              <a:rPr sz="1400"/>
              <a:t>- The second question applies the rule to new prices: a bullish formation after a fall.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Take the three questions in order: the closes rise from gold 1 at 45.60 to red 2 at 48.10, so trend sentiment is bullish; blue 3 boxes the double formation.</a:t>
            </a:r>
          </a:p>
          <a:p>
            <a:r>
              <a:rPr sz="1400"/>
              <a:t>- Purple 4: bar 4 closes at 47.50, below the dashed line at bar 3's low of 47.90, so the formation leans bearish.</a:t>
            </a:r>
          </a:p>
          <a:p>
            <a:r>
              <a:rPr sz="1400"/>
              <a:t>- Bullish against bearish disagree, so the reading is a potential reversal. Every bar is possible: each low is its lowest price.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Take the three questions in order: the closes rise from gold 1 at 45.60 to red 2 at 48.10, so trend sentiment is bullish; blue 3 boxes the double formation.</a:t>
            </a:r>
          </a:p>
          <a:p>
            <a:r>
              <a:rPr sz="1400"/>
              <a:t>- Purple 4: bar 4 closes at 47.50, below the dashed line at bar 3's low of 47.90, so the formation leans bearish.</a:t>
            </a:r>
          </a:p>
          <a:p>
            <a:r>
              <a:rPr sz="1400"/>
              <a:t>- Bullish against bearish disagree, so the reading is a potential reversal. Every bar is possible: each low is its lowest price.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closes Part 1: all three ways of sorting a formation.</a:t>
            </a:r>
          </a:p>
          <a:p>
            <a:r>
              <a:rPr sz="1400"/>
              <a:t>- Both answers come from the classification slides, not from any one chart.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closes Part 1: all three ways of sorting a formation.</a:t>
            </a:r>
          </a:p>
          <a:p>
            <a:r>
              <a:rPr sz="1400"/>
              <a:t>- Both answers come from the classification slides, not from any one chart.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Recall Part 1 in one breath: two sentiments, then the agreement rule.</a:t>
            </a:r>
          </a:p>
          <a:p>
            <a:r>
              <a:rPr sz="1400"/>
              <a:t>- Stress that the trend is read first; the same pattern changes meaning with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ten day climb from 40 to 50, so trend sentiment is bullish.</a:t>
            </a:r>
          </a:p>
          <a:p>
            <a:r>
              <a:rPr sz="1400"/>
              <a:t>- Red 2 boxes the inverted head and shoulders at 50: bullish, agreeing with the trend, so a continuation pattern.</a:t>
            </a:r>
          </a:p>
          <a:p>
            <a:r>
              <a:rPr sz="1400"/>
              <a:t>- Blue 3 boxes the head and shoulders in the same place: bearish, disagreeing, so a reversal pattern.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ten day climb from 40 to 50, so trend sentiment is bullish.</a:t>
            </a:r>
          </a:p>
          <a:p>
            <a:r>
              <a:rPr sz="1400"/>
              <a:t>- Red 2 boxes the inverted head and shoulders at 50: bullish, agreeing with the trend, so a continuation pattern.</a:t>
            </a:r>
          </a:p>
          <a:p>
            <a:r>
              <a:rPr sz="1400"/>
              <a:t>- Blue 3 boxes the head and shoulders in the same place: bearish, disagreeing, so a reversal pattern.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two slides before. Do not reveal them on the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two slides before. Do not reveal them on the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ahead: every drawing from Figure 7.4 to 7.11 carries this arrow.</a:t>
            </a:r>
          </a:p>
          <a:p>
            <a:r>
              <a:rPr sz="1400"/>
              <a:t>- Students should say the trend before they name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yesterday's close at 51.80; red 2 is today's close at 51.20, below it.</a:t>
            </a:r>
          </a:p>
          <a:p>
            <a:r>
              <a:rPr sz="1400"/>
              <a:t>- Blue 3 is a close at 48.80, below yesterday's low at 49.00 marked purple 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yesterday's close at 51.80; red 2 is today's close at 51.20, below it.</a:t>
            </a:r>
          </a:p>
          <a:p>
            <a:r>
              <a:rPr sz="1400"/>
              <a:t>- Blue 3 is a close at 48.80, below yesterday's low at 49.00 marked purple 4.</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Show the whole sheet once so students see the family; every later slide crops one drawing.</a:t>
            </a:r>
          </a:p>
          <a:p>
            <a:r>
              <a:rPr sz="1400"/>
              <a:t>- Point at the arrow and the label under form 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label, then walk the three marks in order.</a:t>
            </a:r>
          </a:p>
          <a:p>
            <a:r>
              <a:rPr sz="1400"/>
              <a:t>- Part 3 comes back to the key reversal bar with the book's real charts.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with form 1: here the close goes below the previous low, not just the previous close.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3 would call a gap measured from the previous low to the open a Type 2 gap.</a:t>
            </a:r>
          </a:p>
          <a:p>
            <a:r>
              <a:rPr sz="1400"/>
              <a:t>- The gap is open price space: nothing traded between 50.60 and 51.00.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bearish clue is the sudden hesitation after a strong up bar.</a:t>
            </a:r>
          </a:p>
          <a:p>
            <a:r>
              <a:rPr sz="1400"/>
              <a:t>- Part 3 returns to inside bars and compares them with the Harami.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Overextended: much longer than the bars before it. Closing near the low is a second, separate condition.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Form 4 sits inside the previous bar; form 6 reaches beyond both ends of it.</a:t>
            </a:r>
          </a:p>
          <a:p>
            <a:r>
              <a:rPr sz="1400"/>
              <a:t>- Part 3 reads outside bars on real charts.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which close matters more: the second, because it is the most recent word on the trend.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volume habits behind the seven drawings.</a:t>
            </a:r>
          </a:p>
          <a:p>
            <a:r>
              <a:rPr sz="1400"/>
              <a:t>- Keep Lim's caveat: some practitioners read them as continuations in a downtrend.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All three conditions together; any one alone is weaker.</a:t>
            </a:r>
          </a:p>
          <a:p>
            <a:r>
              <a:rPr sz="1400"/>
              <a:t>- Potentially more reliable, never certain.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were stated in the body text of the last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were stated in the body text of the last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yesterday's close at 38.20; red 2 is today's close at 38.80, above it.</a:t>
            </a:r>
          </a:p>
          <a:p>
            <a:r>
              <a:rPr sz="1400"/>
              <a:t>- Blue 3 is a close at 41.20, above yesterday's high at 41.00 marked purple 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yesterday's close at 38.20; red 2 is today's close at 38.80, above it.</a:t>
            </a:r>
          </a:p>
          <a:p>
            <a:r>
              <a:rPr sz="1400"/>
              <a:t>- Blue 3 is a close at 41.20, above yesterday's high at 41.00 marked purple 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Show the whole sheet once; every later slide crops one drawing.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1: sellers open it weakly, buyers win the day.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3: nothing traded between 39.00 and 39.40.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shape as bearish form 4; the trend before it is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5.</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form 7.</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Note Lim's words: in most cases, and potentially.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were stated in the body text of the bullish slides.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were stated in the body text of the bullish slides.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From two bars to three: the new thing is the middle bar.</a:t>
            </a:r>
          </a:p>
          <a:p>
            <a:r>
              <a:rPr sz="1400"/>
              <a:t>- Say uptrend and middle bar out loud before the first form.</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PHP 0.40 gap between the first bar's high of 50.00 and the middle bar's low of 50.40.</a:t>
            </a:r>
          </a:p>
          <a:p>
            <a:r>
              <a:rPr sz="1400"/>
              <a:t>- Red 2 is the last bar's close at 49.60, back below the gap.</a:t>
            </a:r>
          </a:p>
          <a:p>
            <a:r>
              <a:rPr sz="1400"/>
              <a:t>- Blue 3 boxes the PHP 1.00 gap when the middle bar's low is 51.00; purple 4 is the last bar's close at 49.60 again. The larger gap reads as more bearish.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boxes the PHP 0.40 gap between the first bar's high of 50.00 and the middle bar's low of 50.40.</a:t>
            </a:r>
          </a:p>
          <a:p>
            <a:r>
              <a:rPr sz="1400"/>
              <a:t>- Red 2 is the last bar's close at 49.60, back below the gap.</a:t>
            </a:r>
          </a:p>
          <a:p>
            <a:r>
              <a:rPr sz="1400"/>
              <a:t>- Blue 3 boxes the PHP 1.00 gap when the middle bar's low is 51.00; purple 4 is the last bar's close at 49.60 again. The larger gap reads as more bearish.</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Pattern 1 is the one exception to the quiet middle.</a:t>
            </a:r>
          </a:p>
          <a:p>
            <a:r>
              <a:rPr sz="1400"/>
              <a:t>- Lim gives the reason: the buyers could not hold the close near the bar's midpoint.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Wide outer bars, a quiet middle, a heavy last bar: every rule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pattern where heavy middle volume is more bearish, not less.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usual quiet middle bar.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gap that held the buyers up is given back by bar 3.</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gaps leave bar 2 alone on an island. Part 3 reads island reversals on real charts.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Engulfs means the third bar trades beyond both the high and the low of the second.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preferred case closes below both levels, as here.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two rule slides that opened the triple patterns.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two rule slides that opened the triple patterns.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six shapes, turned over, at the bottom of a downtrend.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1.</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5.</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triple form 6.</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bullish triple slides.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bullish triple slides.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Multiple means several bars between the first and the last.</a:t>
            </a:r>
          </a:p>
          <a:p>
            <a:r>
              <a:rPr sz="1400"/>
              <a:t>- Our charts draw two middle bars so every price stays readable.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Lim's summary sentence slowly: extremely high OR low volume, on the wide bars.</a:t>
            </a:r>
          </a:p>
          <a:p>
            <a:r>
              <a:rPr sz="1400"/>
              <a:t>- This is the one place where both high and low volume point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drawing left to right: first, middle, last.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buyers hold the price up for a while, then lose it in one bar.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drawing for the volume exception.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what would 0.4 million on the wide bars mean? Also bearish (p. 215).</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with form 1: here the narrow bars sit inside the first bar, not up at its high.</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Inside the first bar: the same containment idea as an inside bar, stretched over several bars.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gaps isolate the middle group, the same island idea as triple form 4.</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gaps, as in triple form 4; only the middle is longer.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bullish side keeps both volume readings, now pointing up.</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multiple form 1.</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sellers hold the price down for a while, then lose it in one bar.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multiple form 2.</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volume as the bearish form 2, now read the other way because the closes sit at the highs.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multiple form 3.</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multiple form 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it plainly: the book's last bar is off the page. Our chart supplies it.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Mirror of bearish multiple form 4.</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multiple pattern rule slides.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multiple pattern rule slides.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Continuation is agreement: a bullish pattern inside an uptrend.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Breach means trade above. Here the close is above the old high as well.</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retrace looks weak; the rebound through the old high on volume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two continuation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two continuation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Chapter 5 terms. Recall each by its slide name; do not re-teach the formulas.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mark the first sketch's before and after; blue 3 and purple 4 mark the second's.</a:t>
            </a:r>
          </a:p>
          <a:p>
            <a:r>
              <a:rPr sz="1400"/>
              <a:t>- Each sketch is drawn from the numbers in the sentence beside it; they are invented for teaching.</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three marks in time order: the run-up, then the top.</a:t>
            </a:r>
          </a:p>
          <a:p>
            <a:r>
              <a:rPr sz="1400"/>
              <a:t>- Red sits on the run-up, before the top, where Lim says the oscillations are missing.</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the late jump, red 2 the shallow dips and blue 3 the final bar over the band, on our invented climb.</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the late jump, red 2 the shallow dips and blue 3 the final bar over the band, on our invented climb.</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Numbers make the three warnings concrete; none of them is a sell signal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one Lim singles out.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bar shape as form 1 of Figure 7.4; the barrier is what adds weight.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room which of the last two bars they would trust more, and why.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Part 3 begins with key reversal bars on real charts, where this barrier idea returns.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Figure 7.13 slides. The figure is on the question and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Figure 7.13 slides. The figure is on the question and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barrier proximity slides.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barrier proximity slides.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Close Part 2 and open Part 3 by name.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this unmarked chart while introducing the key reversal. The next worked reading identifies the same features with teaching marks.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invented PHP bars with every OHLC value and volume value labelled. Marks 1 to 4 show the opening price above the previous high, the new high, the close below the previous close, and the volume increase.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invented PHP bars with every OHLC value and volume value labelled. Marks 1 to 4 show the opening price above the previous high, the new high, the close below the previous close, and the volume increase.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exact converse: a new low, then a close above the previous close, in a downtrend.</a:t>
            </a:r>
          </a:p>
          <a:p>
            <a:r>
              <a:rPr sz="1400"/>
              <a:t>- The book says the bullish key reversal occurs on high volume and price rebounds rapidly in this example.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book's definition first, then explain marks 1 to 4 in the same order: previous high, new high and opening area, close, and above-average volume.</a:t>
            </a:r>
          </a:p>
          <a:p>
            <a:r>
              <a:rPr sz="1400"/>
              <a:t>- The figure shows consolidation before the later decline. Keep the word potentially: this is a warning,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the room answer from the earlier marked slide. Do not reveal the answers on this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the room answer from the earlier marked slide. Do not reveal the answers on this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this second two-item check so the foundation build keeps a balanced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this second two-item check so the foundation build keeps a balanced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to mark 1 for the hover and mark 2 for the later decline. The book's point is delayed follow-through.</a:t>
            </a:r>
          </a:p>
          <a:p>
            <a:r>
              <a:rPr sz="1400"/>
              <a:t>- Separate the pattern definition from the later price path. The latter is a caveat, not part of the definition.</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converse from the new low to the close above the previous close before reading the figure.</a:t>
            </a:r>
          </a:p>
          <a:p>
            <a:r>
              <a:rPr sz="1400"/>
              <a:t>- The rapid rebound is the book's observation in Figure 7.14, not a promise for every bullish key reversal.</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is the key reversal bar's low, below the lower band. Mark 2 is its close near the high.</a:t>
            </a:r>
          </a:p>
          <a:p>
            <a:r>
              <a:rPr sz="1400"/>
              <a:t>- Lim calls these conditions greater potential, not certainty.</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3 is the oversold StochRSI label. Mark 4 is the extreme volume under the key reversal bar.</a:t>
            </a:r>
          </a:p>
          <a:p>
            <a:r>
              <a:rPr sz="1400"/>
              <a:t>- Lim calls the close near the high on extreme volume indicative of a selling climax.</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invented PHP bars with OHLC values, closing positions and million-share volume labelled. Mark 1 is the first close near the high and mark 2 the second near the low.</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marks 1 and 2 as the two closing positions. The book prefers wider ranges for both bars.</a:t>
            </a:r>
          </a:p>
          <a:p>
            <a:r>
              <a:rPr sz="1400"/>
              <a:t>- CCI is a label in Lim's figure. Chapter 7 does not define its formula, so do not infer one.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invented PHP bars: the first closes near its high, the second is small, and the third closes near its low.</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invented PHP bars: the first closes near its high, the second is small, and the third closes near its low.</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Marks 1, 2 and 3 identify the first, middle and third bars. The first closes near its high and the third near its low.</a:t>
            </a:r>
          </a:p>
          <a:p>
            <a:r>
              <a:rPr sz="1400"/>
              <a:t>- The figure also labels bearish +DM divergence and shows rapid later decline, not a guaranteed result.</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invented PHP bars with OHLC values and volumes labelled. Marks 1, 2 and 3 identify the first, middle and third volume readings.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is the first outer volume bar, mark 2 is the quiet middle volume bar, and mark 3 is the final outer bar.</a:t>
            </a:r>
          </a:p>
          <a:p>
            <a:r>
              <a:rPr sz="1400"/>
              <a:t>- The volume relationship is the book's clue. It does not make the reversal certain.</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boxes the three-bar group. Mark 2 is the last bar, which closes above the lower band.</a:t>
            </a:r>
          </a:p>
          <a:p>
            <a:r>
              <a:rPr sz="1400"/>
              <a:t>- The formulas are not taught here.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3 is the oversold StochRSI reading under the pattern.</a:t>
            </a:r>
          </a:p>
          <a:p>
            <a:r>
              <a:rPr sz="1400"/>
              <a:t>- The book gives no StochRSI formula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keeps the first three-bar reversal separate. Mark 2 identifies its large third bar near its high.</a:t>
            </a:r>
          </a:p>
          <a:p>
            <a:r>
              <a:rPr sz="1400"/>
              <a:t>- Mark 3 boxes the later outside day and its close near the low. Lim says the third bar adds bullishness, not certainty.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boxes the first bar, mark 2 identifies the lower-volume middle bar, and mark 3 identifies the third bar.</a:t>
            </a:r>
          </a:p>
          <a:p>
            <a:r>
              <a:rPr sz="1400"/>
              <a:t>- Lim links this arrangement to pattern 6 in Figure 7.9. That link recalls the earlier generic pattern; it adds no new formula.</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students use the marked Figure 7.18 and the prior body text, not speaker cues.</a:t>
            </a:r>
          </a:p>
          <a:p>
            <a:r>
              <a:rPr sz="1400"/>
              <a:t>- Reveal the close positions first, then explain that the middle bar's low volume signals uncertainty in the bullish examples.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students use the marked Figure 7.18 and the prior body text, not speaker cues.</a:t>
            </a:r>
          </a:p>
          <a:p>
            <a:r>
              <a:rPr sz="1400"/>
              <a:t>- Reveal the close positions first, then explain that the middle bar's low volume signals uncertainty in the bullish examples.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Four invented PHP bars with the prior high, gap-up open, isolated bars, gap-down open and volume values labelled. Marks 1, 2 and 3 identify the two gaps and the island.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 island is isolated by two gaps: mark 1 is the gap up and mark 3 the gap down.</a:t>
            </a:r>
          </a:p>
          <a:p>
            <a:r>
              <a:rPr sz="1400"/>
              <a:t>- Mark 2 is the isolated formation.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4 is the low volume under the island. Mark 5 is the overbought stochastic label.</a:t>
            </a:r>
          </a:p>
          <a:p>
            <a:r>
              <a:rPr sz="1400"/>
              <a:t>- No stochastic formula is taught here.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students answer from the preceding island slides. The two gaps define the formation; the stochastic label is not a Chapter 7 formula.</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Let students answer from the preceding island slides. The two gaps define the formation; the stochastic label is not a Chapter 7 formula.</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formation and its purpose before showing the invented prices.</a:t>
            </a:r>
          </a:p>
          <a:p>
            <a:r>
              <a:rPr sz="1400"/>
              <a:t>- Keep Lim's generally and can qualifiers.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first two bars run from PHP 48.00 to PHP 52.00. The outside bar runs from PHP 47.00 to PHP 53.00 and closes at PHP 47.50.</a:t>
            </a:r>
          </a:p>
          <a:p>
            <a:r>
              <a:rPr sz="1400"/>
              <a:t>- Its 5.0 million volume is invented to show the book's high-volume reliability condition.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first to the 11 contained bars, then to the outside high and low.</a:t>
            </a:r>
          </a:p>
          <a:p>
            <a:r>
              <a:rPr sz="1400"/>
              <a:t>- The book says a trendline violation with the bearish breakout should be a reliable short-entry signal.</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marks the 11 preceding bars contained in the outside range.</a:t>
            </a:r>
          </a:p>
          <a:p>
            <a:r>
              <a:rPr sz="1400"/>
              <a:t>- Red [2] marks the trendline violation at the outside-bar break. Blue [3] marks the bearish close near the low.</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from the preceding outside-bar definition and marked figure.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from the preceding outside-bar definition and marked figure.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Define inside bar before giving its invented values.</a:t>
            </a:r>
          </a:p>
          <a:p>
            <a:r>
              <a:rPr sz="1400"/>
              <a:t>- Keep the first wide and high-volume, second narrow and very-low-volume condition.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first bar is O 50.00, H 53.00, L 48.00, C 52.40 on 4.5 million shares.</a:t>
            </a:r>
          </a:p>
          <a:p>
            <a:r>
              <a:rPr sz="1400"/>
              <a:t>- The second is O 51.80, H 52.50, L 49.20, C 50.10 on 0.5 million shares. It stays inside the first range.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first bar is O 50.00, H 53.00, L 48.00, C 52.40 on 4.5 million shares.</a:t>
            </a:r>
          </a:p>
          <a:p>
            <a:r>
              <a:rPr sz="1400"/>
              <a:t>- The second is O 51.80, H 52.50, L 49.20, C 50.10 on 0.5 million shares. It stays inside the first range.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two dark bars are the inside-bar reversals at the same resistance.</a:t>
            </a:r>
          </a:p>
          <a:p>
            <a:r>
              <a:rPr sz="1400"/>
              <a:t>- The figure labels the oscillator as StochRSI and shows bearish divergence; this deck does not define its formula.</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two dark bars are the inside-bar reversals at the same resistance.</a:t>
            </a:r>
          </a:p>
          <a:p>
            <a:r>
              <a:rPr sz="1400"/>
              <a:t>- The figure labels the oscillator as StochRSI and shows bearish divergence; this deck does not define its formula.</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marked two tests visible while the room answers.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marked two tests visible while the room answers.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three nested bars from left to right, then the later outside bar.</a:t>
            </a:r>
          </a:p>
          <a:p>
            <a:r>
              <a:rPr sz="1400"/>
              <a:t>- The book says the exhaustion reading is especially strong when the declines also have bearish volume.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places three named reversal families on one chart.</a:t>
            </a:r>
          </a:p>
          <a:p>
            <a:r>
              <a:rPr sz="1400"/>
              <a:t>- This slide names the three price-bar families; the indicator panels are outside this slide's scope.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State the proportion arithmetic after naming the distinction.</a:t>
            </a:r>
          </a:p>
          <a:p>
            <a:r>
              <a:rPr sz="1400"/>
              <a:t>- Do not rename every inside bar as Harami.</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stays visible while the check tests the stricter Harami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stays visible while the check tests the stricter Harami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pattern and why the next-bar gap matters before the example.</a:t>
            </a:r>
          </a:p>
          <a:p>
            <a:r>
              <a:rPr sz="1400"/>
              <a:t>- The invented chart will walk through each condition.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prior high is PHP 65.00. The exhaustion bar opens at 65.40, reaches 66.20, falls to 60.00, and closes at 60.50.</a:t>
            </a:r>
          </a:p>
          <a:p>
            <a:r>
              <a:rPr sz="1400"/>
              <a:t>- The next bar opens at 60.20, inside the exhaustion bar's range, so there is no following gap.</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marked bar is the bullish converse of the uptrend case: it closes near its high in a downtrend.</a:t>
            </a:r>
          </a:p>
          <a:p>
            <a:r>
              <a:rPr sz="1400"/>
              <a:t>- There is a gap before the marked bar in this figure, but the book's rule concerns no gap between an exhaustion bar and the subsequent bar.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gap and later rebound marks visible while the room answers.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gap and later rebound marks visible while the room answers.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 shift explicit: this pattern is about range and volume, not the next-bar gap.</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ordinary bars have a PHP 3.0 range and 1.5 million shares. The spike has an 8.0 range and 6.0 million shares.</a:t>
            </a:r>
          </a:p>
          <a:p>
            <a:r>
              <a:rPr sz="1400"/>
              <a:t>- The numbers are invented to make Lim's wide-range and high-volume description visible.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price panel shows the wide spike; the lower panel shows its high volume.</a:t>
            </a:r>
          </a:p>
          <a:p>
            <a:r>
              <a:rPr sz="1400"/>
              <a:t>- Lim also identifies a typical three-bar bearish reversal at the top of the move.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Define the pin bar before showing the invented prices.</a:t>
            </a:r>
          </a:p>
          <a:p>
            <a:r>
              <a:rPr sz="1400"/>
              <a:t>- Keep the named barriers and low-volume tendency tied to Lim's wording.</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support line first, then the penetration and the close back above it.</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Mark 1 is the support barrier, mark 2 the penetration, and mark 3 the rapid retrace.</a:t>
            </a:r>
          </a:p>
          <a:p>
            <a:r>
              <a:rPr sz="1400"/>
              <a:t>- The book says pin bars are usually breakouts formed on low volume.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support, penetration, and close-back-above marks visible.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support, penetration, and close-back-above marks visible.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upper example first. The exhaustion bar opens beyond the previous high, but its distinction is the absence of a following gap.</a:t>
            </a:r>
          </a:p>
          <a:p>
            <a:r>
              <a:rPr sz="1400"/>
              <a:t>- The pin bar gives a false impression of breaking support, then retraces back above it. Its volume is low in the invented example.</a:t>
            </a:r>
          </a:p>
          <a:p>
            <a:r>
              <a:rPr sz="1400"/>
              <a:t>- The book's difference is the false barrier penetration, not the size of the bar alone.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upper example first. The exhaustion bar opens beyond the previous high, but its distinction is the absence of a following gap.</a:t>
            </a:r>
          </a:p>
          <a:p>
            <a:r>
              <a:rPr sz="1400"/>
              <a:t>- The pin bar gives a false impression of breaking support, then retraces back above it. Its volume is low in the invented example.</a:t>
            </a:r>
          </a:p>
          <a:p>
            <a:r>
              <a:rPr sz="1400"/>
              <a:t>- The book's difference is the false barrier penetration, not the size of the bar alone.</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key difference is the false impression of breaking a barrier. The pin-bar volume tendency is a separate book statement.</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key difference is the false impression of breaking a barrier. The pin-bar volume tendency is a separate book statement.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Connect false breakouts to the pin-bar barrier idea before showing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upper barrier is resistance at PHP 60.00; the false high is PHP 62.00 and the short close is PHP 59.40.</a:t>
            </a:r>
          </a:p>
          <a:p>
            <a:r>
              <a:rPr sz="1400"/>
              <a:t>- The lower barrier is support at PHP 40.00; the false low is PHP 38.50 and the long close is PHP 40.60.</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upper barrier is resistance at PHP 60.00; the false high is PHP 62.00 and the short close is PHP 59.40.</a:t>
            </a:r>
          </a:p>
          <a:p>
            <a:r>
              <a:rPr sz="1400"/>
              <a:t>- The lower barrier is support at PHP 40.00; the false low is PHP 38.50 and the long close is PHP 40.60.</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course drawing labels resistance PHP 60.00, high PHP 62.00, close PHP 59.40, and stop PHP 62.50.</a:t>
            </a:r>
          </a:p>
          <a:p>
            <a:r>
              <a:rPr sz="1400"/>
              <a:t>- The book's drawing follows on its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course drawing labels resistance PHP 60.00, high PHP 62.00, close PHP 59.40, and stop PHP 62.50.</a:t>
            </a:r>
          </a:p>
          <a:p>
            <a:r>
              <a:rPr sz="1400"/>
              <a:t>- The book's drawing follows on its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Lim calls this a non-failure swing and attributes the setup to a 2B entry.</a:t>
            </a:r>
          </a:p>
          <a:p>
            <a:r>
              <a:rPr sz="1400"/>
              <a:t>- The short begins after the close returns below resistance; the stop sits just above the breakout high.</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directions separately: short below resistance after a false upside break, long above support after a false downside break.</a:t>
            </a:r>
          </a:p>
          <a:p>
            <a:r>
              <a:rPr sz="1400"/>
              <a:t>- The book does not give a complete trade plan beyond these entry and stop descriptions.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both barrier directions visible; the question asks for the returned closes.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both barrier directions visible; the question asks for the returned closes.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import a formula beyond the book's wording.</a:t>
            </a:r>
          </a:p>
          <a:p>
            <a:r>
              <a:rPr sz="1400"/>
              <a:t>- Lim gives only the short version and sends readers to DiNapoli for the rest.</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Each SMA value is the average of the three closes ending three bars earlier: bar 13 uses bars 8 to 10, (49.50 + 50.10 + 50.70) / 3 = 50.10.</a:t>
            </a:r>
          </a:p>
          <a:p>
            <a:r>
              <a:rPr sz="1400"/>
              <a:t>- The book says the full method belongs in DiNapoli's original text, so this chart teaches only the named Chapter 7 structure.</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Each SMA value is the average of the three closes ending three bars earlier: bar 13 uses bars 8 to 10, (49.50 + 50.10 + 50.70) / 3 = 50.10.</a:t>
            </a:r>
          </a:p>
          <a:p>
            <a:r>
              <a:rPr sz="1400"/>
              <a:t>- The book says the full method belongs in DiNapoli's original text, so this chart teaches only the named Chapter 7 structure.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two crossings are the pattern's named structure; the later decline is the observed follow-through.</a:t>
            </a:r>
          </a:p>
          <a:p>
            <a:r>
              <a:rPr sz="1400"/>
              <a:t>- Lim directs readers to DiNapoli's original text for a complete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marks the forward-shifted three-day SMA. Red [2] marks the long bullish run before the pattern.</a:t>
            </a:r>
          </a:p>
          <a:p>
            <a:r>
              <a:rPr sz="1400"/>
              <a:t>- Blue [3] marks the topping formation, which the book limits to eight to ten bars.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SMA, bullish-day run, and topping formation marks visible.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SMA, bullish-day run, and topping formation marks visible.</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Define Hikkake before showing the invented levels.</a:t>
            </a:r>
          </a:p>
          <a:p>
            <a:r>
              <a:rPr sz="1400"/>
              <a:t>- Keep the failed direction separate from the opposite entry.</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Bar 2 is inside bar 1. Bar 3 breaks above the inside high of 52.00 and fails; bar 4 closes at 48.70, below the inside low of 49.00.</a:t>
            </a:r>
          </a:p>
          <a:p>
            <a:r>
              <a:rPr sz="1400"/>
              <a:t>- The short comes one bar after the failed breakout, inside the three-bar window.</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Bar 2 is inside bar 1. Bar 3 breaks above the inside high of 52.00 and fails; bar 4 closes at 48.70, below the inside low of 49.00.</a:t>
            </a:r>
          </a:p>
          <a:p>
            <a:r>
              <a:rPr sz="1400"/>
              <a:t>- The short comes one bar after the failed breakout, inside the three-bar window.</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Bullish: inside bar 40.00 to 43.00, false low 39.00, long when bar 4 closes at 43.40, above 43.00.</a:t>
            </a:r>
          </a:p>
          <a:p>
            <a:r>
              <a:rPr sz="1400"/>
              <a:t>- This mirrors the bearish example on the previous slides.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marks the inside bar, red [2] the failed downside breakout, and blue [3] the bullish re-entry above the inside high.</a:t>
            </a:r>
          </a:p>
          <a:p>
            <a:r>
              <a:rPr sz="1400"/>
              <a:t>- Only the opposite re-entry is taken, and it must occur within three bars.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marks the inside bar, red [2] the failed upside breakout, and blue [3] the bearish re-entry below the inside low.</a:t>
            </a:r>
          </a:p>
          <a:p>
            <a:r>
              <a:rPr sz="1400"/>
              <a:t>- Only the opposite re-entry is taken, and it must occur within three bars.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includes indicator panels, but this slide does not interpret their formulas.</a:t>
            </a:r>
          </a:p>
          <a:p>
            <a:r>
              <a:rPr sz="1400"/>
              <a:t>- Read the formation, failed downside breakout, and upside re-entry only.</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marked formation, failed downside breakout, and upside re-entry visible.</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marked formation, failed downside breakout, and upside re-entry visible.</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directions separately, then reveal the timing rule.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directions separately, then reveal the timing rule.</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section first: Lim's 7.4 is volatility-based breakout patterns. It opens with the Hikkake, already read at the end of Part 3.</a:t>
            </a:r>
          </a:p>
          <a:p>
            <a:r>
              <a:rPr sz="1400"/>
              <a:t>- Recall Chapter 5 before any number: a sell-stop fills only if price falls to it, a buy-stop only if price rises to it, and a stoploss closes a position that moves against us.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Define the Oops in the book's words, then name the gap-up case: it is the bearish Oops.</a:t>
            </a:r>
          </a:p>
          <a:p>
            <a:r>
              <a:rPr sz="1400"/>
              <a:t>- The point: the order fills only if price comes back against the gap.</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bars in time order: the open first, then the high, then the fall.</a:t>
            </a:r>
          </a:p>
          <a:p>
            <a:r>
              <a:rPr sz="1400"/>
              <a:t>- Gold 1 is the open above bar 1, red 2 the sell-stop at 52.00, blue 3 the new high where the stoploss sits.</a:t>
            </a:r>
          </a:p>
          <a:p>
            <a:r>
              <a:rPr sz="1400"/>
              <a:t>- Then say the stop and reverse in words: once short, close the short and go long.</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bars in time order: the open first, then the high, then the fall.</a:t>
            </a:r>
          </a:p>
          <a:p>
            <a:r>
              <a:rPr sz="1400"/>
              <a:t>- Gold 1 is the open above bar 1, red 2 the sell-stop at 52.00, blue 3 the new high where the stoploss sits.</a:t>
            </a:r>
          </a:p>
          <a:p>
            <a:r>
              <a:rPr sz="1400"/>
              <a:t>- Then say the stop and reverse in words: once short, close the short and go long.</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Start on the right-hand drawing, the sell setup: gold 1 the gap-up open, red 2 the sell-stop level, blue 3 the stop and reverse level.</a:t>
            </a:r>
          </a:p>
          <a:p>
            <a:r>
              <a:rPr sz="1400"/>
              <a:t>- Then the left-hand drawing, the buy setup: purple 4 the gap down, red 5 the buy-stop at the previous low, blue 6 the stop and reverse level at the new low.</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bullish Oops is the mirror image: gap down, buy-stop at the previous low, stoploss at the new low.</a:t>
            </a:r>
          </a:p>
          <a:p>
            <a:r>
              <a:rPr sz="1400"/>
              <a:t>- Gold 1 the open below bar 1, red 2 the buy-stop at 48.00, blue 3 the new low where the stoploss sits.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bullish Oops is the mirror image: gap down, buy-stop at the previous low, stoploss at the new low.</a:t>
            </a:r>
          </a:p>
          <a:p>
            <a:r>
              <a:rPr sz="1400"/>
              <a:t>- Gold 1 the open below bar 1, red 2 the buy-stop at 48.00, blue 3 the new low where the stoploss sits.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Oops slides: the buy-stop at the previous low, and stop and reverse once the entry has filled.</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on the Oops slides: the buy-stop at the previous low, and stop and reverse once the entry has filled.</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book's own bearish Oops. Gold 1 is the Oops bar, which opens above the previous bar's high.</a:t>
            </a:r>
          </a:p>
          <a:p>
            <a:r>
              <a:rPr sz="1400"/>
              <a:t>- Red 2 is the sell-stop at the previous high and blue 3 the stop and reverse buy-stop at the current bar's high, both as the book labels them.</a:t>
            </a:r>
          </a:p>
          <a:p>
            <a:r>
              <a:rPr sz="1400"/>
              <a:t>- Keep it honest: the arrow is the expected move in this example,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Lim says where to look: a bullish Oops in an uptrend, a bearish Oops in a downtrend.</a:t>
            </a:r>
          </a:p>
          <a:p>
            <a:r>
              <a:rPr sz="1400"/>
              <a:t>- Gold 1 is the steep fall at the start of the chart; red 2 is the bearish Oops bar.</a:t>
            </a:r>
          </a:p>
          <a:p>
            <a:r>
              <a:rPr sz="1400"/>
              <a:t>- The four candlestick names are only named in Chapter 7. Do not define them.</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pattern and its two parts before any number: an inside day, and the narrowest range of the last n bars.</a:t>
            </a:r>
          </a:p>
          <a:p>
            <a:r>
              <a:rPr sz="1400"/>
              <a:t>- Both parts are already known: the inside bar from Part 3 and the range from Part 1.</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Lim gives the name but no reason; say plainly that the plain reading is ours.</a:t>
            </a:r>
          </a:p>
          <a:p>
            <a:r>
              <a:rPr sz="1400"/>
              <a:t>- Neutrality is in the book: no bearish or bullish sentiment.</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six ranges first: each bar is quieter than the one before.</a:t>
            </a:r>
          </a:p>
          <a:p>
            <a:r>
              <a:rPr sz="1400"/>
              <a:t>- Gold 1 is bar 6's range, inside bar 5. Red 2 and blue 3 are bar 5's high and low, the two trigger levels, as the book's drawing on the next slide places them.</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six ranges first: each bar is quieter than the one before.</a:t>
            </a:r>
          </a:p>
          <a:p>
            <a:r>
              <a:rPr sz="1400"/>
              <a:t>- Gold 1 is bar 6's range, inside bar 5. Red 2 and blue 3 are bar 5's high and low, the two trigger levels, as the book's drawing on the next slide places them.</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counts the six bars, 2 to 7. Red 2 holds bars 6 and 7: the book's arrow names bar 7 the inside bar with the narrowest range.</a:t>
            </a:r>
          </a:p>
          <a:p>
            <a:r>
              <a:rPr sz="1400"/>
              <a:t>- Blue 3 and purple 4 are the book's long and short trigger levels, drawn from bar 6's high and low.</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n is how many bars we count back, the inside bar included.</a:t>
            </a:r>
          </a:p>
          <a:p>
            <a:r>
              <a:rPr sz="1400"/>
              <a:t>- Gold 1: counting four, five or six bars, bar 7 is the narrowest. Red 2: counting seven brings in bar 1's 1.0, so not an NR7.</a:t>
            </a:r>
          </a:p>
          <a:p>
            <a:r>
              <a:rPr sz="1400"/>
              <a:t>- Say the point: one bar can carry several NR numbers at once.</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n is how many bars we count back, the inside bar included.</a:t>
            </a:r>
          </a:p>
          <a:p>
            <a:r>
              <a:rPr sz="1400"/>
              <a:t>- Gold 1: counting four, five or six bars, bar 7 is the narrowest. Red 2: counting seven brings in bar 1's 1.0, so not an NR7.</a:t>
            </a:r>
          </a:p>
          <a:p>
            <a:r>
              <a:rPr sz="1400"/>
              <a:t>- Say the point: one bar can carry several NR numbers at once.</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body text: the n counts the last n bars, and Lim gives ID/NR no sentiment.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body text: the n counts the last n bars, and Lim gives ID/NR no sentiment.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Lim: no bearish or bullish sentiment, and the breakout can go either way.</a:t>
            </a:r>
          </a:p>
          <a:p>
            <a:r>
              <a:rPr sz="1400"/>
              <a:t>- Gold 1 and red 2 are the two triggers. Blue 3 is the tall arrow in this drawing, which points down through the short trigger.</a:t>
            </a:r>
          </a:p>
          <a:p>
            <a:r>
              <a:rPr sz="1400"/>
              <a:t>- The practical rule: count, confirm the inside bar, then wait.</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rule, one bar a month. Gold 1 is bar 5, the inside month and the narrowest of five.</a:t>
            </a:r>
          </a:p>
          <a:p>
            <a:r>
              <a:rPr sz="1400"/>
              <a:t>- Red 2 is bar 5's high, PHP 30.00; blue 3 is bar 6's close, PHP 36.00, after the upward breakout.</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rule, one bar a month. Gold 1 is bar 5, the inside month and the narrowest of five.</a:t>
            </a:r>
          </a:p>
          <a:p>
            <a:r>
              <a:rPr sz="1400"/>
              <a:t>- Red 2 is bar 5's high, PHP 30.00; blue 3 is bar 6's close, PHP 36.00, after the upward breakout.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February, inside January and the narrowest of the five months in red 2, October to February.</a:t>
            </a:r>
          </a:p>
          <a:p>
            <a:r>
              <a:rPr sz="1400"/>
              <a:t>- Blue 3 is March, the upside breakout the book labels.</a:t>
            </a:r>
          </a:p>
          <a:p>
            <a:r>
              <a:rPr sz="1400"/>
              <a:t>- Say plainly that the two figures draw the trigger lines in different places and the text does not settle it; here March clears both.</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body text of the monthly slides: the timeframe changes, the inside-and-narrowest rule stays.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are in the body text of the monthly slides: the timeframe changes, the inside-and-narrowest rule stays.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body of the Part 4 slides: the Oops order rule and the ID/NR definition.</a:t>
            </a:r>
          </a:p>
          <a:p>
            <a:r>
              <a:rPr sz="1400"/>
              <a:t>- Do not reveal the answers here; the next slide gives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Both answers come from the body of the Part 4 slides: the Oops order rule and the ID/NR definition.</a:t>
            </a:r>
          </a:p>
          <a:p>
            <a:r>
              <a:rPr sz="1400"/>
              <a:t>- Do not reveal the answers here; the next slide gives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book's summary on p. 233 as the scope of the chapter.</a:t>
            </a:r>
          </a:p>
          <a:p>
            <a:r>
              <a:rPr sz="1400"/>
              <a:t>- Emphasise that potential evidence is not a guarantee or a complete trading system.</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question first, then answer it in two halves: the exhaustion bar on this slide, the pin bar and the difference on the next.</a:t>
            </a:r>
          </a:p>
          <a:p>
            <a:r>
              <a:rPr sz="1400"/>
              <a:t>- Gold 1 is the bullish exhaustion bar the book labels in Figure 7.28.</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the pin bar's tail below support; red 2 is the support line it breaches.</a:t>
            </a:r>
          </a:p>
          <a:p>
            <a:r>
              <a:rPr sz="1400"/>
              <a:t>- Then give Lim's own answer to the question, from p. 227: the false impression and the low volume.</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Lim gives the name and the definition but no further reason; say plainly which sentence is our reading.</a:t>
            </a:r>
          </a:p>
          <a:p>
            <a:r>
              <a:rPr sz="1400"/>
              <a:t>- Gold 1 is the inside bar the book's arrow names in Figure 7.38.</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Apple's key reversal day; red 2 is its above-average volume bar.</a:t>
            </a:r>
          </a:p>
          <a:p>
            <a:r>
              <a:rPr sz="1400"/>
              <a:t>- Keep the follow-through honest: the book says the market may hover before it falls.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first eight as names; Chapter 5 gave the detail.</a:t>
            </a:r>
          </a:p>
          <a:p>
            <a:r>
              <a:rPr sz="1400"/>
              <a:t>- Read every name as evidence of a potential reversal, not certainty.</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Finish the list, then stress barrier proximity, which Lim singles out.</a:t>
            </a:r>
          </a:p>
          <a:p>
            <a:r>
              <a:rPr sz="1400"/>
              <a:t>- These are clues to a potential reversal, not guarantees.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from the book's volume sentences on pp. 212 to 214.</a:t>
            </a:r>
          </a:p>
          <a:p>
            <a:r>
              <a:rPr sz="1400"/>
              <a:t>- Keep the qualification: volume adds weight, it does not guarantee.</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is pattern 1, red 2 is pattern 2; read the book's captions for each.</a:t>
            </a:r>
          </a:p>
          <a:p>
            <a:r>
              <a:rPr sz="1400"/>
              <a:t>- For the trading half, say honestly that Chapter 7 gives reliability conditions, not entry and exit rules.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Gold 1 and red 2 are the book's two inside bars, each with the wider bar that holds it, both at resistance.</a:t>
            </a:r>
          </a:p>
          <a:p>
            <a:r>
              <a:rPr sz="1400"/>
              <a:t>- The figure has no volume panel, so the volume half of the rule is read from the text, not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Answer only what Chapter 7 shows: oscillators agreeing with a bar reversal. The method is Chapter 8.</a:t>
            </a:r>
          </a:p>
          <a:p>
            <a:r>
              <a:rPr sz="1400"/>
              <a:t>- Gold 1 is inside bar 2; red 2 is the bearish divergence the book labels in the oscillator panel.</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this as the final synthesis, not as a new method.</a:t>
            </a:r>
          </a:p>
          <a:p>
            <a:r>
              <a:rPr sz="1400"/>
              <a:t>- Close by naming the chapter's boundary: a reading is not a complete trade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7</a:t>
            </a:r>
          </a:p>
          <a:p>
            <a:pPr algn="l">
              <a:lnSpc>
                <a:spcPct val="105000"/>
              </a:lnSpc>
              <a:spcBef>
                <a:spcPts val="1000"/>
              </a:spcBef>
              <a:spcAft>
                <a:spcPts val="0"/>
              </a:spcAft>
            </a:pPr>
            <a:r>
              <a:rPr sz="4400" b="0" i="0">
                <a:solidFill>
                  <a:srgbClr val="FFFFFF"/>
                </a:solidFill>
                <a:latin typeface="Palatino"/>
              </a:rPr>
              <a:t>Bar Chart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FFFFFF"/>
                </a:solidFill>
                <a:latin typeface="Arial"/>
              </a:rPr>
              <a:t>A price bar records the opening, highest, lowest and closing prices in one interval. Learn to read those four prices first, then ask whether a bar formation may continue or reverse.</a:t>
            </a:r>
          </a:p>
          <a:p>
            <a:pPr algn="l">
              <a:lnSpc>
                <a:spcPct val="100000"/>
              </a:lnSpc>
              <a:spcBef>
                <a:spcPts val="800"/>
              </a:spcBef>
              <a:spcAft>
                <a:spcPts val="0"/>
              </a:spcAft>
            </a:pPr>
            <a:r>
              <a:rPr sz="1400" b="0" i="0">
                <a:solidFill>
                  <a:srgbClr val="F2A900"/>
                </a:solidFill>
                <a:latin typeface="Arial"/>
              </a:rPr>
              <a:t>Faculty of Economics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will teach you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Bar chart analysis is the study of bar chart patterns. Lim calls it the basis of pure price action analysis and the most fundamental skill every technician should have (p. 209).</a:t>
            </a:r>
          </a:p>
          <a:p>
            <a:pPr algn="l">
              <a:lnSpc>
                <a:spcPct val="118000"/>
              </a:lnSpc>
              <a:spcBef>
                <a:spcPts val="0"/>
              </a:spcBef>
              <a:spcAft>
                <a:spcPts val="1300"/>
              </a:spcAft>
            </a:pPr>
            <a:r>
              <a:rPr sz="2100" b="0" i="0">
                <a:solidFill>
                  <a:srgbClr val="1A1A1A"/>
                </a:solidFill>
                <a:latin typeface="Arial"/>
              </a:rPr>
              <a:t>By the end of the chapter you should be able to explain how bar patterns help us forecast potential tops and bottoms, and recognise early signs that a trend may be about to change (p. 209).</a:t>
            </a:r>
          </a:p>
        </p:txBody>
      </p:sp>
      <p:sp>
        <p:nvSpPr>
          <p:cNvPr id="8" name="Rectangle 7"/>
          <p:cNvSpPr/>
          <p:nvPr/>
        </p:nvSpPr>
        <p:spPr>
          <a:xfrm>
            <a:off x="777240" y="453085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6742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Everything here is read from price bars, one bar at a time.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209, the chapter's learning objectives.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will teach you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You should also be able to pick out buy and sell signals from single, double, triple and multiple bar formations, both bullish and bearish (p. 209).</a:t>
            </a:r>
          </a:p>
          <a:p>
            <a:pPr algn="l">
              <a:lnSpc>
                <a:spcPct val="118000"/>
              </a:lnSpc>
              <a:spcBef>
                <a:spcPts val="0"/>
              </a:spcBef>
              <a:spcAft>
                <a:spcPts val="1300"/>
              </a:spcAft>
            </a:pPr>
            <a:r>
              <a:rPr sz="2100" b="0" i="0">
                <a:solidFill>
                  <a:srgbClr val="1A1A1A"/>
                </a:solidFill>
                <a:latin typeface="Arial"/>
              </a:rPr>
              <a:t>And you should be able to read bar behaviour more carefully with Lim's 16 price and volume reversal characteristics, which we met in Chapter 5 (p. 209).</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Each pattern is evidence to weigh, not a promise about the next price.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209, the chapter's 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We will read the chapter in four parts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starts with one price bar: the four prices it keeps, and the three ways Lim sorts a group of bars into a formation.</a:t>
            </a:r>
          </a:p>
          <a:p>
            <a:pPr algn="l">
              <a:lnSpc>
                <a:spcPct val="118000"/>
              </a:lnSpc>
              <a:spcBef>
                <a:spcPts val="0"/>
              </a:spcBef>
              <a:spcAft>
                <a:spcPts val="1300"/>
              </a:spcAft>
            </a:pPr>
            <a:r>
              <a:rPr sz="2100" b="0" i="0">
                <a:solidFill>
                  <a:srgbClr val="1A1A1A"/>
                </a:solidFill>
                <a:latin typeface="Arial"/>
              </a:rPr>
              <a:t>Part 2 asks when a formation suggests the trend will carry on and when it warns of a reversal, and reads the book's generic patterns.</a:t>
            </a:r>
          </a:p>
          <a:p>
            <a:pPr algn="l">
              <a:lnSpc>
                <a:spcPct val="118000"/>
              </a:lnSpc>
              <a:spcBef>
                <a:spcPts val="0"/>
              </a:spcBef>
              <a:spcAft>
                <a:spcPts val="1300"/>
              </a:spcAft>
            </a:pPr>
            <a:r>
              <a:rPr sz="2100" b="0" i="0">
                <a:solidFill>
                  <a:srgbClr val="1A1A1A"/>
                </a:solidFill>
                <a:latin typeface="Arial"/>
              </a:rPr>
              <a:t>Part 3 covers the popular named reversal patterns, such as the key reversal and the pin bar. Part 4 reads the volatility-based breakout patterns that close the chapter.</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We start where the book starts: what one price bar records.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Chapter 7, sections 7.1 to 7.4.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price bar keeps four prices from one interval</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47472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Every pattern here is read from price bars. Lim's bar keeps four prices from one interval: open (O), high (H), low (L) and close (C), or OHLC (p. 209).</a:t>
            </a:r>
          </a:p>
          <a:p>
            <a:pPr algn="l">
              <a:lnSpc>
                <a:spcPct val="105000"/>
              </a:lnSpc>
              <a:spcBef>
                <a:spcPts val="0"/>
              </a:spcBef>
              <a:spcAft>
                <a:spcPts val="1100"/>
              </a:spcAft>
            </a:pPr>
            <a:r>
              <a:rPr sz="1700" b="0" i="0">
                <a:solidFill>
                  <a:srgbClr val="1A1A1A"/>
                </a:solidFill>
                <a:latin typeface="Arial"/>
              </a:rPr>
              <a:t>In Figure 7.1, five minutes of price become one bar: open </a:t>
            </a:r>
            <a:r>
              <a:rPr sz="1700" b="1" i="0">
                <a:solidFill>
                  <a:srgbClr val="E09B00"/>
                </a:solidFill>
                <a:latin typeface="Arial"/>
              </a:rPr>
              <a:t>(1)</a:t>
            </a:r>
            <a:r>
              <a:rPr sz="1700" b="0" i="0">
                <a:solidFill>
                  <a:srgbClr val="1A1A1A"/>
                </a:solidFill>
                <a:latin typeface="Arial"/>
              </a:rPr>
              <a:t>, high </a:t>
            </a:r>
            <a:r>
              <a:rPr sz="1700" b="1" i="0">
                <a:solidFill>
                  <a:srgbClr val="C62828"/>
                </a:solidFill>
                <a:latin typeface="Arial"/>
              </a:rPr>
              <a:t>(2)</a:t>
            </a:r>
            <a:r>
              <a:rPr sz="1700" b="0" i="0">
                <a:solidFill>
                  <a:srgbClr val="1A1A1A"/>
                </a:solidFill>
                <a:latin typeface="Arial"/>
              </a:rPr>
              <a:t>, low </a:t>
            </a:r>
            <a:r>
              <a:rPr sz="1700" b="1" i="0">
                <a:solidFill>
                  <a:srgbClr val="1F5FAD"/>
                </a:solidFill>
                <a:latin typeface="Arial"/>
              </a:rPr>
              <a:t>(3)</a:t>
            </a:r>
            <a:r>
              <a:rPr sz="1700" b="0" i="0">
                <a:solidFill>
                  <a:srgbClr val="1A1A1A"/>
                </a:solidFill>
                <a:latin typeface="Arial"/>
              </a:rPr>
              <a:t>, close </a:t>
            </a:r>
            <a:r>
              <a:rPr sz="1700" b="1" i="0">
                <a:solidFill>
                  <a:srgbClr val="7B3FA0"/>
                </a:solidFill>
                <a:latin typeface="Arial"/>
              </a:rPr>
              <a:t>(4)</a:t>
            </a:r>
            <a:r>
              <a:rPr sz="1700" b="0" i="0">
                <a:solidFill>
                  <a:srgbClr val="1A1A1A"/>
                </a:solidFill>
                <a:latin typeface="Arial"/>
              </a:rPr>
              <a:t>. Lim's caption calls it four pieces of information.</a:t>
            </a:r>
          </a:p>
        </p:txBody>
      </p:sp>
      <p:sp>
        <p:nvSpPr>
          <p:cNvPr id="7" name="Rectangle 6"/>
          <p:cNvSpPr/>
          <p:nvPr/>
        </p:nvSpPr>
        <p:spPr>
          <a:xfrm>
            <a:off x="777240" y="4494276"/>
            <a:ext cx="82296" cy="969263"/>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530852"/>
            <a:ext cx="31821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drawing has no prices; its close ends below its open.</a:t>
            </a:r>
          </a:p>
        </p:txBody>
      </p:sp>
      <p:sp>
        <p:nvSpPr>
          <p:cNvPr id="9" name="Rectangle 8"/>
          <p:cNvSpPr/>
          <p:nvPr/>
        </p:nvSpPr>
        <p:spPr>
          <a:xfrm>
            <a:off x="4585141" y="1207008"/>
            <a:ext cx="6816172" cy="493775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4621717" y="1243584"/>
            <a:ext cx="6743020" cy="486460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4621717" y="1243584"/>
            <a:ext cx="6743020"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4896037" y="1517904"/>
            <a:ext cx="6194380" cy="440740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a:t>
            </a:r>
          </a:p>
          <a:p>
            <a:pPr algn="l">
              <a:lnSpc>
                <a:spcPct val="115000"/>
              </a:lnSpc>
              <a:spcBef>
                <a:spcPts val="0"/>
              </a:spcBef>
              <a:spcAft>
                <a:spcPts val="0"/>
              </a:spcAft>
            </a:pPr>
            <a:r>
              <a:rPr sz="1500" b="0" i="0">
                <a:solidFill>
                  <a:srgbClr val="1A1A1A"/>
                </a:solidFill>
                <a:latin typeface="Palatino"/>
              </a:rPr>
              <a:t>Figure 7.1: five minutes of price action on the left are summarized by one bar on the right, which keeps only its open, high, low and close.</a:t>
            </a:r>
          </a:p>
        </p:txBody>
      </p:sp>
      <p:cxnSp>
        <p:nvCxnSpPr>
          <p:cNvPr id="13" name="Connector 12"/>
          <p:cNvCxnSpPr/>
          <p:nvPr/>
        </p:nvCxnSpPr>
        <p:spPr>
          <a:xfrm>
            <a:off x="8667529" y="2800258"/>
            <a:ext cx="236006" cy="428086"/>
          </a:xfrm>
          <a:prstGeom prst="line">
            <a:avLst/>
          </a:prstGeom>
          <a:ln w="44450">
            <a:solidFill>
              <a:srgbClr val="E09B00"/>
            </a:solidFill>
            <a:tailEnd type="triangle" w="med" len="med"/>
          </a:ln>
        </p:spPr>
      </p:cxnSp>
      <p:cxnSp>
        <p:nvCxnSpPr>
          <p:cNvPr id="14" name="Connector 13"/>
          <p:cNvCxnSpPr/>
          <p:nvPr/>
        </p:nvCxnSpPr>
        <p:spPr>
          <a:xfrm flipH="1" flipV="1">
            <a:off x="9153027" y="2411089"/>
            <a:ext cx="458525" cy="243231"/>
          </a:xfrm>
          <a:prstGeom prst="line">
            <a:avLst/>
          </a:prstGeom>
          <a:ln w="44450">
            <a:solidFill>
              <a:srgbClr val="C62828"/>
            </a:solidFill>
            <a:tailEnd type="triangle" w="med" len="med"/>
          </a:ln>
        </p:spPr>
      </p:cxnSp>
      <p:cxnSp>
        <p:nvCxnSpPr>
          <p:cNvPr id="15" name="Connector 14"/>
          <p:cNvCxnSpPr/>
          <p:nvPr/>
        </p:nvCxnSpPr>
        <p:spPr>
          <a:xfrm flipH="1">
            <a:off x="9153027" y="4454225"/>
            <a:ext cx="458525" cy="218907"/>
          </a:xfrm>
          <a:prstGeom prst="line">
            <a:avLst/>
          </a:prstGeom>
          <a:ln w="44450">
            <a:solidFill>
              <a:srgbClr val="1F5FAD"/>
            </a:solidFill>
            <a:tailEnd type="triangle" w="med" len="med"/>
          </a:ln>
        </p:spPr>
      </p:cxnSp>
      <p:cxnSp>
        <p:nvCxnSpPr>
          <p:cNvPr id="16" name="Connector 15"/>
          <p:cNvCxnSpPr/>
          <p:nvPr/>
        </p:nvCxnSpPr>
        <p:spPr>
          <a:xfrm flipH="1" flipV="1">
            <a:off x="9341831" y="3651564"/>
            <a:ext cx="404581" cy="413492"/>
          </a:xfrm>
          <a:prstGeom prst="line">
            <a:avLst/>
          </a:prstGeom>
          <a:ln w="44450">
            <a:solidFill>
              <a:srgbClr val="7B3FA0"/>
            </a:solidFill>
            <a:tailEnd type="triangle" w="med" len="med"/>
          </a:ln>
        </p:spPr>
      </p:cxnSp>
      <p:sp>
        <p:nvSpPr>
          <p:cNvPr id="17" name="Oval 16"/>
          <p:cNvSpPr/>
          <p:nvPr/>
        </p:nvSpPr>
        <p:spPr>
          <a:xfrm>
            <a:off x="8530369" y="2663098"/>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474392" y="2517160"/>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474392" y="4317065"/>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9609252" y="3927896"/>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TextBox 20"/>
          <p:cNvSpPr txBox="1"/>
          <p:nvPr/>
        </p:nvSpPr>
        <p:spPr>
          <a:xfrm>
            <a:off x="777240" y="5705856"/>
            <a:ext cx="347472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7.1 - Lim, The Handbook of Technical Analysis (Wiley, 2016)</a:t>
            </a:r>
          </a:p>
        </p:txBody>
      </p:sp>
      <p:sp>
        <p:nvSpPr>
          <p:cNvPr id="22" name="TextBox 2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 of 22</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209 to 210, Figure 7.1. The marks are ours, added for teaching.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Reading one bar of ours, price by price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Now the same four prices with numbers. This bar of ours opens at PHP 50.00 </a:t>
            </a:r>
            <a:r>
              <a:rPr sz="1700" b="1" i="0">
                <a:solidFill>
                  <a:srgbClr val="E09B00"/>
                </a:solidFill>
                <a:latin typeface="Arial"/>
              </a:rPr>
              <a:t>(1)</a:t>
            </a:r>
            <a:r>
              <a:rPr sz="1700" b="0" i="0">
                <a:solidFill>
                  <a:srgbClr val="1A1A1A"/>
                </a:solidFill>
                <a:latin typeface="Arial"/>
              </a:rPr>
              <a:t>, rises as high as PHP 52.40 </a:t>
            </a:r>
            <a:r>
              <a:rPr sz="1700" b="1" i="0">
                <a:solidFill>
                  <a:srgbClr val="C62828"/>
                </a:solidFill>
                <a:latin typeface="Arial"/>
              </a:rPr>
              <a:t>(2)</a:t>
            </a:r>
            <a:r>
              <a:rPr sz="1700" b="0" i="0">
                <a:solidFill>
                  <a:srgbClr val="1A1A1A"/>
                </a:solidFill>
                <a:latin typeface="Arial"/>
              </a:rPr>
              <a:t>, dips as low as PHP 49.60 </a:t>
            </a:r>
            <a:r>
              <a:rPr sz="1700" b="1" i="0">
                <a:solidFill>
                  <a:srgbClr val="1F5FAD"/>
                </a:solidFill>
                <a:latin typeface="Arial"/>
              </a:rPr>
              <a:t>(3)</a:t>
            </a:r>
            <a:r>
              <a:rPr sz="1700" b="0" i="0">
                <a:solidFill>
                  <a:srgbClr val="1A1A1A"/>
                </a:solidFill>
                <a:latin typeface="Arial"/>
              </a:rPr>
              <a:t> and closes at PHP 51.10 </a:t>
            </a:r>
            <a:r>
              <a:rPr sz="1700" b="1" i="0">
                <a:solidFill>
                  <a:srgbClr val="7B3FA0"/>
                </a:solidFill>
                <a:latin typeface="Arial"/>
              </a:rPr>
              <a:t>(4)</a:t>
            </a:r>
            <a:r>
              <a:rPr sz="1700" b="0" i="0">
                <a:solidFill>
                  <a:srgbClr val="1A1A1A"/>
                </a:solidFill>
                <a:latin typeface="Arial"/>
              </a:rPr>
              <a:t>. Lim calls the distance from the high to the low the range of the bar, |H - L| (p. 209). For this bar it is 52.40 - 49.60 = PHP 2.80.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j-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5896508" y="472405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6051956"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6051956" y="494873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6207404" y="4106178"/>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5812383" y="446801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6139738"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6139738" y="486460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6279080" y="3949402"/>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J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2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J. The PHP values are invented for teaching.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Five minutes of trades become one price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Why only four prices? As Chapter 3 put it, the open and close are the prices at the start and end of the interval, and the high and low are its extremes; every other trade drops out. Here are five trades of ours inside one five-minute interval. The first trade, PHP 50.00 </a:t>
            </a:r>
            <a:r>
              <a:rPr sz="1700" b="1" i="0">
                <a:solidFill>
                  <a:srgbClr val="E09B00"/>
                </a:solidFill>
                <a:latin typeface="Arial"/>
              </a:rPr>
              <a:t>(1)</a:t>
            </a:r>
            <a:r>
              <a:rPr sz="1700" b="0" i="0">
                <a:solidFill>
                  <a:srgbClr val="1A1A1A"/>
                </a:solidFill>
                <a:latin typeface="Arial"/>
              </a:rPr>
              <a:t>, becomes the open. The highest, PHP 52.40 </a:t>
            </a:r>
            <a:r>
              <a:rPr sz="1700" b="1" i="0">
                <a:solidFill>
                  <a:srgbClr val="C62828"/>
                </a:solidFill>
                <a:latin typeface="Arial"/>
              </a:rPr>
              <a:t>(2)</a:t>
            </a:r>
            <a:r>
              <a:rPr sz="1700" b="0" i="0">
                <a:solidFill>
                  <a:srgbClr val="1A1A1A"/>
                </a:solidFill>
                <a:latin typeface="Arial"/>
              </a:rPr>
              <a:t>, is the high, and the lowest, PHP 49.60 </a:t>
            </a:r>
            <a:r>
              <a:rPr sz="1700" b="1" i="0">
                <a:solidFill>
                  <a:srgbClr val="1F5FAD"/>
                </a:solidFill>
                <a:latin typeface="Arial"/>
              </a:rPr>
              <a:t>(3)</a:t>
            </a:r>
            <a:r>
              <a:rPr sz="1700" b="0" i="0">
                <a:solidFill>
                  <a:srgbClr val="1A1A1A"/>
                </a:solidFill>
                <a:latin typeface="Arial"/>
              </a:rPr>
              <a:t>, is the low.</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p-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772460" y="472405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8103184"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6326276" y="494873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880091" y="4106178"/>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519040" y="461007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035635" y="348131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6225574" y="46751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967874" y="402205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3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P. The PHP values are invented for teaching.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Five minutes of trades become one price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last, PHP 51.10 </a:t>
            </a:r>
            <a:r>
              <a:rPr sz="1700" b="1" i="0">
                <a:solidFill>
                  <a:srgbClr val="7B3FA0"/>
                </a:solidFill>
                <a:latin typeface="Arial"/>
              </a:rPr>
              <a:t>(4)</a:t>
            </a:r>
            <a:r>
              <a:rPr sz="1700" b="0" i="0">
                <a:solidFill>
                  <a:srgbClr val="1A1A1A"/>
                </a:solidFill>
                <a:latin typeface="Arial"/>
              </a:rPr>
              <a:t>, becomes the close. The trade at PHP 50.80 leaves no mark on the bar. So this interval's bar is open 50.00, high 52.40, low 49.60 and close 51.10.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p-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772460" y="472405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8103184"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6326276" y="494873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880091" y="4106178"/>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519040" y="461007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035635" y="348131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6225574" y="46751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967874" y="402205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4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P. The PHP values are invented for teaching.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Building a price bar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In one interval, which trade supplies the bar's close?</a:t>
            </a:r>
          </a:p>
        </p:txBody>
      </p:sp>
      <p:sp>
        <p:nvSpPr>
          <p:cNvPr id="9" name="TextBox 8"/>
          <p:cNvSpPr txBox="1"/>
          <p:nvPr/>
        </p:nvSpPr>
        <p:spPr>
          <a:xfrm>
            <a:off x="1051560"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first trade</a:t>
            </a:r>
          </a:p>
          <a:p>
            <a:pPr algn="l">
              <a:lnSpc>
                <a:spcPct val="112000"/>
              </a:lnSpc>
              <a:spcBef>
                <a:spcPts val="0"/>
              </a:spcBef>
              <a:spcAft>
                <a:spcPts val="900"/>
              </a:spcAft>
            </a:pPr>
            <a:r>
              <a:rPr sz="1700" b="0" i="0">
                <a:solidFill>
                  <a:srgbClr val="FFFFFF"/>
                </a:solidFill>
                <a:latin typeface="Arial"/>
              </a:rPr>
              <a:t>B.  The highest trade</a:t>
            </a:r>
          </a:p>
          <a:p>
            <a:pPr algn="l">
              <a:lnSpc>
                <a:spcPct val="112000"/>
              </a:lnSpc>
              <a:spcBef>
                <a:spcPts val="0"/>
              </a:spcBef>
              <a:spcAft>
                <a:spcPts val="900"/>
              </a:spcAft>
            </a:pPr>
            <a:r>
              <a:rPr sz="1700" b="0" i="0">
                <a:solidFill>
                  <a:srgbClr val="FFFFFF"/>
                </a:solidFill>
                <a:latin typeface="Arial"/>
              </a:rPr>
              <a:t>C.  The lowest trade</a:t>
            </a:r>
          </a:p>
          <a:p>
            <a:pPr algn="l">
              <a:lnSpc>
                <a:spcPct val="112000"/>
              </a:lnSpc>
              <a:spcBef>
                <a:spcPts val="0"/>
              </a:spcBef>
              <a:spcAft>
                <a:spcPts val="900"/>
              </a:spcAft>
            </a:pPr>
            <a:r>
              <a:rPr sz="1700" b="0" i="0">
                <a:solidFill>
                  <a:srgbClr val="FFFFFF"/>
                </a:solidFill>
                <a:latin typeface="Arial"/>
              </a:rPr>
              <a:t>D.  The last trade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is the range when H is PHP 52.40 and L is PHP 49.60?</a:t>
            </a:r>
          </a:p>
        </p:txBody>
      </p:sp>
      <p:sp>
        <p:nvSpPr>
          <p:cNvPr id="13" name="TextBox 12"/>
          <p:cNvSpPr txBox="1"/>
          <p:nvPr/>
        </p:nvSpPr>
        <p:spPr>
          <a:xfrm>
            <a:off x="6690207"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PHP 1.40</a:t>
            </a:r>
          </a:p>
          <a:p>
            <a:pPr algn="l">
              <a:lnSpc>
                <a:spcPct val="112000"/>
              </a:lnSpc>
              <a:spcBef>
                <a:spcPts val="0"/>
              </a:spcBef>
              <a:spcAft>
                <a:spcPts val="900"/>
              </a:spcAft>
            </a:pPr>
            <a:r>
              <a:rPr sz="1700" b="0" i="0">
                <a:solidFill>
                  <a:srgbClr val="FFFFFF"/>
                </a:solidFill>
                <a:latin typeface="Arial"/>
              </a:rPr>
              <a:t>B.  PHP 2.80</a:t>
            </a:r>
          </a:p>
          <a:p>
            <a:pPr algn="l">
              <a:lnSpc>
                <a:spcPct val="112000"/>
              </a:lnSpc>
              <a:spcBef>
                <a:spcPts val="0"/>
              </a:spcBef>
              <a:spcAft>
                <a:spcPts val="900"/>
              </a:spcAft>
            </a:pPr>
            <a:r>
              <a:rPr sz="1700" b="0" i="0">
                <a:solidFill>
                  <a:srgbClr val="FFFFFF"/>
                </a:solidFill>
                <a:latin typeface="Arial"/>
              </a:rPr>
              <a:t>C.  PHP 3.80</a:t>
            </a:r>
          </a:p>
          <a:p>
            <a:pPr algn="l">
              <a:lnSpc>
                <a:spcPct val="112000"/>
              </a:lnSpc>
              <a:spcBef>
                <a:spcPts val="0"/>
              </a:spcBef>
              <a:spcAft>
                <a:spcPts val="900"/>
              </a:spcAft>
            </a:pPr>
            <a:r>
              <a:rPr sz="1700" b="0" i="0">
                <a:solidFill>
                  <a:srgbClr val="FFFFFF"/>
                </a:solidFill>
                <a:latin typeface="Arial"/>
              </a:rPr>
              <a:t>D.  PHP 102.00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Building a price bar</a:t>
            </a:r>
          </a:p>
        </p:txBody>
      </p:sp>
      <p:sp>
        <p:nvSpPr>
          <p:cNvPr id="6" name="Rectangle 5"/>
          <p:cNvSpPr/>
          <p:nvPr/>
        </p:nvSpPr>
        <p:spPr>
          <a:xfrm>
            <a:off x="777240" y="1207008"/>
            <a:ext cx="10637215" cy="190563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05634"/>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In one interval, which trade supplies the bar's close?</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last trade</a:t>
            </a:r>
          </a:p>
          <a:p>
            <a:pPr algn="l">
              <a:lnSpc>
                <a:spcPct val="115000"/>
              </a:lnSpc>
              <a:spcBef>
                <a:spcPts val="700"/>
              </a:spcBef>
              <a:spcAft>
                <a:spcPts val="0"/>
              </a:spcAft>
            </a:pPr>
            <a:r>
              <a:rPr sz="1700" b="0" i="0">
                <a:solidFill>
                  <a:srgbClr val="1A1A1A"/>
                </a:solidFill>
                <a:latin typeface="Arial"/>
              </a:rPr>
              <a:t>As Chapter 3 put it, the price at the end of the interval is the close; the first trade is the open, and the highest and lowest are the high and low.</a:t>
            </a:r>
          </a:p>
        </p:txBody>
      </p:sp>
      <p:sp>
        <p:nvSpPr>
          <p:cNvPr id="10" name="Rectangle 9"/>
          <p:cNvSpPr/>
          <p:nvPr/>
        </p:nvSpPr>
        <p:spPr>
          <a:xfrm>
            <a:off x="777240" y="3359531"/>
            <a:ext cx="10637215" cy="165735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59531"/>
            <a:ext cx="91440" cy="165735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97275"/>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What is the range when H is PHP 52.40 and L is PHP 49.60?</a:t>
            </a:r>
          </a:p>
        </p:txBody>
      </p:sp>
      <p:sp>
        <p:nvSpPr>
          <p:cNvPr id="13" name="TextBox 12"/>
          <p:cNvSpPr txBox="1"/>
          <p:nvPr/>
        </p:nvSpPr>
        <p:spPr>
          <a:xfrm>
            <a:off x="1143000" y="41015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PHP 2.80</a:t>
            </a:r>
          </a:p>
          <a:p>
            <a:pPr algn="l">
              <a:lnSpc>
                <a:spcPct val="115000"/>
              </a:lnSpc>
              <a:spcBef>
                <a:spcPts val="700"/>
              </a:spcBef>
              <a:spcAft>
                <a:spcPts val="0"/>
              </a:spcAft>
            </a:pPr>
            <a:r>
              <a:rPr sz="1700" b="0" i="0">
                <a:solidFill>
                  <a:srgbClr val="1A1A1A"/>
                </a:solidFill>
                <a:latin typeface="Arial"/>
              </a:rPr>
              <a:t>The range is the high minus the low: 52.40 - 49.60 = PHP 2.80 (Lim, p. 209).</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Three five-minute bars can make one 15-minute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56616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One bar for a longer stretch is a higher timeframe bar (Lim, p. 210).</a:t>
            </a:r>
          </a:p>
          <a:p>
            <a:pPr algn="l">
              <a:lnSpc>
                <a:spcPct val="105000"/>
              </a:lnSpc>
              <a:spcBef>
                <a:spcPts val="0"/>
              </a:spcBef>
              <a:spcAft>
                <a:spcPts val="1100"/>
              </a:spcAft>
            </a:pPr>
            <a:r>
              <a:rPr sz="1700" b="0" i="0">
                <a:solidFill>
                  <a:srgbClr val="1A1A1A"/>
                </a:solidFill>
                <a:latin typeface="Arial"/>
              </a:rPr>
              <a:t>It keeps the first interval's open </a:t>
            </a:r>
            <a:r>
              <a:rPr sz="1700" b="1" i="0">
                <a:solidFill>
                  <a:srgbClr val="E09B00"/>
                </a:solidFill>
                <a:latin typeface="Arial"/>
              </a:rPr>
              <a:t>(1)</a:t>
            </a:r>
            <a:r>
              <a:rPr sz="1700" b="0" i="0">
                <a:solidFill>
                  <a:srgbClr val="1A1A1A"/>
                </a:solidFill>
                <a:latin typeface="Arial"/>
              </a:rPr>
              <a:t>, the highest high </a:t>
            </a:r>
            <a:r>
              <a:rPr sz="1700" b="1" i="0">
                <a:solidFill>
                  <a:srgbClr val="C62828"/>
                </a:solidFill>
                <a:latin typeface="Arial"/>
              </a:rPr>
              <a:t>(2)</a:t>
            </a:r>
            <a:r>
              <a:rPr sz="1700" b="0" i="0">
                <a:solidFill>
                  <a:srgbClr val="1A1A1A"/>
                </a:solidFill>
                <a:latin typeface="Arial"/>
              </a:rPr>
              <a:t>, the lowest low </a:t>
            </a:r>
            <a:r>
              <a:rPr sz="1700" b="1" i="0">
                <a:solidFill>
                  <a:srgbClr val="1F5FAD"/>
                </a:solidFill>
                <a:latin typeface="Arial"/>
              </a:rPr>
              <a:t>(3)</a:t>
            </a:r>
            <a:r>
              <a:rPr sz="1700" b="0" i="0">
                <a:solidFill>
                  <a:srgbClr val="1A1A1A"/>
                </a:solidFill>
                <a:latin typeface="Arial"/>
              </a:rPr>
              <a:t> and the last interval's close </a:t>
            </a:r>
            <a:r>
              <a:rPr sz="1700" b="1" i="0">
                <a:solidFill>
                  <a:srgbClr val="7B3FA0"/>
                </a:solidFill>
                <a:latin typeface="Arial"/>
              </a:rPr>
              <a:t>(4)</a:t>
            </a:r>
            <a:r>
              <a:rPr sz="1700" b="0" i="0">
                <a:solidFill>
                  <a:srgbClr val="1A1A1A"/>
                </a:solidFill>
                <a:latin typeface="Arial"/>
              </a:rPr>
              <a:t> (p. 209). Dashed lines carry each to the 15-minute bar.</a:t>
            </a:r>
          </a:p>
        </p:txBody>
      </p:sp>
      <p:sp>
        <p:nvSpPr>
          <p:cNvPr id="7" name="Rectangle 6"/>
          <p:cNvSpPr/>
          <p:nvPr/>
        </p:nvSpPr>
        <p:spPr>
          <a:xfrm>
            <a:off x="777240" y="4222242"/>
            <a:ext cx="82296" cy="969263"/>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258818"/>
            <a:ext cx="32735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drawing has no prices; its 15-minute bar closes below its open.</a:t>
            </a:r>
          </a:p>
        </p:txBody>
      </p:sp>
      <p:sp>
        <p:nvSpPr>
          <p:cNvPr id="9" name="Rectangle 8"/>
          <p:cNvSpPr/>
          <p:nvPr/>
        </p:nvSpPr>
        <p:spPr>
          <a:xfrm>
            <a:off x="4626864" y="1207008"/>
            <a:ext cx="6824166" cy="4669153"/>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4663440" y="1243584"/>
            <a:ext cx="6751014" cy="4596001"/>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4663440" y="1243584"/>
            <a:ext cx="67510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4937759" y="1517904"/>
            <a:ext cx="6202375" cy="413880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a:t>
            </a:r>
          </a:p>
          <a:p>
            <a:pPr algn="l">
              <a:lnSpc>
                <a:spcPct val="115000"/>
              </a:lnSpc>
              <a:spcBef>
                <a:spcPts val="0"/>
              </a:spcBef>
              <a:spcAft>
                <a:spcPts val="0"/>
              </a:spcAft>
            </a:pPr>
            <a:r>
              <a:rPr sz="1500" b="0" i="0">
                <a:solidFill>
                  <a:srgbClr val="1A1A1A"/>
                </a:solidFill>
                <a:latin typeface="Palatino"/>
              </a:rPr>
              <a:t>Figure 7.2: three five-minute intervals on the left are summarized by one 15-minute bar on the right, which keeps the first open, the highest high, the lowest low and the last close.</a:t>
            </a:r>
          </a:p>
        </p:txBody>
      </p:sp>
      <p:cxnSp>
        <p:nvCxnSpPr>
          <p:cNvPr id="13" name="Connector 12"/>
          <p:cNvCxnSpPr/>
          <p:nvPr/>
        </p:nvCxnSpPr>
        <p:spPr>
          <a:xfrm>
            <a:off x="5102255" y="2438544"/>
            <a:ext cx="209282" cy="432024"/>
          </a:xfrm>
          <a:prstGeom prst="line">
            <a:avLst/>
          </a:prstGeom>
          <a:ln w="44450">
            <a:solidFill>
              <a:srgbClr val="E09B00"/>
            </a:solidFill>
            <a:tailEnd type="triangle" w="med" len="med"/>
          </a:ln>
        </p:spPr>
      </p:cxnSp>
      <p:cxnSp>
        <p:nvCxnSpPr>
          <p:cNvPr id="14" name="Connector 13"/>
          <p:cNvCxnSpPr/>
          <p:nvPr/>
        </p:nvCxnSpPr>
        <p:spPr>
          <a:xfrm flipH="1">
            <a:off x="5682843" y="2139804"/>
            <a:ext cx="567085" cy="55152"/>
          </a:xfrm>
          <a:prstGeom prst="line">
            <a:avLst/>
          </a:prstGeom>
          <a:ln w="44450">
            <a:solidFill>
              <a:srgbClr val="C62828"/>
            </a:solidFill>
            <a:tailEnd type="triangle" w="med" len="med"/>
          </a:ln>
        </p:spPr>
      </p:cxnSp>
      <p:cxnSp>
        <p:nvCxnSpPr>
          <p:cNvPr id="15" name="Connector 14"/>
          <p:cNvCxnSpPr/>
          <p:nvPr/>
        </p:nvCxnSpPr>
        <p:spPr>
          <a:xfrm flipV="1">
            <a:off x="6351193" y="4561896"/>
            <a:ext cx="580588" cy="59748"/>
          </a:xfrm>
          <a:prstGeom prst="line">
            <a:avLst/>
          </a:prstGeom>
          <a:ln w="44450">
            <a:solidFill>
              <a:srgbClr val="1F5FAD"/>
            </a:solidFill>
            <a:tailEnd type="triangle" w="med" len="med"/>
          </a:ln>
        </p:spPr>
      </p:cxnSp>
      <p:cxnSp>
        <p:nvCxnSpPr>
          <p:cNvPr id="16" name="Connector 15"/>
          <p:cNvCxnSpPr/>
          <p:nvPr/>
        </p:nvCxnSpPr>
        <p:spPr>
          <a:xfrm flipH="1" flipV="1">
            <a:off x="8052449" y="3798960"/>
            <a:ext cx="391559" cy="432024"/>
          </a:xfrm>
          <a:prstGeom prst="line">
            <a:avLst/>
          </a:prstGeom>
          <a:ln w="44450">
            <a:solidFill>
              <a:srgbClr val="7B3FA0"/>
            </a:solidFill>
            <a:tailEnd type="triangle" w="med" len="med"/>
          </a:ln>
        </p:spPr>
      </p:cxnSp>
      <p:sp>
        <p:nvSpPr>
          <p:cNvPr id="17" name="Oval 16"/>
          <p:cNvSpPr/>
          <p:nvPr/>
        </p:nvSpPr>
        <p:spPr>
          <a:xfrm>
            <a:off x="4965095" y="2301384"/>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6112768" y="2002644"/>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6214033" y="4484484"/>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8306848" y="4093824"/>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TextBox 20"/>
          <p:cNvSpPr txBox="1"/>
          <p:nvPr/>
        </p:nvSpPr>
        <p:spPr>
          <a:xfrm>
            <a:off x="777240" y="5705856"/>
            <a:ext cx="356616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7.2 - Lim, The Handbook of Technical Analysis (Wiley, 2016)</a:t>
            </a:r>
          </a:p>
        </p:txBody>
      </p:sp>
      <p:sp>
        <p:nvSpPr>
          <p:cNvPr id="22" name="TextBox 2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5 of 22</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209 to 210, Figure 7.2. The marks are ours, added for teaching.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Building a 15-minute bar from our own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the same rule with prices of ours. Bars 1 to 3 are three five-minute bars in a row, and bar 4 is the 15-minute bar they make. Bar 4 opens where bar 1 opened, PHP 50.00 </a:t>
            </a:r>
            <a:r>
              <a:rPr sz="1700" b="1" i="0">
                <a:solidFill>
                  <a:srgbClr val="E09B00"/>
                </a:solidFill>
                <a:latin typeface="Arial"/>
              </a:rPr>
              <a:t>(1)</a:t>
            </a:r>
            <a:r>
              <a:rPr sz="1700" b="0" i="0">
                <a:solidFill>
                  <a:srgbClr val="1A1A1A"/>
                </a:solidFill>
                <a:latin typeface="Arial"/>
              </a:rPr>
              <a:t>. Its high is the highest high, PHP 50.90 from bar 2 </a:t>
            </a:r>
            <a:r>
              <a:rPr sz="1700" b="1" i="0">
                <a:solidFill>
                  <a:srgbClr val="C62828"/>
                </a:solidFill>
                <a:latin typeface="Arial"/>
              </a:rPr>
              <a:t>(2)</a:t>
            </a:r>
            <a:r>
              <a:rPr sz="1700" b="0" i="0">
                <a:solidFill>
                  <a:srgbClr val="1A1A1A"/>
                </a:solidFill>
                <a:latin typeface="Arial"/>
              </a:rPr>
              <a:t>, and its low the lowest low, PHP 49.40, also from bar 2 </a:t>
            </a:r>
            <a:r>
              <a:rPr sz="1700" b="1" i="0">
                <a:solidFill>
                  <a:srgbClr val="1F5FAD"/>
                </a:solidFill>
                <a:latin typeface="Arial"/>
              </a:rPr>
              <a:t>(3)</a:t>
            </a:r>
            <a:r>
              <a:rPr sz="1700" b="0" i="0">
                <a:solidFill>
                  <a:srgbClr val="1A1A1A"/>
                </a:solidFill>
                <a:latin typeface="Arial"/>
              </a:rPr>
              <a:t>. It closes where bar 3 closed, PHP 50.30 </a:t>
            </a:r>
            <a:r>
              <a:rPr sz="1700" b="1" i="0">
                <a:solidFill>
                  <a:srgbClr val="7B3FA0"/>
                </a:solidFill>
                <a:latin typeface="Arial"/>
              </a:rPr>
              <a:t>(4)</a:t>
            </a:r>
            <a:r>
              <a:rPr sz="1700" b="0" i="0">
                <a:solidFill>
                  <a:srgbClr val="1A1A1A"/>
                </a:solidFill>
                <a:latin typeface="Arial"/>
              </a:rPr>
              <a:t>. The opens and closes in between drop out.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r-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1940356" y="4319625"/>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4745431"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4745431" y="494873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550505" y="4005072"/>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1856232" y="406359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833213"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4833213" y="486460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7510873" y="3754897"/>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6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R. The PHP values are invented for teaching.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Reading a higher timeframe bar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8010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Which open survives when three five-minute bars become one 15-minute bar?</a:t>
            </a:r>
          </a:p>
        </p:txBody>
      </p:sp>
      <p:sp>
        <p:nvSpPr>
          <p:cNvPr id="9" name="TextBox 8"/>
          <p:cNvSpPr txBox="1"/>
          <p:nvPr/>
        </p:nvSpPr>
        <p:spPr>
          <a:xfrm>
            <a:off x="1051560"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first five-minute open</a:t>
            </a:r>
          </a:p>
          <a:p>
            <a:pPr algn="l">
              <a:lnSpc>
                <a:spcPct val="112000"/>
              </a:lnSpc>
              <a:spcBef>
                <a:spcPts val="0"/>
              </a:spcBef>
              <a:spcAft>
                <a:spcPts val="900"/>
              </a:spcAft>
            </a:pPr>
            <a:r>
              <a:rPr sz="1700" b="0" i="0">
                <a:solidFill>
                  <a:srgbClr val="FFFFFF"/>
                </a:solidFill>
                <a:latin typeface="Arial"/>
              </a:rPr>
              <a:t>B.  The second open</a:t>
            </a:r>
          </a:p>
          <a:p>
            <a:pPr algn="l">
              <a:lnSpc>
                <a:spcPct val="112000"/>
              </a:lnSpc>
              <a:spcBef>
                <a:spcPts val="0"/>
              </a:spcBef>
              <a:spcAft>
                <a:spcPts val="900"/>
              </a:spcAft>
            </a:pPr>
            <a:r>
              <a:rPr sz="1700" b="0" i="0">
                <a:solidFill>
                  <a:srgbClr val="FFFFFF"/>
                </a:solidFill>
                <a:latin typeface="Arial"/>
              </a:rPr>
              <a:t>C.  The highest high</a:t>
            </a:r>
          </a:p>
          <a:p>
            <a:pPr algn="l">
              <a:lnSpc>
                <a:spcPct val="112000"/>
              </a:lnSpc>
              <a:spcBef>
                <a:spcPts val="0"/>
              </a:spcBef>
              <a:spcAft>
                <a:spcPts val="900"/>
              </a:spcAft>
            </a:pPr>
            <a:r>
              <a:rPr sz="1700" b="0" i="0">
                <a:solidFill>
                  <a:srgbClr val="FFFFFF"/>
                </a:solidFill>
                <a:latin typeface="Arial"/>
              </a:rPr>
              <a:t>D.  The last close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Which high survives in the 15-minute bar?</a:t>
            </a:r>
          </a:p>
        </p:txBody>
      </p:sp>
      <p:sp>
        <p:nvSpPr>
          <p:cNvPr id="13" name="TextBox 12"/>
          <p:cNvSpPr txBox="1"/>
          <p:nvPr/>
        </p:nvSpPr>
        <p:spPr>
          <a:xfrm>
            <a:off x="6690207"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first high</a:t>
            </a:r>
          </a:p>
          <a:p>
            <a:pPr algn="l">
              <a:lnSpc>
                <a:spcPct val="112000"/>
              </a:lnSpc>
              <a:spcBef>
                <a:spcPts val="0"/>
              </a:spcBef>
              <a:spcAft>
                <a:spcPts val="900"/>
              </a:spcAft>
            </a:pPr>
            <a:r>
              <a:rPr sz="1700" b="0" i="0">
                <a:solidFill>
                  <a:srgbClr val="FFFFFF"/>
                </a:solidFill>
                <a:latin typeface="Arial"/>
              </a:rPr>
              <a:t>B.  The highest high</a:t>
            </a:r>
          </a:p>
          <a:p>
            <a:pPr algn="l">
              <a:lnSpc>
                <a:spcPct val="112000"/>
              </a:lnSpc>
              <a:spcBef>
                <a:spcPts val="0"/>
              </a:spcBef>
              <a:spcAft>
                <a:spcPts val="900"/>
              </a:spcAft>
            </a:pPr>
            <a:r>
              <a:rPr sz="1700" b="0" i="0">
                <a:solidFill>
                  <a:srgbClr val="FFFFFF"/>
                </a:solidFill>
                <a:latin typeface="Arial"/>
              </a:rPr>
              <a:t>C.  The last close</a:t>
            </a:r>
          </a:p>
          <a:p>
            <a:pPr algn="l">
              <a:lnSpc>
                <a:spcPct val="112000"/>
              </a:lnSpc>
              <a:spcBef>
                <a:spcPts val="0"/>
              </a:spcBef>
              <a:spcAft>
                <a:spcPts val="900"/>
              </a:spcAft>
            </a:pPr>
            <a:r>
              <a:rPr sz="1700" b="0" i="0">
                <a:solidFill>
                  <a:srgbClr val="FFFFFF"/>
                </a:solidFill>
                <a:latin typeface="Arial"/>
              </a:rPr>
              <a:t>D.  Every intermediate high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Reading a higher timeframe bar</a:t>
            </a:r>
          </a:p>
        </p:txBody>
      </p:sp>
      <p:sp>
        <p:nvSpPr>
          <p:cNvPr id="6" name="Rectangle 5"/>
          <p:cNvSpPr/>
          <p:nvPr/>
        </p:nvSpPr>
        <p:spPr>
          <a:xfrm>
            <a:off x="777240" y="1207008"/>
            <a:ext cx="10637215" cy="165735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5735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open survives when three five-minute bars become one 15-minute bar?</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first five-minute open</a:t>
            </a:r>
          </a:p>
          <a:p>
            <a:pPr algn="l">
              <a:lnSpc>
                <a:spcPct val="115000"/>
              </a:lnSpc>
              <a:spcBef>
                <a:spcPts val="700"/>
              </a:spcBef>
              <a:spcAft>
                <a:spcPts val="0"/>
              </a:spcAft>
            </a:pPr>
            <a:r>
              <a:rPr sz="1700" b="0" i="0">
                <a:solidFill>
                  <a:srgbClr val="1A1A1A"/>
                </a:solidFill>
                <a:latin typeface="Arial"/>
              </a:rPr>
              <a:t>It keeps the first interval's open (Lim, p. 209).</a:t>
            </a:r>
          </a:p>
        </p:txBody>
      </p:sp>
      <p:sp>
        <p:nvSpPr>
          <p:cNvPr id="10" name="Rectangle 9"/>
          <p:cNvSpPr/>
          <p:nvPr/>
        </p:nvSpPr>
        <p:spPr>
          <a:xfrm>
            <a:off x="777240" y="3111246"/>
            <a:ext cx="10637215" cy="165735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11246"/>
            <a:ext cx="91440" cy="165735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48989"/>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Which high survives in the 15-minute bar?</a:t>
            </a:r>
          </a:p>
        </p:txBody>
      </p:sp>
      <p:sp>
        <p:nvSpPr>
          <p:cNvPr id="13" name="TextBox 12"/>
          <p:cNvSpPr txBox="1"/>
          <p:nvPr/>
        </p:nvSpPr>
        <p:spPr>
          <a:xfrm>
            <a:off x="1143000" y="3853306"/>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highest high</a:t>
            </a:r>
          </a:p>
          <a:p>
            <a:pPr algn="l">
              <a:lnSpc>
                <a:spcPct val="115000"/>
              </a:lnSpc>
              <a:spcBef>
                <a:spcPts val="700"/>
              </a:spcBef>
              <a:spcAft>
                <a:spcPts val="0"/>
              </a:spcAft>
            </a:pPr>
            <a:r>
              <a:rPr sz="1700" b="0" i="0">
                <a:solidFill>
                  <a:srgbClr val="1A1A1A"/>
                </a:solidFill>
                <a:latin typeface="Arial"/>
              </a:rPr>
              <a:t>It keeps the highest high of the whole stretch (Lim, p. 209).</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Figure 7.3 follows price through several intervals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420624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Many patterns use more than one bar, so Lim next follows price through a run of five-minute intervals (p. 210). This crop shows the first two of the figure's eight.</a:t>
            </a:r>
          </a:p>
          <a:p>
            <a:pPr algn="l">
              <a:lnSpc>
                <a:spcPct val="105000"/>
              </a:lnSpc>
              <a:spcBef>
                <a:spcPts val="0"/>
              </a:spcBef>
              <a:spcAft>
                <a:spcPts val="1100"/>
              </a:spcAft>
            </a:pPr>
            <a:r>
              <a:rPr sz="1700" b="0" i="0">
                <a:solidFill>
                  <a:srgbClr val="1A1A1A"/>
                </a:solidFill>
                <a:latin typeface="Arial"/>
              </a:rPr>
              <a:t>Take interval 1. Price opens at O </a:t>
            </a:r>
            <a:r>
              <a:rPr sz="1700" b="1" i="0">
                <a:solidFill>
                  <a:srgbClr val="E09B00"/>
                </a:solidFill>
                <a:latin typeface="Arial"/>
              </a:rPr>
              <a:t>(1)</a:t>
            </a:r>
            <a:r>
              <a:rPr sz="1700" b="0" i="0">
                <a:solidFill>
                  <a:srgbClr val="1A1A1A"/>
                </a:solidFill>
                <a:latin typeface="Arial"/>
              </a:rPr>
              <a:t>, climbs to its high H </a:t>
            </a:r>
            <a:r>
              <a:rPr sz="1700" b="1" i="0">
                <a:solidFill>
                  <a:srgbClr val="C62828"/>
                </a:solidFill>
                <a:latin typeface="Arial"/>
              </a:rPr>
              <a:t>(2)</a:t>
            </a:r>
            <a:r>
              <a:rPr sz="1700" b="0" i="0">
                <a:solidFill>
                  <a:srgbClr val="1A1A1A"/>
                </a:solidFill>
                <a:latin typeface="Arial"/>
              </a:rPr>
              <a:t>, drops to its low L </a:t>
            </a:r>
            <a:r>
              <a:rPr sz="1700" b="1" i="0">
                <a:solidFill>
                  <a:srgbClr val="1F5FAD"/>
                </a:solidFill>
                <a:latin typeface="Arial"/>
              </a:rPr>
              <a:t>(3)</a:t>
            </a:r>
            <a:r>
              <a:rPr sz="1700" b="0" i="0">
                <a:solidFill>
                  <a:srgbClr val="1A1A1A"/>
                </a:solidFill>
                <a:latin typeface="Arial"/>
              </a:rPr>
              <a:t> and ends the interval at C </a:t>
            </a:r>
            <a:r>
              <a:rPr sz="1700" b="1" i="0">
                <a:solidFill>
                  <a:srgbClr val="7B3FA0"/>
                </a:solidFill>
                <a:latin typeface="Arial"/>
              </a:rPr>
              <a:t>(4)</a:t>
            </a:r>
            <a:r>
              <a:rPr sz="1700" b="0" i="0">
                <a:solidFill>
                  <a:srgbClr val="1A1A1A"/>
                </a:solidFill>
                <a:latin typeface="Arial"/>
              </a:rPr>
              <a:t>.</a:t>
            </a:r>
          </a:p>
        </p:txBody>
      </p:sp>
      <p:sp>
        <p:nvSpPr>
          <p:cNvPr id="7" name="Rectangle 6"/>
          <p:cNvSpPr/>
          <p:nvPr/>
        </p:nvSpPr>
        <p:spPr>
          <a:xfrm>
            <a:off x="777240" y="4222242"/>
            <a:ext cx="82296" cy="694944"/>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258818"/>
            <a:ext cx="3913631"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Each interval is read on its own, just like one bar.</a:t>
            </a:r>
          </a:p>
        </p:txBody>
      </p:sp>
      <p:sp>
        <p:nvSpPr>
          <p:cNvPr id="9" name="Rectangle 8"/>
          <p:cNvSpPr/>
          <p:nvPr/>
        </p:nvSpPr>
        <p:spPr>
          <a:xfrm>
            <a:off x="6406314" y="1207008"/>
            <a:ext cx="3905346" cy="493775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42890" y="1243584"/>
            <a:ext cx="3832194" cy="486460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442890" y="1243584"/>
            <a:ext cx="383219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717210" y="1517904"/>
            <a:ext cx="3283554" cy="440740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a:t>
            </a:r>
          </a:p>
          <a:p>
            <a:pPr algn="l">
              <a:lnSpc>
                <a:spcPct val="115000"/>
              </a:lnSpc>
              <a:spcBef>
                <a:spcPts val="0"/>
              </a:spcBef>
              <a:spcAft>
                <a:spcPts val="0"/>
              </a:spcAft>
            </a:pPr>
            <a:r>
              <a:rPr sz="1500" b="0" i="0">
                <a:solidFill>
                  <a:srgbClr val="1A1A1A"/>
                </a:solidFill>
                <a:latin typeface="Palatino"/>
              </a:rPr>
              <a:t>Figure 7.3, cropped to the price trace of its first two five-minute intervals. Each interval has its own open, high, low and close.</a:t>
            </a:r>
          </a:p>
        </p:txBody>
      </p:sp>
      <p:cxnSp>
        <p:nvCxnSpPr>
          <p:cNvPr id="13" name="Connector 12"/>
          <p:cNvCxnSpPr/>
          <p:nvPr/>
        </p:nvCxnSpPr>
        <p:spPr>
          <a:xfrm flipV="1">
            <a:off x="7167175" y="2994842"/>
            <a:ext cx="0" cy="681045"/>
          </a:xfrm>
          <a:prstGeom prst="line">
            <a:avLst/>
          </a:prstGeom>
          <a:ln w="44450">
            <a:solidFill>
              <a:srgbClr val="E09B00"/>
            </a:solidFill>
            <a:tailEnd type="triangle" w="med" len="med"/>
          </a:ln>
        </p:spPr>
      </p:cxnSp>
      <p:cxnSp>
        <p:nvCxnSpPr>
          <p:cNvPr id="14" name="Connector 13"/>
          <p:cNvCxnSpPr/>
          <p:nvPr/>
        </p:nvCxnSpPr>
        <p:spPr>
          <a:xfrm flipH="1">
            <a:off x="7719011" y="1851660"/>
            <a:ext cx="390883" cy="355116"/>
          </a:xfrm>
          <a:prstGeom prst="line">
            <a:avLst/>
          </a:prstGeom>
          <a:ln w="44450">
            <a:solidFill>
              <a:srgbClr val="C62828"/>
            </a:solidFill>
            <a:tailEnd type="triangle" w="med" len="med"/>
          </a:ln>
        </p:spPr>
      </p:cxnSp>
      <p:cxnSp>
        <p:nvCxnSpPr>
          <p:cNvPr id="15" name="Connector 14"/>
          <p:cNvCxnSpPr/>
          <p:nvPr/>
        </p:nvCxnSpPr>
        <p:spPr>
          <a:xfrm flipV="1">
            <a:off x="7849305" y="4429902"/>
            <a:ext cx="341065" cy="364845"/>
          </a:xfrm>
          <a:prstGeom prst="line">
            <a:avLst/>
          </a:prstGeom>
          <a:ln w="44450">
            <a:solidFill>
              <a:srgbClr val="1F5FAD"/>
            </a:solidFill>
            <a:tailEnd type="triangle" w="med" len="med"/>
          </a:ln>
        </p:spPr>
      </p:cxnSp>
      <p:cxnSp>
        <p:nvCxnSpPr>
          <p:cNvPr id="16" name="Connector 15"/>
          <p:cNvCxnSpPr/>
          <p:nvPr/>
        </p:nvCxnSpPr>
        <p:spPr>
          <a:xfrm flipH="1">
            <a:off x="8558261" y="2216505"/>
            <a:ext cx="134127" cy="719962"/>
          </a:xfrm>
          <a:prstGeom prst="line">
            <a:avLst/>
          </a:prstGeom>
          <a:ln w="44450">
            <a:solidFill>
              <a:srgbClr val="7B3FA0"/>
            </a:solidFill>
            <a:tailEnd type="triangle" w="med" len="med"/>
          </a:ln>
        </p:spPr>
      </p:cxnSp>
      <p:sp>
        <p:nvSpPr>
          <p:cNvPr id="17" name="Oval 16"/>
          <p:cNvSpPr/>
          <p:nvPr/>
        </p:nvSpPr>
        <p:spPr>
          <a:xfrm>
            <a:off x="7030015" y="3538727"/>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972734" y="1714500"/>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7712145" y="4657587"/>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8555228" y="2079345"/>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TextBox 20"/>
          <p:cNvSpPr txBox="1"/>
          <p:nvPr/>
        </p:nvSpPr>
        <p:spPr>
          <a:xfrm>
            <a:off x="777240" y="5705856"/>
            <a:ext cx="420624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7.3 - Lim, The Handbook of Technical Analysis (Wiley, 2016)</a:t>
            </a:r>
          </a:p>
        </p:txBody>
      </p:sp>
      <p:sp>
        <p:nvSpPr>
          <p:cNvPr id="22" name="TextBox 2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7 of 22</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210 to 211, Figure 7.3. The crop and marks are ours, added for teaching.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Below each interval, Lim draws the bar it becomes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56616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Under the price trace, Figure 7.3 draws one OHLC bar for each interval, directly below it (p. 210). This crop shows the bars for intervals 1 to 4.</a:t>
            </a:r>
          </a:p>
          <a:p>
            <a:pPr algn="l">
              <a:lnSpc>
                <a:spcPct val="105000"/>
              </a:lnSpc>
              <a:spcBef>
                <a:spcPts val="0"/>
              </a:spcBef>
              <a:spcAft>
                <a:spcPts val="1100"/>
              </a:spcAft>
            </a:pPr>
            <a:r>
              <a:rPr sz="1700" b="0" i="0">
                <a:solidFill>
                  <a:srgbClr val="1A1A1A"/>
                </a:solidFill>
                <a:latin typeface="Arial"/>
              </a:rPr>
              <a:t>Bar 1 keeps interval 1's open </a:t>
            </a:r>
            <a:r>
              <a:rPr sz="1700" b="1" i="0">
                <a:solidFill>
                  <a:srgbClr val="E09B00"/>
                </a:solidFill>
                <a:latin typeface="Arial"/>
              </a:rPr>
              <a:t>(1)</a:t>
            </a:r>
            <a:r>
              <a:rPr sz="1700" b="0" i="0">
                <a:solidFill>
                  <a:srgbClr val="1A1A1A"/>
                </a:solidFill>
                <a:latin typeface="Arial"/>
              </a:rPr>
              <a:t>, high </a:t>
            </a:r>
            <a:r>
              <a:rPr sz="1700" b="1" i="0">
                <a:solidFill>
                  <a:srgbClr val="C62828"/>
                </a:solidFill>
                <a:latin typeface="Arial"/>
              </a:rPr>
              <a:t>(2)</a:t>
            </a:r>
            <a:r>
              <a:rPr sz="1700" b="0" i="0">
                <a:solidFill>
                  <a:srgbClr val="1A1A1A"/>
                </a:solidFill>
                <a:latin typeface="Arial"/>
              </a:rPr>
              <a:t>, low </a:t>
            </a:r>
            <a:r>
              <a:rPr sz="1700" b="1" i="0">
                <a:solidFill>
                  <a:srgbClr val="1F5FAD"/>
                </a:solidFill>
                <a:latin typeface="Arial"/>
              </a:rPr>
              <a:t>(3)</a:t>
            </a:r>
            <a:r>
              <a:rPr sz="1700" b="0" i="0">
                <a:solidFill>
                  <a:srgbClr val="1A1A1A"/>
                </a:solidFill>
                <a:latin typeface="Arial"/>
              </a:rPr>
              <a:t> and close </a:t>
            </a:r>
            <a:r>
              <a:rPr sz="1700" b="1" i="0">
                <a:solidFill>
                  <a:srgbClr val="7B3FA0"/>
                </a:solidFill>
                <a:latin typeface="Arial"/>
              </a:rPr>
              <a:t>(4)</a:t>
            </a:r>
            <a:r>
              <a:rPr sz="1700" b="0" i="0">
                <a:solidFill>
                  <a:srgbClr val="1A1A1A"/>
                </a:solidFill>
                <a:latin typeface="Arial"/>
              </a:rPr>
              <a:t>. Its open and close ticks sit level, because interval 1 ended about where it began.</a:t>
            </a:r>
          </a:p>
        </p:txBody>
      </p:sp>
      <p:sp>
        <p:nvSpPr>
          <p:cNvPr id="7" name="Rectangle 6"/>
          <p:cNvSpPr/>
          <p:nvPr/>
        </p:nvSpPr>
        <p:spPr>
          <a:xfrm>
            <a:off x="777240" y="4494276"/>
            <a:ext cx="82296" cy="969263"/>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530852"/>
            <a:ext cx="327355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Read every interval as a bar first; only then name the pattern.</a:t>
            </a:r>
          </a:p>
        </p:txBody>
      </p:sp>
      <p:sp>
        <p:nvSpPr>
          <p:cNvPr id="9" name="Rectangle 8"/>
          <p:cNvSpPr/>
          <p:nvPr/>
        </p:nvSpPr>
        <p:spPr>
          <a:xfrm>
            <a:off x="4626864" y="1207008"/>
            <a:ext cx="6824166" cy="3901117"/>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4663440" y="1243584"/>
            <a:ext cx="6751014" cy="382796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4663440" y="1243584"/>
            <a:ext cx="675101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4937759" y="1517904"/>
            <a:ext cx="6202375" cy="33707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a:t>
            </a:r>
          </a:p>
          <a:p>
            <a:pPr algn="l">
              <a:lnSpc>
                <a:spcPct val="115000"/>
              </a:lnSpc>
              <a:spcBef>
                <a:spcPts val="0"/>
              </a:spcBef>
              <a:spcAft>
                <a:spcPts val="0"/>
              </a:spcAft>
            </a:pPr>
            <a:r>
              <a:rPr sz="1500" b="0" i="0">
                <a:solidFill>
                  <a:srgbClr val="1A1A1A"/>
                </a:solidFill>
                <a:latin typeface="Palatino"/>
              </a:rPr>
              <a:t>Figure 7.3, cropped to the price bars drawn under its first four intervals. Each interval becomes one OHLC bar directly below it.</a:t>
            </a:r>
          </a:p>
        </p:txBody>
      </p:sp>
      <p:cxnSp>
        <p:nvCxnSpPr>
          <p:cNvPr id="13" name="Connector 12"/>
          <p:cNvCxnSpPr/>
          <p:nvPr/>
        </p:nvCxnSpPr>
        <p:spPr>
          <a:xfrm flipV="1">
            <a:off x="5541071" y="3061867"/>
            <a:ext cx="202531" cy="478496"/>
          </a:xfrm>
          <a:prstGeom prst="line">
            <a:avLst/>
          </a:prstGeom>
          <a:ln w="44450">
            <a:solidFill>
              <a:srgbClr val="E09B00"/>
            </a:solidFill>
            <a:tailEnd type="triangle" w="med" len="med"/>
          </a:ln>
        </p:spPr>
      </p:cxnSp>
      <p:cxnSp>
        <p:nvCxnSpPr>
          <p:cNvPr id="14" name="Connector 13"/>
          <p:cNvCxnSpPr/>
          <p:nvPr/>
        </p:nvCxnSpPr>
        <p:spPr>
          <a:xfrm flipH="1">
            <a:off x="5912377" y="2009177"/>
            <a:ext cx="371306" cy="287097"/>
          </a:xfrm>
          <a:prstGeom prst="line">
            <a:avLst/>
          </a:prstGeom>
          <a:ln w="44450">
            <a:solidFill>
              <a:srgbClr val="C62828"/>
            </a:solidFill>
            <a:tailEnd type="triangle" w="med" len="med"/>
          </a:ln>
        </p:spPr>
      </p:cxnSp>
      <p:cxnSp>
        <p:nvCxnSpPr>
          <p:cNvPr id="15" name="Connector 14"/>
          <p:cNvCxnSpPr/>
          <p:nvPr/>
        </p:nvCxnSpPr>
        <p:spPr>
          <a:xfrm>
            <a:off x="5406051" y="4459075"/>
            <a:ext cx="452318" cy="107183"/>
          </a:xfrm>
          <a:prstGeom prst="line">
            <a:avLst/>
          </a:prstGeom>
          <a:ln w="44450">
            <a:solidFill>
              <a:srgbClr val="1F5FAD"/>
            </a:solidFill>
            <a:tailEnd type="triangle" w="med" len="med"/>
          </a:ln>
        </p:spPr>
      </p:cxnSp>
      <p:cxnSp>
        <p:nvCxnSpPr>
          <p:cNvPr id="16" name="Connector 15"/>
          <p:cNvCxnSpPr/>
          <p:nvPr/>
        </p:nvCxnSpPr>
        <p:spPr>
          <a:xfrm flipH="1" flipV="1">
            <a:off x="6047398" y="3061867"/>
            <a:ext cx="303795" cy="478496"/>
          </a:xfrm>
          <a:prstGeom prst="line">
            <a:avLst/>
          </a:prstGeom>
          <a:ln w="44450">
            <a:solidFill>
              <a:srgbClr val="7B3FA0"/>
            </a:solidFill>
            <a:tailEnd type="triangle" w="med" len="med"/>
          </a:ln>
        </p:spPr>
      </p:cxnSp>
      <p:sp>
        <p:nvSpPr>
          <p:cNvPr id="17" name="Oval 16"/>
          <p:cNvSpPr/>
          <p:nvPr/>
        </p:nvSpPr>
        <p:spPr>
          <a:xfrm>
            <a:off x="5403911" y="3403203"/>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6146523" y="1872017"/>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5268891" y="4321915"/>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6214033" y="3403203"/>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TextBox 20"/>
          <p:cNvSpPr txBox="1"/>
          <p:nvPr/>
        </p:nvSpPr>
        <p:spPr>
          <a:xfrm>
            <a:off x="777240" y="5705856"/>
            <a:ext cx="356616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7.3 - Lim, The Handbook of Technical Analysis (Wiley, 2016)</a:t>
            </a:r>
          </a:p>
        </p:txBody>
      </p:sp>
      <p:sp>
        <p:nvSpPr>
          <p:cNvPr id="22" name="TextBox 2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8 of 22</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210 to 211, Figure 7.3. The crop and marks are ours, added for teaching.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first way to sort a formation: count its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9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Now we can name patterns. Lim never defines formation; here it means the bar, or group of bars, read as one pattern.</a:t>
            </a:r>
          </a:p>
          <a:p>
            <a:pPr algn="l">
              <a:lnSpc>
                <a:spcPct val="118000"/>
              </a:lnSpc>
              <a:spcBef>
                <a:spcPts val="0"/>
              </a:spcBef>
              <a:spcAft>
                <a:spcPts val="1300"/>
              </a:spcAft>
            </a:pPr>
            <a:r>
              <a:rPr sz="2100" b="0" i="0">
                <a:solidFill>
                  <a:srgbClr val="1A1A1A"/>
                </a:solidFill>
                <a:latin typeface="Arial"/>
              </a:rPr>
              <a:t>Lim sorts formations in three ways, and the first is the number of bars that make it up (p. 210). One bar is a single formation, two a double and three a triple.</a:t>
            </a:r>
          </a:p>
          <a:p>
            <a:pPr algn="l">
              <a:lnSpc>
                <a:spcPct val="118000"/>
              </a:lnSpc>
              <a:spcBef>
                <a:spcPts val="0"/>
              </a:spcBef>
              <a:spcAft>
                <a:spcPts val="1300"/>
              </a:spcAft>
            </a:pPr>
            <a:r>
              <a:rPr sz="2100" b="0" i="0">
                <a:solidFill>
                  <a:srgbClr val="1A1A1A"/>
                </a:solidFill>
                <a:latin typeface="Arial"/>
              </a:rPr>
              <a:t>Longer groups are multiple formations; Lim does not say where multiple begins.</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count describes shape only; it does not make a formation bullish or bearish.</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What single, double, triple and multiple look like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what those names look like, drawn by us. One bar on its own </a:t>
            </a:r>
            <a:r>
              <a:rPr sz="1700" b="1" i="0">
                <a:solidFill>
                  <a:srgbClr val="E09B00"/>
                </a:solidFill>
                <a:latin typeface="Arial"/>
              </a:rPr>
              <a:t>(1)</a:t>
            </a:r>
            <a:r>
              <a:rPr sz="1700" b="0" i="0">
                <a:solidFill>
                  <a:srgbClr val="1A1A1A"/>
                </a:solidFill>
                <a:latin typeface="Arial"/>
              </a:rPr>
              <a:t> is a single formation, two bars </a:t>
            </a:r>
            <a:r>
              <a:rPr sz="1700" b="1" i="0">
                <a:solidFill>
                  <a:srgbClr val="C62828"/>
                </a:solidFill>
                <a:latin typeface="Arial"/>
              </a:rPr>
              <a:t>(2)</a:t>
            </a:r>
            <a:r>
              <a:rPr sz="1700" b="0" i="0">
                <a:solidFill>
                  <a:srgbClr val="1A1A1A"/>
                </a:solidFill>
                <a:latin typeface="Arial"/>
              </a:rPr>
              <a:t> a double and three bars </a:t>
            </a:r>
            <a:r>
              <a:rPr sz="1700" b="1" i="0">
                <a:solidFill>
                  <a:srgbClr val="1F5FAD"/>
                </a:solidFill>
                <a:latin typeface="Arial"/>
              </a:rPr>
              <a:t>(3)</a:t>
            </a:r>
            <a:r>
              <a:rPr sz="1700" b="0" i="0">
                <a:solidFill>
                  <a:srgbClr val="1A1A1A"/>
                </a:solidFill>
                <a:latin typeface="Arial"/>
              </a:rPr>
              <a:t> a triple. We drew five bars </a:t>
            </a:r>
            <a:r>
              <a:rPr sz="1700" b="1" i="0">
                <a:solidFill>
                  <a:srgbClr val="7B3FA0"/>
                </a:solidFill>
                <a:latin typeface="Arial"/>
              </a:rPr>
              <a:t>(4)</a:t>
            </a:r>
            <a:r>
              <a:rPr sz="1700" b="0" i="0">
                <a:solidFill>
                  <a:srgbClr val="1A1A1A"/>
                </a:solidFill>
                <a:latin typeface="Arial"/>
              </a:rPr>
              <a:t> for a multiple formation, since Lim does not say where multiple begins. The bars carry no prices: only how many there are matters here.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g-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673352" y="3392424"/>
            <a:ext cx="640079" cy="1371600"/>
          </a:xfrm>
          <a:prstGeom prst="rect">
            <a:avLst/>
          </a:prstGeom>
          <a:noFill/>
          <a:ln w="44450">
            <a:solidFill>
              <a:srgbClr val="E09B00"/>
            </a:solidFill>
          </a:ln>
        </p:spPr>
        <p:txBody>
          <a:bodyPr rtlCol="0" anchor="ctr"/>
          <a:lstStyle/>
          <a:p>
            <a:pPr algn="ctr"/>
          </a:p>
        </p:txBody>
      </p:sp>
      <p:sp>
        <p:nvSpPr>
          <p:cNvPr id="10" name="Rectangle 9"/>
          <p:cNvSpPr/>
          <p:nvPr/>
        </p:nvSpPr>
        <p:spPr>
          <a:xfrm>
            <a:off x="3401568" y="3392424"/>
            <a:ext cx="1024128" cy="1371600"/>
          </a:xfrm>
          <a:prstGeom prst="rect">
            <a:avLst/>
          </a:prstGeom>
          <a:noFill/>
          <a:ln w="44450">
            <a:solidFill>
              <a:srgbClr val="C62828"/>
            </a:solidFill>
          </a:ln>
        </p:spPr>
        <p:txBody>
          <a:bodyPr rtlCol="0" anchor="ctr"/>
          <a:lstStyle/>
          <a:p>
            <a:pPr algn="ctr"/>
          </a:p>
        </p:txBody>
      </p:sp>
      <p:sp>
        <p:nvSpPr>
          <p:cNvPr id="11" name="Rectangle 10"/>
          <p:cNvSpPr/>
          <p:nvPr/>
        </p:nvSpPr>
        <p:spPr>
          <a:xfrm>
            <a:off x="5586984" y="3392424"/>
            <a:ext cx="1408175" cy="1371600"/>
          </a:xfrm>
          <a:prstGeom prst="rect">
            <a:avLst/>
          </a:prstGeom>
          <a:noFill/>
          <a:ln w="44450">
            <a:solidFill>
              <a:srgbClr val="1F5FAD"/>
            </a:solidFill>
          </a:ln>
        </p:spPr>
        <p:txBody>
          <a:bodyPr rtlCol="0" anchor="ctr"/>
          <a:lstStyle/>
          <a:p>
            <a:pPr algn="ctr"/>
          </a:p>
        </p:txBody>
      </p:sp>
      <p:sp>
        <p:nvSpPr>
          <p:cNvPr id="12" name="Rectangle 11"/>
          <p:cNvSpPr/>
          <p:nvPr/>
        </p:nvSpPr>
        <p:spPr>
          <a:xfrm>
            <a:off x="8220456" y="3392424"/>
            <a:ext cx="2176271" cy="1371600"/>
          </a:xfrm>
          <a:prstGeom prst="rect">
            <a:avLst/>
          </a:prstGeom>
          <a:noFill/>
          <a:ln w="44450">
            <a:solidFill>
              <a:srgbClr val="7B3FA0"/>
            </a:solidFill>
          </a:ln>
        </p:spPr>
        <p:txBody>
          <a:bodyPr rtlCol="0" anchor="ctr"/>
          <a:lstStyle/>
          <a:p>
            <a:pPr algn="ctr"/>
          </a:p>
        </p:txBody>
      </p:sp>
      <p:sp>
        <p:nvSpPr>
          <p:cNvPr id="13" name="Oval 12"/>
          <p:cNvSpPr/>
          <p:nvPr/>
        </p:nvSpPr>
        <p:spPr>
          <a:xfrm>
            <a:off x="2404872" y="395020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517136" y="395020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7086600" y="395020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488168" y="395020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G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10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G, drawn to show the four counts; Lim, p. 210.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Counting bars in a formation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5432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Which formation uses three bars?</a:t>
            </a:r>
          </a:p>
        </p:txBody>
      </p:sp>
      <p:sp>
        <p:nvSpPr>
          <p:cNvPr id="9" name="TextBox 8"/>
          <p:cNvSpPr txBox="1"/>
          <p:nvPr/>
        </p:nvSpPr>
        <p:spPr>
          <a:xfrm>
            <a:off x="1051560"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Single</a:t>
            </a:r>
          </a:p>
          <a:p>
            <a:pPr algn="l">
              <a:lnSpc>
                <a:spcPct val="112000"/>
              </a:lnSpc>
              <a:spcBef>
                <a:spcPts val="0"/>
              </a:spcBef>
              <a:spcAft>
                <a:spcPts val="900"/>
              </a:spcAft>
            </a:pPr>
            <a:r>
              <a:rPr sz="1700" b="0" i="0">
                <a:solidFill>
                  <a:srgbClr val="FFFFFF"/>
                </a:solidFill>
                <a:latin typeface="Arial"/>
              </a:rPr>
              <a:t>B.  Double</a:t>
            </a:r>
          </a:p>
          <a:p>
            <a:pPr algn="l">
              <a:lnSpc>
                <a:spcPct val="112000"/>
              </a:lnSpc>
              <a:spcBef>
                <a:spcPts val="0"/>
              </a:spcBef>
              <a:spcAft>
                <a:spcPts val="900"/>
              </a:spcAft>
            </a:pPr>
            <a:r>
              <a:rPr sz="1700" b="0" i="0">
                <a:solidFill>
                  <a:srgbClr val="FFFFFF"/>
                </a:solidFill>
                <a:latin typeface="Arial"/>
              </a:rPr>
              <a:t>C.  Triple</a:t>
            </a:r>
          </a:p>
          <a:p>
            <a:pPr algn="l">
              <a:lnSpc>
                <a:spcPct val="112000"/>
              </a:lnSpc>
              <a:spcBef>
                <a:spcPts val="0"/>
              </a:spcBef>
              <a:spcAft>
                <a:spcPts val="900"/>
              </a:spcAft>
            </a:pPr>
            <a:r>
              <a:rPr sz="1700" b="0" i="0">
                <a:solidFill>
                  <a:srgbClr val="FFFFFF"/>
                </a:solidFill>
                <a:latin typeface="Arial"/>
              </a:rPr>
              <a:t>D.  Multiple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Does the number of bars by itself make a formation bullish?</a:t>
            </a:r>
          </a:p>
        </p:txBody>
      </p:sp>
      <p:sp>
        <p:nvSpPr>
          <p:cNvPr id="13" name="TextBox 12"/>
          <p:cNvSpPr txBox="1"/>
          <p:nvPr/>
        </p:nvSpPr>
        <p:spPr>
          <a:xfrm>
            <a:off x="6690207"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No, the count only describes the shape</a:t>
            </a:r>
          </a:p>
          <a:p>
            <a:pPr algn="l">
              <a:lnSpc>
                <a:spcPct val="112000"/>
              </a:lnSpc>
              <a:spcBef>
                <a:spcPts val="0"/>
              </a:spcBef>
              <a:spcAft>
                <a:spcPts val="900"/>
              </a:spcAft>
            </a:pPr>
            <a:r>
              <a:rPr sz="1700" b="0" i="0">
                <a:solidFill>
                  <a:srgbClr val="FFFFFF"/>
                </a:solidFill>
                <a:latin typeface="Arial"/>
              </a:rPr>
              <a:t>B.  Yes, always</a:t>
            </a:r>
          </a:p>
          <a:p>
            <a:pPr algn="l">
              <a:lnSpc>
                <a:spcPct val="112000"/>
              </a:lnSpc>
              <a:spcBef>
                <a:spcPts val="0"/>
              </a:spcBef>
              <a:spcAft>
                <a:spcPts val="900"/>
              </a:spcAft>
            </a:pPr>
            <a:r>
              <a:rPr sz="1700" b="0" i="0">
                <a:solidFill>
                  <a:srgbClr val="FFFFFF"/>
                </a:solidFill>
                <a:latin typeface="Arial"/>
              </a:rPr>
              <a:t>C.  Only in an uptrend</a:t>
            </a:r>
          </a:p>
          <a:p>
            <a:pPr algn="l">
              <a:lnSpc>
                <a:spcPct val="112000"/>
              </a:lnSpc>
              <a:spcBef>
                <a:spcPts val="0"/>
              </a:spcBef>
              <a:spcAft>
                <a:spcPts val="900"/>
              </a:spcAft>
            </a:pPr>
            <a:r>
              <a:rPr sz="1700" b="0" i="0">
                <a:solidFill>
                  <a:srgbClr val="FFFFFF"/>
                </a:solidFill>
                <a:latin typeface="Arial"/>
              </a:rPr>
              <a:t>D.  Only with high volume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Counting bars in a formation</a:t>
            </a:r>
          </a:p>
        </p:txBody>
      </p:sp>
      <p:sp>
        <p:nvSpPr>
          <p:cNvPr id="6" name="Rectangle 5"/>
          <p:cNvSpPr/>
          <p:nvPr/>
        </p:nvSpPr>
        <p:spPr>
          <a:xfrm>
            <a:off x="777240" y="1207008"/>
            <a:ext cx="10637215" cy="165735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5735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formation uses three bars?</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Triple</a:t>
            </a:r>
          </a:p>
          <a:p>
            <a:pPr algn="l">
              <a:lnSpc>
                <a:spcPct val="115000"/>
              </a:lnSpc>
              <a:spcBef>
                <a:spcPts val="700"/>
              </a:spcBef>
              <a:spcAft>
                <a:spcPts val="0"/>
              </a:spcAft>
            </a:pPr>
            <a:r>
              <a:rPr sz="1700" b="0" i="0">
                <a:solidFill>
                  <a:srgbClr val="1A1A1A"/>
                </a:solidFill>
                <a:latin typeface="Arial"/>
              </a:rPr>
              <a:t>Three bars make a triple formation (Lim, p. 210).</a:t>
            </a:r>
          </a:p>
        </p:txBody>
      </p:sp>
      <p:sp>
        <p:nvSpPr>
          <p:cNvPr id="10" name="Rectangle 9"/>
          <p:cNvSpPr/>
          <p:nvPr/>
        </p:nvSpPr>
        <p:spPr>
          <a:xfrm>
            <a:off x="777240" y="3111246"/>
            <a:ext cx="10637215" cy="190563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11246"/>
            <a:ext cx="91440" cy="1905634"/>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48989"/>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Does the number of bars by itself make a formation bullish?</a:t>
            </a:r>
          </a:p>
        </p:txBody>
      </p:sp>
      <p:sp>
        <p:nvSpPr>
          <p:cNvPr id="13" name="TextBox 12"/>
          <p:cNvSpPr txBox="1"/>
          <p:nvPr/>
        </p:nvSpPr>
        <p:spPr>
          <a:xfrm>
            <a:off x="1143000" y="3853306"/>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No, the count only describes the shape</a:t>
            </a:r>
          </a:p>
          <a:p>
            <a:pPr algn="l">
              <a:lnSpc>
                <a:spcPct val="115000"/>
              </a:lnSpc>
              <a:spcBef>
                <a:spcPts val="700"/>
              </a:spcBef>
              <a:spcAft>
                <a:spcPts val="0"/>
              </a:spcAft>
            </a:pPr>
            <a:r>
              <a:rPr sz="1700" b="0" i="0">
                <a:solidFill>
                  <a:srgbClr val="1A1A1A"/>
                </a:solidFill>
                <a:latin typeface="Arial"/>
              </a:rPr>
              <a:t>The count sorts formations by size only; whether a formation leans bullish or bearish is a separate question (Lim, p. 210).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second way: the formation's own lean</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second way of sorting is the intrinsic bias or sentiment of a formation: whether the formation itself leans bullish or bearish (pp. 210 to 211). Chapter 4 called this intrinsic bias. His example: a standard head and shoulders </a:t>
            </a:r>
            <a:r>
              <a:rPr sz="1700" b="1" i="0">
                <a:solidFill>
                  <a:srgbClr val="E09B00"/>
                </a:solidFill>
                <a:latin typeface="Arial"/>
              </a:rPr>
              <a:t>(1)</a:t>
            </a:r>
            <a:r>
              <a:rPr sz="1700" b="0" i="0">
                <a:solidFill>
                  <a:srgbClr val="1A1A1A"/>
                </a:solidFill>
                <a:latin typeface="Arial"/>
              </a:rPr>
              <a:t> is intrinsically bearish, and an inverted head and shoulders </a:t>
            </a:r>
            <a:r>
              <a:rPr sz="1700" b="1" i="0">
                <a:solidFill>
                  <a:srgbClr val="C62828"/>
                </a:solidFill>
                <a:latin typeface="Arial"/>
              </a:rPr>
              <a:t>(2)</a:t>
            </a:r>
            <a:r>
              <a:rPr sz="1700" b="0" i="0">
                <a:solidFill>
                  <a:srgbClr val="1A1A1A"/>
                </a:solidFill>
                <a:latin typeface="Arial"/>
              </a:rPr>
              <a:t> is intrinsically bullish (p. 211).</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hs-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124712" y="2889504"/>
            <a:ext cx="4571999" cy="2633472"/>
          </a:xfrm>
          <a:prstGeom prst="rect">
            <a:avLst/>
          </a:prstGeom>
          <a:noFill/>
          <a:ln w="44450">
            <a:solidFill>
              <a:srgbClr val="E09B00"/>
            </a:solidFill>
          </a:ln>
        </p:spPr>
        <p:txBody>
          <a:bodyPr rtlCol="0" anchor="ctr"/>
          <a:lstStyle/>
          <a:p>
            <a:pPr algn="ctr"/>
          </a:p>
        </p:txBody>
      </p:sp>
      <p:sp>
        <p:nvSpPr>
          <p:cNvPr id="10" name="Rectangle 9"/>
          <p:cNvSpPr/>
          <p:nvPr/>
        </p:nvSpPr>
        <p:spPr>
          <a:xfrm>
            <a:off x="6153912" y="2889504"/>
            <a:ext cx="4572000" cy="2633472"/>
          </a:xfrm>
          <a:prstGeom prst="rect">
            <a:avLst/>
          </a:prstGeom>
          <a:noFill/>
          <a:ln w="44450">
            <a:solidFill>
              <a:srgbClr val="C62828"/>
            </a:solidFill>
          </a:ln>
        </p:spPr>
        <p:txBody>
          <a:bodyPr rtlCol="0" anchor="ctr"/>
          <a:lstStyle/>
          <a:p>
            <a:pPr algn="ctr"/>
          </a:p>
        </p:txBody>
      </p:sp>
      <p:sp>
        <p:nvSpPr>
          <p:cNvPr id="11" name="Oval 10"/>
          <p:cNvSpPr/>
          <p:nvPr/>
        </p:nvSpPr>
        <p:spPr>
          <a:xfrm>
            <a:off x="5861304" y="407822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89050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HS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11 of 22</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 of the two shapes Lim names on p. 211.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second way: the formation's own lean</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lean belongs to the formation, so it stays the same whichever trend the formation appears in. Intrinsic sentiment is about the formation, not the trend around it.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hs-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124712" y="2889504"/>
            <a:ext cx="4571999" cy="2633472"/>
          </a:xfrm>
          <a:prstGeom prst="rect">
            <a:avLst/>
          </a:prstGeom>
          <a:noFill/>
          <a:ln w="44450">
            <a:solidFill>
              <a:srgbClr val="E09B00"/>
            </a:solidFill>
          </a:ln>
        </p:spPr>
        <p:txBody>
          <a:bodyPr rtlCol="0" anchor="ctr"/>
          <a:lstStyle/>
          <a:p>
            <a:pPr algn="ctr"/>
          </a:p>
        </p:txBody>
      </p:sp>
      <p:sp>
        <p:nvSpPr>
          <p:cNvPr id="10" name="Rectangle 9"/>
          <p:cNvSpPr/>
          <p:nvPr/>
        </p:nvSpPr>
        <p:spPr>
          <a:xfrm>
            <a:off x="6153912" y="2889504"/>
            <a:ext cx="4572000" cy="2633472"/>
          </a:xfrm>
          <a:prstGeom prst="rect">
            <a:avLst/>
          </a:prstGeom>
          <a:noFill/>
          <a:ln w="44450">
            <a:solidFill>
              <a:srgbClr val="C62828"/>
            </a:solidFill>
          </a:ln>
        </p:spPr>
        <p:txBody>
          <a:bodyPr rtlCol="0" anchor="ctr"/>
          <a:lstStyle/>
          <a:p>
            <a:pPr algn="ctr"/>
          </a:p>
        </p:txBody>
      </p:sp>
      <p:sp>
        <p:nvSpPr>
          <p:cNvPr id="11" name="Oval 10"/>
          <p:cNvSpPr/>
          <p:nvPr/>
        </p:nvSpPr>
        <p:spPr>
          <a:xfrm>
            <a:off x="5861304" y="407822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89050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HS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12 of 22</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 of the two shapes Lim names on p. 211.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close below the previous low leans bearish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How do we see that lean in plain bars? Lim gives a general rule: a close below the previous bar's close or low is considered bearish, and a close above the previous bar's close or high is considered bullish (p. 212). For example, with prices of ours: one bar has a low of PHP 47.90 </a:t>
            </a:r>
            <a:r>
              <a:rPr sz="1700" b="1" i="0">
                <a:solidFill>
                  <a:srgbClr val="E09B00"/>
                </a:solidFill>
                <a:latin typeface="Arial"/>
              </a:rPr>
              <a:t>(1)</a:t>
            </a:r>
            <a:r>
              <a:rPr sz="1700" b="0" i="0">
                <a:solidFill>
                  <a:srgbClr val="1A1A1A"/>
                </a:solidFill>
                <a:latin typeface="Arial"/>
              </a:rPr>
              <a:t> and the next bar closes at PHP 47.50 </a:t>
            </a:r>
            <a:r>
              <a:rPr sz="1700" b="1" i="0">
                <a:solidFill>
                  <a:srgbClr val="C62828"/>
                </a:solidFill>
                <a:latin typeface="Arial"/>
              </a:rPr>
              <a:t>(2)</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b-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144060" y="4499370"/>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10035539" y="4798945"/>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4246150" y="422903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073670" y="456912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LW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13 of 22</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PHP values are invented for teaching.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close below the previous low leans bearish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close is below the previous low, so this two-bar formation leans bearish. Lim calls it a general rule, so treat it as a clue, not a certainty.</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b-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144060" y="4499370"/>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10035539" y="4798945"/>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4246150" y="422903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073670" y="456912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LW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14 of 22</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PHP values are invented for teaching.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Reading intrinsic sentiment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does intrinsic sentiment describe?</a:t>
            </a:r>
          </a:p>
        </p:txBody>
      </p:sp>
      <p:sp>
        <p:nvSpPr>
          <p:cNvPr id="9" name="TextBox 8"/>
          <p:cNvSpPr txBox="1"/>
          <p:nvPr/>
        </p:nvSpPr>
        <p:spPr>
          <a:xfrm>
            <a:off x="1051560" y="308152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formation's own bullish or bearish lean</a:t>
            </a:r>
          </a:p>
          <a:p>
            <a:pPr algn="l">
              <a:lnSpc>
                <a:spcPct val="112000"/>
              </a:lnSpc>
              <a:spcBef>
                <a:spcPts val="0"/>
              </a:spcBef>
              <a:spcAft>
                <a:spcPts val="900"/>
              </a:spcAft>
            </a:pPr>
            <a:r>
              <a:rPr sz="1700" b="0" i="0">
                <a:solidFill>
                  <a:srgbClr val="FFFFFF"/>
                </a:solidFill>
                <a:latin typeface="Arial"/>
              </a:rPr>
              <a:t>B.  The direction of the surrounding trend</a:t>
            </a:r>
          </a:p>
          <a:p>
            <a:pPr algn="l">
              <a:lnSpc>
                <a:spcPct val="112000"/>
              </a:lnSpc>
              <a:spcBef>
                <a:spcPts val="0"/>
              </a:spcBef>
              <a:spcAft>
                <a:spcPts val="900"/>
              </a:spcAft>
            </a:pPr>
            <a:r>
              <a:rPr sz="1700" b="0" i="0">
                <a:solidFill>
                  <a:srgbClr val="FFFFFF"/>
                </a:solidFill>
                <a:latin typeface="Arial"/>
              </a:rPr>
              <a:t>C.  The trading volume</a:t>
            </a:r>
          </a:p>
          <a:p>
            <a:pPr algn="l">
              <a:lnSpc>
                <a:spcPct val="112000"/>
              </a:lnSpc>
              <a:spcBef>
                <a:spcPts val="0"/>
              </a:spcBef>
              <a:spcAft>
                <a:spcPts val="900"/>
              </a:spcAft>
            </a:pPr>
            <a:r>
              <a:rPr sz="1700" b="0" i="0">
                <a:solidFill>
                  <a:srgbClr val="FFFFFF"/>
                </a:solidFill>
                <a:latin typeface="Arial"/>
              </a:rPr>
              <a:t>D.  The number of bars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14300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One bar has a low of PHP 61.20 and the next bar closes at PHP 60.80. By Lim's general rule, how does this two-bar formation lean?</a:t>
            </a:r>
          </a:p>
        </p:txBody>
      </p:sp>
      <p:sp>
        <p:nvSpPr>
          <p:cNvPr id="13" name="TextBox 12"/>
          <p:cNvSpPr txBox="1"/>
          <p:nvPr/>
        </p:nvSpPr>
        <p:spPr>
          <a:xfrm>
            <a:off x="6690207" y="308152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Bullish</a:t>
            </a:r>
          </a:p>
          <a:p>
            <a:pPr algn="l">
              <a:lnSpc>
                <a:spcPct val="112000"/>
              </a:lnSpc>
              <a:spcBef>
                <a:spcPts val="0"/>
              </a:spcBef>
              <a:spcAft>
                <a:spcPts val="900"/>
              </a:spcAft>
            </a:pPr>
            <a:r>
              <a:rPr sz="1700" b="0" i="0">
                <a:solidFill>
                  <a:srgbClr val="FFFFFF"/>
                </a:solidFill>
                <a:latin typeface="Arial"/>
              </a:rPr>
              <a:t>B.  Neither; only volume decides</a:t>
            </a:r>
          </a:p>
          <a:p>
            <a:pPr algn="l">
              <a:lnSpc>
                <a:spcPct val="112000"/>
              </a:lnSpc>
              <a:spcBef>
                <a:spcPts val="0"/>
              </a:spcBef>
              <a:spcAft>
                <a:spcPts val="900"/>
              </a:spcAft>
            </a:pPr>
            <a:r>
              <a:rPr sz="1700" b="0" i="0">
                <a:solidFill>
                  <a:srgbClr val="FFFFFF"/>
                </a:solidFill>
                <a:latin typeface="Arial"/>
              </a:rPr>
              <a:t>C.  Bearish</a:t>
            </a:r>
          </a:p>
          <a:p>
            <a:pPr algn="l">
              <a:lnSpc>
                <a:spcPct val="112000"/>
              </a:lnSpc>
              <a:spcBef>
                <a:spcPts val="0"/>
              </a:spcBef>
              <a:spcAft>
                <a:spcPts val="900"/>
              </a:spcAft>
            </a:pPr>
            <a:r>
              <a:rPr sz="1700" b="0" i="0">
                <a:solidFill>
                  <a:srgbClr val="FFFFFF"/>
                </a:solidFill>
                <a:latin typeface="Arial"/>
              </a:rPr>
              <a:t>D.  It depends on the number of bars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Reading intrinsic sentiment</a:t>
            </a:r>
          </a:p>
        </p:txBody>
      </p:sp>
      <p:sp>
        <p:nvSpPr>
          <p:cNvPr id="6" name="Rectangle 5"/>
          <p:cNvSpPr/>
          <p:nvPr/>
        </p:nvSpPr>
        <p:spPr>
          <a:xfrm>
            <a:off x="777240" y="1207008"/>
            <a:ext cx="10637215" cy="165735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5735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intrinsic sentiment describe?</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formation's own bullish or bearish lean</a:t>
            </a:r>
          </a:p>
          <a:p>
            <a:pPr algn="l">
              <a:lnSpc>
                <a:spcPct val="115000"/>
              </a:lnSpc>
              <a:spcBef>
                <a:spcPts val="700"/>
              </a:spcBef>
              <a:spcAft>
                <a:spcPts val="0"/>
              </a:spcAft>
            </a:pPr>
            <a:r>
              <a:rPr sz="1700" b="0" i="0">
                <a:solidFill>
                  <a:srgbClr val="1A1A1A"/>
                </a:solidFill>
                <a:latin typeface="Arial"/>
              </a:rPr>
              <a:t>Intrinsic sentiment is the bullish or bearish lean of the formation itself (Lim, p. 211).</a:t>
            </a:r>
          </a:p>
        </p:txBody>
      </p:sp>
      <p:sp>
        <p:nvSpPr>
          <p:cNvPr id="10" name="Rectangle 9"/>
          <p:cNvSpPr/>
          <p:nvPr/>
        </p:nvSpPr>
        <p:spPr>
          <a:xfrm>
            <a:off x="777240" y="3111246"/>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11246"/>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48989"/>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One bar has a low of PHP 61.20 and the next bar closes at PHP 60.80. By Lim's general rule, how does this two-bar formation lean?</a:t>
            </a:r>
          </a:p>
        </p:txBody>
      </p:sp>
      <p:sp>
        <p:nvSpPr>
          <p:cNvPr id="13" name="TextBox 12"/>
          <p:cNvSpPr txBox="1"/>
          <p:nvPr/>
        </p:nvSpPr>
        <p:spPr>
          <a:xfrm>
            <a:off x="1143000" y="4101591"/>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Bearish</a:t>
            </a:r>
          </a:p>
          <a:p>
            <a:pPr algn="l">
              <a:lnSpc>
                <a:spcPct val="115000"/>
              </a:lnSpc>
              <a:spcBef>
                <a:spcPts val="700"/>
              </a:spcBef>
              <a:spcAft>
                <a:spcPts val="0"/>
              </a:spcAft>
            </a:pPr>
            <a:r>
              <a:rPr sz="1700" b="0" i="0">
                <a:solidFill>
                  <a:srgbClr val="1A1A1A"/>
                </a:solidFill>
                <a:latin typeface="Arial"/>
              </a:rPr>
              <a:t>The close of PHP 60.80 is below the previous low of PHP 61.20, and Lim considers a close below the previous low bearish (p. 212).</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third way: will the trend continue or reverse?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15 of 22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Lim's third way of sorting is the directional expectation: does the formation suggest the trend will carry on, a continuation, or turn, a reversal (p. 211)?</a:t>
            </a:r>
          </a:p>
          <a:p>
            <a:pPr algn="l">
              <a:lnSpc>
                <a:spcPct val="118000"/>
              </a:lnSpc>
              <a:spcBef>
                <a:spcPts val="0"/>
              </a:spcBef>
              <a:spcAft>
                <a:spcPts val="1300"/>
              </a:spcAft>
            </a:pPr>
            <a:r>
              <a:rPr sz="2100" b="0" i="0">
                <a:solidFill>
                  <a:srgbClr val="1A1A1A"/>
                </a:solidFill>
                <a:latin typeface="Arial"/>
              </a:rPr>
              <a:t>To decide, compare its intrinsic sentiment with the trend sentiment, which is bullish in an uptrend and bearish in a downtrend (p. 211).</a:t>
            </a:r>
          </a:p>
          <a:p>
            <a:pPr algn="l">
              <a:lnSpc>
                <a:spcPct val="118000"/>
              </a:lnSpc>
              <a:spcBef>
                <a:spcPts val="0"/>
              </a:spcBef>
              <a:spcAft>
                <a:spcPts val="1300"/>
              </a:spcAft>
            </a:pPr>
            <a:r>
              <a:rPr sz="2100" b="0" i="0">
                <a:solidFill>
                  <a:srgbClr val="1A1A1A"/>
                </a:solidFill>
                <a:latin typeface="Arial"/>
              </a:rPr>
              <a:t>If the two agree, Lim considers it a continuation; if they disagree, a reversal (p. 211), an early sign of the potential trend change the chapter promised (p. 209).</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Compare the two sentiments to get the expectation.</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same uptrend with two different formations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the comparison drawn. In both panels prices have been rising, so the trend sentiment is bullish. A bullish formation </a:t>
            </a:r>
            <a:r>
              <a:rPr sz="1700" b="1" i="0">
                <a:solidFill>
                  <a:srgbClr val="E09B00"/>
                </a:solidFill>
                <a:latin typeface="Arial"/>
              </a:rPr>
              <a:t>(1)</a:t>
            </a:r>
            <a:r>
              <a:rPr sz="1700" b="0" i="0">
                <a:solidFill>
                  <a:srgbClr val="1A1A1A"/>
                </a:solidFill>
                <a:latin typeface="Arial"/>
              </a:rPr>
              <a:t> agrees with it, so Lim considers it a continuation. A bearish formation </a:t>
            </a:r>
            <a:r>
              <a:rPr sz="1700" b="1" i="0">
                <a:solidFill>
                  <a:srgbClr val="C62828"/>
                </a:solidFill>
                <a:latin typeface="Arial"/>
              </a:rPr>
              <a:t>(2)</a:t>
            </a:r>
            <a:r>
              <a:rPr sz="1700" b="0" i="0">
                <a:solidFill>
                  <a:srgbClr val="1A1A1A"/>
                </a:solidFill>
                <a:latin typeface="Arial"/>
              </a:rPr>
              <a:t> disagrees, so it is a reversal (p. 211).</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x-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4069080" y="3063239"/>
            <a:ext cx="1719072" cy="1188720"/>
          </a:xfrm>
          <a:prstGeom prst="rect">
            <a:avLst/>
          </a:prstGeom>
          <a:noFill/>
          <a:ln w="44450">
            <a:solidFill>
              <a:srgbClr val="E09B00"/>
            </a:solidFill>
          </a:ln>
        </p:spPr>
        <p:txBody>
          <a:bodyPr rtlCol="0" anchor="ctr"/>
          <a:lstStyle/>
          <a:p>
            <a:pPr algn="ctr"/>
          </a:p>
        </p:txBody>
      </p:sp>
      <p:sp>
        <p:nvSpPr>
          <p:cNvPr id="10" name="Rectangle 9"/>
          <p:cNvSpPr/>
          <p:nvPr/>
        </p:nvSpPr>
        <p:spPr>
          <a:xfrm>
            <a:off x="9281160" y="3479291"/>
            <a:ext cx="1719072" cy="1124712"/>
          </a:xfrm>
          <a:prstGeom prst="rect">
            <a:avLst/>
          </a:prstGeom>
          <a:noFill/>
          <a:ln w="44450">
            <a:solidFill>
              <a:srgbClr val="C62828"/>
            </a:solidFill>
          </a:ln>
        </p:spPr>
        <p:txBody>
          <a:bodyPr rtlCol="0" anchor="ctr"/>
          <a:lstStyle/>
          <a:p>
            <a:pPr algn="ctr"/>
          </a:p>
        </p:txBody>
      </p:sp>
      <p:sp>
        <p:nvSpPr>
          <p:cNvPr id="11" name="Oval 10"/>
          <p:cNvSpPr/>
          <p:nvPr/>
        </p:nvSpPr>
        <p:spPr>
          <a:xfrm>
            <a:off x="5952744" y="352958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999243" y="3193225"/>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EX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16 of 22</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of Lim's rule, p. 211.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One bullish formation in two different trends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why we keep the two sentiments apart. In a formation of ours the second bar closes at PHP 48.60 </a:t>
            </a:r>
            <a:r>
              <a:rPr sz="1700" b="1" i="0">
                <a:solidFill>
                  <a:srgbClr val="E09B00"/>
                </a:solidFill>
                <a:latin typeface="Arial"/>
              </a:rPr>
              <a:t>(1)</a:t>
            </a:r>
            <a:r>
              <a:rPr sz="1700" b="0" i="0">
                <a:solidFill>
                  <a:srgbClr val="1A1A1A"/>
                </a:solidFill>
                <a:latin typeface="Arial"/>
              </a:rPr>
              <a:t>, above the first bar's high of PHP 48.30 </a:t>
            </a:r>
            <a:r>
              <a:rPr sz="1700" b="1" i="0">
                <a:solidFill>
                  <a:srgbClr val="C62828"/>
                </a:solidFill>
                <a:latin typeface="Arial"/>
              </a:rPr>
              <a:t>(2)</a:t>
            </a:r>
            <a:r>
              <a:rPr sz="1700" b="0" i="0">
                <a:solidFill>
                  <a:srgbClr val="1A1A1A"/>
                </a:solidFill>
                <a:latin typeface="Arial"/>
              </a:rPr>
              <a:t>, so it is intrinsically bullish. Suppose prices rose </a:t>
            </a:r>
            <a:r>
              <a:rPr sz="1700" b="1" i="0">
                <a:solidFill>
                  <a:srgbClr val="1F5FAD"/>
                </a:solidFill>
                <a:latin typeface="Arial"/>
              </a:rPr>
              <a:t>(3)</a:t>
            </a:r>
            <a:r>
              <a:rPr sz="1700" b="0" i="0">
                <a:solidFill>
                  <a:srgbClr val="1A1A1A"/>
                </a:solidFill>
                <a:latin typeface="Arial"/>
              </a:rPr>
              <a:t> from PHP 45.60 to PHP 48.10 before it. Trend sentiment is bullish, the two agree, and the expectation is continuation.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t-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046334" y="3920665"/>
            <a:ext cx="2630859" cy="1603716"/>
          </a:xfrm>
          <a:prstGeom prst="rect">
            <a:avLst/>
          </a:prstGeom>
          <a:noFill/>
          <a:ln w="44450">
            <a:solidFill>
              <a:srgbClr val="1F5FAD"/>
            </a:solidFill>
          </a:ln>
        </p:spPr>
        <p:txBody>
          <a:bodyPr rtlCol="0" anchor="ctr"/>
          <a:lstStyle/>
          <a:p>
            <a:pPr algn="ctr"/>
          </a:p>
        </p:txBody>
      </p:sp>
      <p:sp>
        <p:nvSpPr>
          <p:cNvPr id="10" name="Rectangle 9"/>
          <p:cNvSpPr/>
          <p:nvPr/>
        </p:nvSpPr>
        <p:spPr>
          <a:xfrm>
            <a:off x="6258414" y="3084341"/>
            <a:ext cx="2630859" cy="1546039"/>
          </a:xfrm>
          <a:prstGeom prst="rect">
            <a:avLst/>
          </a:prstGeom>
          <a:noFill/>
          <a:ln w="44450">
            <a:solidFill>
              <a:srgbClr val="7B3FA0"/>
            </a:solidFill>
          </a:ln>
        </p:spPr>
        <p:txBody>
          <a:bodyPr rtlCol="0" anchor="ctr"/>
          <a:lstStyle/>
          <a:p>
            <a:pPr algn="ctr"/>
          </a:p>
        </p:txBody>
      </p:sp>
      <p:sp>
        <p:nvSpPr>
          <p:cNvPr id="11" name="Oval 10"/>
          <p:cNvSpPr/>
          <p:nvPr/>
        </p:nvSpPr>
        <p:spPr>
          <a:xfrm>
            <a:off x="5057154" y="3927418"/>
            <a:ext cx="87782" cy="87782"/>
          </a:xfrm>
          <a:prstGeom prst="ellipse">
            <a:avLst/>
          </a:prstGeom>
          <a:noFill/>
          <a:ln w="44450">
            <a:solidFill>
              <a:srgbClr val="E09B00"/>
            </a:solidFill>
          </a:ln>
        </p:spPr>
        <p:txBody>
          <a:bodyPr rtlCol="0" anchor="ctr"/>
          <a:lstStyle/>
          <a:p>
            <a:pPr algn="ctr"/>
          </a:p>
        </p:txBody>
      </p:sp>
      <p:sp>
        <p:nvSpPr>
          <p:cNvPr id="12" name="Oval 11"/>
          <p:cNvSpPr/>
          <p:nvPr/>
        </p:nvSpPr>
        <p:spPr>
          <a:xfrm>
            <a:off x="4052620" y="4013934"/>
            <a:ext cx="87782" cy="87782"/>
          </a:xfrm>
          <a:prstGeom prst="ellipse">
            <a:avLst/>
          </a:prstGeom>
          <a:noFill/>
          <a:ln w="44450">
            <a:solidFill>
              <a:srgbClr val="C62828"/>
            </a:solidFill>
          </a:ln>
        </p:spPr>
        <p:txBody>
          <a:bodyPr rtlCol="0" anchor="ctr"/>
          <a:lstStyle/>
          <a:p>
            <a:pPr algn="ctr"/>
          </a:p>
        </p:txBody>
      </p:sp>
      <p:sp>
        <p:nvSpPr>
          <p:cNvPr id="13" name="Oval 12"/>
          <p:cNvSpPr/>
          <p:nvPr/>
        </p:nvSpPr>
        <p:spPr>
          <a:xfrm>
            <a:off x="3737990" y="430285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9090442" y="318823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Oval 14"/>
          <p:cNvSpPr/>
          <p:nvPr/>
        </p:nvSpPr>
        <p:spPr>
          <a:xfrm>
            <a:off x="5006056" y="403059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4317893" y="399141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TT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17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PHP values are invented for teaching.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One bullish formation in two different trends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Now suppose prices fell </a:t>
            </a:r>
            <a:r>
              <a:rPr sz="1700" b="1" i="0">
                <a:solidFill>
                  <a:srgbClr val="7B3FA0"/>
                </a:solidFill>
                <a:latin typeface="Arial"/>
              </a:rPr>
              <a:t>(4)</a:t>
            </a:r>
            <a:r>
              <a:rPr sz="1700" b="0" i="0">
                <a:solidFill>
                  <a:srgbClr val="1A1A1A"/>
                </a:solidFill>
                <a:latin typeface="Arial"/>
              </a:rPr>
              <a:t> from PHP 50.60 to PHP 48.10 before it. Trend sentiment is bearish, the two disagree, and the expectation is a potential reversal. The formation never changed; only the trend around it did.</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t-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046334" y="3920665"/>
            <a:ext cx="2630859" cy="1603716"/>
          </a:xfrm>
          <a:prstGeom prst="rect">
            <a:avLst/>
          </a:prstGeom>
          <a:noFill/>
          <a:ln w="44450">
            <a:solidFill>
              <a:srgbClr val="1F5FAD"/>
            </a:solidFill>
          </a:ln>
        </p:spPr>
        <p:txBody>
          <a:bodyPr rtlCol="0" anchor="ctr"/>
          <a:lstStyle/>
          <a:p>
            <a:pPr algn="ctr"/>
          </a:p>
        </p:txBody>
      </p:sp>
      <p:sp>
        <p:nvSpPr>
          <p:cNvPr id="10" name="Rectangle 9"/>
          <p:cNvSpPr/>
          <p:nvPr/>
        </p:nvSpPr>
        <p:spPr>
          <a:xfrm>
            <a:off x="6258414" y="3084341"/>
            <a:ext cx="2630859" cy="1546039"/>
          </a:xfrm>
          <a:prstGeom prst="rect">
            <a:avLst/>
          </a:prstGeom>
          <a:noFill/>
          <a:ln w="44450">
            <a:solidFill>
              <a:srgbClr val="7B3FA0"/>
            </a:solidFill>
          </a:ln>
        </p:spPr>
        <p:txBody>
          <a:bodyPr rtlCol="0" anchor="ctr"/>
          <a:lstStyle/>
          <a:p>
            <a:pPr algn="ctr"/>
          </a:p>
        </p:txBody>
      </p:sp>
      <p:sp>
        <p:nvSpPr>
          <p:cNvPr id="11" name="Oval 10"/>
          <p:cNvSpPr/>
          <p:nvPr/>
        </p:nvSpPr>
        <p:spPr>
          <a:xfrm>
            <a:off x="5057154" y="3927418"/>
            <a:ext cx="87782" cy="87782"/>
          </a:xfrm>
          <a:prstGeom prst="ellipse">
            <a:avLst/>
          </a:prstGeom>
          <a:noFill/>
          <a:ln w="44450">
            <a:solidFill>
              <a:srgbClr val="E09B00"/>
            </a:solidFill>
          </a:ln>
        </p:spPr>
        <p:txBody>
          <a:bodyPr rtlCol="0" anchor="ctr"/>
          <a:lstStyle/>
          <a:p>
            <a:pPr algn="ctr"/>
          </a:p>
        </p:txBody>
      </p:sp>
      <p:sp>
        <p:nvSpPr>
          <p:cNvPr id="12" name="Oval 11"/>
          <p:cNvSpPr/>
          <p:nvPr/>
        </p:nvSpPr>
        <p:spPr>
          <a:xfrm>
            <a:off x="4052620" y="4013934"/>
            <a:ext cx="87782" cy="87782"/>
          </a:xfrm>
          <a:prstGeom prst="ellipse">
            <a:avLst/>
          </a:prstGeom>
          <a:noFill/>
          <a:ln w="44450">
            <a:solidFill>
              <a:srgbClr val="C62828"/>
            </a:solidFill>
          </a:ln>
        </p:spPr>
        <p:txBody>
          <a:bodyPr rtlCol="0" anchor="ctr"/>
          <a:lstStyle/>
          <a:p>
            <a:pPr algn="ctr"/>
          </a:p>
        </p:txBody>
      </p:sp>
      <p:sp>
        <p:nvSpPr>
          <p:cNvPr id="13" name="Oval 12"/>
          <p:cNvSpPr/>
          <p:nvPr/>
        </p:nvSpPr>
        <p:spPr>
          <a:xfrm>
            <a:off x="3737990" y="430285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9090442" y="318823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Oval 14"/>
          <p:cNvSpPr/>
          <p:nvPr/>
        </p:nvSpPr>
        <p:spPr>
          <a:xfrm>
            <a:off x="5006056" y="403059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4317893" y="399141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TT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18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PHP values are invented for teaching.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Lim's rule gives four combinations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Put the two sentiments together and there are four cases (p. 211). In an uptrend, a bullish formation </a:t>
            </a:r>
            <a:r>
              <a:rPr sz="1700" b="1" i="0">
                <a:solidFill>
                  <a:srgbClr val="E09B00"/>
                </a:solidFill>
                <a:latin typeface="Arial"/>
              </a:rPr>
              <a:t>(1)</a:t>
            </a:r>
            <a:r>
              <a:rPr sz="1700" b="0" i="0">
                <a:solidFill>
                  <a:srgbClr val="1A1A1A"/>
                </a:solidFill>
                <a:latin typeface="Arial"/>
              </a:rPr>
              <a:t> agrees with the trend, so Lim considers it a continuation. A bearish formation </a:t>
            </a:r>
            <a:r>
              <a:rPr sz="1700" b="1" i="0">
                <a:solidFill>
                  <a:srgbClr val="C62828"/>
                </a:solidFill>
                <a:latin typeface="Arial"/>
              </a:rPr>
              <a:t>(2)</a:t>
            </a:r>
            <a:r>
              <a:rPr sz="1700" b="0" i="0">
                <a:solidFill>
                  <a:srgbClr val="1A1A1A"/>
                </a:solidFill>
                <a:latin typeface="Arial"/>
              </a:rPr>
              <a:t> disagrees, so it is a potential reversal. In a downtrend, a bullish formation </a:t>
            </a:r>
            <a:r>
              <a:rPr sz="1700" b="1" i="0">
                <a:solidFill>
                  <a:srgbClr val="1F5FAD"/>
                </a:solidFill>
                <a:latin typeface="Arial"/>
              </a:rPr>
              <a:t>(3)</a:t>
            </a:r>
            <a:r>
              <a:rPr sz="1700" b="0" i="0">
                <a:solidFill>
                  <a:srgbClr val="1A1A1A"/>
                </a:solidFill>
                <a:latin typeface="Arial"/>
              </a:rPr>
              <a:t> disagrees, so it is a potential reversal. A bearish formation </a:t>
            </a:r>
            <a:r>
              <a:rPr sz="1700" b="1" i="0">
                <a:solidFill>
                  <a:srgbClr val="7B3FA0"/>
                </a:solidFill>
                <a:latin typeface="Arial"/>
              </a:rPr>
              <a:t>(4)</a:t>
            </a:r>
            <a:r>
              <a:rPr sz="1700" b="0" i="0">
                <a:solidFill>
                  <a:srgbClr val="1A1A1A"/>
                </a:solidFill>
                <a:latin typeface="Arial"/>
              </a:rPr>
              <a:t> agrees, so it is a continuation.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c-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096262" y="2478024"/>
            <a:ext cx="1028700" cy="822959"/>
          </a:xfrm>
          <a:prstGeom prst="rect">
            <a:avLst/>
          </a:prstGeom>
          <a:noFill/>
          <a:ln w="44450">
            <a:solidFill>
              <a:srgbClr val="E09B00"/>
            </a:solidFill>
          </a:ln>
        </p:spPr>
        <p:txBody>
          <a:bodyPr rtlCol="0" anchor="ctr"/>
          <a:lstStyle/>
          <a:p>
            <a:pPr algn="ctr"/>
          </a:p>
        </p:txBody>
      </p:sp>
      <p:sp>
        <p:nvSpPr>
          <p:cNvPr id="10" name="Rectangle 9"/>
          <p:cNvSpPr/>
          <p:nvPr/>
        </p:nvSpPr>
        <p:spPr>
          <a:xfrm>
            <a:off x="7308342" y="2478024"/>
            <a:ext cx="1028699" cy="1136782"/>
          </a:xfrm>
          <a:prstGeom prst="rect">
            <a:avLst/>
          </a:prstGeom>
          <a:noFill/>
          <a:ln w="44450">
            <a:solidFill>
              <a:srgbClr val="C62828"/>
            </a:solidFill>
          </a:ln>
        </p:spPr>
        <p:txBody>
          <a:bodyPr rtlCol="0" anchor="ctr"/>
          <a:lstStyle/>
          <a:p>
            <a:pPr algn="ctr"/>
          </a:p>
        </p:txBody>
      </p:sp>
      <p:sp>
        <p:nvSpPr>
          <p:cNvPr id="11" name="Rectangle 10"/>
          <p:cNvSpPr/>
          <p:nvPr/>
        </p:nvSpPr>
        <p:spPr>
          <a:xfrm>
            <a:off x="2096262" y="4367905"/>
            <a:ext cx="1028700" cy="1136782"/>
          </a:xfrm>
          <a:prstGeom prst="rect">
            <a:avLst/>
          </a:prstGeom>
          <a:noFill/>
          <a:ln w="44450">
            <a:solidFill>
              <a:srgbClr val="1F5FAD"/>
            </a:solidFill>
          </a:ln>
        </p:spPr>
        <p:txBody>
          <a:bodyPr rtlCol="0" anchor="ctr"/>
          <a:lstStyle/>
          <a:p>
            <a:pPr algn="ctr"/>
          </a:p>
        </p:txBody>
      </p:sp>
      <p:sp>
        <p:nvSpPr>
          <p:cNvPr id="12" name="Rectangle 11"/>
          <p:cNvSpPr/>
          <p:nvPr/>
        </p:nvSpPr>
        <p:spPr>
          <a:xfrm>
            <a:off x="7308342" y="4681728"/>
            <a:ext cx="1028699" cy="822959"/>
          </a:xfrm>
          <a:prstGeom prst="rect">
            <a:avLst/>
          </a:prstGeom>
          <a:noFill/>
          <a:ln w="44450">
            <a:solidFill>
              <a:srgbClr val="7B3FA0"/>
            </a:solidFill>
          </a:ln>
        </p:spPr>
        <p:txBody>
          <a:bodyPr rtlCol="0" anchor="ctr"/>
          <a:lstStyle/>
          <a:p>
            <a:pPr algn="ctr"/>
          </a:p>
        </p:txBody>
      </p:sp>
      <p:sp>
        <p:nvSpPr>
          <p:cNvPr id="13" name="Oval 12"/>
          <p:cNvSpPr/>
          <p:nvPr/>
        </p:nvSpPr>
        <p:spPr>
          <a:xfrm>
            <a:off x="3289554" y="276148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501634" y="291839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3289554" y="480828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8501634" y="4965192"/>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FC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19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of Lim's four combinations, p. 211.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Lim's rule gives four combinations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Agreement suggests continuation; disagreement suggests a potential reversal.</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c-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096262" y="2478024"/>
            <a:ext cx="1028700" cy="822959"/>
          </a:xfrm>
          <a:prstGeom prst="rect">
            <a:avLst/>
          </a:prstGeom>
          <a:noFill/>
          <a:ln w="44450">
            <a:solidFill>
              <a:srgbClr val="E09B00"/>
            </a:solidFill>
          </a:ln>
        </p:spPr>
        <p:txBody>
          <a:bodyPr rtlCol="0" anchor="ctr"/>
          <a:lstStyle/>
          <a:p>
            <a:pPr algn="ctr"/>
          </a:p>
        </p:txBody>
      </p:sp>
      <p:sp>
        <p:nvSpPr>
          <p:cNvPr id="10" name="Rectangle 9"/>
          <p:cNvSpPr/>
          <p:nvPr/>
        </p:nvSpPr>
        <p:spPr>
          <a:xfrm>
            <a:off x="7308342" y="2478024"/>
            <a:ext cx="1028699" cy="1136782"/>
          </a:xfrm>
          <a:prstGeom prst="rect">
            <a:avLst/>
          </a:prstGeom>
          <a:noFill/>
          <a:ln w="44450">
            <a:solidFill>
              <a:srgbClr val="C62828"/>
            </a:solidFill>
          </a:ln>
        </p:spPr>
        <p:txBody>
          <a:bodyPr rtlCol="0" anchor="ctr"/>
          <a:lstStyle/>
          <a:p>
            <a:pPr algn="ctr"/>
          </a:p>
        </p:txBody>
      </p:sp>
      <p:sp>
        <p:nvSpPr>
          <p:cNvPr id="11" name="Rectangle 10"/>
          <p:cNvSpPr/>
          <p:nvPr/>
        </p:nvSpPr>
        <p:spPr>
          <a:xfrm>
            <a:off x="2096262" y="4367905"/>
            <a:ext cx="1028700" cy="1136782"/>
          </a:xfrm>
          <a:prstGeom prst="rect">
            <a:avLst/>
          </a:prstGeom>
          <a:noFill/>
          <a:ln w="44450">
            <a:solidFill>
              <a:srgbClr val="1F5FAD"/>
            </a:solidFill>
          </a:ln>
        </p:spPr>
        <p:txBody>
          <a:bodyPr rtlCol="0" anchor="ctr"/>
          <a:lstStyle/>
          <a:p>
            <a:pPr algn="ctr"/>
          </a:p>
        </p:txBody>
      </p:sp>
      <p:sp>
        <p:nvSpPr>
          <p:cNvPr id="12" name="Rectangle 11"/>
          <p:cNvSpPr/>
          <p:nvPr/>
        </p:nvSpPr>
        <p:spPr>
          <a:xfrm>
            <a:off x="7308342" y="4681728"/>
            <a:ext cx="1028699" cy="822959"/>
          </a:xfrm>
          <a:prstGeom prst="rect">
            <a:avLst/>
          </a:prstGeom>
          <a:noFill/>
          <a:ln w="44450">
            <a:solidFill>
              <a:srgbClr val="7B3FA0"/>
            </a:solidFill>
          </a:ln>
        </p:spPr>
        <p:txBody>
          <a:bodyPr rtlCol="0" anchor="ctr"/>
          <a:lstStyle/>
          <a:p>
            <a:pPr algn="ctr"/>
          </a:p>
        </p:txBody>
      </p:sp>
      <p:sp>
        <p:nvSpPr>
          <p:cNvPr id="13" name="Oval 12"/>
          <p:cNvSpPr/>
          <p:nvPr/>
        </p:nvSpPr>
        <p:spPr>
          <a:xfrm>
            <a:off x="3289554" y="276148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501634" y="291839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3289554" y="480828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8501634" y="4965192"/>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FC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20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of Lim's four combinations, p. 211.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Comparing the two sentiments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5432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does trend sentiment describe?</a:t>
            </a:r>
          </a:p>
        </p:txBody>
      </p:sp>
      <p:sp>
        <p:nvSpPr>
          <p:cNvPr id="9" name="TextBox 8"/>
          <p:cNvSpPr txBox="1"/>
          <p:nvPr/>
        </p:nvSpPr>
        <p:spPr>
          <a:xfrm>
            <a:off x="1051560"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formation's own lean</a:t>
            </a:r>
          </a:p>
          <a:p>
            <a:pPr algn="l">
              <a:lnSpc>
                <a:spcPct val="112000"/>
              </a:lnSpc>
              <a:spcBef>
                <a:spcPts val="0"/>
              </a:spcBef>
              <a:spcAft>
                <a:spcPts val="900"/>
              </a:spcAft>
            </a:pPr>
            <a:r>
              <a:rPr sz="1700" b="0" i="0">
                <a:solidFill>
                  <a:srgbClr val="FFFFFF"/>
                </a:solidFill>
                <a:latin typeface="Arial"/>
              </a:rPr>
              <a:t>B.  Whether the surrounding trend is up or down</a:t>
            </a:r>
          </a:p>
          <a:p>
            <a:pPr algn="l">
              <a:lnSpc>
                <a:spcPct val="112000"/>
              </a:lnSpc>
              <a:spcBef>
                <a:spcPts val="0"/>
              </a:spcBef>
              <a:spcAft>
                <a:spcPts val="900"/>
              </a:spcAft>
            </a:pPr>
            <a:r>
              <a:rPr sz="1700" b="0" i="0">
                <a:solidFill>
                  <a:srgbClr val="FFFFFF"/>
                </a:solidFill>
                <a:latin typeface="Arial"/>
              </a:rPr>
              <a:t>C.  The bar's range</a:t>
            </a:r>
          </a:p>
          <a:p>
            <a:pPr algn="l">
              <a:lnSpc>
                <a:spcPct val="112000"/>
              </a:lnSpc>
              <a:spcBef>
                <a:spcPts val="0"/>
              </a:spcBef>
              <a:spcAft>
                <a:spcPts val="900"/>
              </a:spcAft>
            </a:pPr>
            <a:r>
              <a:rPr sz="1700" b="0" i="0">
                <a:solidFill>
                  <a:srgbClr val="FFFFFF"/>
                </a:solidFill>
                <a:latin typeface="Arial"/>
              </a:rPr>
              <a:t>D.  The number of bars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8010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A bullish formation appears after prices fell from PHP 72.00 to PHP 66.50. What is the expectation?</a:t>
            </a:r>
          </a:p>
        </p:txBody>
      </p:sp>
      <p:sp>
        <p:nvSpPr>
          <p:cNvPr id="13" name="TextBox 12"/>
          <p:cNvSpPr txBox="1"/>
          <p:nvPr/>
        </p:nvSpPr>
        <p:spPr>
          <a:xfrm>
            <a:off x="6690207"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Continuation</a:t>
            </a:r>
          </a:p>
          <a:p>
            <a:pPr algn="l">
              <a:lnSpc>
                <a:spcPct val="112000"/>
              </a:lnSpc>
              <a:spcBef>
                <a:spcPts val="0"/>
              </a:spcBef>
              <a:spcAft>
                <a:spcPts val="900"/>
              </a:spcAft>
            </a:pPr>
            <a:r>
              <a:rPr sz="1700" b="0" i="0">
                <a:solidFill>
                  <a:srgbClr val="FFFFFF"/>
                </a:solidFill>
                <a:latin typeface="Arial"/>
              </a:rPr>
              <a:t>B.  A higher timeframe bar</a:t>
            </a:r>
          </a:p>
          <a:p>
            <a:pPr algn="l">
              <a:lnSpc>
                <a:spcPct val="112000"/>
              </a:lnSpc>
              <a:spcBef>
                <a:spcPts val="0"/>
              </a:spcBef>
              <a:spcAft>
                <a:spcPts val="900"/>
              </a:spcAft>
            </a:pPr>
            <a:r>
              <a:rPr sz="1700" b="0" i="0">
                <a:solidFill>
                  <a:srgbClr val="FFFFFF"/>
                </a:solidFill>
                <a:latin typeface="Arial"/>
              </a:rPr>
              <a:t>C.  A wider range</a:t>
            </a:r>
          </a:p>
          <a:p>
            <a:pPr algn="l">
              <a:lnSpc>
                <a:spcPct val="112000"/>
              </a:lnSpc>
              <a:spcBef>
                <a:spcPts val="0"/>
              </a:spcBef>
              <a:spcAft>
                <a:spcPts val="900"/>
              </a:spcAft>
            </a:pPr>
            <a:r>
              <a:rPr sz="1700" b="0" i="0">
                <a:solidFill>
                  <a:srgbClr val="FFFFFF"/>
                </a:solidFill>
                <a:latin typeface="Arial"/>
              </a:rPr>
              <a:t>D.  A potential reversal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Comparing the two sentiments</a:t>
            </a:r>
          </a:p>
        </p:txBody>
      </p:sp>
      <p:sp>
        <p:nvSpPr>
          <p:cNvPr id="6" name="Rectangle 5"/>
          <p:cNvSpPr/>
          <p:nvPr/>
        </p:nvSpPr>
        <p:spPr>
          <a:xfrm>
            <a:off x="777240" y="1207008"/>
            <a:ext cx="10637215" cy="190563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05634"/>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trend sentiment describe?</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Whether the surrounding trend is up or down</a:t>
            </a:r>
          </a:p>
          <a:p>
            <a:pPr algn="l">
              <a:lnSpc>
                <a:spcPct val="115000"/>
              </a:lnSpc>
              <a:spcBef>
                <a:spcPts val="700"/>
              </a:spcBef>
              <a:spcAft>
                <a:spcPts val="0"/>
              </a:spcAft>
            </a:pPr>
            <a:r>
              <a:rPr sz="1700" b="0" i="0">
                <a:solidFill>
                  <a:srgbClr val="1A1A1A"/>
                </a:solidFill>
                <a:latin typeface="Arial"/>
              </a:rPr>
              <a:t>Trend sentiment is bullish in an uptrend and bearish in a downtrend, so it describes the surrounding trend (Lim, p. 211).</a:t>
            </a:r>
          </a:p>
        </p:txBody>
      </p:sp>
      <p:sp>
        <p:nvSpPr>
          <p:cNvPr id="10" name="Rectangle 9"/>
          <p:cNvSpPr/>
          <p:nvPr/>
        </p:nvSpPr>
        <p:spPr>
          <a:xfrm>
            <a:off x="777240" y="3359531"/>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59531"/>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97275"/>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A bullish formation appears after prices fell from PHP 72.00 to PHP 66.50. What is the expectation?</a:t>
            </a:r>
          </a:p>
        </p:txBody>
      </p:sp>
      <p:sp>
        <p:nvSpPr>
          <p:cNvPr id="13" name="TextBox 12"/>
          <p:cNvSpPr txBox="1"/>
          <p:nvPr/>
        </p:nvSpPr>
        <p:spPr>
          <a:xfrm>
            <a:off x="1143000" y="4349877"/>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potential reversal</a:t>
            </a:r>
          </a:p>
          <a:p>
            <a:pPr algn="l">
              <a:lnSpc>
                <a:spcPct val="115000"/>
              </a:lnSpc>
              <a:spcBef>
                <a:spcPts val="700"/>
              </a:spcBef>
              <a:spcAft>
                <a:spcPts val="0"/>
              </a:spcAft>
            </a:pPr>
            <a:r>
              <a:rPr sz="1700" b="0" i="0">
                <a:solidFill>
                  <a:srgbClr val="1A1A1A"/>
                </a:solidFill>
                <a:latin typeface="Arial"/>
              </a:rPr>
              <a:t>The fall gives bearish trend sentiment and the formation is bullish. They disagree, so it is a potential reversal (Lim, p. 211).</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Using all three questions on one example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Now we use all three questions together on an example of ours. First the trend: the closes rose from PHP 45.60 </a:t>
            </a:r>
            <a:r>
              <a:rPr sz="1700" b="1" i="0">
                <a:solidFill>
                  <a:srgbClr val="E09B00"/>
                </a:solidFill>
                <a:latin typeface="Arial"/>
              </a:rPr>
              <a:t>(1)</a:t>
            </a:r>
            <a:r>
              <a:rPr sz="1700" b="0" i="0">
                <a:solidFill>
                  <a:srgbClr val="1A1A1A"/>
                </a:solidFill>
                <a:latin typeface="Arial"/>
              </a:rPr>
              <a:t> to PHP 48.10 </a:t>
            </a:r>
            <a:r>
              <a:rPr sz="1700" b="1" i="0">
                <a:solidFill>
                  <a:srgbClr val="C62828"/>
                </a:solidFill>
                <a:latin typeface="Arial"/>
              </a:rPr>
              <a:t>(2)</a:t>
            </a:r>
            <a:r>
              <a:rPr sz="1700" b="0" i="0">
                <a:solidFill>
                  <a:srgbClr val="1A1A1A"/>
                </a:solidFill>
                <a:latin typeface="Arial"/>
              </a:rPr>
              <a:t>, so trend sentiment is bullish. Next the count: the last two bars make a double formation </a:t>
            </a:r>
            <a:r>
              <a:rPr sz="1700" b="1" i="0">
                <a:solidFill>
                  <a:srgbClr val="1F5FAD"/>
                </a:solidFill>
                <a:latin typeface="Arial"/>
              </a:rPr>
              <a:t>(3)</a:t>
            </a:r>
            <a:r>
              <a:rPr sz="1700" b="0" i="0">
                <a:solidFill>
                  <a:srgbClr val="1A1A1A"/>
                </a:solidFill>
                <a:latin typeface="Arial"/>
              </a:rPr>
              <a:t>. Then the lean: bar 4 closes at PHP 47.50 </a:t>
            </a:r>
            <a:r>
              <a:rPr sz="1700" b="1" i="0">
                <a:solidFill>
                  <a:srgbClr val="7B3FA0"/>
                </a:solidFill>
                <a:latin typeface="Arial"/>
              </a:rPr>
              <a:t>(4)</a:t>
            </a:r>
            <a:r>
              <a:rPr sz="1700" b="0" i="0">
                <a:solidFill>
                  <a:srgbClr val="1A1A1A"/>
                </a:solidFill>
                <a:latin typeface="Arial"/>
              </a:rPr>
              <a:t>, below bar 3's low of PHP 47.90 on the dashed line, so by Lim's rule the formation leans bearish (p. 212).</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m-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5729020" y="3008375"/>
            <a:ext cx="5109362" cy="1458116"/>
          </a:xfrm>
          <a:prstGeom prst="rect">
            <a:avLst/>
          </a:prstGeom>
          <a:noFill/>
          <a:ln w="44450">
            <a:solidFill>
              <a:srgbClr val="1F5FAD"/>
            </a:solidFill>
          </a:ln>
        </p:spPr>
        <p:txBody>
          <a:bodyPr rtlCol="0" anchor="ctr"/>
          <a:lstStyle/>
          <a:p>
            <a:pPr algn="ctr"/>
          </a:p>
        </p:txBody>
      </p:sp>
      <p:sp>
        <p:nvSpPr>
          <p:cNvPr id="10" name="Oval 9"/>
          <p:cNvSpPr/>
          <p:nvPr/>
        </p:nvSpPr>
        <p:spPr>
          <a:xfrm>
            <a:off x="2251252" y="4525295"/>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4708855" y="3769156"/>
            <a:ext cx="87782" cy="87782"/>
          </a:xfrm>
          <a:prstGeom prst="ellipse">
            <a:avLst/>
          </a:prstGeom>
          <a:noFill/>
          <a:ln w="44450">
            <a:solidFill>
              <a:srgbClr val="C62828"/>
            </a:solidFill>
          </a:ln>
        </p:spPr>
        <p:txBody>
          <a:bodyPr rtlCol="0" anchor="ctr"/>
          <a:lstStyle/>
          <a:p>
            <a:pPr algn="ctr"/>
          </a:p>
        </p:txBody>
      </p:sp>
      <p:sp>
        <p:nvSpPr>
          <p:cNvPr id="12" name="Oval 11"/>
          <p:cNvSpPr/>
          <p:nvPr/>
        </p:nvSpPr>
        <p:spPr>
          <a:xfrm>
            <a:off x="9624059" y="3950630"/>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10929823" y="360941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2167128" y="461307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4624730" y="385693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9584427" y="370045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S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21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S. The PHP values are invented for teaching.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Using all three questions on one example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Bullish trend sentiment against bearish intrinsic sentiment: they disagree, so this is a potential reversal (p. 211). Part 2 reads the book's own reversal patterns the same way.</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1-m-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5729020" y="3008375"/>
            <a:ext cx="5109362" cy="1458116"/>
          </a:xfrm>
          <a:prstGeom prst="rect">
            <a:avLst/>
          </a:prstGeom>
          <a:noFill/>
          <a:ln w="44450">
            <a:solidFill>
              <a:srgbClr val="1F5FAD"/>
            </a:solidFill>
          </a:ln>
        </p:spPr>
        <p:txBody>
          <a:bodyPr rtlCol="0" anchor="ctr"/>
          <a:lstStyle/>
          <a:p>
            <a:pPr algn="ctr"/>
          </a:p>
        </p:txBody>
      </p:sp>
      <p:sp>
        <p:nvSpPr>
          <p:cNvPr id="10" name="Oval 9"/>
          <p:cNvSpPr/>
          <p:nvPr/>
        </p:nvSpPr>
        <p:spPr>
          <a:xfrm>
            <a:off x="2251252" y="4525295"/>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4708855" y="3769156"/>
            <a:ext cx="87782" cy="87782"/>
          </a:xfrm>
          <a:prstGeom prst="ellipse">
            <a:avLst/>
          </a:prstGeom>
          <a:noFill/>
          <a:ln w="44450">
            <a:solidFill>
              <a:srgbClr val="C62828"/>
            </a:solidFill>
          </a:ln>
        </p:spPr>
        <p:txBody>
          <a:bodyPr rtlCol="0" anchor="ctr"/>
          <a:lstStyle/>
          <a:p>
            <a:pPr algn="ctr"/>
          </a:p>
        </p:txBody>
      </p:sp>
      <p:sp>
        <p:nvSpPr>
          <p:cNvPr id="12" name="Oval 11"/>
          <p:cNvSpPr/>
          <p:nvPr/>
        </p:nvSpPr>
        <p:spPr>
          <a:xfrm>
            <a:off x="9624059" y="3950630"/>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10929823" y="360941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2167128" y="461307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4624730" y="385693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9584427" y="370045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S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22 of 22</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S. The PHP values are invented for teaching.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The three classifications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do single, double, triple and multiple measure?</a:t>
            </a:r>
          </a:p>
        </p:txBody>
      </p:sp>
      <p:sp>
        <p:nvSpPr>
          <p:cNvPr id="9" name="TextBox 8"/>
          <p:cNvSpPr txBox="1"/>
          <p:nvPr/>
        </p:nvSpPr>
        <p:spPr>
          <a:xfrm>
            <a:off x="1051560"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trend direction</a:t>
            </a:r>
          </a:p>
          <a:p>
            <a:pPr algn="l">
              <a:lnSpc>
                <a:spcPct val="112000"/>
              </a:lnSpc>
              <a:spcBef>
                <a:spcPts val="0"/>
              </a:spcBef>
              <a:spcAft>
                <a:spcPts val="900"/>
              </a:spcAft>
            </a:pPr>
            <a:r>
              <a:rPr sz="1700" b="0" i="0">
                <a:solidFill>
                  <a:srgbClr val="FFFFFF"/>
                </a:solidFill>
                <a:latin typeface="Arial"/>
              </a:rPr>
              <a:t>B.  The intrinsic sentiment</a:t>
            </a:r>
          </a:p>
          <a:p>
            <a:pPr algn="l">
              <a:lnSpc>
                <a:spcPct val="112000"/>
              </a:lnSpc>
              <a:spcBef>
                <a:spcPts val="0"/>
              </a:spcBef>
              <a:spcAft>
                <a:spcPts val="900"/>
              </a:spcAft>
            </a:pPr>
            <a:r>
              <a:rPr sz="1700" b="0" i="0">
                <a:solidFill>
                  <a:srgbClr val="FFFFFF"/>
                </a:solidFill>
                <a:latin typeface="Arial"/>
              </a:rPr>
              <a:t>C.  The number of bars in the formation</a:t>
            </a:r>
          </a:p>
          <a:p>
            <a:pPr algn="l">
              <a:lnSpc>
                <a:spcPct val="112000"/>
              </a:lnSpc>
              <a:spcBef>
                <a:spcPts val="0"/>
              </a:spcBef>
              <a:spcAft>
                <a:spcPts val="900"/>
              </a:spcAft>
            </a:pPr>
            <a:r>
              <a:rPr sz="1700" b="0" i="0">
                <a:solidFill>
                  <a:srgbClr val="FFFFFF"/>
                </a:solidFill>
                <a:latin typeface="Arial"/>
              </a:rPr>
              <a:t>D.  The size of the range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When does Lim consider a formation a reversal pattern?</a:t>
            </a:r>
          </a:p>
        </p:txBody>
      </p:sp>
      <p:sp>
        <p:nvSpPr>
          <p:cNvPr id="13" name="TextBox 12"/>
          <p:cNvSpPr txBox="1"/>
          <p:nvPr/>
        </p:nvSpPr>
        <p:spPr>
          <a:xfrm>
            <a:off x="6690207"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When it has three bars</a:t>
            </a:r>
          </a:p>
          <a:p>
            <a:pPr algn="l">
              <a:lnSpc>
                <a:spcPct val="112000"/>
              </a:lnSpc>
              <a:spcBef>
                <a:spcPts val="0"/>
              </a:spcBef>
              <a:spcAft>
                <a:spcPts val="900"/>
              </a:spcAft>
            </a:pPr>
            <a:r>
              <a:rPr sz="1700" b="0" i="0">
                <a:solidFill>
                  <a:srgbClr val="FFFFFF"/>
                </a:solidFill>
                <a:latin typeface="Arial"/>
              </a:rPr>
              <a:t>B.  When its range is wide</a:t>
            </a:r>
          </a:p>
          <a:p>
            <a:pPr algn="l">
              <a:lnSpc>
                <a:spcPct val="112000"/>
              </a:lnSpc>
              <a:spcBef>
                <a:spcPts val="0"/>
              </a:spcBef>
              <a:spcAft>
                <a:spcPts val="900"/>
              </a:spcAft>
            </a:pPr>
            <a:r>
              <a:rPr sz="1700" b="0" i="0">
                <a:solidFill>
                  <a:srgbClr val="FFFFFF"/>
                </a:solidFill>
                <a:latin typeface="Arial"/>
              </a:rPr>
              <a:t>C.  When it closes where it opened</a:t>
            </a:r>
          </a:p>
          <a:p>
            <a:pPr algn="l">
              <a:lnSpc>
                <a:spcPct val="112000"/>
              </a:lnSpc>
              <a:spcBef>
                <a:spcPts val="0"/>
              </a:spcBef>
              <a:spcAft>
                <a:spcPts val="900"/>
              </a:spcAft>
            </a:pPr>
            <a:r>
              <a:rPr sz="1700" b="0" i="0">
                <a:solidFill>
                  <a:srgbClr val="FFFFFF"/>
                </a:solidFill>
                <a:latin typeface="Arial"/>
              </a:rPr>
              <a:t>D.  When its intrinsic sentiment disagrees with the trend sentiment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4 - 7.1 Price bar  |  Check 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The three classifications</a:t>
            </a:r>
          </a:p>
        </p:txBody>
      </p:sp>
      <p:sp>
        <p:nvSpPr>
          <p:cNvPr id="6" name="Rectangle 5"/>
          <p:cNvSpPr/>
          <p:nvPr/>
        </p:nvSpPr>
        <p:spPr>
          <a:xfrm>
            <a:off x="777240" y="1207008"/>
            <a:ext cx="10637215" cy="190563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05634"/>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 single, double, triple and multiple measure?</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number of bars in the formation</a:t>
            </a:r>
          </a:p>
          <a:p>
            <a:pPr algn="l">
              <a:lnSpc>
                <a:spcPct val="115000"/>
              </a:lnSpc>
              <a:spcBef>
                <a:spcPts val="700"/>
              </a:spcBef>
              <a:spcAft>
                <a:spcPts val="0"/>
              </a:spcAft>
            </a:pPr>
            <a:r>
              <a:rPr sz="1700" b="0" i="0">
                <a:solidFill>
                  <a:srgbClr val="1A1A1A"/>
                </a:solidFill>
                <a:latin typeface="Arial"/>
              </a:rPr>
              <a:t>They are the first of Lim's three classifications: the number of bars that make up the formation (p. 210).</a:t>
            </a:r>
          </a:p>
        </p:txBody>
      </p:sp>
      <p:sp>
        <p:nvSpPr>
          <p:cNvPr id="10" name="Rectangle 9"/>
          <p:cNvSpPr/>
          <p:nvPr/>
        </p:nvSpPr>
        <p:spPr>
          <a:xfrm>
            <a:off x="777240" y="3359531"/>
            <a:ext cx="10637215" cy="194944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59531"/>
            <a:ext cx="91440" cy="194944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97275"/>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When does Lim consider a formation a reversal pattern?</a:t>
            </a:r>
          </a:p>
        </p:txBody>
      </p:sp>
      <p:sp>
        <p:nvSpPr>
          <p:cNvPr id="13" name="TextBox 12"/>
          <p:cNvSpPr txBox="1"/>
          <p:nvPr/>
        </p:nvSpPr>
        <p:spPr>
          <a:xfrm>
            <a:off x="1143000" y="410159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When its intrinsic sentiment disagrees with the trend sentiment</a:t>
            </a:r>
          </a:p>
          <a:p>
            <a:pPr algn="l">
              <a:lnSpc>
                <a:spcPct val="115000"/>
              </a:lnSpc>
              <a:spcBef>
                <a:spcPts val="700"/>
              </a:spcBef>
              <a:spcAft>
                <a:spcPts val="0"/>
              </a:spcAft>
            </a:pPr>
            <a:r>
              <a:rPr sz="1700" b="0" i="0">
                <a:solidFill>
                  <a:srgbClr val="1A1A1A"/>
                </a:solidFill>
                <a:latin typeface="Arial"/>
              </a:rPr>
              <a:t>When intrinsic and trend sentiment disagree, Lim considers the pattern a reversal (p. 211).</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4 - 7.1 Price bar  |  Check 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Section 7.2 reads each bar pattern against the trend around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Part 1 every formation had two sentiments. Its intrinsic sentiment is its own bullish or bearish lean; the trend sentiment is bullish in an uptrend and bearish in a downtrend (p. 211).</a:t>
            </a:r>
          </a:p>
          <a:p>
            <a:pPr algn="l">
              <a:lnSpc>
                <a:spcPct val="118000"/>
              </a:lnSpc>
              <a:spcBef>
                <a:spcPts val="0"/>
              </a:spcBef>
              <a:spcAft>
                <a:spcPts val="1300"/>
              </a:spcAft>
            </a:pPr>
            <a:r>
              <a:rPr sz="2100" b="0" i="0">
                <a:solidFill>
                  <a:srgbClr val="1A1A1A"/>
                </a:solidFill>
                <a:latin typeface="Arial"/>
              </a:rPr>
              <a:t>Section 7.2 puts the two together. When they agree, Lim calls the pattern a continuation pattern; when they disagree, he calls it a reversal pattern (p. 211).</a:t>
            </a:r>
          </a:p>
        </p:txBody>
      </p:sp>
      <p:sp>
        <p:nvSpPr>
          <p:cNvPr id="8" name="Rectangle 7"/>
          <p:cNvSpPr/>
          <p:nvPr/>
        </p:nvSpPr>
        <p:spPr>
          <a:xfrm>
            <a:off x="777240" y="453085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6742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So the same pattern can mean different things in different trends: read the trend first.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Lim's own example is the head and shoulders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head and shoulders has bearish intrinsic sentiment and an inverted head and shoulders bullish, as Chapter 4's "Intrinsic bias" explains (p. 211). Let us put invented prices on it. A stock climbs from PHP 40 to PHP 50 </a:t>
            </a:r>
            <a:r>
              <a:rPr sz="1700" b="1" i="0">
                <a:solidFill>
                  <a:srgbClr val="E09B00"/>
                </a:solidFill>
                <a:latin typeface="Arial"/>
              </a:rPr>
              <a:t>(1)</a:t>
            </a:r>
            <a:r>
              <a:rPr sz="1700" b="0" i="0">
                <a:solidFill>
                  <a:srgbClr val="1A1A1A"/>
                </a:solidFill>
                <a:latin typeface="Arial"/>
              </a:rPr>
              <a:t> over ten days, so the trend sentiment is bullish. An inverted head and shoulders </a:t>
            </a:r>
            <a:r>
              <a:rPr sz="1700" b="1" i="0">
                <a:solidFill>
                  <a:srgbClr val="C62828"/>
                </a:solidFill>
                <a:latin typeface="Arial"/>
              </a:rPr>
              <a:t>(2)</a:t>
            </a:r>
            <a:r>
              <a:rPr sz="1700" b="0" i="0">
                <a:solidFill>
                  <a:srgbClr val="1A1A1A"/>
                </a:solidFill>
                <a:latin typeface="Arial"/>
              </a:rPr>
              <a:t> at PHP 50 agrees with that trend, so Lim calls it a continuation pattern.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hn-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106424" y="3307515"/>
            <a:ext cx="2606040" cy="1810512"/>
          </a:xfrm>
          <a:prstGeom prst="rect">
            <a:avLst/>
          </a:prstGeom>
          <a:noFill/>
          <a:ln w="44450">
            <a:solidFill>
              <a:srgbClr val="E09B00"/>
            </a:solidFill>
          </a:ln>
        </p:spPr>
        <p:txBody>
          <a:bodyPr rtlCol="0" anchor="ctr"/>
          <a:lstStyle/>
          <a:p>
            <a:pPr algn="ctr"/>
          </a:p>
        </p:txBody>
      </p:sp>
      <p:sp>
        <p:nvSpPr>
          <p:cNvPr id="10" name="Rectangle 9"/>
          <p:cNvSpPr/>
          <p:nvPr/>
        </p:nvSpPr>
        <p:spPr>
          <a:xfrm>
            <a:off x="4025188" y="3601429"/>
            <a:ext cx="1569110" cy="609599"/>
          </a:xfrm>
          <a:prstGeom prst="rect">
            <a:avLst/>
          </a:prstGeom>
          <a:noFill/>
          <a:ln w="44450">
            <a:solidFill>
              <a:srgbClr val="C62828"/>
            </a:solidFill>
          </a:ln>
        </p:spPr>
        <p:txBody>
          <a:bodyPr rtlCol="0" anchor="ctr"/>
          <a:lstStyle/>
          <a:p>
            <a:pPr algn="ctr"/>
          </a:p>
        </p:txBody>
      </p:sp>
      <p:sp>
        <p:nvSpPr>
          <p:cNvPr id="11" name="Rectangle 10"/>
          <p:cNvSpPr/>
          <p:nvPr/>
        </p:nvSpPr>
        <p:spPr>
          <a:xfrm>
            <a:off x="9237268" y="3218252"/>
            <a:ext cx="1569110" cy="657497"/>
          </a:xfrm>
          <a:prstGeom prst="rect">
            <a:avLst/>
          </a:prstGeom>
          <a:noFill/>
          <a:ln w="44450">
            <a:solidFill>
              <a:srgbClr val="1F5FAD"/>
            </a:solidFill>
          </a:ln>
        </p:spPr>
        <p:txBody>
          <a:bodyPr rtlCol="0" anchor="ctr"/>
          <a:lstStyle/>
          <a:p>
            <a:pPr algn="ctr"/>
          </a:p>
        </p:txBody>
      </p:sp>
      <p:sp>
        <p:nvSpPr>
          <p:cNvPr id="12" name="Oval 11"/>
          <p:cNvSpPr/>
          <p:nvPr/>
        </p:nvSpPr>
        <p:spPr>
          <a:xfrm>
            <a:off x="3584448" y="288689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5758891" y="377821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970971" y="341898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HN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 The prices are invented for teaching.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Lim's own example is the head and shoulders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head and shoulders </a:t>
            </a:r>
            <a:r>
              <a:rPr sz="1700" b="1" i="0">
                <a:solidFill>
                  <a:srgbClr val="1F5FAD"/>
                </a:solidFill>
                <a:latin typeface="Arial"/>
              </a:rPr>
              <a:t>(3)</a:t>
            </a:r>
            <a:r>
              <a:rPr sz="1700" b="0" i="0">
                <a:solidFill>
                  <a:srgbClr val="1A1A1A"/>
                </a:solidFill>
                <a:latin typeface="Arial"/>
              </a:rPr>
              <a:t> in the same place disagrees, so it is a reversal pattern.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hn-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106424" y="3307515"/>
            <a:ext cx="2606040" cy="1810512"/>
          </a:xfrm>
          <a:prstGeom prst="rect">
            <a:avLst/>
          </a:prstGeom>
          <a:noFill/>
          <a:ln w="44450">
            <a:solidFill>
              <a:srgbClr val="E09B00"/>
            </a:solidFill>
          </a:ln>
        </p:spPr>
        <p:txBody>
          <a:bodyPr rtlCol="0" anchor="ctr"/>
          <a:lstStyle/>
          <a:p>
            <a:pPr algn="ctr"/>
          </a:p>
        </p:txBody>
      </p:sp>
      <p:sp>
        <p:nvSpPr>
          <p:cNvPr id="10" name="Rectangle 9"/>
          <p:cNvSpPr/>
          <p:nvPr/>
        </p:nvSpPr>
        <p:spPr>
          <a:xfrm>
            <a:off x="4025188" y="3601429"/>
            <a:ext cx="1569110" cy="609599"/>
          </a:xfrm>
          <a:prstGeom prst="rect">
            <a:avLst/>
          </a:prstGeom>
          <a:noFill/>
          <a:ln w="44450">
            <a:solidFill>
              <a:srgbClr val="C62828"/>
            </a:solidFill>
          </a:ln>
        </p:spPr>
        <p:txBody>
          <a:bodyPr rtlCol="0" anchor="ctr"/>
          <a:lstStyle/>
          <a:p>
            <a:pPr algn="ctr"/>
          </a:p>
        </p:txBody>
      </p:sp>
      <p:sp>
        <p:nvSpPr>
          <p:cNvPr id="11" name="Rectangle 10"/>
          <p:cNvSpPr/>
          <p:nvPr/>
        </p:nvSpPr>
        <p:spPr>
          <a:xfrm>
            <a:off x="9237268" y="3218252"/>
            <a:ext cx="1569110" cy="657497"/>
          </a:xfrm>
          <a:prstGeom prst="rect">
            <a:avLst/>
          </a:prstGeom>
          <a:noFill/>
          <a:ln w="44450">
            <a:solidFill>
              <a:srgbClr val="1F5FAD"/>
            </a:solidFill>
          </a:ln>
        </p:spPr>
        <p:txBody>
          <a:bodyPr rtlCol="0" anchor="ctr"/>
          <a:lstStyle/>
          <a:p>
            <a:pPr algn="ctr"/>
          </a:p>
        </p:txBody>
      </p:sp>
      <p:sp>
        <p:nvSpPr>
          <p:cNvPr id="12" name="Oval 11"/>
          <p:cNvSpPr/>
          <p:nvPr/>
        </p:nvSpPr>
        <p:spPr>
          <a:xfrm>
            <a:off x="3584448" y="288689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5758891" y="377821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970971" y="341898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HN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 The prices are invented for teaching.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Continuation or reversal</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stock climbs from PHP 40 to PHP 50, and then a bearish pattern forms. What does Lim call it?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 continuation pattern</a:t>
            </a:r>
          </a:p>
          <a:p>
            <a:pPr algn="l">
              <a:lnSpc>
                <a:spcPct val="112000"/>
              </a:lnSpc>
              <a:spcBef>
                <a:spcPts val="0"/>
              </a:spcBef>
              <a:spcAft>
                <a:spcPts val="900"/>
              </a:spcAft>
            </a:pPr>
            <a:r>
              <a:rPr sz="1700" b="0" i="0">
                <a:solidFill>
                  <a:srgbClr val="FFFFFF"/>
                </a:solidFill>
                <a:latin typeface="Arial"/>
              </a:rPr>
              <a:t>B.  A reversal pattern</a:t>
            </a:r>
          </a:p>
          <a:p>
            <a:pPr algn="l">
              <a:lnSpc>
                <a:spcPct val="112000"/>
              </a:lnSpc>
              <a:spcBef>
                <a:spcPts val="0"/>
              </a:spcBef>
              <a:spcAft>
                <a:spcPts val="900"/>
              </a:spcAft>
            </a:pPr>
            <a:r>
              <a:rPr sz="1700" b="0" i="0">
                <a:solidFill>
                  <a:srgbClr val="FFFFFF"/>
                </a:solidFill>
                <a:latin typeface="Arial"/>
              </a:rPr>
              <a:t>C.  A higher timeframe bar</a:t>
            </a:r>
          </a:p>
          <a:p>
            <a:pPr algn="l">
              <a:lnSpc>
                <a:spcPct val="112000"/>
              </a:lnSpc>
              <a:spcBef>
                <a:spcPts val="0"/>
              </a:spcBef>
              <a:spcAft>
                <a:spcPts val="900"/>
              </a:spcAft>
            </a:pPr>
            <a:r>
              <a:rPr sz="1700" b="0" i="0">
                <a:solidFill>
                  <a:srgbClr val="FFFFFF"/>
                </a:solidFill>
                <a:latin typeface="Arial"/>
              </a:rPr>
              <a:t>D.  A neutral pattern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is an inverted head and shoulders in an uptrend a continuation pattern?</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It has three peaks</a:t>
            </a:r>
          </a:p>
          <a:p>
            <a:pPr algn="l">
              <a:lnSpc>
                <a:spcPct val="112000"/>
              </a:lnSpc>
              <a:spcBef>
                <a:spcPts val="0"/>
              </a:spcBef>
              <a:spcAft>
                <a:spcPts val="900"/>
              </a:spcAft>
            </a:pPr>
            <a:r>
              <a:rPr sz="1700" b="0" i="0">
                <a:solidFill>
                  <a:srgbClr val="FFFFFF"/>
                </a:solidFill>
                <a:latin typeface="Arial"/>
              </a:rPr>
              <a:t>B.  Its volume is high</a:t>
            </a:r>
          </a:p>
          <a:p>
            <a:pPr algn="l">
              <a:lnSpc>
                <a:spcPct val="112000"/>
              </a:lnSpc>
              <a:spcBef>
                <a:spcPts val="0"/>
              </a:spcBef>
              <a:spcAft>
                <a:spcPts val="900"/>
              </a:spcAft>
            </a:pPr>
            <a:r>
              <a:rPr sz="1700" b="0" i="0">
                <a:solidFill>
                  <a:srgbClr val="FFFFFF"/>
                </a:solidFill>
                <a:latin typeface="Arial"/>
              </a:rPr>
              <a:t>C.  Both sentiments are bullish</a:t>
            </a:r>
          </a:p>
          <a:p>
            <a:pPr algn="l">
              <a:lnSpc>
                <a:spcPct val="112000"/>
              </a:lnSpc>
              <a:spcBef>
                <a:spcPts val="0"/>
              </a:spcBef>
              <a:spcAft>
                <a:spcPts val="900"/>
              </a:spcAft>
            </a:pPr>
            <a:r>
              <a:rPr sz="1700" b="0" i="0">
                <a:solidFill>
                  <a:srgbClr val="FFFFFF"/>
                </a:solidFill>
                <a:latin typeface="Arial"/>
              </a:rPr>
              <a:t>D.  The trend is down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Continuation or reversal</a:t>
            </a:r>
          </a:p>
        </p:txBody>
      </p:sp>
      <p:sp>
        <p:nvSpPr>
          <p:cNvPr id="6" name="Rectangle 5"/>
          <p:cNvSpPr/>
          <p:nvPr/>
        </p:nvSpPr>
        <p:spPr>
          <a:xfrm>
            <a:off x="777240" y="1207008"/>
            <a:ext cx="10637215" cy="212471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12471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 stock climbs from PHP 40 to PHP 50, and then a bearish pattern forms. What does Lim call it?</a:t>
            </a:r>
          </a:p>
        </p:txBody>
      </p:sp>
      <p:sp>
        <p:nvSpPr>
          <p:cNvPr id="9" name="TextBox 8"/>
          <p:cNvSpPr txBox="1"/>
          <p:nvPr/>
        </p:nvSpPr>
        <p:spPr>
          <a:xfrm>
            <a:off x="1143000" y="2197354"/>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A reversal pattern</a:t>
            </a:r>
          </a:p>
          <a:p>
            <a:pPr algn="l">
              <a:lnSpc>
                <a:spcPct val="115000"/>
              </a:lnSpc>
              <a:spcBef>
                <a:spcPts val="700"/>
              </a:spcBef>
              <a:spcAft>
                <a:spcPts val="0"/>
              </a:spcAft>
            </a:pPr>
            <a:r>
              <a:rPr sz="1700" b="0" i="0">
                <a:solidFill>
                  <a:srgbClr val="1A1A1A"/>
                </a:solidFill>
                <a:latin typeface="Arial"/>
              </a:rPr>
              <a:t>The uptrend's trend sentiment is bullish and the pattern's intrinsic sentiment is bearish. They disagree, so it is a reversal pattern (p. 211).</a:t>
            </a:r>
          </a:p>
        </p:txBody>
      </p:sp>
      <p:sp>
        <p:nvSpPr>
          <p:cNvPr id="10" name="Rectangle 9"/>
          <p:cNvSpPr/>
          <p:nvPr/>
        </p:nvSpPr>
        <p:spPr>
          <a:xfrm>
            <a:off x="777240" y="3578606"/>
            <a:ext cx="10637215" cy="18764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78606"/>
            <a:ext cx="91440" cy="187642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816349"/>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Why is an inverted head and shoulders in an uptrend a continuation pattern?</a:t>
            </a:r>
          </a:p>
        </p:txBody>
      </p:sp>
      <p:sp>
        <p:nvSpPr>
          <p:cNvPr id="13" name="TextBox 12"/>
          <p:cNvSpPr txBox="1"/>
          <p:nvPr/>
        </p:nvSpPr>
        <p:spPr>
          <a:xfrm>
            <a:off x="1143000" y="4320667"/>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Both sentiments are bullish</a:t>
            </a:r>
          </a:p>
          <a:p>
            <a:pPr algn="l">
              <a:lnSpc>
                <a:spcPct val="115000"/>
              </a:lnSpc>
              <a:spcBef>
                <a:spcPts val="700"/>
              </a:spcBef>
              <a:spcAft>
                <a:spcPts val="0"/>
              </a:spcAft>
            </a:pPr>
            <a:r>
              <a:rPr sz="1700" b="0" i="0">
                <a:solidFill>
                  <a:srgbClr val="1A1A1A"/>
                </a:solidFill>
                <a:latin typeface="Arial"/>
              </a:rPr>
              <a:t>Its intrinsic sentiment is bullish and the uptrend makes the trend sentiment bullish too, so they agree (p. 211).</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So Lim draws each bearish reversal at the top of an uptrend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reversal needs the two sentiments to disagree. So when Lim draws bearish reversal patterns he assumes the existing trend is up, and for bullish ones he assumes it is down (pp. 211 to 212). The book actually prints "bearish" twice in that sentence; the second must mean bullish, as his bullish drawings show.</a:t>
            </a:r>
          </a:p>
          <a:p>
            <a:pPr algn="l">
              <a:lnSpc>
                <a:spcPct val="118000"/>
              </a:lnSpc>
              <a:spcBef>
                <a:spcPts val="0"/>
              </a:spcBef>
              <a:spcAft>
                <a:spcPts val="1300"/>
              </a:spcAft>
            </a:pPr>
            <a:r>
              <a:rPr sz="2100" b="0" i="0">
                <a:solidFill>
                  <a:srgbClr val="1A1A1A"/>
                </a:solidFill>
                <a:latin typeface="Arial"/>
              </a:rPr>
              <a:t>In each drawing that follows, an arrow labelled "Existing uptrend" leads into a bearish pattern, and "Existing downtrend" into a bullish one.</a:t>
            </a:r>
          </a:p>
          <a:p>
            <a:pPr algn="l">
              <a:lnSpc>
                <a:spcPct val="118000"/>
              </a:lnSpc>
              <a:spcBef>
                <a:spcPts val="0"/>
              </a:spcBef>
              <a:spcAft>
                <a:spcPts val="1300"/>
              </a:spcAft>
            </a:pPr>
            <a:r>
              <a:rPr sz="2100" b="0" i="0">
                <a:solidFill>
                  <a:srgbClr val="1A1A1A"/>
                </a:solidFill>
                <a:latin typeface="Arial"/>
              </a:rPr>
              <a:t>We start with the smallest patterns, made of one or two bars.</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arrow in each drawing is the trend the pattern has to fight.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211 to 212.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close below the previous bar is Lim's basic bearish clue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For one-bar and two-bar patterns in an uptrend, Lim's general rule is that a close below the previous bar's close or low is bearish, especially when that previous bar is large or wide-ranging (p. 212). Here it is with invented prices. Yesterday's bar ran from PHP 49.00 to PHP 52.00 and closed at PHP 51.80 </a:t>
            </a:r>
            <a:r>
              <a:rPr sz="1700" b="1" i="0">
                <a:solidFill>
                  <a:srgbClr val="E09B00"/>
                </a:solidFill>
                <a:latin typeface="Arial"/>
              </a:rPr>
              <a:t>(1)</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pu-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424988" y="3480417"/>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4802428" y="3696708"/>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14508" y="456187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481620" y="4489774"/>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377066" y="360160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695351" y="387492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30384" y="4759381"/>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7596642" y="420650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PU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close below the previous bar is Lim's basic bearish clue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close today at PHP 51.20 </a:t>
            </a:r>
            <a:r>
              <a:rPr sz="1700" b="1" i="0">
                <a:solidFill>
                  <a:srgbClr val="C62828"/>
                </a:solidFill>
                <a:latin typeface="Arial"/>
              </a:rPr>
              <a:t>(2)</a:t>
            </a:r>
            <a:r>
              <a:rPr sz="1700" b="0" i="0">
                <a:solidFill>
                  <a:srgbClr val="1A1A1A"/>
                </a:solidFill>
                <a:latin typeface="Arial"/>
              </a:rPr>
              <a:t> is below yesterday's close; a close at PHP 48.80 </a:t>
            </a:r>
            <a:r>
              <a:rPr sz="1700" b="1" i="0">
                <a:solidFill>
                  <a:srgbClr val="1F5FAD"/>
                </a:solidFill>
                <a:latin typeface="Arial"/>
              </a:rPr>
              <a:t>(3)</a:t>
            </a:r>
            <a:r>
              <a:rPr sz="1700" b="0" i="0">
                <a:solidFill>
                  <a:srgbClr val="1A1A1A"/>
                </a:solidFill>
                <a:latin typeface="Arial"/>
              </a:rPr>
              <a:t> is below yesterday's low </a:t>
            </a:r>
            <a:r>
              <a:rPr sz="1700" b="1" i="0">
                <a:solidFill>
                  <a:srgbClr val="7B3FA0"/>
                </a:solidFill>
                <a:latin typeface="Arial"/>
              </a:rPr>
              <a:t>(4)</a:t>
            </a:r>
            <a:r>
              <a:rPr sz="1700" b="0" i="0">
                <a:solidFill>
                  <a:srgbClr val="1A1A1A"/>
                </a:solidFill>
                <a:latin typeface="Arial"/>
              </a:rPr>
              <a:t> as well. Yesterday's PHP 3.00 range is wide, the case Lim says counts for more.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pu-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424988" y="3480417"/>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4802428" y="3696708"/>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14508" y="456187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481620" y="4489774"/>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377066" y="360160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695351" y="387492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30384" y="4759381"/>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7596642" y="420650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PU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Lim draws seven of these bearish forms in Figure 7.4</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 of 88</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Figure 7.4 collects the seven basic bearish single and double bar reversal patterns of uptrending markets (p. 212). Here is the first drawing, cut out and drawn large.</a:t>
            </a:r>
          </a:p>
          <a:p>
            <a:pPr algn="l">
              <a:lnSpc>
                <a:spcPct val="105000"/>
              </a:lnSpc>
              <a:spcBef>
                <a:spcPts val="0"/>
              </a:spcBef>
              <a:spcAft>
                <a:spcPts val="1100"/>
              </a:spcAft>
            </a:pPr>
            <a:r>
              <a:rPr sz="1900" b="0" i="0">
                <a:solidFill>
                  <a:srgbClr val="1A1A1A"/>
                </a:solidFill>
                <a:latin typeface="Arial"/>
              </a:rPr>
              <a:t>Each form sits on an existing uptrend </a:t>
            </a:r>
            <a:r>
              <a:rPr sz="1900" b="1" i="0">
                <a:solidFill>
                  <a:srgbClr val="E09B00"/>
                </a:solidFill>
                <a:latin typeface="Arial"/>
              </a:rPr>
              <a:t>(1)</a:t>
            </a:r>
            <a:r>
              <a:rPr sz="1900" b="0" i="0">
                <a:solidFill>
                  <a:srgbClr val="1A1A1A"/>
                </a:solidFill>
                <a:latin typeface="Arial"/>
              </a:rPr>
              <a:t> and carries a number </a:t>
            </a:r>
            <a:r>
              <a:rPr sz="1900" b="1" i="0">
                <a:solidFill>
                  <a:srgbClr val="C62828"/>
                </a:solidFill>
                <a:latin typeface="Arial"/>
              </a:rPr>
              <a:t>(2)</a:t>
            </a:r>
            <a:r>
              <a:rPr sz="1900" b="0" i="0">
                <a:solidFill>
                  <a:srgbClr val="1A1A1A"/>
                </a:solidFill>
                <a:latin typeface="Arial"/>
              </a:rPr>
              <a:t>; the next seven slides take them one at a time, each quoting its label.</a:t>
            </a:r>
          </a:p>
        </p:txBody>
      </p:sp>
      <p:sp>
        <p:nvSpPr>
          <p:cNvPr id="8" name="Rectangle 7"/>
          <p:cNvSpPr/>
          <p:nvPr/>
        </p:nvSpPr>
        <p:spPr>
          <a:xfrm>
            <a:off x="7670656" y="1810512"/>
            <a:ext cx="1376661"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789528" y="1929384"/>
            <a:ext cx="1138917"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789528" y="1929384"/>
            <a:ext cx="1138917"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8063848" y="2203703"/>
            <a:ext cx="59027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1: the drawing on its arrow, with its number.</a:t>
            </a:r>
          </a:p>
        </p:txBody>
      </p:sp>
      <p:sp>
        <p:nvSpPr>
          <p:cNvPr id="12" name="Rectangle 11"/>
          <p:cNvSpPr/>
          <p:nvPr/>
        </p:nvSpPr>
        <p:spPr>
          <a:xfrm>
            <a:off x="7944835" y="3608204"/>
            <a:ext cx="897329" cy="1422729"/>
          </a:xfrm>
          <a:prstGeom prst="rect">
            <a:avLst/>
          </a:prstGeom>
          <a:noFill/>
          <a:ln w="44450">
            <a:solidFill>
              <a:srgbClr val="E09B00"/>
            </a:solidFill>
          </a:ln>
        </p:spPr>
        <p:txBody>
          <a:bodyPr rtlCol="0" anchor="ctr"/>
          <a:lstStyle/>
          <a:p>
            <a:pPr algn="ctr"/>
          </a:p>
        </p:txBody>
      </p:sp>
      <p:sp>
        <p:nvSpPr>
          <p:cNvPr id="13" name="Oval 12"/>
          <p:cNvSpPr/>
          <p:nvPr/>
        </p:nvSpPr>
        <p:spPr>
          <a:xfrm>
            <a:off x="8186424" y="5104915"/>
            <a:ext cx="327870" cy="284545"/>
          </a:xfrm>
          <a:prstGeom prst="ellipse">
            <a:avLst/>
          </a:prstGeom>
          <a:noFill/>
          <a:ln w="44450">
            <a:solidFill>
              <a:srgbClr val="C62828"/>
            </a:solidFill>
          </a:ln>
        </p:spPr>
        <p:txBody>
          <a:bodyPr rtlCol="0" anchor="ctr"/>
          <a:lstStyle/>
          <a:p>
            <a:pPr algn="ctr"/>
          </a:p>
        </p:txBody>
      </p:sp>
      <p:sp>
        <p:nvSpPr>
          <p:cNvPr id="14" name="Oval 13"/>
          <p:cNvSpPr/>
          <p:nvPr/>
        </p:nvSpPr>
        <p:spPr>
          <a:xfrm>
            <a:off x="7816819" y="348018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8662379" y="511917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7.4 -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1, the key reversal bar: it opens high and closes low</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1: "A large bar opening above a previous high and closing near or below a previous close," a key reversal bar (Figure 7.4, p. 212). Let us put invented prices on it. The previous bar reached PHP 51.00 and closed at PHP 50.80. Form 1 opens at PHP 51.40, above that high </a:t>
            </a:r>
            <a:r>
              <a:rPr sz="1700" b="1" i="0">
                <a:solidFill>
                  <a:srgbClr val="E09B00"/>
                </a:solidFill>
                <a:latin typeface="Arial"/>
              </a:rPr>
              <a:t>(1)</a:t>
            </a:r>
            <a:r>
              <a:rPr sz="1700" b="0" i="0">
                <a:solidFill>
                  <a:srgbClr val="1A1A1A"/>
                </a:solidFill>
                <a:latin typeface="Arial"/>
              </a:rPr>
              <a:t>, swings through PHP 2.20 </a:t>
            </a:r>
            <a:r>
              <a:rPr sz="1700" b="1" i="0">
                <a:solidFill>
                  <a:srgbClr val="C62828"/>
                </a:solidFill>
                <a:latin typeface="Arial"/>
              </a:rPr>
              <a:t>(2)</a:t>
            </a:r>
            <a:r>
              <a:rPr sz="1700" b="0" i="0">
                <a:solidFill>
                  <a:srgbClr val="1A1A1A"/>
                </a:solidFill>
                <a:latin typeface="Arial"/>
              </a:rPr>
              <a:t>, and closes at PHP 50.30, below the previous close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28959" y="2395728"/>
            <a:ext cx="1977328"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28959" y="2395728"/>
            <a:ext cx="1977328"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03279" y="2670048"/>
            <a:ext cx="1428688"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1: a key reversal bar after an uptrend.</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a-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5" name="Oval 14"/>
          <p:cNvSpPr/>
          <p:nvPr/>
        </p:nvSpPr>
        <p:spPr>
          <a:xfrm>
            <a:off x="9971531" y="3804901"/>
            <a:ext cx="87782" cy="87782"/>
          </a:xfrm>
          <a:prstGeom prst="ellipse">
            <a:avLst/>
          </a:prstGeom>
          <a:noFill/>
          <a:ln w="44450">
            <a:solidFill>
              <a:srgbClr val="E09B00"/>
            </a:solidFill>
          </a:ln>
        </p:spPr>
        <p:txBody>
          <a:bodyPr rtlCol="0" anchor="ctr"/>
          <a:lstStyle/>
          <a:p>
            <a:pPr algn="ctr"/>
          </a:p>
        </p:txBody>
      </p:sp>
      <p:sp>
        <p:nvSpPr>
          <p:cNvPr id="16" name="Oval 15"/>
          <p:cNvSpPr/>
          <p:nvPr/>
        </p:nvSpPr>
        <p:spPr>
          <a:xfrm>
            <a:off x="10282427" y="4591285"/>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9854379" y="353347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231330" y="469446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BA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The prices are invented for teaching.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2 closes near or below the previous low</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2: "A large bar closing near or below a previous low" (Figure 7.4, p. 212). By the close, price has fallen through everything the previous bar traded. Here it is with invented prices. The previous bar's low is PHP 50.20 </a:t>
            </a:r>
            <a:r>
              <a:rPr sz="1700" b="1" i="0">
                <a:solidFill>
                  <a:srgbClr val="E09B00"/>
                </a:solidFill>
                <a:latin typeface="Arial"/>
              </a:rPr>
              <a:t>(1)</a:t>
            </a:r>
            <a:r>
              <a:rPr sz="1700" b="0" i="0">
                <a:solidFill>
                  <a:srgbClr val="1A1A1A"/>
                </a:solidFill>
                <a:latin typeface="Arial"/>
              </a:rPr>
              <a:t>. Form 2 is a large bar with a PHP 2.10 range </a:t>
            </a:r>
            <a:r>
              <a:rPr sz="1700" b="1" i="0">
                <a:solidFill>
                  <a:srgbClr val="C62828"/>
                </a:solidFill>
                <a:latin typeface="Arial"/>
              </a:rPr>
              <a:t>(2)</a:t>
            </a:r>
            <a:r>
              <a:rPr sz="1700" b="0" i="0">
                <a:solidFill>
                  <a:srgbClr val="1A1A1A"/>
                </a:solidFill>
                <a:latin typeface="Arial"/>
              </a:rPr>
              <a:t> that closes at PHP 49.60, below that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105010" y="2395728"/>
            <a:ext cx="182522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105010" y="2395728"/>
            <a:ext cx="182522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79330" y="2670048"/>
            <a:ext cx="127658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2: a large bar closing below the previous low.</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b-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5" name="Oval 14"/>
          <p:cNvSpPr/>
          <p:nvPr/>
        </p:nvSpPr>
        <p:spPr>
          <a:xfrm>
            <a:off x="5518403" y="4349583"/>
            <a:ext cx="87782" cy="87782"/>
          </a:xfrm>
          <a:prstGeom prst="ellipse">
            <a:avLst/>
          </a:prstGeom>
          <a:noFill/>
          <a:ln w="44450">
            <a:solidFill>
              <a:srgbClr val="E09B00"/>
            </a:solidFill>
          </a:ln>
        </p:spPr>
        <p:txBody>
          <a:bodyPr rtlCol="0" anchor="ctr"/>
          <a:lstStyle/>
          <a:p>
            <a:pPr algn="ctr"/>
          </a:p>
        </p:txBody>
      </p:sp>
      <p:sp>
        <p:nvSpPr>
          <p:cNvPr id="16" name="Oval 15"/>
          <p:cNvSpPr/>
          <p:nvPr/>
        </p:nvSpPr>
        <p:spPr>
          <a:xfrm>
            <a:off x="10282427" y="4798945"/>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5621584" y="423243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247529" y="453110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BB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9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The prices are invented for teaching.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3 closes below a gap</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3: "A bar closing below a gap formed between the current bar's open and a previous bar's low" (Figure 7.4, p. 212). Chapter 3's "Gap" is a range of prices where no trading took place. Say the previous low is PHP 51.00. Form 3 opens at PHP 50.60 </a:t>
            </a:r>
            <a:r>
              <a:rPr sz="1700" b="1" i="0">
                <a:solidFill>
                  <a:srgbClr val="E09B00"/>
                </a:solidFill>
                <a:latin typeface="Arial"/>
              </a:rPr>
              <a:t>(1)</a:t>
            </a:r>
            <a:r>
              <a:rPr sz="1700" b="0" i="0">
                <a:solidFill>
                  <a:srgbClr val="1A1A1A"/>
                </a:solidFill>
                <a:latin typeface="Arial"/>
              </a:rPr>
              <a:t>, leaving a PHP 0.40 gap above its open </a:t>
            </a:r>
            <a:r>
              <a:rPr sz="1700" b="1" i="0">
                <a:solidFill>
                  <a:srgbClr val="C62828"/>
                </a:solidFill>
                <a:latin typeface="Arial"/>
              </a:rPr>
              <a:t>(2)</a:t>
            </a:r>
            <a:r>
              <a:rPr sz="1700" b="0" i="0">
                <a:solidFill>
                  <a:srgbClr val="1A1A1A"/>
                </a:solidFill>
                <a:latin typeface="Arial"/>
              </a:rPr>
              <a:t>, and closes at PHP 49.80, below the gap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105010" y="2395728"/>
            <a:ext cx="182522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105010" y="2395728"/>
            <a:ext cx="182522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79330" y="2670048"/>
            <a:ext cx="127658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3: a bar closing below a gap.</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c-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9971531" y="4293412"/>
            <a:ext cx="87782" cy="87782"/>
          </a:xfrm>
          <a:prstGeom prst="ellipse">
            <a:avLst/>
          </a:prstGeom>
          <a:noFill/>
          <a:ln w="44450">
            <a:solidFill>
              <a:srgbClr val="E09B00"/>
            </a:solidFill>
          </a:ln>
        </p:spPr>
        <p:txBody>
          <a:bodyPr rtlCol="0" anchor="ctr"/>
          <a:lstStyle/>
          <a:p>
            <a:pPr algn="ctr"/>
          </a:p>
        </p:txBody>
      </p:sp>
      <p:sp>
        <p:nvSpPr>
          <p:cNvPr id="15" name="Rectangle 14"/>
          <p:cNvSpPr/>
          <p:nvPr/>
        </p:nvSpPr>
        <p:spPr>
          <a:xfrm>
            <a:off x="7784287" y="4075176"/>
            <a:ext cx="164592" cy="262127"/>
          </a:xfrm>
          <a:prstGeom prst="rect">
            <a:avLst/>
          </a:prstGeom>
          <a:noFill/>
          <a:ln w="44450">
            <a:solidFill>
              <a:srgbClr val="C62828"/>
            </a:solidFill>
          </a:ln>
        </p:spPr>
        <p:txBody>
          <a:bodyPr rtlCol="0" anchor="ctr"/>
          <a:lstStyle/>
          <a:p>
            <a:pPr algn="ctr"/>
          </a:p>
        </p:txBody>
      </p:sp>
      <p:sp>
        <p:nvSpPr>
          <p:cNvPr id="16" name="Oval 15"/>
          <p:cNvSpPr/>
          <p:nvPr/>
        </p:nvSpPr>
        <p:spPr>
          <a:xfrm>
            <a:off x="10282427" y="4817668"/>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9952457" y="403056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948879"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47529" y="454982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BC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10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Chapter 3, "Gap". The prices are invented for teaching.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4 is the inside bar: a narrow bar inside a larger one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4: "Narrow range bar closing within a larger previous bar's range," an inside bar (Figure 7.4, p. 212). Say the previous bar ranges PHP 3.00 </a:t>
            </a:r>
            <a:r>
              <a:rPr sz="1700" b="1" i="0">
                <a:solidFill>
                  <a:srgbClr val="E09B00"/>
                </a:solidFill>
                <a:latin typeface="Arial"/>
              </a:rPr>
              <a:t>(1)</a:t>
            </a:r>
            <a:r>
              <a:rPr sz="1700" b="0" i="0">
                <a:solidFill>
                  <a:srgbClr val="1A1A1A"/>
                </a:solidFill>
                <a:latin typeface="Arial"/>
              </a:rPr>
              <a:t>; the inside bar ranges only PHP 1.00 </a:t>
            </a:r>
            <a:r>
              <a:rPr sz="1700" b="1" i="0">
                <a:solidFill>
                  <a:srgbClr val="C62828"/>
                </a:solidFill>
                <a:latin typeface="Arial"/>
              </a:rPr>
              <a:t>(2)</a:t>
            </a:r>
            <a:r>
              <a:rPr sz="1700" b="0" i="0">
                <a:solidFill>
                  <a:srgbClr val="1A1A1A"/>
                </a:solidFill>
                <a:latin typeface="Arial"/>
              </a:rPr>
              <a:t>, on 0.9 million shares against 3.0 million </a:t>
            </a:r>
            <a:r>
              <a:rPr sz="1700" b="1" i="0">
                <a:solidFill>
                  <a:srgbClr val="1F5FAD"/>
                </a:solidFill>
                <a:latin typeface="Arial"/>
              </a:rPr>
              <a:t>(3)</a:t>
            </a:r>
            <a:r>
              <a:rPr sz="1700" b="0" i="0">
                <a:solidFill>
                  <a:srgbClr val="1A1A1A"/>
                </a:solidFill>
                <a:latin typeface="Arial"/>
              </a:rPr>
              <a:t>. Lim says such narrow bars should generally form on low volume, showing uncertainty in an uptrend (p. 212).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66984" y="2395728"/>
            <a:ext cx="1901277"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66984" y="2395728"/>
            <a:ext cx="1901277"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41304" y="2670048"/>
            <a:ext cx="135263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4: a narrow inside bar after a large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d-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3392424"/>
            <a:ext cx="109728" cy="1124712"/>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3463747"/>
            <a:ext cx="109728" cy="411479"/>
          </a:xfrm>
          <a:prstGeom prst="rect">
            <a:avLst/>
          </a:prstGeom>
          <a:noFill/>
          <a:ln w="44450">
            <a:solidFill>
              <a:srgbClr val="C62828"/>
            </a:solidFill>
          </a:ln>
        </p:spPr>
        <p:txBody>
          <a:bodyPr rtlCol="0" anchor="ctr"/>
          <a:lstStyle/>
          <a:p>
            <a:pPr algn="ctr"/>
          </a:p>
        </p:txBody>
      </p:sp>
      <p:sp>
        <p:nvSpPr>
          <p:cNvPr id="16" name="Rectangle 15"/>
          <p:cNvSpPr/>
          <p:nvPr/>
        </p:nvSpPr>
        <p:spPr>
          <a:xfrm>
            <a:off x="10015422" y="5276088"/>
            <a:ext cx="310896" cy="109728"/>
          </a:xfrm>
          <a:prstGeom prst="rect">
            <a:avLst/>
          </a:prstGeom>
          <a:noFill/>
          <a:ln w="44450">
            <a:solidFill>
              <a:srgbClr val="1F5FAD"/>
            </a:solidFill>
          </a:ln>
        </p:spPr>
        <p:txBody>
          <a:bodyPr rtlCol="0" anchor="ctr"/>
          <a:lstStyle/>
          <a:p>
            <a:pPr algn="ctr"/>
          </a:p>
        </p:txBody>
      </p:sp>
      <p:sp>
        <p:nvSpPr>
          <p:cNvPr id="17" name="Oval 16"/>
          <p:cNvSpPr/>
          <p:nvPr/>
        </p:nvSpPr>
        <p:spPr>
          <a:xfrm>
            <a:off x="4757623"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4421" y="346831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436047" y="52029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BD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11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Prices and volume are invented for teaching.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5 is one overextended bar that closes near its low</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"An overextended bar closes at or near its low" (Figure 7.4, p. 212). He gives no size; we read "overextended" as unusually long compared with the bars before it, and closing near its low is a separate part. His only other use is beyond a Bollinger band (pp. 217 to 218). Beside an ordinary PHP 1.00 bar </a:t>
            </a:r>
            <a:r>
              <a:rPr sz="1700" b="1" i="0">
                <a:solidFill>
                  <a:srgbClr val="E09B00"/>
                </a:solidFill>
                <a:latin typeface="Arial"/>
              </a:rPr>
              <a:t>(1)</a:t>
            </a:r>
            <a:r>
              <a:rPr sz="1700" b="0" i="0">
                <a:solidFill>
                  <a:srgbClr val="1A1A1A"/>
                </a:solidFill>
                <a:latin typeface="Arial"/>
              </a:rPr>
              <a:t>, form 5 ranges PHP 4.00 </a:t>
            </a:r>
            <a:r>
              <a:rPr sz="1700" b="1" i="0">
                <a:solidFill>
                  <a:srgbClr val="C62828"/>
                </a:solidFill>
                <a:latin typeface="Arial"/>
              </a:rPr>
              <a:t>(2)</a:t>
            </a:r>
            <a:r>
              <a:rPr sz="1700" b="0" i="0">
                <a:solidFill>
                  <a:srgbClr val="1A1A1A"/>
                </a:solidFill>
                <a:latin typeface="Arial"/>
              </a:rPr>
              <a:t> and closes near its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105010" y="2395728"/>
            <a:ext cx="182522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105010" y="2395728"/>
            <a:ext cx="182522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79330" y="2670048"/>
            <a:ext cx="127658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5: one overextended bar closing near its low.</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e-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4650638"/>
            <a:ext cx="109728" cy="369417"/>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3392424"/>
            <a:ext cx="109728" cy="1313078"/>
          </a:xfrm>
          <a:prstGeom prst="rect">
            <a:avLst/>
          </a:prstGeom>
          <a:noFill/>
          <a:ln w="44450">
            <a:solidFill>
              <a:srgbClr val="C62828"/>
            </a:solidFill>
          </a:ln>
        </p:spPr>
        <p:txBody>
          <a:bodyPr rtlCol="0" anchor="ctr"/>
          <a:lstStyle/>
          <a:p>
            <a:pPr algn="ctr"/>
          </a:p>
        </p:txBody>
      </p:sp>
      <p:sp>
        <p:nvSpPr>
          <p:cNvPr id="16" name="Oval 15"/>
          <p:cNvSpPr/>
          <p:nvPr/>
        </p:nvSpPr>
        <p:spPr>
          <a:xfrm>
            <a:off x="10282427" y="4571268"/>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4755691" y="481312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5734" y="392094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47529" y="430342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BE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12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The prices are invented for teaching.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6 is the outside bar: it engulfs the bar before it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6: "Bar engulfing a previous narrow range bar and closing near or at its low," which he calls an outside bar (Figure 7.4, p. 212). Let us put invented prices on it. The previous bar is narrow, from PHP 50.80 to PHP 51.40 </a:t>
            </a:r>
            <a:r>
              <a:rPr sz="1700" b="1" i="0">
                <a:solidFill>
                  <a:srgbClr val="E09B00"/>
                </a:solidFill>
                <a:latin typeface="Arial"/>
              </a:rPr>
              <a:t>(1)</a:t>
            </a:r>
            <a:r>
              <a:rPr sz="1700" b="0" i="0">
                <a:solidFill>
                  <a:srgbClr val="1A1A1A"/>
                </a:solidFill>
                <a:latin typeface="Arial"/>
              </a:rPr>
              <a:t>. The outside bar runs from PHP 49.90 to PHP 51.90 </a:t>
            </a:r>
            <a:r>
              <a:rPr sz="1700" b="1" i="0">
                <a:solidFill>
                  <a:srgbClr val="C62828"/>
                </a:solidFill>
                <a:latin typeface="Arial"/>
              </a:rPr>
              <a:t>(2)</a:t>
            </a:r>
            <a:r>
              <a:rPr sz="1700" b="0" i="0">
                <a:solidFill>
                  <a:srgbClr val="1A1A1A"/>
                </a:solidFill>
                <a:latin typeface="Arial"/>
              </a:rPr>
              <a:t>, beyond both ends, and closes at PHP 50.00, near its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105010" y="2395728"/>
            <a:ext cx="182522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105010" y="2395728"/>
            <a:ext cx="182522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79330" y="2670048"/>
            <a:ext cx="127658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6: an outside bar engulfing a narrow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f-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3785616"/>
            <a:ext cx="109728" cy="526694"/>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6" name="Oval 15"/>
          <p:cNvSpPr/>
          <p:nvPr/>
        </p:nvSpPr>
        <p:spPr>
          <a:xfrm>
            <a:off x="10282427" y="4870094"/>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4755691" y="402674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47529" y="460225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BF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13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The prices are invented for teaching.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Form 7 is two large bars that close at opposite ends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for form 7: "1st large bar closing at its high followed by a large bar closing at or near its low" (Figure 7.4, p. 212). The buyers' strong finish is undone by the very next bar. Here it is with invented prices. The first bar closes at PHP 51.60, right at its high </a:t>
            </a:r>
            <a:r>
              <a:rPr sz="1700" b="1" i="0">
                <a:solidFill>
                  <a:srgbClr val="E09B00"/>
                </a:solidFill>
                <a:latin typeface="Arial"/>
              </a:rPr>
              <a:t>(1)</a:t>
            </a:r>
            <a:r>
              <a:rPr sz="1700" b="0" i="0">
                <a:solidFill>
                  <a:srgbClr val="1A1A1A"/>
                </a:solidFill>
                <a:latin typeface="Arial"/>
              </a:rPr>
              <a:t>. The second bar, just as large, closes at PHP 49.40, only PHP 0.20 above its low </a:t>
            </a:r>
            <a:r>
              <a:rPr sz="1700" b="1" i="0">
                <a:solidFill>
                  <a:srgbClr val="C62828"/>
                </a:solidFill>
                <a:latin typeface="Arial"/>
              </a:rPr>
              <a:t>(2)</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66984" y="2395728"/>
            <a:ext cx="1901277"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66984" y="2395728"/>
            <a:ext cx="1901277"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41304" y="2670048"/>
            <a:ext cx="135263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7.4</a:t>
            </a:r>
          </a:p>
          <a:p>
            <a:pPr algn="l">
              <a:lnSpc>
                <a:spcPct val="115000"/>
              </a:lnSpc>
              <a:spcBef>
                <a:spcPts val="0"/>
              </a:spcBef>
              <a:spcAft>
                <a:spcPts val="0"/>
              </a:spcAft>
            </a:pPr>
            <a:r>
              <a:rPr sz="1500" b="0" i="0">
                <a:solidFill>
                  <a:srgbClr val="1A1A1A"/>
                </a:solidFill>
                <a:latin typeface="Palatino"/>
              </a:rPr>
              <a:t>Figure 7.4, form 7: two large bars closing at opposite ends.</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7.4,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bg-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4814315" y="3488305"/>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10282427" y="4724051"/>
            <a:ext cx="87782" cy="87782"/>
          </a:xfrm>
          <a:prstGeom prst="ellipse">
            <a:avLst/>
          </a:prstGeom>
          <a:noFill/>
          <a:ln w="44450">
            <a:solidFill>
              <a:srgbClr val="C62828"/>
            </a:solidFill>
          </a:ln>
        </p:spPr>
        <p:txBody>
          <a:bodyPr rtlCol="0" anchor="ctr"/>
          <a:lstStyle/>
          <a:p>
            <a:pPr algn="ctr"/>
          </a:p>
        </p:txBody>
      </p:sp>
      <p:sp>
        <p:nvSpPr>
          <p:cNvPr id="16" name="Oval 15"/>
          <p:cNvSpPr/>
          <p:nvPr/>
        </p:nvSpPr>
        <p:spPr>
          <a:xfrm>
            <a:off x="4763218" y="359148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247529" y="445621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BG - FIN1209 teaching chart, drawn for this course. Illustrative data, not a real instrument.</a:t>
            </a:r>
          </a:p>
        </p:txBody>
      </p:sp>
      <p:sp>
        <p:nvSpPr>
          <p:cNvPr id="19" name="TextBox 1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14 of 88</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Figure 7.4. The prices are invented for teaching.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tells us how much weight a bearish pattern gets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15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adds two volume habits. Narrow range bars in a two-bar pattern should generally form on low volume, showing uncertainty in an uptrend (p. 212).</a:t>
            </a:r>
          </a:p>
          <a:p>
            <a:pPr algn="l">
              <a:lnSpc>
                <a:spcPct val="118000"/>
              </a:lnSpc>
              <a:spcBef>
                <a:spcPts val="0"/>
              </a:spcBef>
              <a:spcAft>
                <a:spcPts val="1300"/>
              </a:spcAft>
            </a:pPr>
            <a:r>
              <a:rPr sz="2100" b="0" i="0">
                <a:solidFill>
                  <a:srgbClr val="1A1A1A"/>
                </a:solidFill>
                <a:latin typeface="Arial"/>
              </a:rPr>
              <a:t>Large bars closing at or near their lows should generally form on high volume in an uptrend (p. 212).</a:t>
            </a:r>
          </a:p>
          <a:p>
            <a:pPr algn="l">
              <a:lnSpc>
                <a:spcPct val="118000"/>
              </a:lnSpc>
              <a:spcBef>
                <a:spcPts val="0"/>
              </a:spcBef>
              <a:spcAft>
                <a:spcPts val="1300"/>
              </a:spcAft>
            </a:pPr>
            <a:r>
              <a:rPr sz="2100" b="0" i="0">
                <a:solidFill>
                  <a:srgbClr val="1A1A1A"/>
                </a:solidFill>
                <a:latin typeface="Arial"/>
              </a:rPr>
              <a:t>He also notes that some practitioners treat these same patterns as continuation patterns when they occur in a downtrend (p. 212).</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Quiet narrow bars show doubt; heavy large bars show conviction.</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bearish last bar we can trust more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says a bearish two-bar pattern is potentially more reliable if the last bar is an overextended bar that closes at or near its low on high volume (p. 212). Let us put invented prices on it. The last bar stretches PHP 4.00 against PHP 1.00 before it </a:t>
            </a:r>
            <a:r>
              <a:rPr sz="1700" b="1" i="0">
                <a:solidFill>
                  <a:srgbClr val="E09B00"/>
                </a:solidFill>
                <a:latin typeface="Arial"/>
              </a:rPr>
              <a:t>(1)</a:t>
            </a:r>
            <a:r>
              <a:rPr sz="1700" b="0" i="0">
                <a:solidFill>
                  <a:srgbClr val="1A1A1A"/>
                </a:solidFill>
                <a:latin typeface="Arial"/>
              </a:rPr>
              <a:t>, closes at PHP 47.80, near its low of PHP 47.60 </a:t>
            </a:r>
            <a:r>
              <a:rPr sz="1700" b="1" i="0">
                <a:solidFill>
                  <a:srgbClr val="C62828"/>
                </a:solidFill>
                <a:latin typeface="Arial"/>
              </a:rPr>
              <a:t>(2)</a:t>
            </a:r>
            <a:r>
              <a:rPr sz="1700" b="0" i="0">
                <a:solidFill>
                  <a:srgbClr val="1A1A1A"/>
                </a:solidFill>
                <a:latin typeface="Arial"/>
              </a:rPr>
              <a:t>, and trades 4.5 million shares against 1.5 million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rl-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9869119" y="3392424"/>
            <a:ext cx="109728" cy="1124712"/>
          </a:xfrm>
          <a:prstGeom prst="rect">
            <a:avLst/>
          </a:prstGeom>
          <a:noFill/>
          <a:ln w="44450">
            <a:solidFill>
              <a:srgbClr val="E09B00"/>
            </a:solidFill>
          </a:ln>
        </p:spPr>
        <p:txBody>
          <a:bodyPr rtlCol="0" anchor="ctr"/>
          <a:lstStyle/>
          <a:p>
            <a:pPr algn="ctr"/>
          </a:p>
        </p:txBody>
      </p:sp>
      <p:sp>
        <p:nvSpPr>
          <p:cNvPr id="10" name="Oval 9"/>
          <p:cNvSpPr/>
          <p:nvPr/>
        </p:nvSpPr>
        <p:spPr>
          <a:xfrm>
            <a:off x="10035539" y="4392320"/>
            <a:ext cx="87782" cy="87782"/>
          </a:xfrm>
          <a:prstGeom prst="ellipse">
            <a:avLst/>
          </a:prstGeom>
          <a:noFill/>
          <a:ln w="44450">
            <a:solidFill>
              <a:srgbClr val="C62828"/>
            </a:solidFill>
          </a:ln>
        </p:spPr>
        <p:txBody>
          <a:bodyPr rtlCol="0" anchor="ctr"/>
          <a:lstStyle/>
          <a:p>
            <a:pPr algn="ctr"/>
          </a:p>
        </p:txBody>
      </p:sp>
      <p:sp>
        <p:nvSpPr>
          <p:cNvPr id="11" name="Rectangle 10"/>
          <p:cNvSpPr/>
          <p:nvPr/>
        </p:nvSpPr>
        <p:spPr>
          <a:xfrm>
            <a:off x="9768535" y="5148072"/>
            <a:ext cx="310895" cy="237744"/>
          </a:xfrm>
          <a:prstGeom prst="rect">
            <a:avLst/>
          </a:prstGeom>
          <a:noFill/>
          <a:ln w="44450">
            <a:solidFill>
              <a:srgbClr val="1F5FAD"/>
            </a:solidFill>
          </a:ln>
        </p:spPr>
        <p:txBody>
          <a:bodyPr rtlCol="0" anchor="ctr"/>
          <a:lstStyle/>
          <a:p>
            <a:pPr algn="ctr"/>
          </a:p>
        </p:txBody>
      </p:sp>
      <p:sp>
        <p:nvSpPr>
          <p:cNvPr id="12" name="Oval 11"/>
          <p:cNvSpPr/>
          <p:nvPr/>
        </p:nvSpPr>
        <p:spPr>
          <a:xfrm>
            <a:off x="9978847"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10073670" y="416249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97162" y="515167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RL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16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Prices and volume are invented for teaching.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Bearish single and double bar patterns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last bar makes a bearish two-bar pattern potentially more reliable?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 narrow bar closing near its high</a:t>
            </a:r>
          </a:p>
          <a:p>
            <a:pPr algn="l">
              <a:lnSpc>
                <a:spcPct val="112000"/>
              </a:lnSpc>
              <a:spcBef>
                <a:spcPts val="0"/>
              </a:spcBef>
              <a:spcAft>
                <a:spcPts val="900"/>
              </a:spcAft>
            </a:pPr>
            <a:r>
              <a:rPr sz="1700" b="0" i="0">
                <a:solidFill>
                  <a:srgbClr val="FFFFFF"/>
                </a:solidFill>
                <a:latin typeface="Arial"/>
              </a:rPr>
              <a:t>B.  Any bar on low volume</a:t>
            </a:r>
          </a:p>
          <a:p>
            <a:pPr algn="l">
              <a:lnSpc>
                <a:spcPct val="112000"/>
              </a:lnSpc>
              <a:spcBef>
                <a:spcPts val="0"/>
              </a:spcBef>
              <a:spcAft>
                <a:spcPts val="900"/>
              </a:spcAft>
            </a:pPr>
            <a:r>
              <a:rPr sz="1700" b="0" i="0">
                <a:solidFill>
                  <a:srgbClr val="FFFFFF"/>
                </a:solidFill>
                <a:latin typeface="Arial"/>
              </a:rPr>
              <a:t>C.  A bar that gaps up and closes high</a:t>
            </a:r>
          </a:p>
          <a:p>
            <a:pPr algn="l">
              <a:lnSpc>
                <a:spcPct val="112000"/>
              </a:lnSpc>
              <a:spcBef>
                <a:spcPts val="0"/>
              </a:spcBef>
              <a:spcAft>
                <a:spcPts val="900"/>
              </a:spcAft>
            </a:pPr>
            <a:r>
              <a:rPr sz="1700" b="0" i="0">
                <a:solidFill>
                  <a:srgbClr val="FFFFFF"/>
                </a:solidFill>
                <a:latin typeface="Arial"/>
              </a:rPr>
              <a:t>D.  An overextended bar closing near its low on high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an uptrend, what does a narrow range bar on low volume within a two-bar pattern show?</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 guaranteed reversal</a:t>
            </a:r>
          </a:p>
          <a:p>
            <a:pPr algn="l">
              <a:lnSpc>
                <a:spcPct val="112000"/>
              </a:lnSpc>
              <a:spcBef>
                <a:spcPts val="0"/>
              </a:spcBef>
              <a:spcAft>
                <a:spcPts val="900"/>
              </a:spcAft>
            </a:pPr>
            <a:r>
              <a:rPr sz="1700" b="0" i="0">
                <a:solidFill>
                  <a:srgbClr val="FFFFFF"/>
                </a:solidFill>
                <a:latin typeface="Arial"/>
              </a:rPr>
              <a:t>B.  Uncertainty</a:t>
            </a:r>
          </a:p>
          <a:p>
            <a:pPr algn="l">
              <a:lnSpc>
                <a:spcPct val="112000"/>
              </a:lnSpc>
              <a:spcBef>
                <a:spcPts val="0"/>
              </a:spcBef>
              <a:spcAft>
                <a:spcPts val="900"/>
              </a:spcAft>
            </a:pPr>
            <a:r>
              <a:rPr sz="1700" b="0" i="0">
                <a:solidFill>
                  <a:srgbClr val="FFFFFF"/>
                </a:solidFill>
                <a:latin typeface="Arial"/>
              </a:rPr>
              <a:t>C.  A continuation</a:t>
            </a:r>
          </a:p>
          <a:p>
            <a:pPr algn="l">
              <a:lnSpc>
                <a:spcPct val="112000"/>
              </a:lnSpc>
              <a:spcBef>
                <a:spcPts val="0"/>
              </a:spcBef>
              <a:spcAft>
                <a:spcPts val="900"/>
              </a:spcAft>
            </a:pPr>
            <a:r>
              <a:rPr sz="1700" b="0" i="0">
                <a:solidFill>
                  <a:srgbClr val="FFFFFF"/>
                </a:solidFill>
                <a:latin typeface="Arial"/>
              </a:rPr>
              <a:t>D.  A wider range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Bearish single and double bar patterns</a:t>
            </a:r>
          </a:p>
        </p:txBody>
      </p:sp>
      <p:sp>
        <p:nvSpPr>
          <p:cNvPr id="6" name="Rectangle 5"/>
          <p:cNvSpPr/>
          <p:nvPr/>
        </p:nvSpPr>
        <p:spPr>
          <a:xfrm>
            <a:off x="777240" y="1207008"/>
            <a:ext cx="10637215" cy="187642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76425"/>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last bar makes a bearish two-bar pattern potentially more reliable?</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An overextended bar closing near its low on high volume</a:t>
            </a:r>
          </a:p>
          <a:p>
            <a:pPr algn="l">
              <a:lnSpc>
                <a:spcPct val="115000"/>
              </a:lnSpc>
              <a:spcBef>
                <a:spcPts val="700"/>
              </a:spcBef>
              <a:spcAft>
                <a:spcPts val="0"/>
              </a:spcAft>
            </a:pPr>
            <a:r>
              <a:rPr sz="1700" b="0" i="0">
                <a:solidFill>
                  <a:srgbClr val="1A1A1A"/>
                </a:solidFill>
                <a:latin typeface="Arial"/>
              </a:rPr>
              <a:t>Lim says the pattern is potentially more reliable if the last bar is overextended and closes at or near its low on high volume (p. 212).</a:t>
            </a:r>
          </a:p>
        </p:txBody>
      </p:sp>
      <p:sp>
        <p:nvSpPr>
          <p:cNvPr id="10" name="Rectangle 9"/>
          <p:cNvSpPr/>
          <p:nvPr/>
        </p:nvSpPr>
        <p:spPr>
          <a:xfrm>
            <a:off x="777240" y="3330321"/>
            <a:ext cx="10637215" cy="18764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30321"/>
            <a:ext cx="91440" cy="187642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68065"/>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In an uptrend, what does a narrow range bar on low volume within a two-bar pattern show?</a:t>
            </a:r>
          </a:p>
        </p:txBody>
      </p:sp>
      <p:sp>
        <p:nvSpPr>
          <p:cNvPr id="13" name="TextBox 12"/>
          <p:cNvSpPr txBox="1"/>
          <p:nvPr/>
        </p:nvSpPr>
        <p:spPr>
          <a:xfrm>
            <a:off x="1143000" y="4072382"/>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Uncertainty</a:t>
            </a:r>
          </a:p>
          <a:p>
            <a:pPr algn="l">
              <a:lnSpc>
                <a:spcPct val="115000"/>
              </a:lnSpc>
              <a:spcBef>
                <a:spcPts val="700"/>
              </a:spcBef>
              <a:spcAft>
                <a:spcPts val="0"/>
              </a:spcAft>
            </a:pPr>
            <a:r>
              <a:rPr sz="1700" b="0" i="0">
                <a:solidFill>
                  <a:srgbClr val="1A1A1A"/>
                </a:solidFill>
                <a:latin typeface="Arial"/>
              </a:rPr>
              <a:t>Lim says such narrow range bars should generally form on low volume, indicating uncertainty in an uptrend (p. 212).</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In a downtrend Lim's close rule turns around</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general rule is the mirror image: a close above the previous bar's close or high is bullish, especially if the previous bar is large or wide-ranging (p. 212). Here it is with invented prices. Yesterday's bar ran from PHP 38.00 to PHP 41.00 and closed at PHP 38.20 </a:t>
            </a:r>
            <a:r>
              <a:rPr sz="1700" b="1" i="0">
                <a:solidFill>
                  <a:srgbClr val="E09B00"/>
                </a:solidFill>
                <a:latin typeface="Arial"/>
              </a:rPr>
              <a:t>(1)</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pd-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424988" y="461954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4802428" y="4394606"/>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14508" y="349483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481620" y="3569817"/>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394823" y="433404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696945" y="406635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30384" y="314736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7596642" y="368483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PD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17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In a downtrend Lim's close rule turns around</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close today at PHP 38.80 </a:t>
            </a:r>
            <a:r>
              <a:rPr sz="1700" b="1" i="0">
                <a:solidFill>
                  <a:srgbClr val="C62828"/>
                </a:solidFill>
                <a:latin typeface="Arial"/>
              </a:rPr>
              <a:t>(2)</a:t>
            </a:r>
            <a:r>
              <a:rPr sz="1700" b="0" i="0">
                <a:solidFill>
                  <a:srgbClr val="1A1A1A"/>
                </a:solidFill>
                <a:latin typeface="Arial"/>
              </a:rPr>
              <a:t> is above yesterday's close; a close at PHP 41.20 </a:t>
            </a:r>
            <a:r>
              <a:rPr sz="1700" b="1" i="0">
                <a:solidFill>
                  <a:srgbClr val="1F5FAD"/>
                </a:solidFill>
                <a:latin typeface="Arial"/>
              </a:rPr>
              <a:t>(3)</a:t>
            </a:r>
            <a:r>
              <a:rPr sz="1700" b="0" i="0">
                <a:solidFill>
                  <a:srgbClr val="1A1A1A"/>
                </a:solidFill>
                <a:latin typeface="Arial"/>
              </a:rPr>
              <a:t> is above yesterday's high </a:t>
            </a:r>
            <a:r>
              <a:rPr sz="1700" b="1" i="0">
                <a:solidFill>
                  <a:srgbClr val="7B3FA0"/>
                </a:solidFill>
                <a:latin typeface="Arial"/>
              </a:rPr>
              <a:t>(4)</a:t>
            </a:r>
            <a:r>
              <a:rPr sz="1700" b="0" i="0">
                <a:solidFill>
                  <a:srgbClr val="1A1A1A"/>
                </a:solidFill>
                <a:latin typeface="Arial"/>
              </a:rPr>
              <a:t> as well. Now the close has to climb past yesterday's bar.</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pd-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424988" y="461954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4802428" y="4394606"/>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14508" y="349483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481620" y="3569817"/>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2394823" y="433404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696945" y="406635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30384" y="314736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7596642" y="368483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PD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18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Lim draws the seven bullish forms in Figure 7.5</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19 of 88</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Figure 7.5 draws the seven basic bullish single and double bar reversal patterns in a downtrend (p. 213). Here is the first drawing, cut out and drawn large.</a:t>
            </a:r>
          </a:p>
          <a:p>
            <a:pPr algn="l">
              <a:lnSpc>
                <a:spcPct val="105000"/>
              </a:lnSpc>
              <a:spcBef>
                <a:spcPts val="0"/>
              </a:spcBef>
              <a:spcAft>
                <a:spcPts val="1100"/>
              </a:spcAft>
            </a:pPr>
            <a:r>
              <a:rPr sz="2000" b="0" i="0">
                <a:solidFill>
                  <a:srgbClr val="1A1A1A"/>
                </a:solidFill>
                <a:latin typeface="Arial"/>
              </a:rPr>
              <a:t>Each form sits under an existing downtrend </a:t>
            </a:r>
            <a:r>
              <a:rPr sz="2000" b="1" i="0">
                <a:solidFill>
                  <a:srgbClr val="E09B00"/>
                </a:solidFill>
                <a:latin typeface="Arial"/>
              </a:rPr>
              <a:t>(1)</a:t>
            </a:r>
            <a:r>
              <a:rPr sz="2000" b="0" i="0">
                <a:solidFill>
                  <a:srgbClr val="1A1A1A"/>
                </a:solidFill>
                <a:latin typeface="Arial"/>
              </a:rPr>
              <a:t> and carries a number </a:t>
            </a:r>
            <a:r>
              <a:rPr sz="2000" b="1" i="0">
                <a:solidFill>
                  <a:srgbClr val="C62828"/>
                </a:solidFill>
                <a:latin typeface="Arial"/>
              </a:rPr>
              <a:t>(2)</a:t>
            </a:r>
            <a:r>
              <a:rPr sz="2000" b="0" i="0">
                <a:solidFill>
                  <a:srgbClr val="1A1A1A"/>
                </a:solidFill>
                <a:latin typeface="Arial"/>
              </a:rPr>
              <a:t>; the next seven slides take them one at a time, each quoting its label.</a:t>
            </a:r>
          </a:p>
        </p:txBody>
      </p:sp>
      <p:sp>
        <p:nvSpPr>
          <p:cNvPr id="8" name="Rectangle 7"/>
          <p:cNvSpPr/>
          <p:nvPr/>
        </p:nvSpPr>
        <p:spPr>
          <a:xfrm>
            <a:off x="7586970" y="1810512"/>
            <a:ext cx="1544033" cy="3749040"/>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705842" y="1929384"/>
            <a:ext cx="1306289"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705842" y="1929384"/>
            <a:ext cx="1306289"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980162" y="2203703"/>
            <a:ext cx="75764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1: the number, its arrow and the drawing.</a:t>
            </a:r>
          </a:p>
        </p:txBody>
      </p:sp>
      <p:sp>
        <p:nvSpPr>
          <p:cNvPr id="12" name="Rectangle 11"/>
          <p:cNvSpPr/>
          <p:nvPr/>
        </p:nvSpPr>
        <p:spPr>
          <a:xfrm>
            <a:off x="7866892" y="2283464"/>
            <a:ext cx="1113925" cy="1563854"/>
          </a:xfrm>
          <a:prstGeom prst="rect">
            <a:avLst/>
          </a:prstGeom>
          <a:noFill/>
          <a:ln w="44450">
            <a:solidFill>
              <a:srgbClr val="E09B00"/>
            </a:solidFill>
          </a:ln>
        </p:spPr>
        <p:txBody>
          <a:bodyPr rtlCol="0" anchor="ctr"/>
          <a:lstStyle/>
          <a:p>
            <a:pPr algn="ctr"/>
          </a:p>
        </p:txBody>
      </p:sp>
      <p:sp>
        <p:nvSpPr>
          <p:cNvPr id="13" name="Oval 12"/>
          <p:cNvSpPr/>
          <p:nvPr/>
        </p:nvSpPr>
        <p:spPr>
          <a:xfrm>
            <a:off x="8117413" y="1935285"/>
            <a:ext cx="322098" cy="306869"/>
          </a:xfrm>
          <a:prstGeom prst="ellipse">
            <a:avLst/>
          </a:prstGeom>
          <a:noFill/>
          <a:ln w="44450">
            <a:solidFill>
              <a:srgbClr val="C62828"/>
            </a:solidFill>
          </a:ln>
        </p:spPr>
        <p:txBody>
          <a:bodyPr rtlCol="0" anchor="ctr"/>
          <a:lstStyle/>
          <a:p>
            <a:pPr algn="ctr"/>
          </a:p>
        </p:txBody>
      </p:sp>
      <p:sp>
        <p:nvSpPr>
          <p:cNvPr id="14" name="Oval 13"/>
          <p:cNvSpPr/>
          <p:nvPr/>
        </p:nvSpPr>
        <p:spPr>
          <a:xfrm>
            <a:off x="7738876" y="215544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8597806" y="196070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5303519" y="5650992"/>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7.5 -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1 opens below the previous low and closes back up</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"A large bar opening below a previous low and closing near or above a previous close," again a key reversal bar (Figure 7.5, p. 213). Here it is with invented prices. The previous bar fell to PHP 39.00 and closed at PHP 39.20. Form 1 opens at PHP 38.60 </a:t>
            </a:r>
            <a:r>
              <a:rPr sz="1700" b="1" i="0">
                <a:solidFill>
                  <a:srgbClr val="E09B00"/>
                </a:solidFill>
                <a:latin typeface="Arial"/>
              </a:rPr>
              <a:t>(1)</a:t>
            </a:r>
            <a:r>
              <a:rPr sz="1700" b="0" i="0">
                <a:solidFill>
                  <a:srgbClr val="1A1A1A"/>
                </a:solidFill>
                <a:latin typeface="Arial"/>
              </a:rPr>
              <a:t>, swings through PHP 2.20 </a:t>
            </a:r>
            <a:r>
              <a:rPr sz="1700" b="1" i="0">
                <a:solidFill>
                  <a:srgbClr val="C62828"/>
                </a:solidFill>
                <a:latin typeface="Arial"/>
              </a:rPr>
              <a:t>(2)</a:t>
            </a:r>
            <a:r>
              <a:rPr sz="1700" b="0" i="0">
                <a:solidFill>
                  <a:srgbClr val="1A1A1A"/>
                </a:solidFill>
                <a:latin typeface="Arial"/>
              </a:rPr>
              <a:t>, and closes at PHP 39.70, above the previous close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999880" y="2395728"/>
            <a:ext cx="2035485"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999880" y="2395728"/>
            <a:ext cx="203548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274200" y="2670048"/>
            <a:ext cx="1486845"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1: a bullish key reversal bar after a downtrend.</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a-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5" name="Oval 14"/>
          <p:cNvSpPr/>
          <p:nvPr/>
        </p:nvSpPr>
        <p:spPr>
          <a:xfrm>
            <a:off x="9971531" y="4519796"/>
            <a:ext cx="87782" cy="87782"/>
          </a:xfrm>
          <a:prstGeom prst="ellipse">
            <a:avLst/>
          </a:prstGeom>
          <a:noFill/>
          <a:ln w="44450">
            <a:solidFill>
              <a:srgbClr val="E09B00"/>
            </a:solidFill>
          </a:ln>
        </p:spPr>
        <p:txBody>
          <a:bodyPr rtlCol="0" anchor="ctr"/>
          <a:lstStyle/>
          <a:p>
            <a:pPr algn="ctr"/>
          </a:p>
        </p:txBody>
      </p:sp>
      <p:sp>
        <p:nvSpPr>
          <p:cNvPr id="16" name="Oval 15"/>
          <p:cNvSpPr/>
          <p:nvPr/>
        </p:nvSpPr>
        <p:spPr>
          <a:xfrm>
            <a:off x="10282427" y="3733412"/>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9854379" y="424836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247529" y="3465572"/>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UA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20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The prices are invented for teaching.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2 closes near or above the previous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"A large bar closing near or above a previous high" (Figure 7.5, p. 213). Let us put invented prices on it. The previous bar's high is PHP 39.80 </a:t>
            </a:r>
            <a:r>
              <a:rPr sz="1700" b="1" i="0">
                <a:solidFill>
                  <a:srgbClr val="E09B00"/>
                </a:solidFill>
                <a:latin typeface="Arial"/>
              </a:rPr>
              <a:t>(1)</a:t>
            </a:r>
            <a:r>
              <a:rPr sz="1700" b="0" i="0">
                <a:solidFill>
                  <a:srgbClr val="1A1A1A"/>
                </a:solidFill>
                <a:latin typeface="Arial"/>
              </a:rPr>
              <a:t>. Form 2 is a large bar with a PHP 2.10 range </a:t>
            </a:r>
            <a:r>
              <a:rPr sz="1700" b="1" i="0">
                <a:solidFill>
                  <a:srgbClr val="C62828"/>
                </a:solidFill>
                <a:latin typeface="Arial"/>
              </a:rPr>
              <a:t>(2)</a:t>
            </a:r>
            <a:r>
              <a:rPr sz="1700" b="0" i="0">
                <a:solidFill>
                  <a:srgbClr val="1A1A1A"/>
                </a:solidFill>
                <a:latin typeface="Arial"/>
              </a:rPr>
              <a:t> that closes at PHP 40.40, above that high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78168" y="2395728"/>
            <a:ext cx="1878909"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78168" y="2395728"/>
            <a:ext cx="1878909"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52488" y="2670048"/>
            <a:ext cx="1330269"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2: a large bar closing above the previous high.</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b-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5" name="Oval 14"/>
          <p:cNvSpPr/>
          <p:nvPr/>
        </p:nvSpPr>
        <p:spPr>
          <a:xfrm>
            <a:off x="5518403" y="3975114"/>
            <a:ext cx="87782" cy="87782"/>
          </a:xfrm>
          <a:prstGeom prst="ellipse">
            <a:avLst/>
          </a:prstGeom>
          <a:noFill/>
          <a:ln w="44450">
            <a:solidFill>
              <a:srgbClr val="E09B00"/>
            </a:solidFill>
          </a:ln>
        </p:spPr>
        <p:txBody>
          <a:bodyPr rtlCol="0" anchor="ctr"/>
          <a:lstStyle/>
          <a:p>
            <a:pPr algn="ctr"/>
          </a:p>
        </p:txBody>
      </p:sp>
      <p:sp>
        <p:nvSpPr>
          <p:cNvPr id="16" name="Oval 15"/>
          <p:cNvSpPr/>
          <p:nvPr/>
        </p:nvSpPr>
        <p:spPr>
          <a:xfrm>
            <a:off x="10282427" y="3525752"/>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5613004" y="395604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231330" y="362893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UB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21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The prices are invented for teaching.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3 closes above a gap</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"A bar closing above a gap formed between the current bar's open and a previous bar's high" (Figure 7.5, p. 213). Here it is with invented prices. The previous high is PHP 39.00. Form 3 opens at PHP 39.40 </a:t>
            </a:r>
            <a:r>
              <a:rPr sz="1700" b="1" i="0">
                <a:solidFill>
                  <a:srgbClr val="E09B00"/>
                </a:solidFill>
                <a:latin typeface="Arial"/>
              </a:rPr>
              <a:t>(1)</a:t>
            </a:r>
            <a:r>
              <a:rPr sz="1700" b="0" i="0">
                <a:solidFill>
                  <a:srgbClr val="1A1A1A"/>
                </a:solidFill>
                <a:latin typeface="Arial"/>
              </a:rPr>
              <a:t>, leaving a PHP 0.40 gap below its open </a:t>
            </a:r>
            <a:r>
              <a:rPr sz="1700" b="1" i="0">
                <a:solidFill>
                  <a:srgbClr val="C62828"/>
                </a:solidFill>
                <a:latin typeface="Arial"/>
              </a:rPr>
              <a:t>(2)</a:t>
            </a:r>
            <a:r>
              <a:rPr sz="1700" b="0" i="0">
                <a:solidFill>
                  <a:srgbClr val="1A1A1A"/>
                </a:solidFill>
                <a:latin typeface="Arial"/>
              </a:rPr>
              <a:t>, and closes at PHP 40.20, above the gap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78168" y="2395728"/>
            <a:ext cx="1878909"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78168" y="2395728"/>
            <a:ext cx="1878909"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52488" y="2670048"/>
            <a:ext cx="1330269"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3: a bar closing above a gap.</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c-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9971531" y="4031284"/>
            <a:ext cx="87782" cy="87782"/>
          </a:xfrm>
          <a:prstGeom prst="ellipse">
            <a:avLst/>
          </a:prstGeom>
          <a:noFill/>
          <a:ln w="44450">
            <a:solidFill>
              <a:srgbClr val="E09B00"/>
            </a:solidFill>
          </a:ln>
        </p:spPr>
        <p:txBody>
          <a:bodyPr rtlCol="0" anchor="ctr"/>
          <a:lstStyle/>
          <a:p>
            <a:pPr algn="ctr"/>
          </a:p>
        </p:txBody>
      </p:sp>
      <p:sp>
        <p:nvSpPr>
          <p:cNvPr id="15" name="Rectangle 14"/>
          <p:cNvSpPr/>
          <p:nvPr/>
        </p:nvSpPr>
        <p:spPr>
          <a:xfrm>
            <a:off x="7784287" y="4075176"/>
            <a:ext cx="164592" cy="262127"/>
          </a:xfrm>
          <a:prstGeom prst="rect">
            <a:avLst/>
          </a:prstGeom>
          <a:noFill/>
          <a:ln w="44450">
            <a:solidFill>
              <a:srgbClr val="C62828"/>
            </a:solidFill>
          </a:ln>
        </p:spPr>
        <p:txBody>
          <a:bodyPr rtlCol="0" anchor="ctr"/>
          <a:lstStyle/>
          <a:p>
            <a:pPr algn="ctr"/>
          </a:p>
        </p:txBody>
      </p:sp>
      <p:sp>
        <p:nvSpPr>
          <p:cNvPr id="16" name="Oval 15"/>
          <p:cNvSpPr/>
          <p:nvPr/>
        </p:nvSpPr>
        <p:spPr>
          <a:xfrm>
            <a:off x="10282427" y="3507028"/>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9854379" y="375985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948879"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61020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UC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22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Chapter 3, "Gap". The prices are invented for teaching.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4 is the inside bar after a large down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"Narrow range bar closing within a larger previous bar's range," again an inside bar (Figure 7.5, p. 213). Say the previous bar ranges PHP 3.00 </a:t>
            </a:r>
            <a:r>
              <a:rPr sz="1700" b="1" i="0">
                <a:solidFill>
                  <a:srgbClr val="E09B00"/>
                </a:solidFill>
                <a:latin typeface="Arial"/>
              </a:rPr>
              <a:t>(1)</a:t>
            </a:r>
            <a:r>
              <a:rPr sz="1700" b="0" i="0">
                <a:solidFill>
                  <a:srgbClr val="1A1A1A"/>
                </a:solidFill>
                <a:latin typeface="Arial"/>
              </a:rPr>
              <a:t>; the inside bar ranges only PHP 1.00 </a:t>
            </a:r>
            <a:r>
              <a:rPr sz="1700" b="1" i="0">
                <a:solidFill>
                  <a:srgbClr val="C62828"/>
                </a:solidFill>
                <a:latin typeface="Arial"/>
              </a:rPr>
              <a:t>(2)</a:t>
            </a:r>
            <a:r>
              <a:rPr sz="1700" b="0" i="0">
                <a:solidFill>
                  <a:srgbClr val="1A1A1A"/>
                </a:solidFill>
                <a:latin typeface="Arial"/>
              </a:rPr>
              <a:t>, on 0.9 million shares against 3.0 million </a:t>
            </a:r>
            <a:r>
              <a:rPr sz="1700" b="1" i="0">
                <a:solidFill>
                  <a:srgbClr val="1F5FAD"/>
                </a:solidFill>
                <a:latin typeface="Arial"/>
              </a:rPr>
              <a:t>(3)</a:t>
            </a:r>
            <a:r>
              <a:rPr sz="1700" b="0" i="0">
                <a:solidFill>
                  <a:srgbClr val="1A1A1A"/>
                </a:solidFill>
                <a:latin typeface="Arial"/>
              </a:rPr>
              <a:t>. Lim says such narrow bars should generally form on low volume, showing uncertainty in a downtrend (p. 212).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39024" y="2395728"/>
            <a:ext cx="1957197"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39024" y="2395728"/>
            <a:ext cx="1957197"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13344" y="2670048"/>
            <a:ext cx="1408557"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4: a narrow inside bar after a large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d-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3392424"/>
            <a:ext cx="109728" cy="1124712"/>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4034332"/>
            <a:ext cx="109728" cy="411479"/>
          </a:xfrm>
          <a:prstGeom prst="rect">
            <a:avLst/>
          </a:prstGeom>
          <a:noFill/>
          <a:ln w="44450">
            <a:solidFill>
              <a:srgbClr val="C62828"/>
            </a:solidFill>
          </a:ln>
        </p:spPr>
        <p:txBody>
          <a:bodyPr rtlCol="0" anchor="ctr"/>
          <a:lstStyle/>
          <a:p>
            <a:pPr algn="ctr"/>
          </a:p>
        </p:txBody>
      </p:sp>
      <p:sp>
        <p:nvSpPr>
          <p:cNvPr id="16" name="Rectangle 15"/>
          <p:cNvSpPr/>
          <p:nvPr/>
        </p:nvSpPr>
        <p:spPr>
          <a:xfrm>
            <a:off x="10015422" y="5276088"/>
            <a:ext cx="310896" cy="109728"/>
          </a:xfrm>
          <a:prstGeom prst="rect">
            <a:avLst/>
          </a:prstGeom>
          <a:noFill/>
          <a:ln w="44450">
            <a:solidFill>
              <a:srgbClr val="1F5FAD"/>
            </a:solidFill>
          </a:ln>
        </p:spPr>
        <p:txBody>
          <a:bodyPr rtlCol="0" anchor="ctr"/>
          <a:lstStyle/>
          <a:p>
            <a:pPr algn="ctr"/>
          </a:p>
        </p:txBody>
      </p:sp>
      <p:sp>
        <p:nvSpPr>
          <p:cNvPr id="17" name="Oval 16"/>
          <p:cNvSpPr/>
          <p:nvPr/>
        </p:nvSpPr>
        <p:spPr>
          <a:xfrm>
            <a:off x="4757623"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4421" y="418520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436047" y="52029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UD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23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212 to 213, Figure 7.5. Prices and volume are invented for teaching.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5 is one overextended bar that closes near its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"An overextended bar closes at or near its high" (Figure 7.5, p. 213). As on the bearish side, we read "overextended" as unusually long compared with the bars before it, and closing near its high is a separate part. Beside an ordinary PHP 1.00 bar </a:t>
            </a:r>
            <a:r>
              <a:rPr sz="1700" b="1" i="0">
                <a:solidFill>
                  <a:srgbClr val="E09B00"/>
                </a:solidFill>
                <a:latin typeface="Arial"/>
              </a:rPr>
              <a:t>(1)</a:t>
            </a:r>
            <a:r>
              <a:rPr sz="1700" b="0" i="0">
                <a:solidFill>
                  <a:srgbClr val="1A1A1A"/>
                </a:solidFill>
                <a:latin typeface="Arial"/>
              </a:rPr>
              <a:t>, form 5 ranges PHP 4.00 </a:t>
            </a:r>
            <a:r>
              <a:rPr sz="1700" b="1" i="0">
                <a:solidFill>
                  <a:srgbClr val="C62828"/>
                </a:solidFill>
                <a:latin typeface="Arial"/>
              </a:rPr>
              <a:t>(2)</a:t>
            </a:r>
            <a:r>
              <a:rPr sz="1700" b="0" i="0">
                <a:solidFill>
                  <a:srgbClr val="1A1A1A"/>
                </a:solidFill>
                <a:latin typeface="Arial"/>
              </a:rPr>
              <a:t> and closes near its high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78168" y="2395728"/>
            <a:ext cx="1878909"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78168" y="2395728"/>
            <a:ext cx="1878909"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52488" y="2670048"/>
            <a:ext cx="1330269"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5: one overextended bar closing near its high.</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e-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3392424"/>
            <a:ext cx="109728" cy="369417"/>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3706977"/>
            <a:ext cx="109728" cy="1313078"/>
          </a:xfrm>
          <a:prstGeom prst="rect">
            <a:avLst/>
          </a:prstGeom>
          <a:noFill/>
          <a:ln w="44450">
            <a:solidFill>
              <a:srgbClr val="C62828"/>
            </a:solidFill>
          </a:ln>
        </p:spPr>
        <p:txBody>
          <a:bodyPr rtlCol="0" anchor="ctr"/>
          <a:lstStyle/>
          <a:p>
            <a:pPr algn="ctr"/>
          </a:p>
        </p:txBody>
      </p:sp>
      <p:sp>
        <p:nvSpPr>
          <p:cNvPr id="16" name="Oval 15"/>
          <p:cNvSpPr/>
          <p:nvPr/>
        </p:nvSpPr>
        <p:spPr>
          <a:xfrm>
            <a:off x="10282427" y="3753429"/>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4772147" y="336682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5734" y="423550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85661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UE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24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The prices are invented for teaching.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6 is the outside bar that closes near its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"Bar engulfing a previous narrow range bar and closing near or at its high," again called an outside bar (Figure 7.5, p. 213). Here it is with invented prices. The previous bar is narrow, from PHP 38.60 to PHP 39.20 </a:t>
            </a:r>
            <a:r>
              <a:rPr sz="1700" b="1" i="0">
                <a:solidFill>
                  <a:srgbClr val="E09B00"/>
                </a:solidFill>
                <a:latin typeface="Arial"/>
              </a:rPr>
              <a:t>(1)</a:t>
            </a:r>
            <a:r>
              <a:rPr sz="1700" b="0" i="0">
                <a:solidFill>
                  <a:srgbClr val="1A1A1A"/>
                </a:solidFill>
                <a:latin typeface="Arial"/>
              </a:rPr>
              <a:t>. The outside bar runs from PHP 38.10 to PHP 40.10 </a:t>
            </a:r>
            <a:r>
              <a:rPr sz="1700" b="1" i="0">
                <a:solidFill>
                  <a:srgbClr val="C62828"/>
                </a:solidFill>
                <a:latin typeface="Arial"/>
              </a:rPr>
              <a:t>(2)</a:t>
            </a:r>
            <a:r>
              <a:rPr sz="1700" b="0" i="0">
                <a:solidFill>
                  <a:srgbClr val="1A1A1A"/>
                </a:solidFill>
                <a:latin typeface="Arial"/>
              </a:rPr>
              <a:t>, beyond both ends, and closes at PHP 40.00, near its high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78168" y="2395728"/>
            <a:ext cx="1878909"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78168" y="2395728"/>
            <a:ext cx="1878909"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52488" y="2670048"/>
            <a:ext cx="1330269"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6: an outside bar engulfing a narrow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f-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4647894" y="4100169"/>
            <a:ext cx="109728" cy="526694"/>
          </a:xfrm>
          <a:prstGeom prst="rect">
            <a:avLst/>
          </a:prstGeom>
          <a:noFill/>
          <a:ln w="44450">
            <a:solidFill>
              <a:srgbClr val="E09B00"/>
            </a:solidFill>
          </a:ln>
        </p:spPr>
        <p:txBody>
          <a:bodyPr rtlCol="0" anchor="ctr"/>
          <a:lstStyle/>
          <a:p>
            <a:pPr algn="ctr"/>
          </a:p>
        </p:txBody>
      </p:sp>
      <p:sp>
        <p:nvSpPr>
          <p:cNvPr id="15" name="Rectangle 14"/>
          <p:cNvSpPr/>
          <p:nvPr/>
        </p:nvSpPr>
        <p:spPr>
          <a:xfrm>
            <a:off x="10116006" y="3392424"/>
            <a:ext cx="109728" cy="1627631"/>
          </a:xfrm>
          <a:prstGeom prst="rect">
            <a:avLst/>
          </a:prstGeom>
          <a:noFill/>
          <a:ln w="44450">
            <a:solidFill>
              <a:srgbClr val="C62828"/>
            </a:solidFill>
          </a:ln>
        </p:spPr>
        <p:txBody>
          <a:bodyPr rtlCol="0" anchor="ctr"/>
          <a:lstStyle/>
          <a:p>
            <a:pPr algn="ctr"/>
          </a:p>
        </p:txBody>
      </p:sp>
      <p:sp>
        <p:nvSpPr>
          <p:cNvPr id="16" name="Oval 15"/>
          <p:cNvSpPr/>
          <p:nvPr/>
        </p:nvSpPr>
        <p:spPr>
          <a:xfrm>
            <a:off x="10282427" y="3454603"/>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4764432" y="414109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573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55778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UF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25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The prices are invented for teaching.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form 7 is two large bars, the second closing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label: "1st large bar closing at its low followed by a large bar closing at or near its high" (Figure 7.5, p. 213). Let us put invented prices on it. The first bar closes at PHP 38.40, right at its low </a:t>
            </a:r>
            <a:r>
              <a:rPr sz="1700" b="1" i="0">
                <a:solidFill>
                  <a:srgbClr val="E09B00"/>
                </a:solidFill>
                <a:latin typeface="Arial"/>
              </a:rPr>
              <a:t>(1)</a:t>
            </a:r>
            <a:r>
              <a:rPr sz="1700" b="0" i="0">
                <a:solidFill>
                  <a:srgbClr val="1A1A1A"/>
                </a:solidFill>
                <a:latin typeface="Arial"/>
              </a:rPr>
              <a:t>. The second bar, just as large, closes at PHP 40.60, only PHP 0.20 below its high </a:t>
            </a:r>
            <a:r>
              <a:rPr sz="1700" b="1" i="0">
                <a:solidFill>
                  <a:srgbClr val="C62828"/>
                </a:solidFill>
                <a:latin typeface="Arial"/>
              </a:rPr>
              <a:t>(2)</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039024" y="2395728"/>
            <a:ext cx="1957197" cy="351129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039024" y="2395728"/>
            <a:ext cx="1957197"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313344" y="2670048"/>
            <a:ext cx="1408557"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7.5</a:t>
            </a:r>
          </a:p>
          <a:p>
            <a:pPr algn="l">
              <a:lnSpc>
                <a:spcPct val="115000"/>
              </a:lnSpc>
              <a:spcBef>
                <a:spcPts val="0"/>
              </a:spcBef>
              <a:spcAft>
                <a:spcPts val="0"/>
              </a:spcAft>
            </a:pPr>
            <a:r>
              <a:rPr sz="1500" b="0" i="0">
                <a:solidFill>
                  <a:srgbClr val="1A1A1A"/>
                </a:solidFill>
                <a:latin typeface="Palatino"/>
              </a:rPr>
              <a:t>Figure 7.5, form 7: two large bars closing at opposite ends.</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7.5,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ug-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4814315" y="4836392"/>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10282427" y="3600645"/>
            <a:ext cx="87782" cy="87782"/>
          </a:xfrm>
          <a:prstGeom prst="ellipse">
            <a:avLst/>
          </a:prstGeom>
          <a:noFill/>
          <a:ln w="44450">
            <a:solidFill>
              <a:srgbClr val="C62828"/>
            </a:solidFill>
          </a:ln>
        </p:spPr>
        <p:txBody>
          <a:bodyPr rtlCol="0" anchor="ctr"/>
          <a:lstStyle/>
          <a:p>
            <a:pPr algn="ctr"/>
          </a:p>
        </p:txBody>
      </p:sp>
      <p:sp>
        <p:nvSpPr>
          <p:cNvPr id="16" name="Oval 15"/>
          <p:cNvSpPr/>
          <p:nvPr/>
        </p:nvSpPr>
        <p:spPr>
          <a:xfrm>
            <a:off x="4779417" y="456855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231330" y="370382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UG - FIN1209 teaching chart, drawn for this course. Illustrative data, not a real instrument.</a:t>
            </a:r>
          </a:p>
        </p:txBody>
      </p:sp>
      <p:sp>
        <p:nvSpPr>
          <p:cNvPr id="19" name="TextBox 1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26 of 88</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7.5. The prices are invented for teaching.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bullish last bar we can trust more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most cases, Lim says, a bullish two-bar pattern is potentially more reliable if the last bar is overextended and closes at or near its high on high volume (p. 212). Here it is with invented prices. The last bar stretches PHP 4.00 against PHP 1.00 </a:t>
            </a:r>
            <a:r>
              <a:rPr sz="1700" b="1" i="0">
                <a:solidFill>
                  <a:srgbClr val="E09B00"/>
                </a:solidFill>
                <a:latin typeface="Arial"/>
              </a:rPr>
              <a:t>(1)</a:t>
            </a:r>
            <a:r>
              <a:rPr sz="1700" b="0" i="0">
                <a:solidFill>
                  <a:srgbClr val="1A1A1A"/>
                </a:solidFill>
                <a:latin typeface="Arial"/>
              </a:rPr>
              <a:t>, closes at PHP 42.20, near its PHP 42.40 high </a:t>
            </a:r>
            <a:r>
              <a:rPr sz="1700" b="1" i="0">
                <a:solidFill>
                  <a:srgbClr val="C62828"/>
                </a:solidFill>
                <a:latin typeface="Arial"/>
              </a:rPr>
              <a:t>(2)</a:t>
            </a:r>
            <a:r>
              <a:rPr sz="1700" b="0" i="0">
                <a:solidFill>
                  <a:srgbClr val="1A1A1A"/>
                </a:solidFill>
                <a:latin typeface="Arial"/>
              </a:rPr>
              <a:t>, on 4.5 million shares against 1.5 million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rm-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9869119" y="3392424"/>
            <a:ext cx="109728" cy="1124712"/>
          </a:xfrm>
          <a:prstGeom prst="rect">
            <a:avLst/>
          </a:prstGeom>
          <a:noFill/>
          <a:ln w="44450">
            <a:solidFill>
              <a:srgbClr val="E09B00"/>
            </a:solidFill>
          </a:ln>
        </p:spPr>
        <p:txBody>
          <a:bodyPr rtlCol="0" anchor="ctr"/>
          <a:lstStyle/>
          <a:p>
            <a:pPr algn="ctr"/>
          </a:p>
        </p:txBody>
      </p:sp>
      <p:sp>
        <p:nvSpPr>
          <p:cNvPr id="10" name="Oval 9"/>
          <p:cNvSpPr/>
          <p:nvPr/>
        </p:nvSpPr>
        <p:spPr>
          <a:xfrm>
            <a:off x="10035539" y="3429457"/>
            <a:ext cx="87782" cy="87782"/>
          </a:xfrm>
          <a:prstGeom prst="ellipse">
            <a:avLst/>
          </a:prstGeom>
          <a:noFill/>
          <a:ln w="44450">
            <a:solidFill>
              <a:srgbClr val="C62828"/>
            </a:solidFill>
          </a:ln>
        </p:spPr>
        <p:txBody>
          <a:bodyPr rtlCol="0" anchor="ctr"/>
          <a:lstStyle/>
          <a:p>
            <a:pPr algn="ctr"/>
          </a:p>
        </p:txBody>
      </p:sp>
      <p:sp>
        <p:nvSpPr>
          <p:cNvPr id="11" name="Rectangle 10"/>
          <p:cNvSpPr/>
          <p:nvPr/>
        </p:nvSpPr>
        <p:spPr>
          <a:xfrm>
            <a:off x="9768535" y="5148072"/>
            <a:ext cx="310895" cy="237744"/>
          </a:xfrm>
          <a:prstGeom prst="rect">
            <a:avLst/>
          </a:prstGeom>
          <a:noFill/>
          <a:ln w="44450">
            <a:solidFill>
              <a:srgbClr val="1F5FAD"/>
            </a:solidFill>
          </a:ln>
        </p:spPr>
        <p:txBody>
          <a:bodyPr rtlCol="0" anchor="ctr"/>
          <a:lstStyle/>
          <a:p>
            <a:pPr algn="ctr"/>
          </a:p>
        </p:txBody>
      </p:sp>
      <p:sp>
        <p:nvSpPr>
          <p:cNvPr id="12" name="Oval 11"/>
          <p:cNvSpPr/>
          <p:nvPr/>
        </p:nvSpPr>
        <p:spPr>
          <a:xfrm>
            <a:off x="9978847"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84442" y="353263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97162" y="515167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RM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27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212. Prices and volume are invented for teaching.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Bullish single and double bar patterns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downtrend, which close does Lim's general rule treat as bullish?</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 close above the previous bar's close or high</a:t>
            </a:r>
          </a:p>
          <a:p>
            <a:pPr algn="l">
              <a:lnSpc>
                <a:spcPct val="112000"/>
              </a:lnSpc>
              <a:spcBef>
                <a:spcPts val="0"/>
              </a:spcBef>
              <a:spcAft>
                <a:spcPts val="900"/>
              </a:spcAft>
            </a:pPr>
            <a:r>
              <a:rPr sz="1700" b="0" i="0">
                <a:solidFill>
                  <a:srgbClr val="FFFFFF"/>
                </a:solidFill>
                <a:latin typeface="Arial"/>
              </a:rPr>
              <a:t>B.  A close below the previous bar's low</a:t>
            </a:r>
          </a:p>
          <a:p>
            <a:pPr algn="l">
              <a:lnSpc>
                <a:spcPct val="112000"/>
              </a:lnSpc>
              <a:spcBef>
                <a:spcPts val="0"/>
              </a:spcBef>
              <a:spcAft>
                <a:spcPts val="900"/>
              </a:spcAft>
            </a:pPr>
            <a:r>
              <a:rPr sz="1700" b="0" i="0">
                <a:solidFill>
                  <a:srgbClr val="FFFFFF"/>
                </a:solidFill>
                <a:latin typeface="Arial"/>
              </a:rPr>
              <a:t>C.  A close inside the previous range</a:t>
            </a:r>
          </a:p>
          <a:p>
            <a:pPr algn="l">
              <a:lnSpc>
                <a:spcPct val="112000"/>
              </a:lnSpc>
              <a:spcBef>
                <a:spcPts val="0"/>
              </a:spcBef>
              <a:spcAft>
                <a:spcPts val="900"/>
              </a:spcAft>
            </a:pPr>
            <a:r>
              <a:rPr sz="1700" b="0" i="0">
                <a:solidFill>
                  <a:srgbClr val="FFFFFF"/>
                </a:solidFill>
                <a:latin typeface="Arial"/>
              </a:rPr>
              <a:t>D.  A close at the open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Lim call a bar that engulfs a previous narrow range bar and closes near its high?</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An inside bar</a:t>
            </a:r>
          </a:p>
          <a:p>
            <a:pPr algn="l">
              <a:lnSpc>
                <a:spcPct val="112000"/>
              </a:lnSpc>
              <a:spcBef>
                <a:spcPts val="0"/>
              </a:spcBef>
              <a:spcAft>
                <a:spcPts val="900"/>
              </a:spcAft>
            </a:pPr>
            <a:r>
              <a:rPr sz="1700" b="0" i="0">
                <a:solidFill>
                  <a:srgbClr val="FFFFFF"/>
                </a:solidFill>
                <a:latin typeface="Arial"/>
              </a:rPr>
              <a:t>B.  A key reversal bar</a:t>
            </a:r>
          </a:p>
          <a:p>
            <a:pPr algn="l">
              <a:lnSpc>
                <a:spcPct val="112000"/>
              </a:lnSpc>
              <a:spcBef>
                <a:spcPts val="0"/>
              </a:spcBef>
              <a:spcAft>
                <a:spcPts val="900"/>
              </a:spcAft>
            </a:pPr>
            <a:r>
              <a:rPr sz="1700" b="0" i="0">
                <a:solidFill>
                  <a:srgbClr val="FFFFFF"/>
                </a:solidFill>
                <a:latin typeface="Arial"/>
              </a:rPr>
              <a:t>C.  An outside bar</a:t>
            </a:r>
          </a:p>
          <a:p>
            <a:pPr algn="l">
              <a:lnSpc>
                <a:spcPct val="112000"/>
              </a:lnSpc>
              <a:spcBef>
                <a:spcPts val="0"/>
              </a:spcBef>
              <a:spcAft>
                <a:spcPts val="900"/>
              </a:spcAft>
            </a:pPr>
            <a:r>
              <a:rPr sz="1700" b="0" i="0">
                <a:solidFill>
                  <a:srgbClr val="FFFFFF"/>
                </a:solidFill>
                <a:latin typeface="Arial"/>
              </a:rPr>
              <a:t>D.  An overextended bar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Bullish single and double bar patterns</a:t>
            </a:r>
          </a:p>
        </p:txBody>
      </p:sp>
      <p:sp>
        <p:nvSpPr>
          <p:cNvPr id="6" name="Rectangle 5"/>
          <p:cNvSpPr/>
          <p:nvPr/>
        </p:nvSpPr>
        <p:spPr>
          <a:xfrm>
            <a:off x="777240" y="1207008"/>
            <a:ext cx="10637215" cy="187642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76425"/>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In a downtrend, which close does Lim's general rule treat as bullish?</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A close above the previous bar's close or high</a:t>
            </a:r>
          </a:p>
          <a:p>
            <a:pPr algn="l">
              <a:lnSpc>
                <a:spcPct val="115000"/>
              </a:lnSpc>
              <a:spcBef>
                <a:spcPts val="700"/>
              </a:spcBef>
              <a:spcAft>
                <a:spcPts val="0"/>
              </a:spcAft>
            </a:pPr>
            <a:r>
              <a:rPr sz="1700" b="0" i="0">
                <a:solidFill>
                  <a:srgbClr val="1A1A1A"/>
                </a:solidFill>
                <a:latin typeface="Arial"/>
              </a:rPr>
              <a:t>Lim's rule: a close above a previous bar's close or high is considered bullish, especially after a large or wide-ranging bar (p. 212).</a:t>
            </a:r>
          </a:p>
        </p:txBody>
      </p:sp>
      <p:sp>
        <p:nvSpPr>
          <p:cNvPr id="10" name="Rectangle 9"/>
          <p:cNvSpPr/>
          <p:nvPr/>
        </p:nvSpPr>
        <p:spPr>
          <a:xfrm>
            <a:off x="777240" y="3330321"/>
            <a:ext cx="10637215" cy="187642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30321"/>
            <a:ext cx="91440" cy="1876424"/>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68065"/>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What does Lim call a bar that engulfs a previous narrow range bar and closes near its high?</a:t>
            </a:r>
          </a:p>
        </p:txBody>
      </p:sp>
      <p:sp>
        <p:nvSpPr>
          <p:cNvPr id="13" name="TextBox 12"/>
          <p:cNvSpPr txBox="1"/>
          <p:nvPr/>
        </p:nvSpPr>
        <p:spPr>
          <a:xfrm>
            <a:off x="1143000" y="4320667"/>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An outside bar</a:t>
            </a:r>
          </a:p>
          <a:p>
            <a:pPr algn="l">
              <a:lnSpc>
                <a:spcPct val="115000"/>
              </a:lnSpc>
              <a:spcBef>
                <a:spcPts val="700"/>
              </a:spcBef>
              <a:spcAft>
                <a:spcPts val="0"/>
              </a:spcAft>
            </a:pPr>
            <a:r>
              <a:rPr sz="1700" b="0" i="0">
                <a:solidFill>
                  <a:srgbClr val="1A1A1A"/>
                </a:solidFill>
                <a:latin typeface="Arial"/>
              </a:rPr>
              <a:t>That is bullish form 6, which Lim's label calls an outside bar (p. 213).</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Six bearish triple forms, at the top of an uptrend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28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Now we go from two bars to three. Lim draws six basic triple bar bearish reversal patterns in Figures 7.6 and 7.7, and each one forms at the top of an uptrend (p. 213).</a:t>
            </a:r>
          </a:p>
          <a:p>
            <a:pPr algn="l">
              <a:lnSpc>
                <a:spcPct val="118000"/>
              </a:lnSpc>
              <a:spcBef>
                <a:spcPts val="0"/>
              </a:spcBef>
              <a:spcAft>
                <a:spcPts val="1300"/>
              </a:spcAft>
            </a:pPr>
            <a:r>
              <a:rPr sz="2100" b="0" i="0">
                <a:solidFill>
                  <a:srgbClr val="1A1A1A"/>
                </a:solidFill>
                <a:latin typeface="Arial"/>
              </a:rPr>
              <a:t>What is new compared with the double bars is a middle bar: every triple pattern has a first bar, a middle bar and a last bar.</a:t>
            </a:r>
          </a:p>
          <a:p>
            <a:pPr algn="l">
              <a:lnSpc>
                <a:spcPct val="118000"/>
              </a:lnSpc>
              <a:spcBef>
                <a:spcPts val="0"/>
              </a:spcBef>
              <a:spcAft>
                <a:spcPts val="1300"/>
              </a:spcAft>
            </a:pPr>
            <a:r>
              <a:rPr sz="2100" b="0" i="0">
                <a:solidFill>
                  <a:srgbClr val="1A1A1A"/>
                </a:solidFill>
                <a:latin typeface="Arial"/>
              </a:rPr>
              <a:t>Much of the logic will look familiar from the double bar forms, and we will point out where. That link is our reading, not Lim's.</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213 to 214, Figures 7.6 and 7.7.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Larger gaps make a completed triple pattern more bearish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first rule for these patterns is about gaps: the larger the gaps, the more bearish the pattern once it is complete (p. 213). Let us put invented prices on it. If the first bar's high is PHP 50.00 and the middle bar's low is PHP 50.40, the gap is PHP 0.40 </a:t>
            </a:r>
            <a:r>
              <a:rPr sz="1700" b="1" i="0">
                <a:solidFill>
                  <a:srgbClr val="E09B00"/>
                </a:solidFill>
                <a:latin typeface="Arial"/>
              </a:rPr>
              <a:t>(1)</a:t>
            </a:r>
            <a:r>
              <a:rPr sz="1700" b="0" i="0">
                <a:solidFill>
                  <a:srgbClr val="1A1A1A"/>
                </a:solidFill>
                <a:latin typeface="Arial"/>
              </a:rPr>
              <a:t>. The last bar then closes at PHP 49.60, back below the gap </a:t>
            </a:r>
            <a:r>
              <a:rPr sz="1700" b="1" i="0">
                <a:solidFill>
                  <a:srgbClr val="C62828"/>
                </a:solidFill>
                <a:latin typeface="Arial"/>
              </a:rPr>
              <a:t>(2)</a:t>
            </a:r>
            <a:r>
              <a:rPr sz="1700" b="0" i="0">
                <a:solidFill>
                  <a:srgbClr val="1A1A1A"/>
                </a:solidFill>
                <a:latin typeface="Arial"/>
              </a:rPr>
              <a:t>, and the pattern is complete.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g-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340864" y="4055364"/>
            <a:ext cx="585216" cy="231289"/>
          </a:xfrm>
          <a:prstGeom prst="rect">
            <a:avLst/>
          </a:prstGeom>
          <a:noFill/>
          <a:ln w="44450">
            <a:solidFill>
              <a:srgbClr val="E09B00"/>
            </a:solidFill>
          </a:ln>
        </p:spPr>
        <p:txBody>
          <a:bodyPr rtlCol="0" anchor="ctr"/>
          <a:lstStyle/>
          <a:p>
            <a:pPr algn="ctr"/>
          </a:p>
        </p:txBody>
      </p:sp>
      <p:sp>
        <p:nvSpPr>
          <p:cNvPr id="10" name="Rectangle 9"/>
          <p:cNvSpPr/>
          <p:nvPr/>
        </p:nvSpPr>
        <p:spPr>
          <a:xfrm>
            <a:off x="7552944" y="3708429"/>
            <a:ext cx="585216" cy="578223"/>
          </a:xfrm>
          <a:prstGeom prst="rect">
            <a:avLst/>
          </a:prstGeom>
          <a:noFill/>
          <a:ln w="44450">
            <a:solidFill>
              <a:srgbClr val="1F5FAD"/>
            </a:solidFill>
          </a:ln>
        </p:spPr>
        <p:txBody>
          <a:bodyPr rtlCol="0" anchor="ctr"/>
          <a:lstStyle/>
          <a:p>
            <a:pPr algn="ctr"/>
          </a:p>
        </p:txBody>
      </p:sp>
      <p:sp>
        <p:nvSpPr>
          <p:cNvPr id="11" name="Oval 10"/>
          <p:cNvSpPr/>
          <p:nvPr/>
        </p:nvSpPr>
        <p:spPr>
          <a:xfrm>
            <a:off x="5008168" y="4474051"/>
            <a:ext cx="87782" cy="87782"/>
          </a:xfrm>
          <a:prstGeom prst="ellipse">
            <a:avLst/>
          </a:prstGeom>
          <a:noFill/>
          <a:ln w="44450">
            <a:solidFill>
              <a:srgbClr val="C62828"/>
            </a:solidFill>
          </a:ln>
        </p:spPr>
        <p:txBody>
          <a:bodyPr rtlCol="0" anchor="ctr"/>
          <a:lstStyle/>
          <a:p>
            <a:pPr algn="ctr"/>
          </a:p>
        </p:txBody>
      </p:sp>
      <p:sp>
        <p:nvSpPr>
          <p:cNvPr id="12" name="Oval 11"/>
          <p:cNvSpPr/>
          <p:nvPr/>
        </p:nvSpPr>
        <p:spPr>
          <a:xfrm>
            <a:off x="10220248" y="4474051"/>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3090672" y="404299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302752" y="386952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Oval 14"/>
          <p:cNvSpPr/>
          <p:nvPr/>
        </p:nvSpPr>
        <p:spPr>
          <a:xfrm>
            <a:off x="4901091" y="465227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10113171" y="465227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GP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29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Larger gaps make a completed triple pattern more bearish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Now take a bigger gap: a middle bar whose low is PHP 51.00 leaves a PHP 1.00 gap </a:t>
            </a:r>
            <a:r>
              <a:rPr sz="1700" b="1" i="0">
                <a:solidFill>
                  <a:srgbClr val="1F5FAD"/>
                </a:solidFill>
                <a:latin typeface="Arial"/>
              </a:rPr>
              <a:t>(3)</a:t>
            </a:r>
            <a:r>
              <a:rPr sz="1700" b="0" i="0">
                <a:solidFill>
                  <a:srgbClr val="1A1A1A"/>
                </a:solidFill>
                <a:latin typeface="Arial"/>
              </a:rPr>
              <a:t>. The last bar again closes at PHP 49.60, below the gap </a:t>
            </a:r>
            <a:r>
              <a:rPr sz="1700" b="1" i="0">
                <a:solidFill>
                  <a:srgbClr val="7B3FA0"/>
                </a:solidFill>
                <a:latin typeface="Arial"/>
              </a:rPr>
              <a:t>(4)</a:t>
            </a:r>
            <a:r>
              <a:rPr sz="1700" b="0" i="0">
                <a:solidFill>
                  <a:srgbClr val="1A1A1A"/>
                </a:solidFill>
                <a:latin typeface="Arial"/>
              </a:rPr>
              <a:t>. Both patterns are complete, and Lim would read this one as more bearish because its gap is larger.</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g-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340864" y="4055364"/>
            <a:ext cx="585216" cy="231289"/>
          </a:xfrm>
          <a:prstGeom prst="rect">
            <a:avLst/>
          </a:prstGeom>
          <a:noFill/>
          <a:ln w="44450">
            <a:solidFill>
              <a:srgbClr val="E09B00"/>
            </a:solidFill>
          </a:ln>
        </p:spPr>
        <p:txBody>
          <a:bodyPr rtlCol="0" anchor="ctr"/>
          <a:lstStyle/>
          <a:p>
            <a:pPr algn="ctr"/>
          </a:p>
        </p:txBody>
      </p:sp>
      <p:sp>
        <p:nvSpPr>
          <p:cNvPr id="10" name="Rectangle 9"/>
          <p:cNvSpPr/>
          <p:nvPr/>
        </p:nvSpPr>
        <p:spPr>
          <a:xfrm>
            <a:off x="7552944" y="3708429"/>
            <a:ext cx="585216" cy="578223"/>
          </a:xfrm>
          <a:prstGeom prst="rect">
            <a:avLst/>
          </a:prstGeom>
          <a:noFill/>
          <a:ln w="44450">
            <a:solidFill>
              <a:srgbClr val="1F5FAD"/>
            </a:solidFill>
          </a:ln>
        </p:spPr>
        <p:txBody>
          <a:bodyPr rtlCol="0" anchor="ctr"/>
          <a:lstStyle/>
          <a:p>
            <a:pPr algn="ctr"/>
          </a:p>
        </p:txBody>
      </p:sp>
      <p:sp>
        <p:nvSpPr>
          <p:cNvPr id="11" name="Oval 10"/>
          <p:cNvSpPr/>
          <p:nvPr/>
        </p:nvSpPr>
        <p:spPr>
          <a:xfrm>
            <a:off x="5008168" y="4474051"/>
            <a:ext cx="87782" cy="87782"/>
          </a:xfrm>
          <a:prstGeom prst="ellipse">
            <a:avLst/>
          </a:prstGeom>
          <a:noFill/>
          <a:ln w="44450">
            <a:solidFill>
              <a:srgbClr val="C62828"/>
            </a:solidFill>
          </a:ln>
        </p:spPr>
        <p:txBody>
          <a:bodyPr rtlCol="0" anchor="ctr"/>
          <a:lstStyle/>
          <a:p>
            <a:pPr algn="ctr"/>
          </a:p>
        </p:txBody>
      </p:sp>
      <p:sp>
        <p:nvSpPr>
          <p:cNvPr id="12" name="Oval 11"/>
          <p:cNvSpPr/>
          <p:nvPr/>
        </p:nvSpPr>
        <p:spPr>
          <a:xfrm>
            <a:off x="10220248" y="4474051"/>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3090672" y="404299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302752" y="386952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Oval 14"/>
          <p:cNvSpPr/>
          <p:nvPr/>
        </p:nvSpPr>
        <p:spPr>
          <a:xfrm>
            <a:off x="4901091" y="465227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10113171" y="465227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GP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30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FIN1209 teaching chart. The prices are invented for teaching.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outer bars should be wide and the middle bar quiet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31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larger the range of the first and third bars, the more reliable the reversal pattern, Lim says (p. 213).</a:t>
            </a:r>
          </a:p>
          <a:p>
            <a:pPr algn="l">
              <a:lnSpc>
                <a:spcPct val="118000"/>
              </a:lnSpc>
              <a:spcBef>
                <a:spcPts val="0"/>
              </a:spcBef>
              <a:spcAft>
                <a:spcPts val="1300"/>
              </a:spcAft>
            </a:pPr>
            <a:r>
              <a:rPr sz="2100" b="0" i="0">
                <a:solidFill>
                  <a:srgbClr val="1A1A1A"/>
                </a:solidFill>
                <a:latin typeface="Arial"/>
              </a:rPr>
              <a:t>For most triple patterns the middle bar usually trades on low volume. Pattern 1 is possibly the exception: there larger middle volume is also considered more bearish, because the buyers failed to keep the close near or above the middle of the bar (p. 213).</a:t>
            </a:r>
          </a:p>
          <a:p>
            <a:pPr algn="l">
              <a:lnSpc>
                <a:spcPct val="118000"/>
              </a:lnSpc>
              <a:spcBef>
                <a:spcPts val="0"/>
              </a:spcBef>
              <a:spcAft>
                <a:spcPts val="1300"/>
              </a:spcAft>
            </a:pPr>
            <a:r>
              <a:rPr sz="2100" b="0" i="0">
                <a:solidFill>
                  <a:srgbClr val="1A1A1A"/>
                </a:solidFill>
                <a:latin typeface="Arial"/>
              </a:rPr>
              <a:t>As before, the pattern is generally more reliable if the last bar is overextended (unusually long compared with the bars before it) and closes at or near its low on high volume (pp. 213 to 214).</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213 to 214.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triple pattern that meets those rules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Let us put invented prices on it. Bar 1 spans PHP 3.00 </a:t>
            </a:r>
            <a:r>
              <a:rPr sz="1700" b="1" i="0">
                <a:solidFill>
                  <a:srgbClr val="E09B00"/>
                </a:solidFill>
                <a:latin typeface="Arial"/>
              </a:rPr>
              <a:t>(1)</a:t>
            </a:r>
            <a:r>
              <a:rPr sz="1700" b="0" i="0">
                <a:solidFill>
                  <a:srgbClr val="1A1A1A"/>
                </a:solidFill>
                <a:latin typeface="Arial"/>
              </a:rPr>
              <a:t>; the middle bar spans only PHP 0.80 </a:t>
            </a:r>
            <a:r>
              <a:rPr sz="1700" b="1" i="0">
                <a:solidFill>
                  <a:srgbClr val="C62828"/>
                </a:solidFill>
                <a:latin typeface="Arial"/>
              </a:rPr>
              <a:t>(2)</a:t>
            </a:r>
            <a:r>
              <a:rPr sz="1700" b="0" i="0">
                <a:solidFill>
                  <a:srgbClr val="1A1A1A"/>
                </a:solidFill>
                <a:latin typeface="Arial"/>
              </a:rPr>
              <a:t> on 0.7 million shares </a:t>
            </a:r>
            <a:r>
              <a:rPr sz="1700" b="1" i="0">
                <a:solidFill>
                  <a:srgbClr val="1F5FAD"/>
                </a:solidFill>
                <a:latin typeface="Arial"/>
              </a:rPr>
              <a:t>(3)</a:t>
            </a:r>
            <a:r>
              <a:rPr sz="1700" b="0" i="0">
                <a:solidFill>
                  <a:srgbClr val="1A1A1A"/>
                </a:solidFill>
                <a:latin typeface="Arial"/>
              </a:rPr>
              <a:t>; and bar 3 spans PHP 6.00 </a:t>
            </a:r>
            <a:r>
              <a:rPr sz="1700" b="1" i="0">
                <a:solidFill>
                  <a:srgbClr val="7B3FA0"/>
                </a:solidFill>
                <a:latin typeface="Arial"/>
              </a:rPr>
              <a:t>(4)</a:t>
            </a:r>
            <a:r>
              <a:rPr sz="1700" b="0" i="0">
                <a:solidFill>
                  <a:srgbClr val="1A1A1A"/>
                </a:solidFill>
                <a:latin typeface="Arial"/>
              </a:rPr>
              <a:t>, twice as much as bar 1 and far more than the middle bar. Bar 3 also closes at PHP 44.60, near its PHP 44.40 low, on 4.2 million shares: the overextended, near-low, high-volume last bar Lim prefers.</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tr-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761488" y="3392424"/>
            <a:ext cx="109727" cy="541158"/>
          </a:xfrm>
          <a:prstGeom prst="rect">
            <a:avLst/>
          </a:prstGeom>
          <a:noFill/>
          <a:ln w="44450">
            <a:solidFill>
              <a:srgbClr val="E09B00"/>
            </a:solidFill>
          </a:ln>
        </p:spPr>
        <p:txBody>
          <a:bodyPr rtlCol="0" anchor="ctr"/>
          <a:lstStyle/>
          <a:p>
            <a:pPr algn="ctr"/>
          </a:p>
        </p:txBody>
      </p:sp>
      <p:sp>
        <p:nvSpPr>
          <p:cNvPr id="10" name="Rectangle 9"/>
          <p:cNvSpPr/>
          <p:nvPr/>
        </p:nvSpPr>
        <p:spPr>
          <a:xfrm>
            <a:off x="6315303" y="3408633"/>
            <a:ext cx="109727" cy="184542"/>
          </a:xfrm>
          <a:prstGeom prst="rect">
            <a:avLst/>
          </a:prstGeom>
          <a:noFill/>
          <a:ln w="44450">
            <a:solidFill>
              <a:srgbClr val="C62828"/>
            </a:solidFill>
          </a:ln>
        </p:spPr>
        <p:txBody>
          <a:bodyPr rtlCol="0" anchor="ctr"/>
          <a:lstStyle/>
          <a:p>
            <a:pPr algn="ctr"/>
          </a:p>
        </p:txBody>
      </p:sp>
      <p:sp>
        <p:nvSpPr>
          <p:cNvPr id="11" name="Rectangle 10"/>
          <p:cNvSpPr/>
          <p:nvPr/>
        </p:nvSpPr>
        <p:spPr>
          <a:xfrm>
            <a:off x="9869119" y="3489682"/>
            <a:ext cx="109728" cy="1027453"/>
          </a:xfrm>
          <a:prstGeom prst="rect">
            <a:avLst/>
          </a:prstGeom>
          <a:noFill/>
          <a:ln w="44450">
            <a:solidFill>
              <a:srgbClr val="7B3FA0"/>
            </a:solidFill>
          </a:ln>
        </p:spPr>
        <p:txBody>
          <a:bodyPr rtlCol="0" anchor="ctr"/>
          <a:lstStyle/>
          <a:p>
            <a:pPr algn="ctr"/>
          </a:p>
        </p:txBody>
      </p:sp>
      <p:sp>
        <p:nvSpPr>
          <p:cNvPr id="12" name="Rectangle 11"/>
          <p:cNvSpPr/>
          <p:nvPr/>
        </p:nvSpPr>
        <p:spPr>
          <a:xfrm>
            <a:off x="6214719" y="5300472"/>
            <a:ext cx="310895" cy="85344"/>
          </a:xfrm>
          <a:prstGeom prst="rect">
            <a:avLst/>
          </a:prstGeom>
          <a:noFill/>
          <a:ln w="44450">
            <a:solidFill>
              <a:srgbClr val="1F5FAD"/>
            </a:solidFill>
          </a:ln>
        </p:spPr>
        <p:txBody>
          <a:bodyPr rtlCol="0" anchor="ctr"/>
          <a:lstStyle/>
          <a:p>
            <a:pPr algn="ctr"/>
          </a:p>
        </p:txBody>
      </p:sp>
      <p:sp>
        <p:nvSpPr>
          <p:cNvPr id="13" name="Oval 12"/>
          <p:cNvSpPr/>
          <p:nvPr/>
        </p:nvSpPr>
        <p:spPr>
          <a:xfrm>
            <a:off x="2871216" y="353498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6787989" y="3089425"/>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78847" y="387539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6" name="Oval 15"/>
          <p:cNvSpPr/>
          <p:nvPr/>
        </p:nvSpPr>
        <p:spPr>
          <a:xfrm>
            <a:off x="6653631" y="521512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TR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32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213 to 214. Prices and volume are invented for teaching.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1: a large middle bar that closes near its low</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"1st bar closes near its high followed by a large middle bar closing near its low. The 3rd bar closes at or near its low" (Figure 7.6, p. 213). Bar 1 closes at PHP 50.50 </a:t>
            </a:r>
            <a:r>
              <a:rPr sz="1700" b="1" i="0">
                <a:solidFill>
                  <a:srgbClr val="E09B00"/>
                </a:solidFill>
                <a:latin typeface="Arial"/>
              </a:rPr>
              <a:t>(1)</a:t>
            </a:r>
            <a:r>
              <a:rPr sz="1700" b="0" i="0">
                <a:solidFill>
                  <a:srgbClr val="1A1A1A"/>
                </a:solidFill>
                <a:latin typeface="Arial"/>
              </a:rPr>
              <a:t>; the large middle bar at PHP 50.60, near its low </a:t>
            </a:r>
            <a:r>
              <a:rPr sz="1700" b="1" i="0">
                <a:solidFill>
                  <a:srgbClr val="C62828"/>
                </a:solidFill>
                <a:latin typeface="Arial"/>
              </a:rPr>
              <a:t>(2)</a:t>
            </a:r>
            <a:r>
              <a:rPr sz="1700" b="0" i="0">
                <a:solidFill>
                  <a:srgbClr val="1A1A1A"/>
                </a:solidFill>
                <a:latin typeface="Arial"/>
              </a:rPr>
              <a:t>, on 3.6 million shares </a:t>
            </a:r>
            <a:r>
              <a:rPr sz="1700" b="1" i="0">
                <a:solidFill>
                  <a:srgbClr val="1F5FAD"/>
                </a:solidFill>
                <a:latin typeface="Arial"/>
              </a:rPr>
              <a:t>(3)</a:t>
            </a:r>
            <a:r>
              <a:rPr sz="1700" b="0" i="0">
                <a:solidFill>
                  <a:srgbClr val="1A1A1A"/>
                </a:solidFill>
                <a:latin typeface="Arial"/>
              </a:rPr>
              <a:t>; bar 3 at PHP 49.00 </a:t>
            </a:r>
            <a:r>
              <a:rPr sz="1700" b="1" i="0">
                <a:solidFill>
                  <a:srgbClr val="7B3FA0"/>
                </a:solidFill>
                <a:latin typeface="Arial"/>
              </a:rPr>
              <a:t>(4)</a:t>
            </a:r>
            <a:r>
              <a:rPr sz="1700" b="0" i="0">
                <a:solidFill>
                  <a:srgbClr val="1A1A1A"/>
                </a:solidFill>
                <a:latin typeface="Arial"/>
              </a:rPr>
              <a:t>. Our reading, not Lim's: new, not built from a two-bar form.</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56842" y="2395728"/>
            <a:ext cx="1521561"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56842" y="2395728"/>
            <a:ext cx="1521561"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31162" y="2670048"/>
            <a:ext cx="97292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7.6</a:t>
            </a:r>
          </a:p>
          <a:p>
            <a:pPr algn="l">
              <a:lnSpc>
                <a:spcPct val="115000"/>
              </a:lnSpc>
              <a:spcBef>
                <a:spcPts val="0"/>
              </a:spcBef>
              <a:spcAft>
                <a:spcPts val="0"/>
              </a:spcAft>
            </a:pPr>
            <a:r>
              <a:rPr sz="1500" b="0" i="0">
                <a:solidFill>
                  <a:srgbClr val="1A1A1A"/>
                </a:solidFill>
                <a:latin typeface="Palatino"/>
              </a:rPr>
              <a:t>Figure 7.6, form 1: three bars with a large middle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7.6,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a-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4814315" y="3991127"/>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7548371" y="3964381"/>
            <a:ext cx="87782" cy="87782"/>
          </a:xfrm>
          <a:prstGeom prst="ellipse">
            <a:avLst/>
          </a:prstGeom>
          <a:noFill/>
          <a:ln w="44450">
            <a:solidFill>
              <a:srgbClr val="C62828"/>
            </a:solidFill>
          </a:ln>
        </p:spPr>
        <p:txBody>
          <a:bodyPr rtlCol="0" anchor="ctr"/>
          <a:lstStyle/>
          <a:p>
            <a:pPr algn="ctr"/>
          </a:p>
        </p:txBody>
      </p:sp>
      <p:sp>
        <p:nvSpPr>
          <p:cNvPr id="16" name="Rectangle 15"/>
          <p:cNvSpPr/>
          <p:nvPr/>
        </p:nvSpPr>
        <p:spPr>
          <a:xfrm>
            <a:off x="7281367" y="5148072"/>
            <a:ext cx="310895" cy="237744"/>
          </a:xfrm>
          <a:prstGeom prst="rect">
            <a:avLst/>
          </a:prstGeom>
          <a:noFill/>
          <a:ln w="44450">
            <a:solidFill>
              <a:srgbClr val="1F5FAD"/>
            </a:solidFill>
          </a:ln>
        </p:spPr>
        <p:txBody>
          <a:bodyPr rtlCol="0" anchor="ctr"/>
          <a:lstStyle/>
          <a:p>
            <a:pPr algn="ctr"/>
          </a:p>
        </p:txBody>
      </p:sp>
      <p:sp>
        <p:nvSpPr>
          <p:cNvPr id="17" name="Oval 16"/>
          <p:cNvSpPr/>
          <p:nvPr/>
        </p:nvSpPr>
        <p:spPr>
          <a:xfrm>
            <a:off x="10282427" y="4392320"/>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4763218" y="409430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7513473" y="369654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609994" y="515167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247529" y="412448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TA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33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7.6. Prices and volume are invented for teaching.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2: a narrow, quiet middle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"1st bar closes near its high followed by a narrow range middle bar closing within its range on low volume. The 3rd bar closes at or near its low" (Figure 7.6, p. 213). Bar 1 closes at PHP 51.00 </a:t>
            </a:r>
            <a:r>
              <a:rPr sz="1700" b="1" i="0">
                <a:solidFill>
                  <a:srgbClr val="E09B00"/>
                </a:solidFill>
                <a:latin typeface="Arial"/>
              </a:rPr>
              <a:t>(1)</a:t>
            </a:r>
            <a:r>
              <a:rPr sz="1700" b="0" i="0">
                <a:solidFill>
                  <a:srgbClr val="1A1A1A"/>
                </a:solidFill>
                <a:latin typeface="Arial"/>
              </a:rPr>
              <a:t>; the middle bar spans PHP 0.60 inside it </a:t>
            </a:r>
            <a:r>
              <a:rPr sz="1700" b="1" i="0">
                <a:solidFill>
                  <a:srgbClr val="C62828"/>
                </a:solidFill>
                <a:latin typeface="Arial"/>
              </a:rPr>
              <a:t>(2)</a:t>
            </a:r>
            <a:r>
              <a:rPr sz="1700" b="0" i="0">
                <a:solidFill>
                  <a:srgbClr val="1A1A1A"/>
                </a:solidFill>
                <a:latin typeface="Arial"/>
              </a:rPr>
              <a:t>, on 0.8 million shares </a:t>
            </a:r>
            <a:r>
              <a:rPr sz="1700" b="1" i="0">
                <a:solidFill>
                  <a:srgbClr val="1F5FAD"/>
                </a:solidFill>
                <a:latin typeface="Arial"/>
              </a:rPr>
              <a:t>(3)</a:t>
            </a:r>
            <a:r>
              <a:rPr sz="1700" b="0" i="0">
                <a:solidFill>
                  <a:srgbClr val="1A1A1A"/>
                </a:solidFill>
                <a:latin typeface="Arial"/>
              </a:rPr>
              <a:t>; bar 3 at PHP 48.60 </a:t>
            </a:r>
            <a:r>
              <a:rPr sz="1700" b="1" i="0">
                <a:solidFill>
                  <a:srgbClr val="7B3FA0"/>
                </a:solidFill>
                <a:latin typeface="Arial"/>
              </a:rPr>
              <a:t>(4)</a:t>
            </a:r>
            <a:r>
              <a:rPr sz="1700" b="0" i="0">
                <a:solidFill>
                  <a:srgbClr val="1A1A1A"/>
                </a:solidFill>
                <a:latin typeface="Arial"/>
              </a:rPr>
              <a:t>. Our reading, not Lim's: built from two-bar form 4.</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63130" y="2395728"/>
            <a:ext cx="150898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63130" y="2395728"/>
            <a:ext cx="150898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37450" y="2670048"/>
            <a:ext cx="96034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7.6</a:t>
            </a:r>
          </a:p>
          <a:p>
            <a:pPr algn="l">
              <a:lnSpc>
                <a:spcPct val="115000"/>
              </a:lnSpc>
              <a:spcBef>
                <a:spcPts val="0"/>
              </a:spcBef>
              <a:spcAft>
                <a:spcPts val="0"/>
              </a:spcAft>
            </a:pPr>
            <a:r>
              <a:rPr sz="1500" b="0" i="0">
                <a:solidFill>
                  <a:srgbClr val="1A1A1A"/>
                </a:solidFill>
                <a:latin typeface="Palatino"/>
              </a:rPr>
              <a:t>Figure 7.6, form 2: a narrow middle bar inside the first.</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7.6,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b-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7381950" y="3507050"/>
            <a:ext cx="109727" cy="284117"/>
          </a:xfrm>
          <a:prstGeom prst="rect">
            <a:avLst/>
          </a:prstGeom>
          <a:noFill/>
          <a:ln w="44450">
            <a:solidFill>
              <a:srgbClr val="C62828"/>
            </a:solidFill>
          </a:ln>
        </p:spPr>
        <p:txBody>
          <a:bodyPr rtlCol="0" anchor="ctr"/>
          <a:lstStyle/>
          <a:p>
            <a:pPr algn="ctr"/>
          </a:p>
        </p:txBody>
      </p:sp>
      <p:sp>
        <p:nvSpPr>
          <p:cNvPr id="15" name="Oval 14"/>
          <p:cNvSpPr/>
          <p:nvPr/>
        </p:nvSpPr>
        <p:spPr>
          <a:xfrm>
            <a:off x="4814315" y="3452382"/>
            <a:ext cx="87782" cy="87782"/>
          </a:xfrm>
          <a:prstGeom prst="ellipse">
            <a:avLst/>
          </a:prstGeom>
          <a:noFill/>
          <a:ln w="44450">
            <a:solidFill>
              <a:srgbClr val="E09B00"/>
            </a:solidFill>
          </a:ln>
        </p:spPr>
        <p:txBody>
          <a:bodyPr rtlCol="0" anchor="ctr"/>
          <a:lstStyle/>
          <a:p>
            <a:pPr algn="ctr"/>
          </a:p>
        </p:txBody>
      </p:sp>
      <p:sp>
        <p:nvSpPr>
          <p:cNvPr id="16" name="Rectangle 15"/>
          <p:cNvSpPr/>
          <p:nvPr/>
        </p:nvSpPr>
        <p:spPr>
          <a:xfrm>
            <a:off x="7281367" y="5285231"/>
            <a:ext cx="310895" cy="100584"/>
          </a:xfrm>
          <a:prstGeom prst="rect">
            <a:avLst/>
          </a:prstGeom>
          <a:noFill/>
          <a:ln w="44450">
            <a:solidFill>
              <a:srgbClr val="1F5FAD"/>
            </a:solidFill>
          </a:ln>
        </p:spPr>
        <p:txBody>
          <a:bodyPr rtlCol="0" anchor="ctr"/>
          <a:lstStyle/>
          <a:p>
            <a:pPr algn="ctr"/>
          </a:p>
        </p:txBody>
      </p:sp>
      <p:sp>
        <p:nvSpPr>
          <p:cNvPr id="17" name="Oval 16"/>
          <p:cNvSpPr/>
          <p:nvPr/>
        </p:nvSpPr>
        <p:spPr>
          <a:xfrm>
            <a:off x="10282427" y="4369395"/>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7877474" y="328149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4763218" y="355556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7720279" y="520750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247529" y="410155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TB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34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7.6. Prices and volume are invented for teaching.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3: a gap up, then a close back below it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"2nd bar gaps up and closes above the gap. The 3rd bar closes below the gap" (Figure 7.6, p. 213). Bar 1 tops out at PHP 50.00 and bar 2's low is PHP 50.40, leaving a PHP 0.40 gap </a:t>
            </a:r>
            <a:r>
              <a:rPr sz="1700" b="1" i="0">
                <a:solidFill>
                  <a:srgbClr val="E09B00"/>
                </a:solidFill>
                <a:latin typeface="Arial"/>
              </a:rPr>
              <a:t>(1)</a:t>
            </a:r>
            <a:r>
              <a:rPr sz="1700" b="0" i="0">
                <a:solidFill>
                  <a:srgbClr val="1A1A1A"/>
                </a:solidFill>
                <a:latin typeface="Arial"/>
              </a:rPr>
              <a:t>; bar 2 closes above it at PHP 51.20 </a:t>
            </a:r>
            <a:r>
              <a:rPr sz="1700" b="1" i="0">
                <a:solidFill>
                  <a:srgbClr val="C62828"/>
                </a:solidFill>
                <a:latin typeface="Arial"/>
              </a:rPr>
              <a:t>(2)</a:t>
            </a:r>
            <a:r>
              <a:rPr sz="1700" b="0" i="0">
                <a:solidFill>
                  <a:srgbClr val="1A1A1A"/>
                </a:solidFill>
                <a:latin typeface="Arial"/>
              </a:rPr>
              <a:t>; bar 3 closes at PHP 49.60, below the gap </a:t>
            </a:r>
            <a:r>
              <a:rPr sz="1700" b="1" i="0">
                <a:solidFill>
                  <a:srgbClr val="1F5FAD"/>
                </a:solidFill>
                <a:latin typeface="Arial"/>
              </a:rPr>
              <a:t>(3)</a:t>
            </a:r>
            <a:r>
              <a:rPr sz="1700" b="0" i="0">
                <a:solidFill>
                  <a:srgbClr val="1A1A1A"/>
                </a:solidFill>
                <a:latin typeface="Arial"/>
              </a:rPr>
              <a:t>. Our reading, not Lim's: built from two-bar form 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187680" y="2395728"/>
            <a:ext cx="1659885"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187680" y="2395728"/>
            <a:ext cx="165988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462000" y="2670048"/>
            <a:ext cx="1111245"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7.6</a:t>
            </a:r>
          </a:p>
          <a:p>
            <a:pPr algn="l">
              <a:lnSpc>
                <a:spcPct val="115000"/>
              </a:lnSpc>
              <a:spcBef>
                <a:spcPts val="0"/>
              </a:spcBef>
              <a:spcAft>
                <a:spcPts val="0"/>
              </a:spcAft>
            </a:pPr>
            <a:r>
              <a:rPr sz="1500" b="0" i="0">
                <a:solidFill>
                  <a:srgbClr val="1A1A1A"/>
                </a:solidFill>
                <a:latin typeface="Palatino"/>
              </a:rPr>
              <a:t>Figure 7.6, form 3: a gap up, then a close below it.</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7.6,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c-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5987491" y="4024766"/>
            <a:ext cx="164591" cy="241964"/>
          </a:xfrm>
          <a:prstGeom prst="rect">
            <a:avLst/>
          </a:prstGeom>
          <a:noFill/>
          <a:ln w="44450">
            <a:solidFill>
              <a:srgbClr val="E09B00"/>
            </a:solidFill>
          </a:ln>
        </p:spPr>
        <p:txBody>
          <a:bodyPr rtlCol="0" anchor="ctr"/>
          <a:lstStyle/>
          <a:p>
            <a:pPr algn="ctr"/>
          </a:p>
        </p:txBody>
      </p:sp>
      <p:sp>
        <p:nvSpPr>
          <p:cNvPr id="15" name="Oval 14"/>
          <p:cNvSpPr/>
          <p:nvPr/>
        </p:nvSpPr>
        <p:spPr>
          <a:xfrm>
            <a:off x="7548371" y="3496946"/>
            <a:ext cx="87782" cy="87782"/>
          </a:xfrm>
          <a:prstGeom prst="ellipse">
            <a:avLst/>
          </a:prstGeom>
          <a:noFill/>
          <a:ln w="44450">
            <a:solidFill>
              <a:srgbClr val="C62828"/>
            </a:solidFill>
          </a:ln>
        </p:spPr>
        <p:txBody>
          <a:bodyPr rtlCol="0" anchor="ctr"/>
          <a:lstStyle/>
          <a:p>
            <a:pPr algn="ctr"/>
          </a:p>
        </p:txBody>
      </p:sp>
      <p:sp>
        <p:nvSpPr>
          <p:cNvPr id="16" name="Oval 15"/>
          <p:cNvSpPr/>
          <p:nvPr/>
        </p:nvSpPr>
        <p:spPr>
          <a:xfrm>
            <a:off x="10282427" y="4464804"/>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6147720" y="405086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497274" y="360012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47529" y="419696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TC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35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213, Figure 7.6. The prices are invented for teaching.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4: a single island reversal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"2nd bar gaps up on low volume. The 3rd bar gaps down and closes at or near its low. Also referred to as a single island reversal bar" (Figure 7.7, p. 214). Bar 2 gaps up PHP 0.40 </a:t>
            </a:r>
            <a:r>
              <a:rPr sz="1700" b="1" i="0">
                <a:solidFill>
                  <a:srgbClr val="E09B00"/>
                </a:solidFill>
                <a:latin typeface="Arial"/>
              </a:rPr>
              <a:t>(1)</a:t>
            </a:r>
            <a:r>
              <a:rPr sz="1700" b="0" i="0">
                <a:solidFill>
                  <a:srgbClr val="1A1A1A"/>
                </a:solidFill>
                <a:latin typeface="Arial"/>
              </a:rPr>
              <a:t> on 0.7 million shares </a:t>
            </a:r>
            <a:r>
              <a:rPr sz="1700" b="1" i="0">
                <a:solidFill>
                  <a:srgbClr val="C62828"/>
                </a:solidFill>
                <a:latin typeface="Arial"/>
              </a:rPr>
              <a:t>(2)</a:t>
            </a:r>
            <a:r>
              <a:rPr sz="1700" b="0" i="0">
                <a:solidFill>
                  <a:srgbClr val="1A1A1A"/>
                </a:solidFill>
                <a:latin typeface="Arial"/>
              </a:rPr>
              <a:t>; bar 3 gaps down PHP 0.40 below it </a:t>
            </a:r>
            <a:r>
              <a:rPr sz="1700" b="1" i="0">
                <a:solidFill>
                  <a:srgbClr val="1F5FAD"/>
                </a:solidFill>
                <a:latin typeface="Arial"/>
              </a:rPr>
              <a:t>(3)</a:t>
            </a:r>
            <a:r>
              <a:rPr sz="1700" b="0" i="0">
                <a:solidFill>
                  <a:srgbClr val="1A1A1A"/>
                </a:solidFill>
                <a:latin typeface="Arial"/>
              </a:rPr>
              <a:t> and closes at PHP 48.60 </a:t>
            </a:r>
            <a:r>
              <a:rPr sz="1700" b="1" i="0">
                <a:solidFill>
                  <a:srgbClr val="7B3FA0"/>
                </a:solidFill>
                <a:latin typeface="Arial"/>
              </a:rPr>
              <a:t>(4)</a:t>
            </a:r>
            <a:r>
              <a:rPr sz="1700" b="0" i="0">
                <a:solidFill>
                  <a:srgbClr val="1A1A1A"/>
                </a:solidFill>
                <a:latin typeface="Arial"/>
              </a:rPr>
              <a:t>. Our reading, not Lim's: built from two-bar form 3.</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93272" y="2395728"/>
            <a:ext cx="1448701"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93272" y="2395728"/>
            <a:ext cx="1448701"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67592" y="2670048"/>
            <a:ext cx="90006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7.7</a:t>
            </a:r>
          </a:p>
          <a:p>
            <a:pPr algn="l">
              <a:lnSpc>
                <a:spcPct val="115000"/>
              </a:lnSpc>
              <a:spcBef>
                <a:spcPts val="0"/>
              </a:spcBef>
              <a:spcAft>
                <a:spcPts val="0"/>
              </a:spcAft>
            </a:pPr>
            <a:r>
              <a:rPr sz="1500" b="0" i="0">
                <a:solidFill>
                  <a:srgbClr val="1A1A1A"/>
                </a:solidFill>
                <a:latin typeface="Palatino"/>
              </a:rPr>
              <a:t>Figure 7.7, form 4: a single island reversal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7.7,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d-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5987491" y="3666744"/>
            <a:ext cx="164591" cy="164591"/>
          </a:xfrm>
          <a:prstGeom prst="rect">
            <a:avLst/>
          </a:prstGeom>
          <a:noFill/>
          <a:ln w="44450">
            <a:solidFill>
              <a:srgbClr val="E09B00"/>
            </a:solidFill>
          </a:ln>
        </p:spPr>
        <p:txBody>
          <a:bodyPr rtlCol="0" anchor="ctr"/>
          <a:lstStyle/>
          <a:p>
            <a:pPr algn="ctr"/>
          </a:p>
        </p:txBody>
      </p:sp>
      <p:sp>
        <p:nvSpPr>
          <p:cNvPr id="15" name="Rectangle 14"/>
          <p:cNvSpPr/>
          <p:nvPr/>
        </p:nvSpPr>
        <p:spPr>
          <a:xfrm>
            <a:off x="7281367" y="5281715"/>
            <a:ext cx="310895" cy="104100"/>
          </a:xfrm>
          <a:prstGeom prst="rect">
            <a:avLst/>
          </a:prstGeom>
          <a:noFill/>
          <a:ln w="44450">
            <a:solidFill>
              <a:srgbClr val="C62828"/>
            </a:solidFill>
          </a:ln>
        </p:spPr>
        <p:txBody>
          <a:bodyPr rtlCol="0" anchor="ctr"/>
          <a:lstStyle/>
          <a:p>
            <a:pPr algn="ctr"/>
          </a:p>
        </p:txBody>
      </p:sp>
      <p:sp>
        <p:nvSpPr>
          <p:cNvPr id="16" name="Rectangle 15"/>
          <p:cNvSpPr/>
          <p:nvPr/>
        </p:nvSpPr>
        <p:spPr>
          <a:xfrm>
            <a:off x="8721546" y="3666744"/>
            <a:ext cx="164591" cy="164591"/>
          </a:xfrm>
          <a:prstGeom prst="rect">
            <a:avLst/>
          </a:prstGeom>
          <a:noFill/>
          <a:ln w="44450">
            <a:solidFill>
              <a:srgbClr val="1F5FAD"/>
            </a:solidFill>
          </a:ln>
        </p:spPr>
        <p:txBody>
          <a:bodyPr rtlCol="0" anchor="ctr"/>
          <a:lstStyle/>
          <a:p>
            <a:pPr algn="ctr"/>
          </a:p>
        </p:txBody>
      </p:sp>
      <p:sp>
        <p:nvSpPr>
          <p:cNvPr id="17" name="Oval 16"/>
          <p:cNvSpPr/>
          <p:nvPr/>
        </p:nvSpPr>
        <p:spPr>
          <a:xfrm>
            <a:off x="10282427" y="4363516"/>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6150151" y="372682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7720279" y="520574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8884207" y="351522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247529" y="4095677"/>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TD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36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7.7. Prices and volume are invented for teaching.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5: the third bar engulfs the second</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"2nd bar gaps up on low volume. The 3rd bar engulfs the 2nd bar and closes below the gap" (Figure 7.7, p. 214). Bar 2 gaps up above PHP 50.00 </a:t>
            </a:r>
            <a:r>
              <a:rPr sz="1700" b="1" i="0">
                <a:solidFill>
                  <a:srgbClr val="E09B00"/>
                </a:solidFill>
                <a:latin typeface="Arial"/>
              </a:rPr>
              <a:t>(1)</a:t>
            </a:r>
            <a:r>
              <a:rPr sz="1700" b="0" i="0">
                <a:solidFill>
                  <a:srgbClr val="1A1A1A"/>
                </a:solidFill>
                <a:latin typeface="Arial"/>
              </a:rPr>
              <a:t> on 0.6 million shares </a:t>
            </a:r>
            <a:r>
              <a:rPr sz="1700" b="1" i="0">
                <a:solidFill>
                  <a:srgbClr val="C62828"/>
                </a:solidFill>
                <a:latin typeface="Arial"/>
              </a:rPr>
              <a:t>(2)</a:t>
            </a:r>
            <a:r>
              <a:rPr sz="1700" b="0" i="0">
                <a:solidFill>
                  <a:srgbClr val="1A1A1A"/>
                </a:solidFill>
                <a:latin typeface="Arial"/>
              </a:rPr>
              <a:t>; bar 3 runs from PHP 49.20 to PHP 51.20, beyond both ends of bar 2 </a:t>
            </a:r>
            <a:r>
              <a:rPr sz="1700" b="1" i="0">
                <a:solidFill>
                  <a:srgbClr val="1F5FAD"/>
                </a:solidFill>
                <a:latin typeface="Arial"/>
              </a:rPr>
              <a:t>(3)</a:t>
            </a:r>
            <a:r>
              <a:rPr sz="1700" b="0" i="0">
                <a:solidFill>
                  <a:srgbClr val="1A1A1A"/>
                </a:solidFill>
                <a:latin typeface="Arial"/>
              </a:rPr>
              <a:t>, and closes at PHP 49.40 </a:t>
            </a:r>
            <a:r>
              <a:rPr sz="1700" b="1" i="0">
                <a:solidFill>
                  <a:srgbClr val="7B3FA0"/>
                </a:solidFill>
                <a:latin typeface="Arial"/>
              </a:rPr>
              <a:t>(4)</a:t>
            </a:r>
            <a:r>
              <a:rPr sz="1700" b="0" i="0">
                <a:solidFill>
                  <a:srgbClr val="1A1A1A"/>
                </a:solidFill>
                <a:latin typeface="Arial"/>
              </a:rPr>
              <a:t>. Our reading, not Lim's: built from two-bar form 6.</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359122" y="2395728"/>
            <a:ext cx="1317001"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359122" y="2395728"/>
            <a:ext cx="1317001"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633442" y="2670048"/>
            <a:ext cx="76836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7.7</a:t>
            </a:r>
          </a:p>
          <a:p>
            <a:pPr algn="l">
              <a:lnSpc>
                <a:spcPct val="115000"/>
              </a:lnSpc>
              <a:spcBef>
                <a:spcPts val="0"/>
              </a:spcBef>
              <a:spcAft>
                <a:spcPts val="0"/>
              </a:spcAft>
            </a:pPr>
            <a:r>
              <a:rPr sz="1500" b="0" i="0">
                <a:solidFill>
                  <a:srgbClr val="1A1A1A"/>
                </a:solidFill>
                <a:latin typeface="Palatino"/>
              </a:rPr>
              <a:t>Figure 7.7, form 5: a third bar engulfing the second.</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7.7,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e-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392424"/>
            <a:ext cx="109728" cy="1027453"/>
          </a:xfrm>
          <a:prstGeom prst="rect">
            <a:avLst/>
          </a:prstGeom>
          <a:noFill/>
          <a:ln w="44450">
            <a:solidFill>
              <a:srgbClr val="1F5FAD"/>
            </a:solidFill>
          </a:ln>
        </p:spPr>
        <p:txBody>
          <a:bodyPr rtlCol="0" anchor="ctr"/>
          <a:lstStyle/>
          <a:p>
            <a:pPr algn="ctr"/>
          </a:p>
        </p:txBody>
      </p:sp>
      <p:sp>
        <p:nvSpPr>
          <p:cNvPr id="15" name="Rectangle 14"/>
          <p:cNvSpPr/>
          <p:nvPr/>
        </p:nvSpPr>
        <p:spPr>
          <a:xfrm>
            <a:off x="5987491" y="3808891"/>
            <a:ext cx="164591" cy="194517"/>
          </a:xfrm>
          <a:prstGeom prst="rect">
            <a:avLst/>
          </a:prstGeom>
          <a:noFill/>
          <a:ln w="44450">
            <a:solidFill>
              <a:srgbClr val="E09B00"/>
            </a:solidFill>
          </a:ln>
        </p:spPr>
        <p:txBody>
          <a:bodyPr rtlCol="0" anchor="ctr"/>
          <a:lstStyle/>
          <a:p>
            <a:pPr algn="ctr"/>
          </a:p>
        </p:txBody>
      </p:sp>
      <p:sp>
        <p:nvSpPr>
          <p:cNvPr id="16" name="Rectangle 15"/>
          <p:cNvSpPr/>
          <p:nvPr/>
        </p:nvSpPr>
        <p:spPr>
          <a:xfrm>
            <a:off x="7281367" y="5294376"/>
            <a:ext cx="310895" cy="91439"/>
          </a:xfrm>
          <a:prstGeom prst="rect">
            <a:avLst/>
          </a:prstGeom>
          <a:noFill/>
          <a:ln w="44450">
            <a:solidFill>
              <a:srgbClr val="C62828"/>
            </a:solidFill>
          </a:ln>
        </p:spPr>
        <p:txBody>
          <a:bodyPr rtlCol="0" anchor="ctr"/>
          <a:lstStyle/>
          <a:p>
            <a:pPr algn="ctr"/>
          </a:p>
        </p:txBody>
      </p:sp>
      <p:sp>
        <p:nvSpPr>
          <p:cNvPr id="17" name="Oval 16"/>
          <p:cNvSpPr/>
          <p:nvPr/>
        </p:nvSpPr>
        <p:spPr>
          <a:xfrm>
            <a:off x="10282427" y="4251294"/>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10225734" y="377813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6141619" y="391822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7720279" y="52120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10475038" y="3890434"/>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TE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37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7.7. Prices and volume are invented for teaching.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Triple form 6: a close below the middle bar's low</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After an uptrend, Lim's label: the 2nd bar "closes at or near its high on low volume followed by a 3rd bar closing below the low of the 2nd bar (and preferably below the close of the 1st bar as well)" (Figure 7.7, p. 214). Bar 2 closes at PHP 51.30 </a:t>
            </a:r>
            <a:r>
              <a:rPr sz="1700" b="1" i="0">
                <a:solidFill>
                  <a:srgbClr val="E09B00"/>
                </a:solidFill>
                <a:latin typeface="Arial"/>
              </a:rPr>
              <a:t>(1)</a:t>
            </a:r>
            <a:r>
              <a:rPr sz="1700" b="0" i="0">
                <a:solidFill>
                  <a:srgbClr val="1A1A1A"/>
                </a:solidFill>
                <a:latin typeface="Arial"/>
              </a:rPr>
              <a:t> on 0.8 million shares </a:t>
            </a:r>
            <a:r>
              <a:rPr sz="1700" b="1" i="0">
                <a:solidFill>
                  <a:srgbClr val="C62828"/>
                </a:solidFill>
                <a:latin typeface="Arial"/>
              </a:rPr>
              <a:t>(2)</a:t>
            </a:r>
            <a:r>
              <a:rPr sz="1700" b="0" i="0">
                <a:solidFill>
                  <a:srgbClr val="1A1A1A"/>
                </a:solidFill>
                <a:latin typeface="Arial"/>
              </a:rPr>
              <a:t>; bar 3 at PHP 49.80 </a:t>
            </a:r>
            <a:r>
              <a:rPr sz="1700" b="1" i="0">
                <a:solidFill>
                  <a:srgbClr val="1F5FAD"/>
                </a:solidFill>
                <a:latin typeface="Arial"/>
              </a:rPr>
              <a:t>(3)</a:t>
            </a:r>
            <a:r>
              <a:rPr sz="1700" b="0" i="0">
                <a:solidFill>
                  <a:srgbClr val="1A1A1A"/>
                </a:solidFill>
                <a:latin typeface="Arial"/>
              </a:rPr>
              <a:t>, under bar 2's PHP 50.10 low. Our reading, not Lim's: built from two-bar form 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305549" y="2395728"/>
            <a:ext cx="1424147"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305549" y="2395728"/>
            <a:ext cx="1424147"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79869" y="2670048"/>
            <a:ext cx="87550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7.7</a:t>
            </a:r>
          </a:p>
          <a:p>
            <a:pPr algn="l">
              <a:lnSpc>
                <a:spcPct val="115000"/>
              </a:lnSpc>
              <a:spcBef>
                <a:spcPts val="0"/>
              </a:spcBef>
              <a:spcAft>
                <a:spcPts val="0"/>
              </a:spcAft>
            </a:pPr>
            <a:r>
              <a:rPr sz="1500" b="0" i="0">
                <a:solidFill>
                  <a:srgbClr val="1A1A1A"/>
                </a:solidFill>
                <a:latin typeface="Palatino"/>
              </a:rPr>
              <a:t>Figure 7.7, form 6: a close below the middle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7.7,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f-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7548371" y="3417112"/>
            <a:ext cx="87782" cy="87782"/>
          </a:xfrm>
          <a:prstGeom prst="ellipse">
            <a:avLst/>
          </a:prstGeom>
          <a:noFill/>
          <a:ln w="44450">
            <a:solidFill>
              <a:srgbClr val="E09B00"/>
            </a:solidFill>
          </a:ln>
        </p:spPr>
        <p:txBody>
          <a:bodyPr rtlCol="0" anchor="ctr"/>
          <a:lstStyle/>
          <a:p>
            <a:pPr algn="ctr"/>
          </a:p>
        </p:txBody>
      </p:sp>
      <p:sp>
        <p:nvSpPr>
          <p:cNvPr id="15" name="Rectangle 14"/>
          <p:cNvSpPr/>
          <p:nvPr/>
        </p:nvSpPr>
        <p:spPr>
          <a:xfrm>
            <a:off x="7281367" y="5278700"/>
            <a:ext cx="310895" cy="107115"/>
          </a:xfrm>
          <a:prstGeom prst="rect">
            <a:avLst/>
          </a:prstGeom>
          <a:noFill/>
          <a:ln w="44450">
            <a:solidFill>
              <a:srgbClr val="C62828"/>
            </a:solidFill>
          </a:ln>
        </p:spPr>
        <p:txBody>
          <a:bodyPr rtlCol="0" anchor="ctr"/>
          <a:lstStyle/>
          <a:p>
            <a:pPr algn="ctr"/>
          </a:p>
        </p:txBody>
      </p:sp>
      <p:sp>
        <p:nvSpPr>
          <p:cNvPr id="16" name="Oval 15"/>
          <p:cNvSpPr/>
          <p:nvPr/>
        </p:nvSpPr>
        <p:spPr>
          <a:xfrm>
            <a:off x="10282427" y="4034332"/>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7497274" y="352029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701991" y="520424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47529" y="376649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TF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38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7.7. Prices and volume are invented for teaching.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Bearish triple bar patterns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Lim say larger gaps do to a triple bearish pattern?</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Make it a continuation pattern</a:t>
            </a:r>
          </a:p>
          <a:p>
            <a:pPr algn="l">
              <a:lnSpc>
                <a:spcPct val="112000"/>
              </a:lnSpc>
              <a:spcBef>
                <a:spcPts val="0"/>
              </a:spcBef>
              <a:spcAft>
                <a:spcPts val="900"/>
              </a:spcAft>
            </a:pPr>
            <a:r>
              <a:rPr sz="1700" b="0" i="0">
                <a:solidFill>
                  <a:srgbClr val="FFFFFF"/>
                </a:solidFill>
                <a:latin typeface="Arial"/>
              </a:rPr>
              <a:t>B.  Make no difference</a:t>
            </a:r>
          </a:p>
          <a:p>
            <a:pPr algn="l">
              <a:lnSpc>
                <a:spcPct val="112000"/>
              </a:lnSpc>
              <a:spcBef>
                <a:spcPts val="0"/>
              </a:spcBef>
              <a:spcAft>
                <a:spcPts val="900"/>
              </a:spcAft>
            </a:pPr>
            <a:r>
              <a:rPr sz="1700" b="0" i="0">
                <a:solidFill>
                  <a:srgbClr val="FFFFFF"/>
                </a:solidFill>
                <a:latin typeface="Arial"/>
              </a:rPr>
              <a:t>C.  Make it more bearish once complete</a:t>
            </a:r>
          </a:p>
          <a:p>
            <a:pPr algn="l">
              <a:lnSpc>
                <a:spcPct val="112000"/>
              </a:lnSpc>
              <a:spcBef>
                <a:spcPts val="0"/>
              </a:spcBef>
              <a:spcAft>
                <a:spcPts val="900"/>
              </a:spcAft>
            </a:pPr>
            <a:r>
              <a:rPr sz="1700" b="0" i="0">
                <a:solidFill>
                  <a:srgbClr val="FFFFFF"/>
                </a:solidFill>
                <a:latin typeface="Arial"/>
              </a:rPr>
              <a:t>D.  Make the middle bar quieter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which triple pattern can larger middle-bar volume count as more bearish?</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Pattern 1</a:t>
            </a:r>
          </a:p>
          <a:p>
            <a:pPr algn="l">
              <a:lnSpc>
                <a:spcPct val="112000"/>
              </a:lnSpc>
              <a:spcBef>
                <a:spcPts val="0"/>
              </a:spcBef>
              <a:spcAft>
                <a:spcPts val="900"/>
              </a:spcAft>
            </a:pPr>
            <a:r>
              <a:rPr sz="1700" b="0" i="0">
                <a:solidFill>
                  <a:srgbClr val="FFFFFF"/>
                </a:solidFill>
                <a:latin typeface="Arial"/>
              </a:rPr>
              <a:t>B.  Pattern 2</a:t>
            </a:r>
          </a:p>
          <a:p>
            <a:pPr algn="l">
              <a:lnSpc>
                <a:spcPct val="112000"/>
              </a:lnSpc>
              <a:spcBef>
                <a:spcPts val="0"/>
              </a:spcBef>
              <a:spcAft>
                <a:spcPts val="900"/>
              </a:spcAft>
            </a:pPr>
            <a:r>
              <a:rPr sz="1700" b="0" i="0">
                <a:solidFill>
                  <a:srgbClr val="FFFFFF"/>
                </a:solidFill>
                <a:latin typeface="Arial"/>
              </a:rPr>
              <a:t>C.  Pattern 4</a:t>
            </a:r>
          </a:p>
          <a:p>
            <a:pPr algn="l">
              <a:lnSpc>
                <a:spcPct val="112000"/>
              </a:lnSpc>
              <a:spcBef>
                <a:spcPts val="0"/>
              </a:spcBef>
              <a:spcAft>
                <a:spcPts val="900"/>
              </a:spcAft>
            </a:pPr>
            <a:r>
              <a:rPr sz="1700" b="0" i="0">
                <a:solidFill>
                  <a:srgbClr val="FFFFFF"/>
                </a:solidFill>
                <a:latin typeface="Arial"/>
              </a:rPr>
              <a:t>D.  None of them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Bearish triple bar patterns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Lim say larger gaps do to a triple bearish pattern?</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Make it more bearish once complete</a:t>
            </a:r>
          </a:p>
          <a:p>
            <a:pPr algn="l">
              <a:lnSpc>
                <a:spcPct val="115000"/>
              </a:lnSpc>
              <a:spcBef>
                <a:spcPts val="700"/>
              </a:spcBef>
              <a:spcAft>
                <a:spcPts val="0"/>
              </a:spcAft>
            </a:pPr>
            <a:r>
              <a:rPr sz="1700" b="0" i="0">
                <a:solidFill>
                  <a:srgbClr val="1A1A1A"/>
                </a:solidFill>
                <a:latin typeface="Arial"/>
              </a:rPr>
              <a:t>The larger the gaps, the more bearish the pattern upon completion (p. 213).</a:t>
            </a:r>
          </a:p>
        </p:txBody>
      </p:sp>
      <p:sp>
        <p:nvSpPr>
          <p:cNvPr id="10" name="Rectangle 9"/>
          <p:cNvSpPr/>
          <p:nvPr/>
        </p:nvSpPr>
        <p:spPr>
          <a:xfrm>
            <a:off x="777240" y="3082036"/>
            <a:ext cx="10637215" cy="18764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7642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In which triple pattern can larger middle-bar volume count as more bearish?</a:t>
            </a:r>
          </a:p>
        </p:txBody>
      </p:sp>
      <p:sp>
        <p:nvSpPr>
          <p:cNvPr id="13" name="TextBox 12"/>
          <p:cNvSpPr txBox="1"/>
          <p:nvPr/>
        </p:nvSpPr>
        <p:spPr>
          <a:xfrm>
            <a:off x="1143000" y="3824096"/>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Pattern 1</a:t>
            </a:r>
          </a:p>
          <a:p>
            <a:pPr algn="l">
              <a:lnSpc>
                <a:spcPct val="115000"/>
              </a:lnSpc>
              <a:spcBef>
                <a:spcPts val="700"/>
              </a:spcBef>
              <a:spcAft>
                <a:spcPts val="0"/>
              </a:spcAft>
            </a:pPr>
            <a:r>
              <a:rPr sz="1700" b="0" i="0">
                <a:solidFill>
                  <a:srgbClr val="1A1A1A"/>
                </a:solidFill>
                <a:latin typeface="Arial"/>
              </a:rPr>
              <a:t>The middle bar usually trades on low volume, except possibly in pattern 1, where larger volume is also considered more bearish (p. 213).</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bullish triple forms mirror them in a downtrend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39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draws six basic triple bar bullish reversal patterns in a downtrend (p. 214).</a:t>
            </a:r>
          </a:p>
          <a:p>
            <a:pPr algn="l">
              <a:lnSpc>
                <a:spcPct val="118000"/>
              </a:lnSpc>
              <a:spcBef>
                <a:spcPts val="0"/>
              </a:spcBef>
              <a:spcAft>
                <a:spcPts val="1300"/>
              </a:spcAft>
            </a:pPr>
            <a:r>
              <a:rPr sz="2100" b="0" i="0">
                <a:solidFill>
                  <a:srgbClr val="1A1A1A"/>
                </a:solidFill>
                <a:latin typeface="Arial"/>
              </a:rPr>
              <a:t>Lim's reliability rule turns around: a bullish three-bar pattern is potentially more reliable if the last bar is overextended (unusually long compared with the bars before it) and closes at or near its high on high volume (p. 214).</a:t>
            </a:r>
          </a:p>
          <a:p>
            <a:pPr algn="l">
              <a:lnSpc>
                <a:spcPct val="118000"/>
              </a:lnSpc>
              <a:spcBef>
                <a:spcPts val="0"/>
              </a:spcBef>
              <a:spcAft>
                <a:spcPts val="1300"/>
              </a:spcAft>
            </a:pPr>
            <a:r>
              <a:rPr sz="2100" b="0" i="0">
                <a:solidFill>
                  <a:srgbClr val="1A1A1A"/>
                </a:solidFill>
                <a:latin typeface="Arial"/>
              </a:rPr>
              <a:t>Our six charts are the bearish ones turned upside down about PHP 45, so a close at PHP 50.50 becomes PHP 39.50.</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The prices are invented for teaching.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1: a large middle bar that closes near its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"1st bar closes near its low followed by a large middle bar closing near its high. The 3rd bar closes at or near its high" (Figure 7.8, p. 214). Bar 1 closes at PHP 39.50, near its low </a:t>
            </a:r>
            <a:r>
              <a:rPr sz="1700" b="1" i="0">
                <a:solidFill>
                  <a:srgbClr val="E09B00"/>
                </a:solidFill>
                <a:latin typeface="Arial"/>
              </a:rPr>
              <a:t>(1)</a:t>
            </a:r>
            <a:r>
              <a:rPr sz="1700" b="0" i="0">
                <a:solidFill>
                  <a:srgbClr val="1A1A1A"/>
                </a:solidFill>
                <a:latin typeface="Arial"/>
              </a:rPr>
              <a:t>; the large middle bar closes at PHP 39.40, near its high </a:t>
            </a:r>
            <a:r>
              <a:rPr sz="1700" b="1" i="0">
                <a:solidFill>
                  <a:srgbClr val="C62828"/>
                </a:solidFill>
                <a:latin typeface="Arial"/>
              </a:rPr>
              <a:t>(2)</a:t>
            </a:r>
            <a:r>
              <a:rPr sz="1700" b="0" i="0">
                <a:solidFill>
                  <a:srgbClr val="1A1A1A"/>
                </a:solidFill>
                <a:latin typeface="Arial"/>
              </a:rPr>
              <a:t>; bar 3 closes at PHP 41.00 </a:t>
            </a:r>
            <a:r>
              <a:rPr sz="1700" b="1" i="0">
                <a:solidFill>
                  <a:srgbClr val="1F5FAD"/>
                </a:solidFill>
                <a:latin typeface="Arial"/>
              </a:rPr>
              <a:t>(3)</a:t>
            </a:r>
            <a:r>
              <a:rPr sz="1700" b="0" i="0">
                <a:solidFill>
                  <a:srgbClr val="1A1A1A"/>
                </a:solidFill>
                <a:latin typeface="Arial"/>
              </a:rPr>
              <a:t>. Our reading, not Lim's: new, not built from a two-bar form.</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97653" y="2395728"/>
            <a:ext cx="1439939"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97653" y="2395728"/>
            <a:ext cx="1439939"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71973" y="2670048"/>
            <a:ext cx="89129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7.8</a:t>
            </a:r>
          </a:p>
          <a:p>
            <a:pPr algn="l">
              <a:lnSpc>
                <a:spcPct val="115000"/>
              </a:lnSpc>
              <a:spcBef>
                <a:spcPts val="0"/>
              </a:spcBef>
              <a:spcAft>
                <a:spcPts val="0"/>
              </a:spcAft>
            </a:pPr>
            <a:r>
              <a:rPr sz="1500" b="0" i="0">
                <a:solidFill>
                  <a:srgbClr val="1A1A1A"/>
                </a:solidFill>
                <a:latin typeface="Palatino"/>
              </a:rPr>
              <a:t>Figure 7.8, form 1: three bars with a large middle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7.8,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g-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4814315" y="4044391"/>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7548371" y="4083710"/>
            <a:ext cx="87782" cy="87782"/>
          </a:xfrm>
          <a:prstGeom prst="ellipse">
            <a:avLst/>
          </a:prstGeom>
          <a:noFill/>
          <a:ln w="44450">
            <a:solidFill>
              <a:srgbClr val="C62828"/>
            </a:solidFill>
          </a:ln>
        </p:spPr>
        <p:txBody>
          <a:bodyPr rtlCol="0" anchor="ctr"/>
          <a:lstStyle/>
          <a:p>
            <a:pPr algn="ctr"/>
          </a:p>
        </p:txBody>
      </p:sp>
      <p:sp>
        <p:nvSpPr>
          <p:cNvPr id="16" name="Oval 15"/>
          <p:cNvSpPr/>
          <p:nvPr/>
        </p:nvSpPr>
        <p:spPr>
          <a:xfrm>
            <a:off x="10282427" y="3454603"/>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4779417" y="377655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497274" y="418689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55778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TG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40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7.8. The prices are invented for teaching.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2: a narrow, quiet middle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"1st bar closes near its low followed by a narrow range middle bar closing within its range on low volume. The 3rd bar closes at or near its high" (Figure 7.8, p. 214). Bar 1 closes at PHP 39.00 </a:t>
            </a:r>
            <a:r>
              <a:rPr sz="1700" b="1" i="0">
                <a:solidFill>
                  <a:srgbClr val="E09B00"/>
                </a:solidFill>
                <a:latin typeface="Arial"/>
              </a:rPr>
              <a:t>(1)</a:t>
            </a:r>
            <a:r>
              <a:rPr sz="1700" b="0" i="0">
                <a:solidFill>
                  <a:srgbClr val="1A1A1A"/>
                </a:solidFill>
                <a:latin typeface="Arial"/>
              </a:rPr>
              <a:t>; the middle bar spans PHP 0.60 inside it </a:t>
            </a:r>
            <a:r>
              <a:rPr sz="1700" b="1" i="0">
                <a:solidFill>
                  <a:srgbClr val="C62828"/>
                </a:solidFill>
                <a:latin typeface="Arial"/>
              </a:rPr>
              <a:t>(2)</a:t>
            </a:r>
            <a:r>
              <a:rPr sz="1700" b="0" i="0">
                <a:solidFill>
                  <a:srgbClr val="1A1A1A"/>
                </a:solidFill>
                <a:latin typeface="Arial"/>
              </a:rPr>
              <a:t>, on 0.8 million shares </a:t>
            </a:r>
            <a:r>
              <a:rPr sz="1700" b="1" i="0">
                <a:solidFill>
                  <a:srgbClr val="1F5FAD"/>
                </a:solidFill>
                <a:latin typeface="Arial"/>
              </a:rPr>
              <a:t>(3)</a:t>
            </a:r>
            <a:r>
              <a:rPr sz="1700" b="0" i="0">
                <a:solidFill>
                  <a:srgbClr val="1A1A1A"/>
                </a:solidFill>
                <a:latin typeface="Arial"/>
              </a:rPr>
              <a:t>; bar 3 at PHP 41.40 </a:t>
            </a:r>
            <a:r>
              <a:rPr sz="1700" b="1" i="0">
                <a:solidFill>
                  <a:srgbClr val="7B3FA0"/>
                </a:solidFill>
                <a:latin typeface="Arial"/>
              </a:rPr>
              <a:t>(4)</a:t>
            </a:r>
            <a:r>
              <a:rPr sz="1700" b="0" i="0">
                <a:solidFill>
                  <a:srgbClr val="1A1A1A"/>
                </a:solidFill>
                <a:latin typeface="Arial"/>
              </a:rPr>
              <a:t>. Our reading, not Lim's: built from bullish two-bar form 4.</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69603" y="2395728"/>
            <a:ext cx="1496040"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69603" y="2395728"/>
            <a:ext cx="1496040"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43923" y="2670048"/>
            <a:ext cx="947400"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7.8</a:t>
            </a:r>
          </a:p>
          <a:p>
            <a:pPr algn="l">
              <a:lnSpc>
                <a:spcPct val="115000"/>
              </a:lnSpc>
              <a:spcBef>
                <a:spcPts val="0"/>
              </a:spcBef>
              <a:spcAft>
                <a:spcPts val="0"/>
              </a:spcAft>
            </a:pPr>
            <a:r>
              <a:rPr sz="1500" b="0" i="0">
                <a:solidFill>
                  <a:srgbClr val="1A1A1A"/>
                </a:solidFill>
                <a:latin typeface="Palatino"/>
              </a:rPr>
              <a:t>Figure 7.8, form 2: a narrow middle bar inside the first.</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7.8,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h-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7381950" y="4118392"/>
            <a:ext cx="109727" cy="284117"/>
          </a:xfrm>
          <a:prstGeom prst="rect">
            <a:avLst/>
          </a:prstGeom>
          <a:noFill/>
          <a:ln w="44450">
            <a:solidFill>
              <a:srgbClr val="C62828"/>
            </a:solidFill>
          </a:ln>
        </p:spPr>
        <p:txBody>
          <a:bodyPr rtlCol="0" anchor="ctr"/>
          <a:lstStyle/>
          <a:p>
            <a:pPr algn="ctr"/>
          </a:p>
        </p:txBody>
      </p:sp>
      <p:sp>
        <p:nvSpPr>
          <p:cNvPr id="15" name="Oval 14"/>
          <p:cNvSpPr/>
          <p:nvPr/>
        </p:nvSpPr>
        <p:spPr>
          <a:xfrm>
            <a:off x="4814315" y="4369395"/>
            <a:ext cx="87782" cy="87782"/>
          </a:xfrm>
          <a:prstGeom prst="ellipse">
            <a:avLst/>
          </a:prstGeom>
          <a:noFill/>
          <a:ln w="44450">
            <a:solidFill>
              <a:srgbClr val="E09B00"/>
            </a:solidFill>
          </a:ln>
        </p:spPr>
        <p:txBody>
          <a:bodyPr rtlCol="0" anchor="ctr"/>
          <a:lstStyle/>
          <a:p>
            <a:pPr algn="ctr"/>
          </a:p>
        </p:txBody>
      </p:sp>
      <p:sp>
        <p:nvSpPr>
          <p:cNvPr id="16" name="Rectangle 15"/>
          <p:cNvSpPr/>
          <p:nvPr/>
        </p:nvSpPr>
        <p:spPr>
          <a:xfrm>
            <a:off x="7281367" y="5285231"/>
            <a:ext cx="310895" cy="100584"/>
          </a:xfrm>
          <a:prstGeom prst="rect">
            <a:avLst/>
          </a:prstGeom>
          <a:noFill/>
          <a:ln w="44450">
            <a:solidFill>
              <a:srgbClr val="1F5FAD"/>
            </a:solidFill>
          </a:ln>
        </p:spPr>
        <p:txBody>
          <a:bodyPr rtlCol="0" anchor="ctr"/>
          <a:lstStyle/>
          <a:p>
            <a:pPr algn="ctr"/>
          </a:p>
        </p:txBody>
      </p:sp>
      <p:sp>
        <p:nvSpPr>
          <p:cNvPr id="17" name="Oval 16"/>
          <p:cNvSpPr/>
          <p:nvPr/>
        </p:nvSpPr>
        <p:spPr>
          <a:xfrm>
            <a:off x="10282427" y="3452382"/>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7838799" y="440675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4779417" y="410155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7720279" y="520750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231330" y="355556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TH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41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7.8. Prices and volume are invented for teaching.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3: a gap down, then a close back above it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"2nd bar gaps down and closes below the gap. The 3rd bar closes above the gap" (Figure 7.8, p. 214). Bar 1's low is PHP 40.00 and bar 2's high only PHP 39.60, leaving a PHP 0.40 gap </a:t>
            </a:r>
            <a:r>
              <a:rPr sz="1700" b="1" i="0">
                <a:solidFill>
                  <a:srgbClr val="E09B00"/>
                </a:solidFill>
                <a:latin typeface="Arial"/>
              </a:rPr>
              <a:t>(1)</a:t>
            </a:r>
            <a:r>
              <a:rPr sz="1700" b="0" i="0">
                <a:solidFill>
                  <a:srgbClr val="1A1A1A"/>
                </a:solidFill>
                <a:latin typeface="Arial"/>
              </a:rPr>
              <a:t>; bar 2 closes below it at PHP 38.80 </a:t>
            </a:r>
            <a:r>
              <a:rPr sz="1700" b="1" i="0">
                <a:solidFill>
                  <a:srgbClr val="C62828"/>
                </a:solidFill>
                <a:latin typeface="Arial"/>
              </a:rPr>
              <a:t>(2)</a:t>
            </a:r>
            <a:r>
              <a:rPr sz="1700" b="0" i="0">
                <a:solidFill>
                  <a:srgbClr val="1A1A1A"/>
                </a:solidFill>
                <a:latin typeface="Arial"/>
              </a:rPr>
              <a:t>; bar 3 closes at PHP 40.40, above the gap </a:t>
            </a:r>
            <a:r>
              <a:rPr sz="1700" b="1" i="0">
                <a:solidFill>
                  <a:srgbClr val="1F5FAD"/>
                </a:solidFill>
                <a:latin typeface="Arial"/>
              </a:rPr>
              <a:t>(3)</a:t>
            </a:r>
            <a:r>
              <a:rPr sz="1700" b="0" i="0">
                <a:solidFill>
                  <a:srgbClr val="1A1A1A"/>
                </a:solidFill>
                <a:latin typeface="Arial"/>
              </a:rPr>
              <a:t>. Our reading, not Lim's: built from bullish two-bar form 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23174" y="2395728"/>
            <a:ext cx="1588898"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23174" y="2395728"/>
            <a:ext cx="1588898"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497494" y="2670048"/>
            <a:ext cx="1040258"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7.8</a:t>
            </a:r>
          </a:p>
          <a:p>
            <a:pPr algn="l">
              <a:lnSpc>
                <a:spcPct val="115000"/>
              </a:lnSpc>
              <a:spcBef>
                <a:spcPts val="0"/>
              </a:spcBef>
              <a:spcAft>
                <a:spcPts val="0"/>
              </a:spcAft>
            </a:pPr>
            <a:r>
              <a:rPr sz="1500" b="0" i="0">
                <a:solidFill>
                  <a:srgbClr val="1A1A1A"/>
                </a:solidFill>
                <a:latin typeface="Palatino"/>
              </a:rPr>
              <a:t>Figure 7.8, form 3: a gap down, then a close above it.</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7.8,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i-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5987491" y="4145748"/>
            <a:ext cx="164591" cy="241964"/>
          </a:xfrm>
          <a:prstGeom prst="rect">
            <a:avLst/>
          </a:prstGeom>
          <a:noFill/>
          <a:ln w="44450">
            <a:solidFill>
              <a:srgbClr val="E09B00"/>
            </a:solidFill>
          </a:ln>
        </p:spPr>
        <p:txBody>
          <a:bodyPr rtlCol="0" anchor="ctr"/>
          <a:lstStyle/>
          <a:p>
            <a:pPr algn="ctr"/>
          </a:p>
        </p:txBody>
      </p:sp>
      <p:sp>
        <p:nvSpPr>
          <p:cNvPr id="15" name="Oval 14"/>
          <p:cNvSpPr/>
          <p:nvPr/>
        </p:nvSpPr>
        <p:spPr>
          <a:xfrm>
            <a:off x="7548371" y="4827750"/>
            <a:ext cx="87782" cy="87782"/>
          </a:xfrm>
          <a:prstGeom prst="ellipse">
            <a:avLst/>
          </a:prstGeom>
          <a:noFill/>
          <a:ln w="44450">
            <a:solidFill>
              <a:srgbClr val="C62828"/>
            </a:solidFill>
          </a:ln>
        </p:spPr>
        <p:txBody>
          <a:bodyPr rtlCol="0" anchor="ctr"/>
          <a:lstStyle/>
          <a:p>
            <a:pPr algn="ctr"/>
          </a:p>
        </p:txBody>
      </p:sp>
      <p:sp>
        <p:nvSpPr>
          <p:cNvPr id="16" name="Oval 15"/>
          <p:cNvSpPr/>
          <p:nvPr/>
        </p:nvSpPr>
        <p:spPr>
          <a:xfrm>
            <a:off x="10282427" y="3859893"/>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6147720" y="410558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513473" y="455991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96307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TI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42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214, Figure 7.8. The prices are invented for teaching.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4: a single island reversal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"2nd bar gaps down on low volume. The 3rd bar gaps up and closes at or near its high. Also referred to as a single island reversal bar" (Figure 7.9, p. 215). Bar 2 gaps down PHP 0.40 </a:t>
            </a:r>
            <a:r>
              <a:rPr sz="1700" b="1" i="0">
                <a:solidFill>
                  <a:srgbClr val="E09B00"/>
                </a:solidFill>
                <a:latin typeface="Arial"/>
              </a:rPr>
              <a:t>(1)</a:t>
            </a:r>
            <a:r>
              <a:rPr sz="1700" b="0" i="0">
                <a:solidFill>
                  <a:srgbClr val="1A1A1A"/>
                </a:solidFill>
                <a:latin typeface="Arial"/>
              </a:rPr>
              <a:t> on 0.7 million shares </a:t>
            </a:r>
            <a:r>
              <a:rPr sz="1700" b="1" i="0">
                <a:solidFill>
                  <a:srgbClr val="C62828"/>
                </a:solidFill>
                <a:latin typeface="Arial"/>
              </a:rPr>
              <a:t>(2)</a:t>
            </a:r>
            <a:r>
              <a:rPr sz="1700" b="0" i="0">
                <a:solidFill>
                  <a:srgbClr val="1A1A1A"/>
                </a:solidFill>
                <a:latin typeface="Arial"/>
              </a:rPr>
              <a:t>; bar 3 gaps up PHP 0.40 above it </a:t>
            </a:r>
            <a:r>
              <a:rPr sz="1700" b="1" i="0">
                <a:solidFill>
                  <a:srgbClr val="1F5FAD"/>
                </a:solidFill>
                <a:latin typeface="Arial"/>
              </a:rPr>
              <a:t>(3)</a:t>
            </a:r>
            <a:r>
              <a:rPr sz="1700" b="0" i="0">
                <a:solidFill>
                  <a:srgbClr val="1A1A1A"/>
                </a:solidFill>
                <a:latin typeface="Arial"/>
              </a:rPr>
              <a:t> and closes at PHP 41.40 </a:t>
            </a:r>
            <a:r>
              <a:rPr sz="1700" b="1" i="0">
                <a:solidFill>
                  <a:srgbClr val="7B3FA0"/>
                </a:solidFill>
                <a:latin typeface="Arial"/>
              </a:rPr>
              <a:t>(4)</a:t>
            </a:r>
            <a:r>
              <a:rPr sz="1700" b="0" i="0">
                <a:solidFill>
                  <a:srgbClr val="1A1A1A"/>
                </a:solidFill>
                <a:latin typeface="Arial"/>
              </a:rPr>
              <a:t>. Our reading, not Lim's: built from bullish two-bar form 3.</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69655" y="2395728"/>
            <a:ext cx="1495936"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69655" y="2395728"/>
            <a:ext cx="149593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43975" y="2670048"/>
            <a:ext cx="94729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7.9</a:t>
            </a:r>
          </a:p>
          <a:p>
            <a:pPr algn="l">
              <a:lnSpc>
                <a:spcPct val="115000"/>
              </a:lnSpc>
              <a:spcBef>
                <a:spcPts val="0"/>
              </a:spcBef>
              <a:spcAft>
                <a:spcPts val="0"/>
              </a:spcAft>
            </a:pPr>
            <a:r>
              <a:rPr sz="1500" b="0" i="0">
                <a:solidFill>
                  <a:srgbClr val="1A1A1A"/>
                </a:solidFill>
                <a:latin typeface="Palatino"/>
              </a:rPr>
              <a:t>Figure 7.9, form 4: a single island reversal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7.9,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j-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5987491" y="4078224"/>
            <a:ext cx="164591" cy="164591"/>
          </a:xfrm>
          <a:prstGeom prst="rect">
            <a:avLst/>
          </a:prstGeom>
          <a:noFill/>
          <a:ln w="44450">
            <a:solidFill>
              <a:srgbClr val="E09B00"/>
            </a:solidFill>
          </a:ln>
        </p:spPr>
        <p:txBody>
          <a:bodyPr rtlCol="0" anchor="ctr"/>
          <a:lstStyle/>
          <a:p>
            <a:pPr algn="ctr"/>
          </a:p>
        </p:txBody>
      </p:sp>
      <p:sp>
        <p:nvSpPr>
          <p:cNvPr id="15" name="Rectangle 14"/>
          <p:cNvSpPr/>
          <p:nvPr/>
        </p:nvSpPr>
        <p:spPr>
          <a:xfrm>
            <a:off x="7281367" y="5281715"/>
            <a:ext cx="310895" cy="104100"/>
          </a:xfrm>
          <a:prstGeom prst="rect">
            <a:avLst/>
          </a:prstGeom>
          <a:noFill/>
          <a:ln w="44450">
            <a:solidFill>
              <a:srgbClr val="C62828"/>
            </a:solidFill>
          </a:ln>
        </p:spPr>
        <p:txBody>
          <a:bodyPr rtlCol="0" anchor="ctr"/>
          <a:lstStyle/>
          <a:p>
            <a:pPr algn="ctr"/>
          </a:p>
        </p:txBody>
      </p:sp>
      <p:sp>
        <p:nvSpPr>
          <p:cNvPr id="16" name="Rectangle 15"/>
          <p:cNvSpPr/>
          <p:nvPr/>
        </p:nvSpPr>
        <p:spPr>
          <a:xfrm>
            <a:off x="8721546" y="4078224"/>
            <a:ext cx="164591" cy="164591"/>
          </a:xfrm>
          <a:prstGeom prst="rect">
            <a:avLst/>
          </a:prstGeom>
          <a:noFill/>
          <a:ln w="44450">
            <a:solidFill>
              <a:srgbClr val="1F5FAD"/>
            </a:solidFill>
          </a:ln>
        </p:spPr>
        <p:txBody>
          <a:bodyPr rtlCol="0" anchor="ctr"/>
          <a:lstStyle/>
          <a:p>
            <a:pPr algn="ctr"/>
          </a:p>
        </p:txBody>
      </p:sp>
      <p:sp>
        <p:nvSpPr>
          <p:cNvPr id="17" name="Oval 16"/>
          <p:cNvSpPr/>
          <p:nvPr/>
        </p:nvSpPr>
        <p:spPr>
          <a:xfrm>
            <a:off x="10282427" y="3458260"/>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6150151" y="392670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7720279" y="520574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8884207" y="4138301"/>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231330" y="3561441"/>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TJ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43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7.9. Prices and volume are invented for teaching.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5: the third bar engulfs the second</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"2nd bar gaps down on low volume. The 3rd bar engulfs the 2nd bar and closes above the gap" (Figure 7.9, p. 215). Bar 2 gaps down below PHP 40.00 </a:t>
            </a:r>
            <a:r>
              <a:rPr sz="1700" b="1" i="0">
                <a:solidFill>
                  <a:srgbClr val="E09B00"/>
                </a:solidFill>
                <a:latin typeface="Arial"/>
              </a:rPr>
              <a:t>(1)</a:t>
            </a:r>
            <a:r>
              <a:rPr sz="1700" b="0" i="0">
                <a:solidFill>
                  <a:srgbClr val="1A1A1A"/>
                </a:solidFill>
                <a:latin typeface="Arial"/>
              </a:rPr>
              <a:t> on 0.6 million shares </a:t>
            </a:r>
            <a:r>
              <a:rPr sz="1700" b="1" i="0">
                <a:solidFill>
                  <a:srgbClr val="C62828"/>
                </a:solidFill>
                <a:latin typeface="Arial"/>
              </a:rPr>
              <a:t>(2)</a:t>
            </a:r>
            <a:r>
              <a:rPr sz="1700" b="0" i="0">
                <a:solidFill>
                  <a:srgbClr val="1A1A1A"/>
                </a:solidFill>
                <a:latin typeface="Arial"/>
              </a:rPr>
              <a:t>; bar 3 runs from PHP 38.80 to PHP 40.80, beyond both ends of bar 2 </a:t>
            </a:r>
            <a:r>
              <a:rPr sz="1700" b="1" i="0">
                <a:solidFill>
                  <a:srgbClr val="1F5FAD"/>
                </a:solidFill>
                <a:latin typeface="Arial"/>
              </a:rPr>
              <a:t>(3)</a:t>
            </a:r>
            <a:r>
              <a:rPr sz="1700" b="0" i="0">
                <a:solidFill>
                  <a:srgbClr val="1A1A1A"/>
                </a:solidFill>
                <a:latin typeface="Arial"/>
              </a:rPr>
              <a:t>, and closes at PHP 40.60 </a:t>
            </a:r>
            <a:r>
              <a:rPr sz="1700" b="1" i="0">
                <a:solidFill>
                  <a:srgbClr val="7B3FA0"/>
                </a:solidFill>
                <a:latin typeface="Arial"/>
              </a:rPr>
              <a:t>(4)</a:t>
            </a:r>
            <a:r>
              <a:rPr sz="1700" b="0" i="0">
                <a:solidFill>
                  <a:srgbClr val="1A1A1A"/>
                </a:solidFill>
                <a:latin typeface="Arial"/>
              </a:rPr>
              <a:t>. Our reading, not Lim's: built from bullish two-bar form 6.</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316403" y="2395728"/>
            <a:ext cx="1402440"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316403" y="2395728"/>
            <a:ext cx="1402440"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90723" y="2670048"/>
            <a:ext cx="853800"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7.9</a:t>
            </a:r>
          </a:p>
          <a:p>
            <a:pPr algn="l">
              <a:lnSpc>
                <a:spcPct val="115000"/>
              </a:lnSpc>
              <a:spcBef>
                <a:spcPts val="0"/>
              </a:spcBef>
              <a:spcAft>
                <a:spcPts val="0"/>
              </a:spcAft>
            </a:pPr>
            <a:r>
              <a:rPr sz="1500" b="0" i="0">
                <a:solidFill>
                  <a:srgbClr val="1A1A1A"/>
                </a:solidFill>
                <a:latin typeface="Palatino"/>
              </a:rPr>
              <a:t>Figure 7.9, form 5: a third bar engulfing the second.</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7.9,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k-0.png"/>
          <p:cNvPicPr>
            <a:picLocks noChangeAspect="1"/>
          </p:cNvPicPr>
          <p:nvPr/>
        </p:nvPicPr>
        <p:blipFill>
          <a:blip r:embed="rId2"/>
          <a:stretch>
            <a:fillRect/>
          </a:stretch>
        </p:blipFill>
        <p:spPr>
          <a:xfrm>
            <a:off x="3459174" y="2395728"/>
            <a:ext cx="7955279" cy="3511296"/>
          </a:xfrm>
          <a:prstGeom prst="rect">
            <a:avLst/>
          </a:prstGeom>
        </p:spPr>
      </p:pic>
      <p:sp>
        <p:nvSpPr>
          <p:cNvPr id="14" name="Rectangle 13"/>
          <p:cNvSpPr/>
          <p:nvPr/>
        </p:nvSpPr>
        <p:spPr>
          <a:xfrm>
            <a:off x="10116006" y="3489682"/>
            <a:ext cx="109728" cy="1027453"/>
          </a:xfrm>
          <a:prstGeom prst="rect">
            <a:avLst/>
          </a:prstGeom>
          <a:noFill/>
          <a:ln w="44450">
            <a:solidFill>
              <a:srgbClr val="1F5FAD"/>
            </a:solidFill>
          </a:ln>
        </p:spPr>
        <p:txBody>
          <a:bodyPr rtlCol="0" anchor="ctr"/>
          <a:lstStyle/>
          <a:p>
            <a:pPr algn="ctr"/>
          </a:p>
        </p:txBody>
      </p:sp>
      <p:sp>
        <p:nvSpPr>
          <p:cNvPr id="15" name="Rectangle 14"/>
          <p:cNvSpPr/>
          <p:nvPr/>
        </p:nvSpPr>
        <p:spPr>
          <a:xfrm>
            <a:off x="5987491" y="3906150"/>
            <a:ext cx="164591" cy="194517"/>
          </a:xfrm>
          <a:prstGeom prst="rect">
            <a:avLst/>
          </a:prstGeom>
          <a:noFill/>
          <a:ln w="44450">
            <a:solidFill>
              <a:srgbClr val="E09B00"/>
            </a:solidFill>
          </a:ln>
        </p:spPr>
        <p:txBody>
          <a:bodyPr rtlCol="0" anchor="ctr"/>
          <a:lstStyle/>
          <a:p>
            <a:pPr algn="ctr"/>
          </a:p>
        </p:txBody>
      </p:sp>
      <p:sp>
        <p:nvSpPr>
          <p:cNvPr id="16" name="Rectangle 15"/>
          <p:cNvSpPr/>
          <p:nvPr/>
        </p:nvSpPr>
        <p:spPr>
          <a:xfrm>
            <a:off x="7281367" y="5294376"/>
            <a:ext cx="310895" cy="91439"/>
          </a:xfrm>
          <a:prstGeom prst="rect">
            <a:avLst/>
          </a:prstGeom>
          <a:noFill/>
          <a:ln w="44450">
            <a:solidFill>
              <a:srgbClr val="C62828"/>
            </a:solidFill>
          </a:ln>
        </p:spPr>
        <p:txBody>
          <a:bodyPr rtlCol="0" anchor="ctr"/>
          <a:lstStyle/>
          <a:p>
            <a:pPr algn="ctr"/>
          </a:p>
        </p:txBody>
      </p:sp>
      <p:sp>
        <p:nvSpPr>
          <p:cNvPr id="17" name="Oval 16"/>
          <p:cNvSpPr/>
          <p:nvPr/>
        </p:nvSpPr>
        <p:spPr>
          <a:xfrm>
            <a:off x="10282427" y="3570482"/>
            <a:ext cx="87782" cy="87782"/>
          </a:xfrm>
          <a:prstGeom prst="ellipse">
            <a:avLst/>
          </a:prstGeom>
          <a:noFill/>
          <a:ln w="44450">
            <a:solidFill>
              <a:srgbClr val="7B3FA0"/>
            </a:solidFill>
          </a:ln>
        </p:spPr>
        <p:txBody>
          <a:bodyPr rtlCol="0" anchor="ctr"/>
          <a:lstStyle/>
          <a:p>
            <a:pPr algn="ctr"/>
          </a:p>
        </p:txBody>
      </p:sp>
      <p:sp>
        <p:nvSpPr>
          <p:cNvPr id="18" name="Oval 17"/>
          <p:cNvSpPr/>
          <p:nvPr/>
        </p:nvSpPr>
        <p:spPr>
          <a:xfrm>
            <a:off x="10225734" y="387539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6153382" y="374607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7720279" y="52120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10475038" y="376309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TK - FIN1209 teaching chart, drawn for this course. Illustrative data, not a real instrument.</a:t>
            </a:r>
          </a:p>
        </p:txBody>
      </p:sp>
      <p:sp>
        <p:nvSpPr>
          <p:cNvPr id="23" name="TextBox 2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44 of 88</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7.9. Prices and volume are invented for teaching.</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triple form 6: a close above the middle bar's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a downtrend, Lim's label: the 2nd bar "closes at or near its low on low volume followed by a 3rd bar closing above the high of the 2nd bar (and preferably above the close of the 1st bar as well)" (Figure 7.9, p. 215). Bar 2 closes at PHP 38.70 </a:t>
            </a:r>
            <a:r>
              <a:rPr sz="1700" b="1" i="0">
                <a:solidFill>
                  <a:srgbClr val="E09B00"/>
                </a:solidFill>
                <a:latin typeface="Arial"/>
              </a:rPr>
              <a:t>(1)</a:t>
            </a:r>
            <a:r>
              <a:rPr sz="1700" b="0" i="0">
                <a:solidFill>
                  <a:srgbClr val="1A1A1A"/>
                </a:solidFill>
                <a:latin typeface="Arial"/>
              </a:rPr>
              <a:t> on 0.8 million shares </a:t>
            </a:r>
            <a:r>
              <a:rPr sz="1700" b="1" i="0">
                <a:solidFill>
                  <a:srgbClr val="C62828"/>
                </a:solidFill>
                <a:latin typeface="Arial"/>
              </a:rPr>
              <a:t>(2)</a:t>
            </a:r>
            <a:r>
              <a:rPr sz="1700" b="0" i="0">
                <a:solidFill>
                  <a:srgbClr val="1A1A1A"/>
                </a:solidFill>
                <a:latin typeface="Arial"/>
              </a:rPr>
              <a:t>; bar 3 at PHP 40.20 </a:t>
            </a:r>
            <a:r>
              <a:rPr sz="1700" b="1" i="0">
                <a:solidFill>
                  <a:srgbClr val="1F5FAD"/>
                </a:solidFill>
                <a:latin typeface="Arial"/>
              </a:rPr>
              <a:t>(3)</a:t>
            </a:r>
            <a:r>
              <a:rPr sz="1700" b="0" i="0">
                <a:solidFill>
                  <a:srgbClr val="1A1A1A"/>
                </a:solidFill>
                <a:latin typeface="Arial"/>
              </a:rPr>
              <a:t>, over bar 2's high. Our reading, not Lim's: built from bullish two-bar form 2.</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297357" y="2395728"/>
            <a:ext cx="1440531"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297357" y="2395728"/>
            <a:ext cx="1440531"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571677" y="2670048"/>
            <a:ext cx="89189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7.9</a:t>
            </a:r>
          </a:p>
          <a:p>
            <a:pPr algn="l">
              <a:lnSpc>
                <a:spcPct val="115000"/>
              </a:lnSpc>
              <a:spcBef>
                <a:spcPts val="0"/>
              </a:spcBef>
              <a:spcAft>
                <a:spcPts val="0"/>
              </a:spcAft>
            </a:pPr>
            <a:r>
              <a:rPr sz="1500" b="0" i="0">
                <a:solidFill>
                  <a:srgbClr val="1A1A1A"/>
                </a:solidFill>
                <a:latin typeface="Palatino"/>
              </a:rPr>
              <a:t>Figure 7.9, form 6: a close above the middle bar.</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7.9,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tl-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7548371" y="4404664"/>
            <a:ext cx="87782" cy="87782"/>
          </a:xfrm>
          <a:prstGeom prst="ellipse">
            <a:avLst/>
          </a:prstGeom>
          <a:noFill/>
          <a:ln w="44450">
            <a:solidFill>
              <a:srgbClr val="E09B00"/>
            </a:solidFill>
          </a:ln>
        </p:spPr>
        <p:txBody>
          <a:bodyPr rtlCol="0" anchor="ctr"/>
          <a:lstStyle/>
          <a:p>
            <a:pPr algn="ctr"/>
          </a:p>
        </p:txBody>
      </p:sp>
      <p:sp>
        <p:nvSpPr>
          <p:cNvPr id="15" name="Rectangle 14"/>
          <p:cNvSpPr/>
          <p:nvPr/>
        </p:nvSpPr>
        <p:spPr>
          <a:xfrm>
            <a:off x="7281367" y="5278700"/>
            <a:ext cx="310895" cy="107115"/>
          </a:xfrm>
          <a:prstGeom prst="rect">
            <a:avLst/>
          </a:prstGeom>
          <a:noFill/>
          <a:ln w="44450">
            <a:solidFill>
              <a:srgbClr val="C62828"/>
            </a:solidFill>
          </a:ln>
        </p:spPr>
        <p:txBody>
          <a:bodyPr rtlCol="0" anchor="ctr"/>
          <a:lstStyle/>
          <a:p>
            <a:pPr algn="ctr"/>
          </a:p>
        </p:txBody>
      </p:sp>
      <p:sp>
        <p:nvSpPr>
          <p:cNvPr id="16" name="Oval 15"/>
          <p:cNvSpPr/>
          <p:nvPr/>
        </p:nvSpPr>
        <p:spPr>
          <a:xfrm>
            <a:off x="10282427" y="3787444"/>
            <a:ext cx="87782" cy="87782"/>
          </a:xfrm>
          <a:prstGeom prst="ellipse">
            <a:avLst/>
          </a:prstGeom>
          <a:noFill/>
          <a:ln w="44450">
            <a:solidFill>
              <a:srgbClr val="1F5FAD"/>
            </a:solidFill>
          </a:ln>
        </p:spPr>
        <p:txBody>
          <a:bodyPr rtlCol="0" anchor="ctr"/>
          <a:lstStyle/>
          <a:p>
            <a:pPr algn="ctr"/>
          </a:p>
        </p:txBody>
      </p:sp>
      <p:sp>
        <p:nvSpPr>
          <p:cNvPr id="17" name="Oval 16"/>
          <p:cNvSpPr/>
          <p:nvPr/>
        </p:nvSpPr>
        <p:spPr>
          <a:xfrm>
            <a:off x="7513473" y="413682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7701991" y="520424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231330" y="389062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TL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45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7.9. Prices and volume are invented for teaching.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Bullish triple bar patterns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last bar makes a bullish three-bar pattern potentially more reliable?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 narrow bar on low volume</a:t>
            </a:r>
          </a:p>
          <a:p>
            <a:pPr algn="l">
              <a:lnSpc>
                <a:spcPct val="112000"/>
              </a:lnSpc>
              <a:spcBef>
                <a:spcPts val="0"/>
              </a:spcBef>
              <a:spcAft>
                <a:spcPts val="900"/>
              </a:spcAft>
            </a:pPr>
            <a:r>
              <a:rPr sz="1700" b="0" i="0">
                <a:solidFill>
                  <a:srgbClr val="FFFFFF"/>
                </a:solidFill>
                <a:latin typeface="Arial"/>
              </a:rPr>
              <a:t>B.  A bar that gaps down</a:t>
            </a:r>
          </a:p>
          <a:p>
            <a:pPr algn="l">
              <a:lnSpc>
                <a:spcPct val="112000"/>
              </a:lnSpc>
              <a:spcBef>
                <a:spcPts val="0"/>
              </a:spcBef>
              <a:spcAft>
                <a:spcPts val="900"/>
              </a:spcAft>
            </a:pPr>
            <a:r>
              <a:rPr sz="1700" b="0" i="0">
                <a:solidFill>
                  <a:srgbClr val="FFFFFF"/>
                </a:solidFill>
                <a:latin typeface="Arial"/>
              </a:rPr>
              <a:t>C.  A bar closing near its low</a:t>
            </a:r>
          </a:p>
          <a:p>
            <a:pPr algn="l">
              <a:lnSpc>
                <a:spcPct val="112000"/>
              </a:lnSpc>
              <a:spcBef>
                <a:spcPts val="0"/>
              </a:spcBef>
              <a:spcAft>
                <a:spcPts val="900"/>
              </a:spcAft>
            </a:pPr>
            <a:r>
              <a:rPr sz="1700" b="0" i="0">
                <a:solidFill>
                  <a:srgbClr val="FFFFFF"/>
                </a:solidFill>
                <a:latin typeface="Arial"/>
              </a:rPr>
              <a:t>D.  An overextended bar closing near its high on high volume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Lim call bullish triple pattern 4?</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An inside bar</a:t>
            </a:r>
          </a:p>
          <a:p>
            <a:pPr algn="l">
              <a:lnSpc>
                <a:spcPct val="112000"/>
              </a:lnSpc>
              <a:spcBef>
                <a:spcPts val="0"/>
              </a:spcBef>
              <a:spcAft>
                <a:spcPts val="900"/>
              </a:spcAft>
            </a:pPr>
            <a:r>
              <a:rPr sz="1700" b="0" i="0">
                <a:solidFill>
                  <a:srgbClr val="FFFFFF"/>
                </a:solidFill>
                <a:latin typeface="Arial"/>
              </a:rPr>
              <a:t>B.  A single island reversal bar</a:t>
            </a:r>
          </a:p>
          <a:p>
            <a:pPr algn="l">
              <a:lnSpc>
                <a:spcPct val="112000"/>
              </a:lnSpc>
              <a:spcBef>
                <a:spcPts val="0"/>
              </a:spcBef>
              <a:spcAft>
                <a:spcPts val="900"/>
              </a:spcAft>
            </a:pPr>
            <a:r>
              <a:rPr sz="1700" b="0" i="0">
                <a:solidFill>
                  <a:srgbClr val="FFFFFF"/>
                </a:solidFill>
                <a:latin typeface="Arial"/>
              </a:rPr>
              <a:t>C.  A key reversal bar</a:t>
            </a:r>
          </a:p>
          <a:p>
            <a:pPr algn="l">
              <a:lnSpc>
                <a:spcPct val="112000"/>
              </a:lnSpc>
              <a:spcBef>
                <a:spcPts val="0"/>
              </a:spcBef>
              <a:spcAft>
                <a:spcPts val="900"/>
              </a:spcAft>
            </a:pPr>
            <a:r>
              <a:rPr sz="1700" b="0" i="0">
                <a:solidFill>
                  <a:srgbClr val="FFFFFF"/>
                </a:solidFill>
                <a:latin typeface="Arial"/>
              </a:rPr>
              <a:t>D.  An outside bar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Bullish triple bar patterns</a:t>
            </a:r>
          </a:p>
        </p:txBody>
      </p:sp>
      <p:sp>
        <p:nvSpPr>
          <p:cNvPr id="6" name="Rectangle 5"/>
          <p:cNvSpPr/>
          <p:nvPr/>
        </p:nvSpPr>
        <p:spPr>
          <a:xfrm>
            <a:off x="777240" y="1207008"/>
            <a:ext cx="10637215" cy="187642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76425"/>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last bar makes a bullish three-bar pattern potentially more reliable?</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An overextended bar closing near its high on high volume</a:t>
            </a:r>
          </a:p>
          <a:p>
            <a:pPr algn="l">
              <a:lnSpc>
                <a:spcPct val="115000"/>
              </a:lnSpc>
              <a:spcBef>
                <a:spcPts val="700"/>
              </a:spcBef>
              <a:spcAft>
                <a:spcPts val="0"/>
              </a:spcAft>
            </a:pPr>
            <a:r>
              <a:rPr sz="1700" b="0" i="0">
                <a:solidFill>
                  <a:srgbClr val="1A1A1A"/>
                </a:solidFill>
                <a:latin typeface="Arial"/>
              </a:rPr>
              <a:t>Lim says a bullish three-bar pattern is potentially more reliable if the last bar is overextended and closes at or near its high on high volume (p. 214).</a:t>
            </a:r>
          </a:p>
        </p:txBody>
      </p:sp>
      <p:sp>
        <p:nvSpPr>
          <p:cNvPr id="10" name="Rectangle 9"/>
          <p:cNvSpPr/>
          <p:nvPr/>
        </p:nvSpPr>
        <p:spPr>
          <a:xfrm>
            <a:off x="777240" y="3330321"/>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30321"/>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68065"/>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What does Lim call bullish triple pattern 4?</a:t>
            </a:r>
          </a:p>
        </p:txBody>
      </p:sp>
      <p:sp>
        <p:nvSpPr>
          <p:cNvPr id="13" name="TextBox 12"/>
          <p:cNvSpPr txBox="1"/>
          <p:nvPr/>
        </p:nvSpPr>
        <p:spPr>
          <a:xfrm>
            <a:off x="1143000" y="4072382"/>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A single island reversal bar</a:t>
            </a:r>
          </a:p>
          <a:p>
            <a:pPr algn="l">
              <a:lnSpc>
                <a:spcPct val="115000"/>
              </a:lnSpc>
              <a:spcBef>
                <a:spcPts val="700"/>
              </a:spcBef>
              <a:spcAft>
                <a:spcPts val="0"/>
              </a:spcAft>
            </a:pPr>
            <a:r>
              <a:rPr sz="1700" b="0" i="0">
                <a:solidFill>
                  <a:srgbClr val="1A1A1A"/>
                </a:solidFill>
                <a:latin typeface="Arial"/>
              </a:rPr>
              <a:t>Its label ends "Also referred to as a single island reversal bar" (p. 215).</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Multiple bar patterns stretch the middle across several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46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draws four basic multiple bar bearish reversal patterns in an uptrend (p. 214). Between the first and the last bar sit several bars, where a triple pattern had one.</a:t>
            </a:r>
          </a:p>
          <a:p>
            <a:pPr algn="l">
              <a:lnSpc>
                <a:spcPct val="118000"/>
              </a:lnSpc>
              <a:spcBef>
                <a:spcPts val="0"/>
              </a:spcBef>
              <a:spcAft>
                <a:spcPts val="1300"/>
              </a:spcAft>
            </a:pPr>
            <a:r>
              <a:rPr sz="2100" b="0" i="0">
                <a:solidFill>
                  <a:srgbClr val="1A1A1A"/>
                </a:solidFill>
                <a:latin typeface="Arial"/>
              </a:rPr>
              <a:t>The gap rule carries over: the larger the gaps, the more bearish the pattern. And the bars between the first and last should generally trade on low volume (p. 214).</a:t>
            </a:r>
          </a:p>
          <a:p>
            <a:pPr algn="l">
              <a:lnSpc>
                <a:spcPct val="118000"/>
              </a:lnSpc>
              <a:spcBef>
                <a:spcPts val="0"/>
              </a:spcBef>
              <a:spcAft>
                <a:spcPts val="1300"/>
              </a:spcAft>
            </a:pPr>
            <a:r>
              <a:rPr sz="2100" b="0" i="0">
                <a:solidFill>
                  <a:srgbClr val="1A1A1A"/>
                </a:solidFill>
                <a:latin typeface="Arial"/>
              </a:rPr>
              <a:t>The last bar matters most again: an overextended last bar (unusually long compared with the bars before it) closing near or at its low on high volume makes the pattern potentially more reliable (p. 215).</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214 to 215.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Pattern 2 is possibly the exception; either extreme warns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47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 pattern 2 the middle bars are wide, each closing near its low. There, Lim says, high volume is possibly also bearish: the sellers are working to keep each close near the low (pp. 214 to 215).</a:t>
            </a:r>
          </a:p>
          <a:p>
            <a:pPr algn="l">
              <a:lnSpc>
                <a:spcPct val="118000"/>
              </a:lnSpc>
              <a:spcBef>
                <a:spcPts val="0"/>
              </a:spcBef>
              <a:spcAft>
                <a:spcPts val="1300"/>
              </a:spcAft>
            </a:pPr>
            <a:r>
              <a:rPr sz="2100" b="0" i="0">
                <a:solidFill>
                  <a:srgbClr val="1A1A1A"/>
                </a:solidFill>
                <a:latin typeface="Arial"/>
              </a:rPr>
              <a:t>Low volume on those wide bars is bearish too: it shows they are not supported by enough demand (p. 215).</a:t>
            </a:r>
          </a:p>
          <a:p>
            <a:pPr algn="l">
              <a:lnSpc>
                <a:spcPct val="118000"/>
              </a:lnSpc>
              <a:spcBef>
                <a:spcPts val="0"/>
              </a:spcBef>
              <a:spcAft>
                <a:spcPts val="1300"/>
              </a:spcAft>
            </a:pPr>
            <a:r>
              <a:rPr sz="2100" b="0" i="0">
                <a:solidFill>
                  <a:srgbClr val="1A1A1A"/>
                </a:solidFill>
                <a:latin typeface="Arial"/>
              </a:rPr>
              <a:t>Lim sums it up: extremely high or low volume on the wide middle bars indicates bearishness in an uptrend (p. 215). So 3.8 million or 0.4 million shares, against an ordinary 2.0 million, would both warn.</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214 to 215. The volumes are invented for teaching.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Multiple form 1: narrow bars hold near the first high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48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high followed by multiple narrow range bars closing near the 1st bar's high. The last bar closes at or near its low" (Figure 7.10, p. 215).</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narrow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6700908" y="1810512"/>
            <a:ext cx="3864797"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819780" y="1929384"/>
            <a:ext cx="3627053"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819780" y="1929384"/>
            <a:ext cx="3627053"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094100" y="2203703"/>
            <a:ext cx="3078413"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7.10</a:t>
            </a:r>
          </a:p>
          <a:p>
            <a:pPr algn="l">
              <a:lnSpc>
                <a:spcPct val="115000"/>
              </a:lnSpc>
              <a:spcBef>
                <a:spcPts val="0"/>
              </a:spcBef>
              <a:spcAft>
                <a:spcPts val="0"/>
              </a:spcAft>
            </a:pPr>
            <a:r>
              <a:rPr sz="1500" b="0" i="0">
                <a:solidFill>
                  <a:srgbClr val="1A1A1A"/>
                </a:solidFill>
                <a:latin typeface="Palatino"/>
              </a:rPr>
              <a:t>Figure 7.10, form 1: narrow bars near the first high, then a low close.</a:t>
            </a:r>
          </a:p>
        </p:txBody>
      </p:sp>
      <p:sp>
        <p:nvSpPr>
          <p:cNvPr id="12" name="Rectangle 11"/>
          <p:cNvSpPr/>
          <p:nvPr/>
        </p:nvSpPr>
        <p:spPr>
          <a:xfrm>
            <a:off x="7481184" y="2645148"/>
            <a:ext cx="512054" cy="2147292"/>
          </a:xfrm>
          <a:prstGeom prst="rect">
            <a:avLst/>
          </a:prstGeom>
          <a:noFill/>
          <a:ln w="44450">
            <a:solidFill>
              <a:srgbClr val="E09B00"/>
            </a:solidFill>
          </a:ln>
        </p:spPr>
        <p:txBody>
          <a:bodyPr rtlCol="0" anchor="ctr"/>
          <a:lstStyle/>
          <a:p>
            <a:pPr algn="ctr"/>
          </a:p>
        </p:txBody>
      </p:sp>
      <p:sp>
        <p:nvSpPr>
          <p:cNvPr id="13" name="Rectangle 12"/>
          <p:cNvSpPr/>
          <p:nvPr/>
        </p:nvSpPr>
        <p:spPr>
          <a:xfrm>
            <a:off x="7993239" y="2334533"/>
            <a:ext cx="1536163" cy="1012873"/>
          </a:xfrm>
          <a:prstGeom prst="rect">
            <a:avLst/>
          </a:prstGeom>
          <a:noFill/>
          <a:ln w="44450">
            <a:solidFill>
              <a:srgbClr val="C62828"/>
            </a:solidFill>
          </a:ln>
        </p:spPr>
        <p:txBody>
          <a:bodyPr rtlCol="0" anchor="ctr"/>
          <a:lstStyle/>
          <a:p>
            <a:pPr algn="ctr"/>
          </a:p>
        </p:txBody>
      </p:sp>
      <p:sp>
        <p:nvSpPr>
          <p:cNvPr id="14" name="Rectangle 13"/>
          <p:cNvSpPr/>
          <p:nvPr/>
        </p:nvSpPr>
        <p:spPr>
          <a:xfrm>
            <a:off x="9529402" y="2604633"/>
            <a:ext cx="490718" cy="2160797"/>
          </a:xfrm>
          <a:prstGeom prst="rect">
            <a:avLst/>
          </a:prstGeom>
          <a:noFill/>
          <a:ln w="44450">
            <a:solidFill>
              <a:srgbClr val="1F5FAD"/>
            </a:solidFill>
          </a:ln>
        </p:spPr>
        <p:txBody>
          <a:bodyPr rtlCol="0" anchor="ctr"/>
          <a:lstStyle/>
          <a:p>
            <a:pPr algn="ctr"/>
          </a:p>
        </p:txBody>
      </p:sp>
      <p:sp>
        <p:nvSpPr>
          <p:cNvPr id="15" name="Oval 14"/>
          <p:cNvSpPr/>
          <p:nvPr/>
        </p:nvSpPr>
        <p:spPr>
          <a:xfrm>
            <a:off x="7353168" y="251713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865223" y="220651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401386" y="247661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7.10 -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multiple form 1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draws several narrow bars; our chart uses two so every price stays readable. Bar 1 closes at PHP 50.00, near its high </a:t>
            </a:r>
            <a:r>
              <a:rPr sz="1700" b="1" i="0">
                <a:solidFill>
                  <a:srgbClr val="E09B00"/>
                </a:solidFill>
                <a:latin typeface="Arial"/>
              </a:rPr>
              <a:t>(1)</a:t>
            </a:r>
            <a:r>
              <a:rPr sz="1700" b="0" i="0">
                <a:solidFill>
                  <a:srgbClr val="1A1A1A"/>
                </a:solidFill>
                <a:latin typeface="Arial"/>
              </a:rPr>
              <a:t>. The narrow bars </a:t>
            </a:r>
            <a:r>
              <a:rPr sz="1700" b="1" i="0">
                <a:solidFill>
                  <a:srgbClr val="C62828"/>
                </a:solidFill>
                <a:latin typeface="Arial"/>
              </a:rPr>
              <a:t>(2)</a:t>
            </a:r>
            <a:r>
              <a:rPr sz="1700" b="0" i="0">
                <a:solidFill>
                  <a:srgbClr val="1A1A1A"/>
                </a:solidFill>
                <a:latin typeface="Arial"/>
              </a:rPr>
              <a:t> close at PHP 50.10 and PHP 50.20, still near that high. The last bar closes at PHP 48.20, near its PHP 48.00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a-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008375"/>
            <a:ext cx="5301386" cy="1263335"/>
          </a:xfrm>
          <a:prstGeom prst="rect">
            <a:avLst/>
          </a:prstGeom>
          <a:noFill/>
          <a:ln w="44450">
            <a:solidFill>
              <a:srgbClr val="C62828"/>
            </a:solidFill>
          </a:ln>
        </p:spPr>
        <p:txBody>
          <a:bodyPr rtlCol="0" anchor="ctr"/>
          <a:lstStyle/>
          <a:p>
            <a:pPr algn="ctr"/>
          </a:p>
        </p:txBody>
      </p:sp>
      <p:sp>
        <p:nvSpPr>
          <p:cNvPr id="10" name="Oval 9"/>
          <p:cNvSpPr/>
          <p:nvPr/>
        </p:nvSpPr>
        <p:spPr>
          <a:xfrm>
            <a:off x="2251252" y="3690518"/>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200131" y="482291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764828" y="329029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186892" y="383230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55385" y="451546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49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 The prices are invented for teaching.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Multiple form 2: wide bars that all close near their lows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50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high followed by multiple wide range bars, all closing near their lows. The last bar closes at or near its low" (Figure 7.10, p. 215).</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wide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7281711" y="1810512"/>
            <a:ext cx="2703191"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400583" y="1929384"/>
            <a:ext cx="2465447"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400583" y="1929384"/>
            <a:ext cx="2465447"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674903" y="2203703"/>
            <a:ext cx="191680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7.10</a:t>
            </a:r>
          </a:p>
          <a:p>
            <a:pPr algn="l">
              <a:lnSpc>
                <a:spcPct val="115000"/>
              </a:lnSpc>
              <a:spcBef>
                <a:spcPts val="0"/>
              </a:spcBef>
              <a:spcAft>
                <a:spcPts val="0"/>
              </a:spcAft>
            </a:pPr>
            <a:r>
              <a:rPr sz="1500" b="0" i="0">
                <a:solidFill>
                  <a:srgbClr val="1A1A1A"/>
                </a:solidFill>
                <a:latin typeface="Palatino"/>
              </a:rPr>
              <a:t>Figure 7.10, form 2: wide middle bars closing near their lows.</a:t>
            </a:r>
          </a:p>
        </p:txBody>
      </p:sp>
      <p:sp>
        <p:nvSpPr>
          <p:cNvPr id="12" name="Rectangle 11"/>
          <p:cNvSpPr/>
          <p:nvPr/>
        </p:nvSpPr>
        <p:spPr>
          <a:xfrm>
            <a:off x="7724173" y="3441192"/>
            <a:ext cx="369817" cy="1560576"/>
          </a:xfrm>
          <a:prstGeom prst="rect">
            <a:avLst/>
          </a:prstGeom>
          <a:noFill/>
          <a:ln w="44450">
            <a:solidFill>
              <a:srgbClr val="E09B00"/>
            </a:solidFill>
          </a:ln>
        </p:spPr>
        <p:txBody>
          <a:bodyPr rtlCol="0" anchor="ctr"/>
          <a:lstStyle/>
          <a:p>
            <a:pPr algn="ctr"/>
          </a:p>
        </p:txBody>
      </p:sp>
      <p:sp>
        <p:nvSpPr>
          <p:cNvPr id="13" name="Rectangle 12"/>
          <p:cNvSpPr/>
          <p:nvPr/>
        </p:nvSpPr>
        <p:spPr>
          <a:xfrm>
            <a:off x="8016945" y="2124456"/>
            <a:ext cx="1109451" cy="1853184"/>
          </a:xfrm>
          <a:prstGeom prst="rect">
            <a:avLst/>
          </a:prstGeom>
          <a:noFill/>
          <a:ln w="44450">
            <a:solidFill>
              <a:srgbClr val="C62828"/>
            </a:solidFill>
          </a:ln>
        </p:spPr>
        <p:txBody>
          <a:bodyPr rtlCol="0" anchor="ctr"/>
          <a:lstStyle/>
          <a:p>
            <a:pPr algn="ctr"/>
          </a:p>
        </p:txBody>
      </p:sp>
      <p:sp>
        <p:nvSpPr>
          <p:cNvPr id="14" name="Rectangle 13"/>
          <p:cNvSpPr/>
          <p:nvPr/>
        </p:nvSpPr>
        <p:spPr>
          <a:xfrm>
            <a:off x="9172624" y="3411931"/>
            <a:ext cx="354408" cy="1589836"/>
          </a:xfrm>
          <a:prstGeom prst="rect">
            <a:avLst/>
          </a:prstGeom>
          <a:noFill/>
          <a:ln w="44450">
            <a:solidFill>
              <a:srgbClr val="1F5FAD"/>
            </a:solidFill>
          </a:ln>
        </p:spPr>
        <p:txBody>
          <a:bodyPr rtlCol="0" anchor="ctr"/>
          <a:lstStyle/>
          <a:p>
            <a:pPr algn="ctr"/>
          </a:p>
        </p:txBody>
      </p:sp>
      <p:sp>
        <p:nvSpPr>
          <p:cNvPr id="15" name="Oval 14"/>
          <p:cNvSpPr/>
          <p:nvPr/>
        </p:nvSpPr>
        <p:spPr>
          <a:xfrm>
            <a:off x="7596157" y="331317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888929" y="19964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044608" y="328391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7.10 -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214 to 215, Figure 7.10.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multiple form 2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closes at PHP 50.00, near its high </a:t>
            </a:r>
            <a:r>
              <a:rPr sz="1700" b="1" i="0">
                <a:solidFill>
                  <a:srgbClr val="E09B00"/>
                </a:solidFill>
                <a:latin typeface="Arial"/>
              </a:rPr>
              <a:t>(1)</a:t>
            </a:r>
            <a:r>
              <a:rPr sz="1700" b="0" i="0">
                <a:solidFill>
                  <a:srgbClr val="1A1A1A"/>
                </a:solidFill>
                <a:latin typeface="Arial"/>
              </a:rPr>
              <a:t>. The two wide bars </a:t>
            </a:r>
            <a:r>
              <a:rPr sz="1700" b="1" i="0">
                <a:solidFill>
                  <a:srgbClr val="C62828"/>
                </a:solidFill>
                <a:latin typeface="Arial"/>
              </a:rPr>
              <a:t>(2)</a:t>
            </a:r>
            <a:r>
              <a:rPr sz="1700" b="0" i="0">
                <a:solidFill>
                  <a:srgbClr val="1A1A1A"/>
                </a:solidFill>
                <a:latin typeface="Arial"/>
              </a:rPr>
              <a:t> each span about PHP 2.00 and close near their lows, at PHP 50.20 and PHP 50.30, on 3.8 and 3.6 million shares </a:t>
            </a:r>
            <a:r>
              <a:rPr sz="1700" b="1" i="0">
                <a:solidFill>
                  <a:srgbClr val="1F5FAD"/>
                </a:solidFill>
                <a:latin typeface="Arial"/>
              </a:rPr>
              <a:t>(3)</a:t>
            </a:r>
            <a:r>
              <a:rPr sz="1700" b="0" i="0">
                <a:solidFill>
                  <a:srgbClr val="1A1A1A"/>
                </a:solidFill>
                <a:latin typeface="Arial"/>
              </a:rPr>
              <a:t>. The last bar closes at PHP 48.20, near its low </a:t>
            </a:r>
            <a:r>
              <a:rPr sz="1700" b="1" i="0">
                <a:solidFill>
                  <a:srgbClr val="7B3FA0"/>
                </a:solidFill>
                <a:latin typeface="Arial"/>
              </a:rPr>
              <a:t>(4)</a:t>
            </a:r>
            <a:r>
              <a:rPr sz="1700" b="0" i="0">
                <a:solidFill>
                  <a:srgbClr val="1A1A1A"/>
                </a:solidFill>
                <a:latin typeface="Arial"/>
              </a:rPr>
              <a:t>. That heavy middle volume is possibly the pattern 2 exception: sellers pressing every close down (pp. 214 to 215).</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b-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008375"/>
            <a:ext cx="5301386" cy="1383356"/>
          </a:xfrm>
          <a:prstGeom prst="rect">
            <a:avLst/>
          </a:prstGeom>
          <a:noFill/>
          <a:ln w="44450">
            <a:solidFill>
              <a:srgbClr val="C62828"/>
            </a:solidFill>
          </a:ln>
        </p:spPr>
        <p:txBody>
          <a:bodyPr rtlCol="0" anchor="ctr"/>
          <a:lstStyle/>
          <a:p>
            <a:pPr algn="ctr"/>
          </a:p>
        </p:txBody>
      </p:sp>
      <p:sp>
        <p:nvSpPr>
          <p:cNvPr id="10" name="Oval 9"/>
          <p:cNvSpPr/>
          <p:nvPr/>
        </p:nvSpPr>
        <p:spPr>
          <a:xfrm>
            <a:off x="2251252" y="3936361"/>
            <a:ext cx="87782" cy="87782"/>
          </a:xfrm>
          <a:prstGeom prst="ellipse">
            <a:avLst/>
          </a:prstGeom>
          <a:noFill/>
          <a:ln w="44450">
            <a:solidFill>
              <a:srgbClr val="E09B00"/>
            </a:solidFill>
          </a:ln>
        </p:spPr>
        <p:txBody>
          <a:bodyPr rtlCol="0" anchor="ctr"/>
          <a:lstStyle/>
          <a:p>
            <a:pPr algn="ctr"/>
          </a:p>
        </p:txBody>
      </p:sp>
      <p:sp>
        <p:nvSpPr>
          <p:cNvPr id="11" name="Rectangle 10"/>
          <p:cNvSpPr/>
          <p:nvPr/>
        </p:nvSpPr>
        <p:spPr>
          <a:xfrm>
            <a:off x="4633874" y="5148072"/>
            <a:ext cx="2960522" cy="237744"/>
          </a:xfrm>
          <a:prstGeom prst="rect">
            <a:avLst/>
          </a:prstGeom>
          <a:noFill/>
          <a:ln w="44450">
            <a:solidFill>
              <a:srgbClr val="1F5FAD"/>
            </a:solidFill>
          </a:ln>
        </p:spPr>
        <p:txBody>
          <a:bodyPr rtlCol="0" anchor="ctr"/>
          <a:lstStyle/>
          <a:p>
            <a:pPr algn="ctr"/>
          </a:p>
        </p:txBody>
      </p:sp>
      <p:sp>
        <p:nvSpPr>
          <p:cNvPr id="12" name="Oval 11"/>
          <p:cNvSpPr/>
          <p:nvPr/>
        </p:nvSpPr>
        <p:spPr>
          <a:xfrm>
            <a:off x="10200131" y="4394867"/>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8764828" y="357203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2186892" y="407814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7630346" y="515327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155385" y="4087416"/>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XB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51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214 to 215, Figure 7.10. Prices and volume are invented for teaching.</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Multiple form 3: narrow bars stay inside the first bar's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52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high followed by multiple narrow range bars closing within its range. The last bar closes at or near its low" (Figure 7.10, p. 215).</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narrow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6807587" y="1810512"/>
            <a:ext cx="3651440"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926459" y="1929384"/>
            <a:ext cx="3413696"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926459" y="1929384"/>
            <a:ext cx="3413696"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200779" y="2203703"/>
            <a:ext cx="286505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7.10</a:t>
            </a:r>
          </a:p>
          <a:p>
            <a:pPr algn="l">
              <a:lnSpc>
                <a:spcPct val="115000"/>
              </a:lnSpc>
              <a:spcBef>
                <a:spcPts val="0"/>
              </a:spcBef>
              <a:spcAft>
                <a:spcPts val="0"/>
              </a:spcAft>
            </a:pPr>
            <a:r>
              <a:rPr sz="1500" b="0" i="0">
                <a:solidFill>
                  <a:srgbClr val="1A1A1A"/>
                </a:solidFill>
                <a:latin typeface="Palatino"/>
              </a:rPr>
              <a:t>Figure 7.10, form 3: narrow bars inside the first bar.</a:t>
            </a:r>
          </a:p>
        </p:txBody>
      </p:sp>
      <p:sp>
        <p:nvSpPr>
          <p:cNvPr id="12" name="Rectangle 11"/>
          <p:cNvSpPr/>
          <p:nvPr/>
        </p:nvSpPr>
        <p:spPr>
          <a:xfrm>
            <a:off x="7459849" y="2672158"/>
            <a:ext cx="512054" cy="2093272"/>
          </a:xfrm>
          <a:prstGeom prst="rect">
            <a:avLst/>
          </a:prstGeom>
          <a:noFill/>
          <a:ln w="44450">
            <a:solidFill>
              <a:srgbClr val="E09B00"/>
            </a:solidFill>
          </a:ln>
        </p:spPr>
        <p:txBody>
          <a:bodyPr rtlCol="0" anchor="ctr"/>
          <a:lstStyle/>
          <a:p>
            <a:pPr algn="ctr"/>
          </a:p>
        </p:txBody>
      </p:sp>
      <p:sp>
        <p:nvSpPr>
          <p:cNvPr id="13" name="Rectangle 12"/>
          <p:cNvSpPr/>
          <p:nvPr/>
        </p:nvSpPr>
        <p:spPr>
          <a:xfrm>
            <a:off x="7907896" y="3144832"/>
            <a:ext cx="1514828" cy="1080398"/>
          </a:xfrm>
          <a:prstGeom prst="rect">
            <a:avLst/>
          </a:prstGeom>
          <a:noFill/>
          <a:ln w="44450">
            <a:solidFill>
              <a:srgbClr val="C62828"/>
            </a:solidFill>
          </a:ln>
        </p:spPr>
        <p:txBody>
          <a:bodyPr rtlCol="0" anchor="ctr"/>
          <a:lstStyle/>
          <a:p>
            <a:pPr algn="ctr"/>
          </a:p>
        </p:txBody>
      </p:sp>
      <p:sp>
        <p:nvSpPr>
          <p:cNvPr id="14" name="Rectangle 13"/>
          <p:cNvSpPr/>
          <p:nvPr/>
        </p:nvSpPr>
        <p:spPr>
          <a:xfrm>
            <a:off x="9486731" y="2604633"/>
            <a:ext cx="512054" cy="2160797"/>
          </a:xfrm>
          <a:prstGeom prst="rect">
            <a:avLst/>
          </a:prstGeom>
          <a:noFill/>
          <a:ln w="44450">
            <a:solidFill>
              <a:srgbClr val="1F5FAD"/>
            </a:solidFill>
          </a:ln>
        </p:spPr>
        <p:txBody>
          <a:bodyPr rtlCol="0" anchor="ctr"/>
          <a:lstStyle/>
          <a:p>
            <a:pPr algn="ctr"/>
          </a:p>
        </p:txBody>
      </p:sp>
      <p:sp>
        <p:nvSpPr>
          <p:cNvPr id="15" name="Oval 14"/>
          <p:cNvSpPr/>
          <p:nvPr/>
        </p:nvSpPr>
        <p:spPr>
          <a:xfrm>
            <a:off x="7331833" y="254414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779880" y="301681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358715" y="247661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7.10 -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multiple form 3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runs from PHP 48.00 to PHP 50.40 and closes at PHP 50.20 </a:t>
            </a:r>
            <a:r>
              <a:rPr sz="1700" b="1" i="0">
                <a:solidFill>
                  <a:srgbClr val="E09B00"/>
                </a:solidFill>
                <a:latin typeface="Arial"/>
              </a:rPr>
              <a:t>(1)</a:t>
            </a:r>
            <a:r>
              <a:rPr sz="1700" b="0" i="0">
                <a:solidFill>
                  <a:srgbClr val="1A1A1A"/>
                </a:solidFill>
                <a:latin typeface="Arial"/>
              </a:rPr>
              <a:t>. The narrow bars </a:t>
            </a:r>
            <a:r>
              <a:rPr sz="1700" b="1" i="0">
                <a:solidFill>
                  <a:srgbClr val="C62828"/>
                </a:solidFill>
                <a:latin typeface="Arial"/>
              </a:rPr>
              <a:t>(2)</a:t>
            </a:r>
            <a:r>
              <a:rPr sz="1700" b="0" i="0">
                <a:solidFill>
                  <a:srgbClr val="1A1A1A"/>
                </a:solidFill>
                <a:latin typeface="Arial"/>
              </a:rPr>
              <a:t> stay inside that range, between PHP 49.20 and PHP 49.80. The last bar closes at PHP 48.00, near its PHP 47.80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c-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371322"/>
            <a:ext cx="5301386" cy="1185906"/>
          </a:xfrm>
          <a:prstGeom prst="rect">
            <a:avLst/>
          </a:prstGeom>
          <a:noFill/>
          <a:ln w="44450">
            <a:solidFill>
              <a:srgbClr val="C62828"/>
            </a:solidFill>
          </a:ln>
        </p:spPr>
        <p:txBody>
          <a:bodyPr rtlCol="0" anchor="ctr"/>
          <a:lstStyle/>
          <a:p>
            <a:pPr algn="ctr"/>
          </a:p>
        </p:txBody>
      </p:sp>
      <p:sp>
        <p:nvSpPr>
          <p:cNvPr id="10" name="Oval 9"/>
          <p:cNvSpPr/>
          <p:nvPr/>
        </p:nvSpPr>
        <p:spPr>
          <a:xfrm>
            <a:off x="2251252" y="3496946"/>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200131" y="4827750"/>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764828" y="383625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186892" y="363873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55385" y="452029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XC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53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 The prices are invented for teaching.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Multiple form 4: an island reversal 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54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high followed by multiple bars forming above a gap. The last bar gaps down and closes at or near its low. Referred to as an island reversal formation" (Figure 7.10, p. 215).</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bars above the gap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6882889" y="1810512"/>
            <a:ext cx="3500836"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001761" y="1929384"/>
            <a:ext cx="3263092" cy="3511295"/>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001761" y="1929384"/>
            <a:ext cx="3263092"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276081" y="2203703"/>
            <a:ext cx="2714452" cy="30540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7.10</a:t>
            </a:r>
          </a:p>
          <a:p>
            <a:pPr algn="l">
              <a:lnSpc>
                <a:spcPct val="115000"/>
              </a:lnSpc>
              <a:spcBef>
                <a:spcPts val="0"/>
              </a:spcBef>
              <a:spcAft>
                <a:spcPts val="0"/>
              </a:spcAft>
            </a:pPr>
            <a:r>
              <a:rPr sz="1500" b="0" i="0">
                <a:solidFill>
                  <a:srgbClr val="1A1A1A"/>
                </a:solidFill>
                <a:latin typeface="Palatino"/>
              </a:rPr>
              <a:t>Figure 7.10, form 4: an island reversal formation.</a:t>
            </a:r>
          </a:p>
        </p:txBody>
      </p:sp>
      <p:sp>
        <p:nvSpPr>
          <p:cNvPr id="12" name="Rectangle 11"/>
          <p:cNvSpPr/>
          <p:nvPr/>
        </p:nvSpPr>
        <p:spPr>
          <a:xfrm>
            <a:off x="7540171" y="3323575"/>
            <a:ext cx="391571" cy="1704011"/>
          </a:xfrm>
          <a:prstGeom prst="rect">
            <a:avLst/>
          </a:prstGeom>
          <a:noFill/>
          <a:ln w="44450">
            <a:solidFill>
              <a:srgbClr val="E09B00"/>
            </a:solidFill>
          </a:ln>
        </p:spPr>
        <p:txBody>
          <a:bodyPr rtlCol="0" anchor="ctr"/>
          <a:lstStyle/>
          <a:p>
            <a:pPr algn="ctr"/>
          </a:p>
        </p:txBody>
      </p:sp>
      <p:sp>
        <p:nvSpPr>
          <p:cNvPr id="13" name="Rectangle 12"/>
          <p:cNvSpPr/>
          <p:nvPr/>
        </p:nvSpPr>
        <p:spPr>
          <a:xfrm>
            <a:off x="7817534" y="2187567"/>
            <a:ext cx="1827331" cy="1084370"/>
          </a:xfrm>
          <a:prstGeom prst="rect">
            <a:avLst/>
          </a:prstGeom>
          <a:noFill/>
          <a:ln w="44450">
            <a:solidFill>
              <a:srgbClr val="C62828"/>
            </a:solidFill>
          </a:ln>
        </p:spPr>
        <p:txBody>
          <a:bodyPr rtlCol="0" anchor="ctr"/>
          <a:lstStyle/>
          <a:p>
            <a:pPr algn="ctr"/>
          </a:p>
        </p:txBody>
      </p:sp>
      <p:sp>
        <p:nvSpPr>
          <p:cNvPr id="14" name="Rectangle 13"/>
          <p:cNvSpPr/>
          <p:nvPr/>
        </p:nvSpPr>
        <p:spPr>
          <a:xfrm>
            <a:off x="9693812" y="3323575"/>
            <a:ext cx="407886" cy="1652374"/>
          </a:xfrm>
          <a:prstGeom prst="rect">
            <a:avLst/>
          </a:prstGeom>
          <a:noFill/>
          <a:ln w="44450">
            <a:solidFill>
              <a:srgbClr val="1F5FAD"/>
            </a:solidFill>
          </a:ln>
        </p:spPr>
        <p:txBody>
          <a:bodyPr rtlCol="0" anchor="ctr"/>
          <a:lstStyle/>
          <a:p>
            <a:pPr algn="ctr"/>
          </a:p>
        </p:txBody>
      </p:sp>
      <p:sp>
        <p:nvSpPr>
          <p:cNvPr id="15" name="Oval 14"/>
          <p:cNvSpPr/>
          <p:nvPr/>
        </p:nvSpPr>
        <p:spPr>
          <a:xfrm>
            <a:off x="7412155" y="319555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689518" y="205955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565796" y="319555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7.10 -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 Chapter 3, "Gap".</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multiple form 4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tops out at PHP 50.00 </a:t>
            </a:r>
            <a:r>
              <a:rPr sz="1700" b="1" i="0">
                <a:solidFill>
                  <a:srgbClr val="E09B00"/>
                </a:solidFill>
                <a:latin typeface="Arial"/>
              </a:rPr>
              <a:t>(1)</a:t>
            </a:r>
            <a:r>
              <a:rPr sz="1700" b="0" i="0">
                <a:solidFill>
                  <a:srgbClr val="1A1A1A"/>
                </a:solidFill>
                <a:latin typeface="Arial"/>
              </a:rPr>
              <a:t>, and the isolated bars </a:t>
            </a:r>
            <a:r>
              <a:rPr sz="1700" b="1" i="0">
                <a:solidFill>
                  <a:srgbClr val="C62828"/>
                </a:solidFill>
                <a:latin typeface="Arial"/>
              </a:rPr>
              <a:t>(2)</a:t>
            </a:r>
            <a:r>
              <a:rPr sz="1700" b="0" i="0">
                <a:solidFill>
                  <a:srgbClr val="1A1A1A"/>
                </a:solidFill>
                <a:latin typeface="Arial"/>
              </a:rPr>
              <a:t> trade above a gap, between PHP 50.40 and PHP 51.00. The last bar tops out at PHP 50.00 </a:t>
            </a:r>
            <a:r>
              <a:rPr sz="1700" b="1" i="0">
                <a:solidFill>
                  <a:srgbClr val="1F5FAD"/>
                </a:solidFill>
                <a:latin typeface="Arial"/>
              </a:rPr>
              <a:t>(3)</a:t>
            </a:r>
            <a:r>
              <a:rPr sz="1700" b="0" i="0">
                <a:solidFill>
                  <a:srgbClr val="1A1A1A"/>
                </a:solidFill>
                <a:latin typeface="Arial"/>
              </a:rPr>
              <a:t>, so it gaps down below them, and closes at PHP 48.40, near its PHP 48.20 low </a:t>
            </a:r>
            <a:r>
              <a:rPr sz="1700" b="1" i="0">
                <a:solidFill>
                  <a:srgbClr val="7B3FA0"/>
                </a:solidFill>
                <a:latin typeface="Arial"/>
              </a:rPr>
              <a:t>(4)</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d-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008375"/>
            <a:ext cx="5301386" cy="1137513"/>
          </a:xfrm>
          <a:prstGeom prst="rect">
            <a:avLst/>
          </a:prstGeom>
          <a:noFill/>
          <a:ln w="44450">
            <a:solidFill>
              <a:srgbClr val="C62828"/>
            </a:solidFill>
          </a:ln>
        </p:spPr>
        <p:txBody>
          <a:bodyPr rtlCol="0" anchor="ctr"/>
          <a:lstStyle/>
          <a:p>
            <a:pPr algn="ctr"/>
          </a:p>
        </p:txBody>
      </p:sp>
      <p:sp>
        <p:nvSpPr>
          <p:cNvPr id="10" name="Oval 9"/>
          <p:cNvSpPr/>
          <p:nvPr/>
        </p:nvSpPr>
        <p:spPr>
          <a:xfrm>
            <a:off x="2095804" y="3900220"/>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044683" y="3900220"/>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10200131" y="4739030"/>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8764828" y="344911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821484" y="381609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0106256" y="369384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155385" y="4431579"/>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XD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55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215, Figure 7.10. The prices are invented for teaching.</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bullish multiple forms mirror the bearish ones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56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draws four basic multiple bar bullish reversal patterns in a downtrend (p. 215).</a:t>
            </a:r>
          </a:p>
          <a:p>
            <a:pPr algn="l">
              <a:lnSpc>
                <a:spcPct val="118000"/>
              </a:lnSpc>
              <a:spcBef>
                <a:spcPts val="0"/>
              </a:spcBef>
              <a:spcAft>
                <a:spcPts val="1300"/>
              </a:spcAft>
            </a:pPr>
            <a:r>
              <a:rPr sz="2100" b="0" i="0">
                <a:solidFill>
                  <a:srgbClr val="1A1A1A"/>
                </a:solidFill>
                <a:latin typeface="Arial"/>
              </a:rPr>
              <a:t>In pattern 2 the wide middle bars can occur on high or above average volume, indicating bullishness. Narrow middle bars on low volume are also a sign of potential bullishness (p. 216).</a:t>
            </a:r>
          </a:p>
          <a:p>
            <a:pPr algn="l">
              <a:lnSpc>
                <a:spcPct val="118000"/>
              </a:lnSpc>
              <a:spcBef>
                <a:spcPts val="0"/>
              </a:spcBef>
              <a:spcAft>
                <a:spcPts val="1300"/>
              </a:spcAft>
            </a:pPr>
            <a:r>
              <a:rPr sz="2100" b="0" i="0">
                <a:solidFill>
                  <a:srgbClr val="1A1A1A"/>
                </a:solidFill>
                <a:latin typeface="Arial"/>
              </a:rPr>
              <a:t>And a bullish pattern is potentially more reliable if the last bar is overextended (unusually long compared with the bars before it) and closes near or at its high on high volume (p. 216).</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215 to 216.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multiple form 1: narrow bars hold near the first low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57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low followed by multiple narrow range bars closing near the 1st bar's low. The last bar closes at or near its high" (Figure 7.11, p. 216).</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narrow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6742162" y="1810512"/>
            <a:ext cx="3782290"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861034" y="1929384"/>
            <a:ext cx="3544546"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861034" y="1929384"/>
            <a:ext cx="3544546"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135354" y="2203703"/>
            <a:ext cx="299590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7.11</a:t>
            </a:r>
          </a:p>
          <a:p>
            <a:pPr algn="l">
              <a:lnSpc>
                <a:spcPct val="115000"/>
              </a:lnSpc>
              <a:spcBef>
                <a:spcPts val="0"/>
              </a:spcBef>
              <a:spcAft>
                <a:spcPts val="0"/>
              </a:spcAft>
            </a:pPr>
            <a:r>
              <a:rPr sz="1500" b="0" i="0">
                <a:solidFill>
                  <a:srgbClr val="1A1A1A"/>
                </a:solidFill>
                <a:latin typeface="Palatino"/>
              </a:rPr>
              <a:t>Figure 7.11, form 1: narrow bars near the first low, then a high close.</a:t>
            </a:r>
          </a:p>
        </p:txBody>
      </p:sp>
      <p:sp>
        <p:nvSpPr>
          <p:cNvPr id="12" name="Rectangle 11"/>
          <p:cNvSpPr/>
          <p:nvPr/>
        </p:nvSpPr>
        <p:spPr>
          <a:xfrm>
            <a:off x="7595879" y="2647603"/>
            <a:ext cx="486294" cy="2154658"/>
          </a:xfrm>
          <a:prstGeom prst="rect">
            <a:avLst/>
          </a:prstGeom>
          <a:noFill/>
          <a:ln w="44450">
            <a:solidFill>
              <a:srgbClr val="E09B00"/>
            </a:solidFill>
          </a:ln>
        </p:spPr>
        <p:txBody>
          <a:bodyPr rtlCol="0" anchor="ctr"/>
          <a:lstStyle/>
          <a:p>
            <a:pPr algn="ctr"/>
          </a:p>
        </p:txBody>
      </p:sp>
      <p:sp>
        <p:nvSpPr>
          <p:cNvPr id="13" name="Rectangle 12"/>
          <p:cNvSpPr/>
          <p:nvPr/>
        </p:nvSpPr>
        <p:spPr>
          <a:xfrm>
            <a:off x="8103786" y="4323449"/>
            <a:ext cx="1512916" cy="670338"/>
          </a:xfrm>
          <a:prstGeom prst="rect">
            <a:avLst/>
          </a:prstGeom>
          <a:noFill/>
          <a:ln w="44450">
            <a:solidFill>
              <a:srgbClr val="C62828"/>
            </a:solidFill>
          </a:ln>
        </p:spPr>
        <p:txBody>
          <a:bodyPr rtlCol="0" anchor="ctr"/>
          <a:lstStyle/>
          <a:p>
            <a:pPr algn="ctr"/>
          </a:p>
        </p:txBody>
      </p:sp>
      <p:sp>
        <p:nvSpPr>
          <p:cNvPr id="14" name="Rectangle 13"/>
          <p:cNvSpPr/>
          <p:nvPr/>
        </p:nvSpPr>
        <p:spPr>
          <a:xfrm>
            <a:off x="9638316" y="2647603"/>
            <a:ext cx="486294" cy="2154658"/>
          </a:xfrm>
          <a:prstGeom prst="rect">
            <a:avLst/>
          </a:prstGeom>
          <a:noFill/>
          <a:ln w="44450">
            <a:solidFill>
              <a:srgbClr val="1F5FAD"/>
            </a:solidFill>
          </a:ln>
        </p:spPr>
        <p:txBody>
          <a:bodyPr rtlCol="0" anchor="ctr"/>
          <a:lstStyle/>
          <a:p>
            <a:pPr algn="ctr"/>
          </a:p>
        </p:txBody>
      </p:sp>
      <p:sp>
        <p:nvSpPr>
          <p:cNvPr id="15" name="Oval 14"/>
          <p:cNvSpPr/>
          <p:nvPr/>
        </p:nvSpPr>
        <p:spPr>
          <a:xfrm>
            <a:off x="7467863" y="251958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721422" y="512113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510300" y="251958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7.11 -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bullish multiple form 1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closes at PHP 40.00, near its low </a:t>
            </a:r>
            <a:r>
              <a:rPr sz="1700" b="1" i="0">
                <a:solidFill>
                  <a:srgbClr val="E09B00"/>
                </a:solidFill>
                <a:latin typeface="Arial"/>
              </a:rPr>
              <a:t>(1)</a:t>
            </a:r>
            <a:r>
              <a:rPr sz="1700" b="0" i="0">
                <a:solidFill>
                  <a:srgbClr val="1A1A1A"/>
                </a:solidFill>
                <a:latin typeface="Arial"/>
              </a:rPr>
              <a:t>. The narrow bars </a:t>
            </a:r>
            <a:r>
              <a:rPr sz="1700" b="1" i="0">
                <a:solidFill>
                  <a:srgbClr val="C62828"/>
                </a:solidFill>
                <a:latin typeface="Arial"/>
              </a:rPr>
              <a:t>(2)</a:t>
            </a:r>
            <a:r>
              <a:rPr sz="1700" b="0" i="0">
                <a:solidFill>
                  <a:srgbClr val="1A1A1A"/>
                </a:solidFill>
                <a:latin typeface="Arial"/>
              </a:rPr>
              <a:t> close at PHP 39.90 and PHP 39.80, still near that low. The last bar closes at PHP 41.80, near its PHP 42.00 high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e-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4140768"/>
            <a:ext cx="5301386" cy="1263335"/>
          </a:xfrm>
          <a:prstGeom prst="rect">
            <a:avLst/>
          </a:prstGeom>
          <a:noFill/>
          <a:ln w="44450">
            <a:solidFill>
              <a:srgbClr val="C62828"/>
            </a:solidFill>
          </a:ln>
        </p:spPr>
        <p:txBody>
          <a:bodyPr rtlCol="0" anchor="ctr"/>
          <a:lstStyle/>
          <a:p>
            <a:pPr algn="ctr"/>
          </a:p>
        </p:txBody>
      </p:sp>
      <p:sp>
        <p:nvSpPr>
          <p:cNvPr id="10" name="Oval 9"/>
          <p:cNvSpPr/>
          <p:nvPr/>
        </p:nvSpPr>
        <p:spPr>
          <a:xfrm>
            <a:off x="2251252" y="4634179"/>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200131" y="350178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764828" y="486615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206506" y="432672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35771" y="364356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XE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58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 The prices are invented for teaching.</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multiple form 2: wide bars closing near their highs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59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low followed by multiple wide range bars, all closing near their highs. The last bar closes at or near its high" (Figure 7.11, p. 216).</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wide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7286091" y="1810512"/>
            <a:ext cx="2694431"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404963" y="1929384"/>
            <a:ext cx="2456688"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404963" y="1929384"/>
            <a:ext cx="2456688"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679283" y="2203703"/>
            <a:ext cx="190804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7.11</a:t>
            </a:r>
          </a:p>
          <a:p>
            <a:pPr algn="l">
              <a:lnSpc>
                <a:spcPct val="115000"/>
              </a:lnSpc>
              <a:spcBef>
                <a:spcPts val="0"/>
              </a:spcBef>
              <a:spcAft>
                <a:spcPts val="0"/>
              </a:spcAft>
            </a:pPr>
            <a:r>
              <a:rPr sz="1500" b="0" i="0">
                <a:solidFill>
                  <a:srgbClr val="1A1A1A"/>
                </a:solidFill>
                <a:latin typeface="Palatino"/>
              </a:rPr>
              <a:t>Figure 7.11, form 2: wide middle bars closing near their highs.</a:t>
            </a:r>
          </a:p>
        </p:txBody>
      </p:sp>
      <p:sp>
        <p:nvSpPr>
          <p:cNvPr id="12" name="Rectangle 11"/>
          <p:cNvSpPr/>
          <p:nvPr/>
        </p:nvSpPr>
        <p:spPr>
          <a:xfrm>
            <a:off x="7769504" y="2456078"/>
            <a:ext cx="364540" cy="1580083"/>
          </a:xfrm>
          <a:prstGeom prst="rect">
            <a:avLst/>
          </a:prstGeom>
          <a:noFill/>
          <a:ln w="44450">
            <a:solidFill>
              <a:srgbClr val="E09B00"/>
            </a:solidFill>
          </a:ln>
        </p:spPr>
        <p:txBody>
          <a:bodyPr rtlCol="0" anchor="ctr"/>
          <a:lstStyle/>
          <a:p>
            <a:pPr algn="ctr"/>
          </a:p>
        </p:txBody>
      </p:sp>
      <p:sp>
        <p:nvSpPr>
          <p:cNvPr id="13" name="Rectangle 12"/>
          <p:cNvSpPr/>
          <p:nvPr/>
        </p:nvSpPr>
        <p:spPr>
          <a:xfrm>
            <a:off x="8197443" y="3509467"/>
            <a:ext cx="1077772" cy="1814169"/>
          </a:xfrm>
          <a:prstGeom prst="rect">
            <a:avLst/>
          </a:prstGeom>
          <a:noFill/>
          <a:ln w="44450">
            <a:solidFill>
              <a:srgbClr val="C62828"/>
            </a:solidFill>
          </a:ln>
        </p:spPr>
        <p:txBody>
          <a:bodyPr rtlCol="0" anchor="ctr"/>
          <a:lstStyle/>
          <a:p>
            <a:pPr algn="ctr"/>
          </a:p>
        </p:txBody>
      </p:sp>
      <p:sp>
        <p:nvSpPr>
          <p:cNvPr id="14" name="Rectangle 13"/>
          <p:cNvSpPr/>
          <p:nvPr/>
        </p:nvSpPr>
        <p:spPr>
          <a:xfrm>
            <a:off x="9291065" y="2456078"/>
            <a:ext cx="364540" cy="1580083"/>
          </a:xfrm>
          <a:prstGeom prst="rect">
            <a:avLst/>
          </a:prstGeom>
          <a:noFill/>
          <a:ln w="44450">
            <a:solidFill>
              <a:srgbClr val="1F5FAD"/>
            </a:solidFill>
          </a:ln>
        </p:spPr>
        <p:txBody>
          <a:bodyPr rtlCol="0" anchor="ctr"/>
          <a:lstStyle/>
          <a:p>
            <a:pPr algn="ctr"/>
          </a:p>
        </p:txBody>
      </p:sp>
      <p:sp>
        <p:nvSpPr>
          <p:cNvPr id="15" name="Oval 14"/>
          <p:cNvSpPr/>
          <p:nvPr/>
        </p:nvSpPr>
        <p:spPr>
          <a:xfrm>
            <a:off x="7641488" y="232806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069427" y="338145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163049" y="2328062"/>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7.11 -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bullish multiple form 2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closes at PHP 40.00, near its low </a:t>
            </a:r>
            <a:r>
              <a:rPr sz="1700" b="1" i="0">
                <a:solidFill>
                  <a:srgbClr val="E09B00"/>
                </a:solidFill>
                <a:latin typeface="Arial"/>
              </a:rPr>
              <a:t>(1)</a:t>
            </a:r>
            <a:r>
              <a:rPr sz="1700" b="0" i="0">
                <a:solidFill>
                  <a:srgbClr val="1A1A1A"/>
                </a:solidFill>
                <a:latin typeface="Arial"/>
              </a:rPr>
              <a:t>. The two wide bars </a:t>
            </a:r>
            <a:r>
              <a:rPr sz="1700" b="1" i="0">
                <a:solidFill>
                  <a:srgbClr val="C62828"/>
                </a:solidFill>
                <a:latin typeface="Arial"/>
              </a:rPr>
              <a:t>(2)</a:t>
            </a:r>
            <a:r>
              <a:rPr sz="1700" b="0" i="0">
                <a:solidFill>
                  <a:srgbClr val="1A1A1A"/>
                </a:solidFill>
                <a:latin typeface="Arial"/>
              </a:rPr>
              <a:t> close near their highs, at PHP 39.80 and PHP 39.70, on 3.8 and 3.6 million shares </a:t>
            </a:r>
            <a:r>
              <a:rPr sz="1700" b="1" i="0">
                <a:solidFill>
                  <a:srgbClr val="1F5FAD"/>
                </a:solidFill>
                <a:latin typeface="Arial"/>
              </a:rPr>
              <a:t>(3)</a:t>
            </a:r>
            <a:r>
              <a:rPr sz="1700" b="0" i="0">
                <a:solidFill>
                  <a:srgbClr val="1A1A1A"/>
                </a:solidFill>
                <a:latin typeface="Arial"/>
              </a:rPr>
              <a:t>. The last bar closes at PHP 41.80, near its high </a:t>
            </a:r>
            <a:r>
              <a:rPr sz="1700" b="1" i="0">
                <a:solidFill>
                  <a:srgbClr val="7B3FA0"/>
                </a:solidFill>
                <a:latin typeface="Arial"/>
              </a:rPr>
              <a:t>(4)</a:t>
            </a:r>
            <a:r>
              <a:rPr sz="1700" b="0" i="0">
                <a:solidFill>
                  <a:srgbClr val="1A1A1A"/>
                </a:solidFill>
                <a:latin typeface="Arial"/>
              </a:rPr>
              <a:t>. High volume on these wide bars indicates bullishness here (p. 216).</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f-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517827"/>
            <a:ext cx="5301386" cy="1383356"/>
          </a:xfrm>
          <a:prstGeom prst="rect">
            <a:avLst/>
          </a:prstGeom>
          <a:noFill/>
          <a:ln w="44450">
            <a:solidFill>
              <a:srgbClr val="C62828"/>
            </a:solidFill>
          </a:ln>
        </p:spPr>
        <p:txBody>
          <a:bodyPr rtlCol="0" anchor="ctr"/>
          <a:lstStyle/>
          <a:p>
            <a:pPr algn="ctr"/>
          </a:p>
        </p:txBody>
      </p:sp>
      <p:sp>
        <p:nvSpPr>
          <p:cNvPr id="10" name="Oval 9"/>
          <p:cNvSpPr/>
          <p:nvPr/>
        </p:nvSpPr>
        <p:spPr>
          <a:xfrm>
            <a:off x="2251252" y="3885416"/>
            <a:ext cx="87782" cy="87782"/>
          </a:xfrm>
          <a:prstGeom prst="ellipse">
            <a:avLst/>
          </a:prstGeom>
          <a:noFill/>
          <a:ln w="44450">
            <a:solidFill>
              <a:srgbClr val="E09B00"/>
            </a:solidFill>
          </a:ln>
        </p:spPr>
        <p:txBody>
          <a:bodyPr rtlCol="0" anchor="ctr"/>
          <a:lstStyle/>
          <a:p>
            <a:pPr algn="ctr"/>
          </a:p>
        </p:txBody>
      </p:sp>
      <p:sp>
        <p:nvSpPr>
          <p:cNvPr id="11" name="Rectangle 10"/>
          <p:cNvSpPr/>
          <p:nvPr/>
        </p:nvSpPr>
        <p:spPr>
          <a:xfrm>
            <a:off x="4633874" y="5148072"/>
            <a:ext cx="2960522" cy="237744"/>
          </a:xfrm>
          <a:prstGeom prst="rect">
            <a:avLst/>
          </a:prstGeom>
          <a:noFill/>
          <a:ln w="44450">
            <a:solidFill>
              <a:srgbClr val="1F5FAD"/>
            </a:solidFill>
          </a:ln>
        </p:spPr>
        <p:txBody>
          <a:bodyPr rtlCol="0" anchor="ctr"/>
          <a:lstStyle/>
          <a:p>
            <a:pPr algn="ctr"/>
          </a:p>
        </p:txBody>
      </p:sp>
      <p:sp>
        <p:nvSpPr>
          <p:cNvPr id="12" name="Oval 11"/>
          <p:cNvSpPr/>
          <p:nvPr/>
        </p:nvSpPr>
        <p:spPr>
          <a:xfrm>
            <a:off x="10200131" y="3426909"/>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8764828" y="408148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2206506" y="3577965"/>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7630346" y="515327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135771" y="356869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XF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60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 Prices and volume are invented for teaching.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multiple form 3: narrow bars inside the first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61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Lim's label: "1st bar closes near its low followed by multiple narrow range bars closing within its range. The last bar closes at or near its high" (Figure 7.11, p. 216).</a:t>
            </a:r>
          </a:p>
          <a:p>
            <a:pPr algn="l">
              <a:lnSpc>
                <a:spcPct val="105000"/>
              </a:lnSpc>
              <a:spcBef>
                <a:spcPts val="0"/>
              </a:spcBef>
              <a:spcAft>
                <a:spcPts val="1100"/>
              </a:spcAft>
            </a:pPr>
            <a:r>
              <a:rPr sz="2000" b="0" i="0">
                <a:solidFill>
                  <a:srgbClr val="1A1A1A"/>
                </a:solidFill>
                <a:latin typeface="Arial"/>
              </a:rPr>
              <a:t>In the drawing, </a:t>
            </a:r>
            <a:r>
              <a:rPr sz="2000" b="1" i="0">
                <a:solidFill>
                  <a:srgbClr val="E09B00"/>
                </a:solidFill>
                <a:latin typeface="Arial"/>
              </a:rPr>
              <a:t>(1)</a:t>
            </a:r>
            <a:r>
              <a:rPr sz="2000" b="0" i="0">
                <a:solidFill>
                  <a:srgbClr val="1A1A1A"/>
                </a:solidFill>
                <a:latin typeface="Arial"/>
              </a:rPr>
              <a:t> is the first bar, </a:t>
            </a:r>
            <a:r>
              <a:rPr sz="2000" b="1" i="0">
                <a:solidFill>
                  <a:srgbClr val="C62828"/>
                </a:solidFill>
                <a:latin typeface="Arial"/>
              </a:rPr>
              <a:t>(2)</a:t>
            </a:r>
            <a:r>
              <a:rPr sz="2000" b="0" i="0">
                <a:solidFill>
                  <a:srgbClr val="1A1A1A"/>
                </a:solidFill>
                <a:latin typeface="Arial"/>
              </a:rPr>
              <a:t> the narrow bars and </a:t>
            </a:r>
            <a:r>
              <a:rPr sz="2000" b="1" i="0">
                <a:solidFill>
                  <a:srgbClr val="1F5FAD"/>
                </a:solidFill>
                <a:latin typeface="Arial"/>
              </a:rPr>
              <a:t>(3)</a:t>
            </a:r>
            <a:r>
              <a:rPr sz="2000" b="0" i="0">
                <a:solidFill>
                  <a:srgbClr val="1A1A1A"/>
                </a:solidFill>
                <a:latin typeface="Arial"/>
              </a:rPr>
              <a:t> the last bar.</a:t>
            </a:r>
          </a:p>
        </p:txBody>
      </p:sp>
      <p:sp>
        <p:nvSpPr>
          <p:cNvPr id="8" name="Rectangle 7"/>
          <p:cNvSpPr/>
          <p:nvPr/>
        </p:nvSpPr>
        <p:spPr>
          <a:xfrm>
            <a:off x="6759658" y="1810512"/>
            <a:ext cx="3747298"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878530" y="1929384"/>
            <a:ext cx="3509554"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878530" y="1929384"/>
            <a:ext cx="350955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152850" y="2203703"/>
            <a:ext cx="2960914"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7.11</a:t>
            </a:r>
          </a:p>
          <a:p>
            <a:pPr algn="l">
              <a:lnSpc>
                <a:spcPct val="115000"/>
              </a:lnSpc>
              <a:spcBef>
                <a:spcPts val="0"/>
              </a:spcBef>
              <a:spcAft>
                <a:spcPts val="0"/>
              </a:spcAft>
            </a:pPr>
            <a:r>
              <a:rPr sz="1500" b="0" i="0">
                <a:solidFill>
                  <a:srgbClr val="1A1A1A"/>
                </a:solidFill>
                <a:latin typeface="Palatino"/>
              </a:rPr>
              <a:t>Figure 7.11, form 3: narrow bars inside the first bar.</a:t>
            </a:r>
          </a:p>
        </p:txBody>
      </p:sp>
      <p:sp>
        <p:nvSpPr>
          <p:cNvPr id="12" name="Rectangle 11"/>
          <p:cNvSpPr/>
          <p:nvPr/>
        </p:nvSpPr>
        <p:spPr>
          <a:xfrm>
            <a:off x="7467229" y="2681804"/>
            <a:ext cx="520772" cy="2340864"/>
          </a:xfrm>
          <a:prstGeom prst="rect">
            <a:avLst/>
          </a:prstGeom>
          <a:noFill/>
          <a:ln w="44450">
            <a:solidFill>
              <a:srgbClr val="E09B00"/>
            </a:solidFill>
          </a:ln>
        </p:spPr>
        <p:txBody>
          <a:bodyPr rtlCol="0" anchor="ctr"/>
          <a:lstStyle/>
          <a:p>
            <a:pPr algn="ctr"/>
          </a:p>
        </p:txBody>
      </p:sp>
      <p:sp>
        <p:nvSpPr>
          <p:cNvPr id="13" name="Rectangle 12"/>
          <p:cNvSpPr/>
          <p:nvPr/>
        </p:nvSpPr>
        <p:spPr>
          <a:xfrm>
            <a:off x="7942717" y="3267020"/>
            <a:ext cx="1720813" cy="1170432"/>
          </a:xfrm>
          <a:prstGeom prst="rect">
            <a:avLst/>
          </a:prstGeom>
          <a:noFill/>
          <a:ln w="44450">
            <a:solidFill>
              <a:srgbClr val="C62828"/>
            </a:solidFill>
          </a:ln>
        </p:spPr>
        <p:txBody>
          <a:bodyPr rtlCol="0" anchor="ctr"/>
          <a:lstStyle/>
          <a:p>
            <a:pPr algn="ctr"/>
          </a:p>
        </p:txBody>
      </p:sp>
      <p:sp>
        <p:nvSpPr>
          <p:cNvPr id="14" name="Rectangle 13"/>
          <p:cNvSpPr/>
          <p:nvPr/>
        </p:nvSpPr>
        <p:spPr>
          <a:xfrm>
            <a:off x="9572962" y="2765406"/>
            <a:ext cx="520772" cy="2257261"/>
          </a:xfrm>
          <a:prstGeom prst="rect">
            <a:avLst/>
          </a:prstGeom>
          <a:noFill/>
          <a:ln w="44450">
            <a:solidFill>
              <a:srgbClr val="1F5FAD"/>
            </a:solidFill>
          </a:ln>
        </p:spPr>
        <p:txBody>
          <a:bodyPr rtlCol="0" anchor="ctr"/>
          <a:lstStyle/>
          <a:p>
            <a:pPr algn="ctr"/>
          </a:p>
        </p:txBody>
      </p:sp>
      <p:sp>
        <p:nvSpPr>
          <p:cNvPr id="15" name="Oval 14"/>
          <p:cNvSpPr/>
          <p:nvPr/>
        </p:nvSpPr>
        <p:spPr>
          <a:xfrm>
            <a:off x="7339213" y="255378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814701" y="313900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444946" y="263739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7.11 -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bullish multiple form 3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 runs from PHP 39.60 to PHP 42.00 and closes at PHP 39.80 </a:t>
            </a:r>
            <a:r>
              <a:rPr sz="1700" b="1" i="0">
                <a:solidFill>
                  <a:srgbClr val="E09B00"/>
                </a:solidFill>
                <a:latin typeface="Arial"/>
              </a:rPr>
              <a:t>(1)</a:t>
            </a:r>
            <a:r>
              <a:rPr sz="1700" b="0" i="0">
                <a:solidFill>
                  <a:srgbClr val="1A1A1A"/>
                </a:solidFill>
                <a:latin typeface="Arial"/>
              </a:rPr>
              <a:t>. The narrow bars </a:t>
            </a:r>
            <a:r>
              <a:rPr sz="1700" b="1" i="0">
                <a:solidFill>
                  <a:srgbClr val="C62828"/>
                </a:solidFill>
                <a:latin typeface="Arial"/>
              </a:rPr>
              <a:t>(2)</a:t>
            </a:r>
            <a:r>
              <a:rPr sz="1700" b="0" i="0">
                <a:solidFill>
                  <a:srgbClr val="1A1A1A"/>
                </a:solidFill>
                <a:latin typeface="Arial"/>
              </a:rPr>
              <a:t> stay inside that range, between PHP 40.20 and PHP 40.80. The last bar closes at PHP 42.00, near its PHP 42.20 high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g-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3855251"/>
            <a:ext cx="5301386" cy="1185906"/>
          </a:xfrm>
          <a:prstGeom prst="rect">
            <a:avLst/>
          </a:prstGeom>
          <a:noFill/>
          <a:ln w="44450">
            <a:solidFill>
              <a:srgbClr val="C62828"/>
            </a:solidFill>
          </a:ln>
        </p:spPr>
        <p:txBody>
          <a:bodyPr rtlCol="0" anchor="ctr"/>
          <a:lstStyle/>
          <a:p>
            <a:pPr algn="ctr"/>
          </a:p>
        </p:txBody>
      </p:sp>
      <p:sp>
        <p:nvSpPr>
          <p:cNvPr id="10" name="Oval 9"/>
          <p:cNvSpPr/>
          <p:nvPr/>
        </p:nvSpPr>
        <p:spPr>
          <a:xfrm>
            <a:off x="2251252" y="4827750"/>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200131" y="349694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764828" y="432018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206506" y="452029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35771" y="363873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XG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62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 The prices are invented for teaching.</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multiple form 4: an island reversal 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63 of 88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Lim's label: "1st bar closes near its low followed by multiple bars forming below a gap. The last bar gaps up and closes at or near its high. Referred to as an island reversal formation" (Figure 7.11, p. 216).</a:t>
            </a:r>
          </a:p>
          <a:p>
            <a:pPr algn="l">
              <a:lnSpc>
                <a:spcPct val="105000"/>
              </a:lnSpc>
              <a:spcBef>
                <a:spcPts val="0"/>
              </a:spcBef>
              <a:spcAft>
                <a:spcPts val="1100"/>
              </a:spcAft>
            </a:pPr>
            <a:r>
              <a:rPr sz="1900" b="0" i="0">
                <a:solidFill>
                  <a:srgbClr val="1A1A1A"/>
                </a:solidFill>
                <a:latin typeface="Arial"/>
              </a:rPr>
              <a:t>In the drawing, </a:t>
            </a:r>
            <a:r>
              <a:rPr sz="1900" b="1" i="0">
                <a:solidFill>
                  <a:srgbClr val="E09B00"/>
                </a:solidFill>
                <a:latin typeface="Arial"/>
              </a:rPr>
              <a:t>(1)</a:t>
            </a:r>
            <a:r>
              <a:rPr sz="1900" b="0" i="0">
                <a:solidFill>
                  <a:srgbClr val="1A1A1A"/>
                </a:solidFill>
                <a:latin typeface="Arial"/>
              </a:rPr>
              <a:t> is the first bar, </a:t>
            </a:r>
            <a:r>
              <a:rPr sz="1900" b="1" i="0">
                <a:solidFill>
                  <a:srgbClr val="C62828"/>
                </a:solidFill>
                <a:latin typeface="Arial"/>
              </a:rPr>
              <a:t>(2)</a:t>
            </a:r>
            <a:r>
              <a:rPr sz="1900" b="0" i="0">
                <a:solidFill>
                  <a:srgbClr val="1A1A1A"/>
                </a:solidFill>
                <a:latin typeface="Arial"/>
              </a:rPr>
              <a:t> the bars below the gap and </a:t>
            </a:r>
            <a:r>
              <a:rPr sz="1900" b="1" i="0">
                <a:solidFill>
                  <a:srgbClr val="1F5FAD"/>
                </a:solidFill>
                <a:latin typeface="Arial"/>
              </a:rPr>
              <a:t>(3)</a:t>
            </a:r>
            <a:r>
              <a:rPr sz="1900" b="0" i="0">
                <a:solidFill>
                  <a:srgbClr val="1A1A1A"/>
                </a:solidFill>
                <a:latin typeface="Arial"/>
              </a:rPr>
              <a:t> the last bar at the right edge of Lim's drawing. Our chart on the next slide draws it with prices.</a:t>
            </a:r>
          </a:p>
        </p:txBody>
      </p:sp>
      <p:sp>
        <p:nvSpPr>
          <p:cNvPr id="8" name="Rectangle 7"/>
          <p:cNvSpPr/>
          <p:nvPr/>
        </p:nvSpPr>
        <p:spPr>
          <a:xfrm>
            <a:off x="6753368" y="1810512"/>
            <a:ext cx="3759877"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872240" y="1929384"/>
            <a:ext cx="3522133"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872240" y="1929384"/>
            <a:ext cx="3522133"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146560" y="2203703"/>
            <a:ext cx="2973493"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7.11</a:t>
            </a:r>
          </a:p>
          <a:p>
            <a:pPr algn="l">
              <a:lnSpc>
                <a:spcPct val="115000"/>
              </a:lnSpc>
              <a:spcBef>
                <a:spcPts val="0"/>
              </a:spcBef>
              <a:spcAft>
                <a:spcPts val="0"/>
              </a:spcAft>
            </a:pPr>
            <a:r>
              <a:rPr sz="1500" b="0" i="0">
                <a:solidFill>
                  <a:srgbClr val="1A1A1A"/>
                </a:solidFill>
                <a:latin typeface="Palatino"/>
              </a:rPr>
              <a:t>Figure 7.11, form 4: bars isolated below a gap.</a:t>
            </a:r>
          </a:p>
        </p:txBody>
      </p:sp>
      <p:sp>
        <p:nvSpPr>
          <p:cNvPr id="12" name="Rectangle 11"/>
          <p:cNvSpPr/>
          <p:nvPr/>
        </p:nvSpPr>
        <p:spPr>
          <a:xfrm>
            <a:off x="7259675" y="2384552"/>
            <a:ext cx="422656" cy="1820671"/>
          </a:xfrm>
          <a:prstGeom prst="rect">
            <a:avLst/>
          </a:prstGeom>
          <a:noFill/>
          <a:ln w="44450">
            <a:solidFill>
              <a:srgbClr val="E09B00"/>
            </a:solidFill>
          </a:ln>
        </p:spPr>
        <p:txBody>
          <a:bodyPr rtlCol="0" anchor="ctr"/>
          <a:lstStyle/>
          <a:p>
            <a:pPr algn="ctr"/>
          </a:p>
        </p:txBody>
      </p:sp>
      <p:sp>
        <p:nvSpPr>
          <p:cNvPr id="13" name="Rectangle 12"/>
          <p:cNvSpPr/>
          <p:nvPr/>
        </p:nvSpPr>
        <p:spPr>
          <a:xfrm>
            <a:off x="7647110" y="4400296"/>
            <a:ext cx="1866730" cy="975359"/>
          </a:xfrm>
          <a:prstGeom prst="rect">
            <a:avLst/>
          </a:prstGeom>
          <a:noFill/>
          <a:ln w="44450">
            <a:solidFill>
              <a:srgbClr val="C62828"/>
            </a:solidFill>
          </a:ln>
        </p:spPr>
        <p:txBody>
          <a:bodyPr rtlCol="0" anchor="ctr"/>
          <a:lstStyle/>
          <a:p>
            <a:pPr algn="ctr"/>
          </a:p>
        </p:txBody>
      </p:sp>
      <p:sp>
        <p:nvSpPr>
          <p:cNvPr id="14" name="Rectangle 13"/>
          <p:cNvSpPr/>
          <p:nvPr/>
        </p:nvSpPr>
        <p:spPr>
          <a:xfrm>
            <a:off x="9654726" y="2384552"/>
            <a:ext cx="563541" cy="1690623"/>
          </a:xfrm>
          <a:prstGeom prst="rect">
            <a:avLst/>
          </a:prstGeom>
          <a:noFill/>
          <a:ln w="44450">
            <a:solidFill>
              <a:srgbClr val="1F5FAD"/>
            </a:solidFill>
          </a:ln>
        </p:spPr>
        <p:txBody>
          <a:bodyPr rtlCol="0" anchor="ctr"/>
          <a:lstStyle/>
          <a:p>
            <a:pPr algn="ctr"/>
          </a:p>
        </p:txBody>
      </p:sp>
      <p:sp>
        <p:nvSpPr>
          <p:cNvPr id="15" name="Oval 14"/>
          <p:cNvSpPr/>
          <p:nvPr/>
        </p:nvSpPr>
        <p:spPr>
          <a:xfrm>
            <a:off x="7131659" y="225653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519094" y="42722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526710" y="22565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7.11 -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bullish multiple form 4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1's low is PHP 40.00 </a:t>
            </a:r>
            <a:r>
              <a:rPr sz="1700" b="1" i="0">
                <a:solidFill>
                  <a:srgbClr val="E09B00"/>
                </a:solidFill>
                <a:latin typeface="Arial"/>
              </a:rPr>
              <a:t>(1)</a:t>
            </a:r>
            <a:r>
              <a:rPr sz="1700" b="0" i="0">
                <a:solidFill>
                  <a:srgbClr val="1A1A1A"/>
                </a:solidFill>
                <a:latin typeface="Arial"/>
              </a:rPr>
              <a:t>, and the isolated bars </a:t>
            </a:r>
            <a:r>
              <a:rPr sz="1700" b="1" i="0">
                <a:solidFill>
                  <a:srgbClr val="C62828"/>
                </a:solidFill>
                <a:latin typeface="Arial"/>
              </a:rPr>
              <a:t>(2)</a:t>
            </a:r>
            <a:r>
              <a:rPr sz="1700" b="0" i="0">
                <a:solidFill>
                  <a:srgbClr val="1A1A1A"/>
                </a:solidFill>
                <a:latin typeface="Arial"/>
              </a:rPr>
              <a:t> trade below a gap, between PHP 39.00 and PHP 39.60. The last bar's low is PHP 40.00 </a:t>
            </a:r>
            <a:r>
              <a:rPr sz="1700" b="1" i="0">
                <a:solidFill>
                  <a:srgbClr val="1F5FAD"/>
                </a:solidFill>
                <a:latin typeface="Arial"/>
              </a:rPr>
              <a:t>(3)</a:t>
            </a:r>
            <a:r>
              <a:rPr sz="1700" b="0" i="0">
                <a:solidFill>
                  <a:srgbClr val="1A1A1A"/>
                </a:solidFill>
                <a:latin typeface="Arial"/>
              </a:rPr>
              <a:t>, so it gaps up above them, and closes at PHP 41.60, near its PHP 41.80 high </a:t>
            </a:r>
            <a:r>
              <a:rPr sz="1700" b="1" i="0">
                <a:solidFill>
                  <a:srgbClr val="7B3FA0"/>
                </a:solidFill>
                <a:latin typeface="Arial"/>
              </a:rPr>
              <a:t>(4)</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xh-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3463442" y="4266590"/>
            <a:ext cx="5301386" cy="1137513"/>
          </a:xfrm>
          <a:prstGeom prst="rect">
            <a:avLst/>
          </a:prstGeom>
          <a:noFill/>
          <a:ln w="44450">
            <a:solidFill>
              <a:srgbClr val="C62828"/>
            </a:solidFill>
          </a:ln>
        </p:spPr>
        <p:txBody>
          <a:bodyPr rtlCol="0" anchor="ctr"/>
          <a:lstStyle/>
          <a:p>
            <a:pPr algn="ctr"/>
          </a:p>
        </p:txBody>
      </p:sp>
      <p:sp>
        <p:nvSpPr>
          <p:cNvPr id="10" name="Oval 9"/>
          <p:cNvSpPr/>
          <p:nvPr/>
        </p:nvSpPr>
        <p:spPr>
          <a:xfrm>
            <a:off x="2095804" y="4424476"/>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044683" y="442447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10200131" y="3585667"/>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8764828" y="470733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832954" y="427530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9788183" y="4420731"/>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135771" y="3727450"/>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XH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64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216, Figure 7.11. The prices are invented for teaching.</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Multiple bar patterns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bearish multiple pattern, what volume does Lim generally expect on the bars between the first and the last?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Low volume</a:t>
            </a:r>
          </a:p>
          <a:p>
            <a:pPr algn="l">
              <a:lnSpc>
                <a:spcPct val="112000"/>
              </a:lnSpc>
              <a:spcBef>
                <a:spcPts val="0"/>
              </a:spcBef>
              <a:spcAft>
                <a:spcPts val="900"/>
              </a:spcAft>
            </a:pPr>
            <a:r>
              <a:rPr sz="1700" b="0" i="0">
                <a:solidFill>
                  <a:srgbClr val="FFFFFF"/>
                </a:solidFill>
                <a:latin typeface="Arial"/>
              </a:rPr>
              <a:t>B.  Steadily rising volume</a:t>
            </a:r>
          </a:p>
          <a:p>
            <a:pPr algn="l">
              <a:lnSpc>
                <a:spcPct val="112000"/>
              </a:lnSpc>
              <a:spcBef>
                <a:spcPts val="0"/>
              </a:spcBef>
              <a:spcAft>
                <a:spcPts val="900"/>
              </a:spcAft>
            </a:pPr>
            <a:r>
              <a:rPr sz="1700" b="0" i="0">
                <a:solidFill>
                  <a:srgbClr val="FFFFFF"/>
                </a:solidFill>
                <a:latin typeface="Arial"/>
              </a:rPr>
              <a:t>C.  The same volume as the first bar</a:t>
            </a:r>
          </a:p>
          <a:p>
            <a:pPr algn="l">
              <a:lnSpc>
                <a:spcPct val="112000"/>
              </a:lnSpc>
              <a:spcBef>
                <a:spcPts val="0"/>
              </a:spcBef>
              <a:spcAft>
                <a:spcPts val="900"/>
              </a:spcAft>
            </a:pPr>
            <a:r>
              <a:rPr sz="1700" b="0" i="0">
                <a:solidFill>
                  <a:srgbClr val="FFFFFF"/>
                </a:solidFill>
                <a:latin typeface="Arial"/>
              </a:rPr>
              <a:t>D.  Volume does not matter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bullish multiple pattern 2, what can high volume on the wide middle bars indicate?</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Bearishness</a:t>
            </a:r>
          </a:p>
          <a:p>
            <a:pPr algn="l">
              <a:lnSpc>
                <a:spcPct val="112000"/>
              </a:lnSpc>
              <a:spcBef>
                <a:spcPts val="0"/>
              </a:spcBef>
              <a:spcAft>
                <a:spcPts val="900"/>
              </a:spcAft>
            </a:pPr>
            <a:r>
              <a:rPr sz="1700" b="0" i="0">
                <a:solidFill>
                  <a:srgbClr val="FFFFFF"/>
                </a:solidFill>
                <a:latin typeface="Arial"/>
              </a:rPr>
              <a:t>B.  Bullishness</a:t>
            </a:r>
          </a:p>
          <a:p>
            <a:pPr algn="l">
              <a:lnSpc>
                <a:spcPct val="112000"/>
              </a:lnSpc>
              <a:spcBef>
                <a:spcPts val="0"/>
              </a:spcBef>
              <a:spcAft>
                <a:spcPts val="900"/>
              </a:spcAft>
            </a:pPr>
            <a:r>
              <a:rPr sz="1700" b="0" i="0">
                <a:solidFill>
                  <a:srgbClr val="FFFFFF"/>
                </a:solidFill>
                <a:latin typeface="Arial"/>
              </a:rPr>
              <a:t>C.  A continuation pattern</a:t>
            </a:r>
          </a:p>
          <a:p>
            <a:pPr algn="l">
              <a:lnSpc>
                <a:spcPct val="112000"/>
              </a:lnSpc>
              <a:spcBef>
                <a:spcPts val="0"/>
              </a:spcBef>
              <a:spcAft>
                <a:spcPts val="900"/>
              </a:spcAft>
            </a:pPr>
            <a:r>
              <a:rPr sz="1700" b="0" i="0">
                <a:solidFill>
                  <a:srgbClr val="FFFFFF"/>
                </a:solidFill>
                <a:latin typeface="Arial"/>
              </a:rPr>
              <a:t>D.  Nothing at all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Multiple bar patterns</a:t>
            </a:r>
          </a:p>
        </p:txBody>
      </p:sp>
      <p:sp>
        <p:nvSpPr>
          <p:cNvPr id="6" name="Rectangle 5"/>
          <p:cNvSpPr/>
          <p:nvPr/>
        </p:nvSpPr>
        <p:spPr>
          <a:xfrm>
            <a:off x="777240" y="1207008"/>
            <a:ext cx="10637215" cy="212471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12471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In a bearish multiple pattern, what volume does Lim generally expect on the bars between the first and the last?</a:t>
            </a:r>
          </a:p>
        </p:txBody>
      </p:sp>
      <p:sp>
        <p:nvSpPr>
          <p:cNvPr id="9" name="TextBox 8"/>
          <p:cNvSpPr txBox="1"/>
          <p:nvPr/>
        </p:nvSpPr>
        <p:spPr>
          <a:xfrm>
            <a:off x="1143000" y="2197354"/>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Low volume</a:t>
            </a:r>
          </a:p>
          <a:p>
            <a:pPr algn="l">
              <a:lnSpc>
                <a:spcPct val="115000"/>
              </a:lnSpc>
              <a:spcBef>
                <a:spcPts val="700"/>
              </a:spcBef>
              <a:spcAft>
                <a:spcPts val="0"/>
              </a:spcAft>
            </a:pPr>
            <a:r>
              <a:rPr sz="1700" b="0" i="0">
                <a:solidFill>
                  <a:srgbClr val="1A1A1A"/>
                </a:solidFill>
                <a:latin typeface="Arial"/>
              </a:rPr>
              <a:t>The numerous bars between the first and last bars should generally occur on low volume, with pattern 2 possibly the exception (p. 214).</a:t>
            </a:r>
          </a:p>
        </p:txBody>
      </p:sp>
      <p:sp>
        <p:nvSpPr>
          <p:cNvPr id="10" name="Rectangle 9"/>
          <p:cNvSpPr/>
          <p:nvPr/>
        </p:nvSpPr>
        <p:spPr>
          <a:xfrm>
            <a:off x="777240" y="3578606"/>
            <a:ext cx="10637215" cy="18764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78606"/>
            <a:ext cx="91440" cy="187642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816349"/>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In bullish multiple pattern 2, what can high volume on the wide middle bars indicate?</a:t>
            </a:r>
          </a:p>
        </p:txBody>
      </p:sp>
      <p:sp>
        <p:nvSpPr>
          <p:cNvPr id="13" name="TextBox 12"/>
          <p:cNvSpPr txBox="1"/>
          <p:nvPr/>
        </p:nvSpPr>
        <p:spPr>
          <a:xfrm>
            <a:off x="1143000" y="4320667"/>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Bullishness</a:t>
            </a:r>
          </a:p>
          <a:p>
            <a:pPr algn="l">
              <a:lnSpc>
                <a:spcPct val="115000"/>
              </a:lnSpc>
              <a:spcBef>
                <a:spcPts val="700"/>
              </a:spcBef>
              <a:spcAft>
                <a:spcPts val="0"/>
              </a:spcAft>
            </a:pPr>
            <a:r>
              <a:rPr sz="1700" b="0" i="0">
                <a:solidFill>
                  <a:srgbClr val="1A1A1A"/>
                </a:solidFill>
                <a:latin typeface="Arial"/>
              </a:rPr>
              <a:t>Wide-ranging bars between the first and last bar in pattern 2 can occur on high or above average volume, indicating bullishness (p. 216).</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Continuation bars show the trend is still strong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65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So far every pattern disagreed with its trend. Lim also draws two patterns where a bullish continuation is expected instead: bullish bars inside an uptrend (p. 216).</a:t>
            </a:r>
          </a:p>
          <a:p>
            <a:pPr algn="l">
              <a:lnSpc>
                <a:spcPct val="118000"/>
              </a:lnSpc>
              <a:spcBef>
                <a:spcPts val="0"/>
              </a:spcBef>
              <a:spcAft>
                <a:spcPts val="1300"/>
              </a:spcAft>
            </a:pPr>
            <a:r>
              <a:rPr sz="2100" b="0" i="0">
                <a:solidFill>
                  <a:srgbClr val="1A1A1A"/>
                </a:solidFill>
                <a:latin typeface="Arial"/>
              </a:rPr>
              <a:t>Lim adds that large volume on a bullish second bar indicates the trend may still be potentially strong (p. 216).</a:t>
            </a:r>
          </a:p>
          <a:p>
            <a:pPr algn="l">
              <a:lnSpc>
                <a:spcPct val="118000"/>
              </a:lnSpc>
              <a:spcBef>
                <a:spcPts val="0"/>
              </a:spcBef>
              <a:spcAft>
                <a:spcPts val="1300"/>
              </a:spcAft>
            </a:pPr>
            <a:r>
              <a:rPr sz="2100" b="0" i="0">
                <a:solidFill>
                  <a:srgbClr val="1A1A1A"/>
                </a:solidFill>
                <a:latin typeface="Arial"/>
              </a:rPr>
              <a:t>For bearish continuation bars he says only that the reverse applies (p. 217); he draws no bearish example.</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216 to 217.</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Continuation pattern 1: the second bar breaks the previous high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"the second bar breaches the high of the previous bar on high volume" (p. 217); his label adds that it closes at or near its high (Figure 7.12, p. 216). Here it is with invented prices. The previous high is PHP 51.00 </a:t>
            </a:r>
            <a:r>
              <a:rPr sz="1700" b="1" i="0">
                <a:solidFill>
                  <a:srgbClr val="E09B00"/>
                </a:solidFill>
                <a:latin typeface="Arial"/>
              </a:rPr>
              <a:t>(1)</a:t>
            </a:r>
            <a:r>
              <a:rPr sz="1700" b="0" i="0">
                <a:solidFill>
                  <a:srgbClr val="1A1A1A"/>
                </a:solidFill>
                <a:latin typeface="Arial"/>
              </a:rPr>
              <a:t>. Bar 2 reaches PHP 53.40 and closes at PHP 53.20, near its high </a:t>
            </a:r>
            <a:r>
              <a:rPr sz="1700" b="1" i="0">
                <a:solidFill>
                  <a:srgbClr val="C62828"/>
                </a:solidFill>
                <a:latin typeface="Arial"/>
              </a:rPr>
              <a:t>(2)</a:t>
            </a:r>
            <a:r>
              <a:rPr sz="1700" b="0" i="0">
                <a:solidFill>
                  <a:srgbClr val="1A1A1A"/>
                </a:solidFill>
                <a:latin typeface="Arial"/>
              </a:rPr>
              <a:t>, on 4.0 million shares against 2.0 million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1367914" y="2395728"/>
            <a:ext cx="1299418" cy="3511296"/>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1367914" y="2395728"/>
            <a:ext cx="1299418"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642234" y="2670048"/>
            <a:ext cx="750778"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7.12</a:t>
            </a:r>
          </a:p>
          <a:p>
            <a:pPr algn="l">
              <a:lnSpc>
                <a:spcPct val="115000"/>
              </a:lnSpc>
              <a:spcBef>
                <a:spcPts val="0"/>
              </a:spcBef>
              <a:spcAft>
                <a:spcPts val="0"/>
              </a:spcAft>
            </a:pPr>
            <a:r>
              <a:rPr sz="1500" b="0" i="0">
                <a:solidFill>
                  <a:srgbClr val="1A1A1A"/>
                </a:solidFill>
                <a:latin typeface="Palatino"/>
              </a:rPr>
              <a:t>Figure 7.12, pattern 1: a second bar closing near its high.</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7.12,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ca-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5518403" y="3869740"/>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10282427" y="3417112"/>
            <a:ext cx="87782" cy="87782"/>
          </a:xfrm>
          <a:prstGeom prst="ellipse">
            <a:avLst/>
          </a:prstGeom>
          <a:noFill/>
          <a:ln w="44450">
            <a:solidFill>
              <a:srgbClr val="C62828"/>
            </a:solidFill>
          </a:ln>
        </p:spPr>
        <p:txBody>
          <a:bodyPr rtlCol="0" anchor="ctr"/>
          <a:lstStyle/>
          <a:p>
            <a:pPr algn="ctr"/>
          </a:p>
        </p:txBody>
      </p:sp>
      <p:sp>
        <p:nvSpPr>
          <p:cNvPr id="16" name="Rectangle 15"/>
          <p:cNvSpPr/>
          <p:nvPr/>
        </p:nvSpPr>
        <p:spPr>
          <a:xfrm>
            <a:off x="10015422" y="5148072"/>
            <a:ext cx="310896" cy="237744"/>
          </a:xfrm>
          <a:prstGeom prst="rect">
            <a:avLst/>
          </a:prstGeom>
          <a:noFill/>
          <a:ln w="44450">
            <a:solidFill>
              <a:srgbClr val="1F5FAD"/>
            </a:solidFill>
          </a:ln>
        </p:spPr>
        <p:txBody>
          <a:bodyPr rtlCol="0" anchor="ctr"/>
          <a:lstStyle/>
          <a:p>
            <a:pPr algn="ctr"/>
          </a:p>
        </p:txBody>
      </p:sp>
      <p:sp>
        <p:nvSpPr>
          <p:cNvPr id="17" name="Oval 16"/>
          <p:cNvSpPr/>
          <p:nvPr/>
        </p:nvSpPr>
        <p:spPr>
          <a:xfrm>
            <a:off x="5244807" y="380219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31330" y="352029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326318" y="513892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CA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66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216 to 217, Figure 7.12. Prices and volume are invented for teaching.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Continuation pattern 2: a halfway retrace, then a breach</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"price retraces to the 50 percent level of the previous bar and subsequently rebounds on high volume, breaching the previous bar's high" (p. 217). Say bar 1 runs from PHP 48.00 to PHP 52.00, so its 50 percent level is (48.00 + 52.00) / 2 = PHP 50.00. Bar 2 dips to PHP 50.00 </a:t>
            </a:r>
            <a:r>
              <a:rPr sz="1700" b="1" i="0">
                <a:solidFill>
                  <a:srgbClr val="E09B00"/>
                </a:solidFill>
                <a:latin typeface="Arial"/>
              </a:rPr>
              <a:t>(1)</a:t>
            </a:r>
            <a:r>
              <a:rPr sz="1700" b="0" i="0">
                <a:solidFill>
                  <a:srgbClr val="1A1A1A"/>
                </a:solidFill>
                <a:latin typeface="Arial"/>
              </a:rPr>
              <a:t>, then rebounds to PHP 52.80, above the old high </a:t>
            </a:r>
            <a:r>
              <a:rPr sz="1700" b="1" i="0">
                <a:solidFill>
                  <a:srgbClr val="C62828"/>
                </a:solidFill>
                <a:latin typeface="Arial"/>
              </a:rPr>
              <a:t>(2)</a:t>
            </a:r>
            <a:r>
              <a:rPr sz="1700" b="0" i="0">
                <a:solidFill>
                  <a:srgbClr val="1A1A1A"/>
                </a:solidFill>
                <a:latin typeface="Arial"/>
              </a:rPr>
              <a:t>, on 4.2 million shares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740664" y="2359152"/>
            <a:ext cx="2553918" cy="3584448"/>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777240" y="2555294"/>
            <a:ext cx="2480766" cy="3192163"/>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777240" y="2555294"/>
            <a:ext cx="248076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1051560" y="2829614"/>
            <a:ext cx="1932126" cy="273496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7.12</a:t>
            </a:r>
          </a:p>
          <a:p>
            <a:pPr algn="l">
              <a:lnSpc>
                <a:spcPct val="115000"/>
              </a:lnSpc>
              <a:spcBef>
                <a:spcPts val="0"/>
              </a:spcBef>
              <a:spcAft>
                <a:spcPts val="0"/>
              </a:spcAft>
            </a:pPr>
            <a:r>
              <a:rPr sz="1500" b="0" i="0">
                <a:solidFill>
                  <a:srgbClr val="1A1A1A"/>
                </a:solidFill>
                <a:latin typeface="Palatino"/>
              </a:rPr>
              <a:t>Figure 7.12, pattern 2: a retrace to the midpoint, then a rebound.</a:t>
            </a:r>
          </a:p>
        </p:txBody>
      </p:sp>
      <p:sp>
        <p:nvSpPr>
          <p:cNvPr id="11" name="TextBox 10"/>
          <p:cNvSpPr txBox="1"/>
          <p:nvPr/>
        </p:nvSpPr>
        <p:spPr>
          <a:xfrm>
            <a:off x="777240" y="5961888"/>
            <a:ext cx="2480766"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7.12, Lim (2016)</a:t>
            </a:r>
          </a:p>
        </p:txBody>
      </p:sp>
      <p:sp>
        <p:nvSpPr>
          <p:cNvPr id="12" name="Rectangle 11"/>
          <p:cNvSpPr/>
          <p:nvPr/>
        </p:nvSpPr>
        <p:spPr>
          <a:xfrm>
            <a:off x="3422598" y="2359152"/>
            <a:ext cx="8028431" cy="3584448"/>
          </a:xfrm>
          <a:prstGeom prst="rect">
            <a:avLst/>
          </a:prstGeom>
          <a:solidFill>
            <a:srgbClr val="FFFFFF"/>
          </a:solidFill>
          <a:ln w="12700">
            <a:solidFill>
              <a:srgbClr val="D7E0D9"/>
            </a:solidFill>
          </a:ln>
          <a:effectLst/>
        </p:spPr>
        <p:txBody>
          <a:bodyPr rtlCol="0" anchor="ctr"/>
          <a:lstStyle/>
          <a:p>
            <a:pPr algn="ctr"/>
          </a:p>
        </p:txBody>
      </p:sp>
      <p:pic>
        <p:nvPicPr>
          <p:cNvPr id="13" name="Picture 12" descr="chart-p2-cb-0.png"/>
          <p:cNvPicPr>
            <a:picLocks noChangeAspect="1"/>
          </p:cNvPicPr>
          <p:nvPr/>
        </p:nvPicPr>
        <p:blipFill>
          <a:blip r:embed="rId2"/>
          <a:stretch>
            <a:fillRect/>
          </a:stretch>
        </p:blipFill>
        <p:spPr>
          <a:xfrm>
            <a:off x="3459174" y="2395728"/>
            <a:ext cx="7955279" cy="3511296"/>
          </a:xfrm>
          <a:prstGeom prst="rect">
            <a:avLst/>
          </a:prstGeom>
        </p:spPr>
      </p:pic>
      <p:sp>
        <p:nvSpPr>
          <p:cNvPr id="14" name="Oval 13"/>
          <p:cNvSpPr/>
          <p:nvPr/>
        </p:nvSpPr>
        <p:spPr>
          <a:xfrm>
            <a:off x="10126979" y="4000042"/>
            <a:ext cx="87782" cy="87782"/>
          </a:xfrm>
          <a:prstGeom prst="ellipse">
            <a:avLst/>
          </a:prstGeom>
          <a:noFill/>
          <a:ln w="44450">
            <a:solidFill>
              <a:srgbClr val="E09B00"/>
            </a:solidFill>
          </a:ln>
        </p:spPr>
        <p:txBody>
          <a:bodyPr rtlCol="0" anchor="ctr"/>
          <a:lstStyle/>
          <a:p>
            <a:pPr algn="ctr"/>
          </a:p>
        </p:txBody>
      </p:sp>
      <p:sp>
        <p:nvSpPr>
          <p:cNvPr id="15" name="Oval 14"/>
          <p:cNvSpPr/>
          <p:nvPr/>
        </p:nvSpPr>
        <p:spPr>
          <a:xfrm>
            <a:off x="10126979" y="3375964"/>
            <a:ext cx="87782" cy="87782"/>
          </a:xfrm>
          <a:prstGeom prst="ellipse">
            <a:avLst/>
          </a:prstGeom>
          <a:noFill/>
          <a:ln w="44450">
            <a:solidFill>
              <a:srgbClr val="C62828"/>
            </a:solidFill>
          </a:ln>
        </p:spPr>
        <p:txBody>
          <a:bodyPr rtlCol="0" anchor="ctr"/>
          <a:lstStyle/>
          <a:p>
            <a:pPr algn="ctr"/>
          </a:p>
        </p:txBody>
      </p:sp>
      <p:sp>
        <p:nvSpPr>
          <p:cNvPr id="16" name="Rectangle 15"/>
          <p:cNvSpPr/>
          <p:nvPr/>
        </p:nvSpPr>
        <p:spPr>
          <a:xfrm>
            <a:off x="10015422" y="5148072"/>
            <a:ext cx="310896" cy="237744"/>
          </a:xfrm>
          <a:prstGeom prst="rect">
            <a:avLst/>
          </a:prstGeom>
          <a:noFill/>
          <a:ln w="44450">
            <a:solidFill>
              <a:srgbClr val="1F5FAD"/>
            </a:solidFill>
          </a:ln>
        </p:spPr>
        <p:txBody>
          <a:bodyPr rtlCol="0" anchor="ctr"/>
          <a:lstStyle/>
          <a:p>
            <a:pPr algn="ctr"/>
          </a:p>
        </p:txBody>
      </p:sp>
      <p:sp>
        <p:nvSpPr>
          <p:cNvPr id="17" name="Oval 16"/>
          <p:cNvSpPr/>
          <p:nvPr/>
        </p:nvSpPr>
        <p:spPr>
          <a:xfrm>
            <a:off x="10230160" y="388289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852659"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344050" y="515167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3459174" y="5961888"/>
            <a:ext cx="7955279"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CB - FIN1209 teaching chart, drawn for this course. Illustrative data, not a real instrument.</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67 of 88</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216 to 217, Figure 7.12. Prices and volume are invented for teaching.</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Continuation bars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continuation pattern 1, what does the second bar do?</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Gaps down below the first bar</a:t>
            </a:r>
          </a:p>
          <a:p>
            <a:pPr algn="l">
              <a:lnSpc>
                <a:spcPct val="112000"/>
              </a:lnSpc>
              <a:spcBef>
                <a:spcPts val="0"/>
              </a:spcBef>
              <a:spcAft>
                <a:spcPts val="900"/>
              </a:spcAft>
            </a:pPr>
            <a:r>
              <a:rPr sz="1700" b="0" i="0">
                <a:solidFill>
                  <a:srgbClr val="FFFFFF"/>
                </a:solidFill>
                <a:latin typeface="Arial"/>
              </a:rPr>
              <a:t>B.  Breaches the previous high on high volume</a:t>
            </a:r>
          </a:p>
          <a:p>
            <a:pPr algn="l">
              <a:lnSpc>
                <a:spcPct val="112000"/>
              </a:lnSpc>
              <a:spcBef>
                <a:spcPts val="0"/>
              </a:spcBef>
              <a:spcAft>
                <a:spcPts val="900"/>
              </a:spcAft>
            </a:pPr>
            <a:r>
              <a:rPr sz="1700" b="0" i="0">
                <a:solidFill>
                  <a:srgbClr val="FFFFFF"/>
                </a:solidFill>
                <a:latin typeface="Arial"/>
              </a:rPr>
              <a:t>C.  Closes near its low</a:t>
            </a:r>
          </a:p>
          <a:p>
            <a:pPr algn="l">
              <a:lnSpc>
                <a:spcPct val="112000"/>
              </a:lnSpc>
              <a:spcBef>
                <a:spcPts val="0"/>
              </a:spcBef>
              <a:spcAft>
                <a:spcPts val="900"/>
              </a:spcAft>
            </a:pPr>
            <a:r>
              <a:rPr sz="1700" b="0" i="0">
                <a:solidFill>
                  <a:srgbClr val="FFFFFF"/>
                </a:solidFill>
                <a:latin typeface="Arial"/>
              </a:rPr>
              <a:t>D.  Stays inside the first bar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first bar runs from PHP 48.00 to PHP 52.00. To what level does pattern 2 retrace?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PHP 49.00</a:t>
            </a:r>
          </a:p>
          <a:p>
            <a:pPr algn="l">
              <a:lnSpc>
                <a:spcPct val="112000"/>
              </a:lnSpc>
              <a:spcBef>
                <a:spcPts val="0"/>
              </a:spcBef>
              <a:spcAft>
                <a:spcPts val="900"/>
              </a:spcAft>
            </a:pPr>
            <a:r>
              <a:rPr sz="1700" b="0" i="0">
                <a:solidFill>
                  <a:srgbClr val="FFFFFF"/>
                </a:solidFill>
                <a:latin typeface="Arial"/>
              </a:rPr>
              <a:t>B.  PHP 51.00</a:t>
            </a:r>
          </a:p>
          <a:p>
            <a:pPr algn="l">
              <a:lnSpc>
                <a:spcPct val="112000"/>
              </a:lnSpc>
              <a:spcBef>
                <a:spcPts val="0"/>
              </a:spcBef>
              <a:spcAft>
                <a:spcPts val="900"/>
              </a:spcAft>
            </a:pPr>
            <a:r>
              <a:rPr sz="1700" b="0" i="0">
                <a:solidFill>
                  <a:srgbClr val="FFFFFF"/>
                </a:solidFill>
                <a:latin typeface="Arial"/>
              </a:rPr>
              <a:t>C.  PHP 52.00</a:t>
            </a:r>
          </a:p>
          <a:p>
            <a:pPr algn="l">
              <a:lnSpc>
                <a:spcPct val="112000"/>
              </a:lnSpc>
              <a:spcBef>
                <a:spcPts val="0"/>
              </a:spcBef>
              <a:spcAft>
                <a:spcPts val="900"/>
              </a:spcAft>
            </a:pPr>
            <a:r>
              <a:rPr sz="1700" b="0" i="0">
                <a:solidFill>
                  <a:srgbClr val="FFFFFF"/>
                </a:solidFill>
                <a:latin typeface="Arial"/>
              </a:rPr>
              <a:t>D.  PHP 50.00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Continuation bars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In continuation pattern 1, what does the second bar do?</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Breaches the previous high on high volume</a:t>
            </a:r>
          </a:p>
          <a:p>
            <a:pPr algn="l">
              <a:lnSpc>
                <a:spcPct val="115000"/>
              </a:lnSpc>
              <a:spcBef>
                <a:spcPts val="700"/>
              </a:spcBef>
              <a:spcAft>
                <a:spcPts val="0"/>
              </a:spcAft>
            </a:pPr>
            <a:r>
              <a:rPr sz="1700" b="0" i="0">
                <a:solidFill>
                  <a:srgbClr val="1A1A1A"/>
                </a:solidFill>
                <a:latin typeface="Arial"/>
              </a:rPr>
              <a:t>In pattern 1 the second bar breaches the high of the previous bar on high volume (p. 217).</a:t>
            </a:r>
          </a:p>
        </p:txBody>
      </p:sp>
      <p:sp>
        <p:nvSpPr>
          <p:cNvPr id="10" name="Rectangle 9"/>
          <p:cNvSpPr/>
          <p:nvPr/>
        </p:nvSpPr>
        <p:spPr>
          <a:xfrm>
            <a:off x="777240" y="3082036"/>
            <a:ext cx="10637215" cy="18764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7642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A first bar runs from PHP 48.00 to PHP 52.00. To what level does pattern 2 retrace?</a:t>
            </a:r>
          </a:p>
        </p:txBody>
      </p:sp>
      <p:sp>
        <p:nvSpPr>
          <p:cNvPr id="13" name="TextBox 12"/>
          <p:cNvSpPr txBox="1"/>
          <p:nvPr/>
        </p:nvSpPr>
        <p:spPr>
          <a:xfrm>
            <a:off x="1143000" y="3824096"/>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PHP 50.00</a:t>
            </a:r>
          </a:p>
          <a:p>
            <a:pPr algn="l">
              <a:lnSpc>
                <a:spcPct val="115000"/>
              </a:lnSpc>
              <a:spcBef>
                <a:spcPts val="700"/>
              </a:spcBef>
              <a:spcAft>
                <a:spcPts val="0"/>
              </a:spcAft>
            </a:pPr>
            <a:r>
              <a:rPr sz="1700" b="0" i="0">
                <a:solidFill>
                  <a:srgbClr val="1A1A1A"/>
                </a:solidFill>
                <a:latin typeface="Arial"/>
              </a:rPr>
              <a:t>Pattern 2 retraces to the 50 percent level of the previous bar: (48.00 + 52.00) / 2 = PHP 50.00 (p. 217).</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13</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Every pattern is read against the 16 reversal characteristics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68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Besides each pattern's own behaviour, Lim asks us to watch 16 basic price and volume characteristics that indicate a potential reversal (p. 217).</a:t>
            </a:r>
          </a:p>
          <a:p>
            <a:pPr algn="l">
              <a:lnSpc>
                <a:spcPct val="118000"/>
              </a:lnSpc>
              <a:spcBef>
                <a:spcPts val="0"/>
              </a:spcBef>
              <a:spcAft>
                <a:spcPts val="1300"/>
              </a:spcAft>
            </a:pPr>
            <a:r>
              <a:rPr sz="2100" b="0" i="0">
                <a:solidFill>
                  <a:srgbClr val="1A1A1A"/>
                </a:solidFill>
                <a:latin typeface="Arial"/>
              </a:rPr>
              <a:t>They apply equally to Japanese candlestick analysis (Chapter 3, "Japanese candlestick"). Lim calls them strong indications of a potential change in trend or a price retracement, and refers us to Chapter 5 for the detail (p. 217).</a:t>
            </a:r>
          </a:p>
          <a:p>
            <a:pPr algn="l">
              <a:lnSpc>
                <a:spcPct val="118000"/>
              </a:lnSpc>
              <a:spcBef>
                <a:spcPts val="0"/>
              </a:spcBef>
              <a:spcAft>
                <a:spcPts val="1300"/>
              </a:spcAft>
            </a:pPr>
            <a:r>
              <a:rPr sz="2100" b="0" i="0">
                <a:solidFill>
                  <a:srgbClr val="1A1A1A"/>
                </a:solidFill>
                <a:latin typeface="Arial"/>
              </a:rPr>
              <a:t>We met all 16 in Chapter 5. The next eleven slides recall them in the book's own words and order, each with invented numbers to show the change.</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Chapter 3, "Japanese candlestick"; Chapter 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1 and 2: the swings get smaller and shorter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 decrease in price cycle amplitude: each swing covers less ground, say rises of 40 points </a:t>
            </a:r>
            <a:r>
              <a:rPr sz="1700" b="1" i="0">
                <a:solidFill>
                  <a:srgbClr val="E09B00"/>
                </a:solidFill>
                <a:latin typeface="Arial"/>
              </a:rPr>
              <a:t>(1)</a:t>
            </a:r>
            <a:r>
              <a:rPr sz="1700" b="0" i="0">
                <a:solidFill>
                  <a:srgbClr val="1A1A1A"/>
                </a:solidFill>
                <a:latin typeface="Arial"/>
              </a:rPr>
              <a:t> shrinking to 30 </a:t>
            </a:r>
            <a:r>
              <a:rPr sz="1700" b="1" i="0">
                <a:solidFill>
                  <a:srgbClr val="C62828"/>
                </a:solidFill>
                <a:latin typeface="Arial"/>
              </a:rPr>
              <a:t>(2)</a:t>
            </a:r>
            <a:r>
              <a:rPr sz="1700" b="0" i="0">
                <a:solidFill>
                  <a:srgbClr val="1A1A1A"/>
                </a:solidFill>
                <a:latin typeface="Arial"/>
              </a:rPr>
              <a:t> (Chapter 5, "1 Cycle amplitude"). Characteristic 2, decrease in price cycle period: each swing takes less time, say 20 bars </a:t>
            </a:r>
            <a:r>
              <a:rPr sz="1700" b="1" i="0">
                <a:solidFill>
                  <a:srgbClr val="1F5FAD"/>
                </a:solidFill>
                <a:latin typeface="Arial"/>
              </a:rPr>
              <a:t>(3)</a:t>
            </a:r>
            <a:r>
              <a:rPr sz="1700" b="0" i="0">
                <a:solidFill>
                  <a:srgbClr val="1A1A1A"/>
                </a:solidFill>
                <a:latin typeface="Arial"/>
              </a:rPr>
              <a:t> falling to 12 </a:t>
            </a:r>
            <a:r>
              <a:rPr sz="1700" b="1" i="0">
                <a:solidFill>
                  <a:srgbClr val="7B3FA0"/>
                </a:solidFill>
                <a:latin typeface="Arial"/>
              </a:rPr>
              <a:t>(4)</a:t>
            </a:r>
            <a:r>
              <a:rPr sz="1700" b="0" i="0">
                <a:solidFill>
                  <a:srgbClr val="1A1A1A"/>
                </a:solidFill>
                <a:latin typeface="Arial"/>
              </a:rPr>
              <a:t> (Chapter 5, "2 Cycle period").</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1-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283208" y="3957945"/>
            <a:ext cx="1267968" cy="1195753"/>
          </a:xfrm>
          <a:prstGeom prst="rect">
            <a:avLst/>
          </a:prstGeom>
          <a:noFill/>
          <a:ln w="44450">
            <a:solidFill>
              <a:srgbClr val="E09B00"/>
            </a:solidFill>
          </a:ln>
        </p:spPr>
        <p:txBody>
          <a:bodyPr rtlCol="0" anchor="ctr"/>
          <a:lstStyle/>
          <a:p>
            <a:pPr algn="ctr"/>
          </a:p>
        </p:txBody>
      </p:sp>
      <p:sp>
        <p:nvSpPr>
          <p:cNvPr id="10" name="Rectangle 9"/>
          <p:cNvSpPr/>
          <p:nvPr/>
        </p:nvSpPr>
        <p:spPr>
          <a:xfrm>
            <a:off x="4453128" y="3766624"/>
            <a:ext cx="1267968" cy="908772"/>
          </a:xfrm>
          <a:prstGeom prst="rect">
            <a:avLst/>
          </a:prstGeom>
          <a:noFill/>
          <a:ln w="44450">
            <a:solidFill>
              <a:srgbClr val="C62828"/>
            </a:solidFill>
          </a:ln>
        </p:spPr>
        <p:txBody>
          <a:bodyPr rtlCol="0" anchor="ctr"/>
          <a:lstStyle/>
          <a:p>
            <a:pPr algn="ctr"/>
          </a:p>
        </p:txBody>
      </p:sp>
      <p:sp>
        <p:nvSpPr>
          <p:cNvPr id="11" name="Rectangle 10"/>
          <p:cNvSpPr/>
          <p:nvPr/>
        </p:nvSpPr>
        <p:spPr>
          <a:xfrm>
            <a:off x="6512898" y="4077520"/>
            <a:ext cx="1937173" cy="1028348"/>
          </a:xfrm>
          <a:prstGeom prst="rect">
            <a:avLst/>
          </a:prstGeom>
          <a:noFill/>
          <a:ln w="44450">
            <a:solidFill>
              <a:srgbClr val="1F5FAD"/>
            </a:solidFill>
          </a:ln>
        </p:spPr>
        <p:txBody>
          <a:bodyPr rtlCol="0" anchor="ctr"/>
          <a:lstStyle/>
          <a:p>
            <a:pPr algn="ctr"/>
          </a:p>
        </p:txBody>
      </p:sp>
      <p:sp>
        <p:nvSpPr>
          <p:cNvPr id="12" name="Rectangle 11"/>
          <p:cNvSpPr/>
          <p:nvPr/>
        </p:nvSpPr>
        <p:spPr>
          <a:xfrm>
            <a:off x="9682818" y="4077520"/>
            <a:ext cx="1232746" cy="908772"/>
          </a:xfrm>
          <a:prstGeom prst="rect">
            <a:avLst/>
          </a:prstGeom>
          <a:noFill/>
          <a:ln w="44450">
            <a:solidFill>
              <a:srgbClr val="7B3FA0"/>
            </a:solidFill>
          </a:ln>
        </p:spPr>
        <p:txBody>
          <a:bodyPr rtlCol="0" anchor="ctr"/>
          <a:lstStyle/>
          <a:p>
            <a:pPr algn="ctr"/>
          </a:p>
        </p:txBody>
      </p:sp>
      <p:sp>
        <p:nvSpPr>
          <p:cNvPr id="13" name="Oval 12"/>
          <p:cNvSpPr/>
          <p:nvPr/>
        </p:nvSpPr>
        <p:spPr>
          <a:xfrm>
            <a:off x="2705797" y="468290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85688" y="422931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614663" y="4617931"/>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1027239" y="437237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K1 -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69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3 and 4: pullbacks change and bars shrink</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3, change in bar retracement symmetry: pullbacks that took 6 </a:t>
            </a:r>
            <a:r>
              <a:rPr sz="1700" b="1" i="0">
                <a:solidFill>
                  <a:srgbClr val="E09B00"/>
                </a:solidFill>
                <a:latin typeface="Arial"/>
              </a:rPr>
              <a:t>(1)</a:t>
            </a:r>
            <a:r>
              <a:rPr sz="1700" b="0" i="0">
                <a:solidFill>
                  <a:srgbClr val="1A1A1A"/>
                </a:solidFill>
                <a:latin typeface="Arial"/>
              </a:rPr>
              <a:t>, 6 and 5 bars suddenly take 2 </a:t>
            </a:r>
            <a:r>
              <a:rPr sz="1700" b="1" i="0">
                <a:solidFill>
                  <a:srgbClr val="C62828"/>
                </a:solidFill>
                <a:latin typeface="Arial"/>
              </a:rPr>
              <a:t>(2)</a:t>
            </a:r>
            <a:r>
              <a:rPr sz="1700" b="0" i="0">
                <a:solidFill>
                  <a:srgbClr val="1A1A1A"/>
                </a:solidFill>
                <a:latin typeface="Arial"/>
              </a:rPr>
              <a:t> (Chapter 5, "3 Bar retracement symmetry"). Characteristic 4, decrease in average bar range: bars that averaged PHP 3.00 </a:t>
            </a:r>
            <a:r>
              <a:rPr sz="1700" b="1" i="0">
                <a:solidFill>
                  <a:srgbClr val="1F5FAD"/>
                </a:solidFill>
                <a:latin typeface="Arial"/>
              </a:rPr>
              <a:t>(3)</a:t>
            </a:r>
            <a:r>
              <a:rPr sz="1700" b="0" i="0">
                <a:solidFill>
                  <a:srgbClr val="1A1A1A"/>
                </a:solidFill>
                <a:latin typeface="Arial"/>
              </a:rPr>
              <a:t> from low to high now average PHP 2.00 </a:t>
            </a:r>
            <a:r>
              <a:rPr sz="1700" b="1" i="0">
                <a:solidFill>
                  <a:srgbClr val="7B3FA0"/>
                </a:solidFill>
                <a:latin typeface="Arial"/>
              </a:rPr>
              <a:t>(4)</a:t>
            </a:r>
            <a:r>
              <a:rPr sz="1700" b="0" i="0">
                <a:solidFill>
                  <a:srgbClr val="1A1A1A"/>
                </a:solidFill>
                <a:latin typeface="Arial"/>
              </a:rPr>
              <a:t> (Chapter 5, "4 Average bar range").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3-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862538" y="4280001"/>
            <a:ext cx="819806" cy="621791"/>
          </a:xfrm>
          <a:prstGeom prst="rect">
            <a:avLst/>
          </a:prstGeom>
          <a:noFill/>
          <a:ln w="44450">
            <a:solidFill>
              <a:srgbClr val="E09B00"/>
            </a:solidFill>
          </a:ln>
        </p:spPr>
        <p:txBody>
          <a:bodyPr rtlCol="0" anchor="ctr"/>
          <a:lstStyle/>
          <a:p>
            <a:pPr algn="ctr"/>
          </a:p>
        </p:txBody>
      </p:sp>
      <p:sp>
        <p:nvSpPr>
          <p:cNvPr id="10" name="Rectangle 9"/>
          <p:cNvSpPr/>
          <p:nvPr/>
        </p:nvSpPr>
        <p:spPr>
          <a:xfrm>
            <a:off x="5264736" y="3658209"/>
            <a:ext cx="450893" cy="455980"/>
          </a:xfrm>
          <a:prstGeom prst="rect">
            <a:avLst/>
          </a:prstGeom>
          <a:noFill/>
          <a:ln w="44450">
            <a:solidFill>
              <a:srgbClr val="C62828"/>
            </a:solidFill>
          </a:ln>
        </p:spPr>
        <p:txBody>
          <a:bodyPr rtlCol="0" anchor="ctr"/>
          <a:lstStyle/>
          <a:p>
            <a:pPr algn="ctr"/>
          </a:p>
        </p:txBody>
      </p:sp>
      <p:sp>
        <p:nvSpPr>
          <p:cNvPr id="11" name="Rectangle 10"/>
          <p:cNvSpPr/>
          <p:nvPr/>
        </p:nvSpPr>
        <p:spPr>
          <a:xfrm>
            <a:off x="6534912" y="3857936"/>
            <a:ext cx="1849119" cy="1158794"/>
          </a:xfrm>
          <a:prstGeom prst="rect">
            <a:avLst/>
          </a:prstGeom>
          <a:noFill/>
          <a:ln w="44450">
            <a:solidFill>
              <a:srgbClr val="1F5FAD"/>
            </a:solidFill>
          </a:ln>
        </p:spPr>
        <p:txBody>
          <a:bodyPr rtlCol="0" anchor="ctr"/>
          <a:lstStyle/>
          <a:p>
            <a:pPr algn="ctr"/>
          </a:p>
        </p:txBody>
      </p:sp>
      <p:sp>
        <p:nvSpPr>
          <p:cNvPr id="12" name="Rectangle 11"/>
          <p:cNvSpPr/>
          <p:nvPr/>
        </p:nvSpPr>
        <p:spPr>
          <a:xfrm>
            <a:off x="8912352" y="3773146"/>
            <a:ext cx="1981199" cy="960951"/>
          </a:xfrm>
          <a:prstGeom prst="rect">
            <a:avLst/>
          </a:prstGeom>
          <a:noFill/>
          <a:ln w="44450">
            <a:solidFill>
              <a:srgbClr val="7B3FA0"/>
            </a:solidFill>
          </a:ln>
        </p:spPr>
        <p:txBody>
          <a:bodyPr rtlCol="0" anchor="ctr"/>
          <a:lstStyle/>
          <a:p>
            <a:pPr algn="ctr"/>
          </a:p>
        </p:txBody>
      </p:sp>
      <p:sp>
        <p:nvSpPr>
          <p:cNvPr id="13" name="Oval 12"/>
          <p:cNvSpPr/>
          <p:nvPr/>
        </p:nvSpPr>
        <p:spPr>
          <a:xfrm>
            <a:off x="2846937" y="455615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80222" y="382658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548624" y="44831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1018941" y="412344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K3 -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70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5 and 6: the bars lose their quality</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5, lack of the quality of price persistence: small, even bars of about PHP 1.00 </a:t>
            </a:r>
            <a:r>
              <a:rPr sz="1700" b="1" i="0">
                <a:solidFill>
                  <a:srgbClr val="E09B00"/>
                </a:solidFill>
                <a:latin typeface="Arial"/>
              </a:rPr>
              <a:t>(1)</a:t>
            </a:r>
            <a:r>
              <a:rPr sz="1700" b="0" i="0">
                <a:solidFill>
                  <a:srgbClr val="1A1A1A"/>
                </a:solidFill>
                <a:latin typeface="Arial"/>
              </a:rPr>
              <a:t> give way to uneven ones of PHP 0.40, 2.50 and 0.80 </a:t>
            </a:r>
            <a:r>
              <a:rPr sz="1700" b="1" i="0">
                <a:solidFill>
                  <a:srgbClr val="C62828"/>
                </a:solidFill>
                <a:latin typeface="Arial"/>
              </a:rPr>
              <a:t>(2)</a:t>
            </a:r>
            <a:r>
              <a:rPr sz="1700" b="0" i="0">
                <a:solidFill>
                  <a:srgbClr val="1A1A1A"/>
                </a:solidFill>
                <a:latin typeface="Arial"/>
              </a:rPr>
              <a:t> (Chapter 5, "5 Price persistence"). Characteristic 6, decrease in average bar stochastic ratio: on average, closes sit lower inside their bars, say 0.80 </a:t>
            </a:r>
            <a:r>
              <a:rPr sz="1700" b="1" i="0">
                <a:solidFill>
                  <a:srgbClr val="1F5FAD"/>
                </a:solidFill>
                <a:latin typeface="Arial"/>
              </a:rPr>
              <a:t>(3)</a:t>
            </a:r>
            <a:r>
              <a:rPr sz="1700" b="0" i="0">
                <a:solidFill>
                  <a:srgbClr val="1A1A1A"/>
                </a:solidFill>
                <a:latin typeface="Arial"/>
              </a:rPr>
              <a:t> falling to 0.40 </a:t>
            </a:r>
            <a:r>
              <a:rPr sz="1700" b="1" i="0">
                <a:solidFill>
                  <a:srgbClr val="7B3FA0"/>
                </a:solidFill>
                <a:latin typeface="Arial"/>
              </a:rPr>
              <a:t>(4)</a:t>
            </a:r>
            <a:r>
              <a:rPr sz="1700" b="0" i="0">
                <a:solidFill>
                  <a:srgbClr val="1A1A1A"/>
                </a:solidFill>
                <a:latin typeface="Arial"/>
              </a:rPr>
              <a:t> (Chapter 5, "6 The average bar stochastic ratio").</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5-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322832" y="4010558"/>
            <a:ext cx="1849119" cy="901598"/>
          </a:xfrm>
          <a:prstGeom prst="rect">
            <a:avLst/>
          </a:prstGeom>
          <a:noFill/>
          <a:ln w="44450">
            <a:solidFill>
              <a:srgbClr val="E09B00"/>
            </a:solidFill>
          </a:ln>
        </p:spPr>
        <p:txBody>
          <a:bodyPr rtlCol="0" anchor="ctr"/>
          <a:lstStyle/>
          <a:p>
            <a:pPr algn="ctr"/>
          </a:p>
        </p:txBody>
      </p:sp>
      <p:sp>
        <p:nvSpPr>
          <p:cNvPr id="10" name="Rectangle 9"/>
          <p:cNvSpPr/>
          <p:nvPr/>
        </p:nvSpPr>
        <p:spPr>
          <a:xfrm>
            <a:off x="3700272" y="3886200"/>
            <a:ext cx="1981199" cy="1119225"/>
          </a:xfrm>
          <a:prstGeom prst="rect">
            <a:avLst/>
          </a:prstGeom>
          <a:noFill/>
          <a:ln w="44450">
            <a:solidFill>
              <a:srgbClr val="C62828"/>
            </a:solidFill>
          </a:ln>
        </p:spPr>
        <p:txBody>
          <a:bodyPr rtlCol="0" anchor="ctr"/>
          <a:lstStyle/>
          <a:p>
            <a:pPr algn="ctr"/>
          </a:p>
        </p:txBody>
      </p:sp>
      <p:sp>
        <p:nvSpPr>
          <p:cNvPr id="11" name="Rectangle 10"/>
          <p:cNvSpPr/>
          <p:nvPr/>
        </p:nvSpPr>
        <p:spPr>
          <a:xfrm>
            <a:off x="6534912" y="3923321"/>
            <a:ext cx="1849119" cy="1136858"/>
          </a:xfrm>
          <a:prstGeom prst="rect">
            <a:avLst/>
          </a:prstGeom>
          <a:noFill/>
          <a:ln w="44450">
            <a:solidFill>
              <a:srgbClr val="1F5FAD"/>
            </a:solidFill>
          </a:ln>
        </p:spPr>
        <p:txBody>
          <a:bodyPr rtlCol="0" anchor="ctr"/>
          <a:lstStyle/>
          <a:p>
            <a:pPr algn="ctr"/>
          </a:p>
        </p:txBody>
      </p:sp>
      <p:sp>
        <p:nvSpPr>
          <p:cNvPr id="12" name="Rectangle 11"/>
          <p:cNvSpPr/>
          <p:nvPr/>
        </p:nvSpPr>
        <p:spPr>
          <a:xfrm>
            <a:off x="8912352" y="3644907"/>
            <a:ext cx="1981199" cy="858444"/>
          </a:xfrm>
          <a:prstGeom prst="rect">
            <a:avLst/>
          </a:prstGeom>
          <a:noFill/>
          <a:ln w="44450">
            <a:solidFill>
              <a:srgbClr val="7B3FA0"/>
            </a:solidFill>
          </a:ln>
        </p:spPr>
        <p:txBody>
          <a:bodyPr rtlCol="0" anchor="ctr"/>
          <a:lstStyle/>
          <a:p>
            <a:pPr algn="ctr"/>
          </a:p>
        </p:txBody>
      </p:sp>
      <p:sp>
        <p:nvSpPr>
          <p:cNvPr id="13" name="Oval 12"/>
          <p:cNvSpPr/>
          <p:nvPr/>
        </p:nvSpPr>
        <p:spPr>
          <a:xfrm>
            <a:off x="3336544" y="446858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46064" y="44856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548624" y="453426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1018941" y="3928576"/>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K5 -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71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7 and 8: bodies shrink and the angle changes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7, decrease in average candlestick real body to range ratio: on average the bodies shrink inside their bars, say 0.60 </a:t>
            </a:r>
            <a:r>
              <a:rPr sz="1700" b="1" i="0">
                <a:solidFill>
                  <a:srgbClr val="E09B00"/>
                </a:solidFill>
                <a:latin typeface="Arial"/>
              </a:rPr>
              <a:t>(1)</a:t>
            </a:r>
            <a:r>
              <a:rPr sz="1700" b="0" i="0">
                <a:solidFill>
                  <a:srgbClr val="1A1A1A"/>
                </a:solidFill>
                <a:latin typeface="Arial"/>
              </a:rPr>
              <a:t> falling to 0.25 </a:t>
            </a:r>
            <a:r>
              <a:rPr sz="1700" b="1" i="0">
                <a:solidFill>
                  <a:srgbClr val="C62828"/>
                </a:solidFill>
                <a:latin typeface="Arial"/>
              </a:rPr>
              <a:t>(2)</a:t>
            </a:r>
            <a:r>
              <a:rPr sz="1700" b="0" i="0">
                <a:solidFill>
                  <a:srgbClr val="1A1A1A"/>
                </a:solidFill>
                <a:latin typeface="Arial"/>
              </a:rPr>
              <a:t> (Chapter 5, "7 Real body to range ratio, BRR"). Characteristic 8, changes in angular symmetry and momentum: the trend's angle changes, say from 20 </a:t>
            </a:r>
            <a:r>
              <a:rPr sz="1700" b="1" i="0">
                <a:solidFill>
                  <a:srgbClr val="1F5FAD"/>
                </a:solidFill>
                <a:latin typeface="Arial"/>
              </a:rPr>
              <a:t>(3)</a:t>
            </a:r>
            <a:r>
              <a:rPr sz="1700" b="0" i="0">
                <a:solidFill>
                  <a:srgbClr val="1A1A1A"/>
                </a:solidFill>
                <a:latin typeface="Arial"/>
              </a:rPr>
              <a:t> to 35 degrees </a:t>
            </a:r>
            <a:r>
              <a:rPr sz="1700" b="1" i="0">
                <a:solidFill>
                  <a:srgbClr val="7B3FA0"/>
                </a:solidFill>
                <a:latin typeface="Arial"/>
              </a:rPr>
              <a:t>(4)</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7-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322832" y="3923321"/>
            <a:ext cx="1849119" cy="1136858"/>
          </a:xfrm>
          <a:prstGeom prst="rect">
            <a:avLst/>
          </a:prstGeom>
          <a:noFill/>
          <a:ln w="44450">
            <a:solidFill>
              <a:srgbClr val="E09B00"/>
            </a:solidFill>
          </a:ln>
        </p:spPr>
        <p:txBody>
          <a:bodyPr rtlCol="0" anchor="ctr"/>
          <a:lstStyle/>
          <a:p>
            <a:pPr algn="ctr"/>
          </a:p>
        </p:txBody>
      </p:sp>
      <p:sp>
        <p:nvSpPr>
          <p:cNvPr id="10" name="Rectangle 9"/>
          <p:cNvSpPr/>
          <p:nvPr/>
        </p:nvSpPr>
        <p:spPr>
          <a:xfrm>
            <a:off x="3700272" y="3830517"/>
            <a:ext cx="1981199" cy="719237"/>
          </a:xfrm>
          <a:prstGeom prst="rect">
            <a:avLst/>
          </a:prstGeom>
          <a:noFill/>
          <a:ln w="44450">
            <a:solidFill>
              <a:srgbClr val="C62828"/>
            </a:solidFill>
          </a:ln>
        </p:spPr>
        <p:txBody>
          <a:bodyPr rtlCol="0" anchor="ctr"/>
          <a:lstStyle/>
          <a:p>
            <a:pPr algn="ctr"/>
          </a:p>
        </p:txBody>
      </p:sp>
      <p:sp>
        <p:nvSpPr>
          <p:cNvPr id="11" name="Rectangle 10"/>
          <p:cNvSpPr/>
          <p:nvPr/>
        </p:nvSpPr>
        <p:spPr>
          <a:xfrm>
            <a:off x="6336792" y="4215384"/>
            <a:ext cx="1508760" cy="914399"/>
          </a:xfrm>
          <a:prstGeom prst="rect">
            <a:avLst/>
          </a:prstGeom>
          <a:noFill/>
          <a:ln w="44450">
            <a:solidFill>
              <a:srgbClr val="1F5FAD"/>
            </a:solidFill>
          </a:ln>
        </p:spPr>
        <p:txBody>
          <a:bodyPr rtlCol="0" anchor="ctr"/>
          <a:lstStyle/>
          <a:p>
            <a:pPr algn="ctr"/>
          </a:p>
        </p:txBody>
      </p:sp>
      <p:sp>
        <p:nvSpPr>
          <p:cNvPr id="12" name="Rectangle 11"/>
          <p:cNvSpPr/>
          <p:nvPr/>
        </p:nvSpPr>
        <p:spPr>
          <a:xfrm>
            <a:off x="8211312" y="3438144"/>
            <a:ext cx="1234440" cy="960120"/>
          </a:xfrm>
          <a:prstGeom prst="rect">
            <a:avLst/>
          </a:prstGeom>
          <a:noFill/>
          <a:ln w="44450">
            <a:solidFill>
              <a:srgbClr val="7B3FA0"/>
            </a:solidFill>
          </a:ln>
        </p:spPr>
        <p:txBody>
          <a:bodyPr rtlCol="0" anchor="ctr"/>
          <a:lstStyle/>
          <a:p>
            <a:pPr algn="ctr"/>
          </a:p>
        </p:txBody>
      </p:sp>
      <p:sp>
        <p:nvSpPr>
          <p:cNvPr id="13" name="Oval 12"/>
          <p:cNvSpPr/>
          <p:nvPr/>
        </p:nvSpPr>
        <p:spPr>
          <a:xfrm>
            <a:off x="3336544" y="453426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46064" y="4170005"/>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010144" y="468172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610344" y="3934206"/>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K7 -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72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7 and 8: bodies shrink and the angle changes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Chapter 5 said a steeper climb is generally bullish; Lim adds that a sudden parabolic jump is usually unsustainable and so potentially bearish (p. 218). He gives no cutoff angle (Chapter 5, "8 Angular symmetry and momentum").</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7-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322832" y="3923321"/>
            <a:ext cx="1849119" cy="1136858"/>
          </a:xfrm>
          <a:prstGeom prst="rect">
            <a:avLst/>
          </a:prstGeom>
          <a:noFill/>
          <a:ln w="44450">
            <a:solidFill>
              <a:srgbClr val="E09B00"/>
            </a:solidFill>
          </a:ln>
        </p:spPr>
        <p:txBody>
          <a:bodyPr rtlCol="0" anchor="ctr"/>
          <a:lstStyle/>
          <a:p>
            <a:pPr algn="ctr"/>
          </a:p>
        </p:txBody>
      </p:sp>
      <p:sp>
        <p:nvSpPr>
          <p:cNvPr id="10" name="Rectangle 9"/>
          <p:cNvSpPr/>
          <p:nvPr/>
        </p:nvSpPr>
        <p:spPr>
          <a:xfrm>
            <a:off x="3700272" y="3830517"/>
            <a:ext cx="1981199" cy="719237"/>
          </a:xfrm>
          <a:prstGeom prst="rect">
            <a:avLst/>
          </a:prstGeom>
          <a:noFill/>
          <a:ln w="44450">
            <a:solidFill>
              <a:srgbClr val="C62828"/>
            </a:solidFill>
          </a:ln>
        </p:spPr>
        <p:txBody>
          <a:bodyPr rtlCol="0" anchor="ctr"/>
          <a:lstStyle/>
          <a:p>
            <a:pPr algn="ctr"/>
          </a:p>
        </p:txBody>
      </p:sp>
      <p:sp>
        <p:nvSpPr>
          <p:cNvPr id="11" name="Rectangle 10"/>
          <p:cNvSpPr/>
          <p:nvPr/>
        </p:nvSpPr>
        <p:spPr>
          <a:xfrm>
            <a:off x="6336792" y="4215384"/>
            <a:ext cx="1508760" cy="914399"/>
          </a:xfrm>
          <a:prstGeom prst="rect">
            <a:avLst/>
          </a:prstGeom>
          <a:noFill/>
          <a:ln w="44450">
            <a:solidFill>
              <a:srgbClr val="1F5FAD"/>
            </a:solidFill>
          </a:ln>
        </p:spPr>
        <p:txBody>
          <a:bodyPr rtlCol="0" anchor="ctr"/>
          <a:lstStyle/>
          <a:p>
            <a:pPr algn="ctr"/>
          </a:p>
        </p:txBody>
      </p:sp>
      <p:sp>
        <p:nvSpPr>
          <p:cNvPr id="12" name="Rectangle 11"/>
          <p:cNvSpPr/>
          <p:nvPr/>
        </p:nvSpPr>
        <p:spPr>
          <a:xfrm>
            <a:off x="8211312" y="3438144"/>
            <a:ext cx="1234440" cy="960120"/>
          </a:xfrm>
          <a:prstGeom prst="rect">
            <a:avLst/>
          </a:prstGeom>
          <a:noFill/>
          <a:ln w="44450">
            <a:solidFill>
              <a:srgbClr val="7B3FA0"/>
            </a:solidFill>
          </a:ln>
        </p:spPr>
        <p:txBody>
          <a:bodyPr rtlCol="0" anchor="ctr"/>
          <a:lstStyle/>
          <a:p>
            <a:pPr algn="ctr"/>
          </a:p>
        </p:txBody>
      </p:sp>
      <p:sp>
        <p:nvSpPr>
          <p:cNvPr id="13" name="Oval 12"/>
          <p:cNvSpPr/>
          <p:nvPr/>
        </p:nvSpPr>
        <p:spPr>
          <a:xfrm>
            <a:off x="3336544" y="453426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46064" y="4170005"/>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010144" y="468172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610344" y="3934206"/>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K7 -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73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9 and 10: a barrier is near and the dips fade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9, proximity to a price barrier: price is near a strong support or resistance, say at PHP 59 </a:t>
            </a:r>
            <a:r>
              <a:rPr sz="1700" b="1" i="0">
                <a:solidFill>
                  <a:srgbClr val="E09B00"/>
                </a:solidFill>
                <a:latin typeface="Arial"/>
              </a:rPr>
              <a:t>(1)</a:t>
            </a:r>
            <a:r>
              <a:rPr sz="1700" b="0" i="0">
                <a:solidFill>
                  <a:srgbClr val="1A1A1A"/>
                </a:solidFill>
                <a:latin typeface="Arial"/>
              </a:rPr>
              <a:t> under resistance at PHP 60 </a:t>
            </a:r>
            <a:r>
              <a:rPr sz="1700" b="1" i="0">
                <a:solidFill>
                  <a:srgbClr val="C62828"/>
                </a:solidFill>
                <a:latin typeface="Arial"/>
              </a:rPr>
              <a:t>(2)</a:t>
            </a:r>
            <a:r>
              <a:rPr sz="1700" b="0" i="0">
                <a:solidFill>
                  <a:srgbClr val="1A1A1A"/>
                </a:solidFill>
                <a:latin typeface="Arial"/>
              </a:rPr>
              <a:t> (Chapter 5, "9 Barrier proximity").</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9-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6361175" y="4197096"/>
            <a:ext cx="3121152" cy="888274"/>
          </a:xfrm>
          <a:prstGeom prst="rect">
            <a:avLst/>
          </a:prstGeom>
          <a:noFill/>
          <a:ln w="44450">
            <a:solidFill>
              <a:srgbClr val="1F5FAD"/>
            </a:solidFill>
          </a:ln>
        </p:spPr>
        <p:txBody>
          <a:bodyPr rtlCol="0" anchor="ctr"/>
          <a:lstStyle/>
          <a:p>
            <a:pPr algn="ctr"/>
          </a:p>
        </p:txBody>
      </p:sp>
      <p:sp>
        <p:nvSpPr>
          <p:cNvPr id="10" name="Rectangle 9"/>
          <p:cNvSpPr/>
          <p:nvPr/>
        </p:nvSpPr>
        <p:spPr>
          <a:xfrm>
            <a:off x="9555480" y="3664131"/>
            <a:ext cx="1146048" cy="888274"/>
          </a:xfrm>
          <a:prstGeom prst="rect">
            <a:avLst/>
          </a:prstGeom>
          <a:noFill/>
          <a:ln w="44450">
            <a:solidFill>
              <a:srgbClr val="7B3FA0"/>
            </a:solidFill>
          </a:ln>
        </p:spPr>
        <p:txBody>
          <a:bodyPr rtlCol="0" anchor="ctr"/>
          <a:lstStyle/>
          <a:p>
            <a:pPr algn="ctr"/>
          </a:p>
        </p:txBody>
      </p:sp>
      <p:sp>
        <p:nvSpPr>
          <p:cNvPr id="11" name="Oval 10"/>
          <p:cNvSpPr/>
          <p:nvPr/>
        </p:nvSpPr>
        <p:spPr>
          <a:xfrm>
            <a:off x="5219327" y="3933748"/>
            <a:ext cx="87782" cy="87782"/>
          </a:xfrm>
          <a:prstGeom prst="ellipse">
            <a:avLst/>
          </a:prstGeom>
          <a:noFill/>
          <a:ln w="44450">
            <a:solidFill>
              <a:srgbClr val="E09B00"/>
            </a:solidFill>
          </a:ln>
        </p:spPr>
        <p:txBody>
          <a:bodyPr rtlCol="0" anchor="ctr"/>
          <a:lstStyle/>
          <a:p>
            <a:pPr algn="ctr"/>
          </a:p>
        </p:txBody>
      </p:sp>
      <p:sp>
        <p:nvSpPr>
          <p:cNvPr id="12" name="Oval 11"/>
          <p:cNvSpPr/>
          <p:nvPr/>
        </p:nvSpPr>
        <p:spPr>
          <a:xfrm>
            <a:off x="5219327" y="3567988"/>
            <a:ext cx="87782" cy="87782"/>
          </a:xfrm>
          <a:prstGeom prst="ellipse">
            <a:avLst/>
          </a:prstGeom>
          <a:noFill/>
          <a:ln w="44450">
            <a:solidFill>
              <a:srgbClr val="C62828"/>
            </a:solidFill>
          </a:ln>
        </p:spPr>
        <p:txBody>
          <a:bodyPr rtlCol="0" anchor="ctr"/>
          <a:lstStyle/>
          <a:p>
            <a:pPr algn="ctr"/>
          </a:p>
        </p:txBody>
      </p:sp>
      <p:sp>
        <p:nvSpPr>
          <p:cNvPr id="13" name="Oval 12"/>
          <p:cNvSpPr/>
          <p:nvPr/>
        </p:nvSpPr>
        <p:spPr>
          <a:xfrm>
            <a:off x="9646920" y="464645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10866119" y="411349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Oval 14"/>
          <p:cNvSpPr/>
          <p:nvPr/>
        </p:nvSpPr>
        <p:spPr>
          <a:xfrm>
            <a:off x="4947476" y="369210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5151779" y="329439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K9 -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74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9 and 10: a barrier is near and the dips fade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10, reduction in frequency and decrease in depth of trend-based oscillations: six dips of about 3 points </a:t>
            </a:r>
            <a:r>
              <a:rPr sz="1700" b="1" i="0">
                <a:solidFill>
                  <a:srgbClr val="1F5FAD"/>
                </a:solidFill>
                <a:latin typeface="Arial"/>
              </a:rPr>
              <a:t>(3)</a:t>
            </a:r>
            <a:r>
              <a:rPr sz="1700" b="0" i="0">
                <a:solidFill>
                  <a:srgbClr val="1A1A1A"/>
                </a:solidFill>
                <a:latin typeface="Arial"/>
              </a:rPr>
              <a:t> become two dips of 1 point </a:t>
            </a:r>
            <a:r>
              <a:rPr sz="1700" b="1" i="0">
                <a:solidFill>
                  <a:srgbClr val="7B3FA0"/>
                </a:solidFill>
                <a:latin typeface="Arial"/>
              </a:rPr>
              <a:t>(4)</a:t>
            </a:r>
            <a:r>
              <a:rPr sz="1700" b="0" i="0">
                <a:solidFill>
                  <a:srgbClr val="1A1A1A"/>
                </a:solidFill>
                <a:latin typeface="Arial"/>
              </a:rPr>
              <a:t> (Chapter 5, "10 Frequency and depth of oscillations").</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9-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6361175" y="4197096"/>
            <a:ext cx="3121152" cy="888274"/>
          </a:xfrm>
          <a:prstGeom prst="rect">
            <a:avLst/>
          </a:prstGeom>
          <a:noFill/>
          <a:ln w="44450">
            <a:solidFill>
              <a:srgbClr val="1F5FAD"/>
            </a:solidFill>
          </a:ln>
        </p:spPr>
        <p:txBody>
          <a:bodyPr rtlCol="0" anchor="ctr"/>
          <a:lstStyle/>
          <a:p>
            <a:pPr algn="ctr"/>
          </a:p>
        </p:txBody>
      </p:sp>
      <p:sp>
        <p:nvSpPr>
          <p:cNvPr id="10" name="Rectangle 9"/>
          <p:cNvSpPr/>
          <p:nvPr/>
        </p:nvSpPr>
        <p:spPr>
          <a:xfrm>
            <a:off x="9555480" y="3664131"/>
            <a:ext cx="1146048" cy="888274"/>
          </a:xfrm>
          <a:prstGeom prst="rect">
            <a:avLst/>
          </a:prstGeom>
          <a:noFill/>
          <a:ln w="44450">
            <a:solidFill>
              <a:srgbClr val="7B3FA0"/>
            </a:solidFill>
          </a:ln>
        </p:spPr>
        <p:txBody>
          <a:bodyPr rtlCol="0" anchor="ctr"/>
          <a:lstStyle/>
          <a:p>
            <a:pPr algn="ctr"/>
          </a:p>
        </p:txBody>
      </p:sp>
      <p:sp>
        <p:nvSpPr>
          <p:cNvPr id="11" name="Oval 10"/>
          <p:cNvSpPr/>
          <p:nvPr/>
        </p:nvSpPr>
        <p:spPr>
          <a:xfrm>
            <a:off x="5219327" y="3933748"/>
            <a:ext cx="87782" cy="87782"/>
          </a:xfrm>
          <a:prstGeom prst="ellipse">
            <a:avLst/>
          </a:prstGeom>
          <a:noFill/>
          <a:ln w="44450">
            <a:solidFill>
              <a:srgbClr val="E09B00"/>
            </a:solidFill>
          </a:ln>
        </p:spPr>
        <p:txBody>
          <a:bodyPr rtlCol="0" anchor="ctr"/>
          <a:lstStyle/>
          <a:p>
            <a:pPr algn="ctr"/>
          </a:p>
        </p:txBody>
      </p:sp>
      <p:sp>
        <p:nvSpPr>
          <p:cNvPr id="12" name="Oval 11"/>
          <p:cNvSpPr/>
          <p:nvPr/>
        </p:nvSpPr>
        <p:spPr>
          <a:xfrm>
            <a:off x="5219327" y="3567988"/>
            <a:ext cx="87782" cy="87782"/>
          </a:xfrm>
          <a:prstGeom prst="ellipse">
            <a:avLst/>
          </a:prstGeom>
          <a:noFill/>
          <a:ln w="44450">
            <a:solidFill>
              <a:srgbClr val="C62828"/>
            </a:solidFill>
          </a:ln>
        </p:spPr>
        <p:txBody>
          <a:bodyPr rtlCol="0" anchor="ctr"/>
          <a:lstStyle/>
          <a:p>
            <a:pPr algn="ctr"/>
          </a:p>
        </p:txBody>
      </p:sp>
      <p:sp>
        <p:nvSpPr>
          <p:cNvPr id="13" name="Oval 12"/>
          <p:cNvSpPr/>
          <p:nvPr/>
        </p:nvSpPr>
        <p:spPr>
          <a:xfrm>
            <a:off x="9646920" y="464645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10866119" y="411349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Oval 14"/>
          <p:cNvSpPr/>
          <p:nvPr/>
        </p:nvSpPr>
        <p:spPr>
          <a:xfrm>
            <a:off x="4947476" y="369210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5151779" y="3294392"/>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K9 -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75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11 and 12: longer pauses and a third gap</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11, appearance of relatively larger and longer lasting consolidations: pauses of 3 bars </a:t>
            </a:r>
            <a:r>
              <a:rPr sz="1700" b="1" i="0">
                <a:solidFill>
                  <a:srgbClr val="E09B00"/>
                </a:solidFill>
                <a:latin typeface="Arial"/>
              </a:rPr>
              <a:t>(1)</a:t>
            </a:r>
            <a:r>
              <a:rPr sz="1700" b="0" i="0">
                <a:solidFill>
                  <a:srgbClr val="1A1A1A"/>
                </a:solidFill>
                <a:latin typeface="Arial"/>
              </a:rPr>
              <a:t> give way to one of 12 bars </a:t>
            </a:r>
            <a:r>
              <a:rPr sz="1700" b="1" i="0">
                <a:solidFill>
                  <a:srgbClr val="C62828"/>
                </a:solidFill>
                <a:latin typeface="Arial"/>
              </a:rPr>
              <a:t>(2)</a:t>
            </a:r>
            <a:r>
              <a:rPr sz="1700" b="0" i="0">
                <a:solidFill>
                  <a:srgbClr val="1A1A1A"/>
                </a:solidFill>
                <a:latin typeface="Arial"/>
              </a:rPr>
              <a:t> (Chapter 5, "11 Size and duration of a consolidation"). Characteristic 12, appearance of an exhaustion gap: a third gap in the trend, say of PHP 0.80 </a:t>
            </a:r>
            <a:r>
              <a:rPr sz="1700" b="1" i="0">
                <a:solidFill>
                  <a:srgbClr val="1F5FAD"/>
                </a:solidFill>
                <a:latin typeface="Arial"/>
              </a:rPr>
              <a:t>(3)</a:t>
            </a:r>
            <a:r>
              <a:rPr sz="1700" b="0" i="0">
                <a:solidFill>
                  <a:srgbClr val="1A1A1A"/>
                </a:solidFill>
                <a:latin typeface="Arial"/>
              </a:rPr>
              <a:t>, after two earlier ones </a:t>
            </a:r>
            <a:r>
              <a:rPr sz="1700" b="1" i="0">
                <a:solidFill>
                  <a:srgbClr val="7B3FA0"/>
                </a:solidFill>
                <a:latin typeface="Arial"/>
              </a:rPr>
              <a:t>(4)</a:t>
            </a:r>
            <a:r>
              <a:rPr sz="1700" b="0" i="0">
                <a:solidFill>
                  <a:srgbClr val="1A1A1A"/>
                </a:solidFill>
                <a:latin typeface="Arial"/>
              </a:rPr>
              <a:t> (Chapter 5, "12 Third gap exhaustion").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11-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865913" y="4426566"/>
            <a:ext cx="615337" cy="333102"/>
          </a:xfrm>
          <a:prstGeom prst="rect">
            <a:avLst/>
          </a:prstGeom>
          <a:noFill/>
          <a:ln w="44450">
            <a:solidFill>
              <a:srgbClr val="E09B00"/>
            </a:solidFill>
          </a:ln>
        </p:spPr>
        <p:txBody>
          <a:bodyPr rtlCol="0" anchor="ctr"/>
          <a:lstStyle/>
          <a:p>
            <a:pPr algn="ctr"/>
          </a:p>
        </p:txBody>
      </p:sp>
      <p:sp>
        <p:nvSpPr>
          <p:cNvPr id="10" name="Rectangle 9"/>
          <p:cNvSpPr/>
          <p:nvPr/>
        </p:nvSpPr>
        <p:spPr>
          <a:xfrm>
            <a:off x="3823805" y="3686338"/>
            <a:ext cx="1873982" cy="333102"/>
          </a:xfrm>
          <a:prstGeom prst="rect">
            <a:avLst/>
          </a:prstGeom>
          <a:noFill/>
          <a:ln w="44450">
            <a:solidFill>
              <a:srgbClr val="C62828"/>
            </a:solidFill>
          </a:ln>
        </p:spPr>
        <p:txBody>
          <a:bodyPr rtlCol="0" anchor="ctr"/>
          <a:lstStyle/>
          <a:p>
            <a:pPr algn="ctr"/>
          </a:p>
        </p:txBody>
      </p:sp>
      <p:sp>
        <p:nvSpPr>
          <p:cNvPr id="11" name="Rectangle 10"/>
          <p:cNvSpPr/>
          <p:nvPr/>
        </p:nvSpPr>
        <p:spPr>
          <a:xfrm>
            <a:off x="9902952" y="3758183"/>
            <a:ext cx="864523" cy="243840"/>
          </a:xfrm>
          <a:prstGeom prst="rect">
            <a:avLst/>
          </a:prstGeom>
          <a:noFill/>
          <a:ln w="44450">
            <a:solidFill>
              <a:srgbClr val="1F5FAD"/>
            </a:solidFill>
          </a:ln>
        </p:spPr>
        <p:txBody>
          <a:bodyPr rtlCol="0" anchor="ctr"/>
          <a:lstStyle/>
          <a:p>
            <a:pPr algn="ctr"/>
          </a:p>
        </p:txBody>
      </p:sp>
      <p:sp>
        <p:nvSpPr>
          <p:cNvPr id="12" name="Rectangle 11"/>
          <p:cNvSpPr/>
          <p:nvPr/>
        </p:nvSpPr>
        <p:spPr>
          <a:xfrm>
            <a:off x="6660988" y="3819143"/>
            <a:ext cx="3025832" cy="1463039"/>
          </a:xfrm>
          <a:prstGeom prst="rect">
            <a:avLst/>
          </a:prstGeom>
          <a:noFill/>
          <a:ln w="44450">
            <a:solidFill>
              <a:srgbClr val="7B3FA0"/>
            </a:solidFill>
          </a:ln>
        </p:spPr>
        <p:txBody>
          <a:bodyPr rtlCol="0" anchor="ctr"/>
          <a:lstStyle/>
          <a:p>
            <a:pPr algn="ctr"/>
          </a:p>
        </p:txBody>
      </p:sp>
      <p:sp>
        <p:nvSpPr>
          <p:cNvPr id="13" name="Oval 12"/>
          <p:cNvSpPr/>
          <p:nvPr/>
        </p:nvSpPr>
        <p:spPr>
          <a:xfrm>
            <a:off x="2645843" y="451506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862379" y="377483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10932067" y="378866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851413" y="4642103"/>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K11 -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76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13 and 14: the range is spent, price overshoots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13, completion of the average range for the period under observation: the day has already travelled its whole average range </a:t>
            </a:r>
            <a:r>
              <a:rPr sz="1700" b="1" i="0">
                <a:solidFill>
                  <a:srgbClr val="E09B00"/>
                </a:solidFill>
                <a:latin typeface="Arial"/>
              </a:rPr>
              <a:t>(1)</a:t>
            </a:r>
            <a:r>
              <a:rPr sz="1700" b="0" i="0">
                <a:solidFill>
                  <a:srgbClr val="1A1A1A"/>
                </a:solidFill>
                <a:latin typeface="Arial"/>
              </a:rPr>
              <a:t>, say all PHP 3.00 of it </a:t>
            </a:r>
            <a:r>
              <a:rPr sz="1700" b="1" i="0">
                <a:solidFill>
                  <a:srgbClr val="C62828"/>
                </a:solidFill>
                <a:latin typeface="Arial"/>
              </a:rPr>
              <a:t>(2)</a:t>
            </a:r>
            <a:r>
              <a:rPr sz="1700" b="0" i="0">
                <a:solidFill>
                  <a:srgbClr val="1A1A1A"/>
                </a:solidFill>
                <a:latin typeface="Arial"/>
              </a:rPr>
              <a:t> (Chapter 5, "13 Average period range").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13-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448908" y="3662246"/>
            <a:ext cx="3025832" cy="1528996"/>
          </a:xfrm>
          <a:prstGeom prst="rect">
            <a:avLst/>
          </a:prstGeom>
          <a:noFill/>
          <a:ln w="44450">
            <a:solidFill>
              <a:srgbClr val="E09B00"/>
            </a:solidFill>
          </a:ln>
        </p:spPr>
        <p:txBody>
          <a:bodyPr rtlCol="0" anchor="ctr"/>
          <a:lstStyle/>
          <a:p>
            <a:pPr algn="ctr"/>
          </a:p>
        </p:txBody>
      </p:sp>
      <p:sp>
        <p:nvSpPr>
          <p:cNvPr id="10" name="Rectangle 9"/>
          <p:cNvSpPr/>
          <p:nvPr/>
        </p:nvSpPr>
        <p:spPr>
          <a:xfrm>
            <a:off x="4690872" y="3512345"/>
            <a:ext cx="864523" cy="1199213"/>
          </a:xfrm>
          <a:prstGeom prst="rect">
            <a:avLst/>
          </a:prstGeom>
          <a:noFill/>
          <a:ln w="44450">
            <a:solidFill>
              <a:srgbClr val="C62828"/>
            </a:solidFill>
          </a:ln>
        </p:spPr>
        <p:txBody>
          <a:bodyPr rtlCol="0" anchor="ctr"/>
          <a:lstStyle/>
          <a:p>
            <a:pPr algn="ctr"/>
          </a:p>
        </p:txBody>
      </p:sp>
      <p:sp>
        <p:nvSpPr>
          <p:cNvPr id="11" name="Oval 10"/>
          <p:cNvSpPr/>
          <p:nvPr/>
        </p:nvSpPr>
        <p:spPr>
          <a:xfrm>
            <a:off x="8468862" y="3609789"/>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468862" y="3936361"/>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4534809" y="475222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719987" y="416381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417765" y="333835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8197011" y="369471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K13 -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77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13 and 14: the range is spent, price overshoots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14, overextended price action with respect to a price barrier: price spikes to PHP 61 </a:t>
            </a:r>
            <a:r>
              <a:rPr sz="1700" b="1" i="0">
                <a:solidFill>
                  <a:srgbClr val="1F5FAD"/>
                </a:solidFill>
                <a:latin typeface="Arial"/>
              </a:rPr>
              <a:t>(3)</a:t>
            </a:r>
            <a:r>
              <a:rPr sz="1700" b="0" i="0">
                <a:solidFill>
                  <a:srgbClr val="1A1A1A"/>
                </a:solidFill>
                <a:latin typeface="Arial"/>
              </a:rPr>
              <a:t> above an uptrending overlay line at PHP 60 </a:t>
            </a:r>
            <a:r>
              <a:rPr sz="1700" b="1" i="0">
                <a:solidFill>
                  <a:srgbClr val="7B3FA0"/>
                </a:solidFill>
                <a:latin typeface="Arial"/>
              </a:rPr>
              <a:t>(4)</a:t>
            </a:r>
            <a:r>
              <a:rPr sz="1700" b="0" i="0">
                <a:solidFill>
                  <a:srgbClr val="1A1A1A"/>
                </a:solidFill>
                <a:latin typeface="Arial"/>
              </a:rPr>
              <a:t>, or above an upper band, as Figure 7.13 shows two slides on (Chapter 5, "14 Overextension past an overlay barrier").</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13-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1448908" y="3662246"/>
            <a:ext cx="3025832" cy="1528996"/>
          </a:xfrm>
          <a:prstGeom prst="rect">
            <a:avLst/>
          </a:prstGeom>
          <a:noFill/>
          <a:ln w="44450">
            <a:solidFill>
              <a:srgbClr val="E09B00"/>
            </a:solidFill>
          </a:ln>
        </p:spPr>
        <p:txBody>
          <a:bodyPr rtlCol="0" anchor="ctr"/>
          <a:lstStyle/>
          <a:p>
            <a:pPr algn="ctr"/>
          </a:p>
        </p:txBody>
      </p:sp>
      <p:sp>
        <p:nvSpPr>
          <p:cNvPr id="10" name="Rectangle 9"/>
          <p:cNvSpPr/>
          <p:nvPr/>
        </p:nvSpPr>
        <p:spPr>
          <a:xfrm>
            <a:off x="4690872" y="3512345"/>
            <a:ext cx="864523" cy="1199213"/>
          </a:xfrm>
          <a:prstGeom prst="rect">
            <a:avLst/>
          </a:prstGeom>
          <a:noFill/>
          <a:ln w="44450">
            <a:solidFill>
              <a:srgbClr val="C62828"/>
            </a:solidFill>
          </a:ln>
        </p:spPr>
        <p:txBody>
          <a:bodyPr rtlCol="0" anchor="ctr"/>
          <a:lstStyle/>
          <a:p>
            <a:pPr algn="ctr"/>
          </a:p>
        </p:txBody>
      </p:sp>
      <p:sp>
        <p:nvSpPr>
          <p:cNvPr id="11" name="Oval 10"/>
          <p:cNvSpPr/>
          <p:nvPr/>
        </p:nvSpPr>
        <p:spPr>
          <a:xfrm>
            <a:off x="8468862" y="3609789"/>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8468862" y="3936361"/>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4534809" y="475222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719987" y="416381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417765" y="333835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8197011" y="3694715"/>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K13 -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78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Characteristics 15 and 16: extreme volume and divergence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Characteristic 15, price accompanied by extremely high or low volume: say 5.0 million shares </a:t>
            </a:r>
            <a:r>
              <a:rPr sz="1700" b="1" i="0">
                <a:solidFill>
                  <a:srgbClr val="E09B00"/>
                </a:solidFill>
                <a:latin typeface="Arial"/>
              </a:rPr>
              <a:t>(1)</a:t>
            </a:r>
            <a:r>
              <a:rPr sz="1700" b="0" i="0">
                <a:solidFill>
                  <a:srgbClr val="1A1A1A"/>
                </a:solidFill>
                <a:latin typeface="Arial"/>
              </a:rPr>
              <a:t> against an average of 1.2 million </a:t>
            </a:r>
            <a:r>
              <a:rPr sz="1700" b="1" i="0">
                <a:solidFill>
                  <a:srgbClr val="C62828"/>
                </a:solidFill>
                <a:latin typeface="Arial"/>
              </a:rPr>
              <a:t>(2)</a:t>
            </a:r>
            <a:r>
              <a:rPr sz="1700" b="0" i="0">
                <a:solidFill>
                  <a:srgbClr val="1A1A1A"/>
                </a:solidFill>
                <a:latin typeface="Arial"/>
              </a:rPr>
              <a:t> (Chapter 5, "15 Volume spread action"). Characteristic 16, standard divergences between price, volume, and oscillators: price makes a higher high while volume falls from 3.0 </a:t>
            </a:r>
            <a:r>
              <a:rPr sz="1700" b="1" i="0">
                <a:solidFill>
                  <a:srgbClr val="1F5FAD"/>
                </a:solidFill>
                <a:latin typeface="Arial"/>
              </a:rPr>
              <a:t>(3)</a:t>
            </a:r>
            <a:r>
              <a:rPr sz="1700" b="0" i="0">
                <a:solidFill>
                  <a:srgbClr val="1A1A1A"/>
                </a:solidFill>
                <a:latin typeface="Arial"/>
              </a:rPr>
              <a:t> to 1.8 million </a:t>
            </a:r>
            <a:r>
              <a:rPr sz="1700" b="1" i="0">
                <a:solidFill>
                  <a:srgbClr val="7B3FA0"/>
                </a:solidFill>
                <a:latin typeface="Arial"/>
              </a:rPr>
              <a:t>(4)</a:t>
            </a:r>
            <a:r>
              <a:rPr sz="1700" b="0" i="0">
                <a:solidFill>
                  <a:srgbClr val="1A1A1A"/>
                </a:solidFill>
                <a:latin typeface="Arial"/>
              </a:rPr>
              <a:t> (Chapter 5, "16 Volume and oscillator divergence").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sh-k15-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4822952" y="3803904"/>
            <a:ext cx="905691" cy="1371599"/>
          </a:xfrm>
          <a:prstGeom prst="rect">
            <a:avLst/>
          </a:prstGeom>
          <a:noFill/>
          <a:ln w="44450">
            <a:solidFill>
              <a:srgbClr val="E09B00"/>
            </a:solidFill>
          </a:ln>
        </p:spPr>
        <p:txBody>
          <a:bodyPr rtlCol="0" anchor="ctr"/>
          <a:lstStyle/>
          <a:p>
            <a:pPr algn="ctr"/>
          </a:p>
        </p:txBody>
      </p:sp>
      <p:sp>
        <p:nvSpPr>
          <p:cNvPr id="10" name="Rectangle 9"/>
          <p:cNvSpPr/>
          <p:nvPr/>
        </p:nvSpPr>
        <p:spPr>
          <a:xfrm>
            <a:off x="1313397" y="4626864"/>
            <a:ext cx="2943497" cy="548639"/>
          </a:xfrm>
          <a:prstGeom prst="rect">
            <a:avLst/>
          </a:prstGeom>
          <a:noFill/>
          <a:ln w="44450">
            <a:solidFill>
              <a:srgbClr val="C62828"/>
            </a:solidFill>
          </a:ln>
        </p:spPr>
        <p:txBody>
          <a:bodyPr rtlCol="0" anchor="ctr"/>
          <a:lstStyle/>
          <a:p>
            <a:pPr algn="ctr"/>
          </a:p>
        </p:txBody>
      </p:sp>
      <p:sp>
        <p:nvSpPr>
          <p:cNvPr id="11" name="Rectangle 10"/>
          <p:cNvSpPr/>
          <p:nvPr/>
        </p:nvSpPr>
        <p:spPr>
          <a:xfrm>
            <a:off x="7466076" y="3726751"/>
            <a:ext cx="713231" cy="1448752"/>
          </a:xfrm>
          <a:prstGeom prst="rect">
            <a:avLst/>
          </a:prstGeom>
          <a:noFill/>
          <a:ln w="44450">
            <a:solidFill>
              <a:srgbClr val="1F5FAD"/>
            </a:solidFill>
          </a:ln>
        </p:spPr>
        <p:txBody>
          <a:bodyPr rtlCol="0" anchor="ctr"/>
          <a:lstStyle/>
          <a:p>
            <a:pPr algn="ctr"/>
          </a:p>
        </p:txBody>
      </p:sp>
      <p:sp>
        <p:nvSpPr>
          <p:cNvPr id="12" name="Rectangle 11"/>
          <p:cNvSpPr/>
          <p:nvPr/>
        </p:nvSpPr>
        <p:spPr>
          <a:xfrm>
            <a:off x="9843516" y="3503866"/>
            <a:ext cx="713232" cy="1671637"/>
          </a:xfrm>
          <a:prstGeom prst="rect">
            <a:avLst/>
          </a:prstGeom>
          <a:noFill/>
          <a:ln w="44450">
            <a:solidFill>
              <a:srgbClr val="7B3FA0"/>
            </a:solidFill>
          </a:ln>
        </p:spPr>
        <p:txBody>
          <a:bodyPr rtlCol="0" anchor="ctr"/>
          <a:lstStyle/>
          <a:p>
            <a:pPr algn="ctr"/>
          </a:p>
        </p:txBody>
      </p:sp>
      <p:sp>
        <p:nvSpPr>
          <p:cNvPr id="13" name="Oval 12"/>
          <p:cNvSpPr/>
          <p:nvPr/>
        </p:nvSpPr>
        <p:spPr>
          <a:xfrm>
            <a:off x="5893235" y="456742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4421486" y="485546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8343900" y="4540424"/>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10721340" y="4462414"/>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K15 -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79 of 88</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own sketches, from the numbers on the slide. Lim (2016), p. 217.</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7.13 shows three of the characteristics on one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80 of 88</a:t>
            </a:r>
          </a:p>
        </p:txBody>
      </p:sp>
      <p:sp>
        <p:nvSpPr>
          <p:cNvPr id="7" name="TextBox 6"/>
          <p:cNvSpPr txBox="1"/>
          <p:nvPr/>
        </p:nvSpPr>
        <p:spPr>
          <a:xfrm>
            <a:off x="777240" y="1965960"/>
            <a:ext cx="3931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7.13, a daily chart of the National Bank of Greece, shows three at once (pp. 217 to 218).</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The run-up's last days climb far more steeply: characteristic 8, angular momentum.</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Through the run-up price barely dips: characteristic 10, oscillations.</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The overextended bar pokes above the upper band: characteristic 14.</a:t>
            </a:r>
          </a:p>
        </p:txBody>
      </p:sp>
      <p:sp>
        <p:nvSpPr>
          <p:cNvPr id="8" name="Rectangle 7"/>
          <p:cNvSpPr/>
          <p:nvPr/>
        </p:nvSpPr>
        <p:spPr>
          <a:xfrm>
            <a:off x="5249038" y="1810512"/>
            <a:ext cx="6311337"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367910" y="1929384"/>
            <a:ext cx="6073593"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367910" y="1929384"/>
            <a:ext cx="6073593"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42230" y="2203703"/>
            <a:ext cx="5524953"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7.13</a:t>
            </a:r>
          </a:p>
          <a:p>
            <a:pPr algn="l">
              <a:lnSpc>
                <a:spcPct val="115000"/>
              </a:lnSpc>
              <a:spcBef>
                <a:spcPts val="0"/>
              </a:spcBef>
              <a:spcAft>
                <a:spcPts val="0"/>
              </a:spcAft>
            </a:pPr>
            <a:r>
              <a:rPr sz="1500" b="0" i="0">
                <a:solidFill>
                  <a:srgbClr val="1A1A1A"/>
                </a:solidFill>
                <a:latin typeface="Palatino"/>
              </a:rPr>
              <a:t>Figure 7.13: a parabolic run-up in price ending in an overextended bar above the upper band.</a:t>
            </a:r>
          </a:p>
        </p:txBody>
      </p:sp>
      <p:sp>
        <p:nvSpPr>
          <p:cNvPr id="12" name="Rectangle 11"/>
          <p:cNvSpPr/>
          <p:nvPr/>
        </p:nvSpPr>
        <p:spPr>
          <a:xfrm>
            <a:off x="8518587" y="2641133"/>
            <a:ext cx="275209" cy="948998"/>
          </a:xfrm>
          <a:prstGeom prst="rect">
            <a:avLst/>
          </a:prstGeom>
          <a:noFill/>
          <a:ln w="44450">
            <a:solidFill>
              <a:srgbClr val="E09B00"/>
            </a:solidFill>
          </a:ln>
        </p:spPr>
        <p:txBody>
          <a:bodyPr rtlCol="0" anchor="ctr"/>
          <a:lstStyle/>
          <a:p>
            <a:pPr algn="ctr"/>
          </a:p>
        </p:txBody>
      </p:sp>
      <p:sp>
        <p:nvSpPr>
          <p:cNvPr id="13" name="Rectangle 12"/>
          <p:cNvSpPr/>
          <p:nvPr/>
        </p:nvSpPr>
        <p:spPr>
          <a:xfrm>
            <a:off x="7939698" y="3424057"/>
            <a:ext cx="578889" cy="806649"/>
          </a:xfrm>
          <a:prstGeom prst="rect">
            <a:avLst/>
          </a:prstGeom>
          <a:noFill/>
          <a:ln w="44450">
            <a:solidFill>
              <a:srgbClr val="C62828"/>
            </a:solidFill>
          </a:ln>
        </p:spPr>
        <p:txBody>
          <a:bodyPr rtlCol="0" anchor="ctr"/>
          <a:lstStyle/>
          <a:p>
            <a:pPr algn="ctr"/>
          </a:p>
        </p:txBody>
      </p:sp>
      <p:sp>
        <p:nvSpPr>
          <p:cNvPr id="14" name="Oval 13"/>
          <p:cNvSpPr/>
          <p:nvPr/>
        </p:nvSpPr>
        <p:spPr>
          <a:xfrm>
            <a:off x="8727367" y="2119183"/>
            <a:ext cx="208779" cy="545674"/>
          </a:xfrm>
          <a:prstGeom prst="ellipse">
            <a:avLst/>
          </a:prstGeom>
          <a:noFill/>
          <a:ln w="44450">
            <a:solidFill>
              <a:srgbClr val="1F5FAD"/>
            </a:solidFill>
          </a:ln>
        </p:spPr>
        <p:txBody>
          <a:bodyPr rtlCol="0" anchor="ctr"/>
          <a:lstStyle/>
          <a:p>
            <a:pPr algn="ctr"/>
          </a:p>
        </p:txBody>
      </p:sp>
      <p:sp>
        <p:nvSpPr>
          <p:cNvPr id="15" name="Oval 14"/>
          <p:cNvSpPr/>
          <p:nvPr/>
        </p:nvSpPr>
        <p:spPr>
          <a:xfrm>
            <a:off x="8390571" y="251311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811682" y="3296041"/>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466491" y="208606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029199" y="5650991"/>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to 218, Figure 7.13.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Why those three marks are warnings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says such rapid increases </a:t>
            </a:r>
            <a:r>
              <a:rPr sz="1700" b="1" i="0">
                <a:solidFill>
                  <a:srgbClr val="E09B00"/>
                </a:solidFill>
                <a:latin typeface="Arial"/>
              </a:rPr>
              <a:t>(1)</a:t>
            </a:r>
            <a:r>
              <a:rPr sz="1700" b="0" i="0">
                <a:solidFill>
                  <a:srgbClr val="1A1A1A"/>
                </a:solidFill>
                <a:latin typeface="Arial"/>
              </a:rPr>
              <a:t> are usually unsustainable, so potentially bearish (p. 218). A lack of oscillations </a:t>
            </a:r>
            <a:r>
              <a:rPr sz="1700" b="1" i="0">
                <a:solidFill>
                  <a:srgbClr val="C62828"/>
                </a:solidFill>
                <a:latin typeface="Arial"/>
              </a:rPr>
              <a:t>(2)</a:t>
            </a:r>
            <a:r>
              <a:rPr sz="1700" b="0" i="0">
                <a:solidFill>
                  <a:srgbClr val="1A1A1A"/>
                </a:solidFill>
                <a:latin typeface="Arial"/>
              </a:rPr>
              <a:t> is potentially bearish because there is little healthy profit-taking (p. 218). The overextended price </a:t>
            </a:r>
            <a:r>
              <a:rPr sz="1700" b="1" i="0">
                <a:solidFill>
                  <a:srgbClr val="1F5FAD"/>
                </a:solidFill>
                <a:latin typeface="Arial"/>
              </a:rPr>
              <a:t>(3)</a:t>
            </a:r>
            <a:r>
              <a:rPr sz="1700" b="0" i="0">
                <a:solidFill>
                  <a:srgbClr val="1A1A1A"/>
                </a:solidFill>
                <a:latin typeface="Arial"/>
              </a:rPr>
              <a:t> is stretched past a volatility barrier, the Bollinger upper band, and would be even more bearish with extreme volume (p. 217).</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wa-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358634" y="3926433"/>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8315719" y="447690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880091"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360463" y="399118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8231594" y="456468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68005" y="321894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WA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81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to 218. The prices and the band are invented for teaching.</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Why those three marks are warnings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Chapter 7 names the Bollinger upper band but does not define it; read it as the overlay barrier from Chapter 5, "14 Overextension past an overlay barrier", and take no formula from this chapter.</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wa-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358634" y="3926433"/>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8315719" y="447690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880091"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360463" y="399118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8231594" y="456468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68005" y="321894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WA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82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to 218. The prices and the band are invented for teaching.</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are the same three warnings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Our invented price climbs from PHP 40 to PHP 80 in twelve bars. Early bars rise about PHP 1 each; late ones jump PHP 8, to PHP 66 </a:t>
            </a:r>
            <a:r>
              <a:rPr sz="1700" b="1" i="0">
                <a:solidFill>
                  <a:srgbClr val="E09B00"/>
                </a:solidFill>
                <a:latin typeface="Arial"/>
              </a:rPr>
              <a:t>(1)</a:t>
            </a:r>
            <a:r>
              <a:rPr sz="1700" b="0" i="0">
                <a:solidFill>
                  <a:srgbClr val="1A1A1A"/>
                </a:solidFill>
                <a:latin typeface="Arial"/>
              </a:rPr>
              <a:t>, and then PHP 14: a change in angular momentum. The only dips are one point each, the last to PHP 52 </a:t>
            </a:r>
            <a:r>
              <a:rPr sz="1700" b="1" i="0">
                <a:solidFill>
                  <a:srgbClr val="C62828"/>
                </a:solidFill>
                <a:latin typeface="Arial"/>
              </a:rPr>
              <a:t>(2)</a:t>
            </a:r>
            <a:r>
              <a:rPr sz="1700" b="0" i="0">
                <a:solidFill>
                  <a:srgbClr val="1A1A1A"/>
                </a:solidFill>
                <a:latin typeface="Arial"/>
              </a:rPr>
              <a:t>. The final PHP 80 sits PHP 3 above an invented upper band at PHP 77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wa-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358634" y="3926433"/>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8315719" y="447690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880091"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360463" y="399118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8231594" y="456468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68005" y="321894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WA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83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to 218. The prices and the band are invented for teaching.</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Barrier proximity ranks among the most important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84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calls barrier proximity, item 9, one of the most important reversal characteristics: reversal patterns are most reliable at significant price barriers (p. 217).</a:t>
            </a:r>
          </a:p>
          <a:p>
            <a:pPr algn="l">
              <a:lnSpc>
                <a:spcPct val="118000"/>
              </a:lnSpc>
              <a:spcBef>
                <a:spcPts val="0"/>
              </a:spcBef>
              <a:spcAft>
                <a:spcPts val="1300"/>
              </a:spcAft>
            </a:pPr>
            <a:r>
              <a:rPr sz="2100" b="0" i="0">
                <a:solidFill>
                  <a:srgbClr val="1A1A1A"/>
                </a:solidFill>
                <a:latin typeface="Arial"/>
              </a:rPr>
              <a:t>His examples: a bearish key reversal day is more reliable at a significant resistance level, and a bullish exhaustion bar at a significant support level (p. 217). The exhaustion bar is a Part 3 pattern; for now, read it as a bullish bar at support.</a:t>
            </a:r>
          </a:p>
          <a:p>
            <a:pPr algn="l">
              <a:lnSpc>
                <a:spcPct val="118000"/>
              </a:lnSpc>
              <a:spcBef>
                <a:spcPts val="0"/>
              </a:spcBef>
              <a:spcAft>
                <a:spcPts val="1300"/>
              </a:spcAft>
            </a:pPr>
            <a:r>
              <a:rPr sz="2100" b="0" i="0">
                <a:solidFill>
                  <a:srgbClr val="1A1A1A"/>
                </a:solidFill>
                <a:latin typeface="Arial"/>
              </a:rPr>
              <a:t>So he advises reading every bar formation against all 16 characteristics (p. 218).</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Chapter 5, "9 Barrier proximity".</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key reversal bar at resistance is more reliable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 key reversal bar where Lim says it counts most. Resistance sits at PHP 60.00 </a:t>
            </a:r>
            <a:r>
              <a:rPr sz="1700" b="1" i="0">
                <a:solidFill>
                  <a:srgbClr val="E09B00"/>
                </a:solidFill>
                <a:latin typeface="Arial"/>
              </a:rPr>
              <a:t>(1)</a:t>
            </a:r>
            <a:r>
              <a:rPr sz="1700" b="0" i="0">
                <a:solidFill>
                  <a:srgbClr val="1A1A1A"/>
                </a:solidFill>
                <a:latin typeface="Arial"/>
              </a:rPr>
              <a:t>. The bar opens at PHP 60.20, pushes up to PHP 60.60 into that barrier </a:t>
            </a:r>
            <a:r>
              <a:rPr sz="1700" b="1" i="0">
                <a:solidFill>
                  <a:srgbClr val="C62828"/>
                </a:solidFill>
                <a:latin typeface="Arial"/>
              </a:rPr>
              <a:t>(2)</a:t>
            </a:r>
            <a:r>
              <a:rPr sz="1700" b="0" i="0">
                <a:solidFill>
                  <a:srgbClr val="1A1A1A"/>
                </a:solidFill>
                <a:latin typeface="Arial"/>
              </a:rPr>
              <a:t>, then closes at PHP 59.00, below the previous close of PHP 59.60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ra-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380490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51979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986162" y="372077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86162"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73670" y="428997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85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The prices are invented for teaching.</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same bar with no barrier nearby is less reliable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Now the identical two bars with no resistance anywhere near: the bar still reaches PHP 60.60 </a:t>
            </a:r>
            <a:r>
              <a:rPr sz="1700" b="1" i="0">
                <a:solidFill>
                  <a:srgbClr val="E09B00"/>
                </a:solidFill>
                <a:latin typeface="Arial"/>
              </a:rPr>
              <a:t>(1)</a:t>
            </a:r>
            <a:r>
              <a:rPr sz="1700" b="0" i="0">
                <a:solidFill>
                  <a:srgbClr val="1A1A1A"/>
                </a:solidFill>
                <a:latin typeface="Arial"/>
              </a:rPr>
              <a:t> and still closes at PHP 59.00 </a:t>
            </a:r>
            <a:r>
              <a:rPr sz="1700" b="1" i="0">
                <a:solidFill>
                  <a:srgbClr val="C62828"/>
                </a:solidFill>
                <a:latin typeface="Arial"/>
              </a:rPr>
              <a:t>(2)</a:t>
            </a:r>
            <a:r>
              <a:rPr sz="1700" b="0" i="0">
                <a:solidFill>
                  <a:srgbClr val="1A1A1A"/>
                </a:solidFill>
                <a:latin typeface="Arial"/>
              </a:rPr>
              <a:t>. The pattern is the same; only its location changed. By Lim's rule this one is the less reliable reading, though neither is a certainty.</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rb-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3375964"/>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10035539" y="4519796"/>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986162" y="329184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073670" y="428997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RB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86 of 88</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The prices are invented for teaching.</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rule works the other way at support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Lim's second example is a bullish exhaustion bar at support, a bar Part 3 teaches. The same rule covers the bullish key reversal of Figure 7.5. With support at PHP 40.00 </a:t>
            </a:r>
            <a:r>
              <a:rPr sz="1700" b="1" i="0">
                <a:solidFill>
                  <a:srgbClr val="E09B00"/>
                </a:solidFill>
                <a:latin typeface="Arial"/>
              </a:rPr>
              <a:t>(1)</a:t>
            </a:r>
            <a:r>
              <a:rPr sz="1700" b="0" i="0">
                <a:solidFill>
                  <a:srgbClr val="1A1A1A"/>
                </a:solidFill>
                <a:latin typeface="Arial"/>
              </a:rPr>
              <a:t>, the bar dips to PHP 39.40 </a:t>
            </a:r>
            <a:r>
              <a:rPr sz="1700" b="1" i="0">
                <a:solidFill>
                  <a:srgbClr val="C62828"/>
                </a:solidFill>
                <a:latin typeface="Arial"/>
              </a:rPr>
              <a:t>(2)</a:t>
            </a:r>
            <a:r>
              <a:rPr sz="1700" b="0" i="0">
                <a:solidFill>
                  <a:srgbClr val="1A1A1A"/>
                </a:solidFill>
                <a:latin typeface="Arial"/>
              </a:rPr>
              <a:t> and closes at PHP 41.00, above the previous close of PHP 40.40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p2-rc-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519796"/>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494873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380490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986162" y="443567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83272" y="48315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73670" y="357507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RC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87 of 88</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The prices are invented for teaching.</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16 characteristics on Figure 7.13</a:t>
            </a:r>
          </a:p>
        </p:txBody>
      </p:sp>
      <p:sp>
        <p:nvSpPr>
          <p:cNvPr id="6" name="Rectangle 5"/>
          <p:cNvSpPr/>
          <p:nvPr/>
        </p:nvSpPr>
        <p:spPr>
          <a:xfrm>
            <a:off x="777240" y="1207008"/>
            <a:ext cx="4937760" cy="2030475"/>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48056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480560" cy="387807"/>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characteristic is mark 3?</a:t>
            </a:r>
          </a:p>
        </p:txBody>
      </p:sp>
      <p:sp>
        <p:nvSpPr>
          <p:cNvPr id="9" name="TextBox 8"/>
          <p:cNvSpPr txBox="1"/>
          <p:nvPr/>
        </p:nvSpPr>
        <p:spPr>
          <a:xfrm>
            <a:off x="1005840" y="1869135"/>
            <a:ext cx="4480560" cy="1295196"/>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8, momentum</a:t>
            </a:r>
          </a:p>
          <a:p>
            <a:pPr algn="l">
              <a:lnSpc>
                <a:spcPct val="105000"/>
              </a:lnSpc>
              <a:spcBef>
                <a:spcPts val="0"/>
              </a:spcBef>
              <a:spcAft>
                <a:spcPts val="200"/>
              </a:spcAft>
            </a:pPr>
            <a:r>
              <a:rPr sz="1700" b="0" i="0">
                <a:solidFill>
                  <a:srgbClr val="FFFFFF"/>
                </a:solidFill>
                <a:latin typeface="Arial"/>
              </a:rPr>
              <a:t>B.  10, oscillations</a:t>
            </a:r>
          </a:p>
          <a:p>
            <a:pPr algn="l">
              <a:lnSpc>
                <a:spcPct val="105000"/>
              </a:lnSpc>
              <a:spcBef>
                <a:spcPts val="0"/>
              </a:spcBef>
              <a:spcAft>
                <a:spcPts val="200"/>
              </a:spcAft>
            </a:pPr>
            <a:r>
              <a:rPr sz="1700" b="0" i="0">
                <a:solidFill>
                  <a:srgbClr val="FFFFFF"/>
                </a:solidFill>
                <a:latin typeface="Arial"/>
              </a:rPr>
              <a:t>C.  14, overextension</a:t>
            </a:r>
          </a:p>
          <a:p>
            <a:pPr algn="l">
              <a:lnSpc>
                <a:spcPct val="105000"/>
              </a:lnSpc>
              <a:spcBef>
                <a:spcPts val="0"/>
              </a:spcBef>
              <a:spcAft>
                <a:spcPts val="200"/>
              </a:spcAft>
            </a:pPr>
            <a:r>
              <a:rPr sz="1700" b="0" i="0">
                <a:solidFill>
                  <a:srgbClr val="FFFFFF"/>
                </a:solidFill>
                <a:latin typeface="Arial"/>
              </a:rPr>
              <a:t>D.  12, exhaustion gap</a:t>
            </a:r>
          </a:p>
        </p:txBody>
      </p:sp>
      <p:sp>
        <p:nvSpPr>
          <p:cNvPr id="10" name="Rectangle 9"/>
          <p:cNvSpPr/>
          <p:nvPr/>
        </p:nvSpPr>
        <p:spPr>
          <a:xfrm>
            <a:off x="777240" y="3328924"/>
            <a:ext cx="4937760" cy="2308555"/>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0364"/>
            <a:ext cx="448056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1531"/>
            <a:ext cx="4480560" cy="665886"/>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are few oscillations in a run-up bearish?</a:t>
            </a:r>
          </a:p>
        </p:txBody>
      </p:sp>
      <p:sp>
        <p:nvSpPr>
          <p:cNvPr id="13" name="TextBox 12"/>
          <p:cNvSpPr txBox="1"/>
          <p:nvPr/>
        </p:nvSpPr>
        <p:spPr>
          <a:xfrm>
            <a:off x="1005840" y="4269130"/>
            <a:ext cx="4480560" cy="1295196"/>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Low volume</a:t>
            </a:r>
          </a:p>
          <a:p>
            <a:pPr algn="l">
              <a:lnSpc>
                <a:spcPct val="105000"/>
              </a:lnSpc>
              <a:spcBef>
                <a:spcPts val="0"/>
              </a:spcBef>
              <a:spcAft>
                <a:spcPts val="200"/>
              </a:spcAft>
            </a:pPr>
            <a:r>
              <a:rPr sz="1700" b="0" i="0">
                <a:solidFill>
                  <a:srgbClr val="FFFFFF"/>
                </a:solidFill>
                <a:latin typeface="Arial"/>
              </a:rPr>
              <a:t>B.  Little profit-taking</a:t>
            </a:r>
          </a:p>
          <a:p>
            <a:pPr algn="l">
              <a:lnSpc>
                <a:spcPct val="105000"/>
              </a:lnSpc>
              <a:spcBef>
                <a:spcPts val="0"/>
              </a:spcBef>
              <a:spcAft>
                <a:spcPts val="200"/>
              </a:spcAft>
            </a:pPr>
            <a:r>
              <a:rPr sz="1700" b="0" i="0">
                <a:solidFill>
                  <a:srgbClr val="FFFFFF"/>
                </a:solidFill>
                <a:latin typeface="Arial"/>
              </a:rPr>
              <a:t>C.  No band formula</a:t>
            </a:r>
          </a:p>
          <a:p>
            <a:pPr algn="l">
              <a:lnSpc>
                <a:spcPct val="105000"/>
              </a:lnSpc>
              <a:spcBef>
                <a:spcPts val="0"/>
              </a:spcBef>
              <a:spcAft>
                <a:spcPts val="200"/>
              </a:spcAft>
            </a:pPr>
            <a:r>
              <a:rPr sz="1700" b="0" i="0">
                <a:solidFill>
                  <a:srgbClr val="FFFFFF"/>
                </a:solidFill>
                <a:latin typeface="Arial"/>
              </a:rPr>
              <a:t>D.  A downtrend</a:t>
            </a:r>
          </a:p>
        </p:txBody>
      </p:sp>
      <p:sp>
        <p:nvSpPr>
          <p:cNvPr id="14" name="Rectangle 13"/>
          <p:cNvSpPr/>
          <p:nvPr/>
        </p:nvSpPr>
        <p:spPr>
          <a:xfrm>
            <a:off x="6035040" y="1207008"/>
            <a:ext cx="5379414" cy="3210272"/>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153912" y="1325880"/>
            <a:ext cx="5141670" cy="2972528"/>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153912" y="1325880"/>
            <a:ext cx="5141670"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428231" y="1600200"/>
            <a:ext cx="4593031" cy="251532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7.13</a:t>
            </a:r>
          </a:p>
          <a:p>
            <a:pPr algn="l">
              <a:lnSpc>
                <a:spcPct val="115000"/>
              </a:lnSpc>
              <a:spcBef>
                <a:spcPts val="0"/>
              </a:spcBef>
              <a:spcAft>
                <a:spcPts val="0"/>
              </a:spcAft>
            </a:pPr>
            <a:r>
              <a:rPr sz="1500" b="0" i="0">
                <a:solidFill>
                  <a:srgbClr val="1A1A1A"/>
                </a:solidFill>
                <a:latin typeface="Palatino"/>
              </a:rPr>
              <a:t>Figure 7.13: a parabolic run-up in price ending in an overextended bar above the upper band.</a:t>
            </a:r>
          </a:p>
        </p:txBody>
      </p:sp>
      <p:sp>
        <p:nvSpPr>
          <p:cNvPr id="18" name="Rectangle 17"/>
          <p:cNvSpPr/>
          <p:nvPr/>
        </p:nvSpPr>
        <p:spPr>
          <a:xfrm>
            <a:off x="8821153" y="1928419"/>
            <a:ext cx="232981" cy="803386"/>
          </a:xfrm>
          <a:prstGeom prst="rect">
            <a:avLst/>
          </a:prstGeom>
          <a:noFill/>
          <a:ln w="44450">
            <a:solidFill>
              <a:srgbClr val="E09B00"/>
            </a:solidFill>
          </a:ln>
        </p:spPr>
        <p:txBody>
          <a:bodyPr rtlCol="0" anchor="ctr"/>
          <a:lstStyle/>
          <a:p>
            <a:pPr algn="ctr"/>
          </a:p>
        </p:txBody>
      </p:sp>
      <p:sp>
        <p:nvSpPr>
          <p:cNvPr id="19" name="Rectangle 18"/>
          <p:cNvSpPr/>
          <p:nvPr/>
        </p:nvSpPr>
        <p:spPr>
          <a:xfrm>
            <a:off x="8331088" y="2591213"/>
            <a:ext cx="490065" cy="682878"/>
          </a:xfrm>
          <a:prstGeom prst="rect">
            <a:avLst/>
          </a:prstGeom>
          <a:noFill/>
          <a:ln w="44450">
            <a:solidFill>
              <a:srgbClr val="C62828"/>
            </a:solidFill>
          </a:ln>
        </p:spPr>
        <p:txBody>
          <a:bodyPr rtlCol="0" anchor="ctr"/>
          <a:lstStyle/>
          <a:p>
            <a:pPr algn="ctr"/>
          </a:p>
        </p:txBody>
      </p:sp>
      <p:sp>
        <p:nvSpPr>
          <p:cNvPr id="20" name="Oval 19"/>
          <p:cNvSpPr/>
          <p:nvPr/>
        </p:nvSpPr>
        <p:spPr>
          <a:xfrm>
            <a:off x="8997898" y="1486557"/>
            <a:ext cx="176744" cy="461947"/>
          </a:xfrm>
          <a:prstGeom prst="ellipse">
            <a:avLst/>
          </a:prstGeom>
          <a:noFill/>
          <a:ln w="44450">
            <a:solidFill>
              <a:srgbClr val="1F5FAD"/>
            </a:solidFill>
          </a:ln>
        </p:spPr>
        <p:txBody>
          <a:bodyPr rtlCol="0" anchor="ctr"/>
          <a:lstStyle/>
          <a:p>
            <a:pPr algn="ctr"/>
          </a:p>
        </p:txBody>
      </p:sp>
      <p:sp>
        <p:nvSpPr>
          <p:cNvPr id="21" name="Oval 20"/>
          <p:cNvSpPr/>
          <p:nvPr/>
        </p:nvSpPr>
        <p:spPr>
          <a:xfrm>
            <a:off x="8693137" y="180040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203072" y="246319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757408" y="143887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035040" y="4508720"/>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14</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16 characteristics on Figure 7.13</a:t>
            </a:r>
          </a:p>
        </p:txBody>
      </p:sp>
      <p:sp>
        <p:nvSpPr>
          <p:cNvPr id="6" name="Rectangle 5"/>
          <p:cNvSpPr/>
          <p:nvPr/>
        </p:nvSpPr>
        <p:spPr>
          <a:xfrm>
            <a:off x="777240" y="1207008"/>
            <a:ext cx="4937760" cy="176847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76847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38912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characteristic is mark 3?</a:t>
            </a:r>
          </a:p>
        </p:txBody>
      </p:sp>
      <p:sp>
        <p:nvSpPr>
          <p:cNvPr id="9" name="TextBox 8"/>
          <p:cNvSpPr txBox="1"/>
          <p:nvPr/>
        </p:nvSpPr>
        <p:spPr>
          <a:xfrm>
            <a:off x="1097280" y="1821053"/>
            <a:ext cx="438912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14, overextension</a:t>
            </a:r>
          </a:p>
          <a:p>
            <a:pPr algn="l">
              <a:lnSpc>
                <a:spcPct val="115000"/>
              </a:lnSpc>
              <a:spcBef>
                <a:spcPts val="500"/>
              </a:spcBef>
              <a:spcAft>
                <a:spcPts val="0"/>
              </a:spcAft>
            </a:pPr>
            <a:r>
              <a:rPr sz="1700" b="0" i="0">
                <a:solidFill>
                  <a:srgbClr val="1A1A1A"/>
                </a:solidFill>
                <a:latin typeface="Arial"/>
              </a:rPr>
              <a:t>The overextended bar above the band is characteristic 14 (p. 217).</a:t>
            </a:r>
          </a:p>
        </p:txBody>
      </p:sp>
      <p:sp>
        <p:nvSpPr>
          <p:cNvPr id="10" name="Rectangle 9"/>
          <p:cNvSpPr/>
          <p:nvPr/>
        </p:nvSpPr>
        <p:spPr>
          <a:xfrm>
            <a:off x="777240" y="3158363"/>
            <a:ext cx="4937760" cy="201675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58363"/>
            <a:ext cx="91440" cy="201675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341243"/>
            <a:ext cx="438912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Why are few oscillations in a run-up bearish?</a:t>
            </a:r>
          </a:p>
        </p:txBody>
      </p:sp>
      <p:sp>
        <p:nvSpPr>
          <p:cNvPr id="13" name="TextBox 12"/>
          <p:cNvSpPr txBox="1"/>
          <p:nvPr/>
        </p:nvSpPr>
        <p:spPr>
          <a:xfrm>
            <a:off x="1097280" y="4020693"/>
            <a:ext cx="438912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Little profit-taking</a:t>
            </a:r>
          </a:p>
          <a:p>
            <a:pPr algn="l">
              <a:lnSpc>
                <a:spcPct val="115000"/>
              </a:lnSpc>
              <a:spcBef>
                <a:spcPts val="500"/>
              </a:spcBef>
              <a:spcAft>
                <a:spcPts val="0"/>
              </a:spcAft>
            </a:pPr>
            <a:r>
              <a:rPr sz="1700" b="0" i="0">
                <a:solidFill>
                  <a:srgbClr val="1A1A1A"/>
                </a:solidFill>
                <a:latin typeface="Arial"/>
              </a:rPr>
              <a:t>Lim: a lack of healthy profit-taking makes it potentially bearish (p. 218).</a:t>
            </a:r>
          </a:p>
        </p:txBody>
      </p:sp>
      <p:sp>
        <p:nvSpPr>
          <p:cNvPr id="14" name="Rectangle 13"/>
          <p:cNvSpPr/>
          <p:nvPr/>
        </p:nvSpPr>
        <p:spPr>
          <a:xfrm>
            <a:off x="6035040" y="1207008"/>
            <a:ext cx="5379414" cy="3120195"/>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153912" y="1325880"/>
            <a:ext cx="5141670" cy="2882451"/>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153912" y="1325880"/>
            <a:ext cx="5141670"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428232" y="1600200"/>
            <a:ext cx="4593030" cy="242525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7.13</a:t>
            </a:r>
          </a:p>
          <a:p>
            <a:pPr algn="l">
              <a:lnSpc>
                <a:spcPct val="115000"/>
              </a:lnSpc>
              <a:spcBef>
                <a:spcPts val="0"/>
              </a:spcBef>
              <a:spcAft>
                <a:spcPts val="0"/>
              </a:spcAft>
            </a:pPr>
            <a:r>
              <a:rPr sz="1500" b="0" i="0">
                <a:solidFill>
                  <a:srgbClr val="1A1A1A"/>
                </a:solidFill>
                <a:latin typeface="Palatino"/>
              </a:rPr>
              <a:t>Figure 7.13: a parabolic run-up in price ending in an overextended bar above the upper band.</a:t>
            </a:r>
          </a:p>
        </p:txBody>
      </p:sp>
      <p:sp>
        <p:nvSpPr>
          <p:cNvPr id="18" name="Rectangle 17"/>
          <p:cNvSpPr/>
          <p:nvPr/>
        </p:nvSpPr>
        <p:spPr>
          <a:xfrm>
            <a:off x="8821153" y="1910160"/>
            <a:ext cx="232981" cy="779041"/>
          </a:xfrm>
          <a:prstGeom prst="rect">
            <a:avLst/>
          </a:prstGeom>
          <a:noFill/>
          <a:ln w="44450">
            <a:solidFill>
              <a:srgbClr val="E09B00"/>
            </a:solidFill>
          </a:ln>
        </p:spPr>
        <p:txBody>
          <a:bodyPr rtlCol="0" anchor="ctr"/>
          <a:lstStyle/>
          <a:p>
            <a:pPr algn="ctr"/>
          </a:p>
        </p:txBody>
      </p:sp>
      <p:sp>
        <p:nvSpPr>
          <p:cNvPr id="19" name="Rectangle 18"/>
          <p:cNvSpPr/>
          <p:nvPr/>
        </p:nvSpPr>
        <p:spPr>
          <a:xfrm>
            <a:off x="8331088" y="2552869"/>
            <a:ext cx="490065" cy="662184"/>
          </a:xfrm>
          <a:prstGeom prst="rect">
            <a:avLst/>
          </a:prstGeom>
          <a:noFill/>
          <a:ln w="44450">
            <a:solidFill>
              <a:srgbClr val="C62828"/>
            </a:solidFill>
          </a:ln>
        </p:spPr>
        <p:txBody>
          <a:bodyPr rtlCol="0" anchor="ctr"/>
          <a:lstStyle/>
          <a:p>
            <a:pPr algn="ctr"/>
          </a:p>
        </p:txBody>
      </p:sp>
      <p:sp>
        <p:nvSpPr>
          <p:cNvPr id="20" name="Oval 19"/>
          <p:cNvSpPr/>
          <p:nvPr/>
        </p:nvSpPr>
        <p:spPr>
          <a:xfrm>
            <a:off x="8997898" y="1481688"/>
            <a:ext cx="176744" cy="447948"/>
          </a:xfrm>
          <a:prstGeom prst="ellipse">
            <a:avLst/>
          </a:prstGeom>
          <a:noFill/>
          <a:ln w="44450">
            <a:solidFill>
              <a:srgbClr val="1F5FAD"/>
            </a:solidFill>
          </a:ln>
        </p:spPr>
        <p:txBody>
          <a:bodyPr rtlCol="0" anchor="ctr"/>
          <a:lstStyle/>
          <a:p>
            <a:pPr algn="ctr"/>
          </a:p>
        </p:txBody>
      </p:sp>
      <p:sp>
        <p:nvSpPr>
          <p:cNvPr id="21" name="Oval 20"/>
          <p:cNvSpPr/>
          <p:nvPr/>
        </p:nvSpPr>
        <p:spPr>
          <a:xfrm>
            <a:off x="8693137" y="178214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203072" y="242485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757408" y="143157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035040" y="4418643"/>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Barrier proximity</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Where does Lim say reversal patterns are most reliable?</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At significant price barriers</a:t>
            </a:r>
          </a:p>
          <a:p>
            <a:pPr algn="l">
              <a:lnSpc>
                <a:spcPct val="112000"/>
              </a:lnSpc>
              <a:spcBef>
                <a:spcPts val="0"/>
              </a:spcBef>
              <a:spcAft>
                <a:spcPts val="900"/>
              </a:spcAft>
            </a:pPr>
            <a:r>
              <a:rPr sz="1700" b="0" i="0">
                <a:solidFill>
                  <a:srgbClr val="FFFFFF"/>
                </a:solidFill>
                <a:latin typeface="Arial"/>
              </a:rPr>
              <a:t>B.  Far from any barrier</a:t>
            </a:r>
          </a:p>
          <a:p>
            <a:pPr algn="l">
              <a:lnSpc>
                <a:spcPct val="112000"/>
              </a:lnSpc>
              <a:spcBef>
                <a:spcPts val="0"/>
              </a:spcBef>
              <a:spcAft>
                <a:spcPts val="900"/>
              </a:spcAft>
            </a:pPr>
            <a:r>
              <a:rPr sz="1700" b="0" i="0">
                <a:solidFill>
                  <a:srgbClr val="FFFFFF"/>
                </a:solidFill>
                <a:latin typeface="Arial"/>
              </a:rPr>
              <a:t>C.  Only on low volume</a:t>
            </a:r>
          </a:p>
          <a:p>
            <a:pPr algn="l">
              <a:lnSpc>
                <a:spcPct val="112000"/>
              </a:lnSpc>
              <a:spcBef>
                <a:spcPts val="0"/>
              </a:spcBef>
              <a:spcAft>
                <a:spcPts val="900"/>
              </a:spcAft>
            </a:pPr>
            <a:r>
              <a:rPr sz="1700" b="0" i="0">
                <a:solidFill>
                  <a:srgbClr val="FFFFFF"/>
                </a:solidFill>
                <a:latin typeface="Arial"/>
              </a:rPr>
              <a:t>D.  Only in a downtrend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Two identical key reversal bars: one at resistance, one far from any barrier. Which reading is more reliable?</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one far from a barrier</a:t>
            </a:r>
          </a:p>
          <a:p>
            <a:pPr algn="l">
              <a:lnSpc>
                <a:spcPct val="112000"/>
              </a:lnSpc>
              <a:spcBef>
                <a:spcPts val="0"/>
              </a:spcBef>
              <a:spcAft>
                <a:spcPts val="900"/>
              </a:spcAft>
            </a:pPr>
            <a:r>
              <a:rPr sz="1700" b="0" i="0">
                <a:solidFill>
                  <a:srgbClr val="FFFFFF"/>
                </a:solidFill>
                <a:latin typeface="Arial"/>
              </a:rPr>
              <a:t>B.  They are equally reliable</a:t>
            </a:r>
          </a:p>
          <a:p>
            <a:pPr algn="l">
              <a:lnSpc>
                <a:spcPct val="112000"/>
              </a:lnSpc>
              <a:spcBef>
                <a:spcPts val="0"/>
              </a:spcBef>
              <a:spcAft>
                <a:spcPts val="900"/>
              </a:spcAft>
            </a:pPr>
            <a:r>
              <a:rPr sz="1700" b="0" i="0">
                <a:solidFill>
                  <a:srgbClr val="FFFFFF"/>
                </a:solidFill>
                <a:latin typeface="Arial"/>
              </a:rPr>
              <a:t>C.  Neither can be read</a:t>
            </a:r>
          </a:p>
          <a:p>
            <a:pPr algn="l">
              <a:lnSpc>
                <a:spcPct val="112000"/>
              </a:lnSpc>
              <a:spcBef>
                <a:spcPts val="0"/>
              </a:spcBef>
              <a:spcAft>
                <a:spcPts val="900"/>
              </a:spcAft>
            </a:pPr>
            <a:r>
              <a:rPr sz="1700" b="0" i="0">
                <a:solidFill>
                  <a:srgbClr val="FFFFFF"/>
                </a:solidFill>
                <a:latin typeface="Arial"/>
              </a:rPr>
              <a:t>D.  The one at resistance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4 - 7.2 Pattern reading  |  Check 15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Barrier proximity</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Where does Lim say reversal patterns are most reliable?</a:t>
            </a:r>
          </a:p>
        </p:txBody>
      </p:sp>
      <p:sp>
        <p:nvSpPr>
          <p:cNvPr id="9" name="TextBox 8"/>
          <p:cNvSpPr txBox="1"/>
          <p:nvPr/>
        </p:nvSpPr>
        <p:spPr>
          <a:xfrm>
            <a:off x="1143000" y="1949069"/>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At significant price barriers</a:t>
            </a:r>
          </a:p>
          <a:p>
            <a:pPr algn="l">
              <a:lnSpc>
                <a:spcPct val="115000"/>
              </a:lnSpc>
              <a:spcBef>
                <a:spcPts val="700"/>
              </a:spcBef>
              <a:spcAft>
                <a:spcPts val="0"/>
              </a:spcAft>
            </a:pPr>
            <a:r>
              <a:rPr sz="1700" b="0" i="0">
                <a:solidFill>
                  <a:srgbClr val="1A1A1A"/>
                </a:solidFill>
                <a:latin typeface="Arial"/>
              </a:rPr>
              <a:t>Reversal patterns are most reliable at significant price barriers (p. 217).</a:t>
            </a:r>
          </a:p>
        </p:txBody>
      </p:sp>
      <p:sp>
        <p:nvSpPr>
          <p:cNvPr id="10" name="Rectangle 9"/>
          <p:cNvSpPr/>
          <p:nvPr/>
        </p:nvSpPr>
        <p:spPr>
          <a:xfrm>
            <a:off x="777240" y="3082036"/>
            <a:ext cx="10637215" cy="212471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12471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Two identical key reversal bars: one at resistance, one far from any barrier. Which reading is more reliable?</a:t>
            </a:r>
          </a:p>
        </p:txBody>
      </p:sp>
      <p:sp>
        <p:nvSpPr>
          <p:cNvPr id="13" name="TextBox 12"/>
          <p:cNvSpPr txBox="1"/>
          <p:nvPr/>
        </p:nvSpPr>
        <p:spPr>
          <a:xfrm>
            <a:off x="1143000" y="4072382"/>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The one at resistance</a:t>
            </a:r>
          </a:p>
          <a:p>
            <a:pPr algn="l">
              <a:lnSpc>
                <a:spcPct val="115000"/>
              </a:lnSpc>
              <a:spcBef>
                <a:spcPts val="700"/>
              </a:spcBef>
              <a:spcAft>
                <a:spcPts val="0"/>
              </a:spcAft>
            </a:pPr>
            <a:r>
              <a:rPr sz="1700" b="0" i="0">
                <a:solidFill>
                  <a:srgbClr val="1A1A1A"/>
                </a:solidFill>
                <a:latin typeface="Arial"/>
              </a:rPr>
              <a:t>A bearish key reversal day is more reliable when it occurs at a significant resistance level (p. 217).</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Check 15</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 2 in one breath, and where Part 3 begins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4 - 7.2 Pattern reading  |  88 of 88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Read the trend first; a pattern that disagrees with it is a potential reversal. Lim drew seven one- and two-bar forms, six three-bar forms and four multiple-bar forms, each in both directions.</a:t>
            </a:r>
          </a:p>
          <a:p>
            <a:pPr algn="l">
              <a:lnSpc>
                <a:spcPct val="118000"/>
              </a:lnSpc>
              <a:spcBef>
                <a:spcPts val="0"/>
              </a:spcBef>
              <a:spcAft>
                <a:spcPts val="1300"/>
              </a:spcAft>
            </a:pPr>
            <a:r>
              <a:rPr sz="2100" b="0" i="0">
                <a:solidFill>
                  <a:srgbClr val="1A1A1A"/>
                </a:solidFill>
                <a:latin typeface="Arial"/>
              </a:rPr>
              <a:t>The last bar, its volume and the gaps decide how much weight a reading gets, and the 16 characteristics, above all barrier proximity, decide the rest.</a:t>
            </a:r>
          </a:p>
          <a:p>
            <a:pPr algn="l">
              <a:lnSpc>
                <a:spcPct val="118000"/>
              </a:lnSpc>
              <a:spcBef>
                <a:spcPts val="0"/>
              </a:spcBef>
              <a:spcAft>
                <a:spcPts val="1300"/>
              </a:spcAft>
            </a:pPr>
            <a:r>
              <a:rPr sz="2100" b="0" i="0">
                <a:solidFill>
                  <a:srgbClr val="1A1A1A"/>
                </a:solidFill>
                <a:latin typeface="Arial"/>
              </a:rPr>
              <a:t>Part 3 starts with the first form we drew, the key reversal bar, now on the book's real charts.</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211 to 218.</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key reversal is when a strong move suddenly turns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 of 65</a:t>
            </a:r>
          </a:p>
        </p:txBody>
      </p:sp>
      <p:sp>
        <p:nvSpPr>
          <p:cNvPr id="7" name="TextBox 6"/>
          <p:cNvSpPr txBox="1"/>
          <p:nvPr/>
        </p:nvSpPr>
        <p:spPr>
          <a:xfrm>
            <a:off x="777240" y="1965960"/>
            <a:ext cx="50292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 an uptrend, buyers push price higher. A bearish key reversal breaks that habit: it makes a new high, then closes near or below the previous close.</a:t>
            </a:r>
          </a:p>
          <a:p>
            <a:pPr algn="l">
              <a:lnSpc>
                <a:spcPct val="105000"/>
              </a:lnSpc>
              <a:spcBef>
                <a:spcPts val="0"/>
              </a:spcBef>
              <a:spcAft>
                <a:spcPts val="1100"/>
              </a:spcAft>
            </a:pPr>
            <a:r>
              <a:rPr sz="1700" b="0" i="0">
                <a:solidFill>
                  <a:srgbClr val="1A1A1A"/>
                </a:solidFill>
                <a:latin typeface="Arial"/>
              </a:rPr>
              <a:t>Lim defines it this way: "A bearish key reversal bar forms a higher high than the previous bar and closes near or below the close of the previous bar" (p. 218).</a:t>
            </a:r>
          </a:p>
          <a:p>
            <a:pPr algn="l">
              <a:lnSpc>
                <a:spcPct val="105000"/>
              </a:lnSpc>
              <a:spcBef>
                <a:spcPts val="0"/>
              </a:spcBef>
              <a:spcAft>
                <a:spcPts val="1100"/>
              </a:spcAft>
            </a:pPr>
            <a:r>
              <a:rPr sz="1700" b="0" i="0">
                <a:solidFill>
                  <a:srgbClr val="1A1A1A"/>
                </a:solidFill>
                <a:latin typeface="Arial"/>
              </a:rPr>
              <a:t>Why it matters: it warns an uptrend may be running out of buyers. Lim says a wider bar may improve follow-through, but it is not a promise (p. 218).</a:t>
            </a:r>
          </a:p>
        </p:txBody>
      </p:sp>
      <p:sp>
        <p:nvSpPr>
          <p:cNvPr id="8" name="Rectangle 7"/>
          <p:cNvSpPr/>
          <p:nvPr/>
        </p:nvSpPr>
        <p:spPr>
          <a:xfrm>
            <a:off x="6126479" y="1810512"/>
            <a:ext cx="5379414" cy="353626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245351" y="1929384"/>
            <a:ext cx="5141670" cy="3298525"/>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45351" y="1929384"/>
            <a:ext cx="5141670"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519671" y="2203703"/>
            <a:ext cx="4593031" cy="284132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day opens above the previous high, forms a new high, closes below the previous close, and has above average volume.</a:t>
            </a:r>
          </a:p>
        </p:txBody>
      </p:sp>
      <p:sp>
        <p:nvSpPr>
          <p:cNvPr id="12" name="TextBox 11"/>
          <p:cNvSpPr txBox="1"/>
          <p:nvPr/>
        </p:nvSpPr>
        <p:spPr>
          <a:xfrm>
            <a:off x="6126479" y="543822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218 to 219, Figure 7.15. The crop is for teaching; no invented example is on this slide.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Walking through one key reversal, price by price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the same pattern with simple prices, so you can see each step. Yesterday the stock reached 52.00 and closed at 51.10. Today it opens higher, at 52.30, already above yesterday's high </a:t>
            </a:r>
            <a:r>
              <a:rPr sz="1700" b="1" i="0">
                <a:solidFill>
                  <a:srgbClr val="E09B00"/>
                </a:solidFill>
                <a:latin typeface="Arial"/>
              </a:rPr>
              <a:t>(1)</a:t>
            </a:r>
            <a:r>
              <a:rPr sz="1700" b="0" i="0">
                <a:solidFill>
                  <a:srgbClr val="1A1A1A"/>
                </a:solidFill>
                <a:latin typeface="Arial"/>
              </a:rPr>
              <a:t>. Buyers push it to 53.20, a new high </a:t>
            </a:r>
            <a:r>
              <a:rPr sz="1700" b="1" i="0">
                <a:solidFill>
                  <a:srgbClr val="C62828"/>
                </a:solidFill>
                <a:latin typeface="Arial"/>
              </a:rPr>
              <a:t>(2)</a:t>
            </a:r>
            <a:r>
              <a:rPr sz="1700" b="0" i="0">
                <a:solidFill>
                  <a:srgbClr val="1A1A1A"/>
                </a:solidFill>
                <a:latin typeface="Arial"/>
              </a:rPr>
              <a:t>. Then the selling starts, and by the close it has fallen to 50.80, below yesterday's close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k-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724643" y="366774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15403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880091" y="5223052"/>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9640519" y="341170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967874"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10107215" y="399726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967874" y="513892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 of 65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Walking through one key reversal, price by price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Volume more than doubles, from 2.0 to 4.2 million shares </a:t>
            </a:r>
            <a:r>
              <a:rPr sz="1700" b="1" i="0">
                <a:solidFill>
                  <a:srgbClr val="7B3FA0"/>
                </a:solidFill>
                <a:latin typeface="Arial"/>
              </a:rPr>
              <a:t>(4)</a:t>
            </a:r>
            <a:r>
              <a:rPr sz="1700" b="0" i="0">
                <a:solidFill>
                  <a:srgbClr val="1A1A1A"/>
                </a:solidFill>
                <a:latin typeface="Arial"/>
              </a:rPr>
              <a:t>, so many traders took part in that turn.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k-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724643" y="366774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15403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880091" y="5223052"/>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9640519" y="341170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967874"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10107215" y="399726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9967874" y="513892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K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 of 65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bullish key reversal is the same rule in the opposite direction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 of 65</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In a downtrend, a bullish key reversal makes a new low, then closes near or above the previous close.</a:t>
            </a:r>
          </a:p>
          <a:p>
            <a:pPr algn="l">
              <a:lnSpc>
                <a:spcPct val="105000"/>
              </a:lnSpc>
              <a:spcBef>
                <a:spcPts val="0"/>
              </a:spcBef>
              <a:spcAft>
                <a:spcPts val="1100"/>
              </a:spcAft>
            </a:pPr>
            <a:r>
              <a:rPr sz="1800" b="0" i="0">
                <a:solidFill>
                  <a:srgbClr val="1A1A1A"/>
                </a:solidFill>
                <a:latin typeface="Arial"/>
              </a:rPr>
              <a:t>With simple invented prices: yesterday's low was 41.00 and its close 41.50. Today it falls to a new low of 40.50 </a:t>
            </a:r>
            <a:r>
              <a:rPr sz="1800" b="1" i="0">
                <a:solidFill>
                  <a:srgbClr val="E09B00"/>
                </a:solidFill>
                <a:latin typeface="Arial"/>
              </a:rPr>
              <a:t>(1)</a:t>
            </a:r>
            <a:r>
              <a:rPr sz="1800" b="0" i="0">
                <a:solidFill>
                  <a:srgbClr val="1A1A1A"/>
                </a:solidFill>
                <a:latin typeface="Arial"/>
              </a:rPr>
              <a:t>, then closes at 43.20 </a:t>
            </a:r>
            <a:r>
              <a:rPr sz="1800" b="1" i="0">
                <a:solidFill>
                  <a:srgbClr val="C62828"/>
                </a:solidFill>
                <a:latin typeface="Arial"/>
              </a:rPr>
              <a:t>(2)</a:t>
            </a:r>
            <a:r>
              <a:rPr sz="1800" b="0" i="0">
                <a:solidFill>
                  <a:srgbClr val="1A1A1A"/>
                </a:solidFill>
                <a:latin typeface="Arial"/>
              </a:rPr>
              <a:t>, above yesterday's close of 41.50, on 4.0 million shares </a:t>
            </a:r>
            <a:r>
              <a:rPr sz="1800" b="1" i="0">
                <a:solidFill>
                  <a:srgbClr val="1F5FAD"/>
                </a:solidFill>
                <a:latin typeface="Arial"/>
              </a:rPr>
              <a:t>(3)</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In Lim's chart price then rebounds rapidly, but that is not a promise (p. 218).</a:t>
            </a:r>
          </a:p>
        </p:txBody>
      </p:sp>
      <p:sp>
        <p:nvSpPr>
          <p:cNvPr id="8" name="TextBox 7"/>
          <p:cNvSpPr txBox="1"/>
          <p:nvPr/>
        </p:nvSpPr>
        <p:spPr>
          <a:xfrm>
            <a:off x="777240" y="554126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Lim (2016), p. 218, Figure 7.14. The figure shows the book's bullish converse.</a:t>
            </a:r>
          </a:p>
        </p:txBody>
      </p:sp>
      <p:sp>
        <p:nvSpPr>
          <p:cNvPr id="9" name="Rectangle 8"/>
          <p:cNvSpPr/>
          <p:nvPr/>
        </p:nvSpPr>
        <p:spPr>
          <a:xfrm>
            <a:off x="6217919" y="1810512"/>
            <a:ext cx="5653735" cy="3451798"/>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336791" y="1929384"/>
            <a:ext cx="5415991" cy="321405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5415991"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11111" y="2203703"/>
            <a:ext cx="4867351" cy="275685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7.14</a:t>
            </a:r>
          </a:p>
          <a:p>
            <a:pPr algn="l">
              <a:lnSpc>
                <a:spcPct val="115000"/>
              </a:lnSpc>
              <a:spcBef>
                <a:spcPts val="0"/>
              </a:spcBef>
              <a:spcAft>
                <a:spcPts val="0"/>
              </a:spcAft>
            </a:pPr>
            <a:r>
              <a:rPr sz="1500" b="0" i="0">
                <a:solidFill>
                  <a:srgbClr val="1A1A1A"/>
                </a:solidFill>
                <a:latin typeface="Palatino"/>
              </a:rPr>
              <a:t>Apple daily chart. The marked bar makes a new low, closes above the previous close, and is followed by a rapid rebound on high volume.</a:t>
            </a:r>
          </a:p>
        </p:txBody>
      </p:sp>
      <p:sp>
        <p:nvSpPr>
          <p:cNvPr id="13" name="Oval 12"/>
          <p:cNvSpPr/>
          <p:nvPr/>
        </p:nvSpPr>
        <p:spPr>
          <a:xfrm>
            <a:off x="8692748" y="4066730"/>
            <a:ext cx="189559" cy="160702"/>
          </a:xfrm>
          <a:prstGeom prst="ellipse">
            <a:avLst/>
          </a:prstGeom>
          <a:noFill/>
          <a:ln w="44450">
            <a:solidFill>
              <a:srgbClr val="E09B00"/>
            </a:solidFill>
          </a:ln>
        </p:spPr>
        <p:txBody>
          <a:bodyPr rtlCol="0" anchor="ctr"/>
          <a:lstStyle/>
          <a:p>
            <a:pPr algn="ctr"/>
          </a:p>
        </p:txBody>
      </p:sp>
      <p:sp>
        <p:nvSpPr>
          <p:cNvPr id="14" name="Oval 13"/>
          <p:cNvSpPr/>
          <p:nvPr/>
        </p:nvSpPr>
        <p:spPr>
          <a:xfrm>
            <a:off x="8746907" y="3873887"/>
            <a:ext cx="178727" cy="160702"/>
          </a:xfrm>
          <a:prstGeom prst="ellipse">
            <a:avLst/>
          </a:prstGeom>
          <a:noFill/>
          <a:ln w="44450">
            <a:solidFill>
              <a:srgbClr val="C62828"/>
            </a:solidFill>
          </a:ln>
        </p:spPr>
        <p:txBody>
          <a:bodyPr rtlCol="0" anchor="ctr"/>
          <a:lstStyle/>
          <a:p>
            <a:pPr algn="ctr"/>
          </a:p>
        </p:txBody>
      </p:sp>
      <p:sp>
        <p:nvSpPr>
          <p:cNvPr id="15" name="Oval 14"/>
          <p:cNvSpPr/>
          <p:nvPr/>
        </p:nvSpPr>
        <p:spPr>
          <a:xfrm>
            <a:off x="8708996" y="4323854"/>
            <a:ext cx="162479" cy="771373"/>
          </a:xfrm>
          <a:prstGeom prst="ellipse">
            <a:avLst/>
          </a:prstGeom>
          <a:noFill/>
          <a:ln w="44450">
            <a:solidFill>
              <a:srgbClr val="1F5FAD"/>
            </a:solidFill>
          </a:ln>
        </p:spPr>
        <p:txBody>
          <a:bodyPr rtlCol="0" anchor="ctr"/>
          <a:lstStyle/>
          <a:p>
            <a:pPr algn="ctr"/>
          </a:p>
        </p:txBody>
      </p:sp>
      <p:sp>
        <p:nvSpPr>
          <p:cNvPr id="16" name="Oval 15"/>
          <p:cNvSpPr/>
          <p:nvPr/>
        </p:nvSpPr>
        <p:spPr>
          <a:xfrm>
            <a:off x="8447620" y="406949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935059" y="373201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8935059" y="4390899"/>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TextBox 18"/>
          <p:cNvSpPr txBox="1"/>
          <p:nvPr/>
        </p:nvSpPr>
        <p:spPr>
          <a:xfrm>
            <a:off x="6217919" y="5353750"/>
            <a:ext cx="56537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7.14 - Lim, The Handbook of Technical Analysis (Wiley, 2016)</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218, Figure 7.14. The worked PHP values are ours, invented to show the converse.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7.15 shows the key reversal on the book's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 of 65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book's chart shows the same rule: a higher high, then a close near or below the prior close (p. 218).</a:t>
            </a:r>
          </a:p>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marks the previous bar's high. Red </a:t>
            </a:r>
            <a:r>
              <a:rPr sz="1700" b="1" i="0">
                <a:solidFill>
                  <a:srgbClr val="C62828"/>
                </a:solidFill>
                <a:latin typeface="Arial"/>
              </a:rPr>
              <a:t>(2)</a:t>
            </a:r>
            <a:r>
              <a:rPr sz="1700" b="0" i="0">
                <a:solidFill>
                  <a:srgbClr val="1A1A1A"/>
                </a:solidFill>
                <a:latin typeface="Arial"/>
              </a:rPr>
              <a:t> marks the key reversal day's higher high. Blue </a:t>
            </a:r>
            <a:r>
              <a:rPr sz="1700" b="1" i="0">
                <a:solidFill>
                  <a:srgbClr val="1F5FAD"/>
                </a:solidFill>
                <a:latin typeface="Arial"/>
              </a:rPr>
              <a:t>(3)</a:t>
            </a:r>
            <a:r>
              <a:rPr sz="1700" b="0" i="0">
                <a:solidFill>
                  <a:srgbClr val="1A1A1A"/>
                </a:solidFill>
                <a:latin typeface="Arial"/>
              </a:rPr>
              <a:t> marks its close, below the previous close. Purple </a:t>
            </a:r>
            <a:r>
              <a:rPr sz="1700" b="1" i="0">
                <a:solidFill>
                  <a:srgbClr val="7B3FA0"/>
                </a:solidFill>
                <a:latin typeface="Arial"/>
              </a:rPr>
              <a:t>(4)</a:t>
            </a:r>
            <a:r>
              <a:rPr sz="1700" b="0" i="0">
                <a:solidFill>
                  <a:srgbClr val="1A1A1A"/>
                </a:solidFill>
                <a:latin typeface="Arial"/>
              </a:rPr>
              <a:t> marks the above-average volume beneath it.</a:t>
            </a:r>
          </a:p>
          <a:p>
            <a:pPr algn="l">
              <a:lnSpc>
                <a:spcPct val="105000"/>
              </a:lnSpc>
              <a:spcBef>
                <a:spcPts val="0"/>
              </a:spcBef>
              <a:spcAft>
                <a:spcPts val="1100"/>
              </a:spcAft>
            </a:pPr>
            <a:r>
              <a:rPr sz="1700" b="0" i="0">
                <a:solidFill>
                  <a:srgbClr val="1A1A1A"/>
                </a:solidFill>
                <a:latin typeface="Arial"/>
              </a:rPr>
              <a:t>Why it matters: a key reversal is a warning, not a promise. In the book's example, the market drifts sideways before it falls.</a:t>
            </a:r>
          </a:p>
        </p:txBody>
      </p:sp>
      <p:sp>
        <p:nvSpPr>
          <p:cNvPr id="8" name="Rectangle 7"/>
          <p:cNvSpPr/>
          <p:nvPr/>
        </p:nvSpPr>
        <p:spPr>
          <a:xfrm>
            <a:off x="6143529" y="1810512"/>
            <a:ext cx="5711076"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262401" y="1929384"/>
            <a:ext cx="5473332"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62401" y="1929384"/>
            <a:ext cx="5473332"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536721" y="2203703"/>
            <a:ext cx="4924692"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day opens above the previous high, forms a new high, closes below the previous close, and has above average volume.</a:t>
            </a:r>
          </a:p>
        </p:txBody>
      </p:sp>
      <p:sp>
        <p:nvSpPr>
          <p:cNvPr id="12" name="Oval 11"/>
          <p:cNvSpPr/>
          <p:nvPr/>
        </p:nvSpPr>
        <p:spPr>
          <a:xfrm>
            <a:off x="9216263" y="2493970"/>
            <a:ext cx="195476" cy="173719"/>
          </a:xfrm>
          <a:prstGeom prst="ellipse">
            <a:avLst/>
          </a:prstGeom>
          <a:noFill/>
          <a:ln w="44450">
            <a:solidFill>
              <a:srgbClr val="E09B00"/>
            </a:solidFill>
          </a:ln>
        </p:spPr>
        <p:txBody>
          <a:bodyPr rtlCol="0" anchor="ctr"/>
          <a:lstStyle/>
          <a:p>
            <a:pPr algn="ctr"/>
          </a:p>
        </p:txBody>
      </p:sp>
      <p:sp>
        <p:nvSpPr>
          <p:cNvPr id="13" name="Oval 12"/>
          <p:cNvSpPr/>
          <p:nvPr/>
        </p:nvSpPr>
        <p:spPr>
          <a:xfrm>
            <a:off x="9303141" y="2331109"/>
            <a:ext cx="217195" cy="173719"/>
          </a:xfrm>
          <a:prstGeom prst="ellipse">
            <a:avLst/>
          </a:prstGeom>
          <a:noFill/>
          <a:ln w="44450">
            <a:solidFill>
              <a:srgbClr val="C62828"/>
            </a:solidFill>
          </a:ln>
        </p:spPr>
        <p:txBody>
          <a:bodyPr rtlCol="0" anchor="ctr"/>
          <a:lstStyle/>
          <a:p>
            <a:pPr algn="ctr"/>
          </a:p>
        </p:txBody>
      </p:sp>
      <p:sp>
        <p:nvSpPr>
          <p:cNvPr id="14" name="Oval 13"/>
          <p:cNvSpPr/>
          <p:nvPr/>
        </p:nvSpPr>
        <p:spPr>
          <a:xfrm>
            <a:off x="9346580" y="2732834"/>
            <a:ext cx="217195" cy="173719"/>
          </a:xfrm>
          <a:prstGeom prst="ellipse">
            <a:avLst/>
          </a:prstGeom>
          <a:noFill/>
          <a:ln w="44450">
            <a:solidFill>
              <a:srgbClr val="1F5FAD"/>
            </a:solidFill>
          </a:ln>
        </p:spPr>
        <p:txBody>
          <a:bodyPr rtlCol="0" anchor="ctr"/>
          <a:lstStyle/>
          <a:p>
            <a:pPr algn="ctr"/>
          </a:p>
        </p:txBody>
      </p:sp>
      <p:sp>
        <p:nvSpPr>
          <p:cNvPr id="15" name="Oval 14"/>
          <p:cNvSpPr/>
          <p:nvPr/>
        </p:nvSpPr>
        <p:spPr>
          <a:xfrm>
            <a:off x="9292281" y="5056326"/>
            <a:ext cx="238915" cy="260578"/>
          </a:xfrm>
          <a:prstGeom prst="ellipse">
            <a:avLst/>
          </a:prstGeom>
          <a:noFill/>
          <a:ln w="44450">
            <a:solidFill>
              <a:srgbClr val="7B3FA0"/>
            </a:solidFill>
          </a:ln>
        </p:spPr>
        <p:txBody>
          <a:bodyPr rtlCol="0" anchor="ctr"/>
          <a:lstStyle/>
          <a:p>
            <a:pPr algn="ctr"/>
          </a:p>
        </p:txBody>
      </p:sp>
      <p:sp>
        <p:nvSpPr>
          <p:cNvPr id="16" name="Oval 15"/>
          <p:cNvSpPr/>
          <p:nvPr/>
        </p:nvSpPr>
        <p:spPr>
          <a:xfrm>
            <a:off x="8779872" y="2451689"/>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655606" y="2170785"/>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9710339" y="273259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9108272" y="4628692"/>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6035040" y="5650991"/>
            <a:ext cx="592805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218 to 219, Figure 7.15. The crop and marks are for teaching; no invented example is on this slide.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key reversal slides</a:t>
            </a:r>
          </a:p>
        </p:txBody>
      </p:sp>
      <p:sp>
        <p:nvSpPr>
          <p:cNvPr id="6" name="Rectangle 5"/>
          <p:cNvSpPr/>
          <p:nvPr/>
        </p:nvSpPr>
        <p:spPr>
          <a:xfrm>
            <a:off x="777240" y="1207008"/>
            <a:ext cx="45720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1148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bearish key reversal makes a higher high, then:</a:t>
            </a:r>
          </a:p>
        </p:txBody>
      </p:sp>
      <p:sp>
        <p:nvSpPr>
          <p:cNvPr id="9" name="TextBox 8"/>
          <p:cNvSpPr txBox="1"/>
          <p:nvPr/>
        </p:nvSpPr>
        <p:spPr>
          <a:xfrm>
            <a:off x="1005840" y="2069338"/>
            <a:ext cx="41148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Near or below prior close</a:t>
            </a:r>
          </a:p>
          <a:p>
            <a:pPr algn="l">
              <a:lnSpc>
                <a:spcPct val="105000"/>
              </a:lnSpc>
              <a:spcBef>
                <a:spcPts val="0"/>
              </a:spcBef>
              <a:spcAft>
                <a:spcPts val="200"/>
              </a:spcAft>
            </a:pPr>
            <a:r>
              <a:rPr sz="1700" b="0" i="0">
                <a:solidFill>
                  <a:srgbClr val="FFFFFF"/>
                </a:solidFill>
                <a:latin typeface="Arial"/>
              </a:rPr>
              <a:t>B.  Above prior high</a:t>
            </a:r>
          </a:p>
          <a:p>
            <a:pPr algn="l">
              <a:lnSpc>
                <a:spcPct val="105000"/>
              </a:lnSpc>
              <a:spcBef>
                <a:spcPts val="0"/>
              </a:spcBef>
              <a:spcAft>
                <a:spcPts val="200"/>
              </a:spcAft>
            </a:pPr>
            <a:r>
              <a:rPr sz="1700" b="0" i="0">
                <a:solidFill>
                  <a:srgbClr val="FFFFFF"/>
                </a:solidFill>
                <a:latin typeface="Arial"/>
              </a:rPr>
              <a:t>C.  Below prior low</a:t>
            </a:r>
          </a:p>
          <a:p>
            <a:pPr algn="l">
              <a:lnSpc>
                <a:spcPct val="105000"/>
              </a:lnSpc>
              <a:spcBef>
                <a:spcPts val="0"/>
              </a:spcBef>
              <a:spcAft>
                <a:spcPts val="200"/>
              </a:spcAft>
            </a:pPr>
            <a:r>
              <a:rPr sz="1700" b="0" i="0">
                <a:solidFill>
                  <a:srgbClr val="FFFFFF"/>
                </a:solidFill>
                <a:latin typeface="Arial"/>
              </a:rPr>
              <a:t>D.  On low volume only</a:t>
            </a:r>
          </a:p>
        </p:txBody>
      </p:sp>
      <p:sp>
        <p:nvSpPr>
          <p:cNvPr id="10" name="Rectangle 9"/>
          <p:cNvSpPr/>
          <p:nvPr/>
        </p:nvSpPr>
        <p:spPr>
          <a:xfrm>
            <a:off x="777240" y="3336798"/>
            <a:ext cx="45720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1148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Figure 7.15, blue mark 3 identifies:</a:t>
            </a:r>
          </a:p>
        </p:txBody>
      </p:sp>
      <p:sp>
        <p:nvSpPr>
          <p:cNvPr id="13" name="TextBox 12"/>
          <p:cNvSpPr txBox="1"/>
          <p:nvPr/>
        </p:nvSpPr>
        <p:spPr>
          <a:xfrm>
            <a:off x="1005840" y="4199128"/>
            <a:ext cx="41148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Prior close</a:t>
            </a:r>
          </a:p>
          <a:p>
            <a:pPr algn="l">
              <a:lnSpc>
                <a:spcPct val="105000"/>
              </a:lnSpc>
              <a:spcBef>
                <a:spcPts val="0"/>
              </a:spcBef>
              <a:spcAft>
                <a:spcPts val="200"/>
              </a:spcAft>
            </a:pPr>
            <a:r>
              <a:rPr sz="1700" b="0" i="0">
                <a:solidFill>
                  <a:srgbClr val="FFFFFF"/>
                </a:solidFill>
                <a:latin typeface="Arial"/>
              </a:rPr>
              <a:t>B.  New high</a:t>
            </a:r>
          </a:p>
          <a:p>
            <a:pPr algn="l">
              <a:lnSpc>
                <a:spcPct val="105000"/>
              </a:lnSpc>
              <a:spcBef>
                <a:spcPts val="0"/>
              </a:spcBef>
              <a:spcAft>
                <a:spcPts val="200"/>
              </a:spcAft>
            </a:pPr>
            <a:r>
              <a:rPr sz="1700" b="0" i="0">
                <a:solidFill>
                  <a:srgbClr val="FFFFFF"/>
                </a:solidFill>
                <a:latin typeface="Arial"/>
              </a:rPr>
              <a:t>C.  Close below prior close</a:t>
            </a:r>
          </a:p>
          <a:p>
            <a:pPr algn="l">
              <a:lnSpc>
                <a:spcPct val="105000"/>
              </a:lnSpc>
              <a:spcBef>
                <a:spcPts val="0"/>
              </a:spcBef>
              <a:spcAft>
                <a:spcPts val="200"/>
              </a:spcAft>
            </a:pPr>
            <a:r>
              <a:rPr sz="1700" b="0" i="0">
                <a:solidFill>
                  <a:srgbClr val="FFFFFF"/>
                </a:solidFill>
                <a:latin typeface="Arial"/>
              </a:rPr>
              <a:t>D.  Later bars</a:t>
            </a:r>
          </a:p>
        </p:txBody>
      </p:sp>
      <p:sp>
        <p:nvSpPr>
          <p:cNvPr id="14" name="Rectangle 13"/>
          <p:cNvSpPr/>
          <p:nvPr/>
        </p:nvSpPr>
        <p:spPr>
          <a:xfrm>
            <a:off x="5669279" y="1207008"/>
            <a:ext cx="5745175" cy="3770915"/>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3533171"/>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307597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bar opens above the previous high, forms a new high, and closes below the previous close.</a:t>
            </a:r>
          </a:p>
        </p:txBody>
      </p:sp>
      <p:sp>
        <p:nvSpPr>
          <p:cNvPr id="18" name="Oval 17"/>
          <p:cNvSpPr/>
          <p:nvPr/>
        </p:nvSpPr>
        <p:spPr>
          <a:xfrm>
            <a:off x="8760416" y="1893984"/>
            <a:ext cx="196693" cy="174801"/>
          </a:xfrm>
          <a:prstGeom prst="ellipse">
            <a:avLst/>
          </a:prstGeom>
          <a:noFill/>
          <a:ln w="44450">
            <a:solidFill>
              <a:srgbClr val="E09B00"/>
            </a:solidFill>
          </a:ln>
        </p:spPr>
        <p:txBody>
          <a:bodyPr rtlCol="0" anchor="ctr"/>
          <a:lstStyle/>
          <a:p>
            <a:pPr algn="ctr"/>
          </a:p>
        </p:txBody>
      </p:sp>
      <p:sp>
        <p:nvSpPr>
          <p:cNvPr id="19" name="Oval 18"/>
          <p:cNvSpPr/>
          <p:nvPr/>
        </p:nvSpPr>
        <p:spPr>
          <a:xfrm>
            <a:off x="8847835" y="1730107"/>
            <a:ext cx="218548" cy="174801"/>
          </a:xfrm>
          <a:prstGeom prst="ellipse">
            <a:avLst/>
          </a:prstGeom>
          <a:noFill/>
          <a:ln w="44450">
            <a:solidFill>
              <a:srgbClr val="C62828"/>
            </a:solidFill>
          </a:ln>
        </p:spPr>
        <p:txBody>
          <a:bodyPr rtlCol="0" anchor="ctr"/>
          <a:lstStyle/>
          <a:p>
            <a:pPr algn="ctr"/>
          </a:p>
        </p:txBody>
      </p:sp>
      <p:sp>
        <p:nvSpPr>
          <p:cNvPr id="20" name="Oval 19"/>
          <p:cNvSpPr/>
          <p:nvPr/>
        </p:nvSpPr>
        <p:spPr>
          <a:xfrm>
            <a:off x="8891545" y="2134335"/>
            <a:ext cx="218548" cy="174801"/>
          </a:xfrm>
          <a:prstGeom prst="ellipse">
            <a:avLst/>
          </a:prstGeom>
          <a:noFill/>
          <a:ln w="44450">
            <a:solidFill>
              <a:srgbClr val="1F5FAD"/>
            </a:solidFill>
          </a:ln>
        </p:spPr>
        <p:txBody>
          <a:bodyPr rtlCol="0" anchor="ctr"/>
          <a:lstStyle/>
          <a:p>
            <a:pPr algn="ctr"/>
          </a:p>
        </p:txBody>
      </p:sp>
      <p:sp>
        <p:nvSpPr>
          <p:cNvPr id="21" name="Oval 20"/>
          <p:cNvSpPr/>
          <p:nvPr/>
        </p:nvSpPr>
        <p:spPr>
          <a:xfrm>
            <a:off x="8836908" y="4472303"/>
            <a:ext cx="240403" cy="262201"/>
          </a:xfrm>
          <a:prstGeom prst="ellipse">
            <a:avLst/>
          </a:prstGeom>
          <a:noFill/>
          <a:ln w="44450">
            <a:solidFill>
              <a:srgbClr val="7B3FA0"/>
            </a:solidFill>
          </a:ln>
        </p:spPr>
        <p:txBody>
          <a:bodyPr rtlCol="0" anchor="ctr"/>
          <a:lstStyle/>
          <a:p>
            <a:pPr algn="ctr"/>
          </a:p>
        </p:txBody>
      </p:sp>
      <p:sp>
        <p:nvSpPr>
          <p:cNvPr id="22" name="Oval 21"/>
          <p:cNvSpPr/>
          <p:nvPr/>
        </p:nvSpPr>
        <p:spPr>
          <a:xfrm>
            <a:off x="8321990" y="185212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203179" y="1569469"/>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9258254" y="2134776"/>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8652436" y="4042688"/>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5669279" y="5069363"/>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16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key reversal slides</a:t>
            </a:r>
          </a:p>
        </p:txBody>
      </p:sp>
      <p:sp>
        <p:nvSpPr>
          <p:cNvPr id="6" name="Rectangle 5"/>
          <p:cNvSpPr/>
          <p:nvPr/>
        </p:nvSpPr>
        <p:spPr>
          <a:xfrm>
            <a:off x="777240" y="1207008"/>
            <a:ext cx="4572000" cy="223583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23583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0233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 bearish key reversal makes a higher high, then:</a:t>
            </a:r>
          </a:p>
        </p:txBody>
      </p:sp>
      <p:sp>
        <p:nvSpPr>
          <p:cNvPr id="9" name="TextBox 8"/>
          <p:cNvSpPr txBox="1"/>
          <p:nvPr/>
        </p:nvSpPr>
        <p:spPr>
          <a:xfrm>
            <a:off x="1097280" y="2069338"/>
            <a:ext cx="40233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Near or below prior close</a:t>
            </a:r>
          </a:p>
          <a:p>
            <a:pPr algn="l">
              <a:lnSpc>
                <a:spcPct val="115000"/>
              </a:lnSpc>
              <a:spcBef>
                <a:spcPts val="500"/>
              </a:spcBef>
              <a:spcAft>
                <a:spcPts val="0"/>
              </a:spcAft>
            </a:pPr>
            <a:r>
              <a:rPr sz="1700" b="0" i="0">
                <a:solidFill>
                  <a:srgbClr val="1A1A1A"/>
                </a:solidFill>
                <a:latin typeface="Arial"/>
              </a:rPr>
              <a:t>Lim defines the bearish pattern as a higher high followed by a close near or below the previous close.</a:t>
            </a:r>
          </a:p>
        </p:txBody>
      </p:sp>
      <p:sp>
        <p:nvSpPr>
          <p:cNvPr id="10" name="Rectangle 9"/>
          <p:cNvSpPr/>
          <p:nvPr/>
        </p:nvSpPr>
        <p:spPr>
          <a:xfrm>
            <a:off x="777240" y="3625723"/>
            <a:ext cx="4572000" cy="223583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25723"/>
            <a:ext cx="91440" cy="223583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808603"/>
            <a:ext cx="40233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On Figure 7.15, blue mark 3 identifies:</a:t>
            </a:r>
          </a:p>
        </p:txBody>
      </p:sp>
      <p:sp>
        <p:nvSpPr>
          <p:cNvPr id="13" name="TextBox 12"/>
          <p:cNvSpPr txBox="1"/>
          <p:nvPr/>
        </p:nvSpPr>
        <p:spPr>
          <a:xfrm>
            <a:off x="1097280" y="4488053"/>
            <a:ext cx="40233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Close below prior close</a:t>
            </a:r>
          </a:p>
          <a:p>
            <a:pPr algn="l">
              <a:lnSpc>
                <a:spcPct val="115000"/>
              </a:lnSpc>
              <a:spcBef>
                <a:spcPts val="500"/>
              </a:spcBef>
              <a:spcAft>
                <a:spcPts val="0"/>
              </a:spcAft>
            </a:pPr>
            <a:r>
              <a:rPr sz="1700" b="0" i="0">
                <a:solidFill>
                  <a:srgbClr val="1A1A1A"/>
                </a:solidFill>
                <a:latin typeface="Arial"/>
              </a:rPr>
              <a:t>The preceding slide maps blue mark 3 to the close below the previous close (Lim, p. 218).</a:t>
            </a:r>
          </a:p>
        </p:txBody>
      </p:sp>
      <p:sp>
        <p:nvSpPr>
          <p:cNvPr id="14" name="Rectangle 13"/>
          <p:cNvSpPr/>
          <p:nvPr/>
        </p:nvSpPr>
        <p:spPr>
          <a:xfrm>
            <a:off x="5669279" y="1207008"/>
            <a:ext cx="5745175" cy="3694106"/>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345636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299916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bar opens above the previous high, forms a new high, and closes below the previous close.</a:t>
            </a:r>
          </a:p>
        </p:txBody>
      </p:sp>
      <p:sp>
        <p:nvSpPr>
          <p:cNvPr id="18" name="Oval 17"/>
          <p:cNvSpPr/>
          <p:nvPr/>
        </p:nvSpPr>
        <p:spPr>
          <a:xfrm>
            <a:off x="8760416" y="1881634"/>
            <a:ext cx="196693" cy="171001"/>
          </a:xfrm>
          <a:prstGeom prst="ellipse">
            <a:avLst/>
          </a:prstGeom>
          <a:noFill/>
          <a:ln w="44450">
            <a:solidFill>
              <a:srgbClr val="E09B00"/>
            </a:solidFill>
          </a:ln>
        </p:spPr>
        <p:txBody>
          <a:bodyPr rtlCol="0" anchor="ctr"/>
          <a:lstStyle/>
          <a:p>
            <a:pPr algn="ctr"/>
          </a:p>
        </p:txBody>
      </p:sp>
      <p:sp>
        <p:nvSpPr>
          <p:cNvPr id="19" name="Oval 18"/>
          <p:cNvSpPr/>
          <p:nvPr/>
        </p:nvSpPr>
        <p:spPr>
          <a:xfrm>
            <a:off x="8847835" y="1721320"/>
            <a:ext cx="218548" cy="171001"/>
          </a:xfrm>
          <a:prstGeom prst="ellipse">
            <a:avLst/>
          </a:prstGeom>
          <a:noFill/>
          <a:ln w="44450">
            <a:solidFill>
              <a:srgbClr val="C62828"/>
            </a:solidFill>
          </a:ln>
        </p:spPr>
        <p:txBody>
          <a:bodyPr rtlCol="0" anchor="ctr"/>
          <a:lstStyle/>
          <a:p>
            <a:pPr algn="ctr"/>
          </a:p>
        </p:txBody>
      </p:sp>
      <p:sp>
        <p:nvSpPr>
          <p:cNvPr id="20" name="Oval 19"/>
          <p:cNvSpPr/>
          <p:nvPr/>
        </p:nvSpPr>
        <p:spPr>
          <a:xfrm>
            <a:off x="8891545" y="2116760"/>
            <a:ext cx="218548" cy="171001"/>
          </a:xfrm>
          <a:prstGeom prst="ellipse">
            <a:avLst/>
          </a:prstGeom>
          <a:noFill/>
          <a:ln w="44450">
            <a:solidFill>
              <a:srgbClr val="1F5FAD"/>
            </a:solidFill>
          </a:ln>
        </p:spPr>
        <p:txBody>
          <a:bodyPr rtlCol="0" anchor="ctr"/>
          <a:lstStyle/>
          <a:p>
            <a:pPr algn="ctr"/>
          </a:p>
        </p:txBody>
      </p:sp>
      <p:sp>
        <p:nvSpPr>
          <p:cNvPr id="21" name="Oval 20"/>
          <p:cNvSpPr/>
          <p:nvPr/>
        </p:nvSpPr>
        <p:spPr>
          <a:xfrm>
            <a:off x="8836908" y="4403902"/>
            <a:ext cx="240403" cy="256501"/>
          </a:xfrm>
          <a:prstGeom prst="ellipse">
            <a:avLst/>
          </a:prstGeom>
          <a:noFill/>
          <a:ln w="44450">
            <a:solidFill>
              <a:srgbClr val="7B3FA0"/>
            </a:solidFill>
          </a:ln>
        </p:spPr>
        <p:txBody>
          <a:bodyPr rtlCol="0" anchor="ctr"/>
          <a:lstStyle/>
          <a:p>
            <a:pPr algn="ctr"/>
          </a:p>
        </p:txBody>
      </p:sp>
      <p:sp>
        <p:nvSpPr>
          <p:cNvPr id="22" name="Oval 21"/>
          <p:cNvSpPr/>
          <p:nvPr/>
        </p:nvSpPr>
        <p:spPr>
          <a:xfrm>
            <a:off x="8321990" y="183829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203179" y="156178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9258254" y="2114806"/>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8652436" y="3981242"/>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5669279" y="4992554"/>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16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key reversal slides</a:t>
            </a:r>
          </a:p>
        </p:txBody>
      </p:sp>
      <p:sp>
        <p:nvSpPr>
          <p:cNvPr id="6" name="Rectangle 5"/>
          <p:cNvSpPr/>
          <p:nvPr/>
        </p:nvSpPr>
        <p:spPr>
          <a:xfrm>
            <a:off x="777240" y="1207008"/>
            <a:ext cx="45720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1148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wider key reversal bar makes downside follow-through:</a:t>
            </a:r>
          </a:p>
        </p:txBody>
      </p:sp>
      <p:sp>
        <p:nvSpPr>
          <p:cNvPr id="9" name="TextBox 8"/>
          <p:cNvSpPr txBox="1"/>
          <p:nvPr/>
        </p:nvSpPr>
        <p:spPr>
          <a:xfrm>
            <a:off x="1005840" y="2069338"/>
            <a:ext cx="41148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Impossible</a:t>
            </a:r>
          </a:p>
          <a:p>
            <a:pPr algn="l">
              <a:lnSpc>
                <a:spcPct val="105000"/>
              </a:lnSpc>
              <a:spcBef>
                <a:spcPts val="0"/>
              </a:spcBef>
              <a:spcAft>
                <a:spcPts val="200"/>
              </a:spcAft>
            </a:pPr>
            <a:r>
              <a:rPr sz="1700" b="0" i="0">
                <a:solidFill>
                  <a:srgbClr val="FFFFFF"/>
                </a:solidFill>
                <a:latin typeface="Arial"/>
              </a:rPr>
              <a:t>B.  Always certain</a:t>
            </a:r>
          </a:p>
          <a:p>
            <a:pPr algn="l">
              <a:lnSpc>
                <a:spcPct val="105000"/>
              </a:lnSpc>
              <a:spcBef>
                <a:spcPts val="0"/>
              </a:spcBef>
              <a:spcAft>
                <a:spcPts val="200"/>
              </a:spcAft>
            </a:pPr>
            <a:r>
              <a:rPr sz="1700" b="0" i="0">
                <a:solidFill>
                  <a:srgbClr val="FFFFFF"/>
                </a:solidFill>
                <a:latin typeface="Arial"/>
              </a:rPr>
              <a:t>C.  Unrelated</a:t>
            </a:r>
          </a:p>
          <a:p>
            <a:pPr algn="l">
              <a:lnSpc>
                <a:spcPct val="105000"/>
              </a:lnSpc>
              <a:spcBef>
                <a:spcPts val="0"/>
              </a:spcBef>
              <a:spcAft>
                <a:spcPts val="200"/>
              </a:spcAft>
            </a:pPr>
            <a:r>
              <a:rPr sz="1700" b="0" i="0">
                <a:solidFill>
                  <a:srgbClr val="FFFFFF"/>
                </a:solidFill>
                <a:latin typeface="Arial"/>
              </a:rPr>
              <a:t>D.  Potentially more reliable</a:t>
            </a:r>
          </a:p>
        </p:txBody>
      </p:sp>
      <p:sp>
        <p:nvSpPr>
          <p:cNvPr id="10" name="Rectangle 9"/>
          <p:cNvSpPr/>
          <p:nvPr/>
        </p:nvSpPr>
        <p:spPr>
          <a:xfrm>
            <a:off x="777240" y="3336798"/>
            <a:ext cx="4572000" cy="1790065"/>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1148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bullish converse is read in a:</a:t>
            </a:r>
          </a:p>
        </p:txBody>
      </p:sp>
      <p:sp>
        <p:nvSpPr>
          <p:cNvPr id="13" name="TextBox 12"/>
          <p:cNvSpPr txBox="1"/>
          <p:nvPr/>
        </p:nvSpPr>
        <p:spPr>
          <a:xfrm>
            <a:off x="1005840" y="3950843"/>
            <a:ext cx="4114800" cy="1102868"/>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Monthly chart only</a:t>
            </a:r>
          </a:p>
          <a:p>
            <a:pPr algn="l">
              <a:lnSpc>
                <a:spcPct val="105000"/>
              </a:lnSpc>
              <a:spcBef>
                <a:spcPts val="0"/>
              </a:spcBef>
              <a:spcAft>
                <a:spcPts val="200"/>
              </a:spcAft>
            </a:pPr>
            <a:r>
              <a:rPr sz="1700" b="0" i="0">
                <a:solidFill>
                  <a:srgbClr val="FFFFFF"/>
                </a:solidFill>
                <a:latin typeface="Arial"/>
              </a:rPr>
              <a:t>B.  Downtrend</a:t>
            </a:r>
          </a:p>
          <a:p>
            <a:pPr algn="l">
              <a:lnSpc>
                <a:spcPct val="105000"/>
              </a:lnSpc>
              <a:spcBef>
                <a:spcPts val="0"/>
              </a:spcBef>
              <a:spcAft>
                <a:spcPts val="200"/>
              </a:spcAft>
            </a:pPr>
            <a:r>
              <a:rPr sz="1700" b="0" i="0">
                <a:solidFill>
                  <a:srgbClr val="FFFFFF"/>
                </a:solidFill>
                <a:latin typeface="Arial"/>
              </a:rPr>
              <a:t>C.  Flat market only</a:t>
            </a:r>
          </a:p>
          <a:p>
            <a:pPr algn="l">
              <a:lnSpc>
                <a:spcPct val="105000"/>
              </a:lnSpc>
              <a:spcBef>
                <a:spcPts val="0"/>
              </a:spcBef>
              <a:spcAft>
                <a:spcPts val="200"/>
              </a:spcAft>
            </a:pPr>
            <a:r>
              <a:rPr sz="1700" b="0" i="0">
                <a:solidFill>
                  <a:srgbClr val="FFFFFF"/>
                </a:solidFill>
                <a:latin typeface="Arial"/>
              </a:rPr>
              <a:t>D.  Volume panel</a:t>
            </a:r>
          </a:p>
        </p:txBody>
      </p:sp>
      <p:sp>
        <p:nvSpPr>
          <p:cNvPr id="14" name="Rectangle 13"/>
          <p:cNvSpPr/>
          <p:nvPr/>
        </p:nvSpPr>
        <p:spPr>
          <a:xfrm>
            <a:off x="5669279" y="1207008"/>
            <a:ext cx="5745175" cy="3770915"/>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3533171"/>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307597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bar opens above the previous high, forms a new high, and closes below the previous close.</a:t>
            </a:r>
          </a:p>
        </p:txBody>
      </p:sp>
      <p:sp>
        <p:nvSpPr>
          <p:cNvPr id="18" name="Oval 17"/>
          <p:cNvSpPr/>
          <p:nvPr/>
        </p:nvSpPr>
        <p:spPr>
          <a:xfrm>
            <a:off x="8760416" y="1893984"/>
            <a:ext cx="196693" cy="174801"/>
          </a:xfrm>
          <a:prstGeom prst="ellipse">
            <a:avLst/>
          </a:prstGeom>
          <a:noFill/>
          <a:ln w="44450">
            <a:solidFill>
              <a:srgbClr val="E09B00"/>
            </a:solidFill>
          </a:ln>
        </p:spPr>
        <p:txBody>
          <a:bodyPr rtlCol="0" anchor="ctr"/>
          <a:lstStyle/>
          <a:p>
            <a:pPr algn="ctr"/>
          </a:p>
        </p:txBody>
      </p:sp>
      <p:sp>
        <p:nvSpPr>
          <p:cNvPr id="19" name="Oval 18"/>
          <p:cNvSpPr/>
          <p:nvPr/>
        </p:nvSpPr>
        <p:spPr>
          <a:xfrm>
            <a:off x="8847835" y="1730107"/>
            <a:ext cx="218548" cy="174801"/>
          </a:xfrm>
          <a:prstGeom prst="ellipse">
            <a:avLst/>
          </a:prstGeom>
          <a:noFill/>
          <a:ln w="44450">
            <a:solidFill>
              <a:srgbClr val="C62828"/>
            </a:solidFill>
          </a:ln>
        </p:spPr>
        <p:txBody>
          <a:bodyPr rtlCol="0" anchor="ctr"/>
          <a:lstStyle/>
          <a:p>
            <a:pPr algn="ctr"/>
          </a:p>
        </p:txBody>
      </p:sp>
      <p:sp>
        <p:nvSpPr>
          <p:cNvPr id="20" name="Oval 19"/>
          <p:cNvSpPr/>
          <p:nvPr/>
        </p:nvSpPr>
        <p:spPr>
          <a:xfrm>
            <a:off x="8891545" y="2134335"/>
            <a:ext cx="218548" cy="174801"/>
          </a:xfrm>
          <a:prstGeom prst="ellipse">
            <a:avLst/>
          </a:prstGeom>
          <a:noFill/>
          <a:ln w="44450">
            <a:solidFill>
              <a:srgbClr val="1F5FAD"/>
            </a:solidFill>
          </a:ln>
        </p:spPr>
        <p:txBody>
          <a:bodyPr rtlCol="0" anchor="ctr"/>
          <a:lstStyle/>
          <a:p>
            <a:pPr algn="ctr"/>
          </a:p>
        </p:txBody>
      </p:sp>
      <p:sp>
        <p:nvSpPr>
          <p:cNvPr id="21" name="Oval 20"/>
          <p:cNvSpPr/>
          <p:nvPr/>
        </p:nvSpPr>
        <p:spPr>
          <a:xfrm>
            <a:off x="8836908" y="4472303"/>
            <a:ext cx="240403" cy="262201"/>
          </a:xfrm>
          <a:prstGeom prst="ellipse">
            <a:avLst/>
          </a:prstGeom>
          <a:noFill/>
          <a:ln w="44450">
            <a:solidFill>
              <a:srgbClr val="7B3FA0"/>
            </a:solidFill>
          </a:ln>
        </p:spPr>
        <p:txBody>
          <a:bodyPr rtlCol="0" anchor="ctr"/>
          <a:lstStyle/>
          <a:p>
            <a:pPr algn="ctr"/>
          </a:p>
        </p:txBody>
      </p:sp>
      <p:sp>
        <p:nvSpPr>
          <p:cNvPr id="22" name="Oval 21"/>
          <p:cNvSpPr/>
          <p:nvPr/>
        </p:nvSpPr>
        <p:spPr>
          <a:xfrm>
            <a:off x="8321990" y="185212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203179" y="1569469"/>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9258254" y="2134776"/>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8652436" y="4042688"/>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5669279" y="5069363"/>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17</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key reversal slides</a:t>
            </a:r>
          </a:p>
        </p:txBody>
      </p:sp>
      <p:sp>
        <p:nvSpPr>
          <p:cNvPr id="6" name="Rectangle 5"/>
          <p:cNvSpPr/>
          <p:nvPr/>
        </p:nvSpPr>
        <p:spPr>
          <a:xfrm>
            <a:off x="777240" y="1207008"/>
            <a:ext cx="4572000" cy="255714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557144"/>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0233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 wider key reversal bar makes downside follow-through:</a:t>
            </a:r>
          </a:p>
        </p:txBody>
      </p:sp>
      <p:sp>
        <p:nvSpPr>
          <p:cNvPr id="9" name="TextBox 8"/>
          <p:cNvSpPr txBox="1"/>
          <p:nvPr/>
        </p:nvSpPr>
        <p:spPr>
          <a:xfrm>
            <a:off x="1097280" y="2069338"/>
            <a:ext cx="4023360" cy="1694814"/>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Potentially more reliable</a:t>
            </a:r>
          </a:p>
          <a:p>
            <a:pPr algn="l">
              <a:lnSpc>
                <a:spcPct val="115000"/>
              </a:lnSpc>
              <a:spcBef>
                <a:spcPts val="500"/>
              </a:spcBef>
              <a:spcAft>
                <a:spcPts val="0"/>
              </a:spcAft>
            </a:pPr>
            <a:r>
              <a:rPr sz="1700" b="0" i="0">
                <a:solidFill>
                  <a:srgbClr val="1A1A1A"/>
                </a:solidFill>
                <a:latin typeface="Arial"/>
              </a:rPr>
              <a:t>The book says a wider bar makes follow-through potentially more reliable.</a:t>
            </a:r>
          </a:p>
        </p:txBody>
      </p:sp>
      <p:sp>
        <p:nvSpPr>
          <p:cNvPr id="10" name="Rectangle 9"/>
          <p:cNvSpPr/>
          <p:nvPr/>
        </p:nvSpPr>
        <p:spPr>
          <a:xfrm>
            <a:off x="777240" y="3947033"/>
            <a:ext cx="4572000" cy="176847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947033"/>
            <a:ext cx="91440" cy="176847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4129913"/>
            <a:ext cx="40233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The bullish converse is read in a:</a:t>
            </a:r>
          </a:p>
        </p:txBody>
      </p:sp>
      <p:sp>
        <p:nvSpPr>
          <p:cNvPr id="13" name="TextBox 12"/>
          <p:cNvSpPr txBox="1"/>
          <p:nvPr/>
        </p:nvSpPr>
        <p:spPr>
          <a:xfrm>
            <a:off x="1097280" y="4561078"/>
            <a:ext cx="402336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Downtrend</a:t>
            </a:r>
          </a:p>
          <a:p>
            <a:pPr algn="l">
              <a:lnSpc>
                <a:spcPct val="115000"/>
              </a:lnSpc>
              <a:spcBef>
                <a:spcPts val="500"/>
              </a:spcBef>
              <a:spcAft>
                <a:spcPts val="0"/>
              </a:spcAft>
            </a:pPr>
            <a:r>
              <a:rPr sz="1700" b="0" i="0">
                <a:solidFill>
                  <a:srgbClr val="1A1A1A"/>
                </a:solidFill>
                <a:latin typeface="Arial"/>
              </a:rPr>
              <a:t>The bullish key reversal is the converse in a downtrend.</a:t>
            </a:r>
          </a:p>
        </p:txBody>
      </p:sp>
      <p:sp>
        <p:nvSpPr>
          <p:cNvPr id="14" name="Rectangle 13"/>
          <p:cNvSpPr/>
          <p:nvPr/>
        </p:nvSpPr>
        <p:spPr>
          <a:xfrm>
            <a:off x="5669279" y="1207008"/>
            <a:ext cx="5745175" cy="3694106"/>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345636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299916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its surrounding bars. The marked bar opens above the previous high, forms a new high, and closes below the previous close.</a:t>
            </a:r>
          </a:p>
        </p:txBody>
      </p:sp>
      <p:sp>
        <p:nvSpPr>
          <p:cNvPr id="18" name="Oval 17"/>
          <p:cNvSpPr/>
          <p:nvPr/>
        </p:nvSpPr>
        <p:spPr>
          <a:xfrm>
            <a:off x="8760416" y="1881634"/>
            <a:ext cx="196693" cy="171001"/>
          </a:xfrm>
          <a:prstGeom prst="ellipse">
            <a:avLst/>
          </a:prstGeom>
          <a:noFill/>
          <a:ln w="44450">
            <a:solidFill>
              <a:srgbClr val="E09B00"/>
            </a:solidFill>
          </a:ln>
        </p:spPr>
        <p:txBody>
          <a:bodyPr rtlCol="0" anchor="ctr"/>
          <a:lstStyle/>
          <a:p>
            <a:pPr algn="ctr"/>
          </a:p>
        </p:txBody>
      </p:sp>
      <p:sp>
        <p:nvSpPr>
          <p:cNvPr id="19" name="Oval 18"/>
          <p:cNvSpPr/>
          <p:nvPr/>
        </p:nvSpPr>
        <p:spPr>
          <a:xfrm>
            <a:off x="8847835" y="1721320"/>
            <a:ext cx="218548" cy="171001"/>
          </a:xfrm>
          <a:prstGeom prst="ellipse">
            <a:avLst/>
          </a:prstGeom>
          <a:noFill/>
          <a:ln w="44450">
            <a:solidFill>
              <a:srgbClr val="C62828"/>
            </a:solidFill>
          </a:ln>
        </p:spPr>
        <p:txBody>
          <a:bodyPr rtlCol="0" anchor="ctr"/>
          <a:lstStyle/>
          <a:p>
            <a:pPr algn="ctr"/>
          </a:p>
        </p:txBody>
      </p:sp>
      <p:sp>
        <p:nvSpPr>
          <p:cNvPr id="20" name="Oval 19"/>
          <p:cNvSpPr/>
          <p:nvPr/>
        </p:nvSpPr>
        <p:spPr>
          <a:xfrm>
            <a:off x="8891545" y="2116760"/>
            <a:ext cx="218548" cy="171001"/>
          </a:xfrm>
          <a:prstGeom prst="ellipse">
            <a:avLst/>
          </a:prstGeom>
          <a:noFill/>
          <a:ln w="44450">
            <a:solidFill>
              <a:srgbClr val="1F5FAD"/>
            </a:solidFill>
          </a:ln>
        </p:spPr>
        <p:txBody>
          <a:bodyPr rtlCol="0" anchor="ctr"/>
          <a:lstStyle/>
          <a:p>
            <a:pPr algn="ctr"/>
          </a:p>
        </p:txBody>
      </p:sp>
      <p:sp>
        <p:nvSpPr>
          <p:cNvPr id="21" name="Oval 20"/>
          <p:cNvSpPr/>
          <p:nvPr/>
        </p:nvSpPr>
        <p:spPr>
          <a:xfrm>
            <a:off x="8836908" y="4403902"/>
            <a:ext cx="240403" cy="256501"/>
          </a:xfrm>
          <a:prstGeom prst="ellipse">
            <a:avLst/>
          </a:prstGeom>
          <a:noFill/>
          <a:ln w="44450">
            <a:solidFill>
              <a:srgbClr val="7B3FA0"/>
            </a:solidFill>
          </a:ln>
        </p:spPr>
        <p:txBody>
          <a:bodyPr rtlCol="0" anchor="ctr"/>
          <a:lstStyle/>
          <a:p>
            <a:pPr algn="ctr"/>
          </a:p>
        </p:txBody>
      </p:sp>
      <p:sp>
        <p:nvSpPr>
          <p:cNvPr id="22" name="Oval 21"/>
          <p:cNvSpPr/>
          <p:nvPr/>
        </p:nvSpPr>
        <p:spPr>
          <a:xfrm>
            <a:off x="8321990" y="183829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203179" y="156178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9258254" y="2114806"/>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8652436" y="3981242"/>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5669279" y="4992554"/>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17</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key reversal can warn early without starting an immediate fall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 of 65</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key reversal is a warning about changing pressure, not a promise that price will fall at once.</a:t>
            </a:r>
          </a:p>
          <a:p>
            <a:pPr algn="l">
              <a:lnSpc>
                <a:spcPct val="105000"/>
              </a:lnSpc>
              <a:spcBef>
                <a:spcPts val="0"/>
              </a:spcBef>
              <a:spcAft>
                <a:spcPts val="1100"/>
              </a:spcAft>
            </a:pPr>
            <a:r>
              <a:rPr sz="2000" b="0" i="0">
                <a:solidFill>
                  <a:srgbClr val="1A1A1A"/>
                </a:solidFill>
                <a:latin typeface="Arial"/>
              </a:rPr>
              <a:t>Lim's Figure 7.15 shows the market hovering near the key bar </a:t>
            </a:r>
            <a:r>
              <a:rPr sz="2000" b="1" i="0">
                <a:solidFill>
                  <a:srgbClr val="E09B00"/>
                </a:solidFill>
                <a:latin typeface="Arial"/>
              </a:rPr>
              <a:t>(1)</a:t>
            </a:r>
            <a:r>
              <a:rPr sz="2000" b="0" i="0">
                <a:solidFill>
                  <a:srgbClr val="1A1A1A"/>
                </a:solidFill>
                <a:latin typeface="Arial"/>
              </a:rPr>
              <a:t> before the later decline </a:t>
            </a:r>
            <a:r>
              <a:rPr sz="2000" b="1" i="0">
                <a:solidFill>
                  <a:srgbClr val="C62828"/>
                </a:solidFill>
                <a:latin typeface="Arial"/>
              </a:rPr>
              <a:t>(2)</a:t>
            </a:r>
            <a:r>
              <a:rPr sz="2000" b="0" i="0">
                <a:solidFill>
                  <a:srgbClr val="1A1A1A"/>
                </a:solidFill>
                <a:latin typeface="Arial"/>
              </a:rPr>
              <a:t> (p. 218).</a:t>
            </a:r>
          </a:p>
        </p:txBody>
      </p:sp>
      <p:sp>
        <p:nvSpPr>
          <p:cNvPr id="8" name="Rectangle 7"/>
          <p:cNvSpPr/>
          <p:nvPr/>
        </p:nvSpPr>
        <p:spPr>
          <a:xfrm>
            <a:off x="777240" y="4416552"/>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482803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 wide bar may make follow-through more reliable, but it does not guarantee it.</a:t>
            </a:r>
          </a:p>
        </p:txBody>
      </p:sp>
      <p:sp>
        <p:nvSpPr>
          <p:cNvPr id="10" name="Rectangle 9"/>
          <p:cNvSpPr/>
          <p:nvPr/>
        </p:nvSpPr>
        <p:spPr>
          <a:xfrm>
            <a:off x="6611718" y="1810512"/>
            <a:ext cx="4866138"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30590" y="1929384"/>
            <a:ext cx="4628394"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30590" y="1929384"/>
            <a:ext cx="46283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004910" y="2203703"/>
            <a:ext cx="4079754"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The Apple daily chart, cropped to the key reversal day and the later consolidation and decline.</a:t>
            </a:r>
          </a:p>
        </p:txBody>
      </p:sp>
      <p:sp>
        <p:nvSpPr>
          <p:cNvPr id="14" name="Rectangle 13"/>
          <p:cNvSpPr/>
          <p:nvPr/>
        </p:nvSpPr>
        <p:spPr>
          <a:xfrm>
            <a:off x="8981378" y="2302985"/>
            <a:ext cx="760908" cy="672413"/>
          </a:xfrm>
          <a:prstGeom prst="rect">
            <a:avLst/>
          </a:prstGeom>
          <a:noFill/>
          <a:ln w="44450">
            <a:solidFill>
              <a:srgbClr val="E09B00"/>
            </a:solidFill>
          </a:ln>
        </p:spPr>
        <p:txBody>
          <a:bodyPr rtlCol="0" anchor="ctr"/>
          <a:lstStyle/>
          <a:p>
            <a:pPr algn="ctr"/>
          </a:p>
        </p:txBody>
      </p:sp>
      <p:sp>
        <p:nvSpPr>
          <p:cNvPr id="15" name="Rectangle 14"/>
          <p:cNvSpPr/>
          <p:nvPr/>
        </p:nvSpPr>
        <p:spPr>
          <a:xfrm>
            <a:off x="9805695" y="2414996"/>
            <a:ext cx="602154" cy="1531627"/>
          </a:xfrm>
          <a:prstGeom prst="rect">
            <a:avLst/>
          </a:prstGeom>
          <a:noFill/>
          <a:ln w="44450">
            <a:solidFill>
              <a:srgbClr val="C62828"/>
            </a:solidFill>
          </a:ln>
        </p:spPr>
        <p:txBody>
          <a:bodyPr rtlCol="0" anchor="ctr"/>
          <a:lstStyle/>
          <a:p>
            <a:pPr algn="ctr"/>
          </a:p>
        </p:txBody>
      </p:sp>
      <p:sp>
        <p:nvSpPr>
          <p:cNvPr id="16" name="Oval 15"/>
          <p:cNvSpPr/>
          <p:nvPr/>
        </p:nvSpPr>
        <p:spPr>
          <a:xfrm>
            <a:off x="9156759" y="208124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488348" y="335128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217919" y="5650991"/>
            <a:ext cx="56537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218, Figure 7.15. The crop and marks are for teaching.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7.14 shows what happened after the bullish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7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Here is the bullish key reversal on the book's chart. Gold </a:t>
            </a:r>
            <a:r>
              <a:rPr sz="1700" b="1" i="0">
                <a:solidFill>
                  <a:srgbClr val="E09B00"/>
                </a:solidFill>
                <a:latin typeface="Arial"/>
              </a:rPr>
              <a:t>(1)</a:t>
            </a:r>
            <a:r>
              <a:rPr sz="1700" b="0" i="0">
                <a:solidFill>
                  <a:srgbClr val="1A1A1A"/>
                </a:solidFill>
                <a:latin typeface="Arial"/>
              </a:rPr>
              <a:t> marks the day's new low, red </a:t>
            </a:r>
            <a:r>
              <a:rPr sz="1700" b="1" i="0">
                <a:solidFill>
                  <a:srgbClr val="C62828"/>
                </a:solidFill>
                <a:latin typeface="Arial"/>
              </a:rPr>
              <a:t>(2)</a:t>
            </a:r>
            <a:r>
              <a:rPr sz="1700" b="0" i="0">
                <a:solidFill>
                  <a:srgbClr val="1A1A1A"/>
                </a:solidFill>
                <a:latin typeface="Arial"/>
              </a:rPr>
              <a:t> its close above the previous close, and blue </a:t>
            </a:r>
            <a:r>
              <a:rPr sz="1700" b="1" i="0">
                <a:solidFill>
                  <a:srgbClr val="1F5FAD"/>
                </a:solidFill>
                <a:latin typeface="Arial"/>
              </a:rPr>
              <a:t>(3)</a:t>
            </a:r>
            <a:r>
              <a:rPr sz="1700" b="0" i="0">
                <a:solidFill>
                  <a:srgbClr val="1A1A1A"/>
                </a:solidFill>
                <a:latin typeface="Arial"/>
              </a:rPr>
              <a:t> the high volume beneath it. After that bar, price rebounds rapidly.</a:t>
            </a:r>
          </a:p>
          <a:p>
            <a:pPr algn="l">
              <a:lnSpc>
                <a:spcPct val="105000"/>
              </a:lnSpc>
              <a:spcBef>
                <a:spcPts val="0"/>
              </a:spcBef>
              <a:spcAft>
                <a:spcPts val="1100"/>
              </a:spcAft>
            </a:pPr>
            <a:r>
              <a:rPr sz="1700" b="0" i="0">
                <a:solidFill>
                  <a:srgbClr val="1A1A1A"/>
                </a:solidFill>
                <a:latin typeface="Arial"/>
              </a:rPr>
              <a:t>Lim presents that rebound as this chart's outcome, not a promise for every bullish key reversal (p. 218).</a:t>
            </a:r>
          </a:p>
          <a:p>
            <a:pPr algn="l">
              <a:lnSpc>
                <a:spcPct val="105000"/>
              </a:lnSpc>
              <a:spcBef>
                <a:spcPts val="0"/>
              </a:spcBef>
              <a:spcAft>
                <a:spcPts val="1100"/>
              </a:spcAft>
            </a:pPr>
            <a:r>
              <a:rPr sz="1700" b="0" i="0">
                <a:solidFill>
                  <a:srgbClr val="1A1A1A"/>
                </a:solidFill>
                <a:latin typeface="Arial"/>
              </a:rPr>
              <a:t>A reversal warns about changing pressure; timing belongs to later price action.</a:t>
            </a:r>
          </a:p>
        </p:txBody>
      </p:sp>
      <p:sp>
        <p:nvSpPr>
          <p:cNvPr id="8" name="Rectangle 7"/>
          <p:cNvSpPr/>
          <p:nvPr/>
        </p:nvSpPr>
        <p:spPr>
          <a:xfrm>
            <a:off x="5303519" y="1810512"/>
            <a:ext cx="6110935" cy="3723118"/>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3485374"/>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302817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7.14</a:t>
            </a:r>
          </a:p>
          <a:p>
            <a:pPr algn="l">
              <a:lnSpc>
                <a:spcPct val="115000"/>
              </a:lnSpc>
              <a:spcBef>
                <a:spcPts val="0"/>
              </a:spcBef>
              <a:spcAft>
                <a:spcPts val="0"/>
              </a:spcAft>
            </a:pPr>
            <a:r>
              <a:rPr sz="1500" b="0" i="0">
                <a:solidFill>
                  <a:srgbClr val="1A1A1A"/>
                </a:solidFill>
                <a:latin typeface="Palatino"/>
              </a:rPr>
              <a:t>Apple daily chart. The marked bar makes a new low, closes above the previous close, and is followed by a rapid rebound on high volume.</a:t>
            </a:r>
          </a:p>
        </p:txBody>
      </p:sp>
      <p:sp>
        <p:nvSpPr>
          <p:cNvPr id="12" name="Oval 11"/>
          <p:cNvSpPr/>
          <p:nvPr/>
        </p:nvSpPr>
        <p:spPr>
          <a:xfrm>
            <a:off x="7977230" y="4247157"/>
            <a:ext cx="205561" cy="174268"/>
          </a:xfrm>
          <a:prstGeom prst="ellipse">
            <a:avLst/>
          </a:prstGeom>
          <a:noFill/>
          <a:ln w="44450">
            <a:solidFill>
              <a:srgbClr val="E09B00"/>
            </a:solidFill>
          </a:ln>
        </p:spPr>
        <p:txBody>
          <a:bodyPr rtlCol="0" anchor="ctr"/>
          <a:lstStyle/>
          <a:p>
            <a:pPr algn="ctr"/>
          </a:p>
        </p:txBody>
      </p:sp>
      <p:sp>
        <p:nvSpPr>
          <p:cNvPr id="13" name="Oval 12"/>
          <p:cNvSpPr/>
          <p:nvPr/>
        </p:nvSpPr>
        <p:spPr>
          <a:xfrm>
            <a:off x="8035961" y="4038035"/>
            <a:ext cx="193815" cy="174268"/>
          </a:xfrm>
          <a:prstGeom prst="ellipse">
            <a:avLst/>
          </a:prstGeom>
          <a:noFill/>
          <a:ln w="44450">
            <a:solidFill>
              <a:srgbClr val="C62828"/>
            </a:solidFill>
          </a:ln>
        </p:spPr>
        <p:txBody>
          <a:bodyPr rtlCol="0" anchor="ctr"/>
          <a:lstStyle/>
          <a:p>
            <a:pPr algn="ctr"/>
          </a:p>
        </p:txBody>
      </p:sp>
      <p:sp>
        <p:nvSpPr>
          <p:cNvPr id="14" name="Oval 13"/>
          <p:cNvSpPr/>
          <p:nvPr/>
        </p:nvSpPr>
        <p:spPr>
          <a:xfrm>
            <a:off x="7994849" y="4525987"/>
            <a:ext cx="176195" cy="836489"/>
          </a:xfrm>
          <a:prstGeom prst="ellipse">
            <a:avLst/>
          </a:prstGeom>
          <a:noFill/>
          <a:ln w="44450">
            <a:solidFill>
              <a:srgbClr val="1F5FAD"/>
            </a:solidFill>
          </a:ln>
        </p:spPr>
        <p:txBody>
          <a:bodyPr rtlCol="0" anchor="ctr"/>
          <a:lstStyle/>
          <a:p>
            <a:pPr algn="ctr"/>
          </a:p>
        </p:txBody>
      </p:sp>
      <p:sp>
        <p:nvSpPr>
          <p:cNvPr id="15" name="Oval 14"/>
          <p:cNvSpPr/>
          <p:nvPr/>
        </p:nvSpPr>
        <p:spPr>
          <a:xfrm>
            <a:off x="7720672" y="4259418"/>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249259" y="389345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249259" y="460795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25070"/>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218, Figure 7.14. The crop and marks are for teaching.</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7.16: context can strengthen the warning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8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7.16 shows a bullish key reversal with some of the 16 reversal characteristics around it (p. 219).</a:t>
            </a:r>
          </a:p>
          <a:p>
            <a:pPr algn="l">
              <a:lnSpc>
                <a:spcPct val="105000"/>
              </a:lnSpc>
              <a:spcBef>
                <a:spcPts val="0"/>
              </a:spcBef>
              <a:spcAft>
                <a:spcPts val="1100"/>
              </a:spcAft>
            </a:pPr>
            <a:r>
              <a:rPr sz="1700" b="0" i="0">
                <a:solidFill>
                  <a:srgbClr val="1A1A1A"/>
                </a:solidFill>
                <a:latin typeface="Arial"/>
              </a:rPr>
              <a:t>The bar forms below the lower Bollinger band </a:t>
            </a:r>
            <a:r>
              <a:rPr sz="1700" b="1" i="0">
                <a:solidFill>
                  <a:srgbClr val="E09B00"/>
                </a:solidFill>
                <a:latin typeface="Arial"/>
              </a:rPr>
              <a:t>(1)</a:t>
            </a:r>
            <a:r>
              <a:rPr sz="1700" b="0" i="0">
                <a:solidFill>
                  <a:srgbClr val="1A1A1A"/>
                </a:solidFill>
                <a:latin typeface="Arial"/>
              </a:rPr>
              <a:t>, which Lim reads as an overextended or oversold condition. It closes near its high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The book draws Bollinger Bands but does not teach them in this chapter, so we read the band as a label, not a formula.</a:t>
            </a:r>
          </a:p>
        </p:txBody>
      </p:sp>
      <p:sp>
        <p:nvSpPr>
          <p:cNvPr id="8" name="Rectangle 7"/>
          <p:cNvSpPr/>
          <p:nvPr/>
        </p:nvSpPr>
        <p:spPr>
          <a:xfrm>
            <a:off x="5303519" y="1810512"/>
            <a:ext cx="6751015" cy="3337447"/>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6513271" cy="3099703"/>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65132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964631" cy="264250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7.16</a:t>
            </a:r>
          </a:p>
          <a:p>
            <a:pPr algn="l">
              <a:lnSpc>
                <a:spcPct val="115000"/>
              </a:lnSpc>
              <a:spcBef>
                <a:spcPts val="0"/>
              </a:spcBef>
              <a:spcAft>
                <a:spcPts val="0"/>
              </a:spcAft>
            </a:pPr>
            <a:r>
              <a:rPr sz="1500" b="0" i="0">
                <a:solidFill>
                  <a:srgbClr val="1A1A1A"/>
                </a:solidFill>
                <a:latin typeface="Palatino"/>
              </a:rPr>
              <a:t>The ITC Holdings daily chart, cropped to the price panel: the bullish key reversal bar forms below the lower Bollinger band and closes near its high.</a:t>
            </a:r>
          </a:p>
        </p:txBody>
      </p:sp>
      <p:sp>
        <p:nvSpPr>
          <p:cNvPr id="12" name="Oval 11"/>
          <p:cNvSpPr/>
          <p:nvPr/>
        </p:nvSpPr>
        <p:spPr>
          <a:xfrm>
            <a:off x="9402651" y="4330414"/>
            <a:ext cx="316544" cy="654967"/>
          </a:xfrm>
          <a:prstGeom prst="ellipse">
            <a:avLst/>
          </a:prstGeom>
          <a:noFill/>
          <a:ln w="44450">
            <a:solidFill>
              <a:srgbClr val="E09B00"/>
            </a:solidFill>
          </a:ln>
        </p:spPr>
        <p:txBody>
          <a:bodyPr rtlCol="0" anchor="ctr"/>
          <a:lstStyle/>
          <a:p>
            <a:pPr algn="ctr"/>
          </a:p>
        </p:txBody>
      </p:sp>
      <p:sp>
        <p:nvSpPr>
          <p:cNvPr id="13" name="Oval 12"/>
          <p:cNvSpPr/>
          <p:nvPr/>
        </p:nvSpPr>
        <p:spPr>
          <a:xfrm>
            <a:off x="9448244" y="3500933"/>
            <a:ext cx="270952" cy="436748"/>
          </a:xfrm>
          <a:prstGeom prst="ellipse">
            <a:avLst/>
          </a:prstGeom>
          <a:noFill/>
          <a:ln w="44450">
            <a:solidFill>
              <a:srgbClr val="C62828"/>
            </a:solidFill>
          </a:ln>
        </p:spPr>
        <p:txBody>
          <a:bodyPr rtlCol="0" anchor="ctr"/>
          <a:lstStyle/>
          <a:p>
            <a:pPr algn="ctr"/>
          </a:p>
        </p:txBody>
      </p:sp>
      <p:sp>
        <p:nvSpPr>
          <p:cNvPr id="14" name="Oval 13"/>
          <p:cNvSpPr/>
          <p:nvPr/>
        </p:nvSpPr>
        <p:spPr>
          <a:xfrm>
            <a:off x="9926013" y="4613728"/>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9428399" y="3234050"/>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5303519" y="5239399"/>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7.16 -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219 to 220, Figure 7.16. Bollinger Bands and StochRSI are shown by the book but not defined here.</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7.16: StochRSI and volume add to the warning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9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The lower panels of the same figure add two more warnings. StochRSI is at oversold </a:t>
            </a:r>
            <a:r>
              <a:rPr sz="1900" b="1" i="0">
                <a:solidFill>
                  <a:srgbClr val="1F5FAD"/>
                </a:solidFill>
                <a:latin typeface="Arial"/>
              </a:rPr>
              <a:t>(3)</a:t>
            </a:r>
            <a:r>
              <a:rPr sz="1900" b="0" i="0">
                <a:solidFill>
                  <a:srgbClr val="1A1A1A"/>
                </a:solidFill>
                <a:latin typeface="Arial"/>
              </a:rPr>
              <a:t>, and the key reversal bar trades on extreme volume </a:t>
            </a:r>
            <a:r>
              <a:rPr sz="1900" b="1" i="0">
                <a:solidFill>
                  <a:srgbClr val="7B3FA0"/>
                </a:solidFill>
                <a:latin typeface="Arial"/>
              </a:rPr>
              <a:t>(4)</a:t>
            </a:r>
            <a:r>
              <a:rPr sz="1900" b="0" i="0">
                <a:solidFill>
                  <a:srgbClr val="1A1A1A"/>
                </a:solidFill>
                <a:latin typeface="Arial"/>
              </a:rPr>
              <a:t> (p. 219).</a:t>
            </a:r>
          </a:p>
          <a:p>
            <a:pPr algn="l">
              <a:lnSpc>
                <a:spcPct val="105000"/>
              </a:lnSpc>
              <a:spcBef>
                <a:spcPts val="0"/>
              </a:spcBef>
              <a:spcAft>
                <a:spcPts val="1100"/>
              </a:spcAft>
            </a:pPr>
            <a:r>
              <a:rPr sz="1900" b="0" i="0">
                <a:solidFill>
                  <a:srgbClr val="1A1A1A"/>
                </a:solidFill>
                <a:latin typeface="Arial"/>
              </a:rPr>
              <a:t>Lim says these conditions point to a greater potential for a bullish reversal, and a close near the high on extreme volume suggests a selling climax (p. 219).</a:t>
            </a:r>
          </a:p>
        </p:txBody>
      </p:sp>
      <p:sp>
        <p:nvSpPr>
          <p:cNvPr id="8" name="Rectangle 7"/>
          <p:cNvSpPr/>
          <p:nvPr/>
        </p:nvSpPr>
        <p:spPr>
          <a:xfrm>
            <a:off x="5303519" y="1810512"/>
            <a:ext cx="6751015" cy="3626680"/>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6513271" cy="338893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65132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964631" cy="293173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7.16</a:t>
            </a:r>
          </a:p>
          <a:p>
            <a:pPr algn="l">
              <a:lnSpc>
                <a:spcPct val="115000"/>
              </a:lnSpc>
              <a:spcBef>
                <a:spcPts val="0"/>
              </a:spcBef>
              <a:spcAft>
                <a:spcPts val="0"/>
              </a:spcAft>
            </a:pPr>
            <a:r>
              <a:rPr sz="1500" b="0" i="0">
                <a:solidFill>
                  <a:srgbClr val="1A1A1A"/>
                </a:solidFill>
                <a:latin typeface="Palatino"/>
              </a:rPr>
              <a:t>The ITC Holdings daily chart, cropped to the StochRSI and volume panels: StochRSI is oversold and the key reversal bar has extreme volume.</a:t>
            </a:r>
          </a:p>
        </p:txBody>
      </p:sp>
      <p:sp>
        <p:nvSpPr>
          <p:cNvPr id="12" name="Oval 11"/>
          <p:cNvSpPr/>
          <p:nvPr/>
        </p:nvSpPr>
        <p:spPr>
          <a:xfrm>
            <a:off x="8577420" y="3108056"/>
            <a:ext cx="814158" cy="618819"/>
          </a:xfrm>
          <a:prstGeom prst="ellipse">
            <a:avLst/>
          </a:prstGeom>
          <a:noFill/>
          <a:ln w="44450">
            <a:solidFill>
              <a:srgbClr val="1F5FAD"/>
            </a:solidFill>
          </a:ln>
        </p:spPr>
        <p:txBody>
          <a:bodyPr rtlCol="0" anchor="ctr"/>
          <a:lstStyle/>
          <a:p>
            <a:pPr algn="ctr"/>
          </a:p>
        </p:txBody>
      </p:sp>
      <p:sp>
        <p:nvSpPr>
          <p:cNvPr id="13" name="Oval 12"/>
          <p:cNvSpPr/>
          <p:nvPr/>
        </p:nvSpPr>
        <p:spPr>
          <a:xfrm>
            <a:off x="9086106" y="3795671"/>
            <a:ext cx="305472" cy="1502993"/>
          </a:xfrm>
          <a:prstGeom prst="ellipse">
            <a:avLst/>
          </a:prstGeom>
          <a:noFill/>
          <a:ln w="44450">
            <a:solidFill>
              <a:srgbClr val="7B3FA0"/>
            </a:solidFill>
          </a:ln>
        </p:spPr>
        <p:txBody>
          <a:bodyPr rtlCol="0" anchor="ctr"/>
          <a:lstStyle/>
          <a:p>
            <a:pPr algn="ctr"/>
          </a:p>
        </p:txBody>
      </p:sp>
      <p:sp>
        <p:nvSpPr>
          <p:cNvPr id="14" name="Oval 13"/>
          <p:cNvSpPr/>
          <p:nvPr/>
        </p:nvSpPr>
        <p:spPr>
          <a:xfrm>
            <a:off x="8162220" y="324402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Oval 14"/>
          <p:cNvSpPr/>
          <p:nvPr/>
        </p:nvSpPr>
        <p:spPr>
          <a:xfrm>
            <a:off x="9485065" y="3342305"/>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6" name="TextBox 15"/>
          <p:cNvSpPr txBox="1"/>
          <p:nvPr/>
        </p:nvSpPr>
        <p:spPr>
          <a:xfrm>
            <a:off x="5303519" y="5528632"/>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7.16 -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219 to 220, Figure 7.16. Bollinger Bands and StochRSI are shown by the book but not defined here.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two-day reversal compares the two closing positions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bearish two-day reversal uses two closing positions: first near the high, second near the low. With simple invented prices, the first closes at PHP 51.80 near its high </a:t>
            </a:r>
            <a:r>
              <a:rPr sz="1700" b="1" i="0">
                <a:solidFill>
                  <a:srgbClr val="E09B00"/>
                </a:solidFill>
                <a:latin typeface="Arial"/>
              </a:rPr>
              <a:t>(1)</a:t>
            </a:r>
            <a:r>
              <a:rPr sz="1700" b="0" i="0">
                <a:solidFill>
                  <a:srgbClr val="1A1A1A"/>
                </a:solidFill>
                <a:latin typeface="Arial"/>
              </a:rPr>
              <a:t>, and the second at PHP 49.60 near its low </a:t>
            </a:r>
            <a:r>
              <a:rPr sz="1700" b="1" i="0">
                <a:solidFill>
                  <a:srgbClr val="C62828"/>
                </a:solidFill>
                <a:latin typeface="Arial"/>
              </a:rPr>
              <a:t>(2)</a:t>
            </a:r>
            <a:r>
              <a:rPr sz="1700" b="0" i="0">
                <a:solidFill>
                  <a:srgbClr val="1A1A1A"/>
                </a:solidFill>
                <a:latin typeface="Arial"/>
              </a:rPr>
              <a:t>. Lim prefers wider ranges for both bars. The pair is a potential warning, not a guarantee (p. 219).</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l-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2927908" y="3509695"/>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10035539" y="4245216"/>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2999584" y="335291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107215" y="40884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10 of 65</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7.17: the book adds CCI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11 of 65</a:t>
            </a:r>
          </a:p>
        </p:txBody>
      </p:sp>
      <p:sp>
        <p:nvSpPr>
          <p:cNvPr id="7" name="TextBox 6"/>
          <p:cNvSpPr txBox="1"/>
          <p:nvPr/>
        </p:nvSpPr>
        <p:spPr>
          <a:xfrm>
            <a:off x="777240" y="1965960"/>
            <a:ext cx="3566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marks the first close near its high, and red </a:t>
            </a:r>
            <a:r>
              <a:rPr sz="1700" b="1" i="0">
                <a:solidFill>
                  <a:srgbClr val="C62828"/>
                </a:solidFill>
                <a:latin typeface="Arial"/>
              </a:rPr>
              <a:t>(2)</a:t>
            </a:r>
            <a:r>
              <a:rPr sz="1700" b="0" i="0">
                <a:solidFill>
                  <a:srgbClr val="1A1A1A"/>
                </a:solidFill>
                <a:latin typeface="Arial"/>
              </a:rPr>
              <a:t> the second close near its low.</a:t>
            </a:r>
          </a:p>
          <a:p>
            <a:pPr algn="l">
              <a:lnSpc>
                <a:spcPct val="105000"/>
              </a:lnSpc>
              <a:spcBef>
                <a:spcPts val="0"/>
              </a:spcBef>
              <a:spcAft>
                <a:spcPts val="1100"/>
              </a:spcAft>
            </a:pPr>
            <a:r>
              <a:rPr sz="1700" b="0" i="0">
                <a:solidFill>
                  <a:srgbClr val="1A1A1A"/>
                </a:solidFill>
                <a:latin typeface="Arial"/>
              </a:rPr>
              <a:t>The book says wider ranges would be preferable and labels bearish divergence with the commodity channel index (CCI) oscillator </a:t>
            </a:r>
            <a:r>
              <a:rPr sz="1700" b="1" i="0">
                <a:solidFill>
                  <a:srgbClr val="1F5FAD"/>
                </a:solidFill>
                <a:latin typeface="Arial"/>
              </a:rPr>
              <a:t>(3)</a:t>
            </a:r>
            <a:r>
              <a:rPr sz="1700" b="0" i="0">
                <a:solidFill>
                  <a:srgbClr val="1A1A1A"/>
                </a:solidFill>
                <a:latin typeface="Arial"/>
              </a:rPr>
              <a:t> (p. 221).</a:t>
            </a:r>
          </a:p>
          <a:p>
            <a:pPr algn="l">
              <a:lnSpc>
                <a:spcPct val="105000"/>
              </a:lnSpc>
              <a:spcBef>
                <a:spcPts val="0"/>
              </a:spcBef>
              <a:spcAft>
                <a:spcPts val="1100"/>
              </a:spcAft>
            </a:pPr>
            <a:r>
              <a:rPr sz="1700" b="0" i="0">
                <a:solidFill>
                  <a:srgbClr val="1A1A1A"/>
                </a:solidFill>
                <a:latin typeface="Arial"/>
              </a:rPr>
              <a:t>CCI is not defined in Chapter 7. Treat it as the book's supporting label, not a formula to calculate.</a:t>
            </a:r>
          </a:p>
        </p:txBody>
      </p:sp>
      <p:sp>
        <p:nvSpPr>
          <p:cNvPr id="8" name="Rectangle 7"/>
          <p:cNvSpPr/>
          <p:nvPr/>
        </p:nvSpPr>
        <p:spPr>
          <a:xfrm>
            <a:off x="5647027" y="1810512"/>
            <a:ext cx="5515360"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765899" y="1929384"/>
            <a:ext cx="5277616"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765899" y="1929384"/>
            <a:ext cx="5277616"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040219" y="2203703"/>
            <a:ext cx="472897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7.17</a:t>
            </a:r>
          </a:p>
          <a:p>
            <a:pPr algn="l">
              <a:lnSpc>
                <a:spcPct val="115000"/>
              </a:lnSpc>
              <a:spcBef>
                <a:spcPts val="0"/>
              </a:spcBef>
              <a:spcAft>
                <a:spcPts val="0"/>
              </a:spcAft>
            </a:pPr>
            <a:r>
              <a:rPr sz="1500" b="0" i="0">
                <a:solidFill>
                  <a:srgbClr val="1A1A1A"/>
                </a:solidFill>
                <a:latin typeface="Palatino"/>
              </a:rPr>
              <a:t>The TSX Composite daily chart: the first bar closes near its high, the second near its low, and the lower panel labels bearish CCI divergence.</a:t>
            </a:r>
          </a:p>
        </p:txBody>
      </p:sp>
      <p:sp>
        <p:nvSpPr>
          <p:cNvPr id="12" name="Oval 11"/>
          <p:cNvSpPr/>
          <p:nvPr/>
        </p:nvSpPr>
        <p:spPr>
          <a:xfrm>
            <a:off x="7813614" y="2140061"/>
            <a:ext cx="147773" cy="298460"/>
          </a:xfrm>
          <a:prstGeom prst="ellipse">
            <a:avLst/>
          </a:prstGeom>
          <a:noFill/>
          <a:ln w="44450">
            <a:solidFill>
              <a:srgbClr val="E09B00"/>
            </a:solidFill>
          </a:ln>
        </p:spPr>
        <p:txBody>
          <a:bodyPr rtlCol="0" anchor="ctr"/>
          <a:lstStyle/>
          <a:p>
            <a:pPr algn="ctr"/>
          </a:p>
        </p:txBody>
      </p:sp>
      <p:sp>
        <p:nvSpPr>
          <p:cNvPr id="13" name="Oval 12"/>
          <p:cNvSpPr/>
          <p:nvPr/>
        </p:nvSpPr>
        <p:spPr>
          <a:xfrm>
            <a:off x="7940277" y="2491191"/>
            <a:ext cx="147773" cy="298460"/>
          </a:xfrm>
          <a:prstGeom prst="ellipse">
            <a:avLst/>
          </a:prstGeom>
          <a:noFill/>
          <a:ln w="44450">
            <a:solidFill>
              <a:srgbClr val="C62828"/>
            </a:solidFill>
          </a:ln>
        </p:spPr>
        <p:txBody>
          <a:bodyPr rtlCol="0" anchor="ctr"/>
          <a:lstStyle/>
          <a:p>
            <a:pPr algn="ctr"/>
          </a:p>
        </p:txBody>
      </p:sp>
      <p:sp>
        <p:nvSpPr>
          <p:cNvPr id="14" name="Oval 13"/>
          <p:cNvSpPr/>
          <p:nvPr/>
        </p:nvSpPr>
        <p:spPr>
          <a:xfrm>
            <a:off x="7792503" y="5089550"/>
            <a:ext cx="364155" cy="316016"/>
          </a:xfrm>
          <a:prstGeom prst="ellipse">
            <a:avLst/>
          </a:prstGeom>
          <a:noFill/>
          <a:ln w="44450">
            <a:solidFill>
              <a:srgbClr val="1F5FAD"/>
            </a:solidFill>
          </a:ln>
        </p:spPr>
        <p:txBody>
          <a:bodyPr rtlCol="0" anchor="ctr"/>
          <a:lstStyle/>
          <a:p>
            <a:pPr algn="ctr"/>
          </a:p>
        </p:txBody>
      </p:sp>
      <p:sp>
        <p:nvSpPr>
          <p:cNvPr id="15" name="Oval 14"/>
          <p:cNvSpPr/>
          <p:nvPr/>
        </p:nvSpPr>
        <p:spPr>
          <a:xfrm>
            <a:off x="7239456" y="1995220"/>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714441" y="287304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7239456" y="5085161"/>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4663440" y="5650991"/>
            <a:ext cx="7482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7.17 -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219 to 221, Figure 7.17. The CCI label is reproduced as the book's observation, not taught as a formula.</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three-bar reversal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 bearish three-bar reversal with simple prices. Bar 1 runs from PHP 49.00 to PHP 52.20 and closes near its high, at PHP 52.00 </a:t>
            </a:r>
            <a:r>
              <a:rPr sz="1700" b="1" i="0">
                <a:solidFill>
                  <a:srgbClr val="E09B00"/>
                </a:solidFill>
                <a:latin typeface="Arial"/>
              </a:rPr>
              <a:t>(1)</a:t>
            </a:r>
            <a:r>
              <a:rPr sz="1700" b="0" i="0">
                <a:solidFill>
                  <a:srgbClr val="1A1A1A"/>
                </a:solidFill>
                <a:latin typeface="Arial"/>
              </a:rPr>
              <a:t>. Bar 2 is small: it stays between PHP 51.40 and PHP 52.40 and closes at PHP 51.70 </a:t>
            </a:r>
            <a:r>
              <a:rPr sz="1700" b="1" i="0">
                <a:solidFill>
                  <a:srgbClr val="C62828"/>
                </a:solidFill>
                <a:latin typeface="Arial"/>
              </a:rPr>
              <a:t>(2)</a:t>
            </a:r>
            <a:r>
              <a:rPr sz="1700" b="0" i="0">
                <a:solidFill>
                  <a:srgbClr val="1A1A1A"/>
                </a:solidFill>
                <a:latin typeface="Arial"/>
              </a:rPr>
              <a:t>. Bar 3 falls from PHP 52.10 to PHP 48.70 and closes near its low, at PHP 48.80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k-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6326276" y="3588501"/>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2927908" y="3545993"/>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035539" y="4906225"/>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6403691" y="34455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999584" y="338921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07215" y="474944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LK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12 of 65</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three-bar reversal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first close near the high and a third close near the low is the pattern Lim describes (p. 221).</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k-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6326276" y="3588501"/>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2927908" y="3545993"/>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10035539" y="4906225"/>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6403691" y="344558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2999584" y="338921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107215" y="4749449"/>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LK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13 of 65</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bearish three-bar reversal changes from a strong close to a weak 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14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bearish three-bar reversal appears in a clear uptrend when the first bar closes near its high and the third near its low.</a:t>
            </a:r>
          </a:p>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red </a:t>
            </a:r>
            <a:r>
              <a:rPr sz="1700" b="1" i="0">
                <a:solidFill>
                  <a:srgbClr val="C62828"/>
                </a:solidFill>
                <a:latin typeface="Arial"/>
              </a:rPr>
              <a:t>(2)</a:t>
            </a:r>
            <a:r>
              <a:rPr sz="1700" b="0" i="0">
                <a:solidFill>
                  <a:srgbClr val="1A1A1A"/>
                </a:solidFill>
                <a:latin typeface="Arial"/>
              </a:rPr>
              <a:t> and blue </a:t>
            </a:r>
            <a:r>
              <a:rPr sz="1700" b="1" i="0">
                <a:solidFill>
                  <a:srgbClr val="1F5FAD"/>
                </a:solidFill>
                <a:latin typeface="Arial"/>
              </a:rPr>
              <a:t>(3)</a:t>
            </a:r>
            <a:r>
              <a:rPr sz="1700" b="0" i="0">
                <a:solidFill>
                  <a:srgbClr val="1A1A1A"/>
                </a:solidFill>
                <a:latin typeface="Arial"/>
              </a:rPr>
              <a:t> mark the first, middle and third price bars. Purple </a:t>
            </a:r>
            <a:r>
              <a:rPr sz="1700" b="1" i="0">
                <a:solidFill>
                  <a:srgbClr val="7B3FA0"/>
                </a:solidFill>
                <a:latin typeface="Arial"/>
              </a:rPr>
              <a:t>(4)</a:t>
            </a:r>
            <a:r>
              <a:rPr sz="1700" b="0" i="0">
                <a:solidFill>
                  <a:srgbClr val="1A1A1A"/>
                </a:solidFill>
                <a:latin typeface="Arial"/>
              </a:rPr>
              <a:t> marks bearish +DM divergence, a book label not defined here.</a:t>
            </a:r>
          </a:p>
          <a:p>
            <a:pPr algn="l">
              <a:lnSpc>
                <a:spcPct val="105000"/>
              </a:lnSpc>
              <a:spcBef>
                <a:spcPts val="0"/>
              </a:spcBef>
              <a:spcAft>
                <a:spcPts val="1100"/>
              </a:spcAft>
            </a:pPr>
            <a:r>
              <a:rPr sz="1700" b="0" i="0">
                <a:solidFill>
                  <a:srgbClr val="1A1A1A"/>
                </a:solidFill>
                <a:latin typeface="Arial"/>
              </a:rPr>
              <a:t>The pattern can warn of changing pressure; the later decline is not guaranteed (p. 221).</a:t>
            </a:r>
          </a:p>
        </p:txBody>
      </p:sp>
      <p:sp>
        <p:nvSpPr>
          <p:cNvPr id="8" name="Rectangle 7"/>
          <p:cNvSpPr/>
          <p:nvPr/>
        </p:nvSpPr>
        <p:spPr>
          <a:xfrm>
            <a:off x="6102248" y="1810512"/>
            <a:ext cx="5153558"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221120" y="1929384"/>
            <a:ext cx="4915814"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21120" y="1929384"/>
            <a:ext cx="491581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495440" y="2203703"/>
            <a:ext cx="4367174"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7.18</a:t>
            </a:r>
          </a:p>
          <a:p>
            <a:pPr algn="l">
              <a:lnSpc>
                <a:spcPct val="115000"/>
              </a:lnSpc>
              <a:spcBef>
                <a:spcPts val="0"/>
              </a:spcBef>
              <a:spcAft>
                <a:spcPts val="0"/>
              </a:spcAft>
            </a:pPr>
            <a:r>
              <a:rPr sz="1500" b="0" i="0">
                <a:solidFill>
                  <a:srgbClr val="1A1A1A"/>
                </a:solidFill>
                <a:latin typeface="Palatino"/>
              </a:rPr>
              <a:t>The Apple daily chart in a clear, strong uptrend: the first of three bars closes near its high, the third near its low, and the lower panel labels bearish +DM divergence.</a:t>
            </a:r>
          </a:p>
        </p:txBody>
      </p:sp>
      <p:sp>
        <p:nvSpPr>
          <p:cNvPr id="12" name="Rectangle 11"/>
          <p:cNvSpPr/>
          <p:nvPr/>
        </p:nvSpPr>
        <p:spPr>
          <a:xfrm>
            <a:off x="9740843" y="2333183"/>
            <a:ext cx="73737" cy="438911"/>
          </a:xfrm>
          <a:prstGeom prst="rect">
            <a:avLst/>
          </a:prstGeom>
          <a:noFill/>
          <a:ln w="44450">
            <a:solidFill>
              <a:srgbClr val="E09B00"/>
            </a:solidFill>
          </a:ln>
        </p:spPr>
        <p:txBody>
          <a:bodyPr rtlCol="0" anchor="ctr"/>
          <a:lstStyle/>
          <a:p>
            <a:pPr algn="ctr"/>
          </a:p>
        </p:txBody>
      </p:sp>
      <p:sp>
        <p:nvSpPr>
          <p:cNvPr id="13" name="Rectangle 12"/>
          <p:cNvSpPr/>
          <p:nvPr/>
        </p:nvSpPr>
        <p:spPr>
          <a:xfrm>
            <a:off x="9819496" y="2333183"/>
            <a:ext cx="73737" cy="438911"/>
          </a:xfrm>
          <a:prstGeom prst="rect">
            <a:avLst/>
          </a:prstGeom>
          <a:noFill/>
          <a:ln w="44450">
            <a:solidFill>
              <a:srgbClr val="C62828"/>
            </a:solidFill>
          </a:ln>
        </p:spPr>
        <p:txBody>
          <a:bodyPr rtlCol="0" anchor="ctr"/>
          <a:lstStyle/>
          <a:p>
            <a:pPr algn="ctr"/>
          </a:p>
        </p:txBody>
      </p:sp>
      <p:sp>
        <p:nvSpPr>
          <p:cNvPr id="14" name="Rectangle 13"/>
          <p:cNvSpPr/>
          <p:nvPr/>
        </p:nvSpPr>
        <p:spPr>
          <a:xfrm>
            <a:off x="9898149" y="2333183"/>
            <a:ext cx="68821" cy="438911"/>
          </a:xfrm>
          <a:prstGeom prst="rect">
            <a:avLst/>
          </a:prstGeom>
          <a:noFill/>
          <a:ln w="44450">
            <a:solidFill>
              <a:srgbClr val="1F5FAD"/>
            </a:solidFill>
          </a:ln>
        </p:spPr>
        <p:txBody>
          <a:bodyPr rtlCol="0" anchor="ctr"/>
          <a:lstStyle/>
          <a:p>
            <a:pPr algn="ctr"/>
          </a:p>
        </p:txBody>
      </p:sp>
      <p:sp>
        <p:nvSpPr>
          <p:cNvPr id="15" name="Oval 14"/>
          <p:cNvSpPr/>
          <p:nvPr/>
        </p:nvSpPr>
        <p:spPr>
          <a:xfrm>
            <a:off x="9662190" y="4492630"/>
            <a:ext cx="491581" cy="386242"/>
          </a:xfrm>
          <a:prstGeom prst="ellipse">
            <a:avLst/>
          </a:prstGeom>
          <a:noFill/>
          <a:ln w="44450">
            <a:solidFill>
              <a:srgbClr val="7B3FA0"/>
            </a:solidFill>
          </a:ln>
        </p:spPr>
        <p:txBody>
          <a:bodyPr rtlCol="0" anchor="ctr"/>
          <a:lstStyle/>
          <a:p>
            <a:pPr algn="ctr"/>
          </a:p>
        </p:txBody>
      </p:sp>
      <p:sp>
        <p:nvSpPr>
          <p:cNvPr id="16" name="Oval 15"/>
          <p:cNvSpPr/>
          <p:nvPr/>
        </p:nvSpPr>
        <p:spPr>
          <a:xfrm>
            <a:off x="9552462" y="2837931"/>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527883" y="3083722"/>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9906401" y="308372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9404987" y="4786701"/>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5303519" y="5650991"/>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7.18 -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221, Figure 7.18. +DM is shown as a book label and is not defined in this chapter.</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bullish three-bar reversal can show uncertainty in the middle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bullish three-bar reversal is the converse of the bearish one, at the end of a downtrend, and Lim adds a point about volume (p. 221). With invented values, volume is 4.0m on the first bar </a:t>
            </a:r>
            <a:r>
              <a:rPr sz="1700" b="1" i="0">
                <a:solidFill>
                  <a:srgbClr val="E09B00"/>
                </a:solidFill>
                <a:latin typeface="Arial"/>
              </a:rPr>
              <a:t>(1)</a:t>
            </a:r>
            <a:r>
              <a:rPr sz="1700" b="0" i="0">
                <a:solidFill>
                  <a:srgbClr val="1A1A1A"/>
                </a:solidFill>
                <a:latin typeface="Arial"/>
              </a:rPr>
              <a:t>, 0.6m on the middle </a:t>
            </a:r>
            <a:r>
              <a:rPr sz="1700" b="1" i="0">
                <a:solidFill>
                  <a:srgbClr val="C62828"/>
                </a:solidFill>
                <a:latin typeface="Arial"/>
              </a:rPr>
              <a:t>(2)</a:t>
            </a:r>
            <a:r>
              <a:rPr sz="1700" b="0" i="0">
                <a:solidFill>
                  <a:srgbClr val="1A1A1A"/>
                </a:solidFill>
                <a:latin typeface="Arial"/>
              </a:rPr>
              <a:t>, and 4.2m on the third </a:t>
            </a:r>
            <a:r>
              <a:rPr sz="1700" b="1" i="0">
                <a:solidFill>
                  <a:srgbClr val="1F5FAD"/>
                </a:solidFill>
                <a:latin typeface="Arial"/>
              </a:rPr>
              <a:t>(3)</a:t>
            </a:r>
            <a:r>
              <a:rPr sz="1700" b="0" i="0">
                <a:solidFill>
                  <a:srgbClr val="1A1A1A"/>
                </a:solidFill>
                <a:latin typeface="Arial"/>
              </a:rPr>
              <a:t>. A quiet middle supports the reversal reading, but guarantees nothing (pp. 221 to 223).</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m-0.png"/>
          <p:cNvPicPr>
            <a:picLocks noChangeAspect="1"/>
          </p:cNvPicPr>
          <p:nvPr/>
        </p:nvPicPr>
        <p:blipFill>
          <a:blip r:embed="rId2"/>
          <a:stretch>
            <a:fillRect/>
          </a:stretch>
        </p:blipFill>
        <p:spPr>
          <a:xfrm>
            <a:off x="896112" y="2395728"/>
            <a:ext cx="10399471" cy="3511296"/>
          </a:xfrm>
          <a:prstGeom prst="rect">
            <a:avLst/>
          </a:prstGeom>
        </p:spPr>
      </p:pic>
      <p:sp>
        <p:nvSpPr>
          <p:cNvPr id="9" name="Rectangle 8"/>
          <p:cNvSpPr/>
          <p:nvPr/>
        </p:nvSpPr>
        <p:spPr>
          <a:xfrm>
            <a:off x="2660904" y="5069694"/>
            <a:ext cx="310895" cy="316121"/>
          </a:xfrm>
          <a:prstGeom prst="rect">
            <a:avLst/>
          </a:prstGeom>
          <a:noFill/>
          <a:ln w="44450">
            <a:solidFill>
              <a:srgbClr val="E09B00"/>
            </a:solidFill>
          </a:ln>
        </p:spPr>
        <p:txBody>
          <a:bodyPr rtlCol="0" anchor="ctr"/>
          <a:lstStyle/>
          <a:p>
            <a:pPr algn="ctr"/>
          </a:p>
        </p:txBody>
      </p:sp>
      <p:sp>
        <p:nvSpPr>
          <p:cNvPr id="10" name="Rectangle 9"/>
          <p:cNvSpPr/>
          <p:nvPr/>
        </p:nvSpPr>
        <p:spPr>
          <a:xfrm>
            <a:off x="6214719" y="5291763"/>
            <a:ext cx="310895" cy="94052"/>
          </a:xfrm>
          <a:prstGeom prst="rect">
            <a:avLst/>
          </a:prstGeom>
          <a:noFill/>
          <a:ln w="44450">
            <a:solidFill>
              <a:srgbClr val="C62828"/>
            </a:solidFill>
          </a:ln>
        </p:spPr>
        <p:txBody>
          <a:bodyPr rtlCol="0" anchor="ctr"/>
          <a:lstStyle/>
          <a:p>
            <a:pPr algn="ctr"/>
          </a:p>
        </p:txBody>
      </p:sp>
      <p:sp>
        <p:nvSpPr>
          <p:cNvPr id="11" name="Rectangle 10"/>
          <p:cNvSpPr/>
          <p:nvPr/>
        </p:nvSpPr>
        <p:spPr>
          <a:xfrm>
            <a:off x="9768535" y="5056631"/>
            <a:ext cx="310895" cy="329184"/>
          </a:xfrm>
          <a:prstGeom prst="rect">
            <a:avLst/>
          </a:prstGeom>
          <a:noFill/>
          <a:ln w="44450">
            <a:solidFill>
              <a:srgbClr val="1F5FAD"/>
            </a:solidFill>
          </a:ln>
        </p:spPr>
        <p:txBody>
          <a:bodyPr rtlCol="0" anchor="ctr"/>
          <a:lstStyle/>
          <a:p>
            <a:pPr algn="ctr"/>
          </a:p>
        </p:txBody>
      </p:sp>
      <p:sp>
        <p:nvSpPr>
          <p:cNvPr id="12" name="Oval 11"/>
          <p:cNvSpPr/>
          <p:nvPr/>
        </p:nvSpPr>
        <p:spPr>
          <a:xfrm>
            <a:off x="2971800" y="5099739"/>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6653631" y="5210773"/>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79431" y="509320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M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15 of 65</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bullish three-bar examples use stronger outer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16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In Figure 7.19 the middle bar </a:t>
            </a:r>
            <a:r>
              <a:rPr sz="2000" b="1" i="0">
                <a:solidFill>
                  <a:srgbClr val="C62828"/>
                </a:solidFill>
                <a:latin typeface="Arial"/>
              </a:rPr>
              <a:t>(2)</a:t>
            </a:r>
            <a:r>
              <a:rPr sz="2000" b="0" i="0">
                <a:solidFill>
                  <a:srgbClr val="1A1A1A"/>
                </a:solidFill>
                <a:latin typeface="Arial"/>
              </a:rPr>
              <a:t> trades on below-average volume, while the first </a:t>
            </a:r>
            <a:r>
              <a:rPr sz="2000" b="1" i="0">
                <a:solidFill>
                  <a:srgbClr val="E09B00"/>
                </a:solidFill>
                <a:latin typeface="Arial"/>
              </a:rPr>
              <a:t>(1)</a:t>
            </a:r>
            <a:r>
              <a:rPr sz="2000" b="0" i="0">
                <a:solidFill>
                  <a:srgbClr val="1A1A1A"/>
                </a:solidFill>
                <a:latin typeface="Arial"/>
              </a:rPr>
              <a:t> and third </a:t>
            </a:r>
            <a:r>
              <a:rPr sz="2000" b="1" i="0">
                <a:solidFill>
                  <a:srgbClr val="1F5FAD"/>
                </a:solidFill>
                <a:latin typeface="Arial"/>
              </a:rPr>
              <a:t>(3)</a:t>
            </a:r>
            <a:r>
              <a:rPr sz="2000" b="0" i="0">
                <a:solidFill>
                  <a:srgbClr val="1A1A1A"/>
                </a:solidFill>
                <a:latin typeface="Arial"/>
              </a:rPr>
              <a:t> bars close on high volume (p. 221).</a:t>
            </a:r>
          </a:p>
          <a:p>
            <a:pPr algn="l">
              <a:lnSpc>
                <a:spcPct val="105000"/>
              </a:lnSpc>
              <a:spcBef>
                <a:spcPts val="0"/>
              </a:spcBef>
              <a:spcAft>
                <a:spcPts val="1100"/>
              </a:spcAft>
            </a:pPr>
            <a:r>
              <a:rPr sz="2000" b="0" i="0">
                <a:solidFill>
                  <a:srgbClr val="1A1A1A"/>
                </a:solidFill>
                <a:latin typeface="Arial"/>
              </a:rPr>
              <a:t>That is the same quiet middle between busier outer bars as our worked example. It is an observation about this chart, not a guarantee.</a:t>
            </a:r>
          </a:p>
        </p:txBody>
      </p:sp>
      <p:sp>
        <p:nvSpPr>
          <p:cNvPr id="8" name="Rectangle 7"/>
          <p:cNvSpPr/>
          <p:nvPr/>
        </p:nvSpPr>
        <p:spPr>
          <a:xfrm>
            <a:off x="5759121" y="1810512"/>
            <a:ext cx="5839811"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877993" y="1929384"/>
            <a:ext cx="5602067"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877993" y="1929384"/>
            <a:ext cx="5602067"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152313" y="2203703"/>
            <a:ext cx="505342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7.19</a:t>
            </a:r>
          </a:p>
          <a:p>
            <a:pPr algn="l">
              <a:lnSpc>
                <a:spcPct val="115000"/>
              </a:lnSpc>
              <a:spcBef>
                <a:spcPts val="0"/>
              </a:spcBef>
              <a:spcAft>
                <a:spcPts val="0"/>
              </a:spcAft>
            </a:pPr>
            <a:r>
              <a:rPr sz="1500" b="0" i="0">
                <a:solidFill>
                  <a:srgbClr val="1A1A1A"/>
                </a:solidFill>
                <a:latin typeface="Palatino"/>
              </a:rPr>
              <a:t>The ITC Holdings daily chart: a three-bar bottom reversal with high-volume outer bars and a below-average-volume middle bar.</a:t>
            </a:r>
          </a:p>
        </p:txBody>
      </p:sp>
      <p:sp>
        <p:nvSpPr>
          <p:cNvPr id="12" name="Oval 11"/>
          <p:cNvSpPr/>
          <p:nvPr/>
        </p:nvSpPr>
        <p:spPr>
          <a:xfrm>
            <a:off x="8768660" y="4190658"/>
            <a:ext cx="134449" cy="1211397"/>
          </a:xfrm>
          <a:prstGeom prst="ellipse">
            <a:avLst/>
          </a:prstGeom>
          <a:noFill/>
          <a:ln w="44450">
            <a:solidFill>
              <a:srgbClr val="E09B00"/>
            </a:solidFill>
          </a:ln>
        </p:spPr>
        <p:txBody>
          <a:bodyPr rtlCol="0" anchor="ctr"/>
          <a:lstStyle/>
          <a:p>
            <a:pPr algn="ctr"/>
          </a:p>
        </p:txBody>
      </p:sp>
      <p:sp>
        <p:nvSpPr>
          <p:cNvPr id="13" name="Oval 12"/>
          <p:cNvSpPr/>
          <p:nvPr/>
        </p:nvSpPr>
        <p:spPr>
          <a:xfrm>
            <a:off x="8925518" y="4503163"/>
            <a:ext cx="134449" cy="898891"/>
          </a:xfrm>
          <a:prstGeom prst="ellipse">
            <a:avLst/>
          </a:prstGeom>
          <a:noFill/>
          <a:ln w="44450">
            <a:solidFill>
              <a:srgbClr val="C62828"/>
            </a:solidFill>
          </a:ln>
        </p:spPr>
        <p:txBody>
          <a:bodyPr rtlCol="0" anchor="ctr"/>
          <a:lstStyle/>
          <a:p>
            <a:pPr algn="ctr"/>
          </a:p>
        </p:txBody>
      </p:sp>
      <p:sp>
        <p:nvSpPr>
          <p:cNvPr id="14" name="Oval 13"/>
          <p:cNvSpPr/>
          <p:nvPr/>
        </p:nvSpPr>
        <p:spPr>
          <a:xfrm>
            <a:off x="9082376" y="4271418"/>
            <a:ext cx="123245" cy="1130637"/>
          </a:xfrm>
          <a:prstGeom prst="ellipse">
            <a:avLst/>
          </a:prstGeom>
          <a:noFill/>
          <a:ln w="44450">
            <a:solidFill>
              <a:srgbClr val="1F5FAD"/>
            </a:solidFill>
          </a:ln>
        </p:spPr>
        <p:txBody>
          <a:bodyPr rtlCol="0" anchor="ctr"/>
          <a:lstStyle/>
          <a:p>
            <a:pPr algn="ctr"/>
          </a:p>
        </p:txBody>
      </p:sp>
      <p:sp>
        <p:nvSpPr>
          <p:cNvPr id="15" name="Oval 14"/>
          <p:cNvSpPr/>
          <p:nvPr/>
        </p:nvSpPr>
        <p:spPr>
          <a:xfrm>
            <a:off x="8502074" y="377193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770973" y="3771936"/>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219139" y="3771936"/>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7.19 -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221, Figure 7.19. Volume labels are the book's observations.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Context can strengthen a bullish three-bar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17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Figure 7.20 shows a bullish three-bar reversal </a:t>
            </a:r>
            <a:r>
              <a:rPr sz="1900" b="1" i="0">
                <a:solidFill>
                  <a:srgbClr val="E09B00"/>
                </a:solidFill>
                <a:latin typeface="Arial"/>
              </a:rPr>
              <a:t>(1)</a:t>
            </a:r>
            <a:r>
              <a:rPr sz="1900" b="0" i="0">
                <a:solidFill>
                  <a:srgbClr val="1A1A1A"/>
                </a:solidFill>
                <a:latin typeface="Arial"/>
              </a:rPr>
              <a:t> on the daily chart of ITC Holdings (p. 222).</a:t>
            </a:r>
          </a:p>
          <a:p>
            <a:pPr algn="l">
              <a:lnSpc>
                <a:spcPct val="105000"/>
              </a:lnSpc>
              <a:spcBef>
                <a:spcPts val="0"/>
              </a:spcBef>
              <a:spcAft>
                <a:spcPts val="1100"/>
              </a:spcAft>
            </a:pPr>
            <a:r>
              <a:rPr sz="1900" b="0" i="0">
                <a:solidFill>
                  <a:srgbClr val="1A1A1A"/>
                </a:solidFill>
                <a:latin typeface="Arial"/>
              </a:rPr>
              <a:t>Lim notes that the last bar closes between the Bollinger bands </a:t>
            </a:r>
            <a:r>
              <a:rPr sz="1900" b="1" i="0">
                <a:solidFill>
                  <a:srgbClr val="C62828"/>
                </a:solidFill>
                <a:latin typeface="Arial"/>
              </a:rPr>
              <a:t>(2)</a:t>
            </a:r>
            <a:r>
              <a:rPr sz="1900" b="0" i="0">
                <a:solidFill>
                  <a:srgbClr val="1A1A1A"/>
                </a:solidFill>
                <a:latin typeface="Arial"/>
              </a:rPr>
              <a:t>, which is bullish, and that the pattern matches pattern 5 in Figure 7.9, which Part 2 called bullish triple form 5: the third bar engulfs the second (p. 222).</a:t>
            </a:r>
          </a:p>
        </p:txBody>
      </p:sp>
      <p:sp>
        <p:nvSpPr>
          <p:cNvPr id="8" name="Rectangle 7"/>
          <p:cNvSpPr/>
          <p:nvPr/>
        </p:nvSpPr>
        <p:spPr>
          <a:xfrm>
            <a:off x="5445740" y="1810512"/>
            <a:ext cx="6466573"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564612" y="1929384"/>
            <a:ext cx="6228829"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564612" y="1929384"/>
            <a:ext cx="6228829"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838932" y="2203703"/>
            <a:ext cx="568018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7.20</a:t>
            </a:r>
          </a:p>
          <a:p>
            <a:pPr algn="l">
              <a:lnSpc>
                <a:spcPct val="115000"/>
              </a:lnSpc>
              <a:spcBef>
                <a:spcPts val="0"/>
              </a:spcBef>
              <a:spcAft>
                <a:spcPts val="0"/>
              </a:spcAft>
            </a:pPr>
            <a:r>
              <a:rPr sz="1500" b="0" i="0">
                <a:solidFill>
                  <a:srgbClr val="1A1A1A"/>
                </a:solidFill>
                <a:latin typeface="Palatino"/>
              </a:rPr>
              <a:t>The ITC Holdings daily chart, cropped to the price panel: the three-bar bottom reversal and its last bar closing above the lower Bollinger band.</a:t>
            </a:r>
          </a:p>
        </p:txBody>
      </p:sp>
      <p:sp>
        <p:nvSpPr>
          <p:cNvPr id="12" name="Rectangle 11"/>
          <p:cNvSpPr/>
          <p:nvPr/>
        </p:nvSpPr>
        <p:spPr>
          <a:xfrm>
            <a:off x="8295954" y="4128859"/>
            <a:ext cx="383073" cy="1195947"/>
          </a:xfrm>
          <a:prstGeom prst="rect">
            <a:avLst/>
          </a:prstGeom>
          <a:noFill/>
          <a:ln w="44450">
            <a:solidFill>
              <a:srgbClr val="E09B00"/>
            </a:solidFill>
          </a:ln>
        </p:spPr>
        <p:txBody>
          <a:bodyPr rtlCol="0" anchor="ctr"/>
          <a:lstStyle/>
          <a:p>
            <a:pPr algn="ctr"/>
          </a:p>
        </p:txBody>
      </p:sp>
      <p:sp>
        <p:nvSpPr>
          <p:cNvPr id="13" name="Oval 12"/>
          <p:cNvSpPr/>
          <p:nvPr/>
        </p:nvSpPr>
        <p:spPr>
          <a:xfrm>
            <a:off x="8487179" y="4167484"/>
            <a:ext cx="239809" cy="462788"/>
          </a:xfrm>
          <a:prstGeom prst="ellipse">
            <a:avLst/>
          </a:prstGeom>
          <a:noFill/>
          <a:ln w="44450">
            <a:solidFill>
              <a:srgbClr val="C62828"/>
            </a:solidFill>
          </a:ln>
        </p:spPr>
        <p:txBody>
          <a:bodyPr rtlCol="0" anchor="ctr"/>
          <a:lstStyle/>
          <a:p>
            <a:pPr algn="ctr"/>
          </a:p>
        </p:txBody>
      </p:sp>
      <p:sp>
        <p:nvSpPr>
          <p:cNvPr id="14" name="Oval 13"/>
          <p:cNvSpPr/>
          <p:nvPr/>
        </p:nvSpPr>
        <p:spPr>
          <a:xfrm>
            <a:off x="7946416" y="4597793"/>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8857071" y="3826010"/>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5303519" y="5650991"/>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7.20 -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222, Figure 7.20. StochRSI and Bollinger Bands are shown but not defined in Chapter 7.</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whole three-bar pattern forms while StochRSI is oversold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18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panel under the same chart shows that the entire pattern occurs on an oversold condition on the StochRSI </a:t>
            </a:r>
            <a:r>
              <a:rPr sz="2000" b="1" i="0">
                <a:solidFill>
                  <a:srgbClr val="1F5FAD"/>
                </a:solidFill>
                <a:latin typeface="Arial"/>
              </a:rPr>
              <a:t>(3)</a:t>
            </a:r>
            <a:r>
              <a:rPr sz="2000" b="0" i="0">
                <a:solidFill>
                  <a:srgbClr val="1A1A1A"/>
                </a:solidFill>
                <a:latin typeface="Arial"/>
              </a:rPr>
              <a:t> (p. 222).</a:t>
            </a:r>
          </a:p>
          <a:p>
            <a:pPr algn="l">
              <a:lnSpc>
                <a:spcPct val="105000"/>
              </a:lnSpc>
              <a:spcBef>
                <a:spcPts val="0"/>
              </a:spcBef>
              <a:spcAft>
                <a:spcPts val="1100"/>
              </a:spcAft>
            </a:pPr>
            <a:r>
              <a:rPr sz="2000" b="0" i="0">
                <a:solidFill>
                  <a:srgbClr val="1A1A1A"/>
                </a:solidFill>
                <a:latin typeface="Arial"/>
              </a:rPr>
              <a:t>The book gives no formula for StochRSI in this chapter, so this is context rather than a method to calculate.</a:t>
            </a:r>
          </a:p>
        </p:txBody>
      </p:sp>
      <p:sp>
        <p:nvSpPr>
          <p:cNvPr id="8" name="Rectangle 7"/>
          <p:cNvSpPr/>
          <p:nvPr/>
        </p:nvSpPr>
        <p:spPr>
          <a:xfrm>
            <a:off x="5303519" y="1810512"/>
            <a:ext cx="6751015" cy="2053390"/>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6513271" cy="181564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65132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964631" cy="135844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7.20</a:t>
            </a:r>
          </a:p>
          <a:p>
            <a:pPr algn="l">
              <a:lnSpc>
                <a:spcPct val="115000"/>
              </a:lnSpc>
              <a:spcBef>
                <a:spcPts val="0"/>
              </a:spcBef>
              <a:spcAft>
                <a:spcPts val="0"/>
              </a:spcAft>
            </a:pPr>
            <a:r>
              <a:rPr sz="1500" b="0" i="0">
                <a:solidFill>
                  <a:srgbClr val="1A1A1A"/>
                </a:solidFill>
                <a:latin typeface="Palatino"/>
              </a:rPr>
              <a:t>The ITC Holdings daily chart, cropped to the StochRSI panel: the oversold reading under the three-bar reversal.</a:t>
            </a:r>
          </a:p>
        </p:txBody>
      </p:sp>
      <p:sp>
        <p:nvSpPr>
          <p:cNvPr id="12" name="Oval 11"/>
          <p:cNvSpPr/>
          <p:nvPr/>
        </p:nvSpPr>
        <p:spPr>
          <a:xfrm>
            <a:off x="8128004" y="3059079"/>
            <a:ext cx="601174" cy="605336"/>
          </a:xfrm>
          <a:prstGeom prst="ellipse">
            <a:avLst/>
          </a:prstGeom>
          <a:noFill/>
          <a:ln w="44450">
            <a:solidFill>
              <a:srgbClr val="1F5FAD"/>
            </a:solidFill>
          </a:ln>
        </p:spPr>
        <p:txBody>
          <a:bodyPr rtlCol="0" anchor="ctr"/>
          <a:lstStyle/>
          <a:p>
            <a:pPr algn="ctr"/>
          </a:p>
        </p:txBody>
      </p:sp>
      <p:sp>
        <p:nvSpPr>
          <p:cNvPr id="13" name="Oval 12"/>
          <p:cNvSpPr/>
          <p:nvPr/>
        </p:nvSpPr>
        <p:spPr>
          <a:xfrm>
            <a:off x="7767515" y="3151069"/>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TextBox 13"/>
          <p:cNvSpPr txBox="1"/>
          <p:nvPr/>
        </p:nvSpPr>
        <p:spPr>
          <a:xfrm>
            <a:off x="5303519" y="3955342"/>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7.20 -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222, Figure 7.20. StochRSI and Bollinger Bands are shown but not defined in Chapter 7.</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later outside day is a separate event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19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Figure 7.21 first shows a bullish three-bar reversal </a:t>
            </a:r>
            <a:r>
              <a:rPr sz="2000" b="1" i="0">
                <a:solidFill>
                  <a:srgbClr val="E09B00"/>
                </a:solidFill>
                <a:latin typeface="Arial"/>
              </a:rPr>
              <a:t>(1)</a:t>
            </a:r>
            <a:r>
              <a:rPr sz="2000" b="0" i="0">
                <a:solidFill>
                  <a:srgbClr val="1A1A1A"/>
                </a:solidFill>
                <a:latin typeface="Arial"/>
              </a:rPr>
              <a:t>, whose large third bar closes near its high </a:t>
            </a:r>
            <a:r>
              <a:rPr sz="2000" b="1" i="0">
                <a:solidFill>
                  <a:srgbClr val="C62828"/>
                </a:solidFill>
                <a:latin typeface="Arial"/>
              </a:rPr>
              <a:t>(2)</a:t>
            </a:r>
            <a:r>
              <a:rPr sz="2000" b="0" i="0">
                <a:solidFill>
                  <a:srgbClr val="1A1A1A"/>
                </a:solidFill>
                <a:latin typeface="Arial"/>
              </a:rPr>
              <a:t>.</a:t>
            </a:r>
          </a:p>
          <a:p>
            <a:pPr algn="l">
              <a:lnSpc>
                <a:spcPct val="105000"/>
              </a:lnSpc>
              <a:spcBef>
                <a:spcPts val="0"/>
              </a:spcBef>
              <a:spcAft>
                <a:spcPts val="1100"/>
              </a:spcAft>
            </a:pPr>
            <a:r>
              <a:rPr sz="2000" b="0" i="0">
                <a:solidFill>
                  <a:srgbClr val="1A1A1A"/>
                </a:solidFill>
                <a:latin typeface="Arial"/>
              </a:rPr>
              <a:t>Later, a separate outside day engulfs four preceding bars </a:t>
            </a:r>
            <a:r>
              <a:rPr sz="2000" b="1" i="0">
                <a:solidFill>
                  <a:srgbClr val="7B3FA0"/>
                </a:solidFill>
                <a:latin typeface="Arial"/>
              </a:rPr>
              <a:t>(4)</a:t>
            </a:r>
            <a:r>
              <a:rPr sz="2000" b="0" i="0">
                <a:solidFill>
                  <a:srgbClr val="1A1A1A"/>
                </a:solidFill>
                <a:latin typeface="Arial"/>
              </a:rPr>
              <a:t> and closes near its low </a:t>
            </a:r>
            <a:r>
              <a:rPr sz="2000" b="1" i="0">
                <a:solidFill>
                  <a:srgbClr val="1F5FAD"/>
                </a:solidFill>
                <a:latin typeface="Arial"/>
              </a:rPr>
              <a:t>(3)</a:t>
            </a:r>
            <a:r>
              <a:rPr sz="2000" b="0" i="0">
                <a:solidFill>
                  <a:srgbClr val="1A1A1A"/>
                </a:solidFill>
                <a:latin typeface="Arial"/>
              </a:rPr>
              <a:t>.</a:t>
            </a:r>
          </a:p>
          <a:p>
            <a:pPr algn="l">
              <a:lnSpc>
                <a:spcPct val="105000"/>
              </a:lnSpc>
              <a:spcBef>
                <a:spcPts val="0"/>
              </a:spcBef>
              <a:spcAft>
                <a:spcPts val="1100"/>
              </a:spcAft>
            </a:pPr>
            <a:r>
              <a:rPr sz="2000" b="0" i="0">
                <a:solidFill>
                  <a:srgbClr val="1A1A1A"/>
                </a:solidFill>
                <a:latin typeface="Arial"/>
              </a:rPr>
              <a:t>Keep the two apart: the outside day is a new event, not part of the three-bar count (p. 222).</a:t>
            </a:r>
          </a:p>
        </p:txBody>
      </p:sp>
      <p:sp>
        <p:nvSpPr>
          <p:cNvPr id="8" name="Rectangle 7"/>
          <p:cNvSpPr/>
          <p:nvPr/>
        </p:nvSpPr>
        <p:spPr>
          <a:xfrm>
            <a:off x="5790878" y="1810512"/>
            <a:ext cx="5136218"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909750" y="1929384"/>
            <a:ext cx="4898474"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909750" y="1929384"/>
            <a:ext cx="489847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184070" y="2203703"/>
            <a:ext cx="4349834"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7.21</a:t>
            </a:r>
          </a:p>
          <a:p>
            <a:pPr algn="l">
              <a:lnSpc>
                <a:spcPct val="115000"/>
              </a:lnSpc>
              <a:spcBef>
                <a:spcPts val="0"/>
              </a:spcBef>
              <a:spcAft>
                <a:spcPts val="0"/>
              </a:spcAft>
            </a:pPr>
            <a:r>
              <a:rPr sz="1500" b="0" i="0">
                <a:solidFill>
                  <a:srgbClr val="1A1A1A"/>
                </a:solidFill>
                <a:latin typeface="Palatino"/>
              </a:rPr>
              <a:t>The Newmont Mining daily chart: a three-bar bottom reversal, then a separate outside day engulfing four preceding bars, with high volume under the outside bar.</a:t>
            </a:r>
          </a:p>
        </p:txBody>
      </p:sp>
      <p:sp>
        <p:nvSpPr>
          <p:cNvPr id="12" name="Rectangle 11"/>
          <p:cNvSpPr/>
          <p:nvPr/>
        </p:nvSpPr>
        <p:spPr>
          <a:xfrm>
            <a:off x="7795662" y="3544580"/>
            <a:ext cx="342893" cy="948049"/>
          </a:xfrm>
          <a:prstGeom prst="rect">
            <a:avLst/>
          </a:prstGeom>
          <a:noFill/>
          <a:ln w="44450">
            <a:solidFill>
              <a:srgbClr val="E09B00"/>
            </a:solidFill>
          </a:ln>
        </p:spPr>
        <p:txBody>
          <a:bodyPr rtlCol="0" anchor="ctr"/>
          <a:lstStyle/>
          <a:p>
            <a:pPr algn="ctr"/>
          </a:p>
        </p:txBody>
      </p:sp>
      <p:sp>
        <p:nvSpPr>
          <p:cNvPr id="13" name="Oval 12"/>
          <p:cNvSpPr/>
          <p:nvPr/>
        </p:nvSpPr>
        <p:spPr>
          <a:xfrm>
            <a:off x="8016094" y="3597249"/>
            <a:ext cx="146954" cy="210677"/>
          </a:xfrm>
          <a:prstGeom prst="ellipse">
            <a:avLst/>
          </a:prstGeom>
          <a:noFill/>
          <a:ln w="44450">
            <a:solidFill>
              <a:srgbClr val="C62828"/>
            </a:solidFill>
          </a:ln>
        </p:spPr>
        <p:txBody>
          <a:bodyPr rtlCol="0" anchor="ctr"/>
          <a:lstStyle/>
          <a:p>
            <a:pPr algn="ctr"/>
          </a:p>
        </p:txBody>
      </p:sp>
      <p:sp>
        <p:nvSpPr>
          <p:cNvPr id="14" name="Oval 13"/>
          <p:cNvSpPr/>
          <p:nvPr/>
        </p:nvSpPr>
        <p:spPr>
          <a:xfrm>
            <a:off x="9314190" y="2561417"/>
            <a:ext cx="146954" cy="245790"/>
          </a:xfrm>
          <a:prstGeom prst="ellipse">
            <a:avLst/>
          </a:prstGeom>
          <a:noFill/>
          <a:ln w="44450">
            <a:solidFill>
              <a:srgbClr val="1F5FAD"/>
            </a:solidFill>
          </a:ln>
        </p:spPr>
        <p:txBody>
          <a:bodyPr rtlCol="0" anchor="ctr"/>
          <a:lstStyle/>
          <a:p>
            <a:pPr algn="ctr"/>
          </a:p>
        </p:txBody>
      </p:sp>
      <p:sp>
        <p:nvSpPr>
          <p:cNvPr id="15" name="Rectangle 14"/>
          <p:cNvSpPr/>
          <p:nvPr/>
        </p:nvSpPr>
        <p:spPr>
          <a:xfrm>
            <a:off x="9034977" y="2333183"/>
            <a:ext cx="264517" cy="438911"/>
          </a:xfrm>
          <a:prstGeom prst="rect">
            <a:avLst/>
          </a:prstGeom>
          <a:noFill/>
          <a:ln w="44450">
            <a:solidFill>
              <a:srgbClr val="7B3FA0"/>
            </a:solidFill>
          </a:ln>
        </p:spPr>
        <p:txBody>
          <a:bodyPr rtlCol="0" anchor="ctr"/>
          <a:lstStyle/>
          <a:p>
            <a:pPr algn="ctr"/>
          </a:p>
        </p:txBody>
      </p:sp>
      <p:sp>
        <p:nvSpPr>
          <p:cNvPr id="16" name="Oval 15"/>
          <p:cNvSpPr/>
          <p:nvPr/>
        </p:nvSpPr>
        <p:spPr>
          <a:xfrm>
            <a:off x="7538980" y="3996659"/>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102305" y="322417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9449385" y="257458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8837076" y="2170785"/>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7.21 -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222, Figure 7.21. The outside day and volume are the book's observations.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7.22 links this volume arrangement to pattern 6</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20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figure shows a bullish three-bar reversal with a large middle-bar range </a:t>
            </a:r>
            <a:r>
              <a:rPr sz="1800" b="1" i="0">
                <a:solidFill>
                  <a:srgbClr val="C62828"/>
                </a:solidFill>
                <a:latin typeface="Arial"/>
              </a:rPr>
              <a:t>(2)</a:t>
            </a:r>
            <a:r>
              <a:rPr sz="1800" b="0" i="0">
                <a:solidFill>
                  <a:srgbClr val="1A1A1A"/>
                </a:solidFill>
                <a:latin typeface="Arial"/>
              </a:rPr>
              <a:t> and middle-bar volume </a:t>
            </a:r>
            <a:r>
              <a:rPr sz="1800" b="1" i="0">
                <a:solidFill>
                  <a:srgbClr val="1F5FAD"/>
                </a:solidFill>
                <a:latin typeface="Arial"/>
              </a:rPr>
              <a:t>(3)</a:t>
            </a:r>
            <a:r>
              <a:rPr sz="1800" b="0" i="0">
                <a:solidFill>
                  <a:srgbClr val="1A1A1A"/>
                </a:solidFill>
                <a:latin typeface="Arial"/>
              </a:rPr>
              <a:t> lower than the first bar </a:t>
            </a:r>
            <a:r>
              <a:rPr sz="1800" b="1" i="0">
                <a:solidFill>
                  <a:srgbClr val="E09B00"/>
                </a:solidFill>
                <a:latin typeface="Arial"/>
              </a:rPr>
              <a:t>(1)</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Lim links this arrangement to pattern 6 in Figure 7.9, Part 2's bullish triple form 6: a close above the middle bar's high (p. 223).</a:t>
            </a:r>
          </a:p>
          <a:p>
            <a:pPr algn="l">
              <a:lnSpc>
                <a:spcPct val="105000"/>
              </a:lnSpc>
              <a:spcBef>
                <a:spcPts val="0"/>
              </a:spcBef>
              <a:spcAft>
                <a:spcPts val="1100"/>
              </a:spcAft>
            </a:pPr>
            <a:r>
              <a:rPr sz="1800" b="0" i="0">
                <a:solidFill>
                  <a:srgbClr val="1A1A1A"/>
                </a:solidFill>
                <a:latin typeface="Arial"/>
              </a:rPr>
              <a:t>That link recalls the generic pattern; it does not add a new trading rule or formula.</a:t>
            </a:r>
          </a:p>
        </p:txBody>
      </p:sp>
      <p:sp>
        <p:nvSpPr>
          <p:cNvPr id="8" name="Rectangle 7"/>
          <p:cNvSpPr/>
          <p:nvPr/>
        </p:nvSpPr>
        <p:spPr>
          <a:xfrm>
            <a:off x="5656935" y="1810512"/>
            <a:ext cx="5404104"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775807" y="1929384"/>
            <a:ext cx="5166360"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775807" y="1929384"/>
            <a:ext cx="5166360"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050127" y="2203703"/>
            <a:ext cx="4617720"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7.22</a:t>
            </a:r>
          </a:p>
          <a:p>
            <a:pPr algn="l">
              <a:lnSpc>
                <a:spcPct val="115000"/>
              </a:lnSpc>
              <a:spcBef>
                <a:spcPts val="0"/>
              </a:spcBef>
              <a:spcAft>
                <a:spcPts val="0"/>
              </a:spcAft>
            </a:pPr>
            <a:r>
              <a:rPr sz="1500" b="0" i="0">
                <a:solidFill>
                  <a:srgbClr val="1A1A1A"/>
                </a:solidFill>
                <a:latin typeface="Palatino"/>
              </a:rPr>
              <a:t>The TSX Composite daily chart: a bullish three-bar reversal whose large middle bar has lower volume than the first bar.</a:t>
            </a:r>
          </a:p>
        </p:txBody>
      </p:sp>
      <p:sp>
        <p:nvSpPr>
          <p:cNvPr id="12" name="Oval 11"/>
          <p:cNvSpPr/>
          <p:nvPr/>
        </p:nvSpPr>
        <p:spPr>
          <a:xfrm>
            <a:off x="8193663" y="4562856"/>
            <a:ext cx="103327" cy="512649"/>
          </a:xfrm>
          <a:prstGeom prst="ellipse">
            <a:avLst/>
          </a:prstGeom>
          <a:noFill/>
          <a:ln w="44450">
            <a:solidFill>
              <a:srgbClr val="E09B00"/>
            </a:solidFill>
          </a:ln>
        </p:spPr>
        <p:txBody>
          <a:bodyPr rtlCol="0" anchor="ctr"/>
          <a:lstStyle/>
          <a:p>
            <a:pPr algn="ctr"/>
          </a:p>
        </p:txBody>
      </p:sp>
      <p:sp>
        <p:nvSpPr>
          <p:cNvPr id="13" name="Rectangle 12"/>
          <p:cNvSpPr/>
          <p:nvPr/>
        </p:nvSpPr>
        <p:spPr>
          <a:xfrm>
            <a:off x="8296991" y="3923800"/>
            <a:ext cx="98160" cy="530205"/>
          </a:xfrm>
          <a:prstGeom prst="rect">
            <a:avLst/>
          </a:prstGeom>
          <a:noFill/>
          <a:ln w="44450">
            <a:solidFill>
              <a:srgbClr val="C62828"/>
            </a:solidFill>
          </a:ln>
        </p:spPr>
        <p:txBody>
          <a:bodyPr rtlCol="0" anchor="ctr"/>
          <a:lstStyle/>
          <a:p>
            <a:pPr algn="ctr"/>
          </a:p>
        </p:txBody>
      </p:sp>
      <p:sp>
        <p:nvSpPr>
          <p:cNvPr id="14" name="Oval 13"/>
          <p:cNvSpPr/>
          <p:nvPr/>
        </p:nvSpPr>
        <p:spPr>
          <a:xfrm>
            <a:off x="8307323" y="4854293"/>
            <a:ext cx="77495" cy="256324"/>
          </a:xfrm>
          <a:prstGeom prst="ellipse">
            <a:avLst/>
          </a:prstGeom>
          <a:noFill/>
          <a:ln w="44450">
            <a:solidFill>
              <a:srgbClr val="1F5FAD"/>
            </a:solidFill>
          </a:ln>
        </p:spPr>
        <p:txBody>
          <a:bodyPr rtlCol="0" anchor="ctr"/>
          <a:lstStyle/>
          <a:p>
            <a:pPr algn="ctr"/>
          </a:p>
        </p:txBody>
      </p:sp>
      <p:sp>
        <p:nvSpPr>
          <p:cNvPr id="15" name="Oval 14"/>
          <p:cNvSpPr/>
          <p:nvPr/>
        </p:nvSpPr>
        <p:spPr>
          <a:xfrm>
            <a:off x="7934705" y="4589007"/>
            <a:ext cx="228600" cy="22860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489289" y="369746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451341" y="4659233"/>
            <a:ext cx="228600" cy="22860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7.22 -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223, Figure 7.22. The reference to pattern 6 is Lim's cross-reference.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two-day and three-bar reversal readings</a:t>
            </a:r>
          </a:p>
        </p:txBody>
      </p:sp>
      <p:sp>
        <p:nvSpPr>
          <p:cNvPr id="6" name="Rectangle 5"/>
          <p:cNvSpPr/>
          <p:nvPr/>
        </p:nvSpPr>
        <p:spPr>
          <a:xfrm>
            <a:off x="777240" y="1207008"/>
            <a:ext cx="530352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84632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84632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the bearish three-bar reversal, the outer closes are:</a:t>
            </a:r>
          </a:p>
        </p:txBody>
      </p:sp>
      <p:sp>
        <p:nvSpPr>
          <p:cNvPr id="9" name="TextBox 8"/>
          <p:cNvSpPr txBox="1"/>
          <p:nvPr/>
        </p:nvSpPr>
        <p:spPr>
          <a:xfrm>
            <a:off x="1005840" y="2069338"/>
            <a:ext cx="484632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Both near the middle</a:t>
            </a:r>
          </a:p>
          <a:p>
            <a:pPr algn="l">
              <a:lnSpc>
                <a:spcPct val="105000"/>
              </a:lnSpc>
              <a:spcBef>
                <a:spcPts val="0"/>
              </a:spcBef>
              <a:spcAft>
                <a:spcPts val="200"/>
              </a:spcAft>
            </a:pPr>
            <a:r>
              <a:rPr sz="1700" b="0" i="0">
                <a:solidFill>
                  <a:srgbClr val="FFFFFF"/>
                </a:solidFill>
                <a:latin typeface="Arial"/>
              </a:rPr>
              <a:t>B.  First near high, third near low</a:t>
            </a:r>
          </a:p>
          <a:p>
            <a:pPr algn="l">
              <a:lnSpc>
                <a:spcPct val="105000"/>
              </a:lnSpc>
              <a:spcBef>
                <a:spcPts val="0"/>
              </a:spcBef>
              <a:spcAft>
                <a:spcPts val="200"/>
              </a:spcAft>
            </a:pPr>
            <a:r>
              <a:rPr sz="1700" b="0" i="0">
                <a:solidFill>
                  <a:srgbClr val="FFFFFF"/>
                </a:solidFill>
                <a:latin typeface="Arial"/>
              </a:rPr>
              <a:t>C.  First near low, third near high</a:t>
            </a:r>
          </a:p>
          <a:p>
            <a:pPr algn="l">
              <a:lnSpc>
                <a:spcPct val="105000"/>
              </a:lnSpc>
              <a:spcBef>
                <a:spcPts val="0"/>
              </a:spcBef>
              <a:spcAft>
                <a:spcPts val="200"/>
              </a:spcAft>
            </a:pPr>
            <a:r>
              <a:rPr sz="1700" b="0" i="0">
                <a:solidFill>
                  <a:srgbClr val="FFFFFF"/>
                </a:solidFill>
                <a:latin typeface="Arial"/>
              </a:rPr>
              <a:t>D.  Both at the exact high</a:t>
            </a:r>
          </a:p>
        </p:txBody>
      </p:sp>
      <p:sp>
        <p:nvSpPr>
          <p:cNvPr id="10" name="Rectangle 9"/>
          <p:cNvSpPr/>
          <p:nvPr/>
        </p:nvSpPr>
        <p:spPr>
          <a:xfrm>
            <a:off x="777240" y="3336798"/>
            <a:ext cx="5303520" cy="2534920"/>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84632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846320"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the bullish three-bar examples, the middle bar can support the reading when it has:</a:t>
            </a:r>
          </a:p>
        </p:txBody>
      </p:sp>
      <p:sp>
        <p:nvSpPr>
          <p:cNvPr id="13" name="TextBox 12"/>
          <p:cNvSpPr txBox="1"/>
          <p:nvPr/>
        </p:nvSpPr>
        <p:spPr>
          <a:xfrm>
            <a:off x="1005840" y="4447413"/>
            <a:ext cx="4846320" cy="1351153"/>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The highest volume</a:t>
            </a:r>
          </a:p>
          <a:p>
            <a:pPr algn="l">
              <a:lnSpc>
                <a:spcPct val="105000"/>
              </a:lnSpc>
              <a:spcBef>
                <a:spcPts val="0"/>
              </a:spcBef>
              <a:spcAft>
                <a:spcPts val="200"/>
              </a:spcAft>
            </a:pPr>
            <a:r>
              <a:rPr sz="1700" b="0" i="0">
                <a:solidFill>
                  <a:srgbClr val="FFFFFF"/>
                </a:solidFill>
                <a:latin typeface="Arial"/>
              </a:rPr>
              <a:t>B.  A new all-time high</a:t>
            </a:r>
          </a:p>
          <a:p>
            <a:pPr algn="l">
              <a:lnSpc>
                <a:spcPct val="105000"/>
              </a:lnSpc>
              <a:spcBef>
                <a:spcPts val="0"/>
              </a:spcBef>
              <a:spcAft>
                <a:spcPts val="200"/>
              </a:spcAft>
            </a:pPr>
            <a:r>
              <a:rPr sz="1700" b="0" i="0">
                <a:solidFill>
                  <a:srgbClr val="FFFFFF"/>
                </a:solidFill>
                <a:latin typeface="Arial"/>
              </a:rPr>
              <a:t>C.  No price range</a:t>
            </a:r>
          </a:p>
          <a:p>
            <a:pPr algn="l">
              <a:lnSpc>
                <a:spcPct val="105000"/>
              </a:lnSpc>
              <a:spcBef>
                <a:spcPts val="0"/>
              </a:spcBef>
              <a:spcAft>
                <a:spcPts val="200"/>
              </a:spcAft>
            </a:pPr>
            <a:r>
              <a:rPr sz="1700" b="0" i="0">
                <a:solidFill>
                  <a:srgbClr val="FFFFFF"/>
                </a:solidFill>
                <a:latin typeface="Arial"/>
              </a:rPr>
              <a:t>D.  Below-average volume between stronger outer bars</a:t>
            </a:r>
          </a:p>
        </p:txBody>
      </p:sp>
      <p:sp>
        <p:nvSpPr>
          <p:cNvPr id="14" name="Rectangle 13"/>
          <p:cNvSpPr/>
          <p:nvPr/>
        </p:nvSpPr>
        <p:spPr>
          <a:xfrm>
            <a:off x="6400799" y="1207008"/>
            <a:ext cx="5013655" cy="3649109"/>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19671" y="1325880"/>
            <a:ext cx="4775911" cy="3411365"/>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519671" y="1325880"/>
            <a:ext cx="477591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793991" y="1600200"/>
            <a:ext cx="4227271" cy="29541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7.18</a:t>
            </a:r>
          </a:p>
          <a:p>
            <a:pPr algn="l">
              <a:lnSpc>
                <a:spcPct val="115000"/>
              </a:lnSpc>
              <a:spcBef>
                <a:spcPts val="0"/>
              </a:spcBef>
              <a:spcAft>
                <a:spcPts val="0"/>
              </a:spcAft>
            </a:pPr>
            <a:r>
              <a:rPr sz="1500" b="0" i="0">
                <a:solidFill>
                  <a:srgbClr val="1A1A1A"/>
                </a:solidFill>
                <a:latin typeface="Palatino"/>
              </a:rPr>
              <a:t>The Apple daily chart in a clear, strong uptrend: the first of three bars closes near its high, the third near its low, and the lower panel labels bearish +DM divergence.</a:t>
            </a:r>
          </a:p>
        </p:txBody>
      </p:sp>
      <p:sp>
        <p:nvSpPr>
          <p:cNvPr id="18" name="Rectangle 17"/>
          <p:cNvSpPr/>
          <p:nvPr/>
        </p:nvSpPr>
        <p:spPr>
          <a:xfrm>
            <a:off x="9939224" y="1718186"/>
            <a:ext cx="71638" cy="426420"/>
          </a:xfrm>
          <a:prstGeom prst="rect">
            <a:avLst/>
          </a:prstGeom>
          <a:noFill/>
          <a:ln w="44450">
            <a:solidFill>
              <a:srgbClr val="E09B00"/>
            </a:solidFill>
          </a:ln>
        </p:spPr>
        <p:txBody>
          <a:bodyPr rtlCol="0" anchor="ctr"/>
          <a:lstStyle/>
          <a:p>
            <a:pPr algn="ctr"/>
          </a:p>
        </p:txBody>
      </p:sp>
      <p:sp>
        <p:nvSpPr>
          <p:cNvPr id="19" name="Rectangle 18"/>
          <p:cNvSpPr/>
          <p:nvPr/>
        </p:nvSpPr>
        <p:spPr>
          <a:xfrm>
            <a:off x="10015638" y="1718186"/>
            <a:ext cx="71638" cy="426420"/>
          </a:xfrm>
          <a:prstGeom prst="rect">
            <a:avLst/>
          </a:prstGeom>
          <a:noFill/>
          <a:ln w="44450">
            <a:solidFill>
              <a:srgbClr val="C62828"/>
            </a:solidFill>
          </a:ln>
        </p:spPr>
        <p:txBody>
          <a:bodyPr rtlCol="0" anchor="ctr"/>
          <a:lstStyle/>
          <a:p>
            <a:pPr algn="ctr"/>
          </a:p>
        </p:txBody>
      </p:sp>
      <p:sp>
        <p:nvSpPr>
          <p:cNvPr id="20" name="Rectangle 19"/>
          <p:cNvSpPr/>
          <p:nvPr/>
        </p:nvSpPr>
        <p:spPr>
          <a:xfrm>
            <a:off x="10092053" y="1718186"/>
            <a:ext cx="66862" cy="426420"/>
          </a:xfrm>
          <a:prstGeom prst="rect">
            <a:avLst/>
          </a:prstGeom>
          <a:noFill/>
          <a:ln w="44450">
            <a:solidFill>
              <a:srgbClr val="1F5FAD"/>
            </a:solidFill>
          </a:ln>
        </p:spPr>
        <p:txBody>
          <a:bodyPr rtlCol="0" anchor="ctr"/>
          <a:lstStyle/>
          <a:p>
            <a:pPr algn="ctr"/>
          </a:p>
        </p:txBody>
      </p:sp>
      <p:sp>
        <p:nvSpPr>
          <p:cNvPr id="21" name="Oval 20"/>
          <p:cNvSpPr/>
          <p:nvPr/>
        </p:nvSpPr>
        <p:spPr>
          <a:xfrm>
            <a:off x="9862809" y="3816176"/>
            <a:ext cx="477591" cy="375250"/>
          </a:xfrm>
          <a:prstGeom prst="ellipse">
            <a:avLst/>
          </a:prstGeom>
          <a:noFill/>
          <a:ln w="44450">
            <a:solidFill>
              <a:srgbClr val="7B3FA0"/>
            </a:solidFill>
          </a:ln>
        </p:spPr>
        <p:txBody>
          <a:bodyPr rtlCol="0" anchor="ctr"/>
          <a:lstStyle/>
          <a:p>
            <a:pPr algn="ctr"/>
          </a:p>
        </p:txBody>
      </p:sp>
      <p:sp>
        <p:nvSpPr>
          <p:cNvPr id="22" name="Oval 21"/>
          <p:cNvSpPr/>
          <p:nvPr/>
        </p:nvSpPr>
        <p:spPr>
          <a:xfrm>
            <a:off x="9753081" y="220544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729202" y="244424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10096947" y="2444243"/>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9609804" y="4098755"/>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6400799" y="4947557"/>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7.18 -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18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two-day and three-bar reversal readings</a:t>
            </a:r>
          </a:p>
        </p:txBody>
      </p:sp>
      <p:sp>
        <p:nvSpPr>
          <p:cNvPr id="6" name="Rectangle 5"/>
          <p:cNvSpPr/>
          <p:nvPr/>
        </p:nvSpPr>
        <p:spPr>
          <a:xfrm>
            <a:off x="777240" y="1207008"/>
            <a:ext cx="5303520" cy="198755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87550"/>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75488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In the bearish three-bar reversal, the outer closes are:</a:t>
            </a:r>
          </a:p>
        </p:txBody>
      </p:sp>
      <p:sp>
        <p:nvSpPr>
          <p:cNvPr id="9" name="TextBox 8"/>
          <p:cNvSpPr txBox="1"/>
          <p:nvPr/>
        </p:nvSpPr>
        <p:spPr>
          <a:xfrm>
            <a:off x="1097280" y="2069338"/>
            <a:ext cx="4754880" cy="112522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First near high, third near low</a:t>
            </a:r>
          </a:p>
          <a:p>
            <a:pPr algn="l">
              <a:lnSpc>
                <a:spcPct val="115000"/>
              </a:lnSpc>
              <a:spcBef>
                <a:spcPts val="500"/>
              </a:spcBef>
              <a:spcAft>
                <a:spcPts val="0"/>
              </a:spcAft>
            </a:pPr>
            <a:r>
              <a:rPr sz="1700" b="0" i="0">
                <a:solidFill>
                  <a:srgbClr val="1A1A1A"/>
                </a:solidFill>
                <a:latin typeface="Arial"/>
              </a:rPr>
              <a:t>First near high; third near low (Lim, p. 221).</a:t>
            </a:r>
          </a:p>
        </p:txBody>
      </p:sp>
      <p:sp>
        <p:nvSpPr>
          <p:cNvPr id="10" name="Rectangle 9"/>
          <p:cNvSpPr/>
          <p:nvPr/>
        </p:nvSpPr>
        <p:spPr>
          <a:xfrm>
            <a:off x="777240" y="3377438"/>
            <a:ext cx="5303520" cy="274701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77438"/>
            <a:ext cx="91440" cy="274701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560318"/>
            <a:ext cx="4754880" cy="83629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In the bullish three-bar examples, the middle bar can support the reading when it has:</a:t>
            </a:r>
          </a:p>
        </p:txBody>
      </p:sp>
      <p:sp>
        <p:nvSpPr>
          <p:cNvPr id="13" name="TextBox 12"/>
          <p:cNvSpPr txBox="1"/>
          <p:nvPr/>
        </p:nvSpPr>
        <p:spPr>
          <a:xfrm>
            <a:off x="1097280" y="4488053"/>
            <a:ext cx="4754880" cy="163639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Below-average volume between stronger outer bars</a:t>
            </a:r>
          </a:p>
          <a:p>
            <a:pPr algn="l">
              <a:lnSpc>
                <a:spcPct val="115000"/>
              </a:lnSpc>
              <a:spcBef>
                <a:spcPts val="500"/>
              </a:spcBef>
              <a:spcAft>
                <a:spcPts val="0"/>
              </a:spcAft>
            </a:pPr>
            <a:r>
              <a:rPr sz="1700" b="0" i="0">
                <a:solidFill>
                  <a:srgbClr val="1A1A1A"/>
                </a:solidFill>
                <a:latin typeface="Arial"/>
              </a:rPr>
              <a:t>Lim describes a below-average-volume middle bar between high-volume outer bars (pp. 221 to 223).</a:t>
            </a:r>
          </a:p>
        </p:txBody>
      </p:sp>
      <p:sp>
        <p:nvSpPr>
          <p:cNvPr id="14" name="Rectangle 13"/>
          <p:cNvSpPr/>
          <p:nvPr/>
        </p:nvSpPr>
        <p:spPr>
          <a:xfrm>
            <a:off x="6400799" y="1207008"/>
            <a:ext cx="5013655" cy="3649109"/>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19671" y="1325880"/>
            <a:ext cx="4775911" cy="3411365"/>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519671" y="1325880"/>
            <a:ext cx="477591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793991" y="1600200"/>
            <a:ext cx="4227271" cy="29541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7.18</a:t>
            </a:r>
          </a:p>
          <a:p>
            <a:pPr algn="l">
              <a:lnSpc>
                <a:spcPct val="115000"/>
              </a:lnSpc>
              <a:spcBef>
                <a:spcPts val="0"/>
              </a:spcBef>
              <a:spcAft>
                <a:spcPts val="0"/>
              </a:spcAft>
            </a:pPr>
            <a:r>
              <a:rPr sz="1500" b="0" i="0">
                <a:solidFill>
                  <a:srgbClr val="1A1A1A"/>
                </a:solidFill>
                <a:latin typeface="Palatino"/>
              </a:rPr>
              <a:t>The Apple daily chart in a clear, strong uptrend: the first of three bars closes near its high, the third near its low, and the lower panel labels bearish +DM divergence.</a:t>
            </a:r>
          </a:p>
        </p:txBody>
      </p:sp>
      <p:sp>
        <p:nvSpPr>
          <p:cNvPr id="18" name="Rectangle 17"/>
          <p:cNvSpPr/>
          <p:nvPr/>
        </p:nvSpPr>
        <p:spPr>
          <a:xfrm>
            <a:off x="9939224" y="1718186"/>
            <a:ext cx="71638" cy="426420"/>
          </a:xfrm>
          <a:prstGeom prst="rect">
            <a:avLst/>
          </a:prstGeom>
          <a:noFill/>
          <a:ln w="44450">
            <a:solidFill>
              <a:srgbClr val="E09B00"/>
            </a:solidFill>
          </a:ln>
        </p:spPr>
        <p:txBody>
          <a:bodyPr rtlCol="0" anchor="ctr"/>
          <a:lstStyle/>
          <a:p>
            <a:pPr algn="ctr"/>
          </a:p>
        </p:txBody>
      </p:sp>
      <p:sp>
        <p:nvSpPr>
          <p:cNvPr id="19" name="Rectangle 18"/>
          <p:cNvSpPr/>
          <p:nvPr/>
        </p:nvSpPr>
        <p:spPr>
          <a:xfrm>
            <a:off x="10015638" y="1718186"/>
            <a:ext cx="71638" cy="426420"/>
          </a:xfrm>
          <a:prstGeom prst="rect">
            <a:avLst/>
          </a:prstGeom>
          <a:noFill/>
          <a:ln w="44450">
            <a:solidFill>
              <a:srgbClr val="C62828"/>
            </a:solidFill>
          </a:ln>
        </p:spPr>
        <p:txBody>
          <a:bodyPr rtlCol="0" anchor="ctr"/>
          <a:lstStyle/>
          <a:p>
            <a:pPr algn="ctr"/>
          </a:p>
        </p:txBody>
      </p:sp>
      <p:sp>
        <p:nvSpPr>
          <p:cNvPr id="20" name="Rectangle 19"/>
          <p:cNvSpPr/>
          <p:nvPr/>
        </p:nvSpPr>
        <p:spPr>
          <a:xfrm>
            <a:off x="10092053" y="1718186"/>
            <a:ext cx="66862" cy="426420"/>
          </a:xfrm>
          <a:prstGeom prst="rect">
            <a:avLst/>
          </a:prstGeom>
          <a:noFill/>
          <a:ln w="44450">
            <a:solidFill>
              <a:srgbClr val="1F5FAD"/>
            </a:solidFill>
          </a:ln>
        </p:spPr>
        <p:txBody>
          <a:bodyPr rtlCol="0" anchor="ctr"/>
          <a:lstStyle/>
          <a:p>
            <a:pPr algn="ctr"/>
          </a:p>
        </p:txBody>
      </p:sp>
      <p:sp>
        <p:nvSpPr>
          <p:cNvPr id="21" name="Oval 20"/>
          <p:cNvSpPr/>
          <p:nvPr/>
        </p:nvSpPr>
        <p:spPr>
          <a:xfrm>
            <a:off x="9862809" y="3816176"/>
            <a:ext cx="477591" cy="375250"/>
          </a:xfrm>
          <a:prstGeom prst="ellipse">
            <a:avLst/>
          </a:prstGeom>
          <a:noFill/>
          <a:ln w="44450">
            <a:solidFill>
              <a:srgbClr val="7B3FA0"/>
            </a:solidFill>
          </a:ln>
        </p:spPr>
        <p:txBody>
          <a:bodyPr rtlCol="0" anchor="ctr"/>
          <a:lstStyle/>
          <a:p>
            <a:pPr algn="ctr"/>
          </a:p>
        </p:txBody>
      </p:sp>
      <p:sp>
        <p:nvSpPr>
          <p:cNvPr id="22" name="Oval 21"/>
          <p:cNvSpPr/>
          <p:nvPr/>
        </p:nvSpPr>
        <p:spPr>
          <a:xfrm>
            <a:off x="9753081" y="220544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729202" y="244424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10096947" y="2444243"/>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9609804" y="4098755"/>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6400799" y="4947557"/>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7.18 -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18</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An island reversal is isolated by two gaps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An island reversal is a group of bars separated from surrounding price action by a gap up and a gap down. With simple invented prices, price gaps up from PHP 50.00 to PHP 50.80 </a:t>
            </a:r>
            <a:r>
              <a:rPr sz="1700" b="1" i="0">
                <a:solidFill>
                  <a:srgbClr val="E09B00"/>
                </a:solidFill>
                <a:latin typeface="Arial"/>
              </a:rPr>
              <a:t>(1)</a:t>
            </a:r>
            <a:r>
              <a:rPr sz="1700" b="0" i="0">
                <a:solidFill>
                  <a:srgbClr val="1A1A1A"/>
                </a:solidFill>
                <a:latin typeface="Arial"/>
              </a:rPr>
              <a:t>, forms the isolated bars </a:t>
            </a:r>
            <a:r>
              <a:rPr sz="1700" b="1" i="0">
                <a:solidFill>
                  <a:srgbClr val="C62828"/>
                </a:solidFill>
                <a:latin typeface="Arial"/>
              </a:rPr>
              <a:t>(2)</a:t>
            </a:r>
            <a:r>
              <a:rPr sz="1700" b="0" i="0">
                <a:solidFill>
                  <a:srgbClr val="1A1A1A"/>
                </a:solidFill>
                <a:latin typeface="Arial"/>
              </a:rPr>
              <a:t>, then gaps down to PHP 49.40 </a:t>
            </a:r>
            <a:r>
              <a:rPr sz="1700" b="1" i="0">
                <a:solidFill>
                  <a:srgbClr val="1F5FAD"/>
                </a:solidFill>
                <a:latin typeface="Arial"/>
              </a:rPr>
              <a:t>(3)</a:t>
            </a:r>
            <a:r>
              <a:rPr sz="1700" b="0" i="0">
                <a:solidFill>
                  <a:srgbClr val="1A1A1A"/>
                </a:solidFill>
                <a:latin typeface="Arial"/>
              </a:rPr>
              <a:t>. The two gaps create a potential warning. Gap terminology follows Chapter 3.</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n-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7395057" y="3523922"/>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4589983" y="3694642"/>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9889235" y="401332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476982" y="339530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4505858" y="343861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760618" y="376314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N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21 of 65</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7.23 shows the gap up, the island, and the gap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22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An island reversal is a group of bars cut off from the rest of the chart by two gaps.</a:t>
            </a:r>
          </a:p>
          <a:p>
            <a:pPr algn="l">
              <a:lnSpc>
                <a:spcPct val="105000"/>
              </a:lnSpc>
              <a:spcBef>
                <a:spcPts val="0"/>
              </a:spcBef>
              <a:spcAft>
                <a:spcPts val="1100"/>
              </a:spcAft>
            </a:pPr>
            <a:r>
              <a:rPr sz="2000" b="0" i="0">
                <a:solidFill>
                  <a:srgbClr val="1A1A1A"/>
                </a:solidFill>
                <a:latin typeface="Arial"/>
              </a:rPr>
              <a:t>In Figure 7.23 the gap up </a:t>
            </a:r>
            <a:r>
              <a:rPr sz="2000" b="1" i="0">
                <a:solidFill>
                  <a:srgbClr val="E09B00"/>
                </a:solidFill>
                <a:latin typeface="Arial"/>
              </a:rPr>
              <a:t>(1)</a:t>
            </a:r>
            <a:r>
              <a:rPr sz="2000" b="0" i="0">
                <a:solidFill>
                  <a:srgbClr val="1A1A1A"/>
                </a:solidFill>
                <a:latin typeface="Arial"/>
              </a:rPr>
              <a:t> comes first, then the isolated island </a:t>
            </a:r>
            <a:r>
              <a:rPr sz="2000" b="1" i="0">
                <a:solidFill>
                  <a:srgbClr val="C62828"/>
                </a:solidFill>
                <a:latin typeface="Arial"/>
              </a:rPr>
              <a:t>(2)</a:t>
            </a:r>
            <a:r>
              <a:rPr sz="2000" b="0" i="0">
                <a:solidFill>
                  <a:srgbClr val="1A1A1A"/>
                </a:solidFill>
                <a:latin typeface="Arial"/>
              </a:rPr>
              <a:t>, then the gap down </a:t>
            </a:r>
            <a:r>
              <a:rPr sz="2000" b="1" i="0">
                <a:solidFill>
                  <a:srgbClr val="1F5FAD"/>
                </a:solidFill>
                <a:latin typeface="Arial"/>
              </a:rPr>
              <a:t>(3)</a:t>
            </a:r>
            <a:r>
              <a:rPr sz="2000" b="0" i="0">
                <a:solidFill>
                  <a:srgbClr val="1A1A1A"/>
                </a:solidFill>
                <a:latin typeface="Arial"/>
              </a:rPr>
              <a:t> (p. 223). Together the two gaps leave the island standing on its own.</a:t>
            </a:r>
          </a:p>
        </p:txBody>
      </p:sp>
      <p:sp>
        <p:nvSpPr>
          <p:cNvPr id="8" name="Rectangle 7"/>
          <p:cNvSpPr/>
          <p:nvPr/>
        </p:nvSpPr>
        <p:spPr>
          <a:xfrm>
            <a:off x="5303519" y="1810512"/>
            <a:ext cx="6751015" cy="3361453"/>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6513271" cy="312370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65132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964631" cy="266650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7.23</a:t>
            </a:r>
          </a:p>
          <a:p>
            <a:pPr algn="l">
              <a:lnSpc>
                <a:spcPct val="115000"/>
              </a:lnSpc>
              <a:spcBef>
                <a:spcPts val="0"/>
              </a:spcBef>
              <a:spcAft>
                <a:spcPts val="0"/>
              </a:spcAft>
            </a:pPr>
            <a:r>
              <a:rPr sz="1500" b="0" i="0">
                <a:solidFill>
                  <a:srgbClr val="1A1A1A"/>
                </a:solidFill>
                <a:latin typeface="Palatino"/>
              </a:rPr>
              <a:t>The Direxion Gold Miners daily chart, cropped to the price panel: a gap up, an isolated group of bars, and a gap down.</a:t>
            </a:r>
          </a:p>
        </p:txBody>
      </p:sp>
      <p:sp>
        <p:nvSpPr>
          <p:cNvPr id="12" name="Oval 11"/>
          <p:cNvSpPr/>
          <p:nvPr/>
        </p:nvSpPr>
        <p:spPr>
          <a:xfrm>
            <a:off x="7576982" y="3591822"/>
            <a:ext cx="350413" cy="730635"/>
          </a:xfrm>
          <a:prstGeom prst="ellipse">
            <a:avLst/>
          </a:prstGeom>
          <a:noFill/>
          <a:ln w="44450">
            <a:solidFill>
              <a:srgbClr val="E09B00"/>
            </a:solidFill>
          </a:ln>
        </p:spPr>
        <p:txBody>
          <a:bodyPr rtlCol="0" anchor="ctr"/>
          <a:lstStyle/>
          <a:p>
            <a:pPr algn="ctr"/>
          </a:p>
        </p:txBody>
      </p:sp>
      <p:sp>
        <p:nvSpPr>
          <p:cNvPr id="13" name="Rectangle 12"/>
          <p:cNvSpPr/>
          <p:nvPr/>
        </p:nvSpPr>
        <p:spPr>
          <a:xfrm>
            <a:off x="7627134" y="1929384"/>
            <a:ext cx="1152197" cy="2347467"/>
          </a:xfrm>
          <a:prstGeom prst="rect">
            <a:avLst/>
          </a:prstGeom>
          <a:noFill/>
          <a:ln w="44450">
            <a:solidFill>
              <a:srgbClr val="C62828"/>
            </a:solidFill>
          </a:ln>
        </p:spPr>
        <p:txBody>
          <a:bodyPr rtlCol="0" anchor="ctr"/>
          <a:lstStyle/>
          <a:p>
            <a:pPr algn="ctr"/>
          </a:p>
        </p:txBody>
      </p:sp>
      <p:sp>
        <p:nvSpPr>
          <p:cNvPr id="14" name="Oval 13"/>
          <p:cNvSpPr/>
          <p:nvPr/>
        </p:nvSpPr>
        <p:spPr>
          <a:xfrm>
            <a:off x="8578723" y="3226348"/>
            <a:ext cx="351065" cy="730635"/>
          </a:xfrm>
          <a:prstGeom prst="ellipse">
            <a:avLst/>
          </a:prstGeom>
          <a:noFill/>
          <a:ln w="44450">
            <a:solidFill>
              <a:srgbClr val="1F5FAD"/>
            </a:solidFill>
          </a:ln>
        </p:spPr>
        <p:txBody>
          <a:bodyPr rtlCol="0" anchor="ctr"/>
          <a:lstStyle/>
          <a:p>
            <a:pPr algn="ctr"/>
          </a:p>
        </p:txBody>
      </p:sp>
      <p:sp>
        <p:nvSpPr>
          <p:cNvPr id="15" name="Oval 14"/>
          <p:cNvSpPr/>
          <p:nvPr/>
        </p:nvSpPr>
        <p:spPr>
          <a:xfrm>
            <a:off x="7066036" y="4029993"/>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820060" y="265993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371083" y="3756043"/>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263405"/>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223 to 224, Figure 7.23. Gap meaning points back to Chapter 3; stochastic is shown but not defined here.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7.23 adds volume and stochastic context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23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Lim notes that the whole island forms on low volume </a:t>
            </a:r>
            <a:r>
              <a:rPr sz="1900" b="1" i="0">
                <a:solidFill>
                  <a:srgbClr val="7B3FA0"/>
                </a:solidFill>
                <a:latin typeface="Arial"/>
              </a:rPr>
              <a:t>(4)</a:t>
            </a:r>
            <a:r>
              <a:rPr sz="1900" b="0" i="0">
                <a:solidFill>
                  <a:srgbClr val="1A1A1A"/>
                </a:solidFill>
                <a:latin typeface="Arial"/>
              </a:rPr>
              <a:t>, which shows a lack of conviction by market participants, and on overbought conditions on the stochastic oscillator </a:t>
            </a:r>
            <a:r>
              <a:rPr sz="1900" b="1" i="0">
                <a:solidFill>
                  <a:srgbClr val="007A33"/>
                </a:solidFill>
                <a:latin typeface="Arial"/>
              </a:rPr>
              <a:t>(5)</a:t>
            </a:r>
            <a:r>
              <a:rPr sz="1900" b="0" i="0">
                <a:solidFill>
                  <a:srgbClr val="1A1A1A"/>
                </a:solidFill>
                <a:latin typeface="Arial"/>
              </a:rPr>
              <a:t> (p. 223).</a:t>
            </a:r>
          </a:p>
          <a:p>
            <a:pPr algn="l">
              <a:lnSpc>
                <a:spcPct val="105000"/>
              </a:lnSpc>
              <a:spcBef>
                <a:spcPts val="0"/>
              </a:spcBef>
              <a:spcAft>
                <a:spcPts val="1100"/>
              </a:spcAft>
            </a:pPr>
            <a:r>
              <a:rPr sz="1900" b="0" i="0">
                <a:solidFill>
                  <a:srgbClr val="1A1A1A"/>
                </a:solidFill>
                <a:latin typeface="Arial"/>
              </a:rPr>
              <a:t>No stochastic method is given in this chapter, so these labels are context, and the island remains a potential warning.</a:t>
            </a:r>
          </a:p>
        </p:txBody>
      </p:sp>
      <p:sp>
        <p:nvSpPr>
          <p:cNvPr id="8" name="Rectangle 7"/>
          <p:cNvSpPr/>
          <p:nvPr/>
        </p:nvSpPr>
        <p:spPr>
          <a:xfrm>
            <a:off x="5303519" y="1810512"/>
            <a:ext cx="6751015" cy="264609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6513271" cy="2408355"/>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65132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964631" cy="19511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7.23</a:t>
            </a:r>
          </a:p>
          <a:p>
            <a:pPr algn="l">
              <a:lnSpc>
                <a:spcPct val="115000"/>
              </a:lnSpc>
              <a:spcBef>
                <a:spcPts val="0"/>
              </a:spcBef>
              <a:spcAft>
                <a:spcPts val="0"/>
              </a:spcAft>
            </a:pPr>
            <a:r>
              <a:rPr sz="1500" b="0" i="0">
                <a:solidFill>
                  <a:srgbClr val="1A1A1A"/>
                </a:solidFill>
                <a:latin typeface="Palatino"/>
              </a:rPr>
              <a:t>The Direxion Gold Miners daily chart, cropped to the volume and stochastic panels: low volume under the island and an overbought stochastic reading.</a:t>
            </a:r>
          </a:p>
        </p:txBody>
      </p:sp>
      <p:sp>
        <p:nvSpPr>
          <p:cNvPr id="12" name="Rectangle 11"/>
          <p:cNvSpPr/>
          <p:nvPr/>
        </p:nvSpPr>
        <p:spPr>
          <a:xfrm>
            <a:off x="8555926" y="2825532"/>
            <a:ext cx="1352155" cy="728045"/>
          </a:xfrm>
          <a:prstGeom prst="rect">
            <a:avLst/>
          </a:prstGeom>
          <a:noFill/>
          <a:ln w="44450">
            <a:solidFill>
              <a:srgbClr val="7B3FA0"/>
            </a:solidFill>
          </a:ln>
        </p:spPr>
        <p:txBody>
          <a:bodyPr rtlCol="0" anchor="ctr"/>
          <a:lstStyle/>
          <a:p>
            <a:pPr algn="ctr"/>
          </a:p>
        </p:txBody>
      </p:sp>
      <p:sp>
        <p:nvSpPr>
          <p:cNvPr id="13" name="Rectangle 12"/>
          <p:cNvSpPr/>
          <p:nvPr/>
        </p:nvSpPr>
        <p:spPr>
          <a:xfrm>
            <a:off x="8555926" y="3609693"/>
            <a:ext cx="737302" cy="559942"/>
          </a:xfrm>
          <a:prstGeom prst="rect">
            <a:avLst/>
          </a:prstGeom>
          <a:noFill/>
          <a:ln w="44450">
            <a:solidFill>
              <a:srgbClr val="007A33"/>
            </a:solidFill>
          </a:ln>
        </p:spPr>
        <p:txBody>
          <a:bodyPr rtlCol="0" anchor="ctr"/>
          <a:lstStyle/>
          <a:p>
            <a:pPr algn="ctr"/>
          </a:p>
        </p:txBody>
      </p:sp>
      <p:sp>
        <p:nvSpPr>
          <p:cNvPr id="14" name="Oval 13"/>
          <p:cNvSpPr/>
          <p:nvPr/>
        </p:nvSpPr>
        <p:spPr>
          <a:xfrm>
            <a:off x="9982679" y="2715804"/>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Oval 14"/>
          <p:cNvSpPr/>
          <p:nvPr/>
        </p:nvSpPr>
        <p:spPr>
          <a:xfrm>
            <a:off x="8200648" y="3892045"/>
            <a:ext cx="219456" cy="21945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16" name="TextBox 15"/>
          <p:cNvSpPr txBox="1"/>
          <p:nvPr/>
        </p:nvSpPr>
        <p:spPr>
          <a:xfrm>
            <a:off x="5303519" y="4548051"/>
            <a:ext cx="675101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7.23 -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223 to 224, Figure 7.23. Gap meaning points back to Chapter 3; stochastic is shown but not defined here.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island reversal reading</a:t>
            </a:r>
          </a:p>
        </p:txBody>
      </p:sp>
      <p:sp>
        <p:nvSpPr>
          <p:cNvPr id="6" name="Rectangle 5"/>
          <p:cNvSpPr/>
          <p:nvPr/>
        </p:nvSpPr>
        <p:spPr>
          <a:xfrm>
            <a:off x="777240" y="1207008"/>
            <a:ext cx="4572000" cy="1790065"/>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1148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isolates an island reversal?</a:t>
            </a:r>
          </a:p>
        </p:txBody>
      </p:sp>
      <p:sp>
        <p:nvSpPr>
          <p:cNvPr id="9" name="TextBox 8"/>
          <p:cNvSpPr txBox="1"/>
          <p:nvPr/>
        </p:nvSpPr>
        <p:spPr>
          <a:xfrm>
            <a:off x="1005840" y="1821053"/>
            <a:ext cx="4114800" cy="1102868"/>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 gap up followed by a gap down</a:t>
            </a:r>
          </a:p>
          <a:p>
            <a:pPr algn="l">
              <a:lnSpc>
                <a:spcPct val="105000"/>
              </a:lnSpc>
              <a:spcBef>
                <a:spcPts val="0"/>
              </a:spcBef>
              <a:spcAft>
                <a:spcPts val="200"/>
              </a:spcAft>
            </a:pPr>
            <a:r>
              <a:rPr sz="1700" b="0" i="0">
                <a:solidFill>
                  <a:srgbClr val="FFFFFF"/>
                </a:solidFill>
                <a:latin typeface="Arial"/>
              </a:rPr>
              <a:t>B.  A single wide bar</a:t>
            </a:r>
          </a:p>
          <a:p>
            <a:pPr algn="l">
              <a:lnSpc>
                <a:spcPct val="105000"/>
              </a:lnSpc>
              <a:spcBef>
                <a:spcPts val="0"/>
              </a:spcBef>
              <a:spcAft>
                <a:spcPts val="200"/>
              </a:spcAft>
            </a:pPr>
            <a:r>
              <a:rPr sz="1700" b="0" i="0">
                <a:solidFill>
                  <a:srgbClr val="FFFFFF"/>
                </a:solidFill>
                <a:latin typeface="Arial"/>
              </a:rPr>
              <a:t>C.  A high-volume middle bar</a:t>
            </a:r>
          </a:p>
          <a:p>
            <a:pPr algn="l">
              <a:lnSpc>
                <a:spcPct val="105000"/>
              </a:lnSpc>
              <a:spcBef>
                <a:spcPts val="0"/>
              </a:spcBef>
              <a:spcAft>
                <a:spcPts val="200"/>
              </a:spcAft>
            </a:pPr>
            <a:r>
              <a:rPr sz="1700" b="0" i="0">
                <a:solidFill>
                  <a:srgbClr val="FFFFFF"/>
                </a:solidFill>
                <a:latin typeface="Arial"/>
              </a:rPr>
              <a:t>D.  A trendline only</a:t>
            </a:r>
          </a:p>
        </p:txBody>
      </p:sp>
      <p:sp>
        <p:nvSpPr>
          <p:cNvPr id="10" name="Rectangle 9"/>
          <p:cNvSpPr/>
          <p:nvPr/>
        </p:nvSpPr>
        <p:spPr>
          <a:xfrm>
            <a:off x="777240" y="3088513"/>
            <a:ext cx="4572000" cy="2534920"/>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179953"/>
            <a:ext cx="41148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381121"/>
            <a:ext cx="4114800"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How does Chapter 7 treat the overbought stochastic label beside the island?</a:t>
            </a:r>
          </a:p>
        </p:txBody>
      </p:sp>
      <p:sp>
        <p:nvSpPr>
          <p:cNvPr id="13" name="TextBox 12"/>
          <p:cNvSpPr txBox="1"/>
          <p:nvPr/>
        </p:nvSpPr>
        <p:spPr>
          <a:xfrm>
            <a:off x="1005840" y="4199128"/>
            <a:ext cx="4114800" cy="1351153"/>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As the island definition</a:t>
            </a:r>
          </a:p>
          <a:p>
            <a:pPr algn="l">
              <a:lnSpc>
                <a:spcPct val="105000"/>
              </a:lnSpc>
              <a:spcBef>
                <a:spcPts val="0"/>
              </a:spcBef>
              <a:spcAft>
                <a:spcPts val="200"/>
              </a:spcAft>
            </a:pPr>
            <a:r>
              <a:rPr sz="1700" b="0" i="0">
                <a:solidFill>
                  <a:srgbClr val="FFFFFF"/>
                </a:solidFill>
                <a:latin typeface="Arial"/>
              </a:rPr>
              <a:t>B.  As a formula taught in this chapter</a:t>
            </a:r>
          </a:p>
          <a:p>
            <a:pPr algn="l">
              <a:lnSpc>
                <a:spcPct val="105000"/>
              </a:lnSpc>
              <a:spcBef>
                <a:spcPts val="0"/>
              </a:spcBef>
              <a:spcAft>
                <a:spcPts val="200"/>
              </a:spcAft>
            </a:pPr>
            <a:r>
              <a:rPr sz="1700" b="0" i="0">
                <a:solidFill>
                  <a:srgbClr val="FFFFFF"/>
                </a:solidFill>
                <a:latin typeface="Arial"/>
              </a:rPr>
              <a:t>C.  As supporting context; Chapter 7 gives no method</a:t>
            </a:r>
          </a:p>
          <a:p>
            <a:pPr algn="l">
              <a:lnSpc>
                <a:spcPct val="105000"/>
              </a:lnSpc>
              <a:spcBef>
                <a:spcPts val="0"/>
              </a:spcBef>
              <a:spcAft>
                <a:spcPts val="200"/>
              </a:spcAft>
            </a:pPr>
            <a:r>
              <a:rPr sz="1700" b="0" i="0">
                <a:solidFill>
                  <a:srgbClr val="FFFFFF"/>
                </a:solidFill>
                <a:latin typeface="Arial"/>
              </a:rPr>
              <a:t>D.  As a guaranteed reversal signal</a:t>
            </a:r>
          </a:p>
        </p:txBody>
      </p:sp>
      <p:sp>
        <p:nvSpPr>
          <p:cNvPr id="14" name="Rectangle 13"/>
          <p:cNvSpPr/>
          <p:nvPr/>
        </p:nvSpPr>
        <p:spPr>
          <a:xfrm>
            <a:off x="5669279" y="1207008"/>
            <a:ext cx="5745175" cy="2879061"/>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2641317"/>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218411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7.23</a:t>
            </a:r>
          </a:p>
          <a:p>
            <a:pPr algn="l">
              <a:lnSpc>
                <a:spcPct val="115000"/>
              </a:lnSpc>
              <a:spcBef>
                <a:spcPts val="0"/>
              </a:spcBef>
              <a:spcAft>
                <a:spcPts val="0"/>
              </a:spcAft>
            </a:pPr>
            <a:r>
              <a:rPr sz="1500" b="0" i="0">
                <a:solidFill>
                  <a:srgbClr val="1A1A1A"/>
                </a:solidFill>
                <a:latin typeface="Palatino"/>
              </a:rPr>
              <a:t>The Direxion Gold Miners daily chart: a gap up, an isolated group of bars, a gap down, low volume, and an overbought stochastic label.</a:t>
            </a:r>
          </a:p>
        </p:txBody>
      </p:sp>
      <p:sp>
        <p:nvSpPr>
          <p:cNvPr id="18" name="Oval 17"/>
          <p:cNvSpPr/>
          <p:nvPr/>
        </p:nvSpPr>
        <p:spPr>
          <a:xfrm>
            <a:off x="7610010" y="2731589"/>
            <a:ext cx="296299" cy="617804"/>
          </a:xfrm>
          <a:prstGeom prst="ellipse">
            <a:avLst/>
          </a:prstGeom>
          <a:noFill/>
          <a:ln w="44450">
            <a:solidFill>
              <a:srgbClr val="E09B00"/>
            </a:solidFill>
          </a:ln>
        </p:spPr>
        <p:txBody>
          <a:bodyPr rtlCol="0" anchor="ctr"/>
          <a:lstStyle/>
          <a:p>
            <a:pPr algn="ctr"/>
          </a:p>
        </p:txBody>
      </p:sp>
      <p:sp>
        <p:nvSpPr>
          <p:cNvPr id="19" name="Rectangle 18"/>
          <p:cNvSpPr/>
          <p:nvPr/>
        </p:nvSpPr>
        <p:spPr>
          <a:xfrm>
            <a:off x="7652417" y="1325880"/>
            <a:ext cx="974264" cy="1984950"/>
          </a:xfrm>
          <a:prstGeom prst="rect">
            <a:avLst/>
          </a:prstGeom>
          <a:noFill/>
          <a:ln w="44450">
            <a:solidFill>
              <a:srgbClr val="C62828"/>
            </a:solidFill>
          </a:ln>
        </p:spPr>
        <p:txBody>
          <a:bodyPr rtlCol="0" anchor="ctr"/>
          <a:lstStyle/>
          <a:p>
            <a:pPr algn="ctr"/>
          </a:p>
        </p:txBody>
      </p:sp>
      <p:sp>
        <p:nvSpPr>
          <p:cNvPr id="20" name="Oval 19"/>
          <p:cNvSpPr/>
          <p:nvPr/>
        </p:nvSpPr>
        <p:spPr>
          <a:xfrm>
            <a:off x="8457053" y="2422554"/>
            <a:ext cx="296850" cy="617804"/>
          </a:xfrm>
          <a:prstGeom prst="ellipse">
            <a:avLst/>
          </a:prstGeom>
          <a:noFill/>
          <a:ln w="44450">
            <a:solidFill>
              <a:srgbClr val="1F5FAD"/>
            </a:solidFill>
          </a:ln>
        </p:spPr>
        <p:txBody>
          <a:bodyPr rtlCol="0" anchor="ctr"/>
          <a:lstStyle/>
          <a:p>
            <a:pPr algn="ctr"/>
          </a:p>
        </p:txBody>
      </p:sp>
      <p:sp>
        <p:nvSpPr>
          <p:cNvPr id="21" name="Oval 20"/>
          <p:cNvSpPr/>
          <p:nvPr/>
        </p:nvSpPr>
        <p:spPr>
          <a:xfrm>
            <a:off x="7161024" y="3085148"/>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644175" y="1926666"/>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110104" y="285350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5669279" y="4177509"/>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19</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island reversal reading</a:t>
            </a:r>
          </a:p>
        </p:txBody>
      </p:sp>
      <p:sp>
        <p:nvSpPr>
          <p:cNvPr id="6" name="Rectangle 5"/>
          <p:cNvSpPr/>
          <p:nvPr/>
        </p:nvSpPr>
        <p:spPr>
          <a:xfrm>
            <a:off x="777240" y="1207008"/>
            <a:ext cx="4572000" cy="200215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0215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0233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isolates an island reversal?</a:t>
            </a:r>
          </a:p>
        </p:txBody>
      </p:sp>
      <p:sp>
        <p:nvSpPr>
          <p:cNvPr id="9" name="TextBox 8"/>
          <p:cNvSpPr txBox="1"/>
          <p:nvPr/>
        </p:nvSpPr>
        <p:spPr>
          <a:xfrm>
            <a:off x="1097280" y="1821053"/>
            <a:ext cx="4023360" cy="138810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A gap up followed by a gap down</a:t>
            </a:r>
          </a:p>
          <a:p>
            <a:pPr algn="l">
              <a:lnSpc>
                <a:spcPct val="115000"/>
              </a:lnSpc>
              <a:spcBef>
                <a:spcPts val="500"/>
              </a:spcBef>
              <a:spcAft>
                <a:spcPts val="0"/>
              </a:spcAft>
            </a:pPr>
            <a:r>
              <a:rPr sz="1700" b="0" i="0">
                <a:solidFill>
                  <a:srgbClr val="1A1A1A"/>
                </a:solidFill>
                <a:latin typeface="Arial"/>
              </a:rPr>
              <a:t>Figure 7.23 shows a gap up before and a gap down after the island.</a:t>
            </a:r>
          </a:p>
        </p:txBody>
      </p:sp>
      <p:sp>
        <p:nvSpPr>
          <p:cNvPr id="10" name="Rectangle 9"/>
          <p:cNvSpPr/>
          <p:nvPr/>
        </p:nvSpPr>
        <p:spPr>
          <a:xfrm>
            <a:off x="777240" y="3392043"/>
            <a:ext cx="4572000" cy="274701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92043"/>
            <a:ext cx="91440" cy="274701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574923"/>
            <a:ext cx="4023360" cy="83629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How does Chapter 7 treat the overbought stochastic label beside the island?</a:t>
            </a:r>
          </a:p>
        </p:txBody>
      </p:sp>
      <p:sp>
        <p:nvSpPr>
          <p:cNvPr id="13" name="TextBox 12"/>
          <p:cNvSpPr txBox="1"/>
          <p:nvPr/>
        </p:nvSpPr>
        <p:spPr>
          <a:xfrm>
            <a:off x="1097280" y="4502658"/>
            <a:ext cx="4023360" cy="163639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As supporting context; Chapter 7 gives no method</a:t>
            </a:r>
          </a:p>
          <a:p>
            <a:pPr algn="l">
              <a:lnSpc>
                <a:spcPct val="115000"/>
              </a:lnSpc>
              <a:spcBef>
                <a:spcPts val="500"/>
              </a:spcBef>
              <a:spcAft>
                <a:spcPts val="0"/>
              </a:spcAft>
            </a:pPr>
            <a:r>
              <a:rPr sz="1700" b="0" i="0">
                <a:solidFill>
                  <a:srgbClr val="1A1A1A"/>
                </a:solidFill>
                <a:latin typeface="Arial"/>
              </a:rPr>
              <a:t>Lim shows it as supporting context, and Chapter 7 gives no stochastic method (p. 223).</a:t>
            </a:r>
          </a:p>
        </p:txBody>
      </p:sp>
      <p:sp>
        <p:nvSpPr>
          <p:cNvPr id="14" name="Rectangle 13"/>
          <p:cNvSpPr/>
          <p:nvPr/>
        </p:nvSpPr>
        <p:spPr>
          <a:xfrm>
            <a:off x="5669279" y="1207008"/>
            <a:ext cx="5745175" cy="2800216"/>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5788151" y="1325880"/>
            <a:ext cx="5507431" cy="256247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5788151" y="1325880"/>
            <a:ext cx="55074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062471" y="1600200"/>
            <a:ext cx="4958791" cy="210527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7.23</a:t>
            </a:r>
          </a:p>
          <a:p>
            <a:pPr algn="l">
              <a:lnSpc>
                <a:spcPct val="115000"/>
              </a:lnSpc>
              <a:spcBef>
                <a:spcPts val="0"/>
              </a:spcBef>
              <a:spcAft>
                <a:spcPts val="0"/>
              </a:spcAft>
            </a:pPr>
            <a:r>
              <a:rPr sz="1500" b="0" i="0">
                <a:solidFill>
                  <a:srgbClr val="1A1A1A"/>
                </a:solidFill>
                <a:latin typeface="Palatino"/>
              </a:rPr>
              <a:t>The Direxion Gold Miners daily chart: a gap up, an isolated group of bars, a gap down, low volume, and an overbought stochastic label.</a:t>
            </a:r>
          </a:p>
        </p:txBody>
      </p:sp>
      <p:sp>
        <p:nvSpPr>
          <p:cNvPr id="18" name="Oval 17"/>
          <p:cNvSpPr/>
          <p:nvPr/>
        </p:nvSpPr>
        <p:spPr>
          <a:xfrm>
            <a:off x="7610010" y="2689627"/>
            <a:ext cx="296299" cy="599362"/>
          </a:xfrm>
          <a:prstGeom prst="ellipse">
            <a:avLst/>
          </a:prstGeom>
          <a:noFill/>
          <a:ln w="44450">
            <a:solidFill>
              <a:srgbClr val="E09B00"/>
            </a:solidFill>
          </a:ln>
        </p:spPr>
        <p:txBody>
          <a:bodyPr rtlCol="0" anchor="ctr"/>
          <a:lstStyle/>
          <a:p>
            <a:pPr algn="ctr"/>
          </a:p>
        </p:txBody>
      </p:sp>
      <p:sp>
        <p:nvSpPr>
          <p:cNvPr id="19" name="Rectangle 18"/>
          <p:cNvSpPr/>
          <p:nvPr/>
        </p:nvSpPr>
        <p:spPr>
          <a:xfrm>
            <a:off x="7652417" y="1325880"/>
            <a:ext cx="974264" cy="1925697"/>
          </a:xfrm>
          <a:prstGeom prst="rect">
            <a:avLst/>
          </a:prstGeom>
          <a:noFill/>
          <a:ln w="44450">
            <a:solidFill>
              <a:srgbClr val="C62828"/>
            </a:solidFill>
          </a:ln>
        </p:spPr>
        <p:txBody>
          <a:bodyPr rtlCol="0" anchor="ctr"/>
          <a:lstStyle/>
          <a:p>
            <a:pPr algn="ctr"/>
          </a:p>
        </p:txBody>
      </p:sp>
      <p:sp>
        <p:nvSpPr>
          <p:cNvPr id="20" name="Oval 19"/>
          <p:cNvSpPr/>
          <p:nvPr/>
        </p:nvSpPr>
        <p:spPr>
          <a:xfrm>
            <a:off x="8457053" y="2389818"/>
            <a:ext cx="296850" cy="599362"/>
          </a:xfrm>
          <a:prstGeom prst="ellipse">
            <a:avLst/>
          </a:prstGeom>
          <a:noFill/>
          <a:ln w="44450">
            <a:solidFill>
              <a:srgbClr val="1F5FAD"/>
            </a:solidFill>
          </a:ln>
        </p:spPr>
        <p:txBody>
          <a:bodyPr rtlCol="0" anchor="ctr"/>
          <a:lstStyle/>
          <a:p>
            <a:pPr algn="ctr"/>
          </a:p>
        </p:txBody>
      </p:sp>
      <p:sp>
        <p:nvSpPr>
          <p:cNvPr id="21" name="Oval 20"/>
          <p:cNvSpPr/>
          <p:nvPr/>
        </p:nvSpPr>
        <p:spPr>
          <a:xfrm>
            <a:off x="7161024" y="302935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644175" y="1905457"/>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110104" y="2804628"/>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5669279" y="4098664"/>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19</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outside bar takes over the whole recent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24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We now turn from the island reversal, which gaps cut off from the chart, to outside bars. An outside bar engulfs one or more preceding bars, so its range tells us that the recent balance has been broken.</a:t>
            </a:r>
          </a:p>
          <a:p>
            <a:pPr algn="l">
              <a:lnSpc>
                <a:spcPct val="118000"/>
              </a:lnSpc>
              <a:spcBef>
                <a:spcPts val="0"/>
              </a:spcBef>
              <a:spcAft>
                <a:spcPts val="1300"/>
              </a:spcAft>
            </a:pPr>
            <a:r>
              <a:rPr sz="2100" b="0" i="0">
                <a:solidFill>
                  <a:srgbClr val="1A1A1A"/>
                </a:solidFill>
                <a:latin typeface="Arial"/>
              </a:rPr>
              <a:t>Lim says a larger range, more contained bars, a close near an edge, and high volume can make the reading more reliable (pp. 223 to 224).</a:t>
            </a:r>
          </a:p>
          <a:p>
            <a:pPr algn="l">
              <a:lnSpc>
                <a:spcPct val="118000"/>
              </a:lnSpc>
              <a:spcBef>
                <a:spcPts val="0"/>
              </a:spcBef>
              <a:spcAft>
                <a:spcPts val="1300"/>
              </a:spcAft>
            </a:pPr>
            <a:r>
              <a:rPr sz="2100" b="0" i="0">
                <a:solidFill>
                  <a:srgbClr val="1A1A1A"/>
                </a:solidFill>
                <a:latin typeface="Arial"/>
              </a:rPr>
              <a:t>The close also matters for direction: a bearish close near the low can support a reversal, while a close with the trend can support continuation (p. 223).</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First see the outside range. Then read its close and context.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223 to 224.</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outside bar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an outside bar with simple prices. The first two bars stay between PHP 48.00 and PHP 52.00. The third bar opens at PHP 52.00, runs up to PHP 53.00 </a:t>
            </a:r>
            <a:r>
              <a:rPr sz="1700" b="1" i="0">
                <a:solidFill>
                  <a:srgbClr val="C62828"/>
                </a:solidFill>
                <a:latin typeface="Arial"/>
              </a:rPr>
              <a:t>(2)</a:t>
            </a:r>
            <a:r>
              <a:rPr sz="1700" b="0" i="0">
                <a:solidFill>
                  <a:srgbClr val="1A1A1A"/>
                </a:solidFill>
                <a:latin typeface="Arial"/>
              </a:rPr>
              <a:t> and down to PHP 47.00, so its range </a:t>
            </a:r>
            <a:r>
              <a:rPr sz="1700" b="1" i="0">
                <a:solidFill>
                  <a:srgbClr val="E09B00"/>
                </a:solidFill>
                <a:latin typeface="Arial"/>
              </a:rPr>
              <a:t>(1)</a:t>
            </a:r>
            <a:r>
              <a:rPr sz="1700" b="0" i="0">
                <a:solidFill>
                  <a:srgbClr val="1A1A1A"/>
                </a:solidFill>
                <a:latin typeface="Arial"/>
              </a:rPr>
              <a:t> covers both earlier bars. It closes at PHP 47.50 </a:t>
            </a:r>
            <a:r>
              <a:rPr sz="1700" b="1" i="0">
                <a:solidFill>
                  <a:srgbClr val="1F5FAD"/>
                </a:solidFill>
                <a:latin typeface="Arial"/>
              </a:rPr>
              <a:t>(3)</a:t>
            </a:r>
            <a:r>
              <a:rPr sz="1700" b="0" i="0">
                <a:solidFill>
                  <a:srgbClr val="1A1A1A"/>
                </a:solidFill>
                <a:latin typeface="Arial"/>
              </a:rPr>
              <a:t>, near its low. Lim says an outside bar that closes at or near its low gives a more reliable reversal (p. 223).</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a-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9631375" y="3419856"/>
            <a:ext cx="0" cy="1069848"/>
          </a:xfrm>
          <a:prstGeom prst="line">
            <a:avLst/>
          </a:prstGeom>
          <a:ln w="44450">
            <a:solidFill>
              <a:srgbClr val="E09B00"/>
            </a:solidFill>
          </a:ln>
        </p:spPr>
      </p:cxnSp>
      <p:sp>
        <p:nvSpPr>
          <p:cNvPr id="10" name="Oval 9"/>
          <p:cNvSpPr/>
          <p:nvPr/>
        </p:nvSpPr>
        <p:spPr>
          <a:xfrm>
            <a:off x="9880091"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356658"/>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101023"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67874"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107215" y="4199882"/>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25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LA: invented PHP bars and million-share volume.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7.24 shows the outside bar taking control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26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Lim defines it this way: “Outside bars are bars that engulf one or more preceding bars” (p. 223).</a:t>
            </a:r>
          </a:p>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marks the 11 bars inside the outside range, red </a:t>
            </a:r>
            <a:r>
              <a:rPr sz="1700" b="1" i="0">
                <a:solidFill>
                  <a:srgbClr val="C62828"/>
                </a:solidFill>
                <a:latin typeface="Arial"/>
              </a:rPr>
              <a:t>(2)</a:t>
            </a:r>
            <a:r>
              <a:rPr sz="1700" b="0" i="0">
                <a:solidFill>
                  <a:srgbClr val="1A1A1A"/>
                </a:solidFill>
                <a:latin typeface="Arial"/>
              </a:rPr>
              <a:t> the outside bar's full range, and blue </a:t>
            </a:r>
            <a:r>
              <a:rPr sz="1700" b="1" i="0">
                <a:solidFill>
                  <a:srgbClr val="1F5FAD"/>
                </a:solidFill>
                <a:latin typeface="Arial"/>
              </a:rPr>
              <a:t>(3)</a:t>
            </a:r>
            <a:r>
              <a:rPr sz="1700" b="0" i="0">
                <a:solidFill>
                  <a:srgbClr val="1A1A1A"/>
                </a:solidFill>
                <a:latin typeface="Arial"/>
              </a:rPr>
              <a:t> its close near the low.</a:t>
            </a:r>
          </a:p>
          <a:p>
            <a:pPr algn="l">
              <a:lnSpc>
                <a:spcPct val="105000"/>
              </a:lnSpc>
              <a:spcBef>
                <a:spcPts val="0"/>
              </a:spcBef>
              <a:spcAft>
                <a:spcPts val="1100"/>
              </a:spcAft>
            </a:pPr>
            <a:r>
              <a:rPr sz="1700" b="0" i="0">
                <a:solidFill>
                  <a:srgbClr val="1A1A1A"/>
                </a:solidFill>
                <a:latin typeface="Arial"/>
              </a:rPr>
              <a:t>The book's caption calls this an inside day reversal, but its text and the figure's own label describe an outside bar engulfing 11 bars, so we follow the text.</a:t>
            </a:r>
          </a:p>
        </p:txBody>
      </p:sp>
      <p:sp>
        <p:nvSpPr>
          <p:cNvPr id="8" name="Rectangle 7"/>
          <p:cNvSpPr/>
          <p:nvPr/>
        </p:nvSpPr>
        <p:spPr>
          <a:xfrm>
            <a:off x="5319829" y="1810512"/>
            <a:ext cx="6078315"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38701" y="1929384"/>
            <a:ext cx="5840571"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38701" y="1929384"/>
            <a:ext cx="58405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713021" y="2203703"/>
            <a:ext cx="529193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7.24</a:t>
            </a:r>
          </a:p>
          <a:p>
            <a:pPr algn="l">
              <a:lnSpc>
                <a:spcPct val="115000"/>
              </a:lnSpc>
              <a:spcBef>
                <a:spcPts val="0"/>
              </a:spcBef>
              <a:spcAft>
                <a:spcPts val="0"/>
              </a:spcAft>
            </a:pPr>
            <a:r>
              <a:rPr sz="1500" b="0" i="0">
                <a:solidFill>
                  <a:srgbClr val="1A1A1A"/>
                </a:solidFill>
                <a:latin typeface="Palatino"/>
              </a:rPr>
              <a:t>ITC Holdings daily chart. The marked outside bar contains 11 preceding bars, breaks the uptrend line, and closes near its low.</a:t>
            </a:r>
          </a:p>
        </p:txBody>
      </p:sp>
      <p:sp>
        <p:nvSpPr>
          <p:cNvPr id="12" name="Rectangle 11"/>
          <p:cNvSpPr/>
          <p:nvPr/>
        </p:nvSpPr>
        <p:spPr>
          <a:xfrm>
            <a:off x="7494582" y="2122505"/>
            <a:ext cx="1016259" cy="1176284"/>
          </a:xfrm>
          <a:prstGeom prst="rect">
            <a:avLst/>
          </a:prstGeom>
          <a:noFill/>
          <a:ln w="44450">
            <a:solidFill>
              <a:srgbClr val="E09B00"/>
            </a:solidFill>
          </a:ln>
        </p:spPr>
        <p:txBody>
          <a:bodyPr rtlCol="0" anchor="ctr"/>
          <a:lstStyle/>
          <a:p>
            <a:pPr algn="ctr"/>
          </a:p>
        </p:txBody>
      </p:sp>
      <p:sp>
        <p:nvSpPr>
          <p:cNvPr id="13" name="Rectangle 12"/>
          <p:cNvSpPr/>
          <p:nvPr/>
        </p:nvSpPr>
        <p:spPr>
          <a:xfrm>
            <a:off x="8510842" y="2140061"/>
            <a:ext cx="128492" cy="1141171"/>
          </a:xfrm>
          <a:prstGeom prst="rect">
            <a:avLst/>
          </a:prstGeom>
          <a:noFill/>
          <a:ln w="44450">
            <a:solidFill>
              <a:srgbClr val="C62828"/>
            </a:solidFill>
          </a:ln>
        </p:spPr>
        <p:txBody>
          <a:bodyPr rtlCol="0" anchor="ctr"/>
          <a:lstStyle/>
          <a:p>
            <a:pPr algn="ctr"/>
          </a:p>
        </p:txBody>
      </p:sp>
      <p:sp>
        <p:nvSpPr>
          <p:cNvPr id="14" name="Oval 13"/>
          <p:cNvSpPr/>
          <p:nvPr/>
        </p:nvSpPr>
        <p:spPr>
          <a:xfrm>
            <a:off x="8505001" y="3017885"/>
            <a:ext cx="204420" cy="316016"/>
          </a:xfrm>
          <a:prstGeom prst="ellipse">
            <a:avLst/>
          </a:prstGeom>
          <a:noFill/>
          <a:ln w="44450">
            <a:solidFill>
              <a:srgbClr val="1F5FAD"/>
            </a:solidFill>
          </a:ln>
        </p:spPr>
        <p:txBody>
          <a:bodyPr rtlCol="0" anchor="ctr"/>
          <a:lstStyle/>
          <a:p>
            <a:pPr algn="ctr"/>
          </a:p>
        </p:txBody>
      </p:sp>
      <p:sp>
        <p:nvSpPr>
          <p:cNvPr id="15" name="Oval 14"/>
          <p:cNvSpPr/>
          <p:nvPr/>
        </p:nvSpPr>
        <p:spPr>
          <a:xfrm>
            <a:off x="6977019" y="198461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641582" y="261664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437162" y="34242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224, Figure 7.24. The crop and marks are for teaching.</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outside bar matters more when the surrounding trend breaks too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27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same figure keeps the context visible because a bar pattern is read with the trend around it.</a:t>
            </a:r>
          </a:p>
          <a:p>
            <a:pPr algn="l">
              <a:lnSpc>
                <a:spcPct val="105000"/>
              </a:lnSpc>
              <a:spcBef>
                <a:spcPts val="0"/>
              </a:spcBef>
              <a:spcAft>
                <a:spcPts val="1100"/>
              </a:spcAft>
            </a:pPr>
            <a:r>
              <a:rPr sz="1800" b="0" i="0">
                <a:solidFill>
                  <a:srgbClr val="1A1A1A"/>
                </a:solidFill>
                <a:latin typeface="Arial"/>
              </a:rPr>
              <a:t>Gold </a:t>
            </a:r>
            <a:r>
              <a:rPr sz="1800" b="1" i="0">
                <a:solidFill>
                  <a:srgbClr val="E09B00"/>
                </a:solidFill>
                <a:latin typeface="Arial"/>
              </a:rPr>
              <a:t>(1)</a:t>
            </a:r>
            <a:r>
              <a:rPr sz="1800" b="0" i="0">
                <a:solidFill>
                  <a:srgbClr val="1A1A1A"/>
                </a:solidFill>
                <a:latin typeface="Arial"/>
              </a:rPr>
              <a:t> marks the contained bars. Red </a:t>
            </a:r>
            <a:r>
              <a:rPr sz="1800" b="1" i="0">
                <a:solidFill>
                  <a:srgbClr val="C62828"/>
                </a:solidFill>
                <a:latin typeface="Arial"/>
              </a:rPr>
              <a:t>(2)</a:t>
            </a:r>
            <a:r>
              <a:rPr sz="1800" b="0" i="0">
                <a:solidFill>
                  <a:srgbClr val="1A1A1A"/>
                </a:solidFill>
                <a:latin typeface="Arial"/>
              </a:rPr>
              <a:t> marks the trendline violation at the outside-bar break.</a:t>
            </a:r>
          </a:p>
          <a:p>
            <a:pPr algn="l">
              <a:lnSpc>
                <a:spcPct val="105000"/>
              </a:lnSpc>
              <a:spcBef>
                <a:spcPts val="0"/>
              </a:spcBef>
              <a:spcAft>
                <a:spcPts val="1100"/>
              </a:spcAft>
            </a:pPr>
            <a:r>
              <a:rPr sz="1800" b="0" i="0">
                <a:solidFill>
                  <a:srgbClr val="1A1A1A"/>
                </a:solidFill>
                <a:latin typeface="Arial"/>
              </a:rPr>
              <a:t>Blue </a:t>
            </a:r>
            <a:r>
              <a:rPr sz="1800" b="1" i="0">
                <a:solidFill>
                  <a:srgbClr val="1F5FAD"/>
                </a:solidFill>
                <a:latin typeface="Arial"/>
              </a:rPr>
              <a:t>(3)</a:t>
            </a:r>
            <a:r>
              <a:rPr sz="1800" b="0" i="0">
                <a:solidFill>
                  <a:srgbClr val="1A1A1A"/>
                </a:solidFill>
                <a:latin typeface="Arial"/>
              </a:rPr>
              <a:t> marks the bearish close near the low. Read the trendline break and the close together, not either mark alone.</a:t>
            </a:r>
          </a:p>
        </p:txBody>
      </p:sp>
      <p:sp>
        <p:nvSpPr>
          <p:cNvPr id="8" name="Rectangle 7"/>
          <p:cNvSpPr/>
          <p:nvPr/>
        </p:nvSpPr>
        <p:spPr>
          <a:xfrm>
            <a:off x="5319829" y="1810512"/>
            <a:ext cx="6078315"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38701" y="1929384"/>
            <a:ext cx="5840571"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38701" y="1929384"/>
            <a:ext cx="584057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713021" y="2203703"/>
            <a:ext cx="529193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7.24</a:t>
            </a:r>
          </a:p>
          <a:p>
            <a:pPr algn="l">
              <a:lnSpc>
                <a:spcPct val="115000"/>
              </a:lnSpc>
              <a:spcBef>
                <a:spcPts val="0"/>
              </a:spcBef>
              <a:spcAft>
                <a:spcPts val="0"/>
              </a:spcAft>
            </a:pPr>
            <a:r>
              <a:rPr sz="1500" b="0" i="0">
                <a:solidFill>
                  <a:srgbClr val="1A1A1A"/>
                </a:solidFill>
                <a:latin typeface="Palatino"/>
              </a:rPr>
              <a:t>ITC Holdings daily chart. The marked outside bar contains 11 preceding bars, breaks the uptrend line, and closes near its low.</a:t>
            </a:r>
          </a:p>
        </p:txBody>
      </p:sp>
      <p:sp>
        <p:nvSpPr>
          <p:cNvPr id="12" name="Rectangle 11"/>
          <p:cNvSpPr/>
          <p:nvPr/>
        </p:nvSpPr>
        <p:spPr>
          <a:xfrm>
            <a:off x="7482901" y="2210287"/>
            <a:ext cx="1109708" cy="1193840"/>
          </a:xfrm>
          <a:prstGeom prst="rect">
            <a:avLst/>
          </a:prstGeom>
          <a:noFill/>
          <a:ln w="44450">
            <a:solidFill>
              <a:srgbClr val="E09B00"/>
            </a:solidFill>
          </a:ln>
        </p:spPr>
        <p:txBody>
          <a:bodyPr rtlCol="0" anchor="ctr"/>
          <a:lstStyle/>
          <a:p>
            <a:pPr algn="ctr"/>
          </a:p>
        </p:txBody>
      </p:sp>
      <p:sp>
        <p:nvSpPr>
          <p:cNvPr id="13" name="Oval 12"/>
          <p:cNvSpPr/>
          <p:nvPr/>
        </p:nvSpPr>
        <p:spPr>
          <a:xfrm>
            <a:off x="8475798" y="2807208"/>
            <a:ext cx="350434" cy="491581"/>
          </a:xfrm>
          <a:prstGeom prst="ellipse">
            <a:avLst/>
          </a:prstGeom>
          <a:noFill/>
          <a:ln w="44450">
            <a:solidFill>
              <a:srgbClr val="C62828"/>
            </a:solidFill>
          </a:ln>
        </p:spPr>
        <p:txBody>
          <a:bodyPr rtlCol="0" anchor="ctr"/>
          <a:lstStyle/>
          <a:p>
            <a:pPr algn="ctr"/>
          </a:p>
        </p:txBody>
      </p:sp>
      <p:sp>
        <p:nvSpPr>
          <p:cNvPr id="14" name="Oval 13"/>
          <p:cNvSpPr/>
          <p:nvPr/>
        </p:nvSpPr>
        <p:spPr>
          <a:xfrm>
            <a:off x="8475798" y="3193450"/>
            <a:ext cx="350434" cy="280903"/>
          </a:xfrm>
          <a:prstGeom prst="ellipse">
            <a:avLst/>
          </a:prstGeom>
          <a:noFill/>
          <a:ln w="44450">
            <a:solidFill>
              <a:srgbClr val="1F5FAD"/>
            </a:solidFill>
          </a:ln>
        </p:spPr>
        <p:txBody>
          <a:bodyPr rtlCol="0" anchor="ctr"/>
          <a:lstStyle/>
          <a:p>
            <a:pPr algn="ctr"/>
          </a:p>
        </p:txBody>
      </p:sp>
      <p:sp>
        <p:nvSpPr>
          <p:cNvPr id="15" name="Oval 14"/>
          <p:cNvSpPr/>
          <p:nvPr/>
        </p:nvSpPr>
        <p:spPr>
          <a:xfrm>
            <a:off x="6977019" y="198461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787596" y="254642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846002" y="34242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224, Figure 7.24. The crop and marks are for teaching.</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20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outside bars</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must a bearish outside bar's range contain?</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Only the current bar's body</a:t>
            </a:r>
          </a:p>
          <a:p>
            <a:pPr algn="l">
              <a:lnSpc>
                <a:spcPct val="105000"/>
              </a:lnSpc>
              <a:spcBef>
                <a:spcPts val="0"/>
              </a:spcBef>
              <a:spcAft>
                <a:spcPts val="200"/>
              </a:spcAft>
            </a:pPr>
            <a:r>
              <a:rPr sz="1700" b="0" i="0">
                <a:solidFill>
                  <a:srgbClr val="FFFFFF"/>
                </a:solidFill>
                <a:latin typeface="Arial"/>
              </a:rPr>
              <a:t>B.  One or more prior bars</a:t>
            </a:r>
          </a:p>
          <a:p>
            <a:pPr algn="l">
              <a:lnSpc>
                <a:spcPct val="105000"/>
              </a:lnSpc>
              <a:spcBef>
                <a:spcPts val="0"/>
              </a:spcBef>
              <a:spcAft>
                <a:spcPts val="200"/>
              </a:spcAft>
            </a:pPr>
            <a:r>
              <a:rPr sz="1700" b="0" i="0">
                <a:solidFill>
                  <a:srgbClr val="FFFFFF"/>
                </a:solidFill>
                <a:latin typeface="Arial"/>
              </a:rPr>
              <a:t>C.  A gap on both sides</a:t>
            </a:r>
          </a:p>
          <a:p>
            <a:pPr algn="l">
              <a:lnSpc>
                <a:spcPct val="105000"/>
              </a:lnSpc>
              <a:spcBef>
                <a:spcPts val="0"/>
              </a:spcBef>
              <a:spcAft>
                <a:spcPts val="200"/>
              </a:spcAft>
            </a:pPr>
            <a:r>
              <a:rPr sz="1700" b="0" i="0">
                <a:solidFill>
                  <a:srgbClr val="FFFFFF"/>
                </a:solidFill>
                <a:latin typeface="Arial"/>
              </a:rPr>
              <a:t>D.  Only the volume bars</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close is more reliable for a bearish outside-bar reading?</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 close near the low</a:t>
            </a:r>
          </a:p>
          <a:p>
            <a:pPr algn="l">
              <a:lnSpc>
                <a:spcPct val="105000"/>
              </a:lnSpc>
              <a:spcBef>
                <a:spcPts val="0"/>
              </a:spcBef>
              <a:spcAft>
                <a:spcPts val="200"/>
              </a:spcAft>
            </a:pPr>
            <a:r>
              <a:rPr sz="1700" b="0" i="0">
                <a:solidFill>
                  <a:srgbClr val="FFFFFF"/>
                </a:solidFill>
                <a:latin typeface="Arial"/>
              </a:rPr>
              <a:t>B.  A close near the middle</a:t>
            </a:r>
          </a:p>
          <a:p>
            <a:pPr algn="l">
              <a:lnSpc>
                <a:spcPct val="105000"/>
              </a:lnSpc>
              <a:spcBef>
                <a:spcPts val="0"/>
              </a:spcBef>
              <a:spcAft>
                <a:spcPts val="200"/>
              </a:spcAft>
            </a:pPr>
            <a:r>
              <a:rPr sz="1700" b="0" i="0">
                <a:solidFill>
                  <a:srgbClr val="FFFFFF"/>
                </a:solidFill>
                <a:latin typeface="Arial"/>
              </a:rPr>
              <a:t>C.  A close near the high</a:t>
            </a:r>
          </a:p>
          <a:p>
            <a:pPr algn="l">
              <a:lnSpc>
                <a:spcPct val="105000"/>
              </a:lnSpc>
              <a:spcBef>
                <a:spcPts val="0"/>
              </a:spcBef>
              <a:spcAft>
                <a:spcPts val="200"/>
              </a:spcAft>
            </a:pPr>
            <a:r>
              <a:rPr sz="1700" b="0" i="0">
                <a:solidFill>
                  <a:srgbClr val="FFFFFF"/>
                </a:solidFill>
                <a:latin typeface="Arial"/>
              </a:rPr>
              <a:t>D.  The close does not matter</a:t>
            </a:r>
          </a:p>
        </p:txBody>
      </p:sp>
      <p:sp>
        <p:nvSpPr>
          <p:cNvPr id="14" name="Rectangle 13"/>
          <p:cNvSpPr/>
          <p:nvPr/>
        </p:nvSpPr>
        <p:spPr>
          <a:xfrm>
            <a:off x="6126479" y="1207008"/>
            <a:ext cx="5287975" cy="327389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3615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5789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7.24</a:t>
            </a:r>
          </a:p>
          <a:p>
            <a:pPr algn="l">
              <a:lnSpc>
                <a:spcPct val="115000"/>
              </a:lnSpc>
              <a:spcBef>
                <a:spcPts val="0"/>
              </a:spcBef>
              <a:spcAft>
                <a:spcPts val="0"/>
              </a:spcAft>
            </a:pPr>
            <a:r>
              <a:rPr sz="1500" b="0" i="0">
                <a:solidFill>
                  <a:srgbClr val="1A1A1A"/>
                </a:solidFill>
                <a:latin typeface="Palatino"/>
              </a:rPr>
              <a:t>ITC Holdings daily chart. The marked outside bar contains 11 preceding bars, breaks the uptrend line, and closes near its low.</a:t>
            </a:r>
          </a:p>
        </p:txBody>
      </p:sp>
      <p:sp>
        <p:nvSpPr>
          <p:cNvPr id="18" name="Rectangle 17"/>
          <p:cNvSpPr/>
          <p:nvPr/>
        </p:nvSpPr>
        <p:spPr>
          <a:xfrm>
            <a:off x="8023033" y="1492868"/>
            <a:ext cx="878740" cy="1017110"/>
          </a:xfrm>
          <a:prstGeom prst="rect">
            <a:avLst/>
          </a:prstGeom>
          <a:noFill/>
          <a:ln w="44450">
            <a:solidFill>
              <a:srgbClr val="E09B00"/>
            </a:solidFill>
          </a:ln>
        </p:spPr>
        <p:txBody>
          <a:bodyPr rtlCol="0" anchor="ctr"/>
          <a:lstStyle/>
          <a:p>
            <a:pPr algn="ctr"/>
          </a:p>
        </p:txBody>
      </p:sp>
      <p:sp>
        <p:nvSpPr>
          <p:cNvPr id="19" name="Rectangle 18"/>
          <p:cNvSpPr/>
          <p:nvPr/>
        </p:nvSpPr>
        <p:spPr>
          <a:xfrm>
            <a:off x="8901773" y="1508049"/>
            <a:ext cx="111105" cy="986749"/>
          </a:xfrm>
          <a:prstGeom prst="rect">
            <a:avLst/>
          </a:prstGeom>
          <a:noFill/>
          <a:ln w="44450">
            <a:solidFill>
              <a:srgbClr val="C62828"/>
            </a:solidFill>
          </a:ln>
        </p:spPr>
        <p:txBody>
          <a:bodyPr rtlCol="0" anchor="ctr"/>
          <a:lstStyle/>
          <a:p>
            <a:pPr algn="ctr"/>
          </a:p>
        </p:txBody>
      </p:sp>
      <p:sp>
        <p:nvSpPr>
          <p:cNvPr id="20" name="Oval 19"/>
          <p:cNvSpPr/>
          <p:nvPr/>
        </p:nvSpPr>
        <p:spPr>
          <a:xfrm>
            <a:off x="8896723" y="2267086"/>
            <a:ext cx="176758" cy="273253"/>
          </a:xfrm>
          <a:prstGeom prst="ellipse">
            <a:avLst/>
          </a:prstGeom>
          <a:noFill/>
          <a:ln w="44450">
            <a:solidFill>
              <a:srgbClr val="1F5FAD"/>
            </a:solidFill>
          </a:ln>
        </p:spPr>
        <p:txBody>
          <a:bodyPr rtlCol="0" anchor="ctr"/>
          <a:lstStyle/>
          <a:p>
            <a:pPr algn="ctr"/>
          </a:p>
        </p:txBody>
      </p:sp>
      <p:sp>
        <p:nvSpPr>
          <p:cNvPr id="21" name="Oval 20"/>
          <p:cNvSpPr/>
          <p:nvPr/>
        </p:nvSpPr>
        <p:spPr>
          <a:xfrm>
            <a:off x="7554470" y="135260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993786" y="189910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817028" y="259742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57234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7.24 -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outside bars</a:t>
            </a:r>
          </a:p>
        </p:txBody>
      </p:sp>
      <p:sp>
        <p:nvSpPr>
          <p:cNvPr id="6" name="Rectangle 5"/>
          <p:cNvSpPr/>
          <p:nvPr/>
        </p:nvSpPr>
        <p:spPr>
          <a:xfrm>
            <a:off x="777240" y="1207008"/>
            <a:ext cx="5029200" cy="176847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76847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must a bearish outside bar's range contain?</a:t>
            </a:r>
          </a:p>
        </p:txBody>
      </p:sp>
      <p:sp>
        <p:nvSpPr>
          <p:cNvPr id="9" name="TextBox 8"/>
          <p:cNvSpPr txBox="1"/>
          <p:nvPr/>
        </p:nvSpPr>
        <p:spPr>
          <a:xfrm>
            <a:off x="1097280" y="2069338"/>
            <a:ext cx="4480560" cy="906144"/>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One or more prior bars</a:t>
            </a:r>
          </a:p>
          <a:p>
            <a:pPr algn="l">
              <a:lnSpc>
                <a:spcPct val="115000"/>
              </a:lnSpc>
              <a:spcBef>
                <a:spcPts val="500"/>
              </a:spcBef>
              <a:spcAft>
                <a:spcPts val="0"/>
              </a:spcAft>
            </a:pPr>
            <a:r>
              <a:rPr sz="1700" b="0" i="0">
                <a:solidFill>
                  <a:srgbClr val="1A1A1A"/>
                </a:solidFill>
                <a:latin typeface="Arial"/>
              </a:rPr>
              <a:t>It engulfs preceding bars (Lim, p. 223).
</a:t>
            </a:r>
          </a:p>
        </p:txBody>
      </p:sp>
      <p:sp>
        <p:nvSpPr>
          <p:cNvPr id="10" name="Rectangle 9"/>
          <p:cNvSpPr/>
          <p:nvPr/>
        </p:nvSpPr>
        <p:spPr>
          <a:xfrm>
            <a:off x="777240" y="3158363"/>
            <a:ext cx="5029200" cy="226504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58363"/>
            <a:ext cx="91440" cy="226504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341243"/>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Which close is more reliable for a bearish outside-bar reading?</a:t>
            </a:r>
          </a:p>
        </p:txBody>
      </p:sp>
      <p:sp>
        <p:nvSpPr>
          <p:cNvPr id="13" name="TextBox 12"/>
          <p:cNvSpPr txBox="1"/>
          <p:nvPr/>
        </p:nvSpPr>
        <p:spPr>
          <a:xfrm>
            <a:off x="1097280" y="4020693"/>
            <a:ext cx="4480560" cy="1402715"/>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close near the low</a:t>
            </a:r>
          </a:p>
          <a:p>
            <a:pPr algn="l">
              <a:lnSpc>
                <a:spcPct val="115000"/>
              </a:lnSpc>
              <a:spcBef>
                <a:spcPts val="500"/>
              </a:spcBef>
              <a:spcAft>
                <a:spcPts val="0"/>
              </a:spcAft>
            </a:pPr>
            <a:r>
              <a:rPr sz="1700" b="0" i="0">
                <a:solidFill>
                  <a:srgbClr val="1A1A1A"/>
                </a:solidFill>
                <a:latin typeface="Arial"/>
              </a:rPr>
              <a:t>Lim says closes near the low are generally more reliable for the bearish reading (p. 223).</a:t>
            </a:r>
          </a:p>
        </p:txBody>
      </p:sp>
      <p:sp>
        <p:nvSpPr>
          <p:cNvPr id="14" name="Rectangle 13"/>
          <p:cNvSpPr/>
          <p:nvPr/>
        </p:nvSpPr>
        <p:spPr>
          <a:xfrm>
            <a:off x="6126479" y="1207008"/>
            <a:ext cx="5287975" cy="327389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3615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5789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7.24</a:t>
            </a:r>
          </a:p>
          <a:p>
            <a:pPr algn="l">
              <a:lnSpc>
                <a:spcPct val="115000"/>
              </a:lnSpc>
              <a:spcBef>
                <a:spcPts val="0"/>
              </a:spcBef>
              <a:spcAft>
                <a:spcPts val="0"/>
              </a:spcAft>
            </a:pPr>
            <a:r>
              <a:rPr sz="1500" b="0" i="0">
                <a:solidFill>
                  <a:srgbClr val="1A1A1A"/>
                </a:solidFill>
                <a:latin typeface="Palatino"/>
              </a:rPr>
              <a:t>ITC Holdings daily chart. The marked outside bar contains 11 preceding bars, breaks the uptrend line, and closes near its low.</a:t>
            </a:r>
          </a:p>
        </p:txBody>
      </p:sp>
      <p:sp>
        <p:nvSpPr>
          <p:cNvPr id="18" name="Rectangle 17"/>
          <p:cNvSpPr/>
          <p:nvPr/>
        </p:nvSpPr>
        <p:spPr>
          <a:xfrm>
            <a:off x="8023033" y="1492868"/>
            <a:ext cx="878740" cy="1017110"/>
          </a:xfrm>
          <a:prstGeom prst="rect">
            <a:avLst/>
          </a:prstGeom>
          <a:noFill/>
          <a:ln w="44450">
            <a:solidFill>
              <a:srgbClr val="E09B00"/>
            </a:solidFill>
          </a:ln>
        </p:spPr>
        <p:txBody>
          <a:bodyPr rtlCol="0" anchor="ctr"/>
          <a:lstStyle/>
          <a:p>
            <a:pPr algn="ctr"/>
          </a:p>
        </p:txBody>
      </p:sp>
      <p:sp>
        <p:nvSpPr>
          <p:cNvPr id="19" name="Rectangle 18"/>
          <p:cNvSpPr/>
          <p:nvPr/>
        </p:nvSpPr>
        <p:spPr>
          <a:xfrm>
            <a:off x="8901773" y="1508049"/>
            <a:ext cx="111105" cy="986749"/>
          </a:xfrm>
          <a:prstGeom prst="rect">
            <a:avLst/>
          </a:prstGeom>
          <a:noFill/>
          <a:ln w="44450">
            <a:solidFill>
              <a:srgbClr val="C62828"/>
            </a:solidFill>
          </a:ln>
        </p:spPr>
        <p:txBody>
          <a:bodyPr rtlCol="0" anchor="ctr"/>
          <a:lstStyle/>
          <a:p>
            <a:pPr algn="ctr"/>
          </a:p>
        </p:txBody>
      </p:sp>
      <p:sp>
        <p:nvSpPr>
          <p:cNvPr id="20" name="Oval 19"/>
          <p:cNvSpPr/>
          <p:nvPr/>
        </p:nvSpPr>
        <p:spPr>
          <a:xfrm>
            <a:off x="8896723" y="2267086"/>
            <a:ext cx="176758" cy="273253"/>
          </a:xfrm>
          <a:prstGeom prst="ellipse">
            <a:avLst/>
          </a:prstGeom>
          <a:noFill/>
          <a:ln w="44450">
            <a:solidFill>
              <a:srgbClr val="1F5FAD"/>
            </a:solidFill>
          </a:ln>
        </p:spPr>
        <p:txBody>
          <a:bodyPr rtlCol="0" anchor="ctr"/>
          <a:lstStyle/>
          <a:p>
            <a:pPr algn="ctr"/>
          </a:p>
        </p:txBody>
      </p:sp>
      <p:sp>
        <p:nvSpPr>
          <p:cNvPr id="21" name="Oval 20"/>
          <p:cNvSpPr/>
          <p:nvPr/>
        </p:nvSpPr>
        <p:spPr>
          <a:xfrm>
            <a:off x="7554470" y="135260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993786" y="189910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817028" y="259742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57234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7.24 -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inside bar pauses inside the previous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28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outside bar expanded the range. An inside bar does the opposite: its high and low stay within the preceding bar's range, so price is pausing inside it.</a:t>
            </a:r>
          </a:p>
          <a:p>
            <a:pPr algn="l">
              <a:lnSpc>
                <a:spcPct val="118000"/>
              </a:lnSpc>
              <a:spcBef>
                <a:spcPts val="0"/>
              </a:spcBef>
              <a:spcAft>
                <a:spcPts val="1300"/>
              </a:spcAft>
            </a:pPr>
            <a:r>
              <a:rPr sz="2100" b="0" i="0">
                <a:solidFill>
                  <a:srgbClr val="1A1A1A"/>
                </a:solidFill>
                <a:latin typeface="Arial"/>
              </a:rPr>
              <a:t>Lim treats inside bars as reversal bars. The reversal is more reliable when the first bar is wide on high volume and the second is narrow on very low volume (p. 224).</a:t>
            </a:r>
          </a:p>
        </p:txBody>
      </p:sp>
      <p:sp>
        <p:nvSpPr>
          <p:cNvPr id="8" name="Rectangle 7"/>
          <p:cNvSpPr/>
          <p:nvPr/>
        </p:nvSpPr>
        <p:spPr>
          <a:xfrm>
            <a:off x="777240" y="421614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5272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Inside means contained, not engulfing. We will compare the names after this example.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224.</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inside bar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an inside bar with simple prices. The first bar </a:t>
            </a:r>
            <a:r>
              <a:rPr sz="1700" b="1" i="0">
                <a:solidFill>
                  <a:srgbClr val="E09B00"/>
                </a:solidFill>
                <a:latin typeface="Arial"/>
              </a:rPr>
              <a:t>(1)</a:t>
            </a:r>
            <a:r>
              <a:rPr sz="1700" b="0" i="0">
                <a:solidFill>
                  <a:srgbClr val="1A1A1A"/>
                </a:solidFill>
                <a:latin typeface="Arial"/>
              </a:rPr>
              <a:t> is wide: it runs from PHP 48.00 to PHP 53.00 on 4.5 million shares. The second bar </a:t>
            </a:r>
            <a:r>
              <a:rPr sz="1700" b="1" i="0">
                <a:solidFill>
                  <a:srgbClr val="C62828"/>
                </a:solidFill>
                <a:latin typeface="Arial"/>
              </a:rPr>
              <a:t>(2)</a:t>
            </a:r>
            <a:r>
              <a:rPr sz="1700" b="0" i="0">
                <a:solidFill>
                  <a:srgbClr val="1A1A1A"/>
                </a:solidFill>
                <a:latin typeface="Arial"/>
              </a:rPr>
              <a:t> is narrow, from PHP 49.20 to PHP 52.50 on only 0.5 million shares, so it stays inside the first. The first bar also tests resistance at PHP 53.00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b-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144060" y="391088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835999"/>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4144060"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231843"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67874" y="375187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4231189" y="327685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LB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29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LB: invented PHP bars and million-share volume.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inside bar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wide, busy first bar and a narrow, quiet second bar is the relationship Lim says makes the reversal more reliable (p. 224).</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b-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144060" y="391088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835999"/>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4144060"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231843" y="382676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67874" y="375187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4231189" y="327685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LB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30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LB: invented PHP bars and million-share volume.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7.25 shows inside bars testing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31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In Lim's Figure 7.25 the two inside bars test the same resistance level (p. 224). Gold </a:t>
            </a:r>
            <a:r>
              <a:rPr sz="1800" b="1" i="0">
                <a:solidFill>
                  <a:srgbClr val="E09B00"/>
                </a:solidFill>
                <a:latin typeface="Arial"/>
              </a:rPr>
              <a:t>(1)</a:t>
            </a:r>
            <a:r>
              <a:rPr sz="1800" b="0" i="0">
                <a:solidFill>
                  <a:srgbClr val="1A1A1A"/>
                </a:solidFill>
                <a:latin typeface="Arial"/>
              </a:rPr>
              <a:t> and red </a:t>
            </a:r>
            <a:r>
              <a:rPr sz="1800" b="1" i="0">
                <a:solidFill>
                  <a:srgbClr val="C62828"/>
                </a:solidFill>
                <a:latin typeface="Arial"/>
              </a:rPr>
              <a:t>(2)</a:t>
            </a:r>
            <a:r>
              <a:rPr sz="1800" b="0" i="0">
                <a:solidFill>
                  <a:srgbClr val="1A1A1A"/>
                </a:solidFill>
                <a:latin typeface="Arial"/>
              </a:rPr>
              <a:t> mark those two inside-bar reversals.</a:t>
            </a:r>
          </a:p>
          <a:p>
            <a:pPr algn="l">
              <a:lnSpc>
                <a:spcPct val="105000"/>
              </a:lnSpc>
              <a:spcBef>
                <a:spcPts val="0"/>
              </a:spcBef>
              <a:spcAft>
                <a:spcPts val="1100"/>
              </a:spcAft>
            </a:pPr>
            <a:r>
              <a:rPr sz="1800" b="0" i="0">
                <a:solidFill>
                  <a:srgbClr val="1A1A1A"/>
                </a:solidFill>
                <a:latin typeface="Arial"/>
              </a:rPr>
              <a:t>Blue </a:t>
            </a:r>
            <a:r>
              <a:rPr sz="1800" b="1" i="0">
                <a:solidFill>
                  <a:srgbClr val="1F5FAD"/>
                </a:solidFill>
                <a:latin typeface="Arial"/>
              </a:rPr>
              <a:t>(3)</a:t>
            </a:r>
            <a:r>
              <a:rPr sz="1800" b="0" i="0">
                <a:solidFill>
                  <a:srgbClr val="1A1A1A"/>
                </a:solidFill>
                <a:latin typeface="Arial"/>
              </a:rPr>
              <a:t> marks the figure's bearish StochRSI divergence. Chapter 7 does not define the oscillator formula, so treat it as context shown by Lim.</a:t>
            </a:r>
          </a:p>
          <a:p>
            <a:pPr algn="l">
              <a:lnSpc>
                <a:spcPct val="105000"/>
              </a:lnSpc>
              <a:spcBef>
                <a:spcPts val="0"/>
              </a:spcBef>
              <a:spcAft>
                <a:spcPts val="1100"/>
              </a:spcAft>
            </a:pPr>
            <a:r>
              <a:rPr sz="1800" b="0" i="0">
                <a:solidFill>
                  <a:srgbClr val="1A1A1A"/>
                </a:solidFill>
                <a:latin typeface="Arial"/>
              </a:rPr>
              <a:t>Repeated failure at resistance warns of a possible reversal; it is not a promise.</a:t>
            </a:r>
          </a:p>
        </p:txBody>
      </p:sp>
      <p:sp>
        <p:nvSpPr>
          <p:cNvPr id="8" name="Rectangle 7"/>
          <p:cNvSpPr/>
          <p:nvPr/>
        </p:nvSpPr>
        <p:spPr>
          <a:xfrm>
            <a:off x="5305300" y="1810512"/>
            <a:ext cx="6107373"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4172" y="1929384"/>
            <a:ext cx="5869629"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4172" y="1929384"/>
            <a:ext cx="5869629"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8492" y="2203703"/>
            <a:ext cx="532098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ITC Holdings daily chart. Two inside-bar reversals test the same resistance; the lower panel labels bearish StochRSI divergence.</a:t>
            </a:r>
          </a:p>
        </p:txBody>
      </p:sp>
      <p:sp>
        <p:nvSpPr>
          <p:cNvPr id="12" name="Rectangle 11"/>
          <p:cNvSpPr/>
          <p:nvPr/>
        </p:nvSpPr>
        <p:spPr>
          <a:xfrm>
            <a:off x="8916602" y="2104948"/>
            <a:ext cx="176088" cy="561807"/>
          </a:xfrm>
          <a:prstGeom prst="rect">
            <a:avLst/>
          </a:prstGeom>
          <a:noFill/>
          <a:ln w="44450">
            <a:solidFill>
              <a:srgbClr val="E09B00"/>
            </a:solidFill>
          </a:ln>
        </p:spPr>
        <p:txBody>
          <a:bodyPr rtlCol="0" anchor="ctr"/>
          <a:lstStyle/>
          <a:p>
            <a:pPr algn="ctr"/>
          </a:p>
        </p:txBody>
      </p:sp>
      <p:sp>
        <p:nvSpPr>
          <p:cNvPr id="13" name="Rectangle 12"/>
          <p:cNvSpPr/>
          <p:nvPr/>
        </p:nvSpPr>
        <p:spPr>
          <a:xfrm>
            <a:off x="9474217" y="2104948"/>
            <a:ext cx="176088" cy="702259"/>
          </a:xfrm>
          <a:prstGeom prst="rect">
            <a:avLst/>
          </a:prstGeom>
          <a:noFill/>
          <a:ln w="44450">
            <a:solidFill>
              <a:srgbClr val="C62828"/>
            </a:solidFill>
          </a:ln>
        </p:spPr>
        <p:txBody>
          <a:bodyPr rtlCol="0" anchor="ctr"/>
          <a:lstStyle/>
          <a:p>
            <a:pPr algn="ctr"/>
          </a:p>
        </p:txBody>
      </p:sp>
      <p:sp>
        <p:nvSpPr>
          <p:cNvPr id="14" name="Oval 13"/>
          <p:cNvSpPr/>
          <p:nvPr/>
        </p:nvSpPr>
        <p:spPr>
          <a:xfrm>
            <a:off x="9415520" y="4597968"/>
            <a:ext cx="234785" cy="280903"/>
          </a:xfrm>
          <a:prstGeom prst="ellipse">
            <a:avLst/>
          </a:prstGeom>
          <a:noFill/>
          <a:ln w="44450">
            <a:solidFill>
              <a:srgbClr val="1F5FAD"/>
            </a:solidFill>
          </a:ln>
        </p:spPr>
        <p:txBody>
          <a:bodyPr rtlCol="0" anchor="ctr"/>
          <a:lstStyle/>
          <a:p>
            <a:pPr algn="ctr"/>
          </a:p>
        </p:txBody>
      </p:sp>
      <p:sp>
        <p:nvSpPr>
          <p:cNvPr id="15" name="Oval 14"/>
          <p:cNvSpPr/>
          <p:nvPr/>
        </p:nvSpPr>
        <p:spPr>
          <a:xfrm>
            <a:off x="8660133" y="2767705"/>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217748" y="287304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217748" y="4839370"/>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225, Figure 7.25. The crop and marks are for teaching.</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makes an inside-bar reversal more reliable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32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Lim says the first bar should be as wide as possible on high volume, the second as narrow as possible on very low volume (p. 224).</a:t>
            </a:r>
          </a:p>
          <a:p>
            <a:pPr algn="l">
              <a:lnSpc>
                <a:spcPct val="105000"/>
              </a:lnSpc>
              <a:spcBef>
                <a:spcPts val="0"/>
              </a:spcBef>
              <a:spcAft>
                <a:spcPts val="1100"/>
              </a:spcAft>
            </a:pPr>
            <a:r>
              <a:rPr sz="1700" b="0" i="0">
                <a:solidFill>
                  <a:srgbClr val="1A1A1A"/>
                </a:solidFill>
                <a:latin typeface="Arial"/>
              </a:rPr>
              <a:t>This crop shows no volume. Gold </a:t>
            </a:r>
            <a:r>
              <a:rPr sz="1700" b="1" i="0">
                <a:solidFill>
                  <a:srgbClr val="E09B00"/>
                </a:solidFill>
                <a:latin typeface="Arial"/>
              </a:rPr>
              <a:t>(1)</a:t>
            </a:r>
            <a:r>
              <a:rPr sz="1700" b="0" i="0">
                <a:solidFill>
                  <a:srgbClr val="1A1A1A"/>
                </a:solidFill>
                <a:latin typeface="Arial"/>
              </a:rPr>
              <a:t> and red </a:t>
            </a:r>
            <a:r>
              <a:rPr sz="1700" b="1" i="0">
                <a:solidFill>
                  <a:srgbClr val="C62828"/>
                </a:solidFill>
                <a:latin typeface="Arial"/>
              </a:rPr>
              <a:t>(2)</a:t>
            </a:r>
            <a:r>
              <a:rPr sz="1700" b="0" i="0">
                <a:solidFill>
                  <a:srgbClr val="1A1A1A"/>
                </a:solidFill>
                <a:latin typeface="Arial"/>
              </a:rPr>
              <a:t> are the two inside bars at one resistance.</a:t>
            </a:r>
          </a:p>
          <a:p>
            <a:pPr algn="l">
              <a:lnSpc>
                <a:spcPct val="105000"/>
              </a:lnSpc>
              <a:spcBef>
                <a:spcPts val="0"/>
              </a:spcBef>
              <a:spcAft>
                <a:spcPts val="1100"/>
              </a:spcAft>
            </a:pPr>
            <a:r>
              <a:rPr sz="1700" b="0" i="0">
                <a:solidFill>
                  <a:srgbClr val="1A1A1A"/>
                </a:solidFill>
                <a:latin typeface="Arial"/>
              </a:rPr>
              <a:t>Both highs poke above the upper Bollinger band but close below it, a sign of price exhaustion. Blue </a:t>
            </a:r>
            <a:r>
              <a:rPr sz="1700" b="1" i="0">
                <a:solidFill>
                  <a:srgbClr val="1F5FAD"/>
                </a:solidFill>
                <a:latin typeface="Arial"/>
              </a:rPr>
              <a:t>(3)</a:t>
            </a:r>
            <a:r>
              <a:rPr sz="1700" b="0" i="0">
                <a:solidFill>
                  <a:srgbClr val="1A1A1A"/>
                </a:solidFill>
                <a:latin typeface="Arial"/>
              </a:rPr>
              <a:t> is the bearish StochRSI divergence (p. 225).</a:t>
            </a:r>
          </a:p>
        </p:txBody>
      </p:sp>
      <p:sp>
        <p:nvSpPr>
          <p:cNvPr id="8" name="Rectangle 7"/>
          <p:cNvSpPr/>
          <p:nvPr/>
        </p:nvSpPr>
        <p:spPr>
          <a:xfrm>
            <a:off x="5305300" y="1810512"/>
            <a:ext cx="6107373"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4172" y="1929384"/>
            <a:ext cx="5869629"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4172" y="1929384"/>
            <a:ext cx="5869629"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8492" y="2203703"/>
            <a:ext cx="532098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ITC Holdings daily chart. Two inside-bar reversals test the same resistance; the lower panel labels bearish StochRSI divergence.</a:t>
            </a:r>
          </a:p>
        </p:txBody>
      </p:sp>
      <p:sp>
        <p:nvSpPr>
          <p:cNvPr id="12" name="Rectangle 11"/>
          <p:cNvSpPr/>
          <p:nvPr/>
        </p:nvSpPr>
        <p:spPr>
          <a:xfrm>
            <a:off x="8916602" y="2104948"/>
            <a:ext cx="176088" cy="561807"/>
          </a:xfrm>
          <a:prstGeom prst="rect">
            <a:avLst/>
          </a:prstGeom>
          <a:noFill/>
          <a:ln w="44450">
            <a:solidFill>
              <a:srgbClr val="E09B00"/>
            </a:solidFill>
          </a:ln>
        </p:spPr>
        <p:txBody>
          <a:bodyPr rtlCol="0" anchor="ctr"/>
          <a:lstStyle/>
          <a:p>
            <a:pPr algn="ctr"/>
          </a:p>
        </p:txBody>
      </p:sp>
      <p:sp>
        <p:nvSpPr>
          <p:cNvPr id="13" name="Rectangle 12"/>
          <p:cNvSpPr/>
          <p:nvPr/>
        </p:nvSpPr>
        <p:spPr>
          <a:xfrm>
            <a:off x="9474217" y="2104948"/>
            <a:ext cx="176088" cy="702259"/>
          </a:xfrm>
          <a:prstGeom prst="rect">
            <a:avLst/>
          </a:prstGeom>
          <a:noFill/>
          <a:ln w="44450">
            <a:solidFill>
              <a:srgbClr val="C62828"/>
            </a:solidFill>
          </a:ln>
        </p:spPr>
        <p:txBody>
          <a:bodyPr rtlCol="0" anchor="ctr"/>
          <a:lstStyle/>
          <a:p>
            <a:pPr algn="ctr"/>
          </a:p>
        </p:txBody>
      </p:sp>
      <p:sp>
        <p:nvSpPr>
          <p:cNvPr id="14" name="Oval 13"/>
          <p:cNvSpPr/>
          <p:nvPr/>
        </p:nvSpPr>
        <p:spPr>
          <a:xfrm>
            <a:off x="9415520" y="4597968"/>
            <a:ext cx="234785" cy="280903"/>
          </a:xfrm>
          <a:prstGeom prst="ellipse">
            <a:avLst/>
          </a:prstGeom>
          <a:noFill/>
          <a:ln w="44450">
            <a:solidFill>
              <a:srgbClr val="1F5FAD"/>
            </a:solidFill>
          </a:ln>
        </p:spPr>
        <p:txBody>
          <a:bodyPr rtlCol="0" anchor="ctr"/>
          <a:lstStyle/>
          <a:p>
            <a:pPr algn="ctr"/>
          </a:p>
        </p:txBody>
      </p:sp>
      <p:sp>
        <p:nvSpPr>
          <p:cNvPr id="15" name="Oval 14"/>
          <p:cNvSpPr/>
          <p:nvPr/>
        </p:nvSpPr>
        <p:spPr>
          <a:xfrm>
            <a:off x="8660133" y="2767705"/>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217748" y="287304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217748" y="4839370"/>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225, Figure 7.25. The crop and marks are for teaching.</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21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ideal inside bars</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bar should be wide in an ideal inside reversal?</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The first bar</a:t>
            </a:r>
          </a:p>
          <a:p>
            <a:pPr algn="l">
              <a:lnSpc>
                <a:spcPct val="105000"/>
              </a:lnSpc>
              <a:spcBef>
                <a:spcPts val="0"/>
              </a:spcBef>
              <a:spcAft>
                <a:spcPts val="200"/>
              </a:spcAft>
            </a:pPr>
            <a:r>
              <a:rPr sz="1700" b="0" i="0">
                <a:solidFill>
                  <a:srgbClr val="FFFFFF"/>
                </a:solidFill>
                <a:latin typeface="Arial"/>
              </a:rPr>
              <a:t>B.  The second bar</a:t>
            </a:r>
          </a:p>
          <a:p>
            <a:pPr algn="l">
              <a:lnSpc>
                <a:spcPct val="105000"/>
              </a:lnSpc>
              <a:spcBef>
                <a:spcPts val="0"/>
              </a:spcBef>
              <a:spcAft>
                <a:spcPts val="200"/>
              </a:spcAft>
            </a:pPr>
            <a:r>
              <a:rPr sz="1700" b="0" i="0">
                <a:solidFill>
                  <a:srgbClr val="FFFFFF"/>
                </a:solidFill>
                <a:latin typeface="Arial"/>
              </a:rPr>
              <a:t>C.  Neither bar</a:t>
            </a:r>
          </a:p>
          <a:p>
            <a:pPr algn="l">
              <a:lnSpc>
                <a:spcPct val="105000"/>
              </a:lnSpc>
              <a:spcBef>
                <a:spcPts val="0"/>
              </a:spcBef>
              <a:spcAft>
                <a:spcPts val="200"/>
              </a:spcAft>
            </a:pPr>
            <a:r>
              <a:rPr sz="1700" b="0" i="0">
                <a:solidFill>
                  <a:srgbClr val="FFFFFF"/>
                </a:solidFill>
                <a:latin typeface="Arial"/>
              </a:rPr>
              <a:t>D.  Only the volume bar</a:t>
            </a:r>
          </a:p>
        </p:txBody>
      </p:sp>
      <p:sp>
        <p:nvSpPr>
          <p:cNvPr id="10" name="Rectangle 9"/>
          <p:cNvSpPr/>
          <p:nvPr/>
        </p:nvSpPr>
        <p:spPr>
          <a:xfrm>
            <a:off x="777240" y="3336798"/>
            <a:ext cx="5029200" cy="1790065"/>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bar should have very low volume?</a:t>
            </a:r>
          </a:p>
        </p:txBody>
      </p:sp>
      <p:sp>
        <p:nvSpPr>
          <p:cNvPr id="13" name="TextBox 12"/>
          <p:cNvSpPr txBox="1"/>
          <p:nvPr/>
        </p:nvSpPr>
        <p:spPr>
          <a:xfrm>
            <a:off x="1005840" y="3950843"/>
            <a:ext cx="4572000" cy="1102868"/>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The first bar</a:t>
            </a:r>
          </a:p>
          <a:p>
            <a:pPr algn="l">
              <a:lnSpc>
                <a:spcPct val="105000"/>
              </a:lnSpc>
              <a:spcBef>
                <a:spcPts val="0"/>
              </a:spcBef>
              <a:spcAft>
                <a:spcPts val="200"/>
              </a:spcAft>
            </a:pPr>
            <a:r>
              <a:rPr sz="1700" b="0" i="0">
                <a:solidFill>
                  <a:srgbClr val="FFFFFF"/>
                </a:solidFill>
                <a:latin typeface="Arial"/>
              </a:rPr>
              <a:t>B.  The second bar</a:t>
            </a:r>
          </a:p>
          <a:p>
            <a:pPr algn="l">
              <a:lnSpc>
                <a:spcPct val="105000"/>
              </a:lnSpc>
              <a:spcBef>
                <a:spcPts val="0"/>
              </a:spcBef>
              <a:spcAft>
                <a:spcPts val="200"/>
              </a:spcAft>
            </a:pPr>
            <a:r>
              <a:rPr sz="1700" b="0" i="0">
                <a:solidFill>
                  <a:srgbClr val="FFFFFF"/>
                </a:solidFill>
                <a:latin typeface="Arial"/>
              </a:rPr>
              <a:t>C.  Both bars</a:t>
            </a:r>
          </a:p>
          <a:p>
            <a:pPr algn="l">
              <a:lnSpc>
                <a:spcPct val="105000"/>
              </a:lnSpc>
              <a:spcBef>
                <a:spcPts val="0"/>
              </a:spcBef>
              <a:spcAft>
                <a:spcPts val="200"/>
              </a:spcAft>
            </a:pPr>
            <a:r>
              <a:rPr sz="1700" b="0" i="0">
                <a:solidFill>
                  <a:srgbClr val="FFFFFF"/>
                </a:solidFill>
                <a:latin typeface="Arial"/>
              </a:rPr>
              <a:t>D.  The resistance line</a:t>
            </a:r>
          </a:p>
        </p:txBody>
      </p:sp>
      <p:sp>
        <p:nvSpPr>
          <p:cNvPr id="14" name="Rectangle 13"/>
          <p:cNvSpPr/>
          <p:nvPr/>
        </p:nvSpPr>
        <p:spPr>
          <a:xfrm>
            <a:off x="6126479" y="1207008"/>
            <a:ext cx="5287975" cy="325886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2112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5639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ITC Holdings daily chart. Two inside-bar reversals test the same resistance; the lower panel labels bearish StochRSI divergence.</a:t>
            </a:r>
          </a:p>
        </p:txBody>
      </p:sp>
      <p:sp>
        <p:nvSpPr>
          <p:cNvPr id="18" name="Rectangle 17"/>
          <p:cNvSpPr/>
          <p:nvPr/>
        </p:nvSpPr>
        <p:spPr>
          <a:xfrm>
            <a:off x="9250239" y="1476936"/>
            <a:ext cx="151506" cy="483379"/>
          </a:xfrm>
          <a:prstGeom prst="rect">
            <a:avLst/>
          </a:prstGeom>
          <a:noFill/>
          <a:ln w="44450">
            <a:solidFill>
              <a:srgbClr val="E09B00"/>
            </a:solidFill>
          </a:ln>
        </p:spPr>
        <p:txBody>
          <a:bodyPr rtlCol="0" anchor="ctr"/>
          <a:lstStyle/>
          <a:p>
            <a:pPr algn="ctr"/>
          </a:p>
        </p:txBody>
      </p:sp>
      <p:sp>
        <p:nvSpPr>
          <p:cNvPr id="19" name="Rectangle 18"/>
          <p:cNvSpPr/>
          <p:nvPr/>
        </p:nvSpPr>
        <p:spPr>
          <a:xfrm>
            <a:off x="9730011" y="1476936"/>
            <a:ext cx="151506" cy="604224"/>
          </a:xfrm>
          <a:prstGeom prst="rect">
            <a:avLst/>
          </a:prstGeom>
          <a:noFill/>
          <a:ln w="44450">
            <a:solidFill>
              <a:srgbClr val="C62828"/>
            </a:solidFill>
          </a:ln>
        </p:spPr>
        <p:txBody>
          <a:bodyPr rtlCol="0" anchor="ctr"/>
          <a:lstStyle/>
          <a:p>
            <a:pPr algn="ctr"/>
          </a:p>
        </p:txBody>
      </p:sp>
      <p:sp>
        <p:nvSpPr>
          <p:cNvPr id="20" name="Oval 19"/>
          <p:cNvSpPr/>
          <p:nvPr/>
        </p:nvSpPr>
        <p:spPr>
          <a:xfrm>
            <a:off x="9679509" y="3621931"/>
            <a:ext cx="202009" cy="241689"/>
          </a:xfrm>
          <a:prstGeom prst="ellipse">
            <a:avLst/>
          </a:prstGeom>
          <a:noFill/>
          <a:ln w="44450">
            <a:solidFill>
              <a:srgbClr val="1F5FAD"/>
            </a:solidFill>
          </a:ln>
        </p:spPr>
        <p:txBody>
          <a:bodyPr rtlCol="0" anchor="ctr"/>
          <a:lstStyle/>
          <a:p>
            <a:pPr algn="ctr"/>
          </a:p>
        </p:txBody>
      </p:sp>
      <p:sp>
        <p:nvSpPr>
          <p:cNvPr id="21" name="Oval 20"/>
          <p:cNvSpPr/>
          <p:nvPr/>
        </p:nvSpPr>
        <p:spPr>
          <a:xfrm>
            <a:off x="9014255" y="203185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494027" y="212248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494027" y="381431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55731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7.25 -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21</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ideal inside bars</a:t>
            </a:r>
          </a:p>
        </p:txBody>
      </p:sp>
      <p:sp>
        <p:nvSpPr>
          <p:cNvPr id="6" name="Rectangle 5"/>
          <p:cNvSpPr/>
          <p:nvPr/>
        </p:nvSpPr>
        <p:spPr>
          <a:xfrm>
            <a:off x="777240" y="1207008"/>
            <a:ext cx="5029200" cy="201675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16759"/>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Which bar should be wide in an ideal inside reversal?</a:t>
            </a:r>
          </a:p>
        </p:txBody>
      </p:sp>
      <p:sp>
        <p:nvSpPr>
          <p:cNvPr id="9" name="TextBox 8"/>
          <p:cNvSpPr txBox="1"/>
          <p:nvPr/>
        </p:nvSpPr>
        <p:spPr>
          <a:xfrm>
            <a:off x="1097280" y="2069338"/>
            <a:ext cx="448056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first bar</a:t>
            </a:r>
          </a:p>
          <a:p>
            <a:pPr algn="l">
              <a:lnSpc>
                <a:spcPct val="115000"/>
              </a:lnSpc>
              <a:spcBef>
                <a:spcPts val="500"/>
              </a:spcBef>
              <a:spcAft>
                <a:spcPts val="0"/>
              </a:spcAft>
            </a:pPr>
            <a:r>
              <a:rPr sz="1700" b="0" i="0">
                <a:solidFill>
                  <a:srgbClr val="1A1A1A"/>
                </a:solidFill>
                <a:latin typeface="Arial"/>
              </a:rPr>
              <a:t>Lim says the first bar should be wide (p. 224).</a:t>
            </a:r>
          </a:p>
        </p:txBody>
      </p:sp>
      <p:sp>
        <p:nvSpPr>
          <p:cNvPr id="10" name="Rectangle 9"/>
          <p:cNvSpPr/>
          <p:nvPr/>
        </p:nvSpPr>
        <p:spPr>
          <a:xfrm>
            <a:off x="777240" y="3406647"/>
            <a:ext cx="5029200" cy="176847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406647"/>
            <a:ext cx="91440" cy="176847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589528"/>
            <a:ext cx="44805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Which bar should have very low volume?</a:t>
            </a:r>
          </a:p>
        </p:txBody>
      </p:sp>
      <p:sp>
        <p:nvSpPr>
          <p:cNvPr id="13" name="TextBox 12"/>
          <p:cNvSpPr txBox="1"/>
          <p:nvPr/>
        </p:nvSpPr>
        <p:spPr>
          <a:xfrm>
            <a:off x="1097280" y="4020693"/>
            <a:ext cx="448056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second bar</a:t>
            </a:r>
          </a:p>
          <a:p>
            <a:pPr algn="l">
              <a:lnSpc>
                <a:spcPct val="115000"/>
              </a:lnSpc>
              <a:spcBef>
                <a:spcPts val="500"/>
              </a:spcBef>
              <a:spcAft>
                <a:spcPts val="0"/>
              </a:spcAft>
            </a:pPr>
            <a:r>
              <a:rPr sz="1700" b="0" i="0">
                <a:solidFill>
                  <a:srgbClr val="1A1A1A"/>
                </a:solidFill>
                <a:latin typeface="Arial"/>
              </a:rPr>
              <a:t>Lim says the second bar should be narrow on very low volume (p. 224).</a:t>
            </a:r>
          </a:p>
        </p:txBody>
      </p:sp>
      <p:sp>
        <p:nvSpPr>
          <p:cNvPr id="14" name="Rectangle 13"/>
          <p:cNvSpPr/>
          <p:nvPr/>
        </p:nvSpPr>
        <p:spPr>
          <a:xfrm>
            <a:off x="6126479" y="1207008"/>
            <a:ext cx="5287975" cy="325886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2112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5639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ITC Holdings daily chart. Two inside-bar reversals test the same resistance; the lower panel labels bearish StochRSI divergence.</a:t>
            </a:r>
          </a:p>
        </p:txBody>
      </p:sp>
      <p:sp>
        <p:nvSpPr>
          <p:cNvPr id="18" name="Rectangle 17"/>
          <p:cNvSpPr/>
          <p:nvPr/>
        </p:nvSpPr>
        <p:spPr>
          <a:xfrm>
            <a:off x="9250239" y="1476936"/>
            <a:ext cx="151506" cy="483379"/>
          </a:xfrm>
          <a:prstGeom prst="rect">
            <a:avLst/>
          </a:prstGeom>
          <a:noFill/>
          <a:ln w="44450">
            <a:solidFill>
              <a:srgbClr val="E09B00"/>
            </a:solidFill>
          </a:ln>
        </p:spPr>
        <p:txBody>
          <a:bodyPr rtlCol="0" anchor="ctr"/>
          <a:lstStyle/>
          <a:p>
            <a:pPr algn="ctr"/>
          </a:p>
        </p:txBody>
      </p:sp>
      <p:sp>
        <p:nvSpPr>
          <p:cNvPr id="19" name="Rectangle 18"/>
          <p:cNvSpPr/>
          <p:nvPr/>
        </p:nvSpPr>
        <p:spPr>
          <a:xfrm>
            <a:off x="9730011" y="1476936"/>
            <a:ext cx="151506" cy="604224"/>
          </a:xfrm>
          <a:prstGeom prst="rect">
            <a:avLst/>
          </a:prstGeom>
          <a:noFill/>
          <a:ln w="44450">
            <a:solidFill>
              <a:srgbClr val="C62828"/>
            </a:solidFill>
          </a:ln>
        </p:spPr>
        <p:txBody>
          <a:bodyPr rtlCol="0" anchor="ctr"/>
          <a:lstStyle/>
          <a:p>
            <a:pPr algn="ctr"/>
          </a:p>
        </p:txBody>
      </p:sp>
      <p:sp>
        <p:nvSpPr>
          <p:cNvPr id="20" name="Oval 19"/>
          <p:cNvSpPr/>
          <p:nvPr/>
        </p:nvSpPr>
        <p:spPr>
          <a:xfrm>
            <a:off x="9679509" y="3621931"/>
            <a:ext cx="202009" cy="241689"/>
          </a:xfrm>
          <a:prstGeom prst="ellipse">
            <a:avLst/>
          </a:prstGeom>
          <a:noFill/>
          <a:ln w="44450">
            <a:solidFill>
              <a:srgbClr val="1F5FAD"/>
            </a:solidFill>
          </a:ln>
        </p:spPr>
        <p:txBody>
          <a:bodyPr rtlCol="0" anchor="ctr"/>
          <a:lstStyle/>
          <a:p>
            <a:pPr algn="ctr"/>
          </a:p>
        </p:txBody>
      </p:sp>
      <p:sp>
        <p:nvSpPr>
          <p:cNvPr id="21" name="Oval 20"/>
          <p:cNvSpPr/>
          <p:nvPr/>
        </p:nvSpPr>
        <p:spPr>
          <a:xfrm>
            <a:off x="9014255" y="203185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494027" y="212248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494027" y="381431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55731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7.25 -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21</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Lower inside bars can add an exhaustion warning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33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Figure 7.26 shows three successively lower inside bars </a:t>
            </a:r>
            <a:r>
              <a:rPr sz="1800" b="1" i="0">
                <a:solidFill>
                  <a:srgbClr val="E09B00"/>
                </a:solidFill>
                <a:latin typeface="Arial"/>
              </a:rPr>
              <a:t>(1)</a:t>
            </a:r>
            <a:r>
              <a:rPr sz="1800" b="0" i="0">
                <a:solidFill>
                  <a:srgbClr val="1A1A1A"/>
                </a:solidFill>
                <a:latin typeface="Arial"/>
              </a:rPr>
              <a:t>, each below the Bollinger band. Lim reads that as potential price exhaustion, more so on bearish volume (p. 225).</a:t>
            </a:r>
          </a:p>
          <a:p>
            <a:pPr algn="l">
              <a:lnSpc>
                <a:spcPct val="105000"/>
              </a:lnSpc>
              <a:spcBef>
                <a:spcPts val="0"/>
              </a:spcBef>
              <a:spcAft>
                <a:spcPts val="1100"/>
              </a:spcAft>
            </a:pPr>
            <a:r>
              <a:rPr sz="1800" b="0" i="0">
                <a:solidFill>
                  <a:srgbClr val="1A1A1A"/>
                </a:solidFill>
                <a:latin typeface="Arial"/>
              </a:rPr>
              <a:t>Later a bearish outside bar forms </a:t>
            </a:r>
            <a:r>
              <a:rPr sz="1800" b="1" i="0">
                <a:solidFill>
                  <a:srgbClr val="C62828"/>
                </a:solidFill>
                <a:latin typeface="Arial"/>
              </a:rPr>
              <a:t>(2)</a:t>
            </a:r>
            <a:r>
              <a:rPr sz="1800" b="0" i="0">
                <a:solidFill>
                  <a:srgbClr val="1A1A1A"/>
                </a:solidFill>
                <a:latin typeface="Arial"/>
              </a:rPr>
              <a:t>, and prices decline (p. 225).</a:t>
            </a:r>
          </a:p>
          <a:p>
            <a:pPr algn="l">
              <a:lnSpc>
                <a:spcPct val="105000"/>
              </a:lnSpc>
              <a:spcBef>
                <a:spcPts val="0"/>
              </a:spcBef>
              <a:spcAft>
                <a:spcPts val="1100"/>
              </a:spcAft>
            </a:pPr>
            <a:r>
              <a:rPr sz="1800" b="0" i="0">
                <a:solidFill>
                  <a:srgbClr val="1A1A1A"/>
                </a:solidFill>
                <a:latin typeface="Arial"/>
              </a:rPr>
              <a:t>The figure shows no volume, so read this as a warning, not a promise.</a:t>
            </a:r>
          </a:p>
        </p:txBody>
      </p:sp>
      <p:sp>
        <p:nvSpPr>
          <p:cNvPr id="8" name="Rectangle 7"/>
          <p:cNvSpPr/>
          <p:nvPr/>
        </p:nvSpPr>
        <p:spPr>
          <a:xfrm>
            <a:off x="5303519" y="1810512"/>
            <a:ext cx="6110935" cy="2835018"/>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2597274"/>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14007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7.26</a:t>
            </a:r>
          </a:p>
          <a:p>
            <a:pPr algn="l">
              <a:lnSpc>
                <a:spcPct val="115000"/>
              </a:lnSpc>
              <a:spcBef>
                <a:spcPts val="0"/>
              </a:spcBef>
              <a:spcAft>
                <a:spcPts val="0"/>
              </a:spcAft>
            </a:pPr>
            <a:r>
              <a:rPr sz="1500" b="0" i="0">
                <a:solidFill>
                  <a:srgbClr val="1A1A1A"/>
                </a:solidFill>
                <a:latin typeface="Palatino"/>
              </a:rPr>
              <a:t>Silver Wheaton daily chart. Three successively lower inside bars form below the lower band, followed by a bearish outside bar.</a:t>
            </a:r>
          </a:p>
        </p:txBody>
      </p:sp>
      <p:sp>
        <p:nvSpPr>
          <p:cNvPr id="12" name="Rectangle 11"/>
          <p:cNvSpPr/>
          <p:nvPr/>
        </p:nvSpPr>
        <p:spPr>
          <a:xfrm>
            <a:off x="8124059" y="3734489"/>
            <a:ext cx="381757" cy="701264"/>
          </a:xfrm>
          <a:prstGeom prst="rect">
            <a:avLst/>
          </a:prstGeom>
          <a:noFill/>
          <a:ln w="44450">
            <a:solidFill>
              <a:srgbClr val="E09B00"/>
            </a:solidFill>
          </a:ln>
        </p:spPr>
        <p:txBody>
          <a:bodyPr rtlCol="0" anchor="ctr"/>
          <a:lstStyle/>
          <a:p>
            <a:pPr algn="ctr"/>
          </a:p>
        </p:txBody>
      </p:sp>
      <p:sp>
        <p:nvSpPr>
          <p:cNvPr id="13" name="Rectangle 12"/>
          <p:cNvSpPr/>
          <p:nvPr/>
        </p:nvSpPr>
        <p:spPr>
          <a:xfrm>
            <a:off x="10238408" y="2435852"/>
            <a:ext cx="234927" cy="493482"/>
          </a:xfrm>
          <a:prstGeom prst="rect">
            <a:avLst/>
          </a:prstGeom>
          <a:noFill/>
          <a:ln w="44450">
            <a:solidFill>
              <a:srgbClr val="C62828"/>
            </a:solidFill>
          </a:ln>
        </p:spPr>
        <p:txBody>
          <a:bodyPr rtlCol="0" anchor="ctr"/>
          <a:lstStyle/>
          <a:p>
            <a:pPr algn="ctr"/>
          </a:p>
        </p:txBody>
      </p:sp>
      <p:sp>
        <p:nvSpPr>
          <p:cNvPr id="14" name="Oval 13"/>
          <p:cNvSpPr/>
          <p:nvPr/>
        </p:nvSpPr>
        <p:spPr>
          <a:xfrm>
            <a:off x="8513553" y="363774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0451706" y="236508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5303519" y="4736970"/>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7.26 -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225, Figure 7.26. The crop and marks are for teaching.</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These three formations are related, but they are not the same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34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This figure puts three reversal families beside one another. Gold </a:t>
            </a:r>
            <a:r>
              <a:rPr sz="1900" b="1" i="0">
                <a:solidFill>
                  <a:srgbClr val="E09B00"/>
                </a:solidFill>
                <a:latin typeface="Arial"/>
              </a:rPr>
              <a:t>(1)</a:t>
            </a:r>
            <a:r>
              <a:rPr sz="1900" b="0" i="0">
                <a:solidFill>
                  <a:srgbClr val="1A1A1A"/>
                </a:solidFill>
                <a:latin typeface="Arial"/>
              </a:rPr>
              <a:t> is an inside-bar reversal, red </a:t>
            </a:r>
            <a:r>
              <a:rPr sz="1900" b="1" i="0">
                <a:solidFill>
                  <a:srgbClr val="C62828"/>
                </a:solidFill>
                <a:latin typeface="Arial"/>
              </a:rPr>
              <a:t>(2)</a:t>
            </a:r>
            <a:r>
              <a:rPr sz="1900" b="0" i="0">
                <a:solidFill>
                  <a:srgbClr val="1A1A1A"/>
                </a:solidFill>
                <a:latin typeface="Arial"/>
              </a:rPr>
              <a:t> an outside-bar reversal, and blue </a:t>
            </a:r>
            <a:r>
              <a:rPr sz="1900" b="1" i="0">
                <a:solidFill>
                  <a:srgbClr val="1F5FAD"/>
                </a:solidFill>
                <a:latin typeface="Arial"/>
              </a:rPr>
              <a:t>(3)</a:t>
            </a:r>
            <a:r>
              <a:rPr sz="1900" b="0" i="0">
                <a:solidFill>
                  <a:srgbClr val="1A1A1A"/>
                </a:solidFill>
                <a:latin typeface="Arial"/>
              </a:rPr>
              <a:t> a three-bar reversal.</a:t>
            </a:r>
          </a:p>
          <a:p>
            <a:pPr algn="l">
              <a:lnSpc>
                <a:spcPct val="105000"/>
              </a:lnSpc>
              <a:spcBef>
                <a:spcPts val="0"/>
              </a:spcBef>
              <a:spcAft>
                <a:spcPts val="1100"/>
              </a:spcAft>
            </a:pPr>
            <a:r>
              <a:rPr sz="1900" b="0" i="0">
                <a:solidFill>
                  <a:srgbClr val="1A1A1A"/>
                </a:solidFill>
                <a:latin typeface="Arial"/>
              </a:rPr>
              <a:t>Lim notes that these bullish and bearish patterns line up with the stochastic oscillator's overbought and oversold readings (p. 225). Chapter 7 gives no stochastic method, so read them as context.</a:t>
            </a:r>
          </a:p>
        </p:txBody>
      </p:sp>
      <p:sp>
        <p:nvSpPr>
          <p:cNvPr id="8" name="Rectangle 7"/>
          <p:cNvSpPr/>
          <p:nvPr/>
        </p:nvSpPr>
        <p:spPr>
          <a:xfrm>
            <a:off x="5356094" y="1810512"/>
            <a:ext cx="6005786"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74966" y="1929384"/>
            <a:ext cx="5768042"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74966" y="1929384"/>
            <a:ext cx="5768042"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749286" y="2203703"/>
            <a:ext cx="5219402"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7.27</a:t>
            </a:r>
          </a:p>
          <a:p>
            <a:pPr algn="l">
              <a:lnSpc>
                <a:spcPct val="115000"/>
              </a:lnSpc>
              <a:spcBef>
                <a:spcPts val="0"/>
              </a:spcBef>
              <a:spcAft>
                <a:spcPts val="0"/>
              </a:spcAft>
            </a:pPr>
            <a:r>
              <a:rPr sz="1500" b="0" i="0">
                <a:solidFill>
                  <a:srgbClr val="1A1A1A"/>
                </a:solidFill>
                <a:latin typeface="Palatino"/>
              </a:rPr>
              <a:t>Alacer Gold daily chart. The marked examples show inside, outside, and three-bar reversals aligned with stochastic overbought or oversold readings.</a:t>
            </a:r>
          </a:p>
        </p:txBody>
      </p:sp>
      <p:sp>
        <p:nvSpPr>
          <p:cNvPr id="12" name="Rectangle 11"/>
          <p:cNvSpPr/>
          <p:nvPr/>
        </p:nvSpPr>
        <p:spPr>
          <a:xfrm>
            <a:off x="7407260" y="3509467"/>
            <a:ext cx="173041" cy="526694"/>
          </a:xfrm>
          <a:prstGeom prst="rect">
            <a:avLst/>
          </a:prstGeom>
          <a:noFill/>
          <a:ln w="44450">
            <a:solidFill>
              <a:srgbClr val="E09B00"/>
            </a:solidFill>
          </a:ln>
        </p:spPr>
        <p:txBody>
          <a:bodyPr rtlCol="0" anchor="ctr"/>
          <a:lstStyle/>
          <a:p>
            <a:pPr algn="ctr"/>
          </a:p>
        </p:txBody>
      </p:sp>
      <p:sp>
        <p:nvSpPr>
          <p:cNvPr id="13" name="Rectangle 12"/>
          <p:cNvSpPr/>
          <p:nvPr/>
        </p:nvSpPr>
        <p:spPr>
          <a:xfrm>
            <a:off x="10060560" y="2947659"/>
            <a:ext cx="144201" cy="386242"/>
          </a:xfrm>
          <a:prstGeom prst="rect">
            <a:avLst/>
          </a:prstGeom>
          <a:noFill/>
          <a:ln w="44450">
            <a:solidFill>
              <a:srgbClr val="C62828"/>
            </a:solidFill>
          </a:ln>
        </p:spPr>
        <p:txBody>
          <a:bodyPr rtlCol="0" anchor="ctr"/>
          <a:lstStyle/>
          <a:p>
            <a:pPr algn="ctr"/>
          </a:p>
        </p:txBody>
      </p:sp>
      <p:sp>
        <p:nvSpPr>
          <p:cNvPr id="14" name="Rectangle 13"/>
          <p:cNvSpPr/>
          <p:nvPr/>
        </p:nvSpPr>
        <p:spPr>
          <a:xfrm>
            <a:off x="8849271" y="3965935"/>
            <a:ext cx="144201" cy="438912"/>
          </a:xfrm>
          <a:prstGeom prst="rect">
            <a:avLst/>
          </a:prstGeom>
          <a:noFill/>
          <a:ln w="44450">
            <a:solidFill>
              <a:srgbClr val="1F5FAD"/>
            </a:solidFill>
          </a:ln>
        </p:spPr>
        <p:txBody>
          <a:bodyPr rtlCol="0" anchor="ctr"/>
          <a:lstStyle/>
          <a:p>
            <a:pPr algn="ctr"/>
          </a:p>
        </p:txBody>
      </p:sp>
      <p:sp>
        <p:nvSpPr>
          <p:cNvPr id="15" name="Oval 14"/>
          <p:cNvSpPr/>
          <p:nvPr/>
        </p:nvSpPr>
        <p:spPr>
          <a:xfrm>
            <a:off x="7153331" y="3469965"/>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10210394" y="280281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027945" y="4207337"/>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7.27 -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226, Figure 7.27. The crop and marks are for teaching.</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inside bar is not automatically a Harami</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35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says the inside bar's Japanese candlestick equivalent is the Harami pattern (p. 225): a narrow candle inside the larger candle before it. Lim keeps the two rules separate.</a:t>
            </a:r>
          </a:p>
          <a:p>
            <a:pPr algn="l">
              <a:lnSpc>
                <a:spcPct val="118000"/>
              </a:lnSpc>
              <a:spcBef>
                <a:spcPts val="0"/>
              </a:spcBef>
              <a:spcAft>
                <a:spcPts val="1300"/>
              </a:spcAft>
            </a:pPr>
            <a:r>
              <a:rPr sz="2100" b="0" i="0">
                <a:solidFill>
                  <a:srgbClr val="1A1A1A"/>
                </a:solidFill>
                <a:latin typeface="Arial"/>
              </a:rPr>
              <a:t>Lim's rule is that the narrow bar's range is no more than one-fourth to one-third of the larger bar's (pp. 225 to 226). A 6.0 point bar allows only 1.5 to 2.0.</a:t>
            </a:r>
          </a:p>
          <a:p>
            <a:pPr algn="l">
              <a:lnSpc>
                <a:spcPct val="118000"/>
              </a:lnSpc>
              <a:spcBef>
                <a:spcPts val="0"/>
              </a:spcBef>
              <a:spcAft>
                <a:spcPts val="1300"/>
              </a:spcAft>
            </a:pPr>
            <a:r>
              <a:rPr sz="2100" b="0" i="0">
                <a:solidFill>
                  <a:srgbClr val="1A1A1A"/>
                </a:solidFill>
                <a:latin typeface="Arial"/>
              </a:rPr>
              <a:t>An inside bar has no such limit. Check the proportion before you say Harami.</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names are related, not interchangeable.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225 to 226. The 6.0-point example is ours, invented.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22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reversal families</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Is every inside bar a Harami?</a:t>
            </a:r>
          </a:p>
        </p:txBody>
      </p:sp>
      <p:sp>
        <p:nvSpPr>
          <p:cNvPr id="9" name="TextBox 8"/>
          <p:cNvSpPr txBox="1"/>
          <p:nvPr/>
        </p:nvSpPr>
        <p:spPr>
          <a:xfrm>
            <a:off x="1005840" y="1821053"/>
            <a:ext cx="4572000" cy="1351152"/>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No; Harami has a stricter one-fourth to one-third proportion</a:t>
            </a:r>
          </a:p>
          <a:p>
            <a:pPr algn="l">
              <a:lnSpc>
                <a:spcPct val="105000"/>
              </a:lnSpc>
              <a:spcBef>
                <a:spcPts val="0"/>
              </a:spcBef>
              <a:spcAft>
                <a:spcPts val="200"/>
              </a:spcAft>
            </a:pPr>
            <a:r>
              <a:rPr sz="1700" b="0" i="0">
                <a:solidFill>
                  <a:srgbClr val="FFFFFF"/>
                </a:solidFill>
                <a:latin typeface="Arial"/>
              </a:rPr>
              <a:t>B.  Yes; the terms are identical</a:t>
            </a:r>
          </a:p>
          <a:p>
            <a:pPr algn="l">
              <a:lnSpc>
                <a:spcPct val="105000"/>
              </a:lnSpc>
              <a:spcBef>
                <a:spcPts val="0"/>
              </a:spcBef>
              <a:spcAft>
                <a:spcPts val="200"/>
              </a:spcAft>
            </a:pPr>
            <a:r>
              <a:rPr sz="1700" b="0" i="0">
                <a:solidFill>
                  <a:srgbClr val="FFFFFF"/>
                </a:solidFill>
                <a:latin typeface="Arial"/>
              </a:rPr>
              <a:t>C.  Only on high volume</a:t>
            </a:r>
          </a:p>
          <a:p>
            <a:pPr algn="l">
              <a:lnSpc>
                <a:spcPct val="105000"/>
              </a:lnSpc>
              <a:spcBef>
                <a:spcPts val="0"/>
              </a:spcBef>
              <a:spcAft>
                <a:spcPts val="200"/>
              </a:spcAft>
            </a:pPr>
            <a:r>
              <a:rPr sz="1700" b="0" i="0">
                <a:solidFill>
                  <a:srgbClr val="FFFFFF"/>
                </a:solidFill>
                <a:latin typeface="Arial"/>
              </a:rPr>
              <a:t>D.  Only below support</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How small must a Harami's narrow bar be?</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One-half to two-thirds</a:t>
            </a:r>
          </a:p>
          <a:p>
            <a:pPr algn="l">
              <a:lnSpc>
                <a:spcPct val="105000"/>
              </a:lnSpc>
              <a:spcBef>
                <a:spcPts val="0"/>
              </a:spcBef>
              <a:spcAft>
                <a:spcPts val="200"/>
              </a:spcAft>
            </a:pPr>
            <a:r>
              <a:rPr sz="1700" b="0" i="0">
                <a:solidFill>
                  <a:srgbClr val="FFFFFF"/>
                </a:solidFill>
                <a:latin typeface="Arial"/>
              </a:rPr>
              <a:t>B.  One-fourth to one-third</a:t>
            </a:r>
          </a:p>
          <a:p>
            <a:pPr algn="l">
              <a:lnSpc>
                <a:spcPct val="105000"/>
              </a:lnSpc>
              <a:spcBef>
                <a:spcPts val="0"/>
              </a:spcBef>
              <a:spcAft>
                <a:spcPts val="200"/>
              </a:spcAft>
            </a:pPr>
            <a:r>
              <a:rPr sz="1700" b="0" i="0">
                <a:solidFill>
                  <a:srgbClr val="FFFFFF"/>
                </a:solidFill>
                <a:latin typeface="Arial"/>
              </a:rPr>
              <a:t>C.  One to two points</a:t>
            </a:r>
          </a:p>
          <a:p>
            <a:pPr algn="l">
              <a:lnSpc>
                <a:spcPct val="105000"/>
              </a:lnSpc>
              <a:spcBef>
                <a:spcPts val="0"/>
              </a:spcBef>
              <a:spcAft>
                <a:spcPts val="200"/>
              </a:spcAft>
            </a:pPr>
            <a:r>
              <a:rPr sz="1700" b="0" i="0">
                <a:solidFill>
                  <a:srgbClr val="FFFFFF"/>
                </a:solidFill>
                <a:latin typeface="Arial"/>
              </a:rPr>
              <a:t>D.  No proportion</a:t>
            </a:r>
          </a:p>
        </p:txBody>
      </p:sp>
      <p:sp>
        <p:nvSpPr>
          <p:cNvPr id="14" name="Rectangle 13"/>
          <p:cNvSpPr/>
          <p:nvPr/>
        </p:nvSpPr>
        <p:spPr>
          <a:xfrm>
            <a:off x="6126479" y="1207008"/>
            <a:ext cx="5287975" cy="3312072"/>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74328"/>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61712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7.27</a:t>
            </a:r>
          </a:p>
          <a:p>
            <a:pPr algn="l">
              <a:lnSpc>
                <a:spcPct val="115000"/>
              </a:lnSpc>
              <a:spcBef>
                <a:spcPts val="0"/>
              </a:spcBef>
              <a:spcAft>
                <a:spcPts val="0"/>
              </a:spcAft>
            </a:pPr>
            <a:r>
              <a:rPr sz="1500" b="0" i="0">
                <a:solidFill>
                  <a:srgbClr val="1A1A1A"/>
                </a:solidFill>
                <a:latin typeface="Palatino"/>
              </a:rPr>
              <a:t>Alacer Gold daily chart. The marked examples show inside, outside, and three-bar reversals aligned with stochastic overbought or oversold readings.</a:t>
            </a:r>
          </a:p>
        </p:txBody>
      </p:sp>
      <p:sp>
        <p:nvSpPr>
          <p:cNvPr id="18" name="Rectangle 17"/>
          <p:cNvSpPr/>
          <p:nvPr/>
        </p:nvSpPr>
        <p:spPr>
          <a:xfrm>
            <a:off x="7937179" y="2709327"/>
            <a:ext cx="151506" cy="461149"/>
          </a:xfrm>
          <a:prstGeom prst="rect">
            <a:avLst/>
          </a:prstGeom>
          <a:noFill/>
          <a:ln w="44450">
            <a:solidFill>
              <a:srgbClr val="E09B00"/>
            </a:solidFill>
          </a:ln>
        </p:spPr>
        <p:txBody>
          <a:bodyPr rtlCol="0" anchor="ctr"/>
          <a:lstStyle/>
          <a:p>
            <a:pPr algn="ctr"/>
          </a:p>
        </p:txBody>
      </p:sp>
      <p:sp>
        <p:nvSpPr>
          <p:cNvPr id="19" name="Rectangle 18"/>
          <p:cNvSpPr/>
          <p:nvPr/>
        </p:nvSpPr>
        <p:spPr>
          <a:xfrm>
            <a:off x="10260285" y="2217435"/>
            <a:ext cx="126255" cy="338176"/>
          </a:xfrm>
          <a:prstGeom prst="rect">
            <a:avLst/>
          </a:prstGeom>
          <a:noFill/>
          <a:ln w="44450">
            <a:solidFill>
              <a:srgbClr val="C62828"/>
            </a:solidFill>
          </a:ln>
        </p:spPr>
        <p:txBody>
          <a:bodyPr rtlCol="0" anchor="ctr"/>
          <a:lstStyle/>
          <a:p>
            <a:pPr algn="ctr"/>
          </a:p>
        </p:txBody>
      </p:sp>
      <p:sp>
        <p:nvSpPr>
          <p:cNvPr id="20" name="Rectangle 19"/>
          <p:cNvSpPr/>
          <p:nvPr/>
        </p:nvSpPr>
        <p:spPr>
          <a:xfrm>
            <a:off x="9199737" y="3108990"/>
            <a:ext cx="126255" cy="384291"/>
          </a:xfrm>
          <a:prstGeom prst="rect">
            <a:avLst/>
          </a:prstGeom>
          <a:noFill/>
          <a:ln w="44450">
            <a:solidFill>
              <a:srgbClr val="1F5FAD"/>
            </a:solidFill>
          </a:ln>
        </p:spPr>
        <p:txBody>
          <a:bodyPr rtlCol="0" anchor="ctr"/>
          <a:lstStyle/>
          <a:p>
            <a:pPr algn="ctr"/>
          </a:p>
        </p:txBody>
      </p:sp>
      <p:sp>
        <p:nvSpPr>
          <p:cNvPr id="21" name="Oval 20"/>
          <p:cNvSpPr/>
          <p:nvPr/>
        </p:nvSpPr>
        <p:spPr>
          <a:xfrm>
            <a:off x="7701195" y="266108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10377818" y="207696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342520" y="330669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610520"/>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7.27 -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reversal families</a:t>
            </a:r>
          </a:p>
        </p:txBody>
      </p:sp>
      <p:sp>
        <p:nvSpPr>
          <p:cNvPr id="6" name="Rectangle 5"/>
          <p:cNvSpPr/>
          <p:nvPr/>
        </p:nvSpPr>
        <p:spPr>
          <a:xfrm>
            <a:off x="777240" y="1207008"/>
            <a:ext cx="5029200" cy="251333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513330"/>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Is every inside bar a Harami?</a:t>
            </a:r>
          </a:p>
        </p:txBody>
      </p:sp>
      <p:sp>
        <p:nvSpPr>
          <p:cNvPr id="9" name="TextBox 8"/>
          <p:cNvSpPr txBox="1"/>
          <p:nvPr/>
        </p:nvSpPr>
        <p:spPr>
          <a:xfrm>
            <a:off x="1097280" y="1821053"/>
            <a:ext cx="4480560" cy="189928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No; Harami has a stricter one-fourth to one-third proportion</a:t>
            </a:r>
          </a:p>
          <a:p>
            <a:pPr algn="l">
              <a:lnSpc>
                <a:spcPct val="115000"/>
              </a:lnSpc>
              <a:spcBef>
                <a:spcPts val="500"/>
              </a:spcBef>
              <a:spcAft>
                <a:spcPts val="0"/>
              </a:spcAft>
            </a:pPr>
            <a:r>
              <a:rPr sz="1700" b="0" i="0">
                <a:solidFill>
                  <a:srgbClr val="1A1A1A"/>
                </a:solidFill>
                <a:latin typeface="Arial"/>
              </a:rPr>
              <a:t>Lim keeps inside bar and Harami rules separate; Harami has the stricter proportion (pp. 225 to 226).</a:t>
            </a:r>
          </a:p>
        </p:txBody>
      </p:sp>
      <p:sp>
        <p:nvSpPr>
          <p:cNvPr id="10" name="Rectangle 9"/>
          <p:cNvSpPr/>
          <p:nvPr/>
        </p:nvSpPr>
        <p:spPr>
          <a:xfrm>
            <a:off x="777240" y="3903218"/>
            <a:ext cx="5029200" cy="198755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903218"/>
            <a:ext cx="91440" cy="198755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408609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How small must a Harami's narrow bar be?</a:t>
            </a:r>
          </a:p>
        </p:txBody>
      </p:sp>
      <p:sp>
        <p:nvSpPr>
          <p:cNvPr id="13" name="TextBox 12"/>
          <p:cNvSpPr txBox="1"/>
          <p:nvPr/>
        </p:nvSpPr>
        <p:spPr>
          <a:xfrm>
            <a:off x="1097280" y="4765548"/>
            <a:ext cx="4480560" cy="112522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One-fourth to one-third</a:t>
            </a:r>
          </a:p>
          <a:p>
            <a:pPr algn="l">
              <a:lnSpc>
                <a:spcPct val="115000"/>
              </a:lnSpc>
              <a:spcBef>
                <a:spcPts val="500"/>
              </a:spcBef>
              <a:spcAft>
                <a:spcPts val="0"/>
              </a:spcAft>
            </a:pPr>
            <a:r>
              <a:rPr sz="1700" b="0" i="0">
                <a:solidFill>
                  <a:srgbClr val="1A1A1A"/>
                </a:solidFill>
                <a:latin typeface="Arial"/>
              </a:rPr>
              <a:t>No more than one-fourth to one-third of the larger bar's range (pp. 225 to 226).</a:t>
            </a:r>
          </a:p>
        </p:txBody>
      </p:sp>
      <p:sp>
        <p:nvSpPr>
          <p:cNvPr id="14" name="Rectangle 13"/>
          <p:cNvSpPr/>
          <p:nvPr/>
        </p:nvSpPr>
        <p:spPr>
          <a:xfrm>
            <a:off x="6126479" y="1207008"/>
            <a:ext cx="5287975" cy="3312072"/>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3074328"/>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61712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7.27</a:t>
            </a:r>
          </a:p>
          <a:p>
            <a:pPr algn="l">
              <a:lnSpc>
                <a:spcPct val="115000"/>
              </a:lnSpc>
              <a:spcBef>
                <a:spcPts val="0"/>
              </a:spcBef>
              <a:spcAft>
                <a:spcPts val="0"/>
              </a:spcAft>
            </a:pPr>
            <a:r>
              <a:rPr sz="1500" b="0" i="0">
                <a:solidFill>
                  <a:srgbClr val="1A1A1A"/>
                </a:solidFill>
                <a:latin typeface="Palatino"/>
              </a:rPr>
              <a:t>Alacer Gold daily chart. The marked examples show inside, outside, and three-bar reversals aligned with stochastic overbought or oversold readings.</a:t>
            </a:r>
          </a:p>
        </p:txBody>
      </p:sp>
      <p:sp>
        <p:nvSpPr>
          <p:cNvPr id="18" name="Rectangle 17"/>
          <p:cNvSpPr/>
          <p:nvPr/>
        </p:nvSpPr>
        <p:spPr>
          <a:xfrm>
            <a:off x="7937179" y="2709327"/>
            <a:ext cx="151506" cy="461149"/>
          </a:xfrm>
          <a:prstGeom prst="rect">
            <a:avLst/>
          </a:prstGeom>
          <a:noFill/>
          <a:ln w="44450">
            <a:solidFill>
              <a:srgbClr val="E09B00"/>
            </a:solidFill>
          </a:ln>
        </p:spPr>
        <p:txBody>
          <a:bodyPr rtlCol="0" anchor="ctr"/>
          <a:lstStyle/>
          <a:p>
            <a:pPr algn="ctr"/>
          </a:p>
        </p:txBody>
      </p:sp>
      <p:sp>
        <p:nvSpPr>
          <p:cNvPr id="19" name="Rectangle 18"/>
          <p:cNvSpPr/>
          <p:nvPr/>
        </p:nvSpPr>
        <p:spPr>
          <a:xfrm>
            <a:off x="10260285" y="2217435"/>
            <a:ext cx="126255" cy="338176"/>
          </a:xfrm>
          <a:prstGeom prst="rect">
            <a:avLst/>
          </a:prstGeom>
          <a:noFill/>
          <a:ln w="44450">
            <a:solidFill>
              <a:srgbClr val="C62828"/>
            </a:solidFill>
          </a:ln>
        </p:spPr>
        <p:txBody>
          <a:bodyPr rtlCol="0" anchor="ctr"/>
          <a:lstStyle/>
          <a:p>
            <a:pPr algn="ctr"/>
          </a:p>
        </p:txBody>
      </p:sp>
      <p:sp>
        <p:nvSpPr>
          <p:cNvPr id="20" name="Rectangle 19"/>
          <p:cNvSpPr/>
          <p:nvPr/>
        </p:nvSpPr>
        <p:spPr>
          <a:xfrm>
            <a:off x="9199737" y="3108990"/>
            <a:ext cx="126255" cy="384291"/>
          </a:xfrm>
          <a:prstGeom prst="rect">
            <a:avLst/>
          </a:prstGeom>
          <a:noFill/>
          <a:ln w="44450">
            <a:solidFill>
              <a:srgbClr val="1F5FAD"/>
            </a:solidFill>
          </a:ln>
        </p:spPr>
        <p:txBody>
          <a:bodyPr rtlCol="0" anchor="ctr"/>
          <a:lstStyle/>
          <a:p>
            <a:pPr algn="ctr"/>
          </a:p>
        </p:txBody>
      </p:sp>
      <p:sp>
        <p:nvSpPr>
          <p:cNvPr id="21" name="Oval 20"/>
          <p:cNvSpPr/>
          <p:nvPr/>
        </p:nvSpPr>
        <p:spPr>
          <a:xfrm>
            <a:off x="7701195" y="266108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10377818" y="207696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342520" y="330669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4610520"/>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7.27 -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exhaustion bar shows a trend running out of force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36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We now move from containment to exhaustion. In an uptrend, an exhaustion bar opens above the previous high, is large in context, and closes near its low.</a:t>
            </a:r>
          </a:p>
          <a:p>
            <a:pPr algn="l">
              <a:lnSpc>
                <a:spcPct val="118000"/>
              </a:lnSpc>
              <a:spcBef>
                <a:spcPts val="0"/>
              </a:spcBef>
              <a:spcAft>
                <a:spcPts val="1300"/>
              </a:spcAft>
            </a:pPr>
            <a:r>
              <a:rPr sz="2100" b="0" i="0">
                <a:solidFill>
                  <a:srgbClr val="1A1A1A"/>
                </a:solidFill>
                <a:latin typeface="Arial"/>
              </a:rPr>
              <a:t>The next bar does not gap away from it. Lim uses those observations together to describe a reversal warning (p. 226).</a:t>
            </a:r>
          </a:p>
          <a:p>
            <a:pPr algn="l">
              <a:lnSpc>
                <a:spcPct val="118000"/>
              </a:lnSpc>
              <a:spcBef>
                <a:spcPts val="0"/>
              </a:spcBef>
              <a:spcAft>
                <a:spcPts val="1300"/>
              </a:spcAft>
            </a:pPr>
            <a:r>
              <a:rPr sz="2100" b="0" i="0">
                <a:solidFill>
                  <a:srgbClr val="1A1A1A"/>
                </a:solidFill>
                <a:latin typeface="Arial"/>
              </a:rPr>
              <a:t>The bullish converse appears at the bottom of a downtrend. It is a warning, not certainty.</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trend, size, close, and the next-bar gap together.</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226. The transition wording is ours.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the exhaustion rule, price by price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an exhaustion bar with simple prices. The previous bar reached a high of PHP 65.00 </a:t>
            </a:r>
            <a:r>
              <a:rPr sz="1700" b="1" i="0">
                <a:solidFill>
                  <a:srgbClr val="E09B00"/>
                </a:solidFill>
                <a:latin typeface="Arial"/>
              </a:rPr>
              <a:t>(1)</a:t>
            </a:r>
            <a:r>
              <a:rPr sz="1700" b="0" i="0">
                <a:solidFill>
                  <a:srgbClr val="1A1A1A"/>
                </a:solidFill>
                <a:latin typeface="Arial"/>
              </a:rPr>
              <a:t>. The exhaustion bar </a:t>
            </a:r>
            <a:r>
              <a:rPr sz="1700" b="1" i="0">
                <a:solidFill>
                  <a:srgbClr val="C62828"/>
                </a:solidFill>
                <a:latin typeface="Arial"/>
              </a:rPr>
              <a:t>(2)</a:t>
            </a:r>
            <a:r>
              <a:rPr sz="1700" b="0" i="0">
                <a:solidFill>
                  <a:srgbClr val="1A1A1A"/>
                </a:solidFill>
                <a:latin typeface="Arial"/>
              </a:rPr>
              <a:t> opens above it at PHP 65.40 and reaches PHP 66.20, then falls to close near its low at PHP 60.50. The next bar opens at PHP 60.20 </a:t>
            </a:r>
            <a:r>
              <a:rPr sz="1700" b="1" i="0">
                <a:solidFill>
                  <a:srgbClr val="1F5FAD"/>
                </a:solidFill>
                <a:latin typeface="Arial"/>
              </a:rPr>
              <a:t>(3)</a:t>
            </a:r>
            <a:r>
              <a:rPr sz="1700" b="0" i="0">
                <a:solidFill>
                  <a:srgbClr val="1A1A1A"/>
                </a:solidFill>
                <a:latin typeface="Arial"/>
              </a:rPr>
              <a:t>, inside that range, so there is no gap (p. 226).</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c-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7012076" y="3894172"/>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4144060" y="3576561"/>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9724643" y="4378947"/>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099858" y="381004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4231843" y="349243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640519" y="412291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LC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37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LC: invented PHP bars and million-share volume.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7.28 shows the bullish converse at a downtrend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38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book's bullish exhaustion case is in a downtrend. Gold </a:t>
            </a:r>
            <a:r>
              <a:rPr sz="1700" b="1" i="0">
                <a:solidFill>
                  <a:srgbClr val="E09B00"/>
                </a:solidFill>
                <a:latin typeface="Arial"/>
              </a:rPr>
              <a:t>(1)</a:t>
            </a:r>
            <a:r>
              <a:rPr sz="1700" b="0" i="0">
                <a:solidFill>
                  <a:srgbClr val="1A1A1A"/>
                </a:solidFill>
                <a:latin typeface="Arial"/>
              </a:rPr>
              <a:t> marks the gap before the bar, red </a:t>
            </a:r>
            <a:r>
              <a:rPr sz="1700" b="1" i="0">
                <a:solidFill>
                  <a:srgbClr val="C62828"/>
                </a:solidFill>
                <a:latin typeface="Arial"/>
              </a:rPr>
              <a:t>(2)</a:t>
            </a:r>
            <a:r>
              <a:rPr sz="1700" b="0" i="0">
                <a:solidFill>
                  <a:srgbClr val="1A1A1A"/>
                </a:solidFill>
                <a:latin typeface="Arial"/>
              </a:rPr>
              <a:t> the exhaustion bar, and blue </a:t>
            </a:r>
            <a:r>
              <a:rPr sz="1700" b="1" i="0">
                <a:solidFill>
                  <a:srgbClr val="1F5FAD"/>
                </a:solidFill>
                <a:latin typeface="Arial"/>
              </a:rPr>
              <a:t>(3)</a:t>
            </a:r>
            <a:r>
              <a:rPr sz="1700" b="0" i="0">
                <a:solidFill>
                  <a:srgbClr val="1A1A1A"/>
                </a:solidFill>
                <a:latin typeface="Arial"/>
              </a:rPr>
              <a:t> the later rebound.</a:t>
            </a:r>
          </a:p>
          <a:p>
            <a:pPr algn="l">
              <a:lnSpc>
                <a:spcPct val="105000"/>
              </a:lnSpc>
              <a:spcBef>
                <a:spcPts val="0"/>
              </a:spcBef>
              <a:spcAft>
                <a:spcPts val="1100"/>
              </a:spcAft>
            </a:pPr>
            <a:r>
              <a:rPr sz="1700" b="0" i="0">
                <a:solidFill>
                  <a:srgbClr val="1A1A1A"/>
                </a:solidFill>
                <a:latin typeface="Arial"/>
              </a:rPr>
              <a:t>The bar closes near its high, which is the bullish converse of the uptrend example. The larger bar still matters in trend context.</a:t>
            </a:r>
          </a:p>
          <a:p>
            <a:pPr algn="l">
              <a:lnSpc>
                <a:spcPct val="105000"/>
              </a:lnSpc>
              <a:spcBef>
                <a:spcPts val="0"/>
              </a:spcBef>
              <a:spcAft>
                <a:spcPts val="1100"/>
              </a:spcAft>
            </a:pPr>
            <a:r>
              <a:rPr sz="1700" b="0" i="0">
                <a:solidFill>
                  <a:srgbClr val="1A1A1A"/>
                </a:solidFill>
                <a:latin typeface="Arial"/>
              </a:rPr>
              <a:t>The prior gap is visible, but Lim's rule concerns the absence of a gap after the exhaustion bar (p. 226).</a:t>
            </a:r>
          </a:p>
        </p:txBody>
      </p:sp>
      <p:sp>
        <p:nvSpPr>
          <p:cNvPr id="8" name="Rectangle 7"/>
          <p:cNvSpPr/>
          <p:nvPr/>
        </p:nvSpPr>
        <p:spPr>
          <a:xfrm>
            <a:off x="5303519" y="1810512"/>
            <a:ext cx="6110935" cy="2851774"/>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2614030"/>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15683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J.P. Morgan Chase daily chart. The marked exhaustion bar forms a bottom; the preceding gap and later rebound show the context.</a:t>
            </a:r>
          </a:p>
        </p:txBody>
      </p:sp>
      <p:sp>
        <p:nvSpPr>
          <p:cNvPr id="12" name="Oval 11"/>
          <p:cNvSpPr/>
          <p:nvPr/>
        </p:nvSpPr>
        <p:spPr>
          <a:xfrm>
            <a:off x="8358987" y="3288680"/>
            <a:ext cx="352391" cy="235262"/>
          </a:xfrm>
          <a:prstGeom prst="ellipse">
            <a:avLst/>
          </a:prstGeom>
          <a:noFill/>
          <a:ln w="44450">
            <a:solidFill>
              <a:srgbClr val="E09B00"/>
            </a:solidFill>
          </a:ln>
        </p:spPr>
        <p:txBody>
          <a:bodyPr rtlCol="0" anchor="ctr"/>
          <a:lstStyle/>
          <a:p>
            <a:pPr algn="ctr"/>
          </a:p>
        </p:txBody>
      </p:sp>
      <p:sp>
        <p:nvSpPr>
          <p:cNvPr id="13" name="Rectangle 12"/>
          <p:cNvSpPr/>
          <p:nvPr/>
        </p:nvSpPr>
        <p:spPr>
          <a:xfrm>
            <a:off x="8564549" y="3393241"/>
            <a:ext cx="117463" cy="365964"/>
          </a:xfrm>
          <a:prstGeom prst="rect">
            <a:avLst/>
          </a:prstGeom>
          <a:noFill/>
          <a:ln w="44450">
            <a:solidFill>
              <a:srgbClr val="C62828"/>
            </a:solidFill>
          </a:ln>
        </p:spPr>
        <p:txBody>
          <a:bodyPr rtlCol="0" anchor="ctr"/>
          <a:lstStyle/>
          <a:p>
            <a:pPr algn="ctr"/>
          </a:p>
        </p:txBody>
      </p:sp>
      <p:cxnSp>
        <p:nvCxnSpPr>
          <p:cNvPr id="14" name="Connector 13"/>
          <p:cNvCxnSpPr/>
          <p:nvPr/>
        </p:nvCxnSpPr>
        <p:spPr>
          <a:xfrm flipV="1">
            <a:off x="8828842" y="2792014"/>
            <a:ext cx="822247" cy="444385"/>
          </a:xfrm>
          <a:prstGeom prst="line">
            <a:avLst/>
          </a:prstGeom>
          <a:ln w="44450">
            <a:solidFill>
              <a:srgbClr val="1F5FAD"/>
            </a:solidFill>
            <a:tailEnd type="triangle" w="med" len="med"/>
          </a:ln>
        </p:spPr>
      </p:cxnSp>
      <p:sp>
        <p:nvSpPr>
          <p:cNvPr id="15" name="Oval 14"/>
          <p:cNvSpPr/>
          <p:nvPr/>
        </p:nvSpPr>
        <p:spPr>
          <a:xfrm>
            <a:off x="8014331" y="3126671"/>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689748" y="338807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688191" y="263000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4753726"/>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7.28 -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226, Figure 7.28. The crop and marks are for teaching.</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23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exhaustion figure</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the next bar help distinguish in an exhaustion reading?</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Whether the next bar gaps away</a:t>
            </a:r>
          </a:p>
          <a:p>
            <a:pPr algn="l">
              <a:lnSpc>
                <a:spcPct val="105000"/>
              </a:lnSpc>
              <a:spcBef>
                <a:spcPts val="0"/>
              </a:spcBef>
              <a:spcAft>
                <a:spcPts val="200"/>
              </a:spcAft>
            </a:pPr>
            <a:r>
              <a:rPr sz="1700" b="0" i="0">
                <a:solidFill>
                  <a:srgbClr val="FFFFFF"/>
                </a:solidFill>
                <a:latin typeface="Arial"/>
              </a:rPr>
              <a:t>B.  Whether volume is absent</a:t>
            </a:r>
          </a:p>
          <a:p>
            <a:pPr algn="l">
              <a:lnSpc>
                <a:spcPct val="105000"/>
              </a:lnSpc>
              <a:spcBef>
                <a:spcPts val="0"/>
              </a:spcBef>
              <a:spcAft>
                <a:spcPts val="200"/>
              </a:spcAft>
            </a:pPr>
            <a:r>
              <a:rPr sz="1700" b="0" i="0">
                <a:solidFill>
                  <a:srgbClr val="FFFFFF"/>
                </a:solidFill>
                <a:latin typeface="Arial"/>
              </a:rPr>
              <a:t>C.  Whether resistance is horizontal</a:t>
            </a:r>
          </a:p>
          <a:p>
            <a:pPr algn="l">
              <a:lnSpc>
                <a:spcPct val="105000"/>
              </a:lnSpc>
              <a:spcBef>
                <a:spcPts val="0"/>
              </a:spcBef>
              <a:spcAft>
                <a:spcPts val="200"/>
              </a:spcAft>
            </a:pPr>
            <a:r>
              <a:rPr sz="1700" b="0" i="0">
                <a:solidFill>
                  <a:srgbClr val="FFFFFF"/>
                </a:solidFill>
                <a:latin typeface="Arial"/>
              </a:rPr>
              <a:t>D.  Whether the bar is an inside bar</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Where does the bullish exhaustion converse appear?</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At the top of a downtrend</a:t>
            </a:r>
          </a:p>
          <a:p>
            <a:pPr algn="l">
              <a:lnSpc>
                <a:spcPct val="105000"/>
              </a:lnSpc>
              <a:spcBef>
                <a:spcPts val="0"/>
              </a:spcBef>
              <a:spcAft>
                <a:spcPts val="200"/>
              </a:spcAft>
            </a:pPr>
            <a:r>
              <a:rPr sz="1700" b="0" i="0">
                <a:solidFill>
                  <a:srgbClr val="FFFFFF"/>
                </a:solidFill>
                <a:latin typeface="Arial"/>
              </a:rPr>
              <a:t>B.  Only in a flat market</a:t>
            </a:r>
          </a:p>
          <a:p>
            <a:pPr algn="l">
              <a:lnSpc>
                <a:spcPct val="105000"/>
              </a:lnSpc>
              <a:spcBef>
                <a:spcPts val="0"/>
              </a:spcBef>
              <a:spcAft>
                <a:spcPts val="200"/>
              </a:spcAft>
            </a:pPr>
            <a:r>
              <a:rPr sz="1700" b="0" i="0">
                <a:solidFill>
                  <a:srgbClr val="FFFFFF"/>
                </a:solidFill>
                <a:latin typeface="Arial"/>
              </a:rPr>
              <a:t>C.  Only above resistance</a:t>
            </a:r>
          </a:p>
          <a:p>
            <a:pPr algn="l">
              <a:lnSpc>
                <a:spcPct val="105000"/>
              </a:lnSpc>
              <a:spcBef>
                <a:spcPts val="0"/>
              </a:spcBef>
              <a:spcAft>
                <a:spcPts val="200"/>
              </a:spcAft>
            </a:pPr>
            <a:r>
              <a:rPr sz="1700" b="0" i="0">
                <a:solidFill>
                  <a:srgbClr val="FFFFFF"/>
                </a:solidFill>
                <a:latin typeface="Arial"/>
              </a:rPr>
              <a:t>D.  At the bottom of a downtrend</a:t>
            </a:r>
          </a:p>
        </p:txBody>
      </p:sp>
      <p:sp>
        <p:nvSpPr>
          <p:cNvPr id="14" name="Rectangle 13"/>
          <p:cNvSpPr/>
          <p:nvPr/>
        </p:nvSpPr>
        <p:spPr>
          <a:xfrm>
            <a:off x="6126479" y="1207008"/>
            <a:ext cx="5287975" cy="248549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4774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054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J.P. Morgan Chase daily chart. The marked exhaustion bar forms a bottom; the preceding gap and later rebound show the context.</a:t>
            </a:r>
          </a:p>
        </p:txBody>
      </p:sp>
      <p:sp>
        <p:nvSpPr>
          <p:cNvPr id="18" name="Oval 17"/>
          <p:cNvSpPr/>
          <p:nvPr/>
        </p:nvSpPr>
        <p:spPr>
          <a:xfrm>
            <a:off x="8770467" y="2494709"/>
            <a:ext cx="303013" cy="202297"/>
          </a:xfrm>
          <a:prstGeom prst="ellipse">
            <a:avLst/>
          </a:prstGeom>
          <a:noFill/>
          <a:ln w="44450">
            <a:solidFill>
              <a:srgbClr val="E09B00"/>
            </a:solidFill>
          </a:ln>
        </p:spPr>
        <p:txBody>
          <a:bodyPr rtlCol="0" anchor="ctr"/>
          <a:lstStyle/>
          <a:p>
            <a:pPr algn="ctr"/>
          </a:p>
        </p:txBody>
      </p:sp>
      <p:sp>
        <p:nvSpPr>
          <p:cNvPr id="19" name="Rectangle 18"/>
          <p:cNvSpPr/>
          <p:nvPr/>
        </p:nvSpPr>
        <p:spPr>
          <a:xfrm>
            <a:off x="8947225" y="2584619"/>
            <a:ext cx="101004" cy="314684"/>
          </a:xfrm>
          <a:prstGeom prst="rect">
            <a:avLst/>
          </a:prstGeom>
          <a:noFill/>
          <a:ln w="44450">
            <a:solidFill>
              <a:srgbClr val="C62828"/>
            </a:solidFill>
          </a:ln>
        </p:spPr>
        <p:txBody>
          <a:bodyPr rtlCol="0" anchor="ctr"/>
          <a:lstStyle/>
          <a:p>
            <a:pPr algn="ctr"/>
          </a:p>
        </p:txBody>
      </p:sp>
      <p:cxnSp>
        <p:nvCxnSpPr>
          <p:cNvPr id="20" name="Connector 19"/>
          <p:cNvCxnSpPr/>
          <p:nvPr/>
        </p:nvCxnSpPr>
        <p:spPr>
          <a:xfrm flipV="1">
            <a:off x="9174485" y="2067637"/>
            <a:ext cx="707033" cy="382117"/>
          </a:xfrm>
          <a:prstGeom prst="line">
            <a:avLst/>
          </a:prstGeom>
          <a:ln w="44450">
            <a:solidFill>
              <a:srgbClr val="1F5FAD"/>
            </a:solidFill>
            <a:tailEnd type="triangle" w="med" len="med"/>
          </a:ln>
        </p:spPr>
      </p:cxnSp>
      <p:sp>
        <p:nvSpPr>
          <p:cNvPr id="21" name="Oval 20"/>
          <p:cNvSpPr/>
          <p:nvPr/>
        </p:nvSpPr>
        <p:spPr>
          <a:xfrm>
            <a:off x="8458730" y="234002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039506" y="2564801"/>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898046" y="191295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3941"/>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7.28 -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23</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exhaustion figure</a:t>
            </a:r>
          </a:p>
        </p:txBody>
      </p:sp>
      <p:sp>
        <p:nvSpPr>
          <p:cNvPr id="6" name="Rectangle 5"/>
          <p:cNvSpPr/>
          <p:nvPr/>
        </p:nvSpPr>
        <p:spPr>
          <a:xfrm>
            <a:off x="777240" y="1207008"/>
            <a:ext cx="5029200" cy="249872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49872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the next bar help distinguish in an exhaustion reading?</a:t>
            </a:r>
          </a:p>
        </p:txBody>
      </p:sp>
      <p:sp>
        <p:nvSpPr>
          <p:cNvPr id="9" name="TextBox 8"/>
          <p:cNvSpPr txBox="1"/>
          <p:nvPr/>
        </p:nvSpPr>
        <p:spPr>
          <a:xfrm>
            <a:off x="1097280" y="2069338"/>
            <a:ext cx="4480560" cy="163639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Whether the next bar gaps away</a:t>
            </a:r>
          </a:p>
          <a:p>
            <a:pPr algn="l">
              <a:lnSpc>
                <a:spcPct val="115000"/>
              </a:lnSpc>
              <a:spcBef>
                <a:spcPts val="500"/>
              </a:spcBef>
              <a:spcAft>
                <a:spcPts val="0"/>
              </a:spcAft>
            </a:pPr>
            <a:r>
              <a:rPr sz="1700" b="0" i="0">
                <a:solidFill>
                  <a:srgbClr val="1A1A1A"/>
                </a:solidFill>
                <a:latin typeface="Arial"/>
              </a:rPr>
              <a:t>Lim requires no gap between the exhaustion bar and the subsequent bar (p. 226).</a:t>
            </a:r>
          </a:p>
        </p:txBody>
      </p:sp>
      <p:sp>
        <p:nvSpPr>
          <p:cNvPr id="10" name="Rectangle 9"/>
          <p:cNvSpPr/>
          <p:nvPr/>
        </p:nvSpPr>
        <p:spPr>
          <a:xfrm>
            <a:off x="777240" y="3888613"/>
            <a:ext cx="5029200" cy="223583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888613"/>
            <a:ext cx="91440" cy="223583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4071493"/>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Where does the bullish exhaustion converse appear?</a:t>
            </a:r>
          </a:p>
        </p:txBody>
      </p:sp>
      <p:sp>
        <p:nvSpPr>
          <p:cNvPr id="13" name="TextBox 12"/>
          <p:cNvSpPr txBox="1"/>
          <p:nvPr/>
        </p:nvSpPr>
        <p:spPr>
          <a:xfrm>
            <a:off x="1097280" y="4750943"/>
            <a:ext cx="44805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At the bottom of a downtrend</a:t>
            </a:r>
          </a:p>
          <a:p>
            <a:pPr algn="l">
              <a:lnSpc>
                <a:spcPct val="115000"/>
              </a:lnSpc>
              <a:spcBef>
                <a:spcPts val="500"/>
              </a:spcBef>
              <a:spcAft>
                <a:spcPts val="0"/>
              </a:spcAft>
            </a:pPr>
            <a:r>
              <a:rPr sz="1700" b="0" i="0">
                <a:solidFill>
                  <a:srgbClr val="1A1A1A"/>
                </a:solidFill>
                <a:latin typeface="Arial"/>
              </a:rPr>
              <a:t>Lim says the reverse is true in a downtrend; Figure 7.28 shows it forming a bottom (p. 226).</a:t>
            </a:r>
          </a:p>
        </p:txBody>
      </p:sp>
      <p:sp>
        <p:nvSpPr>
          <p:cNvPr id="14" name="Rectangle 13"/>
          <p:cNvSpPr/>
          <p:nvPr/>
        </p:nvSpPr>
        <p:spPr>
          <a:xfrm>
            <a:off x="6126479" y="1207008"/>
            <a:ext cx="5287975" cy="248549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4774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054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J.P. Morgan Chase daily chart. The marked exhaustion bar forms a bottom; the preceding gap and later rebound show the context.</a:t>
            </a:r>
          </a:p>
        </p:txBody>
      </p:sp>
      <p:sp>
        <p:nvSpPr>
          <p:cNvPr id="18" name="Oval 17"/>
          <p:cNvSpPr/>
          <p:nvPr/>
        </p:nvSpPr>
        <p:spPr>
          <a:xfrm>
            <a:off x="8770467" y="2494709"/>
            <a:ext cx="303013" cy="202297"/>
          </a:xfrm>
          <a:prstGeom prst="ellipse">
            <a:avLst/>
          </a:prstGeom>
          <a:noFill/>
          <a:ln w="44450">
            <a:solidFill>
              <a:srgbClr val="E09B00"/>
            </a:solidFill>
          </a:ln>
        </p:spPr>
        <p:txBody>
          <a:bodyPr rtlCol="0" anchor="ctr"/>
          <a:lstStyle/>
          <a:p>
            <a:pPr algn="ctr"/>
          </a:p>
        </p:txBody>
      </p:sp>
      <p:sp>
        <p:nvSpPr>
          <p:cNvPr id="19" name="Rectangle 18"/>
          <p:cNvSpPr/>
          <p:nvPr/>
        </p:nvSpPr>
        <p:spPr>
          <a:xfrm>
            <a:off x="8947225" y="2584619"/>
            <a:ext cx="101004" cy="314684"/>
          </a:xfrm>
          <a:prstGeom prst="rect">
            <a:avLst/>
          </a:prstGeom>
          <a:noFill/>
          <a:ln w="44450">
            <a:solidFill>
              <a:srgbClr val="C62828"/>
            </a:solidFill>
          </a:ln>
        </p:spPr>
        <p:txBody>
          <a:bodyPr rtlCol="0" anchor="ctr"/>
          <a:lstStyle/>
          <a:p>
            <a:pPr algn="ctr"/>
          </a:p>
        </p:txBody>
      </p:sp>
      <p:cxnSp>
        <p:nvCxnSpPr>
          <p:cNvPr id="20" name="Connector 19"/>
          <p:cNvCxnSpPr/>
          <p:nvPr/>
        </p:nvCxnSpPr>
        <p:spPr>
          <a:xfrm flipV="1">
            <a:off x="9174485" y="2067637"/>
            <a:ext cx="707033" cy="382117"/>
          </a:xfrm>
          <a:prstGeom prst="line">
            <a:avLst/>
          </a:prstGeom>
          <a:ln w="44450">
            <a:solidFill>
              <a:srgbClr val="1F5FAD"/>
            </a:solidFill>
            <a:tailEnd type="triangle" w="med" len="med"/>
          </a:ln>
        </p:spPr>
      </p:cxnSp>
      <p:sp>
        <p:nvSpPr>
          <p:cNvPr id="21" name="Oval 20"/>
          <p:cNvSpPr/>
          <p:nvPr/>
        </p:nvSpPr>
        <p:spPr>
          <a:xfrm>
            <a:off x="8458730" y="234002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039506" y="2564801"/>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898046" y="191295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3941"/>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7.28 -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23</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emotion spike is read through range and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39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Exhaustion uses trend, bar shape, and the next-bar gap. The next idea, an emotion spike, is recognised by an unusually wide range and unusually high volume.</a:t>
            </a:r>
          </a:p>
          <a:p>
            <a:pPr algn="l">
              <a:lnSpc>
                <a:spcPct val="118000"/>
              </a:lnSpc>
              <a:spcBef>
                <a:spcPts val="0"/>
              </a:spcBef>
              <a:spcAft>
                <a:spcPts val="1300"/>
              </a:spcAft>
            </a:pPr>
            <a:r>
              <a:rPr sz="2100" b="0" i="0">
                <a:solidFill>
                  <a:srgbClr val="1A1A1A"/>
                </a:solidFill>
                <a:latin typeface="Arial"/>
              </a:rPr>
              <a:t>Lim says the spike belongs to an emotional market and can appear with a reversal pattern. The invented chart shows the comparison, not a prediction (p. 227).</a:t>
            </a:r>
          </a:p>
        </p:txBody>
      </p:sp>
      <p:sp>
        <p:nvSpPr>
          <p:cNvPr id="8" name="Rectangle 7"/>
          <p:cNvSpPr/>
          <p:nvPr/>
        </p:nvSpPr>
        <p:spPr>
          <a:xfrm>
            <a:off x="777240" y="453085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6742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Range and volume together tell us why the bar is called a spike.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Transition wording is ours; the next chart is invented.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emotion spike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an emotion spike with simple prices. Bars 1, 2 and 4 are ordinary: each spans 3.0 points and trades 1.5 million shares. Bar 3 is the spike. It runs from PHP 62.00 to PHP 70.00, a range of 8.0 points </a:t>
            </a:r>
            <a:r>
              <a:rPr sz="1700" b="1" i="0">
                <a:solidFill>
                  <a:srgbClr val="E09B00"/>
                </a:solidFill>
                <a:latin typeface="Arial"/>
              </a:rPr>
              <a:t>(1)</a:t>
            </a:r>
            <a:r>
              <a:rPr sz="1700" b="0" i="0">
                <a:solidFill>
                  <a:srgbClr val="1A1A1A"/>
                </a:solidFill>
                <a:latin typeface="Arial"/>
              </a:rPr>
              <a:t>, and it trades 6.0 million shares </a:t>
            </a:r>
            <a:r>
              <a:rPr sz="1700" b="1" i="0">
                <a:solidFill>
                  <a:srgbClr val="C62828"/>
                </a:solidFill>
                <a:latin typeface="Arial"/>
              </a:rPr>
              <a:t>(2)</a:t>
            </a:r>
            <a:r>
              <a:rPr sz="1700" b="0" i="0">
                <a:solidFill>
                  <a:srgbClr val="1A1A1A"/>
                </a:solidFill>
                <a:latin typeface="Arial"/>
              </a:rPr>
              <a:t>, four times the ordinary volume. A wide range on high volume is exactly how Lim describes a price spike in an emotional market (p. 227).</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d-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7395057" y="3748085"/>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7395057" y="522305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7482839" y="366396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7482839" y="513892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LD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40 of 65</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LD: invented PHP bars and million-share volume.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7.29 shows the wide bar and the volume behind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41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In an emotional market, a price spike is usually wide-ranging and accompanied by high volume (p. 227).</a:t>
            </a:r>
          </a:p>
          <a:p>
            <a:pPr algn="l">
              <a:lnSpc>
                <a:spcPct val="105000"/>
              </a:lnSpc>
              <a:spcBef>
                <a:spcPts val="0"/>
              </a:spcBef>
              <a:spcAft>
                <a:spcPts val="1100"/>
              </a:spcAft>
            </a:pPr>
            <a:r>
              <a:rPr sz="1800" b="0" i="0">
                <a:solidFill>
                  <a:srgbClr val="1A1A1A"/>
                </a:solidFill>
                <a:latin typeface="Arial"/>
              </a:rPr>
              <a:t>Gold </a:t>
            </a:r>
            <a:r>
              <a:rPr sz="1800" b="1" i="0">
                <a:solidFill>
                  <a:srgbClr val="E09B00"/>
                </a:solidFill>
                <a:latin typeface="Arial"/>
              </a:rPr>
              <a:t>(1)</a:t>
            </a:r>
            <a:r>
              <a:rPr sz="1800" b="0" i="0">
                <a:solidFill>
                  <a:srgbClr val="1A1A1A"/>
                </a:solidFill>
                <a:latin typeface="Arial"/>
              </a:rPr>
              <a:t> marks the wide spike, red </a:t>
            </a:r>
            <a:r>
              <a:rPr sz="1800" b="1" i="0">
                <a:solidFill>
                  <a:srgbClr val="C62828"/>
                </a:solidFill>
                <a:latin typeface="Arial"/>
              </a:rPr>
              <a:t>(2)</a:t>
            </a:r>
            <a:r>
              <a:rPr sz="1800" b="0" i="0">
                <a:solidFill>
                  <a:srgbClr val="1A1A1A"/>
                </a:solidFill>
                <a:latin typeface="Arial"/>
              </a:rPr>
              <a:t> its high volume, and blue </a:t>
            </a:r>
            <a:r>
              <a:rPr sz="1800" b="1" i="0">
                <a:solidFill>
                  <a:srgbClr val="1F5FAD"/>
                </a:solidFill>
                <a:latin typeface="Arial"/>
              </a:rPr>
              <a:t>(3)</a:t>
            </a:r>
            <a:r>
              <a:rPr sz="1800" b="0" i="0">
                <a:solidFill>
                  <a:srgbClr val="1A1A1A"/>
                </a:solidFill>
                <a:latin typeface="Arial"/>
              </a:rPr>
              <a:t> the three-bar bearish reversal at the top.</a:t>
            </a:r>
          </a:p>
          <a:p>
            <a:pPr algn="l">
              <a:lnSpc>
                <a:spcPct val="105000"/>
              </a:lnSpc>
              <a:spcBef>
                <a:spcPts val="0"/>
              </a:spcBef>
              <a:spcAft>
                <a:spcPts val="1100"/>
              </a:spcAft>
            </a:pPr>
            <a:r>
              <a:rPr sz="1800" b="0" i="0">
                <a:solidFill>
                  <a:srgbClr val="1A1A1A"/>
                </a:solidFill>
                <a:latin typeface="Arial"/>
              </a:rPr>
              <a:t>The wide range and high volume explain the name. The reversal context is a warning, not a prediction.</a:t>
            </a:r>
          </a:p>
        </p:txBody>
      </p:sp>
      <p:sp>
        <p:nvSpPr>
          <p:cNvPr id="8" name="Rectangle 7"/>
          <p:cNvSpPr/>
          <p:nvPr/>
        </p:nvSpPr>
        <p:spPr>
          <a:xfrm>
            <a:off x="5364626" y="1810512"/>
            <a:ext cx="5988721"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83498" y="1929384"/>
            <a:ext cx="5750977"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83498" y="1929384"/>
            <a:ext cx="5750977"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757818" y="2203703"/>
            <a:ext cx="520233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7.29</a:t>
            </a:r>
          </a:p>
          <a:p>
            <a:pPr algn="l">
              <a:lnSpc>
                <a:spcPct val="115000"/>
              </a:lnSpc>
              <a:spcBef>
                <a:spcPts val="0"/>
              </a:spcBef>
              <a:spcAft>
                <a:spcPts val="0"/>
              </a:spcAft>
            </a:pPr>
            <a:r>
              <a:rPr sz="1500" b="0" i="0">
                <a:solidFill>
                  <a:srgbClr val="1A1A1A"/>
                </a:solidFill>
                <a:latin typeface="Palatino"/>
              </a:rPr>
              <a:t>Mad Catz Interactive daily chart. A wide price spike occurs on high volume and a three-bar bearish reversal forms near the top.</a:t>
            </a:r>
          </a:p>
        </p:txBody>
      </p:sp>
      <p:sp>
        <p:nvSpPr>
          <p:cNvPr id="12" name="Oval 11"/>
          <p:cNvSpPr/>
          <p:nvPr/>
        </p:nvSpPr>
        <p:spPr>
          <a:xfrm>
            <a:off x="7783889" y="2631643"/>
            <a:ext cx="402568" cy="1158727"/>
          </a:xfrm>
          <a:prstGeom prst="ellipse">
            <a:avLst/>
          </a:prstGeom>
          <a:noFill/>
          <a:ln w="44450">
            <a:solidFill>
              <a:srgbClr val="E09B00"/>
            </a:solidFill>
          </a:ln>
        </p:spPr>
        <p:txBody>
          <a:bodyPr rtlCol="0" anchor="ctr"/>
          <a:lstStyle/>
          <a:p>
            <a:pPr algn="ctr"/>
          </a:p>
        </p:txBody>
      </p:sp>
      <p:sp>
        <p:nvSpPr>
          <p:cNvPr id="13" name="Oval 12"/>
          <p:cNvSpPr/>
          <p:nvPr/>
        </p:nvSpPr>
        <p:spPr>
          <a:xfrm>
            <a:off x="7898909" y="4562856"/>
            <a:ext cx="115019" cy="807598"/>
          </a:xfrm>
          <a:prstGeom prst="ellipse">
            <a:avLst/>
          </a:prstGeom>
          <a:noFill/>
          <a:ln w="44450">
            <a:solidFill>
              <a:srgbClr val="C62828"/>
            </a:solidFill>
          </a:ln>
        </p:spPr>
        <p:txBody>
          <a:bodyPr rtlCol="0" anchor="ctr"/>
          <a:lstStyle/>
          <a:p>
            <a:pPr algn="ctr"/>
          </a:p>
        </p:txBody>
      </p:sp>
      <p:sp>
        <p:nvSpPr>
          <p:cNvPr id="14" name="Oval 13"/>
          <p:cNvSpPr/>
          <p:nvPr/>
        </p:nvSpPr>
        <p:spPr>
          <a:xfrm>
            <a:off x="9739222" y="2140061"/>
            <a:ext cx="460078" cy="491581"/>
          </a:xfrm>
          <a:prstGeom prst="ellipse">
            <a:avLst/>
          </a:prstGeom>
          <a:noFill/>
          <a:ln w="44450">
            <a:solidFill>
              <a:srgbClr val="1F5FAD"/>
            </a:solidFill>
          </a:ln>
        </p:spPr>
        <p:txBody>
          <a:bodyPr rtlCol="0" anchor="ctr"/>
          <a:lstStyle/>
          <a:p>
            <a:pPr algn="ctr"/>
          </a:p>
        </p:txBody>
      </p:sp>
      <p:sp>
        <p:nvSpPr>
          <p:cNvPr id="15" name="Oval 14"/>
          <p:cNvSpPr/>
          <p:nvPr/>
        </p:nvSpPr>
        <p:spPr>
          <a:xfrm>
            <a:off x="7444122" y="241657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990465" y="4628692"/>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0377121" y="2311237"/>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7.29 -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227, Figure 7.29. The crop and marks are for teaching.</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pin bar makes a barrier break look more convincing than it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42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We now add a barrier test. Lim calls a pin bar a single-bar misrepresentation of strength or weakness: price penetrates a moving average, support, resistance, or trendline, then rapidly retraces (p. 227).</a:t>
            </a:r>
          </a:p>
          <a:p>
            <a:pPr algn="l">
              <a:lnSpc>
                <a:spcPct val="118000"/>
              </a:lnSpc>
              <a:spcBef>
                <a:spcPts val="0"/>
              </a:spcBef>
              <a:spcAft>
                <a:spcPts val="1300"/>
              </a:spcAft>
            </a:pPr>
            <a:r>
              <a:rPr sz="2100" b="0" i="0">
                <a:solidFill>
                  <a:srgbClr val="1A1A1A"/>
                </a:solidFill>
                <a:latin typeface="Arial"/>
              </a:rPr>
              <a:t>Pin bars usually form on low volume. The barrier break can fool a trader, so wait for the return before treating the move as a real breakout.</a:t>
            </a:r>
          </a:p>
        </p:txBody>
      </p:sp>
      <p:sp>
        <p:nvSpPr>
          <p:cNvPr id="8" name="Rectangle 7"/>
          <p:cNvSpPr/>
          <p:nvPr/>
        </p:nvSpPr>
        <p:spPr>
          <a:xfrm>
            <a:off x="777240" y="421614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5272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false barrier impression separates a pin bar from an exhaustion bar.</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227.</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pin bar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 pin bar with simple prices. Support sits at PHP 40.00 </a:t>
            </a:r>
            <a:r>
              <a:rPr sz="1700" b="1" i="0">
                <a:solidFill>
                  <a:srgbClr val="E09B00"/>
                </a:solidFill>
                <a:latin typeface="Arial"/>
              </a:rPr>
              <a:t>(1)</a:t>
            </a:r>
            <a:r>
              <a:rPr sz="1700" b="0" i="0">
                <a:solidFill>
                  <a:srgbClr val="1A1A1A"/>
                </a:solidFill>
                <a:latin typeface="Arial"/>
              </a:rPr>
              <a:t>. The pin bar trades down through it to PHP 38.80 </a:t>
            </a:r>
            <a:r>
              <a:rPr sz="1700" b="1" i="0">
                <a:solidFill>
                  <a:srgbClr val="C62828"/>
                </a:solidFill>
                <a:latin typeface="Arial"/>
              </a:rPr>
              <a:t>(2)</a:t>
            </a:r>
            <a:r>
              <a:rPr sz="1700" b="0" i="0">
                <a:solidFill>
                  <a:srgbClr val="1A1A1A"/>
                </a:solidFill>
                <a:latin typeface="Arial"/>
              </a:rPr>
              <a:t>, then closes back above it at PHP 40.60 </a:t>
            </a:r>
            <a:r>
              <a:rPr sz="1700" b="1" i="0">
                <a:solidFill>
                  <a:srgbClr val="1F5FAD"/>
                </a:solidFill>
                <a:latin typeface="Arial"/>
              </a:rPr>
              <a:t>(3)</a:t>
            </a:r>
            <a:r>
              <a:rPr sz="1700" b="0" i="0">
                <a:solidFill>
                  <a:srgbClr val="1A1A1A"/>
                </a:solidFill>
                <a:latin typeface="Arial"/>
              </a:rPr>
              <a:t>, on only 0.8 million shares. The return above support is the clue that the break was false (p. 227).</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j-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140141"/>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444581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3987306"/>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647090" y="397006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67874" y="436168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107215" y="383053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LJ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43 of 65</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7.30 shows the barrier, the penetration, and the return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44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Lim calls pin bars “single bar misrepresentations of market strength or weakness” (p. 227).</a:t>
            </a:r>
          </a:p>
          <a:p>
            <a:pPr algn="l">
              <a:lnSpc>
                <a:spcPct val="105000"/>
              </a:lnSpc>
              <a:spcBef>
                <a:spcPts val="0"/>
              </a:spcBef>
              <a:spcAft>
                <a:spcPts val="1100"/>
              </a:spcAft>
            </a:pPr>
            <a:r>
              <a:rPr sz="1800" b="0" i="0">
                <a:solidFill>
                  <a:srgbClr val="1A1A1A"/>
                </a:solidFill>
                <a:latin typeface="Arial"/>
              </a:rPr>
              <a:t>Gold </a:t>
            </a:r>
            <a:r>
              <a:rPr sz="1800" b="1" i="0">
                <a:solidFill>
                  <a:srgbClr val="E09B00"/>
                </a:solidFill>
                <a:latin typeface="Arial"/>
              </a:rPr>
              <a:t>(1)</a:t>
            </a:r>
            <a:r>
              <a:rPr sz="1800" b="0" i="0">
                <a:solidFill>
                  <a:srgbClr val="1A1A1A"/>
                </a:solidFill>
                <a:latin typeface="Arial"/>
              </a:rPr>
              <a:t> marks support, red </a:t>
            </a:r>
            <a:r>
              <a:rPr sz="1800" b="1" i="0">
                <a:solidFill>
                  <a:srgbClr val="C62828"/>
                </a:solidFill>
                <a:latin typeface="Arial"/>
              </a:rPr>
              <a:t>(2)</a:t>
            </a:r>
            <a:r>
              <a:rPr sz="1800" b="0" i="0">
                <a:solidFill>
                  <a:srgbClr val="1A1A1A"/>
                </a:solidFill>
                <a:latin typeface="Arial"/>
              </a:rPr>
              <a:t> the intra-period penetration, and blue </a:t>
            </a:r>
            <a:r>
              <a:rPr sz="1800" b="1" i="0">
                <a:solidFill>
                  <a:srgbClr val="1F5FAD"/>
                </a:solidFill>
                <a:latin typeface="Arial"/>
              </a:rPr>
              <a:t>(3)</a:t>
            </a:r>
            <a:r>
              <a:rPr sz="1800" b="0" i="0">
                <a:solidFill>
                  <a:srgbClr val="1A1A1A"/>
                </a:solidFill>
                <a:latin typeface="Arial"/>
              </a:rPr>
              <a:t> the close back above support.</a:t>
            </a:r>
          </a:p>
          <a:p>
            <a:pPr algn="l">
              <a:lnSpc>
                <a:spcPct val="105000"/>
              </a:lnSpc>
              <a:spcBef>
                <a:spcPts val="0"/>
              </a:spcBef>
              <a:spcAft>
                <a:spcPts val="1100"/>
              </a:spcAft>
            </a:pPr>
            <a:r>
              <a:rPr sz="1800" b="0" i="0">
                <a:solidFill>
                  <a:srgbClr val="1A1A1A"/>
                </a:solidFill>
                <a:latin typeface="Arial"/>
              </a:rPr>
              <a:t>The breach can look like a breakout, but the rapid retrace says that first impression was false. Lim also says pin bars usually form on low volume.</a:t>
            </a:r>
          </a:p>
        </p:txBody>
      </p:sp>
      <p:sp>
        <p:nvSpPr>
          <p:cNvPr id="8" name="Rectangle 7"/>
          <p:cNvSpPr/>
          <p:nvPr/>
        </p:nvSpPr>
        <p:spPr>
          <a:xfrm>
            <a:off x="5303519" y="1810512"/>
            <a:ext cx="6110935" cy="3071754"/>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2834010"/>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37681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7.30</a:t>
            </a:r>
          </a:p>
          <a:p>
            <a:pPr algn="l">
              <a:lnSpc>
                <a:spcPct val="115000"/>
              </a:lnSpc>
              <a:spcBef>
                <a:spcPts val="0"/>
              </a:spcBef>
              <a:spcAft>
                <a:spcPts val="0"/>
              </a:spcAft>
            </a:pPr>
            <a:r>
              <a:rPr sz="1500" b="0" i="0">
                <a:solidFill>
                  <a:srgbClr val="1A1A1A"/>
                </a:solidFill>
                <a:latin typeface="Palatino"/>
              </a:rPr>
              <a:t>Micron Technology daily chart. The marked pin bar penetrates support and then retraces above the level.</a:t>
            </a:r>
          </a:p>
        </p:txBody>
      </p:sp>
      <p:cxnSp>
        <p:nvCxnSpPr>
          <p:cNvPr id="12" name="Connector 11"/>
          <p:cNvCxnSpPr/>
          <p:nvPr/>
        </p:nvCxnSpPr>
        <p:spPr>
          <a:xfrm>
            <a:off x="6185906" y="4125742"/>
            <a:ext cx="4992213" cy="0"/>
          </a:xfrm>
          <a:prstGeom prst="line">
            <a:avLst/>
          </a:prstGeom>
          <a:ln w="44450">
            <a:solidFill>
              <a:srgbClr val="E09B00"/>
            </a:solidFill>
          </a:ln>
        </p:spPr>
      </p:cxnSp>
      <p:sp>
        <p:nvSpPr>
          <p:cNvPr id="13" name="Oval 12"/>
          <p:cNvSpPr/>
          <p:nvPr/>
        </p:nvSpPr>
        <p:spPr>
          <a:xfrm>
            <a:off x="7066885" y="4139912"/>
            <a:ext cx="176195" cy="340081"/>
          </a:xfrm>
          <a:prstGeom prst="ellipse">
            <a:avLst/>
          </a:prstGeom>
          <a:noFill/>
          <a:ln w="44450">
            <a:solidFill>
              <a:srgbClr val="C62828"/>
            </a:solidFill>
          </a:ln>
        </p:spPr>
        <p:txBody>
          <a:bodyPr rtlCol="0" anchor="ctr"/>
          <a:lstStyle/>
          <a:p>
            <a:pPr algn="ctr"/>
          </a:p>
        </p:txBody>
      </p:sp>
      <p:sp>
        <p:nvSpPr>
          <p:cNvPr id="14" name="Oval 13"/>
          <p:cNvSpPr/>
          <p:nvPr/>
        </p:nvSpPr>
        <p:spPr>
          <a:xfrm>
            <a:off x="7008153" y="3714810"/>
            <a:ext cx="469855" cy="368421"/>
          </a:xfrm>
          <a:prstGeom prst="ellipse">
            <a:avLst/>
          </a:prstGeom>
          <a:noFill/>
          <a:ln w="44450">
            <a:solidFill>
              <a:srgbClr val="1F5FAD"/>
            </a:solidFill>
          </a:ln>
        </p:spPr>
        <p:txBody>
          <a:bodyPr rtlCol="0" anchor="ctr"/>
          <a:lstStyle/>
          <a:p>
            <a:pPr algn="ctr"/>
          </a:p>
        </p:txBody>
      </p:sp>
      <p:sp>
        <p:nvSpPr>
          <p:cNvPr id="15" name="Oval 14"/>
          <p:cNvSpPr/>
          <p:nvPr/>
        </p:nvSpPr>
        <p:spPr>
          <a:xfrm>
            <a:off x="5665055" y="401601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6663497" y="425690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7661940" y="3293341"/>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4973706"/>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7.30 -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227 to 228, Figure 7.30. The crop and marks are for teaching.</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24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pin-bar figure</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a pin bar penetrate during the interval?</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 volume average</a:t>
            </a:r>
          </a:p>
          <a:p>
            <a:pPr algn="l">
              <a:lnSpc>
                <a:spcPct val="105000"/>
              </a:lnSpc>
              <a:spcBef>
                <a:spcPts val="0"/>
              </a:spcBef>
              <a:spcAft>
                <a:spcPts val="200"/>
              </a:spcAft>
            </a:pPr>
            <a:r>
              <a:rPr sz="1700" b="0" i="0">
                <a:solidFill>
                  <a:srgbClr val="FFFFFF"/>
                </a:solidFill>
                <a:latin typeface="Arial"/>
              </a:rPr>
              <a:t>B.  A prior close only</a:t>
            </a:r>
          </a:p>
          <a:p>
            <a:pPr algn="l">
              <a:lnSpc>
                <a:spcPct val="105000"/>
              </a:lnSpc>
              <a:spcBef>
                <a:spcPts val="0"/>
              </a:spcBef>
              <a:spcAft>
                <a:spcPts val="200"/>
              </a:spcAft>
            </a:pPr>
            <a:r>
              <a:rPr sz="1700" b="0" i="0">
                <a:solidFill>
                  <a:srgbClr val="FFFFFF"/>
                </a:solidFill>
                <a:latin typeface="Arial"/>
              </a:rPr>
              <a:t>C.  A stochastic formula</a:t>
            </a:r>
          </a:p>
          <a:p>
            <a:pPr algn="l">
              <a:lnSpc>
                <a:spcPct val="105000"/>
              </a:lnSpc>
              <a:spcBef>
                <a:spcPts val="0"/>
              </a:spcBef>
              <a:spcAft>
                <a:spcPts val="200"/>
              </a:spcAft>
            </a:pPr>
            <a:r>
              <a:rPr sz="1700" b="0" i="0">
                <a:solidFill>
                  <a:srgbClr val="FFFFFF"/>
                </a:solidFill>
                <a:latin typeface="Arial"/>
              </a:rPr>
              <a:t>D.  A barrier such as support or resistance</a:t>
            </a:r>
          </a:p>
        </p:txBody>
      </p:sp>
      <p:sp>
        <p:nvSpPr>
          <p:cNvPr id="10" name="Rectangle 9"/>
          <p:cNvSpPr/>
          <p:nvPr/>
        </p:nvSpPr>
        <p:spPr>
          <a:xfrm>
            <a:off x="777240" y="3336798"/>
            <a:ext cx="5029200" cy="1790065"/>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does the rapid retrace imply?</a:t>
            </a:r>
          </a:p>
        </p:txBody>
      </p:sp>
      <p:sp>
        <p:nvSpPr>
          <p:cNvPr id="13" name="TextBox 12"/>
          <p:cNvSpPr txBox="1"/>
          <p:nvPr/>
        </p:nvSpPr>
        <p:spPr>
          <a:xfrm>
            <a:off x="1005840" y="3950843"/>
            <a:ext cx="4572000" cy="1102868"/>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The barrier break is certain</a:t>
            </a:r>
          </a:p>
          <a:p>
            <a:pPr algn="l">
              <a:lnSpc>
                <a:spcPct val="105000"/>
              </a:lnSpc>
              <a:spcBef>
                <a:spcPts val="0"/>
              </a:spcBef>
              <a:spcAft>
                <a:spcPts val="200"/>
              </a:spcAft>
            </a:pPr>
            <a:r>
              <a:rPr sz="1700" b="0" i="0">
                <a:solidFill>
                  <a:srgbClr val="FFFFFF"/>
                </a:solidFill>
                <a:latin typeface="Arial"/>
              </a:rPr>
              <a:t>B.  The apparent breakout may be false</a:t>
            </a:r>
          </a:p>
          <a:p>
            <a:pPr algn="l">
              <a:lnSpc>
                <a:spcPct val="105000"/>
              </a:lnSpc>
              <a:spcBef>
                <a:spcPts val="0"/>
              </a:spcBef>
              <a:spcAft>
                <a:spcPts val="200"/>
              </a:spcAft>
            </a:pPr>
            <a:r>
              <a:rPr sz="1700" b="0" i="0">
                <a:solidFill>
                  <a:srgbClr val="FFFFFF"/>
                </a:solidFill>
                <a:latin typeface="Arial"/>
              </a:rPr>
              <a:t>C.  The trend must continue</a:t>
            </a:r>
          </a:p>
          <a:p>
            <a:pPr algn="l">
              <a:lnSpc>
                <a:spcPct val="105000"/>
              </a:lnSpc>
              <a:spcBef>
                <a:spcPts val="0"/>
              </a:spcBef>
              <a:spcAft>
                <a:spcPts val="200"/>
              </a:spcAft>
            </a:pPr>
            <a:r>
              <a:rPr sz="1700" b="0" i="0">
                <a:solidFill>
                  <a:srgbClr val="FFFFFF"/>
                </a:solidFill>
                <a:latin typeface="Arial"/>
              </a:rPr>
              <a:t>D.  The volume is high</a:t>
            </a:r>
          </a:p>
        </p:txBody>
      </p:sp>
      <p:sp>
        <p:nvSpPr>
          <p:cNvPr id="14" name="Rectangle 13"/>
          <p:cNvSpPr/>
          <p:nvPr/>
        </p:nvSpPr>
        <p:spPr>
          <a:xfrm>
            <a:off x="6126479" y="1207008"/>
            <a:ext cx="5287975" cy="267464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436904"/>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97970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7.30</a:t>
            </a:r>
          </a:p>
          <a:p>
            <a:pPr algn="l">
              <a:lnSpc>
                <a:spcPct val="115000"/>
              </a:lnSpc>
              <a:spcBef>
                <a:spcPts val="0"/>
              </a:spcBef>
              <a:spcAft>
                <a:spcPts val="0"/>
              </a:spcAft>
            </a:pPr>
            <a:r>
              <a:rPr sz="1500" b="0" i="0">
                <a:solidFill>
                  <a:srgbClr val="1A1A1A"/>
                </a:solidFill>
                <a:latin typeface="Palatino"/>
              </a:rPr>
              <a:t>Micron Technology daily chart. The marked pin bar penetrates support and then retraces above the level.</a:t>
            </a:r>
          </a:p>
        </p:txBody>
      </p:sp>
      <p:cxnSp>
        <p:nvCxnSpPr>
          <p:cNvPr id="18" name="Connector 17"/>
          <p:cNvCxnSpPr/>
          <p:nvPr/>
        </p:nvCxnSpPr>
        <p:spPr>
          <a:xfrm>
            <a:off x="6901882" y="3214481"/>
            <a:ext cx="4292696" cy="0"/>
          </a:xfrm>
          <a:prstGeom prst="line">
            <a:avLst/>
          </a:prstGeom>
          <a:ln w="44450">
            <a:solidFill>
              <a:srgbClr val="E09B00"/>
            </a:solidFill>
          </a:ln>
        </p:spPr>
      </p:cxnSp>
      <p:sp>
        <p:nvSpPr>
          <p:cNvPr id="19" name="Oval 18"/>
          <p:cNvSpPr/>
          <p:nvPr/>
        </p:nvSpPr>
        <p:spPr>
          <a:xfrm>
            <a:off x="7659416" y="3226665"/>
            <a:ext cx="151506" cy="292428"/>
          </a:xfrm>
          <a:prstGeom prst="ellipse">
            <a:avLst/>
          </a:prstGeom>
          <a:noFill/>
          <a:ln w="44450">
            <a:solidFill>
              <a:srgbClr val="C62828"/>
            </a:solidFill>
          </a:ln>
        </p:spPr>
        <p:txBody>
          <a:bodyPr rtlCol="0" anchor="ctr"/>
          <a:lstStyle/>
          <a:p>
            <a:pPr algn="ctr"/>
          </a:p>
        </p:txBody>
      </p:sp>
      <p:sp>
        <p:nvSpPr>
          <p:cNvPr id="20" name="Oval 19"/>
          <p:cNvSpPr/>
          <p:nvPr/>
        </p:nvSpPr>
        <p:spPr>
          <a:xfrm>
            <a:off x="7608914" y="2861130"/>
            <a:ext cx="404018" cy="316797"/>
          </a:xfrm>
          <a:prstGeom prst="ellipse">
            <a:avLst/>
          </a:prstGeom>
          <a:noFill/>
          <a:ln w="44450">
            <a:solidFill>
              <a:srgbClr val="1F5FAD"/>
            </a:solidFill>
          </a:ln>
        </p:spPr>
        <p:txBody>
          <a:bodyPr rtlCol="0" anchor="ctr"/>
          <a:lstStyle/>
          <a:p>
            <a:pPr algn="ctr"/>
          </a:p>
        </p:txBody>
      </p:sp>
      <p:sp>
        <p:nvSpPr>
          <p:cNvPr id="21" name="Oval 20"/>
          <p:cNvSpPr/>
          <p:nvPr/>
        </p:nvSpPr>
        <p:spPr>
          <a:xfrm>
            <a:off x="6438637" y="3104753"/>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297177" y="3311890"/>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155716" y="248334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973096"/>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7.30 -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pin-bar figure</a:t>
            </a:r>
          </a:p>
        </p:txBody>
      </p:sp>
      <p:sp>
        <p:nvSpPr>
          <p:cNvPr id="6" name="Rectangle 5"/>
          <p:cNvSpPr/>
          <p:nvPr/>
        </p:nvSpPr>
        <p:spPr>
          <a:xfrm>
            <a:off x="777240" y="1207008"/>
            <a:ext cx="5029200" cy="225043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250439"/>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a pin bar penetrate during the interval?</a:t>
            </a:r>
          </a:p>
        </p:txBody>
      </p:sp>
      <p:sp>
        <p:nvSpPr>
          <p:cNvPr id="9" name="TextBox 8"/>
          <p:cNvSpPr txBox="1"/>
          <p:nvPr/>
        </p:nvSpPr>
        <p:spPr>
          <a:xfrm>
            <a:off x="1097280" y="2069338"/>
            <a:ext cx="4480560" cy="138810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 barrier such as support or resistance</a:t>
            </a:r>
          </a:p>
          <a:p>
            <a:pPr algn="l">
              <a:lnSpc>
                <a:spcPct val="115000"/>
              </a:lnSpc>
              <a:spcBef>
                <a:spcPts val="500"/>
              </a:spcBef>
              <a:spcAft>
                <a:spcPts val="0"/>
              </a:spcAft>
            </a:pPr>
            <a:r>
              <a:rPr sz="1700" b="0" i="0">
                <a:solidFill>
                  <a:srgbClr val="1A1A1A"/>
                </a:solidFill>
                <a:latin typeface="Arial"/>
              </a:rPr>
              <a:t>Lim describes a pin bar as penetrating a barrier and then retracing (p. 227).</a:t>
            </a:r>
          </a:p>
        </p:txBody>
      </p:sp>
      <p:sp>
        <p:nvSpPr>
          <p:cNvPr id="10" name="Rectangle 9"/>
          <p:cNvSpPr/>
          <p:nvPr/>
        </p:nvSpPr>
        <p:spPr>
          <a:xfrm>
            <a:off x="777240" y="3640327"/>
            <a:ext cx="5029200" cy="22504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40327"/>
            <a:ext cx="91440" cy="22504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823208"/>
            <a:ext cx="44805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What does the rapid retrace imply?</a:t>
            </a:r>
          </a:p>
        </p:txBody>
      </p:sp>
      <p:sp>
        <p:nvSpPr>
          <p:cNvPr id="13" name="TextBox 12"/>
          <p:cNvSpPr txBox="1"/>
          <p:nvPr/>
        </p:nvSpPr>
        <p:spPr>
          <a:xfrm>
            <a:off x="1097280" y="4254373"/>
            <a:ext cx="4480560" cy="163639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The apparent breakout may be false</a:t>
            </a:r>
          </a:p>
          <a:p>
            <a:pPr algn="l">
              <a:lnSpc>
                <a:spcPct val="115000"/>
              </a:lnSpc>
              <a:spcBef>
                <a:spcPts val="500"/>
              </a:spcBef>
              <a:spcAft>
                <a:spcPts val="0"/>
              </a:spcAft>
            </a:pPr>
            <a:r>
              <a:rPr sz="1700" b="0" i="0">
                <a:solidFill>
                  <a:srgbClr val="1A1A1A"/>
                </a:solidFill>
                <a:latin typeface="Arial"/>
              </a:rPr>
              <a:t>The retrace shows that the initial impression of breaking the barrier was false (p. 227).</a:t>
            </a:r>
          </a:p>
        </p:txBody>
      </p:sp>
      <p:sp>
        <p:nvSpPr>
          <p:cNvPr id="14" name="Rectangle 13"/>
          <p:cNvSpPr/>
          <p:nvPr/>
        </p:nvSpPr>
        <p:spPr>
          <a:xfrm>
            <a:off x="6126479" y="1207008"/>
            <a:ext cx="5287975" cy="2580921"/>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343177"/>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88597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7.30</a:t>
            </a:r>
          </a:p>
          <a:p>
            <a:pPr algn="l">
              <a:lnSpc>
                <a:spcPct val="115000"/>
              </a:lnSpc>
              <a:spcBef>
                <a:spcPts val="0"/>
              </a:spcBef>
              <a:spcAft>
                <a:spcPts val="0"/>
              </a:spcAft>
            </a:pPr>
            <a:r>
              <a:rPr sz="1500" b="0" i="0">
                <a:solidFill>
                  <a:srgbClr val="1A1A1A"/>
                </a:solidFill>
                <a:latin typeface="Palatino"/>
              </a:rPr>
              <a:t>Micron Technology daily chart. The marked pin bar penetrates support and then retraces above the level.</a:t>
            </a:r>
          </a:p>
        </p:txBody>
      </p:sp>
      <p:cxnSp>
        <p:nvCxnSpPr>
          <p:cNvPr id="18" name="Connector 17"/>
          <p:cNvCxnSpPr/>
          <p:nvPr/>
        </p:nvCxnSpPr>
        <p:spPr>
          <a:xfrm>
            <a:off x="6901882" y="3141842"/>
            <a:ext cx="4292696" cy="0"/>
          </a:xfrm>
          <a:prstGeom prst="line">
            <a:avLst/>
          </a:prstGeom>
          <a:ln w="44450">
            <a:solidFill>
              <a:srgbClr val="E09B00"/>
            </a:solidFill>
          </a:ln>
        </p:spPr>
      </p:cxnSp>
      <p:sp>
        <p:nvSpPr>
          <p:cNvPr id="19" name="Oval 18"/>
          <p:cNvSpPr/>
          <p:nvPr/>
        </p:nvSpPr>
        <p:spPr>
          <a:xfrm>
            <a:off x="7659416" y="3153558"/>
            <a:ext cx="151506" cy="281181"/>
          </a:xfrm>
          <a:prstGeom prst="ellipse">
            <a:avLst/>
          </a:prstGeom>
          <a:noFill/>
          <a:ln w="44450">
            <a:solidFill>
              <a:srgbClr val="C62828"/>
            </a:solidFill>
          </a:ln>
        </p:spPr>
        <p:txBody>
          <a:bodyPr rtlCol="0" anchor="ctr"/>
          <a:lstStyle/>
          <a:p>
            <a:pPr algn="ctr"/>
          </a:p>
        </p:txBody>
      </p:sp>
      <p:sp>
        <p:nvSpPr>
          <p:cNvPr id="20" name="Oval 19"/>
          <p:cNvSpPr/>
          <p:nvPr/>
        </p:nvSpPr>
        <p:spPr>
          <a:xfrm>
            <a:off x="7608914" y="2802081"/>
            <a:ext cx="404018" cy="304613"/>
          </a:xfrm>
          <a:prstGeom prst="ellipse">
            <a:avLst/>
          </a:prstGeom>
          <a:noFill/>
          <a:ln w="44450">
            <a:solidFill>
              <a:srgbClr val="1F5FAD"/>
            </a:solidFill>
          </a:ln>
        </p:spPr>
        <p:txBody>
          <a:bodyPr rtlCol="0" anchor="ctr"/>
          <a:lstStyle/>
          <a:p>
            <a:pPr algn="ctr"/>
          </a:p>
        </p:txBody>
      </p:sp>
      <p:sp>
        <p:nvSpPr>
          <p:cNvPr id="21" name="Oval 20"/>
          <p:cNvSpPr/>
          <p:nvPr/>
        </p:nvSpPr>
        <p:spPr>
          <a:xfrm>
            <a:off x="6438637" y="303211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297177" y="323128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155716" y="243460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879369"/>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7.30 -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24</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An exhaustion bar ends a long run</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An exhaustion bar comes at the end of a run. It opens above the previous high </a:t>
            </a:r>
            <a:r>
              <a:rPr sz="1700" b="1" i="0">
                <a:solidFill>
                  <a:srgbClr val="E09B00"/>
                </a:solidFill>
                <a:latin typeface="Arial"/>
              </a:rPr>
              <a:t>(1)</a:t>
            </a:r>
            <a:r>
              <a:rPr sz="1700" b="0" i="0">
                <a:solidFill>
                  <a:srgbClr val="1A1A1A"/>
                </a:solidFill>
                <a:latin typeface="Arial"/>
              </a:rPr>
              <a:t>, pushes to a new high </a:t>
            </a:r>
            <a:r>
              <a:rPr sz="1700" b="1" i="0">
                <a:solidFill>
                  <a:srgbClr val="C62828"/>
                </a:solidFill>
                <a:latin typeface="Arial"/>
              </a:rPr>
              <a:t>(2)</a:t>
            </a:r>
            <a:r>
              <a:rPr sz="1700" b="0" i="0">
                <a:solidFill>
                  <a:srgbClr val="1A1A1A"/>
                </a:solidFill>
                <a:latin typeface="Arial"/>
              </a:rPr>
              <a:t>, then gives most of it back, and the next bar opens without a gap </a:t>
            </a:r>
            <a:r>
              <a:rPr sz="1700" b="1" i="0">
                <a:solidFill>
                  <a:srgbClr val="1F5FAD"/>
                </a:solidFill>
                <a:latin typeface="Arial"/>
              </a:rPr>
              <a:t>(3)</a:t>
            </a:r>
            <a:r>
              <a:rPr sz="1700" b="0" i="0">
                <a:solidFill>
                  <a:srgbClr val="1A1A1A"/>
                </a:solidFill>
                <a:latin typeface="Arial"/>
              </a:rPr>
              <a:t> (p. 226).</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a-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6856628" y="3509695"/>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7012076" y="3375964"/>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724643" y="4378947"/>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6713707" y="3264031"/>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7099858" y="329184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9640519" y="4122915"/>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45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226 to 227. Chart A is ours, with invented PHP bars and volume to answer review question 1.</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A pin bar pierces support and then snaps back inside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pin bar pokes through support </a:t>
            </a:r>
            <a:r>
              <a:rPr sz="1700" b="1" i="0">
                <a:solidFill>
                  <a:srgbClr val="7B3FA0"/>
                </a:solidFill>
                <a:latin typeface="Arial"/>
              </a:rPr>
              <a:t>(1)</a:t>
            </a:r>
            <a:r>
              <a:rPr sz="1700" b="0" i="0">
                <a:solidFill>
                  <a:srgbClr val="1A1A1A"/>
                </a:solidFill>
                <a:latin typeface="Arial"/>
              </a:rPr>
              <a:t> and then closes back above it </a:t>
            </a:r>
            <a:r>
              <a:rPr sz="1700" b="1" i="0">
                <a:solidFill>
                  <a:srgbClr val="C62828"/>
                </a:solidFill>
                <a:latin typeface="Arial"/>
              </a:rPr>
              <a:t>(2)</a:t>
            </a:r>
            <a:r>
              <a:rPr sz="1700" b="0" i="0">
                <a:solidFill>
                  <a:srgbClr val="1A1A1A"/>
                </a:solidFill>
                <a:latin typeface="Arial"/>
              </a:rPr>
              <a:t>, on low volume </a:t>
            </a:r>
            <a:r>
              <a:rPr sz="1700" b="1" i="0">
                <a:solidFill>
                  <a:srgbClr val="E09B00"/>
                </a:solidFill>
                <a:latin typeface="Arial"/>
              </a:rPr>
              <a:t>(3)</a:t>
            </a:r>
            <a:r>
              <a:rPr sz="1700" b="0" i="0">
                <a:solidFill>
                  <a:srgbClr val="1A1A1A"/>
                </a:solidFill>
                <a:latin typeface="Arial"/>
              </a:rPr>
              <a:t>. Lim calls pin bars "single bar misrepresentations of market strength or weakness" (p. 227). So ask whether the bar ended a tiring run, or broke a level and came straight back.</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a-a-1.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7012076" y="4068219"/>
            <a:ext cx="87782" cy="87782"/>
          </a:xfrm>
          <a:prstGeom prst="ellipse">
            <a:avLst/>
          </a:prstGeom>
          <a:noFill/>
          <a:ln w="44450">
            <a:solidFill>
              <a:srgbClr val="7B3FA0"/>
            </a:solidFill>
          </a:ln>
        </p:spPr>
        <p:txBody>
          <a:bodyPr rtlCol="0" anchor="ctr"/>
          <a:lstStyle/>
          <a:p>
            <a:pPr algn="ctr"/>
          </a:p>
        </p:txBody>
      </p:sp>
      <p:sp>
        <p:nvSpPr>
          <p:cNvPr id="10" name="Oval 9"/>
          <p:cNvSpPr/>
          <p:nvPr/>
        </p:nvSpPr>
        <p:spPr>
          <a:xfrm>
            <a:off x="7012076" y="5268772"/>
            <a:ext cx="87782" cy="87782"/>
          </a:xfrm>
          <a:prstGeom prst="ellipse">
            <a:avLst/>
          </a:prstGeom>
          <a:noFill/>
          <a:ln w="44450">
            <a:solidFill>
              <a:srgbClr val="E09B00"/>
            </a:solidFill>
          </a:ln>
        </p:spPr>
        <p:txBody>
          <a:bodyPr rtlCol="0" anchor="ctr"/>
          <a:lstStyle/>
          <a:p>
            <a:pPr algn="ctr"/>
          </a:p>
        </p:txBody>
      </p:sp>
      <p:sp>
        <p:nvSpPr>
          <p:cNvPr id="11" name="Oval 10"/>
          <p:cNvSpPr/>
          <p:nvPr/>
        </p:nvSpPr>
        <p:spPr>
          <a:xfrm>
            <a:off x="7167524" y="3879422"/>
            <a:ext cx="87782" cy="87782"/>
          </a:xfrm>
          <a:prstGeom prst="ellipse">
            <a:avLst/>
          </a:prstGeom>
          <a:noFill/>
          <a:ln w="44450">
            <a:solidFill>
              <a:srgbClr val="C62828"/>
            </a:solidFill>
          </a:ln>
        </p:spPr>
        <p:txBody>
          <a:bodyPr rtlCol="0" anchor="ctr"/>
          <a:lstStyle/>
          <a:p>
            <a:pPr algn="ctr"/>
          </a:p>
        </p:txBody>
      </p:sp>
      <p:sp>
        <p:nvSpPr>
          <p:cNvPr id="12" name="Oval 11"/>
          <p:cNvSpPr/>
          <p:nvPr/>
        </p:nvSpPr>
        <p:spPr>
          <a:xfrm>
            <a:off x="7099858" y="3984094"/>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7264450" y="518464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7239200" y="372264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A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46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226 to 227. Chart A is ours, with invented PHP bars and volume to answer review question 1.</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25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exhaustion and pin bars</a:t>
            </a:r>
          </a:p>
        </p:txBody>
      </p:sp>
      <p:sp>
        <p:nvSpPr>
          <p:cNvPr id="6" name="Rectangle 5"/>
          <p:cNvSpPr/>
          <p:nvPr/>
        </p:nvSpPr>
        <p:spPr>
          <a:xfrm>
            <a:off x="777240" y="1207008"/>
            <a:ext cx="5029200" cy="2286634"/>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What separates an exhaustion bar from a pin bar?</a:t>
            </a:r>
          </a:p>
        </p:txBody>
      </p:sp>
      <p:sp>
        <p:nvSpPr>
          <p:cNvPr id="9" name="TextBox 8"/>
          <p:cNvSpPr txBox="1"/>
          <p:nvPr/>
        </p:nvSpPr>
        <p:spPr>
          <a:xfrm>
            <a:off x="1005840" y="2069338"/>
            <a:ext cx="4572000" cy="1351152"/>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Exhaustion uses no trend context</a:t>
            </a:r>
          </a:p>
          <a:p>
            <a:pPr algn="l">
              <a:lnSpc>
                <a:spcPct val="105000"/>
              </a:lnSpc>
              <a:spcBef>
                <a:spcPts val="0"/>
              </a:spcBef>
              <a:spcAft>
                <a:spcPts val="200"/>
              </a:spcAft>
            </a:pPr>
            <a:r>
              <a:rPr sz="1700" b="0" i="0">
                <a:solidFill>
                  <a:srgbClr val="FFFFFF"/>
                </a:solidFill>
                <a:latin typeface="Arial"/>
              </a:rPr>
              <a:t>B.  A pin bar gives a false barrier-penetration impression</a:t>
            </a:r>
          </a:p>
          <a:p>
            <a:pPr algn="l">
              <a:lnSpc>
                <a:spcPct val="105000"/>
              </a:lnSpc>
              <a:spcBef>
                <a:spcPts val="0"/>
              </a:spcBef>
              <a:spcAft>
                <a:spcPts val="200"/>
              </a:spcAft>
            </a:pPr>
            <a:r>
              <a:rPr sz="1700" b="0" i="0">
                <a:solidFill>
                  <a:srgbClr val="FFFFFF"/>
                </a:solidFill>
                <a:latin typeface="Arial"/>
              </a:rPr>
              <a:t>C.  A pin bar must gap from the next bar</a:t>
            </a:r>
          </a:p>
          <a:p>
            <a:pPr algn="l">
              <a:lnSpc>
                <a:spcPct val="105000"/>
              </a:lnSpc>
              <a:spcBef>
                <a:spcPts val="0"/>
              </a:spcBef>
              <a:spcAft>
                <a:spcPts val="200"/>
              </a:spcAft>
            </a:pPr>
            <a:r>
              <a:rPr sz="1700" b="0" i="0">
                <a:solidFill>
                  <a:srgbClr val="FFFFFF"/>
                </a:solidFill>
                <a:latin typeface="Arial"/>
              </a:rPr>
              <a:t>D.  Exhaustion is always narrow</a:t>
            </a:r>
          </a:p>
        </p:txBody>
      </p:sp>
      <p:sp>
        <p:nvSpPr>
          <p:cNvPr id="10" name="Rectangle 9"/>
          <p:cNvSpPr/>
          <p:nvPr/>
        </p:nvSpPr>
        <p:spPr>
          <a:xfrm>
            <a:off x="777240" y="3585082"/>
            <a:ext cx="5029200" cy="1790065"/>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676522"/>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877691"/>
            <a:ext cx="457200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Pin bars usually form on:</a:t>
            </a:r>
          </a:p>
        </p:txBody>
      </p:sp>
      <p:sp>
        <p:nvSpPr>
          <p:cNvPr id="13" name="TextBox 12"/>
          <p:cNvSpPr txBox="1"/>
          <p:nvPr/>
        </p:nvSpPr>
        <p:spPr>
          <a:xfrm>
            <a:off x="1005840" y="4199128"/>
            <a:ext cx="4572000" cy="1102868"/>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High volume</a:t>
            </a:r>
          </a:p>
          <a:p>
            <a:pPr algn="l">
              <a:lnSpc>
                <a:spcPct val="105000"/>
              </a:lnSpc>
              <a:spcBef>
                <a:spcPts val="0"/>
              </a:spcBef>
              <a:spcAft>
                <a:spcPts val="200"/>
              </a:spcAft>
            </a:pPr>
            <a:r>
              <a:rPr sz="1700" b="0" i="0">
                <a:solidFill>
                  <a:srgbClr val="FFFFFF"/>
                </a:solidFill>
                <a:latin typeface="Arial"/>
              </a:rPr>
              <a:t>B.  The same volume as the prior bar</a:t>
            </a:r>
          </a:p>
          <a:p>
            <a:pPr algn="l">
              <a:lnSpc>
                <a:spcPct val="105000"/>
              </a:lnSpc>
              <a:spcBef>
                <a:spcPts val="0"/>
              </a:spcBef>
              <a:spcAft>
                <a:spcPts val="200"/>
              </a:spcAft>
            </a:pPr>
            <a:r>
              <a:rPr sz="1700" b="0" i="0">
                <a:solidFill>
                  <a:srgbClr val="FFFFFF"/>
                </a:solidFill>
                <a:latin typeface="Arial"/>
              </a:rPr>
              <a:t>C.  Low volume</a:t>
            </a:r>
          </a:p>
          <a:p>
            <a:pPr algn="l">
              <a:lnSpc>
                <a:spcPct val="105000"/>
              </a:lnSpc>
              <a:spcBef>
                <a:spcPts val="0"/>
              </a:spcBef>
              <a:spcAft>
                <a:spcPts val="200"/>
              </a:spcAft>
            </a:pPr>
            <a:r>
              <a:rPr sz="1700" b="0" i="0">
                <a:solidFill>
                  <a:srgbClr val="FFFFFF"/>
                </a:solidFill>
                <a:latin typeface="Arial"/>
              </a:rPr>
              <a:t>D.  No volume data</a:t>
            </a:r>
          </a:p>
        </p:txBody>
      </p:sp>
      <p:sp>
        <p:nvSpPr>
          <p:cNvPr id="14" name="Rectangle 13"/>
          <p:cNvSpPr/>
          <p:nvPr/>
        </p:nvSpPr>
        <p:spPr>
          <a:xfrm>
            <a:off x="6126479" y="1207008"/>
            <a:ext cx="5287975" cy="248549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4774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054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J.P. Morgan Chase daily chart. The crop keeps the bullish exhaustion bar and its following bar readable for the comparison.</a:t>
            </a:r>
          </a:p>
        </p:txBody>
      </p:sp>
      <p:sp>
        <p:nvSpPr>
          <p:cNvPr id="18" name="Oval 17"/>
          <p:cNvSpPr/>
          <p:nvPr/>
        </p:nvSpPr>
        <p:spPr>
          <a:xfrm>
            <a:off x="8770467" y="2494709"/>
            <a:ext cx="303013" cy="202297"/>
          </a:xfrm>
          <a:prstGeom prst="ellipse">
            <a:avLst/>
          </a:prstGeom>
          <a:noFill/>
          <a:ln w="44450">
            <a:solidFill>
              <a:srgbClr val="E09B00"/>
            </a:solidFill>
          </a:ln>
        </p:spPr>
        <p:txBody>
          <a:bodyPr rtlCol="0" anchor="ctr"/>
          <a:lstStyle/>
          <a:p>
            <a:pPr algn="ctr"/>
          </a:p>
        </p:txBody>
      </p:sp>
      <p:sp>
        <p:nvSpPr>
          <p:cNvPr id="19" name="Rectangle 18"/>
          <p:cNvSpPr/>
          <p:nvPr/>
        </p:nvSpPr>
        <p:spPr>
          <a:xfrm>
            <a:off x="8947225" y="2584619"/>
            <a:ext cx="101004" cy="314684"/>
          </a:xfrm>
          <a:prstGeom prst="rect">
            <a:avLst/>
          </a:prstGeom>
          <a:noFill/>
          <a:ln w="44450">
            <a:solidFill>
              <a:srgbClr val="C62828"/>
            </a:solidFill>
          </a:ln>
        </p:spPr>
        <p:txBody>
          <a:bodyPr rtlCol="0" anchor="ctr"/>
          <a:lstStyle/>
          <a:p>
            <a:pPr algn="ctr"/>
          </a:p>
        </p:txBody>
      </p:sp>
      <p:cxnSp>
        <p:nvCxnSpPr>
          <p:cNvPr id="20" name="Connector 19"/>
          <p:cNvCxnSpPr/>
          <p:nvPr/>
        </p:nvCxnSpPr>
        <p:spPr>
          <a:xfrm flipV="1">
            <a:off x="9174485" y="2067637"/>
            <a:ext cx="707033" cy="382117"/>
          </a:xfrm>
          <a:prstGeom prst="line">
            <a:avLst/>
          </a:prstGeom>
          <a:ln w="44450">
            <a:solidFill>
              <a:srgbClr val="1F5FAD"/>
            </a:solidFill>
            <a:tailEnd type="triangle" w="med" len="med"/>
          </a:ln>
        </p:spPr>
      </p:cxnSp>
      <p:sp>
        <p:nvSpPr>
          <p:cNvPr id="21" name="Oval 20"/>
          <p:cNvSpPr/>
          <p:nvPr/>
        </p:nvSpPr>
        <p:spPr>
          <a:xfrm>
            <a:off x="8458730" y="234002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039506" y="2564801"/>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898046" y="191295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3941"/>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7.28 -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25</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exhaustion and pin bars</a:t>
            </a:r>
          </a:p>
        </p:txBody>
      </p:sp>
      <p:sp>
        <p:nvSpPr>
          <p:cNvPr id="6" name="Rectangle 5"/>
          <p:cNvSpPr/>
          <p:nvPr/>
        </p:nvSpPr>
        <p:spPr>
          <a:xfrm>
            <a:off x="777240" y="1207008"/>
            <a:ext cx="5029200" cy="249872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49872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separates an exhaustion bar from a pin bar?</a:t>
            </a:r>
          </a:p>
        </p:txBody>
      </p:sp>
      <p:sp>
        <p:nvSpPr>
          <p:cNvPr id="9" name="TextBox 8"/>
          <p:cNvSpPr txBox="1"/>
          <p:nvPr/>
        </p:nvSpPr>
        <p:spPr>
          <a:xfrm>
            <a:off x="1097280" y="2069338"/>
            <a:ext cx="4480560" cy="163639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A pin bar gives a false barrier-penetration impression</a:t>
            </a:r>
          </a:p>
          <a:p>
            <a:pPr algn="l">
              <a:lnSpc>
                <a:spcPct val="115000"/>
              </a:lnSpc>
              <a:spcBef>
                <a:spcPts val="500"/>
              </a:spcBef>
              <a:spcAft>
                <a:spcPts val="0"/>
              </a:spcAft>
            </a:pPr>
            <a:r>
              <a:rPr sz="1700" b="0" i="0">
                <a:solidFill>
                  <a:srgbClr val="1A1A1A"/>
                </a:solidFill>
                <a:latin typeface="Arial"/>
              </a:rPr>
              <a:t>Lim says exhaustion bars do not usually provide a false impression of penetrating a barrier, while pin bars do (p. 227).</a:t>
            </a:r>
          </a:p>
        </p:txBody>
      </p:sp>
      <p:sp>
        <p:nvSpPr>
          <p:cNvPr id="10" name="Rectangle 9"/>
          <p:cNvSpPr/>
          <p:nvPr/>
        </p:nvSpPr>
        <p:spPr>
          <a:xfrm>
            <a:off x="777240" y="3888613"/>
            <a:ext cx="5029200" cy="173926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888613"/>
            <a:ext cx="91440" cy="173926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4071493"/>
            <a:ext cx="4480560"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Pin bars usually form on:</a:t>
            </a:r>
          </a:p>
        </p:txBody>
      </p:sp>
      <p:sp>
        <p:nvSpPr>
          <p:cNvPr id="13" name="TextBox 12"/>
          <p:cNvSpPr txBox="1"/>
          <p:nvPr/>
        </p:nvSpPr>
        <p:spPr>
          <a:xfrm>
            <a:off x="1097280" y="4502658"/>
            <a:ext cx="4480560" cy="112522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Low volume</a:t>
            </a:r>
          </a:p>
          <a:p>
            <a:pPr algn="l">
              <a:lnSpc>
                <a:spcPct val="115000"/>
              </a:lnSpc>
              <a:spcBef>
                <a:spcPts val="500"/>
              </a:spcBef>
              <a:spcAft>
                <a:spcPts val="0"/>
              </a:spcAft>
            </a:pPr>
            <a:r>
              <a:rPr sz="1700" b="0" i="0">
                <a:solidFill>
                  <a:srgbClr val="1A1A1A"/>
                </a:solidFill>
                <a:latin typeface="Arial"/>
              </a:rPr>
              <a:t>Lim says pin bars are usually breakouts that form on low volume (p. 227).</a:t>
            </a:r>
          </a:p>
        </p:txBody>
      </p:sp>
      <p:sp>
        <p:nvSpPr>
          <p:cNvPr id="14" name="Rectangle 13"/>
          <p:cNvSpPr/>
          <p:nvPr/>
        </p:nvSpPr>
        <p:spPr>
          <a:xfrm>
            <a:off x="6126479" y="1207008"/>
            <a:ext cx="5287975" cy="248549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4774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054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J.P. Morgan Chase daily chart. The crop keeps the bullish exhaustion bar and its following bar readable for the comparison.</a:t>
            </a:r>
          </a:p>
        </p:txBody>
      </p:sp>
      <p:sp>
        <p:nvSpPr>
          <p:cNvPr id="18" name="Oval 17"/>
          <p:cNvSpPr/>
          <p:nvPr/>
        </p:nvSpPr>
        <p:spPr>
          <a:xfrm>
            <a:off x="8770467" y="2494709"/>
            <a:ext cx="303013" cy="202297"/>
          </a:xfrm>
          <a:prstGeom prst="ellipse">
            <a:avLst/>
          </a:prstGeom>
          <a:noFill/>
          <a:ln w="44450">
            <a:solidFill>
              <a:srgbClr val="E09B00"/>
            </a:solidFill>
          </a:ln>
        </p:spPr>
        <p:txBody>
          <a:bodyPr rtlCol="0" anchor="ctr"/>
          <a:lstStyle/>
          <a:p>
            <a:pPr algn="ctr"/>
          </a:p>
        </p:txBody>
      </p:sp>
      <p:sp>
        <p:nvSpPr>
          <p:cNvPr id="19" name="Rectangle 18"/>
          <p:cNvSpPr/>
          <p:nvPr/>
        </p:nvSpPr>
        <p:spPr>
          <a:xfrm>
            <a:off x="8947225" y="2584619"/>
            <a:ext cx="101004" cy="314684"/>
          </a:xfrm>
          <a:prstGeom prst="rect">
            <a:avLst/>
          </a:prstGeom>
          <a:noFill/>
          <a:ln w="44450">
            <a:solidFill>
              <a:srgbClr val="C62828"/>
            </a:solidFill>
          </a:ln>
        </p:spPr>
        <p:txBody>
          <a:bodyPr rtlCol="0" anchor="ctr"/>
          <a:lstStyle/>
          <a:p>
            <a:pPr algn="ctr"/>
          </a:p>
        </p:txBody>
      </p:sp>
      <p:cxnSp>
        <p:nvCxnSpPr>
          <p:cNvPr id="20" name="Connector 19"/>
          <p:cNvCxnSpPr/>
          <p:nvPr/>
        </p:nvCxnSpPr>
        <p:spPr>
          <a:xfrm flipV="1">
            <a:off x="9174485" y="2067637"/>
            <a:ext cx="707033" cy="382117"/>
          </a:xfrm>
          <a:prstGeom prst="line">
            <a:avLst/>
          </a:prstGeom>
          <a:ln w="44450">
            <a:solidFill>
              <a:srgbClr val="1F5FAD"/>
            </a:solidFill>
            <a:tailEnd type="triangle" w="med" len="med"/>
          </a:ln>
        </p:spPr>
      </p:cxnSp>
      <p:sp>
        <p:nvSpPr>
          <p:cNvPr id="21" name="Oval 20"/>
          <p:cNvSpPr/>
          <p:nvPr/>
        </p:nvSpPr>
        <p:spPr>
          <a:xfrm>
            <a:off x="8458730" y="2340026"/>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039506" y="2564801"/>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9898046" y="191295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3941"/>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7.28 -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25</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False breakouts apply the pin-bar warning to a whole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47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pin bar gives a false impression within one bar. A false breakout applies the same warning to a support or resistance break: price crosses the level, then returns through it.</a:t>
            </a:r>
          </a:p>
          <a:p>
            <a:pPr algn="l">
              <a:lnSpc>
                <a:spcPct val="118000"/>
              </a:lnSpc>
              <a:spcBef>
                <a:spcPts val="0"/>
              </a:spcBef>
              <a:spcAft>
                <a:spcPts val="1300"/>
              </a:spcAft>
            </a:pPr>
            <a:r>
              <a:rPr sz="2100" b="0" i="0">
                <a:solidFill>
                  <a:srgbClr val="1A1A1A"/>
                </a:solidFill>
                <a:latin typeface="Arial"/>
              </a:rPr>
              <a:t>The next chart shows both directions with invented prices. The return is the evidence that the first break may have failed (p. 228).</a:t>
            </a:r>
          </a:p>
        </p:txBody>
      </p:sp>
      <p:sp>
        <p:nvSpPr>
          <p:cNvPr id="8" name="Rectangle 7"/>
          <p:cNvSpPr/>
          <p:nvPr/>
        </p:nvSpPr>
        <p:spPr>
          <a:xfrm>
            <a:off x="777240" y="421614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5272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Wait for the return before choosing the opposite direction.</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Transition wording is ours; the next chart is invented.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False upside breakout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A false breakout goes through a barrier and then comes back inside it. In the upside case, price rises through PHP 60.00 resistance to a false high of PHP 62.00 </a:t>
            </a:r>
            <a:r>
              <a:rPr sz="1700" b="1" i="0">
                <a:solidFill>
                  <a:srgbClr val="E09B00"/>
                </a:solidFill>
                <a:latin typeface="Arial"/>
              </a:rPr>
              <a:t>(1)</a:t>
            </a:r>
            <a:r>
              <a:rPr sz="1700" b="0" i="0">
                <a:solidFill>
                  <a:srgbClr val="1A1A1A"/>
                </a:solidFill>
                <a:latin typeface="Arial"/>
              </a:rPr>
              <a:t>, then closes back below it at PHP 59.40 </a:t>
            </a:r>
            <a:r>
              <a:rPr sz="1700" b="1" i="0">
                <a:solidFill>
                  <a:srgbClr val="1F5FAD"/>
                </a:solidFill>
                <a:latin typeface="Arial"/>
              </a:rPr>
              <a:t>(2)</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e-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3375964"/>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10035539" y="4193804"/>
            <a:ext cx="87782" cy="87782"/>
          </a:xfrm>
          <a:prstGeom prst="ellipse">
            <a:avLst/>
          </a:prstGeom>
          <a:noFill/>
          <a:ln w="44450">
            <a:solidFill>
              <a:srgbClr val="1F5FAD"/>
            </a:solidFill>
          </a:ln>
        </p:spPr>
        <p:txBody>
          <a:bodyPr rtlCol="0" anchor="ctr"/>
          <a:lstStyle/>
          <a:p>
            <a:pPr algn="ctr"/>
          </a:p>
        </p:txBody>
      </p:sp>
      <p:sp>
        <p:nvSpPr>
          <p:cNvPr id="11" name="Oval 10"/>
          <p:cNvSpPr/>
          <p:nvPr/>
        </p:nvSpPr>
        <p:spPr>
          <a:xfrm>
            <a:off x="9967874" y="329184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107215" y="4037028"/>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LE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48 of 65</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LE: invented PHP barriers and closes.</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False downside breakout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the downside case, price falls through PHP 40.00 support to a false low of PHP 38.50 </a:t>
            </a:r>
            <a:r>
              <a:rPr sz="1700" b="1" i="0">
                <a:solidFill>
                  <a:srgbClr val="C62828"/>
                </a:solidFill>
                <a:latin typeface="Arial"/>
              </a:rPr>
              <a:t>(1)</a:t>
            </a:r>
            <a:r>
              <a:rPr sz="1700" b="0" i="0">
                <a:solidFill>
                  <a:srgbClr val="1A1A1A"/>
                </a:solidFill>
                <a:latin typeface="Arial"/>
              </a:rPr>
              <a:t>, then closes back above it at PHP 40.60 </a:t>
            </a:r>
            <a:r>
              <a:rPr sz="1700" b="1" i="0">
                <a:solidFill>
                  <a:srgbClr val="7B3FA0"/>
                </a:solidFill>
                <a:latin typeface="Arial"/>
              </a:rPr>
              <a:t>(2)</a:t>
            </a:r>
            <a:r>
              <a:rPr sz="1700" b="0" i="0">
                <a:solidFill>
                  <a:srgbClr val="1A1A1A"/>
                </a:solidFill>
                <a:latin typeface="Arial"/>
              </a:rPr>
              <a:t> (p. 228).</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e-1.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948732"/>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10035539" y="4214774"/>
            <a:ext cx="87782" cy="87782"/>
          </a:xfrm>
          <a:prstGeom prst="ellipse">
            <a:avLst/>
          </a:prstGeom>
          <a:noFill/>
          <a:ln w="44450">
            <a:solidFill>
              <a:srgbClr val="7B3FA0"/>
            </a:solidFill>
          </a:ln>
        </p:spPr>
        <p:txBody>
          <a:bodyPr rtlCol="0" anchor="ctr"/>
          <a:lstStyle/>
          <a:p>
            <a:pPr algn="ctr"/>
          </a:p>
        </p:txBody>
      </p:sp>
      <p:sp>
        <p:nvSpPr>
          <p:cNvPr id="11" name="Oval 10"/>
          <p:cNvSpPr/>
          <p:nvPr/>
        </p:nvSpPr>
        <p:spPr>
          <a:xfrm>
            <a:off x="9967874" y="4864607"/>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10107215" y="405799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LE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49 of 65</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LE: invented PHP barriers and closes.</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Where the short goes in, and where the stop goes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says the short is taken once price falls back below resistance, with the stoploss just above the high of the breakout (p. 228). Here is that trade with simple prices. Resistance sits at PHP 60.00 </a:t>
            </a:r>
            <a:r>
              <a:rPr sz="1700" b="1" i="0">
                <a:solidFill>
                  <a:srgbClr val="E09B00"/>
                </a:solidFill>
                <a:latin typeface="Arial"/>
              </a:rPr>
              <a:t>(1)</a:t>
            </a:r>
            <a:r>
              <a:rPr sz="1700" b="0" i="0">
                <a:solidFill>
                  <a:srgbClr val="1A1A1A"/>
                </a:solidFill>
                <a:latin typeface="Arial"/>
              </a:rPr>
              <a:t>. Price breaks above it to a high of PHP 62.00 </a:t>
            </a:r>
            <a:r>
              <a:rPr sz="1700" b="1" i="0">
                <a:solidFill>
                  <a:srgbClr val="C62828"/>
                </a:solidFill>
                <a:latin typeface="Arial"/>
              </a:rPr>
              <a:t>(2)</a:t>
            </a:r>
            <a:r>
              <a:rPr sz="1700" b="0" i="0">
                <a:solidFill>
                  <a:srgbClr val="1A1A1A"/>
                </a:solidFill>
                <a:latin typeface="Arial"/>
              </a:rPr>
              <a:t>, then closes back below it at PHP 59.40 </a:t>
            </a:r>
            <a:r>
              <a:rPr sz="1700" b="1" i="0">
                <a:solidFill>
                  <a:srgbClr val="1F5FAD"/>
                </a:solidFill>
                <a:latin typeface="Arial"/>
              </a:rPr>
              <a:t>(3)</a:t>
            </a:r>
            <a:r>
              <a:rPr sz="1700" b="0" i="0">
                <a:solidFill>
                  <a:srgbClr val="1A1A1A"/>
                </a:solidFill>
                <a:latin typeface="Arial"/>
              </a:rPr>
              <a:t>, and that close is the short.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f-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090859"/>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518943"/>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26243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144060" y="3375964"/>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9967874" y="400673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967874" y="343481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51415" y="435021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4231843" y="3291840"/>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LF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50 of 65</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LF: invented PHP values; the book's drawing is shown separately.</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Where the short goes in, and where the stop goes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stoploss goes just above the breakout high, at PHP 62.50 </a:t>
            </a:r>
            <a:r>
              <a:rPr sz="1700" b="1" i="0">
                <a:solidFill>
                  <a:srgbClr val="7B3FA0"/>
                </a:solidFill>
                <a:latin typeface="Arial"/>
              </a:rPr>
              <a:t>(4)</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f-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090859"/>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3518943"/>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035539" y="426243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144060" y="3375964"/>
            <a:ext cx="87782" cy="87782"/>
          </a:xfrm>
          <a:prstGeom prst="ellipse">
            <a:avLst/>
          </a:prstGeom>
          <a:noFill/>
          <a:ln w="44450">
            <a:solidFill>
              <a:srgbClr val="7B3FA0"/>
            </a:solidFill>
          </a:ln>
        </p:spPr>
        <p:txBody>
          <a:bodyPr rtlCol="0" anchor="ctr"/>
          <a:lstStyle/>
          <a:p>
            <a:pPr algn="ctr"/>
          </a:p>
        </p:txBody>
      </p:sp>
      <p:sp>
        <p:nvSpPr>
          <p:cNvPr id="13" name="Oval 12"/>
          <p:cNvSpPr/>
          <p:nvPr/>
        </p:nvSpPr>
        <p:spPr>
          <a:xfrm>
            <a:off x="9967874" y="4006734"/>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9967874" y="343481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Oval 14"/>
          <p:cNvSpPr/>
          <p:nvPr/>
        </p:nvSpPr>
        <p:spPr>
          <a:xfrm>
            <a:off x="9951415" y="435021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6" name="Oval 15"/>
          <p:cNvSpPr/>
          <p:nvPr/>
        </p:nvSpPr>
        <p:spPr>
          <a:xfrm>
            <a:off x="4231843" y="3291840"/>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TextBox 16"/>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LF - FIN1209 teaching chart, drawn for this course. Illustrative data, not a real instrument.</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51 of 65</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LF: invented PHP values; the book's drawing is shown separately.</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7.31 shows the bearish entry after a false upside break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52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Lim calls this a non-failure swing and Sperandeo's 2B entry, but defines neither name (p. 228). For us the pattern is a break above resistance that closes back below it.</a:t>
            </a:r>
          </a:p>
          <a:p>
            <a:pPr algn="l">
              <a:lnSpc>
                <a:spcPct val="105000"/>
              </a:lnSpc>
              <a:spcBef>
                <a:spcPts val="0"/>
              </a:spcBef>
              <a:spcAft>
                <a:spcPts val="1100"/>
              </a:spcAft>
            </a:pPr>
            <a:r>
              <a:rPr sz="2000" b="0" i="0">
                <a:solidFill>
                  <a:srgbClr val="1A1A1A"/>
                </a:solidFill>
                <a:latin typeface="Arial"/>
              </a:rPr>
              <a:t>Gold </a:t>
            </a:r>
            <a:r>
              <a:rPr sz="2000" b="1" i="0">
                <a:solidFill>
                  <a:srgbClr val="E09B00"/>
                </a:solidFill>
                <a:latin typeface="Arial"/>
              </a:rPr>
              <a:t>(1)</a:t>
            </a:r>
            <a:r>
              <a:rPr sz="2000" b="0" i="0">
                <a:solidFill>
                  <a:srgbClr val="1A1A1A"/>
                </a:solidFill>
                <a:latin typeface="Arial"/>
              </a:rPr>
              <a:t> marks resistance, red </a:t>
            </a:r>
            <a:r>
              <a:rPr sz="2000" b="1" i="0">
                <a:solidFill>
                  <a:srgbClr val="C62828"/>
                </a:solidFill>
                <a:latin typeface="Arial"/>
              </a:rPr>
              <a:t>(2)</a:t>
            </a:r>
            <a:r>
              <a:rPr sz="2000" b="0" i="0">
                <a:solidFill>
                  <a:srgbClr val="1A1A1A"/>
                </a:solidFill>
                <a:latin typeface="Arial"/>
              </a:rPr>
              <a:t> the false high, blue </a:t>
            </a:r>
            <a:r>
              <a:rPr sz="2000" b="1" i="0">
                <a:solidFill>
                  <a:srgbClr val="1F5FAD"/>
                </a:solidFill>
                <a:latin typeface="Arial"/>
              </a:rPr>
              <a:t>(3)</a:t>
            </a:r>
            <a:r>
              <a:rPr sz="2000" b="0" i="0">
                <a:solidFill>
                  <a:srgbClr val="1A1A1A"/>
                </a:solidFill>
                <a:latin typeface="Arial"/>
              </a:rPr>
              <a:t> the close back below, and purple </a:t>
            </a:r>
            <a:r>
              <a:rPr sz="2000" b="1" i="0">
                <a:solidFill>
                  <a:srgbClr val="7B3FA0"/>
                </a:solidFill>
                <a:latin typeface="Arial"/>
              </a:rPr>
              <a:t>(4)</a:t>
            </a:r>
            <a:r>
              <a:rPr sz="2000" b="0" i="0">
                <a:solidFill>
                  <a:srgbClr val="1A1A1A"/>
                </a:solidFill>
                <a:latin typeface="Arial"/>
              </a:rPr>
              <a:t> the stop above the high.</a:t>
            </a:r>
          </a:p>
        </p:txBody>
      </p:sp>
      <p:sp>
        <p:nvSpPr>
          <p:cNvPr id="8" name="Rectangle 7"/>
          <p:cNvSpPr/>
          <p:nvPr/>
        </p:nvSpPr>
        <p:spPr>
          <a:xfrm>
            <a:off x="6151050" y="1810512"/>
            <a:ext cx="4415873"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269922" y="1929384"/>
            <a:ext cx="4178129"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69922" y="1929384"/>
            <a:ext cx="4178129"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544242" y="2203703"/>
            <a:ext cx="362948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7.31</a:t>
            </a:r>
          </a:p>
          <a:p>
            <a:pPr algn="l">
              <a:lnSpc>
                <a:spcPct val="115000"/>
              </a:lnSpc>
              <a:spcBef>
                <a:spcPts val="0"/>
              </a:spcBef>
              <a:spcAft>
                <a:spcPts val="0"/>
              </a:spcAft>
            </a:pPr>
            <a:r>
              <a:rPr sz="1500" b="0" i="0">
                <a:solidFill>
                  <a:srgbClr val="1A1A1A"/>
                </a:solidFill>
                <a:latin typeface="Palatino"/>
              </a:rPr>
              <a:t>Bearish non-failure swing. Price breaks above resistance, returns below it, and creates a short entry with a stop above the breakout high.</a:t>
            </a:r>
          </a:p>
        </p:txBody>
      </p:sp>
      <p:cxnSp>
        <p:nvCxnSpPr>
          <p:cNvPr id="12" name="Connector 11"/>
          <p:cNvCxnSpPr/>
          <p:nvPr/>
        </p:nvCxnSpPr>
        <p:spPr>
          <a:xfrm>
            <a:off x="7314455" y="2301581"/>
            <a:ext cx="1420564" cy="0"/>
          </a:xfrm>
          <a:prstGeom prst="line">
            <a:avLst/>
          </a:prstGeom>
          <a:ln w="44450">
            <a:solidFill>
              <a:srgbClr val="E09B00"/>
            </a:solidFill>
          </a:ln>
        </p:spPr>
      </p:cxnSp>
      <p:sp>
        <p:nvSpPr>
          <p:cNvPr id="13" name="Oval 12"/>
          <p:cNvSpPr/>
          <p:nvPr/>
        </p:nvSpPr>
        <p:spPr>
          <a:xfrm>
            <a:off x="7481580" y="2034722"/>
            <a:ext cx="292469" cy="316016"/>
          </a:xfrm>
          <a:prstGeom prst="ellipse">
            <a:avLst/>
          </a:prstGeom>
          <a:noFill/>
          <a:ln w="44450">
            <a:solidFill>
              <a:srgbClr val="C62828"/>
            </a:solidFill>
          </a:ln>
        </p:spPr>
        <p:txBody>
          <a:bodyPr rtlCol="0" anchor="ctr"/>
          <a:lstStyle/>
          <a:p>
            <a:pPr algn="ctr"/>
          </a:p>
        </p:txBody>
      </p:sp>
      <p:sp>
        <p:nvSpPr>
          <p:cNvPr id="14" name="Oval 13"/>
          <p:cNvSpPr/>
          <p:nvPr/>
        </p:nvSpPr>
        <p:spPr>
          <a:xfrm>
            <a:off x="7774049" y="2280513"/>
            <a:ext cx="250687" cy="280903"/>
          </a:xfrm>
          <a:prstGeom prst="ellipse">
            <a:avLst/>
          </a:prstGeom>
          <a:noFill/>
          <a:ln w="44450">
            <a:solidFill>
              <a:srgbClr val="1F5FAD"/>
            </a:solidFill>
          </a:ln>
        </p:spPr>
        <p:txBody>
          <a:bodyPr rtlCol="0" anchor="ctr"/>
          <a:lstStyle/>
          <a:p>
            <a:pPr algn="ctr"/>
          </a:p>
        </p:txBody>
      </p:sp>
      <p:cxnSp>
        <p:nvCxnSpPr>
          <p:cNvPr id="15" name="Connector 14"/>
          <p:cNvCxnSpPr/>
          <p:nvPr/>
        </p:nvCxnSpPr>
        <p:spPr>
          <a:xfrm>
            <a:off x="7398017" y="2034722"/>
            <a:ext cx="626720" cy="0"/>
          </a:xfrm>
          <a:prstGeom prst="line">
            <a:avLst/>
          </a:prstGeom>
          <a:ln w="44450">
            <a:solidFill>
              <a:srgbClr val="7B3FA0"/>
            </a:solidFill>
          </a:ln>
        </p:spPr>
      </p:cxnSp>
      <p:sp>
        <p:nvSpPr>
          <p:cNvPr id="16" name="Oval 15"/>
          <p:cNvSpPr/>
          <p:nvPr/>
        </p:nvSpPr>
        <p:spPr>
          <a:xfrm>
            <a:off x="8750635" y="2205898"/>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246508" y="2451689"/>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8165696" y="2311237"/>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7183836" y="1924994"/>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7.31 -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228, Figure 7.31. The crop and marks are for teaching.</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7.32 shows the same failed-break idea in both directions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53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is the false upside high and red </a:t>
            </a:r>
            <a:r>
              <a:rPr sz="1700" b="1" i="0">
                <a:solidFill>
                  <a:srgbClr val="C62828"/>
                </a:solidFill>
                <a:latin typeface="Arial"/>
              </a:rPr>
              <a:t>(2)</a:t>
            </a:r>
            <a:r>
              <a:rPr sz="1700" b="0" i="0">
                <a:solidFill>
                  <a:srgbClr val="1A1A1A"/>
                </a:solidFill>
                <a:latin typeface="Arial"/>
              </a:rPr>
              <a:t> the false downside low. Blue </a:t>
            </a:r>
            <a:r>
              <a:rPr sz="1700" b="1" i="0">
                <a:solidFill>
                  <a:srgbClr val="1F5FAD"/>
                </a:solidFill>
                <a:latin typeface="Arial"/>
              </a:rPr>
              <a:t>(3)</a:t>
            </a:r>
            <a:r>
              <a:rPr sz="1700" b="0" i="0">
                <a:solidFill>
                  <a:srgbClr val="1A1A1A"/>
                </a:solidFill>
                <a:latin typeface="Arial"/>
              </a:rPr>
              <a:t> is the close back below resistance; purple </a:t>
            </a:r>
            <a:r>
              <a:rPr sz="1700" b="1" i="0">
                <a:solidFill>
                  <a:srgbClr val="7B3FA0"/>
                </a:solidFill>
                <a:latin typeface="Arial"/>
              </a:rPr>
              <a:t>(4)</a:t>
            </a:r>
            <a:r>
              <a:rPr sz="1700" b="0" i="0">
                <a:solidFill>
                  <a:srgbClr val="1A1A1A"/>
                </a:solidFill>
                <a:latin typeface="Arial"/>
              </a:rPr>
              <a:t> the close back above support.</a:t>
            </a:r>
          </a:p>
          <a:p>
            <a:pPr algn="l">
              <a:lnSpc>
                <a:spcPct val="105000"/>
              </a:lnSpc>
              <a:spcBef>
                <a:spcPts val="0"/>
              </a:spcBef>
              <a:spcAft>
                <a:spcPts val="1100"/>
              </a:spcAft>
            </a:pPr>
            <a:r>
              <a:rPr sz="1700" b="0" i="0">
                <a:solidFill>
                  <a:srgbClr val="1A1A1A"/>
                </a:solidFill>
                <a:latin typeface="Arial"/>
              </a:rPr>
              <a:t>In our example, the closes return to PHP 59.40 under PHP 60.00 resistance and PHP 40.60 over PHP 40.00 support.</a:t>
            </a:r>
          </a:p>
          <a:p>
            <a:pPr algn="l">
              <a:lnSpc>
                <a:spcPct val="105000"/>
              </a:lnSpc>
              <a:spcBef>
                <a:spcPts val="0"/>
              </a:spcBef>
              <a:spcAft>
                <a:spcPts val="1100"/>
              </a:spcAft>
            </a:pPr>
            <a:r>
              <a:rPr sz="1700" b="0" i="0">
                <a:solidFill>
                  <a:srgbClr val="1A1A1A"/>
                </a:solidFill>
                <a:latin typeface="Arial"/>
              </a:rPr>
              <a:t>That return supports a short after the false upside break or a long after the false downside break (p. 228).</a:t>
            </a:r>
          </a:p>
        </p:txBody>
      </p:sp>
      <p:sp>
        <p:nvSpPr>
          <p:cNvPr id="8" name="Rectangle 7"/>
          <p:cNvSpPr/>
          <p:nvPr/>
        </p:nvSpPr>
        <p:spPr>
          <a:xfrm>
            <a:off x="5303519" y="1810512"/>
            <a:ext cx="6110935" cy="3252532"/>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3014788"/>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55758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7.32</a:t>
            </a:r>
          </a:p>
          <a:p>
            <a:pPr algn="l">
              <a:lnSpc>
                <a:spcPct val="115000"/>
              </a:lnSpc>
              <a:spcBef>
                <a:spcPts val="0"/>
              </a:spcBef>
              <a:spcAft>
                <a:spcPts val="0"/>
              </a:spcAft>
            </a:pPr>
            <a:r>
              <a:rPr sz="1500" b="0" i="0">
                <a:solidFill>
                  <a:srgbClr val="1A1A1A"/>
                </a:solidFill>
                <a:latin typeface="Palatino"/>
              </a:rPr>
              <a:t>Silver daily chart. The marked examples return through resistance for shorts or through support for longs.</a:t>
            </a:r>
          </a:p>
        </p:txBody>
      </p:sp>
      <p:sp>
        <p:nvSpPr>
          <p:cNvPr id="12" name="Oval 11"/>
          <p:cNvSpPr/>
          <p:nvPr/>
        </p:nvSpPr>
        <p:spPr>
          <a:xfrm>
            <a:off x="7243081" y="2652933"/>
            <a:ext cx="176195" cy="211035"/>
          </a:xfrm>
          <a:prstGeom prst="ellipse">
            <a:avLst/>
          </a:prstGeom>
          <a:noFill/>
          <a:ln w="44450">
            <a:solidFill>
              <a:srgbClr val="E09B00"/>
            </a:solidFill>
          </a:ln>
        </p:spPr>
        <p:txBody>
          <a:bodyPr rtlCol="0" anchor="ctr"/>
          <a:lstStyle/>
          <a:p>
            <a:pPr algn="ctr"/>
          </a:p>
        </p:txBody>
      </p:sp>
      <p:sp>
        <p:nvSpPr>
          <p:cNvPr id="13" name="Oval 12"/>
          <p:cNvSpPr/>
          <p:nvPr/>
        </p:nvSpPr>
        <p:spPr>
          <a:xfrm>
            <a:off x="8916940" y="3768405"/>
            <a:ext cx="205561" cy="195961"/>
          </a:xfrm>
          <a:prstGeom prst="ellipse">
            <a:avLst/>
          </a:prstGeom>
          <a:noFill/>
          <a:ln w="44450">
            <a:solidFill>
              <a:srgbClr val="C62828"/>
            </a:solidFill>
          </a:ln>
        </p:spPr>
        <p:txBody>
          <a:bodyPr rtlCol="0" anchor="ctr"/>
          <a:lstStyle/>
          <a:p>
            <a:pPr algn="ctr"/>
          </a:p>
        </p:txBody>
      </p:sp>
      <p:sp>
        <p:nvSpPr>
          <p:cNvPr id="14" name="Oval 13"/>
          <p:cNvSpPr/>
          <p:nvPr/>
        </p:nvSpPr>
        <p:spPr>
          <a:xfrm>
            <a:off x="7431023" y="2818746"/>
            <a:ext cx="164449" cy="226109"/>
          </a:xfrm>
          <a:prstGeom prst="ellipse">
            <a:avLst/>
          </a:prstGeom>
          <a:noFill/>
          <a:ln w="44450">
            <a:solidFill>
              <a:srgbClr val="1F5FAD"/>
            </a:solidFill>
          </a:ln>
        </p:spPr>
        <p:txBody>
          <a:bodyPr rtlCol="0" anchor="ctr"/>
          <a:lstStyle/>
          <a:p>
            <a:pPr algn="ctr"/>
          </a:p>
        </p:txBody>
      </p:sp>
      <p:sp>
        <p:nvSpPr>
          <p:cNvPr id="15" name="Oval 14"/>
          <p:cNvSpPr/>
          <p:nvPr/>
        </p:nvSpPr>
        <p:spPr>
          <a:xfrm>
            <a:off x="9110755" y="3632739"/>
            <a:ext cx="187942" cy="150739"/>
          </a:xfrm>
          <a:prstGeom prst="ellipse">
            <a:avLst/>
          </a:prstGeom>
          <a:noFill/>
          <a:ln w="44450">
            <a:solidFill>
              <a:srgbClr val="7B3FA0"/>
            </a:solidFill>
          </a:ln>
        </p:spPr>
        <p:txBody>
          <a:bodyPr rtlCol="0" anchor="ctr"/>
          <a:lstStyle/>
          <a:p>
            <a:pPr algn="ctr"/>
          </a:p>
        </p:txBody>
      </p:sp>
      <p:sp>
        <p:nvSpPr>
          <p:cNvPr id="16" name="Oval 15"/>
          <p:cNvSpPr/>
          <p:nvPr/>
        </p:nvSpPr>
        <p:spPr>
          <a:xfrm>
            <a:off x="6986523" y="2422613"/>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130238" y="393000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7661940" y="3025571"/>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9335799" y="3718972"/>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5303519" y="5154484"/>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7.32 -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228 to 229, Figure 7.32. The crop and marks are for teaching; the PHP prices in the text are ours, invented.</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26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false breakouts</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After a false upside breakout, the bearish entry is:</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At a close below resistance</a:t>
            </a:r>
          </a:p>
          <a:p>
            <a:pPr algn="l">
              <a:lnSpc>
                <a:spcPct val="105000"/>
              </a:lnSpc>
              <a:spcBef>
                <a:spcPts val="0"/>
              </a:spcBef>
              <a:spcAft>
                <a:spcPts val="200"/>
              </a:spcAft>
            </a:pPr>
            <a:r>
              <a:rPr sz="1700" b="0" i="0">
                <a:solidFill>
                  <a:srgbClr val="FFFFFF"/>
                </a:solidFill>
                <a:latin typeface="Arial"/>
              </a:rPr>
              <a:t>B.  At the new high</a:t>
            </a:r>
          </a:p>
          <a:p>
            <a:pPr algn="l">
              <a:lnSpc>
                <a:spcPct val="105000"/>
              </a:lnSpc>
              <a:spcBef>
                <a:spcPts val="0"/>
              </a:spcBef>
              <a:spcAft>
                <a:spcPts val="200"/>
              </a:spcAft>
            </a:pPr>
            <a:r>
              <a:rPr sz="1700" b="0" i="0">
                <a:solidFill>
                  <a:srgbClr val="FFFFFF"/>
                </a:solidFill>
                <a:latin typeface="Arial"/>
              </a:rPr>
              <a:t>C.  Only after a gap down</a:t>
            </a:r>
          </a:p>
          <a:p>
            <a:pPr algn="l">
              <a:lnSpc>
                <a:spcPct val="105000"/>
              </a:lnSpc>
              <a:spcBef>
                <a:spcPts val="0"/>
              </a:spcBef>
              <a:spcAft>
                <a:spcPts val="200"/>
              </a:spcAft>
            </a:pPr>
            <a:r>
              <a:rPr sz="1700" b="0" i="0">
                <a:solidFill>
                  <a:srgbClr val="FFFFFF"/>
                </a:solidFill>
                <a:latin typeface="Arial"/>
              </a:rPr>
              <a:t>D.  Above support</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After a false downside breakout, the bullish entry is:</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Below support</a:t>
            </a:r>
          </a:p>
          <a:p>
            <a:pPr algn="l">
              <a:lnSpc>
                <a:spcPct val="105000"/>
              </a:lnSpc>
              <a:spcBef>
                <a:spcPts val="0"/>
              </a:spcBef>
              <a:spcAft>
                <a:spcPts val="200"/>
              </a:spcAft>
            </a:pPr>
            <a:r>
              <a:rPr sz="1700" b="0" i="0">
                <a:solidFill>
                  <a:srgbClr val="FFFFFF"/>
                </a:solidFill>
                <a:latin typeface="Arial"/>
              </a:rPr>
              <a:t>B.  At the false low</a:t>
            </a:r>
          </a:p>
          <a:p>
            <a:pPr algn="l">
              <a:lnSpc>
                <a:spcPct val="105000"/>
              </a:lnSpc>
              <a:spcBef>
                <a:spcPts val="0"/>
              </a:spcBef>
              <a:spcAft>
                <a:spcPts val="200"/>
              </a:spcAft>
            </a:pPr>
            <a:r>
              <a:rPr sz="1700" b="0" i="0">
                <a:solidFill>
                  <a:srgbClr val="FFFFFF"/>
                </a:solidFill>
                <a:latin typeface="Arial"/>
              </a:rPr>
              <a:t>C.  Only after a gap up</a:t>
            </a:r>
          </a:p>
          <a:p>
            <a:pPr algn="l">
              <a:lnSpc>
                <a:spcPct val="105000"/>
              </a:lnSpc>
              <a:spcBef>
                <a:spcPts val="0"/>
              </a:spcBef>
              <a:spcAft>
                <a:spcPts val="200"/>
              </a:spcAft>
            </a:pPr>
            <a:r>
              <a:rPr sz="1700" b="0" i="0">
                <a:solidFill>
                  <a:srgbClr val="FFFFFF"/>
                </a:solidFill>
                <a:latin typeface="Arial"/>
              </a:rPr>
              <a:t>D.  At a close above support</a:t>
            </a:r>
          </a:p>
        </p:txBody>
      </p:sp>
      <p:sp>
        <p:nvSpPr>
          <p:cNvPr id="14" name="Rectangle 13"/>
          <p:cNvSpPr/>
          <p:nvPr/>
        </p:nvSpPr>
        <p:spPr>
          <a:xfrm>
            <a:off x="6126479" y="1207008"/>
            <a:ext cx="5287975" cy="2830096"/>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59235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13515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7.32</a:t>
            </a:r>
          </a:p>
          <a:p>
            <a:pPr algn="l">
              <a:lnSpc>
                <a:spcPct val="115000"/>
              </a:lnSpc>
              <a:spcBef>
                <a:spcPts val="0"/>
              </a:spcBef>
              <a:spcAft>
                <a:spcPts val="0"/>
              </a:spcAft>
            </a:pPr>
            <a:r>
              <a:rPr sz="1500" b="0" i="0">
                <a:solidFill>
                  <a:srgbClr val="1A1A1A"/>
                </a:solidFill>
                <a:latin typeface="Palatino"/>
              </a:rPr>
              <a:t>Silver daily chart. The marked examples return through resistance for shorts or through support for longs.</a:t>
            </a:r>
          </a:p>
        </p:txBody>
      </p:sp>
      <p:sp>
        <p:nvSpPr>
          <p:cNvPr id="18" name="Oval 17"/>
          <p:cNvSpPr/>
          <p:nvPr/>
        </p:nvSpPr>
        <p:spPr>
          <a:xfrm>
            <a:off x="7810923" y="1948044"/>
            <a:ext cx="151506" cy="181464"/>
          </a:xfrm>
          <a:prstGeom prst="ellipse">
            <a:avLst/>
          </a:prstGeom>
          <a:noFill/>
          <a:ln w="44450">
            <a:solidFill>
              <a:srgbClr val="E09B00"/>
            </a:solidFill>
          </a:ln>
        </p:spPr>
        <p:txBody>
          <a:bodyPr rtlCol="0" anchor="ctr"/>
          <a:lstStyle/>
          <a:p>
            <a:pPr algn="ctr"/>
          </a:p>
        </p:txBody>
      </p:sp>
      <p:sp>
        <p:nvSpPr>
          <p:cNvPr id="19" name="Oval 18"/>
          <p:cNvSpPr/>
          <p:nvPr/>
        </p:nvSpPr>
        <p:spPr>
          <a:xfrm>
            <a:off x="9250239" y="2907214"/>
            <a:ext cx="176758" cy="168502"/>
          </a:xfrm>
          <a:prstGeom prst="ellipse">
            <a:avLst/>
          </a:prstGeom>
          <a:noFill/>
          <a:ln w="44450">
            <a:solidFill>
              <a:srgbClr val="C62828"/>
            </a:solidFill>
          </a:ln>
        </p:spPr>
        <p:txBody>
          <a:bodyPr rtlCol="0" anchor="ctr"/>
          <a:lstStyle/>
          <a:p>
            <a:pPr algn="ctr"/>
          </a:p>
        </p:txBody>
      </p:sp>
      <p:sp>
        <p:nvSpPr>
          <p:cNvPr id="20" name="Oval 19"/>
          <p:cNvSpPr/>
          <p:nvPr/>
        </p:nvSpPr>
        <p:spPr>
          <a:xfrm>
            <a:off x="7972531" y="2090623"/>
            <a:ext cx="141406" cy="194426"/>
          </a:xfrm>
          <a:prstGeom prst="ellipse">
            <a:avLst/>
          </a:prstGeom>
          <a:noFill/>
          <a:ln w="44450">
            <a:solidFill>
              <a:srgbClr val="1F5FAD"/>
            </a:solidFill>
          </a:ln>
        </p:spPr>
        <p:txBody>
          <a:bodyPr rtlCol="0" anchor="ctr"/>
          <a:lstStyle/>
          <a:p>
            <a:pPr algn="ctr"/>
          </a:p>
        </p:txBody>
      </p:sp>
      <p:sp>
        <p:nvSpPr>
          <p:cNvPr id="21" name="Oval 20"/>
          <p:cNvSpPr/>
          <p:nvPr/>
        </p:nvSpPr>
        <p:spPr>
          <a:xfrm>
            <a:off x="9416897" y="2790559"/>
            <a:ext cx="161607" cy="129617"/>
          </a:xfrm>
          <a:prstGeom prst="ellipse">
            <a:avLst/>
          </a:prstGeom>
          <a:noFill/>
          <a:ln w="44450">
            <a:solidFill>
              <a:srgbClr val="7B3FA0"/>
            </a:solidFill>
          </a:ln>
        </p:spPr>
        <p:txBody>
          <a:bodyPr rtlCol="0" anchor="ctr"/>
          <a:lstStyle/>
          <a:p>
            <a:pPr algn="ctr"/>
          </a:p>
        </p:txBody>
      </p:sp>
      <p:sp>
        <p:nvSpPr>
          <p:cNvPr id="22" name="Oval 21"/>
          <p:cNvSpPr/>
          <p:nvPr/>
        </p:nvSpPr>
        <p:spPr>
          <a:xfrm>
            <a:off x="7574939" y="173462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418274" y="303079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8155716" y="225309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9595032" y="2849333"/>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6126479" y="4128544"/>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7.32 -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26</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false breakouts</a:t>
            </a:r>
          </a:p>
        </p:txBody>
      </p:sp>
      <p:sp>
        <p:nvSpPr>
          <p:cNvPr id="6" name="Rectangle 5"/>
          <p:cNvSpPr/>
          <p:nvPr/>
        </p:nvSpPr>
        <p:spPr>
          <a:xfrm>
            <a:off x="777240" y="1207008"/>
            <a:ext cx="5029200" cy="223583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23583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After a false upside breakout, the bearish entry is:</a:t>
            </a:r>
          </a:p>
        </p:txBody>
      </p:sp>
      <p:sp>
        <p:nvSpPr>
          <p:cNvPr id="9" name="TextBox 8"/>
          <p:cNvSpPr txBox="1"/>
          <p:nvPr/>
        </p:nvSpPr>
        <p:spPr>
          <a:xfrm>
            <a:off x="1097280" y="2069338"/>
            <a:ext cx="44805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A.  At a close below resistance</a:t>
            </a:r>
          </a:p>
          <a:p>
            <a:pPr algn="l">
              <a:lnSpc>
                <a:spcPct val="115000"/>
              </a:lnSpc>
              <a:spcBef>
                <a:spcPts val="500"/>
              </a:spcBef>
              <a:spcAft>
                <a:spcPts val="0"/>
              </a:spcAft>
            </a:pPr>
            <a:r>
              <a:rPr sz="1700" b="0" i="0">
                <a:solidFill>
                  <a:srgbClr val="1A1A1A"/>
                </a:solidFill>
                <a:latin typeface="Arial"/>
              </a:rPr>
              <a:t>The short is normally initiated when price closes below resistance after the false upside breakout (p. 228).</a:t>
            </a:r>
          </a:p>
        </p:txBody>
      </p:sp>
      <p:sp>
        <p:nvSpPr>
          <p:cNvPr id="10" name="Rectangle 9"/>
          <p:cNvSpPr/>
          <p:nvPr/>
        </p:nvSpPr>
        <p:spPr>
          <a:xfrm>
            <a:off x="777240" y="3625723"/>
            <a:ext cx="5029200" cy="223583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25723"/>
            <a:ext cx="91440" cy="223583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808603"/>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After a false downside breakout, the bullish entry is:</a:t>
            </a:r>
          </a:p>
        </p:txBody>
      </p:sp>
      <p:sp>
        <p:nvSpPr>
          <p:cNvPr id="13" name="TextBox 12"/>
          <p:cNvSpPr txBox="1"/>
          <p:nvPr/>
        </p:nvSpPr>
        <p:spPr>
          <a:xfrm>
            <a:off x="1097280" y="4488053"/>
            <a:ext cx="44805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At a close above support</a:t>
            </a:r>
          </a:p>
          <a:p>
            <a:pPr algn="l">
              <a:lnSpc>
                <a:spcPct val="115000"/>
              </a:lnSpc>
              <a:spcBef>
                <a:spcPts val="500"/>
              </a:spcBef>
              <a:spcAft>
                <a:spcPts val="0"/>
              </a:spcAft>
            </a:pPr>
            <a:r>
              <a:rPr sz="1700" b="0" i="0">
                <a:solidFill>
                  <a:srgbClr val="1A1A1A"/>
                </a:solidFill>
                <a:latin typeface="Arial"/>
              </a:rPr>
              <a:t>The opposite entry is taken when price closes back above support after the false downside breakout (p. 228).</a:t>
            </a:r>
          </a:p>
        </p:txBody>
      </p:sp>
      <p:sp>
        <p:nvSpPr>
          <p:cNvPr id="14" name="Rectangle 13"/>
          <p:cNvSpPr/>
          <p:nvPr/>
        </p:nvSpPr>
        <p:spPr>
          <a:xfrm>
            <a:off x="6126479" y="1207008"/>
            <a:ext cx="5287975" cy="2830096"/>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59235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213515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7.32</a:t>
            </a:r>
          </a:p>
          <a:p>
            <a:pPr algn="l">
              <a:lnSpc>
                <a:spcPct val="115000"/>
              </a:lnSpc>
              <a:spcBef>
                <a:spcPts val="0"/>
              </a:spcBef>
              <a:spcAft>
                <a:spcPts val="0"/>
              </a:spcAft>
            </a:pPr>
            <a:r>
              <a:rPr sz="1500" b="0" i="0">
                <a:solidFill>
                  <a:srgbClr val="1A1A1A"/>
                </a:solidFill>
                <a:latin typeface="Palatino"/>
              </a:rPr>
              <a:t>Silver daily chart. The marked examples return through resistance for shorts or through support for longs.</a:t>
            </a:r>
          </a:p>
        </p:txBody>
      </p:sp>
      <p:sp>
        <p:nvSpPr>
          <p:cNvPr id="18" name="Oval 17"/>
          <p:cNvSpPr/>
          <p:nvPr/>
        </p:nvSpPr>
        <p:spPr>
          <a:xfrm>
            <a:off x="7810923" y="1948044"/>
            <a:ext cx="151506" cy="181464"/>
          </a:xfrm>
          <a:prstGeom prst="ellipse">
            <a:avLst/>
          </a:prstGeom>
          <a:noFill/>
          <a:ln w="44450">
            <a:solidFill>
              <a:srgbClr val="E09B00"/>
            </a:solidFill>
          </a:ln>
        </p:spPr>
        <p:txBody>
          <a:bodyPr rtlCol="0" anchor="ctr"/>
          <a:lstStyle/>
          <a:p>
            <a:pPr algn="ctr"/>
          </a:p>
        </p:txBody>
      </p:sp>
      <p:sp>
        <p:nvSpPr>
          <p:cNvPr id="19" name="Oval 18"/>
          <p:cNvSpPr/>
          <p:nvPr/>
        </p:nvSpPr>
        <p:spPr>
          <a:xfrm>
            <a:off x="9250239" y="2907214"/>
            <a:ext cx="176758" cy="168502"/>
          </a:xfrm>
          <a:prstGeom prst="ellipse">
            <a:avLst/>
          </a:prstGeom>
          <a:noFill/>
          <a:ln w="44450">
            <a:solidFill>
              <a:srgbClr val="C62828"/>
            </a:solidFill>
          </a:ln>
        </p:spPr>
        <p:txBody>
          <a:bodyPr rtlCol="0" anchor="ctr"/>
          <a:lstStyle/>
          <a:p>
            <a:pPr algn="ctr"/>
          </a:p>
        </p:txBody>
      </p:sp>
      <p:sp>
        <p:nvSpPr>
          <p:cNvPr id="20" name="Oval 19"/>
          <p:cNvSpPr/>
          <p:nvPr/>
        </p:nvSpPr>
        <p:spPr>
          <a:xfrm>
            <a:off x="7972531" y="2090623"/>
            <a:ext cx="141406" cy="194426"/>
          </a:xfrm>
          <a:prstGeom prst="ellipse">
            <a:avLst/>
          </a:prstGeom>
          <a:noFill/>
          <a:ln w="44450">
            <a:solidFill>
              <a:srgbClr val="1F5FAD"/>
            </a:solidFill>
          </a:ln>
        </p:spPr>
        <p:txBody>
          <a:bodyPr rtlCol="0" anchor="ctr"/>
          <a:lstStyle/>
          <a:p>
            <a:pPr algn="ctr"/>
          </a:p>
        </p:txBody>
      </p:sp>
      <p:sp>
        <p:nvSpPr>
          <p:cNvPr id="21" name="Oval 20"/>
          <p:cNvSpPr/>
          <p:nvPr/>
        </p:nvSpPr>
        <p:spPr>
          <a:xfrm>
            <a:off x="9416897" y="2790559"/>
            <a:ext cx="161607" cy="129617"/>
          </a:xfrm>
          <a:prstGeom prst="ellipse">
            <a:avLst/>
          </a:prstGeom>
          <a:noFill/>
          <a:ln w="44450">
            <a:solidFill>
              <a:srgbClr val="7B3FA0"/>
            </a:solidFill>
          </a:ln>
        </p:spPr>
        <p:txBody>
          <a:bodyPr rtlCol="0" anchor="ctr"/>
          <a:lstStyle/>
          <a:p>
            <a:pPr algn="ctr"/>
          </a:p>
        </p:txBody>
      </p:sp>
      <p:sp>
        <p:nvSpPr>
          <p:cNvPr id="22" name="Oval 21"/>
          <p:cNvSpPr/>
          <p:nvPr/>
        </p:nvSpPr>
        <p:spPr>
          <a:xfrm>
            <a:off x="7574939" y="173462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3" name="Oval 22"/>
          <p:cNvSpPr/>
          <p:nvPr/>
        </p:nvSpPr>
        <p:spPr>
          <a:xfrm>
            <a:off x="9418274" y="303079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4" name="Oval 23"/>
          <p:cNvSpPr/>
          <p:nvPr/>
        </p:nvSpPr>
        <p:spPr>
          <a:xfrm>
            <a:off x="8155716" y="225309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5" name="Oval 24"/>
          <p:cNvSpPr/>
          <p:nvPr/>
        </p:nvSpPr>
        <p:spPr>
          <a:xfrm>
            <a:off x="9595032" y="2849333"/>
            <a:ext cx="219456" cy="21945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6" name="TextBox 25"/>
          <p:cNvSpPr txBox="1"/>
          <p:nvPr/>
        </p:nvSpPr>
        <p:spPr>
          <a:xfrm>
            <a:off x="6126479" y="4128544"/>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7.32 - Lim, The Handbook of Technical Analysis (Wiley, 2016)</a:t>
            </a:r>
          </a:p>
        </p:txBody>
      </p:sp>
      <p:sp>
        <p:nvSpPr>
          <p:cNvPr id="27" name="TextBox 2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Double Repo names two crossings of a moving average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54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Joe DiNapoli's Double Repo is a topping pattern. In an uptrend, price closes above and below a three-day simple moving average (SMA) twice, and that gives a sell signal (p. 229).</a:t>
            </a:r>
          </a:p>
          <a:p>
            <a:pPr algn="l">
              <a:lnSpc>
                <a:spcPct val="118000"/>
              </a:lnSpc>
              <a:spcBef>
                <a:spcPts val="0"/>
              </a:spcBef>
              <a:spcAft>
                <a:spcPts val="1300"/>
              </a:spcAft>
            </a:pPr>
            <a:r>
              <a:rPr sz="2100" b="0" i="0">
                <a:solidFill>
                  <a:srgbClr val="1A1A1A"/>
                </a:solidFill>
                <a:latin typeface="Arial"/>
              </a:rPr>
              <a:t>The SMA is forward shifted by three days. DiNapoli also asks for at least eight to ten days of bullish price action first, and a top of no more than eight to ten bars.</a:t>
            </a:r>
          </a:p>
        </p:txBody>
      </p:sp>
      <p:sp>
        <p:nvSpPr>
          <p:cNvPr id="8" name="Rectangle 7"/>
          <p:cNvSpPr/>
          <p:nvPr/>
        </p:nvSpPr>
        <p:spPr>
          <a:xfrm>
            <a:off x="777240" y="453085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6742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First the bullish run, then two closes below the line inside a short top.</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Double Repo with simple closes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 Double Repo with simple closes. The dashed line is the three-day SMA shifted three days forward: each point is the average of the three closes that ended three bars earlier, so the line starts at bar 6. For ten bars every close is higher than the one before, from PHP 45.00 up to PHP 50.70 </a:t>
            </a:r>
            <a:r>
              <a:rPr sz="1700" b="1" i="0">
                <a:solidFill>
                  <a:srgbClr val="E09B00"/>
                </a:solidFill>
                <a:latin typeface="Arial"/>
              </a:rPr>
              <a:t>(1)</a:t>
            </a:r>
            <a:r>
              <a:rPr sz="1700" b="0" i="0">
                <a:solidFill>
                  <a:srgbClr val="1A1A1A"/>
                </a:solidFill>
                <a:latin typeface="Arial"/>
              </a:rPr>
              <a:t>, well above the line. That is the bullish run DiNapoli asks for first.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g-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3375964"/>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967874" y="3291840"/>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LG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55 of 65</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LG: invented PHP closes and a three-day SMA.</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Double Repo with simple closes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Then the top forms. At bar 13 price closes at PHP 49.20, below the line at PHP 50.10 </a:t>
            </a:r>
            <a:r>
              <a:rPr sz="1700" b="1" i="0">
                <a:solidFill>
                  <a:srgbClr val="C62828"/>
                </a:solidFill>
                <a:latin typeface="Arial"/>
              </a:rPr>
              <a:t>(2)</a:t>
            </a:r>
            <a:r>
              <a:rPr sz="1700" b="0" i="0">
                <a:solidFill>
                  <a:srgbClr val="1A1A1A"/>
                </a:solidFill>
                <a:latin typeface="Arial"/>
              </a:rPr>
              <a:t>. At bar 14 it closes back above, at PHP 50.70 against PHP 50.40 </a:t>
            </a:r>
            <a:r>
              <a:rPr sz="1700" b="1" i="0">
                <a:solidFill>
                  <a:srgbClr val="1F5FAD"/>
                </a:solidFill>
                <a:latin typeface="Arial"/>
              </a:rPr>
              <a:t>(3)</a:t>
            </a:r>
            <a:r>
              <a:rPr sz="1700" b="0" i="0">
                <a:solidFill>
                  <a:srgbClr val="1A1A1A"/>
                </a:solidFill>
                <a:latin typeface="Arial"/>
              </a:rPr>
              <a:t>. At bar 15 it closes below again, at PHP 49.40 against PHP 50.30 </a:t>
            </a:r>
            <a:r>
              <a:rPr sz="1700" b="1" i="0">
                <a:solidFill>
                  <a:srgbClr val="7B3FA0"/>
                </a:solidFill>
                <a:latin typeface="Arial"/>
              </a:rPr>
              <a:t>(4)</a:t>
            </a:r>
            <a:r>
              <a:rPr sz="1700" b="0" i="0">
                <a:solidFill>
                  <a:srgbClr val="1A1A1A"/>
                </a:solidFill>
                <a:latin typeface="Arial"/>
              </a:rPr>
              <a:t>. That second close below is the sell signal, five bars into the top, and the next bar falls to PHP 48.30.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g-1.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7012076" y="4307221"/>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7968081" y="3375964"/>
            <a:ext cx="87782" cy="87782"/>
          </a:xfrm>
          <a:prstGeom prst="ellipse">
            <a:avLst/>
          </a:prstGeom>
          <a:noFill/>
          <a:ln w="44450">
            <a:solidFill>
              <a:srgbClr val="1F5FAD"/>
            </a:solidFill>
          </a:ln>
        </p:spPr>
        <p:txBody>
          <a:bodyPr rtlCol="0" anchor="ctr"/>
          <a:lstStyle/>
          <a:p>
            <a:pPr algn="ctr"/>
          </a:p>
        </p:txBody>
      </p:sp>
      <p:sp>
        <p:nvSpPr>
          <p:cNvPr id="11" name="Oval 10"/>
          <p:cNvSpPr/>
          <p:nvPr/>
        </p:nvSpPr>
        <p:spPr>
          <a:xfrm>
            <a:off x="8924086" y="4183053"/>
            <a:ext cx="87782" cy="87782"/>
          </a:xfrm>
          <a:prstGeom prst="ellipse">
            <a:avLst/>
          </a:prstGeom>
          <a:noFill/>
          <a:ln w="44450">
            <a:solidFill>
              <a:srgbClr val="7B3FA0"/>
            </a:solidFill>
          </a:ln>
        </p:spPr>
        <p:txBody>
          <a:bodyPr rtlCol="0" anchor="ctr"/>
          <a:lstStyle/>
          <a:p>
            <a:pPr algn="ctr"/>
          </a:p>
        </p:txBody>
      </p:sp>
      <p:sp>
        <p:nvSpPr>
          <p:cNvPr id="12" name="Oval 11"/>
          <p:cNvSpPr/>
          <p:nvPr/>
        </p:nvSpPr>
        <p:spPr>
          <a:xfrm>
            <a:off x="7099858" y="422309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Oval 12"/>
          <p:cNvSpPr/>
          <p:nvPr/>
        </p:nvSpPr>
        <p:spPr>
          <a:xfrm>
            <a:off x="8055863" y="329184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4" name="Oval 13"/>
          <p:cNvSpPr/>
          <p:nvPr/>
        </p:nvSpPr>
        <p:spPr>
          <a:xfrm>
            <a:off x="9011869" y="4098928"/>
            <a:ext cx="256032" cy="256032"/>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LG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56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LG: invented PHP closes and a three-day SMA.</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7.33 shows the Double Repo reversal in the book's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57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Gold </a:t>
            </a:r>
            <a:r>
              <a:rPr sz="1700" b="1" i="0">
                <a:solidFill>
                  <a:srgbClr val="E09B00"/>
                </a:solidFill>
                <a:latin typeface="Arial"/>
              </a:rPr>
              <a:t>(1)</a:t>
            </a:r>
            <a:r>
              <a:rPr sz="1700" b="0" i="0">
                <a:solidFill>
                  <a:srgbClr val="1A1A1A"/>
                </a:solidFill>
                <a:latin typeface="Arial"/>
              </a:rPr>
              <a:t> marks a close above the forward-shifted three-day SMA and red </a:t>
            </a:r>
            <a:r>
              <a:rPr sz="1700" b="1" i="0">
                <a:solidFill>
                  <a:srgbClr val="C62828"/>
                </a:solidFill>
                <a:latin typeface="Arial"/>
              </a:rPr>
              <a:t>(2)</a:t>
            </a:r>
            <a:r>
              <a:rPr sz="1700" b="0" i="0">
                <a:solidFill>
                  <a:srgbClr val="1A1A1A"/>
                </a:solidFill>
                <a:latin typeface="Arial"/>
              </a:rPr>
              <a:t> the first close below it, inside the topping block. Blue </a:t>
            </a:r>
            <a:r>
              <a:rPr sz="1700" b="1" i="0">
                <a:solidFill>
                  <a:srgbClr val="1F5FAD"/>
                </a:solidFill>
                <a:latin typeface="Arial"/>
              </a:rPr>
              <a:t>(3)</a:t>
            </a:r>
            <a:r>
              <a:rPr sz="1700" b="0" i="0">
                <a:solidFill>
                  <a:srgbClr val="1A1A1A"/>
                </a:solidFill>
                <a:latin typeface="Arial"/>
              </a:rPr>
              <a:t> marks the later decline.</a:t>
            </a:r>
          </a:p>
          <a:p>
            <a:pPr algn="l">
              <a:lnSpc>
                <a:spcPct val="105000"/>
              </a:lnSpc>
              <a:spcBef>
                <a:spcPts val="0"/>
              </a:spcBef>
              <a:spcAft>
                <a:spcPts val="1100"/>
              </a:spcAft>
            </a:pPr>
            <a:r>
              <a:rPr sz="1700" b="0" i="0">
                <a:solidFill>
                  <a:srgbClr val="1A1A1A"/>
                </a:solidFill>
                <a:latin typeface="Arial"/>
              </a:rPr>
              <a:t>Lim presents a bearish reversal in an uptrend. The converse applies in a downtrend, but the book sends readers to DiNapoli for the complete method.</a:t>
            </a:r>
          </a:p>
          <a:p>
            <a:pPr algn="l">
              <a:lnSpc>
                <a:spcPct val="105000"/>
              </a:lnSpc>
              <a:spcBef>
                <a:spcPts val="0"/>
              </a:spcBef>
              <a:spcAft>
                <a:spcPts val="1100"/>
              </a:spcAft>
            </a:pPr>
            <a:r>
              <a:rPr sz="1700" b="0" i="0">
                <a:solidFill>
                  <a:srgbClr val="1A1A1A"/>
                </a:solidFill>
                <a:latin typeface="Arial"/>
              </a:rPr>
              <a:t>Read the two crossings as the named structure, not as a complete trading system.</a:t>
            </a:r>
          </a:p>
        </p:txBody>
      </p:sp>
      <p:sp>
        <p:nvSpPr>
          <p:cNvPr id="8" name="Rectangle 7"/>
          <p:cNvSpPr/>
          <p:nvPr/>
        </p:nvSpPr>
        <p:spPr>
          <a:xfrm>
            <a:off x="5303519" y="1810512"/>
            <a:ext cx="6110935" cy="285865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2620911"/>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16371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7.33</a:t>
            </a:r>
          </a:p>
          <a:p>
            <a:pPr algn="l">
              <a:lnSpc>
                <a:spcPct val="115000"/>
              </a:lnSpc>
              <a:spcBef>
                <a:spcPts val="0"/>
              </a:spcBef>
              <a:spcAft>
                <a:spcPts val="0"/>
              </a:spcAft>
            </a:pPr>
            <a:r>
              <a:rPr sz="1500" b="0" i="0">
                <a:solidFill>
                  <a:srgbClr val="1A1A1A"/>
                </a:solidFill>
                <a:latin typeface="Palatino"/>
              </a:rPr>
              <a:t>Continuous daily sugar chart. The marked sequence crosses a forward-shifted three-day SMA twice before the rapid decline.</a:t>
            </a:r>
          </a:p>
        </p:txBody>
      </p:sp>
      <p:sp>
        <p:nvSpPr>
          <p:cNvPr id="12" name="Oval 11"/>
          <p:cNvSpPr/>
          <p:nvPr/>
        </p:nvSpPr>
        <p:spPr>
          <a:xfrm>
            <a:off x="7771668" y="2243893"/>
            <a:ext cx="146829" cy="183463"/>
          </a:xfrm>
          <a:prstGeom prst="ellipse">
            <a:avLst/>
          </a:prstGeom>
          <a:noFill/>
          <a:ln w="44450">
            <a:solidFill>
              <a:srgbClr val="E09B00"/>
            </a:solidFill>
          </a:ln>
        </p:spPr>
        <p:txBody>
          <a:bodyPr rtlCol="0" anchor="ctr"/>
          <a:lstStyle/>
          <a:p>
            <a:pPr algn="ctr"/>
          </a:p>
        </p:txBody>
      </p:sp>
      <p:sp>
        <p:nvSpPr>
          <p:cNvPr id="13" name="Oval 12"/>
          <p:cNvSpPr/>
          <p:nvPr/>
        </p:nvSpPr>
        <p:spPr>
          <a:xfrm>
            <a:off x="7918498" y="2453566"/>
            <a:ext cx="146829" cy="235882"/>
          </a:xfrm>
          <a:prstGeom prst="ellipse">
            <a:avLst/>
          </a:prstGeom>
          <a:noFill/>
          <a:ln w="44450">
            <a:solidFill>
              <a:srgbClr val="C62828"/>
            </a:solidFill>
          </a:ln>
        </p:spPr>
        <p:txBody>
          <a:bodyPr rtlCol="0" anchor="ctr"/>
          <a:lstStyle/>
          <a:p>
            <a:pPr algn="ctr"/>
          </a:p>
        </p:txBody>
      </p:sp>
      <p:cxnSp>
        <p:nvCxnSpPr>
          <p:cNvPr id="14" name="Connector 13"/>
          <p:cNvCxnSpPr/>
          <p:nvPr/>
        </p:nvCxnSpPr>
        <p:spPr>
          <a:xfrm>
            <a:off x="8887574" y="2977748"/>
            <a:ext cx="1057175" cy="733855"/>
          </a:xfrm>
          <a:prstGeom prst="line">
            <a:avLst/>
          </a:prstGeom>
          <a:ln w="44450">
            <a:solidFill>
              <a:srgbClr val="1F5FAD"/>
            </a:solidFill>
            <a:tailEnd type="triangle" w="med" len="med"/>
          </a:ln>
        </p:spPr>
      </p:cxnSp>
      <p:sp>
        <p:nvSpPr>
          <p:cNvPr id="15" name="Oval 14"/>
          <p:cNvSpPr/>
          <p:nvPr/>
        </p:nvSpPr>
        <p:spPr>
          <a:xfrm>
            <a:off x="7632574" y="1950701"/>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102429" y="2566615"/>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0069948" y="3706712"/>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4760607"/>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229, Figure 7.33. The crop and marks are for teaching.</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Double Repo also has timing limits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58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Gold </a:t>
            </a:r>
            <a:r>
              <a:rPr sz="1900" b="1" i="0">
                <a:solidFill>
                  <a:srgbClr val="E09B00"/>
                </a:solidFill>
                <a:latin typeface="Arial"/>
              </a:rPr>
              <a:t>(1)</a:t>
            </a:r>
            <a:r>
              <a:rPr sz="1900" b="0" i="0">
                <a:solidFill>
                  <a:srgbClr val="1A1A1A"/>
                </a:solidFill>
                <a:latin typeface="Arial"/>
              </a:rPr>
              <a:t> marks the forward-shifted three-day SMA. Red </a:t>
            </a:r>
            <a:r>
              <a:rPr sz="1900" b="1" i="0">
                <a:solidFill>
                  <a:srgbClr val="C62828"/>
                </a:solidFill>
                <a:latin typeface="Arial"/>
              </a:rPr>
              <a:t>(2)</a:t>
            </a:r>
            <a:r>
              <a:rPr sz="1900" b="0" i="0">
                <a:solidFill>
                  <a:srgbClr val="1A1A1A"/>
                </a:solidFill>
                <a:latin typeface="Arial"/>
              </a:rPr>
              <a:t> marks the required 8 to 10 bullish days before the pattern.</a:t>
            </a:r>
          </a:p>
          <a:p>
            <a:pPr algn="l">
              <a:lnSpc>
                <a:spcPct val="105000"/>
              </a:lnSpc>
              <a:spcBef>
                <a:spcPts val="0"/>
              </a:spcBef>
              <a:spcAft>
                <a:spcPts val="1100"/>
              </a:spcAft>
            </a:pPr>
            <a:r>
              <a:rPr sz="1900" b="0" i="0">
                <a:solidFill>
                  <a:srgbClr val="1A1A1A"/>
                </a:solidFill>
                <a:latin typeface="Arial"/>
              </a:rPr>
              <a:t>Blue </a:t>
            </a:r>
            <a:r>
              <a:rPr sz="1900" b="1" i="0">
                <a:solidFill>
                  <a:srgbClr val="1F5FAD"/>
                </a:solidFill>
                <a:latin typeface="Arial"/>
              </a:rPr>
              <a:t>(3)</a:t>
            </a:r>
            <a:r>
              <a:rPr sz="1900" b="0" i="0">
                <a:solidFill>
                  <a:srgbClr val="1A1A1A"/>
                </a:solidFill>
                <a:latin typeface="Arial"/>
              </a:rPr>
              <a:t> marks the topping formation. Lim says it should not exceed 8 to 10 bars (p. 229).</a:t>
            </a:r>
          </a:p>
          <a:p>
            <a:pPr algn="l">
              <a:lnSpc>
                <a:spcPct val="105000"/>
              </a:lnSpc>
              <a:spcBef>
                <a:spcPts val="0"/>
              </a:spcBef>
              <a:spcAft>
                <a:spcPts val="1100"/>
              </a:spcAft>
            </a:pPr>
            <a:r>
              <a:rPr sz="1900" b="0" i="0">
                <a:solidFill>
                  <a:srgbClr val="1A1A1A"/>
                </a:solidFill>
                <a:latin typeface="Arial"/>
              </a:rPr>
              <a:t>Count both limits before treating the two crossings as the named sell signal.</a:t>
            </a:r>
          </a:p>
        </p:txBody>
      </p:sp>
      <p:sp>
        <p:nvSpPr>
          <p:cNvPr id="8" name="Rectangle 7"/>
          <p:cNvSpPr/>
          <p:nvPr/>
        </p:nvSpPr>
        <p:spPr>
          <a:xfrm>
            <a:off x="5303519" y="1810512"/>
            <a:ext cx="6110935" cy="285865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422391" y="1929384"/>
            <a:ext cx="5873191" cy="2620911"/>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696711" y="2203703"/>
            <a:ext cx="5324551" cy="216371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7.33</a:t>
            </a:r>
          </a:p>
          <a:p>
            <a:pPr algn="l">
              <a:lnSpc>
                <a:spcPct val="115000"/>
              </a:lnSpc>
              <a:spcBef>
                <a:spcPts val="0"/>
              </a:spcBef>
              <a:spcAft>
                <a:spcPts val="0"/>
              </a:spcAft>
            </a:pPr>
            <a:r>
              <a:rPr sz="1500" b="0" i="0">
                <a:solidFill>
                  <a:srgbClr val="1A1A1A"/>
                </a:solidFill>
                <a:latin typeface="Palatino"/>
              </a:rPr>
              <a:t>Continuous daily sugar chart. The marked sequence crosses a forward-shifted three-day SMA twice before the rapid decline.</a:t>
            </a:r>
          </a:p>
        </p:txBody>
      </p:sp>
      <p:cxnSp>
        <p:nvCxnSpPr>
          <p:cNvPr id="12" name="Connector 11"/>
          <p:cNvCxnSpPr/>
          <p:nvPr/>
        </p:nvCxnSpPr>
        <p:spPr>
          <a:xfrm>
            <a:off x="8535183" y="2335625"/>
            <a:ext cx="1057174" cy="576600"/>
          </a:xfrm>
          <a:prstGeom prst="line">
            <a:avLst/>
          </a:prstGeom>
          <a:ln w="44450">
            <a:solidFill>
              <a:srgbClr val="E09B00"/>
            </a:solidFill>
          </a:ln>
        </p:spPr>
      </p:cxnSp>
      <p:sp>
        <p:nvSpPr>
          <p:cNvPr id="13" name="Oval 12"/>
          <p:cNvSpPr/>
          <p:nvPr/>
        </p:nvSpPr>
        <p:spPr>
          <a:xfrm>
            <a:off x="6597030" y="2401148"/>
            <a:ext cx="1174638" cy="314509"/>
          </a:xfrm>
          <a:prstGeom prst="ellipse">
            <a:avLst/>
          </a:prstGeom>
          <a:noFill/>
          <a:ln w="44450">
            <a:solidFill>
              <a:srgbClr val="C62828"/>
            </a:solidFill>
          </a:ln>
        </p:spPr>
        <p:txBody>
          <a:bodyPr rtlCol="0" anchor="ctr"/>
          <a:lstStyle/>
          <a:p>
            <a:pPr algn="ctr"/>
          </a:p>
        </p:txBody>
      </p:sp>
      <p:sp>
        <p:nvSpPr>
          <p:cNvPr id="14" name="Rectangle 13"/>
          <p:cNvSpPr/>
          <p:nvPr/>
        </p:nvSpPr>
        <p:spPr>
          <a:xfrm>
            <a:off x="7742302" y="2139056"/>
            <a:ext cx="763514" cy="629018"/>
          </a:xfrm>
          <a:prstGeom prst="rect">
            <a:avLst/>
          </a:prstGeom>
          <a:noFill/>
          <a:ln w="44450">
            <a:solidFill>
              <a:srgbClr val="1F5FAD"/>
            </a:solidFill>
          </a:ln>
        </p:spPr>
        <p:txBody>
          <a:bodyPr rtlCol="0" anchor="ctr"/>
          <a:lstStyle/>
          <a:p>
            <a:pPr algn="ctr"/>
          </a:p>
        </p:txBody>
      </p:sp>
      <p:sp>
        <p:nvSpPr>
          <p:cNvPr id="15" name="Oval 14"/>
          <p:cNvSpPr/>
          <p:nvPr/>
        </p:nvSpPr>
        <p:spPr>
          <a:xfrm>
            <a:off x="9776289" y="2291420"/>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6722229" y="2868020"/>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542919" y="2265210"/>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4760607"/>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229, Figure 7.33. The crop and marks are for teaching.</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27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Double Repo limits</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How many crossing pairs generate the named Double Repo sell signal?</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One pair</a:t>
            </a:r>
          </a:p>
          <a:p>
            <a:pPr algn="l">
              <a:lnSpc>
                <a:spcPct val="105000"/>
              </a:lnSpc>
              <a:spcBef>
                <a:spcPts val="0"/>
              </a:spcBef>
              <a:spcAft>
                <a:spcPts val="200"/>
              </a:spcAft>
            </a:pPr>
            <a:r>
              <a:rPr sz="1700" b="0" i="0">
                <a:solidFill>
                  <a:srgbClr val="FFFFFF"/>
                </a:solidFill>
                <a:latin typeface="Arial"/>
              </a:rPr>
              <a:t>B.  Three pairs</a:t>
            </a:r>
          </a:p>
          <a:p>
            <a:pPr algn="l">
              <a:lnSpc>
                <a:spcPct val="105000"/>
              </a:lnSpc>
              <a:spcBef>
                <a:spcPts val="0"/>
              </a:spcBef>
              <a:spcAft>
                <a:spcPts val="200"/>
              </a:spcAft>
            </a:pPr>
            <a:r>
              <a:rPr sz="1700" b="0" i="0">
                <a:solidFill>
                  <a:srgbClr val="FFFFFF"/>
                </a:solidFill>
                <a:latin typeface="Arial"/>
              </a:rPr>
              <a:t>C.  Two pairs</a:t>
            </a:r>
          </a:p>
          <a:p>
            <a:pPr algn="l">
              <a:lnSpc>
                <a:spcPct val="105000"/>
              </a:lnSpc>
              <a:spcBef>
                <a:spcPts val="0"/>
              </a:spcBef>
              <a:spcAft>
                <a:spcPts val="200"/>
              </a:spcAft>
            </a:pPr>
            <a:r>
              <a:rPr sz="1700" b="0" i="0">
                <a:solidFill>
                  <a:srgbClr val="FFFFFF"/>
                </a:solidFill>
                <a:latin typeface="Arial"/>
              </a:rPr>
              <a:t>D.  No pairs</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Where does Lim place the complete Double Repo method?</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DiNapoli's original text</a:t>
            </a:r>
          </a:p>
          <a:p>
            <a:pPr algn="l">
              <a:lnSpc>
                <a:spcPct val="105000"/>
              </a:lnSpc>
              <a:spcBef>
                <a:spcPts val="0"/>
              </a:spcBef>
              <a:spcAft>
                <a:spcPts val="200"/>
              </a:spcAft>
            </a:pPr>
            <a:r>
              <a:rPr sz="1700" b="0" i="0">
                <a:solidFill>
                  <a:srgbClr val="FFFFFF"/>
                </a:solidFill>
                <a:latin typeface="Arial"/>
              </a:rPr>
              <a:t>B.  The volume panel</a:t>
            </a:r>
          </a:p>
          <a:p>
            <a:pPr algn="l">
              <a:lnSpc>
                <a:spcPct val="105000"/>
              </a:lnSpc>
              <a:spcBef>
                <a:spcPts val="0"/>
              </a:spcBef>
              <a:spcAft>
                <a:spcPts val="200"/>
              </a:spcAft>
            </a:pPr>
            <a:r>
              <a:rPr sz="1700" b="0" i="0">
                <a:solidFill>
                  <a:srgbClr val="FFFFFF"/>
                </a:solidFill>
                <a:latin typeface="Arial"/>
              </a:rPr>
              <a:t>C.  The Hikkake figure</a:t>
            </a:r>
          </a:p>
          <a:p>
            <a:pPr algn="l">
              <a:lnSpc>
                <a:spcPct val="105000"/>
              </a:lnSpc>
              <a:spcBef>
                <a:spcPts val="0"/>
              </a:spcBef>
              <a:spcAft>
                <a:spcPts val="200"/>
              </a:spcAft>
            </a:pPr>
            <a:r>
              <a:rPr sz="1700" b="0" i="0">
                <a:solidFill>
                  <a:srgbClr val="FFFFFF"/>
                </a:solidFill>
                <a:latin typeface="Arial"/>
              </a:rPr>
              <a:t>D.  No source</a:t>
            </a:r>
          </a:p>
        </p:txBody>
      </p:sp>
      <p:sp>
        <p:nvSpPr>
          <p:cNvPr id="14" name="Rectangle 13"/>
          <p:cNvSpPr/>
          <p:nvPr/>
        </p:nvSpPr>
        <p:spPr>
          <a:xfrm>
            <a:off x="6126479" y="1207008"/>
            <a:ext cx="5287975" cy="2491409"/>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53665"/>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64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7.33</a:t>
            </a:r>
          </a:p>
          <a:p>
            <a:pPr algn="l">
              <a:lnSpc>
                <a:spcPct val="115000"/>
              </a:lnSpc>
              <a:spcBef>
                <a:spcPts val="0"/>
              </a:spcBef>
              <a:spcAft>
                <a:spcPts val="0"/>
              </a:spcAft>
            </a:pPr>
            <a:r>
              <a:rPr sz="1500" b="0" i="0">
                <a:solidFill>
                  <a:srgbClr val="1A1A1A"/>
                </a:solidFill>
                <a:latin typeface="Palatino"/>
              </a:rPr>
              <a:t>Continuous daily sugar chart. The marked sequence crosses a forward-shifted three-day SMA twice before the rapid decline.</a:t>
            </a:r>
          </a:p>
        </p:txBody>
      </p:sp>
      <p:cxnSp>
        <p:nvCxnSpPr>
          <p:cNvPr id="18" name="Connector 17"/>
          <p:cNvCxnSpPr/>
          <p:nvPr/>
        </p:nvCxnSpPr>
        <p:spPr>
          <a:xfrm>
            <a:off x="8921974" y="1675198"/>
            <a:ext cx="909042" cy="495806"/>
          </a:xfrm>
          <a:prstGeom prst="line">
            <a:avLst/>
          </a:prstGeom>
          <a:ln w="44450">
            <a:solidFill>
              <a:srgbClr val="E09B00"/>
            </a:solidFill>
          </a:ln>
        </p:spPr>
      </p:cxnSp>
      <p:sp>
        <p:nvSpPr>
          <p:cNvPr id="19" name="Oval 18"/>
          <p:cNvSpPr/>
          <p:nvPr/>
        </p:nvSpPr>
        <p:spPr>
          <a:xfrm>
            <a:off x="7255398" y="1731539"/>
            <a:ext cx="1010046" cy="270439"/>
          </a:xfrm>
          <a:prstGeom prst="ellipse">
            <a:avLst/>
          </a:prstGeom>
          <a:noFill/>
          <a:ln w="44450">
            <a:solidFill>
              <a:srgbClr val="C62828"/>
            </a:solidFill>
          </a:ln>
        </p:spPr>
        <p:txBody>
          <a:bodyPr rtlCol="0" anchor="ctr"/>
          <a:lstStyle/>
          <a:p>
            <a:pPr algn="ctr"/>
          </a:p>
        </p:txBody>
      </p:sp>
      <p:sp>
        <p:nvSpPr>
          <p:cNvPr id="20" name="Rectangle 19"/>
          <p:cNvSpPr/>
          <p:nvPr/>
        </p:nvSpPr>
        <p:spPr>
          <a:xfrm>
            <a:off x="8240193" y="1506173"/>
            <a:ext cx="656530" cy="540879"/>
          </a:xfrm>
          <a:prstGeom prst="rect">
            <a:avLst/>
          </a:prstGeom>
          <a:noFill/>
          <a:ln w="44450">
            <a:solidFill>
              <a:srgbClr val="1F5FAD"/>
            </a:solidFill>
          </a:ln>
        </p:spPr>
        <p:txBody>
          <a:bodyPr rtlCol="0" anchor="ctr"/>
          <a:lstStyle/>
          <a:p>
            <a:pPr algn="ctr"/>
          </a:p>
        </p:txBody>
      </p:sp>
      <p:sp>
        <p:nvSpPr>
          <p:cNvPr id="21" name="Oval 20"/>
          <p:cNvSpPr/>
          <p:nvPr/>
        </p:nvSpPr>
        <p:spPr>
          <a:xfrm>
            <a:off x="9973799" y="1621811"/>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347679" y="211761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913251" y="159927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9857"/>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27</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Double Repo limits</a:t>
            </a:r>
          </a:p>
        </p:txBody>
      </p:sp>
      <p:sp>
        <p:nvSpPr>
          <p:cNvPr id="6" name="Rectangle 5"/>
          <p:cNvSpPr/>
          <p:nvPr/>
        </p:nvSpPr>
        <p:spPr>
          <a:xfrm>
            <a:off x="777240" y="1207008"/>
            <a:ext cx="5029200" cy="226504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26504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How many crossing pairs generate the named Double Repo sell signal?</a:t>
            </a:r>
          </a:p>
        </p:txBody>
      </p:sp>
      <p:sp>
        <p:nvSpPr>
          <p:cNvPr id="9" name="TextBox 8"/>
          <p:cNvSpPr txBox="1"/>
          <p:nvPr/>
        </p:nvSpPr>
        <p:spPr>
          <a:xfrm>
            <a:off x="1097280" y="2069338"/>
            <a:ext cx="4480560" cy="1402715"/>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Two pairs</a:t>
            </a:r>
          </a:p>
          <a:p>
            <a:pPr algn="l">
              <a:lnSpc>
                <a:spcPct val="115000"/>
              </a:lnSpc>
              <a:spcBef>
                <a:spcPts val="500"/>
              </a:spcBef>
              <a:spcAft>
                <a:spcPts val="0"/>
              </a:spcAft>
            </a:pPr>
            <a:r>
              <a:rPr sz="1700" b="0" i="0">
                <a:solidFill>
                  <a:srgbClr val="1A1A1A"/>
                </a:solidFill>
                <a:latin typeface="Arial"/>
              </a:rPr>
              <a:t>The named bearish Double Repo has two closes above and below the forward-shifted SMA (p. 229).</a:t>
            </a:r>
          </a:p>
        </p:txBody>
      </p:sp>
      <p:sp>
        <p:nvSpPr>
          <p:cNvPr id="10" name="Rectangle 9"/>
          <p:cNvSpPr/>
          <p:nvPr/>
        </p:nvSpPr>
        <p:spPr>
          <a:xfrm>
            <a:off x="777240" y="3654933"/>
            <a:ext cx="5029200" cy="201675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54933"/>
            <a:ext cx="91440" cy="201675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837813"/>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Where does Lim place the complete Double Repo method?</a:t>
            </a:r>
          </a:p>
        </p:txBody>
      </p:sp>
      <p:sp>
        <p:nvSpPr>
          <p:cNvPr id="13" name="TextBox 12"/>
          <p:cNvSpPr txBox="1"/>
          <p:nvPr/>
        </p:nvSpPr>
        <p:spPr>
          <a:xfrm>
            <a:off x="1097280" y="4517263"/>
            <a:ext cx="448056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DiNapoli's original text</a:t>
            </a:r>
          </a:p>
          <a:p>
            <a:pPr algn="l">
              <a:lnSpc>
                <a:spcPct val="115000"/>
              </a:lnSpc>
              <a:spcBef>
                <a:spcPts val="500"/>
              </a:spcBef>
              <a:spcAft>
                <a:spcPts val="0"/>
              </a:spcAft>
            </a:pPr>
            <a:r>
              <a:rPr sz="1700" b="0" i="0">
                <a:solidFill>
                  <a:srgbClr val="1A1A1A"/>
                </a:solidFill>
                <a:latin typeface="Arial"/>
              </a:rPr>
              <a:t>Lim sends readers to DiNapoli's original text for the detailed method (p. 229).</a:t>
            </a:r>
          </a:p>
        </p:txBody>
      </p:sp>
      <p:sp>
        <p:nvSpPr>
          <p:cNvPr id="14" name="Rectangle 13"/>
          <p:cNvSpPr/>
          <p:nvPr/>
        </p:nvSpPr>
        <p:spPr>
          <a:xfrm>
            <a:off x="6126479" y="1207008"/>
            <a:ext cx="5287975" cy="2491409"/>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45351" y="1325880"/>
            <a:ext cx="5050231" cy="2253665"/>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45351" y="1325880"/>
            <a:ext cx="505023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19671" y="1600200"/>
            <a:ext cx="4501591" cy="17964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7.33</a:t>
            </a:r>
          </a:p>
          <a:p>
            <a:pPr algn="l">
              <a:lnSpc>
                <a:spcPct val="115000"/>
              </a:lnSpc>
              <a:spcBef>
                <a:spcPts val="0"/>
              </a:spcBef>
              <a:spcAft>
                <a:spcPts val="0"/>
              </a:spcAft>
            </a:pPr>
            <a:r>
              <a:rPr sz="1500" b="0" i="0">
                <a:solidFill>
                  <a:srgbClr val="1A1A1A"/>
                </a:solidFill>
                <a:latin typeface="Palatino"/>
              </a:rPr>
              <a:t>Continuous daily sugar chart. The marked sequence crosses a forward-shifted three-day SMA twice before the rapid decline.</a:t>
            </a:r>
          </a:p>
        </p:txBody>
      </p:sp>
      <p:cxnSp>
        <p:nvCxnSpPr>
          <p:cNvPr id="18" name="Connector 17"/>
          <p:cNvCxnSpPr/>
          <p:nvPr/>
        </p:nvCxnSpPr>
        <p:spPr>
          <a:xfrm>
            <a:off x="8921974" y="1675198"/>
            <a:ext cx="909042" cy="495806"/>
          </a:xfrm>
          <a:prstGeom prst="line">
            <a:avLst/>
          </a:prstGeom>
          <a:ln w="44450">
            <a:solidFill>
              <a:srgbClr val="E09B00"/>
            </a:solidFill>
          </a:ln>
        </p:spPr>
      </p:cxnSp>
      <p:sp>
        <p:nvSpPr>
          <p:cNvPr id="19" name="Oval 18"/>
          <p:cNvSpPr/>
          <p:nvPr/>
        </p:nvSpPr>
        <p:spPr>
          <a:xfrm>
            <a:off x="7255398" y="1731539"/>
            <a:ext cx="1010046" cy="270439"/>
          </a:xfrm>
          <a:prstGeom prst="ellipse">
            <a:avLst/>
          </a:prstGeom>
          <a:noFill/>
          <a:ln w="44450">
            <a:solidFill>
              <a:srgbClr val="C62828"/>
            </a:solidFill>
          </a:ln>
        </p:spPr>
        <p:txBody>
          <a:bodyPr rtlCol="0" anchor="ctr"/>
          <a:lstStyle/>
          <a:p>
            <a:pPr algn="ctr"/>
          </a:p>
        </p:txBody>
      </p:sp>
      <p:sp>
        <p:nvSpPr>
          <p:cNvPr id="20" name="Rectangle 19"/>
          <p:cNvSpPr/>
          <p:nvPr/>
        </p:nvSpPr>
        <p:spPr>
          <a:xfrm>
            <a:off x="8240193" y="1506173"/>
            <a:ext cx="656530" cy="540879"/>
          </a:xfrm>
          <a:prstGeom prst="rect">
            <a:avLst/>
          </a:prstGeom>
          <a:noFill/>
          <a:ln w="44450">
            <a:solidFill>
              <a:srgbClr val="1F5FAD"/>
            </a:solidFill>
          </a:ln>
        </p:spPr>
        <p:txBody>
          <a:bodyPr rtlCol="0" anchor="ctr"/>
          <a:lstStyle/>
          <a:p>
            <a:pPr algn="ctr"/>
          </a:p>
        </p:txBody>
      </p:sp>
      <p:sp>
        <p:nvSpPr>
          <p:cNvPr id="21" name="Oval 20"/>
          <p:cNvSpPr/>
          <p:nvPr/>
        </p:nvSpPr>
        <p:spPr>
          <a:xfrm>
            <a:off x="9973799" y="1621811"/>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347679" y="2117618"/>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913251" y="1599275"/>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3789857"/>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7.33 -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27</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Hikkake is an inside-bar trap followed by the opposite entry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59 of 65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We finish with the Hikkake. Lim says the word means to trap or ensnare: price breaks out of an inside bar, the breakout fails, and the traders who followed it are caught (p. 230).</a:t>
            </a:r>
          </a:p>
          <a:p>
            <a:pPr algn="l">
              <a:lnSpc>
                <a:spcPct val="118000"/>
              </a:lnSpc>
              <a:spcBef>
                <a:spcPts val="0"/>
              </a:spcBef>
              <a:spcAft>
                <a:spcPts val="1300"/>
              </a:spcAft>
            </a:pPr>
            <a:r>
              <a:rPr sz="2100" b="0" i="0">
                <a:solidFill>
                  <a:srgbClr val="1A1A1A"/>
                </a:solidFill>
                <a:latin typeface="Arial"/>
              </a:rPr>
              <a:t>So we take the entry only in the opposite direction of the failed breakout, once price breaks the other side of the inside bar. Lim says that breakout should come within three bars of the failed one (p. 230).</a:t>
            </a:r>
          </a:p>
        </p:txBody>
      </p:sp>
      <p:sp>
        <p:nvSpPr>
          <p:cNvPr id="8" name="Rectangle 7"/>
          <p:cNvSpPr/>
          <p:nvPr/>
        </p:nvSpPr>
        <p:spPr>
          <a:xfrm>
            <a:off x="777240" y="453085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6742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Lim prints the Hikkake at the start of section 7.4, but it is a failed-breakout reversal, so we finish Part 3 with it.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Hikkake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is a bearish Hikkake with simple prices. Bar 2 is the inside bar </a:t>
            </a:r>
            <a:r>
              <a:rPr sz="1700" b="1" i="0">
                <a:solidFill>
                  <a:srgbClr val="E09B00"/>
                </a:solidFill>
                <a:latin typeface="Arial"/>
              </a:rPr>
              <a:t>(1)</a:t>
            </a:r>
            <a:r>
              <a:rPr sz="1700" b="0" i="0">
                <a:solidFill>
                  <a:srgbClr val="1A1A1A"/>
                </a:solidFill>
                <a:latin typeface="Arial"/>
              </a:rPr>
              <a:t>: it stays inside bar 1, between PHP 49.00 and PHP 52.00. Bar 3 breaks above the inside high to PHP 53.00 </a:t>
            </a:r>
            <a:r>
              <a:rPr sz="1700" b="1" i="0">
                <a:solidFill>
                  <a:srgbClr val="C62828"/>
                </a:solidFill>
                <a:latin typeface="Arial"/>
              </a:rPr>
              <a:t>(2)</a:t>
            </a:r>
            <a:r>
              <a:rPr sz="1700" b="0" i="0">
                <a:solidFill>
                  <a:srgbClr val="1A1A1A"/>
                </a:solidFill>
                <a:latin typeface="Arial"/>
              </a:rPr>
              <a:t> and closes at PHP 52.50, so it looks like an upside breakout. Bar 4 falls back and closes at PHP 48.70, below the inside low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h-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745431" y="423383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7395057" y="3518943"/>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200131" y="474856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822846" y="409091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7482839" y="343481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160499" y="449838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LH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60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LH: invented PHP levels and entries.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Hikkake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That close is the short entry: the opposite direction of the failed breakout, one bar after it (p. 230).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h-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745431" y="423383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7395057" y="3518943"/>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200131" y="4748562"/>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822846" y="4090917"/>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7482839" y="343481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160499" y="449838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LH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61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LH: invented PHP levels and entries.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Bullish Hikkake</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In the bullish case, the inside bar </a:t>
            </a:r>
            <a:r>
              <a:rPr sz="1700" b="1" i="0">
                <a:solidFill>
                  <a:srgbClr val="E09B00"/>
                </a:solidFill>
                <a:latin typeface="Arial"/>
              </a:rPr>
              <a:t>(1)</a:t>
            </a:r>
            <a:r>
              <a:rPr sz="1700" b="0" i="0">
                <a:solidFill>
                  <a:srgbClr val="1A1A1A"/>
                </a:solidFill>
                <a:latin typeface="Arial"/>
              </a:rPr>
              <a:t> runs from PHP 40.00 to PHP 43.00. Bar 3 breaks below it to a false low of PHP 39.00 </a:t>
            </a:r>
            <a:r>
              <a:rPr sz="1700" b="1" i="0">
                <a:solidFill>
                  <a:srgbClr val="C62828"/>
                </a:solidFill>
                <a:latin typeface="Arial"/>
              </a:rPr>
              <a:t>(2)</a:t>
            </a:r>
            <a:r>
              <a:rPr sz="1700" b="0" i="0">
                <a:solidFill>
                  <a:srgbClr val="1A1A1A"/>
                </a:solidFill>
                <a:latin typeface="Arial"/>
              </a:rPr>
              <a:t>, then bar 4 closes at PHP 43.40, above the inside high, and that is the long </a:t>
            </a:r>
            <a:r>
              <a:rPr sz="1700" b="1" i="0">
                <a:solidFill>
                  <a:srgbClr val="1F5FAD"/>
                </a:solidFill>
                <a:latin typeface="Arial"/>
              </a:rPr>
              <a:t>(3)</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3b-li-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4745431" y="423383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7395057" y="494873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200131" y="3690518"/>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4833213" y="414971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7162056" y="477865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160499" y="3440343"/>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LI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62 of 65</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Course chart LI: invented PHP values; the book's drawing is shown separately.</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7.34 shows the bullish Hikkake sequence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63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Gold </a:t>
            </a:r>
            <a:r>
              <a:rPr sz="2000" b="1" i="0">
                <a:solidFill>
                  <a:srgbClr val="E09B00"/>
                </a:solidFill>
                <a:latin typeface="Arial"/>
              </a:rPr>
              <a:t>(1)</a:t>
            </a:r>
            <a:r>
              <a:rPr sz="2000" b="0" i="0">
                <a:solidFill>
                  <a:srgbClr val="1A1A1A"/>
                </a:solidFill>
                <a:latin typeface="Arial"/>
              </a:rPr>
              <a:t> marks the inside bar, red </a:t>
            </a:r>
            <a:r>
              <a:rPr sz="2000" b="1" i="0">
                <a:solidFill>
                  <a:srgbClr val="C62828"/>
                </a:solidFill>
                <a:latin typeface="Arial"/>
              </a:rPr>
              <a:t>(2)</a:t>
            </a:r>
            <a:r>
              <a:rPr sz="2000" b="0" i="0">
                <a:solidFill>
                  <a:srgbClr val="1A1A1A"/>
                </a:solidFill>
                <a:latin typeface="Arial"/>
              </a:rPr>
              <a:t> the failed downside breakout, and blue </a:t>
            </a:r>
            <a:r>
              <a:rPr sz="2000" b="1" i="0">
                <a:solidFill>
                  <a:srgbClr val="1F5FAD"/>
                </a:solidFill>
                <a:latin typeface="Arial"/>
              </a:rPr>
              <a:t>(3)</a:t>
            </a:r>
            <a:r>
              <a:rPr sz="2000" b="0" i="0">
                <a:solidFill>
                  <a:srgbClr val="1A1A1A"/>
                </a:solidFill>
                <a:latin typeface="Arial"/>
              </a:rPr>
              <a:t> the re-entry above the inside high.</a:t>
            </a:r>
          </a:p>
          <a:p>
            <a:pPr algn="l">
              <a:lnSpc>
                <a:spcPct val="105000"/>
              </a:lnSpc>
              <a:spcBef>
                <a:spcPts val="0"/>
              </a:spcBef>
              <a:spcAft>
                <a:spcPts val="1100"/>
              </a:spcAft>
            </a:pPr>
            <a:r>
              <a:rPr sz="2000" b="0" i="0">
                <a:solidFill>
                  <a:srgbClr val="1A1A1A"/>
                </a:solidFill>
                <a:latin typeface="Arial"/>
              </a:rPr>
              <a:t>The entry is taken only in the opposite direction and within three bars (Lim, p. 230).</a:t>
            </a:r>
          </a:p>
        </p:txBody>
      </p:sp>
      <p:sp>
        <p:nvSpPr>
          <p:cNvPr id="8" name="Rectangle 7"/>
          <p:cNvSpPr/>
          <p:nvPr/>
        </p:nvSpPr>
        <p:spPr>
          <a:xfrm>
            <a:off x="6353262" y="1810512"/>
            <a:ext cx="4011450"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472134" y="1929384"/>
            <a:ext cx="3773706"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72134" y="1929384"/>
            <a:ext cx="3773706"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746454" y="2203703"/>
            <a:ext cx="322506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7.34</a:t>
            </a:r>
          </a:p>
          <a:p>
            <a:pPr algn="l">
              <a:lnSpc>
                <a:spcPct val="115000"/>
              </a:lnSpc>
              <a:spcBef>
                <a:spcPts val="0"/>
              </a:spcBef>
              <a:spcAft>
                <a:spcPts val="0"/>
              </a:spcAft>
            </a:pPr>
            <a:r>
              <a:rPr sz="1500" b="0" i="0">
                <a:solidFill>
                  <a:srgbClr val="1A1A1A"/>
                </a:solidFill>
                <a:latin typeface="Palatino"/>
              </a:rPr>
              <a:t>The bullish schematic: an inside bar, a failed downside breakout, and the opposite re-entry above the inside high.</a:t>
            </a:r>
          </a:p>
        </p:txBody>
      </p:sp>
      <p:sp>
        <p:nvSpPr>
          <p:cNvPr id="12" name="Rectangle 11"/>
          <p:cNvSpPr/>
          <p:nvPr/>
        </p:nvSpPr>
        <p:spPr>
          <a:xfrm>
            <a:off x="7849537" y="2982772"/>
            <a:ext cx="150948" cy="983162"/>
          </a:xfrm>
          <a:prstGeom prst="rect">
            <a:avLst/>
          </a:prstGeom>
          <a:noFill/>
          <a:ln w="44450">
            <a:solidFill>
              <a:srgbClr val="E09B00"/>
            </a:solidFill>
          </a:ln>
        </p:spPr>
        <p:txBody>
          <a:bodyPr rtlCol="0" anchor="ctr"/>
          <a:lstStyle/>
          <a:p>
            <a:pPr algn="ctr"/>
          </a:p>
        </p:txBody>
      </p:sp>
      <p:sp>
        <p:nvSpPr>
          <p:cNvPr id="13" name="Oval 12"/>
          <p:cNvSpPr/>
          <p:nvPr/>
        </p:nvSpPr>
        <p:spPr>
          <a:xfrm>
            <a:off x="8113696" y="3895709"/>
            <a:ext cx="188685" cy="667146"/>
          </a:xfrm>
          <a:prstGeom prst="ellipse">
            <a:avLst/>
          </a:prstGeom>
          <a:noFill/>
          <a:ln w="44450">
            <a:solidFill>
              <a:srgbClr val="C62828"/>
            </a:solidFill>
          </a:ln>
        </p:spPr>
        <p:txBody>
          <a:bodyPr rtlCol="0" anchor="ctr"/>
          <a:lstStyle/>
          <a:p>
            <a:pPr algn="ctr"/>
          </a:p>
        </p:txBody>
      </p:sp>
      <p:sp>
        <p:nvSpPr>
          <p:cNvPr id="14" name="Oval 13"/>
          <p:cNvSpPr/>
          <p:nvPr/>
        </p:nvSpPr>
        <p:spPr>
          <a:xfrm>
            <a:off x="8736358" y="2842320"/>
            <a:ext cx="188685" cy="421355"/>
          </a:xfrm>
          <a:prstGeom prst="ellipse">
            <a:avLst/>
          </a:prstGeom>
          <a:noFill/>
          <a:ln w="44450">
            <a:solidFill>
              <a:srgbClr val="1F5FAD"/>
            </a:solidFill>
          </a:ln>
        </p:spPr>
        <p:txBody>
          <a:bodyPr rtlCol="0" anchor="ctr"/>
          <a:lstStyle/>
          <a:p>
            <a:pPr algn="ctr"/>
          </a:p>
        </p:txBody>
      </p:sp>
      <p:sp>
        <p:nvSpPr>
          <p:cNvPr id="15" name="Oval 14"/>
          <p:cNvSpPr/>
          <p:nvPr/>
        </p:nvSpPr>
        <p:spPr>
          <a:xfrm>
            <a:off x="7796414" y="2697480"/>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324733" y="4488240"/>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004000" y="322417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230, Figure 7.34. The crop and marks are for teaching.</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bearish Hikkake is the same trap in reverse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64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Gold </a:t>
            </a:r>
            <a:r>
              <a:rPr sz="2000" b="1" i="0">
                <a:solidFill>
                  <a:srgbClr val="E09B00"/>
                </a:solidFill>
                <a:latin typeface="Arial"/>
              </a:rPr>
              <a:t>(1)</a:t>
            </a:r>
            <a:r>
              <a:rPr sz="2000" b="0" i="0">
                <a:solidFill>
                  <a:srgbClr val="1A1A1A"/>
                </a:solidFill>
                <a:latin typeface="Arial"/>
              </a:rPr>
              <a:t> marks the inside bar, red </a:t>
            </a:r>
            <a:r>
              <a:rPr sz="2000" b="1" i="0">
                <a:solidFill>
                  <a:srgbClr val="C62828"/>
                </a:solidFill>
                <a:latin typeface="Arial"/>
              </a:rPr>
              <a:t>(2)</a:t>
            </a:r>
            <a:r>
              <a:rPr sz="2000" b="0" i="0">
                <a:solidFill>
                  <a:srgbClr val="1A1A1A"/>
                </a:solidFill>
                <a:latin typeface="Arial"/>
              </a:rPr>
              <a:t> the failed upside breakout, and blue </a:t>
            </a:r>
            <a:r>
              <a:rPr sz="2000" b="1" i="0">
                <a:solidFill>
                  <a:srgbClr val="1F5FAD"/>
                </a:solidFill>
                <a:latin typeface="Arial"/>
              </a:rPr>
              <a:t>(3)</a:t>
            </a:r>
            <a:r>
              <a:rPr sz="2000" b="0" i="0">
                <a:solidFill>
                  <a:srgbClr val="1A1A1A"/>
                </a:solidFill>
                <a:latin typeface="Arial"/>
              </a:rPr>
              <a:t> the re-entry below the inside low.</a:t>
            </a:r>
          </a:p>
          <a:p>
            <a:pPr algn="l">
              <a:lnSpc>
                <a:spcPct val="105000"/>
              </a:lnSpc>
              <a:spcBef>
                <a:spcPts val="0"/>
              </a:spcBef>
              <a:spcAft>
                <a:spcPts val="1100"/>
              </a:spcAft>
            </a:pPr>
            <a:r>
              <a:rPr sz="2000" b="0" i="0">
                <a:solidFill>
                  <a:srgbClr val="1A1A1A"/>
                </a:solidFill>
                <a:latin typeface="Arial"/>
              </a:rPr>
              <a:t>The failed upside direction is not the entry. The bearish entry is the opposite re-entry within three bars (Lim, p. 230).</a:t>
            </a:r>
          </a:p>
        </p:txBody>
      </p:sp>
      <p:sp>
        <p:nvSpPr>
          <p:cNvPr id="8" name="Rectangle 7"/>
          <p:cNvSpPr/>
          <p:nvPr/>
        </p:nvSpPr>
        <p:spPr>
          <a:xfrm>
            <a:off x="6353262" y="1810512"/>
            <a:ext cx="4011450"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472134" y="1929384"/>
            <a:ext cx="3773706"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72134" y="1929384"/>
            <a:ext cx="3773706"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746454" y="2203703"/>
            <a:ext cx="322506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7.34</a:t>
            </a:r>
          </a:p>
          <a:p>
            <a:pPr algn="l">
              <a:lnSpc>
                <a:spcPct val="115000"/>
              </a:lnSpc>
              <a:spcBef>
                <a:spcPts val="0"/>
              </a:spcBef>
              <a:spcAft>
                <a:spcPts val="0"/>
              </a:spcAft>
            </a:pPr>
            <a:r>
              <a:rPr sz="1500" b="0" i="0">
                <a:solidFill>
                  <a:srgbClr val="1A1A1A"/>
                </a:solidFill>
                <a:latin typeface="Palatino"/>
              </a:rPr>
              <a:t>The bearish schematic: an inside bar, a failed upside breakout, and the opposite re-entry below the inside low.</a:t>
            </a:r>
          </a:p>
        </p:txBody>
      </p:sp>
      <p:sp>
        <p:nvSpPr>
          <p:cNvPr id="12" name="Rectangle 11"/>
          <p:cNvSpPr/>
          <p:nvPr/>
        </p:nvSpPr>
        <p:spPr>
          <a:xfrm>
            <a:off x="7377823" y="2947659"/>
            <a:ext cx="169816" cy="1053388"/>
          </a:xfrm>
          <a:prstGeom prst="rect">
            <a:avLst/>
          </a:prstGeom>
          <a:noFill/>
          <a:ln w="44450">
            <a:solidFill>
              <a:srgbClr val="E09B00"/>
            </a:solidFill>
          </a:ln>
        </p:spPr>
        <p:txBody>
          <a:bodyPr rtlCol="0" anchor="ctr"/>
          <a:lstStyle/>
          <a:p>
            <a:pPr algn="ctr"/>
          </a:p>
        </p:txBody>
      </p:sp>
      <p:sp>
        <p:nvSpPr>
          <p:cNvPr id="13" name="Oval 12"/>
          <p:cNvSpPr/>
          <p:nvPr/>
        </p:nvSpPr>
        <p:spPr>
          <a:xfrm>
            <a:off x="7641983" y="2596530"/>
            <a:ext cx="188685" cy="526694"/>
          </a:xfrm>
          <a:prstGeom prst="ellipse">
            <a:avLst/>
          </a:prstGeom>
          <a:noFill/>
          <a:ln w="44450">
            <a:solidFill>
              <a:srgbClr val="C62828"/>
            </a:solidFill>
          </a:ln>
        </p:spPr>
        <p:txBody>
          <a:bodyPr rtlCol="0" anchor="ctr"/>
          <a:lstStyle/>
          <a:p>
            <a:pPr algn="ctr"/>
          </a:p>
        </p:txBody>
      </p:sp>
      <p:sp>
        <p:nvSpPr>
          <p:cNvPr id="14" name="Oval 13"/>
          <p:cNvSpPr/>
          <p:nvPr/>
        </p:nvSpPr>
        <p:spPr>
          <a:xfrm>
            <a:off x="8264644" y="3685031"/>
            <a:ext cx="188685" cy="491581"/>
          </a:xfrm>
          <a:prstGeom prst="ellipse">
            <a:avLst/>
          </a:prstGeom>
          <a:noFill/>
          <a:ln w="44450">
            <a:solidFill>
              <a:srgbClr val="1F5FAD"/>
            </a:solidFill>
          </a:ln>
        </p:spPr>
        <p:txBody>
          <a:bodyPr rtlCol="0" anchor="ctr"/>
          <a:lstStyle/>
          <a:p>
            <a:pPr algn="ctr"/>
          </a:p>
        </p:txBody>
      </p:sp>
      <p:sp>
        <p:nvSpPr>
          <p:cNvPr id="15" name="Oval 14"/>
          <p:cNvSpPr/>
          <p:nvPr/>
        </p:nvSpPr>
        <p:spPr>
          <a:xfrm>
            <a:off x="7343570" y="2662367"/>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456781" y="2399019"/>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022837" y="4137111"/>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230, Figure 7.34. The crop and marks are for teaching.</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7.35 places a bullish Hikkake at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65 of 65</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Gold </a:t>
            </a:r>
            <a:r>
              <a:rPr sz="1900" b="1" i="0">
                <a:solidFill>
                  <a:srgbClr val="E09B00"/>
                </a:solidFill>
                <a:latin typeface="Arial"/>
              </a:rPr>
              <a:t>(1)</a:t>
            </a:r>
            <a:r>
              <a:rPr sz="1900" b="0" i="0">
                <a:solidFill>
                  <a:srgbClr val="1A1A1A"/>
                </a:solidFill>
                <a:latin typeface="Arial"/>
              </a:rPr>
              <a:t> marks the Hikkake formation at the channel bottom, red </a:t>
            </a:r>
            <a:r>
              <a:rPr sz="1900" b="1" i="0">
                <a:solidFill>
                  <a:srgbClr val="C62828"/>
                </a:solidFill>
                <a:latin typeface="Arial"/>
              </a:rPr>
              <a:t>(2)</a:t>
            </a:r>
            <a:r>
              <a:rPr sz="1900" b="0" i="0">
                <a:solidFill>
                  <a:srgbClr val="1A1A1A"/>
                </a:solidFill>
                <a:latin typeface="Arial"/>
              </a:rPr>
              <a:t> its failed downside breakout, and blue </a:t>
            </a:r>
            <a:r>
              <a:rPr sz="1900" b="1" i="0">
                <a:solidFill>
                  <a:srgbClr val="1F5FAD"/>
                </a:solidFill>
                <a:latin typeface="Arial"/>
              </a:rPr>
              <a:t>(3)</a:t>
            </a:r>
            <a:r>
              <a:rPr sz="1900" b="0" i="0">
                <a:solidFill>
                  <a:srgbClr val="1A1A1A"/>
                </a:solidFill>
                <a:latin typeface="Arial"/>
              </a:rPr>
              <a:t> the upside re-entry.</a:t>
            </a:r>
          </a:p>
          <a:p>
            <a:pPr algn="l">
              <a:lnSpc>
                <a:spcPct val="105000"/>
              </a:lnSpc>
              <a:spcBef>
                <a:spcPts val="0"/>
              </a:spcBef>
              <a:spcAft>
                <a:spcPts val="1100"/>
              </a:spcAft>
            </a:pPr>
            <a:r>
              <a:rPr sz="1900" b="0" i="0">
                <a:solidFill>
                  <a:srgbClr val="1A1A1A"/>
                </a:solidFill>
                <a:latin typeface="Arial"/>
              </a:rPr>
              <a:t>Lim notes the pattern forms on high volume, a selling climax, with stochastics oversold (pp. 230 to 231). The book draws the linear regression channel but does not teach it in this chapter.</a:t>
            </a:r>
          </a:p>
        </p:txBody>
      </p:sp>
      <p:sp>
        <p:nvSpPr>
          <p:cNvPr id="8" name="Rectangle 7"/>
          <p:cNvSpPr/>
          <p:nvPr/>
        </p:nvSpPr>
        <p:spPr>
          <a:xfrm>
            <a:off x="6111435" y="1810512"/>
            <a:ext cx="4495104" cy="374903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230307" y="1929384"/>
            <a:ext cx="4257360" cy="3511296"/>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30307" y="1929384"/>
            <a:ext cx="4257360"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504627" y="2203703"/>
            <a:ext cx="3708720"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7.35</a:t>
            </a:r>
          </a:p>
          <a:p>
            <a:pPr algn="l">
              <a:lnSpc>
                <a:spcPct val="115000"/>
              </a:lnSpc>
              <a:spcBef>
                <a:spcPts val="0"/>
              </a:spcBef>
              <a:spcAft>
                <a:spcPts val="0"/>
              </a:spcAft>
            </a:pPr>
            <a:r>
              <a:rPr sz="1500" b="0" i="0">
                <a:solidFill>
                  <a:srgbClr val="1A1A1A"/>
                </a:solidFill>
                <a:latin typeface="Palatino"/>
              </a:rPr>
              <a:t>iShares Emerging Markets daily chart. A bullish Hikkake forms at a linear regression channel bottom.</a:t>
            </a:r>
          </a:p>
        </p:txBody>
      </p:sp>
      <p:sp>
        <p:nvSpPr>
          <p:cNvPr id="12" name="Rectangle 11"/>
          <p:cNvSpPr/>
          <p:nvPr/>
        </p:nvSpPr>
        <p:spPr>
          <a:xfrm>
            <a:off x="8018398" y="3404128"/>
            <a:ext cx="340588" cy="351129"/>
          </a:xfrm>
          <a:prstGeom prst="rect">
            <a:avLst/>
          </a:prstGeom>
          <a:noFill/>
          <a:ln w="44450">
            <a:solidFill>
              <a:srgbClr val="E09B00"/>
            </a:solidFill>
          </a:ln>
        </p:spPr>
        <p:txBody>
          <a:bodyPr rtlCol="0" anchor="ctr"/>
          <a:lstStyle/>
          <a:p>
            <a:pPr algn="ctr"/>
          </a:p>
        </p:txBody>
      </p:sp>
      <p:sp>
        <p:nvSpPr>
          <p:cNvPr id="13" name="Oval 12"/>
          <p:cNvSpPr/>
          <p:nvPr/>
        </p:nvSpPr>
        <p:spPr>
          <a:xfrm>
            <a:off x="8124832" y="3614806"/>
            <a:ext cx="106434" cy="140451"/>
          </a:xfrm>
          <a:prstGeom prst="ellipse">
            <a:avLst/>
          </a:prstGeom>
          <a:noFill/>
          <a:ln w="44450">
            <a:solidFill>
              <a:srgbClr val="C62828"/>
            </a:solidFill>
          </a:ln>
        </p:spPr>
        <p:txBody>
          <a:bodyPr rtlCol="0" anchor="ctr"/>
          <a:lstStyle/>
          <a:p>
            <a:pPr algn="ctr"/>
          </a:p>
        </p:txBody>
      </p:sp>
      <p:cxnSp>
        <p:nvCxnSpPr>
          <p:cNvPr id="14" name="Connector 13"/>
          <p:cNvCxnSpPr/>
          <p:nvPr/>
        </p:nvCxnSpPr>
        <p:spPr>
          <a:xfrm flipV="1">
            <a:off x="8273840" y="3088111"/>
            <a:ext cx="170294" cy="386243"/>
          </a:xfrm>
          <a:prstGeom prst="line">
            <a:avLst/>
          </a:prstGeom>
          <a:ln w="44450">
            <a:solidFill>
              <a:srgbClr val="1F5FAD"/>
            </a:solidFill>
            <a:tailEnd type="triangle" w="med" len="med"/>
          </a:ln>
        </p:spPr>
      </p:cxnSp>
      <p:sp>
        <p:nvSpPr>
          <p:cNvPr id="15" name="Oval 14"/>
          <p:cNvSpPr/>
          <p:nvPr/>
        </p:nvSpPr>
        <p:spPr>
          <a:xfrm>
            <a:off x="7695802" y="322417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7802236" y="3575303"/>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398267" y="2837931"/>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230 to 231, Figure 7.35. The crop and marks are for teaching.</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28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the Hikkake example</a:t>
            </a:r>
          </a:p>
        </p:txBody>
      </p:sp>
      <p:sp>
        <p:nvSpPr>
          <p:cNvPr id="6" name="Rectangle 5"/>
          <p:cNvSpPr/>
          <p:nvPr/>
        </p:nvSpPr>
        <p:spPr>
          <a:xfrm>
            <a:off x="777240" y="1207008"/>
            <a:ext cx="498348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2628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2628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Within how many bars must the opposite Hikkake re-entry occur?</a:t>
            </a:r>
          </a:p>
        </p:txBody>
      </p:sp>
      <p:sp>
        <p:nvSpPr>
          <p:cNvPr id="9" name="TextBox 8"/>
          <p:cNvSpPr txBox="1"/>
          <p:nvPr/>
        </p:nvSpPr>
        <p:spPr>
          <a:xfrm>
            <a:off x="1005840" y="2069338"/>
            <a:ext cx="452628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One bar</a:t>
            </a:r>
          </a:p>
          <a:p>
            <a:pPr algn="l">
              <a:lnSpc>
                <a:spcPct val="105000"/>
              </a:lnSpc>
              <a:spcBef>
                <a:spcPts val="0"/>
              </a:spcBef>
              <a:spcAft>
                <a:spcPts val="200"/>
              </a:spcAft>
            </a:pPr>
            <a:r>
              <a:rPr sz="1700" b="0" i="0">
                <a:solidFill>
                  <a:srgbClr val="FFFFFF"/>
                </a:solidFill>
                <a:latin typeface="Arial"/>
              </a:rPr>
              <a:t>B.  Three bars</a:t>
            </a:r>
          </a:p>
          <a:p>
            <a:pPr algn="l">
              <a:lnSpc>
                <a:spcPct val="105000"/>
              </a:lnSpc>
              <a:spcBef>
                <a:spcPts val="0"/>
              </a:spcBef>
              <a:spcAft>
                <a:spcPts val="200"/>
              </a:spcAft>
            </a:pPr>
            <a:r>
              <a:rPr sz="1700" b="0" i="0">
                <a:solidFill>
                  <a:srgbClr val="FFFFFF"/>
                </a:solidFill>
                <a:latin typeface="Arial"/>
              </a:rPr>
              <a:t>C.  Eight bars</a:t>
            </a:r>
          </a:p>
          <a:p>
            <a:pPr algn="l">
              <a:lnSpc>
                <a:spcPct val="105000"/>
              </a:lnSpc>
              <a:spcBef>
                <a:spcPts val="0"/>
              </a:spcBef>
              <a:spcAft>
                <a:spcPts val="200"/>
              </a:spcAft>
            </a:pPr>
            <a:r>
              <a:rPr sz="1700" b="0" i="0">
                <a:solidFill>
                  <a:srgbClr val="FFFFFF"/>
                </a:solidFill>
                <a:latin typeface="Arial"/>
              </a:rPr>
              <a:t>D.  Ten bars</a:t>
            </a:r>
          </a:p>
        </p:txBody>
      </p:sp>
      <p:sp>
        <p:nvSpPr>
          <p:cNvPr id="10" name="Rectangle 9"/>
          <p:cNvSpPr/>
          <p:nvPr/>
        </p:nvSpPr>
        <p:spPr>
          <a:xfrm>
            <a:off x="777240" y="3336798"/>
            <a:ext cx="498348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2628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2628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direction is taken after the initial Hikkake failure?</a:t>
            </a:r>
          </a:p>
        </p:txBody>
      </p:sp>
      <p:sp>
        <p:nvSpPr>
          <p:cNvPr id="13" name="TextBox 12"/>
          <p:cNvSpPr txBox="1"/>
          <p:nvPr/>
        </p:nvSpPr>
        <p:spPr>
          <a:xfrm>
            <a:off x="1005840" y="4199128"/>
            <a:ext cx="452628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The failed direction</a:t>
            </a:r>
          </a:p>
          <a:p>
            <a:pPr algn="l">
              <a:lnSpc>
                <a:spcPct val="105000"/>
              </a:lnSpc>
              <a:spcBef>
                <a:spcPts val="0"/>
              </a:spcBef>
              <a:spcAft>
                <a:spcPts val="200"/>
              </a:spcAft>
            </a:pPr>
            <a:r>
              <a:rPr sz="1700" b="0" i="0">
                <a:solidFill>
                  <a:srgbClr val="FFFFFF"/>
                </a:solidFill>
                <a:latin typeface="Arial"/>
              </a:rPr>
              <a:t>B.  No direction</a:t>
            </a:r>
          </a:p>
          <a:p>
            <a:pPr algn="l">
              <a:lnSpc>
                <a:spcPct val="105000"/>
              </a:lnSpc>
              <a:spcBef>
                <a:spcPts val="0"/>
              </a:spcBef>
              <a:spcAft>
                <a:spcPts val="200"/>
              </a:spcAft>
            </a:pPr>
            <a:r>
              <a:rPr sz="1700" b="0" i="0">
                <a:solidFill>
                  <a:srgbClr val="FFFFFF"/>
                </a:solidFill>
                <a:latin typeface="Arial"/>
              </a:rPr>
              <a:t>C.  The opposite direction</a:t>
            </a:r>
          </a:p>
          <a:p>
            <a:pPr algn="l">
              <a:lnSpc>
                <a:spcPct val="105000"/>
              </a:lnSpc>
              <a:spcBef>
                <a:spcPts val="0"/>
              </a:spcBef>
              <a:spcAft>
                <a:spcPts val="200"/>
              </a:spcAft>
            </a:pPr>
            <a:r>
              <a:rPr sz="1700" b="0" i="0">
                <a:solidFill>
                  <a:srgbClr val="FFFFFF"/>
                </a:solidFill>
                <a:latin typeface="Arial"/>
              </a:rPr>
              <a:t>D.  Only the trend direction</a:t>
            </a:r>
          </a:p>
        </p:txBody>
      </p:sp>
      <p:sp>
        <p:nvSpPr>
          <p:cNvPr id="14" name="Rectangle 13"/>
          <p:cNvSpPr/>
          <p:nvPr/>
        </p:nvSpPr>
        <p:spPr>
          <a:xfrm>
            <a:off x="6134188" y="1207008"/>
            <a:ext cx="5226838" cy="435254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53060" y="1325880"/>
            <a:ext cx="4989094" cy="411480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53060" y="1325880"/>
            <a:ext cx="4989094"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27380" y="1600200"/>
            <a:ext cx="4440454" cy="365760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7.35</a:t>
            </a:r>
          </a:p>
          <a:p>
            <a:pPr algn="l">
              <a:lnSpc>
                <a:spcPct val="115000"/>
              </a:lnSpc>
              <a:spcBef>
                <a:spcPts val="0"/>
              </a:spcBef>
              <a:spcAft>
                <a:spcPts val="0"/>
              </a:spcAft>
            </a:pPr>
            <a:r>
              <a:rPr sz="1500" b="0" i="0">
                <a:solidFill>
                  <a:srgbClr val="1A1A1A"/>
                </a:solidFill>
                <a:latin typeface="Palatino"/>
              </a:rPr>
              <a:t>iShares Emerging Markets daily chart. A bullish Hikkake forms at a linear regression channel bottom.</a:t>
            </a:r>
          </a:p>
        </p:txBody>
      </p:sp>
      <p:sp>
        <p:nvSpPr>
          <p:cNvPr id="18" name="Rectangle 17"/>
          <p:cNvSpPr/>
          <p:nvPr/>
        </p:nvSpPr>
        <p:spPr>
          <a:xfrm>
            <a:off x="8348479" y="3054096"/>
            <a:ext cx="399127" cy="411480"/>
          </a:xfrm>
          <a:prstGeom prst="rect">
            <a:avLst/>
          </a:prstGeom>
          <a:noFill/>
          <a:ln w="44450">
            <a:solidFill>
              <a:srgbClr val="E09B00"/>
            </a:solidFill>
          </a:ln>
        </p:spPr>
        <p:txBody>
          <a:bodyPr rtlCol="0" anchor="ctr"/>
          <a:lstStyle/>
          <a:p>
            <a:pPr algn="ctr"/>
          </a:p>
        </p:txBody>
      </p:sp>
      <p:sp>
        <p:nvSpPr>
          <p:cNvPr id="19" name="Oval 18"/>
          <p:cNvSpPr/>
          <p:nvPr/>
        </p:nvSpPr>
        <p:spPr>
          <a:xfrm>
            <a:off x="8473207" y="3300984"/>
            <a:ext cx="124727" cy="164592"/>
          </a:xfrm>
          <a:prstGeom prst="ellipse">
            <a:avLst/>
          </a:prstGeom>
          <a:noFill/>
          <a:ln w="44450">
            <a:solidFill>
              <a:srgbClr val="C62828"/>
            </a:solidFill>
          </a:ln>
        </p:spPr>
        <p:txBody>
          <a:bodyPr rtlCol="0" anchor="ctr"/>
          <a:lstStyle/>
          <a:p>
            <a:pPr algn="ctr"/>
          </a:p>
        </p:txBody>
      </p:sp>
      <p:cxnSp>
        <p:nvCxnSpPr>
          <p:cNvPr id="20" name="Connector 19"/>
          <p:cNvCxnSpPr/>
          <p:nvPr/>
        </p:nvCxnSpPr>
        <p:spPr>
          <a:xfrm flipV="1">
            <a:off x="8647825" y="2683764"/>
            <a:ext cx="199564" cy="452628"/>
          </a:xfrm>
          <a:prstGeom prst="line">
            <a:avLst/>
          </a:prstGeom>
          <a:ln w="44450">
            <a:solidFill>
              <a:srgbClr val="1F5FAD"/>
            </a:solidFill>
            <a:tailEnd type="triangle" w="med" len="med"/>
          </a:ln>
        </p:spPr>
      </p:cxnSp>
      <p:sp>
        <p:nvSpPr>
          <p:cNvPr id="21" name="Oval 20"/>
          <p:cNvSpPr/>
          <p:nvPr/>
        </p:nvSpPr>
        <p:spPr>
          <a:xfrm>
            <a:off x="7989297" y="286207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114024" y="3273552"/>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812497" y="240944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080759" y="5650992"/>
            <a:ext cx="53336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7.35 -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28</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the Hikkake example</a:t>
            </a:r>
          </a:p>
        </p:txBody>
      </p:sp>
      <p:sp>
        <p:nvSpPr>
          <p:cNvPr id="6" name="Rectangle 5"/>
          <p:cNvSpPr/>
          <p:nvPr/>
        </p:nvSpPr>
        <p:spPr>
          <a:xfrm>
            <a:off x="777240" y="1207008"/>
            <a:ext cx="4983480" cy="226504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26504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3484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Within how many bars must the opposite Hikkake re-entry occur?</a:t>
            </a:r>
          </a:p>
        </p:txBody>
      </p:sp>
      <p:sp>
        <p:nvSpPr>
          <p:cNvPr id="9" name="TextBox 8"/>
          <p:cNvSpPr txBox="1"/>
          <p:nvPr/>
        </p:nvSpPr>
        <p:spPr>
          <a:xfrm>
            <a:off x="1097280" y="2069338"/>
            <a:ext cx="4434840" cy="1402715"/>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Three bars</a:t>
            </a:r>
          </a:p>
          <a:p>
            <a:pPr algn="l">
              <a:lnSpc>
                <a:spcPct val="115000"/>
              </a:lnSpc>
              <a:spcBef>
                <a:spcPts val="500"/>
              </a:spcBef>
              <a:spcAft>
                <a:spcPts val="0"/>
              </a:spcAft>
            </a:pPr>
            <a:r>
              <a:rPr sz="1700" b="0" i="0">
                <a:solidFill>
                  <a:srgbClr val="1A1A1A"/>
                </a:solidFill>
                <a:latin typeface="Arial"/>
              </a:rPr>
              <a:t>Lim says the breakout must occur within three bars of the initial failed breakout (p. 230).</a:t>
            </a:r>
          </a:p>
        </p:txBody>
      </p:sp>
      <p:sp>
        <p:nvSpPr>
          <p:cNvPr id="10" name="Rectangle 9"/>
          <p:cNvSpPr/>
          <p:nvPr/>
        </p:nvSpPr>
        <p:spPr>
          <a:xfrm>
            <a:off x="777240" y="3654933"/>
            <a:ext cx="4983480" cy="201675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654933"/>
            <a:ext cx="91440" cy="201675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3837813"/>
            <a:ext cx="443484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Which direction is taken after the initial Hikkake failure?</a:t>
            </a:r>
          </a:p>
        </p:txBody>
      </p:sp>
      <p:sp>
        <p:nvSpPr>
          <p:cNvPr id="13" name="TextBox 12"/>
          <p:cNvSpPr txBox="1"/>
          <p:nvPr/>
        </p:nvSpPr>
        <p:spPr>
          <a:xfrm>
            <a:off x="1097280" y="4517263"/>
            <a:ext cx="4434840" cy="1154429"/>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opposite direction</a:t>
            </a:r>
          </a:p>
          <a:p>
            <a:pPr algn="l">
              <a:lnSpc>
                <a:spcPct val="115000"/>
              </a:lnSpc>
              <a:spcBef>
                <a:spcPts val="500"/>
              </a:spcBef>
              <a:spcAft>
                <a:spcPts val="0"/>
              </a:spcAft>
            </a:pPr>
            <a:r>
              <a:rPr sz="1700" b="0" i="0">
                <a:solidFill>
                  <a:srgbClr val="1A1A1A"/>
                </a:solidFill>
                <a:latin typeface="Arial"/>
              </a:rPr>
              <a:t>Hikkake takes the opposite re-entry after the inside-bar breakout fails (p. 230).</a:t>
            </a:r>
          </a:p>
        </p:txBody>
      </p:sp>
      <p:sp>
        <p:nvSpPr>
          <p:cNvPr id="14" name="Rectangle 13"/>
          <p:cNvSpPr/>
          <p:nvPr/>
        </p:nvSpPr>
        <p:spPr>
          <a:xfrm>
            <a:off x="6134188" y="1207008"/>
            <a:ext cx="5226838" cy="435254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53060" y="1325880"/>
            <a:ext cx="4989094" cy="411480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253060" y="1325880"/>
            <a:ext cx="4989094"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527380" y="1600200"/>
            <a:ext cx="4440454" cy="365760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7.35</a:t>
            </a:r>
          </a:p>
          <a:p>
            <a:pPr algn="l">
              <a:lnSpc>
                <a:spcPct val="115000"/>
              </a:lnSpc>
              <a:spcBef>
                <a:spcPts val="0"/>
              </a:spcBef>
              <a:spcAft>
                <a:spcPts val="0"/>
              </a:spcAft>
            </a:pPr>
            <a:r>
              <a:rPr sz="1500" b="0" i="0">
                <a:solidFill>
                  <a:srgbClr val="1A1A1A"/>
                </a:solidFill>
                <a:latin typeface="Palatino"/>
              </a:rPr>
              <a:t>iShares Emerging Markets daily chart. A bullish Hikkake forms at a linear regression channel bottom.</a:t>
            </a:r>
          </a:p>
        </p:txBody>
      </p:sp>
      <p:sp>
        <p:nvSpPr>
          <p:cNvPr id="18" name="Rectangle 17"/>
          <p:cNvSpPr/>
          <p:nvPr/>
        </p:nvSpPr>
        <p:spPr>
          <a:xfrm>
            <a:off x="8348479" y="3054096"/>
            <a:ext cx="399127" cy="411480"/>
          </a:xfrm>
          <a:prstGeom prst="rect">
            <a:avLst/>
          </a:prstGeom>
          <a:noFill/>
          <a:ln w="44450">
            <a:solidFill>
              <a:srgbClr val="E09B00"/>
            </a:solidFill>
          </a:ln>
        </p:spPr>
        <p:txBody>
          <a:bodyPr rtlCol="0" anchor="ctr"/>
          <a:lstStyle/>
          <a:p>
            <a:pPr algn="ctr"/>
          </a:p>
        </p:txBody>
      </p:sp>
      <p:sp>
        <p:nvSpPr>
          <p:cNvPr id="19" name="Oval 18"/>
          <p:cNvSpPr/>
          <p:nvPr/>
        </p:nvSpPr>
        <p:spPr>
          <a:xfrm>
            <a:off x="8473207" y="3300984"/>
            <a:ext cx="124727" cy="164592"/>
          </a:xfrm>
          <a:prstGeom prst="ellipse">
            <a:avLst/>
          </a:prstGeom>
          <a:noFill/>
          <a:ln w="44450">
            <a:solidFill>
              <a:srgbClr val="C62828"/>
            </a:solidFill>
          </a:ln>
        </p:spPr>
        <p:txBody>
          <a:bodyPr rtlCol="0" anchor="ctr"/>
          <a:lstStyle/>
          <a:p>
            <a:pPr algn="ctr"/>
          </a:p>
        </p:txBody>
      </p:sp>
      <p:cxnSp>
        <p:nvCxnSpPr>
          <p:cNvPr id="20" name="Connector 19"/>
          <p:cNvCxnSpPr/>
          <p:nvPr/>
        </p:nvCxnSpPr>
        <p:spPr>
          <a:xfrm flipV="1">
            <a:off x="8647825" y="2683764"/>
            <a:ext cx="199564" cy="452628"/>
          </a:xfrm>
          <a:prstGeom prst="line">
            <a:avLst/>
          </a:prstGeom>
          <a:ln w="44450">
            <a:solidFill>
              <a:srgbClr val="1F5FAD"/>
            </a:solidFill>
            <a:tailEnd type="triangle" w="med" len="med"/>
          </a:ln>
        </p:spPr>
      </p:cxnSp>
      <p:sp>
        <p:nvSpPr>
          <p:cNvPr id="21" name="Oval 20"/>
          <p:cNvSpPr/>
          <p:nvPr/>
        </p:nvSpPr>
        <p:spPr>
          <a:xfrm>
            <a:off x="7989297" y="2862072"/>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8114024" y="3273552"/>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812497" y="2409444"/>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080759" y="5650992"/>
            <a:ext cx="53336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7.35 -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28</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29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From false breakouts and Hikkake</a:t>
            </a:r>
          </a:p>
        </p:txBody>
      </p:sp>
      <p:sp>
        <p:nvSpPr>
          <p:cNvPr id="6" name="Rectangle 5"/>
          <p:cNvSpPr/>
          <p:nvPr/>
        </p:nvSpPr>
        <p:spPr>
          <a:xfrm>
            <a:off x="777240" y="1207008"/>
            <a:ext cx="5029200" cy="2038349"/>
          </a:xfrm>
          <a:prstGeom prst="rect">
            <a:avLst/>
          </a:prstGeom>
          <a:solidFill>
            <a:srgbClr val="007A33"/>
          </a:solidFill>
          <a:ln>
            <a:noFill/>
          </a:ln>
          <a:effectLst/>
        </p:spPr>
        <p:txBody>
          <a:bodyPr rtlCol="0" anchor="ctr"/>
          <a:lstStyle/>
          <a:p>
            <a:pPr algn="ctr"/>
          </a:p>
        </p:txBody>
      </p:sp>
      <p:sp>
        <p:nvSpPr>
          <p:cNvPr id="7" name="TextBox 6"/>
          <p:cNvSpPr txBox="1"/>
          <p:nvPr/>
        </p:nvSpPr>
        <p:spPr>
          <a:xfrm>
            <a:off x="1005840" y="129844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05840" y="149961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After a false upside breakout, the bearish entry is:</a:t>
            </a:r>
          </a:p>
        </p:txBody>
      </p:sp>
      <p:sp>
        <p:nvSpPr>
          <p:cNvPr id="9" name="TextBox 8"/>
          <p:cNvSpPr txBox="1"/>
          <p:nvPr/>
        </p:nvSpPr>
        <p:spPr>
          <a:xfrm>
            <a:off x="1005840" y="206933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At the new high</a:t>
            </a:r>
          </a:p>
          <a:p>
            <a:pPr algn="l">
              <a:lnSpc>
                <a:spcPct val="105000"/>
              </a:lnSpc>
              <a:spcBef>
                <a:spcPts val="0"/>
              </a:spcBef>
              <a:spcAft>
                <a:spcPts val="200"/>
              </a:spcAft>
            </a:pPr>
            <a:r>
              <a:rPr sz="1700" b="0" i="0">
                <a:solidFill>
                  <a:srgbClr val="FFFFFF"/>
                </a:solidFill>
                <a:latin typeface="Arial"/>
              </a:rPr>
              <a:t>B.  Above support</a:t>
            </a:r>
          </a:p>
          <a:p>
            <a:pPr algn="l">
              <a:lnSpc>
                <a:spcPct val="105000"/>
              </a:lnSpc>
              <a:spcBef>
                <a:spcPts val="0"/>
              </a:spcBef>
              <a:spcAft>
                <a:spcPts val="200"/>
              </a:spcAft>
            </a:pPr>
            <a:r>
              <a:rPr sz="1700" b="0" i="0">
                <a:solidFill>
                  <a:srgbClr val="FFFFFF"/>
                </a:solidFill>
                <a:latin typeface="Arial"/>
              </a:rPr>
              <a:t>C.  Only after a gap down</a:t>
            </a:r>
          </a:p>
          <a:p>
            <a:pPr algn="l">
              <a:lnSpc>
                <a:spcPct val="105000"/>
              </a:lnSpc>
              <a:spcBef>
                <a:spcPts val="0"/>
              </a:spcBef>
              <a:spcAft>
                <a:spcPts val="200"/>
              </a:spcAft>
            </a:pPr>
            <a:r>
              <a:rPr sz="1700" b="0" i="0">
                <a:solidFill>
                  <a:srgbClr val="FFFFFF"/>
                </a:solidFill>
                <a:latin typeface="Arial"/>
              </a:rPr>
              <a:t>D.  At a close below resistance</a:t>
            </a:r>
          </a:p>
        </p:txBody>
      </p:sp>
      <p:sp>
        <p:nvSpPr>
          <p:cNvPr id="10" name="Rectangle 9"/>
          <p:cNvSpPr/>
          <p:nvPr/>
        </p:nvSpPr>
        <p:spPr>
          <a:xfrm>
            <a:off x="777240" y="3336798"/>
            <a:ext cx="5029200" cy="2038349"/>
          </a:xfrm>
          <a:prstGeom prst="rect">
            <a:avLst/>
          </a:prstGeom>
          <a:solidFill>
            <a:srgbClr val="007A33"/>
          </a:solidFill>
          <a:ln>
            <a:noFill/>
          </a:ln>
          <a:effectLst/>
        </p:spPr>
        <p:txBody>
          <a:bodyPr rtlCol="0" anchor="ctr"/>
          <a:lstStyle/>
          <a:p>
            <a:pPr algn="ctr"/>
          </a:p>
        </p:txBody>
      </p:sp>
      <p:sp>
        <p:nvSpPr>
          <p:cNvPr id="11" name="TextBox 10"/>
          <p:cNvSpPr txBox="1"/>
          <p:nvPr/>
        </p:nvSpPr>
        <p:spPr>
          <a:xfrm>
            <a:off x="1005840" y="3428238"/>
            <a:ext cx="4572000"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1005840" y="3629406"/>
            <a:ext cx="457200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Hikkake opposite re-entry must occur within:</a:t>
            </a:r>
          </a:p>
        </p:txBody>
      </p:sp>
      <p:sp>
        <p:nvSpPr>
          <p:cNvPr id="13" name="TextBox 12"/>
          <p:cNvSpPr txBox="1"/>
          <p:nvPr/>
        </p:nvSpPr>
        <p:spPr>
          <a:xfrm>
            <a:off x="1005840" y="4199128"/>
            <a:ext cx="4572000" cy="1102867"/>
          </a:xfrm>
          <a:prstGeom prst="rect">
            <a:avLst/>
          </a:prstGeom>
          <a:noFill/>
        </p:spPr>
        <p:txBody>
          <a:bodyPr wrap="square" anchor="t" lIns="0" rIns="0" tIns="0" bIns="0">
            <a:spAutoFit/>
          </a:bodyPr>
          <a:lstStyle/>
          <a:p>
            <a:pPr algn="l">
              <a:lnSpc>
                <a:spcPct val="105000"/>
              </a:lnSpc>
              <a:spcBef>
                <a:spcPts val="0"/>
              </a:spcBef>
              <a:spcAft>
                <a:spcPts val="200"/>
              </a:spcAft>
            </a:pPr>
            <a:r>
              <a:rPr sz="1700" b="0" i="0">
                <a:solidFill>
                  <a:srgbClr val="FFFFFF"/>
                </a:solidFill>
                <a:latin typeface="Arial"/>
              </a:rPr>
              <a:t>A.  One bar</a:t>
            </a:r>
          </a:p>
          <a:p>
            <a:pPr algn="l">
              <a:lnSpc>
                <a:spcPct val="105000"/>
              </a:lnSpc>
              <a:spcBef>
                <a:spcPts val="0"/>
              </a:spcBef>
              <a:spcAft>
                <a:spcPts val="200"/>
              </a:spcAft>
            </a:pPr>
            <a:r>
              <a:rPr sz="1700" b="0" i="0">
                <a:solidFill>
                  <a:srgbClr val="FFFFFF"/>
                </a:solidFill>
                <a:latin typeface="Arial"/>
              </a:rPr>
              <a:t>B.  Two bars</a:t>
            </a:r>
          </a:p>
          <a:p>
            <a:pPr algn="l">
              <a:lnSpc>
                <a:spcPct val="105000"/>
              </a:lnSpc>
              <a:spcBef>
                <a:spcPts val="0"/>
              </a:spcBef>
              <a:spcAft>
                <a:spcPts val="200"/>
              </a:spcAft>
            </a:pPr>
            <a:r>
              <a:rPr sz="1700" b="0" i="0">
                <a:solidFill>
                  <a:srgbClr val="FFFFFF"/>
                </a:solidFill>
                <a:latin typeface="Arial"/>
              </a:rPr>
              <a:t>C.  Three bars</a:t>
            </a:r>
          </a:p>
          <a:p>
            <a:pPr algn="l">
              <a:lnSpc>
                <a:spcPct val="105000"/>
              </a:lnSpc>
              <a:spcBef>
                <a:spcPts val="0"/>
              </a:spcBef>
              <a:spcAft>
                <a:spcPts val="200"/>
              </a:spcAft>
            </a:pPr>
            <a:r>
              <a:rPr sz="1700" b="0" i="0">
                <a:solidFill>
                  <a:srgbClr val="FFFFFF"/>
                </a:solidFill>
                <a:latin typeface="Arial"/>
              </a:rPr>
              <a:t>D.  Ten bars</a:t>
            </a:r>
          </a:p>
        </p:txBody>
      </p:sp>
      <p:sp>
        <p:nvSpPr>
          <p:cNvPr id="14" name="Rectangle 13"/>
          <p:cNvSpPr/>
          <p:nvPr/>
        </p:nvSpPr>
        <p:spPr>
          <a:xfrm>
            <a:off x="6440439" y="1207008"/>
            <a:ext cx="4660055" cy="435254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59311" y="1325880"/>
            <a:ext cx="4422311" cy="411480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559311" y="1325880"/>
            <a:ext cx="442231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833631" y="1600200"/>
            <a:ext cx="3873671" cy="365760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7.34</a:t>
            </a:r>
          </a:p>
          <a:p>
            <a:pPr algn="l">
              <a:lnSpc>
                <a:spcPct val="115000"/>
              </a:lnSpc>
              <a:spcBef>
                <a:spcPts val="0"/>
              </a:spcBef>
              <a:spcAft>
                <a:spcPts val="0"/>
              </a:spcAft>
            </a:pPr>
            <a:r>
              <a:rPr sz="1500" b="0" i="0">
                <a:solidFill>
                  <a:srgbClr val="1A1A1A"/>
                </a:solidFill>
                <a:latin typeface="Palatino"/>
              </a:rPr>
              <a:t>The bearish schematic: an inside bar, a failed upside breakout, and the opposite re-entry below the inside low.</a:t>
            </a:r>
          </a:p>
        </p:txBody>
      </p:sp>
      <p:sp>
        <p:nvSpPr>
          <p:cNvPr id="18" name="Rectangle 17"/>
          <p:cNvSpPr/>
          <p:nvPr/>
        </p:nvSpPr>
        <p:spPr>
          <a:xfrm>
            <a:off x="7620666" y="2519172"/>
            <a:ext cx="199004" cy="1234439"/>
          </a:xfrm>
          <a:prstGeom prst="rect">
            <a:avLst/>
          </a:prstGeom>
          <a:noFill/>
          <a:ln w="44450">
            <a:solidFill>
              <a:srgbClr val="E09B00"/>
            </a:solidFill>
          </a:ln>
        </p:spPr>
        <p:txBody>
          <a:bodyPr rtlCol="0" anchor="ctr"/>
          <a:lstStyle/>
          <a:p>
            <a:pPr algn="ctr"/>
          </a:p>
        </p:txBody>
      </p:sp>
      <p:sp>
        <p:nvSpPr>
          <p:cNvPr id="19" name="Oval 18"/>
          <p:cNvSpPr/>
          <p:nvPr/>
        </p:nvSpPr>
        <p:spPr>
          <a:xfrm>
            <a:off x="7930228" y="2107692"/>
            <a:ext cx="221115" cy="617220"/>
          </a:xfrm>
          <a:prstGeom prst="ellipse">
            <a:avLst/>
          </a:prstGeom>
          <a:noFill/>
          <a:ln w="44450">
            <a:solidFill>
              <a:srgbClr val="C62828"/>
            </a:solidFill>
          </a:ln>
        </p:spPr>
        <p:txBody>
          <a:bodyPr rtlCol="0" anchor="ctr"/>
          <a:lstStyle/>
          <a:p>
            <a:pPr algn="ctr"/>
          </a:p>
        </p:txBody>
      </p:sp>
      <p:sp>
        <p:nvSpPr>
          <p:cNvPr id="20" name="Oval 19"/>
          <p:cNvSpPr/>
          <p:nvPr/>
        </p:nvSpPr>
        <p:spPr>
          <a:xfrm>
            <a:off x="8659909" y="3383280"/>
            <a:ext cx="221115" cy="576072"/>
          </a:xfrm>
          <a:prstGeom prst="ellipse">
            <a:avLst/>
          </a:prstGeom>
          <a:noFill/>
          <a:ln w="44450">
            <a:solidFill>
              <a:srgbClr val="1F5FAD"/>
            </a:solidFill>
          </a:ln>
        </p:spPr>
        <p:txBody>
          <a:bodyPr rtlCol="0" anchor="ctr"/>
          <a:lstStyle/>
          <a:p>
            <a:pPr algn="ctr"/>
          </a:p>
        </p:txBody>
      </p:sp>
      <p:sp>
        <p:nvSpPr>
          <p:cNvPr id="21" name="Oval 20"/>
          <p:cNvSpPr/>
          <p:nvPr/>
        </p:nvSpPr>
        <p:spPr>
          <a:xfrm>
            <a:off x="7599384" y="220370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732054" y="189509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395400" y="3931920"/>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565099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7.34 -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4 - 7.3 Popular reversals  |  Check 29</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From false breakouts and Hikkake</a:t>
            </a:r>
          </a:p>
        </p:txBody>
      </p:sp>
      <p:sp>
        <p:nvSpPr>
          <p:cNvPr id="6" name="Rectangle 5"/>
          <p:cNvSpPr/>
          <p:nvPr/>
        </p:nvSpPr>
        <p:spPr>
          <a:xfrm>
            <a:off x="777240" y="1207008"/>
            <a:ext cx="5029200" cy="248412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484120"/>
          </a:xfrm>
          <a:prstGeom prst="rect">
            <a:avLst/>
          </a:prstGeom>
          <a:solidFill>
            <a:srgbClr val="F2A900"/>
          </a:solidFill>
          <a:ln>
            <a:noFill/>
          </a:ln>
          <a:effectLst/>
        </p:spPr>
        <p:txBody>
          <a:bodyPr rtlCol="0" anchor="ctr"/>
          <a:lstStyle/>
          <a:p>
            <a:pPr algn="ctr"/>
          </a:p>
        </p:txBody>
      </p:sp>
      <p:sp>
        <p:nvSpPr>
          <p:cNvPr id="8" name="TextBox 7"/>
          <p:cNvSpPr txBox="1"/>
          <p:nvPr/>
        </p:nvSpPr>
        <p:spPr>
          <a:xfrm>
            <a:off x="1097280" y="1389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After a false upside breakout, the bearish entry is:</a:t>
            </a:r>
          </a:p>
        </p:txBody>
      </p:sp>
      <p:sp>
        <p:nvSpPr>
          <p:cNvPr id="9" name="TextBox 8"/>
          <p:cNvSpPr txBox="1"/>
          <p:nvPr/>
        </p:nvSpPr>
        <p:spPr>
          <a:xfrm>
            <a:off x="1097280" y="2069338"/>
            <a:ext cx="4480560" cy="16217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At a close below resistance</a:t>
            </a:r>
          </a:p>
          <a:p>
            <a:pPr algn="l">
              <a:lnSpc>
                <a:spcPct val="115000"/>
              </a:lnSpc>
              <a:spcBef>
                <a:spcPts val="500"/>
              </a:spcBef>
              <a:spcAft>
                <a:spcPts val="0"/>
              </a:spcAft>
            </a:pPr>
            <a:r>
              <a:rPr sz="1700" b="0" i="0">
                <a:solidFill>
                  <a:srgbClr val="1A1A1A"/>
                </a:solidFill>
                <a:latin typeface="Arial"/>
              </a:rPr>
              <a:t>The book says a short is normally initiated when price closes below resistance after the false upside breakout (p. 228).</a:t>
            </a:r>
          </a:p>
        </p:txBody>
      </p:sp>
      <p:sp>
        <p:nvSpPr>
          <p:cNvPr id="10" name="Rectangle 9"/>
          <p:cNvSpPr/>
          <p:nvPr/>
        </p:nvSpPr>
        <p:spPr>
          <a:xfrm>
            <a:off x="777240" y="3874008"/>
            <a:ext cx="5029200" cy="223583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874008"/>
            <a:ext cx="91440" cy="223583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97280" y="4056888"/>
            <a:ext cx="4480560"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A Hikkake opposite re-entry must occur within:</a:t>
            </a:r>
          </a:p>
        </p:txBody>
      </p:sp>
      <p:sp>
        <p:nvSpPr>
          <p:cNvPr id="13" name="TextBox 12"/>
          <p:cNvSpPr txBox="1"/>
          <p:nvPr/>
        </p:nvSpPr>
        <p:spPr>
          <a:xfrm>
            <a:off x="1097280" y="4736338"/>
            <a:ext cx="4480560" cy="1373505"/>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C.  Three bars</a:t>
            </a:r>
          </a:p>
          <a:p>
            <a:pPr algn="l">
              <a:lnSpc>
                <a:spcPct val="115000"/>
              </a:lnSpc>
              <a:spcBef>
                <a:spcPts val="500"/>
              </a:spcBef>
              <a:spcAft>
                <a:spcPts val="0"/>
              </a:spcAft>
            </a:pPr>
            <a:r>
              <a:rPr sz="1700" b="0" i="0">
                <a:solidFill>
                  <a:srgbClr val="1A1A1A"/>
                </a:solidFill>
                <a:latin typeface="Arial"/>
              </a:rPr>
              <a:t>Lim says the breakout must occur within three bars of the initial failed breakout (p. 230).</a:t>
            </a:r>
          </a:p>
        </p:txBody>
      </p:sp>
      <p:sp>
        <p:nvSpPr>
          <p:cNvPr id="14" name="Rectangle 13"/>
          <p:cNvSpPr/>
          <p:nvPr/>
        </p:nvSpPr>
        <p:spPr>
          <a:xfrm>
            <a:off x="6351993" y="1207008"/>
            <a:ext cx="4836948" cy="435254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470865" y="1325880"/>
            <a:ext cx="4599204" cy="4114800"/>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470865" y="1325880"/>
            <a:ext cx="4599204"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6745185" y="1600200"/>
            <a:ext cx="4050564" cy="365760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7.34</a:t>
            </a:r>
          </a:p>
          <a:p>
            <a:pPr algn="l">
              <a:lnSpc>
                <a:spcPct val="115000"/>
              </a:lnSpc>
              <a:spcBef>
                <a:spcPts val="0"/>
              </a:spcBef>
              <a:spcAft>
                <a:spcPts val="0"/>
              </a:spcAft>
            </a:pPr>
            <a:r>
              <a:rPr sz="1500" b="0" i="0">
                <a:solidFill>
                  <a:srgbClr val="1A1A1A"/>
                </a:solidFill>
                <a:latin typeface="Palatino"/>
              </a:rPr>
              <a:t>The bearish schematic: an inside bar, a failed upside breakout, and the opposite re-entry below the inside low.</a:t>
            </a:r>
          </a:p>
        </p:txBody>
      </p:sp>
      <p:sp>
        <p:nvSpPr>
          <p:cNvPr id="18" name="Rectangle 17"/>
          <p:cNvSpPr/>
          <p:nvPr/>
        </p:nvSpPr>
        <p:spPr>
          <a:xfrm>
            <a:off x="7574674" y="2519172"/>
            <a:ext cx="206964" cy="1234439"/>
          </a:xfrm>
          <a:prstGeom prst="rect">
            <a:avLst/>
          </a:prstGeom>
          <a:noFill/>
          <a:ln w="44450">
            <a:solidFill>
              <a:srgbClr val="E09B00"/>
            </a:solidFill>
          </a:ln>
        </p:spPr>
        <p:txBody>
          <a:bodyPr rtlCol="0" anchor="ctr"/>
          <a:lstStyle/>
          <a:p>
            <a:pPr algn="ctr"/>
          </a:p>
        </p:txBody>
      </p:sp>
      <p:sp>
        <p:nvSpPr>
          <p:cNvPr id="19" name="Oval 18"/>
          <p:cNvSpPr/>
          <p:nvPr/>
        </p:nvSpPr>
        <p:spPr>
          <a:xfrm>
            <a:off x="7896618" y="2107692"/>
            <a:ext cx="229960" cy="617220"/>
          </a:xfrm>
          <a:prstGeom prst="ellipse">
            <a:avLst/>
          </a:prstGeom>
          <a:noFill/>
          <a:ln w="44450">
            <a:solidFill>
              <a:srgbClr val="C62828"/>
            </a:solidFill>
          </a:ln>
        </p:spPr>
        <p:txBody>
          <a:bodyPr rtlCol="0" anchor="ctr"/>
          <a:lstStyle/>
          <a:p>
            <a:pPr algn="ctr"/>
          </a:p>
        </p:txBody>
      </p:sp>
      <p:sp>
        <p:nvSpPr>
          <p:cNvPr id="20" name="Oval 19"/>
          <p:cNvSpPr/>
          <p:nvPr/>
        </p:nvSpPr>
        <p:spPr>
          <a:xfrm>
            <a:off x="8655487" y="3383280"/>
            <a:ext cx="229960" cy="576072"/>
          </a:xfrm>
          <a:prstGeom prst="ellipse">
            <a:avLst/>
          </a:prstGeom>
          <a:noFill/>
          <a:ln w="44450">
            <a:solidFill>
              <a:srgbClr val="1F5FAD"/>
            </a:solidFill>
          </a:ln>
        </p:spPr>
        <p:txBody>
          <a:bodyPr rtlCol="0" anchor="ctr"/>
          <a:lstStyle/>
          <a:p>
            <a:pPr algn="ctr"/>
          </a:p>
        </p:txBody>
      </p:sp>
      <p:sp>
        <p:nvSpPr>
          <p:cNvPr id="21" name="Oval 20"/>
          <p:cNvSpPr/>
          <p:nvPr/>
        </p:nvSpPr>
        <p:spPr>
          <a:xfrm>
            <a:off x="7556930" y="2203704"/>
            <a:ext cx="219456" cy="21945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7694906" y="1895094"/>
            <a:ext cx="219456" cy="21945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8384787" y="3931920"/>
            <a:ext cx="219456" cy="21945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126479" y="5650992"/>
            <a:ext cx="52879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7.34 - Lim, The Handbook of Technical Analysis (Wiley, 2016)</a:t>
            </a:r>
          </a:p>
        </p:txBody>
      </p:sp>
      <p:sp>
        <p:nvSpPr>
          <p:cNvPr id="25" name="TextBox 24"/>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4 - 7.3 Popular reversals  |  Check 29</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 4 turns to Lim's volatility-based breakouts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 of 20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4 covers the last section of Chapter 7, which Lim calls volatility-based breakout patterns (p. 230). It opens with the Hikkake, which we read at the end of Part 3; now we read the other two, Larry Williams' Oops entry and the inside day narrow range pattern.</a:t>
            </a:r>
          </a:p>
          <a:p>
            <a:pPr algn="l">
              <a:lnSpc>
                <a:spcPct val="118000"/>
              </a:lnSpc>
              <a:spcBef>
                <a:spcPts val="0"/>
              </a:spcBef>
              <a:spcAft>
                <a:spcPts val="1300"/>
              </a:spcAft>
            </a:pPr>
            <a:r>
              <a:rPr sz="2100" b="0" i="0">
                <a:solidFill>
                  <a:srgbClr val="1A1A1A"/>
                </a:solidFill>
                <a:latin typeface="Arial"/>
              </a:rPr>
              <a:t>The Oops uses three orders from Chapter 5. A sell-stop waits below the market and is filled only if price falls to it, and a buy-stop waits above the market and is filled only if price rises to it. A stoploss closes a position that moves against us.</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230, with Chapter 5's stop orders.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Williams' Oops trades against a gap that fails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2 of 20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Williams' Oops starts with a bar that opens beyond the range of the previous bar (p. 231). If the new bar opens above the previous bar's high, Lim places a sell-stop entry order at the previous bar's high and a stoploss at the new bar's high.</a:t>
            </a:r>
          </a:p>
          <a:p>
            <a:pPr algn="l">
              <a:lnSpc>
                <a:spcPct val="118000"/>
              </a:lnSpc>
              <a:spcBef>
                <a:spcPts val="0"/>
              </a:spcBef>
              <a:spcAft>
                <a:spcPts val="1300"/>
              </a:spcAft>
            </a:pPr>
            <a:r>
              <a:rPr sz="2100" b="0" i="0">
                <a:solidFill>
                  <a:srgbClr val="1A1A1A"/>
                </a:solidFill>
                <a:latin typeface="Arial"/>
              </a:rPr>
              <a:t>That gap-up case is the bearish Oops: we sell. The trade is taken only if price falls back to the previous high, against the gap, and the stoploss at the new high limits the loss if the gap keeps going.</a:t>
            </a:r>
          </a:p>
        </p:txBody>
      </p:sp>
      <p:sp>
        <p:nvSpPr>
          <p:cNvPr id="8" name="Rectangle 7"/>
          <p:cNvSpPr/>
          <p:nvPr/>
        </p:nvSpPr>
        <p:spPr>
          <a:xfrm>
            <a:off x="777240" y="484555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8213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Oops waits for the gap to fail before it acts.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231.</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Oops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are two bars of ours. Bar 1 is the previous bar, with a high of PHP 52.00. Bar 2 opens at PHP 53.00 </a:t>
            </a:r>
            <a:r>
              <a:rPr sz="1700" b="1" i="0">
                <a:solidFill>
                  <a:srgbClr val="E09B00"/>
                </a:solidFill>
                <a:latin typeface="Arial"/>
              </a:rPr>
              <a:t>(1)</a:t>
            </a:r>
            <a:r>
              <a:rPr sz="1700" b="0" i="0">
                <a:solidFill>
                  <a:srgbClr val="1A1A1A"/>
                </a:solidFill>
                <a:latin typeface="Arial"/>
              </a:rPr>
              <a:t>, above that high, so as it opens we place a sell-stop at PHP 52.00 </a:t>
            </a:r>
            <a:r>
              <a:rPr sz="1700" b="1" i="0">
                <a:solidFill>
                  <a:srgbClr val="C62828"/>
                </a:solidFill>
                <a:latin typeface="Arial"/>
              </a:rPr>
              <a:t>(2)</a:t>
            </a:r>
            <a:r>
              <a:rPr sz="1700" b="0" i="0">
                <a:solidFill>
                  <a:srgbClr val="1A1A1A"/>
                </a:solidFill>
                <a:latin typeface="Arial"/>
              </a:rPr>
              <a:t> and a stoploss at bar 2's high. Bar 2 climbs to a high of PHP 54.00 </a:t>
            </a:r>
            <a:r>
              <a:rPr sz="1700" b="1" i="0">
                <a:solidFill>
                  <a:srgbClr val="1F5FAD"/>
                </a:solidFill>
                <a:latin typeface="Arial"/>
              </a:rPr>
              <a:t>(3)</a:t>
            </a:r>
            <a:r>
              <a:rPr sz="1700" b="0" i="0">
                <a:solidFill>
                  <a:srgbClr val="1A1A1A"/>
                </a:solidFill>
                <a:latin typeface="Arial"/>
              </a:rPr>
              <a:t>, so that is where the stoploss sits.</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n-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724643" y="3725468"/>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4074972"/>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880091"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640519" y="346943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9967874" y="399084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9967874" y="329184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N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3 of 20</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N is ours, with invented PHP values to show Lim (2016), p. 231.</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 bearish Oops with simple prices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Then price falls to PHP 50.50, through the sell-stop at PHP 52.00 </a:t>
            </a:r>
            <a:r>
              <a:rPr sz="1700" b="1" i="0">
                <a:solidFill>
                  <a:srgbClr val="C62828"/>
                </a:solidFill>
                <a:latin typeface="Arial"/>
              </a:rPr>
              <a:t>(2)</a:t>
            </a:r>
            <a:r>
              <a:rPr sz="1700" b="0" i="0">
                <a:solidFill>
                  <a:srgbClr val="1A1A1A"/>
                </a:solidFill>
                <a:latin typeface="Arial"/>
              </a:rPr>
              <a:t>, and the order is filled: we are now short. Once we are short, if price turned back up through the stoploss at PHP 54.00 </a:t>
            </a:r>
            <a:r>
              <a:rPr sz="1700" b="1" i="0">
                <a:solidFill>
                  <a:srgbClr val="1F5FAD"/>
                </a:solidFill>
                <a:latin typeface="Arial"/>
              </a:rPr>
              <a:t>(3)</a:t>
            </a:r>
            <a:r>
              <a:rPr sz="1700" b="0" i="0">
                <a:solidFill>
                  <a:srgbClr val="1A1A1A"/>
                </a:solidFill>
                <a:latin typeface="Arial"/>
              </a:rPr>
              <a:t>, the stoploss would close the short. Lim adds that a stop and reverse order is initiated at the stoploss level (p. 231), so we would also go long there.</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n-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074972"/>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9880091" y="3375964"/>
            <a:ext cx="87782" cy="87782"/>
          </a:xfrm>
          <a:prstGeom prst="ellipse">
            <a:avLst/>
          </a:prstGeom>
          <a:noFill/>
          <a:ln w="44450">
            <a:solidFill>
              <a:srgbClr val="1F5FAD"/>
            </a:solidFill>
          </a:ln>
        </p:spPr>
        <p:txBody>
          <a:bodyPr rtlCol="0" anchor="ctr"/>
          <a:lstStyle/>
          <a:p>
            <a:pPr algn="ctr"/>
          </a:p>
        </p:txBody>
      </p:sp>
      <p:sp>
        <p:nvSpPr>
          <p:cNvPr id="11" name="Oval 10"/>
          <p:cNvSpPr/>
          <p:nvPr/>
        </p:nvSpPr>
        <p:spPr>
          <a:xfrm>
            <a:off x="9967874" y="3990848"/>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2" name="Oval 11"/>
          <p:cNvSpPr/>
          <p:nvPr/>
        </p:nvSpPr>
        <p:spPr>
          <a:xfrm>
            <a:off x="9967874" y="3291840"/>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N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4 of 20</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N is ours, with invented PHP values to show Lim (2016), p. 231.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Figure 7.36 draws both Oops setups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6576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Lim draws both setups in Figure 7.36 (p. 231). On the right is the bearish one: the bar gaps up </a:t>
            </a:r>
            <a:r>
              <a:rPr sz="1700" b="1" i="0">
                <a:solidFill>
                  <a:srgbClr val="E09B00"/>
                </a:solidFill>
                <a:latin typeface="Arial"/>
              </a:rPr>
              <a:t>(1)</a:t>
            </a:r>
            <a:r>
              <a:rPr sz="1700" b="0" i="0">
                <a:solidFill>
                  <a:srgbClr val="1A1A1A"/>
                </a:solidFill>
                <a:latin typeface="Arial"/>
              </a:rPr>
              <a:t>, the sell-stop sits at the previous high </a:t>
            </a:r>
            <a:r>
              <a:rPr sz="1700" b="1" i="0">
                <a:solidFill>
                  <a:srgbClr val="C62828"/>
                </a:solidFill>
                <a:latin typeface="Arial"/>
              </a:rPr>
              <a:t>(2)</a:t>
            </a:r>
            <a:r>
              <a:rPr sz="1700" b="0" i="0">
                <a:solidFill>
                  <a:srgbClr val="1A1A1A"/>
                </a:solidFill>
                <a:latin typeface="Arial"/>
              </a:rPr>
              <a:t>, and the stop and reverse level is at the new high </a:t>
            </a:r>
            <a:r>
              <a:rPr sz="1700" b="1" i="0">
                <a:solidFill>
                  <a:srgbClr val="1F5FAD"/>
                </a:solidFill>
                <a:latin typeface="Arial"/>
              </a:rPr>
              <a:t>(3)</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On the left is the bullish mirror image: the bar gaps down </a:t>
            </a:r>
            <a:r>
              <a:rPr sz="1700" b="1" i="0">
                <a:solidFill>
                  <a:srgbClr val="7B3FA0"/>
                </a:solidFill>
                <a:latin typeface="Arial"/>
              </a:rPr>
              <a:t>(4)</a:t>
            </a:r>
            <a:r>
              <a:rPr sz="1700" b="0" i="0">
                <a:solidFill>
                  <a:srgbClr val="1A1A1A"/>
                </a:solidFill>
                <a:latin typeface="Arial"/>
              </a:rPr>
              <a:t>, the buy-stop waits at the previous low </a:t>
            </a:r>
            <a:r>
              <a:rPr sz="1700" b="1" i="0">
                <a:solidFill>
                  <a:srgbClr val="C62828"/>
                </a:solidFill>
                <a:latin typeface="Arial"/>
              </a:rPr>
              <a:t>(5)</a:t>
            </a:r>
            <a:r>
              <a:rPr sz="1700" b="0" i="0">
                <a:solidFill>
                  <a:srgbClr val="1A1A1A"/>
                </a:solidFill>
                <a:latin typeface="Arial"/>
              </a:rPr>
              <a:t>, and the stop and reverse level is at the new low </a:t>
            </a:r>
            <a:r>
              <a:rPr sz="1700" b="1" i="0">
                <a:solidFill>
                  <a:srgbClr val="1F5FAD"/>
                </a:solidFill>
                <a:latin typeface="Arial"/>
              </a:rPr>
              <a:t>(6)</a:t>
            </a:r>
            <a:r>
              <a:rPr sz="1700" b="0" i="0">
                <a:solidFill>
                  <a:srgbClr val="1A1A1A"/>
                </a:solidFill>
                <a:latin typeface="Arial"/>
              </a:rPr>
              <a:t>.</a:t>
            </a:r>
          </a:p>
        </p:txBody>
      </p:sp>
      <p:sp>
        <p:nvSpPr>
          <p:cNvPr id="7" name="Rectangle 6"/>
          <p:cNvSpPr/>
          <p:nvPr/>
        </p:nvSpPr>
        <p:spPr>
          <a:xfrm>
            <a:off x="4718303" y="1207008"/>
            <a:ext cx="6732727" cy="3369530"/>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4754879" y="1243584"/>
            <a:ext cx="6659575" cy="3296378"/>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4754879" y="1243584"/>
            <a:ext cx="665957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5029199" y="1517904"/>
            <a:ext cx="6110935" cy="283917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7.36</a:t>
            </a:r>
          </a:p>
          <a:p>
            <a:pPr algn="l">
              <a:lnSpc>
                <a:spcPct val="115000"/>
              </a:lnSpc>
              <a:spcBef>
                <a:spcPts val="0"/>
              </a:spcBef>
              <a:spcAft>
                <a:spcPts val="0"/>
              </a:spcAft>
            </a:pPr>
            <a:r>
              <a:rPr sz="1500" b="0" i="0">
                <a:solidFill>
                  <a:srgbClr val="1A1A1A"/>
                </a:solidFill>
                <a:latin typeface="Palatino"/>
              </a:rPr>
              <a:t>The book's two Williams' Oops drawings: a gap down with a buy-stop at the previous low, and a gap up with a sell-stop at the previous high; each stop and reverse level is at the new bar's extreme.</a:t>
            </a:r>
          </a:p>
        </p:txBody>
      </p:sp>
      <p:sp>
        <p:nvSpPr>
          <p:cNvPr id="11" name="Oval 10"/>
          <p:cNvSpPr/>
          <p:nvPr/>
        </p:nvSpPr>
        <p:spPr>
          <a:xfrm>
            <a:off x="9250093" y="2100642"/>
            <a:ext cx="233085" cy="230746"/>
          </a:xfrm>
          <a:prstGeom prst="ellipse">
            <a:avLst/>
          </a:prstGeom>
          <a:noFill/>
          <a:ln w="44450">
            <a:solidFill>
              <a:srgbClr val="E09B00"/>
            </a:solidFill>
          </a:ln>
        </p:spPr>
        <p:txBody>
          <a:bodyPr rtlCol="0" anchor="ctr"/>
          <a:lstStyle/>
          <a:p>
            <a:pPr algn="ctr"/>
          </a:p>
        </p:txBody>
      </p:sp>
      <p:cxnSp>
        <p:nvCxnSpPr>
          <p:cNvPr id="12" name="Connector 11"/>
          <p:cNvCxnSpPr/>
          <p:nvPr/>
        </p:nvCxnSpPr>
        <p:spPr>
          <a:xfrm>
            <a:off x="8550837" y="2595099"/>
            <a:ext cx="1864681" cy="0"/>
          </a:xfrm>
          <a:prstGeom prst="line">
            <a:avLst/>
          </a:prstGeom>
          <a:ln w="44450">
            <a:solidFill>
              <a:srgbClr val="C62828"/>
            </a:solidFill>
          </a:ln>
        </p:spPr>
      </p:cxnSp>
      <p:cxnSp>
        <p:nvCxnSpPr>
          <p:cNvPr id="13" name="Connector 12"/>
          <p:cNvCxnSpPr/>
          <p:nvPr/>
        </p:nvCxnSpPr>
        <p:spPr>
          <a:xfrm>
            <a:off x="8517539" y="2021529"/>
            <a:ext cx="1864681" cy="0"/>
          </a:xfrm>
          <a:prstGeom prst="line">
            <a:avLst/>
          </a:prstGeom>
          <a:ln w="44450">
            <a:solidFill>
              <a:srgbClr val="1F5FAD"/>
            </a:solidFill>
          </a:ln>
        </p:spPr>
      </p:cxnSp>
      <p:sp>
        <p:nvSpPr>
          <p:cNvPr id="14" name="Oval 13"/>
          <p:cNvSpPr/>
          <p:nvPr/>
        </p:nvSpPr>
        <p:spPr>
          <a:xfrm>
            <a:off x="5753816" y="3171965"/>
            <a:ext cx="233085" cy="230746"/>
          </a:xfrm>
          <a:prstGeom prst="ellipse">
            <a:avLst/>
          </a:prstGeom>
          <a:noFill/>
          <a:ln w="44450">
            <a:solidFill>
              <a:srgbClr val="7B3FA0"/>
            </a:solidFill>
          </a:ln>
        </p:spPr>
        <p:txBody>
          <a:bodyPr rtlCol="0" anchor="ctr"/>
          <a:lstStyle/>
          <a:p>
            <a:pPr algn="ctr"/>
          </a:p>
        </p:txBody>
      </p:sp>
      <p:cxnSp>
        <p:nvCxnSpPr>
          <p:cNvPr id="15" name="Connector 14"/>
          <p:cNvCxnSpPr/>
          <p:nvPr/>
        </p:nvCxnSpPr>
        <p:spPr>
          <a:xfrm>
            <a:off x="5154454" y="2875291"/>
            <a:ext cx="1864681" cy="0"/>
          </a:xfrm>
          <a:prstGeom prst="line">
            <a:avLst/>
          </a:prstGeom>
          <a:ln w="44450">
            <a:solidFill>
              <a:srgbClr val="C62828"/>
            </a:solidFill>
          </a:ln>
        </p:spPr>
      </p:cxnSp>
      <p:cxnSp>
        <p:nvCxnSpPr>
          <p:cNvPr id="16" name="Connector 15"/>
          <p:cNvCxnSpPr/>
          <p:nvPr/>
        </p:nvCxnSpPr>
        <p:spPr>
          <a:xfrm>
            <a:off x="5154454" y="3518085"/>
            <a:ext cx="1265319" cy="0"/>
          </a:xfrm>
          <a:prstGeom prst="line">
            <a:avLst/>
          </a:prstGeom>
          <a:ln w="44450">
            <a:solidFill>
              <a:srgbClr val="1F5FAD"/>
            </a:solidFill>
          </a:ln>
        </p:spPr>
      </p:cxnSp>
      <p:sp>
        <p:nvSpPr>
          <p:cNvPr id="17" name="Oval 16"/>
          <p:cNvSpPr/>
          <p:nvPr/>
        </p:nvSpPr>
        <p:spPr>
          <a:xfrm>
            <a:off x="8813252" y="2309602"/>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511443" y="2457939"/>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511443" y="1884369"/>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6049528" y="2968877"/>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Oval 20"/>
          <p:cNvSpPr/>
          <p:nvPr/>
        </p:nvSpPr>
        <p:spPr>
          <a:xfrm>
            <a:off x="4817507" y="2738131"/>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2" name="Oval 21"/>
          <p:cNvSpPr/>
          <p:nvPr/>
        </p:nvSpPr>
        <p:spPr>
          <a:xfrm>
            <a:off x="5283677" y="3628153"/>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6</a:t>
            </a:r>
          </a:p>
        </p:txBody>
      </p:sp>
      <p:sp>
        <p:nvSpPr>
          <p:cNvPr id="23" name="TextBox 22"/>
          <p:cNvSpPr txBox="1"/>
          <p:nvPr/>
        </p:nvSpPr>
        <p:spPr>
          <a:xfrm>
            <a:off x="777240" y="5705856"/>
            <a:ext cx="36576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7.36 - Lim, The Handbook of Technical Analysis (Wiley, 2016)</a:t>
            </a:r>
          </a:p>
        </p:txBody>
      </p:sp>
      <p:sp>
        <p:nvSpPr>
          <p:cNvPr id="24" name="TextBox 2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5 of 20</a:t>
            </a:r>
          </a:p>
        </p:txBody>
      </p:sp>
      <p:sp>
        <p:nvSpPr>
          <p:cNvPr id="25" name="TextBox 2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231, Figure 7.36. The marks are ours, added for teaching.</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bullish Oops is the same rule after a gap down</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bullish Oops is the mirror image. If the new bar opens below the previous bar's low, Lim places a buy-stop entry order at the previous bar's low and a stoploss at the new bar's low (p. 231). Here are prices of ours, and bar 1's low is PHP 48.00. Bar 2 opens at PHP 47.00 </a:t>
            </a:r>
            <a:r>
              <a:rPr sz="1700" b="1" i="0">
                <a:solidFill>
                  <a:srgbClr val="E09B00"/>
                </a:solidFill>
                <a:latin typeface="Arial"/>
              </a:rPr>
              <a:t>(1)</a:t>
            </a:r>
            <a:r>
              <a:rPr sz="1700" b="0" i="0">
                <a:solidFill>
                  <a:srgbClr val="1A1A1A"/>
                </a:solidFill>
                <a:latin typeface="Arial"/>
              </a:rPr>
              <a:t>, below bar 1's low, so as it opens we place a buy-stop at PHP 48.00 </a:t>
            </a:r>
            <a:r>
              <a:rPr sz="1700" b="1" i="0">
                <a:solidFill>
                  <a:srgbClr val="C62828"/>
                </a:solidFill>
                <a:latin typeface="Arial"/>
              </a:rPr>
              <a:t>(2)</a:t>
            </a:r>
            <a:r>
              <a:rPr sz="1700" b="0" i="0">
                <a:solidFill>
                  <a:srgbClr val="1A1A1A"/>
                </a:solidFill>
                <a:latin typeface="Arial"/>
              </a:rPr>
              <a:t> and a stoploss at bar 2's low.</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v-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724643" y="4555540"/>
            <a:ext cx="87782" cy="87782"/>
          </a:xfrm>
          <a:prstGeom prst="ellipse">
            <a:avLst/>
          </a:prstGeom>
          <a:noFill/>
          <a:ln w="44450">
            <a:solidFill>
              <a:srgbClr val="E09B00"/>
            </a:solidFill>
          </a:ln>
        </p:spPr>
        <p:txBody>
          <a:bodyPr rtlCol="0" anchor="ctr"/>
          <a:lstStyle/>
          <a:p>
            <a:pPr algn="ctr"/>
          </a:p>
        </p:txBody>
      </p:sp>
      <p:sp>
        <p:nvSpPr>
          <p:cNvPr id="10" name="Oval 9"/>
          <p:cNvSpPr/>
          <p:nvPr/>
        </p:nvSpPr>
        <p:spPr>
          <a:xfrm>
            <a:off x="9880091" y="4162348"/>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9640519" y="4299508"/>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2" name="Oval 11"/>
          <p:cNvSpPr/>
          <p:nvPr/>
        </p:nvSpPr>
        <p:spPr>
          <a:xfrm>
            <a:off x="9967874" y="4078224"/>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3" name="TextBox 12"/>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V - FIN1209 teaching chart, drawn for this course. Illustrative data, not a real instrument.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6 of 20</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V is ours, with invented PHP values to show Lim (2016), p. 231.</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bullish Oops is the same rule after a gap down</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Bar 2 dips to PHP 46.00 </a:t>
            </a:r>
            <a:r>
              <a:rPr sz="1700" b="1" i="0">
                <a:solidFill>
                  <a:srgbClr val="1F5FAD"/>
                </a:solidFill>
                <a:latin typeface="Arial"/>
              </a:rPr>
              <a:t>(3)</a:t>
            </a:r>
            <a:r>
              <a:rPr sz="1700" b="0" i="0">
                <a:solidFill>
                  <a:srgbClr val="1A1A1A"/>
                </a:solidFill>
                <a:latin typeface="Arial"/>
              </a:rPr>
              <a:t>, where the stoploss now sits, then rises to PHP 49.00, through PHP 48.00, so the buy-stop is filled and we are long. Once we are long, if price fell back through the stoploss at PHP 46.00 </a:t>
            </a:r>
            <a:r>
              <a:rPr sz="1700" b="1" i="0">
                <a:solidFill>
                  <a:srgbClr val="1F5FAD"/>
                </a:solidFill>
                <a:latin typeface="Arial"/>
              </a:rPr>
              <a:t>(3)</a:t>
            </a:r>
            <a:r>
              <a:rPr sz="1700" b="0" i="0">
                <a:solidFill>
                  <a:srgbClr val="1A1A1A"/>
                </a:solidFill>
                <a:latin typeface="Arial"/>
              </a:rPr>
              <a:t>, the stoploss would close the long and the stop and reverse order would go short.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v-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880091" y="4948732"/>
            <a:ext cx="87782" cy="87782"/>
          </a:xfrm>
          <a:prstGeom prst="ellipse">
            <a:avLst/>
          </a:prstGeom>
          <a:noFill/>
          <a:ln w="44450">
            <a:solidFill>
              <a:srgbClr val="1F5FAD"/>
            </a:solidFill>
          </a:ln>
        </p:spPr>
        <p:txBody>
          <a:bodyPr rtlCol="0" anchor="ctr"/>
          <a:lstStyle/>
          <a:p>
            <a:pPr algn="ctr"/>
          </a:p>
        </p:txBody>
      </p:sp>
      <p:sp>
        <p:nvSpPr>
          <p:cNvPr id="10" name="Oval 9"/>
          <p:cNvSpPr/>
          <p:nvPr/>
        </p:nvSpPr>
        <p:spPr>
          <a:xfrm>
            <a:off x="9967874" y="486460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V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7 of 20</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V is ours, with invented PHP values to show Lim (2016), p. 231.</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30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From the two Oops setups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After a gap down, where does Lim place the Williams' Oops buy-stop?</a:t>
            </a:r>
          </a:p>
        </p:txBody>
      </p:sp>
      <p:sp>
        <p:nvSpPr>
          <p:cNvPr id="9" name="TextBox 8"/>
          <p:cNvSpPr txBox="1"/>
          <p:nvPr/>
        </p:nvSpPr>
        <p:spPr>
          <a:xfrm>
            <a:off x="1051560"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At the new bar's low</a:t>
            </a:r>
          </a:p>
          <a:p>
            <a:pPr algn="l">
              <a:lnSpc>
                <a:spcPct val="112000"/>
              </a:lnSpc>
              <a:spcBef>
                <a:spcPts val="0"/>
              </a:spcBef>
              <a:spcAft>
                <a:spcPts val="900"/>
              </a:spcAft>
            </a:pPr>
            <a:r>
              <a:rPr sz="1700" b="0" i="0">
                <a:solidFill>
                  <a:srgbClr val="FFFFFF"/>
                </a:solidFill>
                <a:latin typeface="Arial"/>
              </a:rPr>
              <a:t>B.  At the previous bar's high</a:t>
            </a:r>
          </a:p>
          <a:p>
            <a:pPr algn="l">
              <a:lnSpc>
                <a:spcPct val="112000"/>
              </a:lnSpc>
              <a:spcBef>
                <a:spcPts val="0"/>
              </a:spcBef>
              <a:spcAft>
                <a:spcPts val="900"/>
              </a:spcAft>
            </a:pPr>
            <a:r>
              <a:rPr sz="1700" b="0" i="0">
                <a:solidFill>
                  <a:srgbClr val="FFFFFF"/>
                </a:solidFill>
                <a:latin typeface="Arial"/>
              </a:rPr>
              <a:t>C.  At the previous bar's low</a:t>
            </a:r>
          </a:p>
          <a:p>
            <a:pPr algn="l">
              <a:lnSpc>
                <a:spcPct val="112000"/>
              </a:lnSpc>
              <a:spcBef>
                <a:spcPts val="0"/>
              </a:spcBef>
              <a:spcAft>
                <a:spcPts val="900"/>
              </a:spcAft>
            </a:pPr>
            <a:r>
              <a:rPr sz="1700" b="0" i="0">
                <a:solidFill>
                  <a:srgbClr val="FFFFFF"/>
                </a:solidFill>
                <a:latin typeface="Arial"/>
              </a:rPr>
              <a:t>D.  At the new bar's open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8010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A bearish Oops sell-stop has filled. What does Lim say happens if price then rises through the stoploss?</a:t>
            </a:r>
          </a:p>
        </p:txBody>
      </p:sp>
      <p:sp>
        <p:nvSpPr>
          <p:cNvPr id="13" name="TextBox 12"/>
          <p:cNvSpPr txBox="1"/>
          <p:nvPr/>
        </p:nvSpPr>
        <p:spPr>
          <a:xfrm>
            <a:off x="6690207" y="281863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Nothing; we hold the short</a:t>
            </a:r>
          </a:p>
          <a:p>
            <a:pPr algn="l">
              <a:lnSpc>
                <a:spcPct val="112000"/>
              </a:lnSpc>
              <a:spcBef>
                <a:spcPts val="0"/>
              </a:spcBef>
              <a:spcAft>
                <a:spcPts val="900"/>
              </a:spcAft>
            </a:pPr>
            <a:r>
              <a:rPr sz="1700" b="0" i="0">
                <a:solidFill>
                  <a:srgbClr val="FFFFFF"/>
                </a:solidFill>
                <a:latin typeface="Arial"/>
              </a:rPr>
              <a:t>B.  A stop and reverse order is initiated there</a:t>
            </a:r>
          </a:p>
          <a:p>
            <a:pPr algn="l">
              <a:lnSpc>
                <a:spcPct val="112000"/>
              </a:lnSpc>
              <a:spcBef>
                <a:spcPts val="0"/>
              </a:spcBef>
              <a:spcAft>
                <a:spcPts val="900"/>
              </a:spcAft>
            </a:pPr>
            <a:r>
              <a:rPr sz="1700" b="0" i="0">
                <a:solidFill>
                  <a:srgbClr val="FFFFFF"/>
                </a:solidFill>
                <a:latin typeface="Arial"/>
              </a:rPr>
              <a:t>C.  We add to the short</a:t>
            </a:r>
          </a:p>
          <a:p>
            <a:pPr algn="l">
              <a:lnSpc>
                <a:spcPct val="112000"/>
              </a:lnSpc>
              <a:spcBef>
                <a:spcPts val="0"/>
              </a:spcBef>
              <a:spcAft>
                <a:spcPts val="900"/>
              </a:spcAft>
            </a:pPr>
            <a:r>
              <a:rPr sz="1700" b="0" i="0">
                <a:solidFill>
                  <a:srgbClr val="FFFFFF"/>
                </a:solidFill>
                <a:latin typeface="Arial"/>
              </a:rPr>
              <a:t>D.  We move the stoploss higher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4 - 7.4 Volatility breakouts  |  Check 30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From the two Oops setups</a:t>
            </a:r>
          </a:p>
        </p:txBody>
      </p:sp>
      <p:sp>
        <p:nvSpPr>
          <p:cNvPr id="6" name="Rectangle 5"/>
          <p:cNvSpPr/>
          <p:nvPr/>
        </p:nvSpPr>
        <p:spPr>
          <a:xfrm>
            <a:off x="777240" y="1207008"/>
            <a:ext cx="10637215" cy="190563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05634"/>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After a gap down, where does Lim place the Williams' Oops buy-stop?</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At the previous bar's low</a:t>
            </a:r>
          </a:p>
          <a:p>
            <a:pPr algn="l">
              <a:lnSpc>
                <a:spcPct val="115000"/>
              </a:lnSpc>
              <a:spcBef>
                <a:spcPts val="700"/>
              </a:spcBef>
              <a:spcAft>
                <a:spcPts val="0"/>
              </a:spcAft>
            </a:pPr>
            <a:r>
              <a:rPr sz="1700" b="0" i="0">
                <a:solidFill>
                  <a:srgbClr val="1A1A1A"/>
                </a:solidFill>
                <a:latin typeface="Arial"/>
              </a:rPr>
              <a:t>If the new bar opens below the previous bar's low, Lim places the buy-stop at the previous bar's low; the stoploss goes at the new bar's low (p. 231).</a:t>
            </a:r>
          </a:p>
        </p:txBody>
      </p:sp>
      <p:sp>
        <p:nvSpPr>
          <p:cNvPr id="10" name="Rectangle 9"/>
          <p:cNvSpPr/>
          <p:nvPr/>
        </p:nvSpPr>
        <p:spPr>
          <a:xfrm>
            <a:off x="777240" y="3359531"/>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59531"/>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97275"/>
            <a:ext cx="9905695" cy="588009"/>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A bearish Oops sell-stop has filled. What does Lim say happens if price then rises through the stoploss?</a:t>
            </a:r>
          </a:p>
        </p:txBody>
      </p:sp>
      <p:sp>
        <p:nvSpPr>
          <p:cNvPr id="13" name="TextBox 12"/>
          <p:cNvSpPr txBox="1"/>
          <p:nvPr/>
        </p:nvSpPr>
        <p:spPr>
          <a:xfrm>
            <a:off x="1143000" y="4349877"/>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stop and reverse order is initiated there</a:t>
            </a:r>
          </a:p>
          <a:p>
            <a:pPr algn="l">
              <a:lnSpc>
                <a:spcPct val="115000"/>
              </a:lnSpc>
              <a:spcBef>
                <a:spcPts val="700"/>
              </a:spcBef>
              <a:spcAft>
                <a:spcPts val="0"/>
              </a:spcAft>
            </a:pPr>
            <a:r>
              <a:rPr sz="1700" b="0" i="0">
                <a:solidFill>
                  <a:srgbClr val="1A1A1A"/>
                </a:solidFill>
                <a:latin typeface="Arial"/>
              </a:rPr>
              <a:t>If price reverses, a stop and reverse order is initiated at the stoploss level (p. 231): the short is closed and a long is opened.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Check 30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Figure 7.37 shows a bearish Oops on a real chart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420624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7.37 is Lim's bearish Oops on the daily chart of Dynegy Inc. (p. 231). The marked bar </a:t>
            </a:r>
            <a:r>
              <a:rPr sz="1700" b="1" i="0">
                <a:solidFill>
                  <a:srgbClr val="E09B00"/>
                </a:solidFill>
                <a:latin typeface="Arial"/>
              </a:rPr>
              <a:t>(1)</a:t>
            </a:r>
            <a:r>
              <a:rPr sz="1700" b="0" i="0">
                <a:solidFill>
                  <a:srgbClr val="1A1A1A"/>
                </a:solidFill>
                <a:latin typeface="Arial"/>
              </a:rPr>
              <a:t> opens above the previous bar's high.</a:t>
            </a:r>
          </a:p>
          <a:p>
            <a:pPr algn="l">
              <a:lnSpc>
                <a:spcPct val="105000"/>
              </a:lnSpc>
              <a:spcBef>
                <a:spcPts val="0"/>
              </a:spcBef>
              <a:spcAft>
                <a:spcPts val="1100"/>
              </a:spcAft>
            </a:pPr>
            <a:r>
              <a:rPr sz="1700" b="0" i="0">
                <a:solidFill>
                  <a:srgbClr val="1A1A1A"/>
                </a:solidFill>
                <a:latin typeface="Arial"/>
              </a:rPr>
              <a:t>The book puts the sell-stop at the previous bar's high </a:t>
            </a:r>
            <a:r>
              <a:rPr sz="1700" b="1" i="0">
                <a:solidFill>
                  <a:srgbClr val="C62828"/>
                </a:solidFill>
                <a:latin typeface="Arial"/>
              </a:rPr>
              <a:t>(2)</a:t>
            </a:r>
            <a:r>
              <a:rPr sz="1700" b="0" i="0">
                <a:solidFill>
                  <a:srgbClr val="1A1A1A"/>
                </a:solidFill>
                <a:latin typeface="Arial"/>
              </a:rPr>
              <a:t> and the stop and reverse buy-stop at the current bar's high </a:t>
            </a:r>
            <a:r>
              <a:rPr sz="1700" b="1" i="0">
                <a:solidFill>
                  <a:srgbClr val="1F5FAD"/>
                </a:solidFill>
                <a:latin typeface="Arial"/>
              </a:rPr>
              <a:t>(3)</a:t>
            </a:r>
            <a:r>
              <a:rPr sz="1700" b="0" i="0">
                <a:solidFill>
                  <a:srgbClr val="1A1A1A"/>
                </a:solidFill>
                <a:latin typeface="Arial"/>
              </a:rPr>
              <a:t>. The bar closes below the sell-stop, and the book's arrow shows the expected downside move.</a:t>
            </a:r>
          </a:p>
        </p:txBody>
      </p:sp>
      <p:sp>
        <p:nvSpPr>
          <p:cNvPr id="7" name="Rectangle 6"/>
          <p:cNvSpPr/>
          <p:nvPr/>
        </p:nvSpPr>
        <p:spPr>
          <a:xfrm>
            <a:off x="777240" y="4494276"/>
            <a:ext cx="82296" cy="694944"/>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530852"/>
            <a:ext cx="3913631"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This is Lim's example, not a promise that every Oops works.</a:t>
            </a:r>
          </a:p>
        </p:txBody>
      </p:sp>
      <p:sp>
        <p:nvSpPr>
          <p:cNvPr id="9" name="Rectangle 8"/>
          <p:cNvSpPr/>
          <p:nvPr/>
        </p:nvSpPr>
        <p:spPr>
          <a:xfrm>
            <a:off x="5266943" y="1207008"/>
            <a:ext cx="6184087" cy="4318893"/>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303519" y="1243584"/>
            <a:ext cx="6110935" cy="4245741"/>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303519" y="1243584"/>
            <a:ext cx="611093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5577839" y="1517904"/>
            <a:ext cx="5562295" cy="378854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7.37</a:t>
            </a:r>
          </a:p>
          <a:p>
            <a:pPr algn="l">
              <a:lnSpc>
                <a:spcPct val="115000"/>
              </a:lnSpc>
              <a:spcBef>
                <a:spcPts val="0"/>
              </a:spcBef>
              <a:spcAft>
                <a:spcPts val="0"/>
              </a:spcAft>
            </a:pPr>
            <a:r>
              <a:rPr sz="1500" b="0" i="0">
                <a:solidFill>
                  <a:srgbClr val="1A1A1A"/>
                </a:solidFill>
                <a:latin typeface="Palatino"/>
              </a:rPr>
              <a:t>The right side of the book's daily Dynegy chart: the bearish Oops bar, the sell-stop at the previous bar's high, the stop and reverse buy-stop at the current bar's high, and the expected downside move.</a:t>
            </a:r>
          </a:p>
        </p:txBody>
      </p:sp>
      <p:sp>
        <p:nvSpPr>
          <p:cNvPr id="13" name="Rectangle 12"/>
          <p:cNvSpPr/>
          <p:nvPr/>
        </p:nvSpPr>
        <p:spPr>
          <a:xfrm>
            <a:off x="8896749" y="3526094"/>
            <a:ext cx="164995" cy="712010"/>
          </a:xfrm>
          <a:prstGeom prst="rect">
            <a:avLst/>
          </a:prstGeom>
          <a:noFill/>
          <a:ln w="44450">
            <a:solidFill>
              <a:srgbClr val="E09B00"/>
            </a:solidFill>
          </a:ln>
        </p:spPr>
        <p:txBody>
          <a:bodyPr rtlCol="0" anchor="ctr"/>
          <a:lstStyle/>
          <a:p>
            <a:pPr algn="ctr"/>
          </a:p>
        </p:txBody>
      </p:sp>
      <p:cxnSp>
        <p:nvCxnSpPr>
          <p:cNvPr id="14" name="Connector 13"/>
          <p:cNvCxnSpPr/>
          <p:nvPr/>
        </p:nvCxnSpPr>
        <p:spPr>
          <a:xfrm>
            <a:off x="8731754" y="3806738"/>
            <a:ext cx="1588843" cy="0"/>
          </a:xfrm>
          <a:prstGeom prst="line">
            <a:avLst/>
          </a:prstGeom>
          <a:ln w="44450">
            <a:solidFill>
              <a:srgbClr val="C62828"/>
            </a:solidFill>
          </a:ln>
        </p:spPr>
      </p:cxnSp>
      <p:cxnSp>
        <p:nvCxnSpPr>
          <p:cNvPr id="15" name="Connector 14"/>
          <p:cNvCxnSpPr/>
          <p:nvPr/>
        </p:nvCxnSpPr>
        <p:spPr>
          <a:xfrm>
            <a:off x="8603424" y="3582138"/>
            <a:ext cx="1717173" cy="0"/>
          </a:xfrm>
          <a:prstGeom prst="line">
            <a:avLst/>
          </a:prstGeom>
          <a:ln w="44450">
            <a:solidFill>
              <a:srgbClr val="1F5FAD"/>
            </a:solidFill>
          </a:ln>
        </p:spPr>
      </p:cxnSp>
      <p:sp>
        <p:nvSpPr>
          <p:cNvPr id="16" name="Oval 15"/>
          <p:cNvSpPr/>
          <p:nvPr/>
        </p:nvSpPr>
        <p:spPr>
          <a:xfrm>
            <a:off x="8631260" y="3259439"/>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421764" y="3734538"/>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10421764" y="3194904"/>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TextBox 18"/>
          <p:cNvSpPr txBox="1"/>
          <p:nvPr/>
        </p:nvSpPr>
        <p:spPr>
          <a:xfrm>
            <a:off x="777240" y="5705856"/>
            <a:ext cx="420624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7.37 - Lim, The Handbook of Technical Analysis (Wiley, 2016)</a:t>
            </a:r>
          </a:p>
        </p:txBody>
      </p:sp>
      <p:sp>
        <p:nvSpPr>
          <p:cNvPr id="20" name="TextBox 19"/>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8 of 20</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231, Figure 7.37. The crop and marks are ours, added for teaching.</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Lim looks for each Oops in the direction of the trend</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6576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Lim adds when to look: a bullish Oops in an uptrend and a bearish Oops in a downtrend (p. 231).</a:t>
            </a:r>
          </a:p>
          <a:p>
            <a:pPr algn="l">
              <a:lnSpc>
                <a:spcPct val="105000"/>
              </a:lnSpc>
              <a:spcBef>
                <a:spcPts val="0"/>
              </a:spcBef>
              <a:spcAft>
                <a:spcPts val="1100"/>
              </a:spcAft>
            </a:pPr>
            <a:r>
              <a:rPr sz="1700" b="0" i="0">
                <a:solidFill>
                  <a:srgbClr val="1A1A1A"/>
                </a:solidFill>
                <a:latin typeface="Arial"/>
              </a:rPr>
              <a:t>In Figure 7.37, Dynegy falls steeply </a:t>
            </a:r>
            <a:r>
              <a:rPr sz="1700" b="1" i="0">
                <a:solidFill>
                  <a:srgbClr val="E09B00"/>
                </a:solidFill>
                <a:latin typeface="Arial"/>
              </a:rPr>
              <a:t>(1)</a:t>
            </a:r>
            <a:r>
              <a:rPr sz="1700" b="0" i="0">
                <a:solidFill>
                  <a:srgbClr val="1A1A1A"/>
                </a:solidFill>
                <a:latin typeface="Arial"/>
              </a:rPr>
              <a:t>, then drifts sideways, so the bearish Oops </a:t>
            </a:r>
            <a:r>
              <a:rPr sz="1700" b="1" i="0">
                <a:solidFill>
                  <a:srgbClr val="C62828"/>
                </a:solidFill>
                <a:latin typeface="Arial"/>
              </a:rPr>
              <a:t>(2)</a:t>
            </a:r>
            <a:r>
              <a:rPr sz="1700" b="0" i="0">
                <a:solidFill>
                  <a:srgbClr val="1A1A1A"/>
                </a:solidFill>
                <a:latin typeface="Arial"/>
              </a:rPr>
              <a:t> comes after a fall.</a:t>
            </a:r>
          </a:p>
          <a:p>
            <a:pPr algn="l">
              <a:lnSpc>
                <a:spcPct val="105000"/>
              </a:lnSpc>
              <a:spcBef>
                <a:spcPts val="0"/>
              </a:spcBef>
              <a:spcAft>
                <a:spcPts val="1100"/>
              </a:spcAft>
            </a:pPr>
            <a:r>
              <a:rPr sz="1700" b="0" i="0">
                <a:solidFill>
                  <a:srgbClr val="1A1A1A"/>
                </a:solidFill>
                <a:latin typeface="Arial"/>
              </a:rPr>
              <a:t>Lim says the morning and evening star, piercing line and dark cloud cover candlesticks can help find setups; Chapter 7 does not define them.</a:t>
            </a:r>
          </a:p>
        </p:txBody>
      </p:sp>
      <p:sp>
        <p:nvSpPr>
          <p:cNvPr id="7" name="Rectangle 6"/>
          <p:cNvSpPr/>
          <p:nvPr/>
        </p:nvSpPr>
        <p:spPr>
          <a:xfrm>
            <a:off x="4718303" y="1207008"/>
            <a:ext cx="6732727" cy="3074400"/>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4754879" y="1243584"/>
            <a:ext cx="6659575" cy="3001248"/>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4754879" y="1243584"/>
            <a:ext cx="665957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5029199" y="1517904"/>
            <a:ext cx="6110935" cy="254404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7.37</a:t>
            </a:r>
          </a:p>
          <a:p>
            <a:pPr algn="l">
              <a:lnSpc>
                <a:spcPct val="115000"/>
              </a:lnSpc>
              <a:spcBef>
                <a:spcPts val="0"/>
              </a:spcBef>
              <a:spcAft>
                <a:spcPts val="0"/>
              </a:spcAft>
            </a:pPr>
            <a:r>
              <a:rPr sz="1500" b="0" i="0">
                <a:solidFill>
                  <a:srgbClr val="1A1A1A"/>
                </a:solidFill>
                <a:latin typeface="Palatino"/>
              </a:rPr>
              <a:t>The book's whole daily Dynegy chart: a steep fall, a sideways stretch, and the bearish Oops bar.</a:t>
            </a:r>
          </a:p>
        </p:txBody>
      </p:sp>
      <p:cxnSp>
        <p:nvCxnSpPr>
          <p:cNvPr id="11" name="Connector 10"/>
          <p:cNvCxnSpPr/>
          <p:nvPr/>
        </p:nvCxnSpPr>
        <p:spPr>
          <a:xfrm>
            <a:off x="5554028" y="1543708"/>
            <a:ext cx="599362" cy="1260525"/>
          </a:xfrm>
          <a:prstGeom prst="line">
            <a:avLst/>
          </a:prstGeom>
          <a:ln w="44450">
            <a:solidFill>
              <a:srgbClr val="E09B00"/>
            </a:solidFill>
            <a:tailEnd type="triangle" w="med" len="med"/>
          </a:ln>
        </p:spPr>
      </p:cxnSp>
      <p:sp>
        <p:nvSpPr>
          <p:cNvPr id="12" name="Rectangle 11"/>
          <p:cNvSpPr/>
          <p:nvPr/>
        </p:nvSpPr>
        <p:spPr>
          <a:xfrm>
            <a:off x="9769539" y="2954295"/>
            <a:ext cx="106553" cy="480199"/>
          </a:xfrm>
          <a:prstGeom prst="rect">
            <a:avLst/>
          </a:prstGeom>
          <a:noFill/>
          <a:ln w="44450">
            <a:solidFill>
              <a:srgbClr val="C62828"/>
            </a:solidFill>
          </a:ln>
        </p:spPr>
        <p:txBody>
          <a:bodyPr rtlCol="0" anchor="ctr"/>
          <a:lstStyle/>
          <a:p>
            <a:pPr algn="ctr"/>
          </a:p>
        </p:txBody>
      </p:sp>
      <p:sp>
        <p:nvSpPr>
          <p:cNvPr id="13" name="Oval 12"/>
          <p:cNvSpPr/>
          <p:nvPr/>
        </p:nvSpPr>
        <p:spPr>
          <a:xfrm>
            <a:off x="6082826" y="2006798"/>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011975" y="2517010"/>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36576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7.37 -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9 of 20</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231, Figure 7.37. The marks are ours, added for teaching.</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ID/NR looks for the quietest bar, sitting inside the one before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10 of 20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second pattern is the Inside Day Narrow Range pattern, or ID/NR. Lim calls it a volatility breakout pattern and says an ID/NR n pattern is an inside day breakout from the narrowest bar over the last n days (p. 232).</a:t>
            </a:r>
          </a:p>
          <a:p>
            <a:pPr algn="l">
              <a:lnSpc>
                <a:spcPct val="118000"/>
              </a:lnSpc>
              <a:spcBef>
                <a:spcPts val="0"/>
              </a:spcBef>
              <a:spcAft>
                <a:spcPts val="1300"/>
              </a:spcAft>
            </a:pPr>
            <a:r>
              <a:rPr sz="2100" b="0" i="0">
                <a:solidFill>
                  <a:srgbClr val="1A1A1A"/>
                </a:solidFill>
                <a:latin typeface="Arial"/>
              </a:rPr>
              <a:t>It joins two ideas we already have. An inside day is a bar whose high and low stay within the previous bar's range, the inside bar of Part 3. Narrow range uses Part 1's range, the high minus the low: the bar must be the narrowest of the last n bars.</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232, with the inside bar from Part 3 and the range from Part 1.</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Lim calls ID/NR a volatility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11 of 20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Lim names ID/NR a volatility breakout pattern but gives no further reason. Our plain reading is that the narrowest bar in a while is the quietest one, so the breakout comes out of low volatility.</a:t>
            </a:r>
          </a:p>
          <a:p>
            <a:pPr algn="l">
              <a:lnSpc>
                <a:spcPct val="118000"/>
              </a:lnSpc>
              <a:spcBef>
                <a:spcPts val="0"/>
              </a:spcBef>
              <a:spcAft>
                <a:spcPts val="1300"/>
              </a:spcAft>
            </a:pPr>
            <a:r>
              <a:rPr sz="2100" b="0" i="0">
                <a:solidFill>
                  <a:srgbClr val="1A1A1A"/>
                </a:solidFill>
                <a:latin typeface="Arial"/>
              </a:rPr>
              <a:t>He does say the pattern has no bearish or bullish sentiment associated with it: the breakout can occur in either direction (p. 232).</a:t>
            </a:r>
          </a:p>
        </p:txBody>
      </p:sp>
      <p:sp>
        <p:nvSpPr>
          <p:cNvPr id="8" name="Rectangle 7"/>
          <p:cNvSpPr/>
          <p:nvPr/>
        </p:nvSpPr>
        <p:spPr>
          <a:xfrm>
            <a:off x="777240" y="421614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5272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ID/NR tells us when to watch, not which way price will go.</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232.</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ID/NR6 with prices of ours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Here are six daily bars of ours, with each range, the high minus the low, written under its bar. The ranges are 4.0, 3.2, 2.8, 2.1, 1.6 and 1.2, so each bar is quieter than the one before. Bar 6's range of 1.2 is the narrowest of all six </a:t>
            </a:r>
            <a:r>
              <a:rPr sz="1700" b="1" i="0">
                <a:solidFill>
                  <a:srgbClr val="E09B00"/>
                </a:solidFill>
                <a:latin typeface="Arial"/>
              </a:rPr>
              <a:t>(1)</a:t>
            </a:r>
            <a:r>
              <a:rPr sz="1700" b="0" i="0">
                <a:solidFill>
                  <a:srgbClr val="1A1A1A"/>
                </a:solidFill>
                <a:latin typeface="Arial"/>
              </a:rPr>
              <a:t>, and its high of 54.60 and low of 53.40 stay inside bar 5's range, 53.20 to 54.80.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o-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9722814" y="3545677"/>
            <a:ext cx="0" cy="377464"/>
          </a:xfrm>
          <a:prstGeom prst="line">
            <a:avLst/>
          </a:prstGeom>
          <a:ln w="44450">
            <a:solidFill>
              <a:srgbClr val="E09B00"/>
            </a:solidFill>
          </a:ln>
        </p:spPr>
      </p:cxnSp>
      <p:sp>
        <p:nvSpPr>
          <p:cNvPr id="10" name="Oval 9"/>
          <p:cNvSpPr/>
          <p:nvPr/>
        </p:nvSpPr>
        <p:spPr>
          <a:xfrm>
            <a:off x="9192462" y="360639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O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12 of 20</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O is ours, with invented PHP ranges to show Lim (2016), p. 232.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Here is an ID/NR6 with prices of ours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That makes bar 6 an inside day and the narrowest of the last six bars </a:t>
            </a:r>
            <a:r>
              <a:rPr sz="1700" b="1" i="0">
                <a:solidFill>
                  <a:srgbClr val="E09B00"/>
                </a:solidFill>
                <a:latin typeface="Arial"/>
              </a:rPr>
              <a:t>(1)</a:t>
            </a:r>
            <a:r>
              <a:rPr sz="1700" b="0" i="0">
                <a:solidFill>
                  <a:srgbClr val="1A1A1A"/>
                </a:solidFill>
                <a:latin typeface="Arial"/>
              </a:rPr>
              <a:t>: an ID/NR6. We set the trigger levels where Lim's drawing on the next slide puts them, at the bar that holds the inside bar: a long trigger at bar 5's high, PHP 54.80 </a:t>
            </a:r>
            <a:r>
              <a:rPr sz="1700" b="1" i="0">
                <a:solidFill>
                  <a:srgbClr val="C62828"/>
                </a:solidFill>
                <a:latin typeface="Arial"/>
              </a:rPr>
              <a:t>(2)</a:t>
            </a:r>
            <a:r>
              <a:rPr sz="1700" b="0" i="0">
                <a:solidFill>
                  <a:srgbClr val="1A1A1A"/>
                </a:solidFill>
                <a:latin typeface="Arial"/>
              </a:rPr>
              <a:t>, and a short trigger at its low, PHP 53.20 </a:t>
            </a:r>
            <a:r>
              <a:rPr sz="1700" b="1" i="0">
                <a:solidFill>
                  <a:srgbClr val="1F5FAD"/>
                </a:solidFill>
                <a:latin typeface="Arial"/>
              </a:rPr>
              <a:t>(3)</a:t>
            </a:r>
            <a:r>
              <a:rPr sz="1700" b="0" i="0">
                <a:solidFill>
                  <a:srgbClr val="1A1A1A"/>
                </a:solidFill>
                <a:latin typeface="Arial"/>
              </a:rPr>
              <a:t>. A break above 54.80 points up; a break below 53.20 points down.</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o-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9722814" y="3545677"/>
            <a:ext cx="0" cy="377464"/>
          </a:xfrm>
          <a:prstGeom prst="line">
            <a:avLst/>
          </a:prstGeom>
          <a:ln w="44450">
            <a:solidFill>
              <a:srgbClr val="E09B00"/>
            </a:solidFill>
          </a:ln>
        </p:spPr>
      </p:cxnSp>
      <p:sp>
        <p:nvSpPr>
          <p:cNvPr id="10" name="Oval 9"/>
          <p:cNvSpPr/>
          <p:nvPr/>
        </p:nvSpPr>
        <p:spPr>
          <a:xfrm>
            <a:off x="8321405" y="3438875"/>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8321405" y="3942161"/>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9192462" y="3606393"/>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8067985" y="3324899"/>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8409188" y="3858036"/>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O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13 of 20</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O is ours, with invented PHP ranges to show Lim (2016), p. 232.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Figure 7.38 is Lim's drawing of an ID/NR6</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4864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7.38 is Lim's ID/NR6 (p. 232). Count back six bars, 2 to 7 </a:t>
            </a:r>
            <a:r>
              <a:rPr sz="1700" b="1" i="0">
                <a:solidFill>
                  <a:srgbClr val="E09B00"/>
                </a:solidFill>
                <a:latin typeface="Arial"/>
              </a:rPr>
              <a:t>(1)</a:t>
            </a:r>
            <a:r>
              <a:rPr sz="1700" b="0" i="0">
                <a:solidFill>
                  <a:srgbClr val="1A1A1A"/>
                </a:solidFill>
                <a:latin typeface="Arial"/>
              </a:rPr>
              <a:t>. The book's arrow points to bar 7 and calls it an inside bar that has the narrowest range of the last six bars: it sits within bar 6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The two dotted lines are the book's long trigger level </a:t>
            </a:r>
            <a:r>
              <a:rPr sz="1700" b="1" i="0">
                <a:solidFill>
                  <a:srgbClr val="1F5FAD"/>
                </a:solidFill>
                <a:latin typeface="Arial"/>
              </a:rPr>
              <a:t>(3)</a:t>
            </a:r>
            <a:r>
              <a:rPr sz="1700" b="0" i="0">
                <a:solidFill>
                  <a:srgbClr val="1A1A1A"/>
                </a:solidFill>
                <a:latin typeface="Arial"/>
              </a:rPr>
              <a:t> and short trigger level </a:t>
            </a:r>
            <a:r>
              <a:rPr sz="1700" b="1" i="0">
                <a:solidFill>
                  <a:srgbClr val="7B3FA0"/>
                </a:solidFill>
                <a:latin typeface="Arial"/>
              </a:rPr>
              <a:t>(4)</a:t>
            </a:r>
            <a:r>
              <a:rPr sz="1700" b="0" i="0">
                <a:solidFill>
                  <a:srgbClr val="1A1A1A"/>
                </a:solidFill>
                <a:latin typeface="Arial"/>
              </a:rPr>
              <a:t>. They run from the high and low of bar 6, the bar that holds the inside bar.</a:t>
            </a:r>
          </a:p>
        </p:txBody>
      </p:sp>
      <p:sp>
        <p:nvSpPr>
          <p:cNvPr id="7" name="Rectangle 6"/>
          <p:cNvSpPr/>
          <p:nvPr/>
        </p:nvSpPr>
        <p:spPr>
          <a:xfrm>
            <a:off x="777240" y="4222242"/>
            <a:ext cx="82296" cy="694944"/>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258818"/>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Six bars counted, one inside bar, and two triggers waiting.</a:t>
            </a:r>
          </a:p>
        </p:txBody>
      </p:sp>
      <p:sp>
        <p:nvSpPr>
          <p:cNvPr id="9" name="Rectangle 8"/>
          <p:cNvSpPr/>
          <p:nvPr/>
        </p:nvSpPr>
        <p:spPr>
          <a:xfrm>
            <a:off x="6578543" y="1207008"/>
            <a:ext cx="4841048" cy="493775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615119" y="1243584"/>
            <a:ext cx="4767896" cy="486460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615119" y="1243584"/>
            <a:ext cx="4767896"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889439" y="1517904"/>
            <a:ext cx="4219256" cy="440740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7.38</a:t>
            </a:r>
          </a:p>
          <a:p>
            <a:pPr algn="l">
              <a:lnSpc>
                <a:spcPct val="115000"/>
              </a:lnSpc>
              <a:spcBef>
                <a:spcPts val="0"/>
              </a:spcBef>
              <a:spcAft>
                <a:spcPts val="0"/>
              </a:spcAft>
            </a:pPr>
            <a:r>
              <a:rPr sz="1500" b="0" i="0">
                <a:solidFill>
                  <a:srgbClr val="1A1A1A"/>
                </a:solidFill>
                <a:latin typeface="Palatino"/>
              </a:rPr>
              <a:t>The book's ID/NR6 drawing: seven numbered bars, bar 7 labelled as the inside bar with the narrowest range of the last six, and long and short trigger levels at bar 6's high and low.</a:t>
            </a:r>
          </a:p>
        </p:txBody>
      </p:sp>
      <p:cxnSp>
        <p:nvCxnSpPr>
          <p:cNvPr id="13" name="Connector 12"/>
          <p:cNvCxnSpPr/>
          <p:nvPr/>
        </p:nvCxnSpPr>
        <p:spPr>
          <a:xfrm>
            <a:off x="6996551" y="5427146"/>
            <a:ext cx="1668763" cy="0"/>
          </a:xfrm>
          <a:prstGeom prst="line">
            <a:avLst/>
          </a:prstGeom>
          <a:ln w="44450">
            <a:solidFill>
              <a:srgbClr val="E09B00"/>
            </a:solidFill>
          </a:ln>
        </p:spPr>
      </p:cxnSp>
      <p:sp>
        <p:nvSpPr>
          <p:cNvPr id="14" name="Rectangle 13"/>
          <p:cNvSpPr/>
          <p:nvPr/>
        </p:nvSpPr>
        <p:spPr>
          <a:xfrm>
            <a:off x="8331562" y="4040733"/>
            <a:ext cx="476789" cy="802660"/>
          </a:xfrm>
          <a:prstGeom prst="rect">
            <a:avLst/>
          </a:prstGeom>
          <a:noFill/>
          <a:ln w="44450">
            <a:solidFill>
              <a:srgbClr val="C62828"/>
            </a:solidFill>
          </a:ln>
        </p:spPr>
        <p:txBody>
          <a:bodyPr rtlCol="0" anchor="ctr"/>
          <a:lstStyle/>
          <a:p>
            <a:pPr algn="ctr"/>
          </a:p>
        </p:txBody>
      </p:sp>
      <p:cxnSp>
        <p:nvCxnSpPr>
          <p:cNvPr id="15" name="Connector 14"/>
          <p:cNvCxnSpPr/>
          <p:nvPr/>
        </p:nvCxnSpPr>
        <p:spPr>
          <a:xfrm>
            <a:off x="9142104" y="4089379"/>
            <a:ext cx="429111" cy="0"/>
          </a:xfrm>
          <a:prstGeom prst="line">
            <a:avLst/>
          </a:prstGeom>
          <a:ln w="44450">
            <a:solidFill>
              <a:srgbClr val="1F5FAD"/>
            </a:solidFill>
          </a:ln>
        </p:spPr>
      </p:cxnSp>
      <p:cxnSp>
        <p:nvCxnSpPr>
          <p:cNvPr id="16" name="Connector 15"/>
          <p:cNvCxnSpPr/>
          <p:nvPr/>
        </p:nvCxnSpPr>
        <p:spPr>
          <a:xfrm>
            <a:off x="9142104" y="4746101"/>
            <a:ext cx="429111" cy="0"/>
          </a:xfrm>
          <a:prstGeom prst="line">
            <a:avLst/>
          </a:prstGeom>
          <a:ln w="44450">
            <a:solidFill>
              <a:srgbClr val="7B3FA0"/>
            </a:solidFill>
          </a:ln>
        </p:spPr>
      </p:cxnSp>
      <p:sp>
        <p:nvSpPr>
          <p:cNvPr id="17" name="Oval 16"/>
          <p:cNvSpPr/>
          <p:nvPr/>
        </p:nvSpPr>
        <p:spPr>
          <a:xfrm>
            <a:off x="6692514" y="5289986"/>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8385117" y="4925141"/>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219499" y="4195450"/>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Oval 19"/>
          <p:cNvSpPr/>
          <p:nvPr/>
        </p:nvSpPr>
        <p:spPr>
          <a:xfrm>
            <a:off x="9219499" y="4852172"/>
            <a:ext cx="274320" cy="274320"/>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1" name="TextBox 20"/>
          <p:cNvSpPr txBox="1"/>
          <p:nvPr/>
        </p:nvSpPr>
        <p:spPr>
          <a:xfrm>
            <a:off x="777240" y="5705856"/>
            <a:ext cx="54864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7.38 - Lim, The Handbook of Technical Analysis (Wiley, 2016)</a:t>
            </a:r>
          </a:p>
        </p:txBody>
      </p:sp>
      <p:sp>
        <p:nvSpPr>
          <p:cNvPr id="22" name="TextBox 2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14 of 20</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232, Figure 7.38. The marks are ours, added for teaching.</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number in ID/NR says how many bars to count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The n in ID/NR n is how many bars we count back, the last bar included. The book's heading runs from ID/NR4 to ID/NR7 (p. 232). The table counts back from bar 7 through seven bars of ours with ranges 1.0, 4.0, 3.2, 2.8, 2.1, 1.6 and 1.2. Counting four, five or six bars back, bar 7's range of 1.2 is the narrowest, so bar 7 is an NR4, an NR5 and an NR6 at once </a:t>
            </a:r>
            <a:r>
              <a:rPr sz="1700" b="1" i="0">
                <a:solidFill>
                  <a:srgbClr val="E09B00"/>
                </a:solidFill>
                <a:latin typeface="Arial"/>
              </a:rPr>
              <a:t>(1)</a:t>
            </a:r>
            <a:r>
              <a:rPr sz="1700" b="0" i="0">
                <a:solidFill>
                  <a:srgbClr val="1A1A1A"/>
                </a:solidFill>
                <a:latin typeface="Arial"/>
              </a:rPr>
              <a: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t-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9354312" y="4096512"/>
            <a:ext cx="0" cy="896111"/>
          </a:xfrm>
          <a:prstGeom prst="line">
            <a:avLst/>
          </a:prstGeom>
          <a:ln w="44450">
            <a:solidFill>
              <a:srgbClr val="E09B00"/>
            </a:solidFill>
          </a:ln>
        </p:spPr>
      </p:cxnSp>
      <p:sp>
        <p:nvSpPr>
          <p:cNvPr id="10" name="Oval 9"/>
          <p:cNvSpPr/>
          <p:nvPr/>
        </p:nvSpPr>
        <p:spPr>
          <a:xfrm>
            <a:off x="9377172" y="4416552"/>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15 of 20</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T is ours, with invented ranges to show Lim (2016), p. 232.</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number in ID/NR says how many bars to count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Counting seven bars brings in bar 1's range of 1.0, so bar 7 is not an NR7 </a:t>
            </a:r>
            <a:r>
              <a:rPr sz="1700" b="1" i="0">
                <a:solidFill>
                  <a:srgbClr val="C62828"/>
                </a:solidFill>
                <a:latin typeface="Arial"/>
              </a:rPr>
              <a:t>(2)</a:t>
            </a:r>
            <a:r>
              <a:rPr sz="1700" b="0" i="0">
                <a:solidFill>
                  <a:srgbClr val="1A1A1A"/>
                </a:solidFill>
                <a:latin typeface="Arial"/>
              </a:rPr>
              <a:t>. The number says how far back the bar is the narrowest.</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t-0.png"/>
          <p:cNvPicPr>
            <a:picLocks noChangeAspect="1"/>
          </p:cNvPicPr>
          <p:nvPr/>
        </p:nvPicPr>
        <p:blipFill>
          <a:blip r:embed="rId2"/>
          <a:stretch>
            <a:fillRect/>
          </a:stretch>
        </p:blipFill>
        <p:spPr>
          <a:xfrm>
            <a:off x="896112" y="2395728"/>
            <a:ext cx="10399471" cy="3511296"/>
          </a:xfrm>
          <a:prstGeom prst="rect">
            <a:avLst/>
          </a:prstGeom>
        </p:spPr>
      </p:pic>
      <p:sp>
        <p:nvSpPr>
          <p:cNvPr id="9" name="Oval 8"/>
          <p:cNvSpPr/>
          <p:nvPr/>
        </p:nvSpPr>
        <p:spPr>
          <a:xfrm>
            <a:off x="9310420" y="5159044"/>
            <a:ext cx="87782" cy="87782"/>
          </a:xfrm>
          <a:prstGeom prst="ellipse">
            <a:avLst/>
          </a:prstGeom>
          <a:noFill/>
          <a:ln w="44450">
            <a:solidFill>
              <a:srgbClr val="C62828"/>
            </a:solidFill>
          </a:ln>
        </p:spPr>
        <p:txBody>
          <a:bodyPr rtlCol="0" anchor="ctr"/>
          <a:lstStyle/>
          <a:p>
            <a:pPr algn="ctr"/>
          </a:p>
        </p:txBody>
      </p:sp>
      <p:sp>
        <p:nvSpPr>
          <p:cNvPr id="10" name="Oval 9"/>
          <p:cNvSpPr/>
          <p:nvPr/>
        </p:nvSpPr>
        <p:spPr>
          <a:xfrm>
            <a:off x="9398203" y="5074920"/>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T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16 of 20</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T is ours, with invented ranges to show Lim (2016), p. 232.</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31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Counting an ID/NR pattern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5432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does the 6 in ID/NR6 count?</a:t>
            </a:r>
          </a:p>
        </p:txBody>
      </p:sp>
      <p:sp>
        <p:nvSpPr>
          <p:cNvPr id="9" name="TextBox 8"/>
          <p:cNvSpPr txBox="1"/>
          <p:nvPr/>
        </p:nvSpPr>
        <p:spPr>
          <a:xfrm>
            <a:off x="1051560"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Six inside days in a row</a:t>
            </a:r>
          </a:p>
          <a:p>
            <a:pPr algn="l">
              <a:lnSpc>
                <a:spcPct val="112000"/>
              </a:lnSpc>
              <a:spcBef>
                <a:spcPts val="0"/>
              </a:spcBef>
              <a:spcAft>
                <a:spcPts val="900"/>
              </a:spcAft>
            </a:pPr>
            <a:r>
              <a:rPr sz="1700" b="0" i="0">
                <a:solidFill>
                  <a:srgbClr val="FFFFFF"/>
                </a:solidFill>
                <a:latin typeface="Arial"/>
              </a:rPr>
              <a:t>B.  Six days of rising volume</a:t>
            </a:r>
          </a:p>
          <a:p>
            <a:pPr algn="l">
              <a:lnSpc>
                <a:spcPct val="112000"/>
              </a:lnSpc>
              <a:spcBef>
                <a:spcPts val="0"/>
              </a:spcBef>
              <a:spcAft>
                <a:spcPts val="900"/>
              </a:spcAft>
            </a:pPr>
            <a:r>
              <a:rPr sz="1700" b="0" i="0">
                <a:solidFill>
                  <a:srgbClr val="FFFFFF"/>
                </a:solidFill>
                <a:latin typeface="Arial"/>
              </a:rPr>
              <a:t>C.  Six bars after the breakout</a:t>
            </a:r>
          </a:p>
          <a:p>
            <a:pPr algn="l">
              <a:lnSpc>
                <a:spcPct val="112000"/>
              </a:lnSpc>
              <a:spcBef>
                <a:spcPts val="0"/>
              </a:spcBef>
              <a:spcAft>
                <a:spcPts val="900"/>
              </a:spcAft>
            </a:pPr>
            <a:r>
              <a:rPr sz="1700" b="0" i="0">
                <a:solidFill>
                  <a:srgbClr val="FFFFFF"/>
                </a:solidFill>
                <a:latin typeface="Arial"/>
              </a:rPr>
              <a:t>D.  The last six bars, the inside bar included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Does an ID/NR pattern carry bullish sentiment?</a:t>
            </a:r>
          </a:p>
        </p:txBody>
      </p:sp>
      <p:sp>
        <p:nvSpPr>
          <p:cNvPr id="13" name="TextBox 12"/>
          <p:cNvSpPr txBox="1"/>
          <p:nvPr/>
        </p:nvSpPr>
        <p:spPr>
          <a:xfrm>
            <a:off x="6690207"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No; Lim says it has no bearish or bullish sentiment</a:t>
            </a:r>
          </a:p>
          <a:p>
            <a:pPr algn="l">
              <a:lnSpc>
                <a:spcPct val="112000"/>
              </a:lnSpc>
              <a:spcBef>
                <a:spcPts val="0"/>
              </a:spcBef>
              <a:spcAft>
                <a:spcPts val="900"/>
              </a:spcAft>
            </a:pPr>
            <a:r>
              <a:rPr sz="1700" b="0" i="0">
                <a:solidFill>
                  <a:srgbClr val="FFFFFF"/>
                </a:solidFill>
                <a:latin typeface="Arial"/>
              </a:rPr>
              <a:t>B.  Yes; it always breaks upward</a:t>
            </a:r>
          </a:p>
          <a:p>
            <a:pPr algn="l">
              <a:lnSpc>
                <a:spcPct val="112000"/>
              </a:lnSpc>
              <a:spcBef>
                <a:spcPts val="0"/>
              </a:spcBef>
              <a:spcAft>
                <a:spcPts val="900"/>
              </a:spcAft>
            </a:pPr>
            <a:r>
              <a:rPr sz="1700" b="0" i="0">
                <a:solidFill>
                  <a:srgbClr val="FFFFFF"/>
                </a:solidFill>
                <a:latin typeface="Arial"/>
              </a:rPr>
              <a:t>C.  Only in an uptrend</a:t>
            </a:r>
          </a:p>
          <a:p>
            <a:pPr algn="l">
              <a:lnSpc>
                <a:spcPct val="112000"/>
              </a:lnSpc>
              <a:spcBef>
                <a:spcPts val="0"/>
              </a:spcBef>
              <a:spcAft>
                <a:spcPts val="900"/>
              </a:spcAft>
            </a:pPr>
            <a:r>
              <a:rPr sz="1700" b="0" i="0">
                <a:solidFill>
                  <a:srgbClr val="FFFFFF"/>
                </a:solidFill>
                <a:latin typeface="Arial"/>
              </a:rPr>
              <a:t>D.  Only on monthly bars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4 - 7.4 Volatility breakouts  |  Check 31</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Counting an ID/NR pattern</a:t>
            </a:r>
          </a:p>
        </p:txBody>
      </p:sp>
      <p:sp>
        <p:nvSpPr>
          <p:cNvPr id="6" name="Rectangle 5"/>
          <p:cNvSpPr/>
          <p:nvPr/>
        </p:nvSpPr>
        <p:spPr>
          <a:xfrm>
            <a:off x="777240" y="1207008"/>
            <a:ext cx="10637215" cy="1905634"/>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05634"/>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does the 6 in ID/NR6 count?</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last six bars, the inside bar included</a:t>
            </a:r>
          </a:p>
          <a:p>
            <a:pPr algn="l">
              <a:lnSpc>
                <a:spcPct val="115000"/>
              </a:lnSpc>
              <a:spcBef>
                <a:spcPts val="700"/>
              </a:spcBef>
              <a:spcAft>
                <a:spcPts val="0"/>
              </a:spcAft>
            </a:pPr>
            <a:r>
              <a:rPr sz="1700" b="0" i="0">
                <a:solidFill>
                  <a:srgbClr val="1A1A1A"/>
                </a:solidFill>
                <a:latin typeface="Arial"/>
              </a:rPr>
              <a:t>An ID/NR n pattern is an inside day breakout from the narrowest bar over the last n days, so ID/NR6 counts the last six bars (p. 232).</a:t>
            </a:r>
          </a:p>
        </p:txBody>
      </p:sp>
      <p:sp>
        <p:nvSpPr>
          <p:cNvPr id="10" name="Rectangle 9"/>
          <p:cNvSpPr/>
          <p:nvPr/>
        </p:nvSpPr>
        <p:spPr>
          <a:xfrm>
            <a:off x="777240" y="3359531"/>
            <a:ext cx="10637215" cy="190563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59531"/>
            <a:ext cx="91440" cy="1905634"/>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97275"/>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Does an ID/NR pattern carry bullish sentiment?</a:t>
            </a:r>
          </a:p>
        </p:txBody>
      </p:sp>
      <p:sp>
        <p:nvSpPr>
          <p:cNvPr id="13" name="TextBox 12"/>
          <p:cNvSpPr txBox="1"/>
          <p:nvPr/>
        </p:nvSpPr>
        <p:spPr>
          <a:xfrm>
            <a:off x="1143000" y="41015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No; Lim says it has no bearish or bullish sentiment</a:t>
            </a:r>
          </a:p>
          <a:p>
            <a:pPr algn="l">
              <a:lnSpc>
                <a:spcPct val="115000"/>
              </a:lnSpc>
              <a:spcBef>
                <a:spcPts val="700"/>
              </a:spcBef>
              <a:spcAft>
                <a:spcPts val="0"/>
              </a:spcAft>
            </a:pPr>
            <a:r>
              <a:rPr sz="1700" b="0" i="0">
                <a:solidFill>
                  <a:srgbClr val="1A1A1A"/>
                </a:solidFill>
                <a:latin typeface="Arial"/>
              </a:rPr>
              <a:t>Lim says the pattern has no bearish or bullish sentiment associated with it; the breakout can occur in either direction (p. 232).</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Check 31</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ID/NR has no direction until price breaks a trigger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4864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Lim says the ID/NR pattern has no bearish or bullish sentiment associated with it, and the breakout can occur in either direction (p. 232).</a:t>
            </a:r>
          </a:p>
          <a:p>
            <a:pPr algn="l">
              <a:lnSpc>
                <a:spcPct val="105000"/>
              </a:lnSpc>
              <a:spcBef>
                <a:spcPts val="0"/>
              </a:spcBef>
              <a:spcAft>
                <a:spcPts val="1100"/>
              </a:spcAft>
            </a:pPr>
            <a:r>
              <a:rPr sz="1700" b="0" i="0">
                <a:solidFill>
                  <a:srgbClr val="1A1A1A"/>
                </a:solidFill>
                <a:latin typeface="Arial"/>
              </a:rPr>
              <a:t>That is why Figure 7.38 draws two triggers. A break above the long trigger level </a:t>
            </a:r>
            <a:r>
              <a:rPr sz="1700" b="1" i="0">
                <a:solidFill>
                  <a:srgbClr val="E09B00"/>
                </a:solidFill>
                <a:latin typeface="Arial"/>
              </a:rPr>
              <a:t>(1)</a:t>
            </a:r>
            <a:r>
              <a:rPr sz="1700" b="0" i="0">
                <a:solidFill>
                  <a:srgbClr val="1A1A1A"/>
                </a:solidFill>
                <a:latin typeface="Arial"/>
              </a:rPr>
              <a:t> would point up, and a break below the short trigger level </a:t>
            </a:r>
            <a:r>
              <a:rPr sz="1700" b="1" i="0">
                <a:solidFill>
                  <a:srgbClr val="C62828"/>
                </a:solidFill>
                <a:latin typeface="Arial"/>
              </a:rPr>
              <a:t>(2)</a:t>
            </a:r>
            <a:r>
              <a:rPr sz="1700" b="0" i="0">
                <a:solidFill>
                  <a:srgbClr val="1A1A1A"/>
                </a:solidFill>
                <a:latin typeface="Arial"/>
              </a:rPr>
              <a:t> would point down. In this drawing the tall arrow from bar 7 </a:t>
            </a:r>
            <a:r>
              <a:rPr sz="1700" b="1" i="0">
                <a:solidFill>
                  <a:srgbClr val="1F5FAD"/>
                </a:solidFill>
                <a:latin typeface="Arial"/>
              </a:rPr>
              <a:t>(3)</a:t>
            </a:r>
            <a:r>
              <a:rPr sz="1700" b="0" i="0">
                <a:solidFill>
                  <a:srgbClr val="1A1A1A"/>
                </a:solidFill>
                <a:latin typeface="Arial"/>
              </a:rPr>
              <a:t> points down through the short trigger.</a:t>
            </a:r>
          </a:p>
          <a:p>
            <a:pPr algn="l">
              <a:lnSpc>
                <a:spcPct val="105000"/>
              </a:lnSpc>
              <a:spcBef>
                <a:spcPts val="0"/>
              </a:spcBef>
              <a:spcAft>
                <a:spcPts val="1100"/>
              </a:spcAft>
            </a:pPr>
            <a:r>
              <a:rPr sz="1700" b="0" i="0">
                <a:solidFill>
                  <a:srgbClr val="1A1A1A"/>
                </a:solidFill>
                <a:latin typeface="Arial"/>
              </a:rPr>
              <a:t>So we count the bars, confirm the inside bar, and then wait to see which trigger price breaks.</a:t>
            </a:r>
          </a:p>
        </p:txBody>
      </p:sp>
      <p:sp>
        <p:nvSpPr>
          <p:cNvPr id="7" name="Rectangle 6"/>
          <p:cNvSpPr/>
          <p:nvPr/>
        </p:nvSpPr>
        <p:spPr>
          <a:xfrm>
            <a:off x="6578543" y="1207008"/>
            <a:ext cx="4841048" cy="493775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615119" y="1243584"/>
            <a:ext cx="4767896" cy="4864607"/>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615119" y="1243584"/>
            <a:ext cx="4767896"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6889439" y="1517904"/>
            <a:ext cx="4219256" cy="440740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7.38</a:t>
            </a:r>
          </a:p>
          <a:p>
            <a:pPr algn="l">
              <a:lnSpc>
                <a:spcPct val="115000"/>
              </a:lnSpc>
              <a:spcBef>
                <a:spcPts val="0"/>
              </a:spcBef>
              <a:spcAft>
                <a:spcPts val="0"/>
              </a:spcAft>
            </a:pPr>
            <a:r>
              <a:rPr sz="1500" b="0" i="0">
                <a:solidFill>
                  <a:srgbClr val="1A1A1A"/>
                </a:solidFill>
                <a:latin typeface="Palatino"/>
              </a:rPr>
              <a:t>Figure 7.38's ID/NR6 drawing, with its long and short trigger levels and the long arrow from bar 7 running down through the short trigger.</a:t>
            </a:r>
          </a:p>
        </p:txBody>
      </p:sp>
      <p:cxnSp>
        <p:nvCxnSpPr>
          <p:cNvPr id="11" name="Connector 10"/>
          <p:cNvCxnSpPr/>
          <p:nvPr/>
        </p:nvCxnSpPr>
        <p:spPr>
          <a:xfrm>
            <a:off x="9142104" y="4089379"/>
            <a:ext cx="429111" cy="0"/>
          </a:xfrm>
          <a:prstGeom prst="line">
            <a:avLst/>
          </a:prstGeom>
          <a:ln w="44450">
            <a:solidFill>
              <a:srgbClr val="E09B00"/>
            </a:solidFill>
          </a:ln>
        </p:spPr>
      </p:cxnSp>
      <p:cxnSp>
        <p:nvCxnSpPr>
          <p:cNvPr id="12" name="Connector 11"/>
          <p:cNvCxnSpPr/>
          <p:nvPr/>
        </p:nvCxnSpPr>
        <p:spPr>
          <a:xfrm>
            <a:off x="9142104" y="4746101"/>
            <a:ext cx="429111" cy="0"/>
          </a:xfrm>
          <a:prstGeom prst="line">
            <a:avLst/>
          </a:prstGeom>
          <a:ln w="44450">
            <a:solidFill>
              <a:srgbClr val="C62828"/>
            </a:solidFill>
          </a:ln>
        </p:spPr>
      </p:cxnSp>
      <p:sp>
        <p:nvSpPr>
          <p:cNvPr id="13" name="Oval 12"/>
          <p:cNvSpPr/>
          <p:nvPr/>
        </p:nvSpPr>
        <p:spPr>
          <a:xfrm>
            <a:off x="8569956" y="5767669"/>
            <a:ext cx="286073" cy="316199"/>
          </a:xfrm>
          <a:prstGeom prst="ellipse">
            <a:avLst/>
          </a:prstGeom>
          <a:noFill/>
          <a:ln w="44450">
            <a:solidFill>
              <a:srgbClr val="1F5FAD"/>
            </a:solidFill>
          </a:ln>
        </p:spPr>
        <p:txBody>
          <a:bodyPr rtlCol="0" anchor="ctr"/>
          <a:lstStyle/>
          <a:p>
            <a:pPr algn="ctr"/>
          </a:p>
        </p:txBody>
      </p:sp>
      <p:sp>
        <p:nvSpPr>
          <p:cNvPr id="14" name="Oval 13"/>
          <p:cNvSpPr/>
          <p:nvPr/>
        </p:nvSpPr>
        <p:spPr>
          <a:xfrm>
            <a:off x="9219499" y="4195450"/>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9219499" y="4852172"/>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8957265" y="5752124"/>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7" name="TextBox 16"/>
          <p:cNvSpPr txBox="1"/>
          <p:nvPr/>
        </p:nvSpPr>
        <p:spPr>
          <a:xfrm>
            <a:off x="777240" y="5705856"/>
            <a:ext cx="54864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7.38 - Lim, The Handbook of Technical Analysis (Wiley, 2016)</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17 of 20</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232, Figure 7.38. The marks are ours, added for teaching.</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same pattern works on monthly bars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Lim also applies the pattern to monthly bars, where he calls it Inside Month/NR5 (p. 232). Here are six monthly bars of ours, one bar a month. The first five have ranges of 12, 10, 9, 7 and 5. Bar 5's range of 5 is the narrowest of the five </a:t>
            </a:r>
            <a:r>
              <a:rPr sz="1700" b="1" i="0">
                <a:solidFill>
                  <a:srgbClr val="E09B00"/>
                </a:solidFill>
                <a:latin typeface="Arial"/>
              </a:rPr>
              <a:t>(1)</a:t>
            </a:r>
            <a:r>
              <a:rPr sz="1700" b="0" i="0">
                <a:solidFill>
                  <a:srgbClr val="1A1A1A"/>
                </a:solidFill>
                <a:latin typeface="Arial"/>
              </a:rPr>
              <a:t>, and its high of 30.00 and low of 25.00 stay inside bar 4's range, 24.00 to 31.00.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w-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8072688" y="3944112"/>
            <a:ext cx="0" cy="436879"/>
          </a:xfrm>
          <a:prstGeom prst="line">
            <a:avLst/>
          </a:prstGeom>
          <a:ln w="44450">
            <a:solidFill>
              <a:srgbClr val="E09B00"/>
            </a:solidFill>
          </a:ln>
        </p:spPr>
      </p:cxnSp>
      <p:sp>
        <p:nvSpPr>
          <p:cNvPr id="10" name="Oval 9"/>
          <p:cNvSpPr/>
          <p:nvPr/>
        </p:nvSpPr>
        <p:spPr>
          <a:xfrm>
            <a:off x="7542336" y="403453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1" name="TextBox 10"/>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W - FIN1209 teaching chart, drawn for this course. Illustrative data, not a real instrument.</a:t>
            </a:r>
          </a:p>
        </p:txBody>
      </p:sp>
      <p:sp>
        <p:nvSpPr>
          <p:cNvPr id="12" name="TextBox 11"/>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18 of 20</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W is ours, with invented monthly PHP values to show Lim (2016), p. 232.</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The same pattern works on monthly bars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16152"/>
            <a:ext cx="10637215" cy="1097280"/>
          </a:xfrm>
          <a:prstGeom prst="rect">
            <a:avLst/>
          </a:prstGeom>
          <a:noFill/>
        </p:spPr>
        <p:txBody>
          <a:bodyPr wrap="square" anchor="t" lIns="0" rIns="0" tIns="0" bIns="0">
            <a:spAutoFit/>
          </a:bodyPr>
          <a:lstStyle/>
          <a:p>
            <a:pPr algn="l">
              <a:lnSpc>
                <a:spcPct val="100000"/>
              </a:lnSpc>
              <a:spcBef>
                <a:spcPts val="0"/>
              </a:spcBef>
              <a:spcAft>
                <a:spcPts val="0"/>
              </a:spcAft>
            </a:pPr>
            <a:r>
              <a:rPr sz="1700" b="0" i="0">
                <a:solidFill>
                  <a:srgbClr val="1A1A1A"/>
                </a:solidFill>
                <a:latin typeface="Arial"/>
              </a:rPr>
              <a:t>That makes bar 5 an inside month and the narrowest of the last five </a:t>
            </a:r>
            <a:r>
              <a:rPr sz="1700" b="1" i="0">
                <a:solidFill>
                  <a:srgbClr val="E09B00"/>
                </a:solidFill>
                <a:latin typeface="Arial"/>
              </a:rPr>
              <a:t>(1)</a:t>
            </a:r>
            <a:r>
              <a:rPr sz="1700" b="0" i="0">
                <a:solidFill>
                  <a:srgbClr val="1A1A1A"/>
                </a:solidFill>
                <a:latin typeface="Arial"/>
              </a:rPr>
              <a:t>: an Inside Month/NR5. Bar 6 then breaks out upward: it rises through bar 5's high of PHP 30.00 </a:t>
            </a:r>
            <a:r>
              <a:rPr sz="1700" b="1" i="0">
                <a:solidFill>
                  <a:srgbClr val="C62828"/>
                </a:solidFill>
                <a:latin typeface="Arial"/>
              </a:rPr>
              <a:t>(2)</a:t>
            </a:r>
            <a:r>
              <a:rPr sz="1700" b="0" i="0">
                <a:solidFill>
                  <a:srgbClr val="1A1A1A"/>
                </a:solidFill>
                <a:latin typeface="Arial"/>
              </a:rPr>
              <a:t> and bar 4's high of PHP 31.00, and closes at PHP 36.00 </a:t>
            </a:r>
            <a:r>
              <a:rPr sz="1700" b="1" i="0">
                <a:solidFill>
                  <a:srgbClr val="1F5FAD"/>
                </a:solidFill>
                <a:latin typeface="Arial"/>
              </a:rPr>
              <a:t>(3)</a:t>
            </a:r>
            <a:r>
              <a:rPr sz="1700" b="0" i="0">
                <a:solidFill>
                  <a:srgbClr val="1A1A1A"/>
                </a:solidFill>
                <a:latin typeface="Arial"/>
              </a:rPr>
              <a:t>, PHP 8.00 above bar 5's close of PHP 28.00.</a:t>
            </a:r>
          </a:p>
        </p:txBody>
      </p:sp>
      <p:sp>
        <p:nvSpPr>
          <p:cNvPr id="7" name="Rectangle 6"/>
          <p:cNvSpPr/>
          <p:nvPr/>
        </p:nvSpPr>
        <p:spPr>
          <a:xfrm>
            <a:off x="859536" y="2359152"/>
            <a:ext cx="10472623" cy="3584448"/>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r4-w-0.png"/>
          <p:cNvPicPr>
            <a:picLocks noChangeAspect="1"/>
          </p:cNvPicPr>
          <p:nvPr/>
        </p:nvPicPr>
        <p:blipFill>
          <a:blip r:embed="rId2"/>
          <a:stretch>
            <a:fillRect/>
          </a:stretch>
        </p:blipFill>
        <p:spPr>
          <a:xfrm>
            <a:off x="896112" y="2395728"/>
            <a:ext cx="10399471" cy="3511296"/>
          </a:xfrm>
          <a:prstGeom prst="rect">
            <a:avLst/>
          </a:prstGeom>
        </p:spPr>
      </p:pic>
      <p:cxnSp>
        <p:nvCxnSpPr>
          <p:cNvPr id="9" name="Connector 8"/>
          <p:cNvCxnSpPr/>
          <p:nvPr/>
        </p:nvCxnSpPr>
        <p:spPr>
          <a:xfrm flipV="1">
            <a:off x="8072688" y="3944112"/>
            <a:ext cx="0" cy="436879"/>
          </a:xfrm>
          <a:prstGeom prst="line">
            <a:avLst/>
          </a:prstGeom>
          <a:ln w="44450">
            <a:solidFill>
              <a:srgbClr val="E09B00"/>
            </a:solidFill>
          </a:ln>
        </p:spPr>
      </p:cxnSp>
      <p:sp>
        <p:nvSpPr>
          <p:cNvPr id="10" name="Oval 9"/>
          <p:cNvSpPr/>
          <p:nvPr/>
        </p:nvSpPr>
        <p:spPr>
          <a:xfrm>
            <a:off x="8321405" y="3900220"/>
            <a:ext cx="87782" cy="87782"/>
          </a:xfrm>
          <a:prstGeom prst="ellipse">
            <a:avLst/>
          </a:prstGeom>
          <a:noFill/>
          <a:ln w="44450">
            <a:solidFill>
              <a:srgbClr val="C62828"/>
            </a:solidFill>
          </a:ln>
        </p:spPr>
        <p:txBody>
          <a:bodyPr rtlCol="0" anchor="ctr"/>
          <a:lstStyle/>
          <a:p>
            <a:pPr algn="ctr"/>
          </a:p>
        </p:txBody>
      </p:sp>
      <p:sp>
        <p:nvSpPr>
          <p:cNvPr id="11" name="Oval 10"/>
          <p:cNvSpPr/>
          <p:nvPr/>
        </p:nvSpPr>
        <p:spPr>
          <a:xfrm>
            <a:off x="10126979" y="3375964"/>
            <a:ext cx="87782" cy="87782"/>
          </a:xfrm>
          <a:prstGeom prst="ellipse">
            <a:avLst/>
          </a:prstGeom>
          <a:noFill/>
          <a:ln w="44450">
            <a:solidFill>
              <a:srgbClr val="1F5FAD"/>
            </a:solidFill>
          </a:ln>
        </p:spPr>
        <p:txBody>
          <a:bodyPr rtlCol="0" anchor="ctr"/>
          <a:lstStyle/>
          <a:p>
            <a:pPr algn="ctr"/>
          </a:p>
        </p:txBody>
      </p:sp>
      <p:sp>
        <p:nvSpPr>
          <p:cNvPr id="12" name="Oval 11"/>
          <p:cNvSpPr/>
          <p:nvPr/>
        </p:nvSpPr>
        <p:spPr>
          <a:xfrm>
            <a:off x="7542336" y="4034536"/>
            <a:ext cx="256032" cy="256032"/>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Oval 12"/>
          <p:cNvSpPr/>
          <p:nvPr/>
        </p:nvSpPr>
        <p:spPr>
          <a:xfrm>
            <a:off x="8409188" y="3816096"/>
            <a:ext cx="256032" cy="256032"/>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4" name="Oval 13"/>
          <p:cNvSpPr/>
          <p:nvPr/>
        </p:nvSpPr>
        <p:spPr>
          <a:xfrm>
            <a:off x="10042855" y="3463747"/>
            <a:ext cx="256032" cy="256032"/>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5" name="TextBox 14"/>
          <p:cNvSpPr txBox="1"/>
          <p:nvPr/>
        </p:nvSpPr>
        <p:spPr>
          <a:xfrm>
            <a:off x="896112" y="5961888"/>
            <a:ext cx="10399471" cy="20116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Chart W - FIN1209 teaching chart, drawn for this course. Illustrative data, not a real instrument.</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19 of 20</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Chart W is ours, with invented monthly PHP values to show Lim (2016), p. 232.</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Figure 7.39 shows an Inside Month/NR5 breakout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36576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7.39 is Lim's Inside Month/NR5 on Dynegy's monthly chart (p. 232). February </a:t>
            </a:r>
            <a:r>
              <a:rPr sz="1700" b="1" i="0">
                <a:solidFill>
                  <a:srgbClr val="E09B00"/>
                </a:solidFill>
                <a:latin typeface="Arial"/>
              </a:rPr>
              <a:t>(1)</a:t>
            </a:r>
            <a:r>
              <a:rPr sz="1700" b="0" i="0">
                <a:solidFill>
                  <a:srgbClr val="1A1A1A"/>
                </a:solidFill>
                <a:latin typeface="Arial"/>
              </a:rPr>
              <a:t> sits inside January and is the narrowest of the five months from October to February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Its dotted lines sit at February's own high and low, while Figure 7.38 drew them from the bar before the inside bar; Lim's text does not say which to use. Here March </a:t>
            </a:r>
            <a:r>
              <a:rPr sz="1700" b="1" i="0">
                <a:solidFill>
                  <a:srgbClr val="1F5FAD"/>
                </a:solidFill>
                <a:latin typeface="Arial"/>
              </a:rPr>
              <a:t>(3)</a:t>
            </a:r>
            <a:r>
              <a:rPr sz="1700" b="0" i="0">
                <a:solidFill>
                  <a:srgbClr val="1A1A1A"/>
                </a:solidFill>
                <a:latin typeface="Arial"/>
              </a:rPr>
              <a:t> rises above both, so the breakout is upward either way.</a:t>
            </a:r>
          </a:p>
        </p:txBody>
      </p:sp>
      <p:sp>
        <p:nvSpPr>
          <p:cNvPr id="7" name="Rectangle 6"/>
          <p:cNvSpPr/>
          <p:nvPr/>
        </p:nvSpPr>
        <p:spPr>
          <a:xfrm>
            <a:off x="4718303" y="1207008"/>
            <a:ext cx="6732727" cy="4934392"/>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4754879" y="1243584"/>
            <a:ext cx="6659575" cy="4861240"/>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4754879" y="1243584"/>
            <a:ext cx="665957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5029199" y="1517904"/>
            <a:ext cx="6110935" cy="44040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7.39</a:t>
            </a:r>
          </a:p>
          <a:p>
            <a:pPr algn="l">
              <a:lnSpc>
                <a:spcPct val="115000"/>
              </a:lnSpc>
              <a:spcBef>
                <a:spcPts val="0"/>
              </a:spcBef>
              <a:spcAft>
                <a:spcPts val="0"/>
              </a:spcAft>
            </a:pPr>
            <a:r>
              <a:rPr sz="1500" b="0" i="0">
                <a:solidFill>
                  <a:srgbClr val="1A1A1A"/>
                </a:solidFill>
                <a:latin typeface="Palatino"/>
              </a:rPr>
              <a:t>The left part of the book's monthly Dynegy chart, September to May: February inside January, the five months October to February, and March's upside breakout.</a:t>
            </a:r>
          </a:p>
        </p:txBody>
      </p:sp>
      <p:sp>
        <p:nvSpPr>
          <p:cNvPr id="11" name="Rectangle 10"/>
          <p:cNvSpPr/>
          <p:nvPr/>
        </p:nvSpPr>
        <p:spPr>
          <a:xfrm>
            <a:off x="8584135" y="3756845"/>
            <a:ext cx="472829" cy="763214"/>
          </a:xfrm>
          <a:prstGeom prst="rect">
            <a:avLst/>
          </a:prstGeom>
          <a:noFill/>
          <a:ln w="44450">
            <a:solidFill>
              <a:srgbClr val="E09B00"/>
            </a:solidFill>
          </a:ln>
        </p:spPr>
        <p:txBody>
          <a:bodyPr rtlCol="0" anchor="ctr"/>
          <a:lstStyle/>
          <a:p>
            <a:pPr algn="ctr"/>
          </a:p>
        </p:txBody>
      </p:sp>
      <p:sp>
        <p:nvSpPr>
          <p:cNvPr id="12" name="Rectangle 11"/>
          <p:cNvSpPr/>
          <p:nvPr/>
        </p:nvSpPr>
        <p:spPr>
          <a:xfrm>
            <a:off x="5527390" y="3426281"/>
            <a:ext cx="3629468" cy="2406314"/>
          </a:xfrm>
          <a:prstGeom prst="rect">
            <a:avLst/>
          </a:prstGeom>
          <a:noFill/>
          <a:ln w="44450">
            <a:solidFill>
              <a:srgbClr val="C62828"/>
            </a:solidFill>
          </a:ln>
        </p:spPr>
        <p:txBody>
          <a:bodyPr rtlCol="0" anchor="ctr"/>
          <a:lstStyle/>
          <a:p>
            <a:pPr algn="ctr"/>
          </a:p>
        </p:txBody>
      </p:sp>
      <p:sp>
        <p:nvSpPr>
          <p:cNvPr id="13" name="Rectangle 12"/>
          <p:cNvSpPr/>
          <p:nvPr/>
        </p:nvSpPr>
        <p:spPr>
          <a:xfrm>
            <a:off x="9216795" y="1681095"/>
            <a:ext cx="592702" cy="2785491"/>
          </a:xfrm>
          <a:prstGeom prst="rect">
            <a:avLst/>
          </a:prstGeom>
          <a:noFill/>
          <a:ln w="44450">
            <a:solidFill>
              <a:srgbClr val="1F5FAD"/>
            </a:solidFill>
          </a:ln>
        </p:spPr>
        <p:txBody>
          <a:bodyPr rtlCol="0" anchor="ctr"/>
          <a:lstStyle/>
          <a:p>
            <a:pPr algn="ctr"/>
          </a:p>
        </p:txBody>
      </p:sp>
      <p:sp>
        <p:nvSpPr>
          <p:cNvPr id="14" name="Oval 13"/>
          <p:cNvSpPr/>
          <p:nvPr/>
        </p:nvSpPr>
        <p:spPr>
          <a:xfrm>
            <a:off x="8686720" y="4611378"/>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5163805" y="3454403"/>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9991997" y="2448126"/>
            <a:ext cx="274320" cy="274320"/>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7" name="TextBox 16"/>
          <p:cNvSpPr txBox="1"/>
          <p:nvPr/>
        </p:nvSpPr>
        <p:spPr>
          <a:xfrm>
            <a:off x="777240" y="5705856"/>
            <a:ext cx="36576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7.39 - Lim, The Handbook of Technical Analysis (Wiley, 2016)</a:t>
            </a:r>
          </a:p>
        </p:txBody>
      </p:sp>
      <p:sp>
        <p:nvSpPr>
          <p:cNvPr id="18" name="TextBox 1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20 of 20</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232, Figure 7.39. The crop and marks are ours, added for teaching.</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32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From Inside Month/NR5</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changes when ID/NR is read as Inside Month/NR5?</a:t>
            </a:r>
          </a:p>
        </p:txBody>
      </p:sp>
      <p:sp>
        <p:nvSpPr>
          <p:cNvPr id="9" name="TextBox 8"/>
          <p:cNvSpPr txBox="1"/>
          <p:nvPr/>
        </p:nvSpPr>
        <p:spPr>
          <a:xfrm>
            <a:off x="1051560"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pattern turns bullish</a:t>
            </a:r>
          </a:p>
          <a:p>
            <a:pPr algn="l">
              <a:lnSpc>
                <a:spcPct val="112000"/>
              </a:lnSpc>
              <a:spcBef>
                <a:spcPts val="0"/>
              </a:spcBef>
              <a:spcAft>
                <a:spcPts val="900"/>
              </a:spcAft>
            </a:pPr>
            <a:r>
              <a:rPr sz="1700" b="0" i="0">
                <a:solidFill>
                  <a:srgbClr val="FFFFFF"/>
                </a:solidFill>
                <a:latin typeface="Arial"/>
              </a:rPr>
              <a:t>B.  Volume replaces range</a:t>
            </a:r>
          </a:p>
          <a:p>
            <a:pPr algn="l">
              <a:lnSpc>
                <a:spcPct val="112000"/>
              </a:lnSpc>
              <a:spcBef>
                <a:spcPts val="0"/>
              </a:spcBef>
              <a:spcAft>
                <a:spcPts val="900"/>
              </a:spcAft>
            </a:pPr>
            <a:r>
              <a:rPr sz="1700" b="0" i="0">
                <a:solidFill>
                  <a:srgbClr val="FFFFFF"/>
                </a:solidFill>
                <a:latin typeface="Arial"/>
              </a:rPr>
              <a:t>C.  Each bar is one month</a:t>
            </a:r>
          </a:p>
          <a:p>
            <a:pPr algn="l">
              <a:lnSpc>
                <a:spcPct val="112000"/>
              </a:lnSpc>
              <a:spcBef>
                <a:spcPts val="0"/>
              </a:spcBef>
              <a:spcAft>
                <a:spcPts val="900"/>
              </a:spcAft>
            </a:pPr>
            <a:r>
              <a:rPr sz="1700" b="0" i="0">
                <a:solidFill>
                  <a:srgbClr val="FFFFFF"/>
                </a:solidFill>
                <a:latin typeface="Arial"/>
              </a:rPr>
              <a:t>D.  The inside bar must be the widest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617219"/>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FFFFFF"/>
                </a:solidFill>
                <a:latin typeface="Arial"/>
              </a:rPr>
              <a:t>What stays the same in Inside Month/NR5?</a:t>
            </a:r>
          </a:p>
        </p:txBody>
      </p:sp>
      <p:sp>
        <p:nvSpPr>
          <p:cNvPr id="13" name="TextBox 12"/>
          <p:cNvSpPr txBox="1"/>
          <p:nvPr/>
        </p:nvSpPr>
        <p:spPr>
          <a:xfrm>
            <a:off x="6690207" y="255574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breakout must be upward</a:t>
            </a:r>
          </a:p>
          <a:p>
            <a:pPr algn="l">
              <a:lnSpc>
                <a:spcPct val="112000"/>
              </a:lnSpc>
              <a:spcBef>
                <a:spcPts val="0"/>
              </a:spcBef>
              <a:spcAft>
                <a:spcPts val="900"/>
              </a:spcAft>
            </a:pPr>
            <a:r>
              <a:rPr sz="1700" b="0" i="0">
                <a:solidFill>
                  <a:srgbClr val="FFFFFF"/>
                </a:solidFill>
                <a:latin typeface="Arial"/>
              </a:rPr>
              <a:t>B.  The count is always seven bars</a:t>
            </a:r>
          </a:p>
          <a:p>
            <a:pPr algn="l">
              <a:lnSpc>
                <a:spcPct val="112000"/>
              </a:lnSpc>
              <a:spcBef>
                <a:spcPts val="0"/>
              </a:spcBef>
              <a:spcAft>
                <a:spcPts val="900"/>
              </a:spcAft>
            </a:pPr>
            <a:r>
              <a:rPr sz="1700" b="0" i="0">
                <a:solidFill>
                  <a:srgbClr val="FFFFFF"/>
                </a:solidFill>
                <a:latin typeface="Arial"/>
              </a:rPr>
              <a:t>C.  Every bar must close higher</a:t>
            </a:r>
          </a:p>
          <a:p>
            <a:pPr algn="l">
              <a:lnSpc>
                <a:spcPct val="112000"/>
              </a:lnSpc>
              <a:spcBef>
                <a:spcPts val="0"/>
              </a:spcBef>
              <a:spcAft>
                <a:spcPts val="900"/>
              </a:spcAft>
            </a:pPr>
            <a:r>
              <a:rPr sz="1700" b="0" i="0">
                <a:solidFill>
                  <a:srgbClr val="FFFFFF"/>
                </a:solidFill>
                <a:latin typeface="Arial"/>
              </a:rPr>
              <a:t>D.  The bar must sit inside the one before and be the narrowest of the last 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4 - 7.4 Volatility breakouts  |  Check 32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From Inside Month/NR5</a:t>
            </a:r>
          </a:p>
        </p:txBody>
      </p:sp>
      <p:sp>
        <p:nvSpPr>
          <p:cNvPr id="6" name="Rectangle 5"/>
          <p:cNvSpPr/>
          <p:nvPr/>
        </p:nvSpPr>
        <p:spPr>
          <a:xfrm>
            <a:off x="777240" y="1207008"/>
            <a:ext cx="10637215" cy="165735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5735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What changes when ID/NR is read as Inside Month/NR5?</a:t>
            </a:r>
          </a:p>
        </p:txBody>
      </p:sp>
      <p:sp>
        <p:nvSpPr>
          <p:cNvPr id="9" name="TextBox 8"/>
          <p:cNvSpPr txBox="1"/>
          <p:nvPr/>
        </p:nvSpPr>
        <p:spPr>
          <a:xfrm>
            <a:off x="1143000" y="1949069"/>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Each bar is one month</a:t>
            </a:r>
          </a:p>
          <a:p>
            <a:pPr algn="l">
              <a:lnSpc>
                <a:spcPct val="115000"/>
              </a:lnSpc>
              <a:spcBef>
                <a:spcPts val="700"/>
              </a:spcBef>
              <a:spcAft>
                <a:spcPts val="0"/>
              </a:spcAft>
            </a:pPr>
            <a:r>
              <a:rPr sz="1700" b="0" i="0">
                <a:solidFill>
                  <a:srgbClr val="1A1A1A"/>
                </a:solidFill>
                <a:latin typeface="Arial"/>
              </a:rPr>
              <a:t>Lim applies the same pattern to monthly bars, so each bar is one month (p. 232).</a:t>
            </a:r>
          </a:p>
        </p:txBody>
      </p:sp>
      <p:sp>
        <p:nvSpPr>
          <p:cNvPr id="10" name="Rectangle 9"/>
          <p:cNvSpPr/>
          <p:nvPr/>
        </p:nvSpPr>
        <p:spPr>
          <a:xfrm>
            <a:off x="777240" y="3111246"/>
            <a:ext cx="10637215" cy="219773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111246"/>
            <a:ext cx="91440" cy="2197735"/>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48989"/>
            <a:ext cx="9905695" cy="339725"/>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What stays the same in Inside Month/NR5?</a:t>
            </a:r>
          </a:p>
        </p:txBody>
      </p:sp>
      <p:sp>
        <p:nvSpPr>
          <p:cNvPr id="13" name="TextBox 12"/>
          <p:cNvSpPr txBox="1"/>
          <p:nvPr/>
        </p:nvSpPr>
        <p:spPr>
          <a:xfrm>
            <a:off x="1143000" y="3853306"/>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The bar must sit inside the one before and be the narrowest of the last n</a:t>
            </a:r>
          </a:p>
          <a:p>
            <a:pPr algn="l">
              <a:lnSpc>
                <a:spcPct val="115000"/>
              </a:lnSpc>
              <a:spcBef>
                <a:spcPts val="700"/>
              </a:spcBef>
              <a:spcAft>
                <a:spcPts val="0"/>
              </a:spcAft>
            </a:pPr>
            <a:r>
              <a:rPr sz="1700" b="0" i="0">
                <a:solidFill>
                  <a:srgbClr val="1A1A1A"/>
                </a:solidFill>
                <a:latin typeface="Arial"/>
              </a:rPr>
              <a:t>The monthly pattern still needs an inside bar that is the narrowest of the last n bars, here five (p. 232).</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Check 32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33 OF 33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FFFFFF"/>
                </a:solidFill>
                <a:latin typeface="Arial"/>
              </a:rPr>
              <a:t>From Williams' Oops and ID/NR</a:t>
            </a:r>
          </a:p>
        </p:txBody>
      </p:sp>
      <p:sp>
        <p:nvSpPr>
          <p:cNvPr id="6" name="Rectangle 5"/>
          <p:cNvSpPr/>
          <p:nvPr/>
        </p:nvSpPr>
        <p:spPr>
          <a:xfrm>
            <a:off x="777240" y="1207008"/>
            <a:ext cx="348980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294116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294116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After a gap up, the Williams' Oops sell-stop is placed at:</a:t>
            </a:r>
          </a:p>
        </p:txBody>
      </p:sp>
      <p:sp>
        <p:nvSpPr>
          <p:cNvPr id="9" name="TextBox 8"/>
          <p:cNvSpPr txBox="1"/>
          <p:nvPr/>
        </p:nvSpPr>
        <p:spPr>
          <a:xfrm>
            <a:off x="1051560" y="3023107"/>
            <a:ext cx="294116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The previous bar's high</a:t>
            </a:r>
          </a:p>
          <a:p>
            <a:pPr algn="l">
              <a:lnSpc>
                <a:spcPct val="112000"/>
              </a:lnSpc>
              <a:spcBef>
                <a:spcPts val="0"/>
              </a:spcBef>
              <a:spcAft>
                <a:spcPts val="900"/>
              </a:spcAft>
            </a:pPr>
            <a:r>
              <a:rPr sz="1700" b="0" i="0">
                <a:solidFill>
                  <a:srgbClr val="FFFFFF"/>
                </a:solidFill>
                <a:latin typeface="Arial"/>
              </a:rPr>
              <a:t>B.  The new bar's high</a:t>
            </a:r>
          </a:p>
          <a:p>
            <a:pPr algn="l">
              <a:lnSpc>
                <a:spcPct val="112000"/>
              </a:lnSpc>
              <a:spcBef>
                <a:spcPts val="0"/>
              </a:spcBef>
              <a:spcAft>
                <a:spcPts val="900"/>
              </a:spcAft>
            </a:pPr>
            <a:r>
              <a:rPr sz="1700" b="0" i="0">
                <a:solidFill>
                  <a:srgbClr val="FFFFFF"/>
                </a:solidFill>
                <a:latin typeface="Arial"/>
              </a:rPr>
              <a:t>C.  The previous bar's low</a:t>
            </a:r>
          </a:p>
          <a:p>
            <a:pPr algn="l">
              <a:lnSpc>
                <a:spcPct val="112000"/>
              </a:lnSpc>
              <a:spcBef>
                <a:spcPts val="0"/>
              </a:spcBef>
              <a:spcAft>
                <a:spcPts val="900"/>
              </a:spcAft>
            </a:pPr>
            <a:r>
              <a:rPr sz="1700" b="0" i="0">
                <a:solidFill>
                  <a:srgbClr val="FFFFFF"/>
                </a:solidFill>
                <a:latin typeface="Arial"/>
              </a:rPr>
              <a:t>D.  The midpoint of both bars</a:t>
            </a:r>
          </a:p>
        </p:txBody>
      </p:sp>
      <p:sp>
        <p:nvSpPr>
          <p:cNvPr id="10" name="Rectangle 9"/>
          <p:cNvSpPr/>
          <p:nvPr/>
        </p:nvSpPr>
        <p:spPr>
          <a:xfrm>
            <a:off x="4587087" y="1207008"/>
            <a:ext cx="348980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4861407" y="1453896"/>
            <a:ext cx="294116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4861407" y="1737360"/>
            <a:ext cx="294116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is ID/NR7 a volatility breakout pattern, like the inside bar </a:t>
            </a:r>
            <a:r>
              <a:rPr sz="1700" b="1" i="0">
                <a:solidFill>
                  <a:srgbClr val="F2A900"/>
                </a:solidFill>
                <a:latin typeface="Arial"/>
              </a:rPr>
              <a:t>(1)</a:t>
            </a:r>
            <a:r>
              <a:rPr sz="1700" b="1" i="0">
                <a:solidFill>
                  <a:srgbClr val="FFFFFF"/>
                </a:solidFill>
                <a:latin typeface="Arial"/>
              </a:rPr>
              <a:t> in Figure 7.38?</a:t>
            </a:r>
          </a:p>
        </p:txBody>
      </p:sp>
      <p:sp>
        <p:nvSpPr>
          <p:cNvPr id="13" name="TextBox 12"/>
          <p:cNvSpPr txBox="1"/>
          <p:nvPr/>
        </p:nvSpPr>
        <p:spPr>
          <a:xfrm>
            <a:off x="4861407" y="3023107"/>
            <a:ext cx="2941167" cy="2926080"/>
          </a:xfrm>
          <a:prstGeom prst="rect">
            <a:avLst/>
          </a:prstGeom>
          <a:noFill/>
        </p:spPr>
        <p:txBody>
          <a:bodyPr wrap="square" anchor="t" lIns="0" rIns="0" tIns="0" bIns="0">
            <a:spAutoFit/>
          </a:bodyPr>
          <a:lstStyle/>
          <a:p>
            <a:pPr algn="l">
              <a:lnSpc>
                <a:spcPct val="112000"/>
              </a:lnSpc>
              <a:spcBef>
                <a:spcPts val="0"/>
              </a:spcBef>
              <a:spcAft>
                <a:spcPts val="900"/>
              </a:spcAft>
            </a:pPr>
            <a:r>
              <a:rPr sz="1700" b="0" i="0">
                <a:solidFill>
                  <a:srgbClr val="FFFFFF"/>
                </a:solidFill>
                <a:latin typeface="Arial"/>
              </a:rPr>
              <a:t>A.  It always breaks upward</a:t>
            </a:r>
          </a:p>
          <a:p>
            <a:pPr algn="l">
              <a:lnSpc>
                <a:spcPct val="112000"/>
              </a:lnSpc>
              <a:spcBef>
                <a:spcPts val="0"/>
              </a:spcBef>
              <a:spcAft>
                <a:spcPts val="900"/>
              </a:spcAft>
            </a:pPr>
            <a:r>
              <a:rPr sz="1700" b="0" i="0">
                <a:solidFill>
                  <a:srgbClr val="FFFFFF"/>
                </a:solidFill>
                <a:latin typeface="Arial"/>
              </a:rPr>
              <a:t>B.  It is an inside day breaking out from the narrowest bar of the last seven</a:t>
            </a:r>
          </a:p>
          <a:p>
            <a:pPr algn="l">
              <a:lnSpc>
                <a:spcPct val="112000"/>
              </a:lnSpc>
              <a:spcBef>
                <a:spcPts val="0"/>
              </a:spcBef>
              <a:spcAft>
                <a:spcPts val="900"/>
              </a:spcAft>
            </a:pPr>
            <a:r>
              <a:rPr sz="1700" b="0" i="0">
                <a:solidFill>
                  <a:srgbClr val="FFFFFF"/>
                </a:solidFill>
                <a:latin typeface="Arial"/>
              </a:rPr>
              <a:t>C.  It counts volume</a:t>
            </a:r>
          </a:p>
          <a:p>
            <a:pPr algn="l">
              <a:lnSpc>
                <a:spcPct val="112000"/>
              </a:lnSpc>
              <a:spcBef>
                <a:spcPts val="0"/>
              </a:spcBef>
              <a:spcAft>
                <a:spcPts val="900"/>
              </a:spcAft>
            </a:pPr>
            <a:r>
              <a:rPr sz="1700" b="0" i="0">
                <a:solidFill>
                  <a:srgbClr val="FFFFFF"/>
                </a:solidFill>
                <a:latin typeface="Arial"/>
              </a:rPr>
              <a:t>D.  It needs seven up closes</a:t>
            </a:r>
          </a:p>
        </p:txBody>
      </p:sp>
      <p:sp>
        <p:nvSpPr>
          <p:cNvPr id="14" name="Rectangle 13"/>
          <p:cNvSpPr/>
          <p:nvPr/>
        </p:nvSpPr>
        <p:spPr>
          <a:xfrm>
            <a:off x="8360358" y="1170432"/>
            <a:ext cx="3090672" cy="3109704"/>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8396934" y="1207008"/>
            <a:ext cx="3017520" cy="3036552"/>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8396934" y="1207008"/>
            <a:ext cx="3017520"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8671254" y="1481328"/>
            <a:ext cx="2468880" cy="257935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7.38</a:t>
            </a:r>
          </a:p>
          <a:p>
            <a:pPr algn="l">
              <a:lnSpc>
                <a:spcPct val="115000"/>
              </a:lnSpc>
              <a:spcBef>
                <a:spcPts val="0"/>
              </a:spcBef>
              <a:spcAft>
                <a:spcPts val="0"/>
              </a:spcAft>
            </a:pPr>
            <a:r>
              <a:rPr sz="1500" b="0" i="0">
                <a:solidFill>
                  <a:srgbClr val="1A1A1A"/>
                </a:solidFill>
                <a:latin typeface="Palatino"/>
              </a:rPr>
              <a:t>A crop of the book's ID/NR6 drawing around bars 5 to 7, with bar 7, the inside bar the book's arrow names, marked.</a:t>
            </a:r>
          </a:p>
        </p:txBody>
      </p:sp>
      <p:sp>
        <p:nvSpPr>
          <p:cNvPr id="18" name="Rectangle 17"/>
          <p:cNvSpPr/>
          <p:nvPr/>
        </p:nvSpPr>
        <p:spPr>
          <a:xfrm>
            <a:off x="9037554" y="2556452"/>
            <a:ext cx="144840" cy="548401"/>
          </a:xfrm>
          <a:prstGeom prst="rect">
            <a:avLst/>
          </a:prstGeom>
          <a:noFill/>
          <a:ln w="44450">
            <a:solidFill>
              <a:srgbClr val="E09B00"/>
            </a:solidFill>
          </a:ln>
        </p:spPr>
        <p:txBody>
          <a:bodyPr rtlCol="0" anchor="ctr"/>
          <a:lstStyle/>
          <a:p>
            <a:pPr algn="ctr"/>
          </a:p>
        </p:txBody>
      </p:sp>
      <p:sp>
        <p:nvSpPr>
          <p:cNvPr id="19" name="Oval 18"/>
          <p:cNvSpPr/>
          <p:nvPr/>
        </p:nvSpPr>
        <p:spPr>
          <a:xfrm>
            <a:off x="9200034" y="3157478"/>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TextBox 19"/>
          <p:cNvSpPr txBox="1"/>
          <p:nvPr/>
        </p:nvSpPr>
        <p:spPr>
          <a:xfrm>
            <a:off x="8396934" y="4335000"/>
            <a:ext cx="3017520"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7.38 - Lim, The Handbook of Technical Analysis (Wiley, 2016)</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4 - 7.4 Volatility breakouts  |  Check 33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007A33"/>
                </a:solidFill>
                <a:latin typeface="Arial"/>
              </a:rPr>
              <a:t>From Williams' Oops and ID/NR</a:t>
            </a:r>
          </a:p>
        </p:txBody>
      </p:sp>
      <p:sp>
        <p:nvSpPr>
          <p:cNvPr id="6" name="Rectangle 5"/>
          <p:cNvSpPr/>
          <p:nvPr/>
        </p:nvSpPr>
        <p:spPr>
          <a:xfrm>
            <a:off x="777240" y="1207008"/>
            <a:ext cx="7132320" cy="164820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48205"/>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1316736"/>
            <a:ext cx="6583680" cy="297942"/>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Q1   After a gap up, the Williams' Oops sell-stop is placed at:</a:t>
            </a:r>
          </a:p>
        </p:txBody>
      </p:sp>
      <p:sp>
        <p:nvSpPr>
          <p:cNvPr id="9" name="TextBox 8"/>
          <p:cNvSpPr txBox="1"/>
          <p:nvPr/>
        </p:nvSpPr>
        <p:spPr>
          <a:xfrm>
            <a:off x="1051560" y="1687830"/>
            <a:ext cx="6583680" cy="984504"/>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Arial"/>
              </a:rPr>
              <a:t>A.  The previous bar's high</a:t>
            </a:r>
          </a:p>
          <a:p>
            <a:pPr algn="l">
              <a:lnSpc>
                <a:spcPct val="115000"/>
              </a:lnSpc>
              <a:spcBef>
                <a:spcPts val="600"/>
              </a:spcBef>
              <a:spcAft>
                <a:spcPts val="0"/>
              </a:spcAft>
            </a:pPr>
            <a:r>
              <a:rPr sz="1700" b="0" i="0">
                <a:solidFill>
                  <a:srgbClr val="1A1A1A"/>
                </a:solidFill>
                <a:latin typeface="Arial"/>
              </a:rPr>
              <a:t>Lim places the sell-stop at the previous bar's high; the new bar's high is the stoploss (p. 231).</a:t>
            </a:r>
          </a:p>
        </p:txBody>
      </p:sp>
      <p:sp>
        <p:nvSpPr>
          <p:cNvPr id="10" name="Rectangle 9"/>
          <p:cNvSpPr/>
          <p:nvPr/>
        </p:nvSpPr>
        <p:spPr>
          <a:xfrm>
            <a:off x="777240" y="2992374"/>
            <a:ext cx="7132320" cy="285750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2992374"/>
            <a:ext cx="91440" cy="28575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051560" y="3102102"/>
            <a:ext cx="6583680" cy="595884"/>
          </a:xfrm>
          <a:prstGeom prst="rect">
            <a:avLst/>
          </a:prstGeom>
          <a:noFill/>
        </p:spPr>
        <p:txBody>
          <a:bodyPr wrap="square" anchor="t" lIns="0" rIns="0" tIns="0" bIns="0">
            <a:spAutoFit/>
          </a:bodyPr>
          <a:lstStyle/>
          <a:p>
            <a:pPr algn="l">
              <a:lnSpc>
                <a:spcPct val="115000"/>
              </a:lnSpc>
              <a:spcBef>
                <a:spcPts val="0"/>
              </a:spcBef>
              <a:spcAft>
                <a:spcPts val="0"/>
              </a:spcAft>
            </a:pPr>
            <a:r>
              <a:rPr sz="1700" b="0" i="0">
                <a:solidFill>
                  <a:srgbClr val="818181"/>
                </a:solidFill>
                <a:latin typeface="Arial"/>
              </a:rPr>
              <a:t>Q2   Why is ID/NR7 a volatility breakout pattern, like the inside bar </a:t>
            </a:r>
            <a:r>
              <a:rPr sz="1700" b="1" i="0">
                <a:solidFill>
                  <a:srgbClr val="E09B00"/>
                </a:solidFill>
                <a:latin typeface="Arial"/>
              </a:rPr>
              <a:t>(1)</a:t>
            </a:r>
            <a:r>
              <a:rPr sz="1700" b="0" i="0">
                <a:solidFill>
                  <a:srgbClr val="818181"/>
                </a:solidFill>
                <a:latin typeface="Arial"/>
              </a:rPr>
              <a:t> in Figure 7.38?</a:t>
            </a:r>
          </a:p>
        </p:txBody>
      </p:sp>
      <p:sp>
        <p:nvSpPr>
          <p:cNvPr id="13" name="TextBox 12"/>
          <p:cNvSpPr txBox="1"/>
          <p:nvPr/>
        </p:nvSpPr>
        <p:spPr>
          <a:xfrm>
            <a:off x="1051560" y="3771138"/>
            <a:ext cx="6583680" cy="1895856"/>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Arial"/>
              </a:rPr>
              <a:t>B.  It is an inside day breaking out from the narrowest bar of the last seven</a:t>
            </a:r>
          </a:p>
          <a:p>
            <a:pPr algn="l">
              <a:lnSpc>
                <a:spcPct val="115000"/>
              </a:lnSpc>
              <a:spcBef>
                <a:spcPts val="600"/>
              </a:spcBef>
              <a:spcAft>
                <a:spcPts val="0"/>
              </a:spcAft>
            </a:pPr>
            <a:r>
              <a:rPr sz="1700" b="0" i="0">
                <a:solidFill>
                  <a:srgbClr val="1A1A1A"/>
                </a:solidFill>
                <a:latin typeface="Arial"/>
              </a:rPr>
              <a:t>Lim calls ID/NR a volatility breakout pattern and defines ID/NR n as an inside day breakout from the narrowest bar over the last n days (p. 232). He gives no other reason. Reading the narrowest bar as the quietest is ours, not his.</a:t>
            </a:r>
          </a:p>
        </p:txBody>
      </p:sp>
      <p:sp>
        <p:nvSpPr>
          <p:cNvPr id="14" name="Rectangle 13"/>
          <p:cNvSpPr/>
          <p:nvPr/>
        </p:nvSpPr>
        <p:spPr>
          <a:xfrm>
            <a:off x="8193024" y="1170432"/>
            <a:ext cx="3258006" cy="3278095"/>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8229600" y="1207008"/>
            <a:ext cx="3184854" cy="3204943"/>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8229600" y="1207008"/>
            <a:ext cx="3184854"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8503920" y="1481328"/>
            <a:ext cx="2636214" cy="274774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7.38</a:t>
            </a:r>
          </a:p>
          <a:p>
            <a:pPr algn="l">
              <a:lnSpc>
                <a:spcPct val="115000"/>
              </a:lnSpc>
              <a:spcBef>
                <a:spcPts val="0"/>
              </a:spcBef>
              <a:spcAft>
                <a:spcPts val="0"/>
              </a:spcAft>
            </a:pPr>
            <a:r>
              <a:rPr sz="1500" b="0" i="0">
                <a:solidFill>
                  <a:srgbClr val="1A1A1A"/>
                </a:solidFill>
                <a:latin typeface="Palatino"/>
              </a:rPr>
              <a:t>A crop of the book's ID/NR6 drawing around bars 5 to 7, with bar 7, the inside bar the book's arrow names, marked.</a:t>
            </a:r>
          </a:p>
        </p:txBody>
      </p:sp>
      <p:sp>
        <p:nvSpPr>
          <p:cNvPr id="18" name="Rectangle 17"/>
          <p:cNvSpPr/>
          <p:nvPr/>
        </p:nvSpPr>
        <p:spPr>
          <a:xfrm>
            <a:off x="8905744" y="2631284"/>
            <a:ext cx="152873" cy="578812"/>
          </a:xfrm>
          <a:prstGeom prst="rect">
            <a:avLst/>
          </a:prstGeom>
          <a:noFill/>
          <a:ln w="44450">
            <a:solidFill>
              <a:srgbClr val="E09B00"/>
            </a:solidFill>
          </a:ln>
        </p:spPr>
        <p:txBody>
          <a:bodyPr rtlCol="0" anchor="ctr"/>
          <a:lstStyle/>
          <a:p>
            <a:pPr algn="ctr"/>
          </a:p>
        </p:txBody>
      </p:sp>
      <p:sp>
        <p:nvSpPr>
          <p:cNvPr id="19" name="Oval 18"/>
          <p:cNvSpPr/>
          <p:nvPr/>
        </p:nvSpPr>
        <p:spPr>
          <a:xfrm>
            <a:off x="9084840" y="3273246"/>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TextBox 19"/>
          <p:cNvSpPr txBox="1"/>
          <p:nvPr/>
        </p:nvSpPr>
        <p:spPr>
          <a:xfrm>
            <a:off x="8229600" y="4503391"/>
            <a:ext cx="318485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7.38 - Lim, The Handbook of Technical Analysis (Wiley, 2016)</a:t>
            </a:r>
          </a:p>
        </p:txBody>
      </p:sp>
      <p:sp>
        <p:nvSpPr>
          <p:cNvPr id="21" name="TextBox 2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4 - 7.4 Volatility breakouts  |  Check 33</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Here is the chapter's reading habit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Bar, indicator, and volume action may indicate future price activity.</a:t>
            </a:r>
          </a:p>
          <a:p>
            <a:pPr algn="l">
              <a:lnSpc>
                <a:spcPct val="118000"/>
              </a:lnSpc>
              <a:spcBef>
                <a:spcPts val="0"/>
              </a:spcBef>
              <a:spcAft>
                <a:spcPts val="1300"/>
              </a:spcAft>
            </a:pPr>
            <a:r>
              <a:rPr sz="2100" b="0" i="0">
                <a:solidFill>
                  <a:srgbClr val="1A1A1A"/>
                </a:solidFill>
                <a:latin typeface="Arial"/>
              </a:rPr>
              <a:t>Chapter 7 reads OHLC, formation count, trend and intrinsic sentiment, gaps, barriers, volume, and 16 reversal characteristics.</a:t>
            </a:r>
          </a:p>
          <a:p>
            <a:pPr algn="l">
              <a:lnSpc>
                <a:spcPct val="118000"/>
              </a:lnSpc>
              <a:spcBef>
                <a:spcPts val="0"/>
              </a:spcBef>
              <a:spcAft>
                <a:spcPts val="1300"/>
              </a:spcAft>
            </a:pPr>
            <a:r>
              <a:rPr sz="2100" b="0" i="0">
                <a:solidFill>
                  <a:srgbClr val="1A1A1A"/>
                </a:solidFill>
                <a:latin typeface="Arial"/>
              </a:rPr>
              <a:t>Breakout patterns may catch continuations or reversals, but every reading remains potential. Chapter 8 teaches the oscillator method.</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a reading habit, not a complete trade plan.</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233. The chapter summary is paraphrased for teaching.</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1 starts with the exhaustion bar</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30352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1 asks how exhaustion bars and pin bars differ (p. 233). In an uptrend an exhaustion bar opens above the previous bar's high and should close at or near its low, and no gap follows it.</a:t>
            </a:r>
          </a:p>
          <a:p>
            <a:pPr algn="l">
              <a:lnSpc>
                <a:spcPct val="105000"/>
              </a:lnSpc>
              <a:spcBef>
                <a:spcPts val="0"/>
              </a:spcBef>
              <a:spcAft>
                <a:spcPts val="1100"/>
              </a:spcAft>
            </a:pPr>
            <a:r>
              <a:rPr sz="1700" b="0" i="0">
                <a:solidFill>
                  <a:srgbClr val="1A1A1A"/>
                </a:solidFill>
                <a:latin typeface="Arial"/>
              </a:rPr>
              <a:t>In a downtrend the reverse is true, as in Figure 7.28's bullish exhaustion bar </a:t>
            </a:r>
            <a:r>
              <a:rPr sz="1700" b="1" i="0">
                <a:solidFill>
                  <a:srgbClr val="E09B00"/>
                </a:solidFill>
                <a:latin typeface="Arial"/>
              </a:rPr>
              <a:t>(1)</a:t>
            </a:r>
            <a:r>
              <a:rPr sz="1700" b="0" i="0">
                <a:solidFill>
                  <a:srgbClr val="1A1A1A"/>
                </a:solidFill>
                <a:latin typeface="Arial"/>
              </a:rPr>
              <a:t> at a bottom (p. 226).</a:t>
            </a:r>
          </a:p>
          <a:p>
            <a:pPr algn="l">
              <a:lnSpc>
                <a:spcPct val="105000"/>
              </a:lnSpc>
              <a:spcBef>
                <a:spcPts val="0"/>
              </a:spcBef>
              <a:spcAft>
                <a:spcPts val="1100"/>
              </a:spcAft>
            </a:pPr>
            <a:r>
              <a:rPr sz="1700" b="0" i="0">
                <a:solidFill>
                  <a:srgbClr val="1A1A1A"/>
                </a:solidFill>
                <a:latin typeface="Arial"/>
              </a:rPr>
              <a:t>Its Gap label is the opening gap from the previous bar; the rule is that no gap follows the exhaustion bar.</a:t>
            </a:r>
          </a:p>
        </p:txBody>
      </p:sp>
      <p:sp>
        <p:nvSpPr>
          <p:cNvPr id="7" name="Rectangle 6"/>
          <p:cNvSpPr/>
          <p:nvPr/>
        </p:nvSpPr>
        <p:spPr>
          <a:xfrm>
            <a:off x="777240" y="4930902"/>
            <a:ext cx="82296" cy="694944"/>
          </a:xfrm>
          <a:prstGeom prst="rect">
            <a:avLst/>
          </a:prstGeom>
          <a:solidFill>
            <a:srgbClr val="F2A900"/>
          </a:solidFill>
          <a:ln>
            <a:noFill/>
          </a:ln>
          <a:effectLst/>
        </p:spPr>
        <p:txBody>
          <a:bodyPr rtlCol="0" anchor="ctr"/>
          <a:lstStyle/>
          <a:p>
            <a:pPr algn="ctr"/>
          </a:p>
        </p:txBody>
      </p:sp>
      <p:sp>
        <p:nvSpPr>
          <p:cNvPr id="8" name="TextBox 7"/>
          <p:cNvSpPr txBox="1"/>
          <p:nvPr/>
        </p:nvSpPr>
        <p:spPr>
          <a:xfrm>
            <a:off x="1069848" y="4967478"/>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Lim regards it as a reversal bar (p. 226).</a:t>
            </a:r>
          </a:p>
        </p:txBody>
      </p:sp>
      <p:sp>
        <p:nvSpPr>
          <p:cNvPr id="9" name="Rectangle 8"/>
          <p:cNvSpPr/>
          <p:nvPr/>
        </p:nvSpPr>
        <p:spPr>
          <a:xfrm>
            <a:off x="6364223" y="1207008"/>
            <a:ext cx="5086807" cy="4722047"/>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00799" y="1243584"/>
            <a:ext cx="5013655" cy="464889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400799" y="1243584"/>
            <a:ext cx="50136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6675119" y="1517904"/>
            <a:ext cx="4465015" cy="419169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7.28</a:t>
            </a:r>
          </a:p>
          <a:p>
            <a:pPr algn="l">
              <a:lnSpc>
                <a:spcPct val="115000"/>
              </a:lnSpc>
              <a:spcBef>
                <a:spcPts val="0"/>
              </a:spcBef>
              <a:spcAft>
                <a:spcPts val="0"/>
              </a:spcAft>
            </a:pPr>
            <a:r>
              <a:rPr sz="1500" b="0" i="0">
                <a:solidFill>
                  <a:srgbClr val="1A1A1A"/>
                </a:solidFill>
                <a:latin typeface="Palatino"/>
              </a:rPr>
              <a:t>A crop of Figure 7.28 around the bullish exhaustion bar the book labels, with the gap before it and the bars after it.</a:t>
            </a:r>
          </a:p>
        </p:txBody>
      </p:sp>
      <p:sp>
        <p:nvSpPr>
          <p:cNvPr id="13" name="Oval 12"/>
          <p:cNvSpPr/>
          <p:nvPr/>
        </p:nvSpPr>
        <p:spPr>
          <a:xfrm>
            <a:off x="8406261" y="3196120"/>
            <a:ext cx="601638" cy="929779"/>
          </a:xfrm>
          <a:prstGeom prst="ellipse">
            <a:avLst/>
          </a:prstGeom>
          <a:noFill/>
          <a:ln w="44450">
            <a:solidFill>
              <a:srgbClr val="E09B00"/>
            </a:solidFill>
          </a:ln>
        </p:spPr>
        <p:txBody>
          <a:bodyPr rtlCol="0" anchor="ctr"/>
          <a:lstStyle/>
          <a:p>
            <a:pPr algn="ctr"/>
          </a:p>
        </p:txBody>
      </p:sp>
      <p:sp>
        <p:nvSpPr>
          <p:cNvPr id="14" name="Oval 13"/>
          <p:cNvSpPr/>
          <p:nvPr/>
        </p:nvSpPr>
        <p:spPr>
          <a:xfrm>
            <a:off x="7918146" y="3733049"/>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TextBox 14"/>
          <p:cNvSpPr txBox="1"/>
          <p:nvPr/>
        </p:nvSpPr>
        <p:spPr>
          <a:xfrm>
            <a:off x="777240" y="5705856"/>
            <a:ext cx="530352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7.28 -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226 and 233, Figure 7.28. The crop and mark are ours, added for teaching.</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1: how a pin bar differs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420624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pin bar, or Pinocchio bar, pokes through a barrier and then rapidly retraces back inside it (p. 227). In Figure 7.30, Micron's pin bar </a:t>
            </a:r>
            <a:r>
              <a:rPr sz="1700" b="1" i="0">
                <a:solidFill>
                  <a:srgbClr val="E09B00"/>
                </a:solidFill>
                <a:latin typeface="Arial"/>
              </a:rPr>
              <a:t>(1)</a:t>
            </a:r>
            <a:r>
              <a:rPr sz="1700" b="0" i="0">
                <a:solidFill>
                  <a:srgbClr val="1A1A1A"/>
                </a:solidFill>
                <a:latin typeface="Arial"/>
              </a:rPr>
              <a:t> breaches support </a:t>
            </a:r>
            <a:r>
              <a:rPr sz="1700" b="1" i="0">
                <a:solidFill>
                  <a:srgbClr val="C62828"/>
                </a:solidFill>
                <a:latin typeface="Arial"/>
              </a:rPr>
              <a:t>(2)</a:t>
            </a:r>
            <a:r>
              <a:rPr sz="1700" b="0" i="0">
                <a:solidFill>
                  <a:srgbClr val="1A1A1A"/>
                </a:solidFill>
                <a:latin typeface="Arial"/>
              </a:rPr>
              <a:t>, and price comes straight back above it (p. 228).</a:t>
            </a:r>
          </a:p>
          <a:p>
            <a:pPr algn="l">
              <a:lnSpc>
                <a:spcPct val="105000"/>
              </a:lnSpc>
              <a:spcBef>
                <a:spcPts val="0"/>
              </a:spcBef>
              <a:spcAft>
                <a:spcPts val="1100"/>
              </a:spcAft>
            </a:pPr>
            <a:r>
              <a:rPr sz="1700" b="0" i="0">
                <a:solidFill>
                  <a:srgbClr val="1A1A1A"/>
                </a:solidFill>
                <a:latin typeface="Arial"/>
              </a:rPr>
              <a:t>So the difference is this. A pin bar gives a false impression of price breaking through a barrier, and pin bars usually form on low volume. Exhaustion bars do not usually give that false impression (p. 227).</a:t>
            </a:r>
          </a:p>
        </p:txBody>
      </p:sp>
      <p:sp>
        <p:nvSpPr>
          <p:cNvPr id="7" name="Rectangle 6"/>
          <p:cNvSpPr/>
          <p:nvPr/>
        </p:nvSpPr>
        <p:spPr>
          <a:xfrm>
            <a:off x="5266943" y="1207008"/>
            <a:ext cx="6184087" cy="3159976"/>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5303519" y="1243584"/>
            <a:ext cx="6110935" cy="3086824"/>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303519" y="1243584"/>
            <a:ext cx="611093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5577839" y="1517904"/>
            <a:ext cx="5562295" cy="262962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7.30</a:t>
            </a:r>
          </a:p>
          <a:p>
            <a:pPr algn="l">
              <a:lnSpc>
                <a:spcPct val="115000"/>
              </a:lnSpc>
              <a:spcBef>
                <a:spcPts val="0"/>
              </a:spcBef>
              <a:spcAft>
                <a:spcPts val="0"/>
              </a:spcAft>
            </a:pPr>
            <a:r>
              <a:rPr sz="1500" b="0" i="0">
                <a:solidFill>
                  <a:srgbClr val="1A1A1A"/>
                </a:solidFill>
                <a:latin typeface="Palatino"/>
              </a:rPr>
              <a:t>A crop of Figure 7.30 around the pin bar: its long tail below the dotted support line and the bars that recover above it.</a:t>
            </a:r>
          </a:p>
        </p:txBody>
      </p:sp>
      <p:sp>
        <p:nvSpPr>
          <p:cNvPr id="11" name="Oval 10"/>
          <p:cNvSpPr/>
          <p:nvPr/>
        </p:nvSpPr>
        <p:spPr>
          <a:xfrm>
            <a:off x="7472901" y="3280888"/>
            <a:ext cx="366656" cy="709969"/>
          </a:xfrm>
          <a:prstGeom prst="ellipse">
            <a:avLst/>
          </a:prstGeom>
          <a:noFill/>
          <a:ln w="44450">
            <a:solidFill>
              <a:srgbClr val="E09B00"/>
            </a:solidFill>
          </a:ln>
        </p:spPr>
        <p:txBody>
          <a:bodyPr rtlCol="0" anchor="ctr"/>
          <a:lstStyle/>
          <a:p>
            <a:pPr algn="ctr"/>
          </a:p>
        </p:txBody>
      </p:sp>
      <p:cxnSp>
        <p:nvCxnSpPr>
          <p:cNvPr id="12" name="Connector 11"/>
          <p:cNvCxnSpPr/>
          <p:nvPr/>
        </p:nvCxnSpPr>
        <p:spPr>
          <a:xfrm>
            <a:off x="6159050" y="3395100"/>
            <a:ext cx="1161078" cy="0"/>
          </a:xfrm>
          <a:prstGeom prst="line">
            <a:avLst/>
          </a:prstGeom>
          <a:ln w="44450">
            <a:solidFill>
              <a:srgbClr val="C62828"/>
            </a:solidFill>
          </a:ln>
        </p:spPr>
      </p:cxnSp>
      <p:sp>
        <p:nvSpPr>
          <p:cNvPr id="13" name="Oval 12"/>
          <p:cNvSpPr/>
          <p:nvPr/>
        </p:nvSpPr>
        <p:spPr>
          <a:xfrm>
            <a:off x="7060749" y="3514147"/>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5777453" y="3257940"/>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420624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7.30 -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227 to 228, Figure 7.30. The crop and marks are ours, added for teaching.</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2: why ID/NR7 is a volatility breakout</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4864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2 asks why the ID/NR7 pattern is called a volatility breakout pattern (p. 233). Lim names it one and defines ID/NR n as an inside day breakout from the narrowest bar over the last n days; for ID/NR7, the narrowest of the last seven (p. 232).</a:t>
            </a:r>
          </a:p>
          <a:p>
            <a:pPr algn="l">
              <a:lnSpc>
                <a:spcPct val="105000"/>
              </a:lnSpc>
              <a:spcBef>
                <a:spcPts val="0"/>
              </a:spcBef>
              <a:spcAft>
                <a:spcPts val="1100"/>
              </a:spcAft>
            </a:pPr>
            <a:r>
              <a:rPr sz="1700" b="0" i="0">
                <a:solidFill>
                  <a:srgbClr val="1A1A1A"/>
                </a:solidFill>
                <a:latin typeface="Arial"/>
              </a:rPr>
              <a:t>He gives no further reason. Our plain reading: the narrowest bar is the quietest in a while, like the inside bar the book's arrow names in Figure 7.38 </a:t>
            </a:r>
            <a:r>
              <a:rPr sz="1700" b="1" i="0">
                <a:solidFill>
                  <a:srgbClr val="E09B00"/>
                </a:solidFill>
                <a:latin typeface="Arial"/>
              </a:rPr>
              <a:t>(1)</a:t>
            </a:r>
            <a:r>
              <a:rPr sz="1700" b="0" i="0">
                <a:solidFill>
                  <a:srgbClr val="1A1A1A"/>
                </a:solidFill>
                <a:latin typeface="Arial"/>
              </a:rPr>
              <a:t>, so the breakout comes out of low volatility.</a:t>
            </a:r>
          </a:p>
        </p:txBody>
      </p:sp>
      <p:sp>
        <p:nvSpPr>
          <p:cNvPr id="7" name="Rectangle 6"/>
          <p:cNvSpPr/>
          <p:nvPr/>
        </p:nvSpPr>
        <p:spPr>
          <a:xfrm>
            <a:off x="6547103" y="1207008"/>
            <a:ext cx="4903927" cy="4934397"/>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583679" y="1243584"/>
            <a:ext cx="4830775" cy="486124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583679" y="1243584"/>
            <a:ext cx="483077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6857999" y="1517904"/>
            <a:ext cx="4282135" cy="44040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7.38</a:t>
            </a:r>
          </a:p>
          <a:p>
            <a:pPr algn="l">
              <a:lnSpc>
                <a:spcPct val="115000"/>
              </a:lnSpc>
              <a:spcBef>
                <a:spcPts val="0"/>
              </a:spcBef>
              <a:spcAft>
                <a:spcPts val="0"/>
              </a:spcAft>
            </a:pPr>
            <a:r>
              <a:rPr sz="1500" b="0" i="0">
                <a:solidFill>
                  <a:srgbClr val="1A1A1A"/>
                </a:solidFill>
                <a:latin typeface="Palatino"/>
              </a:rPr>
              <a:t>A crop of Figure 7.38 around bars 4 to 7, the inside bar the book's arrow names, and the two trigger levels.</a:t>
            </a:r>
          </a:p>
        </p:txBody>
      </p:sp>
      <p:sp>
        <p:nvSpPr>
          <p:cNvPr id="11" name="Rectangle 10"/>
          <p:cNvSpPr/>
          <p:nvPr/>
        </p:nvSpPr>
        <p:spPr>
          <a:xfrm>
            <a:off x="7609253" y="3403921"/>
            <a:ext cx="231877" cy="877940"/>
          </a:xfrm>
          <a:prstGeom prst="rect">
            <a:avLst/>
          </a:prstGeom>
          <a:noFill/>
          <a:ln w="44450">
            <a:solidFill>
              <a:srgbClr val="E09B00"/>
            </a:solidFill>
          </a:ln>
        </p:spPr>
        <p:txBody>
          <a:bodyPr rtlCol="0" anchor="ctr"/>
          <a:lstStyle/>
          <a:p>
            <a:pPr algn="ctr"/>
          </a:p>
        </p:txBody>
      </p:sp>
      <p:sp>
        <p:nvSpPr>
          <p:cNvPr id="12" name="Oval 11"/>
          <p:cNvSpPr/>
          <p:nvPr/>
        </p:nvSpPr>
        <p:spPr>
          <a:xfrm>
            <a:off x="7951789" y="4448529"/>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3" name="TextBox 12"/>
          <p:cNvSpPr txBox="1"/>
          <p:nvPr/>
        </p:nvSpPr>
        <p:spPr>
          <a:xfrm>
            <a:off x="777240" y="5705856"/>
            <a:ext cx="54864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7.38 - Lim, The Handbook of Technical Analysis (Wiley, 2016)</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232 to 233, Figure 7.38. The crop and mark are ours, added for teaching.</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3: the key reversal day</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02920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3 asks for the main characteristics of a key reversal day (p. 233). A bearish key reversal bar forms a higher high than the previous bar and closes near or below the close of the previous bar (p. 218).</a:t>
            </a:r>
          </a:p>
          <a:p>
            <a:pPr algn="l">
              <a:lnSpc>
                <a:spcPct val="105000"/>
              </a:lnSpc>
              <a:spcBef>
                <a:spcPts val="0"/>
              </a:spcBef>
              <a:spcAft>
                <a:spcPts val="1100"/>
              </a:spcAft>
            </a:pPr>
            <a:r>
              <a:rPr sz="1700" b="0" i="0">
                <a:solidFill>
                  <a:srgbClr val="1A1A1A"/>
                </a:solidFill>
                <a:latin typeface="Arial"/>
              </a:rPr>
              <a:t>It may open with a large gap up and close on high volume, and the wider the bar, the more reliable the follow-through (p. 218). Figure 7.15 marks Apple's key reversal day </a:t>
            </a:r>
            <a:r>
              <a:rPr sz="1700" b="1" i="0">
                <a:solidFill>
                  <a:srgbClr val="E09B00"/>
                </a:solidFill>
                <a:latin typeface="Arial"/>
              </a:rPr>
              <a:t>(1)</a:t>
            </a:r>
            <a:r>
              <a:rPr sz="1700" b="0" i="0">
                <a:solidFill>
                  <a:srgbClr val="1A1A1A"/>
                </a:solidFill>
                <a:latin typeface="Arial"/>
              </a:rPr>
              <a:t> on above-average volume </a:t>
            </a:r>
            <a:r>
              <a:rPr sz="1700" b="1" i="0">
                <a:solidFill>
                  <a:srgbClr val="C62828"/>
                </a:solidFill>
                <a:latin typeface="Arial"/>
              </a:rPr>
              <a:t>(2)</a:t>
            </a:r>
            <a:r>
              <a:rPr sz="1700" b="0" i="0">
                <a:solidFill>
                  <a:srgbClr val="1A1A1A"/>
                </a:solidFill>
                <a:latin typeface="Arial"/>
              </a:rPr>
              <a:t>. A bullish key reversal is the converse, in a downtrend.</a:t>
            </a:r>
          </a:p>
        </p:txBody>
      </p:sp>
      <p:sp>
        <p:nvSpPr>
          <p:cNvPr id="7" name="Rectangle 6"/>
          <p:cNvSpPr/>
          <p:nvPr/>
        </p:nvSpPr>
        <p:spPr>
          <a:xfrm>
            <a:off x="6089903" y="1207008"/>
            <a:ext cx="5361127" cy="4020817"/>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126479" y="1243584"/>
            <a:ext cx="5287975" cy="394766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126479" y="1243584"/>
            <a:ext cx="528797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6400799" y="1517904"/>
            <a:ext cx="4739335" cy="349046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7.15</a:t>
            </a:r>
          </a:p>
          <a:p>
            <a:pPr algn="l">
              <a:lnSpc>
                <a:spcPct val="115000"/>
              </a:lnSpc>
              <a:spcBef>
                <a:spcPts val="0"/>
              </a:spcBef>
              <a:spcAft>
                <a:spcPts val="0"/>
              </a:spcAft>
            </a:pPr>
            <a:r>
              <a:rPr sz="1500" b="0" i="0">
                <a:solidFill>
                  <a:srgbClr val="1A1A1A"/>
                </a:solidFill>
                <a:latin typeface="Palatino"/>
              </a:rPr>
              <a:t>A crop of Figure 7.15: Apple's key reversal day after the uptrend, and its volume bar above the 20-day average.</a:t>
            </a:r>
          </a:p>
        </p:txBody>
      </p:sp>
      <p:sp>
        <p:nvSpPr>
          <p:cNvPr id="11" name="Rectangle 10"/>
          <p:cNvSpPr/>
          <p:nvPr/>
        </p:nvSpPr>
        <p:spPr>
          <a:xfrm>
            <a:off x="8532508" y="1259374"/>
            <a:ext cx="185079" cy="761899"/>
          </a:xfrm>
          <a:prstGeom prst="rect">
            <a:avLst/>
          </a:prstGeom>
          <a:noFill/>
          <a:ln w="44450">
            <a:solidFill>
              <a:srgbClr val="E09B00"/>
            </a:solidFill>
          </a:ln>
        </p:spPr>
        <p:txBody>
          <a:bodyPr rtlCol="0" anchor="ctr"/>
          <a:lstStyle/>
          <a:p>
            <a:pPr algn="ctr"/>
          </a:p>
        </p:txBody>
      </p:sp>
      <p:sp>
        <p:nvSpPr>
          <p:cNvPr id="12" name="Rectangle 11"/>
          <p:cNvSpPr/>
          <p:nvPr/>
        </p:nvSpPr>
        <p:spPr>
          <a:xfrm>
            <a:off x="8548372" y="4630680"/>
            <a:ext cx="169215" cy="560568"/>
          </a:xfrm>
          <a:prstGeom prst="rect">
            <a:avLst/>
          </a:prstGeom>
          <a:noFill/>
          <a:ln w="44450">
            <a:solidFill>
              <a:srgbClr val="C62828"/>
            </a:solidFill>
          </a:ln>
        </p:spPr>
        <p:txBody>
          <a:bodyPr rtlCol="0" anchor="ctr"/>
          <a:lstStyle/>
          <a:p>
            <a:pPr algn="ctr"/>
          </a:p>
        </p:txBody>
      </p:sp>
      <p:sp>
        <p:nvSpPr>
          <p:cNvPr id="13" name="Oval 12"/>
          <p:cNvSpPr/>
          <p:nvPr/>
        </p:nvSpPr>
        <p:spPr>
          <a:xfrm>
            <a:off x="8791946" y="1382760"/>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791946" y="4292189"/>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502920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7.15 -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218 to 219 and 233, Figure 7.15. The crop and marks are ours, added for teaching.</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Review answer 4: the first eight characteristics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Review question 4 asks us to describe the 16 price and volume reversal characteristics (p. 233). Lim lists them on p. 217 as signs of a potential reversal, and Chapter 5 discusses each one.</a:t>
            </a:r>
          </a:p>
          <a:p>
            <a:pPr algn="l">
              <a:lnSpc>
                <a:spcPct val="118000"/>
              </a:lnSpc>
              <a:spcBef>
                <a:spcPts val="0"/>
              </a:spcBef>
              <a:spcAft>
                <a:spcPts val="1300"/>
              </a:spcAft>
            </a:pPr>
            <a:r>
              <a:rPr sz="2100" b="0" i="0">
                <a:solidFill>
                  <a:srgbClr val="1A1A1A"/>
                </a:solidFill>
                <a:latin typeface="Arial"/>
              </a:rPr>
              <a:t>The first eight are a decrease in price cycle amplitude, a decrease in price cycle period, a change in bar retracement symmetry, a decrease in average bar range, a lack of the quality of price persistence, a decrease in average bar stochastic ratio, a decrease in average candlestick real body to range ratio, and changes in angular symmetry and momentum.</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and 233; the 16 names follow the book's order.</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Review answer 4: the last eight characteristics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next four are proximity to a price barrier, a reduction in frequency and decrease in depth of trend-based oscillations, the appearance of relatively larger and longer lasting consolidations, and the appearance of an exhaustion gap.</a:t>
            </a:r>
          </a:p>
          <a:p>
            <a:pPr algn="l">
              <a:lnSpc>
                <a:spcPct val="118000"/>
              </a:lnSpc>
              <a:spcBef>
                <a:spcPts val="0"/>
              </a:spcBef>
              <a:spcAft>
                <a:spcPts val="1300"/>
              </a:spcAft>
            </a:pPr>
            <a:r>
              <a:rPr sz="2100" b="0" i="0">
                <a:solidFill>
                  <a:srgbClr val="1A1A1A"/>
                </a:solidFill>
                <a:latin typeface="Arial"/>
              </a:rPr>
              <a:t>The last four are completion of the average range for the period under observation, overextended price action with respect to a price barrier, price accompanied by extremely high or low volume, and standard divergences between price, volume and oscillators.</a:t>
            </a:r>
          </a:p>
          <a:p>
            <a:pPr algn="l">
              <a:lnSpc>
                <a:spcPct val="118000"/>
              </a:lnSpc>
              <a:spcBef>
                <a:spcPts val="0"/>
              </a:spcBef>
              <a:spcAft>
                <a:spcPts val="1300"/>
              </a:spcAft>
            </a:pPr>
            <a:r>
              <a:rPr sz="2100" b="0" i="0">
                <a:solidFill>
                  <a:srgbClr val="1A1A1A"/>
                </a:solidFill>
                <a:latin typeface="Arial"/>
              </a:rPr>
              <a:t>Lim singles out barrier proximity as one of the most important.</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 217; the 16 names follow the book's order.</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Review answer 5: what volume adds to a pattern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Review question 5 asks how volume affects bar chart pattern analysis (p. 233).</a:t>
            </a:r>
          </a:p>
          <a:p>
            <a:pPr algn="l">
              <a:lnSpc>
                <a:spcPct val="118000"/>
              </a:lnSpc>
              <a:spcBef>
                <a:spcPts val="0"/>
              </a:spcBef>
              <a:spcAft>
                <a:spcPts val="1300"/>
              </a:spcAft>
            </a:pPr>
            <a:r>
              <a:rPr sz="2100" b="0" i="0">
                <a:solidFill>
                  <a:srgbClr val="1A1A1A"/>
                </a:solidFill>
                <a:latin typeface="Arial"/>
              </a:rPr>
              <a:t>In a two-bar pattern, a narrow range bar should generally form on low volume, indicating uncertainty, and a large bar closing at or near its low should generally form on high volume in an uptrend (p. 212).</a:t>
            </a:r>
          </a:p>
          <a:p>
            <a:pPr algn="l">
              <a:lnSpc>
                <a:spcPct val="118000"/>
              </a:lnSpc>
              <a:spcBef>
                <a:spcPts val="0"/>
              </a:spcBef>
              <a:spcAft>
                <a:spcPts val="1300"/>
              </a:spcAft>
            </a:pPr>
            <a:r>
              <a:rPr sz="2100" b="0" i="0">
                <a:solidFill>
                  <a:srgbClr val="1A1A1A"/>
                </a:solidFill>
                <a:latin typeface="Arial"/>
              </a:rPr>
              <a:t>Lim also calls a bearish pattern potentially more reliable when its last bar is an overextended bar that closes at or near its low on high volume (pp. 212 to 214).</a:t>
            </a:r>
          </a:p>
        </p:txBody>
      </p:sp>
      <p:sp>
        <p:nvSpPr>
          <p:cNvPr id="8" name="Rectangle 7"/>
          <p:cNvSpPr/>
          <p:nvPr/>
        </p:nvSpPr>
        <p:spPr>
          <a:xfrm>
            <a:off x="777240" y="502843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6501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Volume adds weight to a reading; it does not guarantee the result.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212 to 214 and 233.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6: two triple-bar bearish patterns</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85216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6 asks for two triple-bar bearish patterns and how to trade them (p. 233). Figure 7.6 draws them (p. 213).</a:t>
            </a:r>
          </a:p>
          <a:p>
            <a:pPr algn="l">
              <a:lnSpc>
                <a:spcPct val="105000"/>
              </a:lnSpc>
              <a:spcBef>
                <a:spcPts val="0"/>
              </a:spcBef>
              <a:spcAft>
                <a:spcPts val="1100"/>
              </a:spcAft>
            </a:pPr>
            <a:r>
              <a:rPr sz="1700" b="0" i="0">
                <a:solidFill>
                  <a:srgbClr val="1A1A1A"/>
                </a:solidFill>
                <a:latin typeface="Arial"/>
              </a:rPr>
              <a:t>In pattern 1 </a:t>
            </a:r>
            <a:r>
              <a:rPr sz="1700" b="1" i="0">
                <a:solidFill>
                  <a:srgbClr val="E09B00"/>
                </a:solidFill>
                <a:latin typeface="Arial"/>
              </a:rPr>
              <a:t>(1)</a:t>
            </a:r>
            <a:r>
              <a:rPr sz="1700" b="0" i="0">
                <a:solidFill>
                  <a:srgbClr val="1A1A1A"/>
                </a:solidFill>
                <a:latin typeface="Arial"/>
              </a:rPr>
              <a:t>, the first bar closes near its high, a large middle bar closes near its low, and the third bar closes at or near its low. In pattern 2 </a:t>
            </a:r>
            <a:r>
              <a:rPr sz="1700" b="1" i="0">
                <a:solidFill>
                  <a:srgbClr val="C62828"/>
                </a:solidFill>
                <a:latin typeface="Arial"/>
              </a:rPr>
              <a:t>(2)</a:t>
            </a:r>
            <a:r>
              <a:rPr sz="1700" b="0" i="0">
                <a:solidFill>
                  <a:srgbClr val="1A1A1A"/>
                </a:solidFill>
                <a:latin typeface="Arial"/>
              </a:rPr>
              <a:t>, a narrow range middle bar closes within its range on low volume, and the third bar closes at or near its low.</a:t>
            </a:r>
          </a:p>
          <a:p>
            <a:pPr algn="l">
              <a:lnSpc>
                <a:spcPct val="105000"/>
              </a:lnSpc>
              <a:spcBef>
                <a:spcPts val="0"/>
              </a:spcBef>
              <a:spcAft>
                <a:spcPts val="1100"/>
              </a:spcAft>
            </a:pPr>
            <a:r>
              <a:rPr sz="1700" b="0" i="0">
                <a:solidFill>
                  <a:srgbClr val="1A1A1A"/>
                </a:solidFill>
                <a:latin typeface="Arial"/>
              </a:rPr>
              <a:t>On trading, Lim gives only what makes the pattern more reliable: larger gaps, wider first and third bars, and a last bar closing near its low on high volume (pp. 213 to 214). He gives no entry or exit rule.</a:t>
            </a:r>
          </a:p>
        </p:txBody>
      </p:sp>
      <p:sp>
        <p:nvSpPr>
          <p:cNvPr id="7" name="Rectangle 6"/>
          <p:cNvSpPr/>
          <p:nvPr/>
        </p:nvSpPr>
        <p:spPr>
          <a:xfrm>
            <a:off x="6912864" y="1207008"/>
            <a:ext cx="4538166" cy="4550887"/>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949440" y="1243584"/>
            <a:ext cx="4465014" cy="4477735"/>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949440" y="1243584"/>
            <a:ext cx="4465014"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7223759" y="1517904"/>
            <a:ext cx="3916374" cy="40205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7.6</a:t>
            </a:r>
          </a:p>
          <a:p>
            <a:pPr algn="l">
              <a:lnSpc>
                <a:spcPct val="115000"/>
              </a:lnSpc>
              <a:spcBef>
                <a:spcPts val="0"/>
              </a:spcBef>
              <a:spcAft>
                <a:spcPts val="0"/>
              </a:spcAft>
            </a:pPr>
            <a:r>
              <a:rPr sz="1500" b="0" i="0">
                <a:solidFill>
                  <a:srgbClr val="1A1A1A"/>
                </a:solidFill>
                <a:latin typeface="Palatino"/>
              </a:rPr>
              <a:t>Figure 7.6 cropped to the bars of its first two bearish triple-bar patterns.</a:t>
            </a:r>
          </a:p>
        </p:txBody>
      </p:sp>
      <p:sp>
        <p:nvSpPr>
          <p:cNvPr id="11" name="Rectangle 10"/>
          <p:cNvSpPr/>
          <p:nvPr/>
        </p:nvSpPr>
        <p:spPr>
          <a:xfrm>
            <a:off x="7708492" y="1337616"/>
            <a:ext cx="893002" cy="2203046"/>
          </a:xfrm>
          <a:prstGeom prst="rect">
            <a:avLst/>
          </a:prstGeom>
          <a:noFill/>
          <a:ln w="44450">
            <a:solidFill>
              <a:srgbClr val="E09B00"/>
            </a:solidFill>
          </a:ln>
        </p:spPr>
        <p:txBody>
          <a:bodyPr rtlCol="0" anchor="ctr"/>
          <a:lstStyle/>
          <a:p>
            <a:pPr algn="ctr"/>
          </a:p>
        </p:txBody>
      </p:sp>
      <p:sp>
        <p:nvSpPr>
          <p:cNvPr id="12" name="Rectangle 11"/>
          <p:cNvSpPr/>
          <p:nvPr/>
        </p:nvSpPr>
        <p:spPr>
          <a:xfrm>
            <a:off x="9851699" y="1713746"/>
            <a:ext cx="937653" cy="1826916"/>
          </a:xfrm>
          <a:prstGeom prst="rect">
            <a:avLst/>
          </a:prstGeom>
          <a:noFill/>
          <a:ln w="44450">
            <a:solidFill>
              <a:srgbClr val="C62828"/>
            </a:solidFill>
          </a:ln>
        </p:spPr>
        <p:txBody>
          <a:bodyPr rtlCol="0" anchor="ctr"/>
          <a:lstStyle/>
          <a:p>
            <a:pPr algn="ctr"/>
          </a:p>
        </p:txBody>
      </p:sp>
      <p:sp>
        <p:nvSpPr>
          <p:cNvPr id="13" name="Oval 12"/>
          <p:cNvSpPr/>
          <p:nvPr/>
        </p:nvSpPr>
        <p:spPr>
          <a:xfrm>
            <a:off x="7348081" y="1388521"/>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10920093" y="1764651"/>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585216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7.6 -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213 to 214 and 233, Figure 7.6. The crop and marks are ours, added for teaching.</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7: the ideal inside-bar reversal</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30352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7 asks for the ideal conditions for an inside bar reversal (p. 233). Lim says the first bar should be as wide as possible on high volume, and the second as narrow as possible on very low volume (p. 224).</a:t>
            </a:r>
          </a:p>
          <a:p>
            <a:pPr algn="l">
              <a:lnSpc>
                <a:spcPct val="105000"/>
              </a:lnSpc>
              <a:spcBef>
                <a:spcPts val="0"/>
              </a:spcBef>
              <a:spcAft>
                <a:spcPts val="1100"/>
              </a:spcAft>
            </a:pPr>
            <a:r>
              <a:rPr sz="1700" b="0" i="0">
                <a:solidFill>
                  <a:srgbClr val="1A1A1A"/>
                </a:solidFill>
                <a:latin typeface="Arial"/>
              </a:rPr>
              <a:t>Figure 7.25 shows two inside bars, 1 </a:t>
            </a:r>
            <a:r>
              <a:rPr sz="1700" b="1" i="0">
                <a:solidFill>
                  <a:srgbClr val="E09B00"/>
                </a:solidFill>
                <a:latin typeface="Arial"/>
              </a:rPr>
              <a:t>(1)</a:t>
            </a:r>
            <a:r>
              <a:rPr sz="1700" b="0" i="0">
                <a:solidFill>
                  <a:srgbClr val="1A1A1A"/>
                </a:solidFill>
                <a:latin typeface="Arial"/>
              </a:rPr>
              <a:t> and 2 </a:t>
            </a:r>
            <a:r>
              <a:rPr sz="1700" b="1" i="0">
                <a:solidFill>
                  <a:srgbClr val="C62828"/>
                </a:solidFill>
                <a:latin typeface="Arial"/>
              </a:rPr>
              <a:t>(2)</a:t>
            </a:r>
            <a:r>
              <a:rPr sz="1700" b="0" i="0">
                <a:solidFill>
                  <a:srgbClr val="1A1A1A"/>
                </a:solidFill>
                <a:latin typeface="Arial"/>
              </a:rPr>
              <a:t>, each within a wider bar at the same resistance level (pp. 224 to 225). It has no volume panel, so the volume half of the rule comes from the text.</a:t>
            </a:r>
          </a:p>
        </p:txBody>
      </p:sp>
      <p:sp>
        <p:nvSpPr>
          <p:cNvPr id="7" name="Rectangle 6"/>
          <p:cNvSpPr/>
          <p:nvPr/>
        </p:nvSpPr>
        <p:spPr>
          <a:xfrm>
            <a:off x="6364223" y="1207008"/>
            <a:ext cx="5086807" cy="3726771"/>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400799" y="1243584"/>
            <a:ext cx="5013655" cy="3653619"/>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400799" y="1243584"/>
            <a:ext cx="5013655"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6675119" y="1517904"/>
            <a:ext cx="4465015" cy="319641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The price panel of Figure 7.25 around the two inside bars the book numbers 1 and 2, both at the same resistance level.</a:t>
            </a:r>
          </a:p>
        </p:txBody>
      </p:sp>
      <p:sp>
        <p:nvSpPr>
          <p:cNvPr id="11" name="Rectangle 10"/>
          <p:cNvSpPr/>
          <p:nvPr/>
        </p:nvSpPr>
        <p:spPr>
          <a:xfrm>
            <a:off x="7694322" y="1543180"/>
            <a:ext cx="280764" cy="843986"/>
          </a:xfrm>
          <a:prstGeom prst="rect">
            <a:avLst/>
          </a:prstGeom>
          <a:noFill/>
          <a:ln w="44450">
            <a:solidFill>
              <a:srgbClr val="E09B00"/>
            </a:solidFill>
          </a:ln>
        </p:spPr>
        <p:txBody>
          <a:bodyPr rtlCol="0" anchor="ctr"/>
          <a:lstStyle/>
          <a:p>
            <a:pPr algn="ctr"/>
          </a:p>
        </p:txBody>
      </p:sp>
      <p:sp>
        <p:nvSpPr>
          <p:cNvPr id="12" name="Rectangle 11"/>
          <p:cNvSpPr/>
          <p:nvPr/>
        </p:nvSpPr>
        <p:spPr>
          <a:xfrm>
            <a:off x="8586753" y="1543180"/>
            <a:ext cx="255696" cy="1092432"/>
          </a:xfrm>
          <a:prstGeom prst="rect">
            <a:avLst/>
          </a:prstGeom>
          <a:noFill/>
          <a:ln w="44450">
            <a:solidFill>
              <a:srgbClr val="C62828"/>
            </a:solidFill>
          </a:ln>
        </p:spPr>
        <p:txBody>
          <a:bodyPr rtlCol="0" anchor="ctr"/>
          <a:lstStyle/>
          <a:p>
            <a:pPr algn="ctr"/>
          </a:p>
        </p:txBody>
      </p:sp>
      <p:sp>
        <p:nvSpPr>
          <p:cNvPr id="13" name="Oval 12"/>
          <p:cNvSpPr/>
          <p:nvPr/>
        </p:nvSpPr>
        <p:spPr>
          <a:xfrm>
            <a:off x="7717599" y="2494799"/>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8605016" y="2750552"/>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530352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7.25 -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224 to 225 and 233, Figure 7.25. The crop and marks are ours, added for teaching.</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384048"/>
            <a:ext cx="10637215" cy="768096"/>
          </a:xfrm>
          <a:prstGeom prst="rect">
            <a:avLst/>
          </a:prstGeom>
          <a:noFill/>
        </p:spPr>
        <p:txBody>
          <a:bodyPr wrap="square" anchor="t" lIns="0" rIns="0" tIns="0" bIns="0">
            <a:spAutoFit/>
          </a:bodyPr>
          <a:lstStyle/>
          <a:p>
            <a:pPr algn="l">
              <a:lnSpc>
                <a:spcPct val="100000"/>
              </a:lnSpc>
              <a:spcBef>
                <a:spcPts val="0"/>
              </a:spcBef>
              <a:spcAft>
                <a:spcPts val="0"/>
              </a:spcAft>
            </a:pPr>
            <a:r>
              <a:rPr sz="2800" b="0" i="0">
                <a:solidFill>
                  <a:srgbClr val="007A33"/>
                </a:solidFill>
                <a:latin typeface="Palatino"/>
              </a:rPr>
              <a:t>Review question 8 points ahead to Chapter 8</a:t>
            </a:r>
          </a:p>
        </p:txBody>
      </p:sp>
      <p:sp>
        <p:nvSpPr>
          <p:cNvPr id="5" name="Rectangle 4"/>
          <p:cNvSpPr/>
          <p:nvPr/>
        </p:nvSpPr>
        <p:spPr>
          <a:xfrm>
            <a:off x="777240" y="1143000"/>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1243584"/>
            <a:ext cx="5852160" cy="438912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Review question 8 asks how we would use oscillators to gauge how bearish or bullish a bar reversal pattern is (p. 233). Chapter 7 shows only that they can agree.</a:t>
            </a:r>
          </a:p>
          <a:p>
            <a:pPr algn="l">
              <a:lnSpc>
                <a:spcPct val="105000"/>
              </a:lnSpc>
              <a:spcBef>
                <a:spcPts val="0"/>
              </a:spcBef>
              <a:spcAft>
                <a:spcPts val="1100"/>
              </a:spcAft>
            </a:pPr>
            <a:r>
              <a:rPr sz="1700" b="0" i="0">
                <a:solidFill>
                  <a:srgbClr val="1A1A1A"/>
                </a:solidFill>
                <a:latin typeface="Arial"/>
              </a:rPr>
              <a:t>In Figure 7.25, the book labels a bearish divergence </a:t>
            </a:r>
            <a:r>
              <a:rPr sz="1700" b="1" i="0">
                <a:solidFill>
                  <a:srgbClr val="C62828"/>
                </a:solidFill>
                <a:latin typeface="Arial"/>
              </a:rPr>
              <a:t>(2)</a:t>
            </a:r>
            <a:r>
              <a:rPr sz="1700" b="0" i="0">
                <a:solidFill>
                  <a:srgbClr val="1A1A1A"/>
                </a:solidFill>
                <a:latin typeface="Arial"/>
              </a:rPr>
              <a:t> between the oscillator panel, StochRSI, and inside bar 2 </a:t>
            </a:r>
            <a:r>
              <a:rPr sz="1700" b="1" i="0">
                <a:solidFill>
                  <a:srgbClr val="E09B00"/>
                </a:solidFill>
                <a:latin typeface="Arial"/>
              </a:rPr>
              <a:t>(1)</a:t>
            </a:r>
            <a:r>
              <a:rPr sz="1700" b="0" i="0">
                <a:solidFill>
                  <a:srgbClr val="1A1A1A"/>
                </a:solidFill>
                <a:latin typeface="Arial"/>
              </a:rPr>
              <a:t> (p. 225): the oscillator falls while price makes inside bar 2 at resistance, so it agrees with the bearish reversal reading. Lim also lists divergences between price, volume and oscillators as the 16th reversal characteristic (p. 217).</a:t>
            </a:r>
          </a:p>
          <a:p>
            <a:pPr algn="l">
              <a:lnSpc>
                <a:spcPct val="105000"/>
              </a:lnSpc>
              <a:spcBef>
                <a:spcPts val="0"/>
              </a:spcBef>
              <a:spcAft>
                <a:spcPts val="1100"/>
              </a:spcAft>
            </a:pPr>
            <a:r>
              <a:rPr sz="1700" b="0" i="0">
                <a:solidFill>
                  <a:srgbClr val="1A1A1A"/>
                </a:solidFill>
                <a:latin typeface="Arial"/>
              </a:rPr>
              <a:t>How to read the oscillators themselves is Chapter 8, so for now we treat their agreement as extra evidence, not a method.</a:t>
            </a:r>
          </a:p>
        </p:txBody>
      </p:sp>
      <p:sp>
        <p:nvSpPr>
          <p:cNvPr id="7" name="Rectangle 6"/>
          <p:cNvSpPr/>
          <p:nvPr/>
        </p:nvSpPr>
        <p:spPr>
          <a:xfrm>
            <a:off x="6912864" y="1207008"/>
            <a:ext cx="4538166" cy="4929580"/>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6949440" y="1243584"/>
            <a:ext cx="4465014" cy="4856428"/>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6949440" y="1243584"/>
            <a:ext cx="4465014" cy="50800"/>
          </a:xfrm>
          <a:prstGeom prst="rect">
            <a:avLst/>
          </a:prstGeom>
          <a:solidFill>
            <a:srgbClr val="F2A900"/>
          </a:solidFill>
          <a:ln>
            <a:noFill/>
          </a:ln>
          <a:effectLst/>
        </p:spPr>
        <p:txBody>
          <a:bodyPr rtlCol="0" anchor="ctr"/>
          <a:lstStyle/>
          <a:p>
            <a:pPr algn="ctr"/>
          </a:p>
        </p:txBody>
      </p:sp>
      <p:sp>
        <p:nvSpPr>
          <p:cNvPr id="10" name="TextBox 9"/>
          <p:cNvSpPr txBox="1"/>
          <p:nvPr/>
        </p:nvSpPr>
        <p:spPr>
          <a:xfrm>
            <a:off x="7223759" y="1517904"/>
            <a:ext cx="3916374" cy="439922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7.25</a:t>
            </a:r>
          </a:p>
          <a:p>
            <a:pPr algn="l">
              <a:lnSpc>
                <a:spcPct val="115000"/>
              </a:lnSpc>
              <a:spcBef>
                <a:spcPts val="0"/>
              </a:spcBef>
              <a:spcAft>
                <a:spcPts val="0"/>
              </a:spcAft>
            </a:pPr>
            <a:r>
              <a:rPr sz="1500" b="0" i="0">
                <a:solidFill>
                  <a:srgbClr val="1A1A1A"/>
                </a:solidFill>
                <a:latin typeface="Palatino"/>
              </a:rPr>
              <a:t>The right part of Figure 7.25: inside bar 2 at resistance and, below it, the StochRSI panel with the book's bearish divergence line.</a:t>
            </a:r>
          </a:p>
        </p:txBody>
      </p:sp>
      <p:sp>
        <p:nvSpPr>
          <p:cNvPr id="11" name="Rectangle 10"/>
          <p:cNvSpPr/>
          <p:nvPr/>
        </p:nvSpPr>
        <p:spPr>
          <a:xfrm>
            <a:off x="8896186" y="1510687"/>
            <a:ext cx="227715" cy="971285"/>
          </a:xfrm>
          <a:prstGeom prst="rect">
            <a:avLst/>
          </a:prstGeom>
          <a:noFill/>
          <a:ln w="44450">
            <a:solidFill>
              <a:srgbClr val="E09B00"/>
            </a:solidFill>
          </a:ln>
        </p:spPr>
        <p:txBody>
          <a:bodyPr rtlCol="0" anchor="ctr"/>
          <a:lstStyle/>
          <a:p>
            <a:pPr algn="ctr"/>
          </a:p>
        </p:txBody>
      </p:sp>
      <p:sp>
        <p:nvSpPr>
          <p:cNvPr id="12" name="Rectangle 11"/>
          <p:cNvSpPr/>
          <p:nvPr/>
        </p:nvSpPr>
        <p:spPr>
          <a:xfrm>
            <a:off x="8168389" y="4817915"/>
            <a:ext cx="893002" cy="383657"/>
          </a:xfrm>
          <a:prstGeom prst="rect">
            <a:avLst/>
          </a:prstGeom>
          <a:noFill/>
          <a:ln w="44450">
            <a:solidFill>
              <a:srgbClr val="C62828"/>
            </a:solidFill>
          </a:ln>
        </p:spPr>
        <p:txBody>
          <a:bodyPr rtlCol="0" anchor="ctr"/>
          <a:lstStyle/>
          <a:p>
            <a:pPr algn="ctr"/>
          </a:p>
        </p:txBody>
      </p:sp>
      <p:sp>
        <p:nvSpPr>
          <p:cNvPr id="13" name="Oval 12"/>
          <p:cNvSpPr/>
          <p:nvPr/>
        </p:nvSpPr>
        <p:spPr>
          <a:xfrm>
            <a:off x="8598286" y="2563352"/>
            <a:ext cx="274320" cy="274320"/>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Oval 13"/>
          <p:cNvSpPr/>
          <p:nvPr/>
        </p:nvSpPr>
        <p:spPr>
          <a:xfrm>
            <a:off x="7883883" y="4870156"/>
            <a:ext cx="274320" cy="274320"/>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5" name="TextBox 14"/>
          <p:cNvSpPr txBox="1"/>
          <p:nvPr/>
        </p:nvSpPr>
        <p:spPr>
          <a:xfrm>
            <a:off x="777240" y="5705856"/>
            <a:ext cx="5852160" cy="384048"/>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7.25 - Lim, The Handbook of Technical Analysis (Wiley, 2016)</a:t>
            </a:r>
          </a:p>
        </p:txBody>
      </p:sp>
      <p:sp>
        <p:nvSpPr>
          <p:cNvPr id="16" name="TextBox 1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pp. 217, 225 and 233, Figure 7.25. The crop and marks are ours, added for teaching.</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to carry forward from Chapter 7</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7 -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potential reversal is a reading, not a guarantee. Define the bar, show the numbers, and read the figure.</a:t>
            </a:r>
          </a:p>
          <a:p>
            <a:pPr algn="l">
              <a:lnSpc>
                <a:spcPct val="118000"/>
              </a:lnSpc>
              <a:spcBef>
                <a:spcPts val="0"/>
              </a:spcBef>
              <a:spcAft>
                <a:spcPts val="1300"/>
              </a:spcAft>
            </a:pPr>
            <a:r>
              <a:rPr sz="2100" b="0" i="0">
                <a:solidFill>
                  <a:srgbClr val="1A1A1A"/>
                </a:solidFill>
                <a:latin typeface="Arial"/>
              </a:rPr>
              <a:t>Then check the 16 reversal characteristics and name what the book leaves open.</a:t>
            </a:r>
          </a:p>
          <a:p>
            <a:pPr algn="l">
              <a:lnSpc>
                <a:spcPct val="118000"/>
              </a:lnSpc>
              <a:spcBef>
                <a:spcPts val="0"/>
              </a:spcBef>
              <a:spcAft>
                <a:spcPts val="1300"/>
              </a:spcAft>
            </a:pPr>
            <a:r>
              <a:rPr sz="2100" b="0" i="0">
                <a:solidFill>
                  <a:srgbClr val="1A1A1A"/>
                </a:solidFill>
                <a:latin typeface="Arial"/>
              </a:rPr>
              <a:t>Chapter 7 does not provide a complete trade plan, and its figures alone do not supply one.</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potential evidence honestly; it is not a promise.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Lim (2016), Chapter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7 - Bar Chart Analysis</dc:title>
  <dc:subject>Technical Analysis in Investment</dc:subject>
  <dc:creator>Faculty of Economics University</dc:creator>
  <cp:keywords/>
  <dc:description>generated using python-pptx</dc:description>
  <cp:lastModifiedBy>Faculty of Economics University</cp:lastModifiedBy>
  <cp:revision>1</cp:revision>
  <dcterms:created xsi:type="dcterms:W3CDTF">2020-01-01T00:00:00Z</dcterms:created>
  <dcterms:modified xsi:type="dcterms:W3CDTF">2020-01-01T00:00:00Z</dcterms:modified>
  <cp:category/>
</cp:coreProperties>
</file>