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Greet the room, then say what today buys them: one question, which phase is the market in, answered nine ways.</a:t>
            </a:r>
          </a:p>
          <a:p>
            <a:r>
              <a:rPr sz="1400"/>
              <a:t>- Say every idea today has a picture beside it. Where the book drew one it is the book's; the rest are ours.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These are the book's six learning objectives for the chapter, in its own words.</a:t>
            </a:r>
          </a:p>
          <a:p>
            <a:r>
              <a:rPr sz="1400"/>
              <a:t>- Do not read all six aloud. Say the first and the last, and that every one is examinable.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parts are the book's own sections. The marker at the bottom left of every slide says which one we are in.</a:t>
            </a:r>
          </a:p>
          <a:p>
            <a:r>
              <a:rPr sz="1400"/>
              <a:t>- Say the checks carry no marks. Each question slide is followed by its answers on a slide of their own.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Link back: these are the three phases of Dow Theory from Chapter 2. Today they get the whole chapter.</a:t>
            </a:r>
          </a:p>
          <a:p>
            <a:r>
              <a:rPr sz="1400"/>
              <a:t>- Say the one question now: which phase is this market in? Every section answers it a different way.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Review question 1 asks for this definition. The book never sets one apart: this joins its sentence in 4.1 with its sentence in 4.2.</a:t>
            </a:r>
          </a:p>
          <a:p>
            <a:r>
              <a:rPr sz="1400"/>
              <a:t>- Read the figure top down: two phases, and consolidation splits in two. Three phases, but only two kinds.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Cover the two dashed paths with a hand. The range looks the same either way; the label needs the next move.</a:t>
            </a:r>
          </a:p>
          <a:p>
            <a:r>
              <a:rPr sz="1400"/>
              <a:t>- The rest of the chapter is the hunt for evidence: volume, patterns, averages, momentum, sentiment, cycles.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at each grey box, then at the arrow under it in the volume panel: volume falls through every one.</a:t>
            </a:r>
          </a:p>
          <a:p>
            <a:r>
              <a:rPr sz="1400"/>
              <a:t>- The box at the top right is labelled only consolidation: nobody knew yet. Which one it was could only be said afterwards.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figure is a 15 minute chart and it has every phase the daily Dow chart had.</a:t>
            </a:r>
          </a:p>
          <a:p>
            <a:r>
              <a:rPr sz="1400"/>
              <a:t>- Multiple time frames are how the book says to see it: the macro phase first, then the micro phases inside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Chapter 2 named the two sides. What is new is how the informed buy: slowly, so the price stays low.</a:t>
            </a:r>
          </a:p>
          <a:p>
            <a:r>
              <a:rPr sz="1400"/>
              <a:t>- Their buying is what creates the final and decisive bottom. The book calls it very large responsive buying.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five numbers on the chart in order. Each group pays more than the one before it.</a:t>
            </a:r>
          </a:p>
          <a:p>
            <a:r>
              <a:rPr sz="1400"/>
              <a:t>- Regret bias is the term to underline: the fear of having missed out keeps the buying going.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Mirror the uptrend slide: each step is the same feedback with the sign reversed.</a:t>
            </a:r>
          </a:p>
          <a:p>
            <a:r>
              <a:rPr sz="1400"/>
              <a:t>- Further unexpected declines attract more public attention, and that causes the larger liquidation.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Irrational exuberance came up in Chapter 2. Margin debt is new here and comes back in the sentiment section.</a:t>
            </a:r>
          </a:p>
          <a:p>
            <a:r>
              <a:rPr sz="1400"/>
              <a:t>- Mirror the accumulation slide line by line. Students should be able to write one from the other.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why before showing the gold line. The book gives the same reason three times.</a:t>
            </a:r>
          </a:p>
          <a:p>
            <a:r>
              <a:rPr sz="1400"/>
              <a:t>- At the bottom there is less to lose, so nobody is in a hurry. At the top everyone has profit to protect.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review question 4: how would you determine if accumulation is taking place? These are the signs.</a:t>
            </a:r>
          </a:p>
          <a:p>
            <a:r>
              <a:rPr sz="1400"/>
              <a:t>- The book says the breakout can be to either side of the range. The signs are evidence, not proof.</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same list as accumulation with every direction reversed, plus one extra: signs of exhaustion.</a:t>
            </a:r>
          </a:p>
          <a:p>
            <a:r>
              <a:rPr sz="1400"/>
              <a:t>- It is shorter and more volatile than the accumulation, for the reason already given: more capital at risk.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Subjectivity again, as in Chapter 1: three analysts, three completion points, one chart.</a:t>
            </a:r>
          </a:p>
          <a:p>
            <a:r>
              <a:rPr sz="1400"/>
              <a:t>- Once a consolidation is complete, a trend may already be in effect. The book says that follows logically.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Do the arithmetic on the board: the top of the range plus the height of the range.</a:t>
            </a:r>
          </a:p>
          <a:p>
            <a:r>
              <a:rPr sz="1400"/>
              <a:t>- Figure 4.4 called this the one to one minimum target projection. It is the same thing.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why it matters: a pattern is one more piece of evidence for accumulation or distribution.</a:t>
            </a:r>
          </a:p>
          <a:p>
            <a:r>
              <a:rPr sz="1400"/>
              <a:t>- Reversal and continuation are the two words to hold. Every pattern in this section is filed under one.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Two tests, both needed: a confined range, and no significant trend component.</a:t>
            </a:r>
          </a:p>
          <a:p>
            <a:r>
              <a:rPr sz="1400"/>
              <a:t>- Hold the two tests against the V on the right of the chart. It fails both.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review question 3: why are most chart patterns consolidation patterns? The first two lines are the answer.</a:t>
            </a:r>
          </a:p>
          <a:p>
            <a:r>
              <a:rPr sz="1400"/>
              <a:t>- In the figure the V bottom is the accumulation: a very rapid one, with no range to see it forming 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figure's pattern is an inverted head and shoulders, as accumulation. The trend phase kicks in after the upside breakout.</a:t>
            </a:r>
          </a:p>
          <a:p>
            <a:r>
              <a:rPr sz="1400"/>
              <a:t>- The book points out this chart cannot tell us the pattern's extrinsic bias: it shows no price history, cycle or barrier.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They need to be able to list the eight. The sketches are a preview: Chapter 13 teaches each shape properly.</a:t>
            </a:r>
          </a:p>
          <a:p>
            <a:r>
              <a:rPr sz="1400"/>
              <a:t>- Pairs help: pennants and flags, the two with a pole; the two rounded ones; the triangle and the wedge.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Put this beside the last slide: a falling wedge is bullish, a rising wedge is bearish. Students get that one backwards.</a:t>
            </a:r>
          </a:p>
          <a:p>
            <a:r>
              <a:rPr sz="1400"/>
              <a:t>- Seven and not eight, because the book lists no bearish cup and handle.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accent is the bridge to the next term: if the shape does not decide, the location must.</a:t>
            </a:r>
          </a:p>
          <a:p>
            <a:r>
              <a:rPr sz="1400"/>
              <a:t>- Diamonds are named with the others and have no sketch. The book gives no description to draw from.</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the book's own worked example. The shape never changes: bullish. Only the location does.</a:t>
            </a:r>
          </a:p>
          <a:p>
            <a:r>
              <a:rPr sz="1400"/>
              <a:t>- At the bottom both biases are bullish, so the tendency for a reversal is greater. At the top they disagree.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Five factors, all outside the pattern. The figure shows the second and the fourth at work on a neutral triangle.</a:t>
            </a:r>
          </a:p>
          <a:p>
            <a:r>
              <a:rPr sz="1400"/>
              <a:t>- The trend phase follows after a short return move to the triangle's breakout barrier. Divergence and cycles come later today.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Trend sentiment is the book's name for the directionality of the trend. It is used from here on.</a:t>
            </a:r>
          </a:p>
          <a:p>
            <a:r>
              <a:rPr sz="1400"/>
              <a:t>- When attempting to judge the reliability of a reversal or a continuation, the book says: look for agreement.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flag's intrinsic bias agrees with the bearish trend sentiment, which greatly increases the potential for a reliable follow through.</a:t>
            </a:r>
          </a:p>
          <a:p>
            <a:r>
              <a:rPr sz="1400"/>
              <a:t>- These two lists are the book's patterns with respect to trend sentiment. The neutral patterns on them get their own slide.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 gives this with the ascending triangle in one sentence: two bullish patterns acting as continuation in trend phases.</a:t>
            </a:r>
          </a:p>
          <a:p>
            <a:r>
              <a:rPr sz="1400"/>
              <a:t>- It is the only place the chapter draws a rounding bottom. Trace the cup, then the line across its rim.</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Same pattern family, two directions: the standard one tops a market, the inverted one bottoms it.</a:t>
            </a:r>
          </a:p>
          <a:p>
            <a:r>
              <a:rPr sz="1400"/>
              <a:t>- The minimum price objective is the minimum measuring objective again, measured on a pattern and not on a range.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figure is the whole section on one page. Its type is small: the two lists are written out on the left for that reason.</a:t>
            </a:r>
          </a:p>
          <a:p>
            <a:r>
              <a:rPr sz="1400"/>
              <a:t>- Its third box is the continuation list, which matches the two lists already taught with the bear flag.</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In the figure the preexisting uptrend imbues the triangle with extrinsic bullishness. Imbues is the book's word.</a:t>
            </a:r>
          </a:p>
          <a:p>
            <a:r>
              <a:rPr sz="1400"/>
              <a:t>- The book contradicts itself on broadening formations: one list against one paragraph and one figure. Say so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second triangle is bullish both ways: it forms inside the clear support the first one made.</a:t>
            </a:r>
          </a:p>
          <a:p>
            <a:r>
              <a:rPr sz="1400"/>
              <a:t>- Had the third formed at a significant historical peak it would be extrinsically bearish. Volume declines as each breakout approaches.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the chapter objective on regime changes: the book's summary calls a phase transition a market regime change.</a:t>
            </a:r>
          </a:p>
          <a:p>
            <a:r>
              <a:rPr sz="1400"/>
              <a:t>- Volume and open interest get Chapter 6. Today is only what they say about phase.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Compare with the last figure: there volume rose all the way through each trend. Here it turns early.</a:t>
            </a:r>
          </a:p>
          <a:p>
            <a:r>
              <a:rPr sz="1400"/>
              <a:t>- Earlier onset is the practical point: the trend ends sooner than its start suggested.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Chapter 3 listed open interest as transaction data. It has still not been defined: that is Chapter 6.</a:t>
            </a:r>
          </a:p>
          <a:p>
            <a:r>
              <a:rPr sz="1400"/>
              <a:t>- One sentence is enough today: open interest rising inside a range means a harder breakout.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Everything from the three schematics, on one stock: high volume at the break, falling volume through the range.</a:t>
            </a:r>
          </a:p>
          <a:p>
            <a:r>
              <a:rPr sz="1400"/>
              <a:t>- Bullish volume divergence is the figure's own label. Divergence is section 4.5; do not explain it yet.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Two uses of volume now: falling volume times the end of a consolidation, heavy volume marks where one began.</a:t>
            </a:r>
          </a:p>
          <a:p>
            <a:r>
              <a:rPr sz="1400"/>
              <a:t>- The market tests the consolidation boundaries for additional liquidity: the figure marks order flow seeking it out.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In the figure the whipsaws are the places where price crosses back and forth over the flat average.</a:t>
            </a:r>
          </a:p>
          <a:p>
            <a:r>
              <a:rPr sz="1400"/>
              <a:t>- That reading comes from the figure's own labels. The definition waits for Chapter 11.</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review question 6: lines fanning apart, a trend; lines converging and overlapping, a consolidation.</a:t>
            </a:r>
          </a:p>
          <a:p>
            <a:r>
              <a:rPr sz="1400"/>
              <a:t>- The figure also labels the averages acting as support. The book's text does not discuss that here.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review question 8: divergence shows momentum slowing, and a slowing trend is a consolidation forming.</a:t>
            </a:r>
          </a:p>
          <a:p>
            <a:r>
              <a:rPr sz="1400"/>
              <a:t>- Describe the two sloping lines in the figure and stop there. What divergence is, formally, is Chapter 9.</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Three kinds of evidence agree here: the pattern, the divergence and the cycle. Confluence is the book's word for that.</a:t>
            </a:r>
          </a:p>
          <a:p>
            <a:r>
              <a:rPr sz="1400"/>
              <a:t>- The figure also labels a reverse bullish and a standard bearish divergence. The text discusses neither.</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Price is still falling in the box while both indicators are already rising. That is momentum turning first.</a:t>
            </a:r>
          </a:p>
          <a:p>
            <a:r>
              <a:rPr sz="1400"/>
              <a:t>- The volume rule is the one sentence of method the book gives. It is on the slide as the book states it.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Tie it to 4.1: the uninformed were extremely bullish at distribution and extremely bearish at accumulation.</a:t>
            </a:r>
          </a:p>
          <a:p>
            <a:r>
              <a:rPr sz="1400"/>
              <a:t>- Sentiment indicators measure that crowd. So they read best exactly where the crowd is most one sided.</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Names only. Do not explain what any of them measures: the book does not, until Chapter 23.</a:t>
            </a:r>
          </a:p>
          <a:p>
            <a:r>
              <a:rPr sz="1400"/>
              <a:t>- Six of the thirteen come back on the next slide, with what each reads at a top and at a bottom.</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review question 5: which sentiment indicators best describe distributions? Read the top list in the figure.</a:t>
            </a:r>
          </a:p>
          <a:p>
            <a:r>
              <a:rPr sz="1400"/>
              <a:t>- Two start low at a top, four start high. At a bottom, swap the words high and low.</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left panel is Sakata, the right is Elliott. The book says the two are very similar in appearance.</a:t>
            </a:r>
          </a:p>
          <a:p>
            <a:r>
              <a:rPr sz="1400"/>
              <a:t>- Honma's name is all the history the book gives. Do not add to it.</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 glosses every name as three of something. That is the handle for remembering all five.</a:t>
            </a:r>
          </a:p>
          <a:p>
            <a:r>
              <a:rPr sz="1400"/>
              <a:t>- Two of the five are consolidations and three describe the trend between them. Chapter 3 named the same three gaps.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the chapter objective on comparing Eastern and Western approaches. The answer is that one fits inside the other.</a:t>
            </a:r>
          </a:p>
          <a:p>
            <a:r>
              <a:rPr sz="1400"/>
              <a:t>- The summary calls the two approaches complementary. That is the word to leave them with.</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 gives the abc correction to accumulation in most cases and to distribution usually, in consecutive sentences. Say so; do not pick one.</a:t>
            </a:r>
          </a:p>
          <a:p>
            <a:r>
              <a:rPr sz="1400"/>
              <a:t>- Nothing on the abc correction is examined from this chapter. Waves 1, 3 and 5 as the trend is.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volume panel is section 4.3 again: it falls through each consolidation, at the points numbered 1, 2 and 3.</a:t>
            </a:r>
          </a:p>
          <a:p>
            <a:r>
              <a:rPr sz="1400"/>
              <a:t>- The book describes the new consolidation at the top as an inverted head and shoulders. Read it as the book states it.</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review question 7, and it is extrinsic bias again: the phase of the cycle was one of the five factors.</a:t>
            </a:r>
          </a:p>
          <a:p>
            <a:r>
              <a:rPr sz="1400"/>
              <a:t>- Once a cycle period is identified, the book says, placing the formation on it is fairly simple.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same shape four times in the figure, three different names. Only the place on the cycle differs.</a:t>
            </a:r>
          </a:p>
          <a:p>
            <a:r>
              <a:rPr sz="1400"/>
              <a:t>- Neutral patterns borrow their bias: here the lender is the cycle and not the trend.</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inverted head and shoulders is intrinsically bullish, so at the channel bottom both biases would agree.</a:t>
            </a:r>
          </a:p>
          <a:p>
            <a:r>
              <a:rPr sz="1400"/>
              <a:t>- Confluence again: more than one barrier at the same price. Fibonacci levels are named, and not taught, here.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all five slowly. This is the summary to copy down.</a:t>
            </a:r>
          </a:p>
          <a:p>
            <a:r>
              <a:rPr sz="1400"/>
              <a:t>- Next is Chapter 5, which takes the trend phase in more detail.</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Lines one and five each carry two of the book's eight questions.</a:t>
            </a:r>
          </a:p>
          <a:p>
            <a:r>
              <a:rPr sz="1400"/>
              <a:t>- Say where each answer sits: 4.1 and 4.2, 4.2, 4.1, 4.6, 4.4 and 4.9, 4.5.</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Be straight with them: six of the nine sections borrow tools the book has not taught yet.</a:t>
            </a:r>
          </a:p>
          <a:p>
            <a:r>
              <a:rPr sz="1400"/>
              <a:t>- Price based volume and Fibonacci projections are also used and not explained. Same answer: later chapters.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6355080"/>
            <a:ext cx="12191695" cy="502920"/>
          </a:xfrm>
          <a:prstGeom prst="rect">
            <a:avLst/>
          </a:prstGeom>
          <a:solidFill>
            <a:srgbClr val="004F21"/>
          </a:solidFill>
          <a:ln>
            <a:noFill/>
          </a:ln>
          <a:effectLst/>
        </p:spPr>
        <p:txBody>
          <a:bodyPr rtlCol="0" anchor="ctr"/>
          <a:lstStyle/>
          <a:p>
            <a:pPr algn="ctr"/>
          </a:p>
        </p:txBody>
      </p:sp>
      <p:sp>
        <p:nvSpPr>
          <p:cNvPr id="4" name="TextBox 3"/>
          <p:cNvSpPr txBox="1"/>
          <p:nvPr/>
        </p:nvSpPr>
        <p:spPr>
          <a:xfrm>
            <a:off x="777240" y="1417320"/>
            <a:ext cx="10637215" cy="45720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FIN1209  Technical Analysis in Investment</a:t>
            </a:r>
          </a:p>
        </p:txBody>
      </p:sp>
      <p:sp>
        <p:nvSpPr>
          <p:cNvPr id="5" name="Rectangle 4"/>
          <p:cNvSpPr/>
          <p:nvPr/>
        </p:nvSpPr>
        <p:spPr>
          <a:xfrm>
            <a:off x="777240" y="2057400"/>
            <a:ext cx="1463040" cy="50800"/>
          </a:xfrm>
          <a:prstGeom prst="rect">
            <a:avLst/>
          </a:prstGeom>
          <a:solidFill>
            <a:srgbClr val="F2A900"/>
          </a:solidFill>
          <a:ln>
            <a:noFill/>
          </a:ln>
          <a:effectLst/>
        </p:spPr>
        <p:txBody>
          <a:bodyPr rtlCol="0" anchor="ctr"/>
          <a:lstStyle/>
          <a:p>
            <a:pPr algn="ctr"/>
          </a:p>
        </p:txBody>
      </p:sp>
      <p:sp>
        <p:nvSpPr>
          <p:cNvPr id="6" name="TextBox 5"/>
          <p:cNvSpPr txBox="1"/>
          <p:nvPr/>
        </p:nvSpPr>
        <p:spPr>
          <a:xfrm>
            <a:off x="777240" y="2423160"/>
            <a:ext cx="10637215" cy="2194560"/>
          </a:xfrm>
          <a:prstGeom prst="rect">
            <a:avLst/>
          </a:prstGeom>
          <a:noFill/>
        </p:spPr>
        <p:txBody>
          <a:bodyPr wrap="square" anchor="t" lIns="0" rIns="0" tIns="0" bIns="0">
            <a:spAutoFit/>
          </a:bodyPr>
          <a:lstStyle/>
          <a:p>
            <a:pPr algn="l">
              <a:lnSpc>
                <a:spcPct val="100000"/>
              </a:lnSpc>
              <a:spcBef>
                <a:spcPts val="0"/>
              </a:spcBef>
              <a:spcAft>
                <a:spcPts val="0"/>
              </a:spcAft>
            </a:pPr>
            <a:r>
              <a:rPr sz="2000" b="0" i="0">
                <a:solidFill>
                  <a:srgbClr val="FFFFFF"/>
                </a:solidFill>
                <a:latin typeface="Palatino"/>
              </a:rPr>
              <a:t>Chapter 4</a:t>
            </a:r>
          </a:p>
          <a:p>
            <a:pPr algn="l">
              <a:lnSpc>
                <a:spcPct val="105000"/>
              </a:lnSpc>
              <a:spcBef>
                <a:spcPts val="1000"/>
              </a:spcBef>
              <a:spcAft>
                <a:spcPts val="0"/>
              </a:spcAft>
            </a:pPr>
            <a:r>
              <a:rPr sz="4400" b="0" i="0">
                <a:solidFill>
                  <a:srgbClr val="FFFFFF"/>
                </a:solidFill>
                <a:latin typeface="Palatino"/>
              </a:rPr>
              <a:t>Market Phase Analysis</a:t>
            </a:r>
          </a:p>
        </p:txBody>
      </p:sp>
      <p:sp>
        <p:nvSpPr>
          <p:cNvPr id="7" name="TextBox 6"/>
          <p:cNvSpPr txBox="1"/>
          <p:nvPr/>
        </p:nvSpPr>
        <p:spPr>
          <a:xfrm>
            <a:off x="777240" y="4892040"/>
            <a:ext cx="10637215" cy="914400"/>
          </a:xfrm>
          <a:prstGeom prst="rect">
            <a:avLst/>
          </a:prstGeom>
          <a:noFill/>
        </p:spPr>
        <p:txBody>
          <a:bodyPr wrap="square" anchor="t" lIns="0" rIns="0" tIns="0" bIns="0">
            <a:spAutoFit/>
          </a:bodyPr>
          <a:lstStyle/>
          <a:p>
            <a:pPr algn="l">
              <a:lnSpc>
                <a:spcPct val="100000"/>
              </a:lnSpc>
              <a:spcBef>
                <a:spcPts val="0"/>
              </a:spcBef>
              <a:spcAft>
                <a:spcPts val="0"/>
              </a:spcAft>
            </a:pPr>
            <a:r>
              <a:rPr sz="1600" b="0" i="0">
                <a:solidFill>
                  <a:srgbClr val="FFFFFF"/>
                </a:solidFill>
                <a:latin typeface="Arial"/>
              </a:rPr>
              <a:t>Institute of Accounts, Business and Finance  |  Far Eastern University Manila</a:t>
            </a:r>
          </a:p>
          <a:p>
            <a:pPr algn="l">
              <a:lnSpc>
                <a:spcPct val="100000"/>
              </a:lnSpc>
              <a:spcBef>
                <a:spcPts val="800"/>
              </a:spcBef>
              <a:spcAft>
                <a:spcPts val="0"/>
              </a:spcAft>
            </a:pPr>
            <a:r>
              <a:rPr sz="1400" b="0" i="0">
                <a:solidFill>
                  <a:srgbClr val="F2A900"/>
                </a:solidFill>
                <a:latin typeface="Arial"/>
              </a:rPr>
              <a:t>Benjamin C. Sotelo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you will be able to do</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4 - Opening</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Understand the structural and functional characteristics of the three market phases.</a:t>
            </a:r>
          </a:p>
          <a:p>
            <a:pPr algn="l">
              <a:lnSpc>
                <a:spcPct val="118000"/>
              </a:lnSpc>
              <a:spcBef>
                <a:spcPts val="0"/>
              </a:spcBef>
              <a:spcAft>
                <a:spcPts val="1300"/>
              </a:spcAft>
            </a:pPr>
            <a:r>
              <a:rPr sz="2100" b="0" i="0">
                <a:solidFill>
                  <a:srgbClr val="1A1A1A"/>
                </a:solidFill>
                <a:latin typeface="Arial"/>
              </a:rPr>
              <a:t>Forecast market phase accurately via its behavioral and cyclical properties.</a:t>
            </a:r>
          </a:p>
          <a:p>
            <a:pPr algn="l">
              <a:lnSpc>
                <a:spcPct val="118000"/>
              </a:lnSpc>
              <a:spcBef>
                <a:spcPts val="0"/>
              </a:spcBef>
              <a:spcAft>
                <a:spcPts val="1300"/>
              </a:spcAft>
            </a:pPr>
            <a:r>
              <a:rPr sz="2100" b="0" i="0">
                <a:solidFill>
                  <a:srgbClr val="1A1A1A"/>
                </a:solidFill>
                <a:latin typeface="Arial"/>
              </a:rPr>
              <a:t>Identify potential market regime changes via volume action.</a:t>
            </a:r>
          </a:p>
          <a:p>
            <a:pPr algn="l">
              <a:lnSpc>
                <a:spcPct val="118000"/>
              </a:lnSpc>
              <a:spcBef>
                <a:spcPts val="0"/>
              </a:spcBef>
              <a:spcAft>
                <a:spcPts val="1300"/>
              </a:spcAft>
            </a:pPr>
            <a:r>
              <a:rPr sz="2100" b="0" i="0">
                <a:solidFill>
                  <a:srgbClr val="1A1A1A"/>
                </a:solidFill>
                <a:latin typeface="Arial"/>
              </a:rPr>
              <a:t>Describe the inertial and momentum characteristics for each market phase.</a:t>
            </a:r>
          </a:p>
          <a:p>
            <a:pPr algn="l">
              <a:lnSpc>
                <a:spcPct val="118000"/>
              </a:lnSpc>
              <a:spcBef>
                <a:spcPts val="0"/>
              </a:spcBef>
              <a:spcAft>
                <a:spcPts val="1300"/>
              </a:spcAft>
            </a:pPr>
            <a:r>
              <a:rPr sz="2100" b="0" i="0">
                <a:solidFill>
                  <a:srgbClr val="1A1A1A"/>
                </a:solidFill>
                <a:latin typeface="Arial"/>
              </a:rPr>
              <a:t>Identify specific price pattern formations associated with each phase.</a:t>
            </a:r>
          </a:p>
          <a:p>
            <a:pPr algn="l">
              <a:lnSpc>
                <a:spcPct val="118000"/>
              </a:lnSpc>
              <a:spcBef>
                <a:spcPts val="0"/>
              </a:spcBef>
              <a:spcAft>
                <a:spcPts val="1300"/>
              </a:spcAft>
            </a:pPr>
            <a:r>
              <a:rPr sz="2100" b="0" i="0">
                <a:solidFill>
                  <a:srgbClr val="1A1A1A"/>
                </a:solidFill>
                <a:latin typeface="Arial"/>
              </a:rPr>
              <a:t>Compare and contrast Eastern and Western approaches to interpreting market phases.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How this chapter is laid out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4 - Opening</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4.1  Dow: the phases, who is on each side, and when a consolidation is over.</a:t>
            </a:r>
          </a:p>
          <a:p>
            <a:pPr algn="l">
              <a:lnSpc>
                <a:spcPct val="118000"/>
              </a:lnSpc>
              <a:spcBef>
                <a:spcPts val="0"/>
              </a:spcBef>
              <a:spcAft>
                <a:spcPts val="1300"/>
              </a:spcAft>
            </a:pPr>
            <a:r>
              <a:rPr sz="2100" b="0" i="0">
                <a:solidFill>
                  <a:srgbClr val="1A1A1A"/>
                </a:solidFill>
                <a:latin typeface="Arial"/>
              </a:rPr>
              <a:t>4.2  Chart patterns: which pattern belongs to which phase, and why.</a:t>
            </a:r>
          </a:p>
          <a:p>
            <a:pPr algn="l">
              <a:lnSpc>
                <a:spcPct val="118000"/>
              </a:lnSpc>
              <a:spcBef>
                <a:spcPts val="0"/>
              </a:spcBef>
              <a:spcAft>
                <a:spcPts val="1300"/>
              </a:spcAft>
            </a:pPr>
            <a:r>
              <a:rPr sz="2100" b="0" i="0">
                <a:solidFill>
                  <a:srgbClr val="1A1A1A"/>
                </a:solidFill>
                <a:latin typeface="Arial"/>
              </a:rPr>
              <a:t>4.3 to 4.6  Volume, moving averages, divergence and sentiment.</a:t>
            </a:r>
          </a:p>
          <a:p>
            <a:pPr algn="l">
              <a:lnSpc>
                <a:spcPct val="118000"/>
              </a:lnSpc>
              <a:spcBef>
                <a:spcPts val="0"/>
              </a:spcBef>
              <a:spcAft>
                <a:spcPts val="1300"/>
              </a:spcAft>
            </a:pPr>
            <a:r>
              <a:rPr sz="2100" b="0" i="0">
                <a:solidFill>
                  <a:srgbClr val="1A1A1A"/>
                </a:solidFill>
                <a:latin typeface="Arial"/>
              </a:rPr>
              <a:t>4.7  Sakata: the Japanese five phase model.</a:t>
            </a:r>
          </a:p>
          <a:p>
            <a:pPr algn="l">
              <a:lnSpc>
                <a:spcPct val="118000"/>
              </a:lnSpc>
              <a:spcBef>
                <a:spcPts val="0"/>
              </a:spcBef>
              <a:spcAft>
                <a:spcPts val="1300"/>
              </a:spcAft>
            </a:pPr>
            <a:r>
              <a:rPr sz="2100" b="0" i="0">
                <a:solidFill>
                  <a:srgbClr val="1A1A1A"/>
                </a:solidFill>
                <a:latin typeface="Arial"/>
              </a:rPr>
              <a:t>4.8 and 4.9  Elliott waves and cycles.</a:t>
            </a:r>
          </a:p>
        </p:txBody>
      </p:sp>
      <p:sp>
        <p:nvSpPr>
          <p:cNvPr id="8" name="Rectangle 7"/>
          <p:cNvSpPr/>
          <p:nvPr/>
        </p:nvSpPr>
        <p:spPr>
          <a:xfrm>
            <a:off x="777240" y="476478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0136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One question runs through all nine: which phase is the market 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4.1  Markets move in phases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9 - 4.1 Dow  |  1 of 14</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Dow Theory, in Chapter 2: a primary trend has three phases. Accumulation, trending, distribution.</a:t>
            </a:r>
          </a:p>
          <a:p>
            <a:pPr algn="l">
              <a:lnSpc>
                <a:spcPct val="105000"/>
              </a:lnSpc>
              <a:spcBef>
                <a:spcPts val="0"/>
              </a:spcBef>
              <a:spcAft>
                <a:spcPts val="1100"/>
              </a:spcAft>
            </a:pPr>
            <a:r>
              <a:rPr sz="1700" b="0" i="0">
                <a:solidFill>
                  <a:srgbClr val="1A1A1A"/>
                </a:solidFill>
                <a:latin typeface="Arial"/>
              </a:rPr>
              <a:t>That description is now regarded as the basic underlying characteristic of market action.</a:t>
            </a:r>
          </a:p>
          <a:p>
            <a:pPr algn="l">
              <a:lnSpc>
                <a:spcPct val="105000"/>
              </a:lnSpc>
              <a:spcBef>
                <a:spcPts val="0"/>
              </a:spcBef>
              <a:spcAft>
                <a:spcPts val="1100"/>
              </a:spcAft>
            </a:pPr>
            <a:r>
              <a:rPr sz="1700" b="0" i="0">
                <a:solidFill>
                  <a:srgbClr val="1A1A1A"/>
                </a:solidFill>
                <a:latin typeface="Arial"/>
              </a:rPr>
              <a:t>Phase analysis applies across all time frames.</a:t>
            </a:r>
          </a:p>
        </p:txBody>
      </p:sp>
      <p:sp>
        <p:nvSpPr>
          <p:cNvPr id="8" name="Rectangle 7"/>
          <p:cNvSpPr/>
          <p:nvPr/>
        </p:nvSpPr>
        <p:spPr>
          <a:xfrm>
            <a:off x="777240" y="4565142"/>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64515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Not recognizing the phases and their transitions greatly disadvantages the practitioner.</a:t>
            </a:r>
          </a:p>
        </p:txBody>
      </p:sp>
      <p:sp>
        <p:nvSpPr>
          <p:cNvPr id="10" name="Rectangle 9"/>
          <p:cNvSpPr/>
          <p:nvPr/>
        </p:nvSpPr>
        <p:spPr>
          <a:xfrm>
            <a:off x="6036411" y="1810512"/>
            <a:ext cx="537667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a.png"/>
          <p:cNvPicPr>
            <a:picLocks noChangeAspect="1"/>
          </p:cNvPicPr>
          <p:nvPr/>
        </p:nvPicPr>
        <p:blipFill>
          <a:blip r:embed="rId2"/>
          <a:stretch>
            <a:fillRect/>
          </a:stretch>
        </p:blipFill>
        <p:spPr>
          <a:xfrm>
            <a:off x="6155283" y="1929384"/>
            <a:ext cx="5138928" cy="3511296"/>
          </a:xfrm>
          <a:prstGeom prst="rect">
            <a:avLst/>
          </a:prstGeom>
        </p:spPr>
      </p:pic>
      <p:sp>
        <p:nvSpPr>
          <p:cNvPr id="12" name="TextBox 11"/>
          <p:cNvSpPr txBox="1"/>
          <p:nvPr/>
        </p:nvSpPr>
        <p:spPr>
          <a:xfrm>
            <a:off x="6035040" y="5650991"/>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 - FIN1209 teaching chart, drawn for this course. Illustrative data, not a real instrument.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Consolidation phase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9 - 4.1 Dow  |  2 of 14</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The sideways stretch. Price ranges, or makes small corrective moves, instead of trending.</a:t>
            </a:r>
          </a:p>
        </p:txBody>
      </p:sp>
      <p:sp>
        <p:nvSpPr>
          <p:cNvPr id="10" name="Rectangle 9"/>
          <p:cNvSpPr/>
          <p:nvPr/>
        </p:nvSpPr>
        <p:spPr>
          <a:xfrm>
            <a:off x="777240" y="3233927"/>
            <a:ext cx="64008" cy="71932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A share that swings between PHP 40 and PHP 44 for four months, going nowhere, is consolidating.</a:t>
            </a:r>
          </a:p>
        </p:txBody>
      </p:sp>
      <p:sp>
        <p:nvSpPr>
          <p:cNvPr id="12" name="Rectangle 11"/>
          <p:cNvSpPr/>
          <p:nvPr/>
        </p:nvSpPr>
        <p:spPr>
          <a:xfrm>
            <a:off x="777240" y="4209287"/>
            <a:ext cx="64008" cy="14965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163567"/>
            <a:ext cx="5760720" cy="1606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One of only two basic phases, the other being the trending phase. A market consolidates, when expressing indecision, rest or exhaustion, by ranging or by making relatively small corrective moves. It subdivides into accumulation and distribution.</a:t>
            </a:r>
          </a:p>
        </p:txBody>
      </p:sp>
      <p:sp>
        <p:nvSpPr>
          <p:cNvPr id="14" name="Rectangle 13"/>
          <p:cNvSpPr/>
          <p:nvPr/>
        </p:nvSpPr>
        <p:spPr>
          <a:xfrm>
            <a:off x="7132319" y="2157984"/>
            <a:ext cx="428213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7132319" y="2157984"/>
            <a:ext cx="428213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543799" y="2615184"/>
            <a:ext cx="3459175"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4.1</a:t>
            </a:r>
          </a:p>
          <a:p>
            <a:pPr algn="l">
              <a:lnSpc>
                <a:spcPct val="120000"/>
              </a:lnSpc>
              <a:spcBef>
                <a:spcPts val="0"/>
              </a:spcBef>
              <a:spcAft>
                <a:spcPts val="1400"/>
              </a:spcAft>
            </a:pPr>
            <a:r>
              <a:rPr sz="1800" b="0" i="0">
                <a:solidFill>
                  <a:srgbClr val="1A1A1A"/>
                </a:solidFill>
                <a:latin typeface="Palatino"/>
              </a:rPr>
              <a:t>A tree: market phase splits into consolidation and trend, and consolidation splits again into accumulation and distribution.</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7132319" y="5650992"/>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4.1 - Lim, The Handbook of Technical Analysis (Wiley, 2016)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Accumulation or distribution? Known only afterwards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9 - 4.1 Dow  |  3 of 14</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If the market rises after consolidating, the consolidation was accumulation: buying activity.</a:t>
            </a:r>
          </a:p>
          <a:p>
            <a:pPr algn="l">
              <a:lnSpc>
                <a:spcPct val="105000"/>
              </a:lnSpc>
              <a:spcBef>
                <a:spcPts val="0"/>
              </a:spcBef>
              <a:spcAft>
                <a:spcPts val="1100"/>
              </a:spcAft>
            </a:pPr>
            <a:r>
              <a:rPr sz="1800" b="0" i="0">
                <a:solidFill>
                  <a:srgbClr val="1A1A1A"/>
                </a:solidFill>
                <a:latin typeface="Arial"/>
              </a:rPr>
              <a:t>If it declines after consolidating, it was distribution: selling activity.</a:t>
            </a:r>
          </a:p>
          <a:p>
            <a:pPr algn="l">
              <a:lnSpc>
                <a:spcPct val="105000"/>
              </a:lnSpc>
              <a:spcBef>
                <a:spcPts val="0"/>
              </a:spcBef>
              <a:spcAft>
                <a:spcPts val="1100"/>
              </a:spcAft>
            </a:pPr>
            <a:r>
              <a:rPr sz="1800" b="0" i="0">
                <a:solidFill>
                  <a:srgbClr val="1A1A1A"/>
                </a:solidFill>
                <a:latin typeface="Arial"/>
              </a:rPr>
              <a:t>Which one it is can only be ascertained after the fact.</a:t>
            </a:r>
          </a:p>
        </p:txBody>
      </p:sp>
      <p:sp>
        <p:nvSpPr>
          <p:cNvPr id="8" name="Rectangle 7"/>
          <p:cNvSpPr/>
          <p:nvPr/>
        </p:nvSpPr>
        <p:spPr>
          <a:xfrm>
            <a:off x="777240" y="4677156"/>
            <a:ext cx="82296" cy="101498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13732"/>
            <a:ext cx="4645152" cy="1014983"/>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One objective of technical analysis is to look for evidence of which is taking place.</a:t>
            </a:r>
          </a:p>
        </p:txBody>
      </p:sp>
      <p:sp>
        <p:nvSpPr>
          <p:cNvPr id="10" name="Rectangle 9"/>
          <p:cNvSpPr/>
          <p:nvPr/>
        </p:nvSpPr>
        <p:spPr>
          <a:xfrm>
            <a:off x="6036411" y="1810512"/>
            <a:ext cx="537667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b.png"/>
          <p:cNvPicPr>
            <a:picLocks noChangeAspect="1"/>
          </p:cNvPicPr>
          <p:nvPr/>
        </p:nvPicPr>
        <p:blipFill>
          <a:blip r:embed="rId2"/>
          <a:stretch>
            <a:fillRect/>
          </a:stretch>
        </p:blipFill>
        <p:spPr>
          <a:xfrm>
            <a:off x="6155283" y="1929384"/>
            <a:ext cx="5138928" cy="3511296"/>
          </a:xfrm>
          <a:prstGeom prst="rect">
            <a:avLst/>
          </a:prstGeom>
        </p:spPr>
      </p:pic>
      <p:sp>
        <p:nvSpPr>
          <p:cNvPr id="12" name="TextBox 11"/>
          <p:cNvSpPr txBox="1"/>
          <p:nvPr/>
        </p:nvSpPr>
        <p:spPr>
          <a:xfrm>
            <a:off x="6035040" y="5650991"/>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B - FIN1209 teaching chart, drawn for this course. Illustrative data, not a real instrument.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first evidence: volume in a consolidation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9 - 4.1 Dow  |  4 of 14</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Volume normally declines gradually during a consolidation.</a:t>
            </a:r>
          </a:p>
          <a:p>
            <a:pPr algn="l">
              <a:lnSpc>
                <a:spcPct val="105000"/>
              </a:lnSpc>
              <a:spcBef>
                <a:spcPts val="0"/>
              </a:spcBef>
              <a:spcAft>
                <a:spcPts val="1100"/>
              </a:spcAft>
            </a:pPr>
            <a:r>
              <a:rPr sz="1700" b="0" i="0">
                <a:solidFill>
                  <a:srgbClr val="1A1A1A"/>
                </a:solidFill>
                <a:latin typeface="Arial"/>
              </a:rPr>
              <a:t>Very low volume is a strong sign the consolidation may be ending, and a trend starting.</a:t>
            </a:r>
          </a:p>
          <a:p>
            <a:pPr algn="l">
              <a:lnSpc>
                <a:spcPct val="105000"/>
              </a:lnSpc>
              <a:spcBef>
                <a:spcPts val="0"/>
              </a:spcBef>
              <a:spcAft>
                <a:spcPts val="1100"/>
              </a:spcAft>
            </a:pPr>
            <a:r>
              <a:rPr sz="1700" b="0" i="0">
                <a:solidFill>
                  <a:srgbClr val="1A1A1A"/>
                </a:solidFill>
                <a:latin typeface="Arial"/>
              </a:rPr>
              <a:t>On a daily chart a consolidation normally lasts about three to six months, or longer.</a:t>
            </a:r>
          </a:p>
        </p:txBody>
      </p:sp>
      <p:sp>
        <p:nvSpPr>
          <p:cNvPr id="8" name="Rectangle 7"/>
          <p:cNvSpPr/>
          <p:nvPr/>
        </p:nvSpPr>
        <p:spPr>
          <a:xfrm>
            <a:off x="777240" y="4565142"/>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46227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last box on the chart says only consolidation. What follows was not yet known.</a:t>
            </a:r>
          </a:p>
        </p:txBody>
      </p:sp>
      <p:sp>
        <p:nvSpPr>
          <p:cNvPr id="10" name="Rectangle 9"/>
          <p:cNvSpPr/>
          <p:nvPr/>
        </p:nvSpPr>
        <p:spPr>
          <a:xfrm>
            <a:off x="5852159" y="1810512"/>
            <a:ext cx="556229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5852159" y="1810512"/>
            <a:ext cx="556229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263640" y="2267712"/>
            <a:ext cx="47393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4.2</a:t>
            </a:r>
          </a:p>
          <a:p>
            <a:pPr algn="l">
              <a:lnSpc>
                <a:spcPct val="120000"/>
              </a:lnSpc>
              <a:spcBef>
                <a:spcPts val="0"/>
              </a:spcBef>
              <a:spcAft>
                <a:spcPts val="1400"/>
              </a:spcAft>
            </a:pPr>
            <a:r>
              <a:rPr sz="1800" b="0" i="0">
                <a:solidFill>
                  <a:srgbClr val="1A1A1A"/>
                </a:solidFill>
                <a:latin typeface="Palatino"/>
              </a:rPr>
              <a:t>The daily Dow Jones Industrial Average with its accumulation, trending and distribution phases boxed and named, a last box named only consolidation, and a volume panel below with the decline in volume through each consolidation drawn in.</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5852159" y="5650992"/>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4.2 - Lim, The Handbook of Technical Analysis (Wiley, 2016)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same phases at every time scale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9 - 4.1 Dow  |  5 of 14</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 primary trend typically spans months to years in the equity markets.</a:t>
            </a:r>
          </a:p>
          <a:p>
            <a:pPr algn="l">
              <a:lnSpc>
                <a:spcPct val="105000"/>
              </a:lnSpc>
              <a:spcBef>
                <a:spcPts val="0"/>
              </a:spcBef>
              <a:spcAft>
                <a:spcPts val="1100"/>
              </a:spcAft>
            </a:pPr>
            <a:r>
              <a:rPr sz="1700" b="0" i="0">
                <a:solidFill>
                  <a:srgbClr val="1A1A1A"/>
                </a:solidFill>
                <a:latin typeface="Arial"/>
              </a:rPr>
              <a:t>In commodity futures it tends to be shorter: high leverage induces greater volatility.</a:t>
            </a:r>
          </a:p>
          <a:p>
            <a:pPr algn="l">
              <a:lnSpc>
                <a:spcPct val="105000"/>
              </a:lnSpc>
              <a:spcBef>
                <a:spcPts val="0"/>
              </a:spcBef>
              <a:spcAft>
                <a:spcPts val="1100"/>
              </a:spcAft>
            </a:pPr>
            <a:r>
              <a:rPr sz="1700" b="0" i="0">
                <a:solidFill>
                  <a:srgbClr val="1A1A1A"/>
                </a:solidFill>
                <a:latin typeface="Arial"/>
              </a:rPr>
              <a:t>Dow described the equity markets, but the phases are found across all markets.</a:t>
            </a:r>
          </a:p>
        </p:txBody>
      </p:sp>
      <p:sp>
        <p:nvSpPr>
          <p:cNvPr id="8" name="Rectangle 7"/>
          <p:cNvSpPr/>
          <p:nvPr/>
        </p:nvSpPr>
        <p:spPr>
          <a:xfrm>
            <a:off x="777240" y="4293108"/>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29684"/>
            <a:ext cx="446227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They show on sub-hourly charts too: micro phase action, shaped by the macro phase behavior around it.</a:t>
            </a:r>
          </a:p>
        </p:txBody>
      </p:sp>
      <p:sp>
        <p:nvSpPr>
          <p:cNvPr id="10" name="Rectangle 9"/>
          <p:cNvSpPr/>
          <p:nvPr/>
        </p:nvSpPr>
        <p:spPr>
          <a:xfrm>
            <a:off x="5852159" y="1810512"/>
            <a:ext cx="556229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5852159" y="1810512"/>
            <a:ext cx="556229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263640" y="2267712"/>
            <a:ext cx="47393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4.3</a:t>
            </a:r>
          </a:p>
          <a:p>
            <a:pPr algn="l">
              <a:lnSpc>
                <a:spcPct val="120000"/>
              </a:lnSpc>
              <a:spcBef>
                <a:spcPts val="0"/>
              </a:spcBef>
              <a:spcAft>
                <a:spcPts val="1400"/>
              </a:spcAft>
            </a:pPr>
            <a:r>
              <a:rPr sz="1800" b="0" i="0">
                <a:solidFill>
                  <a:srgbClr val="1A1A1A"/>
                </a:solidFill>
                <a:latin typeface="Palatino"/>
              </a:rPr>
              <a:t>A 15 minute EURUSD chart with distribution, trend and accumulation phases boxed one after another, titled micro phase action.</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5852159" y="5650992"/>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4.3 - Lim, The Handbook of Technical Analysis (Wiley, 2016)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Accumulation: the informed buy from the frightened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9 - 4.1 Dow  |  6 of 14</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It normally follows a deep and rapid decline, on very negative data and bearish headlines.</a:t>
            </a:r>
          </a:p>
          <a:p>
            <a:pPr algn="l">
              <a:lnSpc>
                <a:spcPct val="105000"/>
              </a:lnSpc>
              <a:spcBef>
                <a:spcPts val="0"/>
              </a:spcBef>
              <a:spcAft>
                <a:spcPts val="1100"/>
              </a:spcAft>
            </a:pPr>
            <a:r>
              <a:rPr sz="1700" b="0" i="0">
                <a:solidFill>
                  <a:srgbClr val="1A1A1A"/>
                </a:solidFill>
                <a:latin typeface="Arial"/>
              </a:rPr>
              <a:t>The uninformed are extremely bearish and sell at whatever price is available.</a:t>
            </a:r>
          </a:p>
          <a:p>
            <a:pPr algn="l">
              <a:lnSpc>
                <a:spcPct val="105000"/>
              </a:lnSpc>
              <a:spcBef>
                <a:spcPts val="0"/>
              </a:spcBef>
              <a:spcAft>
                <a:spcPts val="1100"/>
              </a:spcAft>
            </a:pPr>
            <a:r>
              <a:rPr sz="1700" b="0" i="0">
                <a:solidFill>
                  <a:srgbClr val="1A1A1A"/>
                </a:solidFill>
                <a:latin typeface="Arial"/>
              </a:rPr>
              <a:t>The informed buy from them: a contrarian approach that needs deep pockets.</a:t>
            </a:r>
          </a:p>
          <a:p>
            <a:pPr algn="l">
              <a:lnSpc>
                <a:spcPct val="105000"/>
              </a:lnSpc>
              <a:spcBef>
                <a:spcPts val="0"/>
              </a:spcBef>
              <a:spcAft>
                <a:spcPts val="1100"/>
              </a:spcAft>
            </a:pPr>
            <a:r>
              <a:rPr sz="1700" b="0" i="0">
                <a:solidFill>
                  <a:srgbClr val="1A1A1A"/>
                </a:solidFill>
                <a:latin typeface="Arial"/>
              </a:rPr>
              <a:t>They gather shares very gradually, careful not to drive prices up too fast.</a:t>
            </a:r>
          </a:p>
        </p:txBody>
      </p:sp>
      <p:sp>
        <p:nvSpPr>
          <p:cNvPr id="8" name="Rectangle 7"/>
          <p:cNvSpPr/>
          <p:nvPr/>
        </p:nvSpPr>
        <p:spPr>
          <a:xfrm>
            <a:off x="777240" y="500176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38344"/>
            <a:ext cx="464515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sell-off that ends the downtrend is called a selling climax.</a:t>
            </a:r>
          </a:p>
        </p:txBody>
      </p:sp>
      <p:sp>
        <p:nvSpPr>
          <p:cNvPr id="10" name="Rectangle 9"/>
          <p:cNvSpPr/>
          <p:nvPr/>
        </p:nvSpPr>
        <p:spPr>
          <a:xfrm>
            <a:off x="6036411" y="1810512"/>
            <a:ext cx="537667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c.png"/>
          <p:cNvPicPr>
            <a:picLocks noChangeAspect="1"/>
          </p:cNvPicPr>
          <p:nvPr/>
        </p:nvPicPr>
        <p:blipFill>
          <a:blip r:embed="rId2"/>
          <a:stretch>
            <a:fillRect/>
          </a:stretch>
        </p:blipFill>
        <p:spPr>
          <a:xfrm>
            <a:off x="6155283" y="1929384"/>
            <a:ext cx="5138928" cy="3511296"/>
          </a:xfrm>
          <a:prstGeom prst="rect">
            <a:avLst/>
          </a:prstGeom>
        </p:spPr>
      </p:pic>
      <p:sp>
        <p:nvSpPr>
          <p:cNvPr id="12" name="TextBox 11"/>
          <p:cNvSpPr txBox="1"/>
          <p:nvPr/>
        </p:nvSpPr>
        <p:spPr>
          <a:xfrm>
            <a:off x="6035040" y="5650991"/>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C - FIN1209 teaching chart, drawn for this course. Illustrative data, not a real instrument.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uptrend feeds on itself</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9 - 4.1 Dow  |  7 of 14</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Technical traders get in early, on a clear upside breakout. Market savvy investors follow.</a:t>
            </a:r>
          </a:p>
          <a:p>
            <a:pPr algn="l">
              <a:lnSpc>
                <a:spcPct val="105000"/>
              </a:lnSpc>
              <a:spcBef>
                <a:spcPts val="0"/>
              </a:spcBef>
              <a:spcAft>
                <a:spcPts val="1100"/>
              </a:spcAft>
            </a:pPr>
            <a:r>
              <a:rPr sz="1700" b="0" i="0">
                <a:solidFill>
                  <a:srgbClr val="1A1A1A"/>
                </a:solidFill>
                <a:latin typeface="Arial"/>
              </a:rPr>
              <a:t>As the uptrend becomes obvious the public is drawn in, and the bears cover their shorts.</a:t>
            </a:r>
          </a:p>
          <a:p>
            <a:pPr algn="l">
              <a:lnSpc>
                <a:spcPct val="105000"/>
              </a:lnSpc>
              <a:spcBef>
                <a:spcPts val="0"/>
              </a:spcBef>
              <a:spcAft>
                <a:spcPts val="1100"/>
              </a:spcAft>
            </a:pPr>
            <a:r>
              <a:rPr sz="1700" b="0" i="0">
                <a:solidFill>
                  <a:srgbClr val="1A1A1A"/>
                </a:solidFill>
                <a:latin typeface="Arial"/>
              </a:rPr>
              <a:t>Regret bias: those who missed out, or sold too early, buy at every dip.</a:t>
            </a:r>
          </a:p>
          <a:p>
            <a:pPr algn="l">
              <a:lnSpc>
                <a:spcPct val="105000"/>
              </a:lnSpc>
              <a:spcBef>
                <a:spcPts val="0"/>
              </a:spcBef>
              <a:spcAft>
                <a:spcPts val="1100"/>
              </a:spcAft>
            </a:pPr>
            <a:r>
              <a:rPr sz="1700" b="0" i="0">
                <a:solidFill>
                  <a:srgbClr val="1A1A1A"/>
                </a:solidFill>
                <a:latin typeface="Arial"/>
              </a:rPr>
              <a:t>At even higher prices the herd uses more margin, even borrowing to invest.</a:t>
            </a:r>
          </a:p>
        </p:txBody>
      </p:sp>
      <p:sp>
        <p:nvSpPr>
          <p:cNvPr id="8" name="Rectangle 7"/>
          <p:cNvSpPr/>
          <p:nvPr/>
        </p:nvSpPr>
        <p:spPr>
          <a:xfrm>
            <a:off x="777240" y="5273802"/>
            <a:ext cx="82296" cy="42062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310378"/>
            <a:ext cx="4645152" cy="42062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A vicious positive feedback cycle.</a:t>
            </a:r>
          </a:p>
        </p:txBody>
      </p:sp>
      <p:sp>
        <p:nvSpPr>
          <p:cNvPr id="10" name="Rectangle 9"/>
          <p:cNvSpPr/>
          <p:nvPr/>
        </p:nvSpPr>
        <p:spPr>
          <a:xfrm>
            <a:off x="6036411" y="1810512"/>
            <a:ext cx="537667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d.png"/>
          <p:cNvPicPr>
            <a:picLocks noChangeAspect="1"/>
          </p:cNvPicPr>
          <p:nvPr/>
        </p:nvPicPr>
        <p:blipFill>
          <a:blip r:embed="rId2"/>
          <a:stretch>
            <a:fillRect/>
          </a:stretch>
        </p:blipFill>
        <p:spPr>
          <a:xfrm>
            <a:off x="6155283" y="1929384"/>
            <a:ext cx="5138928" cy="3511296"/>
          </a:xfrm>
          <a:prstGeom prst="rect">
            <a:avLst/>
          </a:prstGeom>
        </p:spPr>
      </p:pic>
      <p:sp>
        <p:nvSpPr>
          <p:cNvPr id="12" name="TextBox 11"/>
          <p:cNvSpPr txBox="1"/>
          <p:nvPr/>
        </p:nvSpPr>
        <p:spPr>
          <a:xfrm>
            <a:off x="6035040" y="5650991"/>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D - FIN1209 teaching chart, drawn for this course. Illustrative data, not a real instrument.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downtrend: the same cycle, downward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9 - 4.1 Dow  |  8 of 14</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It begins with a breakdown from a distribution range, on increasingly bearish data.</a:t>
            </a:r>
          </a:p>
          <a:p>
            <a:pPr algn="l">
              <a:lnSpc>
                <a:spcPct val="105000"/>
              </a:lnSpc>
              <a:spcBef>
                <a:spcPts val="0"/>
              </a:spcBef>
              <a:spcAft>
                <a:spcPts val="1100"/>
              </a:spcAft>
            </a:pPr>
            <a:r>
              <a:rPr sz="1800" b="0" i="0">
                <a:solidFill>
                  <a:srgbClr val="1A1A1A"/>
                </a:solidFill>
                <a:latin typeface="Arial"/>
              </a:rPr>
              <a:t>The uninformed begin to unload, and previously bullish participants liquidate.</a:t>
            </a:r>
          </a:p>
          <a:p>
            <a:pPr algn="l">
              <a:lnSpc>
                <a:spcPct val="105000"/>
              </a:lnSpc>
              <a:spcBef>
                <a:spcPts val="0"/>
              </a:spcBef>
              <a:spcAft>
                <a:spcPts val="1100"/>
              </a:spcAft>
            </a:pPr>
            <a:r>
              <a:rPr sz="1800" b="0" i="0">
                <a:solidFill>
                  <a:srgbClr val="1A1A1A"/>
                </a:solidFill>
                <a:latin typeface="Arial"/>
              </a:rPr>
              <a:t>Past the threshold of pain and the margin limits, capital flows out of the market.</a:t>
            </a:r>
          </a:p>
        </p:txBody>
      </p:sp>
      <p:sp>
        <p:nvSpPr>
          <p:cNvPr id="8" name="Rectangle 7"/>
          <p:cNvSpPr/>
          <p:nvPr/>
        </p:nvSpPr>
        <p:spPr>
          <a:xfrm>
            <a:off x="777240" y="4677156"/>
            <a:ext cx="82296" cy="101498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13732"/>
            <a:ext cx="4645152" cy="1014983"/>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Bearish sentiment intensifies as prices sink: the same vicious feedback cycle.</a:t>
            </a:r>
          </a:p>
        </p:txBody>
      </p:sp>
      <p:sp>
        <p:nvSpPr>
          <p:cNvPr id="10" name="Rectangle 9"/>
          <p:cNvSpPr/>
          <p:nvPr/>
        </p:nvSpPr>
        <p:spPr>
          <a:xfrm>
            <a:off x="6036411" y="1810512"/>
            <a:ext cx="537667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e.png"/>
          <p:cNvPicPr>
            <a:picLocks noChangeAspect="1"/>
          </p:cNvPicPr>
          <p:nvPr/>
        </p:nvPicPr>
        <p:blipFill>
          <a:blip r:embed="rId2"/>
          <a:stretch>
            <a:fillRect/>
          </a:stretch>
        </p:blipFill>
        <p:spPr>
          <a:xfrm>
            <a:off x="6155283" y="1929384"/>
            <a:ext cx="5138928" cy="3511296"/>
          </a:xfrm>
          <a:prstGeom prst="rect">
            <a:avLst/>
          </a:prstGeom>
        </p:spPr>
      </p:pic>
      <p:sp>
        <p:nvSpPr>
          <p:cNvPr id="12" name="TextBox 11"/>
          <p:cNvSpPr txBox="1"/>
          <p:nvPr/>
        </p:nvSpPr>
        <p:spPr>
          <a:xfrm>
            <a:off x="6035040" y="5650991"/>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E - FIN1209 teaching chart, drawn for this course. Illustrative data, not a real instrument.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Distribution: the same story upside down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9 - 4.1 Dow  |  9 of 14</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It normally follows a strong and rapid rise, on very positive data and the most bullish headlines.</a:t>
            </a:r>
          </a:p>
          <a:p>
            <a:pPr algn="l">
              <a:lnSpc>
                <a:spcPct val="105000"/>
              </a:lnSpc>
              <a:spcBef>
                <a:spcPts val="0"/>
              </a:spcBef>
              <a:spcAft>
                <a:spcPts val="1100"/>
              </a:spcAft>
            </a:pPr>
            <a:r>
              <a:rPr sz="1700" b="0" i="0">
                <a:solidFill>
                  <a:srgbClr val="1A1A1A"/>
                </a:solidFill>
                <a:latin typeface="Arial"/>
              </a:rPr>
              <a:t>The uninformed buy at whatever price is available: irrational exuberance. Margin debt is skyrocketing.</a:t>
            </a:r>
          </a:p>
          <a:p>
            <a:pPr algn="l">
              <a:lnSpc>
                <a:spcPct val="105000"/>
              </a:lnSpc>
              <a:spcBef>
                <a:spcPts val="0"/>
              </a:spcBef>
              <a:spcAft>
                <a:spcPts val="1100"/>
              </a:spcAft>
            </a:pPr>
            <a:r>
              <a:rPr sz="1700" b="0" i="0">
                <a:solidFill>
                  <a:srgbClr val="1A1A1A"/>
                </a:solidFill>
                <a:latin typeface="Arial"/>
              </a:rPr>
              <a:t>The informed sell to them very gradually, careful not to drive prices down too rapidly.</a:t>
            </a:r>
          </a:p>
        </p:txBody>
      </p:sp>
      <p:sp>
        <p:nvSpPr>
          <p:cNvPr id="8" name="Rectangle 7"/>
          <p:cNvSpPr/>
          <p:nvPr/>
        </p:nvSpPr>
        <p:spPr>
          <a:xfrm>
            <a:off x="777240" y="4837176"/>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73752"/>
            <a:ext cx="464515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surge that ends the uptrend is called a blow-off, or buying climax.</a:t>
            </a:r>
          </a:p>
        </p:txBody>
      </p:sp>
      <p:sp>
        <p:nvSpPr>
          <p:cNvPr id="10" name="Rectangle 9"/>
          <p:cNvSpPr/>
          <p:nvPr/>
        </p:nvSpPr>
        <p:spPr>
          <a:xfrm>
            <a:off x="6036411" y="1810512"/>
            <a:ext cx="537667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f.png"/>
          <p:cNvPicPr>
            <a:picLocks noChangeAspect="1"/>
          </p:cNvPicPr>
          <p:nvPr/>
        </p:nvPicPr>
        <p:blipFill>
          <a:blip r:embed="rId2"/>
          <a:stretch>
            <a:fillRect/>
          </a:stretch>
        </p:blipFill>
        <p:spPr>
          <a:xfrm>
            <a:off x="6155283" y="1929384"/>
            <a:ext cx="5138928" cy="3511296"/>
          </a:xfrm>
          <a:prstGeom prst="rect">
            <a:avLst/>
          </a:prstGeom>
        </p:spPr>
      </p:pic>
      <p:sp>
        <p:nvSpPr>
          <p:cNvPr id="12" name="TextBox 11"/>
          <p:cNvSpPr txBox="1"/>
          <p:nvPr/>
        </p:nvSpPr>
        <p:spPr>
          <a:xfrm>
            <a:off x="6035040" y="5650991"/>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F - FIN1209 teaching chart, drawn for this course. Illustrative data, not a real instrument.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 OF 11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Who is on each side</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market consolidates for four months and then rises. The consolidation represented:</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Distribution</a:t>
            </a:r>
          </a:p>
          <a:p>
            <a:pPr algn="l">
              <a:lnSpc>
                <a:spcPct val="112000"/>
              </a:lnSpc>
              <a:spcBef>
                <a:spcPts val="0"/>
              </a:spcBef>
              <a:spcAft>
                <a:spcPts val="900"/>
              </a:spcAft>
            </a:pPr>
            <a:r>
              <a:rPr sz="1500" b="0" i="0">
                <a:solidFill>
                  <a:srgbClr val="FFFFFF"/>
                </a:solidFill>
                <a:latin typeface="Arial"/>
              </a:rPr>
              <a:t>B.  Accumulation</a:t>
            </a:r>
          </a:p>
          <a:p>
            <a:pPr algn="l">
              <a:lnSpc>
                <a:spcPct val="112000"/>
              </a:lnSpc>
              <a:spcBef>
                <a:spcPts val="0"/>
              </a:spcBef>
              <a:spcAft>
                <a:spcPts val="900"/>
              </a:spcAft>
            </a:pPr>
            <a:r>
              <a:rPr sz="1500" b="0" i="0">
                <a:solidFill>
                  <a:srgbClr val="FFFFFF"/>
                </a:solidFill>
                <a:latin typeface="Arial"/>
              </a:rPr>
              <a:t>C.  A trending phase</a:t>
            </a:r>
          </a:p>
          <a:p>
            <a:pPr algn="l">
              <a:lnSpc>
                <a:spcPct val="112000"/>
              </a:lnSpc>
              <a:spcBef>
                <a:spcPts val="0"/>
              </a:spcBef>
              <a:spcAft>
                <a:spcPts val="900"/>
              </a:spcAft>
            </a:pPr>
            <a:r>
              <a:rPr sz="1500" b="0" i="0">
                <a:solidFill>
                  <a:srgbClr val="FFFFFF"/>
                </a:solidFill>
                <a:latin typeface="Arial"/>
              </a:rPr>
              <a:t>D.  A selling climax</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In a selling climax, who is doing the buying?</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uninformed, in a state of irrational exuberance</a:t>
            </a:r>
          </a:p>
          <a:p>
            <a:pPr algn="l">
              <a:lnSpc>
                <a:spcPct val="112000"/>
              </a:lnSpc>
              <a:spcBef>
                <a:spcPts val="0"/>
              </a:spcBef>
              <a:spcAft>
                <a:spcPts val="900"/>
              </a:spcAft>
            </a:pPr>
            <a:r>
              <a:rPr sz="1500" b="0" i="0">
                <a:solidFill>
                  <a:srgbClr val="FFFFFF"/>
                </a:solidFill>
                <a:latin typeface="Arial"/>
              </a:rPr>
              <a:t>B.  The general public, on margin</a:t>
            </a:r>
          </a:p>
          <a:p>
            <a:pPr algn="l">
              <a:lnSpc>
                <a:spcPct val="112000"/>
              </a:lnSpc>
              <a:spcBef>
                <a:spcPts val="0"/>
              </a:spcBef>
              <a:spcAft>
                <a:spcPts val="900"/>
              </a:spcAft>
            </a:pPr>
            <a:r>
              <a:rPr sz="1500" b="0" i="0">
                <a:solidFill>
                  <a:srgbClr val="FFFFFF"/>
                </a:solidFill>
                <a:latin typeface="Arial"/>
              </a:rPr>
              <a:t>C.  Technical traders, on an upside breakout</a:t>
            </a:r>
          </a:p>
          <a:p>
            <a:pPr algn="l">
              <a:lnSpc>
                <a:spcPct val="112000"/>
              </a:lnSpc>
              <a:spcBef>
                <a:spcPts val="0"/>
              </a:spcBef>
              <a:spcAft>
                <a:spcPts val="900"/>
              </a:spcAft>
            </a:pPr>
            <a:r>
              <a:rPr sz="1500" b="0" i="0">
                <a:solidFill>
                  <a:srgbClr val="FFFFFF"/>
                </a:solidFill>
                <a:latin typeface="Arial"/>
              </a:rPr>
              <a:t>D.  The informed, taking a contrarian approach</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1 of 9 - 4.1 Dow  |  Check 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Who is on each side</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 market consolidates for four months and then rises. The consolidation represented:</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Accumulation</a:t>
            </a:r>
          </a:p>
          <a:p>
            <a:pPr algn="l">
              <a:lnSpc>
                <a:spcPct val="115000"/>
              </a:lnSpc>
              <a:spcBef>
                <a:spcPts val="700"/>
              </a:spcBef>
              <a:spcAft>
                <a:spcPts val="0"/>
              </a:spcAft>
            </a:pPr>
            <a:r>
              <a:rPr sz="1600" b="0" i="0">
                <a:solidFill>
                  <a:srgbClr val="1A1A1A"/>
                </a:solidFill>
                <a:latin typeface="Arial"/>
              </a:rPr>
              <a:t>If the market rises after consolidating, the consolidation was accumulation: buying activity.</a:t>
            </a:r>
          </a:p>
        </p:txBody>
      </p:sp>
      <p:sp>
        <p:nvSpPr>
          <p:cNvPr id="10" name="Rectangle 9"/>
          <p:cNvSpPr/>
          <p:nvPr/>
        </p:nvSpPr>
        <p:spPr>
          <a:xfrm>
            <a:off x="777240" y="308203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In a selling climax, who is doing the buying?</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The informed, taking a contrarian approach</a:t>
            </a:r>
          </a:p>
          <a:p>
            <a:pPr algn="l">
              <a:lnSpc>
                <a:spcPct val="115000"/>
              </a:lnSpc>
              <a:spcBef>
                <a:spcPts val="700"/>
              </a:spcBef>
              <a:spcAft>
                <a:spcPts val="0"/>
              </a:spcAft>
            </a:pPr>
            <a:r>
              <a:rPr sz="1600" b="0" i="0">
                <a:solidFill>
                  <a:srgbClr val="1A1A1A"/>
                </a:solidFill>
                <a:latin typeface="Arial"/>
              </a:rPr>
              <a:t>The uninformed sell at whatever price is available, and the informed buy from them.</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9 - 4.1 Dow  |  Check 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tops are shorter and rougher than bottoms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9 - 4.1 Dow  |  10 of 14</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Accumulation normally lasts longer than distribution.</a:t>
            </a:r>
          </a:p>
          <a:p>
            <a:pPr algn="l">
              <a:lnSpc>
                <a:spcPct val="105000"/>
              </a:lnSpc>
              <a:spcBef>
                <a:spcPts val="0"/>
              </a:spcBef>
              <a:spcAft>
                <a:spcPts val="1100"/>
              </a:spcAft>
            </a:pPr>
            <a:r>
              <a:rPr sz="1800" b="0" i="0">
                <a:solidFill>
                  <a:srgbClr val="1A1A1A"/>
                </a:solidFill>
                <a:latin typeface="Arial"/>
              </a:rPr>
              <a:t>The uptrend tends to be more prolonged than the downtrend.</a:t>
            </a:r>
          </a:p>
          <a:p>
            <a:pPr algn="l">
              <a:lnSpc>
                <a:spcPct val="105000"/>
              </a:lnSpc>
              <a:spcBef>
                <a:spcPts val="0"/>
              </a:spcBef>
              <a:spcAft>
                <a:spcPts val="1100"/>
              </a:spcAft>
            </a:pPr>
            <a:r>
              <a:rPr sz="1800" b="0" i="0">
                <a:solidFill>
                  <a:srgbClr val="1A1A1A"/>
                </a:solidFill>
                <a:latin typeface="Arial"/>
              </a:rPr>
              <a:t>Distributions tend to be much more volatile than accumulations.</a:t>
            </a:r>
          </a:p>
        </p:txBody>
      </p:sp>
      <p:sp>
        <p:nvSpPr>
          <p:cNvPr id="8" name="Rectangle 7"/>
          <p:cNvSpPr/>
          <p:nvPr/>
        </p:nvSpPr>
        <p:spPr>
          <a:xfrm>
            <a:off x="777240" y="4389120"/>
            <a:ext cx="82296" cy="101498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25696"/>
            <a:ext cx="4645152" cy="1014983"/>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One reason covers all three: at higher prices more capital, and more unrealized profit, is at risk.</a:t>
            </a:r>
          </a:p>
        </p:txBody>
      </p:sp>
      <p:sp>
        <p:nvSpPr>
          <p:cNvPr id="10" name="Rectangle 9"/>
          <p:cNvSpPr/>
          <p:nvPr/>
        </p:nvSpPr>
        <p:spPr>
          <a:xfrm>
            <a:off x="6036411" y="1810512"/>
            <a:ext cx="537667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g.png"/>
          <p:cNvPicPr>
            <a:picLocks noChangeAspect="1"/>
          </p:cNvPicPr>
          <p:nvPr/>
        </p:nvPicPr>
        <p:blipFill>
          <a:blip r:embed="rId2"/>
          <a:stretch>
            <a:fillRect/>
          </a:stretch>
        </p:blipFill>
        <p:spPr>
          <a:xfrm>
            <a:off x="6155283" y="1929384"/>
            <a:ext cx="5138928" cy="3511296"/>
          </a:xfrm>
          <a:prstGeom prst="rect">
            <a:avLst/>
          </a:prstGeom>
        </p:spPr>
      </p:pic>
      <p:sp>
        <p:nvSpPr>
          <p:cNvPr id="12" name="TextBox 11"/>
          <p:cNvSpPr txBox="1"/>
          <p:nvPr/>
        </p:nvSpPr>
        <p:spPr>
          <a:xfrm>
            <a:off x="6035040" y="5650991"/>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G - FIN1209 teaching chart, drawn for this course. Illustrative data, not a real instrument.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signs of an accumulation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9 - 4.1 Dow  |  11 of 14</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It comes after a relatively rapid decline, ideally near a significant prior bottom.</a:t>
            </a:r>
          </a:p>
          <a:p>
            <a:pPr algn="l">
              <a:lnSpc>
                <a:spcPct val="105000"/>
              </a:lnSpc>
              <a:spcBef>
                <a:spcPts val="0"/>
              </a:spcBef>
              <a:spcAft>
                <a:spcPts val="1100"/>
              </a:spcAft>
            </a:pPr>
            <a:r>
              <a:rPr sz="1700" b="0" i="0">
                <a:solidFill>
                  <a:srgbClr val="1A1A1A"/>
                </a:solidFill>
                <a:latin typeface="Arial"/>
              </a:rPr>
              <a:t>There is no evidence of lower troughs being formed.</a:t>
            </a:r>
          </a:p>
          <a:p>
            <a:pPr algn="l">
              <a:lnSpc>
                <a:spcPct val="105000"/>
              </a:lnSpc>
              <a:spcBef>
                <a:spcPts val="0"/>
              </a:spcBef>
              <a:spcAft>
                <a:spcPts val="1100"/>
              </a:spcAft>
            </a:pPr>
            <a:r>
              <a:rPr sz="1700" b="0" i="0">
                <a:solidFill>
                  <a:srgbClr val="1A1A1A"/>
                </a:solidFill>
                <a:latin typeface="Arial"/>
              </a:rPr>
              <a:t>Volume begins to subside as a potential upside breakout approaches.</a:t>
            </a:r>
          </a:p>
          <a:p>
            <a:pPr algn="l">
              <a:lnSpc>
                <a:spcPct val="105000"/>
              </a:lnSpc>
              <a:spcBef>
                <a:spcPts val="0"/>
              </a:spcBef>
              <a:spcAft>
                <a:spcPts val="1100"/>
              </a:spcAft>
            </a:pPr>
            <a:r>
              <a:rPr sz="1700" b="0" i="0">
                <a:solidFill>
                  <a:srgbClr val="1A1A1A"/>
                </a:solidFill>
                <a:latin typeface="Arial"/>
              </a:rPr>
              <a:t>The longer it lasts, the more powerful the breakout, typically on a surge in volume.</a:t>
            </a:r>
          </a:p>
        </p:txBody>
      </p:sp>
      <p:sp>
        <p:nvSpPr>
          <p:cNvPr id="8" name="Rectangle 7"/>
          <p:cNvSpPr/>
          <p:nvPr/>
        </p:nvSpPr>
        <p:spPr>
          <a:xfrm>
            <a:off x="777240" y="500176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38344"/>
            <a:ext cx="464515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It starts a new primary bull market, or a shorter-term uptrend.</a:t>
            </a:r>
          </a:p>
        </p:txBody>
      </p:sp>
      <p:sp>
        <p:nvSpPr>
          <p:cNvPr id="10" name="Rectangle 9"/>
          <p:cNvSpPr/>
          <p:nvPr/>
        </p:nvSpPr>
        <p:spPr>
          <a:xfrm>
            <a:off x="6036411" y="1810512"/>
            <a:ext cx="537667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h.png"/>
          <p:cNvPicPr>
            <a:picLocks noChangeAspect="1"/>
          </p:cNvPicPr>
          <p:nvPr/>
        </p:nvPicPr>
        <p:blipFill>
          <a:blip r:embed="rId2"/>
          <a:stretch>
            <a:fillRect/>
          </a:stretch>
        </p:blipFill>
        <p:spPr>
          <a:xfrm>
            <a:off x="6155283" y="1929384"/>
            <a:ext cx="5138928" cy="3511296"/>
          </a:xfrm>
          <a:prstGeom prst="rect">
            <a:avLst/>
          </a:prstGeom>
        </p:spPr>
      </p:pic>
      <p:sp>
        <p:nvSpPr>
          <p:cNvPr id="12" name="TextBox 11"/>
          <p:cNvSpPr txBox="1"/>
          <p:nvPr/>
        </p:nvSpPr>
        <p:spPr>
          <a:xfrm>
            <a:off x="6035040" y="5650991"/>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H - FIN1209 teaching chart, drawn for this course. Illustrative data, not a real instrument.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signs of a distribution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9 - 4.1 Dow  |  12 of 14</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It comes after a prolonged uptrend, ideally near a significant prior top.</a:t>
            </a:r>
          </a:p>
          <a:p>
            <a:pPr algn="l">
              <a:lnSpc>
                <a:spcPct val="105000"/>
              </a:lnSpc>
              <a:spcBef>
                <a:spcPts val="0"/>
              </a:spcBef>
              <a:spcAft>
                <a:spcPts val="1100"/>
              </a:spcAft>
            </a:pPr>
            <a:r>
              <a:rPr sz="1700" b="0" i="0">
                <a:solidFill>
                  <a:srgbClr val="1A1A1A"/>
                </a:solidFill>
                <a:latin typeface="Arial"/>
              </a:rPr>
              <a:t>Signs of market exhaustion show, and no higher peaks form.</a:t>
            </a:r>
          </a:p>
          <a:p>
            <a:pPr algn="l">
              <a:lnSpc>
                <a:spcPct val="105000"/>
              </a:lnSpc>
              <a:spcBef>
                <a:spcPts val="0"/>
              </a:spcBef>
              <a:spcAft>
                <a:spcPts val="1100"/>
              </a:spcAft>
            </a:pPr>
            <a:r>
              <a:rPr sz="1700" b="0" i="0">
                <a:solidFill>
                  <a:srgbClr val="1A1A1A"/>
                </a:solidFill>
                <a:latin typeface="Arial"/>
              </a:rPr>
              <a:t>Volume begins to subside as a potential downside breakout approaches.</a:t>
            </a:r>
          </a:p>
          <a:p>
            <a:pPr algn="l">
              <a:lnSpc>
                <a:spcPct val="105000"/>
              </a:lnSpc>
              <a:spcBef>
                <a:spcPts val="0"/>
              </a:spcBef>
              <a:spcAft>
                <a:spcPts val="1100"/>
              </a:spcAft>
            </a:pPr>
            <a:r>
              <a:rPr sz="1700" b="0" i="0">
                <a:solidFill>
                  <a:srgbClr val="1A1A1A"/>
                </a:solidFill>
                <a:latin typeface="Arial"/>
              </a:rPr>
              <a:t>The longer it lasts, the more powerful the breakout, typically on a surge in volume.</a:t>
            </a:r>
          </a:p>
        </p:txBody>
      </p:sp>
      <p:sp>
        <p:nvSpPr>
          <p:cNvPr id="8" name="Rectangle 7"/>
          <p:cNvSpPr/>
          <p:nvPr/>
        </p:nvSpPr>
        <p:spPr>
          <a:xfrm>
            <a:off x="777240" y="500176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38344"/>
            <a:ext cx="464515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It starts a new primary bear market, or a shorter-term downtrend.</a:t>
            </a:r>
          </a:p>
        </p:txBody>
      </p:sp>
      <p:sp>
        <p:nvSpPr>
          <p:cNvPr id="10" name="Rectangle 9"/>
          <p:cNvSpPr/>
          <p:nvPr/>
        </p:nvSpPr>
        <p:spPr>
          <a:xfrm>
            <a:off x="6036411" y="1810512"/>
            <a:ext cx="537667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i.png"/>
          <p:cNvPicPr>
            <a:picLocks noChangeAspect="1"/>
          </p:cNvPicPr>
          <p:nvPr/>
        </p:nvPicPr>
        <p:blipFill>
          <a:blip r:embed="rId2"/>
          <a:stretch>
            <a:fillRect/>
          </a:stretch>
        </p:blipFill>
        <p:spPr>
          <a:xfrm>
            <a:off x="6155283" y="1929384"/>
            <a:ext cx="5138928" cy="3511296"/>
          </a:xfrm>
          <a:prstGeom prst="rect">
            <a:avLst/>
          </a:prstGeom>
        </p:spPr>
      </p:pic>
      <p:sp>
        <p:nvSpPr>
          <p:cNvPr id="12" name="TextBox 11"/>
          <p:cNvSpPr txBox="1"/>
          <p:nvPr/>
        </p:nvSpPr>
        <p:spPr>
          <a:xfrm>
            <a:off x="6035040" y="5650991"/>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I - FIN1209 teaching chart, drawn for this course. Illustrative data, not a real instrument.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2 OF 11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Reading a consolidation</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Accumulation normally lasts longer than distribution because, at the bottom of the market:</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Less capital is at risk at the lower prices</a:t>
            </a:r>
          </a:p>
          <a:p>
            <a:pPr algn="l">
              <a:lnSpc>
                <a:spcPct val="112000"/>
              </a:lnSpc>
              <a:spcBef>
                <a:spcPts val="0"/>
              </a:spcBef>
              <a:spcAft>
                <a:spcPts val="900"/>
              </a:spcAft>
            </a:pPr>
            <a:r>
              <a:rPr sz="1500" b="0" i="0">
                <a:solidFill>
                  <a:srgbClr val="FFFFFF"/>
                </a:solidFill>
                <a:latin typeface="Arial"/>
              </a:rPr>
              <a:t>B.  Volume is always higher</a:t>
            </a:r>
          </a:p>
          <a:p>
            <a:pPr algn="l">
              <a:lnSpc>
                <a:spcPct val="112000"/>
              </a:lnSpc>
              <a:spcBef>
                <a:spcPts val="0"/>
              </a:spcBef>
              <a:spcAft>
                <a:spcPts val="900"/>
              </a:spcAft>
            </a:pPr>
            <a:r>
              <a:rPr sz="1500" b="0" i="0">
                <a:solidFill>
                  <a:srgbClr val="FFFFFF"/>
                </a:solidFill>
                <a:latin typeface="Arial"/>
              </a:rPr>
              <a:t>C.  The uninformed are buying heavily</a:t>
            </a:r>
          </a:p>
          <a:p>
            <a:pPr algn="l">
              <a:lnSpc>
                <a:spcPct val="112000"/>
              </a:lnSpc>
              <a:spcBef>
                <a:spcPts val="0"/>
              </a:spcBef>
              <a:spcAft>
                <a:spcPts val="900"/>
              </a:spcAft>
            </a:pPr>
            <a:r>
              <a:rPr sz="1500" b="0" i="0">
                <a:solidFill>
                  <a:srgbClr val="FFFFFF"/>
                </a:solidFill>
                <a:latin typeface="Arial"/>
              </a:rPr>
              <a:t>D.  Leverage is higher than at the top</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Which of these is a sign that accumulation, and not distribution, is taking place?</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range follows a prolonged uptrend</a:t>
            </a:r>
          </a:p>
          <a:p>
            <a:pPr algn="l">
              <a:lnSpc>
                <a:spcPct val="112000"/>
              </a:lnSpc>
              <a:spcBef>
                <a:spcPts val="0"/>
              </a:spcBef>
              <a:spcAft>
                <a:spcPts val="900"/>
              </a:spcAft>
            </a:pPr>
            <a:r>
              <a:rPr sz="1500" b="0" i="0">
                <a:solidFill>
                  <a:srgbClr val="FFFFFF"/>
                </a:solidFill>
                <a:latin typeface="Arial"/>
              </a:rPr>
              <a:t>B.  No higher peaks form, near a significant prior top</a:t>
            </a:r>
          </a:p>
          <a:p>
            <a:pPr algn="l">
              <a:lnSpc>
                <a:spcPct val="112000"/>
              </a:lnSpc>
              <a:spcBef>
                <a:spcPts val="0"/>
              </a:spcBef>
              <a:spcAft>
                <a:spcPts val="900"/>
              </a:spcAft>
            </a:pPr>
            <a:r>
              <a:rPr sz="1500" b="0" i="0">
                <a:solidFill>
                  <a:srgbClr val="FFFFFF"/>
                </a:solidFill>
                <a:latin typeface="Arial"/>
              </a:rPr>
              <a:t>C.  No lower troughs form, near a significant prior bottom</a:t>
            </a:r>
          </a:p>
          <a:p>
            <a:pPr algn="l">
              <a:lnSpc>
                <a:spcPct val="112000"/>
              </a:lnSpc>
              <a:spcBef>
                <a:spcPts val="0"/>
              </a:spcBef>
              <a:spcAft>
                <a:spcPts val="900"/>
              </a:spcAft>
            </a:pPr>
            <a:r>
              <a:rPr sz="1500" b="0" i="0">
                <a:solidFill>
                  <a:srgbClr val="FFFFFF"/>
                </a:solidFill>
                <a:latin typeface="Arial"/>
              </a:rPr>
              <a:t>D.  Margin debt is skyrocketing</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1 of 9 - 4.1 Dow  |  Check 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Reading a consolidation</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Accumulation normally lasts longer than distribution because, at the bottom of the market:</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Less capital is at risk at the lower prices</a:t>
            </a:r>
          </a:p>
          <a:p>
            <a:pPr algn="l">
              <a:lnSpc>
                <a:spcPct val="115000"/>
              </a:lnSpc>
              <a:spcBef>
                <a:spcPts val="700"/>
              </a:spcBef>
              <a:spcAft>
                <a:spcPts val="0"/>
              </a:spcAft>
            </a:pPr>
            <a:r>
              <a:rPr sz="1600" b="0" i="0">
                <a:solidFill>
                  <a:srgbClr val="1A1A1A"/>
                </a:solidFill>
                <a:latin typeface="Arial"/>
              </a:rPr>
              <a:t>Lower prices mean a lower amount of capital at risk, so the bottom takes its time.</a:t>
            </a:r>
          </a:p>
        </p:txBody>
      </p:sp>
      <p:sp>
        <p:nvSpPr>
          <p:cNvPr id="10" name="Rectangle 9"/>
          <p:cNvSpPr/>
          <p:nvPr/>
        </p:nvSpPr>
        <p:spPr>
          <a:xfrm>
            <a:off x="777240" y="308203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Which of these is a sign that accumulation, and not distribution, is taking place?</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No lower troughs form, near a significant prior bottom</a:t>
            </a:r>
          </a:p>
          <a:p>
            <a:pPr algn="l">
              <a:lnSpc>
                <a:spcPct val="115000"/>
              </a:lnSpc>
              <a:spcBef>
                <a:spcPts val="700"/>
              </a:spcBef>
              <a:spcAft>
                <a:spcPts val="0"/>
              </a:spcAft>
            </a:pPr>
            <a:r>
              <a:rPr sz="1600" b="0" i="0">
                <a:solidFill>
                  <a:srgbClr val="1A1A1A"/>
                </a:solidFill>
                <a:latin typeface="Arial"/>
              </a:rPr>
              <a:t>Accumulation follows a rapid decline, near a significant prior bottom, with no lower troughs. The other three belong to distribution.</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9 - 4.1 Dow  |  Check 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When is a consolidation over?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9 - 4.1 Dow  |  13 of 14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There is no absolute consensus on the exact point where a consolidation ends.</a:t>
            </a:r>
          </a:p>
          <a:p>
            <a:pPr algn="l">
              <a:lnSpc>
                <a:spcPct val="105000"/>
              </a:lnSpc>
              <a:spcBef>
                <a:spcPts val="0"/>
              </a:spcBef>
              <a:spcAft>
                <a:spcPts val="1100"/>
              </a:spcAft>
            </a:pPr>
            <a:r>
              <a:rPr sz="1700" b="0" i="0">
                <a:solidFill>
                  <a:srgbClr val="1A1A1A"/>
                </a:solidFill>
                <a:latin typeface="Arial"/>
              </a:rPr>
              <a:t>Some look for a 3 to 5 percent rise above the highest peak of the range.</a:t>
            </a:r>
          </a:p>
          <a:p>
            <a:pPr algn="l">
              <a:lnSpc>
                <a:spcPct val="105000"/>
              </a:lnSpc>
              <a:spcBef>
                <a:spcPts val="0"/>
              </a:spcBef>
              <a:spcAft>
                <a:spcPts val="1100"/>
              </a:spcAft>
            </a:pPr>
            <a:r>
              <a:rPr sz="1700" b="0" i="0">
                <a:solidFill>
                  <a:srgbClr val="1A1A1A"/>
                </a:solidFill>
                <a:latin typeface="Arial"/>
              </a:rPr>
              <a:t>Some wait for the minimum measuring objective to be met.</a:t>
            </a:r>
          </a:p>
          <a:p>
            <a:pPr algn="l">
              <a:lnSpc>
                <a:spcPct val="105000"/>
              </a:lnSpc>
              <a:spcBef>
                <a:spcPts val="0"/>
              </a:spcBef>
              <a:spcAft>
                <a:spcPts val="1100"/>
              </a:spcAft>
            </a:pPr>
            <a:r>
              <a:rPr sz="1700" b="0" i="0">
                <a:solidFill>
                  <a:srgbClr val="1A1A1A"/>
                </a:solidFill>
                <a:latin typeface="Arial"/>
              </a:rPr>
              <a:t>Most look for a clear and simple technical breakout from the range.</a:t>
            </a:r>
          </a:p>
        </p:txBody>
      </p:sp>
      <p:sp>
        <p:nvSpPr>
          <p:cNvPr id="8" name="Rectangle 7"/>
          <p:cNvSpPr/>
          <p:nvPr/>
        </p:nvSpPr>
        <p:spPr>
          <a:xfrm>
            <a:off x="777240" y="500176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38344"/>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Even then, where the breakout occurs depends on the price filter used.</a:t>
            </a:r>
          </a:p>
        </p:txBody>
      </p:sp>
      <p:sp>
        <p:nvSpPr>
          <p:cNvPr id="10" name="Rectangle 9"/>
          <p:cNvSpPr/>
          <p:nvPr/>
        </p:nvSpPr>
        <p:spPr>
          <a:xfrm>
            <a:off x="6217919" y="1810512"/>
            <a:ext cx="5196535"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217919" y="1810512"/>
            <a:ext cx="5196535"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629399" y="2267712"/>
            <a:ext cx="4373575"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4.4</a:t>
            </a:r>
          </a:p>
          <a:p>
            <a:pPr algn="l">
              <a:lnSpc>
                <a:spcPct val="120000"/>
              </a:lnSpc>
              <a:spcBef>
                <a:spcPts val="0"/>
              </a:spcBef>
              <a:spcAft>
                <a:spcPts val="1400"/>
              </a:spcAft>
            </a:pPr>
            <a:r>
              <a:rPr sz="1800" b="0" i="0">
                <a:solidFill>
                  <a:srgbClr val="1A1A1A"/>
                </a:solidFill>
                <a:latin typeface="Palatino"/>
              </a:rPr>
              <a:t>A consolidation range with the three popular completion levels marked above it: a technical breakout, a 3 to 5 percent rise above the highest peak, and a one to one minimum target projection of the range.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6217919" y="565099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4.4 - Lim, The Handbook of Technical Analysis (Wiley, 2016)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Minimum measuring objective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9 - 4.1 Dow  |  14 of 14</a:t>
            </a:r>
          </a:p>
        </p:txBody>
      </p:sp>
      <p:sp>
        <p:nvSpPr>
          <p:cNvPr id="8" name="Rectangle 7"/>
          <p:cNvSpPr/>
          <p:nvPr/>
        </p:nvSpPr>
        <p:spPr>
          <a:xfrm>
            <a:off x="777240" y="2258568"/>
            <a:ext cx="64008" cy="97840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02920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The least a breakout is expected to travel: usually the height of the range it broke out of.</a:t>
            </a:r>
          </a:p>
        </p:txBody>
      </p:sp>
      <p:sp>
        <p:nvSpPr>
          <p:cNvPr id="10" name="Rectangle 9"/>
          <p:cNvSpPr/>
          <p:nvPr/>
        </p:nvSpPr>
        <p:spPr>
          <a:xfrm>
            <a:off x="777240" y="349300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447287"/>
            <a:ext cx="502920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A share ranges between PHP 40 and PHP 44, a height of PHP 4. On an upside breakout the minimum target is 44 + 4 = PHP 48.</a:t>
            </a:r>
          </a:p>
        </p:txBody>
      </p:sp>
      <p:sp>
        <p:nvSpPr>
          <p:cNvPr id="12" name="Rectangle 11"/>
          <p:cNvSpPr/>
          <p:nvPr/>
        </p:nvSpPr>
        <p:spPr>
          <a:xfrm>
            <a:off x="777240" y="4727447"/>
            <a:ext cx="64008" cy="97840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681727"/>
            <a:ext cx="502920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The expected minimum price target, which is usually a price excursion equal to the range or height of the consolidation.</a:t>
            </a:r>
          </a:p>
        </p:txBody>
      </p:sp>
      <p:sp>
        <p:nvSpPr>
          <p:cNvPr id="14" name="Rectangle 13"/>
          <p:cNvSpPr/>
          <p:nvPr/>
        </p:nvSpPr>
        <p:spPr>
          <a:xfrm>
            <a:off x="6402171" y="2157984"/>
            <a:ext cx="501091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j.png"/>
          <p:cNvPicPr>
            <a:picLocks noChangeAspect="1"/>
          </p:cNvPicPr>
          <p:nvPr/>
        </p:nvPicPr>
        <p:blipFill>
          <a:blip r:embed="rId2"/>
          <a:stretch>
            <a:fillRect/>
          </a:stretch>
        </p:blipFill>
        <p:spPr>
          <a:xfrm>
            <a:off x="6521043" y="2276856"/>
            <a:ext cx="4773168" cy="3163824"/>
          </a:xfrm>
          <a:prstGeom prst="rect">
            <a:avLst/>
          </a:prstGeom>
        </p:spPr>
      </p:pic>
      <p:sp>
        <p:nvSpPr>
          <p:cNvPr id="16" name="TextBox 15"/>
          <p:cNvSpPr txBox="1"/>
          <p:nvPr/>
        </p:nvSpPr>
        <p:spPr>
          <a:xfrm>
            <a:off x="6400799" y="5650991"/>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J - FIN1209 teaching chart, drawn for this course. Illustrative data, not a real instrument.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3 OF 11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When a consolidation ends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share ranges between PHP 50 and PHP 56, then breaks out upward. Its minimum measuring objective is:</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PHP 56</a:t>
            </a:r>
          </a:p>
          <a:p>
            <a:pPr algn="l">
              <a:lnSpc>
                <a:spcPct val="112000"/>
              </a:lnSpc>
              <a:spcBef>
                <a:spcPts val="0"/>
              </a:spcBef>
              <a:spcAft>
                <a:spcPts val="900"/>
              </a:spcAft>
            </a:pPr>
            <a:r>
              <a:rPr sz="1500" b="0" i="0">
                <a:solidFill>
                  <a:srgbClr val="FFFFFF"/>
                </a:solidFill>
                <a:latin typeface="Arial"/>
              </a:rPr>
              <a:t>B.  PHP 59</a:t>
            </a:r>
          </a:p>
          <a:p>
            <a:pPr algn="l">
              <a:lnSpc>
                <a:spcPct val="112000"/>
              </a:lnSpc>
              <a:spcBef>
                <a:spcPts val="0"/>
              </a:spcBef>
              <a:spcAft>
                <a:spcPts val="900"/>
              </a:spcAft>
            </a:pPr>
            <a:r>
              <a:rPr sz="1500" b="0" i="0">
                <a:solidFill>
                  <a:srgbClr val="FFFFFF"/>
                </a:solidFill>
                <a:latin typeface="Arial"/>
              </a:rPr>
              <a:t>C.  PHP 62</a:t>
            </a:r>
          </a:p>
          <a:p>
            <a:pPr algn="l">
              <a:lnSpc>
                <a:spcPct val="112000"/>
              </a:lnSpc>
              <a:spcBef>
                <a:spcPts val="0"/>
              </a:spcBef>
              <a:spcAft>
                <a:spcPts val="900"/>
              </a:spcAft>
            </a:pPr>
            <a:r>
              <a:rPr sz="1500" b="0" i="0">
                <a:solidFill>
                  <a:srgbClr val="FFFFFF"/>
                </a:solidFill>
                <a:latin typeface="Arial"/>
              </a:rPr>
              <a:t>D.  PHP 68</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Most traders and analysts take as evidence that a consolidation has completed:</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3 to 5 percent rise above the highest peak</a:t>
            </a:r>
          </a:p>
          <a:p>
            <a:pPr algn="l">
              <a:lnSpc>
                <a:spcPct val="112000"/>
              </a:lnSpc>
              <a:spcBef>
                <a:spcPts val="0"/>
              </a:spcBef>
              <a:spcAft>
                <a:spcPts val="900"/>
              </a:spcAft>
            </a:pPr>
            <a:r>
              <a:rPr sz="1500" b="0" i="0">
                <a:solidFill>
                  <a:srgbClr val="FFFFFF"/>
                </a:solidFill>
                <a:latin typeface="Arial"/>
              </a:rPr>
              <a:t>B.  The minimum measuring objective being met</a:t>
            </a:r>
          </a:p>
          <a:p>
            <a:pPr algn="l">
              <a:lnSpc>
                <a:spcPct val="112000"/>
              </a:lnSpc>
              <a:spcBef>
                <a:spcPts val="0"/>
              </a:spcBef>
              <a:spcAft>
                <a:spcPts val="900"/>
              </a:spcAft>
            </a:pPr>
            <a:r>
              <a:rPr sz="1500" b="0" i="0">
                <a:solidFill>
                  <a:srgbClr val="FFFFFF"/>
                </a:solidFill>
                <a:latin typeface="Arial"/>
              </a:rPr>
              <a:t>C.  Very high volume inside the range</a:t>
            </a:r>
          </a:p>
          <a:p>
            <a:pPr algn="l">
              <a:lnSpc>
                <a:spcPct val="112000"/>
              </a:lnSpc>
              <a:spcBef>
                <a:spcPts val="0"/>
              </a:spcBef>
              <a:spcAft>
                <a:spcPts val="900"/>
              </a:spcAft>
            </a:pPr>
            <a:r>
              <a:rPr sz="1500" b="0" i="0">
                <a:solidFill>
                  <a:srgbClr val="FFFFFF"/>
                </a:solidFill>
                <a:latin typeface="Arial"/>
              </a:rPr>
              <a:t>D.  A clear and simple technical breakout from the range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1 of 9 - 4.1 Dow  |  Check 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When a consolidation ends</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 share ranges between PHP 50 and PHP 56, then breaks out upward. Its minimum measuring objective is:</a:t>
            </a:r>
          </a:p>
        </p:txBody>
      </p:sp>
      <p:sp>
        <p:nvSpPr>
          <p:cNvPr id="9" name="TextBox 8"/>
          <p:cNvSpPr txBox="1"/>
          <p:nvPr/>
        </p:nvSpPr>
        <p:spPr>
          <a:xfrm>
            <a:off x="1143000" y="216814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PHP 62</a:t>
            </a:r>
          </a:p>
          <a:p>
            <a:pPr algn="l">
              <a:lnSpc>
                <a:spcPct val="115000"/>
              </a:lnSpc>
              <a:spcBef>
                <a:spcPts val="700"/>
              </a:spcBef>
              <a:spcAft>
                <a:spcPts val="0"/>
              </a:spcAft>
            </a:pPr>
            <a:r>
              <a:rPr sz="1600" b="0" i="0">
                <a:solidFill>
                  <a:srgbClr val="1A1A1A"/>
                </a:solidFill>
                <a:latin typeface="Arial"/>
              </a:rPr>
              <a:t>The range is PHP 6 high, and 56 + 6 = PHP 62.</a:t>
            </a:r>
          </a:p>
        </p:txBody>
      </p:sp>
      <p:sp>
        <p:nvSpPr>
          <p:cNvPr id="10" name="Rectangle 9"/>
          <p:cNvSpPr/>
          <p:nvPr/>
        </p:nvSpPr>
        <p:spPr>
          <a:xfrm>
            <a:off x="777240" y="331571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Most traders and analysts take as evidence that a consolidation has completed:</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A clear and simple technical breakout from the range</a:t>
            </a:r>
          </a:p>
          <a:p>
            <a:pPr algn="l">
              <a:lnSpc>
                <a:spcPct val="115000"/>
              </a:lnSpc>
              <a:spcBef>
                <a:spcPts val="700"/>
              </a:spcBef>
              <a:spcAft>
                <a:spcPts val="0"/>
              </a:spcAft>
            </a:pPr>
            <a:r>
              <a:rPr sz="1600" b="0" i="0">
                <a:solidFill>
                  <a:srgbClr val="1A1A1A"/>
                </a:solidFill>
                <a:latin typeface="Arial"/>
              </a:rPr>
              <a:t>Some practitioners use the percentage rise or the measuring objective, but the simple technical breakout is the most popular.</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9 - 4.1 Dow  |  Check 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4.2  Chart patterns show the phase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1 of 16</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Market phase can also be identified by the type of chart pattern at each stage.</a:t>
            </a:r>
          </a:p>
          <a:p>
            <a:pPr algn="l">
              <a:lnSpc>
                <a:spcPct val="105000"/>
              </a:lnSpc>
              <a:spcBef>
                <a:spcPts val="0"/>
              </a:spcBef>
              <a:spcAft>
                <a:spcPts val="1100"/>
              </a:spcAft>
            </a:pPr>
            <a:r>
              <a:rPr sz="1800" b="0" i="0">
                <a:solidFill>
                  <a:srgbClr val="1A1A1A"/>
                </a:solidFill>
                <a:latin typeface="Arial"/>
              </a:rPr>
              <a:t>Most chart patterns belong to one of two groups: reversal or continuation.</a:t>
            </a:r>
          </a:p>
          <a:p>
            <a:pPr algn="l">
              <a:lnSpc>
                <a:spcPct val="105000"/>
              </a:lnSpc>
              <a:spcBef>
                <a:spcPts val="0"/>
              </a:spcBef>
              <a:spcAft>
                <a:spcPts val="1100"/>
              </a:spcAft>
            </a:pPr>
            <a:r>
              <a:rPr sz="1800" b="0" i="0">
                <a:solidFill>
                  <a:srgbClr val="1A1A1A"/>
                </a:solidFill>
                <a:latin typeface="Arial"/>
              </a:rPr>
              <a:t>Accumulation and distribution tend to hold reversal patterns. Continuation patterns form within the trend.</a:t>
            </a:r>
          </a:p>
        </p:txBody>
      </p:sp>
      <p:sp>
        <p:nvSpPr>
          <p:cNvPr id="8" name="Rectangle 7"/>
          <p:cNvSpPr/>
          <p:nvPr/>
        </p:nvSpPr>
        <p:spPr>
          <a:xfrm>
            <a:off x="777240" y="4677156"/>
            <a:ext cx="82296" cy="101498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13732"/>
            <a:ext cx="4645152" cy="1014983"/>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So the kind of pattern on the chart is evidence of the phase the market is in.</a:t>
            </a:r>
          </a:p>
        </p:txBody>
      </p:sp>
      <p:sp>
        <p:nvSpPr>
          <p:cNvPr id="10" name="Rectangle 9"/>
          <p:cNvSpPr/>
          <p:nvPr/>
        </p:nvSpPr>
        <p:spPr>
          <a:xfrm>
            <a:off x="6036411" y="1810512"/>
            <a:ext cx="537667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k.png"/>
          <p:cNvPicPr>
            <a:picLocks noChangeAspect="1"/>
          </p:cNvPicPr>
          <p:nvPr/>
        </p:nvPicPr>
        <p:blipFill>
          <a:blip r:embed="rId2"/>
          <a:stretch>
            <a:fillRect/>
          </a:stretch>
        </p:blipFill>
        <p:spPr>
          <a:xfrm>
            <a:off x="6155283" y="1929384"/>
            <a:ext cx="5138928" cy="3511296"/>
          </a:xfrm>
          <a:prstGeom prst="rect">
            <a:avLst/>
          </a:prstGeom>
        </p:spPr>
      </p:pic>
      <p:sp>
        <p:nvSpPr>
          <p:cNvPr id="12" name="TextBox 11"/>
          <p:cNvSpPr txBox="1"/>
          <p:nvPr/>
        </p:nvSpPr>
        <p:spPr>
          <a:xfrm>
            <a:off x="6035040" y="5650991"/>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K - FIN1209 teaching chart, drawn for this course. Illustrative data, not a real instrument.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Consolidation pattern</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2 of 16</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02920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A pattern that stays inside a range and is not trending anywhere.</a:t>
            </a:r>
          </a:p>
        </p:txBody>
      </p:sp>
      <p:sp>
        <p:nvSpPr>
          <p:cNvPr id="10" name="Rectangle 9"/>
          <p:cNvSpPr/>
          <p:nvPr/>
        </p:nvSpPr>
        <p:spPr>
          <a:xfrm>
            <a:off x="777240" y="3233927"/>
            <a:ext cx="64008" cy="71932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02920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A share drifts between PHP 40 and PHP 44 for six weeks as a triangle forms.</a:t>
            </a:r>
          </a:p>
        </p:txBody>
      </p:sp>
      <p:sp>
        <p:nvSpPr>
          <p:cNvPr id="12" name="Rectangle 11"/>
          <p:cNvSpPr/>
          <p:nvPr/>
        </p:nvSpPr>
        <p:spPr>
          <a:xfrm>
            <a:off x="777240" y="4209287"/>
            <a:ext cx="64008" cy="14965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163567"/>
            <a:ext cx="5029200" cy="1606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A chart pattern is usually regarded as a consolidation pattern if it unfolds within a relatively confined and well defined price range, and lacks any significant trend component.</a:t>
            </a:r>
          </a:p>
        </p:txBody>
      </p:sp>
      <p:sp>
        <p:nvSpPr>
          <p:cNvPr id="14" name="Rectangle 13"/>
          <p:cNvSpPr/>
          <p:nvPr/>
        </p:nvSpPr>
        <p:spPr>
          <a:xfrm>
            <a:off x="6402171" y="2157984"/>
            <a:ext cx="501091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l.png"/>
          <p:cNvPicPr>
            <a:picLocks noChangeAspect="1"/>
          </p:cNvPicPr>
          <p:nvPr/>
        </p:nvPicPr>
        <p:blipFill>
          <a:blip r:embed="rId2"/>
          <a:stretch>
            <a:fillRect/>
          </a:stretch>
        </p:blipFill>
        <p:spPr>
          <a:xfrm>
            <a:off x="6521043" y="2276856"/>
            <a:ext cx="4773168" cy="3163824"/>
          </a:xfrm>
          <a:prstGeom prst="rect">
            <a:avLst/>
          </a:prstGeom>
        </p:spPr>
      </p:pic>
      <p:sp>
        <p:nvSpPr>
          <p:cNvPr id="16" name="TextBox 15"/>
          <p:cNvSpPr txBox="1"/>
          <p:nvPr/>
        </p:nvSpPr>
        <p:spPr>
          <a:xfrm>
            <a:off x="6400799" y="5650991"/>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L - FIN1209 teaching chart, drawn for this course. Illustrative data, not a real instrument.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Most patterns consolidate. V reversals do not.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3 of 16</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 market in indecision, rest or exhaustion ranges, or makes small corrective moves.</a:t>
            </a:r>
          </a:p>
          <a:p>
            <a:pPr algn="l">
              <a:lnSpc>
                <a:spcPct val="105000"/>
              </a:lnSpc>
              <a:spcBef>
                <a:spcPts val="0"/>
              </a:spcBef>
              <a:spcAft>
                <a:spcPts val="1100"/>
              </a:spcAft>
            </a:pPr>
            <a:r>
              <a:rPr sz="1700" b="0" i="0">
                <a:solidFill>
                  <a:srgbClr val="1A1A1A"/>
                </a:solidFill>
                <a:latin typeface="Arial"/>
              </a:rPr>
              <a:t>So most reversal and continuation patterns are also consolidation patterns.</a:t>
            </a:r>
          </a:p>
          <a:p>
            <a:pPr algn="l">
              <a:lnSpc>
                <a:spcPct val="105000"/>
              </a:lnSpc>
              <a:spcBef>
                <a:spcPts val="0"/>
              </a:spcBef>
              <a:spcAft>
                <a:spcPts val="1100"/>
              </a:spcAft>
            </a:pPr>
            <a:r>
              <a:rPr sz="1700" b="0" i="0">
                <a:solidFill>
                  <a:srgbClr val="1A1A1A"/>
                </a:solidFill>
                <a:latin typeface="Arial"/>
              </a:rPr>
              <a:t>V tops and V bottoms are the exception: no confined range, a strong trend component.</a:t>
            </a:r>
          </a:p>
        </p:txBody>
      </p:sp>
      <p:sp>
        <p:nvSpPr>
          <p:cNvPr id="8" name="Rectangle 7"/>
          <p:cNvSpPr/>
          <p:nvPr/>
        </p:nvSpPr>
        <p:spPr>
          <a:xfrm>
            <a:off x="777240" y="429310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29684"/>
            <a:ext cx="446227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V reversals are the hardest to forecast: seen only in hindsight.</a:t>
            </a:r>
          </a:p>
        </p:txBody>
      </p:sp>
      <p:sp>
        <p:nvSpPr>
          <p:cNvPr id="10" name="TextBox 9"/>
          <p:cNvSpPr txBox="1"/>
          <p:nvPr/>
        </p:nvSpPr>
        <p:spPr>
          <a:xfrm>
            <a:off x="777240" y="5189220"/>
            <a:ext cx="47548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They occur more often during distributions than accumulations.</a:t>
            </a:r>
          </a:p>
        </p:txBody>
      </p:sp>
      <p:sp>
        <p:nvSpPr>
          <p:cNvPr id="11" name="Rectangle 10"/>
          <p:cNvSpPr/>
          <p:nvPr/>
        </p:nvSpPr>
        <p:spPr>
          <a:xfrm>
            <a:off x="5852159" y="1810512"/>
            <a:ext cx="556229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5852159" y="1810512"/>
            <a:ext cx="556229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263640" y="2267712"/>
            <a:ext cx="47393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4.8</a:t>
            </a:r>
          </a:p>
          <a:p>
            <a:pPr algn="l">
              <a:lnSpc>
                <a:spcPct val="120000"/>
              </a:lnSpc>
              <a:spcBef>
                <a:spcPts val="0"/>
              </a:spcBef>
              <a:spcAft>
                <a:spcPts val="1400"/>
              </a:spcAft>
            </a:pPr>
            <a:r>
              <a:rPr sz="1800" b="0" i="0">
                <a:solidFill>
                  <a:srgbClr val="1A1A1A"/>
                </a:solidFill>
                <a:latin typeface="Palatino"/>
              </a:rPr>
              <a:t>A 4 hour USDCAD chart: a head and shoulders distribution labelled intrinsically bearish, a decline into a sharp V bottom labelled a rapid accumulation phase, and a new consolidation after the rise.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5852159" y="5650992"/>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4.8 - Lim, The Handbook of Technical Analysis (Wiley, 2016)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Intrinsic bias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4 of 16</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02920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The bullish or bearish lean a pattern carries in itself, wherever it appears.</a:t>
            </a:r>
          </a:p>
        </p:txBody>
      </p:sp>
      <p:sp>
        <p:nvSpPr>
          <p:cNvPr id="10" name="Rectangle 9"/>
          <p:cNvSpPr/>
          <p:nvPr/>
        </p:nvSpPr>
        <p:spPr>
          <a:xfrm>
            <a:off x="777240" y="323392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02920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An ascending triangle is intrinsically bullish. Wherever it occurs, it is inherently a bullish indication.</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02920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The inherent bullish or bearish sentiment associated with a chart pattern that is independent of location, where sentiment is strictly based on the nature of the pattern.</a:t>
            </a:r>
          </a:p>
        </p:txBody>
      </p:sp>
      <p:sp>
        <p:nvSpPr>
          <p:cNvPr id="14" name="Rectangle 13"/>
          <p:cNvSpPr/>
          <p:nvPr/>
        </p:nvSpPr>
        <p:spPr>
          <a:xfrm>
            <a:off x="6400799" y="2157984"/>
            <a:ext cx="501365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400799" y="2157984"/>
            <a:ext cx="501365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6812279" y="2615184"/>
            <a:ext cx="419069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4.6</a:t>
            </a:r>
          </a:p>
          <a:p>
            <a:pPr algn="l">
              <a:lnSpc>
                <a:spcPct val="120000"/>
              </a:lnSpc>
              <a:spcBef>
                <a:spcPts val="0"/>
              </a:spcBef>
              <a:spcAft>
                <a:spcPts val="1400"/>
              </a:spcAft>
            </a:pPr>
            <a:r>
              <a:rPr sz="1800" b="0" i="0">
                <a:solidFill>
                  <a:srgbClr val="1A1A1A"/>
                </a:solidFill>
                <a:latin typeface="Palatino"/>
              </a:rPr>
              <a:t>A EURUSD chart with an inverted head and shoulders boxed at the bottom of a decline, labelled an intrinsically bullish pattern and a reversal pattern, and the trend phase rising out of it.</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400799" y="5650992"/>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4.6 - Lim, The Handbook of Technical Analysis (Wiley, 2016)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Intrinsically bullish: the book's eight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5 of 16</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900" b="0" i="0">
                <a:solidFill>
                  <a:srgbClr val="1A1A1A"/>
                </a:solidFill>
                <a:latin typeface="Arial"/>
              </a:rPr>
              <a:t>Bullish pennants, and bullish flags.</a:t>
            </a:r>
          </a:p>
          <a:p>
            <a:pPr algn="l">
              <a:lnSpc>
                <a:spcPct val="105000"/>
              </a:lnSpc>
              <a:spcBef>
                <a:spcPts val="0"/>
              </a:spcBef>
              <a:spcAft>
                <a:spcPts val="1100"/>
              </a:spcAft>
            </a:pPr>
            <a:r>
              <a:rPr sz="1900" b="0" i="0">
                <a:solidFill>
                  <a:srgbClr val="1A1A1A"/>
                </a:solidFill>
                <a:latin typeface="Arial"/>
              </a:rPr>
              <a:t>Ascending triangles, and inverted head and shoulders.</a:t>
            </a:r>
          </a:p>
          <a:p>
            <a:pPr algn="l">
              <a:lnSpc>
                <a:spcPct val="105000"/>
              </a:lnSpc>
              <a:spcBef>
                <a:spcPts val="0"/>
              </a:spcBef>
              <a:spcAft>
                <a:spcPts val="1100"/>
              </a:spcAft>
            </a:pPr>
            <a:r>
              <a:rPr sz="1900" b="0" i="0">
                <a:solidFill>
                  <a:srgbClr val="1A1A1A"/>
                </a:solidFill>
                <a:latin typeface="Arial"/>
              </a:rPr>
              <a:t>Rounding bottoms, and cup and handles.</a:t>
            </a:r>
          </a:p>
          <a:p>
            <a:pPr algn="l">
              <a:lnSpc>
                <a:spcPct val="105000"/>
              </a:lnSpc>
              <a:spcBef>
                <a:spcPts val="0"/>
              </a:spcBef>
              <a:spcAft>
                <a:spcPts val="1100"/>
              </a:spcAft>
            </a:pPr>
            <a:r>
              <a:rPr sz="1900" b="0" i="0">
                <a:solidFill>
                  <a:srgbClr val="1A1A1A"/>
                </a:solidFill>
                <a:latin typeface="Arial"/>
              </a:rPr>
              <a:t>Falling wedges, and double, triple and multiple bottoms.</a:t>
            </a:r>
          </a:p>
        </p:txBody>
      </p:sp>
      <p:sp>
        <p:nvSpPr>
          <p:cNvPr id="8" name="Rectangle 7"/>
          <p:cNvSpPr/>
          <p:nvPr/>
        </p:nvSpPr>
        <p:spPr>
          <a:xfrm>
            <a:off x="777240" y="4649724"/>
            <a:ext cx="82296" cy="75590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86300"/>
            <a:ext cx="4645152" cy="755904"/>
          </a:xfrm>
          <a:prstGeom prst="rect">
            <a:avLst/>
          </a:prstGeom>
          <a:noFill/>
        </p:spPr>
        <p:txBody>
          <a:bodyPr wrap="square" anchor="t" lIns="0" rIns="0" tIns="0" bIns="0">
            <a:spAutoFit/>
          </a:bodyPr>
          <a:lstStyle/>
          <a:p>
            <a:pPr algn="l">
              <a:lnSpc>
                <a:spcPct val="100000"/>
              </a:lnSpc>
              <a:spcBef>
                <a:spcPts val="0"/>
              </a:spcBef>
              <a:spcAft>
                <a:spcPts val="0"/>
              </a:spcAft>
            </a:pPr>
            <a:r>
              <a:rPr sz="2000" b="1" i="0">
                <a:solidFill>
                  <a:srgbClr val="1A1A1A"/>
                </a:solidFill>
                <a:latin typeface="Arial"/>
              </a:rPr>
              <a:t>Wherever one of these forms, it is inherently a bullish indication.</a:t>
            </a:r>
          </a:p>
        </p:txBody>
      </p:sp>
      <p:sp>
        <p:nvSpPr>
          <p:cNvPr id="10" name="TextBox 9"/>
          <p:cNvSpPr txBox="1"/>
          <p:nvPr/>
        </p:nvSpPr>
        <p:spPr>
          <a:xfrm>
            <a:off x="777240" y="5606796"/>
            <a:ext cx="493776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Review question 2 asks for these eight.</a:t>
            </a:r>
          </a:p>
        </p:txBody>
      </p:sp>
      <p:sp>
        <p:nvSpPr>
          <p:cNvPr id="11" name="Rectangle 10"/>
          <p:cNvSpPr/>
          <p:nvPr/>
        </p:nvSpPr>
        <p:spPr>
          <a:xfrm>
            <a:off x="6036411" y="1810512"/>
            <a:ext cx="537667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m.png"/>
          <p:cNvPicPr>
            <a:picLocks noChangeAspect="1"/>
          </p:cNvPicPr>
          <p:nvPr/>
        </p:nvPicPr>
        <p:blipFill>
          <a:blip r:embed="rId2"/>
          <a:stretch>
            <a:fillRect/>
          </a:stretch>
        </p:blipFill>
        <p:spPr>
          <a:xfrm>
            <a:off x="6155283" y="1929384"/>
            <a:ext cx="5138928" cy="3511296"/>
          </a:xfrm>
          <a:prstGeom prst="rect">
            <a:avLst/>
          </a:prstGeom>
        </p:spPr>
      </p:pic>
      <p:sp>
        <p:nvSpPr>
          <p:cNvPr id="13" name="TextBox 12"/>
          <p:cNvSpPr txBox="1"/>
          <p:nvPr/>
        </p:nvSpPr>
        <p:spPr>
          <a:xfrm>
            <a:off x="6035040" y="5650991"/>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M - FIN1209 teaching chart, drawn for this course. Illustrative data, not a real instrument.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Intrinsically bearish: the book's seven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6 of 16</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Bearish pennants, and bearish flags.</a:t>
            </a:r>
          </a:p>
          <a:p>
            <a:pPr algn="l">
              <a:lnSpc>
                <a:spcPct val="105000"/>
              </a:lnSpc>
              <a:spcBef>
                <a:spcPts val="0"/>
              </a:spcBef>
              <a:spcAft>
                <a:spcPts val="1100"/>
              </a:spcAft>
            </a:pPr>
            <a:r>
              <a:rPr sz="2000" b="0" i="0">
                <a:solidFill>
                  <a:srgbClr val="1A1A1A"/>
                </a:solidFill>
                <a:latin typeface="Arial"/>
              </a:rPr>
              <a:t>Descending triangles, and standard head and shoulders.</a:t>
            </a:r>
          </a:p>
          <a:p>
            <a:pPr algn="l">
              <a:lnSpc>
                <a:spcPct val="105000"/>
              </a:lnSpc>
              <a:spcBef>
                <a:spcPts val="0"/>
              </a:spcBef>
              <a:spcAft>
                <a:spcPts val="1100"/>
              </a:spcAft>
            </a:pPr>
            <a:r>
              <a:rPr sz="2000" b="0" i="0">
                <a:solidFill>
                  <a:srgbClr val="1A1A1A"/>
                </a:solidFill>
                <a:latin typeface="Arial"/>
              </a:rPr>
              <a:t>Rounding tops, and rising wedges.</a:t>
            </a:r>
          </a:p>
          <a:p>
            <a:pPr algn="l">
              <a:lnSpc>
                <a:spcPct val="105000"/>
              </a:lnSpc>
              <a:spcBef>
                <a:spcPts val="0"/>
              </a:spcBef>
              <a:spcAft>
                <a:spcPts val="1100"/>
              </a:spcAft>
            </a:pPr>
            <a:r>
              <a:rPr sz="2000" b="0" i="0">
                <a:solidFill>
                  <a:srgbClr val="1A1A1A"/>
                </a:solidFill>
                <a:latin typeface="Arial"/>
              </a:rPr>
              <a:t>Double, triple and multiple tops.</a:t>
            </a:r>
          </a:p>
        </p:txBody>
      </p:sp>
      <p:sp>
        <p:nvSpPr>
          <p:cNvPr id="8" name="Rectangle 7"/>
          <p:cNvSpPr/>
          <p:nvPr/>
        </p:nvSpPr>
        <p:spPr>
          <a:xfrm>
            <a:off x="777240" y="4425696"/>
            <a:ext cx="82296" cy="786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62272"/>
            <a:ext cx="4645152" cy="786384"/>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Each is a bullish pattern turned upside down.</a:t>
            </a:r>
          </a:p>
        </p:txBody>
      </p:sp>
      <p:sp>
        <p:nvSpPr>
          <p:cNvPr id="10" name="TextBox 9"/>
          <p:cNvSpPr txBox="1"/>
          <p:nvPr/>
        </p:nvSpPr>
        <p:spPr>
          <a:xfrm>
            <a:off x="777240" y="5413248"/>
            <a:ext cx="493776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cup and handle is on the bullish list and has no twin on this one.</a:t>
            </a:r>
          </a:p>
        </p:txBody>
      </p:sp>
      <p:sp>
        <p:nvSpPr>
          <p:cNvPr id="11" name="Rectangle 10"/>
          <p:cNvSpPr/>
          <p:nvPr/>
        </p:nvSpPr>
        <p:spPr>
          <a:xfrm>
            <a:off x="6036411" y="1810512"/>
            <a:ext cx="537667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n.png"/>
          <p:cNvPicPr>
            <a:picLocks noChangeAspect="1"/>
          </p:cNvPicPr>
          <p:nvPr/>
        </p:nvPicPr>
        <p:blipFill>
          <a:blip r:embed="rId2"/>
          <a:stretch>
            <a:fillRect/>
          </a:stretch>
        </p:blipFill>
        <p:spPr>
          <a:xfrm>
            <a:off x="6155283" y="1929384"/>
            <a:ext cx="5138928" cy="3511296"/>
          </a:xfrm>
          <a:prstGeom prst="rect">
            <a:avLst/>
          </a:prstGeom>
        </p:spPr>
      </p:pic>
      <p:sp>
        <p:nvSpPr>
          <p:cNvPr id="13" name="TextBox 12"/>
          <p:cNvSpPr txBox="1"/>
          <p:nvPr/>
        </p:nvSpPr>
        <p:spPr>
          <a:xfrm>
            <a:off x="6035040" y="5650991"/>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N - FIN1209 teaching chart, drawn for this course. Illustrative data, not a real instrument.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Intrinsically neutral patterns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7 of 16</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Symmetrical triangles and horizontal channels have no obvious bias in sentiment.</a:t>
            </a:r>
          </a:p>
          <a:p>
            <a:pPr algn="l">
              <a:lnSpc>
                <a:spcPct val="105000"/>
              </a:lnSpc>
              <a:spcBef>
                <a:spcPts val="0"/>
              </a:spcBef>
              <a:spcAft>
                <a:spcPts val="1100"/>
              </a:spcAft>
            </a:pPr>
            <a:r>
              <a:rPr sz="1800" b="0" i="0">
                <a:solidFill>
                  <a:srgbClr val="1A1A1A"/>
                </a:solidFill>
                <a:latin typeface="Arial"/>
              </a:rPr>
              <a:t>Some authors classify them as continuation patterns, others as reversal patterns.</a:t>
            </a:r>
          </a:p>
          <a:p>
            <a:pPr algn="l">
              <a:lnSpc>
                <a:spcPct val="105000"/>
              </a:lnSpc>
              <a:spcBef>
                <a:spcPts val="0"/>
              </a:spcBef>
              <a:spcAft>
                <a:spcPts val="1100"/>
              </a:spcAft>
            </a:pPr>
            <a:r>
              <a:rPr sz="1800" b="0" i="0">
                <a:solidFill>
                  <a:srgbClr val="1A1A1A"/>
                </a:solidFill>
                <a:latin typeface="Arial"/>
              </a:rPr>
              <a:t>Broadening, diamond and island formations are also neutral, but are regarded as reversal formations.</a:t>
            </a:r>
          </a:p>
        </p:txBody>
      </p:sp>
      <p:sp>
        <p:nvSpPr>
          <p:cNvPr id="8" name="Rectangle 7"/>
          <p:cNvSpPr/>
          <p:nvPr/>
        </p:nvSpPr>
        <p:spPr>
          <a:xfrm>
            <a:off x="777240" y="4677156"/>
            <a:ext cx="82296" cy="101498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13732"/>
            <a:ext cx="4645152" cy="1014983"/>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Whether a neutral pattern reverses or continues is decided beyond the pattern itself.</a:t>
            </a:r>
          </a:p>
        </p:txBody>
      </p:sp>
      <p:sp>
        <p:nvSpPr>
          <p:cNvPr id="10" name="Rectangle 9"/>
          <p:cNvSpPr/>
          <p:nvPr/>
        </p:nvSpPr>
        <p:spPr>
          <a:xfrm>
            <a:off x="6036411" y="1810512"/>
            <a:ext cx="537667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o.png"/>
          <p:cNvPicPr>
            <a:picLocks noChangeAspect="1"/>
          </p:cNvPicPr>
          <p:nvPr/>
        </p:nvPicPr>
        <p:blipFill>
          <a:blip r:embed="rId2"/>
          <a:stretch>
            <a:fillRect/>
          </a:stretch>
        </p:blipFill>
        <p:spPr>
          <a:xfrm>
            <a:off x="6155283" y="1929384"/>
            <a:ext cx="5138928" cy="3511296"/>
          </a:xfrm>
          <a:prstGeom prst="rect">
            <a:avLst/>
          </a:prstGeom>
        </p:spPr>
      </p:pic>
      <p:sp>
        <p:nvSpPr>
          <p:cNvPr id="12" name="TextBox 11"/>
          <p:cNvSpPr txBox="1"/>
          <p:nvPr/>
        </p:nvSpPr>
        <p:spPr>
          <a:xfrm>
            <a:off x="6035040" y="5650991"/>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O - FIN1209 teaching chart, drawn for this course. Illustrative data, not a real instrument.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4 OF 11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Consolidation patterns and intrinsic bias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Which of these is NOT normally regarded as a consolidation pattern?</a:t>
            </a:r>
          </a:p>
        </p:txBody>
      </p:sp>
      <p:sp>
        <p:nvSpPr>
          <p:cNvPr id="9" name="TextBox 8"/>
          <p:cNvSpPr txBox="1"/>
          <p:nvPr/>
        </p:nvSpPr>
        <p:spPr>
          <a:xfrm>
            <a:off x="1051560"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symmetrical triangle</a:t>
            </a:r>
          </a:p>
          <a:p>
            <a:pPr algn="l">
              <a:lnSpc>
                <a:spcPct val="112000"/>
              </a:lnSpc>
              <a:spcBef>
                <a:spcPts val="0"/>
              </a:spcBef>
              <a:spcAft>
                <a:spcPts val="900"/>
              </a:spcAft>
            </a:pPr>
            <a:r>
              <a:rPr sz="1500" b="0" i="0">
                <a:solidFill>
                  <a:srgbClr val="FFFFFF"/>
                </a:solidFill>
                <a:latin typeface="Arial"/>
              </a:rPr>
              <a:t>B.  A horizontal channel</a:t>
            </a:r>
          </a:p>
          <a:p>
            <a:pPr algn="l">
              <a:lnSpc>
                <a:spcPct val="112000"/>
              </a:lnSpc>
              <a:spcBef>
                <a:spcPts val="0"/>
              </a:spcBef>
              <a:spcAft>
                <a:spcPts val="900"/>
              </a:spcAft>
            </a:pPr>
            <a:r>
              <a:rPr sz="1500" b="0" i="0">
                <a:solidFill>
                  <a:srgbClr val="FFFFFF"/>
                </a:solidFill>
                <a:latin typeface="Arial"/>
              </a:rPr>
              <a:t>C.  A V bottom</a:t>
            </a:r>
          </a:p>
          <a:p>
            <a:pPr algn="l">
              <a:lnSpc>
                <a:spcPct val="112000"/>
              </a:lnSpc>
              <a:spcBef>
                <a:spcPts val="0"/>
              </a:spcBef>
              <a:spcAft>
                <a:spcPts val="900"/>
              </a:spcAft>
            </a:pPr>
            <a:r>
              <a:rPr sz="1500" b="0" i="0">
                <a:solidFill>
                  <a:srgbClr val="FFFFFF"/>
                </a:solidFill>
                <a:latin typeface="Arial"/>
              </a:rPr>
              <a:t>D.  An ascending triangle</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Which of these patterns is intrinsically bullish?</a:t>
            </a:r>
          </a:p>
        </p:txBody>
      </p:sp>
      <p:sp>
        <p:nvSpPr>
          <p:cNvPr id="13" name="TextBox 12"/>
          <p:cNvSpPr txBox="1"/>
          <p:nvPr/>
        </p:nvSpPr>
        <p:spPr>
          <a:xfrm>
            <a:off x="6690207"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falling wedge</a:t>
            </a:r>
          </a:p>
          <a:p>
            <a:pPr algn="l">
              <a:lnSpc>
                <a:spcPct val="112000"/>
              </a:lnSpc>
              <a:spcBef>
                <a:spcPts val="0"/>
              </a:spcBef>
              <a:spcAft>
                <a:spcPts val="900"/>
              </a:spcAft>
            </a:pPr>
            <a:r>
              <a:rPr sz="1500" b="0" i="0">
                <a:solidFill>
                  <a:srgbClr val="FFFFFF"/>
                </a:solidFill>
                <a:latin typeface="Arial"/>
              </a:rPr>
              <a:t>B.  A rising wedge</a:t>
            </a:r>
          </a:p>
          <a:p>
            <a:pPr algn="l">
              <a:lnSpc>
                <a:spcPct val="112000"/>
              </a:lnSpc>
              <a:spcBef>
                <a:spcPts val="0"/>
              </a:spcBef>
              <a:spcAft>
                <a:spcPts val="900"/>
              </a:spcAft>
            </a:pPr>
            <a:r>
              <a:rPr sz="1500" b="0" i="0">
                <a:solidFill>
                  <a:srgbClr val="FFFFFF"/>
                </a:solidFill>
                <a:latin typeface="Arial"/>
              </a:rPr>
              <a:t>C.  A symmetrical triangle</a:t>
            </a:r>
          </a:p>
          <a:p>
            <a:pPr algn="l">
              <a:lnSpc>
                <a:spcPct val="112000"/>
              </a:lnSpc>
              <a:spcBef>
                <a:spcPts val="0"/>
              </a:spcBef>
              <a:spcAft>
                <a:spcPts val="900"/>
              </a:spcAft>
            </a:pPr>
            <a:r>
              <a:rPr sz="1500" b="0" i="0">
                <a:solidFill>
                  <a:srgbClr val="FFFFFF"/>
                </a:solidFill>
                <a:latin typeface="Arial"/>
              </a:rPr>
              <a:t>D.  A standard head and shoulders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2 of 9 - 4.2 Chart patterns  |  Check 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Consolidation patterns and intrinsic bias</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Which of these is NOT normally regarded as a consolidation pattern?</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A V bottom</a:t>
            </a:r>
          </a:p>
          <a:p>
            <a:pPr algn="l">
              <a:lnSpc>
                <a:spcPct val="115000"/>
              </a:lnSpc>
              <a:spcBef>
                <a:spcPts val="700"/>
              </a:spcBef>
              <a:spcAft>
                <a:spcPts val="0"/>
              </a:spcAft>
            </a:pPr>
            <a:r>
              <a:rPr sz="1600" b="0" i="0">
                <a:solidFill>
                  <a:srgbClr val="1A1A1A"/>
                </a:solidFill>
                <a:latin typeface="Arial"/>
              </a:rPr>
              <a:t>A V bottom does not unfold within a confined range, and it has a significant trend component.</a:t>
            </a:r>
          </a:p>
        </p:txBody>
      </p:sp>
      <p:sp>
        <p:nvSpPr>
          <p:cNvPr id="10" name="Rectangle 9"/>
          <p:cNvSpPr/>
          <p:nvPr/>
        </p:nvSpPr>
        <p:spPr>
          <a:xfrm>
            <a:off x="777240" y="308203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Which of these patterns is intrinsically bullish?</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A falling wedge</a:t>
            </a:r>
          </a:p>
          <a:p>
            <a:pPr algn="l">
              <a:lnSpc>
                <a:spcPct val="115000"/>
              </a:lnSpc>
              <a:spcBef>
                <a:spcPts val="700"/>
              </a:spcBef>
              <a:spcAft>
                <a:spcPts val="0"/>
              </a:spcAft>
            </a:pPr>
            <a:r>
              <a:rPr sz="1600" b="0" i="0">
                <a:solidFill>
                  <a:srgbClr val="1A1A1A"/>
                </a:solidFill>
                <a:latin typeface="Arial"/>
              </a:rPr>
              <a:t>Falling wedges are on the book's list of eight. Rising wedges and standard head and shoulders are bearish, and the symmetrical triangle is neutral.</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Check 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Extrinsic bias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8 of 16</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02920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The lean a pattern takes from where it sits, not from its shape.</a:t>
            </a:r>
          </a:p>
        </p:txBody>
      </p:sp>
      <p:sp>
        <p:nvSpPr>
          <p:cNvPr id="10" name="Rectangle 9"/>
          <p:cNvSpPr/>
          <p:nvPr/>
        </p:nvSpPr>
        <p:spPr>
          <a:xfrm>
            <a:off x="777240" y="3233927"/>
            <a:ext cx="64008" cy="123748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02920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An ascending triangle at the price level of a historically significant market top is extrinsically bearish: it sits at a significant resistance.</a:t>
            </a:r>
          </a:p>
        </p:txBody>
      </p:sp>
      <p:sp>
        <p:nvSpPr>
          <p:cNvPr id="12" name="Rectangle 11"/>
          <p:cNvSpPr/>
          <p:nvPr/>
        </p:nvSpPr>
        <p:spPr>
          <a:xfrm>
            <a:off x="777240" y="4727447"/>
            <a:ext cx="64008" cy="97840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681727"/>
            <a:ext cx="502920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Location-based sentiment: sentiment that is dependent on factors that are external, or extrinsic, to the pattern.</a:t>
            </a:r>
          </a:p>
        </p:txBody>
      </p:sp>
      <p:sp>
        <p:nvSpPr>
          <p:cNvPr id="14" name="Rectangle 13"/>
          <p:cNvSpPr/>
          <p:nvPr/>
        </p:nvSpPr>
        <p:spPr>
          <a:xfrm>
            <a:off x="6402171" y="2157984"/>
            <a:ext cx="501091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p.png"/>
          <p:cNvPicPr>
            <a:picLocks noChangeAspect="1"/>
          </p:cNvPicPr>
          <p:nvPr/>
        </p:nvPicPr>
        <p:blipFill>
          <a:blip r:embed="rId2"/>
          <a:stretch>
            <a:fillRect/>
          </a:stretch>
        </p:blipFill>
        <p:spPr>
          <a:xfrm>
            <a:off x="6521043" y="2276856"/>
            <a:ext cx="4773168" cy="3163824"/>
          </a:xfrm>
          <a:prstGeom prst="rect">
            <a:avLst/>
          </a:prstGeom>
        </p:spPr>
      </p:pic>
      <p:sp>
        <p:nvSpPr>
          <p:cNvPr id="16" name="TextBox 15"/>
          <p:cNvSpPr txBox="1"/>
          <p:nvPr/>
        </p:nvSpPr>
        <p:spPr>
          <a:xfrm>
            <a:off x="6400799" y="5650991"/>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P - FIN1209 teaching chart, drawn for this course. Illustrative data, not a real instrument.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sets the extrinsic bias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9 of 16</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The direction of the preceding trend.</a:t>
            </a:r>
          </a:p>
          <a:p>
            <a:pPr algn="l">
              <a:lnSpc>
                <a:spcPct val="105000"/>
              </a:lnSpc>
              <a:spcBef>
                <a:spcPts val="0"/>
              </a:spcBef>
              <a:spcAft>
                <a:spcPts val="1100"/>
              </a:spcAft>
            </a:pPr>
            <a:r>
              <a:rPr sz="1800" b="0" i="0">
                <a:solidFill>
                  <a:srgbClr val="1A1A1A"/>
                </a:solidFill>
                <a:latin typeface="Arial"/>
              </a:rPr>
              <a:t>Location with respect to historical extremes in price.</a:t>
            </a:r>
          </a:p>
          <a:p>
            <a:pPr algn="l">
              <a:lnSpc>
                <a:spcPct val="105000"/>
              </a:lnSpc>
              <a:spcBef>
                <a:spcPts val="0"/>
              </a:spcBef>
              <a:spcAft>
                <a:spcPts val="1100"/>
              </a:spcAft>
            </a:pPr>
            <a:r>
              <a:rPr sz="1800" b="0" i="0">
                <a:solidFill>
                  <a:srgbClr val="1A1A1A"/>
                </a:solidFill>
                <a:latin typeface="Arial"/>
              </a:rPr>
              <a:t>Location with respect to the phase of an underlying market cycle.</a:t>
            </a:r>
          </a:p>
          <a:p>
            <a:pPr algn="l">
              <a:lnSpc>
                <a:spcPct val="105000"/>
              </a:lnSpc>
              <a:spcBef>
                <a:spcPts val="0"/>
              </a:spcBef>
              <a:spcAft>
                <a:spcPts val="1100"/>
              </a:spcAft>
            </a:pPr>
            <a:r>
              <a:rPr sz="1800" b="0" i="0">
                <a:solidFill>
                  <a:srgbClr val="1A1A1A"/>
                </a:solidFill>
                <a:latin typeface="Arial"/>
              </a:rPr>
              <a:t>Location with respect to other supportive and resistive overlay barriers.</a:t>
            </a:r>
          </a:p>
          <a:p>
            <a:pPr algn="l">
              <a:lnSpc>
                <a:spcPct val="105000"/>
              </a:lnSpc>
              <a:spcBef>
                <a:spcPts val="0"/>
              </a:spcBef>
              <a:spcAft>
                <a:spcPts val="1100"/>
              </a:spcAft>
            </a:pPr>
            <a:r>
              <a:rPr sz="1800" b="0" i="0">
                <a:solidFill>
                  <a:srgbClr val="1A1A1A"/>
                </a:solidFill>
                <a:latin typeface="Arial"/>
              </a:rPr>
              <a:t>Bullish or bearish divergent formations.</a:t>
            </a:r>
          </a:p>
        </p:txBody>
      </p:sp>
      <p:sp>
        <p:nvSpPr>
          <p:cNvPr id="8" name="TextBox 7"/>
          <p:cNvSpPr txBox="1"/>
          <p:nvPr/>
        </p:nvSpPr>
        <p:spPr>
          <a:xfrm>
            <a:off x="777240" y="5294376"/>
            <a:ext cx="47548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Figure 4.12: a neutral triangle on a well tested accumulation zone, beside trendline support, is extrinsically bullish.</a:t>
            </a:r>
          </a:p>
        </p:txBody>
      </p:sp>
      <p:sp>
        <p:nvSpPr>
          <p:cNvPr id="9" name="Rectangle 8"/>
          <p:cNvSpPr/>
          <p:nvPr/>
        </p:nvSpPr>
        <p:spPr>
          <a:xfrm>
            <a:off x="5852159" y="1810512"/>
            <a:ext cx="5562294" cy="3749039"/>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5852159" y="1810512"/>
            <a:ext cx="5562294"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6263640" y="2267712"/>
            <a:ext cx="47393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4.12</a:t>
            </a:r>
          </a:p>
          <a:p>
            <a:pPr algn="l">
              <a:lnSpc>
                <a:spcPct val="120000"/>
              </a:lnSpc>
              <a:spcBef>
                <a:spcPts val="0"/>
              </a:spcBef>
              <a:spcAft>
                <a:spcPts val="1400"/>
              </a:spcAft>
            </a:pPr>
            <a:r>
              <a:rPr sz="1800" b="0" i="0">
                <a:solidFill>
                  <a:srgbClr val="1A1A1A"/>
                </a:solidFill>
                <a:latin typeface="Palatino"/>
              </a:rPr>
              <a:t>The daily gold chart: a symmetrical triangle labelled extrinsically bullish, forming on a strong accumulation zone tested by multiple bottoms, beside a downtrend line acting as support, all inside a larger consolidation that contains smaller distributions and accumulations.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2" name="TextBox 11"/>
          <p:cNvSpPr txBox="1"/>
          <p:nvPr/>
        </p:nvSpPr>
        <p:spPr>
          <a:xfrm>
            <a:off x="5852159" y="5650992"/>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4.12 - Lim, The Handbook of Technical Analysis (Wiley, 2016)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When the biases agree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10 of 16</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Intrinsic and extrinsic bias agree: a reversal at a top or bottom is more reliable.</a:t>
            </a:r>
          </a:p>
          <a:p>
            <a:pPr algn="l">
              <a:lnSpc>
                <a:spcPct val="105000"/>
              </a:lnSpc>
              <a:spcBef>
                <a:spcPts val="0"/>
              </a:spcBef>
              <a:spcAft>
                <a:spcPts val="1100"/>
              </a:spcAft>
            </a:pPr>
            <a:r>
              <a:rPr sz="1700" b="0" i="0">
                <a:solidFill>
                  <a:srgbClr val="1A1A1A"/>
                </a:solidFill>
                <a:latin typeface="Arial"/>
              </a:rPr>
              <a:t>Intrinsic bias in agreement with the trend sentiment, the direction of the trend: a continuation is more likely.</a:t>
            </a:r>
          </a:p>
          <a:p>
            <a:pPr algn="l">
              <a:lnSpc>
                <a:spcPct val="105000"/>
              </a:lnSpc>
              <a:spcBef>
                <a:spcPts val="0"/>
              </a:spcBef>
              <a:spcAft>
                <a:spcPts val="1100"/>
              </a:spcAft>
            </a:pPr>
            <a:r>
              <a:rPr sz="1700" b="0" i="0">
                <a:solidFill>
                  <a:srgbClr val="1A1A1A"/>
                </a:solidFill>
                <a:latin typeface="Arial"/>
              </a:rPr>
              <a:t>Any disagreement: the reversal or continuation may be inherently weak.</a:t>
            </a:r>
          </a:p>
        </p:txBody>
      </p:sp>
      <p:sp>
        <p:nvSpPr>
          <p:cNvPr id="8" name="Rectangle 7"/>
          <p:cNvSpPr/>
          <p:nvPr/>
        </p:nvSpPr>
        <p:spPr>
          <a:xfrm>
            <a:off x="777240" y="4837176"/>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73752"/>
            <a:ext cx="446227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An ascending triangle in an uptrend: bullish pattern, bullish trend.</a:t>
            </a:r>
          </a:p>
        </p:txBody>
      </p:sp>
      <p:sp>
        <p:nvSpPr>
          <p:cNvPr id="10" name="Rectangle 9"/>
          <p:cNvSpPr/>
          <p:nvPr/>
        </p:nvSpPr>
        <p:spPr>
          <a:xfrm>
            <a:off x="5852159" y="1810512"/>
            <a:ext cx="556229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5852159" y="1810512"/>
            <a:ext cx="556229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263640" y="2267712"/>
            <a:ext cx="47393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4.13</a:t>
            </a:r>
          </a:p>
          <a:p>
            <a:pPr algn="l">
              <a:lnSpc>
                <a:spcPct val="120000"/>
              </a:lnSpc>
              <a:spcBef>
                <a:spcPts val="0"/>
              </a:spcBef>
              <a:spcAft>
                <a:spcPts val="1400"/>
              </a:spcAft>
            </a:pPr>
            <a:r>
              <a:rPr sz="1800" b="0" i="0">
                <a:solidFill>
                  <a:srgbClr val="1A1A1A"/>
                </a:solidFill>
                <a:latin typeface="Palatino"/>
              </a:rPr>
              <a:t>A 15 minute EURUSD chart with an ascending triangle, a flat top and a rising lower line, forming partway up an uptrend and labelled as continuation in a trend phase.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5852159" y="5650992"/>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4.13 - Lim, The Handbook of Technical Analysis (Wiley, 2016)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Continuation patterns agree with the trend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11 of 16</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Bullish with respect to an uptrend: bullish pennants and flags, ascending triangles, inverted head and shoulders, rounding bottoms, cup and handles, falling wedges.</a:t>
            </a:r>
          </a:p>
          <a:p>
            <a:pPr algn="l">
              <a:lnSpc>
                <a:spcPct val="105000"/>
              </a:lnSpc>
              <a:spcBef>
                <a:spcPts val="0"/>
              </a:spcBef>
              <a:spcAft>
                <a:spcPts val="1100"/>
              </a:spcAft>
            </a:pPr>
            <a:r>
              <a:rPr sz="1700" b="0" i="0">
                <a:solidFill>
                  <a:srgbClr val="1A1A1A"/>
                </a:solidFill>
                <a:latin typeface="Arial"/>
              </a:rPr>
              <a:t>Bearish with respect to a downtrend: bearish pennants and flags, descending triangles, standard head and shoulders, rising wedges.</a:t>
            </a:r>
          </a:p>
        </p:txBody>
      </p:sp>
      <p:sp>
        <p:nvSpPr>
          <p:cNvPr id="8" name="Rectangle 7"/>
          <p:cNvSpPr/>
          <p:nvPr/>
        </p:nvSpPr>
        <p:spPr>
          <a:xfrm>
            <a:off x="777240" y="4400550"/>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7126"/>
            <a:ext cx="446227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A continuation pattern's bias should agree with the trend sentiment.</a:t>
            </a:r>
          </a:p>
        </p:txBody>
      </p:sp>
      <p:sp>
        <p:nvSpPr>
          <p:cNvPr id="10" name="TextBox 9"/>
          <p:cNvSpPr txBox="1"/>
          <p:nvPr/>
        </p:nvSpPr>
        <p:spPr>
          <a:xfrm>
            <a:off x="777240" y="5296662"/>
            <a:ext cx="47548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Figure 4.10: a bear flag, confirmed once price violates the pattern.</a:t>
            </a:r>
          </a:p>
        </p:txBody>
      </p:sp>
      <p:sp>
        <p:nvSpPr>
          <p:cNvPr id="11" name="Rectangle 10"/>
          <p:cNvSpPr/>
          <p:nvPr/>
        </p:nvSpPr>
        <p:spPr>
          <a:xfrm>
            <a:off x="5852159" y="1810512"/>
            <a:ext cx="556229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5852159" y="1810512"/>
            <a:ext cx="556229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263640" y="2267712"/>
            <a:ext cx="47393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4.10</a:t>
            </a:r>
          </a:p>
          <a:p>
            <a:pPr algn="l">
              <a:lnSpc>
                <a:spcPct val="120000"/>
              </a:lnSpc>
              <a:spcBef>
                <a:spcPts val="0"/>
              </a:spcBef>
              <a:spcAft>
                <a:spcPts val="1400"/>
              </a:spcAft>
            </a:pPr>
            <a:r>
              <a:rPr sz="1800" b="0" i="0">
                <a:solidFill>
                  <a:srgbClr val="1A1A1A"/>
                </a:solidFill>
                <a:latin typeface="Palatino"/>
              </a:rPr>
              <a:t>A 15 minute EURUSD chart: a distribution, a downside breakout, then a bear flag labelled intrinsically bearish and as continuation, with prices consolidating in a diagonally constrained manner before the trend resumes.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5852159" y="5650992"/>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4.10 - Lim, The Handbook of Technical Analysis (Wiley, 2016)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rounding bottom, or cup and handle, as continuation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12 of 16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4.14</a:t>
            </a:r>
          </a:p>
          <a:p>
            <a:pPr algn="l">
              <a:lnSpc>
                <a:spcPct val="120000"/>
              </a:lnSpc>
              <a:spcBef>
                <a:spcPts val="0"/>
              </a:spcBef>
              <a:spcAft>
                <a:spcPts val="1800"/>
              </a:spcAft>
            </a:pPr>
            <a:r>
              <a:rPr sz="2200" b="0" i="0">
                <a:solidFill>
                  <a:srgbClr val="1A1A1A"/>
                </a:solidFill>
                <a:latin typeface="Palatino"/>
              </a:rPr>
              <a:t>A 4 hour EURUSD chart with a rounding bottom, or cup and handle, forming partway up an uptrend and labelled as continuation in a trend phase.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4.14 - Lim, The Handbook of Technical Analysis (Wiley, 2016)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5 OF 11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Extrinsic bias, and agreement</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An ascending triangle forms at the price level of a historically significant market top. It is:</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Intrinsically bearish and extrinsically bearish</a:t>
            </a:r>
          </a:p>
          <a:p>
            <a:pPr algn="l">
              <a:lnSpc>
                <a:spcPct val="112000"/>
              </a:lnSpc>
              <a:spcBef>
                <a:spcPts val="0"/>
              </a:spcBef>
              <a:spcAft>
                <a:spcPts val="900"/>
              </a:spcAft>
            </a:pPr>
            <a:r>
              <a:rPr sz="1500" b="0" i="0">
                <a:solidFill>
                  <a:srgbClr val="FFFFFF"/>
                </a:solidFill>
                <a:latin typeface="Arial"/>
              </a:rPr>
              <a:t>B.  Intrinsically bullish and extrinsically bullish</a:t>
            </a:r>
          </a:p>
          <a:p>
            <a:pPr algn="l">
              <a:lnSpc>
                <a:spcPct val="112000"/>
              </a:lnSpc>
              <a:spcBef>
                <a:spcPts val="0"/>
              </a:spcBef>
              <a:spcAft>
                <a:spcPts val="900"/>
              </a:spcAft>
            </a:pPr>
            <a:r>
              <a:rPr sz="1500" b="0" i="0">
                <a:solidFill>
                  <a:srgbClr val="FFFFFF"/>
                </a:solidFill>
                <a:latin typeface="Arial"/>
              </a:rPr>
              <a:t>C.  Intrinsically neutral and extrinsically bearish</a:t>
            </a:r>
          </a:p>
          <a:p>
            <a:pPr algn="l">
              <a:lnSpc>
                <a:spcPct val="112000"/>
              </a:lnSpc>
              <a:spcBef>
                <a:spcPts val="0"/>
              </a:spcBef>
              <a:spcAft>
                <a:spcPts val="900"/>
              </a:spcAft>
            </a:pPr>
            <a:r>
              <a:rPr sz="1500" b="0" i="0">
                <a:solidFill>
                  <a:srgbClr val="FFFFFF"/>
                </a:solidFill>
                <a:latin typeface="Arial"/>
              </a:rPr>
              <a:t>D.  Intrinsically bullish and extrinsically bearish</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bear flag forms during a downtrend. Its intrinsic bias and the trend sentiment are:</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In disagreement, so a reversal is likely</a:t>
            </a:r>
          </a:p>
          <a:p>
            <a:pPr algn="l">
              <a:lnSpc>
                <a:spcPct val="112000"/>
              </a:lnSpc>
              <a:spcBef>
                <a:spcPts val="0"/>
              </a:spcBef>
              <a:spcAft>
                <a:spcPts val="900"/>
              </a:spcAft>
            </a:pPr>
            <a:r>
              <a:rPr sz="1500" b="0" i="0">
                <a:solidFill>
                  <a:srgbClr val="FFFFFF"/>
                </a:solidFill>
                <a:latin typeface="Arial"/>
              </a:rPr>
              <a:t>B.  In agreement, so a continuation is more likely</a:t>
            </a:r>
          </a:p>
          <a:p>
            <a:pPr algn="l">
              <a:lnSpc>
                <a:spcPct val="112000"/>
              </a:lnSpc>
              <a:spcBef>
                <a:spcPts val="0"/>
              </a:spcBef>
              <a:spcAft>
                <a:spcPts val="900"/>
              </a:spcAft>
            </a:pPr>
            <a:r>
              <a:rPr sz="1500" b="0" i="0">
                <a:solidFill>
                  <a:srgbClr val="FFFFFF"/>
                </a:solidFill>
                <a:latin typeface="Arial"/>
              </a:rPr>
              <a:t>C.  Both neutral, so nothing can be said</a:t>
            </a:r>
          </a:p>
          <a:p>
            <a:pPr algn="l">
              <a:lnSpc>
                <a:spcPct val="112000"/>
              </a:lnSpc>
              <a:spcBef>
                <a:spcPts val="0"/>
              </a:spcBef>
              <a:spcAft>
                <a:spcPts val="900"/>
              </a:spcAft>
            </a:pPr>
            <a:r>
              <a:rPr sz="1500" b="0" i="0">
                <a:solidFill>
                  <a:srgbClr val="FFFFFF"/>
                </a:solidFill>
                <a:latin typeface="Arial"/>
              </a:rPr>
              <a:t>D.  Unknown until volume confirms them</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2 of 9 - 4.2 Chart patterns  |  Check 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Extrinsic bias, and agreement</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An ascending triangle forms at the price level of a historically significant market top. It is:</a:t>
            </a:r>
          </a:p>
        </p:txBody>
      </p:sp>
      <p:sp>
        <p:nvSpPr>
          <p:cNvPr id="9" name="TextBox 8"/>
          <p:cNvSpPr txBox="1"/>
          <p:nvPr/>
        </p:nvSpPr>
        <p:spPr>
          <a:xfrm>
            <a:off x="1143000" y="216814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Intrinsically bullish and extrinsically bearish</a:t>
            </a:r>
          </a:p>
          <a:p>
            <a:pPr algn="l">
              <a:lnSpc>
                <a:spcPct val="115000"/>
              </a:lnSpc>
              <a:spcBef>
                <a:spcPts val="700"/>
              </a:spcBef>
              <a:spcAft>
                <a:spcPts val="0"/>
              </a:spcAft>
            </a:pPr>
            <a:r>
              <a:rPr sz="1600" b="0" i="0">
                <a:solidFill>
                  <a:srgbClr val="1A1A1A"/>
                </a:solidFill>
                <a:latin typeface="Arial"/>
              </a:rPr>
              <a:t>The shape is bullish wherever it forms. The location, at significant resistance, is bearish.</a:t>
            </a:r>
          </a:p>
        </p:txBody>
      </p:sp>
      <p:sp>
        <p:nvSpPr>
          <p:cNvPr id="10" name="Rectangle 9"/>
          <p:cNvSpPr/>
          <p:nvPr/>
        </p:nvSpPr>
        <p:spPr>
          <a:xfrm>
            <a:off x="777240" y="331571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 bear flag forms during a downtrend. Its intrinsic bias and the trend sentiment are:</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In agreement, so a continuation is more likely</a:t>
            </a:r>
          </a:p>
          <a:p>
            <a:pPr algn="l">
              <a:lnSpc>
                <a:spcPct val="115000"/>
              </a:lnSpc>
              <a:spcBef>
                <a:spcPts val="700"/>
              </a:spcBef>
              <a:spcAft>
                <a:spcPts val="0"/>
              </a:spcAft>
            </a:pPr>
            <a:r>
              <a:rPr sz="1600" b="0" i="0">
                <a:solidFill>
                  <a:srgbClr val="1A1A1A"/>
                </a:solidFill>
                <a:latin typeface="Arial"/>
              </a:rPr>
              <a:t>A bearish pattern in a bearish trend: when intrinsic bias agrees with the trend sentiment, the potential for a continuation is greater.</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Check 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Reversal patterns disagree with the trend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13 of 16</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As a general guide, intrinsic bias and trend sentiment disagree for reversal patterns.</a:t>
            </a:r>
          </a:p>
          <a:p>
            <a:pPr algn="l">
              <a:lnSpc>
                <a:spcPct val="105000"/>
              </a:lnSpc>
              <a:spcBef>
                <a:spcPts val="0"/>
              </a:spcBef>
              <a:spcAft>
                <a:spcPts val="1100"/>
              </a:spcAft>
            </a:pPr>
            <a:r>
              <a:rPr sz="1700" b="0" i="0">
                <a:solidFill>
                  <a:srgbClr val="1A1A1A"/>
                </a:solidFill>
                <a:latin typeface="Arial"/>
              </a:rPr>
              <a:t>A standard head and shoulders, intrinsically bearish, ends an uptrend as distribution.</a:t>
            </a:r>
          </a:p>
          <a:p>
            <a:pPr algn="l">
              <a:lnSpc>
                <a:spcPct val="105000"/>
              </a:lnSpc>
              <a:spcBef>
                <a:spcPts val="0"/>
              </a:spcBef>
              <a:spcAft>
                <a:spcPts val="1100"/>
              </a:spcAft>
            </a:pPr>
            <a:r>
              <a:rPr sz="1700" b="0" i="0">
                <a:solidFill>
                  <a:srgbClr val="1A1A1A"/>
                </a:solidFill>
                <a:latin typeface="Arial"/>
              </a:rPr>
              <a:t>An inverted one, intrinsically bullish, ends a downtrend as accumulation.</a:t>
            </a:r>
          </a:p>
        </p:txBody>
      </p:sp>
      <p:sp>
        <p:nvSpPr>
          <p:cNvPr id="8" name="Rectangle 7"/>
          <p:cNvSpPr/>
          <p:nvPr/>
        </p:nvSpPr>
        <p:spPr>
          <a:xfrm>
            <a:off x="777240" y="429310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29684"/>
            <a:ext cx="446227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Figure 4.7: at the minimum price objective a new consolidation forms.</a:t>
            </a:r>
          </a:p>
        </p:txBody>
      </p:sp>
      <p:sp>
        <p:nvSpPr>
          <p:cNvPr id="10" name="TextBox 9"/>
          <p:cNvSpPr txBox="1"/>
          <p:nvPr/>
        </p:nvSpPr>
        <p:spPr>
          <a:xfrm>
            <a:off x="777240" y="5189220"/>
            <a:ext cx="47548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objective is a 1:1 projection of the pattern's height from the neckline breakout.</a:t>
            </a:r>
          </a:p>
        </p:txBody>
      </p:sp>
      <p:sp>
        <p:nvSpPr>
          <p:cNvPr id="11" name="Rectangle 10"/>
          <p:cNvSpPr/>
          <p:nvPr/>
        </p:nvSpPr>
        <p:spPr>
          <a:xfrm>
            <a:off x="5852159" y="1810512"/>
            <a:ext cx="556229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5852159" y="1810512"/>
            <a:ext cx="556229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263640" y="2267712"/>
            <a:ext cx="47393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4.7</a:t>
            </a:r>
          </a:p>
          <a:p>
            <a:pPr algn="l">
              <a:lnSpc>
                <a:spcPct val="120000"/>
              </a:lnSpc>
              <a:spcBef>
                <a:spcPts val="0"/>
              </a:spcBef>
              <a:spcAft>
                <a:spcPts val="1400"/>
              </a:spcAft>
            </a:pPr>
            <a:r>
              <a:rPr sz="1800" b="0" i="0">
                <a:solidFill>
                  <a:srgbClr val="1A1A1A"/>
                </a:solidFill>
                <a:latin typeface="Palatino"/>
              </a:rPr>
              <a:t>A 15 minute EURUSD chart with a head and shoulders boxed as a consolidation range and labelled as distribution, a breakdown through its neckline, and a new consolidation forming at the projected target below.</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5852159" y="5650992"/>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4.7 - Lim, The Handbook of Technical Analysis (Wiley, 2016)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Figure 4.5: the reversal patterns, by phase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14 of 16</a:t>
            </a:r>
          </a:p>
        </p:txBody>
      </p:sp>
      <p:sp>
        <p:nvSpPr>
          <p:cNvPr id="7" name="TextBox 6"/>
          <p:cNvSpPr txBox="1"/>
          <p:nvPr/>
        </p:nvSpPr>
        <p:spPr>
          <a:xfrm>
            <a:off x="777240" y="1965960"/>
            <a:ext cx="56692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Accumulation based, in downtrends: inverted head and shoulders, cup and handles, rounding bottoms, falling wedges, ascending triangles, and double, triple and multiple bottoms.</a:t>
            </a:r>
          </a:p>
          <a:p>
            <a:pPr algn="l">
              <a:lnSpc>
                <a:spcPct val="105000"/>
              </a:lnSpc>
              <a:spcBef>
                <a:spcPts val="0"/>
              </a:spcBef>
              <a:spcAft>
                <a:spcPts val="1100"/>
              </a:spcAft>
            </a:pPr>
            <a:r>
              <a:rPr sz="1700" b="0" i="0">
                <a:solidFill>
                  <a:srgbClr val="1A1A1A"/>
                </a:solidFill>
                <a:latin typeface="Arial"/>
              </a:rPr>
              <a:t>Distribution based, in uptrends: standard head and shoulders, rounding tops, rising wedges, descending triangles, and double, triple and multiple tops.</a:t>
            </a:r>
          </a:p>
        </p:txBody>
      </p:sp>
      <p:sp>
        <p:nvSpPr>
          <p:cNvPr id="8" name="Rectangle 7"/>
          <p:cNvSpPr/>
          <p:nvPr/>
        </p:nvSpPr>
        <p:spPr>
          <a:xfrm>
            <a:off x="777240" y="4400550"/>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7126"/>
            <a:ext cx="537667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Bullish in a downtrend, bearish in an uptrend: bias and trend disagree.</a:t>
            </a:r>
          </a:p>
        </p:txBody>
      </p:sp>
      <p:sp>
        <p:nvSpPr>
          <p:cNvPr id="10" name="TextBox 9"/>
          <p:cNvSpPr txBox="1"/>
          <p:nvPr/>
        </p:nvSpPr>
        <p:spPr>
          <a:xfrm>
            <a:off x="777240" y="5296662"/>
            <a:ext cx="56692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Both lists add broadening, island and diamond formations. V bottoms and V tops are reversals too.</a:t>
            </a:r>
          </a:p>
        </p:txBody>
      </p:sp>
      <p:sp>
        <p:nvSpPr>
          <p:cNvPr id="11" name="Rectangle 10"/>
          <p:cNvSpPr/>
          <p:nvPr/>
        </p:nvSpPr>
        <p:spPr>
          <a:xfrm>
            <a:off x="6766559" y="1810512"/>
            <a:ext cx="464789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766559" y="1810512"/>
            <a:ext cx="464789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7178040" y="2267712"/>
            <a:ext cx="38249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4.5</a:t>
            </a:r>
          </a:p>
          <a:p>
            <a:pPr algn="l">
              <a:lnSpc>
                <a:spcPct val="120000"/>
              </a:lnSpc>
              <a:spcBef>
                <a:spcPts val="0"/>
              </a:spcBef>
              <a:spcAft>
                <a:spcPts val="1400"/>
              </a:spcAft>
            </a:pPr>
            <a:r>
              <a:rPr sz="1800" b="0" i="0">
                <a:solidFill>
                  <a:srgbClr val="1A1A1A"/>
                </a:solidFill>
                <a:latin typeface="Palatino"/>
              </a:rPr>
              <a:t>The book's summary diagram, Phase-Based Chart Patterns: three lists, accumulation based, distribution based and continuation based, with the first two marked as reversal patterns whose intrinsic and trend sentiment disagree, and the third as patterns whose intrinsic and trend sentiment should agree.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766559" y="5650992"/>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4.5 - Lim, The Handbook of Technical Analysis (Wiley, 2016)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Neutral patterns borrow their bias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15 of 16</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 neutral formation's extrinsic bias is derived from the trend sentiment.</a:t>
            </a:r>
          </a:p>
          <a:p>
            <a:pPr algn="l">
              <a:lnSpc>
                <a:spcPct val="105000"/>
              </a:lnSpc>
              <a:spcBef>
                <a:spcPts val="0"/>
              </a:spcBef>
              <a:spcAft>
                <a:spcPts val="1100"/>
              </a:spcAft>
            </a:pPr>
            <a:r>
              <a:rPr sz="1700" b="0" i="0">
                <a:solidFill>
                  <a:srgbClr val="1A1A1A"/>
                </a:solidFill>
                <a:latin typeface="Arial"/>
              </a:rPr>
              <a:t>A symmetrical triangle is extrinsically bullish in an uptrend, bearish in a downtrend.</a:t>
            </a:r>
          </a:p>
          <a:p>
            <a:pPr algn="l">
              <a:lnSpc>
                <a:spcPct val="105000"/>
              </a:lnSpc>
              <a:spcBef>
                <a:spcPts val="0"/>
              </a:spcBef>
              <a:spcAft>
                <a:spcPts val="1100"/>
              </a:spcAft>
            </a:pPr>
            <a:r>
              <a:rPr sz="1700" b="0" i="0">
                <a:solidFill>
                  <a:srgbClr val="1A1A1A"/>
                </a:solidFill>
                <a:latin typeface="Arial"/>
              </a:rPr>
              <a:t>Broadening, diamond and island formations are reversals: their bias opposes the trend.</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64515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A neutral pattern has no lean of its own. Its surroundings supply one.</a:t>
            </a:r>
          </a:p>
        </p:txBody>
      </p:sp>
      <p:sp>
        <p:nvSpPr>
          <p:cNvPr id="10" name="TextBox 9"/>
          <p:cNvSpPr txBox="1"/>
          <p:nvPr/>
        </p:nvSpPr>
        <p:spPr>
          <a:xfrm>
            <a:off x="777240" y="5461254"/>
            <a:ext cx="493776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One list in the book files broadening formations with the trend; its next paragraph and Figure 4.5, as reversals.</a:t>
            </a:r>
          </a:p>
        </p:txBody>
      </p:sp>
      <p:sp>
        <p:nvSpPr>
          <p:cNvPr id="11" name="Rectangle 10"/>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4.9</a:t>
            </a:r>
          </a:p>
          <a:p>
            <a:pPr algn="l">
              <a:lnSpc>
                <a:spcPct val="120000"/>
              </a:lnSpc>
              <a:spcBef>
                <a:spcPts val="0"/>
              </a:spcBef>
              <a:spcAft>
                <a:spcPts val="1400"/>
              </a:spcAft>
            </a:pPr>
            <a:r>
              <a:rPr sz="1800" b="0" i="0">
                <a:solidFill>
                  <a:srgbClr val="1A1A1A"/>
                </a:solidFill>
                <a:latin typeface="Palatino"/>
              </a:rPr>
              <a:t>A 15 minute EURUSD chart with a symmetrical triangle forming partway up an uptrend, prices consolidating in a convergent manner, labelled intrinsically neutral, extrinsically bullish, and as continuation.</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4.9 - Lim, The Handbook of Technical Analysis (Wiley, 2016)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Probabilities, never certainties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16 of 16</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Two ascending triangles form the accumulation, and price breaks out on a large upside gap.</a:t>
            </a:r>
          </a:p>
          <a:p>
            <a:pPr algn="l">
              <a:lnSpc>
                <a:spcPct val="105000"/>
              </a:lnSpc>
              <a:spcBef>
                <a:spcPts val="0"/>
              </a:spcBef>
              <a:spcAft>
                <a:spcPts val="1100"/>
              </a:spcAft>
            </a:pPr>
            <a:r>
              <a:rPr sz="1700" b="0" i="0">
                <a:solidFill>
                  <a:srgbClr val="1A1A1A"/>
                </a:solidFill>
                <a:latin typeface="Arial"/>
              </a:rPr>
              <a:t>After the trend a third ascending triangle forms, then breaks down instead.</a:t>
            </a:r>
          </a:p>
          <a:p>
            <a:pPr algn="l">
              <a:lnSpc>
                <a:spcPct val="105000"/>
              </a:lnSpc>
              <a:spcBef>
                <a:spcPts val="0"/>
              </a:spcBef>
              <a:spcAft>
                <a:spcPts val="1100"/>
              </a:spcAft>
            </a:pPr>
            <a:r>
              <a:rPr sz="1700" b="0" i="0">
                <a:solidFill>
                  <a:srgbClr val="1A1A1A"/>
                </a:solidFill>
                <a:latin typeface="Arial"/>
              </a:rPr>
              <a:t>Trend sentiment and intrinsic bias agreed perfectly, and the pattern still failed.</a:t>
            </a:r>
          </a:p>
        </p:txBody>
      </p:sp>
      <p:sp>
        <p:nvSpPr>
          <p:cNvPr id="8" name="Rectangle 7"/>
          <p:cNvSpPr/>
          <p:nvPr/>
        </p:nvSpPr>
        <p:spPr>
          <a:xfrm>
            <a:off x="777240" y="4565142"/>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46227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Technical forecasting is based on probabilities, and never on certainties.</a:t>
            </a:r>
          </a:p>
        </p:txBody>
      </p:sp>
      <p:sp>
        <p:nvSpPr>
          <p:cNvPr id="10" name="TextBox 9"/>
          <p:cNvSpPr txBox="1"/>
          <p:nvPr/>
        </p:nvSpPr>
        <p:spPr>
          <a:xfrm>
            <a:off x="777240" y="5735574"/>
            <a:ext cx="47548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Failed patterns often lead to a more powerful reaction.</a:t>
            </a:r>
          </a:p>
        </p:txBody>
      </p:sp>
      <p:sp>
        <p:nvSpPr>
          <p:cNvPr id="11" name="Rectangle 10"/>
          <p:cNvSpPr/>
          <p:nvPr/>
        </p:nvSpPr>
        <p:spPr>
          <a:xfrm>
            <a:off x="5852159" y="1810512"/>
            <a:ext cx="556229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5852159" y="1810512"/>
            <a:ext cx="556229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263640" y="2267712"/>
            <a:ext cx="47393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4.11</a:t>
            </a:r>
          </a:p>
          <a:p>
            <a:pPr algn="l">
              <a:lnSpc>
                <a:spcPct val="120000"/>
              </a:lnSpc>
              <a:spcBef>
                <a:spcPts val="0"/>
              </a:spcBef>
              <a:spcAft>
                <a:spcPts val="1400"/>
              </a:spcAft>
            </a:pPr>
            <a:r>
              <a:rPr sz="1800" b="0" i="0">
                <a:solidFill>
                  <a:srgbClr val="1A1A1A"/>
                </a:solidFill>
                <a:latin typeface="Palatino"/>
              </a:rPr>
              <a:t>The daily iShares Silver Trust chart: two ascending triangles as accumulation, the second labelled intrinsically and extrinsically bullish, a gap up into the trend phase, then a new ascending triangle that breaks down unexpectedly, with volume declining into each breakout.</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5852159" y="5650992"/>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4.11 - Lim, The Handbook of Technical Analysis (Wiley, 2016)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6 OF 11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Reversals, neutral patterns and failure</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symmetrical triangle forms in the middle of an uptrend. Its extrinsic bias is:</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Bullish, taken from the uptrend</a:t>
            </a:r>
          </a:p>
          <a:p>
            <a:pPr algn="l">
              <a:lnSpc>
                <a:spcPct val="112000"/>
              </a:lnSpc>
              <a:spcBef>
                <a:spcPts val="0"/>
              </a:spcBef>
              <a:spcAft>
                <a:spcPts val="900"/>
              </a:spcAft>
            </a:pPr>
            <a:r>
              <a:rPr sz="1500" b="0" i="0">
                <a:solidFill>
                  <a:srgbClr val="FFFFFF"/>
                </a:solidFill>
                <a:latin typeface="Arial"/>
              </a:rPr>
              <a:t>B.  Bearish, because triangles are reversal patterns</a:t>
            </a:r>
          </a:p>
          <a:p>
            <a:pPr algn="l">
              <a:lnSpc>
                <a:spcPct val="112000"/>
              </a:lnSpc>
              <a:spcBef>
                <a:spcPts val="0"/>
              </a:spcBef>
              <a:spcAft>
                <a:spcPts val="900"/>
              </a:spcAft>
            </a:pPr>
            <a:r>
              <a:rPr sz="1500" b="0" i="0">
                <a:solidFill>
                  <a:srgbClr val="FFFFFF"/>
                </a:solidFill>
                <a:latin typeface="Arial"/>
              </a:rPr>
              <a:t>C.  Neutral, because the pattern is neutral</a:t>
            </a:r>
          </a:p>
          <a:p>
            <a:pPr algn="l">
              <a:lnSpc>
                <a:spcPct val="112000"/>
              </a:lnSpc>
              <a:spcBef>
                <a:spcPts val="0"/>
              </a:spcBef>
              <a:spcAft>
                <a:spcPts val="900"/>
              </a:spcAft>
            </a:pPr>
            <a:r>
              <a:rPr sz="1500" b="0" i="0">
                <a:solidFill>
                  <a:srgbClr val="FFFFFF"/>
                </a:solidFill>
                <a:latin typeface="Arial"/>
              </a:rPr>
              <a:t>D.  Unknown until volume confirms it</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As a general guide, for a reversal pattern the intrinsic bias and the trend sentiment are:</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In agreement, as they are for a continuation</a:t>
            </a:r>
          </a:p>
          <a:p>
            <a:pPr algn="l">
              <a:lnSpc>
                <a:spcPct val="112000"/>
              </a:lnSpc>
              <a:spcBef>
                <a:spcPts val="0"/>
              </a:spcBef>
              <a:spcAft>
                <a:spcPts val="900"/>
              </a:spcAft>
            </a:pPr>
            <a:r>
              <a:rPr sz="1500" b="0" i="0">
                <a:solidFill>
                  <a:srgbClr val="FFFFFF"/>
                </a:solidFill>
                <a:latin typeface="Arial"/>
              </a:rPr>
              <a:t>B.  Both neutral</a:t>
            </a:r>
          </a:p>
          <a:p>
            <a:pPr algn="l">
              <a:lnSpc>
                <a:spcPct val="112000"/>
              </a:lnSpc>
              <a:spcBef>
                <a:spcPts val="0"/>
              </a:spcBef>
              <a:spcAft>
                <a:spcPts val="900"/>
              </a:spcAft>
            </a:pPr>
            <a:r>
              <a:rPr sz="1500" b="0" i="0">
                <a:solidFill>
                  <a:srgbClr val="FFFFFF"/>
                </a:solidFill>
                <a:latin typeface="Arial"/>
              </a:rPr>
              <a:t>C.  In disagreement with each other</a:t>
            </a:r>
          </a:p>
          <a:p>
            <a:pPr algn="l">
              <a:lnSpc>
                <a:spcPct val="112000"/>
              </a:lnSpc>
              <a:spcBef>
                <a:spcPts val="0"/>
              </a:spcBef>
              <a:spcAft>
                <a:spcPts val="900"/>
              </a:spcAft>
            </a:pPr>
            <a:r>
              <a:rPr sz="1500" b="0" i="0">
                <a:solidFill>
                  <a:srgbClr val="FFFFFF"/>
                </a:solidFill>
                <a:latin typeface="Arial"/>
              </a:rPr>
              <a:t>D.  Set by the volume inside the pattern</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2 of 9 - 4.2 Chart patterns  |  Check 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Reversals, neutral patterns and failure</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 symmetrical triangle forms in the middle of an uptrend. Its extrinsic bias is:</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Bullish, taken from the uptrend</a:t>
            </a:r>
          </a:p>
          <a:p>
            <a:pPr algn="l">
              <a:lnSpc>
                <a:spcPct val="115000"/>
              </a:lnSpc>
              <a:spcBef>
                <a:spcPts val="700"/>
              </a:spcBef>
              <a:spcAft>
                <a:spcPts val="0"/>
              </a:spcAft>
            </a:pPr>
            <a:r>
              <a:rPr sz="1600" b="0" i="0">
                <a:solidFill>
                  <a:srgbClr val="1A1A1A"/>
                </a:solidFill>
                <a:latin typeface="Arial"/>
              </a:rPr>
              <a:t>A neutral pattern is extrinsically bullish in an uptrend and extrinsically bearish in a downtrend.</a:t>
            </a:r>
          </a:p>
        </p:txBody>
      </p:sp>
      <p:sp>
        <p:nvSpPr>
          <p:cNvPr id="10" name="Rectangle 9"/>
          <p:cNvSpPr/>
          <p:nvPr/>
        </p:nvSpPr>
        <p:spPr>
          <a:xfrm>
            <a:off x="777240" y="331571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As a general guide, for a reversal pattern the intrinsic bias and the trend sentiment are:</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In disagreement with each other</a:t>
            </a:r>
          </a:p>
          <a:p>
            <a:pPr algn="l">
              <a:lnSpc>
                <a:spcPct val="115000"/>
              </a:lnSpc>
              <a:spcBef>
                <a:spcPts val="700"/>
              </a:spcBef>
              <a:spcAft>
                <a:spcPts val="0"/>
              </a:spcAft>
            </a:pPr>
            <a:r>
              <a:rPr sz="1600" b="0" i="0">
                <a:solidFill>
                  <a:srgbClr val="1A1A1A"/>
                </a:solidFill>
                <a:latin typeface="Arial"/>
              </a:rPr>
              <a:t>A reversal pattern leans against the trend it ends: a bearish pattern in an uptrend, a bullish one in a downtrend.</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Check 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4.3  Volume falls before the phase changes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9 - 4.3 Volume  |  1 of 5</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Each phase has its typical volume action: down through a consolidation, up through a trend.</a:t>
            </a:r>
          </a:p>
          <a:p>
            <a:pPr algn="l">
              <a:lnSpc>
                <a:spcPct val="105000"/>
              </a:lnSpc>
              <a:spcBef>
                <a:spcPts val="0"/>
              </a:spcBef>
              <a:spcAft>
                <a:spcPts val="1100"/>
              </a:spcAft>
            </a:pPr>
            <a:r>
              <a:rPr sz="1800" b="0" i="0">
                <a:solidFill>
                  <a:srgbClr val="1A1A1A"/>
                </a:solidFill>
                <a:latin typeface="Arial"/>
              </a:rPr>
              <a:t>Volume tends to decline to relatively low levels just before a phase transition.</a:t>
            </a:r>
          </a:p>
          <a:p>
            <a:pPr algn="l">
              <a:lnSpc>
                <a:spcPct val="105000"/>
              </a:lnSpc>
              <a:spcBef>
                <a:spcPts val="0"/>
              </a:spcBef>
              <a:spcAft>
                <a:spcPts val="1100"/>
              </a:spcAft>
            </a:pPr>
            <a:r>
              <a:rPr sz="1800" b="0" i="0">
                <a:solidFill>
                  <a:srgbClr val="1A1A1A"/>
                </a:solidFill>
                <a:latin typeface="Arial"/>
              </a:rPr>
              <a:t>So volume can be used as a timing indicator for potential phase transitions.</a:t>
            </a:r>
          </a:p>
        </p:txBody>
      </p:sp>
      <p:sp>
        <p:nvSpPr>
          <p:cNvPr id="8" name="Rectangle 7"/>
          <p:cNvSpPr/>
          <p:nvPr/>
        </p:nvSpPr>
        <p:spPr>
          <a:xfrm>
            <a:off x="777240" y="4677156"/>
            <a:ext cx="82296" cy="101498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13732"/>
            <a:ext cx="4645152" cy="1014983"/>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Very low volume says a consolidation may be ending. It does not say which way.</a:t>
            </a:r>
          </a:p>
        </p:txBody>
      </p:sp>
      <p:sp>
        <p:nvSpPr>
          <p:cNvPr id="10" name="Rectangle 9"/>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4.15</a:t>
            </a:r>
          </a:p>
          <a:p>
            <a:pPr algn="l">
              <a:lnSpc>
                <a:spcPct val="120000"/>
              </a:lnSpc>
              <a:spcBef>
                <a:spcPts val="0"/>
              </a:spcBef>
              <a:spcAft>
                <a:spcPts val="1400"/>
              </a:spcAft>
            </a:pPr>
            <a:r>
              <a:rPr sz="1800" b="0" i="0">
                <a:solidFill>
                  <a:srgbClr val="1A1A1A"/>
                </a:solidFill>
                <a:latin typeface="Palatino"/>
              </a:rPr>
              <a:t>A schematic cycle of accumulation, trend, distribution, trend and accumulation, with volume marked down through each consolidation and up through each trend.</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4.15 - Lim, The Handbook of Technical Analysis (Wiley, 2016)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trend that loses volume is running out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9 - 4.3 Volume  |  2 of 5</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900" b="0" i="0">
                <a:solidFill>
                  <a:srgbClr val="1A1A1A"/>
                </a:solidFill>
                <a:latin typeface="Arial"/>
              </a:rPr>
              <a:t>If an uptrend or downtrend is inherently weak, volume falls off during the trend phase.</a:t>
            </a:r>
          </a:p>
          <a:p>
            <a:pPr algn="l">
              <a:lnSpc>
                <a:spcPct val="105000"/>
              </a:lnSpc>
              <a:spcBef>
                <a:spcPts val="0"/>
              </a:spcBef>
              <a:spcAft>
                <a:spcPts val="1100"/>
              </a:spcAft>
            </a:pPr>
            <a:r>
              <a:rPr sz="1900" b="0" i="0">
                <a:solidFill>
                  <a:srgbClr val="1A1A1A"/>
                </a:solidFill>
                <a:latin typeface="Arial"/>
              </a:rPr>
              <a:t>That is a sign of trend exhaustion.</a:t>
            </a:r>
          </a:p>
          <a:p>
            <a:pPr algn="l">
              <a:lnSpc>
                <a:spcPct val="105000"/>
              </a:lnSpc>
              <a:spcBef>
                <a:spcPts val="0"/>
              </a:spcBef>
              <a:spcAft>
                <a:spcPts val="1100"/>
              </a:spcAft>
            </a:pPr>
            <a:r>
              <a:rPr sz="1900" b="0" i="0">
                <a:solidFill>
                  <a:srgbClr val="1A1A1A"/>
                </a:solidFill>
                <a:latin typeface="Arial"/>
              </a:rPr>
              <a:t>It signals a potentially earlier onset of a distribution or accumulation phase.</a:t>
            </a:r>
          </a:p>
        </p:txBody>
      </p:sp>
      <p:sp>
        <p:nvSpPr>
          <p:cNvPr id="8" name="Rectangle 7"/>
          <p:cNvSpPr/>
          <p:nvPr/>
        </p:nvSpPr>
        <p:spPr>
          <a:xfrm>
            <a:off x="777240" y="4485132"/>
            <a:ext cx="82296" cy="106070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521708"/>
            <a:ext cx="4645152" cy="1060704"/>
          </a:xfrm>
          <a:prstGeom prst="rect">
            <a:avLst/>
          </a:prstGeom>
          <a:noFill/>
        </p:spPr>
        <p:txBody>
          <a:bodyPr wrap="square" anchor="t" lIns="0" rIns="0" tIns="0" bIns="0">
            <a:spAutoFit/>
          </a:bodyPr>
          <a:lstStyle/>
          <a:p>
            <a:pPr algn="l">
              <a:lnSpc>
                <a:spcPct val="100000"/>
              </a:lnSpc>
              <a:spcBef>
                <a:spcPts val="0"/>
              </a:spcBef>
              <a:spcAft>
                <a:spcPts val="0"/>
              </a:spcAft>
            </a:pPr>
            <a:r>
              <a:rPr sz="2000" b="1" i="0">
                <a:solidFill>
                  <a:srgbClr val="1A1A1A"/>
                </a:solidFill>
                <a:latin typeface="Arial"/>
              </a:rPr>
              <a:t>Volume should rise through a trend. When it turns down partway, expect the consolidation sooner.</a:t>
            </a:r>
          </a:p>
        </p:txBody>
      </p:sp>
      <p:sp>
        <p:nvSpPr>
          <p:cNvPr id="10" name="Rectangle 9"/>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4.16</a:t>
            </a:r>
          </a:p>
          <a:p>
            <a:pPr algn="l">
              <a:lnSpc>
                <a:spcPct val="120000"/>
              </a:lnSpc>
              <a:spcBef>
                <a:spcPts val="0"/>
              </a:spcBef>
              <a:spcAft>
                <a:spcPts val="1400"/>
              </a:spcAft>
            </a:pPr>
            <a:r>
              <a:rPr sz="1800" b="0" i="0">
                <a:solidFill>
                  <a:srgbClr val="1A1A1A"/>
                </a:solidFill>
                <a:latin typeface="Palatino"/>
              </a:rPr>
              <a:t>The same schematic cycle with volume turning down partway through each trend, the turn circled and labelled trend exhaustion.</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4.16 - Lim, The Handbook of Technical Analysis (Wiley, 2016)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Open interest: watch for disagreement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9 - 4.3 Volume  |  3 of 5</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900" b="0" i="0">
                <a:solidFill>
                  <a:srgbClr val="1A1A1A"/>
                </a:solidFill>
                <a:latin typeface="Arial"/>
              </a:rPr>
              <a:t>For the most part, open interest action correlates fairly closely with volume action.</a:t>
            </a:r>
          </a:p>
          <a:p>
            <a:pPr algn="l">
              <a:lnSpc>
                <a:spcPct val="105000"/>
              </a:lnSpc>
              <a:spcBef>
                <a:spcPts val="0"/>
              </a:spcBef>
              <a:spcAft>
                <a:spcPts val="1100"/>
              </a:spcAft>
            </a:pPr>
            <a:r>
              <a:rPr sz="1900" b="0" i="0">
                <a:solidFill>
                  <a:srgbClr val="1A1A1A"/>
                </a:solidFill>
                <a:latin typeface="Arial"/>
              </a:rPr>
              <a:t>It is when the two diverge significantly that open interest adds evidence.</a:t>
            </a:r>
          </a:p>
          <a:p>
            <a:pPr algn="l">
              <a:lnSpc>
                <a:spcPct val="105000"/>
              </a:lnSpc>
              <a:spcBef>
                <a:spcPts val="0"/>
              </a:spcBef>
              <a:spcAft>
                <a:spcPts val="1100"/>
              </a:spcAft>
            </a:pPr>
            <a:r>
              <a:rPr sz="1900" b="0" i="0">
                <a:solidFill>
                  <a:srgbClr val="1A1A1A"/>
                </a:solidFill>
                <a:latin typeface="Arial"/>
              </a:rPr>
              <a:t>If open interest increases during a consolidation instead of decreasing, the breakout and the trend after it tend to be much more rapid and extended.</a:t>
            </a:r>
          </a:p>
        </p:txBody>
      </p:sp>
      <p:sp>
        <p:nvSpPr>
          <p:cNvPr id="8" name="TextBox 7"/>
          <p:cNvSpPr txBox="1"/>
          <p:nvPr/>
        </p:nvSpPr>
        <p:spPr>
          <a:xfrm>
            <a:off x="777240" y="5397246"/>
            <a:ext cx="493776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Open interest is used here and taught in Chapter 6.</a:t>
            </a:r>
          </a:p>
        </p:txBody>
      </p:sp>
      <p:sp>
        <p:nvSpPr>
          <p:cNvPr id="9" name="Rectangle 8"/>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4.17</a:t>
            </a:r>
          </a:p>
          <a:p>
            <a:pPr algn="l">
              <a:lnSpc>
                <a:spcPct val="120000"/>
              </a:lnSpc>
              <a:spcBef>
                <a:spcPts val="0"/>
              </a:spcBef>
              <a:spcAft>
                <a:spcPts val="1400"/>
              </a:spcAft>
            </a:pPr>
            <a:r>
              <a:rPr sz="1800" b="0" i="0">
                <a:solidFill>
                  <a:srgbClr val="1A1A1A"/>
                </a:solidFill>
                <a:latin typeface="Palatino"/>
              </a:rPr>
              <a:t>The schematic cycle with open interest rising through the distribution instead of falling, and the downside breakout that follows labelled strong.</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2" name="TextBox 11"/>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4.17 - Lim, The Handbook of Technical Analysis (Wiley, 2016)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Volume and phase on a real chart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9 - 4.3 Volume  |  4 of 5</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The extended distribution is violated by a downside gap, on high volume.</a:t>
            </a:r>
          </a:p>
          <a:p>
            <a:pPr algn="l">
              <a:lnSpc>
                <a:spcPct val="105000"/>
              </a:lnSpc>
              <a:spcBef>
                <a:spcPts val="0"/>
              </a:spcBef>
              <a:spcAft>
                <a:spcPts val="1100"/>
              </a:spcAft>
            </a:pPr>
            <a:r>
              <a:rPr sz="1800" b="0" i="0">
                <a:solidFill>
                  <a:srgbClr val="1A1A1A"/>
                </a:solidFill>
                <a:latin typeface="Arial"/>
              </a:rPr>
              <a:t>The trend phase follows, with bullish volume divergence, and passes into an accumulation.</a:t>
            </a:r>
          </a:p>
          <a:p>
            <a:pPr algn="l">
              <a:lnSpc>
                <a:spcPct val="105000"/>
              </a:lnSpc>
              <a:spcBef>
                <a:spcPts val="0"/>
              </a:spcBef>
              <a:spcAft>
                <a:spcPts val="1100"/>
              </a:spcAft>
            </a:pPr>
            <a:r>
              <a:rPr sz="1800" b="0" i="0">
                <a:solidFill>
                  <a:srgbClr val="1A1A1A"/>
                </a:solidFill>
                <a:latin typeface="Arial"/>
              </a:rPr>
              <a:t>Volume gradually decreases as the accumulation progresses.</a:t>
            </a:r>
          </a:p>
        </p:txBody>
      </p:sp>
      <p:sp>
        <p:nvSpPr>
          <p:cNvPr id="8" name="Rectangle 7"/>
          <p:cNvSpPr/>
          <p:nvPr/>
        </p:nvSpPr>
        <p:spPr>
          <a:xfrm>
            <a:off x="777240" y="4677156"/>
            <a:ext cx="82296" cy="101498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13732"/>
            <a:ext cx="4462272" cy="1014983"/>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Falling volume signals a potentially imminent breakout, to the upside or the downside.</a:t>
            </a:r>
          </a:p>
        </p:txBody>
      </p:sp>
      <p:sp>
        <p:nvSpPr>
          <p:cNvPr id="10" name="Rectangle 9"/>
          <p:cNvSpPr/>
          <p:nvPr/>
        </p:nvSpPr>
        <p:spPr>
          <a:xfrm>
            <a:off x="5852159" y="1810512"/>
            <a:ext cx="556229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5852159" y="1810512"/>
            <a:ext cx="556229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263640" y="2267712"/>
            <a:ext cx="47393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4.18</a:t>
            </a:r>
          </a:p>
          <a:p>
            <a:pPr algn="l">
              <a:lnSpc>
                <a:spcPct val="120000"/>
              </a:lnSpc>
              <a:spcBef>
                <a:spcPts val="0"/>
              </a:spcBef>
              <a:spcAft>
                <a:spcPts val="1400"/>
              </a:spcAft>
            </a:pPr>
            <a:r>
              <a:rPr sz="1800" b="0" i="0">
                <a:solidFill>
                  <a:srgbClr val="1A1A1A"/>
                </a:solidFill>
                <a:latin typeface="Palatino"/>
              </a:rPr>
              <a:t>An intraday Isis Pharmaceuticals chart: a long distribution phase broken by a downside gap, a trend phase curving down into an accumulation phase, and a volume panel labelled bullish volume divergence under the trend and again under the accumulation.</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5852159" y="5650992"/>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4.18 - Lim, The Handbook of Technical Analysis (Wiley, 2016)</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Heavy volume marks a top or a bottom</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9 - 4.3 Volume  |  5 of 5</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Higher than normal volume at the start of an accumulation or distribution strongly indicates a bottom or top has formed.</a:t>
            </a:r>
          </a:p>
          <a:p>
            <a:pPr algn="l">
              <a:lnSpc>
                <a:spcPct val="105000"/>
              </a:lnSpc>
              <a:spcBef>
                <a:spcPts val="0"/>
              </a:spcBef>
              <a:spcAft>
                <a:spcPts val="1100"/>
              </a:spcAft>
            </a:pPr>
            <a:r>
              <a:rPr sz="1800" b="0" i="0">
                <a:solidFill>
                  <a:srgbClr val="1A1A1A"/>
                </a:solidFill>
                <a:latin typeface="Arial"/>
              </a:rPr>
              <a:t>In Figure 4.19 large price-based volume coincides with the distribution and accumulation zones.</a:t>
            </a:r>
          </a:p>
        </p:txBody>
      </p:sp>
      <p:sp>
        <p:nvSpPr>
          <p:cNvPr id="8" name="Rectangle 7"/>
          <p:cNvSpPr/>
          <p:nvPr/>
        </p:nvSpPr>
        <p:spPr>
          <a:xfrm>
            <a:off x="777240" y="4224528"/>
            <a:ext cx="82296" cy="101498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261104"/>
            <a:ext cx="4462272" cy="1014983"/>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Price levels with historically high volume are potential levels of accumulation or distribution.</a:t>
            </a:r>
          </a:p>
        </p:txBody>
      </p:sp>
      <p:sp>
        <p:nvSpPr>
          <p:cNvPr id="10" name="TextBox 9"/>
          <p:cNvSpPr txBox="1"/>
          <p:nvPr/>
        </p:nvSpPr>
        <p:spPr>
          <a:xfrm>
            <a:off x="777240" y="5440680"/>
            <a:ext cx="47548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Price-based volume, as opposed to time-based volume, is used here and not explained.</a:t>
            </a:r>
          </a:p>
        </p:txBody>
      </p:sp>
      <p:sp>
        <p:nvSpPr>
          <p:cNvPr id="11" name="Rectangle 10"/>
          <p:cNvSpPr/>
          <p:nvPr/>
        </p:nvSpPr>
        <p:spPr>
          <a:xfrm>
            <a:off x="5852159" y="1810512"/>
            <a:ext cx="556229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5852159" y="1810512"/>
            <a:ext cx="556229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263640" y="2267712"/>
            <a:ext cx="47393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4.19</a:t>
            </a:r>
          </a:p>
          <a:p>
            <a:pPr algn="l">
              <a:lnSpc>
                <a:spcPct val="120000"/>
              </a:lnSpc>
              <a:spcBef>
                <a:spcPts val="0"/>
              </a:spcBef>
              <a:spcAft>
                <a:spcPts val="1400"/>
              </a:spcAft>
            </a:pPr>
            <a:r>
              <a:rPr sz="1800" b="0" i="0">
                <a:solidFill>
                  <a:srgbClr val="1A1A1A"/>
                </a:solidFill>
                <a:latin typeface="Palatino"/>
              </a:rPr>
              <a:t>An hourly Facebook chart with horizontal volume bars drawn against price levels: the largest coincide with a distribution zone and an accumulation zone, with order flow marked seeking out additional liquidity at the edges of each.</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5852159" y="5650992"/>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4.19 - Lim, The Handbook of Technical Analysis (Wiley, 2016)</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7 OF 11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Volume and open interest</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Volume falls off partway through an uptrend. This is a sign of:</a:t>
            </a:r>
          </a:p>
        </p:txBody>
      </p:sp>
      <p:sp>
        <p:nvSpPr>
          <p:cNvPr id="9" name="TextBox 8"/>
          <p:cNvSpPr txBox="1"/>
          <p:nvPr/>
        </p:nvSpPr>
        <p:spPr>
          <a:xfrm>
            <a:off x="1051560"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stronger trend ahead</a:t>
            </a:r>
          </a:p>
          <a:p>
            <a:pPr algn="l">
              <a:lnSpc>
                <a:spcPct val="112000"/>
              </a:lnSpc>
              <a:spcBef>
                <a:spcPts val="0"/>
              </a:spcBef>
              <a:spcAft>
                <a:spcPts val="900"/>
              </a:spcAft>
            </a:pPr>
            <a:r>
              <a:rPr sz="1500" b="0" i="0">
                <a:solidFill>
                  <a:srgbClr val="FFFFFF"/>
                </a:solidFill>
                <a:latin typeface="Arial"/>
              </a:rPr>
              <a:t>B.  A selling climax</a:t>
            </a:r>
          </a:p>
          <a:p>
            <a:pPr algn="l">
              <a:lnSpc>
                <a:spcPct val="112000"/>
              </a:lnSpc>
              <a:spcBef>
                <a:spcPts val="0"/>
              </a:spcBef>
              <a:spcAft>
                <a:spcPts val="900"/>
              </a:spcAft>
            </a:pPr>
            <a:r>
              <a:rPr sz="1500" b="0" i="0">
                <a:solidFill>
                  <a:srgbClr val="FFFFFF"/>
                </a:solidFill>
                <a:latin typeface="Arial"/>
              </a:rPr>
              <a:t>C.  Trend exhaustion, and an earlier consolidation</a:t>
            </a:r>
          </a:p>
          <a:p>
            <a:pPr algn="l">
              <a:lnSpc>
                <a:spcPct val="112000"/>
              </a:lnSpc>
              <a:spcBef>
                <a:spcPts val="0"/>
              </a:spcBef>
              <a:spcAft>
                <a:spcPts val="900"/>
              </a:spcAft>
            </a:pPr>
            <a:r>
              <a:rPr sz="1500" b="0" i="0">
                <a:solidFill>
                  <a:srgbClr val="FFFFFF"/>
                </a:solidFill>
                <a:latin typeface="Arial"/>
              </a:rPr>
              <a:t>D.  An upside breakout</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108458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Open interest increases during a consolidation instead of decreasing. The breakout and the trend that follow tend to be:</a:t>
            </a:r>
          </a:p>
        </p:txBody>
      </p:sp>
      <p:sp>
        <p:nvSpPr>
          <p:cNvPr id="13" name="TextBox 12"/>
          <p:cNvSpPr txBox="1"/>
          <p:nvPr/>
        </p:nvSpPr>
        <p:spPr>
          <a:xfrm>
            <a:off x="6690207"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Weaker and short lived</a:t>
            </a:r>
          </a:p>
          <a:p>
            <a:pPr algn="l">
              <a:lnSpc>
                <a:spcPct val="112000"/>
              </a:lnSpc>
              <a:spcBef>
                <a:spcPts val="0"/>
              </a:spcBef>
              <a:spcAft>
                <a:spcPts val="900"/>
              </a:spcAft>
            </a:pPr>
            <a:r>
              <a:rPr sz="1500" b="0" i="0">
                <a:solidFill>
                  <a:srgbClr val="FFFFFF"/>
                </a:solidFill>
                <a:latin typeface="Arial"/>
              </a:rPr>
              <a:t>B.  Much more rapid and extended</a:t>
            </a:r>
          </a:p>
          <a:p>
            <a:pPr algn="l">
              <a:lnSpc>
                <a:spcPct val="112000"/>
              </a:lnSpc>
              <a:spcBef>
                <a:spcPts val="0"/>
              </a:spcBef>
              <a:spcAft>
                <a:spcPts val="900"/>
              </a:spcAft>
            </a:pPr>
            <a:r>
              <a:rPr sz="1500" b="0" i="0">
                <a:solidFill>
                  <a:srgbClr val="FFFFFF"/>
                </a:solidFill>
                <a:latin typeface="Arial"/>
              </a:rPr>
              <a:t>C.  Delayed by several months</a:t>
            </a:r>
          </a:p>
          <a:p>
            <a:pPr algn="l">
              <a:lnSpc>
                <a:spcPct val="112000"/>
              </a:lnSpc>
              <a:spcBef>
                <a:spcPts val="0"/>
              </a:spcBef>
              <a:spcAft>
                <a:spcPts val="900"/>
              </a:spcAft>
            </a:pPr>
            <a:r>
              <a:rPr sz="1500" b="0" i="0">
                <a:solidFill>
                  <a:srgbClr val="FFFFFF"/>
                </a:solidFill>
                <a:latin typeface="Arial"/>
              </a:rPr>
              <a:t>D.  In the direction of the old trend</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3 of 9 - 4.3 Volume  |  Check 7</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Volume and open interest</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Volume falls off partway through an uptrend. This is a sign of:</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Trend exhaustion, and an earlier consolidation</a:t>
            </a:r>
          </a:p>
          <a:p>
            <a:pPr algn="l">
              <a:lnSpc>
                <a:spcPct val="115000"/>
              </a:lnSpc>
              <a:spcBef>
                <a:spcPts val="700"/>
              </a:spcBef>
              <a:spcAft>
                <a:spcPts val="0"/>
              </a:spcAft>
            </a:pPr>
            <a:r>
              <a:rPr sz="1600" b="0" i="0">
                <a:solidFill>
                  <a:srgbClr val="1A1A1A"/>
                </a:solidFill>
                <a:latin typeface="Arial"/>
              </a:rPr>
              <a:t>A fall-off in volume during a trend is trend exhaustion: expect distribution or accumulation sooner.</a:t>
            </a:r>
          </a:p>
        </p:txBody>
      </p:sp>
      <p:sp>
        <p:nvSpPr>
          <p:cNvPr id="10" name="Rectangle 9"/>
          <p:cNvSpPr/>
          <p:nvPr/>
        </p:nvSpPr>
        <p:spPr>
          <a:xfrm>
            <a:off x="777240" y="3315716"/>
            <a:ext cx="10637215" cy="209549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209549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Open interest increases during a consolidation instead of decreasing. The breakout and the trend that follow tend to be:</a:t>
            </a:r>
          </a:p>
        </p:txBody>
      </p:sp>
      <p:sp>
        <p:nvSpPr>
          <p:cNvPr id="13" name="TextBox 12"/>
          <p:cNvSpPr txBox="1"/>
          <p:nvPr/>
        </p:nvSpPr>
        <p:spPr>
          <a:xfrm>
            <a:off x="1143000" y="427685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Much more rapid and extended</a:t>
            </a:r>
          </a:p>
          <a:p>
            <a:pPr algn="l">
              <a:lnSpc>
                <a:spcPct val="115000"/>
              </a:lnSpc>
              <a:spcBef>
                <a:spcPts val="700"/>
              </a:spcBef>
              <a:spcAft>
                <a:spcPts val="0"/>
              </a:spcAft>
            </a:pPr>
            <a:r>
              <a:rPr sz="1600" b="0" i="0">
                <a:solidFill>
                  <a:srgbClr val="1A1A1A"/>
                </a:solidFill>
                <a:latin typeface="Arial"/>
              </a:rPr>
              <a:t>When open interest rises through a consolidation, the breakout move and the subsequent trend tend to be much more rapid and extended.</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9 - 4.3 Volume  |  Check 7</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4.4  A moving average across the phases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9 - 4.4 Moving averages  |  1 of 2</a:t>
            </a:r>
          </a:p>
        </p:txBody>
      </p:sp>
      <p:sp>
        <p:nvSpPr>
          <p:cNvPr id="7" name="TextBox 6"/>
          <p:cNvSpPr txBox="1"/>
          <p:nvPr/>
        </p:nvSpPr>
        <p:spPr>
          <a:xfrm>
            <a:off x="777240" y="1965960"/>
            <a:ext cx="45720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Market phase can also be identified by the behavior of moving averages.</a:t>
            </a:r>
          </a:p>
          <a:p>
            <a:pPr algn="l">
              <a:lnSpc>
                <a:spcPct val="105000"/>
              </a:lnSpc>
              <a:spcBef>
                <a:spcPts val="0"/>
              </a:spcBef>
              <a:spcAft>
                <a:spcPts val="1100"/>
              </a:spcAft>
            </a:pPr>
            <a:r>
              <a:rPr sz="1700" b="0" i="0">
                <a:solidFill>
                  <a:srgbClr val="1A1A1A"/>
                </a:solidFill>
                <a:latin typeface="Arial"/>
              </a:rPr>
              <a:t>During a trending phase a moving average shows the minimum incidence of whipsaws.</a:t>
            </a:r>
          </a:p>
          <a:p>
            <a:pPr algn="l">
              <a:lnSpc>
                <a:spcPct val="105000"/>
              </a:lnSpc>
              <a:spcBef>
                <a:spcPts val="0"/>
              </a:spcBef>
              <a:spcAft>
                <a:spcPts val="1100"/>
              </a:spcAft>
            </a:pPr>
            <a:r>
              <a:rPr sz="1700" b="0" i="0">
                <a:solidFill>
                  <a:srgbClr val="1A1A1A"/>
                </a:solidFill>
                <a:latin typeface="Arial"/>
              </a:rPr>
              <a:t>During a consolidation, whipsaw action increases significantly.</a:t>
            </a:r>
          </a:p>
        </p:txBody>
      </p:sp>
      <p:sp>
        <p:nvSpPr>
          <p:cNvPr id="8" name="Rectangle 7"/>
          <p:cNvSpPr/>
          <p:nvPr/>
        </p:nvSpPr>
        <p:spPr>
          <a:xfrm>
            <a:off x="777240" y="4293108"/>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29684"/>
            <a:ext cx="427939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cause is the flattening-out effect of averages in a sideways or ranging market.</a:t>
            </a:r>
          </a:p>
        </p:txBody>
      </p:sp>
      <p:sp>
        <p:nvSpPr>
          <p:cNvPr id="10" name="TextBox 9"/>
          <p:cNvSpPr txBox="1"/>
          <p:nvPr/>
        </p:nvSpPr>
        <p:spPr>
          <a:xfrm>
            <a:off x="777240" y="5463540"/>
            <a:ext cx="457200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book uses whipsaw without defining it; Figure 4.20 points at them. Moving averages are Chapter 11.</a:t>
            </a:r>
          </a:p>
        </p:txBody>
      </p:sp>
      <p:sp>
        <p:nvSpPr>
          <p:cNvPr id="11" name="Rectangle 10"/>
          <p:cNvSpPr/>
          <p:nvPr/>
        </p:nvSpPr>
        <p:spPr>
          <a:xfrm>
            <a:off x="5669279" y="1810512"/>
            <a:ext cx="574517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5669279" y="1810512"/>
            <a:ext cx="574517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080759" y="2267712"/>
            <a:ext cx="492221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4.20</a:t>
            </a:r>
          </a:p>
          <a:p>
            <a:pPr algn="l">
              <a:lnSpc>
                <a:spcPct val="120000"/>
              </a:lnSpc>
              <a:spcBef>
                <a:spcPts val="0"/>
              </a:spcBef>
              <a:spcAft>
                <a:spcPts val="1400"/>
              </a:spcAft>
            </a:pPr>
            <a:r>
              <a:rPr sz="1800" b="0" i="0">
                <a:solidFill>
                  <a:srgbClr val="1A1A1A"/>
                </a:solidFill>
                <a:latin typeface="Palatino"/>
              </a:rPr>
              <a:t>One simple moving average under a rising price, labelled as containing the trend with fewer whipsaws, then flattening inside a boxed consolidation where price crosses it again and again, labelled whipsaws during the consolidation phase.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5669279" y="5650992"/>
            <a:ext cx="574517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4.20 - Lim, The Handbook of Technical Analysis (Wiley, 2016)</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Several averages: spread in a trend, tangle in a range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9 - 4.4 Moving averages  |  2 of 2</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In a trend, multiple moving average lines start to diverge from each other.</a:t>
            </a:r>
          </a:p>
          <a:p>
            <a:pPr algn="l">
              <a:lnSpc>
                <a:spcPct val="105000"/>
              </a:lnSpc>
              <a:spcBef>
                <a:spcPts val="0"/>
              </a:spcBef>
              <a:spcAft>
                <a:spcPts val="1100"/>
              </a:spcAft>
            </a:pPr>
            <a:r>
              <a:rPr sz="1800" b="0" i="0">
                <a:solidFill>
                  <a:srgbClr val="1A1A1A"/>
                </a:solidFill>
                <a:latin typeface="Arial"/>
              </a:rPr>
              <a:t>The greater the divergence, the stronger the ensuing trend.</a:t>
            </a:r>
          </a:p>
          <a:p>
            <a:pPr algn="l">
              <a:lnSpc>
                <a:spcPct val="105000"/>
              </a:lnSpc>
              <a:spcBef>
                <a:spcPts val="0"/>
              </a:spcBef>
              <a:spcAft>
                <a:spcPts val="1100"/>
              </a:spcAft>
            </a:pPr>
            <a:r>
              <a:rPr sz="1800" b="0" i="0">
                <a:solidFill>
                  <a:srgbClr val="1A1A1A"/>
                </a:solidFill>
                <a:latin typeface="Arial"/>
              </a:rPr>
              <a:t>When the lines begin to converge, that is an early indication of a potential consolidation.</a:t>
            </a:r>
          </a:p>
        </p:txBody>
      </p:sp>
      <p:sp>
        <p:nvSpPr>
          <p:cNvPr id="8" name="Rectangle 7"/>
          <p:cNvSpPr/>
          <p:nvPr/>
        </p:nvSpPr>
        <p:spPr>
          <a:xfrm>
            <a:off x="777240" y="4677156"/>
            <a:ext cx="82296" cy="101498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13732"/>
            <a:ext cx="4462272" cy="1014983"/>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Overlapping lines: consolidation. Diverging lines: a strong trend in place.</a:t>
            </a:r>
          </a:p>
        </p:txBody>
      </p:sp>
      <p:sp>
        <p:nvSpPr>
          <p:cNvPr id="10" name="Rectangle 9"/>
          <p:cNvSpPr/>
          <p:nvPr/>
        </p:nvSpPr>
        <p:spPr>
          <a:xfrm>
            <a:off x="5852159" y="1810512"/>
            <a:ext cx="556229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5852159" y="1810512"/>
            <a:ext cx="556229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263640" y="2267712"/>
            <a:ext cx="47393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4.21</a:t>
            </a:r>
          </a:p>
          <a:p>
            <a:pPr algn="l">
              <a:lnSpc>
                <a:spcPct val="120000"/>
              </a:lnSpc>
              <a:spcBef>
                <a:spcPts val="0"/>
              </a:spcBef>
              <a:spcAft>
                <a:spcPts val="1400"/>
              </a:spcAft>
            </a:pPr>
            <a:r>
              <a:rPr sz="1800" b="0" i="0">
                <a:solidFill>
                  <a:srgbClr val="1A1A1A"/>
                </a:solidFill>
                <a:latin typeface="Palatino"/>
              </a:rPr>
              <a:t>A daily chart with four moving averages, 20, 50, 100 and 200 day: the lines overlap through an accumulation phase, fan apart through the trend phase, where they also act as support, and overlap again in the consolidation that follows.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5852159" y="5650992"/>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4.21 - Lim, The Handbook of Technical Analysis (Wiley, 2016)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4.5  Divergence tracks momentum</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9 - 4.5 Divergence  |  1 of 3</a:t>
            </a:r>
          </a:p>
        </p:txBody>
      </p:sp>
      <p:sp>
        <p:nvSpPr>
          <p:cNvPr id="7" name="TextBox 6"/>
          <p:cNvSpPr txBox="1"/>
          <p:nvPr/>
        </p:nvSpPr>
        <p:spPr>
          <a:xfrm>
            <a:off x="777240" y="1965960"/>
            <a:ext cx="58521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Divergence may be used to track the changes in price momentum.</a:t>
            </a:r>
          </a:p>
          <a:p>
            <a:pPr algn="l">
              <a:lnSpc>
                <a:spcPct val="105000"/>
              </a:lnSpc>
              <a:spcBef>
                <a:spcPts val="0"/>
              </a:spcBef>
              <a:spcAft>
                <a:spcPts val="1100"/>
              </a:spcAft>
            </a:pPr>
            <a:r>
              <a:rPr sz="1700" b="0" i="0">
                <a:solidFill>
                  <a:srgbClr val="1A1A1A"/>
                </a:solidFill>
                <a:latin typeface="Arial"/>
              </a:rPr>
              <a:t>That makes it extremely useful for identifying potential consolidations, and the strength of a trend.</a:t>
            </a:r>
          </a:p>
          <a:p>
            <a:pPr algn="l">
              <a:lnSpc>
                <a:spcPct val="105000"/>
              </a:lnSpc>
              <a:spcBef>
                <a:spcPts val="0"/>
              </a:spcBef>
              <a:spcAft>
                <a:spcPts val="1100"/>
              </a:spcAft>
            </a:pPr>
            <a:r>
              <a:rPr sz="1700" b="0" i="0">
                <a:solidFill>
                  <a:srgbClr val="1A1A1A"/>
                </a:solidFill>
                <a:latin typeface="Arial"/>
              </a:rPr>
              <a:t>Once divergence is observed, look for a slowing of the trend.</a:t>
            </a:r>
          </a:p>
        </p:txBody>
      </p:sp>
      <p:sp>
        <p:nvSpPr>
          <p:cNvPr id="8" name="Rectangle 7"/>
          <p:cNvSpPr/>
          <p:nvPr/>
        </p:nvSpPr>
        <p:spPr>
          <a:xfrm>
            <a:off x="777240" y="4293108"/>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29684"/>
            <a:ext cx="555955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In Figure 4.22 price makes a higher peak while the MACD makes a lower one: standard bearish divergence.</a:t>
            </a:r>
          </a:p>
        </p:txBody>
      </p:sp>
      <p:sp>
        <p:nvSpPr>
          <p:cNvPr id="10" name="TextBox 9"/>
          <p:cNvSpPr txBox="1"/>
          <p:nvPr/>
        </p:nvSpPr>
        <p:spPr>
          <a:xfrm>
            <a:off x="777240" y="5463540"/>
            <a:ext cx="585216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chapter uses divergence, MACD and RSI without defining them. Divergence is Chapter 9.</a:t>
            </a:r>
          </a:p>
        </p:txBody>
      </p:sp>
      <p:sp>
        <p:nvSpPr>
          <p:cNvPr id="11" name="Rectangle 10"/>
          <p:cNvSpPr/>
          <p:nvPr/>
        </p:nvSpPr>
        <p:spPr>
          <a:xfrm>
            <a:off x="6949440" y="1810512"/>
            <a:ext cx="446501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949440" y="1810512"/>
            <a:ext cx="446501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7360919" y="2267712"/>
            <a:ext cx="36420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4.22</a:t>
            </a:r>
          </a:p>
          <a:p>
            <a:pPr algn="l">
              <a:lnSpc>
                <a:spcPct val="120000"/>
              </a:lnSpc>
              <a:spcBef>
                <a:spcPts val="0"/>
              </a:spcBef>
              <a:spcAft>
                <a:spcPts val="1400"/>
              </a:spcAft>
            </a:pPr>
            <a:r>
              <a:rPr sz="1800" b="0" i="0">
                <a:solidFill>
                  <a:srgbClr val="1A1A1A"/>
                </a:solidFill>
                <a:latin typeface="Palatino"/>
              </a:rPr>
              <a:t>An hourly EURUSD chart: price makes a higher peak inside a distribution while the MACD below it makes a lower one, labelled standard bearish divergence and momentum turning before price.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949440" y="5650992"/>
            <a:ext cx="4465014"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4.22 - Lim, The Handbook of Technical Analysis (Wiley, 2016)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Bullish divergence supports an accumulation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9 - 4.5 Divergence  |  2 of 3</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The accumulation takes the form of an inverted head and shoulders pattern.</a:t>
            </a:r>
          </a:p>
          <a:p>
            <a:pPr algn="l">
              <a:lnSpc>
                <a:spcPct val="105000"/>
              </a:lnSpc>
              <a:spcBef>
                <a:spcPts val="0"/>
              </a:spcBef>
              <a:spcAft>
                <a:spcPts val="1100"/>
              </a:spcAft>
            </a:pPr>
            <a:r>
              <a:rPr sz="1800" b="0" i="0">
                <a:solidFill>
                  <a:srgbClr val="1A1A1A"/>
                </a:solidFill>
                <a:latin typeface="Arial"/>
              </a:rPr>
              <a:t>It is further supported by standard bullish divergence on the MACD.</a:t>
            </a:r>
          </a:p>
          <a:p>
            <a:pPr algn="l">
              <a:lnSpc>
                <a:spcPct val="105000"/>
              </a:lnSpc>
              <a:spcBef>
                <a:spcPts val="0"/>
              </a:spcBef>
              <a:spcAft>
                <a:spcPts val="1100"/>
              </a:spcAft>
            </a:pPr>
            <a:r>
              <a:rPr sz="1800" b="0" i="0">
                <a:solidFill>
                  <a:srgbClr val="1A1A1A"/>
                </a:solidFill>
                <a:latin typeface="Arial"/>
              </a:rPr>
              <a:t>The left shoulder, head and right shoulder coincide with the projected cycle lows.</a:t>
            </a:r>
          </a:p>
        </p:txBody>
      </p:sp>
      <p:sp>
        <p:nvSpPr>
          <p:cNvPr id="8" name="Rectangle 7"/>
          <p:cNvSpPr/>
          <p:nvPr/>
        </p:nvSpPr>
        <p:spPr>
          <a:xfrm>
            <a:off x="777240" y="4389120"/>
            <a:ext cx="82296" cy="101498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25696"/>
            <a:ext cx="4828032" cy="1014983"/>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This bullish confluence within the accumulation greatly increases the probability of a strong upside move.</a:t>
            </a:r>
          </a:p>
        </p:txBody>
      </p:sp>
      <p:sp>
        <p:nvSpPr>
          <p:cNvPr id="10" name="Rectangle 9"/>
          <p:cNvSpPr/>
          <p:nvPr/>
        </p:nvSpPr>
        <p:spPr>
          <a:xfrm>
            <a:off x="6217919" y="1810512"/>
            <a:ext cx="5196535"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217919" y="1810512"/>
            <a:ext cx="5196535"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629399" y="2267712"/>
            <a:ext cx="4373575"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4.23</a:t>
            </a:r>
          </a:p>
          <a:p>
            <a:pPr algn="l">
              <a:lnSpc>
                <a:spcPct val="120000"/>
              </a:lnSpc>
              <a:spcBef>
                <a:spcPts val="0"/>
              </a:spcBef>
              <a:spcAft>
                <a:spcPts val="1400"/>
              </a:spcAft>
            </a:pPr>
            <a:r>
              <a:rPr sz="1800" b="0" i="0">
                <a:solidFill>
                  <a:srgbClr val="1A1A1A"/>
                </a:solidFill>
                <a:latin typeface="Palatino"/>
              </a:rPr>
              <a:t>The daily 3M chart: an accumulation in the form of an inverted head and shoulders, with standard bullish divergence marked on the MACD below it and vertical lines marking consistent cycle lows at the shoulders and the head.</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6217919" y="565099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4.23 - Lim, The Handbook of Technical Analysis (Wiley, 2016)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Momentum turns before price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9 - 4.5 Divergence  |  3 of 3</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Volume, MACD and RSI all show bullish divergence with price in the accumulation.</a:t>
            </a:r>
          </a:p>
          <a:p>
            <a:pPr algn="l">
              <a:lnSpc>
                <a:spcPct val="105000"/>
              </a:lnSpc>
              <a:spcBef>
                <a:spcPts val="0"/>
              </a:spcBef>
              <a:spcAft>
                <a:spcPts val="1100"/>
              </a:spcAft>
            </a:pPr>
            <a:r>
              <a:rPr sz="1700" b="0" i="0">
                <a:solidFill>
                  <a:srgbClr val="1A1A1A"/>
                </a:solidFill>
                <a:latin typeface="Arial"/>
              </a:rPr>
              <a:t>The MACD and the RSI are both momentum-based indicators.</a:t>
            </a:r>
          </a:p>
          <a:p>
            <a:pPr algn="l">
              <a:lnSpc>
                <a:spcPct val="105000"/>
              </a:lnSpc>
              <a:spcBef>
                <a:spcPts val="0"/>
              </a:spcBef>
              <a:spcAft>
                <a:spcPts val="1100"/>
              </a:spcAft>
            </a:pPr>
            <a:r>
              <a:rPr sz="1700" b="0" i="0">
                <a:solidFill>
                  <a:srgbClr val="1A1A1A"/>
                </a:solidFill>
                <a:latin typeface="Arial"/>
              </a:rPr>
              <a:t>At the tail end of a trend, a sign that a consolidation may be forming helps a trader anticipate an early entry.</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46227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We see momentum turning before price.</a:t>
            </a:r>
          </a:p>
        </p:txBody>
      </p:sp>
      <p:sp>
        <p:nvSpPr>
          <p:cNvPr id="10" name="TextBox 9"/>
          <p:cNvSpPr txBox="1"/>
          <p:nvPr/>
        </p:nvSpPr>
        <p:spPr>
          <a:xfrm>
            <a:off x="777240" y="5461254"/>
            <a:ext cx="47548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For bullish divergence in volume, falling prices must be accompanied by decreasing volume.</a:t>
            </a:r>
          </a:p>
        </p:txBody>
      </p:sp>
      <p:sp>
        <p:nvSpPr>
          <p:cNvPr id="11" name="Rectangle 10"/>
          <p:cNvSpPr/>
          <p:nvPr/>
        </p:nvSpPr>
        <p:spPr>
          <a:xfrm>
            <a:off x="5852159" y="1810512"/>
            <a:ext cx="556229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5852159" y="1810512"/>
            <a:ext cx="556229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263640" y="2267712"/>
            <a:ext cx="47393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4.24</a:t>
            </a:r>
          </a:p>
          <a:p>
            <a:pPr algn="l">
              <a:lnSpc>
                <a:spcPct val="120000"/>
              </a:lnSpc>
              <a:spcBef>
                <a:spcPts val="0"/>
              </a:spcBef>
              <a:spcAft>
                <a:spcPts val="1400"/>
              </a:spcAft>
            </a:pPr>
            <a:r>
              <a:rPr sz="1800" b="0" i="0">
                <a:solidFill>
                  <a:srgbClr val="1A1A1A"/>
                </a:solidFill>
                <a:latin typeface="Palatino"/>
              </a:rPr>
              <a:t>A 5 minute GBPUSD chart: a downtrend into an accumulation, with bullish divergence marked on volume, on the MACD and on the RSI inside the accumulation, and a new trend rising out of it.</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5852159" y="5650992"/>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4.24 - Lim, The Handbook of Technical Analysis (Wiley, 2016)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8 OF 11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Moving averages and divergence</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Several moving average lines that had spread apart begin to converge. This is an early indication of:</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potential consolidation</a:t>
            </a:r>
          </a:p>
          <a:p>
            <a:pPr algn="l">
              <a:lnSpc>
                <a:spcPct val="112000"/>
              </a:lnSpc>
              <a:spcBef>
                <a:spcPts val="0"/>
              </a:spcBef>
              <a:spcAft>
                <a:spcPts val="900"/>
              </a:spcAft>
            </a:pPr>
            <a:r>
              <a:rPr sz="1500" b="0" i="0">
                <a:solidFill>
                  <a:srgbClr val="FFFFFF"/>
                </a:solidFill>
                <a:latin typeface="Arial"/>
              </a:rPr>
              <a:t>B.  A stronger trend</a:t>
            </a:r>
          </a:p>
          <a:p>
            <a:pPr algn="l">
              <a:lnSpc>
                <a:spcPct val="112000"/>
              </a:lnSpc>
              <a:spcBef>
                <a:spcPts val="0"/>
              </a:spcBef>
              <a:spcAft>
                <a:spcPts val="900"/>
              </a:spcAft>
            </a:pPr>
            <a:r>
              <a:rPr sz="1500" b="0" i="0">
                <a:solidFill>
                  <a:srgbClr val="FFFFFF"/>
                </a:solidFill>
                <a:latin typeface="Arial"/>
              </a:rPr>
              <a:t>C.  A selling climax</a:t>
            </a:r>
          </a:p>
          <a:p>
            <a:pPr algn="l">
              <a:lnSpc>
                <a:spcPct val="112000"/>
              </a:lnSpc>
              <a:spcBef>
                <a:spcPts val="0"/>
              </a:spcBef>
              <a:spcAft>
                <a:spcPts val="900"/>
              </a:spcAft>
            </a:pPr>
            <a:r>
              <a:rPr sz="1500" b="0" i="0">
                <a:solidFill>
                  <a:srgbClr val="FFFFFF"/>
                </a:solidFill>
                <a:latin typeface="Arial"/>
              </a:rPr>
              <a:t>D.  A minimum measuring objective</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At the tail end of a trend, a momentum indicator turns before price does. This is an early sign that:</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trend is strengthening</a:t>
            </a:r>
          </a:p>
          <a:p>
            <a:pPr algn="l">
              <a:lnSpc>
                <a:spcPct val="112000"/>
              </a:lnSpc>
              <a:spcBef>
                <a:spcPts val="0"/>
              </a:spcBef>
              <a:spcAft>
                <a:spcPts val="900"/>
              </a:spcAft>
            </a:pPr>
            <a:r>
              <a:rPr sz="1500" b="0" i="0">
                <a:solidFill>
                  <a:srgbClr val="FFFFFF"/>
                </a:solidFill>
                <a:latin typeface="Arial"/>
              </a:rPr>
              <a:t>B.  Volume is about to surge</a:t>
            </a:r>
          </a:p>
          <a:p>
            <a:pPr algn="l">
              <a:lnSpc>
                <a:spcPct val="112000"/>
              </a:lnSpc>
              <a:spcBef>
                <a:spcPts val="0"/>
              </a:spcBef>
              <a:spcAft>
                <a:spcPts val="900"/>
              </a:spcAft>
            </a:pPr>
            <a:r>
              <a:rPr sz="1500" b="0" i="0">
                <a:solidFill>
                  <a:srgbClr val="FFFFFF"/>
                </a:solidFill>
                <a:latin typeface="Arial"/>
              </a:rPr>
              <a:t>C.  The pattern is intrinsically neutral</a:t>
            </a:r>
          </a:p>
          <a:p>
            <a:pPr algn="l">
              <a:lnSpc>
                <a:spcPct val="112000"/>
              </a:lnSpc>
              <a:spcBef>
                <a:spcPts val="0"/>
              </a:spcBef>
              <a:spcAft>
                <a:spcPts val="900"/>
              </a:spcAft>
            </a:pPr>
            <a:r>
              <a:rPr sz="1500" b="0" i="0">
                <a:solidFill>
                  <a:srgbClr val="FFFFFF"/>
                </a:solidFill>
                <a:latin typeface="Arial"/>
              </a:rPr>
              <a:t>D.  A consolidation may be forming</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5 of 9 - 4.5 Divergence  |  Check 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Moving averages and divergence</a:t>
            </a:r>
          </a:p>
        </p:txBody>
      </p:sp>
      <p:sp>
        <p:nvSpPr>
          <p:cNvPr id="6" name="Rectangle 5"/>
          <p:cNvSpPr/>
          <p:nvPr/>
        </p:nvSpPr>
        <p:spPr>
          <a:xfrm>
            <a:off x="777240" y="1207008"/>
            <a:ext cx="10637215" cy="209549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209549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Several moving average lines that had spread apart begin to converge. This is an early indication of:</a:t>
            </a:r>
          </a:p>
        </p:txBody>
      </p:sp>
      <p:sp>
        <p:nvSpPr>
          <p:cNvPr id="9" name="TextBox 8"/>
          <p:cNvSpPr txBox="1"/>
          <p:nvPr/>
        </p:nvSpPr>
        <p:spPr>
          <a:xfrm>
            <a:off x="1143000" y="216814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A potential consolidation</a:t>
            </a:r>
          </a:p>
          <a:p>
            <a:pPr algn="l">
              <a:lnSpc>
                <a:spcPct val="115000"/>
              </a:lnSpc>
              <a:spcBef>
                <a:spcPts val="700"/>
              </a:spcBef>
              <a:spcAft>
                <a:spcPts val="0"/>
              </a:spcAft>
            </a:pPr>
            <a:r>
              <a:rPr sz="1600" b="0" i="0">
                <a:solidFill>
                  <a:srgbClr val="1A1A1A"/>
                </a:solidFill>
                <a:latin typeface="Arial"/>
              </a:rPr>
              <a:t>Diverging lines mean a trend. Converging lines are an early indication of a potential consolidation.</a:t>
            </a:r>
          </a:p>
        </p:txBody>
      </p:sp>
      <p:sp>
        <p:nvSpPr>
          <p:cNvPr id="10" name="Rectangle 9"/>
          <p:cNvSpPr/>
          <p:nvPr/>
        </p:nvSpPr>
        <p:spPr>
          <a:xfrm>
            <a:off x="777240" y="354939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54939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787140"/>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At the tail end of a trend, a momentum indicator turns before price does. This is an early sign that:</a:t>
            </a:r>
          </a:p>
        </p:txBody>
      </p:sp>
      <p:sp>
        <p:nvSpPr>
          <p:cNvPr id="13" name="TextBox 12"/>
          <p:cNvSpPr txBox="1"/>
          <p:nvPr/>
        </p:nvSpPr>
        <p:spPr>
          <a:xfrm>
            <a:off x="1143000" y="451053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A consolidation may be forming</a:t>
            </a:r>
          </a:p>
          <a:p>
            <a:pPr algn="l">
              <a:lnSpc>
                <a:spcPct val="115000"/>
              </a:lnSpc>
              <a:spcBef>
                <a:spcPts val="700"/>
              </a:spcBef>
              <a:spcAft>
                <a:spcPts val="0"/>
              </a:spcAft>
            </a:pPr>
            <a:r>
              <a:rPr sz="1600" b="0" i="0">
                <a:solidFill>
                  <a:srgbClr val="1A1A1A"/>
                </a:solidFill>
                <a:latin typeface="Arial"/>
              </a:rPr>
              <a:t>Momentum turning before price shows the trend slowing, which is how a consolidation begins.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9 - 4.5 Divergence  |  Check 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4.6  Sentiment is clearest at the extremes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9 - 4.6 Sentiment  |  1 of 3</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Participants swing between fear, greed and hope, responding to news and each other.</a:t>
            </a:r>
          </a:p>
          <a:p>
            <a:pPr algn="l">
              <a:lnSpc>
                <a:spcPct val="105000"/>
              </a:lnSpc>
              <a:spcBef>
                <a:spcPts val="0"/>
              </a:spcBef>
              <a:spcAft>
                <a:spcPts val="1100"/>
              </a:spcAft>
            </a:pPr>
            <a:r>
              <a:rPr sz="1800" b="0" i="0">
                <a:solidFill>
                  <a:srgbClr val="1A1A1A"/>
                </a:solidFill>
                <a:latin typeface="Arial"/>
              </a:rPr>
              <a:t>Identifiable patterns repeat fairly consistently, especially at market extremes.</a:t>
            </a:r>
          </a:p>
          <a:p>
            <a:pPr algn="l">
              <a:lnSpc>
                <a:spcPct val="105000"/>
              </a:lnSpc>
              <a:spcBef>
                <a:spcPts val="0"/>
              </a:spcBef>
              <a:spcAft>
                <a:spcPts val="1100"/>
              </a:spcAft>
            </a:pPr>
            <a:r>
              <a:rPr sz="1800" b="0" i="0">
                <a:solidFill>
                  <a:srgbClr val="1A1A1A"/>
                </a:solidFill>
                <a:latin typeface="Arial"/>
              </a:rPr>
              <a:t>Sentiment indicators track participants' aggregate sentiment, emotions and psychology.</a:t>
            </a:r>
          </a:p>
        </p:txBody>
      </p:sp>
      <p:sp>
        <p:nvSpPr>
          <p:cNvPr id="8" name="Rectangle 7"/>
          <p:cNvSpPr/>
          <p:nvPr/>
        </p:nvSpPr>
        <p:spPr>
          <a:xfrm>
            <a:off x="777240" y="4965192"/>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01768"/>
            <a:ext cx="464515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They are most accurate at extremes of optimism or pessimism.</a:t>
            </a:r>
          </a:p>
        </p:txBody>
      </p:sp>
      <p:sp>
        <p:nvSpPr>
          <p:cNvPr id="10" name="Rectangle 9"/>
          <p:cNvSpPr/>
          <p:nvPr/>
        </p:nvSpPr>
        <p:spPr>
          <a:xfrm>
            <a:off x="6036411" y="1810512"/>
            <a:ext cx="537667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q.png"/>
          <p:cNvPicPr>
            <a:picLocks noChangeAspect="1"/>
          </p:cNvPicPr>
          <p:nvPr/>
        </p:nvPicPr>
        <p:blipFill>
          <a:blip r:embed="rId2"/>
          <a:stretch>
            <a:fillRect/>
          </a:stretch>
        </p:blipFill>
        <p:spPr>
          <a:xfrm>
            <a:off x="6155283" y="1929384"/>
            <a:ext cx="5138928" cy="3511296"/>
          </a:xfrm>
          <a:prstGeom prst="rect">
            <a:avLst/>
          </a:prstGeom>
        </p:spPr>
      </p:pic>
      <p:sp>
        <p:nvSpPr>
          <p:cNvPr id="12" name="TextBox 11"/>
          <p:cNvSpPr txBox="1"/>
          <p:nvPr/>
        </p:nvSpPr>
        <p:spPr>
          <a:xfrm>
            <a:off x="6035040" y="5650991"/>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Q - FIN1209 teaching chart, drawn for this course. Illustrative data, not a real instrument.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Thirteen sentiment indicators, by name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9 - 4.6 Sentiment  |  2 of 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Put-call ratios, Arm's Index, and odd lot sales.</a:t>
            </a:r>
          </a:p>
          <a:p>
            <a:pPr algn="l">
              <a:lnSpc>
                <a:spcPct val="118000"/>
              </a:lnSpc>
              <a:spcBef>
                <a:spcPts val="0"/>
              </a:spcBef>
              <a:spcAft>
                <a:spcPts val="1300"/>
              </a:spcAft>
            </a:pPr>
            <a:r>
              <a:rPr sz="2100" b="0" i="0">
                <a:solidFill>
                  <a:srgbClr val="1A1A1A"/>
                </a:solidFill>
                <a:latin typeface="Arial"/>
              </a:rPr>
              <a:t>Margin debt, the COT report, and the VIX.</a:t>
            </a:r>
          </a:p>
          <a:p>
            <a:pPr algn="l">
              <a:lnSpc>
                <a:spcPct val="118000"/>
              </a:lnSpc>
              <a:spcBef>
                <a:spcPts val="0"/>
              </a:spcBef>
              <a:spcAft>
                <a:spcPts val="1300"/>
              </a:spcAft>
            </a:pPr>
            <a:r>
              <a:rPr sz="2100" b="0" i="0">
                <a:solidFill>
                  <a:srgbClr val="1A1A1A"/>
                </a:solidFill>
                <a:latin typeface="Arial"/>
              </a:rPr>
              <a:t>The short interest ratio, the cash asset ratio, and the advance-decline line.</a:t>
            </a:r>
          </a:p>
          <a:p>
            <a:pPr algn="l">
              <a:lnSpc>
                <a:spcPct val="118000"/>
              </a:lnSpc>
              <a:spcBef>
                <a:spcPts val="0"/>
              </a:spcBef>
              <a:spcAft>
                <a:spcPts val="1300"/>
              </a:spcAft>
            </a:pPr>
            <a:r>
              <a:rPr sz="2100" b="0" i="0">
                <a:solidFill>
                  <a:srgbClr val="1A1A1A"/>
                </a:solidFill>
                <a:latin typeface="Arial"/>
              </a:rPr>
              <a:t>New highs minus new lows, up volume minus down volume, Market Vane reports, and the Bullish Sentiment Index.</a:t>
            </a:r>
          </a:p>
        </p:txBody>
      </p:sp>
      <p:sp>
        <p:nvSpPr>
          <p:cNvPr id="8" name="Rectangle 7"/>
          <p:cNvSpPr/>
          <p:nvPr/>
        </p:nvSpPr>
        <p:spPr>
          <a:xfrm>
            <a:off x="777240" y="4581905"/>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18481"/>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book gives these as examples and explains none of them here.</a:t>
            </a:r>
          </a:p>
        </p:txBody>
      </p:sp>
      <p:sp>
        <p:nvSpPr>
          <p:cNvPr id="10" name="TextBox 9"/>
          <p:cNvSpPr txBox="1"/>
          <p:nvPr/>
        </p:nvSpPr>
        <p:spPr>
          <a:xfrm>
            <a:off x="777240" y="5287263"/>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Chapter 23 is the detailed discussion. How any one of them is built is not examined from this chapter.</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the indicators read at a top and a bottom</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9 - 4.6 Sentiment  |  3 of 3</a:t>
            </a:r>
          </a:p>
        </p:txBody>
      </p:sp>
      <p:sp>
        <p:nvSpPr>
          <p:cNvPr id="7" name="TextBox 6"/>
          <p:cNvSpPr txBox="1"/>
          <p:nvPr/>
        </p:nvSpPr>
        <p:spPr>
          <a:xfrm>
            <a:off x="777240" y="1965960"/>
            <a:ext cx="530352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At distribution the put/call ratio and the VIX are low, but starting to increase.</a:t>
            </a:r>
          </a:p>
          <a:p>
            <a:pPr algn="l">
              <a:lnSpc>
                <a:spcPct val="105000"/>
              </a:lnSpc>
              <a:spcBef>
                <a:spcPts val="0"/>
              </a:spcBef>
              <a:spcAft>
                <a:spcPts val="1100"/>
              </a:spcAft>
            </a:pPr>
            <a:r>
              <a:rPr sz="1700" b="0" i="0">
                <a:solidFill>
                  <a:srgbClr val="1A1A1A"/>
                </a:solidFill>
                <a:latin typeface="Arial"/>
              </a:rPr>
              <a:t>A/D, margin debt, new highs minus new lows and the Bullish Percent Index are high, but starting to decrease.</a:t>
            </a:r>
          </a:p>
          <a:p>
            <a:pPr algn="l">
              <a:lnSpc>
                <a:spcPct val="105000"/>
              </a:lnSpc>
              <a:spcBef>
                <a:spcPts val="0"/>
              </a:spcBef>
              <a:spcAft>
                <a:spcPts val="1100"/>
              </a:spcAft>
            </a:pPr>
            <a:r>
              <a:rPr sz="1700" b="0" i="0">
                <a:solidFill>
                  <a:srgbClr val="1A1A1A"/>
                </a:solidFill>
                <a:latin typeface="Arial"/>
              </a:rPr>
              <a:t>At accumulation every one of those readings is reversed.</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501091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Each reading is at an extreme and has just started to turn.</a:t>
            </a:r>
          </a:p>
        </p:txBody>
      </p:sp>
      <p:sp>
        <p:nvSpPr>
          <p:cNvPr id="10" name="TextBox 9"/>
          <p:cNvSpPr txBox="1"/>
          <p:nvPr/>
        </p:nvSpPr>
        <p:spPr>
          <a:xfrm>
            <a:off x="777240" y="5461254"/>
            <a:ext cx="530352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figure says Bullish Percent Index, the list Bullish Sentiment Index. The book does not say if they are the same.</a:t>
            </a:r>
          </a:p>
        </p:txBody>
      </p:sp>
      <p:sp>
        <p:nvSpPr>
          <p:cNvPr id="11" name="Rectangle 10"/>
          <p:cNvSpPr/>
          <p:nvPr/>
        </p:nvSpPr>
        <p:spPr>
          <a:xfrm>
            <a:off x="6400799" y="1810512"/>
            <a:ext cx="501365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400799" y="1810512"/>
            <a:ext cx="501365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812279" y="2267712"/>
            <a:ext cx="419069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4.25</a:t>
            </a:r>
          </a:p>
          <a:p>
            <a:pPr algn="l">
              <a:lnSpc>
                <a:spcPct val="120000"/>
              </a:lnSpc>
              <a:spcBef>
                <a:spcPts val="0"/>
              </a:spcBef>
              <a:spcAft>
                <a:spcPts val="1400"/>
              </a:spcAft>
            </a:pPr>
            <a:r>
              <a:rPr sz="1800" b="0" i="0">
                <a:solidFill>
                  <a:srgbClr val="1A1A1A"/>
                </a:solidFill>
                <a:latin typeface="Palatino"/>
              </a:rPr>
              <a:t>A price curve from a distribution at the top to an accumulation at the bottom, with six sentiment readings listed beside each: put/call ratio, A/D, VIX, margin debt, new highs minus new lows and the Bullish Percent Index.</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400799" y="5650992"/>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4.25 - Lim, The Handbook of Technical Analysis (Wiley, 2016)</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9 OF 11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Sentiment</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Sentiment indicators are most accurate:</a:t>
            </a:r>
          </a:p>
        </p:txBody>
      </p:sp>
      <p:sp>
        <p:nvSpPr>
          <p:cNvPr id="9" name="TextBox 8"/>
          <p:cNvSpPr txBox="1"/>
          <p:nvPr/>
        </p:nvSpPr>
        <p:spPr>
          <a:xfrm>
            <a:off x="1051560"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In the middle of a trend phase</a:t>
            </a:r>
          </a:p>
          <a:p>
            <a:pPr algn="l">
              <a:lnSpc>
                <a:spcPct val="112000"/>
              </a:lnSpc>
              <a:spcBef>
                <a:spcPts val="0"/>
              </a:spcBef>
              <a:spcAft>
                <a:spcPts val="900"/>
              </a:spcAft>
            </a:pPr>
            <a:r>
              <a:rPr sz="1500" b="0" i="0">
                <a:solidFill>
                  <a:srgbClr val="FFFFFF"/>
                </a:solidFill>
                <a:latin typeface="Arial"/>
              </a:rPr>
              <a:t>B.  At market extremes</a:t>
            </a:r>
          </a:p>
          <a:p>
            <a:pPr algn="l">
              <a:lnSpc>
                <a:spcPct val="112000"/>
              </a:lnSpc>
              <a:spcBef>
                <a:spcPts val="0"/>
              </a:spcBef>
              <a:spcAft>
                <a:spcPts val="900"/>
              </a:spcAft>
            </a:pPr>
            <a:r>
              <a:rPr sz="1500" b="0" i="0">
                <a:solidFill>
                  <a:srgbClr val="FFFFFF"/>
                </a:solidFill>
                <a:latin typeface="Arial"/>
              </a:rPr>
              <a:t>C.  On sub-hourly charts</a:t>
            </a:r>
          </a:p>
          <a:p>
            <a:pPr algn="l">
              <a:lnSpc>
                <a:spcPct val="112000"/>
              </a:lnSpc>
              <a:spcBef>
                <a:spcPts val="0"/>
              </a:spcBef>
              <a:spcAft>
                <a:spcPts val="900"/>
              </a:spcAft>
            </a:pPr>
            <a:r>
              <a:rPr sz="1500" b="0" i="0">
                <a:solidFill>
                  <a:srgbClr val="FFFFFF"/>
                </a:solidFill>
                <a:latin typeface="Arial"/>
              </a:rPr>
              <a:t>D.  When volume is at its lowest</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33972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At a distribution, margin debt is:</a:t>
            </a:r>
          </a:p>
        </p:txBody>
      </p:sp>
      <p:sp>
        <p:nvSpPr>
          <p:cNvPr id="13" name="TextBox 12"/>
          <p:cNvSpPr txBox="1"/>
          <p:nvPr/>
        </p:nvSpPr>
        <p:spPr>
          <a:xfrm>
            <a:off x="6690207"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Low and starting to increase</a:t>
            </a:r>
          </a:p>
          <a:p>
            <a:pPr algn="l">
              <a:lnSpc>
                <a:spcPct val="112000"/>
              </a:lnSpc>
              <a:spcBef>
                <a:spcPts val="0"/>
              </a:spcBef>
              <a:spcAft>
                <a:spcPts val="900"/>
              </a:spcAft>
            </a:pPr>
            <a:r>
              <a:rPr sz="1500" b="0" i="0">
                <a:solidFill>
                  <a:srgbClr val="FFFFFF"/>
                </a:solidFill>
                <a:latin typeface="Arial"/>
              </a:rPr>
              <a:t>B.  Low and starting to decrease</a:t>
            </a:r>
          </a:p>
          <a:p>
            <a:pPr algn="l">
              <a:lnSpc>
                <a:spcPct val="112000"/>
              </a:lnSpc>
              <a:spcBef>
                <a:spcPts val="0"/>
              </a:spcBef>
              <a:spcAft>
                <a:spcPts val="900"/>
              </a:spcAft>
            </a:pPr>
            <a:r>
              <a:rPr sz="1500" b="0" i="0">
                <a:solidFill>
                  <a:srgbClr val="FFFFFF"/>
                </a:solidFill>
                <a:latin typeface="Arial"/>
              </a:rPr>
              <a:t>C.  High and starting to increase</a:t>
            </a:r>
          </a:p>
          <a:p>
            <a:pPr algn="l">
              <a:lnSpc>
                <a:spcPct val="112000"/>
              </a:lnSpc>
              <a:spcBef>
                <a:spcPts val="0"/>
              </a:spcBef>
              <a:spcAft>
                <a:spcPts val="900"/>
              </a:spcAft>
            </a:pPr>
            <a:r>
              <a:rPr sz="1500" b="0" i="0">
                <a:solidFill>
                  <a:srgbClr val="FFFFFF"/>
                </a:solidFill>
                <a:latin typeface="Arial"/>
              </a:rPr>
              <a:t>D.  High and starting to decrease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6 of 9 - 4.6 Sentiment  |  Check 9</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Sentiment</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Sentiment indicators are most accurate:</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At market extremes</a:t>
            </a:r>
          </a:p>
          <a:p>
            <a:pPr algn="l">
              <a:lnSpc>
                <a:spcPct val="115000"/>
              </a:lnSpc>
              <a:spcBef>
                <a:spcPts val="700"/>
              </a:spcBef>
              <a:spcAft>
                <a:spcPts val="0"/>
              </a:spcAft>
            </a:pPr>
            <a:r>
              <a:rPr sz="1600" b="0" i="0">
                <a:solidFill>
                  <a:srgbClr val="1A1A1A"/>
                </a:solidFill>
                <a:latin typeface="Arial"/>
              </a:rPr>
              <a:t>It is at market extremes that they best reflect the underlying mood of optimism or pessimism.</a:t>
            </a:r>
          </a:p>
        </p:txBody>
      </p:sp>
      <p:sp>
        <p:nvSpPr>
          <p:cNvPr id="10" name="Rectangle 9"/>
          <p:cNvSpPr/>
          <p:nvPr/>
        </p:nvSpPr>
        <p:spPr>
          <a:xfrm>
            <a:off x="777240" y="308203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At a distribution, margin debt is:</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High and starting to decrease</a:t>
            </a:r>
          </a:p>
          <a:p>
            <a:pPr algn="l">
              <a:lnSpc>
                <a:spcPct val="115000"/>
              </a:lnSpc>
              <a:spcBef>
                <a:spcPts val="700"/>
              </a:spcBef>
              <a:spcAft>
                <a:spcPts val="0"/>
              </a:spcAft>
            </a:pPr>
            <a:r>
              <a:rPr sz="1600" b="0" i="0">
                <a:solidFill>
                  <a:srgbClr val="1A1A1A"/>
                </a:solidFill>
                <a:latin typeface="Arial"/>
              </a:rPr>
              <a:t>At a top margin debt is high and starting to decrease. At a bottom it is low and starting to increase.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9 - 4.6 Sentiment  |  Check 9</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4.7  Sakata's Five Methods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7 of 9 - 4.7 Sakata  |  1 of 3</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48640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A Japanese way of reading the market that divides it into five phases, not Dow's three.</a:t>
            </a:r>
          </a:p>
        </p:txBody>
      </p:sp>
      <p:sp>
        <p:nvSpPr>
          <p:cNvPr id="10" name="Rectangle 9"/>
          <p:cNvSpPr/>
          <p:nvPr/>
        </p:nvSpPr>
        <p:spPr>
          <a:xfrm>
            <a:off x="777240" y="3233927"/>
            <a:ext cx="64008" cy="71932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48640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In the left panel: three bottoms, three thrusts with a correction after each, then three tops.</a:t>
            </a:r>
          </a:p>
        </p:txBody>
      </p:sp>
      <p:sp>
        <p:nvSpPr>
          <p:cNvPr id="12" name="Rectangle 11"/>
          <p:cNvSpPr/>
          <p:nvPr/>
        </p:nvSpPr>
        <p:spPr>
          <a:xfrm>
            <a:off x="777240" y="4209287"/>
            <a:ext cx="64008" cy="14965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163567"/>
            <a:ext cx="5486400" cy="1606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A unique Japanese approach for interpreting and understanding the markets, which originated with Munehisa Honma. The market is divided into five distinct phases, as opposed to the conventional three-phase model by Dow.</a:t>
            </a:r>
          </a:p>
        </p:txBody>
      </p:sp>
      <p:sp>
        <p:nvSpPr>
          <p:cNvPr id="14" name="Rectangle 13"/>
          <p:cNvSpPr/>
          <p:nvPr/>
        </p:nvSpPr>
        <p:spPr>
          <a:xfrm>
            <a:off x="6857999" y="2157984"/>
            <a:ext cx="455645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857999" y="2157984"/>
            <a:ext cx="455645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269479" y="2615184"/>
            <a:ext cx="373349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4.26</a:t>
            </a:r>
          </a:p>
          <a:p>
            <a:pPr algn="l">
              <a:lnSpc>
                <a:spcPct val="120000"/>
              </a:lnSpc>
              <a:spcBef>
                <a:spcPts val="0"/>
              </a:spcBef>
              <a:spcAft>
                <a:spcPts val="1400"/>
              </a:spcAft>
            </a:pPr>
            <a:r>
              <a:rPr sz="1800" b="0" i="0">
                <a:solidFill>
                  <a:srgbClr val="1A1A1A"/>
                </a:solidFill>
                <a:latin typeface="Palatino"/>
              </a:rPr>
              <a:t>Two panels side by side: Sakata's five market phases, with San Sen at the bottom, San Pei, San Poh and San Ku through the rise and San Zan at the top, beside Elliott's 5-3 wave structure.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857999" y="5650992"/>
            <a:ext cx="455645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4.26 - Lim, The Handbook of Technical Analysis (Wiley, 2016)</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five methods, by name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7 of 9 - 4.7 Sakata  |  2 of 3</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San Zan, three mountains: the Western triple top. The distribution phase.</a:t>
            </a:r>
          </a:p>
          <a:p>
            <a:pPr algn="l">
              <a:lnSpc>
                <a:spcPct val="105000"/>
              </a:lnSpc>
              <a:spcBef>
                <a:spcPts val="0"/>
              </a:spcBef>
              <a:spcAft>
                <a:spcPts val="1100"/>
              </a:spcAft>
            </a:pPr>
            <a:r>
              <a:rPr sz="1800" b="0" i="0">
                <a:solidFill>
                  <a:srgbClr val="1A1A1A"/>
                </a:solidFill>
                <a:latin typeface="Arial"/>
              </a:rPr>
              <a:t>San Sen, three rivers: the Western triple bottom. The accumulation phase.</a:t>
            </a:r>
          </a:p>
          <a:p>
            <a:pPr algn="l">
              <a:lnSpc>
                <a:spcPct val="105000"/>
              </a:lnSpc>
              <a:spcBef>
                <a:spcPts val="0"/>
              </a:spcBef>
              <a:spcAft>
                <a:spcPts val="1100"/>
              </a:spcAft>
            </a:pPr>
            <a:r>
              <a:rPr sz="1800" b="0" i="0">
                <a:solidFill>
                  <a:srgbClr val="1A1A1A"/>
                </a:solidFill>
                <a:latin typeface="Arial"/>
              </a:rPr>
              <a:t>San Ku, three gaps: the breakaway, runaway and exhaustion gaps of the trend.</a:t>
            </a:r>
          </a:p>
          <a:p>
            <a:pPr algn="l">
              <a:lnSpc>
                <a:spcPct val="105000"/>
              </a:lnSpc>
              <a:spcBef>
                <a:spcPts val="0"/>
              </a:spcBef>
              <a:spcAft>
                <a:spcPts val="1100"/>
              </a:spcAft>
            </a:pPr>
            <a:r>
              <a:rPr sz="1800" b="0" i="0">
                <a:solidFill>
                  <a:srgbClr val="1A1A1A"/>
                </a:solidFill>
                <a:latin typeface="Arial"/>
              </a:rPr>
              <a:t>San Pei, three thrusts: the three trending phases between the two.</a:t>
            </a:r>
          </a:p>
          <a:p>
            <a:pPr algn="l">
              <a:lnSpc>
                <a:spcPct val="105000"/>
              </a:lnSpc>
              <a:spcBef>
                <a:spcPts val="0"/>
              </a:spcBef>
              <a:spcAft>
                <a:spcPts val="1100"/>
              </a:spcAft>
            </a:pPr>
            <a:r>
              <a:rPr sz="1800" b="0" i="0">
                <a:solidFill>
                  <a:srgbClr val="1A1A1A"/>
                </a:solidFill>
                <a:latin typeface="Arial"/>
              </a:rPr>
              <a:t>San Poh, three methods: the three corrections, one after each thrust.</a:t>
            </a:r>
          </a:p>
        </p:txBody>
      </p:sp>
      <p:sp>
        <p:nvSpPr>
          <p:cNvPr id="8" name="Rectangle 7"/>
          <p:cNvSpPr/>
          <p:nvPr/>
        </p:nvSpPr>
        <p:spPr>
          <a:xfrm>
            <a:off x="6036411" y="1810512"/>
            <a:ext cx="5376672" cy="3749039"/>
          </a:xfrm>
          <a:prstGeom prst="rect">
            <a:avLst/>
          </a:prstGeom>
          <a:solidFill>
            <a:srgbClr val="FFFFFF"/>
          </a:solidFill>
          <a:ln w="12700">
            <a:solidFill>
              <a:srgbClr val="D7E0D9"/>
            </a:solidFill>
          </a:ln>
          <a:effectLst/>
        </p:spPr>
        <p:txBody>
          <a:bodyPr rtlCol="0" anchor="ctr"/>
          <a:lstStyle/>
          <a:p>
            <a:pPr algn="ctr"/>
          </a:p>
        </p:txBody>
      </p:sp>
      <p:pic>
        <p:nvPicPr>
          <p:cNvPr id="9" name="Picture 8" descr="chart-r.png"/>
          <p:cNvPicPr>
            <a:picLocks noChangeAspect="1"/>
          </p:cNvPicPr>
          <p:nvPr/>
        </p:nvPicPr>
        <p:blipFill>
          <a:blip r:embed="rId2"/>
          <a:stretch>
            <a:fillRect/>
          </a:stretch>
        </p:blipFill>
        <p:spPr>
          <a:xfrm>
            <a:off x="6155283" y="1929384"/>
            <a:ext cx="5138928" cy="3511296"/>
          </a:xfrm>
          <a:prstGeom prst="rect">
            <a:avLst/>
          </a:prstGeom>
        </p:spPr>
      </p:pic>
      <p:sp>
        <p:nvSpPr>
          <p:cNvPr id="10" name="TextBox 9"/>
          <p:cNvSpPr txBox="1"/>
          <p:nvPr/>
        </p:nvSpPr>
        <p:spPr>
          <a:xfrm>
            <a:off x="6035040" y="5650991"/>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R - FIN1209 teaching chart, drawn for this course. Illustrative data, not a real instrument.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Five phases inside three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7 of 9 - 4.7 Sakata  |  3 of 3</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Dow's three phases may seem inconsistent with Sakata's five, and with Elliott's waves.</a:t>
            </a:r>
          </a:p>
          <a:p>
            <a:pPr algn="l">
              <a:lnSpc>
                <a:spcPct val="105000"/>
              </a:lnSpc>
              <a:spcBef>
                <a:spcPts val="0"/>
              </a:spcBef>
              <a:spcAft>
                <a:spcPts val="1100"/>
              </a:spcAft>
            </a:pPr>
            <a:r>
              <a:rPr sz="1800" b="0" i="0">
                <a:solidFill>
                  <a:srgbClr val="1A1A1A"/>
                </a:solidFill>
                <a:latin typeface="Arial"/>
              </a:rPr>
              <a:t>Simple chart patterns show the models need not be viewed as distinct.</a:t>
            </a:r>
          </a:p>
          <a:p>
            <a:pPr algn="l">
              <a:lnSpc>
                <a:spcPct val="105000"/>
              </a:lnSpc>
              <a:spcBef>
                <a:spcPts val="0"/>
              </a:spcBef>
              <a:spcAft>
                <a:spcPts val="1100"/>
              </a:spcAft>
            </a:pPr>
            <a:r>
              <a:rPr sz="1800" b="0" i="0">
                <a:solidFill>
                  <a:srgbClr val="1A1A1A"/>
                </a:solidFill>
                <a:latin typeface="Arial"/>
              </a:rPr>
              <a:t>A triple bottom, thrusts with bullish flags and gaps between them, then a triple top.</a:t>
            </a:r>
          </a:p>
        </p:txBody>
      </p:sp>
      <p:sp>
        <p:nvSpPr>
          <p:cNvPr id="8" name="Rectangle 7"/>
          <p:cNvSpPr/>
          <p:nvPr/>
        </p:nvSpPr>
        <p:spPr>
          <a:xfrm>
            <a:off x="777240" y="4677156"/>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13732"/>
            <a:ext cx="464515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A plausible resolution between Eastern and Western approaches.</a:t>
            </a:r>
          </a:p>
        </p:txBody>
      </p:sp>
      <p:sp>
        <p:nvSpPr>
          <p:cNvPr id="10" name="Rectangle 9"/>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4.27</a:t>
            </a:r>
          </a:p>
          <a:p>
            <a:pPr algn="l">
              <a:lnSpc>
                <a:spcPct val="120000"/>
              </a:lnSpc>
              <a:spcBef>
                <a:spcPts val="0"/>
              </a:spcBef>
              <a:spcAft>
                <a:spcPts val="1400"/>
              </a:spcAft>
            </a:pPr>
            <a:r>
              <a:rPr sz="1800" b="0" i="0">
                <a:solidFill>
                  <a:srgbClr val="1A1A1A"/>
                </a:solidFill>
                <a:latin typeface="Palatino"/>
              </a:rPr>
              <a:t>Dow's three-phase market drawn with Sakata's pieces: a triple bottom as the accumulation phase, a rising channel of thrusts, bullish flags and the breakaway, runaway and exhaustion gaps as the trend phase, and a triple top as the distribution phase.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4.27 - Lim, The Handbook of Technical Analysis (Wiley, 2016)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10 OF 11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Sakata's five methods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San Zan, three mountains, is equivalent to the Western:</a:t>
            </a:r>
          </a:p>
        </p:txBody>
      </p:sp>
      <p:sp>
        <p:nvSpPr>
          <p:cNvPr id="9" name="TextBox 8"/>
          <p:cNvSpPr txBox="1"/>
          <p:nvPr/>
        </p:nvSpPr>
        <p:spPr>
          <a:xfrm>
            <a:off x="1051560"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Triple bottom, the accumulation phase</a:t>
            </a:r>
          </a:p>
          <a:p>
            <a:pPr algn="l">
              <a:lnSpc>
                <a:spcPct val="112000"/>
              </a:lnSpc>
              <a:spcBef>
                <a:spcPts val="0"/>
              </a:spcBef>
              <a:spcAft>
                <a:spcPts val="900"/>
              </a:spcAft>
            </a:pPr>
            <a:r>
              <a:rPr sz="1500" b="0" i="0">
                <a:solidFill>
                  <a:srgbClr val="FFFFFF"/>
                </a:solidFill>
                <a:latin typeface="Arial"/>
              </a:rPr>
              <a:t>B.  Triple gap, in the trending phase</a:t>
            </a:r>
          </a:p>
          <a:p>
            <a:pPr algn="l">
              <a:lnSpc>
                <a:spcPct val="112000"/>
              </a:lnSpc>
              <a:spcBef>
                <a:spcPts val="0"/>
              </a:spcBef>
              <a:spcAft>
                <a:spcPts val="900"/>
              </a:spcAft>
            </a:pPr>
            <a:r>
              <a:rPr sz="1500" b="0" i="0">
                <a:solidFill>
                  <a:srgbClr val="FFFFFF"/>
                </a:solidFill>
                <a:latin typeface="Arial"/>
              </a:rPr>
              <a:t>C.  Triple top, the distribution phase</a:t>
            </a:r>
          </a:p>
          <a:p>
            <a:pPr algn="l">
              <a:lnSpc>
                <a:spcPct val="112000"/>
              </a:lnSpc>
              <a:spcBef>
                <a:spcPts val="0"/>
              </a:spcBef>
              <a:spcAft>
                <a:spcPts val="900"/>
              </a:spcAft>
            </a:pPr>
            <a:r>
              <a:rPr sz="1500" b="0" i="0">
                <a:solidFill>
                  <a:srgbClr val="FFFFFF"/>
                </a:solidFill>
                <a:latin typeface="Arial"/>
              </a:rPr>
              <a:t>D.  Three corrections, one after each thrust</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33972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San Poh, three methods, represents:</a:t>
            </a:r>
          </a:p>
        </p:txBody>
      </p:sp>
      <p:sp>
        <p:nvSpPr>
          <p:cNvPr id="13" name="TextBox 12"/>
          <p:cNvSpPr txBox="1"/>
          <p:nvPr/>
        </p:nvSpPr>
        <p:spPr>
          <a:xfrm>
            <a:off x="6690207"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three corrections, one after each thrust</a:t>
            </a:r>
          </a:p>
          <a:p>
            <a:pPr algn="l">
              <a:lnSpc>
                <a:spcPct val="112000"/>
              </a:lnSpc>
              <a:spcBef>
                <a:spcPts val="0"/>
              </a:spcBef>
              <a:spcAft>
                <a:spcPts val="900"/>
              </a:spcAft>
            </a:pPr>
            <a:r>
              <a:rPr sz="1500" b="0" i="0">
                <a:solidFill>
                  <a:srgbClr val="FFFFFF"/>
                </a:solidFill>
                <a:latin typeface="Arial"/>
              </a:rPr>
              <a:t>B.  The three gaps of the trending phase</a:t>
            </a:r>
          </a:p>
          <a:p>
            <a:pPr algn="l">
              <a:lnSpc>
                <a:spcPct val="112000"/>
              </a:lnSpc>
              <a:spcBef>
                <a:spcPts val="0"/>
              </a:spcBef>
              <a:spcAft>
                <a:spcPts val="900"/>
              </a:spcAft>
            </a:pPr>
            <a:r>
              <a:rPr sz="1500" b="0" i="0">
                <a:solidFill>
                  <a:srgbClr val="FFFFFF"/>
                </a:solidFill>
                <a:latin typeface="Arial"/>
              </a:rPr>
              <a:t>C.  The triple bottom</a:t>
            </a:r>
          </a:p>
          <a:p>
            <a:pPr algn="l">
              <a:lnSpc>
                <a:spcPct val="112000"/>
              </a:lnSpc>
              <a:spcBef>
                <a:spcPts val="0"/>
              </a:spcBef>
              <a:spcAft>
                <a:spcPts val="900"/>
              </a:spcAft>
            </a:pPr>
            <a:r>
              <a:rPr sz="1500" b="0" i="0">
                <a:solidFill>
                  <a:srgbClr val="FFFFFF"/>
                </a:solidFill>
                <a:latin typeface="Arial"/>
              </a:rPr>
              <a:t>D.  The three trending phases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7 of 9 - 4.7 Sakata  |  Check 10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Sakata's five methods</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San Zan, three mountains, is equivalent to the Western:</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Triple top, the distribution phase</a:t>
            </a:r>
          </a:p>
          <a:p>
            <a:pPr algn="l">
              <a:lnSpc>
                <a:spcPct val="115000"/>
              </a:lnSpc>
              <a:spcBef>
                <a:spcPts val="700"/>
              </a:spcBef>
              <a:spcAft>
                <a:spcPts val="0"/>
              </a:spcAft>
            </a:pPr>
            <a:r>
              <a:rPr sz="1600" b="0" i="0">
                <a:solidFill>
                  <a:srgbClr val="1A1A1A"/>
                </a:solidFill>
                <a:latin typeface="Arial"/>
              </a:rPr>
              <a:t>San Zan is the triple top and represents distribution. San Sen, three rivers, is the triple bottom.</a:t>
            </a:r>
          </a:p>
        </p:txBody>
      </p:sp>
      <p:sp>
        <p:nvSpPr>
          <p:cNvPr id="10" name="Rectangle 9"/>
          <p:cNvSpPr/>
          <p:nvPr/>
        </p:nvSpPr>
        <p:spPr>
          <a:xfrm>
            <a:off x="777240" y="331571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San Poh, three methods, represents:</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The three corrections, one after each thrust</a:t>
            </a:r>
          </a:p>
          <a:p>
            <a:pPr algn="l">
              <a:lnSpc>
                <a:spcPct val="115000"/>
              </a:lnSpc>
              <a:spcBef>
                <a:spcPts val="700"/>
              </a:spcBef>
              <a:spcAft>
                <a:spcPts val="0"/>
              </a:spcAft>
            </a:pPr>
            <a:r>
              <a:rPr sz="1600" b="0" i="0">
                <a:solidFill>
                  <a:srgbClr val="1A1A1A"/>
                </a:solidFill>
                <a:latin typeface="Arial"/>
              </a:rPr>
              <a:t>San Poh is the three corrections. The thrusts themselves are San Pei.</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7 of 9 - 4.7 Sakata  |  Check 10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4.8  Elliott: five waves up, three waves down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8 of 9 - 4.8 Elliott  |  1 of 2</a:t>
            </a:r>
          </a:p>
        </p:txBody>
      </p:sp>
      <p:sp>
        <p:nvSpPr>
          <p:cNvPr id="7" name="TextBox 6"/>
          <p:cNvSpPr txBox="1"/>
          <p:nvPr/>
        </p:nvSpPr>
        <p:spPr>
          <a:xfrm>
            <a:off x="777240" y="1965960"/>
            <a:ext cx="530352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Elliott described markets as an impulsive five-wave up, then a corrective three-wave down.</a:t>
            </a:r>
          </a:p>
          <a:p>
            <a:pPr algn="l">
              <a:lnSpc>
                <a:spcPct val="105000"/>
              </a:lnSpc>
              <a:spcBef>
                <a:spcPts val="0"/>
              </a:spcBef>
              <a:spcAft>
                <a:spcPts val="1100"/>
              </a:spcAft>
            </a:pPr>
            <a:r>
              <a:rPr sz="1700" b="0" i="0">
                <a:solidFill>
                  <a:srgbClr val="1A1A1A"/>
                </a:solidFill>
                <a:latin typeface="Arial"/>
              </a:rPr>
              <a:t>The trending phase is impulse waves 1, 3 and 5.</a:t>
            </a:r>
          </a:p>
          <a:p>
            <a:pPr algn="l">
              <a:lnSpc>
                <a:spcPct val="105000"/>
              </a:lnSpc>
              <a:spcBef>
                <a:spcPts val="0"/>
              </a:spcBef>
              <a:spcAft>
                <a:spcPts val="1100"/>
              </a:spcAft>
            </a:pPr>
            <a:r>
              <a:rPr sz="1700" b="0" i="0">
                <a:solidFill>
                  <a:srgbClr val="1A1A1A"/>
                </a:solidFill>
                <a:latin typeface="Arial"/>
              </a:rPr>
              <a:t>The accumulation phase is corrective waves 2 and 4. Distribution is usually the abc correction.</a:t>
            </a:r>
          </a:p>
        </p:txBody>
      </p:sp>
      <p:sp>
        <p:nvSpPr>
          <p:cNvPr id="8" name="Rectangle 7"/>
          <p:cNvSpPr/>
          <p:nvPr/>
        </p:nvSpPr>
        <p:spPr>
          <a:xfrm>
            <a:off x="777240" y="4021074"/>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057650"/>
            <a:ext cx="501091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Sakata's San Pei closely resembles waves 1, 3 and 5. San Poh somewhat resembles waves a, b and c.</a:t>
            </a:r>
          </a:p>
        </p:txBody>
      </p:sp>
      <p:sp>
        <p:nvSpPr>
          <p:cNvPr id="10" name="TextBox 9"/>
          <p:cNvSpPr txBox="1"/>
          <p:nvPr/>
        </p:nvSpPr>
        <p:spPr>
          <a:xfrm>
            <a:off x="777240" y="5191506"/>
            <a:ext cx="530352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book also places the abc correction under accumulation, 'in most cases'. Elliott's waves have specific rules; Sakata's model is less rigid.</a:t>
            </a:r>
          </a:p>
        </p:txBody>
      </p:sp>
      <p:sp>
        <p:nvSpPr>
          <p:cNvPr id="11" name="Rectangle 10"/>
          <p:cNvSpPr/>
          <p:nvPr/>
        </p:nvSpPr>
        <p:spPr>
          <a:xfrm>
            <a:off x="6400799" y="1810512"/>
            <a:ext cx="501365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400799" y="1810512"/>
            <a:ext cx="501365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812279" y="2267712"/>
            <a:ext cx="419069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4.28</a:t>
            </a:r>
          </a:p>
          <a:p>
            <a:pPr algn="l">
              <a:lnSpc>
                <a:spcPct val="120000"/>
              </a:lnSpc>
              <a:spcBef>
                <a:spcPts val="0"/>
              </a:spcBef>
              <a:spcAft>
                <a:spcPts val="1400"/>
              </a:spcAft>
            </a:pPr>
            <a:r>
              <a:rPr sz="1800" b="0" i="0">
                <a:solidFill>
                  <a:srgbClr val="1A1A1A"/>
                </a:solidFill>
                <a:latin typeface="Palatino"/>
              </a:rPr>
              <a:t>Elliott's wave structure: five numbered motive waves rising, with waves 1, 3 and 5 marked impulsive, then three lettered corrective waves a, b and c falling. Eight waves of one degree.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400799" y="5650992"/>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4.28 - Lim, The Handbook of Technical Analysis (Wiley, 2016)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Elliott's waves on the gold chart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8 of 9 - 4.8 Elliott  |  2 of 2</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Primary waves 1 and 2 sit in the accumulation, the powerful wave 3 in the trend.</a:t>
            </a:r>
          </a:p>
          <a:p>
            <a:pPr algn="l">
              <a:lnSpc>
                <a:spcPct val="105000"/>
              </a:lnSpc>
              <a:spcBef>
                <a:spcPts val="0"/>
              </a:spcBef>
              <a:spcAft>
                <a:spcPts val="1100"/>
              </a:spcAft>
            </a:pPr>
            <a:r>
              <a:rPr sz="1700" b="0" i="0">
                <a:solidFill>
                  <a:srgbClr val="1A1A1A"/>
                </a:solidFill>
                <a:latin typeface="Arial"/>
              </a:rPr>
              <a:t>Volume gradually decreases over each significant consolidation.</a:t>
            </a:r>
          </a:p>
          <a:p>
            <a:pPr algn="l">
              <a:lnSpc>
                <a:spcPct val="105000"/>
              </a:lnSpc>
              <a:spcBef>
                <a:spcPts val="0"/>
              </a:spcBef>
              <a:spcAft>
                <a:spcPts val="1100"/>
              </a:spcAft>
            </a:pPr>
            <a:r>
              <a:rPr sz="1700" b="0" i="0">
                <a:solidFill>
                  <a:srgbClr val="1A1A1A"/>
                </a:solidFill>
                <a:latin typeface="Arial"/>
              </a:rPr>
              <a:t>Volume peaks around the top of wave 5, within a new area of consolidation.</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46227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Fibonacci price and time projections help gauge where each wave ends.</a:t>
            </a:r>
          </a:p>
        </p:txBody>
      </p:sp>
      <p:sp>
        <p:nvSpPr>
          <p:cNvPr id="10" name="TextBox 9"/>
          <p:cNvSpPr txBox="1"/>
          <p:nvPr/>
        </p:nvSpPr>
        <p:spPr>
          <a:xfrm>
            <a:off x="777240" y="5461254"/>
            <a:ext cx="47548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Fibonacci projection is not taught here. Elliott waves: Chapter 18.</a:t>
            </a:r>
          </a:p>
        </p:txBody>
      </p:sp>
      <p:sp>
        <p:nvSpPr>
          <p:cNvPr id="11" name="Rectangle 10"/>
          <p:cNvSpPr/>
          <p:nvPr/>
        </p:nvSpPr>
        <p:spPr>
          <a:xfrm>
            <a:off x="5852159" y="1810512"/>
            <a:ext cx="556229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5852159" y="1810512"/>
            <a:ext cx="556229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263640" y="2267712"/>
            <a:ext cx="47393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4.29</a:t>
            </a:r>
          </a:p>
          <a:p>
            <a:pPr algn="l">
              <a:lnSpc>
                <a:spcPct val="120000"/>
              </a:lnSpc>
              <a:spcBef>
                <a:spcPts val="0"/>
              </a:spcBef>
              <a:spcAft>
                <a:spcPts val="1400"/>
              </a:spcAft>
            </a:pPr>
            <a:r>
              <a:rPr sz="1800" b="0" i="0">
                <a:solidFill>
                  <a:srgbClr val="1A1A1A"/>
                </a:solidFill>
                <a:latin typeface="Palatino"/>
              </a:rPr>
              <a:t>The weekly gold chart from 2000 to 2012 with an Elliott wave count on log scaling: an accumulation phase, two trend phases with a consolidation between them, a potential distribution phase at the top, and volume marked falling across three consolidations.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5852159" y="5650992"/>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4.29 - Lim, The Handbook of Technical Analysis (Wiley, 2016)</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4.9  Where in the cycle decides what the pattern is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9 of 9 - 4.9 Cycles  |  1 of 3</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Whether a formation reverses or continues depends on where in the cycle it unfolds.</a:t>
            </a:r>
          </a:p>
          <a:p>
            <a:pPr algn="l">
              <a:lnSpc>
                <a:spcPct val="105000"/>
              </a:lnSpc>
              <a:spcBef>
                <a:spcPts val="0"/>
              </a:spcBef>
              <a:spcAft>
                <a:spcPts val="1100"/>
              </a:spcAft>
            </a:pPr>
            <a:r>
              <a:rPr sz="1700" b="0" i="0">
                <a:solidFill>
                  <a:srgbClr val="1A1A1A"/>
                </a:solidFill>
                <a:latin typeface="Arial"/>
              </a:rPr>
              <a:t>Between cycle extremes, formations tend to be continuations.</a:t>
            </a:r>
          </a:p>
          <a:p>
            <a:pPr algn="l">
              <a:lnSpc>
                <a:spcPct val="105000"/>
              </a:lnSpc>
              <a:spcBef>
                <a:spcPts val="0"/>
              </a:spcBef>
              <a:spcAft>
                <a:spcPts val="1100"/>
              </a:spcAft>
            </a:pPr>
            <a:r>
              <a:rPr sz="1700" b="0" i="0">
                <a:solidFill>
                  <a:srgbClr val="1A1A1A"/>
                </a:solidFill>
                <a:latin typeface="Arial"/>
              </a:rPr>
              <a:t>At cycle peaks they tend to be distributions. At cycle troughs, accumulations.</a:t>
            </a:r>
          </a:p>
        </p:txBody>
      </p:sp>
      <p:sp>
        <p:nvSpPr>
          <p:cNvPr id="8" name="Rectangle 7"/>
          <p:cNvSpPr/>
          <p:nvPr/>
        </p:nvSpPr>
        <p:spPr>
          <a:xfrm>
            <a:off x="777240" y="4293108"/>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29684"/>
            <a:ext cx="482803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If the intrinsic and extrinsic biases agree as well, it is potentially more reliable.</a:t>
            </a:r>
          </a:p>
        </p:txBody>
      </p:sp>
      <p:sp>
        <p:nvSpPr>
          <p:cNvPr id="10" name="TextBox 9"/>
          <p:cNvSpPr txBox="1"/>
          <p:nvPr/>
        </p:nvSpPr>
        <p:spPr>
          <a:xfrm>
            <a:off x="777240" y="5463540"/>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For formations on the same cycle degree. Finding the cycle period is Chapter 20.</a:t>
            </a:r>
          </a:p>
        </p:txBody>
      </p:sp>
      <p:sp>
        <p:nvSpPr>
          <p:cNvPr id="11" name="Rectangle 10"/>
          <p:cNvSpPr/>
          <p:nvPr/>
        </p:nvSpPr>
        <p:spPr>
          <a:xfrm>
            <a:off x="6217919" y="1810512"/>
            <a:ext cx="519653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217919" y="1810512"/>
            <a:ext cx="519653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629399" y="2267712"/>
            <a:ext cx="4373575"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4.30</a:t>
            </a:r>
          </a:p>
          <a:p>
            <a:pPr algn="l">
              <a:lnSpc>
                <a:spcPct val="120000"/>
              </a:lnSpc>
              <a:spcBef>
                <a:spcPts val="0"/>
              </a:spcBef>
              <a:spcAft>
                <a:spcPts val="1400"/>
              </a:spcAft>
            </a:pPr>
            <a:r>
              <a:rPr sz="1800" b="0" i="0">
                <a:solidFill>
                  <a:srgbClr val="1A1A1A"/>
                </a:solidFill>
                <a:latin typeface="Palatino"/>
              </a:rPr>
              <a:t>A price cycle with four formations boxed on it: a reversal as accumulation at each cycle trough, a continuation between the extremes, and a reversal as distribution at the cycle peak.</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217919" y="565099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4.30 - Lim, The Handbook of Technical Analysis (Wiley, 2016)</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One triangle, three roles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9 of 9 - 4.9 Cycles  |  2 of 3</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The intrinsically neutral symmetrical triangle takes three distinct roles.</a:t>
            </a:r>
          </a:p>
          <a:p>
            <a:pPr algn="l">
              <a:lnSpc>
                <a:spcPct val="105000"/>
              </a:lnSpc>
              <a:spcBef>
                <a:spcPts val="0"/>
              </a:spcBef>
              <a:spcAft>
                <a:spcPts val="1100"/>
              </a:spcAft>
            </a:pPr>
            <a:r>
              <a:rPr sz="1800" b="0" i="0">
                <a:solidFill>
                  <a:srgbClr val="1A1A1A"/>
                </a:solidFill>
                <a:latin typeface="Arial"/>
              </a:rPr>
              <a:t>Accumulation at the bottom of the cycle, continuation between the top and the bottom, distribution at the top.</a:t>
            </a:r>
          </a:p>
          <a:p>
            <a:pPr algn="l">
              <a:lnSpc>
                <a:spcPct val="105000"/>
              </a:lnSpc>
              <a:spcBef>
                <a:spcPts val="0"/>
              </a:spcBef>
              <a:spcAft>
                <a:spcPts val="1100"/>
              </a:spcAft>
            </a:pPr>
            <a:r>
              <a:rPr sz="1800" b="0" i="0">
                <a:solidFill>
                  <a:srgbClr val="1A1A1A"/>
                </a:solidFill>
                <a:latin typeface="Arial"/>
              </a:rPr>
              <a:t>It adopts a bullish extrinsic bias at cycle troughs, and a bearish one at cycle peaks.</a:t>
            </a:r>
          </a:p>
        </p:txBody>
      </p:sp>
      <p:sp>
        <p:nvSpPr>
          <p:cNvPr id="8" name="Rectangle 7"/>
          <p:cNvSpPr/>
          <p:nvPr/>
        </p:nvSpPr>
        <p:spPr>
          <a:xfrm>
            <a:off x="777240" y="4677156"/>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13732"/>
            <a:ext cx="464515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Between the extremes it adopts the preexisting trend sentiment.</a:t>
            </a:r>
          </a:p>
        </p:txBody>
      </p:sp>
      <p:sp>
        <p:nvSpPr>
          <p:cNvPr id="10" name="Rectangle 9"/>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4.31</a:t>
            </a:r>
          </a:p>
          <a:p>
            <a:pPr algn="l">
              <a:lnSpc>
                <a:spcPct val="120000"/>
              </a:lnSpc>
              <a:spcBef>
                <a:spcPts val="0"/>
              </a:spcBef>
              <a:spcAft>
                <a:spcPts val="1400"/>
              </a:spcAft>
            </a:pPr>
            <a:r>
              <a:rPr sz="1800" b="0" i="0">
                <a:solidFill>
                  <a:srgbClr val="1A1A1A"/>
                </a:solidFill>
                <a:latin typeface="Palatino"/>
              </a:rPr>
              <a:t>A price cycle with the same symmetrical triangle drawn at four places: as accumulation at each cycle trough, as continuation between the extremes, and as distribution at the cycle peak.</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4.31 - Lim, The Handbook of Technical Analysis (Wiley, 2016)</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same in a price channel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9 of 9 - 4.9 Cycles  |  3 of 3</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In a rising channel the triangle is accumulation at the bottom, continuation in the middle, distribution at the top.</a:t>
            </a:r>
          </a:p>
          <a:p>
            <a:pPr algn="l">
              <a:lnSpc>
                <a:spcPct val="105000"/>
              </a:lnSpc>
              <a:spcBef>
                <a:spcPts val="0"/>
              </a:spcBef>
              <a:spcAft>
                <a:spcPts val="1100"/>
              </a:spcAft>
            </a:pPr>
            <a:r>
              <a:rPr sz="1700" b="0" i="0">
                <a:solidFill>
                  <a:srgbClr val="1A1A1A"/>
                </a:solidFill>
                <a:latin typeface="Arial"/>
              </a:rPr>
              <a:t>Had the pattern been an inverted head and shoulders, a reversal at the bottom or a continuation in the middle would be more probable.</a:t>
            </a:r>
          </a:p>
        </p:txBody>
      </p:sp>
      <p:sp>
        <p:nvSpPr>
          <p:cNvPr id="8" name="Rectangle 7"/>
          <p:cNvSpPr/>
          <p:nvPr/>
        </p:nvSpPr>
        <p:spPr>
          <a:xfrm>
            <a:off x="777240" y="4400550"/>
            <a:ext cx="82296" cy="12435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7126"/>
            <a:ext cx="4645152" cy="124358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Confluences with other overlay barriers, such as Fibonacci levels, give more reliable forecasts of where price may react.</a:t>
            </a:r>
          </a:p>
        </p:txBody>
      </p:sp>
      <p:sp>
        <p:nvSpPr>
          <p:cNvPr id="10" name="Rectangle 9"/>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4.32</a:t>
            </a:r>
          </a:p>
          <a:p>
            <a:pPr algn="l">
              <a:lnSpc>
                <a:spcPct val="120000"/>
              </a:lnSpc>
              <a:spcBef>
                <a:spcPts val="0"/>
              </a:spcBef>
              <a:spcAft>
                <a:spcPts val="1400"/>
              </a:spcAft>
            </a:pPr>
            <a:r>
              <a:rPr sz="1800" b="0" i="0">
                <a:solidFill>
                  <a:srgbClr val="1A1A1A"/>
                </a:solidFill>
                <a:latin typeface="Palatino"/>
              </a:rPr>
              <a:t>An uptrending price channel with the symmetrical triangle drawn as accumulation at the bottom of the channel, as continuation in the middle, and as distribution at the top, headed look for supportive and resistive confluences.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4.32 - Lim, The Handbook of Technical Analysis (Wiley, 2016)</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11 OF 11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Elliott and cycles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In Elliott's description, the trending phase is represented by:</a:t>
            </a:r>
          </a:p>
        </p:txBody>
      </p:sp>
      <p:sp>
        <p:nvSpPr>
          <p:cNvPr id="9" name="TextBox 8"/>
          <p:cNvSpPr txBox="1"/>
          <p:nvPr/>
        </p:nvSpPr>
        <p:spPr>
          <a:xfrm>
            <a:off x="1051560"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Corrective waves 2 and 4</a:t>
            </a:r>
          </a:p>
          <a:p>
            <a:pPr algn="l">
              <a:lnSpc>
                <a:spcPct val="112000"/>
              </a:lnSpc>
              <a:spcBef>
                <a:spcPts val="0"/>
              </a:spcBef>
              <a:spcAft>
                <a:spcPts val="900"/>
              </a:spcAft>
            </a:pPr>
            <a:r>
              <a:rPr sz="1500" b="0" i="0">
                <a:solidFill>
                  <a:srgbClr val="FFFFFF"/>
                </a:solidFill>
                <a:latin typeface="Arial"/>
              </a:rPr>
              <a:t>B.  Impulse waves 1, 3 and 5</a:t>
            </a:r>
          </a:p>
          <a:p>
            <a:pPr algn="l">
              <a:lnSpc>
                <a:spcPct val="112000"/>
              </a:lnSpc>
              <a:spcBef>
                <a:spcPts val="0"/>
              </a:spcBef>
              <a:spcAft>
                <a:spcPts val="900"/>
              </a:spcAft>
            </a:pPr>
            <a:r>
              <a:rPr sz="1500" b="0" i="0">
                <a:solidFill>
                  <a:srgbClr val="FFFFFF"/>
                </a:solidFill>
                <a:latin typeface="Arial"/>
              </a:rPr>
              <a:t>C.  Waves a, b and c</a:t>
            </a:r>
          </a:p>
          <a:p>
            <a:pPr algn="l">
              <a:lnSpc>
                <a:spcPct val="112000"/>
              </a:lnSpc>
              <a:spcBef>
                <a:spcPts val="0"/>
              </a:spcBef>
              <a:spcAft>
                <a:spcPts val="900"/>
              </a:spcAft>
            </a:pPr>
            <a:r>
              <a:rPr sz="1500" b="0" i="0">
                <a:solidFill>
                  <a:srgbClr val="FFFFFF"/>
                </a:solidFill>
                <a:latin typeface="Arial"/>
              </a:rPr>
              <a:t>D.  All eight waves</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formation that unfolds at a cycle trough tends to be:</a:t>
            </a:r>
          </a:p>
        </p:txBody>
      </p:sp>
      <p:sp>
        <p:nvSpPr>
          <p:cNvPr id="13" name="TextBox 12"/>
          <p:cNvSpPr txBox="1"/>
          <p:nvPr/>
        </p:nvSpPr>
        <p:spPr>
          <a:xfrm>
            <a:off x="6690207"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continuation</a:t>
            </a:r>
          </a:p>
          <a:p>
            <a:pPr algn="l">
              <a:lnSpc>
                <a:spcPct val="112000"/>
              </a:lnSpc>
              <a:spcBef>
                <a:spcPts val="0"/>
              </a:spcBef>
              <a:spcAft>
                <a:spcPts val="900"/>
              </a:spcAft>
            </a:pPr>
            <a:r>
              <a:rPr sz="1500" b="0" i="0">
                <a:solidFill>
                  <a:srgbClr val="FFFFFF"/>
                </a:solidFill>
                <a:latin typeface="Arial"/>
              </a:rPr>
              <a:t>B.  A distribution</a:t>
            </a:r>
          </a:p>
          <a:p>
            <a:pPr algn="l">
              <a:lnSpc>
                <a:spcPct val="112000"/>
              </a:lnSpc>
              <a:spcBef>
                <a:spcPts val="0"/>
              </a:spcBef>
              <a:spcAft>
                <a:spcPts val="900"/>
              </a:spcAft>
            </a:pPr>
            <a:r>
              <a:rPr sz="1500" b="0" i="0">
                <a:solidFill>
                  <a:srgbClr val="FFFFFF"/>
                </a:solidFill>
                <a:latin typeface="Arial"/>
              </a:rPr>
              <a:t>C.  A V top</a:t>
            </a:r>
          </a:p>
          <a:p>
            <a:pPr algn="l">
              <a:lnSpc>
                <a:spcPct val="112000"/>
              </a:lnSpc>
              <a:spcBef>
                <a:spcPts val="0"/>
              </a:spcBef>
              <a:spcAft>
                <a:spcPts val="900"/>
              </a:spcAft>
            </a:pPr>
            <a:r>
              <a:rPr sz="1500" b="0" i="0">
                <a:solidFill>
                  <a:srgbClr val="FFFFFF"/>
                </a:solidFill>
                <a:latin typeface="Arial"/>
              </a:rPr>
              <a:t>D.  An accumulation</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9 of 9 - 4.9 Cycles  |  Check 11</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Elliott and cycles</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In Elliott's description, the trending phase is represented by:</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Impulse waves 1, 3 and 5</a:t>
            </a:r>
          </a:p>
          <a:p>
            <a:pPr algn="l">
              <a:lnSpc>
                <a:spcPct val="115000"/>
              </a:lnSpc>
              <a:spcBef>
                <a:spcPts val="700"/>
              </a:spcBef>
              <a:spcAft>
                <a:spcPts val="0"/>
              </a:spcAft>
            </a:pPr>
            <a:r>
              <a:rPr sz="1600" b="0" i="0">
                <a:solidFill>
                  <a:srgbClr val="1A1A1A"/>
                </a:solidFill>
                <a:latin typeface="Arial"/>
              </a:rPr>
              <a:t>The impulse waves 1, 3 and 5 are the trend. Waves 2 and 4 are corrective.</a:t>
            </a:r>
          </a:p>
        </p:txBody>
      </p:sp>
      <p:sp>
        <p:nvSpPr>
          <p:cNvPr id="10" name="Rectangle 9"/>
          <p:cNvSpPr/>
          <p:nvPr/>
        </p:nvSpPr>
        <p:spPr>
          <a:xfrm>
            <a:off x="777240" y="308203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 formation that unfolds at a cycle trough tends to be:</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An accumulation</a:t>
            </a:r>
          </a:p>
          <a:p>
            <a:pPr algn="l">
              <a:lnSpc>
                <a:spcPct val="115000"/>
              </a:lnSpc>
              <a:spcBef>
                <a:spcPts val="700"/>
              </a:spcBef>
              <a:spcAft>
                <a:spcPts val="0"/>
              </a:spcAft>
            </a:pPr>
            <a:r>
              <a:rPr sz="1600" b="0" i="0">
                <a:solidFill>
                  <a:srgbClr val="1A1A1A"/>
                </a:solidFill>
                <a:latin typeface="Arial"/>
              </a:rPr>
              <a:t>Troughs tend to hold accumulations, peaks distributions, and the stretch between them continuations.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9 of 9 - 4.9 Cycles  |  Check 11</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Chapter 4 in five sentences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4 -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Markets consolidate or trend; a consolidation is accumulation or distribution.</a:t>
            </a:r>
          </a:p>
          <a:p>
            <a:pPr algn="l">
              <a:lnSpc>
                <a:spcPct val="118000"/>
              </a:lnSpc>
              <a:spcBef>
                <a:spcPts val="0"/>
              </a:spcBef>
              <a:spcAft>
                <a:spcPts val="1300"/>
              </a:spcAft>
            </a:pPr>
            <a:r>
              <a:rPr sz="2100" b="0" i="0">
                <a:solidFill>
                  <a:srgbClr val="1A1A1A"/>
                </a:solidFill>
                <a:latin typeface="Arial"/>
              </a:rPr>
              <a:t>Which one it was is known only afterwards, so the analyst gathers evidence.</a:t>
            </a:r>
          </a:p>
          <a:p>
            <a:pPr algn="l">
              <a:lnSpc>
                <a:spcPct val="118000"/>
              </a:lnSpc>
              <a:spcBef>
                <a:spcPts val="0"/>
              </a:spcBef>
              <a:spcAft>
                <a:spcPts val="1300"/>
              </a:spcAft>
            </a:pPr>
            <a:r>
              <a:rPr sz="2100" b="0" i="0">
                <a:solidFill>
                  <a:srgbClr val="1A1A1A"/>
                </a:solidFill>
                <a:latin typeface="Arial"/>
              </a:rPr>
              <a:t>Chart patterns are evidence: their intrinsic and extrinsic bias should agree.</a:t>
            </a:r>
          </a:p>
          <a:p>
            <a:pPr algn="l">
              <a:lnSpc>
                <a:spcPct val="118000"/>
              </a:lnSpc>
              <a:spcBef>
                <a:spcPts val="0"/>
              </a:spcBef>
              <a:spcAft>
                <a:spcPts val="1300"/>
              </a:spcAft>
            </a:pPr>
            <a:r>
              <a:rPr sz="2100" b="0" i="0">
                <a:solidFill>
                  <a:srgbClr val="1A1A1A"/>
                </a:solidFill>
                <a:latin typeface="Arial"/>
              </a:rPr>
              <a:t>Volume, moving averages, divergence, sentiment and cycles each add evidence.</a:t>
            </a:r>
          </a:p>
          <a:p>
            <a:pPr algn="l">
              <a:lnSpc>
                <a:spcPct val="118000"/>
              </a:lnSpc>
              <a:spcBef>
                <a:spcPts val="0"/>
              </a:spcBef>
              <a:spcAft>
                <a:spcPts val="1300"/>
              </a:spcAft>
            </a:pPr>
            <a:r>
              <a:rPr sz="2100" b="0" i="0">
                <a:solidFill>
                  <a:srgbClr val="1A1A1A"/>
                </a:solidFill>
                <a:latin typeface="Arial"/>
              </a:rPr>
              <a:t>Sakata's five phases and Elliott's waves fit inside Dow's three.</a:t>
            </a:r>
          </a:p>
        </p:txBody>
      </p:sp>
      <p:sp>
        <p:nvSpPr>
          <p:cNvPr id="8" name="Rectangle 7"/>
          <p:cNvSpPr/>
          <p:nvPr/>
        </p:nvSpPr>
        <p:spPr>
          <a:xfrm>
            <a:off x="777240" y="476478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0136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Recognizing a phase transition tells you which technical tool or setup to use.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review questions to prepare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4 -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Define the term consolidation, and explain why most chart patterns are consolidation patterns.</a:t>
            </a:r>
          </a:p>
          <a:p>
            <a:pPr algn="l">
              <a:lnSpc>
                <a:spcPct val="118000"/>
              </a:lnSpc>
              <a:spcBef>
                <a:spcPts val="0"/>
              </a:spcBef>
              <a:spcAft>
                <a:spcPts val="1300"/>
              </a:spcAft>
            </a:pPr>
            <a:r>
              <a:rPr sz="2100" b="0" i="0">
                <a:solidFill>
                  <a:srgbClr val="1A1A1A"/>
                </a:solidFill>
                <a:latin typeface="Arial"/>
              </a:rPr>
              <a:t>List eight chart patterns that are intrinsically bullish.</a:t>
            </a:r>
          </a:p>
          <a:p>
            <a:pPr algn="l">
              <a:lnSpc>
                <a:spcPct val="118000"/>
              </a:lnSpc>
              <a:spcBef>
                <a:spcPts val="0"/>
              </a:spcBef>
              <a:spcAft>
                <a:spcPts val="1300"/>
              </a:spcAft>
            </a:pPr>
            <a:r>
              <a:rPr sz="2100" b="0" i="0">
                <a:solidFill>
                  <a:srgbClr val="1A1A1A"/>
                </a:solidFill>
                <a:latin typeface="Arial"/>
              </a:rPr>
              <a:t>Describe how you would determine if accumulation is taking place.</a:t>
            </a:r>
          </a:p>
          <a:p>
            <a:pPr algn="l">
              <a:lnSpc>
                <a:spcPct val="118000"/>
              </a:lnSpc>
              <a:spcBef>
                <a:spcPts val="0"/>
              </a:spcBef>
              <a:spcAft>
                <a:spcPts val="1300"/>
              </a:spcAft>
            </a:pPr>
            <a:r>
              <a:rPr sz="2100" b="0" i="0">
                <a:solidFill>
                  <a:srgbClr val="1A1A1A"/>
                </a:solidFill>
                <a:latin typeface="Arial"/>
              </a:rPr>
              <a:t>Which sentiment indicators best describe distributions?</a:t>
            </a:r>
          </a:p>
          <a:p>
            <a:pPr algn="l">
              <a:lnSpc>
                <a:spcPct val="118000"/>
              </a:lnSpc>
              <a:spcBef>
                <a:spcPts val="0"/>
              </a:spcBef>
              <a:spcAft>
                <a:spcPts val="1300"/>
              </a:spcAft>
            </a:pPr>
            <a:r>
              <a:rPr sz="2100" b="0" i="0">
                <a:solidFill>
                  <a:srgbClr val="1A1A1A"/>
                </a:solidFill>
                <a:latin typeface="Arial"/>
              </a:rPr>
              <a:t>How would you use moving averages, and a cycle, to gauge market phase?</a:t>
            </a:r>
          </a:p>
          <a:p>
            <a:pPr algn="l">
              <a:lnSpc>
                <a:spcPct val="118000"/>
              </a:lnSpc>
              <a:spcBef>
                <a:spcPts val="0"/>
              </a:spcBef>
              <a:spcAft>
                <a:spcPts val="1300"/>
              </a:spcAft>
            </a:pPr>
            <a:r>
              <a:rPr sz="2100" b="0" i="0">
                <a:solidFill>
                  <a:srgbClr val="1A1A1A"/>
                </a:solidFill>
                <a:latin typeface="Arial"/>
              </a:rPr>
              <a:t>How do you use divergence to identify potential consolidations?</a:t>
            </a:r>
          </a:p>
        </p:txBody>
      </p:sp>
      <p:sp>
        <p:nvSpPr>
          <p:cNvPr id="8" name="TextBox 7"/>
          <p:cNvSpPr txBox="1"/>
          <p:nvPr/>
        </p:nvSpPr>
        <p:spPr>
          <a:xfrm>
            <a:off x="777240" y="5577077"/>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All eight of the book's questions, on six lines. Each is answered on a slide in this deck.</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this chapter uses and does not teach</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4 -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shapes of the chart patterns: Chapter 13. Open interest: Chapter 6.</a:t>
            </a:r>
          </a:p>
          <a:p>
            <a:pPr algn="l">
              <a:lnSpc>
                <a:spcPct val="118000"/>
              </a:lnSpc>
              <a:spcBef>
                <a:spcPts val="0"/>
              </a:spcBef>
              <a:spcAft>
                <a:spcPts val="1300"/>
              </a:spcAft>
            </a:pPr>
            <a:r>
              <a:rPr sz="2100" b="0" i="0">
                <a:solidFill>
                  <a:srgbClr val="1A1A1A"/>
                </a:solidFill>
                <a:latin typeface="Arial"/>
              </a:rPr>
              <a:t>Moving averages and whipsaws: Chapter 11. Divergence, MACD and RSI: Chapter 9.</a:t>
            </a:r>
          </a:p>
          <a:p>
            <a:pPr algn="l">
              <a:lnSpc>
                <a:spcPct val="118000"/>
              </a:lnSpc>
              <a:spcBef>
                <a:spcPts val="0"/>
              </a:spcBef>
              <a:spcAft>
                <a:spcPts val="1300"/>
              </a:spcAft>
            </a:pPr>
            <a:r>
              <a:rPr sz="2100" b="0" i="0">
                <a:solidFill>
                  <a:srgbClr val="1A1A1A"/>
                </a:solidFill>
                <a:latin typeface="Arial"/>
              </a:rPr>
              <a:t>The thirteen sentiment indicators: Chapter 23. Elliott's rules: Chapter 18. Cycles: Chapter 20.</a:t>
            </a:r>
          </a:p>
          <a:p>
            <a:pPr algn="l">
              <a:lnSpc>
                <a:spcPct val="118000"/>
              </a:lnSpc>
              <a:spcBef>
                <a:spcPts val="0"/>
              </a:spcBef>
              <a:spcAft>
                <a:spcPts val="1300"/>
              </a:spcAft>
            </a:pPr>
            <a:r>
              <a:rPr sz="2100" b="0" i="0">
                <a:solidFill>
                  <a:srgbClr val="1A1A1A"/>
                </a:solidFill>
                <a:latin typeface="Arial"/>
              </a:rPr>
              <a:t>The objectives promise inertial characteristics; the text never uses the word.</a:t>
            </a:r>
          </a:p>
        </p:txBody>
      </p:sp>
      <p:sp>
        <p:nvSpPr>
          <p:cNvPr id="8" name="Rectangle 7"/>
          <p:cNvSpPr/>
          <p:nvPr/>
        </p:nvSpPr>
        <p:spPr>
          <a:xfrm>
            <a:off x="777240" y="4581905"/>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18481"/>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From this chapter, only what each tool says about market phase is examinable.</a:t>
            </a:r>
          </a:p>
        </p:txBody>
      </p:sp>
      <p:sp>
        <p:nvSpPr>
          <p:cNvPr id="10" name="TextBox 9"/>
          <p:cNvSpPr txBox="1"/>
          <p:nvPr/>
        </p:nvSpPr>
        <p:spPr>
          <a:xfrm>
            <a:off x="777240" y="5608573"/>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Do not fill these from outside the book. Each comes back in its own chapter.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FIN1209 Chapter 4 - Market Phase Analysis</dc:title>
  <dc:subject>Technical Analysis in Investment</dc:subject>
  <dc:creator>Benjamin C. Sotelo</dc:creator>
  <cp:keywords/>
  <dc:description>generated using python-pptx</dc:description>
  <cp:lastModifiedBy>Benjamin C. Sotelo</cp:lastModifiedBy>
  <cp:revision>1</cp:revision>
  <dcterms:created xsi:type="dcterms:W3CDTF">2020-01-01T00:00:00Z</dcterms:created>
  <dcterms:modified xsi:type="dcterms:W3CDTF">2020-01-01T00:00:00Z</dcterms:modified>
  <cp:category/>
</cp:coreProperties>
</file>