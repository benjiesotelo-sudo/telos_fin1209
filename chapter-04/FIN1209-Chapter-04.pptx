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Greet the room, then say what today buys them: one question, which phase is the market in, answered nine ways.</a:t>
            </a:r>
          </a:p>
          <a:p>
            <a:r>
              <a:rPr sz="1400"/>
              <a:t>- Say this deck is short on purpose. Three sections are taught in full and six are previews of later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These are the book's six learning objectives for the chapter, in its own words.</a:t>
            </a:r>
          </a:p>
          <a:p>
            <a:r>
              <a:rPr sz="1400"/>
              <a:t>- Do not read all six aloud. Say the first and the last, and that every one is examinable.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One question runs through all nine sections: which phase is the market in?</a:t>
            </a:r>
          </a:p>
          <a:p>
            <a:r>
              <a:rPr sz="1400"/>
              <a:t>- Say the checks carry no marks. Each answer is on its own check slide and appears on a click.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Link back: these are the three phases of Dow Theory from Chapter 2. Today they get the whole chapter.</a:t>
            </a:r>
          </a:p>
          <a:p>
            <a:r>
              <a:rPr sz="1400"/>
              <a:t>- Say the one question now: which phase is this market in? Every section answers it a different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Review question 1 asks for this definition. The book never sets one apart: this joins its sentence in 4.1 with its sentence in 4.2.</a:t>
            </a:r>
          </a:p>
          <a:p>
            <a:r>
              <a:rPr sz="1400"/>
              <a:t>- Read the figure top down: two phases, and consolidation splits in two. Three phases, but only two kinds.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Point at each grey box and say what came after it. The label was only possible once the next move was known.</a:t>
            </a:r>
          </a:p>
          <a:p>
            <a:r>
              <a:rPr sz="1400"/>
              <a:t>- The box at the top right is labelled only consolidation: nobody knew yet. That is the point of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 is a 15 minute chart and it has every phase the daily Dow chart had.</a:t>
            </a:r>
          </a:p>
          <a:p>
            <a:r>
              <a:rPr sz="1400"/>
              <a:t>- Macro phase behaviour shapes the micro phases inside it. That is why the chapter recommends multiple time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Chapter 2 named the two sides. What is new is how the informed buy: slowly, so the price stays low.</a:t>
            </a:r>
          </a:p>
          <a:p>
            <a:r>
              <a:rPr sz="1400"/>
              <a:t>- In a selling climax the uninformed are the sellers and the informed are the buyers.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Irrational exuberance came up in Chapter 2. Margin debt is new here and comes back in the sentiment section.</a:t>
            </a:r>
          </a:p>
          <a:p>
            <a:r>
              <a:rPr sz="1400"/>
              <a:t>- Mirror the last slide line by line. Students should be able to write one from the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 downtrend begins with a breakdown from the distribution range. Liquidation and margin limits then force more selling.</a:t>
            </a:r>
          </a:p>
          <a:p>
            <a:r>
              <a:rPr sz="1400"/>
              <a:t>- Regret bias is the term to underline: the fear of having missed out keeps the buying going.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Ask why before showing the gold line. The book gives the same reason three times.</a:t>
            </a:r>
          </a:p>
          <a:p>
            <a:r>
              <a:rPr sz="1400"/>
              <a:t>- At the bottom there is less to lose, so nobody is in a hurry. At the top everyone has profit to protect.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4: how would you determine if accumulation is taking place? These are the signs.</a:t>
            </a:r>
          </a:p>
          <a:p>
            <a:r>
              <a:rPr sz="1400"/>
              <a:t>- The book says the breakout can be to either side of the range. The signs are evidence, not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Subjectivity again, as in Chapter 1: three analysts, three completion points, one chart.</a:t>
            </a:r>
          </a:p>
          <a:p>
            <a:r>
              <a:rPr sz="1400"/>
              <a:t>- Once a consolidation is complete, a trend may already be in effect. The book says that follows logically.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the arithmetic on the board: the top of the range plus the height of the range.</a:t>
            </a:r>
          </a:p>
          <a:p>
            <a:r>
              <a:rPr sz="1400"/>
              <a:t>- Figure 4.4 called this the one to one minimum target projection. It is the same 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Do not teach the shapes today. Students need the names and which way each one leans.</a:t>
            </a:r>
          </a:p>
          <a:p>
            <a:r>
              <a:rPr sz="1400"/>
              <a:t>- Say why it matters: a pattern is one more piece of evidence for accumulation or distribution.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Two tests, both needed: a confined range, and no significant trend component.</a:t>
            </a:r>
          </a:p>
          <a:p>
            <a:r>
              <a:rPr sz="1400"/>
              <a:t>- Hold the two tests. The next slide uses them to throw one kind of pattern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3: why are most chart patterns consolidation patterns? The first two lines are the answer.</a:t>
            </a:r>
          </a:p>
          <a:p>
            <a:r>
              <a:rPr sz="1400"/>
              <a:t>- The book adds that V reversals occur more often during distributions than accumulations.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figure's pattern is an inverted head and shoulders. The label says intrinsically bullish and nothing about location.</a:t>
            </a:r>
          </a:p>
          <a:p>
            <a:r>
              <a:rPr sz="1400"/>
              <a:t>- The book points out this chart cannot tell us the extrinsic bias: it shows no price history. Hold that word.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They do not need the shapes yet. They need to be able to list the eight.</a:t>
            </a:r>
          </a:p>
          <a:p>
            <a:r>
              <a:rPr sz="1400"/>
              <a:t>- Pairs help: pennants and flags come in both kinds, triangles ascend or descend, wedges fall or rise, bottoms mirror 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triangle in the figure is intrinsically neutral. Its bullish bias comes entirely from where it formed: on a zone tested by multiple bottoms.</a:t>
            </a:r>
          </a:p>
          <a:p>
            <a:r>
              <a:rPr sz="1400"/>
              <a:t>- The same ascending triangle at a significant bottom is bullish both ways. The location changes, the shape does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Five factors, all outside the pattern. The book gives this list for the neutral patterns.</a:t>
            </a:r>
          </a:p>
          <a:p>
            <a:r>
              <a:rPr sz="1400"/>
              <a:t>- Divergence and cycles each get a section later today, and a chapter later in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Trend sentiment is the book's name for the directionality of the trend. The figure uses that phrase.</a:t>
            </a:r>
          </a:p>
          <a:p>
            <a:r>
              <a:rPr sz="1400"/>
              <a:t>- Read the figure's two footers: reversal patterns, in disagreement; continuation patterns, in agreement.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book contradicts itself on broadening formations: one list against one paragraph and one figure. Say so and move on.</a:t>
            </a:r>
          </a:p>
          <a:p>
            <a:r>
              <a:rPr sz="1400"/>
              <a:t>- Nothing on broadening, diamond or island formations is examined from this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book adds that failed patterns often lead to a more powerful reaction, so a failure is information too.</a:t>
            </a:r>
          </a:p>
          <a:p>
            <a:r>
              <a:rPr sz="1400"/>
              <a:t>- Point at the volume panel: it declines as each breakout approaches. Section 4.3 picks that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chapter objective on regime changes: the book's summary calls a phase transition a market regime change.</a:t>
            </a:r>
          </a:p>
          <a:p>
            <a:r>
              <a:rPr sz="1400"/>
              <a:t>- Volume and open interest get Chapter 6. Today is only what they say about phase.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Volume should rise through a trend. When it turns down early, the trend is inherently weak.</a:t>
            </a:r>
          </a:p>
          <a:p>
            <a:r>
              <a:rPr sz="1400"/>
              <a:t>- The book's Facebook example uses price based volume. It names that and does not explain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Chapter 3 listed open interest as transaction data. It has still not been defined: that is Chapter 6.</a:t>
            </a:r>
          </a:p>
          <a:p>
            <a:r>
              <a:rPr sz="1400"/>
              <a:t>- One sentence is enough today: open interest rising inside a range means a harder breakout.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6: lines fanning apart, a trend; lines converging and overlapping, a consolidation.</a:t>
            </a:r>
          </a:p>
          <a:p>
            <a:r>
              <a:rPr sz="1400"/>
              <a:t>- Whipsaw is used here and not defined. Moving averages are Chapter 11; say that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8: divergence shows momentum slowing, and a slowing trend is a consolidation forming.</a:t>
            </a:r>
          </a:p>
          <a:p>
            <a:r>
              <a:rPr sz="1400"/>
              <a:t>- The book adds one rule for volume: for bullish divergence in volume, falling prices must come with decreasing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5: which sentiment indicators best describe distributions? Read the top list in the figure.</a:t>
            </a:r>
          </a:p>
          <a:p>
            <a:r>
              <a:rPr sz="1400"/>
              <a:t>- Fear, greed and hope: participants swing between them and repeat the same patterns, most visibly at extremes.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left panel is Sakata, the right is Elliott. Leave Elliott for the next section.</a:t>
            </a:r>
          </a:p>
          <a:p>
            <a:r>
              <a:rPr sz="1400"/>
              <a:t>- Honma's name is all the history the book gives. Do not add 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book glosses every name as three of something. That is the handle for remembering all five.</a:t>
            </a:r>
          </a:p>
          <a:p>
            <a:r>
              <a:rPr sz="1400"/>
              <a:t>- Chapter 3 named the breakaway, runaway and exhaustion gaps. Sakata counts the same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the chapter objective on comparing Eastern and Western approaches. The answer is that one fits inside the other.</a:t>
            </a:r>
          </a:p>
          <a:p>
            <a:r>
              <a:rPr sz="1400"/>
              <a:t>- Sakata's model is less rigid than Elliott's, which has specific rules for wave construction. That is the bridge to 4.8.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The book gives the abc correction to accumulation in most cases and to distribution usually, in consecutive sentences. Say so; do not pick one.</a:t>
            </a:r>
          </a:p>
          <a:p>
            <a:r>
              <a:rPr sz="1400"/>
              <a:t>- Nothing on the abc correction is examined from this chapter. Waves 1, 3 and 5 as the trend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This is review question 7, and it is extrinsic bias again: the phase of the cycle was one of the five factors.</a:t>
            </a:r>
          </a:p>
          <a:p>
            <a:r>
              <a:rPr sz="1400"/>
              <a:t>- The book makes the same point with a rising price channel in place of the cycle: bottom of the channel, middle,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Q1 aloud, then Q2. Give them sixty seconds and no discussion.</a:t>
            </a:r>
          </a:p>
          <a:p>
            <a:r>
              <a:rPr sz="1400"/>
              <a:t>- Hands up on each option, then click: each click shows one answer. Say the reason out loud, not just the letter.</a:t>
            </a:r>
          </a:p>
          <a:p>
            <a:r>
              <a:rPr sz="1400"/>
              <a:t>- This is for reading the room, not for marks. Say so if anyone tenses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Read all five slowly. This is the summary to copy down.</a:t>
            </a:r>
          </a:p>
          <a:p>
            <a:r>
              <a:rPr sz="1400"/>
              <a:t>- Next is Chapter 5, which takes the trend phase in more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Lines one and five each carry two of the book's eight questions.</a:t>
            </a:r>
          </a:p>
          <a:p>
            <a:r>
              <a:rPr sz="1400"/>
              <a:t>- Say where each answer sits: 4.1 and 4.2, 4.2, 4.1, 4.6, 4.4 and 4.9, 4.5.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400"/>
              <a:t>- Be straight with them: six of the nine sections borrow tools the book has not taught yet.</a:t>
            </a:r>
          </a:p>
          <a:p>
            <a:r>
              <a:rPr sz="1400"/>
              <a:t>- MACD, RSI and price based volume are also used and not explained. Same answer: later chapters.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106372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2A900"/>
                </a:solidFill>
                <a:latin typeface="Arial"/>
              </a:rPr>
              <a:t>FIN1209  Technical Analysis in Investment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57400"/>
            <a:ext cx="1463040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1063721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FFFFF"/>
                </a:solidFill>
                <a:latin typeface="Palatino"/>
              </a:rPr>
              <a:t>Chapter 4</a:t>
            </a:r>
          </a:p>
          <a:p>
            <a:pPr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</a:pPr>
            <a:r>
              <a:rPr sz="4400" b="0" i="0">
                <a:solidFill>
                  <a:srgbClr val="FFFFFF"/>
                </a:solidFill>
                <a:latin typeface="Palatino"/>
              </a:rPr>
              <a:t>Market Phase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92040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Arial"/>
              </a:rPr>
              <a:t>Institute of Accounts, Business and Finance  |  Far Eastern University Manila</a:t>
            </a:r>
          </a:p>
          <a:p>
            <a:pPr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</a:pPr>
            <a:r>
              <a:rPr sz="1400" b="0" i="0">
                <a:solidFill>
                  <a:srgbClr val="F2A900"/>
                </a:solidFill>
                <a:latin typeface="Arial"/>
              </a:rPr>
              <a:t>Benjamin C. Sotelo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4 -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Understand the structural and functional characteristics of the three market phases.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Forecast market phase accurately via its behavioral and cyclical properties.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potential market regime changes via volume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the inertial and momentum characteristics for each market phase.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Identify specific price pattern formations associated with each phase.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Compare and contrast Eastern and Western approaches to interpreting market phases.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How this chapter is laid out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4 - Opening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4.1  Dow: the three phases themselves, and when a consolidation is over.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4.2  Chart patterns: which pattern belongs to which phase, and why.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4.3 to 4.6  Volume, moving averages, divergence and sentiment.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4.7  Sakata: the Japanese five phase model.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4.8 and 4.9  Elliott waves and cycles.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4.1, 4.2 and 4.7 are taught in full. The other six preview tools that have chapters of their own.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4.1  Markets move in phases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1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Chapter 2 gave a primary trend three phases: accumulation, trending and distribution.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That description is now regarded as the basic underlying characteristic of market action.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Phase analysis applies across all time frames, from the long term to the very short term.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Not recognizing the phases and their transitions greatly disadvantages the practitioner.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Consolidation phase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2 of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58568"/>
            <a:ext cx="64008" cy="7193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576072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sideways stretch. Price ranges, or makes small corrective moves, instead of trending.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33927"/>
            <a:ext cx="64008" cy="71932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8207"/>
            <a:ext cx="576072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share that swings between PHP 40 and PHP 44 for four months, going nowhere, is consolidating.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09287"/>
            <a:ext cx="64008" cy="149656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63567"/>
            <a:ext cx="5760720" cy="160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One of only two basic phases, the other being the trending phase. A market consolidates, when expressing indecision, rest or exhaustion, by ranging or by making relatively small corrective moves. It subdivides into accumulation and distribution.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19" y="2157984"/>
            <a:ext cx="4282135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132319" y="2157984"/>
            <a:ext cx="428213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799" y="2615184"/>
            <a:ext cx="3459175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tree: market phase splits into consolidation and trend, and consolidation splits again into accumulation and distribution.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19" y="5650992"/>
            <a:ext cx="4282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4.1 - Lim, The Handbook of Technical Analysis (Wiley, 2016)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Accumulation or distribution? Known only afterwards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3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If the market rises after consolidating, the consolidation was accumulation: buying activity.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If it declines after consolidating, it was distribution: selling activity.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Which one it is can only be ascertained after the fact.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27939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One objective of technical analysis is to look for evidence of which is taking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79" y="1810512"/>
            <a:ext cx="574517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79" y="1810512"/>
            <a:ext cx="574517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267712"/>
            <a:ext cx="492221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The daily Dow Jones Industrial Average with its accumulation, trending and distribution phases boxed and named, and a volume panel below with the decline through each consolidation drawn in.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4.2 - Lim, The Handbook of Technical Analysis (Wiley, 2016)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same phases at every time scale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4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120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primary trend typically spans months to years in the equity markets.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commodity futures it tends to be shorter: high leverage induces greater volatility.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On a daily chart a consolidation normally lasts about three to six months, sometimes longer.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82803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same phases show on sub-hourly charts. The book calls that micro phase action.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19" y="1810512"/>
            <a:ext cx="519653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19" y="1810512"/>
            <a:ext cx="519653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399" y="2267712"/>
            <a:ext cx="437357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4.3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15 minute EURUSD chart with distribution, trend and accumulation phases boxed one after another, titled micro phase action.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19" y="5650992"/>
            <a:ext cx="51965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4.3 - Lim, The Handbook of Technical Analysis (Wiley, 2016)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Accumulation: the informed buy from the frightened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5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normally follows a deep and rapid decline, with very negative data and bearish headlines.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uninformed are extremely bearish and sell at whatever price is available.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informed buy against the crowd: a contrarian approach that needs deep pockets.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They gather shares very gradually, careful not to drive prices up too fast.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sell-off that ends the preceding downtrend is called a selling climax.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Distribution: the same story upside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6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It normally follows a strong and rapid rise, with very positive data and bullish headlines.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uninformed buy at whatever price is available: a state of irrational exuberance.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Margin debt is skyrocketing.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informed sell very gradually, careful not to drive prices down too rapidly.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89661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93318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surge that ends the preceding uptrend is called a blow-off, or buying climax.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trend phase feeds on itself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7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Technical traders get in early, on a clear upside breakout from consolidation.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Market savvy investors follow, then the public as the uptrend becomes obvious.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Regret bias: those who missed out, or sold too early, buy at every dip.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At even higher prices the herd uses more margin, even borrowing to invest.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67199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03775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book calls it a vicious positive feedback cycle. A downtrend runs the same way, downward.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Why tops are shorter and rougher than bottoms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8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Accumulation normally lasts longer than distribution.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uptrend tends to be more prolonged than the downtrend.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Distributions tend to be much more volatile than accumulations.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One reason covers all three: at higher prices more capital, and more unrealized profit, is at risk.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a consolidation looks like on the chart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9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Accumulation: after a relatively rapid decline, near a significant prior bottom, with no lower troughs forming.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Distribution: after a prolonged uptrend, near a significant prior top, with no higher peaks forming.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both, volume subsides as a potential breakout approaches.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longer it lasts, the more powerful the breakout, typically with a surge in volume.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1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The phases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market consolidates for four months and then rises. The consolidation represented: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Distribution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Accumulation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trending phase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selling climax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B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If the market rises after consolidating, the consolidation was accumulation: buying activity.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Accumulation normally lasts longer than distribution because, at the bottom of the market: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Less capital is at risk at the lower prices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Volume is always higher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uninformed are buying heavily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Leverage is higher than at the top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A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Lower prices mean a lower amount of capital at risk, so the bottom takes its time.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9 - 4.1 Dow  |  Check 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When is a consolidation over?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10 of 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There is no absolute consensus on the exact point where a consolidation ends.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Some look for a 3 to 5 percent rise above the highest peak of the range.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Some wait for the minimum measuring objective to be met.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Most look for a clear and simple technical breakout from the range.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001768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5038344"/>
            <a:ext cx="464515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Even then, where the breakout occurs depends on the price filter used.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4.4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consolidation range with the three popular completion levels marked above it: a technical breakout, a 3 to 5 percent rise above the highest peak, and a one to one minimum target projection of the range.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4.4 - Lim, The Handbook of Technical Analysis (Wiley, 2016)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Minimum measuring objective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811022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least a breakout is expected to travel: usually the height of the range it broke out of.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417061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371342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share ranges between PHP 40 and PHP 44, a height of PHP 4. On an upside breakout the minimum target is 44 + 4 = PHP 48.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575556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529836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The expected minimum price target, which is usually a price excursion equal to the range or height of the consolidation.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1 of 9 - 4.1 Dow  |  11 of 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2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When a consolidation ends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share ranges between PHP 50 and PHP 56, then breaks out upward. Its minimum measuring objective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PHP 56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PHP 59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PHP 62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PHP 68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The range is PHP 6 high, and 56 + 6 = PHP 62.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Most traders and analysts take as evidence that a consolidation has completed: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3 to 5 percent rise above the highest peak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minimum measuring objective being met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Very high volume inside the range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clear and simple technical breakout from the range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Some practitioners use the percentage rise or the measuring objective, but the simple technical breakout is the most popular.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1 of 9 - 4.1 Dow  |  Check 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4.2  Patterns come in two groups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1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Most chart patterns belong to one of two groups: reversal or continuation.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Accumulation and distribution tend to be populated by reversal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Continuation patterns belong to the trend phase.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3769614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3806190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So the kind of pattern on the chart is evidence of the phase the market is in.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96282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This chapter names the patterns and does not teach their shapes. Chapter 13 does.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Consolidation pattern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258568"/>
            <a:ext cx="64008" cy="533527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12848"/>
            <a:ext cx="10362895" cy="64325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 pattern that stays boxed inside a range and is not trending anywhere.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3139567"/>
            <a:ext cx="64008" cy="811022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93847"/>
            <a:ext cx="10362895" cy="92075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share drifts between PHP 40 and PHP 44 for six weeks while a triangle forms: a confined range and no trend.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298061"/>
            <a:ext cx="64008" cy="1088517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4252341"/>
            <a:ext cx="10362895" cy="119824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A chart pattern is usually regarded as a consolidation pattern if it unfolds within a relatively confined and well defined price range, and lacks any significant trend component.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2 of 10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Most patterns consolidate. V reversals do not.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3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market showing indecision, rest or exhaustion ranges or makes small corrective moves.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So most reversal and continuation patterns are also consolidation patterns.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V tops and V bottoms are the exception: no confined range, and a strong trend component.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464515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V reversals are the hardest to forecast. They are normally identified only in hindsight.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4 hour USDCAD chart: a head and shoulders distribution, a decline into a sharp V bottom labelled a rapid accumulation phase, and a new consolidation after the rise.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4.8 - Lim, The Handbook of Technical Analysis (Wiley, 2016)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Intrinsic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4 of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58568"/>
            <a:ext cx="64008" cy="7193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512064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bullish or bearish lean a pattern carries in itself, wherever it appears.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33927"/>
            <a:ext cx="64008" cy="71932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8207"/>
            <a:ext cx="512064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An ascending triangle is intrinsically bullish. Wherever it occurs, it is a bullish indication.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09287"/>
            <a:ext cx="64008" cy="123748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63567"/>
            <a:ext cx="5120640" cy="1347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inherent bullish or bearish sentiment associated with a chart pattern that is independent of location, where sentiment is strictly based on the nature of the pattern.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2157984"/>
            <a:ext cx="4922214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92240" y="2157984"/>
            <a:ext cx="49222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03720" y="2615184"/>
            <a:ext cx="4099254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EURUSD chart with an inverted head and shoulders boxed at the bottom of a decline, labelled an intrinsically bullish pattern, and the trend phase rising out of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5650992"/>
            <a:ext cx="49222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4.6 - Lim, The Handbook of Technical Analysis (Wiley, 2016)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Which way each pattern leans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5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Bullish: bullish pennants and flags, ascending triangles, inverted head and shoulders, rounding bottoms, cup and handles, falling wedges, and double, triple and multiple bottoms.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Bearish: bearish pennants and flags, descending triangles, standard head and shoulders, rounding tops, rising wedges, and double, triple and multiple tops.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Neutral: symmetrical triangles and horizontal channels.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13731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50307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The book lists eight intrinsically bullish patterns and seven bearish. Review question 2 asks for the eight.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3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Consolidation patterns and intrinsic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Which of these is NOT normally regarded as a consolidation pattern?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symmetrical triangle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horizontal channel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V bottom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An ascending triangle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A V bottom does not unfold within a confined range, and it has a significant trend component.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Intrinsic bias is the sentiment of a chart pattern that is: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Independent of location and based strictly on the nature of the pattern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Set by the direction of the preceding 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Taken from where the pattern sits on the chart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Read from the volume inside the pattern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A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Intrinsic bias is inherent: it comes from the nature of the pattern and not from where it forms.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9 - 4.2 Chart patterns  |  Check 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Extrinsic bias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6 of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58568"/>
            <a:ext cx="64008" cy="7193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429768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The lean a pattern takes from where it sits, not from its shape.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33927"/>
            <a:ext cx="64008" cy="97840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8207"/>
            <a:ext cx="429768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An ascending triangle at a historically significant market top is extrinsically bearish: it sits at resistance.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468367"/>
            <a:ext cx="64008" cy="97840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422647"/>
            <a:ext cx="4297680" cy="10881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Location-based sentiment: sentiment that is dependent on factors that are external, or extrinsic, to the pattern.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79" y="2157984"/>
            <a:ext cx="5745175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79" y="2157984"/>
            <a:ext cx="574517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80759" y="2615184"/>
            <a:ext cx="4922214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The daily gold chart with a symmetrical triangle forming on a well tested accumulation zone beside a downtrend line, labelled extrinsically bullish, inside a larger consolidation.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4.12 - Lim, The Handbook of Technical Analysis (Wiley, 2016)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sets the extrinsic bias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7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direction of the preceding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Location with respect to historical extremes in price.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Location with respect to the phase of an underlying market cycle.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Location with respect to other supportive and resistive overlay barriers.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Bullish or bearish divergent formations.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For an intrinsically neutral pattern, these alone decide whether it is a reversal or a continuation.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When the biases agree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8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30352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Intrinsic and extrinsic bias in agreement: a reversal at a top or bottom is more reliable.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Intrinsic bias in agreement with the trend: a continuation is more likely.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Any disagreement is a sign the reversal or continuation may be inherently weak.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501091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As a general guide, reversal patterns disagree with the trend and continuation patterns agree with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799" y="1810512"/>
            <a:ext cx="501365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799" y="1810512"/>
            <a:ext cx="501365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79" y="2267712"/>
            <a:ext cx="419069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summary diagram sorting the chart patterns into accumulation based, distribution based and continuation based, with reversal patterns marked as disagreeing with trend sentiment and continuation patterns as agreeing with it.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5650992"/>
            <a:ext cx="50136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818181"/>
                </a:solidFill>
                <a:latin typeface="Arial"/>
              </a:rPr>
              <a:t>Figure 4.5 - Lim, The Handbook of Technical Analysis (Wiley, 2016)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Neutral patterns borrow their bias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9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Symmetrical triangles and horizontal channels take their bias from the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In an uptrend they are extrinsically bullish; in a downtrend, extrinsically bearish.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Broadening, diamond and island formations are also intrinsically neutral, but are regarded as reversal formations, so their bias disagrees with the 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9902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3560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A neutral pattern has no lean of its own. Its surroundings supply one.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25693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The book's list of patterns that are bullish in an uptrend includes broadening formations. Its next paragraph and Figure 4.5 treat them as reversals, which is what is taught here.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Probabilities, never certainties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2 of 9 - 4.2 Chart patterns  |  10 of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Two ascending triangles form the accumulation, and price breaks out on a large upside gap.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After the trend a third ascending triangle forms, then breaks down instead.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Trend sentiment and intrinsic bias agreed perfectly, and the pattern still failed.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64515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Technical forecasting is based on probabilities, and never on certainties.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The daily iShares Silver Trust chart: two ascending triangles as accumulation, a gap up into the trend phase, then a new ascending triangle that breaks down unexpectedly, with volume declining into each breakout.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4.11 - Lim, The Handbook of Technical Analysis (Wiley, 2016)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4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Extrinsic bias, and agreement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An ascending triangle forms at the price level of a historically significant market top. It is: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31007"/>
            <a:ext cx="4449927" cy="194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A.  Intrinsically bearish and extrinsically bearish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B.  Intrinsically bullish and extrinsically bullish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C.  Intrinsically neutral and extrinsically bearish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D.  Intrinsically bullish and extrinsically bearish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D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The shape is bullish wherever it forms. The location, at significant resistance, is bearish.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79247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A symmetrical triangle forms in the middle of an uptrend. Its extrinsic bias is: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731007"/>
            <a:ext cx="4449927" cy="19480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A.  Bearish, because triangles are reversal patterns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B.  Bullish, taken from the uptrend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C.  Neutral, because the pattern is neutral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D.  Unknown until volume confirms it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B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A neutral pattern is extrinsically bullish in an uptrend and extrinsically bearish in a downtrend.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2 of 9 - 4.2 Chart patterns  |  Check 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4.3  Volume falls before the phase changes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9 - 4.3 Volume  |  1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Each phase has its typical volume action: down through a consolidation, up through a 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Volume tends to decline to relatively low levels just before a phase transition.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So volume can be used as a timing indicator for potential phase transitions.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64515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Very low volume says a consolidation may be ending. It does not say which way.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schematic cycle of accumulation, trend, distribution, trend and accumulation, with volume marked down through each consolidation and up through each trend.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4.15 - Lim, The Handbook of Technical Analysis (Wiley, 2016)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Two more things volume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9 - 4.3 Volume  |  2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fall-off in volume during a trend is a sign of trend exhaustion.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It signals a potentially earlier onset of distribution or accumulation.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Higher than normal volume at the start of a consolidation strongly indicates a top or bottom has formed.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64515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Price levels with historically high volume are potential levels of accumulation or distribution.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The same schematic cycle with volume turning down partway through each trend, the turn circled and labelled trend exhaustion.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4.16 - Lim, The Handbook of Technical Analysis (Wiley, 2016)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Open interest: watch for disagreement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3 of 9 - 4.3 Volume  |  3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For the most part, open interest action correlates fairly closely with volume action.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It is when the two diverge significantly that open interest adds evidence.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900" b="0" i="0">
                <a:solidFill>
                  <a:srgbClr val="1A1A1A"/>
                </a:solidFill>
                <a:latin typeface="Arial"/>
              </a:rPr>
              <a:t>If open interest increases during a consolidation instead of decreasing, the breakout and the trend after it tend to be much more rapid and extended.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397246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Open interest is named here and taught in Chapter 6.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4.17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The schematic cycle with open interest rising through the distribution instead of falling, and the downside breakout that follows labelled strong.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4.17 - Lim, The Handbook of Technical Analysis (Wiley, 2016)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4.4  Averages spread in a trend and tangle in a range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4 of 9 - 4.4 Moving averages  |  1 of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57200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In a trend, multiple moving average lines diverge from each other.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The greater the divergence, the stronger the ensuing 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When the lines begin to converge, that is an early indication of a potential consolidation.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677156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713732"/>
            <a:ext cx="427939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In a consolidation the average flattens out and whipsaws increase significantly.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79" y="1810512"/>
            <a:ext cx="5745175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79" y="1810512"/>
            <a:ext cx="574517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267712"/>
            <a:ext cx="492221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daily chart with four moving averages: the lines overlap through an accumulation, fan apart through the trend phase, and overlap again in the consolidation that follows.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79" y="5650992"/>
            <a:ext cx="57451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4.21 - Lim, The Handbook of Technical Analysis (Wiley, 2016)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5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Volume and moving averages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Volume falls off partway through an uptrend. This is a sign of: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stronger trend ahead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selling climax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Trend exhaustion, and an earlier consolidation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An upside breakout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A fall-off in volume during a trend is trend exhaustion: expect distribution or accumulation sooner.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Several moving average lines that had spread apart begin to converge. This is an early indication of: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potential consolidation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stronger trend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selling climax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 minimum measuring objective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A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Diverging lines mean a trend. Converging lines are an early indication of a potential consolidation.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4 of 9 - 4.4 Moving averages  |  Check 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4.5  Momentum turns before price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5 of 9 - 4.5 Divergence  |  1 of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Divergence may be used to track the changes in price momentum.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That makes it useful for identifying potential consolidations and the strength of a trend.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Once divergence is observed, look for a slowing of the trend.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537667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At the tail end of a trend, momentum turning first warns that a consolidation may be forming.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The chapter uses divergence, MACD and RSI without defining them. Divergence is Chapter 9.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64789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59" y="1810512"/>
            <a:ext cx="46478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267712"/>
            <a:ext cx="382493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4.22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An hourly EURUSD chart: price makes a higher peak inside a distribution while the MACD below it makes a lower one, labelled standard bearish divergence and momentum turning before price.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5650992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4.22 - Lim, The Handbook of Technical Analysis (Wiley, 2016)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4.6  Sentiment is clearest at the extremes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6 of 9 - 4.6 Sentiment  |  1 of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Sentiment indicators track the aggregate sentiment, emotions and psychology of participants.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They are most accurate at market extremes.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At distribution the put/call ratio and VIX are low but starting to increase. A/D, margin debt, new highs minus new lows and the Bullish Percent Index are high but starting to decrease.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65142"/>
            <a:ext cx="82296" cy="69494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01718"/>
            <a:ext cx="5376672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At accumulation every one of those readings is reversed.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1254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The book lists thirteen sentiment indicators here and explains none. They are Chapter 23.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64789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59" y="1810512"/>
            <a:ext cx="46478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267712"/>
            <a:ext cx="382493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4.25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price curve from a distribution at the top to an accumulation at the bottom, with six sentiment readings listed beside each: put/call ratio, A/D, VIX, margin debt, new highs minus new lows and the Bullish Percent Index.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5650992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4.25 - Lim, The Handbook of Technical Analysis (Wiley, 2016)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6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Divergence and sentiment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83629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At the tail end of a trend, a momentum indicator turns before price does. This is an early sign that: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trend is strengthening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consolidation may be forming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Volume is about to surge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pattern is intrinsically neutral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B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Momentum turning before price shows the trend slowing, which is how a consolidation begins.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At a distribution, margin debt is: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774822"/>
            <a:ext cx="4449927" cy="19042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Low and starting to increase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Low and starting to decrease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High and starting to increase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High and starting to decrease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At a top margin debt is high and starting to decrease. At a bottom it is low and starting to increase.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6 of 9 - 4.6 Sentiment  |  Check 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66928"/>
            <a:ext cx="12344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NEW TERM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51560"/>
            <a:ext cx="106372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 i="0">
                <a:solidFill>
                  <a:srgbClr val="007A33"/>
                </a:solidFill>
                <a:latin typeface="Palatino"/>
              </a:rPr>
              <a:t>4.7  Sakata's Five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7 of 9 - 4.7 Sakata  |  1 of 3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258568"/>
            <a:ext cx="64008" cy="719328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212848"/>
            <a:ext cx="548640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IN PLAIN WORDS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1A1A1A"/>
                </a:solidFill>
                <a:latin typeface="Arial"/>
              </a:rPr>
              <a:t>A Japanese way of reading the market that divides it into five phases, not Dow's three.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33927"/>
            <a:ext cx="64008" cy="71932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188207"/>
            <a:ext cx="5486400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FOR EXAMPLE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In the left panel: three bottoms, three thrusts with a correction after each, then three tops.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209287"/>
            <a:ext cx="64008" cy="1496568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4163567"/>
            <a:ext cx="5486400" cy="16062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 i="0">
                <a:solidFill>
                  <a:srgbClr val="818181"/>
                </a:solidFill>
                <a:latin typeface="Arial"/>
              </a:rPr>
              <a:t>THE FORMAL DEFINITION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A unique Japanese approach for interpreting and understanding the markets, which originated with Munehisa Honma. The market is divided into five distinct phases, as opposed to the conventional three-phase model by Dow.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7999" y="2157984"/>
            <a:ext cx="4556455" cy="3401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857999" y="2157984"/>
            <a:ext cx="4556455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69479" y="2615184"/>
            <a:ext cx="3733494" cy="2670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Two panels side by side: Sakata's five market phases, with San Sen at the bottom, San Pei, San Poh and San Ku through the rise and San Zan at the top, beside Elliott's 5-3 wave structure.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7999" y="5650992"/>
            <a:ext cx="4556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4.26 - Lim, The Handbook of Technical Analysis (Wiley, 2016)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five methods, by name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7 of 9 - 4.7 Sakata  |  2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San Zan, three mountains: the Western triple top. The distribution phase.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San Sen, three rivers: the Western triple bottom. The accumulation phase.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San Ku, three gaps: the breakaway, runaway and exhaustion gaps of the trend.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San Pei, three thrusts: three trending phases, accumulation to distribution.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San Poh, three methods: the three corrections, one after each thrust.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Two of the five are consolidations. Three describe the trend between them.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Five phases inside three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7 of 9 - 4.7 Sakata  |  3 of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Dow's three phases may seem inconsistent with Sakata's five.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Simple chart patterns show the two need not be viewed as distinct.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800" b="0" i="0">
                <a:solidFill>
                  <a:srgbClr val="1A1A1A"/>
                </a:solidFill>
                <a:latin typeface="Arial"/>
              </a:rPr>
              <a:t>A triple bottom, three thrusts with flags and gaps between them, then a triple top.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389120"/>
            <a:ext cx="82296" cy="101498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425696"/>
            <a:ext cx="4645152" cy="10149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00" b="1" i="0">
                <a:solidFill>
                  <a:srgbClr val="1A1A1A"/>
                </a:solidFill>
                <a:latin typeface="Arial"/>
              </a:rPr>
              <a:t>The book offers this as a plausible resolution between Eastern and Western approaches.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4.27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Dow's three-phase market drawn with Sakata's pieces: a triple bottom as the accumulation phase, a rising channel of thrusts, bullish flags and the breakaway, runaway and exhaustion gaps as the trend phase, and a triple top as the distribution phase.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4.27 - Lim, The Handbook of Technical Analysis (Wiley, 2016)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7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Sakata's five methods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San Zan, three mountains, is equivalent to the Western: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Triple bottom, the accumulation phase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Triple gap, in the trending phase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Triple top, the distribution phase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Three corrections, one after each thrust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C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San Zan is the triple top and represents distribution. San Sen, three rivers, is the triple bottom.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33972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San Poh, three methods, represents: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The three corrections, one after each thrust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The three gaps of the trending phase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The triple bottom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The three trending phases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A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San Poh is the three corrections. The thrusts themselves are San Pei.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7 of 9 - 4.7 Sakata  |  Check 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4.8  Elliott: five waves up, three waves down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8 of 9 - 4.8 Elliott  |  1 of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566928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Elliott described markets as moving in an impulsive five-wave up, then a corrective three-wave down.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trending phase is impulse waves 1, 3 and 5.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The accumulation phase is corrective waves 2 and 4. Distribution is usually the abc correction.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21074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057650"/>
            <a:ext cx="537667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Sakata's San Pei closely resembles waves 1, 3 and 5. Elliott has specific rules; Sakata's model is less rigid.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191506"/>
            <a:ext cx="5669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One sentence earlier the book also places the abc correction under accumulation, 'in most cases'. Elliott waves are Chapter 18.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59" y="1810512"/>
            <a:ext cx="464789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766559" y="1810512"/>
            <a:ext cx="464789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2267712"/>
            <a:ext cx="382493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4.28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Elliott's wave structure: five numbered motive waves rising, with waves 1, 3 and 5 marked impulsive, then three lettered corrective waves a, b and c falling. Eight waves of one degree.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5650992"/>
            <a:ext cx="464789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818181"/>
                </a:solidFill>
                <a:latin typeface="Arial"/>
              </a:rPr>
              <a:t>Figure 4.28 - Lim, The Handbook of Technical Analysis (Wiley, 2016)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4.9  Where in the cycle decides what the pattern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Part 9 of 9 - 4.9 Cycles  |  1 of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493776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Formations between cycle extremes tend to be continuations.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Formations at cycle peaks tend to be distributions.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 i="0">
                <a:solidFill>
                  <a:srgbClr val="1A1A1A"/>
                </a:solidFill>
                <a:latin typeface="Arial"/>
              </a:rPr>
              <a:t>Formations at cycle troughs tend to be accumulations.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293108"/>
            <a:ext cx="82296" cy="969263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329684"/>
            <a:ext cx="4645152" cy="9692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A1A1A"/>
                </a:solidFill>
                <a:latin typeface="Arial"/>
              </a:rPr>
              <a:t>A neutral symmetrical triangle takes all three roles, depending only on where it forms.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463540"/>
            <a:ext cx="4937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818181"/>
                </a:solidFill>
                <a:latin typeface="Arial"/>
              </a:rPr>
              <a:t>The guideline is for formations on the same cycle degree. Finding the cycle is Chapter 20.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1810512"/>
            <a:ext cx="5379414" cy="3749039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9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1810512"/>
            <a:ext cx="5379414" cy="50800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67712"/>
            <a:ext cx="4556454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sz="1400" b="1" i="0">
                <a:solidFill>
                  <a:srgbClr val="818181"/>
                </a:solidFill>
                <a:latin typeface="Arial"/>
              </a:rPr>
              <a:t>FIGURE 4.31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400"/>
              </a:spcAft>
            </a:pPr>
            <a:r>
              <a:rPr sz="1800" b="0" i="0">
                <a:solidFill>
                  <a:srgbClr val="1A1A1A"/>
                </a:solidFill>
                <a:latin typeface="Palatino"/>
              </a:rPr>
              <a:t>A price cycle with the same symmetrical triangle drawn at three places: as accumulation at a cycle trough, as continuation between the extremes, and as distribution at the cycle peak.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1">
                <a:solidFill>
                  <a:srgbClr val="818181"/>
                </a:solidFill>
                <a:latin typeface="Arial"/>
              </a:rPr>
              <a:t>The artwork is copyrighted and is not in the public repository. Build with assets/figures/ present to place it here.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5650992"/>
            <a:ext cx="537941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Figure 4.31 - Lim, The Handbook of Technical Analysis (Wiley, 2016)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F2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502920"/>
            <a:ext cx="1691640" cy="32918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 wrap="none" lIns="0" rIns="0" tIns="0" bIns="0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A1A1A"/>
                </a:solidFill>
                <a:latin typeface="Arial"/>
              </a:rPr>
              <a:t>CHECK 8 OF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697480" y="521207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Elliott and cycles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In Elliott's description, the trending phase is represented by: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Corrective waves 2 and 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Impulse waves 1, 3 and 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Waves a, b and c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All eight waves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1051560" y="4770501"/>
            <a:ext cx="4449927" cy="807338"/>
            <a:chOff x="1051560" y="4770501"/>
            <a:chExt cx="4449927" cy="807338"/>
          </a:xfrm>
        </p:grpSpPr>
        <p:sp>
          <p:nvSpPr>
            <p:cNvPr id="11" name="Rectangle 10"/>
            <p:cNvSpPr/>
            <p:nvPr/>
          </p:nvSpPr>
          <p:spPr>
            <a:xfrm>
              <a:off x="1051560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051560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B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709928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The impulse waves 1, 3 and 5 are the trend. Waves 2 and 4 are corrective.</a:t>
              </a:r>
            </a:p>
          </p:txBody>
        </p:sp>
      </p:grpSp>
      <p:sp>
        <p:nvSpPr>
          <p:cNvPr id="14" name="Rectangle 13"/>
          <p:cNvSpPr/>
          <p:nvPr/>
        </p:nvSpPr>
        <p:spPr>
          <a:xfrm>
            <a:off x="6415887" y="1207008"/>
            <a:ext cx="4998567" cy="4590288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0207" y="1453896"/>
            <a:ext cx="4449927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2A900"/>
                </a:solidFill>
                <a:latin typeface="Arial"/>
              </a:rPr>
              <a:t>Q2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0207" y="1737360"/>
            <a:ext cx="4449927" cy="5880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 formation that unfolds at a cycle trough tends to be: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0207" y="2526538"/>
            <a:ext cx="4449927" cy="215252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A.  A continuation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B.  A distribution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C.  A V top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500" b="0" i="0">
                <a:solidFill>
                  <a:srgbClr val="FFFFFF"/>
                </a:solidFill>
                <a:latin typeface="Arial"/>
              </a:rPr>
              <a:t>D.  An accumulation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6690207" y="4770501"/>
            <a:ext cx="4449927" cy="807338"/>
            <a:chOff x="6690207" y="4770501"/>
            <a:chExt cx="4449927" cy="807338"/>
          </a:xfrm>
        </p:grpSpPr>
        <p:sp>
          <p:nvSpPr>
            <p:cNvPr id="19" name="Rectangle 18"/>
            <p:cNvSpPr/>
            <p:nvPr/>
          </p:nvSpPr>
          <p:spPr>
            <a:xfrm>
              <a:off x="6690207" y="4770501"/>
              <a:ext cx="4449927" cy="807338"/>
            </a:xfrm>
            <a:prstGeom prst="rect">
              <a:avLst/>
            </a:prstGeom>
            <a:solidFill>
              <a:srgbClr val="F2A900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690207" y="4770501"/>
              <a:ext cx="658368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 i="0">
                  <a:solidFill>
                    <a:srgbClr val="1A1A1A"/>
                  </a:solidFill>
                  <a:latin typeface="Courier New"/>
                </a:rPr>
                <a:t>D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348575" y="4770501"/>
              <a:ext cx="3654400" cy="80733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0" i="0">
                  <a:solidFill>
                    <a:srgbClr val="1A1A1A"/>
                  </a:solidFill>
                  <a:latin typeface="Arial"/>
                </a:rPr>
                <a:t>Troughs tend to hold accumulations, peaks distributions, and the stretch between them continuations.</a:t>
              </a:r>
            </a:p>
          </p:txBody>
        </p:sp>
      </p:grpSp>
      <p:sp>
        <p:nvSpPr>
          <p:cNvPr id="22" name="TextBox 21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Part 9 of 9 - 4.9 Cycles  |  Check 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Chapter 4 in five sentences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4 -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Markets consolidate or trend; a consolidation is accumulation or distribution.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Which one it was is known only afterwards, so the analyst gathers evidence.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Chart patterns are evidence: their intrinsic and extrinsic bias should agree.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Volume, moving averages, divergence, sentiment and cycles each add evidence.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Sakata's five phases and Elliott's waves fit inside Dow's three.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764786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801362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Recognizing a phase transition tells you which technical tool or setup to use.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The review questions to prepare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4 -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Define the term consolidation, and explain why most chart patterns are consolidation patterns.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List eight chart patterns that are intrinsically bullish.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Describe how you would determine if accumulation is taking place.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Which sentiment indicators best describe distributions?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would you use moving averages, and a cycle, to gauge market phase?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How do you use divergence to identify potential consolidations?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577077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All eight of the book's questions, on six lines. Each is answered on a slide in this deck.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8F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07A3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58368"/>
            <a:ext cx="1063721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007A33"/>
                </a:solidFill>
                <a:latin typeface="Palatino"/>
              </a:rPr>
              <a:t>What this chapter names and does not teach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572768"/>
            <a:ext cx="10637215" cy="15875"/>
          </a:xfrm>
          <a:prstGeom prst="rect">
            <a:avLst/>
          </a:prstGeom>
          <a:solidFill>
            <a:srgbClr val="D7E0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6199632"/>
            <a:ext cx="10637215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18181"/>
                </a:solidFill>
                <a:latin typeface="Arial"/>
              </a:rPr>
              <a:t>Chapter 4 - Wrap 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65960"/>
            <a:ext cx="10637215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Chart pattern shapes: Chapter 13. Open interest: Chapter 6.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Moving averages and whipsaws: Chapter 11. Divergence: Chapter 9.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thirteen sentiment indicators: Chapter 23. Elliott's rules: Chapter 18. Cycles: Chapter 20.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1300"/>
              </a:spcAft>
            </a:pPr>
            <a:r>
              <a:rPr sz="2100" b="0" i="0">
                <a:solidFill>
                  <a:srgbClr val="1A1A1A"/>
                </a:solidFill>
                <a:latin typeface="Arial"/>
              </a:rPr>
              <a:t>The objectives promise inertial characteristics; the text never uses the word.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581905"/>
            <a:ext cx="82296" cy="788924"/>
          </a:xfrm>
          <a:prstGeom prst="rect">
            <a:avLst/>
          </a:prstGeom>
          <a:solidFill>
            <a:srgbClr val="F2A9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4618481"/>
            <a:ext cx="10344607" cy="7889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A1A1A"/>
                </a:solidFill>
                <a:latin typeface="Arial"/>
              </a:rPr>
              <a:t>From this chapter, only what each tool says about market phase is examinable.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5608573"/>
            <a:ext cx="1063721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818181"/>
                </a:solidFill>
                <a:latin typeface="Arial"/>
              </a:rPr>
              <a:t>Do not fill these from outside the book. Each comes back in its own chapter.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FIN1209 Chapter 4 - Market Phase Analysis</dc:title>
  <dc:subject>Technical Analysis in Investment</dc:subject>
  <dc:creator>Benjamin C. Sotelo</dc:creator>
  <cp:keywords/>
  <dc:description>generated using python-pptx</dc:description>
  <cp:lastModifiedBy>Benjamin C. Sotelo</cp:lastModifiedBy>
  <cp:revision>1</cp:revision>
  <dcterms:created xsi:type="dcterms:W3CDTF">2020-01-01T00:00:00Z</dcterms:created>
  <dcterms:modified xsi:type="dcterms:W3CDTF">2020-01-01T00:00:00Z</dcterms:modified>
  <cp:category/>
</cp:coreProperties>
</file>