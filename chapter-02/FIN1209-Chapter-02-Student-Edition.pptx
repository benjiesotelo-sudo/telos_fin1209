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 id="295" r:id="rId46"/>
    <p:sldId id="296" r:id="rId47"/>
    <p:sldId id="297" r:id="rId48"/>
    <p:sldId id="298" r:id="rId49"/>
    <p:sldId id="299" r:id="rId50"/>
    <p:sldId id="300" r:id="rId51"/>
    <p:sldId id="301" r:id="rId52"/>
    <p:sldId id="302" r:id="rId53"/>
    <p:sldId id="303" r:id="rId54"/>
    <p:sldId id="304" r:id="rId55"/>
    <p:sldId id="305" r:id="rId56"/>
    <p:sldId id="306" r:id="rId57"/>
    <p:sldId id="307" r:id="rId58"/>
    <p:sldId id="308" r:id="rId59"/>
    <p:sldId id="309" r:id="rId60"/>
    <p:sldId id="310" r:id="rId61"/>
    <p:sldId id="311" r:id="rId62"/>
    <p:sldId id="312" r:id="rId63"/>
    <p:sldId id="313" r:id="rId64"/>
    <p:sldId id="314" r:id="rId65"/>
    <p:sldId id="315" r:id="rId66"/>
    <p:sldId id="316" r:id="rId67"/>
    <p:sldId id="317" r:id="rId68"/>
    <p:sldId id="318" r:id="rId69"/>
    <p:sldId id="319" r:id="rId70"/>
    <p:sldId id="320" r:id="rId71"/>
    <p:sldId id="321" r:id="rId72"/>
    <p:sldId id="322" r:id="rId73"/>
    <p:sldId id="323" r:id="rId74"/>
    <p:sldId id="324" r:id="rId75"/>
    <p:sldId id="325" r:id="rId76"/>
    <p:sldId id="326" r:id="rId77"/>
    <p:sldId id="327" r:id="rId78"/>
    <p:sldId id="328" r:id="rId79"/>
    <p:sldId id="329" r:id="rId80"/>
    <p:sldId id="330" r:id="rId81"/>
    <p:sldId id="331" r:id="rId82"/>
    <p:sldId id="332" r:id="rId83"/>
    <p:sldId id="333" r:id="rId84"/>
    <p:sldId id="334" r:id="rId85"/>
    <p:sldId id="335" r:id="rId86"/>
    <p:sldId id="336" r:id="rId87"/>
    <p:sldId id="337" r:id="rId88"/>
    <p:sldId id="338" r:id="rId89"/>
    <p:sldId id="339" r:id="rId90"/>
    <p:sldId id="340" r:id="rId91"/>
    <p:sldId id="341" r:id="rId92"/>
    <p:sldId id="342" r:id="rId93"/>
    <p:sldId id="343" r:id="rId94"/>
    <p:sldId id="344" r:id="rId95"/>
    <p:sldId id="345" r:id="rId96"/>
    <p:sldId id="346" r:id="rId97"/>
    <p:sldId id="347" r:id="rId98"/>
    <p:sldId id="348" r:id="rId99"/>
    <p:sldId id="349" r:id="rId100"/>
    <p:sldId id="350" r:id="rId101"/>
    <p:sldId id="351" r:id="rId102"/>
    <p:sldId id="352" r:id="rId103"/>
    <p:sldId id="353" r:id="rId104"/>
    <p:sldId id="354" r:id="rId105"/>
    <p:sldId id="355" r:id="rId106"/>
    <p:sldId id="356" r:id="rId107"/>
    <p:sldId id="357" r:id="rId108"/>
    <p:sldId id="358" r:id="rId109"/>
    <p:sldId id="359" r:id="rId110"/>
    <p:sldId id="360" r:id="rId111"/>
    <p:sldId id="361" r:id="rId112"/>
    <p:sldId id="362" r:id="rId113"/>
    <p:sldId id="363" r:id="rId114"/>
    <p:sldId id="364" r:id="rId115"/>
    <p:sldId id="365" r:id="rId116"/>
    <p:sldId id="366" r:id="rId117"/>
    <p:sldId id="367" r:id="rId118"/>
    <p:sldId id="368" r:id="rId119"/>
    <p:sldId id="369" r:id="rId120"/>
    <p:sldId id="370" r:id="rId121"/>
    <p:sldId id="371" r:id="rId122"/>
    <p:sldId id="372" r:id="rId123"/>
    <p:sldId id="373" r:id="rId124"/>
    <p:sldId id="374" r:id="rId125"/>
    <p:sldId id="375" r:id="rId126"/>
    <p:sldId id="376" r:id="rId127"/>
    <p:sldId id="377" r:id="rId128"/>
    <p:sldId id="378" r:id="rId129"/>
    <p:sldId id="379" r:id="rId130"/>
    <p:sldId id="380" r:id="rId131"/>
    <p:sldId id="381" r:id="rId132"/>
    <p:sldId id="382" r:id="rId133"/>
    <p:sldId id="383" r:id="rId134"/>
    <p:sldId id="384" r:id="rId135"/>
    <p:sldId id="385" r:id="rId136"/>
    <p:sldId id="386" r:id="rId137"/>
    <p:sldId id="387" r:id="rId138"/>
    <p:sldId id="388" r:id="rId139"/>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slide" Target="slides/slide27.xml"/><Relationship Id="rId34" Type="http://schemas.openxmlformats.org/officeDocument/2006/relationships/slide" Target="slides/slide28.xml"/><Relationship Id="rId35" Type="http://schemas.openxmlformats.org/officeDocument/2006/relationships/slide" Target="slides/slide29.xml"/><Relationship Id="rId36" Type="http://schemas.openxmlformats.org/officeDocument/2006/relationships/slide" Target="slides/slide30.xml"/><Relationship Id="rId37" Type="http://schemas.openxmlformats.org/officeDocument/2006/relationships/slide" Target="slides/slide31.xml"/><Relationship Id="rId38" Type="http://schemas.openxmlformats.org/officeDocument/2006/relationships/slide" Target="slides/slide32.xml"/><Relationship Id="rId39" Type="http://schemas.openxmlformats.org/officeDocument/2006/relationships/slide" Target="slides/slide33.xml"/><Relationship Id="rId40" Type="http://schemas.openxmlformats.org/officeDocument/2006/relationships/slide" Target="slides/slide34.xml"/><Relationship Id="rId41" Type="http://schemas.openxmlformats.org/officeDocument/2006/relationships/slide" Target="slides/slide35.xml"/><Relationship Id="rId42" Type="http://schemas.openxmlformats.org/officeDocument/2006/relationships/slide" Target="slides/slide36.xml"/><Relationship Id="rId43" Type="http://schemas.openxmlformats.org/officeDocument/2006/relationships/slide" Target="slides/slide37.xml"/><Relationship Id="rId44" Type="http://schemas.openxmlformats.org/officeDocument/2006/relationships/slide" Target="slides/slide38.xml"/><Relationship Id="rId45" Type="http://schemas.openxmlformats.org/officeDocument/2006/relationships/slide" Target="slides/slide39.xml"/><Relationship Id="rId46" Type="http://schemas.openxmlformats.org/officeDocument/2006/relationships/slide" Target="slides/slide40.xml"/><Relationship Id="rId47" Type="http://schemas.openxmlformats.org/officeDocument/2006/relationships/slide" Target="slides/slide41.xml"/><Relationship Id="rId48" Type="http://schemas.openxmlformats.org/officeDocument/2006/relationships/slide" Target="slides/slide42.xml"/><Relationship Id="rId49" Type="http://schemas.openxmlformats.org/officeDocument/2006/relationships/slide" Target="slides/slide43.xml"/><Relationship Id="rId50" Type="http://schemas.openxmlformats.org/officeDocument/2006/relationships/slide" Target="slides/slide44.xml"/><Relationship Id="rId51" Type="http://schemas.openxmlformats.org/officeDocument/2006/relationships/slide" Target="slides/slide45.xml"/><Relationship Id="rId52" Type="http://schemas.openxmlformats.org/officeDocument/2006/relationships/slide" Target="slides/slide46.xml"/><Relationship Id="rId53" Type="http://schemas.openxmlformats.org/officeDocument/2006/relationships/slide" Target="slides/slide47.xml"/><Relationship Id="rId54" Type="http://schemas.openxmlformats.org/officeDocument/2006/relationships/slide" Target="slides/slide48.xml"/><Relationship Id="rId55" Type="http://schemas.openxmlformats.org/officeDocument/2006/relationships/slide" Target="slides/slide49.xml"/><Relationship Id="rId56" Type="http://schemas.openxmlformats.org/officeDocument/2006/relationships/slide" Target="slides/slide50.xml"/><Relationship Id="rId57" Type="http://schemas.openxmlformats.org/officeDocument/2006/relationships/slide" Target="slides/slide51.xml"/><Relationship Id="rId58" Type="http://schemas.openxmlformats.org/officeDocument/2006/relationships/slide" Target="slides/slide52.xml"/><Relationship Id="rId59" Type="http://schemas.openxmlformats.org/officeDocument/2006/relationships/slide" Target="slides/slide53.xml"/><Relationship Id="rId60" Type="http://schemas.openxmlformats.org/officeDocument/2006/relationships/slide" Target="slides/slide54.xml"/><Relationship Id="rId61" Type="http://schemas.openxmlformats.org/officeDocument/2006/relationships/slide" Target="slides/slide55.xml"/><Relationship Id="rId62" Type="http://schemas.openxmlformats.org/officeDocument/2006/relationships/slide" Target="slides/slide56.xml"/><Relationship Id="rId63" Type="http://schemas.openxmlformats.org/officeDocument/2006/relationships/slide" Target="slides/slide57.xml"/><Relationship Id="rId64" Type="http://schemas.openxmlformats.org/officeDocument/2006/relationships/slide" Target="slides/slide58.xml"/><Relationship Id="rId65" Type="http://schemas.openxmlformats.org/officeDocument/2006/relationships/slide" Target="slides/slide59.xml"/><Relationship Id="rId66" Type="http://schemas.openxmlformats.org/officeDocument/2006/relationships/slide" Target="slides/slide60.xml"/><Relationship Id="rId67" Type="http://schemas.openxmlformats.org/officeDocument/2006/relationships/slide" Target="slides/slide61.xml"/><Relationship Id="rId68" Type="http://schemas.openxmlformats.org/officeDocument/2006/relationships/slide" Target="slides/slide62.xml"/><Relationship Id="rId69" Type="http://schemas.openxmlformats.org/officeDocument/2006/relationships/slide" Target="slides/slide63.xml"/><Relationship Id="rId70" Type="http://schemas.openxmlformats.org/officeDocument/2006/relationships/slide" Target="slides/slide64.xml"/><Relationship Id="rId71" Type="http://schemas.openxmlformats.org/officeDocument/2006/relationships/slide" Target="slides/slide65.xml"/><Relationship Id="rId72" Type="http://schemas.openxmlformats.org/officeDocument/2006/relationships/slide" Target="slides/slide66.xml"/><Relationship Id="rId73" Type="http://schemas.openxmlformats.org/officeDocument/2006/relationships/slide" Target="slides/slide67.xml"/><Relationship Id="rId74" Type="http://schemas.openxmlformats.org/officeDocument/2006/relationships/slide" Target="slides/slide68.xml"/><Relationship Id="rId75" Type="http://schemas.openxmlformats.org/officeDocument/2006/relationships/slide" Target="slides/slide69.xml"/><Relationship Id="rId76" Type="http://schemas.openxmlformats.org/officeDocument/2006/relationships/slide" Target="slides/slide70.xml"/><Relationship Id="rId77" Type="http://schemas.openxmlformats.org/officeDocument/2006/relationships/slide" Target="slides/slide71.xml"/><Relationship Id="rId78" Type="http://schemas.openxmlformats.org/officeDocument/2006/relationships/slide" Target="slides/slide72.xml"/><Relationship Id="rId79" Type="http://schemas.openxmlformats.org/officeDocument/2006/relationships/slide" Target="slides/slide73.xml"/><Relationship Id="rId80" Type="http://schemas.openxmlformats.org/officeDocument/2006/relationships/slide" Target="slides/slide74.xml"/><Relationship Id="rId81" Type="http://schemas.openxmlformats.org/officeDocument/2006/relationships/slide" Target="slides/slide75.xml"/><Relationship Id="rId82" Type="http://schemas.openxmlformats.org/officeDocument/2006/relationships/slide" Target="slides/slide76.xml"/><Relationship Id="rId83" Type="http://schemas.openxmlformats.org/officeDocument/2006/relationships/slide" Target="slides/slide77.xml"/><Relationship Id="rId84" Type="http://schemas.openxmlformats.org/officeDocument/2006/relationships/slide" Target="slides/slide78.xml"/><Relationship Id="rId85" Type="http://schemas.openxmlformats.org/officeDocument/2006/relationships/slide" Target="slides/slide79.xml"/><Relationship Id="rId86" Type="http://schemas.openxmlformats.org/officeDocument/2006/relationships/slide" Target="slides/slide80.xml"/><Relationship Id="rId87" Type="http://schemas.openxmlformats.org/officeDocument/2006/relationships/slide" Target="slides/slide81.xml"/><Relationship Id="rId88" Type="http://schemas.openxmlformats.org/officeDocument/2006/relationships/slide" Target="slides/slide82.xml"/><Relationship Id="rId89" Type="http://schemas.openxmlformats.org/officeDocument/2006/relationships/slide" Target="slides/slide83.xml"/><Relationship Id="rId90" Type="http://schemas.openxmlformats.org/officeDocument/2006/relationships/slide" Target="slides/slide84.xml"/><Relationship Id="rId91" Type="http://schemas.openxmlformats.org/officeDocument/2006/relationships/slide" Target="slides/slide85.xml"/><Relationship Id="rId92" Type="http://schemas.openxmlformats.org/officeDocument/2006/relationships/slide" Target="slides/slide86.xml"/><Relationship Id="rId93" Type="http://schemas.openxmlformats.org/officeDocument/2006/relationships/slide" Target="slides/slide87.xml"/><Relationship Id="rId94" Type="http://schemas.openxmlformats.org/officeDocument/2006/relationships/slide" Target="slides/slide88.xml"/><Relationship Id="rId95" Type="http://schemas.openxmlformats.org/officeDocument/2006/relationships/slide" Target="slides/slide89.xml"/><Relationship Id="rId96" Type="http://schemas.openxmlformats.org/officeDocument/2006/relationships/slide" Target="slides/slide90.xml"/><Relationship Id="rId97" Type="http://schemas.openxmlformats.org/officeDocument/2006/relationships/slide" Target="slides/slide91.xml"/><Relationship Id="rId98" Type="http://schemas.openxmlformats.org/officeDocument/2006/relationships/slide" Target="slides/slide92.xml"/><Relationship Id="rId99" Type="http://schemas.openxmlformats.org/officeDocument/2006/relationships/slide" Target="slides/slide93.xml"/><Relationship Id="rId100" Type="http://schemas.openxmlformats.org/officeDocument/2006/relationships/slide" Target="slides/slide94.xml"/><Relationship Id="rId101" Type="http://schemas.openxmlformats.org/officeDocument/2006/relationships/slide" Target="slides/slide95.xml"/><Relationship Id="rId102" Type="http://schemas.openxmlformats.org/officeDocument/2006/relationships/slide" Target="slides/slide96.xml"/><Relationship Id="rId103" Type="http://schemas.openxmlformats.org/officeDocument/2006/relationships/slide" Target="slides/slide97.xml"/><Relationship Id="rId104" Type="http://schemas.openxmlformats.org/officeDocument/2006/relationships/slide" Target="slides/slide98.xml"/><Relationship Id="rId105" Type="http://schemas.openxmlformats.org/officeDocument/2006/relationships/slide" Target="slides/slide99.xml"/><Relationship Id="rId106" Type="http://schemas.openxmlformats.org/officeDocument/2006/relationships/slide" Target="slides/slide100.xml"/><Relationship Id="rId107" Type="http://schemas.openxmlformats.org/officeDocument/2006/relationships/slide" Target="slides/slide101.xml"/><Relationship Id="rId108" Type="http://schemas.openxmlformats.org/officeDocument/2006/relationships/slide" Target="slides/slide102.xml"/><Relationship Id="rId109" Type="http://schemas.openxmlformats.org/officeDocument/2006/relationships/slide" Target="slides/slide103.xml"/><Relationship Id="rId110" Type="http://schemas.openxmlformats.org/officeDocument/2006/relationships/slide" Target="slides/slide104.xml"/><Relationship Id="rId111" Type="http://schemas.openxmlformats.org/officeDocument/2006/relationships/slide" Target="slides/slide105.xml"/><Relationship Id="rId112" Type="http://schemas.openxmlformats.org/officeDocument/2006/relationships/slide" Target="slides/slide106.xml"/><Relationship Id="rId113" Type="http://schemas.openxmlformats.org/officeDocument/2006/relationships/slide" Target="slides/slide107.xml"/><Relationship Id="rId114" Type="http://schemas.openxmlformats.org/officeDocument/2006/relationships/slide" Target="slides/slide108.xml"/><Relationship Id="rId115" Type="http://schemas.openxmlformats.org/officeDocument/2006/relationships/slide" Target="slides/slide109.xml"/><Relationship Id="rId116" Type="http://schemas.openxmlformats.org/officeDocument/2006/relationships/slide" Target="slides/slide110.xml"/><Relationship Id="rId117" Type="http://schemas.openxmlformats.org/officeDocument/2006/relationships/slide" Target="slides/slide111.xml"/><Relationship Id="rId118" Type="http://schemas.openxmlformats.org/officeDocument/2006/relationships/slide" Target="slides/slide112.xml"/><Relationship Id="rId119" Type="http://schemas.openxmlformats.org/officeDocument/2006/relationships/slide" Target="slides/slide113.xml"/><Relationship Id="rId120" Type="http://schemas.openxmlformats.org/officeDocument/2006/relationships/slide" Target="slides/slide114.xml"/><Relationship Id="rId121" Type="http://schemas.openxmlformats.org/officeDocument/2006/relationships/slide" Target="slides/slide115.xml"/><Relationship Id="rId122" Type="http://schemas.openxmlformats.org/officeDocument/2006/relationships/slide" Target="slides/slide116.xml"/><Relationship Id="rId123" Type="http://schemas.openxmlformats.org/officeDocument/2006/relationships/slide" Target="slides/slide117.xml"/><Relationship Id="rId124" Type="http://schemas.openxmlformats.org/officeDocument/2006/relationships/slide" Target="slides/slide118.xml"/><Relationship Id="rId125" Type="http://schemas.openxmlformats.org/officeDocument/2006/relationships/slide" Target="slides/slide119.xml"/><Relationship Id="rId126" Type="http://schemas.openxmlformats.org/officeDocument/2006/relationships/slide" Target="slides/slide120.xml"/><Relationship Id="rId127" Type="http://schemas.openxmlformats.org/officeDocument/2006/relationships/slide" Target="slides/slide121.xml"/><Relationship Id="rId128" Type="http://schemas.openxmlformats.org/officeDocument/2006/relationships/slide" Target="slides/slide122.xml"/><Relationship Id="rId129" Type="http://schemas.openxmlformats.org/officeDocument/2006/relationships/slide" Target="slides/slide123.xml"/><Relationship Id="rId130" Type="http://schemas.openxmlformats.org/officeDocument/2006/relationships/slide" Target="slides/slide124.xml"/><Relationship Id="rId131" Type="http://schemas.openxmlformats.org/officeDocument/2006/relationships/slide" Target="slides/slide125.xml"/><Relationship Id="rId132" Type="http://schemas.openxmlformats.org/officeDocument/2006/relationships/slide" Target="slides/slide126.xml"/><Relationship Id="rId133" Type="http://schemas.openxmlformats.org/officeDocument/2006/relationships/slide" Target="slides/slide127.xml"/><Relationship Id="rId134" Type="http://schemas.openxmlformats.org/officeDocument/2006/relationships/slide" Target="slides/slide128.xml"/><Relationship Id="rId135" Type="http://schemas.openxmlformats.org/officeDocument/2006/relationships/slide" Target="slides/slide129.xml"/><Relationship Id="rId136" Type="http://schemas.openxmlformats.org/officeDocument/2006/relationships/slide" Target="slides/slide130.xml"/><Relationship Id="rId137" Type="http://schemas.openxmlformats.org/officeDocument/2006/relationships/slide" Target="slides/slide131.xml"/><Relationship Id="rId138" Type="http://schemas.openxmlformats.org/officeDocument/2006/relationships/slide" Target="slides/slide132.xml"/><Relationship Id="rId139" Type="http://schemas.openxmlformats.org/officeDocument/2006/relationships/slide" Target="slides/slide13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07A33"/>
          </a:solidFill>
          <a:ln>
            <a:noFill/>
          </a:ln>
          <a:effectLst/>
        </p:spPr>
        <p:txBody>
          <a:bodyPr rtlCol="0" anchor="ctr"/>
          <a:lstStyle/>
          <a:p>
            <a:pPr algn="ctr"/>
          </a:p>
        </p:txBody>
      </p:sp>
      <p:sp>
        <p:nvSpPr>
          <p:cNvPr id="3" name="Rectangle 2"/>
          <p:cNvSpPr/>
          <p:nvPr/>
        </p:nvSpPr>
        <p:spPr>
          <a:xfrm>
            <a:off x="0" y="6355080"/>
            <a:ext cx="12191695" cy="502920"/>
          </a:xfrm>
          <a:prstGeom prst="rect">
            <a:avLst/>
          </a:prstGeom>
          <a:solidFill>
            <a:srgbClr val="004F21"/>
          </a:solidFill>
          <a:ln>
            <a:noFill/>
          </a:ln>
          <a:effectLst/>
        </p:spPr>
        <p:txBody>
          <a:bodyPr rtlCol="0" anchor="ctr"/>
          <a:lstStyle/>
          <a:p>
            <a:pPr algn="ctr"/>
          </a:p>
        </p:txBody>
      </p:sp>
      <p:sp>
        <p:nvSpPr>
          <p:cNvPr id="4" name="TextBox 3"/>
          <p:cNvSpPr txBox="1"/>
          <p:nvPr/>
        </p:nvSpPr>
        <p:spPr>
          <a:xfrm>
            <a:off x="777240" y="1417320"/>
            <a:ext cx="10637215" cy="457200"/>
          </a:xfrm>
          <a:prstGeom prst="rect">
            <a:avLst/>
          </a:prstGeom>
          <a:noFill/>
        </p:spPr>
        <p:txBody>
          <a:bodyPr wrap="square" anchor="t" lIns="0" rIns="0" tIns="0" bIns="0">
            <a:spAutoFit/>
          </a:bodyPr>
          <a:lstStyle/>
          <a:p>
            <a:pPr algn="l">
              <a:lnSpc>
                <a:spcPct val="100000"/>
              </a:lnSpc>
              <a:spcBef>
                <a:spcPts val="0"/>
              </a:spcBef>
              <a:spcAft>
                <a:spcPts val="0"/>
              </a:spcAft>
            </a:pPr>
            <a:r>
              <a:rPr sz="1500" b="1" i="0">
                <a:solidFill>
                  <a:srgbClr val="F2A900"/>
                </a:solidFill>
                <a:latin typeface="Arial"/>
              </a:rPr>
              <a:t>FIN1209  Technical Analysis in Investment</a:t>
            </a:r>
          </a:p>
        </p:txBody>
      </p:sp>
      <p:sp>
        <p:nvSpPr>
          <p:cNvPr id="5" name="Rectangle 4"/>
          <p:cNvSpPr/>
          <p:nvPr/>
        </p:nvSpPr>
        <p:spPr>
          <a:xfrm>
            <a:off x="777240" y="2057400"/>
            <a:ext cx="1463040" cy="50800"/>
          </a:xfrm>
          <a:prstGeom prst="rect">
            <a:avLst/>
          </a:prstGeom>
          <a:solidFill>
            <a:srgbClr val="F2A900"/>
          </a:solidFill>
          <a:ln>
            <a:noFill/>
          </a:ln>
          <a:effectLst/>
        </p:spPr>
        <p:txBody>
          <a:bodyPr rtlCol="0" anchor="ctr"/>
          <a:lstStyle/>
          <a:p>
            <a:pPr algn="ctr"/>
          </a:p>
        </p:txBody>
      </p:sp>
      <p:sp>
        <p:nvSpPr>
          <p:cNvPr id="6" name="TextBox 5"/>
          <p:cNvSpPr txBox="1"/>
          <p:nvPr/>
        </p:nvSpPr>
        <p:spPr>
          <a:xfrm>
            <a:off x="777240" y="2423160"/>
            <a:ext cx="10637215" cy="2194560"/>
          </a:xfrm>
          <a:prstGeom prst="rect">
            <a:avLst/>
          </a:prstGeom>
          <a:noFill/>
        </p:spPr>
        <p:txBody>
          <a:bodyPr wrap="square" anchor="t" lIns="0" rIns="0" tIns="0" bIns="0">
            <a:spAutoFit/>
          </a:bodyPr>
          <a:lstStyle/>
          <a:p>
            <a:pPr algn="l">
              <a:lnSpc>
                <a:spcPct val="100000"/>
              </a:lnSpc>
              <a:spcBef>
                <a:spcPts val="0"/>
              </a:spcBef>
              <a:spcAft>
                <a:spcPts val="0"/>
              </a:spcAft>
            </a:pPr>
            <a:r>
              <a:rPr sz="2000" b="0" i="0">
                <a:solidFill>
                  <a:srgbClr val="FFFFFF"/>
                </a:solidFill>
                <a:latin typeface="Palatino"/>
              </a:rPr>
              <a:t>Chapter 2</a:t>
            </a:r>
          </a:p>
          <a:p>
            <a:pPr algn="l">
              <a:lnSpc>
                <a:spcPct val="105000"/>
              </a:lnSpc>
              <a:spcBef>
                <a:spcPts val="1000"/>
              </a:spcBef>
              <a:spcAft>
                <a:spcPts val="0"/>
              </a:spcAft>
            </a:pPr>
            <a:r>
              <a:rPr sz="4400" b="0" i="0">
                <a:solidFill>
                  <a:srgbClr val="FFFFFF"/>
                </a:solidFill>
                <a:latin typeface="Palatino"/>
              </a:rPr>
              <a:t>Introduction to Dow Theory</a:t>
            </a:r>
          </a:p>
        </p:txBody>
      </p:sp>
      <p:sp>
        <p:nvSpPr>
          <p:cNvPr id="7" name="TextBox 6"/>
          <p:cNvSpPr txBox="1"/>
          <p:nvPr/>
        </p:nvSpPr>
        <p:spPr>
          <a:xfrm>
            <a:off x="777240" y="4892040"/>
            <a:ext cx="10637215" cy="914400"/>
          </a:xfrm>
          <a:prstGeom prst="rect">
            <a:avLst/>
          </a:prstGeom>
          <a:noFill/>
        </p:spPr>
        <p:txBody>
          <a:bodyPr wrap="square" anchor="t" lIns="0" rIns="0" tIns="0" bIns="0">
            <a:spAutoFit/>
          </a:bodyPr>
          <a:lstStyle/>
          <a:p>
            <a:pPr algn="l">
              <a:lnSpc>
                <a:spcPct val="100000"/>
              </a:lnSpc>
              <a:spcBef>
                <a:spcPts val="0"/>
              </a:spcBef>
              <a:spcAft>
                <a:spcPts val="0"/>
              </a:spcAft>
            </a:pPr>
            <a:r>
              <a:rPr sz="1600" b="0" i="0">
                <a:solidFill>
                  <a:srgbClr val="FFFFFF"/>
                </a:solidFill>
                <a:latin typeface="Arial"/>
              </a:rPr>
              <a:t>Institute of Accounts, Business and Finance  |  Far Eastern University Manila</a:t>
            </a:r>
          </a:p>
          <a:p>
            <a:pPr algn="l">
              <a:lnSpc>
                <a:spcPct val="100000"/>
              </a:lnSpc>
              <a:spcBef>
                <a:spcPts val="800"/>
              </a:spcBef>
              <a:spcAft>
                <a:spcPts val="0"/>
              </a:spcAft>
            </a:pPr>
            <a:r>
              <a:rPr sz="1400" b="0" i="0">
                <a:solidFill>
                  <a:srgbClr val="F2A900"/>
                </a:solidFill>
                <a:latin typeface="Arial"/>
              </a:rPr>
              <a:t>Benjamin C. Sotelo</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TextBox 3"/>
          <p:cNvSpPr txBox="1"/>
          <p:nvPr/>
        </p:nvSpPr>
        <p:spPr>
          <a:xfrm>
            <a:off x="777240" y="658368"/>
            <a:ext cx="10637215" cy="914400"/>
          </a:xfrm>
          <a:prstGeom prst="rect">
            <a:avLst/>
          </a:prstGeom>
          <a:noFill/>
        </p:spPr>
        <p:txBody>
          <a:bodyPr wrap="square" anchor="t" lIns="0" rIns="0" tIns="0" bIns="0">
            <a:spAutoFit/>
          </a:bodyPr>
          <a:lstStyle/>
          <a:p>
            <a:pPr algn="l">
              <a:lnSpc>
                <a:spcPct val="105000"/>
              </a:lnSpc>
              <a:spcBef>
                <a:spcPts val="0"/>
              </a:spcBef>
              <a:spcAft>
                <a:spcPts val="0"/>
              </a:spcAft>
            </a:pPr>
            <a:r>
              <a:rPr sz="3000" b="0" i="0">
                <a:solidFill>
                  <a:srgbClr val="007A33"/>
                </a:solidFill>
                <a:latin typeface="Palatino"/>
              </a:rPr>
              <a:t>What you will be able to do</a:t>
            </a:r>
          </a:p>
        </p:txBody>
      </p:sp>
      <p:sp>
        <p:nvSpPr>
          <p:cNvPr id="5" name="Rectangle 4"/>
          <p:cNvSpPr/>
          <p:nvPr/>
        </p:nvSpPr>
        <p:spPr>
          <a:xfrm>
            <a:off x="777240" y="1572768"/>
            <a:ext cx="10637215" cy="15875"/>
          </a:xfrm>
          <a:prstGeom prst="rect">
            <a:avLst/>
          </a:prstGeom>
          <a:solidFill>
            <a:srgbClr val="D7E0D9"/>
          </a:solidFill>
          <a:ln>
            <a:noFill/>
          </a:ln>
          <a:effectLst/>
        </p:spPr>
        <p:txBody>
          <a:bodyPr rtlCol="0" anchor="ctr"/>
          <a:lstStyle/>
          <a:p>
            <a:pPr algn="ctr"/>
          </a:p>
        </p:txBody>
      </p:sp>
      <p:sp>
        <p:nvSpPr>
          <p:cNvPr id="6" name="TextBox 5"/>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Chapter 2 - Learning objectives</a:t>
            </a:r>
          </a:p>
        </p:txBody>
      </p:sp>
      <p:sp>
        <p:nvSpPr>
          <p:cNvPr id="7" name="TextBox 6"/>
          <p:cNvSpPr txBox="1"/>
          <p:nvPr/>
        </p:nvSpPr>
        <p:spPr>
          <a:xfrm>
            <a:off x="777240" y="1965960"/>
            <a:ext cx="10637215" cy="3108960"/>
          </a:xfrm>
          <a:prstGeom prst="rect">
            <a:avLst/>
          </a:prstGeom>
          <a:noFill/>
        </p:spPr>
        <p:txBody>
          <a:bodyPr wrap="square" anchor="t" lIns="0" rIns="0" tIns="0" bIns="0">
            <a:spAutoFit/>
          </a:bodyPr>
          <a:lstStyle/>
          <a:p>
            <a:pPr algn="l">
              <a:lnSpc>
                <a:spcPct val="118000"/>
              </a:lnSpc>
              <a:spcBef>
                <a:spcPts val="0"/>
              </a:spcBef>
              <a:spcAft>
                <a:spcPts val="1300"/>
              </a:spcAft>
            </a:pPr>
            <a:r>
              <a:rPr sz="2100" b="0" i="0">
                <a:solidFill>
                  <a:srgbClr val="1A1A1A"/>
                </a:solidFill>
                <a:latin typeface="Arial"/>
              </a:rPr>
              <a:t>Understand the basic concepts and assumptions of Dow Theory.</a:t>
            </a:r>
          </a:p>
          <a:p>
            <a:pPr algn="l">
              <a:lnSpc>
                <a:spcPct val="118000"/>
              </a:lnSpc>
              <a:spcBef>
                <a:spcPts val="0"/>
              </a:spcBef>
              <a:spcAft>
                <a:spcPts val="1300"/>
              </a:spcAft>
            </a:pPr>
            <a:r>
              <a:rPr sz="2100" b="0" i="0">
                <a:solidFill>
                  <a:srgbClr val="1A1A1A"/>
                </a:solidFill>
                <a:latin typeface="Arial"/>
              </a:rPr>
              <a:t>Apply the concepts of Dow Theory to forecast potential entry and exit points in the market.</a:t>
            </a:r>
          </a:p>
          <a:p>
            <a:pPr algn="l">
              <a:lnSpc>
                <a:spcPct val="118000"/>
              </a:lnSpc>
              <a:spcBef>
                <a:spcPts val="0"/>
              </a:spcBef>
              <a:spcAft>
                <a:spcPts val="1300"/>
              </a:spcAft>
            </a:pPr>
            <a:r>
              <a:rPr sz="2100" b="0" i="0">
                <a:solidFill>
                  <a:srgbClr val="1A1A1A"/>
                </a:solidFill>
                <a:latin typeface="Arial"/>
              </a:rPr>
              <a:t>Identify the strengths and weaknesses of applying Dow Theory.</a:t>
            </a:r>
          </a:p>
          <a:p>
            <a:pPr algn="l">
              <a:lnSpc>
                <a:spcPct val="118000"/>
              </a:lnSpc>
              <a:spcBef>
                <a:spcPts val="0"/>
              </a:spcBef>
              <a:spcAft>
                <a:spcPts val="1300"/>
              </a:spcAft>
            </a:pPr>
            <a:r>
              <a:rPr sz="2100" b="0" i="0">
                <a:solidFill>
                  <a:srgbClr val="1A1A1A"/>
                </a:solidFill>
                <a:latin typeface="Arial"/>
              </a:rPr>
              <a:t>Explain the importance of price and volume confirmation as a basis for determining potential market action.</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TextBox 3"/>
          <p:cNvSpPr txBox="1"/>
          <p:nvPr/>
        </p:nvSpPr>
        <p:spPr>
          <a:xfrm>
            <a:off x="777240" y="658368"/>
            <a:ext cx="10637215" cy="914400"/>
          </a:xfrm>
          <a:prstGeom prst="rect">
            <a:avLst/>
          </a:prstGeom>
          <a:noFill/>
        </p:spPr>
        <p:txBody>
          <a:bodyPr wrap="square" anchor="t" lIns="0" rIns="0" tIns="0" bIns="0">
            <a:spAutoFit/>
          </a:bodyPr>
          <a:lstStyle/>
          <a:p>
            <a:pPr algn="l">
              <a:lnSpc>
                <a:spcPct val="105000"/>
              </a:lnSpc>
              <a:spcBef>
                <a:spcPts val="0"/>
              </a:spcBef>
              <a:spcAft>
                <a:spcPts val="0"/>
              </a:spcAft>
            </a:pPr>
            <a:r>
              <a:rPr sz="3000" b="0" i="0">
                <a:solidFill>
                  <a:srgbClr val="007A33"/>
                </a:solidFill>
                <a:latin typeface="Palatino"/>
              </a:rPr>
              <a:t>What you will be able to do, continued</a:t>
            </a:r>
          </a:p>
        </p:txBody>
      </p:sp>
      <p:sp>
        <p:nvSpPr>
          <p:cNvPr id="5" name="Rectangle 4"/>
          <p:cNvSpPr/>
          <p:nvPr/>
        </p:nvSpPr>
        <p:spPr>
          <a:xfrm>
            <a:off x="777240" y="1572768"/>
            <a:ext cx="10637215" cy="15875"/>
          </a:xfrm>
          <a:prstGeom prst="rect">
            <a:avLst/>
          </a:prstGeom>
          <a:solidFill>
            <a:srgbClr val="D7E0D9"/>
          </a:solidFill>
          <a:ln>
            <a:noFill/>
          </a:ln>
          <a:effectLst/>
        </p:spPr>
        <p:txBody>
          <a:bodyPr rtlCol="0" anchor="ctr"/>
          <a:lstStyle/>
          <a:p>
            <a:pPr algn="ctr"/>
          </a:p>
        </p:txBody>
      </p:sp>
      <p:sp>
        <p:nvSpPr>
          <p:cNvPr id="6" name="TextBox 5"/>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Chapter 2 - Learning objectives</a:t>
            </a:r>
          </a:p>
        </p:txBody>
      </p:sp>
      <p:sp>
        <p:nvSpPr>
          <p:cNvPr id="7" name="TextBox 6"/>
          <p:cNvSpPr txBox="1"/>
          <p:nvPr/>
        </p:nvSpPr>
        <p:spPr>
          <a:xfrm>
            <a:off x="777240" y="1965960"/>
            <a:ext cx="10637215" cy="3108960"/>
          </a:xfrm>
          <a:prstGeom prst="rect">
            <a:avLst/>
          </a:prstGeom>
          <a:noFill/>
        </p:spPr>
        <p:txBody>
          <a:bodyPr wrap="square" anchor="t" lIns="0" rIns="0" tIns="0" bIns="0">
            <a:spAutoFit/>
          </a:bodyPr>
          <a:lstStyle/>
          <a:p>
            <a:pPr algn="l">
              <a:lnSpc>
                <a:spcPct val="118000"/>
              </a:lnSpc>
              <a:spcBef>
                <a:spcPts val="0"/>
              </a:spcBef>
              <a:spcAft>
                <a:spcPts val="1300"/>
              </a:spcAft>
            </a:pPr>
            <a:r>
              <a:rPr sz="2100" b="0" i="0">
                <a:solidFill>
                  <a:srgbClr val="1A1A1A"/>
                </a:solidFill>
                <a:latin typeface="Arial"/>
              </a:rPr>
              <a:t>Highlight the current challenges to Dow Theory.</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TextBox 3"/>
          <p:cNvSpPr txBox="1"/>
          <p:nvPr/>
        </p:nvSpPr>
        <p:spPr>
          <a:xfrm>
            <a:off x="777240" y="658368"/>
            <a:ext cx="10637215" cy="914400"/>
          </a:xfrm>
          <a:prstGeom prst="rect">
            <a:avLst/>
          </a:prstGeom>
          <a:noFill/>
        </p:spPr>
        <p:txBody>
          <a:bodyPr wrap="square" anchor="t" lIns="0" rIns="0" tIns="0" bIns="0">
            <a:spAutoFit/>
          </a:bodyPr>
          <a:lstStyle/>
          <a:p>
            <a:pPr algn="l">
              <a:lnSpc>
                <a:spcPct val="105000"/>
              </a:lnSpc>
              <a:spcBef>
                <a:spcPts val="0"/>
              </a:spcBef>
              <a:spcAft>
                <a:spcPts val="0"/>
              </a:spcAft>
            </a:pPr>
            <a:r>
              <a:rPr sz="3000" b="0" i="0">
                <a:solidFill>
                  <a:srgbClr val="007A33"/>
                </a:solidFill>
                <a:latin typeface="Palatino"/>
              </a:rPr>
              <a:t>How today is laid out</a:t>
            </a:r>
          </a:p>
        </p:txBody>
      </p:sp>
      <p:sp>
        <p:nvSpPr>
          <p:cNvPr id="5" name="Rectangle 4"/>
          <p:cNvSpPr/>
          <p:nvPr/>
        </p:nvSpPr>
        <p:spPr>
          <a:xfrm>
            <a:off x="777240" y="1572768"/>
            <a:ext cx="10637215" cy="15875"/>
          </a:xfrm>
          <a:prstGeom prst="rect">
            <a:avLst/>
          </a:prstGeom>
          <a:solidFill>
            <a:srgbClr val="D7E0D9"/>
          </a:solidFill>
          <a:ln>
            <a:noFill/>
          </a:ln>
          <a:effectLst/>
        </p:spPr>
        <p:txBody>
          <a:bodyPr rtlCol="0" anchor="ctr"/>
          <a:lstStyle/>
          <a:p>
            <a:pPr algn="ctr"/>
          </a:p>
        </p:txBody>
      </p:sp>
      <p:sp>
        <p:nvSpPr>
          <p:cNvPr id="6" name="TextBox 5"/>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Chapter 2 - Roadmap</a:t>
            </a:r>
          </a:p>
        </p:txBody>
      </p:sp>
      <p:sp>
        <p:nvSpPr>
          <p:cNvPr id="7" name="TextBox 6"/>
          <p:cNvSpPr txBox="1"/>
          <p:nvPr/>
        </p:nvSpPr>
        <p:spPr>
          <a:xfrm>
            <a:off x="777240" y="1965960"/>
            <a:ext cx="10637215" cy="3108960"/>
          </a:xfrm>
          <a:prstGeom prst="rect">
            <a:avLst/>
          </a:prstGeom>
          <a:noFill/>
        </p:spPr>
        <p:txBody>
          <a:bodyPr wrap="square" anchor="t" lIns="0" rIns="0" tIns="0" bIns="0">
            <a:spAutoFit/>
          </a:bodyPr>
          <a:lstStyle/>
          <a:p>
            <a:pPr algn="l">
              <a:lnSpc>
                <a:spcPct val="118000"/>
              </a:lnSpc>
              <a:spcBef>
                <a:spcPts val="0"/>
              </a:spcBef>
              <a:spcAft>
                <a:spcPts val="1300"/>
              </a:spcAft>
            </a:pPr>
            <a:r>
              <a:rPr sz="2100" b="0" i="0">
                <a:solidFill>
                  <a:srgbClr val="1A1A1A"/>
                </a:solidFill>
                <a:latin typeface="Arial"/>
              </a:rPr>
              <a:t>Part 1  Where Dow Theory came from</a:t>
            </a:r>
          </a:p>
          <a:p>
            <a:pPr algn="l">
              <a:lnSpc>
                <a:spcPct val="118000"/>
              </a:lnSpc>
              <a:spcBef>
                <a:spcPts val="0"/>
              </a:spcBef>
              <a:spcAft>
                <a:spcPts val="1300"/>
              </a:spcAft>
            </a:pPr>
            <a:r>
              <a:rPr sz="2100" b="0" i="0">
                <a:solidFill>
                  <a:srgbClr val="1A1A1A"/>
                </a:solidFill>
                <a:latin typeface="Arial"/>
              </a:rPr>
              <a:t>Part 2  The six tenets, and the first one</a:t>
            </a:r>
          </a:p>
          <a:p>
            <a:pPr algn="l">
              <a:lnSpc>
                <a:spcPct val="118000"/>
              </a:lnSpc>
              <a:spcBef>
                <a:spcPts val="0"/>
              </a:spcBef>
              <a:spcAft>
                <a:spcPts val="1300"/>
              </a:spcAft>
            </a:pPr>
            <a:r>
              <a:rPr sz="2100" b="0" i="0">
                <a:solidFill>
                  <a:srgbClr val="1A1A1A"/>
                </a:solidFill>
                <a:latin typeface="Arial"/>
              </a:rPr>
              <a:t>Part 3  Three trends, and the primary one</a:t>
            </a:r>
          </a:p>
          <a:p>
            <a:pPr algn="l">
              <a:lnSpc>
                <a:spcPct val="118000"/>
              </a:lnSpc>
              <a:spcBef>
                <a:spcPts val="0"/>
              </a:spcBef>
              <a:spcAft>
                <a:spcPts val="1300"/>
              </a:spcAft>
            </a:pPr>
            <a:r>
              <a:rPr sz="2100" b="0" i="0">
                <a:solidFill>
                  <a:srgbClr val="1A1A1A"/>
                </a:solidFill>
                <a:latin typeface="Arial"/>
              </a:rPr>
              <a:t>Part 4  The secondary reaction and the minor trend</a:t>
            </a:r>
          </a:p>
          <a:p>
            <a:pPr algn="l">
              <a:lnSpc>
                <a:spcPct val="118000"/>
              </a:lnSpc>
              <a:spcBef>
                <a:spcPts val="0"/>
              </a:spcBef>
              <a:spcAft>
                <a:spcPts val="1300"/>
              </a:spcAft>
            </a:pPr>
            <a:r>
              <a:rPr sz="2100" b="0" i="0">
                <a:solidFill>
                  <a:srgbClr val="1A1A1A"/>
                </a:solidFill>
                <a:latin typeface="Arial"/>
              </a:rPr>
              <a:t>Part 5  Three phases, and when a trend reverses</a:t>
            </a:r>
          </a:p>
          <a:p>
            <a:pPr algn="l">
              <a:lnSpc>
                <a:spcPct val="118000"/>
              </a:lnSpc>
              <a:spcBef>
                <a:spcPts val="0"/>
              </a:spcBef>
              <a:spcAft>
                <a:spcPts val="1300"/>
              </a:spcAft>
            </a:pPr>
            <a:r>
              <a:rPr sz="2100" b="0" i="0">
                <a:solidFill>
                  <a:srgbClr val="1A1A1A"/>
                </a:solidFill>
                <a:latin typeface="Arial"/>
              </a:rPr>
              <a:t>Part 6  Confirmation, volume, and the challenges</a:t>
            </a:r>
          </a:p>
        </p:txBody>
      </p:sp>
      <p:sp>
        <p:nvSpPr>
          <p:cNvPr id="8" name="Rectangle 7"/>
          <p:cNvSpPr/>
          <p:nvPr/>
        </p:nvSpPr>
        <p:spPr>
          <a:xfrm>
            <a:off x="777240" y="5262371"/>
            <a:ext cx="82296" cy="467614"/>
          </a:xfrm>
          <a:prstGeom prst="rect">
            <a:avLst/>
          </a:prstGeom>
          <a:solidFill>
            <a:srgbClr val="F2A900"/>
          </a:solidFill>
          <a:ln>
            <a:noFill/>
          </a:ln>
          <a:effectLst/>
        </p:spPr>
        <p:txBody>
          <a:bodyPr rtlCol="0" anchor="ctr"/>
          <a:lstStyle/>
          <a:p>
            <a:pPr algn="ctr"/>
          </a:p>
        </p:txBody>
      </p:sp>
      <p:sp>
        <p:nvSpPr>
          <p:cNvPr id="9" name="TextBox 8"/>
          <p:cNvSpPr txBox="1"/>
          <p:nvPr/>
        </p:nvSpPr>
        <p:spPr>
          <a:xfrm>
            <a:off x="1069848" y="5298947"/>
            <a:ext cx="10344607" cy="467614"/>
          </a:xfrm>
          <a:prstGeom prst="rect">
            <a:avLst/>
          </a:prstGeom>
          <a:noFill/>
        </p:spPr>
        <p:txBody>
          <a:bodyPr wrap="square" anchor="t" lIns="0" rIns="0" tIns="0" bIns="0">
            <a:spAutoFit/>
          </a:bodyPr>
          <a:lstStyle/>
          <a:p>
            <a:pPr algn="l">
              <a:lnSpc>
                <a:spcPct val="115000"/>
              </a:lnSpc>
              <a:spcBef>
                <a:spcPts val="0"/>
              </a:spcBef>
              <a:spcAft>
                <a:spcPts val="0"/>
              </a:spcAft>
            </a:pPr>
            <a:r>
              <a:rPr sz="2200" b="1" i="0">
                <a:solidFill>
                  <a:srgbClr val="1A1A1A"/>
                </a:solidFill>
                <a:latin typeface="Arial"/>
              </a:rPr>
              <a:t>Six parts, and a clean stop at every boundary.</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07A33"/>
          </a:solidFill>
          <a:ln>
            <a:noFill/>
          </a:ln>
          <a:effectLst/>
        </p:spPr>
        <p:txBody>
          <a:bodyPr rtlCol="0" anchor="ctr"/>
          <a:lstStyle/>
          <a:p>
            <a:pPr algn="ctr"/>
          </a:p>
        </p:txBody>
      </p:sp>
      <p:sp>
        <p:nvSpPr>
          <p:cNvPr id="3" name="Rectangle 2"/>
          <p:cNvSpPr/>
          <p:nvPr/>
        </p:nvSpPr>
        <p:spPr>
          <a:xfrm>
            <a:off x="0" y="0"/>
            <a:ext cx="256032" cy="6858000"/>
          </a:xfrm>
          <a:prstGeom prst="rect">
            <a:avLst/>
          </a:prstGeom>
          <a:solidFill>
            <a:srgbClr val="F2A900"/>
          </a:solidFill>
          <a:ln>
            <a:noFill/>
          </a:ln>
          <a:effectLst/>
        </p:spPr>
        <p:txBody>
          <a:bodyPr rtlCol="0" anchor="ctr"/>
          <a:lstStyle/>
          <a:p>
            <a:pPr algn="ctr"/>
          </a:p>
        </p:txBody>
      </p:sp>
      <p:sp>
        <p:nvSpPr>
          <p:cNvPr id="4" name="TextBox 3"/>
          <p:cNvSpPr txBox="1"/>
          <p:nvPr/>
        </p:nvSpPr>
        <p:spPr>
          <a:xfrm>
            <a:off x="777240" y="1051560"/>
            <a:ext cx="10637215" cy="365760"/>
          </a:xfrm>
          <a:prstGeom prst="rect">
            <a:avLst/>
          </a:prstGeom>
          <a:noFill/>
        </p:spPr>
        <p:txBody>
          <a:bodyPr wrap="square" anchor="t" lIns="0" rIns="0" tIns="0" bIns="0">
            <a:spAutoFit/>
          </a:bodyPr>
          <a:lstStyle/>
          <a:p>
            <a:pPr algn="l">
              <a:lnSpc>
                <a:spcPct val="100000"/>
              </a:lnSpc>
              <a:spcBef>
                <a:spcPts val="0"/>
              </a:spcBef>
              <a:spcAft>
                <a:spcPts val="0"/>
              </a:spcAft>
            </a:pPr>
            <a:r>
              <a:rPr sz="1500" b="1" i="0">
                <a:solidFill>
                  <a:srgbClr val="F2A900"/>
                </a:solidFill>
                <a:latin typeface="Arial"/>
              </a:rPr>
              <a:t>Part 1 of 6</a:t>
            </a:r>
          </a:p>
        </p:txBody>
      </p:sp>
      <p:sp>
        <p:nvSpPr>
          <p:cNvPr id="5" name="TextBox 4"/>
          <p:cNvSpPr txBox="1"/>
          <p:nvPr/>
        </p:nvSpPr>
        <p:spPr>
          <a:xfrm>
            <a:off x="777240" y="1600200"/>
            <a:ext cx="10637215" cy="1097280"/>
          </a:xfrm>
          <a:prstGeom prst="rect">
            <a:avLst/>
          </a:prstGeom>
          <a:noFill/>
        </p:spPr>
        <p:txBody>
          <a:bodyPr wrap="square" anchor="t" lIns="0" rIns="0" tIns="0" bIns="0">
            <a:spAutoFit/>
          </a:bodyPr>
          <a:lstStyle/>
          <a:p>
            <a:pPr algn="l">
              <a:lnSpc>
                <a:spcPct val="105000"/>
              </a:lnSpc>
              <a:spcBef>
                <a:spcPts val="0"/>
              </a:spcBef>
              <a:spcAft>
                <a:spcPts val="0"/>
              </a:spcAft>
            </a:pPr>
            <a:r>
              <a:rPr sz="4000" b="0" i="0">
                <a:solidFill>
                  <a:srgbClr val="FFFFFF"/>
                </a:solidFill>
                <a:latin typeface="Palatino"/>
              </a:rPr>
              <a:t>Where Dow Theory Came From</a:t>
            </a:r>
          </a:p>
        </p:txBody>
      </p:sp>
      <p:sp>
        <p:nvSpPr>
          <p:cNvPr id="6" name="Rectangle 5"/>
          <p:cNvSpPr/>
          <p:nvPr/>
        </p:nvSpPr>
        <p:spPr>
          <a:xfrm>
            <a:off x="777240" y="2926080"/>
            <a:ext cx="1463040" cy="38100"/>
          </a:xfrm>
          <a:prstGeom prst="rect">
            <a:avLst/>
          </a:prstGeom>
          <a:solidFill>
            <a:srgbClr val="F2A900"/>
          </a:solidFill>
          <a:ln>
            <a:noFill/>
          </a:ln>
          <a:effectLst/>
        </p:spPr>
        <p:txBody>
          <a:bodyPr rtlCol="0" anchor="ctr"/>
          <a:lstStyle/>
          <a:p>
            <a:pPr algn="ctr"/>
          </a:p>
        </p:txBody>
      </p:sp>
      <p:sp>
        <p:nvSpPr>
          <p:cNvPr id="7" name="TextBox 6"/>
          <p:cNvSpPr txBox="1"/>
          <p:nvPr/>
        </p:nvSpPr>
        <p:spPr>
          <a:xfrm>
            <a:off x="777240" y="3383280"/>
            <a:ext cx="10637215" cy="2011680"/>
          </a:xfrm>
          <a:prstGeom prst="rect">
            <a:avLst/>
          </a:prstGeom>
          <a:noFill/>
        </p:spPr>
        <p:txBody>
          <a:bodyPr wrap="square" anchor="t" lIns="0" rIns="0" tIns="0" bIns="0">
            <a:spAutoFit/>
          </a:bodyPr>
          <a:lstStyle/>
          <a:p>
            <a:pPr algn="l">
              <a:lnSpc>
                <a:spcPct val="115000"/>
              </a:lnSpc>
              <a:spcBef>
                <a:spcPts val="0"/>
              </a:spcBef>
              <a:spcAft>
                <a:spcPts val="1000"/>
              </a:spcAft>
            </a:pPr>
            <a:r>
              <a:rPr sz="1900" b="0" i="0">
                <a:solidFill>
                  <a:srgbClr val="FFFFFF"/>
                </a:solidFill>
                <a:latin typeface="Arial"/>
              </a:rPr>
              <a:t>The four men whose writing became Dow Theory, and which one wrote it down.</a:t>
            </a:r>
          </a:p>
          <a:p>
            <a:pPr algn="l">
              <a:lnSpc>
                <a:spcPct val="115000"/>
              </a:lnSpc>
              <a:spcBef>
                <a:spcPts val="0"/>
              </a:spcBef>
              <a:spcAft>
                <a:spcPts val="1000"/>
              </a:spcAft>
            </a:pPr>
            <a:r>
              <a:rPr sz="1900" b="0" i="0">
                <a:solidFill>
                  <a:srgbClr val="FFFFFF"/>
                </a:solidFill>
                <a:latin typeface="Arial"/>
              </a:rPr>
              <a:t>The three assumptions Robert Rhea built it on.</a:t>
            </a:r>
          </a:p>
          <a:p>
            <a:pPr algn="l">
              <a:lnSpc>
                <a:spcPct val="115000"/>
              </a:lnSpc>
              <a:spcBef>
                <a:spcPts val="0"/>
              </a:spcBef>
              <a:spcAft>
                <a:spcPts val="1000"/>
              </a:spcAft>
            </a:pPr>
            <a:r>
              <a:rPr sz="1900" b="0" i="0">
                <a:solidFill>
                  <a:srgbClr val="FFFFFF"/>
                </a:solidFill>
                <a:latin typeface="Arial"/>
              </a:rPr>
              <a:t>Why Dow wanted an average of many stocks instead of one.</a:t>
            </a:r>
          </a:p>
        </p:txBody>
      </p:sp>
      <p:sp>
        <p:nvSpPr>
          <p:cNvPr id="8" name="TextBox 7"/>
          <p:cNvSpPr txBox="1"/>
          <p:nvPr/>
        </p:nvSpPr>
        <p:spPr>
          <a:xfrm>
            <a:off x="777240" y="6035040"/>
            <a:ext cx="10637215" cy="365760"/>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F2A900"/>
                </a:solidFill>
                <a:latin typeface="Arial"/>
              </a:rPr>
              <a:t>About 20 minutes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TextBox 3"/>
          <p:cNvSpPr txBox="1"/>
          <p:nvPr/>
        </p:nvSpPr>
        <p:spPr>
          <a:xfrm>
            <a:off x="777240" y="658368"/>
            <a:ext cx="10637215" cy="914400"/>
          </a:xfrm>
          <a:prstGeom prst="rect">
            <a:avLst/>
          </a:prstGeom>
          <a:noFill/>
        </p:spPr>
        <p:txBody>
          <a:bodyPr wrap="square" anchor="t" lIns="0" rIns="0" tIns="0" bIns="0">
            <a:spAutoFit/>
          </a:bodyPr>
          <a:lstStyle/>
          <a:p>
            <a:pPr algn="l">
              <a:lnSpc>
                <a:spcPct val="105000"/>
              </a:lnSpc>
              <a:spcBef>
                <a:spcPts val="0"/>
              </a:spcBef>
              <a:spcAft>
                <a:spcPts val="0"/>
              </a:spcAft>
            </a:pPr>
            <a:r>
              <a:rPr sz="3000" b="0" i="0">
                <a:solidFill>
                  <a:srgbClr val="007A33"/>
                </a:solidFill>
                <a:latin typeface="Palatino"/>
              </a:rPr>
              <a:t>What this chapter is for</a:t>
            </a:r>
          </a:p>
        </p:txBody>
      </p:sp>
      <p:sp>
        <p:nvSpPr>
          <p:cNvPr id="5" name="Rectangle 4"/>
          <p:cNvSpPr/>
          <p:nvPr/>
        </p:nvSpPr>
        <p:spPr>
          <a:xfrm>
            <a:off x="777240" y="1572768"/>
            <a:ext cx="10637215" cy="15875"/>
          </a:xfrm>
          <a:prstGeom prst="rect">
            <a:avLst/>
          </a:prstGeom>
          <a:solidFill>
            <a:srgbClr val="D7E0D9"/>
          </a:solidFill>
          <a:ln>
            <a:noFill/>
          </a:ln>
          <a:effectLst/>
        </p:spPr>
        <p:txBody>
          <a:bodyPr rtlCol="0" anchor="ctr"/>
          <a:lstStyle/>
          <a:p>
            <a:pPr algn="ctr"/>
          </a:p>
        </p:txBody>
      </p:sp>
      <p:sp>
        <p:nvSpPr>
          <p:cNvPr id="6" name="TextBox 5"/>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1 of 6 - Origins  |  1 of 13</a:t>
            </a:r>
          </a:p>
        </p:txBody>
      </p:sp>
      <p:sp>
        <p:nvSpPr>
          <p:cNvPr id="7" name="TextBox 6"/>
          <p:cNvSpPr txBox="1"/>
          <p:nvPr/>
        </p:nvSpPr>
        <p:spPr>
          <a:xfrm>
            <a:off x="777240" y="1965960"/>
            <a:ext cx="10637215" cy="3108960"/>
          </a:xfrm>
          <a:prstGeom prst="rect">
            <a:avLst/>
          </a:prstGeom>
          <a:noFill/>
        </p:spPr>
        <p:txBody>
          <a:bodyPr wrap="square" anchor="t" lIns="0" rIns="0" tIns="0" bIns="0">
            <a:spAutoFit/>
          </a:bodyPr>
          <a:lstStyle/>
          <a:p>
            <a:pPr algn="l">
              <a:lnSpc>
                <a:spcPct val="118000"/>
              </a:lnSpc>
              <a:spcBef>
                <a:spcPts val="0"/>
              </a:spcBef>
              <a:spcAft>
                <a:spcPts val="1300"/>
              </a:spcAft>
            </a:pPr>
            <a:r>
              <a:rPr sz="2100" b="0" i="0">
                <a:solidFill>
                  <a:srgbClr val="1A1A1A"/>
                </a:solidFill>
                <a:latin typeface="Arial"/>
              </a:rPr>
              <a:t>Dow Theory lays the basic foundation for modern day technical analysis.</a:t>
            </a:r>
          </a:p>
          <a:p>
            <a:pPr algn="l">
              <a:lnSpc>
                <a:spcPct val="118000"/>
              </a:lnSpc>
              <a:spcBef>
                <a:spcPts val="0"/>
              </a:spcBef>
              <a:spcAft>
                <a:spcPts val="1300"/>
              </a:spcAft>
            </a:pPr>
            <a:r>
              <a:rPr sz="2100" b="0" i="0">
                <a:solidFill>
                  <a:srgbClr val="1A1A1A"/>
                </a:solidFill>
                <a:latin typeface="Arial"/>
              </a:rPr>
              <a:t>Its premises underpin the very study of market action.</a:t>
            </a:r>
          </a:p>
          <a:p>
            <a:pPr algn="l">
              <a:lnSpc>
                <a:spcPct val="118000"/>
              </a:lnSpc>
              <a:spcBef>
                <a:spcPts val="0"/>
              </a:spcBef>
              <a:spcAft>
                <a:spcPts val="1300"/>
              </a:spcAft>
            </a:pPr>
            <a:r>
              <a:rPr sz="2100" b="0" i="0">
                <a:solidFill>
                  <a:srgbClr val="1A1A1A"/>
                </a:solidFill>
                <a:latin typeface="Arial"/>
              </a:rPr>
              <a:t>The book says they have withstood the test of time.</a:t>
            </a:r>
          </a:p>
        </p:txBody>
      </p:sp>
      <p:sp>
        <p:nvSpPr>
          <p:cNvPr id="8" name="Rectangle 7"/>
          <p:cNvSpPr/>
          <p:nvPr/>
        </p:nvSpPr>
        <p:spPr>
          <a:xfrm>
            <a:off x="777240" y="3769614"/>
            <a:ext cx="82296" cy="467614"/>
          </a:xfrm>
          <a:prstGeom prst="rect">
            <a:avLst/>
          </a:prstGeom>
          <a:solidFill>
            <a:srgbClr val="F2A900"/>
          </a:solidFill>
          <a:ln>
            <a:noFill/>
          </a:ln>
          <a:effectLst/>
        </p:spPr>
        <p:txBody>
          <a:bodyPr rtlCol="0" anchor="ctr"/>
          <a:lstStyle/>
          <a:p>
            <a:pPr algn="ctr"/>
          </a:p>
        </p:txBody>
      </p:sp>
      <p:sp>
        <p:nvSpPr>
          <p:cNvPr id="9" name="TextBox 8"/>
          <p:cNvSpPr txBox="1"/>
          <p:nvPr/>
        </p:nvSpPr>
        <p:spPr>
          <a:xfrm>
            <a:off x="1069848" y="3806190"/>
            <a:ext cx="10344607" cy="467614"/>
          </a:xfrm>
          <a:prstGeom prst="rect">
            <a:avLst/>
          </a:prstGeom>
          <a:noFill/>
        </p:spPr>
        <p:txBody>
          <a:bodyPr wrap="square" anchor="t" lIns="0" rIns="0" tIns="0" bIns="0">
            <a:spAutoFit/>
          </a:bodyPr>
          <a:lstStyle/>
          <a:p>
            <a:pPr algn="l">
              <a:lnSpc>
                <a:spcPct val="115000"/>
              </a:lnSpc>
              <a:spcBef>
                <a:spcPts val="0"/>
              </a:spcBef>
              <a:spcAft>
                <a:spcPts val="0"/>
              </a:spcAft>
            </a:pPr>
            <a:r>
              <a:rPr sz="2200" b="1" i="0">
                <a:solidFill>
                  <a:srgbClr val="1A1A1A"/>
                </a:solidFill>
                <a:latin typeface="Arial"/>
              </a:rPr>
              <a:t>Almost everything in the rest of this course sits on top of today.</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Rectangle 3"/>
          <p:cNvSpPr/>
          <p:nvPr/>
        </p:nvSpPr>
        <p:spPr>
          <a:xfrm>
            <a:off x="777240" y="566928"/>
            <a:ext cx="1234440" cy="329184"/>
          </a:xfrm>
          <a:prstGeom prst="rect">
            <a:avLst/>
          </a:prstGeom>
          <a:solidFill>
            <a:srgbClr val="F2A900"/>
          </a:solidFill>
          <a:ln>
            <a:noFill/>
          </a:ln>
          <a:effectLst/>
        </p:spPr>
        <p:txBody>
          <a:bodyPr rtlCol="0" anchor="ctr" wrap="none" lIns="0" rIns="0" tIns="0" bIns="0"/>
          <a:lstStyle/>
          <a:p>
            <a:pPr algn="ctr">
              <a:lnSpc>
                <a:spcPct val="100000"/>
              </a:lnSpc>
              <a:spcBef>
                <a:spcPts val="0"/>
              </a:spcBef>
              <a:spcAft>
                <a:spcPts val="0"/>
              </a:spcAft>
            </a:pPr>
            <a:r>
              <a:rPr sz="1200" b="1" i="0">
                <a:solidFill>
                  <a:srgbClr val="1A1A1A"/>
                </a:solidFill>
                <a:latin typeface="Arial"/>
              </a:rPr>
              <a:t>NEW TERM</a:t>
            </a:r>
          </a:p>
        </p:txBody>
      </p:sp>
      <p:sp>
        <p:nvSpPr>
          <p:cNvPr id="5" name="TextBox 4"/>
          <p:cNvSpPr txBox="1"/>
          <p:nvPr/>
        </p:nvSpPr>
        <p:spPr>
          <a:xfrm>
            <a:off x="777240" y="1051560"/>
            <a:ext cx="10637215" cy="822960"/>
          </a:xfrm>
          <a:prstGeom prst="rect">
            <a:avLst/>
          </a:prstGeom>
          <a:noFill/>
        </p:spPr>
        <p:txBody>
          <a:bodyPr wrap="square" anchor="t" lIns="0" rIns="0" tIns="0" bIns="0">
            <a:spAutoFit/>
          </a:bodyPr>
          <a:lstStyle/>
          <a:p>
            <a:pPr algn="l">
              <a:lnSpc>
                <a:spcPct val="105000"/>
              </a:lnSpc>
              <a:spcBef>
                <a:spcPts val="0"/>
              </a:spcBef>
              <a:spcAft>
                <a:spcPts val="0"/>
              </a:spcAft>
            </a:pPr>
            <a:r>
              <a:rPr sz="3200" b="0" i="0">
                <a:solidFill>
                  <a:srgbClr val="007A33"/>
                </a:solidFill>
                <a:latin typeface="Palatino"/>
              </a:rPr>
              <a:t>Dow Theory</a:t>
            </a:r>
          </a:p>
        </p:txBody>
      </p:sp>
      <p:sp>
        <p:nvSpPr>
          <p:cNvPr id="6" name="Rectangle 5"/>
          <p:cNvSpPr/>
          <p:nvPr/>
        </p:nvSpPr>
        <p:spPr>
          <a:xfrm>
            <a:off x="777240" y="1874519"/>
            <a:ext cx="10637215" cy="15875"/>
          </a:xfrm>
          <a:prstGeom prst="rect">
            <a:avLst/>
          </a:prstGeom>
          <a:solidFill>
            <a:srgbClr val="D7E0D9"/>
          </a:solidFill>
          <a:ln>
            <a:noFill/>
          </a:ln>
          <a:effectLst/>
        </p:spPr>
        <p:txBody>
          <a:bodyPr rtlCol="0" anchor="ctr"/>
          <a:lstStyle/>
          <a:p>
            <a:pPr algn="ctr"/>
          </a:p>
        </p:txBody>
      </p:sp>
      <p:sp>
        <p:nvSpPr>
          <p:cNvPr id="7" name="Rectangle 6"/>
          <p:cNvSpPr/>
          <p:nvPr/>
        </p:nvSpPr>
        <p:spPr>
          <a:xfrm>
            <a:off x="777240" y="2258568"/>
            <a:ext cx="64008" cy="811022"/>
          </a:xfrm>
          <a:prstGeom prst="rect">
            <a:avLst/>
          </a:prstGeom>
          <a:solidFill>
            <a:srgbClr val="F2A900"/>
          </a:solidFill>
          <a:ln>
            <a:noFill/>
          </a:ln>
          <a:effectLst/>
        </p:spPr>
        <p:txBody>
          <a:bodyPr rtlCol="0" anchor="ctr"/>
          <a:lstStyle/>
          <a:p>
            <a:pPr algn="ctr"/>
          </a:p>
        </p:txBody>
      </p:sp>
      <p:sp>
        <p:nvSpPr>
          <p:cNvPr id="8" name="TextBox 7"/>
          <p:cNvSpPr txBox="1"/>
          <p:nvPr/>
        </p:nvSpPr>
        <p:spPr>
          <a:xfrm>
            <a:off x="1051560" y="2212848"/>
            <a:ext cx="10362895" cy="920750"/>
          </a:xfrm>
          <a:prstGeom prst="rect">
            <a:avLst/>
          </a:prstGeom>
          <a:noFill/>
        </p:spPr>
        <p:txBody>
          <a:bodyPr wrap="square" anchor="t" lIns="0" rIns="0" tIns="0" bIns="0">
            <a:spAutoFit/>
          </a:bodyPr>
          <a:lstStyle/>
          <a:p>
            <a:pPr algn="l">
              <a:lnSpc>
                <a:spcPct val="100000"/>
              </a:lnSpc>
              <a:spcBef>
                <a:spcPts val="0"/>
              </a:spcBef>
              <a:spcAft>
                <a:spcPts val="400"/>
              </a:spcAft>
            </a:pPr>
            <a:r>
              <a:rPr sz="1100" b="1" i="0">
                <a:solidFill>
                  <a:srgbClr val="818181"/>
                </a:solidFill>
                <a:latin typeface="Arial"/>
              </a:rPr>
              <a:t>IN PLAIN WORDS</a:t>
            </a:r>
          </a:p>
          <a:p>
            <a:pPr algn="l">
              <a:lnSpc>
                <a:spcPct val="115000"/>
              </a:lnSpc>
              <a:spcBef>
                <a:spcPts val="0"/>
              </a:spcBef>
              <a:spcAft>
                <a:spcPts val="0"/>
              </a:spcAft>
            </a:pPr>
            <a:r>
              <a:rPr sz="1900" b="1" i="0">
                <a:solidFill>
                  <a:srgbClr val="1A1A1A"/>
                </a:solidFill>
                <a:latin typeface="Arial"/>
              </a:rPr>
              <a:t>A set of basic statements about how markets move, taken from what Charles H. Dow wrote and organized by the people who came after him.</a:t>
            </a:r>
          </a:p>
        </p:txBody>
      </p:sp>
      <p:sp>
        <p:nvSpPr>
          <p:cNvPr id="9" name="Rectangle 8"/>
          <p:cNvSpPr/>
          <p:nvPr/>
        </p:nvSpPr>
        <p:spPr>
          <a:xfrm>
            <a:off x="777240" y="3417061"/>
            <a:ext cx="64008" cy="811022"/>
          </a:xfrm>
          <a:prstGeom prst="rect">
            <a:avLst/>
          </a:prstGeom>
          <a:solidFill>
            <a:srgbClr val="D7E0D9"/>
          </a:solidFill>
          <a:ln>
            <a:noFill/>
          </a:ln>
          <a:effectLst/>
        </p:spPr>
        <p:txBody>
          <a:bodyPr rtlCol="0" anchor="ctr"/>
          <a:lstStyle/>
          <a:p>
            <a:pPr algn="ctr"/>
          </a:p>
        </p:txBody>
      </p:sp>
      <p:sp>
        <p:nvSpPr>
          <p:cNvPr id="10" name="TextBox 9"/>
          <p:cNvSpPr txBox="1"/>
          <p:nvPr/>
        </p:nvSpPr>
        <p:spPr>
          <a:xfrm>
            <a:off x="1051560" y="3371342"/>
            <a:ext cx="10362895" cy="920750"/>
          </a:xfrm>
          <a:prstGeom prst="rect">
            <a:avLst/>
          </a:prstGeom>
          <a:noFill/>
        </p:spPr>
        <p:txBody>
          <a:bodyPr wrap="square" anchor="t" lIns="0" rIns="0" tIns="0" bIns="0">
            <a:spAutoFit/>
          </a:bodyPr>
          <a:lstStyle/>
          <a:p>
            <a:pPr algn="l">
              <a:lnSpc>
                <a:spcPct val="100000"/>
              </a:lnSpc>
              <a:spcBef>
                <a:spcPts val="0"/>
              </a:spcBef>
              <a:spcAft>
                <a:spcPts val="400"/>
              </a:spcAft>
            </a:pPr>
            <a:r>
              <a:rPr sz="1100" b="1" i="0">
                <a:solidFill>
                  <a:srgbClr val="818181"/>
                </a:solidFill>
                <a:latin typeface="Arial"/>
              </a:rPr>
              <a:t>FOR EXAMPLE</a:t>
            </a:r>
          </a:p>
          <a:p>
            <a:pPr algn="l">
              <a:lnSpc>
                <a:spcPct val="115000"/>
              </a:lnSpc>
              <a:spcBef>
                <a:spcPts val="0"/>
              </a:spcBef>
              <a:spcAft>
                <a:spcPts val="0"/>
              </a:spcAft>
            </a:pPr>
            <a:r>
              <a:rPr sz="1900" b="0" i="0">
                <a:solidFill>
                  <a:srgbClr val="1A1A1A"/>
                </a:solidFill>
                <a:latin typeface="Arial"/>
              </a:rPr>
              <a:t>It is not a formula and there is nothing to compute. It is six statements, and we take them one at a time.</a:t>
            </a:r>
          </a:p>
        </p:txBody>
      </p:sp>
      <p:sp>
        <p:nvSpPr>
          <p:cNvPr id="11" name="Rectangle 10"/>
          <p:cNvSpPr/>
          <p:nvPr/>
        </p:nvSpPr>
        <p:spPr>
          <a:xfrm>
            <a:off x="777240" y="4575556"/>
            <a:ext cx="64008" cy="811022"/>
          </a:xfrm>
          <a:prstGeom prst="rect">
            <a:avLst/>
          </a:prstGeom>
          <a:solidFill>
            <a:srgbClr val="D7E0D9"/>
          </a:solidFill>
          <a:ln>
            <a:noFill/>
          </a:ln>
          <a:effectLst/>
        </p:spPr>
        <p:txBody>
          <a:bodyPr rtlCol="0" anchor="ctr"/>
          <a:lstStyle/>
          <a:p>
            <a:pPr algn="ctr"/>
          </a:p>
        </p:txBody>
      </p:sp>
      <p:sp>
        <p:nvSpPr>
          <p:cNvPr id="12" name="TextBox 11"/>
          <p:cNvSpPr txBox="1"/>
          <p:nvPr/>
        </p:nvSpPr>
        <p:spPr>
          <a:xfrm>
            <a:off x="1051560" y="4529836"/>
            <a:ext cx="10362895" cy="920750"/>
          </a:xfrm>
          <a:prstGeom prst="rect">
            <a:avLst/>
          </a:prstGeom>
          <a:noFill/>
        </p:spPr>
        <p:txBody>
          <a:bodyPr wrap="square" anchor="t" lIns="0" rIns="0" tIns="0" bIns="0">
            <a:spAutoFit/>
          </a:bodyPr>
          <a:lstStyle/>
          <a:p>
            <a:pPr algn="l">
              <a:lnSpc>
                <a:spcPct val="100000"/>
              </a:lnSpc>
              <a:spcBef>
                <a:spcPts val="0"/>
              </a:spcBef>
              <a:spcAft>
                <a:spcPts val="400"/>
              </a:spcAft>
            </a:pPr>
            <a:r>
              <a:rPr sz="1100" b="1" i="0">
                <a:solidFill>
                  <a:srgbClr val="818181"/>
                </a:solidFill>
                <a:latin typeface="Arial"/>
              </a:rPr>
              <a:t>THE FORMAL DEFINITION</a:t>
            </a:r>
          </a:p>
          <a:p>
            <a:pPr algn="l">
              <a:lnSpc>
                <a:spcPct val="115000"/>
              </a:lnSpc>
              <a:spcBef>
                <a:spcPts val="0"/>
              </a:spcBef>
              <a:spcAft>
                <a:spcPts val="0"/>
              </a:spcAft>
            </a:pPr>
            <a:r>
              <a:rPr sz="1900" b="0" i="0">
                <a:solidFill>
                  <a:srgbClr val="1A1A1A"/>
                </a:solidFill>
                <a:latin typeface="Arial"/>
              </a:rPr>
              <a:t>Dow Theory is the body of basic premises credited to Charles H. Dow and codified by later writers, which lays the basic foundation for modern day technical analysis.</a:t>
            </a:r>
          </a:p>
        </p:txBody>
      </p:sp>
      <p:sp>
        <p:nvSpPr>
          <p:cNvPr id="13" name="TextBox 12"/>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1 of 6 - Origins  |  2 of 13</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TextBox 3"/>
          <p:cNvSpPr txBox="1"/>
          <p:nvPr/>
        </p:nvSpPr>
        <p:spPr>
          <a:xfrm>
            <a:off x="777240" y="658368"/>
            <a:ext cx="10637215" cy="914400"/>
          </a:xfrm>
          <a:prstGeom prst="rect">
            <a:avLst/>
          </a:prstGeom>
          <a:noFill/>
        </p:spPr>
        <p:txBody>
          <a:bodyPr wrap="square" anchor="t" lIns="0" rIns="0" tIns="0" bIns="0">
            <a:spAutoFit/>
          </a:bodyPr>
          <a:lstStyle/>
          <a:p>
            <a:pPr algn="l">
              <a:lnSpc>
                <a:spcPct val="105000"/>
              </a:lnSpc>
              <a:spcBef>
                <a:spcPts val="0"/>
              </a:spcBef>
              <a:spcAft>
                <a:spcPts val="0"/>
              </a:spcAft>
            </a:pPr>
            <a:r>
              <a:rPr sz="3000" b="0" i="0">
                <a:solidFill>
                  <a:srgbClr val="007A33"/>
                </a:solidFill>
                <a:latin typeface="Palatino"/>
              </a:rPr>
              <a:t>Charles H. Dow</a:t>
            </a:r>
          </a:p>
        </p:txBody>
      </p:sp>
      <p:sp>
        <p:nvSpPr>
          <p:cNvPr id="5" name="Rectangle 4"/>
          <p:cNvSpPr/>
          <p:nvPr/>
        </p:nvSpPr>
        <p:spPr>
          <a:xfrm>
            <a:off x="777240" y="1572768"/>
            <a:ext cx="10637215" cy="15875"/>
          </a:xfrm>
          <a:prstGeom prst="rect">
            <a:avLst/>
          </a:prstGeom>
          <a:solidFill>
            <a:srgbClr val="D7E0D9"/>
          </a:solidFill>
          <a:ln>
            <a:noFill/>
          </a:ln>
          <a:effectLst/>
        </p:spPr>
        <p:txBody>
          <a:bodyPr rtlCol="0" anchor="ctr"/>
          <a:lstStyle/>
          <a:p>
            <a:pPr algn="ctr"/>
          </a:p>
        </p:txBody>
      </p:sp>
      <p:sp>
        <p:nvSpPr>
          <p:cNvPr id="6" name="TextBox 5"/>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1 of 6 - Origins  |  3 of 13</a:t>
            </a:r>
          </a:p>
        </p:txBody>
      </p:sp>
      <p:sp>
        <p:nvSpPr>
          <p:cNvPr id="7" name="TextBox 6"/>
          <p:cNvSpPr txBox="1"/>
          <p:nvPr/>
        </p:nvSpPr>
        <p:spPr>
          <a:xfrm>
            <a:off x="777240" y="1965960"/>
            <a:ext cx="10637215" cy="3108960"/>
          </a:xfrm>
          <a:prstGeom prst="rect">
            <a:avLst/>
          </a:prstGeom>
          <a:noFill/>
        </p:spPr>
        <p:txBody>
          <a:bodyPr wrap="square" anchor="t" lIns="0" rIns="0" tIns="0" bIns="0">
            <a:spAutoFit/>
          </a:bodyPr>
          <a:lstStyle/>
          <a:p>
            <a:pPr algn="l">
              <a:lnSpc>
                <a:spcPct val="118000"/>
              </a:lnSpc>
              <a:spcBef>
                <a:spcPts val="0"/>
              </a:spcBef>
              <a:spcAft>
                <a:spcPts val="1300"/>
              </a:spcAft>
            </a:pPr>
            <a:r>
              <a:rPr sz="2100" b="0" i="0">
                <a:solidFill>
                  <a:srgbClr val="1A1A1A"/>
                </a:solidFill>
                <a:latin typeface="Arial"/>
              </a:rPr>
              <a:t>Dow is credited for much of the early work that led to Dow Theory.</a:t>
            </a:r>
          </a:p>
          <a:p>
            <a:pPr algn="l">
              <a:lnSpc>
                <a:spcPct val="118000"/>
              </a:lnSpc>
              <a:spcBef>
                <a:spcPts val="0"/>
              </a:spcBef>
              <a:spcAft>
                <a:spcPts val="1300"/>
              </a:spcAft>
            </a:pPr>
            <a:r>
              <a:rPr sz="2100" b="0" i="0">
                <a:solidFill>
                  <a:srgbClr val="1A1A1A"/>
                </a:solidFill>
                <a:latin typeface="Arial"/>
              </a:rPr>
              <a:t>His writing was not a book. It was editorials in the Wall Street Journal.</a:t>
            </a:r>
          </a:p>
          <a:p>
            <a:pPr algn="l">
              <a:lnSpc>
                <a:spcPct val="118000"/>
              </a:lnSpc>
              <a:spcBef>
                <a:spcPts val="0"/>
              </a:spcBef>
              <a:spcAft>
                <a:spcPts val="1300"/>
              </a:spcAft>
            </a:pPr>
            <a:r>
              <a:rPr sz="2100" b="0" i="0">
                <a:solidFill>
                  <a:srgbClr val="1A1A1A"/>
                </a:solidFill>
                <a:latin typeface="Arial"/>
              </a:rPr>
              <a:t>They were published around the beginning of the twentieth century.</a:t>
            </a:r>
          </a:p>
        </p:txBody>
      </p:sp>
      <p:sp>
        <p:nvSpPr>
          <p:cNvPr id="8" name="Rectangle 7"/>
          <p:cNvSpPr/>
          <p:nvPr/>
        </p:nvSpPr>
        <p:spPr>
          <a:xfrm>
            <a:off x="777240" y="3769614"/>
            <a:ext cx="82296" cy="467614"/>
          </a:xfrm>
          <a:prstGeom prst="rect">
            <a:avLst/>
          </a:prstGeom>
          <a:solidFill>
            <a:srgbClr val="F2A900"/>
          </a:solidFill>
          <a:ln>
            <a:noFill/>
          </a:ln>
          <a:effectLst/>
        </p:spPr>
        <p:txBody>
          <a:bodyPr rtlCol="0" anchor="ctr"/>
          <a:lstStyle/>
          <a:p>
            <a:pPr algn="ctr"/>
          </a:p>
        </p:txBody>
      </p:sp>
      <p:sp>
        <p:nvSpPr>
          <p:cNvPr id="9" name="TextBox 8"/>
          <p:cNvSpPr txBox="1"/>
          <p:nvPr/>
        </p:nvSpPr>
        <p:spPr>
          <a:xfrm>
            <a:off x="1069848" y="3806190"/>
            <a:ext cx="10344607" cy="467614"/>
          </a:xfrm>
          <a:prstGeom prst="rect">
            <a:avLst/>
          </a:prstGeom>
          <a:noFill/>
        </p:spPr>
        <p:txBody>
          <a:bodyPr wrap="square" anchor="t" lIns="0" rIns="0" tIns="0" bIns="0">
            <a:spAutoFit/>
          </a:bodyPr>
          <a:lstStyle/>
          <a:p>
            <a:pPr algn="l">
              <a:lnSpc>
                <a:spcPct val="115000"/>
              </a:lnSpc>
              <a:spcBef>
                <a:spcPts val="0"/>
              </a:spcBef>
              <a:spcAft>
                <a:spcPts val="0"/>
              </a:spcAft>
            </a:pPr>
            <a:r>
              <a:rPr sz="2200" b="1" i="0">
                <a:solidFill>
                  <a:srgbClr val="1A1A1A"/>
                </a:solidFill>
                <a:latin typeface="Arial"/>
              </a:rPr>
              <a:t>Dow wrote the ideas. Other people assembled them into a theory.</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TextBox 3"/>
          <p:cNvSpPr txBox="1"/>
          <p:nvPr/>
        </p:nvSpPr>
        <p:spPr>
          <a:xfrm>
            <a:off x="777240" y="658368"/>
            <a:ext cx="10637215" cy="914400"/>
          </a:xfrm>
          <a:prstGeom prst="rect">
            <a:avLst/>
          </a:prstGeom>
          <a:noFill/>
        </p:spPr>
        <p:txBody>
          <a:bodyPr wrap="square" anchor="t" lIns="0" rIns="0" tIns="0" bIns="0">
            <a:spAutoFit/>
          </a:bodyPr>
          <a:lstStyle/>
          <a:p>
            <a:pPr algn="l">
              <a:lnSpc>
                <a:spcPct val="105000"/>
              </a:lnSpc>
              <a:spcBef>
                <a:spcPts val="0"/>
              </a:spcBef>
              <a:spcAft>
                <a:spcPts val="0"/>
              </a:spcAft>
            </a:pPr>
            <a:r>
              <a:rPr sz="3000" b="0" i="0">
                <a:solidFill>
                  <a:srgbClr val="007A33"/>
                </a:solidFill>
                <a:latin typeface="Palatino"/>
              </a:rPr>
              <a:t>The three who came after him</a:t>
            </a:r>
          </a:p>
        </p:txBody>
      </p:sp>
      <p:sp>
        <p:nvSpPr>
          <p:cNvPr id="5" name="Rectangle 4"/>
          <p:cNvSpPr/>
          <p:nvPr/>
        </p:nvSpPr>
        <p:spPr>
          <a:xfrm>
            <a:off x="777240" y="1572768"/>
            <a:ext cx="10637215" cy="15875"/>
          </a:xfrm>
          <a:prstGeom prst="rect">
            <a:avLst/>
          </a:prstGeom>
          <a:solidFill>
            <a:srgbClr val="D7E0D9"/>
          </a:solidFill>
          <a:ln>
            <a:noFill/>
          </a:ln>
          <a:effectLst/>
        </p:spPr>
        <p:txBody>
          <a:bodyPr rtlCol="0" anchor="ctr"/>
          <a:lstStyle/>
          <a:p>
            <a:pPr algn="ctr"/>
          </a:p>
        </p:txBody>
      </p:sp>
      <p:sp>
        <p:nvSpPr>
          <p:cNvPr id="6" name="TextBox 5"/>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1 of 6 - Origins  |  4 of 13</a:t>
            </a:r>
          </a:p>
        </p:txBody>
      </p:sp>
      <p:sp>
        <p:nvSpPr>
          <p:cNvPr id="7" name="TextBox 6"/>
          <p:cNvSpPr txBox="1"/>
          <p:nvPr/>
        </p:nvSpPr>
        <p:spPr>
          <a:xfrm>
            <a:off x="777240" y="1965960"/>
            <a:ext cx="10637215" cy="3108960"/>
          </a:xfrm>
          <a:prstGeom prst="rect">
            <a:avLst/>
          </a:prstGeom>
          <a:noFill/>
        </p:spPr>
        <p:txBody>
          <a:bodyPr wrap="square" anchor="t" lIns="0" rIns="0" tIns="0" bIns="0">
            <a:spAutoFit/>
          </a:bodyPr>
          <a:lstStyle/>
          <a:p>
            <a:pPr algn="l">
              <a:lnSpc>
                <a:spcPct val="118000"/>
              </a:lnSpc>
              <a:spcBef>
                <a:spcPts val="0"/>
              </a:spcBef>
              <a:spcAft>
                <a:spcPts val="1300"/>
              </a:spcAft>
            </a:pPr>
            <a:r>
              <a:rPr sz="2100" b="0" i="0">
                <a:solidFill>
                  <a:srgbClr val="1A1A1A"/>
                </a:solidFill>
                <a:latin typeface="Arial"/>
              </a:rPr>
              <a:t>William P. Hamilton, Dow's successor. Book: The Stock Market Barometer.</a:t>
            </a:r>
          </a:p>
          <a:p>
            <a:pPr algn="l">
              <a:lnSpc>
                <a:spcPct val="118000"/>
              </a:lnSpc>
              <a:spcBef>
                <a:spcPts val="0"/>
              </a:spcBef>
              <a:spcAft>
                <a:spcPts val="1300"/>
              </a:spcAft>
            </a:pPr>
            <a:r>
              <a:rPr sz="2100" b="0" i="0">
                <a:solidFill>
                  <a:srgbClr val="1A1A1A"/>
                </a:solidFill>
                <a:latin typeface="Arial"/>
              </a:rPr>
              <a:t>S. A. Nelson, a close acquaintance of Dow's. Book: The ABC of Stock Speculation.</a:t>
            </a:r>
          </a:p>
          <a:p>
            <a:pPr algn="l">
              <a:lnSpc>
                <a:spcPct val="118000"/>
              </a:lnSpc>
              <a:spcBef>
                <a:spcPts val="0"/>
              </a:spcBef>
              <a:spcAft>
                <a:spcPts val="1300"/>
              </a:spcAft>
            </a:pPr>
            <a:r>
              <a:rPr sz="2100" b="0" i="0">
                <a:solidFill>
                  <a:srgbClr val="1A1A1A"/>
                </a:solidFill>
                <a:latin typeface="Arial"/>
              </a:rPr>
              <a:t>Robert Rhea, a student of Hamilton. Book: The Dow Theory.</a:t>
            </a:r>
          </a:p>
        </p:txBody>
      </p:sp>
      <p:sp>
        <p:nvSpPr>
          <p:cNvPr id="8" name="Rectangle 7"/>
          <p:cNvSpPr/>
          <p:nvPr/>
        </p:nvSpPr>
        <p:spPr>
          <a:xfrm>
            <a:off x="777240" y="4084320"/>
            <a:ext cx="82296" cy="467614"/>
          </a:xfrm>
          <a:prstGeom prst="rect">
            <a:avLst/>
          </a:prstGeom>
          <a:solidFill>
            <a:srgbClr val="F2A900"/>
          </a:solidFill>
          <a:ln>
            <a:noFill/>
          </a:ln>
          <a:effectLst/>
        </p:spPr>
        <p:txBody>
          <a:bodyPr rtlCol="0" anchor="ctr"/>
          <a:lstStyle/>
          <a:p>
            <a:pPr algn="ctr"/>
          </a:p>
        </p:txBody>
      </p:sp>
      <p:sp>
        <p:nvSpPr>
          <p:cNvPr id="9" name="TextBox 8"/>
          <p:cNvSpPr txBox="1"/>
          <p:nvPr/>
        </p:nvSpPr>
        <p:spPr>
          <a:xfrm>
            <a:off x="1069848" y="4120896"/>
            <a:ext cx="10344607" cy="467614"/>
          </a:xfrm>
          <a:prstGeom prst="rect">
            <a:avLst/>
          </a:prstGeom>
          <a:noFill/>
        </p:spPr>
        <p:txBody>
          <a:bodyPr wrap="square" anchor="t" lIns="0" rIns="0" tIns="0" bIns="0">
            <a:spAutoFit/>
          </a:bodyPr>
          <a:lstStyle/>
          <a:p>
            <a:pPr algn="l">
              <a:lnSpc>
                <a:spcPct val="115000"/>
              </a:lnSpc>
              <a:spcBef>
                <a:spcPts val="0"/>
              </a:spcBef>
              <a:spcAft>
                <a:spcPts val="0"/>
              </a:spcAft>
            </a:pPr>
            <a:r>
              <a:rPr sz="2200" b="1" i="0">
                <a:solidFill>
                  <a:srgbClr val="1A1A1A"/>
                </a:solidFill>
                <a:latin typeface="Arial"/>
              </a:rPr>
              <a:t>Nelson was the first person to call the ideas the Dow Theory.</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TextBox 3"/>
          <p:cNvSpPr txBox="1"/>
          <p:nvPr/>
        </p:nvSpPr>
        <p:spPr>
          <a:xfrm>
            <a:off x="777240" y="658368"/>
            <a:ext cx="10637215" cy="914400"/>
          </a:xfrm>
          <a:prstGeom prst="rect">
            <a:avLst/>
          </a:prstGeom>
          <a:noFill/>
        </p:spPr>
        <p:txBody>
          <a:bodyPr wrap="square" anchor="t" lIns="0" rIns="0" tIns="0" bIns="0">
            <a:spAutoFit/>
          </a:bodyPr>
          <a:lstStyle/>
          <a:p>
            <a:pPr algn="l">
              <a:lnSpc>
                <a:spcPct val="105000"/>
              </a:lnSpc>
              <a:spcBef>
                <a:spcPts val="0"/>
              </a:spcBef>
              <a:spcAft>
                <a:spcPts val="0"/>
              </a:spcAft>
            </a:pPr>
            <a:r>
              <a:rPr sz="3000" b="0" i="0">
                <a:solidFill>
                  <a:srgbClr val="007A33"/>
                </a:solidFill>
                <a:latin typeface="Palatino"/>
              </a:rPr>
              <a:t>What each of them actually did</a:t>
            </a:r>
          </a:p>
        </p:txBody>
      </p:sp>
      <p:sp>
        <p:nvSpPr>
          <p:cNvPr id="5" name="Rectangle 4"/>
          <p:cNvSpPr/>
          <p:nvPr/>
        </p:nvSpPr>
        <p:spPr>
          <a:xfrm>
            <a:off x="777240" y="1572768"/>
            <a:ext cx="10637215" cy="15875"/>
          </a:xfrm>
          <a:prstGeom prst="rect">
            <a:avLst/>
          </a:prstGeom>
          <a:solidFill>
            <a:srgbClr val="D7E0D9"/>
          </a:solidFill>
          <a:ln>
            <a:noFill/>
          </a:ln>
          <a:effectLst/>
        </p:spPr>
        <p:txBody>
          <a:bodyPr rtlCol="0" anchor="ctr"/>
          <a:lstStyle/>
          <a:p>
            <a:pPr algn="ctr"/>
          </a:p>
        </p:txBody>
      </p:sp>
      <p:sp>
        <p:nvSpPr>
          <p:cNvPr id="6" name="TextBox 5"/>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1 of 6 - Origins  |  5 of 13</a:t>
            </a:r>
          </a:p>
        </p:txBody>
      </p:sp>
      <p:sp>
        <p:nvSpPr>
          <p:cNvPr id="7" name="TextBox 6"/>
          <p:cNvSpPr txBox="1"/>
          <p:nvPr/>
        </p:nvSpPr>
        <p:spPr>
          <a:xfrm>
            <a:off x="777240" y="1965960"/>
            <a:ext cx="10637215" cy="3108960"/>
          </a:xfrm>
          <a:prstGeom prst="rect">
            <a:avLst/>
          </a:prstGeom>
          <a:noFill/>
        </p:spPr>
        <p:txBody>
          <a:bodyPr wrap="square" anchor="t" lIns="0" rIns="0" tIns="0" bIns="0">
            <a:spAutoFit/>
          </a:bodyPr>
          <a:lstStyle/>
          <a:p>
            <a:pPr algn="l">
              <a:lnSpc>
                <a:spcPct val="118000"/>
              </a:lnSpc>
              <a:spcBef>
                <a:spcPts val="0"/>
              </a:spcBef>
              <a:spcAft>
                <a:spcPts val="1300"/>
              </a:spcAft>
            </a:pPr>
            <a:r>
              <a:rPr sz="2100" b="0" i="0">
                <a:solidFill>
                  <a:srgbClr val="1A1A1A"/>
                </a:solidFill>
                <a:latin typeface="Arial"/>
              </a:rPr>
              <a:t>Hamilton carried on developing and organizing Dow's original early writings.</a:t>
            </a:r>
          </a:p>
          <a:p>
            <a:pPr algn="l">
              <a:lnSpc>
                <a:spcPct val="118000"/>
              </a:lnSpc>
              <a:spcBef>
                <a:spcPts val="0"/>
              </a:spcBef>
              <a:spcAft>
                <a:spcPts val="1300"/>
              </a:spcAft>
            </a:pPr>
            <a:r>
              <a:rPr sz="2100" b="0" i="0">
                <a:solidFill>
                  <a:srgbClr val="1A1A1A"/>
                </a:solidFill>
                <a:latin typeface="Arial"/>
              </a:rPr>
              <a:t>Nelson published a book about Dow's work, and named the theory.</a:t>
            </a:r>
          </a:p>
          <a:p>
            <a:pPr algn="l">
              <a:lnSpc>
                <a:spcPct val="118000"/>
              </a:lnSpc>
              <a:spcBef>
                <a:spcPts val="0"/>
              </a:spcBef>
              <a:spcAft>
                <a:spcPts val="1300"/>
              </a:spcAft>
            </a:pPr>
            <a:r>
              <a:rPr sz="2100" b="0" i="0">
                <a:solidFill>
                  <a:srgbClr val="1A1A1A"/>
                </a:solidFill>
                <a:latin typeface="Arial"/>
              </a:rPr>
              <a:t>Rhea did the categorizing, the refining and the formal codification.</a:t>
            </a:r>
          </a:p>
        </p:txBody>
      </p:sp>
      <p:sp>
        <p:nvSpPr>
          <p:cNvPr id="8" name="Rectangle 7"/>
          <p:cNvSpPr/>
          <p:nvPr/>
        </p:nvSpPr>
        <p:spPr>
          <a:xfrm>
            <a:off x="777240" y="3769614"/>
            <a:ext cx="82296" cy="788924"/>
          </a:xfrm>
          <a:prstGeom prst="rect">
            <a:avLst/>
          </a:prstGeom>
          <a:solidFill>
            <a:srgbClr val="F2A900"/>
          </a:solidFill>
          <a:ln>
            <a:noFill/>
          </a:ln>
          <a:effectLst/>
        </p:spPr>
        <p:txBody>
          <a:bodyPr rtlCol="0" anchor="ctr"/>
          <a:lstStyle/>
          <a:p>
            <a:pPr algn="ctr"/>
          </a:p>
        </p:txBody>
      </p:sp>
      <p:sp>
        <p:nvSpPr>
          <p:cNvPr id="9" name="TextBox 8"/>
          <p:cNvSpPr txBox="1"/>
          <p:nvPr/>
        </p:nvSpPr>
        <p:spPr>
          <a:xfrm>
            <a:off x="1069848" y="3806190"/>
            <a:ext cx="10344607" cy="788924"/>
          </a:xfrm>
          <a:prstGeom prst="rect">
            <a:avLst/>
          </a:prstGeom>
          <a:noFill/>
        </p:spPr>
        <p:txBody>
          <a:bodyPr wrap="square" anchor="t" lIns="0" rIns="0" tIns="0" bIns="0">
            <a:spAutoFit/>
          </a:bodyPr>
          <a:lstStyle/>
          <a:p>
            <a:pPr algn="l">
              <a:lnSpc>
                <a:spcPct val="115000"/>
              </a:lnSpc>
              <a:spcBef>
                <a:spcPts val="0"/>
              </a:spcBef>
              <a:spcAft>
                <a:spcPts val="0"/>
              </a:spcAft>
            </a:pPr>
            <a:r>
              <a:rPr sz="2200" b="1" i="0">
                <a:solidFill>
                  <a:srgbClr val="1A1A1A"/>
                </a:solidFill>
                <a:latin typeface="Arial"/>
              </a:rPr>
              <a:t>It was Rhea's work that really developed the theory and laid its foundation.</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TextBox 3"/>
          <p:cNvSpPr txBox="1"/>
          <p:nvPr/>
        </p:nvSpPr>
        <p:spPr>
          <a:xfrm>
            <a:off x="777240" y="658368"/>
            <a:ext cx="10637215" cy="914400"/>
          </a:xfrm>
          <a:prstGeom prst="rect">
            <a:avLst/>
          </a:prstGeom>
          <a:noFill/>
        </p:spPr>
        <p:txBody>
          <a:bodyPr wrap="square" anchor="t" lIns="0" rIns="0" tIns="0" bIns="0">
            <a:spAutoFit/>
          </a:bodyPr>
          <a:lstStyle/>
          <a:p>
            <a:pPr algn="l">
              <a:lnSpc>
                <a:spcPct val="105000"/>
              </a:lnSpc>
              <a:spcBef>
                <a:spcPts val="0"/>
              </a:spcBef>
              <a:spcAft>
                <a:spcPts val="0"/>
              </a:spcAft>
            </a:pPr>
            <a:r>
              <a:rPr sz="3000" b="0" i="0">
                <a:solidFill>
                  <a:srgbClr val="007A33"/>
                </a:solidFill>
                <a:latin typeface="Palatino"/>
              </a:rPr>
              <a:t>Rhea built the theory on three assumptions</a:t>
            </a:r>
          </a:p>
        </p:txBody>
      </p:sp>
      <p:sp>
        <p:nvSpPr>
          <p:cNvPr id="5" name="Rectangle 4"/>
          <p:cNvSpPr/>
          <p:nvPr/>
        </p:nvSpPr>
        <p:spPr>
          <a:xfrm>
            <a:off x="777240" y="1572768"/>
            <a:ext cx="10637215" cy="15875"/>
          </a:xfrm>
          <a:prstGeom prst="rect">
            <a:avLst/>
          </a:prstGeom>
          <a:solidFill>
            <a:srgbClr val="D7E0D9"/>
          </a:solidFill>
          <a:ln>
            <a:noFill/>
          </a:ln>
          <a:effectLst/>
        </p:spPr>
        <p:txBody>
          <a:bodyPr rtlCol="0" anchor="ctr"/>
          <a:lstStyle/>
          <a:p>
            <a:pPr algn="ctr"/>
          </a:p>
        </p:txBody>
      </p:sp>
      <p:sp>
        <p:nvSpPr>
          <p:cNvPr id="6" name="TextBox 5"/>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1 of 6 - Origins  |  6 of 13</a:t>
            </a:r>
          </a:p>
        </p:txBody>
      </p:sp>
      <p:sp>
        <p:nvSpPr>
          <p:cNvPr id="7" name="TextBox 6"/>
          <p:cNvSpPr txBox="1"/>
          <p:nvPr/>
        </p:nvSpPr>
        <p:spPr>
          <a:xfrm>
            <a:off x="777240" y="1965960"/>
            <a:ext cx="10637215" cy="3108960"/>
          </a:xfrm>
          <a:prstGeom prst="rect">
            <a:avLst/>
          </a:prstGeom>
          <a:noFill/>
        </p:spPr>
        <p:txBody>
          <a:bodyPr wrap="square" anchor="t" lIns="0" rIns="0" tIns="0" bIns="0">
            <a:spAutoFit/>
          </a:bodyPr>
          <a:lstStyle/>
          <a:p>
            <a:pPr algn="l">
              <a:lnSpc>
                <a:spcPct val="118000"/>
              </a:lnSpc>
              <a:spcBef>
                <a:spcPts val="0"/>
              </a:spcBef>
              <a:spcAft>
                <a:spcPts val="1300"/>
              </a:spcAft>
            </a:pPr>
            <a:r>
              <a:rPr sz="2100" b="0" i="0">
                <a:solidFill>
                  <a:srgbClr val="1A1A1A"/>
                </a:solidFill>
                <a:latin typeface="Arial"/>
              </a:rPr>
              <a:t>1.  The primary trend is not susceptible to manipulation.</a:t>
            </a:r>
          </a:p>
          <a:p>
            <a:pPr algn="l">
              <a:lnSpc>
                <a:spcPct val="118000"/>
              </a:lnSpc>
              <a:spcBef>
                <a:spcPts val="0"/>
              </a:spcBef>
              <a:spcAft>
                <a:spcPts val="1300"/>
              </a:spcAft>
            </a:pPr>
            <a:r>
              <a:rPr sz="2100" b="0" i="0">
                <a:solidFill>
                  <a:srgbClr val="1A1A1A"/>
                </a:solidFill>
                <a:latin typeface="Arial"/>
              </a:rPr>
              <a:t>2.  The averages discount everything. Price reflects all information.</a:t>
            </a:r>
          </a:p>
          <a:p>
            <a:pPr algn="l">
              <a:lnSpc>
                <a:spcPct val="118000"/>
              </a:lnSpc>
              <a:spcBef>
                <a:spcPts val="0"/>
              </a:spcBef>
              <a:spcAft>
                <a:spcPts val="1300"/>
              </a:spcAft>
            </a:pPr>
            <a:r>
              <a:rPr sz="2100" b="0" i="0">
                <a:solidFill>
                  <a:srgbClr val="1A1A1A"/>
                </a:solidFill>
                <a:latin typeface="Arial"/>
              </a:rPr>
              <a:t>3.  Dow Theory is not perfect. It will not guarantee profitability.</a:t>
            </a:r>
          </a:p>
        </p:txBody>
      </p:sp>
      <p:sp>
        <p:nvSpPr>
          <p:cNvPr id="8" name="Rectangle 7"/>
          <p:cNvSpPr/>
          <p:nvPr/>
        </p:nvSpPr>
        <p:spPr>
          <a:xfrm>
            <a:off x="777240" y="3769614"/>
            <a:ext cx="82296" cy="467614"/>
          </a:xfrm>
          <a:prstGeom prst="rect">
            <a:avLst/>
          </a:prstGeom>
          <a:solidFill>
            <a:srgbClr val="F2A900"/>
          </a:solidFill>
          <a:ln>
            <a:noFill/>
          </a:ln>
          <a:effectLst/>
        </p:spPr>
        <p:txBody>
          <a:bodyPr rtlCol="0" anchor="ctr"/>
          <a:lstStyle/>
          <a:p>
            <a:pPr algn="ctr"/>
          </a:p>
        </p:txBody>
      </p:sp>
      <p:sp>
        <p:nvSpPr>
          <p:cNvPr id="9" name="TextBox 8"/>
          <p:cNvSpPr txBox="1"/>
          <p:nvPr/>
        </p:nvSpPr>
        <p:spPr>
          <a:xfrm>
            <a:off x="1069848" y="3806190"/>
            <a:ext cx="10344607" cy="467614"/>
          </a:xfrm>
          <a:prstGeom prst="rect">
            <a:avLst/>
          </a:prstGeom>
          <a:noFill/>
        </p:spPr>
        <p:txBody>
          <a:bodyPr wrap="square" anchor="t" lIns="0" rIns="0" tIns="0" bIns="0">
            <a:spAutoFit/>
          </a:bodyPr>
          <a:lstStyle/>
          <a:p>
            <a:pPr algn="l">
              <a:lnSpc>
                <a:spcPct val="115000"/>
              </a:lnSpc>
              <a:spcBef>
                <a:spcPts val="0"/>
              </a:spcBef>
              <a:spcAft>
                <a:spcPts val="0"/>
              </a:spcAft>
            </a:pPr>
            <a:r>
              <a:rPr sz="2200" b="1" i="0">
                <a:solidFill>
                  <a:srgbClr val="1A1A1A"/>
                </a:solidFill>
                <a:latin typeface="Arial"/>
              </a:rPr>
              <a:t>At most, Rhea said, treat it as a set of guidelines for investing.</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Rectangle 3"/>
          <p:cNvSpPr/>
          <p:nvPr/>
        </p:nvSpPr>
        <p:spPr>
          <a:xfrm>
            <a:off x="777240" y="566928"/>
            <a:ext cx="1234440" cy="329184"/>
          </a:xfrm>
          <a:prstGeom prst="rect">
            <a:avLst/>
          </a:prstGeom>
          <a:solidFill>
            <a:srgbClr val="F2A900"/>
          </a:solidFill>
          <a:ln>
            <a:noFill/>
          </a:ln>
          <a:effectLst/>
        </p:spPr>
        <p:txBody>
          <a:bodyPr rtlCol="0" anchor="ctr" wrap="none" lIns="0" rIns="0" tIns="0" bIns="0"/>
          <a:lstStyle/>
          <a:p>
            <a:pPr algn="ctr">
              <a:lnSpc>
                <a:spcPct val="100000"/>
              </a:lnSpc>
              <a:spcBef>
                <a:spcPts val="0"/>
              </a:spcBef>
              <a:spcAft>
                <a:spcPts val="0"/>
              </a:spcAft>
            </a:pPr>
            <a:r>
              <a:rPr sz="1200" b="1" i="0">
                <a:solidFill>
                  <a:srgbClr val="1A1A1A"/>
                </a:solidFill>
                <a:latin typeface="Arial"/>
              </a:rPr>
              <a:t>NEW TERM</a:t>
            </a:r>
          </a:p>
        </p:txBody>
      </p:sp>
      <p:sp>
        <p:nvSpPr>
          <p:cNvPr id="5" name="TextBox 4"/>
          <p:cNvSpPr txBox="1"/>
          <p:nvPr/>
        </p:nvSpPr>
        <p:spPr>
          <a:xfrm>
            <a:off x="777240" y="1051560"/>
            <a:ext cx="10637215" cy="822960"/>
          </a:xfrm>
          <a:prstGeom prst="rect">
            <a:avLst/>
          </a:prstGeom>
          <a:noFill/>
        </p:spPr>
        <p:txBody>
          <a:bodyPr wrap="square" anchor="t" lIns="0" rIns="0" tIns="0" bIns="0">
            <a:spAutoFit/>
          </a:bodyPr>
          <a:lstStyle/>
          <a:p>
            <a:pPr algn="l">
              <a:lnSpc>
                <a:spcPct val="105000"/>
              </a:lnSpc>
              <a:spcBef>
                <a:spcPts val="0"/>
              </a:spcBef>
              <a:spcAft>
                <a:spcPts val="0"/>
              </a:spcAft>
            </a:pPr>
            <a:r>
              <a:rPr sz="3200" b="0" i="0">
                <a:solidFill>
                  <a:srgbClr val="007A33"/>
                </a:solidFill>
                <a:latin typeface="Palatino"/>
              </a:rPr>
              <a:t>The primary trend is not susceptible to manipulation</a:t>
            </a:r>
          </a:p>
        </p:txBody>
      </p:sp>
      <p:sp>
        <p:nvSpPr>
          <p:cNvPr id="6" name="Rectangle 5"/>
          <p:cNvSpPr/>
          <p:nvPr/>
        </p:nvSpPr>
        <p:spPr>
          <a:xfrm>
            <a:off x="777240" y="1874519"/>
            <a:ext cx="10637215" cy="15875"/>
          </a:xfrm>
          <a:prstGeom prst="rect">
            <a:avLst/>
          </a:prstGeom>
          <a:solidFill>
            <a:srgbClr val="D7E0D9"/>
          </a:solidFill>
          <a:ln>
            <a:noFill/>
          </a:ln>
          <a:effectLst/>
        </p:spPr>
        <p:txBody>
          <a:bodyPr rtlCol="0" anchor="ctr"/>
          <a:lstStyle/>
          <a:p>
            <a:pPr algn="ctr"/>
          </a:p>
        </p:txBody>
      </p:sp>
      <p:sp>
        <p:nvSpPr>
          <p:cNvPr id="7" name="Rectangle 6"/>
          <p:cNvSpPr/>
          <p:nvPr/>
        </p:nvSpPr>
        <p:spPr>
          <a:xfrm>
            <a:off x="777240" y="2258568"/>
            <a:ext cx="64008" cy="811022"/>
          </a:xfrm>
          <a:prstGeom prst="rect">
            <a:avLst/>
          </a:prstGeom>
          <a:solidFill>
            <a:srgbClr val="F2A900"/>
          </a:solidFill>
          <a:ln>
            <a:noFill/>
          </a:ln>
          <a:effectLst/>
        </p:spPr>
        <p:txBody>
          <a:bodyPr rtlCol="0" anchor="ctr"/>
          <a:lstStyle/>
          <a:p>
            <a:pPr algn="ctr"/>
          </a:p>
        </p:txBody>
      </p:sp>
      <p:sp>
        <p:nvSpPr>
          <p:cNvPr id="8" name="TextBox 7"/>
          <p:cNvSpPr txBox="1"/>
          <p:nvPr/>
        </p:nvSpPr>
        <p:spPr>
          <a:xfrm>
            <a:off x="1051560" y="2212848"/>
            <a:ext cx="10362895" cy="920750"/>
          </a:xfrm>
          <a:prstGeom prst="rect">
            <a:avLst/>
          </a:prstGeom>
          <a:noFill/>
        </p:spPr>
        <p:txBody>
          <a:bodyPr wrap="square" anchor="t" lIns="0" rIns="0" tIns="0" bIns="0">
            <a:spAutoFit/>
          </a:bodyPr>
          <a:lstStyle/>
          <a:p>
            <a:pPr algn="l">
              <a:lnSpc>
                <a:spcPct val="100000"/>
              </a:lnSpc>
              <a:spcBef>
                <a:spcPts val="0"/>
              </a:spcBef>
              <a:spcAft>
                <a:spcPts val="400"/>
              </a:spcAft>
            </a:pPr>
            <a:r>
              <a:rPr sz="1100" b="1" i="0">
                <a:solidFill>
                  <a:srgbClr val="818181"/>
                </a:solidFill>
                <a:latin typeface="Arial"/>
              </a:rPr>
              <a:t>IN PLAIN WORDS</a:t>
            </a:r>
          </a:p>
          <a:p>
            <a:pPr algn="l">
              <a:lnSpc>
                <a:spcPct val="115000"/>
              </a:lnSpc>
              <a:spcBef>
                <a:spcPts val="0"/>
              </a:spcBef>
              <a:spcAft>
                <a:spcPts val="0"/>
              </a:spcAft>
            </a:pPr>
            <a:r>
              <a:rPr sz="1900" b="1" i="0">
                <a:solidFill>
                  <a:srgbClr val="1A1A1A"/>
                </a:solidFill>
                <a:latin typeface="Arial"/>
              </a:rPr>
              <a:t>Rhea's first assumption. The long movement of a market is too big for anyone to push around, though a shorter stretch of it might be.</a:t>
            </a:r>
          </a:p>
        </p:txBody>
      </p:sp>
      <p:sp>
        <p:nvSpPr>
          <p:cNvPr id="9" name="Rectangle 8"/>
          <p:cNvSpPr/>
          <p:nvPr/>
        </p:nvSpPr>
        <p:spPr>
          <a:xfrm>
            <a:off x="777240" y="3417061"/>
            <a:ext cx="64008" cy="811022"/>
          </a:xfrm>
          <a:prstGeom prst="rect">
            <a:avLst/>
          </a:prstGeom>
          <a:solidFill>
            <a:srgbClr val="D7E0D9"/>
          </a:solidFill>
          <a:ln>
            <a:noFill/>
          </a:ln>
          <a:effectLst/>
        </p:spPr>
        <p:txBody>
          <a:bodyPr rtlCol="0" anchor="ctr"/>
          <a:lstStyle/>
          <a:p>
            <a:pPr algn="ctr"/>
          </a:p>
        </p:txBody>
      </p:sp>
      <p:sp>
        <p:nvSpPr>
          <p:cNvPr id="10" name="TextBox 9"/>
          <p:cNvSpPr txBox="1"/>
          <p:nvPr/>
        </p:nvSpPr>
        <p:spPr>
          <a:xfrm>
            <a:off x="1051560" y="3371342"/>
            <a:ext cx="10362895" cy="920750"/>
          </a:xfrm>
          <a:prstGeom prst="rect">
            <a:avLst/>
          </a:prstGeom>
          <a:noFill/>
        </p:spPr>
        <p:txBody>
          <a:bodyPr wrap="square" anchor="t" lIns="0" rIns="0" tIns="0" bIns="0">
            <a:spAutoFit/>
          </a:bodyPr>
          <a:lstStyle/>
          <a:p>
            <a:pPr algn="l">
              <a:lnSpc>
                <a:spcPct val="100000"/>
              </a:lnSpc>
              <a:spcBef>
                <a:spcPts val="0"/>
              </a:spcBef>
              <a:spcAft>
                <a:spcPts val="400"/>
              </a:spcAft>
            </a:pPr>
            <a:r>
              <a:rPr sz="1100" b="1" i="0">
                <a:solidFill>
                  <a:srgbClr val="818181"/>
                </a:solidFill>
                <a:latin typeface="Arial"/>
              </a:rPr>
              <a:t>FOR EXAMPLE</a:t>
            </a:r>
          </a:p>
          <a:p>
            <a:pPr algn="l">
              <a:lnSpc>
                <a:spcPct val="115000"/>
              </a:lnSpc>
              <a:spcBef>
                <a:spcPts val="0"/>
              </a:spcBef>
              <a:spcAft>
                <a:spcPts val="0"/>
              </a:spcAft>
            </a:pPr>
            <a:r>
              <a:rPr sz="1900" b="0" i="0">
                <a:solidFill>
                  <a:srgbClr val="1A1A1A"/>
                </a:solidFill>
                <a:latin typeface="Arial"/>
              </a:rPr>
              <a:t>One large buyer can move a small listed company for a week. Rhea's claim is that nobody can hold a whole market up for two years.</a:t>
            </a:r>
          </a:p>
        </p:txBody>
      </p:sp>
      <p:sp>
        <p:nvSpPr>
          <p:cNvPr id="11" name="Rectangle 10"/>
          <p:cNvSpPr/>
          <p:nvPr/>
        </p:nvSpPr>
        <p:spPr>
          <a:xfrm>
            <a:off x="777240" y="4575556"/>
            <a:ext cx="64008" cy="811022"/>
          </a:xfrm>
          <a:prstGeom prst="rect">
            <a:avLst/>
          </a:prstGeom>
          <a:solidFill>
            <a:srgbClr val="D7E0D9"/>
          </a:solidFill>
          <a:ln>
            <a:noFill/>
          </a:ln>
          <a:effectLst/>
        </p:spPr>
        <p:txBody>
          <a:bodyPr rtlCol="0" anchor="ctr"/>
          <a:lstStyle/>
          <a:p>
            <a:pPr algn="ctr"/>
          </a:p>
        </p:txBody>
      </p:sp>
      <p:sp>
        <p:nvSpPr>
          <p:cNvPr id="12" name="TextBox 11"/>
          <p:cNvSpPr txBox="1"/>
          <p:nvPr/>
        </p:nvSpPr>
        <p:spPr>
          <a:xfrm>
            <a:off x="1051560" y="4529836"/>
            <a:ext cx="10362895" cy="920750"/>
          </a:xfrm>
          <a:prstGeom prst="rect">
            <a:avLst/>
          </a:prstGeom>
          <a:noFill/>
        </p:spPr>
        <p:txBody>
          <a:bodyPr wrap="square" anchor="t" lIns="0" rIns="0" tIns="0" bIns="0">
            <a:spAutoFit/>
          </a:bodyPr>
          <a:lstStyle/>
          <a:p>
            <a:pPr algn="l">
              <a:lnSpc>
                <a:spcPct val="100000"/>
              </a:lnSpc>
              <a:spcBef>
                <a:spcPts val="0"/>
              </a:spcBef>
              <a:spcAft>
                <a:spcPts val="400"/>
              </a:spcAft>
            </a:pPr>
            <a:r>
              <a:rPr sz="1100" b="1" i="0">
                <a:solidFill>
                  <a:srgbClr val="818181"/>
                </a:solidFill>
                <a:latin typeface="Arial"/>
              </a:rPr>
              <a:t>THE FORMAL DEFINITION</a:t>
            </a:r>
          </a:p>
          <a:p>
            <a:pPr algn="l">
              <a:lnSpc>
                <a:spcPct val="115000"/>
              </a:lnSpc>
              <a:spcBef>
                <a:spcPts val="0"/>
              </a:spcBef>
              <a:spcAft>
                <a:spcPts val="0"/>
              </a:spcAft>
            </a:pPr>
            <a:r>
              <a:rPr sz="1900" b="0" i="0">
                <a:solidFill>
                  <a:srgbClr val="1A1A1A"/>
                </a:solidFill>
                <a:latin typeface="Arial"/>
              </a:rPr>
              <a:t>Rhea's first assumption is that the primary trend is not susceptible to manipulation, although there is a possibility that manipulation could occur over the shorter term.</a:t>
            </a:r>
          </a:p>
        </p:txBody>
      </p:sp>
      <p:sp>
        <p:nvSpPr>
          <p:cNvPr id="13" name="TextBox 12"/>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1 of 6 - Origins  |  7 of 13</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Rectangle 3"/>
          <p:cNvSpPr/>
          <p:nvPr/>
        </p:nvSpPr>
        <p:spPr>
          <a:xfrm>
            <a:off x="777240" y="566928"/>
            <a:ext cx="1234440" cy="329184"/>
          </a:xfrm>
          <a:prstGeom prst="rect">
            <a:avLst/>
          </a:prstGeom>
          <a:solidFill>
            <a:srgbClr val="F2A900"/>
          </a:solidFill>
          <a:ln>
            <a:noFill/>
          </a:ln>
          <a:effectLst/>
        </p:spPr>
        <p:txBody>
          <a:bodyPr rtlCol="0" anchor="ctr" wrap="none" lIns="0" rIns="0" tIns="0" bIns="0"/>
          <a:lstStyle/>
          <a:p>
            <a:pPr algn="ctr">
              <a:lnSpc>
                <a:spcPct val="100000"/>
              </a:lnSpc>
              <a:spcBef>
                <a:spcPts val="0"/>
              </a:spcBef>
              <a:spcAft>
                <a:spcPts val="0"/>
              </a:spcAft>
            </a:pPr>
            <a:r>
              <a:rPr sz="1200" b="1" i="0">
                <a:solidFill>
                  <a:srgbClr val="1A1A1A"/>
                </a:solidFill>
                <a:latin typeface="Arial"/>
              </a:rPr>
              <a:t>NEW TERM</a:t>
            </a:r>
          </a:p>
        </p:txBody>
      </p:sp>
      <p:sp>
        <p:nvSpPr>
          <p:cNvPr id="5" name="TextBox 4"/>
          <p:cNvSpPr txBox="1"/>
          <p:nvPr/>
        </p:nvSpPr>
        <p:spPr>
          <a:xfrm>
            <a:off x="777240" y="1051560"/>
            <a:ext cx="10637215" cy="822960"/>
          </a:xfrm>
          <a:prstGeom prst="rect">
            <a:avLst/>
          </a:prstGeom>
          <a:noFill/>
        </p:spPr>
        <p:txBody>
          <a:bodyPr wrap="square" anchor="t" lIns="0" rIns="0" tIns="0" bIns="0">
            <a:spAutoFit/>
          </a:bodyPr>
          <a:lstStyle/>
          <a:p>
            <a:pPr algn="l">
              <a:lnSpc>
                <a:spcPct val="105000"/>
              </a:lnSpc>
              <a:spcBef>
                <a:spcPts val="0"/>
              </a:spcBef>
              <a:spcAft>
                <a:spcPts val="0"/>
              </a:spcAft>
            </a:pPr>
            <a:r>
              <a:rPr sz="3200" b="0" i="0">
                <a:solidFill>
                  <a:srgbClr val="007A33"/>
                </a:solidFill>
                <a:latin typeface="Palatino"/>
              </a:rPr>
              <a:t>Dow Theory is not perfect</a:t>
            </a:r>
          </a:p>
        </p:txBody>
      </p:sp>
      <p:sp>
        <p:nvSpPr>
          <p:cNvPr id="6" name="Rectangle 5"/>
          <p:cNvSpPr/>
          <p:nvPr/>
        </p:nvSpPr>
        <p:spPr>
          <a:xfrm>
            <a:off x="777240" y="1874519"/>
            <a:ext cx="10637215" cy="15875"/>
          </a:xfrm>
          <a:prstGeom prst="rect">
            <a:avLst/>
          </a:prstGeom>
          <a:solidFill>
            <a:srgbClr val="D7E0D9"/>
          </a:solidFill>
          <a:ln>
            <a:noFill/>
          </a:ln>
          <a:effectLst/>
        </p:spPr>
        <p:txBody>
          <a:bodyPr rtlCol="0" anchor="ctr"/>
          <a:lstStyle/>
          <a:p>
            <a:pPr algn="ctr"/>
          </a:p>
        </p:txBody>
      </p:sp>
      <p:sp>
        <p:nvSpPr>
          <p:cNvPr id="7" name="Rectangle 6"/>
          <p:cNvSpPr/>
          <p:nvPr/>
        </p:nvSpPr>
        <p:spPr>
          <a:xfrm>
            <a:off x="777240" y="2258568"/>
            <a:ext cx="64008" cy="811022"/>
          </a:xfrm>
          <a:prstGeom prst="rect">
            <a:avLst/>
          </a:prstGeom>
          <a:solidFill>
            <a:srgbClr val="F2A900"/>
          </a:solidFill>
          <a:ln>
            <a:noFill/>
          </a:ln>
          <a:effectLst/>
        </p:spPr>
        <p:txBody>
          <a:bodyPr rtlCol="0" anchor="ctr"/>
          <a:lstStyle/>
          <a:p>
            <a:pPr algn="ctr"/>
          </a:p>
        </p:txBody>
      </p:sp>
      <p:sp>
        <p:nvSpPr>
          <p:cNvPr id="8" name="TextBox 7"/>
          <p:cNvSpPr txBox="1"/>
          <p:nvPr/>
        </p:nvSpPr>
        <p:spPr>
          <a:xfrm>
            <a:off x="1051560" y="2212848"/>
            <a:ext cx="10362895" cy="920750"/>
          </a:xfrm>
          <a:prstGeom prst="rect">
            <a:avLst/>
          </a:prstGeom>
          <a:noFill/>
        </p:spPr>
        <p:txBody>
          <a:bodyPr wrap="square" anchor="t" lIns="0" rIns="0" tIns="0" bIns="0">
            <a:spAutoFit/>
          </a:bodyPr>
          <a:lstStyle/>
          <a:p>
            <a:pPr algn="l">
              <a:lnSpc>
                <a:spcPct val="100000"/>
              </a:lnSpc>
              <a:spcBef>
                <a:spcPts val="0"/>
              </a:spcBef>
              <a:spcAft>
                <a:spcPts val="400"/>
              </a:spcAft>
            </a:pPr>
            <a:r>
              <a:rPr sz="1100" b="1" i="0">
                <a:solidFill>
                  <a:srgbClr val="818181"/>
                </a:solidFill>
                <a:latin typeface="Arial"/>
              </a:rPr>
              <a:t>IN PLAIN WORDS</a:t>
            </a:r>
          </a:p>
          <a:p>
            <a:pPr algn="l">
              <a:lnSpc>
                <a:spcPct val="115000"/>
              </a:lnSpc>
              <a:spcBef>
                <a:spcPts val="0"/>
              </a:spcBef>
              <a:spcAft>
                <a:spcPts val="0"/>
              </a:spcAft>
            </a:pPr>
            <a:r>
              <a:rPr sz="1900" b="1" i="0">
                <a:solidFill>
                  <a:srgbClr val="1A1A1A"/>
                </a:solidFill>
                <a:latin typeface="Arial"/>
              </a:rPr>
              <a:t>Rhea's third assumption. Investing by these principles will not guarantee that you make money.</a:t>
            </a:r>
          </a:p>
        </p:txBody>
      </p:sp>
      <p:sp>
        <p:nvSpPr>
          <p:cNvPr id="9" name="Rectangle 8"/>
          <p:cNvSpPr/>
          <p:nvPr/>
        </p:nvSpPr>
        <p:spPr>
          <a:xfrm>
            <a:off x="777240" y="3417061"/>
            <a:ext cx="64008" cy="811022"/>
          </a:xfrm>
          <a:prstGeom prst="rect">
            <a:avLst/>
          </a:prstGeom>
          <a:solidFill>
            <a:srgbClr val="D7E0D9"/>
          </a:solidFill>
          <a:ln>
            <a:noFill/>
          </a:ln>
          <a:effectLst/>
        </p:spPr>
        <p:txBody>
          <a:bodyPr rtlCol="0" anchor="ctr"/>
          <a:lstStyle/>
          <a:p>
            <a:pPr algn="ctr"/>
          </a:p>
        </p:txBody>
      </p:sp>
      <p:sp>
        <p:nvSpPr>
          <p:cNvPr id="10" name="TextBox 9"/>
          <p:cNvSpPr txBox="1"/>
          <p:nvPr/>
        </p:nvSpPr>
        <p:spPr>
          <a:xfrm>
            <a:off x="1051560" y="3371342"/>
            <a:ext cx="10362895" cy="920750"/>
          </a:xfrm>
          <a:prstGeom prst="rect">
            <a:avLst/>
          </a:prstGeom>
          <a:noFill/>
        </p:spPr>
        <p:txBody>
          <a:bodyPr wrap="square" anchor="t" lIns="0" rIns="0" tIns="0" bIns="0">
            <a:spAutoFit/>
          </a:bodyPr>
          <a:lstStyle/>
          <a:p>
            <a:pPr algn="l">
              <a:lnSpc>
                <a:spcPct val="100000"/>
              </a:lnSpc>
              <a:spcBef>
                <a:spcPts val="0"/>
              </a:spcBef>
              <a:spcAft>
                <a:spcPts val="400"/>
              </a:spcAft>
            </a:pPr>
            <a:r>
              <a:rPr sz="1100" b="1" i="0">
                <a:solidFill>
                  <a:srgbClr val="818181"/>
                </a:solidFill>
                <a:latin typeface="Arial"/>
              </a:rPr>
              <a:t>FOR EXAMPLE</a:t>
            </a:r>
          </a:p>
          <a:p>
            <a:pPr algn="l">
              <a:lnSpc>
                <a:spcPct val="115000"/>
              </a:lnSpc>
              <a:spcBef>
                <a:spcPts val="0"/>
              </a:spcBef>
              <a:spcAft>
                <a:spcPts val="0"/>
              </a:spcAft>
            </a:pPr>
            <a:r>
              <a:rPr sz="1900" b="0" i="0">
                <a:solidFill>
                  <a:srgbClr val="1A1A1A"/>
                </a:solidFill>
                <a:latin typeface="Arial"/>
              </a:rPr>
              <a:t>The theory can tell you the primary trend is up. It cannot tell you this particular trade will profit.</a:t>
            </a:r>
          </a:p>
        </p:txBody>
      </p:sp>
      <p:sp>
        <p:nvSpPr>
          <p:cNvPr id="11" name="Rectangle 10"/>
          <p:cNvSpPr/>
          <p:nvPr/>
        </p:nvSpPr>
        <p:spPr>
          <a:xfrm>
            <a:off x="777240" y="4575556"/>
            <a:ext cx="64008" cy="1088517"/>
          </a:xfrm>
          <a:prstGeom prst="rect">
            <a:avLst/>
          </a:prstGeom>
          <a:solidFill>
            <a:srgbClr val="D7E0D9"/>
          </a:solidFill>
          <a:ln>
            <a:noFill/>
          </a:ln>
          <a:effectLst/>
        </p:spPr>
        <p:txBody>
          <a:bodyPr rtlCol="0" anchor="ctr"/>
          <a:lstStyle/>
          <a:p>
            <a:pPr algn="ctr"/>
          </a:p>
        </p:txBody>
      </p:sp>
      <p:sp>
        <p:nvSpPr>
          <p:cNvPr id="12" name="TextBox 11"/>
          <p:cNvSpPr txBox="1"/>
          <p:nvPr/>
        </p:nvSpPr>
        <p:spPr>
          <a:xfrm>
            <a:off x="1051560" y="4529836"/>
            <a:ext cx="10362895" cy="1198245"/>
          </a:xfrm>
          <a:prstGeom prst="rect">
            <a:avLst/>
          </a:prstGeom>
          <a:noFill/>
        </p:spPr>
        <p:txBody>
          <a:bodyPr wrap="square" anchor="t" lIns="0" rIns="0" tIns="0" bIns="0">
            <a:spAutoFit/>
          </a:bodyPr>
          <a:lstStyle/>
          <a:p>
            <a:pPr algn="l">
              <a:lnSpc>
                <a:spcPct val="100000"/>
              </a:lnSpc>
              <a:spcBef>
                <a:spcPts val="0"/>
              </a:spcBef>
              <a:spcAft>
                <a:spcPts val="400"/>
              </a:spcAft>
            </a:pPr>
            <a:r>
              <a:rPr sz="1100" b="1" i="0">
                <a:solidFill>
                  <a:srgbClr val="818181"/>
                </a:solidFill>
                <a:latin typeface="Arial"/>
              </a:rPr>
              <a:t>THE FORMAL DEFINITION</a:t>
            </a:r>
          </a:p>
          <a:p>
            <a:pPr algn="l">
              <a:lnSpc>
                <a:spcPct val="115000"/>
              </a:lnSpc>
              <a:spcBef>
                <a:spcPts val="0"/>
              </a:spcBef>
              <a:spcAft>
                <a:spcPts val="0"/>
              </a:spcAft>
            </a:pPr>
            <a:r>
              <a:rPr sz="1900" b="0" i="0">
                <a:solidFill>
                  <a:srgbClr val="1A1A1A"/>
                </a:solidFill>
                <a:latin typeface="Arial"/>
              </a:rPr>
              <a:t>Rhea's third assumption is that Dow Theory itself is not perfect and that investing according to its principles will not guarantee profitability. At most it should be regarded as a set of guidelines for investing.</a:t>
            </a:r>
          </a:p>
        </p:txBody>
      </p:sp>
      <p:sp>
        <p:nvSpPr>
          <p:cNvPr id="13" name="TextBox 12"/>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1 of 6 - Origins  |  8 of 13</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TextBox 3"/>
          <p:cNvSpPr txBox="1"/>
          <p:nvPr/>
        </p:nvSpPr>
        <p:spPr>
          <a:xfrm>
            <a:off x="777240" y="658368"/>
            <a:ext cx="10637215" cy="914400"/>
          </a:xfrm>
          <a:prstGeom prst="rect">
            <a:avLst/>
          </a:prstGeom>
          <a:noFill/>
        </p:spPr>
        <p:txBody>
          <a:bodyPr wrap="square" anchor="t" lIns="0" rIns="0" tIns="0" bIns="0">
            <a:spAutoFit/>
          </a:bodyPr>
          <a:lstStyle/>
          <a:p>
            <a:pPr algn="l">
              <a:lnSpc>
                <a:spcPct val="105000"/>
              </a:lnSpc>
              <a:spcBef>
                <a:spcPts val="0"/>
              </a:spcBef>
              <a:spcAft>
                <a:spcPts val="0"/>
              </a:spcAft>
            </a:pPr>
            <a:r>
              <a:rPr sz="3000" b="0" i="0">
                <a:solidFill>
                  <a:srgbClr val="007A33"/>
                </a:solidFill>
                <a:latin typeface="Palatino"/>
              </a:rPr>
              <a:t>1884: eleven stocks</a:t>
            </a:r>
          </a:p>
        </p:txBody>
      </p:sp>
      <p:sp>
        <p:nvSpPr>
          <p:cNvPr id="5" name="Rectangle 4"/>
          <p:cNvSpPr/>
          <p:nvPr/>
        </p:nvSpPr>
        <p:spPr>
          <a:xfrm>
            <a:off x="777240" y="1572768"/>
            <a:ext cx="10637215" cy="15875"/>
          </a:xfrm>
          <a:prstGeom prst="rect">
            <a:avLst/>
          </a:prstGeom>
          <a:solidFill>
            <a:srgbClr val="D7E0D9"/>
          </a:solidFill>
          <a:ln>
            <a:noFill/>
          </a:ln>
          <a:effectLst/>
        </p:spPr>
        <p:txBody>
          <a:bodyPr rtlCol="0" anchor="ctr"/>
          <a:lstStyle/>
          <a:p>
            <a:pPr algn="ctr"/>
          </a:p>
        </p:txBody>
      </p:sp>
      <p:sp>
        <p:nvSpPr>
          <p:cNvPr id="6" name="TextBox 5"/>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1 of 6 - Origins  |  9 of 13</a:t>
            </a:r>
          </a:p>
        </p:txBody>
      </p:sp>
      <p:sp>
        <p:nvSpPr>
          <p:cNvPr id="7" name="TextBox 6"/>
          <p:cNvSpPr txBox="1"/>
          <p:nvPr/>
        </p:nvSpPr>
        <p:spPr>
          <a:xfrm>
            <a:off x="777240" y="1965960"/>
            <a:ext cx="10637215" cy="3108960"/>
          </a:xfrm>
          <a:prstGeom prst="rect">
            <a:avLst/>
          </a:prstGeom>
          <a:noFill/>
        </p:spPr>
        <p:txBody>
          <a:bodyPr wrap="square" anchor="t" lIns="0" rIns="0" tIns="0" bIns="0">
            <a:spAutoFit/>
          </a:bodyPr>
          <a:lstStyle/>
          <a:p>
            <a:pPr algn="l">
              <a:lnSpc>
                <a:spcPct val="118000"/>
              </a:lnSpc>
              <a:spcBef>
                <a:spcPts val="0"/>
              </a:spcBef>
              <a:spcAft>
                <a:spcPts val="1300"/>
              </a:spcAft>
            </a:pPr>
            <a:r>
              <a:rPr sz="2100" b="0" i="0">
                <a:solidFill>
                  <a:srgbClr val="1A1A1A"/>
                </a:solidFill>
                <a:latin typeface="Arial"/>
              </a:rPr>
              <a:t>In 1884 Dow published a stock market average of 11 stocks.</a:t>
            </a:r>
          </a:p>
          <a:p>
            <a:pPr algn="l">
              <a:lnSpc>
                <a:spcPct val="118000"/>
              </a:lnSpc>
              <a:spcBef>
                <a:spcPts val="0"/>
              </a:spcBef>
              <a:spcAft>
                <a:spcPts val="1300"/>
              </a:spcAft>
            </a:pPr>
            <a:r>
              <a:rPr sz="2100" b="0" i="0">
                <a:solidFill>
                  <a:srgbClr val="1A1A1A"/>
                </a:solidFill>
                <a:latin typeface="Arial"/>
              </a:rPr>
              <a:t>He later developed it into a 12 stock Industrial Index and a 20 stock Railroad Average.</a:t>
            </a:r>
          </a:p>
        </p:txBody>
      </p:sp>
      <p:sp>
        <p:nvSpPr>
          <p:cNvPr id="8" name="Rectangle 7"/>
          <p:cNvSpPr/>
          <p:nvPr/>
        </p:nvSpPr>
        <p:spPr>
          <a:xfrm>
            <a:off x="777240" y="3586734"/>
            <a:ext cx="82296" cy="467614"/>
          </a:xfrm>
          <a:prstGeom prst="rect">
            <a:avLst/>
          </a:prstGeom>
          <a:solidFill>
            <a:srgbClr val="F2A900"/>
          </a:solidFill>
          <a:ln>
            <a:noFill/>
          </a:ln>
          <a:effectLst/>
        </p:spPr>
        <p:txBody>
          <a:bodyPr rtlCol="0" anchor="ctr"/>
          <a:lstStyle/>
          <a:p>
            <a:pPr algn="ctr"/>
          </a:p>
        </p:txBody>
      </p:sp>
      <p:sp>
        <p:nvSpPr>
          <p:cNvPr id="9" name="TextBox 8"/>
          <p:cNvSpPr txBox="1"/>
          <p:nvPr/>
        </p:nvSpPr>
        <p:spPr>
          <a:xfrm>
            <a:off x="1069848" y="3623310"/>
            <a:ext cx="10344607" cy="467614"/>
          </a:xfrm>
          <a:prstGeom prst="rect">
            <a:avLst/>
          </a:prstGeom>
          <a:noFill/>
        </p:spPr>
        <p:txBody>
          <a:bodyPr wrap="square" anchor="t" lIns="0" rIns="0" tIns="0" bIns="0">
            <a:spAutoFit/>
          </a:bodyPr>
          <a:lstStyle/>
          <a:p>
            <a:pPr algn="l">
              <a:lnSpc>
                <a:spcPct val="115000"/>
              </a:lnSpc>
              <a:spcBef>
                <a:spcPts val="0"/>
              </a:spcBef>
              <a:spcAft>
                <a:spcPts val="0"/>
              </a:spcAft>
            </a:pPr>
            <a:r>
              <a:rPr sz="2200" b="1" i="0">
                <a:solidFill>
                  <a:srgbClr val="1A1A1A"/>
                </a:solidFill>
                <a:latin typeface="Arial"/>
              </a:rPr>
              <a:t>He wanted a number for the market, not a number for one company.</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Rectangle 3"/>
          <p:cNvSpPr/>
          <p:nvPr/>
        </p:nvSpPr>
        <p:spPr>
          <a:xfrm>
            <a:off x="777240" y="566928"/>
            <a:ext cx="1234440" cy="329184"/>
          </a:xfrm>
          <a:prstGeom prst="rect">
            <a:avLst/>
          </a:prstGeom>
          <a:solidFill>
            <a:srgbClr val="F2A900"/>
          </a:solidFill>
          <a:ln>
            <a:noFill/>
          </a:ln>
          <a:effectLst/>
        </p:spPr>
        <p:txBody>
          <a:bodyPr rtlCol="0" anchor="ctr" wrap="none" lIns="0" rIns="0" tIns="0" bIns="0"/>
          <a:lstStyle/>
          <a:p>
            <a:pPr algn="ctr">
              <a:lnSpc>
                <a:spcPct val="100000"/>
              </a:lnSpc>
              <a:spcBef>
                <a:spcPts val="0"/>
              </a:spcBef>
              <a:spcAft>
                <a:spcPts val="0"/>
              </a:spcAft>
            </a:pPr>
            <a:r>
              <a:rPr sz="1200" b="1" i="0">
                <a:solidFill>
                  <a:srgbClr val="1A1A1A"/>
                </a:solidFill>
                <a:latin typeface="Arial"/>
              </a:rPr>
              <a:t>NEW TERM</a:t>
            </a:r>
          </a:p>
        </p:txBody>
      </p:sp>
      <p:sp>
        <p:nvSpPr>
          <p:cNvPr id="5" name="TextBox 4"/>
          <p:cNvSpPr txBox="1"/>
          <p:nvPr/>
        </p:nvSpPr>
        <p:spPr>
          <a:xfrm>
            <a:off x="777240" y="1051560"/>
            <a:ext cx="10637215" cy="822960"/>
          </a:xfrm>
          <a:prstGeom prst="rect">
            <a:avLst/>
          </a:prstGeom>
          <a:noFill/>
        </p:spPr>
        <p:txBody>
          <a:bodyPr wrap="square" anchor="t" lIns="0" rIns="0" tIns="0" bIns="0">
            <a:spAutoFit/>
          </a:bodyPr>
          <a:lstStyle/>
          <a:p>
            <a:pPr algn="l">
              <a:lnSpc>
                <a:spcPct val="105000"/>
              </a:lnSpc>
              <a:spcBef>
                <a:spcPts val="0"/>
              </a:spcBef>
              <a:spcAft>
                <a:spcPts val="0"/>
              </a:spcAft>
            </a:pPr>
            <a:r>
              <a:rPr sz="3200" b="0" i="0">
                <a:solidFill>
                  <a:srgbClr val="007A33"/>
                </a:solidFill>
                <a:latin typeface="Palatino"/>
              </a:rPr>
              <a:t>A stock market average</a:t>
            </a:r>
          </a:p>
        </p:txBody>
      </p:sp>
      <p:sp>
        <p:nvSpPr>
          <p:cNvPr id="6" name="Rectangle 5"/>
          <p:cNvSpPr/>
          <p:nvPr/>
        </p:nvSpPr>
        <p:spPr>
          <a:xfrm>
            <a:off x="777240" y="1874519"/>
            <a:ext cx="10637215" cy="15875"/>
          </a:xfrm>
          <a:prstGeom prst="rect">
            <a:avLst/>
          </a:prstGeom>
          <a:solidFill>
            <a:srgbClr val="D7E0D9"/>
          </a:solidFill>
          <a:ln>
            <a:noFill/>
          </a:ln>
          <a:effectLst/>
        </p:spPr>
        <p:txBody>
          <a:bodyPr rtlCol="0" anchor="ctr"/>
          <a:lstStyle/>
          <a:p>
            <a:pPr algn="ctr"/>
          </a:p>
        </p:txBody>
      </p:sp>
      <p:sp>
        <p:nvSpPr>
          <p:cNvPr id="7" name="Rectangle 6"/>
          <p:cNvSpPr/>
          <p:nvPr/>
        </p:nvSpPr>
        <p:spPr>
          <a:xfrm>
            <a:off x="777240" y="2258568"/>
            <a:ext cx="64008" cy="811022"/>
          </a:xfrm>
          <a:prstGeom prst="rect">
            <a:avLst/>
          </a:prstGeom>
          <a:solidFill>
            <a:srgbClr val="F2A900"/>
          </a:solidFill>
          <a:ln>
            <a:noFill/>
          </a:ln>
          <a:effectLst/>
        </p:spPr>
        <p:txBody>
          <a:bodyPr rtlCol="0" anchor="ctr"/>
          <a:lstStyle/>
          <a:p>
            <a:pPr algn="ctr"/>
          </a:p>
        </p:txBody>
      </p:sp>
      <p:sp>
        <p:nvSpPr>
          <p:cNvPr id="8" name="TextBox 7"/>
          <p:cNvSpPr txBox="1"/>
          <p:nvPr/>
        </p:nvSpPr>
        <p:spPr>
          <a:xfrm>
            <a:off x="1051560" y="2212848"/>
            <a:ext cx="10362895" cy="920750"/>
          </a:xfrm>
          <a:prstGeom prst="rect">
            <a:avLst/>
          </a:prstGeom>
          <a:noFill/>
        </p:spPr>
        <p:txBody>
          <a:bodyPr wrap="square" anchor="t" lIns="0" rIns="0" tIns="0" bIns="0">
            <a:spAutoFit/>
          </a:bodyPr>
          <a:lstStyle/>
          <a:p>
            <a:pPr algn="l">
              <a:lnSpc>
                <a:spcPct val="100000"/>
              </a:lnSpc>
              <a:spcBef>
                <a:spcPts val="0"/>
              </a:spcBef>
              <a:spcAft>
                <a:spcPts val="400"/>
              </a:spcAft>
            </a:pPr>
            <a:r>
              <a:rPr sz="1100" b="1" i="0">
                <a:solidFill>
                  <a:srgbClr val="818181"/>
                </a:solidFill>
                <a:latin typeface="Arial"/>
              </a:rPr>
              <a:t>IN PLAIN WORDS</a:t>
            </a:r>
          </a:p>
          <a:p>
            <a:pPr algn="l">
              <a:lnSpc>
                <a:spcPct val="115000"/>
              </a:lnSpc>
              <a:spcBef>
                <a:spcPts val="0"/>
              </a:spcBef>
              <a:spcAft>
                <a:spcPts val="0"/>
              </a:spcAft>
            </a:pPr>
            <a:r>
              <a:rPr sz="1900" b="1" i="0">
                <a:solidFill>
                  <a:srgbClr val="1A1A1A"/>
                </a:solidFill>
                <a:latin typeface="Arial"/>
              </a:rPr>
              <a:t>One number that stands for a group of companies, so you can talk about what the market did rather than what one share did.</a:t>
            </a:r>
          </a:p>
        </p:txBody>
      </p:sp>
      <p:sp>
        <p:nvSpPr>
          <p:cNvPr id="9" name="Rectangle 8"/>
          <p:cNvSpPr/>
          <p:nvPr/>
        </p:nvSpPr>
        <p:spPr>
          <a:xfrm>
            <a:off x="777240" y="3417061"/>
            <a:ext cx="64008" cy="811022"/>
          </a:xfrm>
          <a:prstGeom prst="rect">
            <a:avLst/>
          </a:prstGeom>
          <a:solidFill>
            <a:srgbClr val="D7E0D9"/>
          </a:solidFill>
          <a:ln>
            <a:noFill/>
          </a:ln>
          <a:effectLst/>
        </p:spPr>
        <p:txBody>
          <a:bodyPr rtlCol="0" anchor="ctr"/>
          <a:lstStyle/>
          <a:p>
            <a:pPr algn="ctr"/>
          </a:p>
        </p:txBody>
      </p:sp>
      <p:sp>
        <p:nvSpPr>
          <p:cNvPr id="10" name="TextBox 9"/>
          <p:cNvSpPr txBox="1"/>
          <p:nvPr/>
        </p:nvSpPr>
        <p:spPr>
          <a:xfrm>
            <a:off x="1051560" y="3371342"/>
            <a:ext cx="10362895" cy="920750"/>
          </a:xfrm>
          <a:prstGeom prst="rect">
            <a:avLst/>
          </a:prstGeom>
          <a:noFill/>
        </p:spPr>
        <p:txBody>
          <a:bodyPr wrap="square" anchor="t" lIns="0" rIns="0" tIns="0" bIns="0">
            <a:spAutoFit/>
          </a:bodyPr>
          <a:lstStyle/>
          <a:p>
            <a:pPr algn="l">
              <a:lnSpc>
                <a:spcPct val="100000"/>
              </a:lnSpc>
              <a:spcBef>
                <a:spcPts val="0"/>
              </a:spcBef>
              <a:spcAft>
                <a:spcPts val="400"/>
              </a:spcAft>
            </a:pPr>
            <a:r>
              <a:rPr sz="1100" b="1" i="0">
                <a:solidFill>
                  <a:srgbClr val="818181"/>
                </a:solidFill>
                <a:latin typeface="Arial"/>
              </a:rPr>
              <a:t>FOR EXAMPLE</a:t>
            </a:r>
          </a:p>
          <a:p>
            <a:pPr algn="l">
              <a:lnSpc>
                <a:spcPct val="115000"/>
              </a:lnSpc>
              <a:spcBef>
                <a:spcPts val="0"/>
              </a:spcBef>
              <a:spcAft>
                <a:spcPts val="0"/>
              </a:spcAft>
            </a:pPr>
            <a:r>
              <a:rPr sz="1900" b="0" i="0">
                <a:solidFill>
                  <a:srgbClr val="1A1A1A"/>
                </a:solidFill>
                <a:latin typeface="Arial"/>
              </a:rPr>
              <a:t>The PSEi is the same idea: one number that moves with thirty listed companies at once.</a:t>
            </a:r>
          </a:p>
        </p:txBody>
      </p:sp>
      <p:sp>
        <p:nvSpPr>
          <p:cNvPr id="11" name="Rectangle 10"/>
          <p:cNvSpPr/>
          <p:nvPr/>
        </p:nvSpPr>
        <p:spPr>
          <a:xfrm>
            <a:off x="777240" y="4575556"/>
            <a:ext cx="64008" cy="1088517"/>
          </a:xfrm>
          <a:prstGeom prst="rect">
            <a:avLst/>
          </a:prstGeom>
          <a:solidFill>
            <a:srgbClr val="D7E0D9"/>
          </a:solidFill>
          <a:ln>
            <a:noFill/>
          </a:ln>
          <a:effectLst/>
        </p:spPr>
        <p:txBody>
          <a:bodyPr rtlCol="0" anchor="ctr"/>
          <a:lstStyle/>
          <a:p>
            <a:pPr algn="ctr"/>
          </a:p>
        </p:txBody>
      </p:sp>
      <p:sp>
        <p:nvSpPr>
          <p:cNvPr id="12" name="TextBox 11"/>
          <p:cNvSpPr txBox="1"/>
          <p:nvPr/>
        </p:nvSpPr>
        <p:spPr>
          <a:xfrm>
            <a:off x="1051560" y="4529836"/>
            <a:ext cx="10362895" cy="1198245"/>
          </a:xfrm>
          <a:prstGeom prst="rect">
            <a:avLst/>
          </a:prstGeom>
          <a:noFill/>
        </p:spPr>
        <p:txBody>
          <a:bodyPr wrap="square" anchor="t" lIns="0" rIns="0" tIns="0" bIns="0">
            <a:spAutoFit/>
          </a:bodyPr>
          <a:lstStyle/>
          <a:p>
            <a:pPr algn="l">
              <a:lnSpc>
                <a:spcPct val="100000"/>
              </a:lnSpc>
              <a:spcBef>
                <a:spcPts val="0"/>
              </a:spcBef>
              <a:spcAft>
                <a:spcPts val="400"/>
              </a:spcAft>
            </a:pPr>
            <a:r>
              <a:rPr sz="1100" b="1" i="0">
                <a:solidFill>
                  <a:srgbClr val="818181"/>
                </a:solidFill>
                <a:latin typeface="Arial"/>
              </a:rPr>
              <a:t>THE FORMAL DEFINITION</a:t>
            </a:r>
          </a:p>
          <a:p>
            <a:pPr algn="l">
              <a:lnSpc>
                <a:spcPct val="115000"/>
              </a:lnSpc>
              <a:spcBef>
                <a:spcPts val="0"/>
              </a:spcBef>
              <a:spcAft>
                <a:spcPts val="0"/>
              </a:spcAft>
            </a:pPr>
            <a:r>
              <a:rPr sz="1900" b="0" i="0">
                <a:solidFill>
                  <a:srgbClr val="1A1A1A"/>
                </a:solidFill>
                <a:latin typeface="Arial"/>
              </a:rPr>
              <a:t>A stock market average is an index of stocks created to better reflect the general action of the markets, instead of gauging market behavior through individual stock action.</a:t>
            </a:r>
          </a:p>
        </p:txBody>
      </p:sp>
      <p:sp>
        <p:nvSpPr>
          <p:cNvPr id="13" name="TextBox 12"/>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1 of 6 - Origins  |  10 of 13</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TextBox 3"/>
          <p:cNvSpPr txBox="1"/>
          <p:nvPr/>
        </p:nvSpPr>
        <p:spPr>
          <a:xfrm>
            <a:off x="777240" y="658368"/>
            <a:ext cx="10637215" cy="914400"/>
          </a:xfrm>
          <a:prstGeom prst="rect">
            <a:avLst/>
          </a:prstGeom>
          <a:noFill/>
        </p:spPr>
        <p:txBody>
          <a:bodyPr wrap="square" anchor="t" lIns="0" rIns="0" tIns="0" bIns="0">
            <a:spAutoFit/>
          </a:bodyPr>
          <a:lstStyle/>
          <a:p>
            <a:pPr algn="l">
              <a:lnSpc>
                <a:spcPct val="105000"/>
              </a:lnSpc>
              <a:spcBef>
                <a:spcPts val="0"/>
              </a:spcBef>
              <a:spcAft>
                <a:spcPts val="0"/>
              </a:spcAft>
            </a:pPr>
            <a:r>
              <a:rPr sz="3000" b="0" i="0">
                <a:solidFill>
                  <a:srgbClr val="007A33"/>
                </a:solidFill>
                <a:latin typeface="Palatino"/>
              </a:rPr>
              <a:t>One share, and the average of several</a:t>
            </a:r>
          </a:p>
        </p:txBody>
      </p:sp>
      <p:sp>
        <p:nvSpPr>
          <p:cNvPr id="5" name="Rectangle 4"/>
          <p:cNvSpPr/>
          <p:nvPr/>
        </p:nvSpPr>
        <p:spPr>
          <a:xfrm>
            <a:off x="777240" y="1572768"/>
            <a:ext cx="10637215" cy="15875"/>
          </a:xfrm>
          <a:prstGeom prst="rect">
            <a:avLst/>
          </a:prstGeom>
          <a:solidFill>
            <a:srgbClr val="D7E0D9"/>
          </a:solidFill>
          <a:ln>
            <a:noFill/>
          </a:ln>
          <a:effectLst/>
        </p:spPr>
        <p:txBody>
          <a:bodyPr rtlCol="0" anchor="ctr"/>
          <a:lstStyle/>
          <a:p>
            <a:pPr algn="ctr"/>
          </a:p>
        </p:txBody>
      </p:sp>
      <p:sp>
        <p:nvSpPr>
          <p:cNvPr id="6" name="TextBox 5"/>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1 of 6 - Origins  |  11 of 13</a:t>
            </a:r>
          </a:p>
        </p:txBody>
      </p:sp>
      <p:sp>
        <p:nvSpPr>
          <p:cNvPr id="7" name="Rectangle 6"/>
          <p:cNvSpPr/>
          <p:nvPr/>
        </p:nvSpPr>
        <p:spPr>
          <a:xfrm>
            <a:off x="778611" y="1810512"/>
            <a:ext cx="10634472" cy="3749039"/>
          </a:xfrm>
          <a:prstGeom prst="rect">
            <a:avLst/>
          </a:prstGeom>
          <a:solidFill>
            <a:srgbClr val="FFFFFF"/>
          </a:solidFill>
          <a:ln w="12700">
            <a:solidFill>
              <a:srgbClr val="D7E0D9"/>
            </a:solidFill>
          </a:ln>
          <a:effectLst/>
        </p:spPr>
        <p:txBody>
          <a:bodyPr rtlCol="0" anchor="ctr"/>
          <a:lstStyle/>
          <a:p>
            <a:pPr algn="ctr"/>
          </a:p>
        </p:txBody>
      </p:sp>
      <p:pic>
        <p:nvPicPr>
          <p:cNvPr id="8" name="Picture 7" descr="chart-a.png"/>
          <p:cNvPicPr>
            <a:picLocks noChangeAspect="1"/>
          </p:cNvPicPr>
          <p:nvPr/>
        </p:nvPicPr>
        <p:blipFill>
          <a:blip r:embed="rId2"/>
          <a:stretch>
            <a:fillRect/>
          </a:stretch>
        </p:blipFill>
        <p:spPr>
          <a:xfrm>
            <a:off x="897483" y="1929384"/>
            <a:ext cx="10396728" cy="3511296"/>
          </a:xfrm>
          <a:prstGeom prst="rect">
            <a:avLst/>
          </a:prstGeom>
        </p:spPr>
      </p:pic>
      <p:sp>
        <p:nvSpPr>
          <p:cNvPr id="9" name="TextBox 8"/>
          <p:cNvSpPr txBox="1"/>
          <p:nvPr/>
        </p:nvSpPr>
        <p:spPr>
          <a:xfrm>
            <a:off x="777240" y="5669280"/>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300" b="0" i="0">
                <a:solidFill>
                  <a:srgbClr val="818181"/>
                </a:solidFill>
                <a:latin typeface="Arial"/>
              </a:rPr>
              <a:t>Chart A - FIN1209 teaching chart, drawn for this course. Illustrative data, not a real instrument.</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TextBox 3"/>
          <p:cNvSpPr txBox="1"/>
          <p:nvPr/>
        </p:nvSpPr>
        <p:spPr>
          <a:xfrm>
            <a:off x="777240" y="658368"/>
            <a:ext cx="10637215" cy="914400"/>
          </a:xfrm>
          <a:prstGeom prst="rect">
            <a:avLst/>
          </a:prstGeom>
          <a:noFill/>
        </p:spPr>
        <p:txBody>
          <a:bodyPr wrap="square" anchor="t" lIns="0" rIns="0" tIns="0" bIns="0">
            <a:spAutoFit/>
          </a:bodyPr>
          <a:lstStyle/>
          <a:p>
            <a:pPr algn="l">
              <a:lnSpc>
                <a:spcPct val="105000"/>
              </a:lnSpc>
              <a:spcBef>
                <a:spcPts val="0"/>
              </a:spcBef>
              <a:spcAft>
                <a:spcPts val="0"/>
              </a:spcAft>
            </a:pPr>
            <a:r>
              <a:rPr sz="3000" b="0" i="0">
                <a:solidFill>
                  <a:srgbClr val="007A33"/>
                </a:solidFill>
                <a:latin typeface="Palatino"/>
              </a:rPr>
              <a:t>Why Dow wanted the average</a:t>
            </a:r>
          </a:p>
        </p:txBody>
      </p:sp>
      <p:sp>
        <p:nvSpPr>
          <p:cNvPr id="5" name="Rectangle 4"/>
          <p:cNvSpPr/>
          <p:nvPr/>
        </p:nvSpPr>
        <p:spPr>
          <a:xfrm>
            <a:off x="777240" y="1572768"/>
            <a:ext cx="10637215" cy="15875"/>
          </a:xfrm>
          <a:prstGeom prst="rect">
            <a:avLst/>
          </a:prstGeom>
          <a:solidFill>
            <a:srgbClr val="D7E0D9"/>
          </a:solidFill>
          <a:ln>
            <a:noFill/>
          </a:ln>
          <a:effectLst/>
        </p:spPr>
        <p:txBody>
          <a:bodyPr rtlCol="0" anchor="ctr"/>
          <a:lstStyle/>
          <a:p>
            <a:pPr algn="ctr"/>
          </a:p>
        </p:txBody>
      </p:sp>
      <p:sp>
        <p:nvSpPr>
          <p:cNvPr id="6" name="TextBox 5"/>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1 of 6 - Origins  |  12 of 13</a:t>
            </a:r>
          </a:p>
        </p:txBody>
      </p:sp>
      <p:sp>
        <p:nvSpPr>
          <p:cNvPr id="7" name="TextBox 6"/>
          <p:cNvSpPr txBox="1"/>
          <p:nvPr/>
        </p:nvSpPr>
        <p:spPr>
          <a:xfrm>
            <a:off x="777240" y="1965960"/>
            <a:ext cx="10637215" cy="3108960"/>
          </a:xfrm>
          <a:prstGeom prst="rect">
            <a:avLst/>
          </a:prstGeom>
          <a:noFill/>
        </p:spPr>
        <p:txBody>
          <a:bodyPr wrap="square" anchor="t" lIns="0" rIns="0" tIns="0" bIns="0">
            <a:spAutoFit/>
          </a:bodyPr>
          <a:lstStyle/>
          <a:p>
            <a:pPr algn="l">
              <a:lnSpc>
                <a:spcPct val="118000"/>
              </a:lnSpc>
              <a:spcBef>
                <a:spcPts val="0"/>
              </a:spcBef>
              <a:spcAft>
                <a:spcPts val="1300"/>
              </a:spcAft>
            </a:pPr>
            <a:r>
              <a:rPr sz="2100" b="0" i="0">
                <a:solidFill>
                  <a:srgbClr val="1A1A1A"/>
                </a:solidFill>
                <a:latin typeface="Arial"/>
              </a:rPr>
              <a:t>Individual stock action at the time was fairly erratic and open to manipulation.</a:t>
            </a:r>
          </a:p>
          <a:p>
            <a:pPr algn="l">
              <a:lnSpc>
                <a:spcPct val="118000"/>
              </a:lnSpc>
              <a:spcBef>
                <a:spcPts val="0"/>
              </a:spcBef>
              <a:spcAft>
                <a:spcPts val="1300"/>
              </a:spcAft>
            </a:pPr>
            <a:r>
              <a:rPr sz="2100" b="0" i="0">
                <a:solidFill>
                  <a:srgbClr val="1A1A1A"/>
                </a:solidFill>
                <a:latin typeface="Arial"/>
              </a:rPr>
              <a:t>The index was meant to average out or smooth those erratic price movements.</a:t>
            </a:r>
          </a:p>
          <a:p>
            <a:pPr algn="l">
              <a:lnSpc>
                <a:spcPct val="118000"/>
              </a:lnSpc>
              <a:spcBef>
                <a:spcPts val="0"/>
              </a:spcBef>
              <a:spcAft>
                <a:spcPts val="1300"/>
              </a:spcAft>
            </a:pPr>
            <a:r>
              <a:rPr sz="2100" b="0" i="0">
                <a:solidFill>
                  <a:srgbClr val="1A1A1A"/>
                </a:solidFill>
                <a:latin typeface="Arial"/>
              </a:rPr>
              <a:t>The action of the averages was meant to act as a barometer of the market environment.</a:t>
            </a:r>
          </a:p>
        </p:txBody>
      </p:sp>
      <p:sp>
        <p:nvSpPr>
          <p:cNvPr id="8" name="Rectangle 7"/>
          <p:cNvSpPr/>
          <p:nvPr/>
        </p:nvSpPr>
        <p:spPr>
          <a:xfrm>
            <a:off x="777240" y="4399026"/>
            <a:ext cx="82296" cy="788924"/>
          </a:xfrm>
          <a:prstGeom prst="rect">
            <a:avLst/>
          </a:prstGeom>
          <a:solidFill>
            <a:srgbClr val="F2A900"/>
          </a:solidFill>
          <a:ln>
            <a:noFill/>
          </a:ln>
          <a:effectLst/>
        </p:spPr>
        <p:txBody>
          <a:bodyPr rtlCol="0" anchor="ctr"/>
          <a:lstStyle/>
          <a:p>
            <a:pPr algn="ctr"/>
          </a:p>
        </p:txBody>
      </p:sp>
      <p:sp>
        <p:nvSpPr>
          <p:cNvPr id="9" name="TextBox 8"/>
          <p:cNvSpPr txBox="1"/>
          <p:nvPr/>
        </p:nvSpPr>
        <p:spPr>
          <a:xfrm>
            <a:off x="1069848" y="4435602"/>
            <a:ext cx="10344607" cy="788924"/>
          </a:xfrm>
          <a:prstGeom prst="rect">
            <a:avLst/>
          </a:prstGeom>
          <a:noFill/>
        </p:spPr>
        <p:txBody>
          <a:bodyPr wrap="square" anchor="t" lIns="0" rIns="0" tIns="0" bIns="0">
            <a:spAutoFit/>
          </a:bodyPr>
          <a:lstStyle/>
          <a:p>
            <a:pPr algn="l">
              <a:lnSpc>
                <a:spcPct val="115000"/>
              </a:lnSpc>
              <a:spcBef>
                <a:spcPts val="0"/>
              </a:spcBef>
              <a:spcAft>
                <a:spcPts val="0"/>
              </a:spcAft>
            </a:pPr>
            <a:r>
              <a:rPr sz="2200" b="1" i="0">
                <a:solidFill>
                  <a:srgbClr val="1A1A1A"/>
                </a:solidFill>
                <a:latin typeface="Arial"/>
              </a:rPr>
              <a:t>Barometer is the word to hold on to. It reads the weather. It does not make it.</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TextBox 3"/>
          <p:cNvSpPr txBox="1"/>
          <p:nvPr/>
        </p:nvSpPr>
        <p:spPr>
          <a:xfrm>
            <a:off x="777240" y="658368"/>
            <a:ext cx="10637215" cy="914400"/>
          </a:xfrm>
          <a:prstGeom prst="rect">
            <a:avLst/>
          </a:prstGeom>
          <a:noFill/>
        </p:spPr>
        <p:txBody>
          <a:bodyPr wrap="square" anchor="t" lIns="0" rIns="0" tIns="0" bIns="0">
            <a:spAutoFit/>
          </a:bodyPr>
          <a:lstStyle/>
          <a:p>
            <a:pPr algn="l">
              <a:lnSpc>
                <a:spcPct val="105000"/>
              </a:lnSpc>
              <a:spcBef>
                <a:spcPts val="0"/>
              </a:spcBef>
              <a:spcAft>
                <a:spcPts val="0"/>
              </a:spcAft>
            </a:pPr>
            <a:r>
              <a:rPr sz="3000" b="0" i="0">
                <a:solidFill>
                  <a:srgbClr val="007A33"/>
                </a:solidFill>
                <a:latin typeface="Palatino"/>
              </a:rPr>
              <a:t>What those two averages are called now</a:t>
            </a:r>
          </a:p>
        </p:txBody>
      </p:sp>
      <p:sp>
        <p:nvSpPr>
          <p:cNvPr id="5" name="Rectangle 4"/>
          <p:cNvSpPr/>
          <p:nvPr/>
        </p:nvSpPr>
        <p:spPr>
          <a:xfrm>
            <a:off x="777240" y="1572768"/>
            <a:ext cx="10637215" cy="15875"/>
          </a:xfrm>
          <a:prstGeom prst="rect">
            <a:avLst/>
          </a:prstGeom>
          <a:solidFill>
            <a:srgbClr val="D7E0D9"/>
          </a:solidFill>
          <a:ln>
            <a:noFill/>
          </a:ln>
          <a:effectLst/>
        </p:spPr>
        <p:txBody>
          <a:bodyPr rtlCol="0" anchor="ctr"/>
          <a:lstStyle/>
          <a:p>
            <a:pPr algn="ctr"/>
          </a:p>
        </p:txBody>
      </p:sp>
      <p:sp>
        <p:nvSpPr>
          <p:cNvPr id="6" name="TextBox 5"/>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1 of 6 - Origins  |  13 of 13</a:t>
            </a:r>
          </a:p>
        </p:txBody>
      </p:sp>
      <p:sp>
        <p:nvSpPr>
          <p:cNvPr id="7" name="TextBox 6"/>
          <p:cNvSpPr txBox="1"/>
          <p:nvPr/>
        </p:nvSpPr>
        <p:spPr>
          <a:xfrm>
            <a:off x="777240" y="1965960"/>
            <a:ext cx="10637215" cy="3108960"/>
          </a:xfrm>
          <a:prstGeom prst="rect">
            <a:avLst/>
          </a:prstGeom>
          <a:noFill/>
        </p:spPr>
        <p:txBody>
          <a:bodyPr wrap="square" anchor="t" lIns="0" rIns="0" tIns="0" bIns="0">
            <a:spAutoFit/>
          </a:bodyPr>
          <a:lstStyle/>
          <a:p>
            <a:pPr algn="l">
              <a:lnSpc>
                <a:spcPct val="118000"/>
              </a:lnSpc>
              <a:spcBef>
                <a:spcPts val="0"/>
              </a:spcBef>
              <a:spcAft>
                <a:spcPts val="1300"/>
              </a:spcAft>
            </a:pPr>
            <a:r>
              <a:rPr sz="2100" b="0" i="0">
                <a:solidFill>
                  <a:srgbClr val="1A1A1A"/>
                </a:solidFill>
                <a:latin typeface="Arial"/>
              </a:rPr>
              <a:t>The 12 stock Industrial Index has gradually evolved into 30 stocks.</a:t>
            </a:r>
          </a:p>
          <a:p>
            <a:pPr algn="l">
              <a:lnSpc>
                <a:spcPct val="118000"/>
              </a:lnSpc>
              <a:spcBef>
                <a:spcPts val="0"/>
              </a:spcBef>
              <a:spcAft>
                <a:spcPts val="1300"/>
              </a:spcAft>
            </a:pPr>
            <a:r>
              <a:rPr sz="2100" b="0" i="0">
                <a:solidFill>
                  <a:srgbClr val="1A1A1A"/>
                </a:solidFill>
                <a:latin typeface="Arial"/>
              </a:rPr>
              <a:t>It is known today as the Dow Jones Industrial Average.</a:t>
            </a:r>
          </a:p>
          <a:p>
            <a:pPr algn="l">
              <a:lnSpc>
                <a:spcPct val="118000"/>
              </a:lnSpc>
              <a:spcBef>
                <a:spcPts val="0"/>
              </a:spcBef>
              <a:spcAft>
                <a:spcPts val="1300"/>
              </a:spcAft>
            </a:pPr>
            <a:r>
              <a:rPr sz="2100" b="0" i="0">
                <a:solidFill>
                  <a:srgbClr val="1A1A1A"/>
                </a:solidFill>
                <a:latin typeface="Arial"/>
              </a:rPr>
              <a:t>The Railroad Average is known today as the Dow Jones Transportation Average.</a:t>
            </a:r>
          </a:p>
        </p:txBody>
      </p:sp>
      <p:sp>
        <p:nvSpPr>
          <p:cNvPr id="8" name="Rectangle 7"/>
          <p:cNvSpPr/>
          <p:nvPr/>
        </p:nvSpPr>
        <p:spPr>
          <a:xfrm>
            <a:off x="777240" y="3769614"/>
            <a:ext cx="82296" cy="467614"/>
          </a:xfrm>
          <a:prstGeom prst="rect">
            <a:avLst/>
          </a:prstGeom>
          <a:solidFill>
            <a:srgbClr val="F2A900"/>
          </a:solidFill>
          <a:ln>
            <a:noFill/>
          </a:ln>
          <a:effectLst/>
        </p:spPr>
        <p:txBody>
          <a:bodyPr rtlCol="0" anchor="ctr"/>
          <a:lstStyle/>
          <a:p>
            <a:pPr algn="ctr"/>
          </a:p>
        </p:txBody>
      </p:sp>
      <p:sp>
        <p:nvSpPr>
          <p:cNvPr id="9" name="TextBox 8"/>
          <p:cNvSpPr txBox="1"/>
          <p:nvPr/>
        </p:nvSpPr>
        <p:spPr>
          <a:xfrm>
            <a:off x="1069848" y="3806190"/>
            <a:ext cx="10344607" cy="467614"/>
          </a:xfrm>
          <a:prstGeom prst="rect">
            <a:avLst/>
          </a:prstGeom>
          <a:noFill/>
        </p:spPr>
        <p:txBody>
          <a:bodyPr wrap="square" anchor="t" lIns="0" rIns="0" tIns="0" bIns="0">
            <a:spAutoFit/>
          </a:bodyPr>
          <a:lstStyle/>
          <a:p>
            <a:pPr algn="l">
              <a:lnSpc>
                <a:spcPct val="115000"/>
              </a:lnSpc>
              <a:spcBef>
                <a:spcPts val="0"/>
              </a:spcBef>
              <a:spcAft>
                <a:spcPts val="0"/>
              </a:spcAft>
            </a:pPr>
            <a:r>
              <a:rPr sz="2200" b="1" i="0">
                <a:solidFill>
                  <a:srgbClr val="1A1A1A"/>
                </a:solidFill>
                <a:latin typeface="Arial"/>
              </a:rPr>
              <a:t>Two averages. In Part 6 they will have to agree with each other.</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Rectangle 3"/>
          <p:cNvSpPr/>
          <p:nvPr/>
        </p:nvSpPr>
        <p:spPr>
          <a:xfrm>
            <a:off x="11935663" y="0"/>
            <a:ext cx="256032" cy="6858000"/>
          </a:xfrm>
          <a:prstGeom prst="rect">
            <a:avLst/>
          </a:prstGeom>
          <a:solidFill>
            <a:srgbClr val="F2A900"/>
          </a:solidFill>
          <a:ln>
            <a:noFill/>
          </a:ln>
          <a:effectLst/>
        </p:spPr>
        <p:txBody>
          <a:bodyPr rtlCol="0" anchor="ctr"/>
          <a:lstStyle/>
          <a:p>
            <a:pPr algn="ctr"/>
          </a:p>
        </p:txBody>
      </p:sp>
      <p:sp>
        <p:nvSpPr>
          <p:cNvPr id="5" name="TextBox 4"/>
          <p:cNvSpPr txBox="1"/>
          <p:nvPr/>
        </p:nvSpPr>
        <p:spPr>
          <a:xfrm>
            <a:off x="777240" y="658368"/>
            <a:ext cx="10180015" cy="822960"/>
          </a:xfrm>
          <a:prstGeom prst="rect">
            <a:avLst/>
          </a:prstGeom>
          <a:noFill/>
        </p:spPr>
        <p:txBody>
          <a:bodyPr wrap="square" anchor="t" lIns="0" rIns="0" tIns="0" bIns="0">
            <a:spAutoFit/>
          </a:bodyPr>
          <a:lstStyle/>
          <a:p>
            <a:pPr algn="l">
              <a:lnSpc>
                <a:spcPct val="100000"/>
              </a:lnSpc>
              <a:spcBef>
                <a:spcPts val="0"/>
              </a:spcBef>
              <a:spcAft>
                <a:spcPts val="0"/>
              </a:spcAft>
            </a:pPr>
            <a:r>
              <a:rPr sz="3200" b="0" i="0">
                <a:solidFill>
                  <a:srgbClr val="007A33"/>
                </a:solidFill>
                <a:latin typeface="Palatino"/>
              </a:rPr>
              <a:t>You now know</a:t>
            </a:r>
          </a:p>
        </p:txBody>
      </p:sp>
      <p:sp>
        <p:nvSpPr>
          <p:cNvPr id="6" name="Rectangle 5"/>
          <p:cNvSpPr/>
          <p:nvPr/>
        </p:nvSpPr>
        <p:spPr>
          <a:xfrm>
            <a:off x="777240" y="1572768"/>
            <a:ext cx="10637215" cy="15875"/>
          </a:xfrm>
          <a:prstGeom prst="rect">
            <a:avLst/>
          </a:prstGeom>
          <a:solidFill>
            <a:srgbClr val="D7E0D9"/>
          </a:solidFill>
          <a:ln>
            <a:noFill/>
          </a:ln>
          <a:effectLst/>
        </p:spPr>
        <p:txBody>
          <a:bodyPr rtlCol="0" anchor="ctr"/>
          <a:lstStyle/>
          <a:p>
            <a:pPr algn="ctr"/>
          </a:p>
        </p:txBody>
      </p:sp>
      <p:sp>
        <p:nvSpPr>
          <p:cNvPr id="7" name="TextBox 6"/>
          <p:cNvSpPr txBox="1"/>
          <p:nvPr/>
        </p:nvSpPr>
        <p:spPr>
          <a:xfrm>
            <a:off x="777240" y="1965960"/>
            <a:ext cx="4815687" cy="3794760"/>
          </a:xfrm>
          <a:prstGeom prst="rect">
            <a:avLst/>
          </a:prstGeom>
          <a:noFill/>
        </p:spPr>
        <p:txBody>
          <a:bodyPr wrap="square" anchor="t" lIns="0" rIns="0" tIns="0" bIns="0">
            <a:spAutoFit/>
          </a:bodyPr>
          <a:lstStyle/>
          <a:p>
            <a:pPr algn="l" marL="237744" indent="-237744">
              <a:lnSpc>
                <a:spcPct val="112000"/>
              </a:lnSpc>
              <a:spcBef>
                <a:spcPts val="0"/>
              </a:spcBef>
              <a:spcAft>
                <a:spcPts val="1200"/>
              </a:spcAft>
            </a:pPr>
            <a:r>
              <a:rPr sz="1800" b="0" i="0">
                <a:solidFill>
                  <a:srgbClr val="1A1A1A"/>
                </a:solidFill>
                <a:latin typeface="Arial"/>
              </a:rPr>
              <a:t>▪  Dow Theory, and that Dow never published it</a:t>
            </a:r>
          </a:p>
          <a:p>
            <a:pPr algn="l" marL="237744" indent="-237744">
              <a:lnSpc>
                <a:spcPct val="112000"/>
              </a:lnSpc>
              <a:spcBef>
                <a:spcPts val="0"/>
              </a:spcBef>
              <a:spcAft>
                <a:spcPts val="1200"/>
              </a:spcAft>
            </a:pPr>
            <a:r>
              <a:rPr sz="1800" b="0" i="0">
                <a:solidFill>
                  <a:srgbClr val="1A1A1A"/>
                </a:solidFill>
                <a:latin typeface="Arial"/>
              </a:rPr>
              <a:t>▪  Dow, Hamilton, Nelson and Rhea, and their three books</a:t>
            </a:r>
          </a:p>
          <a:p>
            <a:pPr algn="l" marL="237744" indent="-237744">
              <a:lnSpc>
                <a:spcPct val="112000"/>
              </a:lnSpc>
              <a:spcBef>
                <a:spcPts val="0"/>
              </a:spcBef>
              <a:spcAft>
                <a:spcPts val="1200"/>
              </a:spcAft>
            </a:pPr>
            <a:r>
              <a:rPr sz="1800" b="0" i="0">
                <a:solidFill>
                  <a:srgbClr val="1A1A1A"/>
                </a:solidFill>
                <a:latin typeface="Arial"/>
              </a:rPr>
              <a:t>▪  Rhea's three assumptions</a:t>
            </a:r>
          </a:p>
        </p:txBody>
      </p:sp>
      <p:sp>
        <p:nvSpPr>
          <p:cNvPr id="8" name="TextBox 7"/>
          <p:cNvSpPr txBox="1"/>
          <p:nvPr/>
        </p:nvSpPr>
        <p:spPr>
          <a:xfrm>
            <a:off x="6141567" y="1965960"/>
            <a:ext cx="4815687" cy="3794760"/>
          </a:xfrm>
          <a:prstGeom prst="rect">
            <a:avLst/>
          </a:prstGeom>
          <a:noFill/>
        </p:spPr>
        <p:txBody>
          <a:bodyPr wrap="square" anchor="t" lIns="0" rIns="0" tIns="0" bIns="0">
            <a:spAutoFit/>
          </a:bodyPr>
          <a:lstStyle/>
          <a:p>
            <a:pPr algn="l" marL="237744" indent="-237744">
              <a:lnSpc>
                <a:spcPct val="112000"/>
              </a:lnSpc>
              <a:spcBef>
                <a:spcPts val="0"/>
              </a:spcBef>
              <a:spcAft>
                <a:spcPts val="1200"/>
              </a:spcAft>
            </a:pPr>
            <a:r>
              <a:rPr sz="1800" b="0" i="0">
                <a:solidFill>
                  <a:srgbClr val="1A1A1A"/>
                </a:solidFill>
                <a:latin typeface="Arial"/>
              </a:rPr>
              <a:t>▪  A stock market average, and why Dow wanted one</a:t>
            </a:r>
          </a:p>
          <a:p>
            <a:pPr algn="l" marL="237744" indent="-237744">
              <a:lnSpc>
                <a:spcPct val="112000"/>
              </a:lnSpc>
              <a:spcBef>
                <a:spcPts val="0"/>
              </a:spcBef>
              <a:spcAft>
                <a:spcPts val="1200"/>
              </a:spcAft>
            </a:pPr>
            <a:r>
              <a:rPr sz="1800" b="0" i="0">
                <a:solidFill>
                  <a:srgbClr val="1A1A1A"/>
                </a:solidFill>
                <a:latin typeface="Arial"/>
              </a:rPr>
              <a:t>▪  The Industrial Average and the Transportation Average</a:t>
            </a:r>
          </a:p>
        </p:txBody>
      </p:sp>
      <p:sp>
        <p:nvSpPr>
          <p:cNvPr id="9" name="TextBox 8"/>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1 of 6 - Origins  |  recap</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07A33"/>
          </a:solidFill>
          <a:ln>
            <a:noFill/>
          </a:ln>
          <a:effectLst/>
        </p:spPr>
        <p:txBody>
          <a:bodyPr rtlCol="0" anchor="ctr"/>
          <a:lstStyle/>
          <a:p>
            <a:pPr algn="ctr"/>
          </a:p>
        </p:txBody>
      </p:sp>
      <p:sp>
        <p:nvSpPr>
          <p:cNvPr id="3" name="Rectangle 2"/>
          <p:cNvSpPr/>
          <p:nvPr/>
        </p:nvSpPr>
        <p:spPr>
          <a:xfrm>
            <a:off x="0" y="0"/>
            <a:ext cx="256032" cy="6858000"/>
          </a:xfrm>
          <a:prstGeom prst="rect">
            <a:avLst/>
          </a:prstGeom>
          <a:solidFill>
            <a:srgbClr val="F2A900"/>
          </a:solidFill>
          <a:ln>
            <a:noFill/>
          </a:ln>
          <a:effectLst/>
        </p:spPr>
        <p:txBody>
          <a:bodyPr rtlCol="0" anchor="ctr"/>
          <a:lstStyle/>
          <a:p>
            <a:pPr algn="ctr"/>
          </a:p>
        </p:txBody>
      </p:sp>
      <p:sp>
        <p:nvSpPr>
          <p:cNvPr id="4" name="TextBox 3"/>
          <p:cNvSpPr txBox="1"/>
          <p:nvPr/>
        </p:nvSpPr>
        <p:spPr>
          <a:xfrm>
            <a:off x="777240" y="1051560"/>
            <a:ext cx="10637215" cy="365760"/>
          </a:xfrm>
          <a:prstGeom prst="rect">
            <a:avLst/>
          </a:prstGeom>
          <a:noFill/>
        </p:spPr>
        <p:txBody>
          <a:bodyPr wrap="square" anchor="t" lIns="0" rIns="0" tIns="0" bIns="0">
            <a:spAutoFit/>
          </a:bodyPr>
          <a:lstStyle/>
          <a:p>
            <a:pPr algn="l">
              <a:lnSpc>
                <a:spcPct val="100000"/>
              </a:lnSpc>
              <a:spcBef>
                <a:spcPts val="0"/>
              </a:spcBef>
              <a:spcAft>
                <a:spcPts val="0"/>
              </a:spcAft>
            </a:pPr>
            <a:r>
              <a:rPr sz="1500" b="1" i="0">
                <a:solidFill>
                  <a:srgbClr val="F2A900"/>
                </a:solidFill>
                <a:latin typeface="Arial"/>
              </a:rPr>
              <a:t>Part 2 of 6</a:t>
            </a:r>
          </a:p>
        </p:txBody>
      </p:sp>
      <p:sp>
        <p:nvSpPr>
          <p:cNvPr id="5" name="TextBox 4"/>
          <p:cNvSpPr txBox="1"/>
          <p:nvPr/>
        </p:nvSpPr>
        <p:spPr>
          <a:xfrm>
            <a:off x="777240" y="1600200"/>
            <a:ext cx="10637215" cy="1097280"/>
          </a:xfrm>
          <a:prstGeom prst="rect">
            <a:avLst/>
          </a:prstGeom>
          <a:noFill/>
        </p:spPr>
        <p:txBody>
          <a:bodyPr wrap="square" anchor="t" lIns="0" rIns="0" tIns="0" bIns="0">
            <a:spAutoFit/>
          </a:bodyPr>
          <a:lstStyle/>
          <a:p>
            <a:pPr algn="l">
              <a:lnSpc>
                <a:spcPct val="105000"/>
              </a:lnSpc>
              <a:spcBef>
                <a:spcPts val="0"/>
              </a:spcBef>
              <a:spcAft>
                <a:spcPts val="0"/>
              </a:spcAft>
            </a:pPr>
            <a:r>
              <a:rPr sz="4000" b="0" i="0">
                <a:solidFill>
                  <a:srgbClr val="FFFFFF"/>
                </a:solidFill>
                <a:latin typeface="Palatino"/>
              </a:rPr>
              <a:t>The Six Tenets, and the First One</a:t>
            </a:r>
          </a:p>
        </p:txBody>
      </p:sp>
      <p:sp>
        <p:nvSpPr>
          <p:cNvPr id="6" name="Rectangle 5"/>
          <p:cNvSpPr/>
          <p:nvPr/>
        </p:nvSpPr>
        <p:spPr>
          <a:xfrm>
            <a:off x="777240" y="2926080"/>
            <a:ext cx="1463040" cy="38100"/>
          </a:xfrm>
          <a:prstGeom prst="rect">
            <a:avLst/>
          </a:prstGeom>
          <a:solidFill>
            <a:srgbClr val="F2A900"/>
          </a:solidFill>
          <a:ln>
            <a:noFill/>
          </a:ln>
          <a:effectLst/>
        </p:spPr>
        <p:txBody>
          <a:bodyPr rtlCol="0" anchor="ctr"/>
          <a:lstStyle/>
          <a:p>
            <a:pPr algn="ctr"/>
          </a:p>
        </p:txBody>
      </p:sp>
      <p:sp>
        <p:nvSpPr>
          <p:cNvPr id="7" name="TextBox 6"/>
          <p:cNvSpPr txBox="1"/>
          <p:nvPr/>
        </p:nvSpPr>
        <p:spPr>
          <a:xfrm>
            <a:off x="777240" y="3383280"/>
            <a:ext cx="10637215" cy="2011680"/>
          </a:xfrm>
          <a:prstGeom prst="rect">
            <a:avLst/>
          </a:prstGeom>
          <a:noFill/>
        </p:spPr>
        <p:txBody>
          <a:bodyPr wrap="square" anchor="t" lIns="0" rIns="0" tIns="0" bIns="0">
            <a:spAutoFit/>
          </a:bodyPr>
          <a:lstStyle/>
          <a:p>
            <a:pPr algn="l">
              <a:lnSpc>
                <a:spcPct val="115000"/>
              </a:lnSpc>
              <a:spcBef>
                <a:spcPts val="0"/>
              </a:spcBef>
              <a:spcAft>
                <a:spcPts val="1000"/>
              </a:spcAft>
            </a:pPr>
            <a:r>
              <a:rPr sz="1900" b="0" i="0">
                <a:solidFill>
                  <a:srgbClr val="FFFFFF"/>
                </a:solidFill>
                <a:latin typeface="Arial"/>
              </a:rPr>
              <a:t>The six basic tenets of Dow Theory, which is the list the paper asks for.</a:t>
            </a:r>
          </a:p>
          <a:p>
            <a:pPr algn="l">
              <a:lnSpc>
                <a:spcPct val="115000"/>
              </a:lnSpc>
              <a:spcBef>
                <a:spcPts val="0"/>
              </a:spcBef>
              <a:spcAft>
                <a:spcPts val="1000"/>
              </a:spcAft>
            </a:pPr>
            <a:r>
              <a:rPr sz="1900" b="0" i="0">
                <a:solidFill>
                  <a:srgbClr val="FFFFFF"/>
                </a:solidFill>
                <a:latin typeface="Arial"/>
              </a:rPr>
              <a:t>What it means to say the averages discount everything.</a:t>
            </a:r>
          </a:p>
          <a:p>
            <a:pPr algn="l">
              <a:lnSpc>
                <a:spcPct val="115000"/>
              </a:lnSpc>
              <a:spcBef>
                <a:spcPts val="0"/>
              </a:spcBef>
              <a:spcAft>
                <a:spcPts val="1000"/>
              </a:spcAft>
            </a:pPr>
            <a:r>
              <a:rPr sz="1900" b="0" i="0">
                <a:solidFill>
                  <a:srgbClr val="FFFFFF"/>
                </a:solidFill>
                <a:latin typeface="Arial"/>
              </a:rPr>
              <a:t>The one price Dow Theory keeps, and everything it throws away.</a:t>
            </a:r>
          </a:p>
        </p:txBody>
      </p:sp>
      <p:sp>
        <p:nvSpPr>
          <p:cNvPr id="8" name="TextBox 7"/>
          <p:cNvSpPr txBox="1"/>
          <p:nvPr/>
        </p:nvSpPr>
        <p:spPr>
          <a:xfrm>
            <a:off x="777240" y="6035040"/>
            <a:ext cx="10637215" cy="365760"/>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F2A900"/>
                </a:solidFill>
                <a:latin typeface="Arial"/>
              </a:rPr>
              <a:t>About 20 minutes</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TextBox 3"/>
          <p:cNvSpPr txBox="1"/>
          <p:nvPr/>
        </p:nvSpPr>
        <p:spPr>
          <a:xfrm>
            <a:off x="777240" y="658368"/>
            <a:ext cx="10637215" cy="914400"/>
          </a:xfrm>
          <a:prstGeom prst="rect">
            <a:avLst/>
          </a:prstGeom>
          <a:noFill/>
        </p:spPr>
        <p:txBody>
          <a:bodyPr wrap="square" anchor="t" lIns="0" rIns="0" tIns="0" bIns="0">
            <a:spAutoFit/>
          </a:bodyPr>
          <a:lstStyle/>
          <a:p>
            <a:pPr algn="l">
              <a:lnSpc>
                <a:spcPct val="105000"/>
              </a:lnSpc>
              <a:spcBef>
                <a:spcPts val="0"/>
              </a:spcBef>
              <a:spcAft>
                <a:spcPts val="0"/>
              </a:spcAft>
            </a:pPr>
            <a:r>
              <a:rPr sz="3000" b="0" i="0">
                <a:solidFill>
                  <a:srgbClr val="007A33"/>
                </a:solidFill>
                <a:latin typeface="Palatino"/>
              </a:rPr>
              <a:t>The six basic tenets of Dow Theory</a:t>
            </a:r>
          </a:p>
        </p:txBody>
      </p:sp>
      <p:sp>
        <p:nvSpPr>
          <p:cNvPr id="5" name="Rectangle 4"/>
          <p:cNvSpPr/>
          <p:nvPr/>
        </p:nvSpPr>
        <p:spPr>
          <a:xfrm>
            <a:off x="777240" y="1572768"/>
            <a:ext cx="10637215" cy="15875"/>
          </a:xfrm>
          <a:prstGeom prst="rect">
            <a:avLst/>
          </a:prstGeom>
          <a:solidFill>
            <a:srgbClr val="D7E0D9"/>
          </a:solidFill>
          <a:ln>
            <a:noFill/>
          </a:ln>
          <a:effectLst/>
        </p:spPr>
        <p:txBody>
          <a:bodyPr rtlCol="0" anchor="ctr"/>
          <a:lstStyle/>
          <a:p>
            <a:pPr algn="ctr"/>
          </a:p>
        </p:txBody>
      </p:sp>
      <p:sp>
        <p:nvSpPr>
          <p:cNvPr id="6" name="TextBox 5"/>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2 of 6 - Discounting  |  1 of 12</a:t>
            </a:r>
          </a:p>
        </p:txBody>
      </p:sp>
      <p:sp>
        <p:nvSpPr>
          <p:cNvPr id="7" name="TextBox 6"/>
          <p:cNvSpPr txBox="1"/>
          <p:nvPr/>
        </p:nvSpPr>
        <p:spPr>
          <a:xfrm>
            <a:off x="777240" y="1965960"/>
            <a:ext cx="10637215" cy="3108960"/>
          </a:xfrm>
          <a:prstGeom prst="rect">
            <a:avLst/>
          </a:prstGeom>
          <a:noFill/>
        </p:spPr>
        <p:txBody>
          <a:bodyPr wrap="square" anchor="t" lIns="0" rIns="0" tIns="0" bIns="0">
            <a:spAutoFit/>
          </a:bodyPr>
          <a:lstStyle/>
          <a:p>
            <a:pPr algn="l">
              <a:lnSpc>
                <a:spcPct val="118000"/>
              </a:lnSpc>
              <a:spcBef>
                <a:spcPts val="0"/>
              </a:spcBef>
              <a:spcAft>
                <a:spcPts val="1300"/>
              </a:spcAft>
            </a:pPr>
            <a:r>
              <a:rPr sz="2100" b="0" i="0">
                <a:solidFill>
                  <a:srgbClr val="1A1A1A"/>
                </a:solidFill>
                <a:latin typeface="Arial"/>
              </a:rPr>
              <a:t>1.  The averages discount everything.</a:t>
            </a:r>
          </a:p>
          <a:p>
            <a:pPr algn="l">
              <a:lnSpc>
                <a:spcPct val="118000"/>
              </a:lnSpc>
              <a:spcBef>
                <a:spcPts val="0"/>
              </a:spcBef>
              <a:spcAft>
                <a:spcPts val="1300"/>
              </a:spcAft>
            </a:pPr>
            <a:r>
              <a:rPr sz="2100" b="0" i="0">
                <a:solidFill>
                  <a:srgbClr val="1A1A1A"/>
                </a:solidFill>
                <a:latin typeface="Arial"/>
              </a:rPr>
              <a:t>2.  The market has three trends.</a:t>
            </a:r>
          </a:p>
          <a:p>
            <a:pPr algn="l">
              <a:lnSpc>
                <a:spcPct val="118000"/>
              </a:lnSpc>
              <a:spcBef>
                <a:spcPts val="0"/>
              </a:spcBef>
              <a:spcAft>
                <a:spcPts val="1300"/>
              </a:spcAft>
            </a:pPr>
            <a:r>
              <a:rPr sz="2100" b="0" i="0">
                <a:solidFill>
                  <a:srgbClr val="1A1A1A"/>
                </a:solidFill>
                <a:latin typeface="Arial"/>
              </a:rPr>
              <a:t>3.  Primary trends have three phases.</a:t>
            </a:r>
          </a:p>
          <a:p>
            <a:pPr algn="l">
              <a:lnSpc>
                <a:spcPct val="118000"/>
              </a:lnSpc>
              <a:spcBef>
                <a:spcPts val="0"/>
              </a:spcBef>
              <a:spcAft>
                <a:spcPts val="1300"/>
              </a:spcAft>
            </a:pPr>
            <a:r>
              <a:rPr sz="2100" b="0" i="0">
                <a:solidFill>
                  <a:srgbClr val="1A1A1A"/>
                </a:solidFill>
                <a:latin typeface="Arial"/>
              </a:rPr>
              <a:t>4.  A trend persists until its reversal is indicated.</a:t>
            </a:r>
          </a:p>
          <a:p>
            <a:pPr algn="l">
              <a:lnSpc>
                <a:spcPct val="118000"/>
              </a:lnSpc>
              <a:spcBef>
                <a:spcPts val="0"/>
              </a:spcBef>
              <a:spcAft>
                <a:spcPts val="1300"/>
              </a:spcAft>
            </a:pPr>
            <a:r>
              <a:rPr sz="2100" b="0" i="0">
                <a:solidFill>
                  <a:srgbClr val="1A1A1A"/>
                </a:solidFill>
                <a:latin typeface="Arial"/>
              </a:rPr>
              <a:t>5.  The averages must confirm one another.</a:t>
            </a:r>
          </a:p>
          <a:p>
            <a:pPr algn="l">
              <a:lnSpc>
                <a:spcPct val="118000"/>
              </a:lnSpc>
              <a:spcBef>
                <a:spcPts val="0"/>
              </a:spcBef>
              <a:spcAft>
                <a:spcPts val="1300"/>
              </a:spcAft>
            </a:pPr>
            <a:r>
              <a:rPr sz="2100" b="0" i="0">
                <a:solidFill>
                  <a:srgbClr val="1A1A1A"/>
                </a:solidFill>
                <a:latin typeface="Arial"/>
              </a:rPr>
              <a:t>6.  Volume must confirm the trend.</a:t>
            </a:r>
          </a:p>
        </p:txBody>
      </p:sp>
      <p:sp>
        <p:nvSpPr>
          <p:cNvPr id="8" name="TextBox 7"/>
          <p:cNvSpPr txBox="1"/>
          <p:nvPr/>
        </p:nvSpPr>
        <p:spPr>
          <a:xfrm>
            <a:off x="777240" y="5262371"/>
            <a:ext cx="10637215" cy="731520"/>
          </a:xfrm>
          <a:prstGeom prst="rect">
            <a:avLst/>
          </a:prstGeom>
          <a:noFill/>
        </p:spPr>
        <p:txBody>
          <a:bodyPr wrap="square" anchor="t" lIns="0" rIns="0" tIns="0" bIns="0">
            <a:spAutoFit/>
          </a:bodyPr>
          <a:lstStyle/>
          <a:p>
            <a:pPr algn="l">
              <a:lnSpc>
                <a:spcPct val="115000"/>
              </a:lnSpc>
              <a:spcBef>
                <a:spcPts val="0"/>
              </a:spcBef>
              <a:spcAft>
                <a:spcPts val="0"/>
              </a:spcAft>
            </a:pPr>
            <a:r>
              <a:rPr sz="1500" b="0" i="1">
                <a:solidFill>
                  <a:srgbClr val="818181"/>
                </a:solidFill>
                <a:latin typeface="Arial"/>
              </a:rPr>
              <a:t>Learn this list. Parts 2 to 6 take them one at a time, in order. There is no gold line on this slide because all six of them matter.</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TextBox 3"/>
          <p:cNvSpPr txBox="1"/>
          <p:nvPr/>
        </p:nvSpPr>
        <p:spPr>
          <a:xfrm>
            <a:off x="777240" y="658368"/>
            <a:ext cx="10637215" cy="914400"/>
          </a:xfrm>
          <a:prstGeom prst="rect">
            <a:avLst/>
          </a:prstGeom>
          <a:noFill/>
        </p:spPr>
        <p:txBody>
          <a:bodyPr wrap="square" anchor="t" lIns="0" rIns="0" tIns="0" bIns="0">
            <a:spAutoFit/>
          </a:bodyPr>
          <a:lstStyle/>
          <a:p>
            <a:pPr algn="l">
              <a:lnSpc>
                <a:spcPct val="105000"/>
              </a:lnSpc>
              <a:spcBef>
                <a:spcPts val="0"/>
              </a:spcBef>
              <a:spcAft>
                <a:spcPts val="0"/>
              </a:spcAft>
            </a:pPr>
            <a:r>
              <a:rPr sz="3000" b="0" i="0">
                <a:solidFill>
                  <a:srgbClr val="007A33"/>
                </a:solidFill>
                <a:latin typeface="Palatino"/>
              </a:rPr>
              <a:t>And one more rule that is not on the list</a:t>
            </a:r>
          </a:p>
        </p:txBody>
      </p:sp>
      <p:sp>
        <p:nvSpPr>
          <p:cNvPr id="5" name="Rectangle 4"/>
          <p:cNvSpPr/>
          <p:nvPr/>
        </p:nvSpPr>
        <p:spPr>
          <a:xfrm>
            <a:off x="777240" y="1572768"/>
            <a:ext cx="10637215" cy="15875"/>
          </a:xfrm>
          <a:prstGeom prst="rect">
            <a:avLst/>
          </a:prstGeom>
          <a:solidFill>
            <a:srgbClr val="D7E0D9"/>
          </a:solidFill>
          <a:ln>
            <a:noFill/>
          </a:ln>
          <a:effectLst/>
        </p:spPr>
        <p:txBody>
          <a:bodyPr rtlCol="0" anchor="ctr"/>
          <a:lstStyle/>
          <a:p>
            <a:pPr algn="ctr"/>
          </a:p>
        </p:txBody>
      </p:sp>
      <p:sp>
        <p:nvSpPr>
          <p:cNvPr id="6" name="TextBox 5"/>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2 of 6 - Discounting  |  2 of 12</a:t>
            </a:r>
          </a:p>
        </p:txBody>
      </p:sp>
      <p:sp>
        <p:nvSpPr>
          <p:cNvPr id="7" name="TextBox 6"/>
          <p:cNvSpPr txBox="1"/>
          <p:nvPr/>
        </p:nvSpPr>
        <p:spPr>
          <a:xfrm>
            <a:off x="777240" y="1965960"/>
            <a:ext cx="10637215" cy="3108960"/>
          </a:xfrm>
          <a:prstGeom prst="rect">
            <a:avLst/>
          </a:prstGeom>
          <a:noFill/>
        </p:spPr>
        <p:txBody>
          <a:bodyPr wrap="square" anchor="t" lIns="0" rIns="0" tIns="0" bIns="0">
            <a:spAutoFit/>
          </a:bodyPr>
          <a:lstStyle/>
          <a:p>
            <a:pPr algn="l">
              <a:lnSpc>
                <a:spcPct val="118000"/>
              </a:lnSpc>
              <a:spcBef>
                <a:spcPts val="0"/>
              </a:spcBef>
              <a:spcAft>
                <a:spcPts val="1300"/>
              </a:spcAft>
            </a:pPr>
            <a:r>
              <a:rPr sz="2100" b="0" i="0">
                <a:solidFill>
                  <a:srgbClr val="1A1A1A"/>
                </a:solidFill>
                <a:latin typeface="Arial"/>
              </a:rPr>
              <a:t>In addition to the six basic tenets, only closing prices are recognized in Dow Theory.</a:t>
            </a:r>
          </a:p>
        </p:txBody>
      </p:sp>
      <p:sp>
        <p:nvSpPr>
          <p:cNvPr id="8" name="Rectangle 7"/>
          <p:cNvSpPr/>
          <p:nvPr/>
        </p:nvSpPr>
        <p:spPr>
          <a:xfrm>
            <a:off x="777240" y="3089147"/>
            <a:ext cx="82296" cy="467614"/>
          </a:xfrm>
          <a:prstGeom prst="rect">
            <a:avLst/>
          </a:prstGeom>
          <a:solidFill>
            <a:srgbClr val="F2A900"/>
          </a:solidFill>
          <a:ln>
            <a:noFill/>
          </a:ln>
          <a:effectLst/>
        </p:spPr>
        <p:txBody>
          <a:bodyPr rtlCol="0" anchor="ctr"/>
          <a:lstStyle/>
          <a:p>
            <a:pPr algn="ctr"/>
          </a:p>
        </p:txBody>
      </p:sp>
      <p:sp>
        <p:nvSpPr>
          <p:cNvPr id="9" name="TextBox 8"/>
          <p:cNvSpPr txBox="1"/>
          <p:nvPr/>
        </p:nvSpPr>
        <p:spPr>
          <a:xfrm>
            <a:off x="1069848" y="3125723"/>
            <a:ext cx="10344607" cy="467614"/>
          </a:xfrm>
          <a:prstGeom prst="rect">
            <a:avLst/>
          </a:prstGeom>
          <a:noFill/>
        </p:spPr>
        <p:txBody>
          <a:bodyPr wrap="square" anchor="t" lIns="0" rIns="0" tIns="0" bIns="0">
            <a:spAutoFit/>
          </a:bodyPr>
          <a:lstStyle/>
          <a:p>
            <a:pPr algn="l">
              <a:lnSpc>
                <a:spcPct val="115000"/>
              </a:lnSpc>
              <a:spcBef>
                <a:spcPts val="0"/>
              </a:spcBef>
              <a:spcAft>
                <a:spcPts val="0"/>
              </a:spcAft>
            </a:pPr>
            <a:r>
              <a:rPr sz="2200" b="1" i="0">
                <a:solidFill>
                  <a:srgbClr val="1A1A1A"/>
                </a:solidFill>
                <a:latin typeface="Arial"/>
              </a:rPr>
              <a:t>Six tenets, plus that. The book states it separately, so we will too.</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Rectangle 3"/>
          <p:cNvSpPr/>
          <p:nvPr/>
        </p:nvSpPr>
        <p:spPr>
          <a:xfrm>
            <a:off x="777240" y="566928"/>
            <a:ext cx="1234440" cy="329184"/>
          </a:xfrm>
          <a:prstGeom prst="rect">
            <a:avLst/>
          </a:prstGeom>
          <a:solidFill>
            <a:srgbClr val="F2A900"/>
          </a:solidFill>
          <a:ln>
            <a:noFill/>
          </a:ln>
          <a:effectLst/>
        </p:spPr>
        <p:txBody>
          <a:bodyPr rtlCol="0" anchor="ctr" wrap="none" lIns="0" rIns="0" tIns="0" bIns="0"/>
          <a:lstStyle/>
          <a:p>
            <a:pPr algn="ctr">
              <a:lnSpc>
                <a:spcPct val="100000"/>
              </a:lnSpc>
              <a:spcBef>
                <a:spcPts val="0"/>
              </a:spcBef>
              <a:spcAft>
                <a:spcPts val="0"/>
              </a:spcAft>
            </a:pPr>
            <a:r>
              <a:rPr sz="1200" b="1" i="0">
                <a:solidFill>
                  <a:srgbClr val="1A1A1A"/>
                </a:solidFill>
                <a:latin typeface="Arial"/>
              </a:rPr>
              <a:t>NEW TERM</a:t>
            </a:r>
          </a:p>
        </p:txBody>
      </p:sp>
      <p:sp>
        <p:nvSpPr>
          <p:cNvPr id="5" name="TextBox 4"/>
          <p:cNvSpPr txBox="1"/>
          <p:nvPr/>
        </p:nvSpPr>
        <p:spPr>
          <a:xfrm>
            <a:off x="777240" y="1051560"/>
            <a:ext cx="10637215" cy="822960"/>
          </a:xfrm>
          <a:prstGeom prst="rect">
            <a:avLst/>
          </a:prstGeom>
          <a:noFill/>
        </p:spPr>
        <p:txBody>
          <a:bodyPr wrap="square" anchor="t" lIns="0" rIns="0" tIns="0" bIns="0">
            <a:spAutoFit/>
          </a:bodyPr>
          <a:lstStyle/>
          <a:p>
            <a:pPr algn="l">
              <a:lnSpc>
                <a:spcPct val="105000"/>
              </a:lnSpc>
              <a:spcBef>
                <a:spcPts val="0"/>
              </a:spcBef>
              <a:spcAft>
                <a:spcPts val="0"/>
              </a:spcAft>
            </a:pPr>
            <a:r>
              <a:rPr sz="3200" b="0" i="0">
                <a:solidFill>
                  <a:srgbClr val="007A33"/>
                </a:solidFill>
                <a:latin typeface="Palatino"/>
              </a:rPr>
              <a:t>The averages discount everything</a:t>
            </a:r>
          </a:p>
        </p:txBody>
      </p:sp>
      <p:sp>
        <p:nvSpPr>
          <p:cNvPr id="6" name="Rectangle 5"/>
          <p:cNvSpPr/>
          <p:nvPr/>
        </p:nvSpPr>
        <p:spPr>
          <a:xfrm>
            <a:off x="777240" y="1874519"/>
            <a:ext cx="10637215" cy="15875"/>
          </a:xfrm>
          <a:prstGeom prst="rect">
            <a:avLst/>
          </a:prstGeom>
          <a:solidFill>
            <a:srgbClr val="D7E0D9"/>
          </a:solidFill>
          <a:ln>
            <a:noFill/>
          </a:ln>
          <a:effectLst/>
        </p:spPr>
        <p:txBody>
          <a:bodyPr rtlCol="0" anchor="ctr"/>
          <a:lstStyle/>
          <a:p>
            <a:pPr algn="ctr"/>
          </a:p>
        </p:txBody>
      </p:sp>
      <p:sp>
        <p:nvSpPr>
          <p:cNvPr id="7" name="Rectangle 6"/>
          <p:cNvSpPr/>
          <p:nvPr/>
        </p:nvSpPr>
        <p:spPr>
          <a:xfrm>
            <a:off x="777240" y="2258568"/>
            <a:ext cx="64008" cy="811022"/>
          </a:xfrm>
          <a:prstGeom prst="rect">
            <a:avLst/>
          </a:prstGeom>
          <a:solidFill>
            <a:srgbClr val="F2A900"/>
          </a:solidFill>
          <a:ln>
            <a:noFill/>
          </a:ln>
          <a:effectLst/>
        </p:spPr>
        <p:txBody>
          <a:bodyPr rtlCol="0" anchor="ctr"/>
          <a:lstStyle/>
          <a:p>
            <a:pPr algn="ctr"/>
          </a:p>
        </p:txBody>
      </p:sp>
      <p:sp>
        <p:nvSpPr>
          <p:cNvPr id="8" name="TextBox 7"/>
          <p:cNvSpPr txBox="1"/>
          <p:nvPr/>
        </p:nvSpPr>
        <p:spPr>
          <a:xfrm>
            <a:off x="1051560" y="2212848"/>
            <a:ext cx="10362895" cy="920750"/>
          </a:xfrm>
          <a:prstGeom prst="rect">
            <a:avLst/>
          </a:prstGeom>
          <a:noFill/>
        </p:spPr>
        <p:txBody>
          <a:bodyPr wrap="square" anchor="t" lIns="0" rIns="0" tIns="0" bIns="0">
            <a:spAutoFit/>
          </a:bodyPr>
          <a:lstStyle/>
          <a:p>
            <a:pPr algn="l">
              <a:lnSpc>
                <a:spcPct val="100000"/>
              </a:lnSpc>
              <a:spcBef>
                <a:spcPts val="0"/>
              </a:spcBef>
              <a:spcAft>
                <a:spcPts val="400"/>
              </a:spcAft>
            </a:pPr>
            <a:r>
              <a:rPr sz="1100" b="1" i="0">
                <a:solidFill>
                  <a:srgbClr val="818181"/>
                </a:solidFill>
                <a:latin typeface="Arial"/>
              </a:rPr>
              <a:t>IN PLAIN WORDS</a:t>
            </a:r>
          </a:p>
          <a:p>
            <a:pPr algn="l">
              <a:lnSpc>
                <a:spcPct val="115000"/>
              </a:lnSpc>
              <a:spcBef>
                <a:spcPts val="0"/>
              </a:spcBef>
              <a:spcAft>
                <a:spcPts val="0"/>
              </a:spcAft>
            </a:pPr>
            <a:r>
              <a:rPr sz="1900" b="1" i="0">
                <a:solidFill>
                  <a:srgbClr val="1A1A1A"/>
                </a:solidFill>
                <a:latin typeface="Arial"/>
              </a:rPr>
              <a:t>The market has already priced in everything anybody knows. What you see is the sum of what every participant did about what they knew.</a:t>
            </a:r>
          </a:p>
        </p:txBody>
      </p:sp>
      <p:sp>
        <p:nvSpPr>
          <p:cNvPr id="9" name="Rectangle 8"/>
          <p:cNvSpPr/>
          <p:nvPr/>
        </p:nvSpPr>
        <p:spPr>
          <a:xfrm>
            <a:off x="777240" y="3417061"/>
            <a:ext cx="64008" cy="811022"/>
          </a:xfrm>
          <a:prstGeom prst="rect">
            <a:avLst/>
          </a:prstGeom>
          <a:solidFill>
            <a:srgbClr val="D7E0D9"/>
          </a:solidFill>
          <a:ln>
            <a:noFill/>
          </a:ln>
          <a:effectLst/>
        </p:spPr>
        <p:txBody>
          <a:bodyPr rtlCol="0" anchor="ctr"/>
          <a:lstStyle/>
          <a:p>
            <a:pPr algn="ctr"/>
          </a:p>
        </p:txBody>
      </p:sp>
      <p:sp>
        <p:nvSpPr>
          <p:cNvPr id="10" name="TextBox 9"/>
          <p:cNvSpPr txBox="1"/>
          <p:nvPr/>
        </p:nvSpPr>
        <p:spPr>
          <a:xfrm>
            <a:off x="1051560" y="3371342"/>
            <a:ext cx="10362895" cy="920750"/>
          </a:xfrm>
          <a:prstGeom prst="rect">
            <a:avLst/>
          </a:prstGeom>
          <a:noFill/>
        </p:spPr>
        <p:txBody>
          <a:bodyPr wrap="square" anchor="t" lIns="0" rIns="0" tIns="0" bIns="0">
            <a:spAutoFit/>
          </a:bodyPr>
          <a:lstStyle/>
          <a:p>
            <a:pPr algn="l">
              <a:lnSpc>
                <a:spcPct val="100000"/>
              </a:lnSpc>
              <a:spcBef>
                <a:spcPts val="0"/>
              </a:spcBef>
              <a:spcAft>
                <a:spcPts val="400"/>
              </a:spcAft>
            </a:pPr>
            <a:r>
              <a:rPr sz="1100" b="1" i="0">
                <a:solidFill>
                  <a:srgbClr val="818181"/>
                </a:solidFill>
                <a:latin typeface="Arial"/>
              </a:rPr>
              <a:t>FOR EXAMPLE</a:t>
            </a:r>
          </a:p>
          <a:p>
            <a:pPr algn="l">
              <a:lnSpc>
                <a:spcPct val="115000"/>
              </a:lnSpc>
              <a:spcBef>
                <a:spcPts val="0"/>
              </a:spcBef>
              <a:spcAft>
                <a:spcPts val="0"/>
              </a:spcAft>
            </a:pPr>
            <a:r>
              <a:rPr sz="1900" b="0" i="0">
                <a:solidFill>
                  <a:srgbClr val="1A1A1A"/>
                </a:solidFill>
                <a:latin typeface="Arial"/>
              </a:rPr>
              <a:t>By the time good results are on the evening news, the people acting on them have already bought. The price moved before the bulletin.</a:t>
            </a:r>
          </a:p>
        </p:txBody>
      </p:sp>
      <p:sp>
        <p:nvSpPr>
          <p:cNvPr id="11" name="Rectangle 10"/>
          <p:cNvSpPr/>
          <p:nvPr/>
        </p:nvSpPr>
        <p:spPr>
          <a:xfrm>
            <a:off x="777240" y="4575556"/>
            <a:ext cx="64008" cy="811022"/>
          </a:xfrm>
          <a:prstGeom prst="rect">
            <a:avLst/>
          </a:prstGeom>
          <a:solidFill>
            <a:srgbClr val="D7E0D9"/>
          </a:solidFill>
          <a:ln>
            <a:noFill/>
          </a:ln>
          <a:effectLst/>
        </p:spPr>
        <p:txBody>
          <a:bodyPr rtlCol="0" anchor="ctr"/>
          <a:lstStyle/>
          <a:p>
            <a:pPr algn="ctr"/>
          </a:p>
        </p:txBody>
      </p:sp>
      <p:sp>
        <p:nvSpPr>
          <p:cNvPr id="12" name="TextBox 11"/>
          <p:cNvSpPr txBox="1"/>
          <p:nvPr/>
        </p:nvSpPr>
        <p:spPr>
          <a:xfrm>
            <a:off x="1051560" y="4529836"/>
            <a:ext cx="10362895" cy="920750"/>
          </a:xfrm>
          <a:prstGeom prst="rect">
            <a:avLst/>
          </a:prstGeom>
          <a:noFill/>
        </p:spPr>
        <p:txBody>
          <a:bodyPr wrap="square" anchor="t" lIns="0" rIns="0" tIns="0" bIns="0">
            <a:spAutoFit/>
          </a:bodyPr>
          <a:lstStyle/>
          <a:p>
            <a:pPr algn="l">
              <a:lnSpc>
                <a:spcPct val="100000"/>
              </a:lnSpc>
              <a:spcBef>
                <a:spcPts val="0"/>
              </a:spcBef>
              <a:spcAft>
                <a:spcPts val="400"/>
              </a:spcAft>
            </a:pPr>
            <a:r>
              <a:rPr sz="1100" b="1" i="0">
                <a:solidFill>
                  <a:srgbClr val="818181"/>
                </a:solidFill>
                <a:latin typeface="Arial"/>
              </a:rPr>
              <a:t>THE FORMAL DEFINITION</a:t>
            </a:r>
          </a:p>
          <a:p>
            <a:pPr algn="l">
              <a:lnSpc>
                <a:spcPct val="115000"/>
              </a:lnSpc>
              <a:spcBef>
                <a:spcPts val="0"/>
              </a:spcBef>
              <a:spcAft>
                <a:spcPts val="0"/>
              </a:spcAft>
            </a:pPr>
            <a:r>
              <a:rPr sz="1900" b="0" i="0">
                <a:solidFill>
                  <a:srgbClr val="1A1A1A"/>
                </a:solidFill>
                <a:latin typeface="Arial"/>
              </a:rPr>
              <a:t>The first tenet: the market is the end result of all participatory action, which represents all information that may be known to the markets.</a:t>
            </a:r>
          </a:p>
        </p:txBody>
      </p:sp>
      <p:sp>
        <p:nvSpPr>
          <p:cNvPr id="13" name="TextBox 12"/>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2 of 6 - Discounting  |  3 of 12</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TextBox 3"/>
          <p:cNvSpPr txBox="1"/>
          <p:nvPr/>
        </p:nvSpPr>
        <p:spPr>
          <a:xfrm>
            <a:off x="777240" y="658368"/>
            <a:ext cx="10637215" cy="914400"/>
          </a:xfrm>
          <a:prstGeom prst="rect">
            <a:avLst/>
          </a:prstGeom>
          <a:noFill/>
        </p:spPr>
        <p:txBody>
          <a:bodyPr wrap="square" anchor="t" lIns="0" rIns="0" tIns="0" bIns="0">
            <a:spAutoFit/>
          </a:bodyPr>
          <a:lstStyle/>
          <a:p>
            <a:pPr algn="l">
              <a:lnSpc>
                <a:spcPct val="105000"/>
              </a:lnSpc>
              <a:spcBef>
                <a:spcPts val="0"/>
              </a:spcBef>
              <a:spcAft>
                <a:spcPts val="0"/>
              </a:spcAft>
            </a:pPr>
            <a:r>
              <a:rPr sz="3000" b="0" i="0">
                <a:solidFill>
                  <a:srgbClr val="007A33"/>
                </a:solidFill>
                <a:latin typeface="Palatino"/>
              </a:rPr>
              <a:t>How information gets into the price</a:t>
            </a:r>
          </a:p>
        </p:txBody>
      </p:sp>
      <p:sp>
        <p:nvSpPr>
          <p:cNvPr id="5" name="Rectangle 4"/>
          <p:cNvSpPr/>
          <p:nvPr/>
        </p:nvSpPr>
        <p:spPr>
          <a:xfrm>
            <a:off x="777240" y="1572768"/>
            <a:ext cx="10637215" cy="15875"/>
          </a:xfrm>
          <a:prstGeom prst="rect">
            <a:avLst/>
          </a:prstGeom>
          <a:solidFill>
            <a:srgbClr val="D7E0D9"/>
          </a:solidFill>
          <a:ln>
            <a:noFill/>
          </a:ln>
          <a:effectLst/>
        </p:spPr>
        <p:txBody>
          <a:bodyPr rtlCol="0" anchor="ctr"/>
          <a:lstStyle/>
          <a:p>
            <a:pPr algn="ctr"/>
          </a:p>
        </p:txBody>
      </p:sp>
      <p:sp>
        <p:nvSpPr>
          <p:cNvPr id="6" name="TextBox 5"/>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2 of 6 - Discounting  |  4 of 12</a:t>
            </a:r>
          </a:p>
        </p:txBody>
      </p:sp>
      <p:sp>
        <p:nvSpPr>
          <p:cNvPr id="7" name="TextBox 6"/>
          <p:cNvSpPr txBox="1"/>
          <p:nvPr/>
        </p:nvSpPr>
        <p:spPr>
          <a:xfrm>
            <a:off x="777240" y="1965960"/>
            <a:ext cx="10637215" cy="3108960"/>
          </a:xfrm>
          <a:prstGeom prst="rect">
            <a:avLst/>
          </a:prstGeom>
          <a:noFill/>
        </p:spPr>
        <p:txBody>
          <a:bodyPr wrap="square" anchor="t" lIns="0" rIns="0" tIns="0" bIns="0">
            <a:spAutoFit/>
          </a:bodyPr>
          <a:lstStyle/>
          <a:p>
            <a:pPr algn="l">
              <a:lnSpc>
                <a:spcPct val="118000"/>
              </a:lnSpc>
              <a:spcBef>
                <a:spcPts val="0"/>
              </a:spcBef>
              <a:spcAft>
                <a:spcPts val="1300"/>
              </a:spcAft>
            </a:pPr>
            <a:r>
              <a:rPr sz="2100" b="0" i="0">
                <a:solidFill>
                  <a:srgbClr val="1A1A1A"/>
                </a:solidFill>
                <a:latin typeface="Arial"/>
              </a:rPr>
              <a:t>The mechanism is participation: somebody puts capital in, or takes it out.</a:t>
            </a:r>
          </a:p>
          <a:p>
            <a:pPr algn="l">
              <a:lnSpc>
                <a:spcPct val="118000"/>
              </a:lnSpc>
              <a:spcBef>
                <a:spcPts val="0"/>
              </a:spcBef>
              <a:spcAft>
                <a:spcPts val="1300"/>
              </a:spcAft>
            </a:pPr>
            <a:r>
              <a:rPr sz="2100" b="0" i="0">
                <a:solidFill>
                  <a:srgbClr val="1A1A1A"/>
                </a:solidFill>
                <a:latin typeface="Arial"/>
              </a:rPr>
              <a:t>Information nobody acts on has not reached the market at all.</a:t>
            </a:r>
          </a:p>
        </p:txBody>
      </p:sp>
      <p:sp>
        <p:nvSpPr>
          <p:cNvPr id="8" name="Rectangle 7"/>
          <p:cNvSpPr/>
          <p:nvPr/>
        </p:nvSpPr>
        <p:spPr>
          <a:xfrm>
            <a:off x="777240" y="3272028"/>
            <a:ext cx="82296" cy="788924"/>
          </a:xfrm>
          <a:prstGeom prst="rect">
            <a:avLst/>
          </a:prstGeom>
          <a:solidFill>
            <a:srgbClr val="F2A900"/>
          </a:solidFill>
          <a:ln>
            <a:noFill/>
          </a:ln>
          <a:effectLst/>
        </p:spPr>
        <p:txBody>
          <a:bodyPr rtlCol="0" anchor="ctr"/>
          <a:lstStyle/>
          <a:p>
            <a:pPr algn="ctr"/>
          </a:p>
        </p:txBody>
      </p:sp>
      <p:sp>
        <p:nvSpPr>
          <p:cNvPr id="9" name="TextBox 8"/>
          <p:cNvSpPr txBox="1"/>
          <p:nvPr/>
        </p:nvSpPr>
        <p:spPr>
          <a:xfrm>
            <a:off x="1069848" y="3308604"/>
            <a:ext cx="10344607" cy="788924"/>
          </a:xfrm>
          <a:prstGeom prst="rect">
            <a:avLst/>
          </a:prstGeom>
          <a:noFill/>
        </p:spPr>
        <p:txBody>
          <a:bodyPr wrap="square" anchor="t" lIns="0" rIns="0" tIns="0" bIns="0">
            <a:spAutoFit/>
          </a:bodyPr>
          <a:lstStyle/>
          <a:p>
            <a:pPr algn="l">
              <a:lnSpc>
                <a:spcPct val="115000"/>
              </a:lnSpc>
              <a:spcBef>
                <a:spcPts val="0"/>
              </a:spcBef>
              <a:spcAft>
                <a:spcPts val="0"/>
              </a:spcAft>
            </a:pPr>
            <a:r>
              <a:rPr sz="2200" b="1" i="0">
                <a:solidFill>
                  <a:srgbClr val="1A1A1A"/>
                </a:solidFill>
                <a:latin typeface="Arial"/>
              </a:rPr>
              <a:t>The price is not what people think. It is what they did about what they think.</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TextBox 3"/>
          <p:cNvSpPr txBox="1"/>
          <p:nvPr/>
        </p:nvSpPr>
        <p:spPr>
          <a:xfrm>
            <a:off x="777240" y="658368"/>
            <a:ext cx="10637215" cy="914400"/>
          </a:xfrm>
          <a:prstGeom prst="rect">
            <a:avLst/>
          </a:prstGeom>
          <a:noFill/>
        </p:spPr>
        <p:txBody>
          <a:bodyPr wrap="square" anchor="t" lIns="0" rIns="0" tIns="0" bIns="0">
            <a:spAutoFit/>
          </a:bodyPr>
          <a:lstStyle/>
          <a:p>
            <a:pPr algn="l">
              <a:lnSpc>
                <a:spcPct val="105000"/>
              </a:lnSpc>
              <a:spcBef>
                <a:spcPts val="0"/>
              </a:spcBef>
              <a:spcAft>
                <a:spcPts val="0"/>
              </a:spcAft>
            </a:pPr>
            <a:r>
              <a:rPr sz="3000" b="0" i="0">
                <a:solidFill>
                  <a:srgbClr val="007A33"/>
                </a:solidFill>
                <a:latin typeface="Palatino"/>
              </a:rPr>
              <a:t>Four things discounting does not require</a:t>
            </a:r>
          </a:p>
        </p:txBody>
      </p:sp>
      <p:sp>
        <p:nvSpPr>
          <p:cNvPr id="5" name="Rectangle 4"/>
          <p:cNvSpPr/>
          <p:nvPr/>
        </p:nvSpPr>
        <p:spPr>
          <a:xfrm>
            <a:off x="777240" y="1572768"/>
            <a:ext cx="10637215" cy="15875"/>
          </a:xfrm>
          <a:prstGeom prst="rect">
            <a:avLst/>
          </a:prstGeom>
          <a:solidFill>
            <a:srgbClr val="D7E0D9"/>
          </a:solidFill>
          <a:ln>
            <a:noFill/>
          </a:ln>
          <a:effectLst/>
        </p:spPr>
        <p:txBody>
          <a:bodyPr rtlCol="0" anchor="ctr"/>
          <a:lstStyle/>
          <a:p>
            <a:pPr algn="ctr"/>
          </a:p>
        </p:txBody>
      </p:sp>
      <p:sp>
        <p:nvSpPr>
          <p:cNvPr id="6" name="TextBox 5"/>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2 of 6 - Discounting  |  5 of 12</a:t>
            </a:r>
          </a:p>
        </p:txBody>
      </p:sp>
      <p:sp>
        <p:nvSpPr>
          <p:cNvPr id="7" name="TextBox 6"/>
          <p:cNvSpPr txBox="1"/>
          <p:nvPr/>
        </p:nvSpPr>
        <p:spPr>
          <a:xfrm>
            <a:off x="777240" y="1965960"/>
            <a:ext cx="10637215" cy="3108960"/>
          </a:xfrm>
          <a:prstGeom prst="rect">
            <a:avLst/>
          </a:prstGeom>
          <a:noFill/>
        </p:spPr>
        <p:txBody>
          <a:bodyPr wrap="square" anchor="t" lIns="0" rIns="0" tIns="0" bIns="0">
            <a:spAutoFit/>
          </a:bodyPr>
          <a:lstStyle/>
          <a:p>
            <a:pPr algn="l">
              <a:lnSpc>
                <a:spcPct val="118000"/>
              </a:lnSpc>
              <a:spcBef>
                <a:spcPts val="0"/>
              </a:spcBef>
              <a:spcAft>
                <a:spcPts val="1300"/>
              </a:spcAft>
            </a:pPr>
            <a:r>
              <a:rPr sz="2100" b="0" i="0">
                <a:solidFill>
                  <a:srgbClr val="1A1A1A"/>
                </a:solidFill>
                <a:latin typeface="Arial"/>
              </a:rPr>
              <a:t>It need not be instantaneous.</a:t>
            </a:r>
          </a:p>
          <a:p>
            <a:pPr algn="l">
              <a:lnSpc>
                <a:spcPct val="118000"/>
              </a:lnSpc>
              <a:spcBef>
                <a:spcPts val="0"/>
              </a:spcBef>
              <a:spcAft>
                <a:spcPts val="1300"/>
              </a:spcAft>
            </a:pPr>
            <a:r>
              <a:rPr sz="2100" b="0" i="0">
                <a:solidFill>
                  <a:srgbClr val="1A1A1A"/>
                </a:solidFill>
                <a:latin typeface="Arial"/>
              </a:rPr>
              <a:t>It need not be driven by rational participants.</a:t>
            </a:r>
          </a:p>
          <a:p>
            <a:pPr algn="l">
              <a:lnSpc>
                <a:spcPct val="118000"/>
              </a:lnSpc>
              <a:spcBef>
                <a:spcPts val="0"/>
              </a:spcBef>
              <a:spcAft>
                <a:spcPts val="1300"/>
              </a:spcAft>
            </a:pPr>
            <a:r>
              <a:rPr sz="2100" b="0" i="0">
                <a:solidFill>
                  <a:srgbClr val="1A1A1A"/>
                </a:solidFill>
                <a:latin typeface="Arial"/>
              </a:rPr>
              <a:t>Participants need not act on all information all of the time.</a:t>
            </a:r>
          </a:p>
          <a:p>
            <a:pPr algn="l">
              <a:lnSpc>
                <a:spcPct val="118000"/>
              </a:lnSpc>
              <a:spcBef>
                <a:spcPts val="0"/>
              </a:spcBef>
              <a:spcAft>
                <a:spcPts val="1300"/>
              </a:spcAft>
            </a:pPr>
            <a:r>
              <a:rPr sz="2100" b="0" i="0">
                <a:solidFill>
                  <a:srgbClr val="1A1A1A"/>
                </a:solidFill>
                <a:latin typeface="Arial"/>
              </a:rPr>
              <a:t>They need not react in the same manner as each other.</a:t>
            </a:r>
          </a:p>
        </p:txBody>
      </p:sp>
      <p:sp>
        <p:nvSpPr>
          <p:cNvPr id="8" name="Rectangle 7"/>
          <p:cNvSpPr/>
          <p:nvPr/>
        </p:nvSpPr>
        <p:spPr>
          <a:xfrm>
            <a:off x="777240" y="4267199"/>
            <a:ext cx="82296" cy="788924"/>
          </a:xfrm>
          <a:prstGeom prst="rect">
            <a:avLst/>
          </a:prstGeom>
          <a:solidFill>
            <a:srgbClr val="F2A900"/>
          </a:solidFill>
          <a:ln>
            <a:noFill/>
          </a:ln>
          <a:effectLst/>
        </p:spPr>
        <p:txBody>
          <a:bodyPr rtlCol="0" anchor="ctr"/>
          <a:lstStyle/>
          <a:p>
            <a:pPr algn="ctr"/>
          </a:p>
        </p:txBody>
      </p:sp>
      <p:sp>
        <p:nvSpPr>
          <p:cNvPr id="9" name="TextBox 8"/>
          <p:cNvSpPr txBox="1"/>
          <p:nvPr/>
        </p:nvSpPr>
        <p:spPr>
          <a:xfrm>
            <a:off x="1069848" y="4303775"/>
            <a:ext cx="10344607" cy="788924"/>
          </a:xfrm>
          <a:prstGeom prst="rect">
            <a:avLst/>
          </a:prstGeom>
          <a:noFill/>
        </p:spPr>
        <p:txBody>
          <a:bodyPr wrap="square" anchor="t" lIns="0" rIns="0" tIns="0" bIns="0">
            <a:spAutoFit/>
          </a:bodyPr>
          <a:lstStyle/>
          <a:p>
            <a:pPr algn="l">
              <a:lnSpc>
                <a:spcPct val="115000"/>
              </a:lnSpc>
              <a:spcBef>
                <a:spcPts val="0"/>
              </a:spcBef>
              <a:spcAft>
                <a:spcPts val="0"/>
              </a:spcAft>
            </a:pPr>
            <a:r>
              <a:rPr sz="2200" b="1" i="0">
                <a:solidFill>
                  <a:srgbClr val="1A1A1A"/>
                </a:solidFill>
                <a:latin typeface="Arial"/>
              </a:rPr>
              <a:t>This is a much weaker claim than it first sounds, and that is deliberate.</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Rectangle 3"/>
          <p:cNvSpPr/>
          <p:nvPr/>
        </p:nvSpPr>
        <p:spPr>
          <a:xfrm>
            <a:off x="777240" y="566928"/>
            <a:ext cx="1234440" cy="329184"/>
          </a:xfrm>
          <a:prstGeom prst="rect">
            <a:avLst/>
          </a:prstGeom>
          <a:solidFill>
            <a:srgbClr val="F2A900"/>
          </a:solidFill>
          <a:ln>
            <a:noFill/>
          </a:ln>
          <a:effectLst/>
        </p:spPr>
        <p:txBody>
          <a:bodyPr rtlCol="0" anchor="ctr" wrap="none" lIns="0" rIns="0" tIns="0" bIns="0"/>
          <a:lstStyle/>
          <a:p>
            <a:pPr algn="ctr">
              <a:lnSpc>
                <a:spcPct val="100000"/>
              </a:lnSpc>
              <a:spcBef>
                <a:spcPts val="0"/>
              </a:spcBef>
              <a:spcAft>
                <a:spcPts val="0"/>
              </a:spcAft>
            </a:pPr>
            <a:r>
              <a:rPr sz="1200" b="1" i="0">
                <a:solidFill>
                  <a:srgbClr val="1A1A1A"/>
                </a:solidFill>
                <a:latin typeface="Arial"/>
              </a:rPr>
              <a:t>NEW TERM</a:t>
            </a:r>
          </a:p>
        </p:txBody>
      </p:sp>
      <p:sp>
        <p:nvSpPr>
          <p:cNvPr id="5" name="TextBox 4"/>
          <p:cNvSpPr txBox="1"/>
          <p:nvPr/>
        </p:nvSpPr>
        <p:spPr>
          <a:xfrm>
            <a:off x="777240" y="1051560"/>
            <a:ext cx="10637215" cy="822960"/>
          </a:xfrm>
          <a:prstGeom prst="rect">
            <a:avLst/>
          </a:prstGeom>
          <a:noFill/>
        </p:spPr>
        <p:txBody>
          <a:bodyPr wrap="square" anchor="t" lIns="0" rIns="0" tIns="0" bIns="0">
            <a:spAutoFit/>
          </a:bodyPr>
          <a:lstStyle/>
          <a:p>
            <a:pPr algn="l">
              <a:lnSpc>
                <a:spcPct val="105000"/>
              </a:lnSpc>
              <a:spcBef>
                <a:spcPts val="0"/>
              </a:spcBef>
              <a:spcAft>
                <a:spcPts val="0"/>
              </a:spcAft>
            </a:pPr>
            <a:r>
              <a:rPr sz="3200" b="0" i="0">
                <a:solidFill>
                  <a:srgbClr val="007A33"/>
                </a:solidFill>
                <a:latin typeface="Palatino"/>
              </a:rPr>
              <a:t>Acts of God</a:t>
            </a:r>
          </a:p>
        </p:txBody>
      </p:sp>
      <p:sp>
        <p:nvSpPr>
          <p:cNvPr id="6" name="Rectangle 5"/>
          <p:cNvSpPr/>
          <p:nvPr/>
        </p:nvSpPr>
        <p:spPr>
          <a:xfrm>
            <a:off x="777240" y="1874519"/>
            <a:ext cx="10637215" cy="15875"/>
          </a:xfrm>
          <a:prstGeom prst="rect">
            <a:avLst/>
          </a:prstGeom>
          <a:solidFill>
            <a:srgbClr val="D7E0D9"/>
          </a:solidFill>
          <a:ln>
            <a:noFill/>
          </a:ln>
          <a:effectLst/>
        </p:spPr>
        <p:txBody>
          <a:bodyPr rtlCol="0" anchor="ctr"/>
          <a:lstStyle/>
          <a:p>
            <a:pPr algn="ctr"/>
          </a:p>
        </p:txBody>
      </p:sp>
      <p:sp>
        <p:nvSpPr>
          <p:cNvPr id="7" name="Rectangle 6"/>
          <p:cNvSpPr/>
          <p:nvPr/>
        </p:nvSpPr>
        <p:spPr>
          <a:xfrm>
            <a:off x="777240" y="2258568"/>
            <a:ext cx="64008" cy="533527"/>
          </a:xfrm>
          <a:prstGeom prst="rect">
            <a:avLst/>
          </a:prstGeom>
          <a:solidFill>
            <a:srgbClr val="F2A900"/>
          </a:solidFill>
          <a:ln>
            <a:noFill/>
          </a:ln>
          <a:effectLst/>
        </p:spPr>
        <p:txBody>
          <a:bodyPr rtlCol="0" anchor="ctr"/>
          <a:lstStyle/>
          <a:p>
            <a:pPr algn="ctr"/>
          </a:p>
        </p:txBody>
      </p:sp>
      <p:sp>
        <p:nvSpPr>
          <p:cNvPr id="8" name="TextBox 7"/>
          <p:cNvSpPr txBox="1"/>
          <p:nvPr/>
        </p:nvSpPr>
        <p:spPr>
          <a:xfrm>
            <a:off x="1051560" y="2212848"/>
            <a:ext cx="10362895" cy="643255"/>
          </a:xfrm>
          <a:prstGeom prst="rect">
            <a:avLst/>
          </a:prstGeom>
          <a:noFill/>
        </p:spPr>
        <p:txBody>
          <a:bodyPr wrap="square" anchor="t" lIns="0" rIns="0" tIns="0" bIns="0">
            <a:spAutoFit/>
          </a:bodyPr>
          <a:lstStyle/>
          <a:p>
            <a:pPr algn="l">
              <a:lnSpc>
                <a:spcPct val="100000"/>
              </a:lnSpc>
              <a:spcBef>
                <a:spcPts val="0"/>
              </a:spcBef>
              <a:spcAft>
                <a:spcPts val="400"/>
              </a:spcAft>
            </a:pPr>
            <a:r>
              <a:rPr sz="1100" b="1" i="0">
                <a:solidFill>
                  <a:srgbClr val="818181"/>
                </a:solidFill>
                <a:latin typeface="Arial"/>
              </a:rPr>
              <a:t>IN PLAIN WORDS</a:t>
            </a:r>
          </a:p>
          <a:p>
            <a:pPr algn="l">
              <a:lnSpc>
                <a:spcPct val="115000"/>
              </a:lnSpc>
              <a:spcBef>
                <a:spcPts val="0"/>
              </a:spcBef>
              <a:spcAft>
                <a:spcPts val="0"/>
              </a:spcAft>
            </a:pPr>
            <a:r>
              <a:rPr sz="1900" b="1" i="0">
                <a:solidFill>
                  <a:srgbClr val="1A1A1A"/>
                </a:solidFill>
                <a:latin typeface="Arial"/>
              </a:rPr>
              <a:t>The one thing the market cannot discount: an event nobody knew was coming.</a:t>
            </a:r>
          </a:p>
        </p:txBody>
      </p:sp>
      <p:sp>
        <p:nvSpPr>
          <p:cNvPr id="9" name="Rectangle 8"/>
          <p:cNvSpPr/>
          <p:nvPr/>
        </p:nvSpPr>
        <p:spPr>
          <a:xfrm>
            <a:off x="777240" y="3139567"/>
            <a:ext cx="64008" cy="811022"/>
          </a:xfrm>
          <a:prstGeom prst="rect">
            <a:avLst/>
          </a:prstGeom>
          <a:solidFill>
            <a:srgbClr val="D7E0D9"/>
          </a:solidFill>
          <a:ln>
            <a:noFill/>
          </a:ln>
          <a:effectLst/>
        </p:spPr>
        <p:txBody>
          <a:bodyPr rtlCol="0" anchor="ctr"/>
          <a:lstStyle/>
          <a:p>
            <a:pPr algn="ctr"/>
          </a:p>
        </p:txBody>
      </p:sp>
      <p:sp>
        <p:nvSpPr>
          <p:cNvPr id="10" name="TextBox 9"/>
          <p:cNvSpPr txBox="1"/>
          <p:nvPr/>
        </p:nvSpPr>
        <p:spPr>
          <a:xfrm>
            <a:off x="1051560" y="3093847"/>
            <a:ext cx="10362895" cy="920750"/>
          </a:xfrm>
          <a:prstGeom prst="rect">
            <a:avLst/>
          </a:prstGeom>
          <a:noFill/>
        </p:spPr>
        <p:txBody>
          <a:bodyPr wrap="square" anchor="t" lIns="0" rIns="0" tIns="0" bIns="0">
            <a:spAutoFit/>
          </a:bodyPr>
          <a:lstStyle/>
          <a:p>
            <a:pPr algn="l">
              <a:lnSpc>
                <a:spcPct val="100000"/>
              </a:lnSpc>
              <a:spcBef>
                <a:spcPts val="0"/>
              </a:spcBef>
              <a:spcAft>
                <a:spcPts val="400"/>
              </a:spcAft>
            </a:pPr>
            <a:r>
              <a:rPr sz="1100" b="1" i="0">
                <a:solidFill>
                  <a:srgbClr val="818181"/>
                </a:solidFill>
                <a:latin typeface="Arial"/>
              </a:rPr>
              <a:t>FOR EXAMPLE</a:t>
            </a:r>
          </a:p>
          <a:p>
            <a:pPr algn="l">
              <a:lnSpc>
                <a:spcPct val="115000"/>
              </a:lnSpc>
              <a:spcBef>
                <a:spcPts val="0"/>
              </a:spcBef>
              <a:spcAft>
                <a:spcPts val="0"/>
              </a:spcAft>
            </a:pPr>
            <a:r>
              <a:rPr sz="1900" b="0" i="0">
                <a:solidFill>
                  <a:srgbClr val="1A1A1A"/>
                </a:solidFill>
                <a:latin typeface="Arial"/>
              </a:rPr>
              <a:t>An earthquake at nine in the morning is not in yesterday's closing price. Nothing could have put it there.</a:t>
            </a:r>
          </a:p>
        </p:txBody>
      </p:sp>
      <p:sp>
        <p:nvSpPr>
          <p:cNvPr id="11" name="Rectangle 10"/>
          <p:cNvSpPr/>
          <p:nvPr/>
        </p:nvSpPr>
        <p:spPr>
          <a:xfrm>
            <a:off x="777240" y="4298061"/>
            <a:ext cx="64008" cy="1088517"/>
          </a:xfrm>
          <a:prstGeom prst="rect">
            <a:avLst/>
          </a:prstGeom>
          <a:solidFill>
            <a:srgbClr val="D7E0D9"/>
          </a:solidFill>
          <a:ln>
            <a:noFill/>
          </a:ln>
          <a:effectLst/>
        </p:spPr>
        <p:txBody>
          <a:bodyPr rtlCol="0" anchor="ctr"/>
          <a:lstStyle/>
          <a:p>
            <a:pPr algn="ctr"/>
          </a:p>
        </p:txBody>
      </p:sp>
      <p:sp>
        <p:nvSpPr>
          <p:cNvPr id="12" name="TextBox 11"/>
          <p:cNvSpPr txBox="1"/>
          <p:nvPr/>
        </p:nvSpPr>
        <p:spPr>
          <a:xfrm>
            <a:off x="1051560" y="4252341"/>
            <a:ext cx="10362895" cy="1198245"/>
          </a:xfrm>
          <a:prstGeom prst="rect">
            <a:avLst/>
          </a:prstGeom>
          <a:noFill/>
        </p:spPr>
        <p:txBody>
          <a:bodyPr wrap="square" anchor="t" lIns="0" rIns="0" tIns="0" bIns="0">
            <a:spAutoFit/>
          </a:bodyPr>
          <a:lstStyle/>
          <a:p>
            <a:pPr algn="l">
              <a:lnSpc>
                <a:spcPct val="100000"/>
              </a:lnSpc>
              <a:spcBef>
                <a:spcPts val="0"/>
              </a:spcBef>
              <a:spcAft>
                <a:spcPts val="400"/>
              </a:spcAft>
            </a:pPr>
            <a:r>
              <a:rPr sz="1100" b="1" i="0">
                <a:solidFill>
                  <a:srgbClr val="818181"/>
                </a:solidFill>
                <a:latin typeface="Arial"/>
              </a:rPr>
              <a:t>THE FORMAL DEFINITION</a:t>
            </a:r>
          </a:p>
          <a:p>
            <a:pPr algn="l">
              <a:lnSpc>
                <a:spcPct val="115000"/>
              </a:lnSpc>
              <a:spcBef>
                <a:spcPts val="0"/>
              </a:spcBef>
              <a:spcAft>
                <a:spcPts val="0"/>
              </a:spcAft>
            </a:pPr>
            <a:r>
              <a:rPr sz="1900" b="0" i="0">
                <a:solidFill>
                  <a:srgbClr val="1A1A1A"/>
                </a:solidFill>
                <a:latin typeface="Arial"/>
              </a:rPr>
              <a:t>The market discounts everything except acts of God, that is, unexpected events or unknown information. It can still absorb, react and adjust to such shocks fairly rapidly.</a:t>
            </a:r>
          </a:p>
        </p:txBody>
      </p:sp>
      <p:sp>
        <p:nvSpPr>
          <p:cNvPr id="13" name="TextBox 12"/>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2 of 6 - Discounting  |  6 of 12</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TextBox 3"/>
          <p:cNvSpPr txBox="1"/>
          <p:nvPr/>
        </p:nvSpPr>
        <p:spPr>
          <a:xfrm>
            <a:off x="777240" y="658368"/>
            <a:ext cx="10637215" cy="914400"/>
          </a:xfrm>
          <a:prstGeom prst="rect">
            <a:avLst/>
          </a:prstGeom>
          <a:noFill/>
        </p:spPr>
        <p:txBody>
          <a:bodyPr wrap="square" anchor="t" lIns="0" rIns="0" tIns="0" bIns="0">
            <a:spAutoFit/>
          </a:bodyPr>
          <a:lstStyle/>
          <a:p>
            <a:pPr algn="l">
              <a:lnSpc>
                <a:spcPct val="105000"/>
              </a:lnSpc>
              <a:spcBef>
                <a:spcPts val="0"/>
              </a:spcBef>
              <a:spcAft>
                <a:spcPts val="0"/>
              </a:spcAft>
            </a:pPr>
            <a:r>
              <a:rPr sz="3000" b="0" i="0">
                <a:solidFill>
                  <a:srgbClr val="007A33"/>
                </a:solidFill>
                <a:latin typeface="Palatino"/>
              </a:rPr>
              <a:t>Prices before September 11, 2001</a:t>
            </a:r>
          </a:p>
        </p:txBody>
      </p:sp>
      <p:sp>
        <p:nvSpPr>
          <p:cNvPr id="5" name="Rectangle 4"/>
          <p:cNvSpPr/>
          <p:nvPr/>
        </p:nvSpPr>
        <p:spPr>
          <a:xfrm>
            <a:off x="777240" y="1572768"/>
            <a:ext cx="10637215" cy="15875"/>
          </a:xfrm>
          <a:prstGeom prst="rect">
            <a:avLst/>
          </a:prstGeom>
          <a:solidFill>
            <a:srgbClr val="D7E0D9"/>
          </a:solidFill>
          <a:ln>
            <a:noFill/>
          </a:ln>
          <a:effectLst/>
        </p:spPr>
        <p:txBody>
          <a:bodyPr rtlCol="0" anchor="ctr"/>
          <a:lstStyle/>
          <a:p>
            <a:pPr algn="ctr"/>
          </a:p>
        </p:txBody>
      </p:sp>
      <p:sp>
        <p:nvSpPr>
          <p:cNvPr id="6" name="TextBox 5"/>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2 of 6 - Discounting  |  7 of 12</a:t>
            </a:r>
          </a:p>
        </p:txBody>
      </p:sp>
      <p:sp>
        <p:nvSpPr>
          <p:cNvPr id="7" name="Rectangle 6"/>
          <p:cNvSpPr/>
          <p:nvPr/>
        </p:nvSpPr>
        <p:spPr>
          <a:xfrm>
            <a:off x="2346807" y="1810512"/>
            <a:ext cx="7498079" cy="3749039"/>
          </a:xfrm>
          <a:prstGeom prst="rect">
            <a:avLst/>
          </a:prstGeom>
          <a:solidFill>
            <a:srgbClr val="FFFFFF"/>
          </a:solidFill>
          <a:ln w="12700">
            <a:solidFill>
              <a:srgbClr val="D7E0D9"/>
            </a:solidFill>
          </a:ln>
          <a:effectLst/>
        </p:spPr>
        <p:txBody>
          <a:bodyPr rtlCol="0" anchor="ctr"/>
          <a:lstStyle/>
          <a:p>
            <a:pPr algn="ctr"/>
          </a:p>
        </p:txBody>
      </p:sp>
      <p:sp>
        <p:nvSpPr>
          <p:cNvPr id="8" name="Rectangle 7"/>
          <p:cNvSpPr/>
          <p:nvPr/>
        </p:nvSpPr>
        <p:spPr>
          <a:xfrm>
            <a:off x="2346807" y="1810512"/>
            <a:ext cx="7498079" cy="50800"/>
          </a:xfrm>
          <a:prstGeom prst="rect">
            <a:avLst/>
          </a:prstGeom>
          <a:solidFill>
            <a:srgbClr val="F2A900"/>
          </a:solidFill>
          <a:ln>
            <a:noFill/>
          </a:ln>
          <a:effectLst/>
        </p:spPr>
        <p:txBody>
          <a:bodyPr rtlCol="0" anchor="ctr"/>
          <a:lstStyle/>
          <a:p>
            <a:pPr algn="ctr"/>
          </a:p>
        </p:txBody>
      </p:sp>
      <p:sp>
        <p:nvSpPr>
          <p:cNvPr id="9" name="TextBox 8"/>
          <p:cNvSpPr txBox="1"/>
          <p:nvPr/>
        </p:nvSpPr>
        <p:spPr>
          <a:xfrm>
            <a:off x="2895447" y="2450591"/>
            <a:ext cx="6400799" cy="2651759"/>
          </a:xfrm>
          <a:prstGeom prst="rect">
            <a:avLst/>
          </a:prstGeom>
          <a:noFill/>
        </p:spPr>
        <p:txBody>
          <a:bodyPr wrap="square" anchor="t" lIns="0" rIns="0" tIns="0" bIns="0">
            <a:spAutoFit/>
          </a:bodyPr>
          <a:lstStyle/>
          <a:p>
            <a:pPr algn="l">
              <a:lnSpc>
                <a:spcPct val="100000"/>
              </a:lnSpc>
              <a:spcBef>
                <a:spcPts val="0"/>
              </a:spcBef>
              <a:spcAft>
                <a:spcPts val="1400"/>
              </a:spcAft>
            </a:pPr>
            <a:r>
              <a:rPr sz="1500" b="1" i="0">
                <a:solidFill>
                  <a:srgbClr val="818181"/>
                </a:solidFill>
                <a:latin typeface="Arial"/>
              </a:rPr>
              <a:t>FIGURE 2.1</a:t>
            </a:r>
          </a:p>
          <a:p>
            <a:pPr algn="l">
              <a:lnSpc>
                <a:spcPct val="120000"/>
              </a:lnSpc>
              <a:spcBef>
                <a:spcPts val="0"/>
              </a:spcBef>
              <a:spcAft>
                <a:spcPts val="1800"/>
              </a:spcAft>
            </a:pPr>
            <a:r>
              <a:rPr sz="2200" b="0" i="0">
                <a:solidFill>
                  <a:srgbClr val="1A1A1A"/>
                </a:solidFill>
                <a:latin typeface="Palatino"/>
              </a:rPr>
              <a:t>A daily chart of the Nasdaq 100 index through 2001, with prices already declining ahead of the September 11 event, and the question printed on the chart: is the market discounting unknown information?</a:t>
            </a:r>
          </a:p>
          <a:p>
            <a:pPr algn="l">
              <a:lnSpc>
                <a:spcPct val="115000"/>
              </a:lnSpc>
              <a:spcBef>
                <a:spcPts val="0"/>
              </a:spcBef>
              <a:spcAft>
                <a:spcPts val="0"/>
              </a:spcAft>
            </a:pPr>
            <a:r>
              <a:rPr sz="1400" b="0" i="1">
                <a:solidFill>
                  <a:srgbClr val="818181"/>
                </a:solidFill>
                <a:latin typeface="Arial"/>
              </a:rPr>
              <a:t>The artwork is copyrighted and is not in the public repository. Build with assets/figures/ present to place it here.</a:t>
            </a:r>
          </a:p>
        </p:txBody>
      </p:sp>
      <p:sp>
        <p:nvSpPr>
          <p:cNvPr id="10" name="TextBox 9"/>
          <p:cNvSpPr txBox="1"/>
          <p:nvPr/>
        </p:nvSpPr>
        <p:spPr>
          <a:xfrm>
            <a:off x="777240" y="5669280"/>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300" b="0" i="0">
                <a:solidFill>
                  <a:srgbClr val="818181"/>
                </a:solidFill>
                <a:latin typeface="Arial"/>
              </a:rPr>
              <a:t>Figure 2.1 - Lim, The Handbook of Technical Analysis (Wiley, 2016)</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TextBox 3"/>
          <p:cNvSpPr txBox="1"/>
          <p:nvPr/>
        </p:nvSpPr>
        <p:spPr>
          <a:xfrm>
            <a:off x="777240" y="658368"/>
            <a:ext cx="10637215" cy="914400"/>
          </a:xfrm>
          <a:prstGeom prst="rect">
            <a:avLst/>
          </a:prstGeom>
          <a:noFill/>
        </p:spPr>
        <p:txBody>
          <a:bodyPr wrap="square" anchor="t" lIns="0" rIns="0" tIns="0" bIns="0">
            <a:spAutoFit/>
          </a:bodyPr>
          <a:lstStyle/>
          <a:p>
            <a:pPr algn="l">
              <a:lnSpc>
                <a:spcPct val="105000"/>
              </a:lnSpc>
              <a:spcBef>
                <a:spcPts val="0"/>
              </a:spcBef>
              <a:spcAft>
                <a:spcPts val="0"/>
              </a:spcAft>
            </a:pPr>
            <a:r>
              <a:rPr sz="3000" b="0" i="0">
                <a:solidFill>
                  <a:srgbClr val="007A33"/>
                </a:solidFill>
                <a:latin typeface="Palatino"/>
              </a:rPr>
              <a:t>Gold, after the same event</a:t>
            </a:r>
          </a:p>
        </p:txBody>
      </p:sp>
      <p:sp>
        <p:nvSpPr>
          <p:cNvPr id="5" name="Rectangle 4"/>
          <p:cNvSpPr/>
          <p:nvPr/>
        </p:nvSpPr>
        <p:spPr>
          <a:xfrm>
            <a:off x="777240" y="1572768"/>
            <a:ext cx="10637215" cy="15875"/>
          </a:xfrm>
          <a:prstGeom prst="rect">
            <a:avLst/>
          </a:prstGeom>
          <a:solidFill>
            <a:srgbClr val="D7E0D9"/>
          </a:solidFill>
          <a:ln>
            <a:noFill/>
          </a:ln>
          <a:effectLst/>
        </p:spPr>
        <p:txBody>
          <a:bodyPr rtlCol="0" anchor="ctr"/>
          <a:lstStyle/>
          <a:p>
            <a:pPr algn="ctr"/>
          </a:p>
        </p:txBody>
      </p:sp>
      <p:sp>
        <p:nvSpPr>
          <p:cNvPr id="6" name="TextBox 5"/>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2 of 6 - Discounting  |  8 of 12</a:t>
            </a:r>
          </a:p>
        </p:txBody>
      </p:sp>
      <p:sp>
        <p:nvSpPr>
          <p:cNvPr id="7" name="Rectangle 6"/>
          <p:cNvSpPr/>
          <p:nvPr/>
        </p:nvSpPr>
        <p:spPr>
          <a:xfrm>
            <a:off x="2346807" y="1810512"/>
            <a:ext cx="7498079" cy="3749039"/>
          </a:xfrm>
          <a:prstGeom prst="rect">
            <a:avLst/>
          </a:prstGeom>
          <a:solidFill>
            <a:srgbClr val="FFFFFF"/>
          </a:solidFill>
          <a:ln w="12700">
            <a:solidFill>
              <a:srgbClr val="D7E0D9"/>
            </a:solidFill>
          </a:ln>
          <a:effectLst/>
        </p:spPr>
        <p:txBody>
          <a:bodyPr rtlCol="0" anchor="ctr"/>
          <a:lstStyle/>
          <a:p>
            <a:pPr algn="ctr"/>
          </a:p>
        </p:txBody>
      </p:sp>
      <p:sp>
        <p:nvSpPr>
          <p:cNvPr id="8" name="Rectangle 7"/>
          <p:cNvSpPr/>
          <p:nvPr/>
        </p:nvSpPr>
        <p:spPr>
          <a:xfrm>
            <a:off x="2346807" y="1810512"/>
            <a:ext cx="7498079" cy="50800"/>
          </a:xfrm>
          <a:prstGeom prst="rect">
            <a:avLst/>
          </a:prstGeom>
          <a:solidFill>
            <a:srgbClr val="F2A900"/>
          </a:solidFill>
          <a:ln>
            <a:noFill/>
          </a:ln>
          <a:effectLst/>
        </p:spPr>
        <p:txBody>
          <a:bodyPr rtlCol="0" anchor="ctr"/>
          <a:lstStyle/>
          <a:p>
            <a:pPr algn="ctr"/>
          </a:p>
        </p:txBody>
      </p:sp>
      <p:sp>
        <p:nvSpPr>
          <p:cNvPr id="9" name="TextBox 8"/>
          <p:cNvSpPr txBox="1"/>
          <p:nvPr/>
        </p:nvSpPr>
        <p:spPr>
          <a:xfrm>
            <a:off x="2895447" y="2450591"/>
            <a:ext cx="6400799" cy="2651759"/>
          </a:xfrm>
          <a:prstGeom prst="rect">
            <a:avLst/>
          </a:prstGeom>
          <a:noFill/>
        </p:spPr>
        <p:txBody>
          <a:bodyPr wrap="square" anchor="t" lIns="0" rIns="0" tIns="0" bIns="0">
            <a:spAutoFit/>
          </a:bodyPr>
          <a:lstStyle/>
          <a:p>
            <a:pPr algn="l">
              <a:lnSpc>
                <a:spcPct val="100000"/>
              </a:lnSpc>
              <a:spcBef>
                <a:spcPts val="0"/>
              </a:spcBef>
              <a:spcAft>
                <a:spcPts val="1400"/>
              </a:spcAft>
            </a:pPr>
            <a:r>
              <a:rPr sz="1500" b="1" i="0">
                <a:solidFill>
                  <a:srgbClr val="818181"/>
                </a:solidFill>
                <a:latin typeface="Arial"/>
              </a:rPr>
              <a:t>FIGURE 2.2</a:t>
            </a:r>
          </a:p>
          <a:p>
            <a:pPr algn="l">
              <a:lnSpc>
                <a:spcPct val="120000"/>
              </a:lnSpc>
              <a:spcBef>
                <a:spcPts val="0"/>
              </a:spcBef>
              <a:spcAft>
                <a:spcPts val="1800"/>
              </a:spcAft>
            </a:pPr>
            <a:r>
              <a:rPr sz="2200" b="0" i="0">
                <a:solidFill>
                  <a:srgbClr val="1A1A1A"/>
                </a:solidFill>
                <a:latin typeface="Palatino"/>
              </a:rPr>
              <a:t>A daily chart of spot gold around September 2001, with the price adjusting very rapidly once the information is known, annotated as the market discounting all information once it has become known.</a:t>
            </a:r>
          </a:p>
          <a:p>
            <a:pPr algn="l">
              <a:lnSpc>
                <a:spcPct val="115000"/>
              </a:lnSpc>
              <a:spcBef>
                <a:spcPts val="0"/>
              </a:spcBef>
              <a:spcAft>
                <a:spcPts val="0"/>
              </a:spcAft>
            </a:pPr>
            <a:r>
              <a:rPr sz="1400" b="0" i="1">
                <a:solidFill>
                  <a:srgbClr val="818181"/>
                </a:solidFill>
                <a:latin typeface="Arial"/>
              </a:rPr>
              <a:t>The artwork is copyrighted and is not in the public repository. Build with assets/figures/ present to place it here.</a:t>
            </a:r>
          </a:p>
        </p:txBody>
      </p:sp>
      <p:sp>
        <p:nvSpPr>
          <p:cNvPr id="10" name="TextBox 9"/>
          <p:cNvSpPr txBox="1"/>
          <p:nvPr/>
        </p:nvSpPr>
        <p:spPr>
          <a:xfrm>
            <a:off x="777240" y="5669280"/>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300" b="0" i="0">
                <a:solidFill>
                  <a:srgbClr val="818181"/>
                </a:solidFill>
                <a:latin typeface="Arial"/>
              </a:rPr>
              <a:t>Figure 2.2 - Lim, The Handbook of Technical Analysis (Wiley, 2016)</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TextBox 3"/>
          <p:cNvSpPr txBox="1"/>
          <p:nvPr/>
        </p:nvSpPr>
        <p:spPr>
          <a:xfrm>
            <a:off x="777240" y="658368"/>
            <a:ext cx="10637215" cy="914400"/>
          </a:xfrm>
          <a:prstGeom prst="rect">
            <a:avLst/>
          </a:prstGeom>
          <a:noFill/>
        </p:spPr>
        <p:txBody>
          <a:bodyPr wrap="square" anchor="t" lIns="0" rIns="0" tIns="0" bIns="0">
            <a:spAutoFit/>
          </a:bodyPr>
          <a:lstStyle/>
          <a:p>
            <a:pPr algn="l">
              <a:lnSpc>
                <a:spcPct val="105000"/>
              </a:lnSpc>
              <a:spcBef>
                <a:spcPts val="0"/>
              </a:spcBef>
              <a:spcAft>
                <a:spcPts val="0"/>
              </a:spcAft>
            </a:pPr>
            <a:r>
              <a:rPr sz="3000" b="0" i="0">
                <a:solidFill>
                  <a:srgbClr val="007A33"/>
                </a:solidFill>
                <a:latin typeface="Palatino"/>
              </a:rPr>
              <a:t>What the analyst does with that</a:t>
            </a:r>
          </a:p>
        </p:txBody>
      </p:sp>
      <p:sp>
        <p:nvSpPr>
          <p:cNvPr id="5" name="Rectangle 4"/>
          <p:cNvSpPr/>
          <p:nvPr/>
        </p:nvSpPr>
        <p:spPr>
          <a:xfrm>
            <a:off x="777240" y="1572768"/>
            <a:ext cx="10637215" cy="15875"/>
          </a:xfrm>
          <a:prstGeom prst="rect">
            <a:avLst/>
          </a:prstGeom>
          <a:solidFill>
            <a:srgbClr val="D7E0D9"/>
          </a:solidFill>
          <a:ln>
            <a:noFill/>
          </a:ln>
          <a:effectLst/>
        </p:spPr>
        <p:txBody>
          <a:bodyPr rtlCol="0" anchor="ctr"/>
          <a:lstStyle/>
          <a:p>
            <a:pPr algn="ctr"/>
          </a:p>
        </p:txBody>
      </p:sp>
      <p:sp>
        <p:nvSpPr>
          <p:cNvPr id="6" name="TextBox 5"/>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2 of 6 - Discounting  |  9 of 12</a:t>
            </a:r>
          </a:p>
        </p:txBody>
      </p:sp>
      <p:sp>
        <p:nvSpPr>
          <p:cNvPr id="7" name="TextBox 6"/>
          <p:cNvSpPr txBox="1"/>
          <p:nvPr/>
        </p:nvSpPr>
        <p:spPr>
          <a:xfrm>
            <a:off x="777240" y="1965960"/>
            <a:ext cx="10637215" cy="3108960"/>
          </a:xfrm>
          <a:prstGeom prst="rect">
            <a:avLst/>
          </a:prstGeom>
          <a:noFill/>
        </p:spPr>
        <p:txBody>
          <a:bodyPr wrap="square" anchor="t" lIns="0" rIns="0" tIns="0" bIns="0">
            <a:spAutoFit/>
          </a:bodyPr>
          <a:lstStyle/>
          <a:p>
            <a:pPr algn="l">
              <a:lnSpc>
                <a:spcPct val="118000"/>
              </a:lnSpc>
              <a:spcBef>
                <a:spcPts val="0"/>
              </a:spcBef>
              <a:spcAft>
                <a:spcPts val="1300"/>
              </a:spcAft>
            </a:pPr>
            <a:r>
              <a:rPr sz="2100" b="0" i="0">
                <a:solidFill>
                  <a:srgbClr val="1A1A1A"/>
                </a:solidFill>
                <a:latin typeface="Arial"/>
              </a:rPr>
              <a:t>Price is the ultimate reflection and embodiment of everything that is knowable.</a:t>
            </a:r>
          </a:p>
          <a:p>
            <a:pPr algn="l">
              <a:lnSpc>
                <a:spcPct val="118000"/>
              </a:lnSpc>
              <a:spcBef>
                <a:spcPts val="0"/>
              </a:spcBef>
              <a:spcAft>
                <a:spcPts val="1300"/>
              </a:spcAft>
            </a:pPr>
            <a:r>
              <a:rPr sz="2100" b="0" i="0">
                <a:solidFill>
                  <a:srgbClr val="1A1A1A"/>
                </a:solidFill>
                <a:latin typeface="Arial"/>
              </a:rPr>
              <a:t>So the technical analyst need not be concerned with the causes of market action.</a:t>
            </a:r>
          </a:p>
          <a:p>
            <a:pPr algn="l">
              <a:lnSpc>
                <a:spcPct val="118000"/>
              </a:lnSpc>
              <a:spcBef>
                <a:spcPts val="0"/>
              </a:spcBef>
              <a:spcAft>
                <a:spcPts val="1300"/>
              </a:spcAft>
            </a:pPr>
            <a:r>
              <a:rPr sz="2100" b="0" i="0">
                <a:solidFill>
                  <a:srgbClr val="1A1A1A"/>
                </a:solidFill>
                <a:latin typeface="Arial"/>
              </a:rPr>
              <a:t>Only with the effects of the underlying causes.</a:t>
            </a:r>
          </a:p>
        </p:txBody>
      </p:sp>
      <p:sp>
        <p:nvSpPr>
          <p:cNvPr id="8" name="Rectangle 7"/>
          <p:cNvSpPr/>
          <p:nvPr/>
        </p:nvSpPr>
        <p:spPr>
          <a:xfrm>
            <a:off x="777240" y="4084320"/>
            <a:ext cx="82296" cy="788924"/>
          </a:xfrm>
          <a:prstGeom prst="rect">
            <a:avLst/>
          </a:prstGeom>
          <a:solidFill>
            <a:srgbClr val="F2A900"/>
          </a:solidFill>
          <a:ln>
            <a:noFill/>
          </a:ln>
          <a:effectLst/>
        </p:spPr>
        <p:txBody>
          <a:bodyPr rtlCol="0" anchor="ctr"/>
          <a:lstStyle/>
          <a:p>
            <a:pPr algn="ctr"/>
          </a:p>
        </p:txBody>
      </p:sp>
      <p:sp>
        <p:nvSpPr>
          <p:cNvPr id="9" name="TextBox 8"/>
          <p:cNvSpPr txBox="1"/>
          <p:nvPr/>
        </p:nvSpPr>
        <p:spPr>
          <a:xfrm>
            <a:off x="1069848" y="4120896"/>
            <a:ext cx="10344607" cy="788924"/>
          </a:xfrm>
          <a:prstGeom prst="rect">
            <a:avLst/>
          </a:prstGeom>
          <a:noFill/>
        </p:spPr>
        <p:txBody>
          <a:bodyPr wrap="square" anchor="t" lIns="0" rIns="0" tIns="0" bIns="0">
            <a:spAutoFit/>
          </a:bodyPr>
          <a:lstStyle/>
          <a:p>
            <a:pPr algn="l">
              <a:lnSpc>
                <a:spcPct val="115000"/>
              </a:lnSpc>
              <a:spcBef>
                <a:spcPts val="0"/>
              </a:spcBef>
              <a:spcAft>
                <a:spcPts val="0"/>
              </a:spcAft>
            </a:pPr>
            <a:r>
              <a:rPr sz="2200" b="1" i="0">
                <a:solidFill>
                  <a:srgbClr val="1A1A1A"/>
                </a:solidFill>
                <a:latin typeface="Arial"/>
              </a:rPr>
              <a:t>Effects, not causes. You met that in Chapter 1. Here it is again as a tenet.</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Rectangle 3"/>
          <p:cNvSpPr/>
          <p:nvPr/>
        </p:nvSpPr>
        <p:spPr>
          <a:xfrm>
            <a:off x="777240" y="566928"/>
            <a:ext cx="1234440" cy="329184"/>
          </a:xfrm>
          <a:prstGeom prst="rect">
            <a:avLst/>
          </a:prstGeom>
          <a:solidFill>
            <a:srgbClr val="F2A900"/>
          </a:solidFill>
          <a:ln>
            <a:noFill/>
          </a:ln>
          <a:effectLst/>
        </p:spPr>
        <p:txBody>
          <a:bodyPr rtlCol="0" anchor="ctr" wrap="none" lIns="0" rIns="0" tIns="0" bIns="0"/>
          <a:lstStyle/>
          <a:p>
            <a:pPr algn="ctr">
              <a:lnSpc>
                <a:spcPct val="100000"/>
              </a:lnSpc>
              <a:spcBef>
                <a:spcPts val="0"/>
              </a:spcBef>
              <a:spcAft>
                <a:spcPts val="0"/>
              </a:spcAft>
            </a:pPr>
            <a:r>
              <a:rPr sz="1200" b="1" i="0">
                <a:solidFill>
                  <a:srgbClr val="1A1A1A"/>
                </a:solidFill>
                <a:latin typeface="Arial"/>
              </a:rPr>
              <a:t>NEW TERM</a:t>
            </a:r>
          </a:p>
        </p:txBody>
      </p:sp>
      <p:sp>
        <p:nvSpPr>
          <p:cNvPr id="5" name="TextBox 4"/>
          <p:cNvSpPr txBox="1"/>
          <p:nvPr/>
        </p:nvSpPr>
        <p:spPr>
          <a:xfrm>
            <a:off x="777240" y="1051560"/>
            <a:ext cx="10637215" cy="822960"/>
          </a:xfrm>
          <a:prstGeom prst="rect">
            <a:avLst/>
          </a:prstGeom>
          <a:noFill/>
        </p:spPr>
        <p:txBody>
          <a:bodyPr wrap="square" anchor="t" lIns="0" rIns="0" tIns="0" bIns="0">
            <a:spAutoFit/>
          </a:bodyPr>
          <a:lstStyle/>
          <a:p>
            <a:pPr algn="l">
              <a:lnSpc>
                <a:spcPct val="105000"/>
              </a:lnSpc>
              <a:spcBef>
                <a:spcPts val="0"/>
              </a:spcBef>
              <a:spcAft>
                <a:spcPts val="0"/>
              </a:spcAft>
            </a:pPr>
            <a:r>
              <a:rPr sz="3200" b="0" i="0">
                <a:solidFill>
                  <a:srgbClr val="007A33"/>
                </a:solidFill>
                <a:latin typeface="Palatino"/>
              </a:rPr>
              <a:t>Only closing prices are recognized</a:t>
            </a:r>
          </a:p>
        </p:txBody>
      </p:sp>
      <p:sp>
        <p:nvSpPr>
          <p:cNvPr id="6" name="Rectangle 5"/>
          <p:cNvSpPr/>
          <p:nvPr/>
        </p:nvSpPr>
        <p:spPr>
          <a:xfrm>
            <a:off x="777240" y="1874519"/>
            <a:ext cx="10637215" cy="15875"/>
          </a:xfrm>
          <a:prstGeom prst="rect">
            <a:avLst/>
          </a:prstGeom>
          <a:solidFill>
            <a:srgbClr val="D7E0D9"/>
          </a:solidFill>
          <a:ln>
            <a:noFill/>
          </a:ln>
          <a:effectLst/>
        </p:spPr>
        <p:txBody>
          <a:bodyPr rtlCol="0" anchor="ctr"/>
          <a:lstStyle/>
          <a:p>
            <a:pPr algn="ctr"/>
          </a:p>
        </p:txBody>
      </p:sp>
      <p:sp>
        <p:nvSpPr>
          <p:cNvPr id="7" name="Rectangle 6"/>
          <p:cNvSpPr/>
          <p:nvPr/>
        </p:nvSpPr>
        <p:spPr>
          <a:xfrm>
            <a:off x="777240" y="2258568"/>
            <a:ext cx="64008" cy="811022"/>
          </a:xfrm>
          <a:prstGeom prst="rect">
            <a:avLst/>
          </a:prstGeom>
          <a:solidFill>
            <a:srgbClr val="F2A900"/>
          </a:solidFill>
          <a:ln>
            <a:noFill/>
          </a:ln>
          <a:effectLst/>
        </p:spPr>
        <p:txBody>
          <a:bodyPr rtlCol="0" anchor="ctr"/>
          <a:lstStyle/>
          <a:p>
            <a:pPr algn="ctr"/>
          </a:p>
        </p:txBody>
      </p:sp>
      <p:sp>
        <p:nvSpPr>
          <p:cNvPr id="8" name="TextBox 7"/>
          <p:cNvSpPr txBox="1"/>
          <p:nvPr/>
        </p:nvSpPr>
        <p:spPr>
          <a:xfrm>
            <a:off x="1051560" y="2212848"/>
            <a:ext cx="10362895" cy="920750"/>
          </a:xfrm>
          <a:prstGeom prst="rect">
            <a:avLst/>
          </a:prstGeom>
          <a:noFill/>
        </p:spPr>
        <p:txBody>
          <a:bodyPr wrap="square" anchor="t" lIns="0" rIns="0" tIns="0" bIns="0">
            <a:spAutoFit/>
          </a:bodyPr>
          <a:lstStyle/>
          <a:p>
            <a:pPr algn="l">
              <a:lnSpc>
                <a:spcPct val="100000"/>
              </a:lnSpc>
              <a:spcBef>
                <a:spcPts val="0"/>
              </a:spcBef>
              <a:spcAft>
                <a:spcPts val="400"/>
              </a:spcAft>
            </a:pPr>
            <a:r>
              <a:rPr sz="1100" b="1" i="0">
                <a:solidFill>
                  <a:srgbClr val="818181"/>
                </a:solidFill>
                <a:latin typeface="Arial"/>
              </a:rPr>
              <a:t>IN PLAIN WORDS</a:t>
            </a:r>
          </a:p>
          <a:p>
            <a:pPr algn="l">
              <a:lnSpc>
                <a:spcPct val="115000"/>
              </a:lnSpc>
              <a:spcBef>
                <a:spcPts val="0"/>
              </a:spcBef>
              <a:spcAft>
                <a:spcPts val="0"/>
              </a:spcAft>
            </a:pPr>
            <a:r>
              <a:rPr sz="1900" b="1" i="0">
                <a:solidFill>
                  <a:srgbClr val="1A1A1A"/>
                </a:solidFill>
                <a:latin typeface="Arial"/>
              </a:rPr>
              <a:t>Whatever the price did during the day, Dow Theory uses only the number it finished at.</a:t>
            </a:r>
          </a:p>
        </p:txBody>
      </p:sp>
      <p:sp>
        <p:nvSpPr>
          <p:cNvPr id="9" name="Rectangle 8"/>
          <p:cNvSpPr/>
          <p:nvPr/>
        </p:nvSpPr>
        <p:spPr>
          <a:xfrm>
            <a:off x="777240" y="3417061"/>
            <a:ext cx="64008" cy="811022"/>
          </a:xfrm>
          <a:prstGeom prst="rect">
            <a:avLst/>
          </a:prstGeom>
          <a:solidFill>
            <a:srgbClr val="D7E0D9"/>
          </a:solidFill>
          <a:ln>
            <a:noFill/>
          </a:ln>
          <a:effectLst/>
        </p:spPr>
        <p:txBody>
          <a:bodyPr rtlCol="0" anchor="ctr"/>
          <a:lstStyle/>
          <a:p>
            <a:pPr algn="ctr"/>
          </a:p>
        </p:txBody>
      </p:sp>
      <p:sp>
        <p:nvSpPr>
          <p:cNvPr id="10" name="TextBox 9"/>
          <p:cNvSpPr txBox="1"/>
          <p:nvPr/>
        </p:nvSpPr>
        <p:spPr>
          <a:xfrm>
            <a:off x="1051560" y="3371342"/>
            <a:ext cx="10362895" cy="920750"/>
          </a:xfrm>
          <a:prstGeom prst="rect">
            <a:avLst/>
          </a:prstGeom>
          <a:noFill/>
        </p:spPr>
        <p:txBody>
          <a:bodyPr wrap="square" anchor="t" lIns="0" rIns="0" tIns="0" bIns="0">
            <a:spAutoFit/>
          </a:bodyPr>
          <a:lstStyle/>
          <a:p>
            <a:pPr algn="l">
              <a:lnSpc>
                <a:spcPct val="100000"/>
              </a:lnSpc>
              <a:spcBef>
                <a:spcPts val="0"/>
              </a:spcBef>
              <a:spcAft>
                <a:spcPts val="400"/>
              </a:spcAft>
            </a:pPr>
            <a:r>
              <a:rPr sz="1100" b="1" i="0">
                <a:solidFill>
                  <a:srgbClr val="818181"/>
                </a:solidFill>
                <a:latin typeface="Arial"/>
              </a:rPr>
              <a:t>FOR EXAMPLE</a:t>
            </a:r>
          </a:p>
          <a:p>
            <a:pPr algn="l">
              <a:lnSpc>
                <a:spcPct val="115000"/>
              </a:lnSpc>
              <a:spcBef>
                <a:spcPts val="0"/>
              </a:spcBef>
              <a:spcAft>
                <a:spcPts val="0"/>
              </a:spcAft>
            </a:pPr>
            <a:r>
              <a:rPr sz="1900" b="0" i="0">
                <a:solidFill>
                  <a:srgbClr val="1A1A1A"/>
                </a:solidFill>
                <a:latin typeface="Arial"/>
              </a:rPr>
              <a:t>A share swings between 96 and 104 pesos and closes at 100. Dow Theory records 100. The eight peso swing is not recorded at all.</a:t>
            </a:r>
          </a:p>
        </p:txBody>
      </p:sp>
      <p:sp>
        <p:nvSpPr>
          <p:cNvPr id="11" name="Rectangle 10"/>
          <p:cNvSpPr/>
          <p:nvPr/>
        </p:nvSpPr>
        <p:spPr>
          <a:xfrm>
            <a:off x="777240" y="4575556"/>
            <a:ext cx="64008" cy="811022"/>
          </a:xfrm>
          <a:prstGeom prst="rect">
            <a:avLst/>
          </a:prstGeom>
          <a:solidFill>
            <a:srgbClr val="D7E0D9"/>
          </a:solidFill>
          <a:ln>
            <a:noFill/>
          </a:ln>
          <a:effectLst/>
        </p:spPr>
        <p:txBody>
          <a:bodyPr rtlCol="0" anchor="ctr"/>
          <a:lstStyle/>
          <a:p>
            <a:pPr algn="ctr"/>
          </a:p>
        </p:txBody>
      </p:sp>
      <p:sp>
        <p:nvSpPr>
          <p:cNvPr id="12" name="TextBox 11"/>
          <p:cNvSpPr txBox="1"/>
          <p:nvPr/>
        </p:nvSpPr>
        <p:spPr>
          <a:xfrm>
            <a:off x="1051560" y="4529836"/>
            <a:ext cx="10362895" cy="920750"/>
          </a:xfrm>
          <a:prstGeom prst="rect">
            <a:avLst/>
          </a:prstGeom>
          <a:noFill/>
        </p:spPr>
        <p:txBody>
          <a:bodyPr wrap="square" anchor="t" lIns="0" rIns="0" tIns="0" bIns="0">
            <a:spAutoFit/>
          </a:bodyPr>
          <a:lstStyle/>
          <a:p>
            <a:pPr algn="l">
              <a:lnSpc>
                <a:spcPct val="100000"/>
              </a:lnSpc>
              <a:spcBef>
                <a:spcPts val="0"/>
              </a:spcBef>
              <a:spcAft>
                <a:spcPts val="400"/>
              </a:spcAft>
            </a:pPr>
            <a:r>
              <a:rPr sz="1100" b="1" i="0">
                <a:solidFill>
                  <a:srgbClr val="818181"/>
                </a:solidFill>
                <a:latin typeface="Arial"/>
              </a:rPr>
              <a:t>THE FORMAL DEFINITION</a:t>
            </a:r>
          </a:p>
          <a:p>
            <a:pPr algn="l">
              <a:lnSpc>
                <a:spcPct val="115000"/>
              </a:lnSpc>
              <a:spcBef>
                <a:spcPts val="0"/>
              </a:spcBef>
              <a:spcAft>
                <a:spcPts val="0"/>
              </a:spcAft>
            </a:pPr>
            <a:r>
              <a:rPr sz="1900" b="0" i="0">
                <a:solidFill>
                  <a:srgbClr val="1A1A1A"/>
                </a:solidFill>
                <a:latin typeface="Arial"/>
              </a:rPr>
              <a:t>In Dow Theory only closing prices are recognized: regardless of how large the high and low price excursions may be on any one day, only the final closing price is used.</a:t>
            </a:r>
          </a:p>
        </p:txBody>
      </p:sp>
      <p:sp>
        <p:nvSpPr>
          <p:cNvPr id="13" name="TextBox 12"/>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2 of 6 - Discounting  |  10 of 12</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TextBox 3"/>
          <p:cNvSpPr txBox="1"/>
          <p:nvPr/>
        </p:nvSpPr>
        <p:spPr>
          <a:xfrm>
            <a:off x="777240" y="658368"/>
            <a:ext cx="10637215" cy="914400"/>
          </a:xfrm>
          <a:prstGeom prst="rect">
            <a:avLst/>
          </a:prstGeom>
          <a:noFill/>
        </p:spPr>
        <p:txBody>
          <a:bodyPr wrap="square" anchor="t" lIns="0" rIns="0" tIns="0" bIns="0">
            <a:spAutoFit/>
          </a:bodyPr>
          <a:lstStyle/>
          <a:p>
            <a:pPr algn="l">
              <a:lnSpc>
                <a:spcPct val="105000"/>
              </a:lnSpc>
              <a:spcBef>
                <a:spcPts val="0"/>
              </a:spcBef>
              <a:spcAft>
                <a:spcPts val="0"/>
              </a:spcAft>
            </a:pPr>
            <a:r>
              <a:rPr sz="3000" b="0" i="0">
                <a:solidFill>
                  <a:srgbClr val="007A33"/>
                </a:solidFill>
                <a:latin typeface="Palatino"/>
              </a:rPr>
              <a:t>And the size of the move does not matter</a:t>
            </a:r>
          </a:p>
        </p:txBody>
      </p:sp>
      <p:sp>
        <p:nvSpPr>
          <p:cNvPr id="5" name="Rectangle 4"/>
          <p:cNvSpPr/>
          <p:nvPr/>
        </p:nvSpPr>
        <p:spPr>
          <a:xfrm>
            <a:off x="777240" y="1572768"/>
            <a:ext cx="10637215" cy="15875"/>
          </a:xfrm>
          <a:prstGeom prst="rect">
            <a:avLst/>
          </a:prstGeom>
          <a:solidFill>
            <a:srgbClr val="D7E0D9"/>
          </a:solidFill>
          <a:ln>
            <a:noFill/>
          </a:ln>
          <a:effectLst/>
        </p:spPr>
        <p:txBody>
          <a:bodyPr rtlCol="0" anchor="ctr"/>
          <a:lstStyle/>
          <a:p>
            <a:pPr algn="ctr"/>
          </a:p>
        </p:txBody>
      </p:sp>
      <p:sp>
        <p:nvSpPr>
          <p:cNvPr id="6" name="TextBox 5"/>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2 of 6 - Discounting  |  11 of 12</a:t>
            </a:r>
          </a:p>
        </p:txBody>
      </p:sp>
      <p:sp>
        <p:nvSpPr>
          <p:cNvPr id="7" name="TextBox 6"/>
          <p:cNvSpPr txBox="1"/>
          <p:nvPr/>
        </p:nvSpPr>
        <p:spPr>
          <a:xfrm>
            <a:off x="777240" y="1965960"/>
            <a:ext cx="10637215" cy="3108960"/>
          </a:xfrm>
          <a:prstGeom prst="rect">
            <a:avLst/>
          </a:prstGeom>
          <a:noFill/>
        </p:spPr>
        <p:txBody>
          <a:bodyPr wrap="square" anchor="t" lIns="0" rIns="0" tIns="0" bIns="0">
            <a:spAutoFit/>
          </a:bodyPr>
          <a:lstStyle/>
          <a:p>
            <a:pPr algn="l">
              <a:lnSpc>
                <a:spcPct val="118000"/>
              </a:lnSpc>
              <a:spcBef>
                <a:spcPts val="0"/>
              </a:spcBef>
              <a:spcAft>
                <a:spcPts val="1300"/>
              </a:spcAft>
            </a:pPr>
            <a:r>
              <a:rPr sz="2100" b="0" i="0">
                <a:solidFill>
                  <a:srgbClr val="1A1A1A"/>
                </a:solidFill>
                <a:latin typeface="Arial"/>
              </a:rPr>
              <a:t>It does not matter how miniscule the amount is.</a:t>
            </a:r>
          </a:p>
          <a:p>
            <a:pPr algn="l">
              <a:lnSpc>
                <a:spcPct val="118000"/>
              </a:lnSpc>
              <a:spcBef>
                <a:spcPts val="0"/>
              </a:spcBef>
              <a:spcAft>
                <a:spcPts val="1300"/>
              </a:spcAft>
            </a:pPr>
            <a:r>
              <a:rPr sz="2100" b="0" i="0">
                <a:solidFill>
                  <a:srgbClr val="1A1A1A"/>
                </a:solidFill>
                <a:latin typeface="Arial"/>
              </a:rPr>
              <a:t>A close one centavo above yesterday's close is a higher close.</a:t>
            </a:r>
          </a:p>
          <a:p>
            <a:pPr algn="l">
              <a:lnSpc>
                <a:spcPct val="118000"/>
              </a:lnSpc>
              <a:spcBef>
                <a:spcPts val="0"/>
              </a:spcBef>
              <a:spcAft>
                <a:spcPts val="1300"/>
              </a:spcAft>
            </a:pPr>
            <a:r>
              <a:rPr sz="2100" b="0" i="0">
                <a:solidFill>
                  <a:srgbClr val="1A1A1A"/>
                </a:solidFill>
                <a:latin typeface="Arial"/>
              </a:rPr>
              <a:t>A close one centavo below yesterday's close is a lower close.</a:t>
            </a:r>
          </a:p>
        </p:txBody>
      </p:sp>
      <p:sp>
        <p:nvSpPr>
          <p:cNvPr id="8" name="Rectangle 7"/>
          <p:cNvSpPr/>
          <p:nvPr/>
        </p:nvSpPr>
        <p:spPr>
          <a:xfrm>
            <a:off x="777240" y="3769614"/>
            <a:ext cx="82296" cy="467614"/>
          </a:xfrm>
          <a:prstGeom prst="rect">
            <a:avLst/>
          </a:prstGeom>
          <a:solidFill>
            <a:srgbClr val="F2A900"/>
          </a:solidFill>
          <a:ln>
            <a:noFill/>
          </a:ln>
          <a:effectLst/>
        </p:spPr>
        <p:txBody>
          <a:bodyPr rtlCol="0" anchor="ctr"/>
          <a:lstStyle/>
          <a:p>
            <a:pPr algn="ctr"/>
          </a:p>
        </p:txBody>
      </p:sp>
      <p:sp>
        <p:nvSpPr>
          <p:cNvPr id="9" name="TextBox 8"/>
          <p:cNvSpPr txBox="1"/>
          <p:nvPr/>
        </p:nvSpPr>
        <p:spPr>
          <a:xfrm>
            <a:off x="1069848" y="3806190"/>
            <a:ext cx="10344607" cy="467614"/>
          </a:xfrm>
          <a:prstGeom prst="rect">
            <a:avLst/>
          </a:prstGeom>
          <a:noFill/>
        </p:spPr>
        <p:txBody>
          <a:bodyPr wrap="square" anchor="t" lIns="0" rIns="0" tIns="0" bIns="0">
            <a:spAutoFit/>
          </a:bodyPr>
          <a:lstStyle/>
          <a:p>
            <a:pPr algn="l">
              <a:lnSpc>
                <a:spcPct val="115000"/>
              </a:lnSpc>
              <a:spcBef>
                <a:spcPts val="0"/>
              </a:spcBef>
              <a:spcAft>
                <a:spcPts val="0"/>
              </a:spcAft>
            </a:pPr>
            <a:r>
              <a:rPr sz="2200" b="1" i="0">
                <a:solidFill>
                  <a:srgbClr val="1A1A1A"/>
                </a:solidFill>
                <a:latin typeface="Arial"/>
              </a:rPr>
              <a:t>The test is the close, and any amount above or below it counts.</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TextBox 3"/>
          <p:cNvSpPr txBox="1"/>
          <p:nvPr/>
        </p:nvSpPr>
        <p:spPr>
          <a:xfrm>
            <a:off x="777240" y="658368"/>
            <a:ext cx="10637215" cy="914400"/>
          </a:xfrm>
          <a:prstGeom prst="rect">
            <a:avLst/>
          </a:prstGeom>
          <a:noFill/>
        </p:spPr>
        <p:txBody>
          <a:bodyPr wrap="square" anchor="t" lIns="0" rIns="0" tIns="0" bIns="0">
            <a:spAutoFit/>
          </a:bodyPr>
          <a:lstStyle/>
          <a:p>
            <a:pPr algn="l">
              <a:lnSpc>
                <a:spcPct val="105000"/>
              </a:lnSpc>
              <a:spcBef>
                <a:spcPts val="0"/>
              </a:spcBef>
              <a:spcAft>
                <a:spcPts val="0"/>
              </a:spcAft>
            </a:pPr>
            <a:r>
              <a:rPr sz="3000" b="0" i="0">
                <a:solidFill>
                  <a:srgbClr val="007A33"/>
                </a:solidFill>
                <a:latin typeface="Palatino"/>
              </a:rPr>
              <a:t>The day's whole excursion, and the one number kept</a:t>
            </a:r>
          </a:p>
        </p:txBody>
      </p:sp>
      <p:sp>
        <p:nvSpPr>
          <p:cNvPr id="5" name="Rectangle 4"/>
          <p:cNvSpPr/>
          <p:nvPr/>
        </p:nvSpPr>
        <p:spPr>
          <a:xfrm>
            <a:off x="777240" y="1572768"/>
            <a:ext cx="10637215" cy="15875"/>
          </a:xfrm>
          <a:prstGeom prst="rect">
            <a:avLst/>
          </a:prstGeom>
          <a:solidFill>
            <a:srgbClr val="D7E0D9"/>
          </a:solidFill>
          <a:ln>
            <a:noFill/>
          </a:ln>
          <a:effectLst/>
        </p:spPr>
        <p:txBody>
          <a:bodyPr rtlCol="0" anchor="ctr"/>
          <a:lstStyle/>
          <a:p>
            <a:pPr algn="ctr"/>
          </a:p>
        </p:txBody>
      </p:sp>
      <p:sp>
        <p:nvSpPr>
          <p:cNvPr id="6" name="TextBox 5"/>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2 of 6 - Discounting  |  12 of 12</a:t>
            </a:r>
          </a:p>
        </p:txBody>
      </p:sp>
      <p:sp>
        <p:nvSpPr>
          <p:cNvPr id="7" name="Rectangle 6"/>
          <p:cNvSpPr/>
          <p:nvPr/>
        </p:nvSpPr>
        <p:spPr>
          <a:xfrm>
            <a:off x="778611" y="1810512"/>
            <a:ext cx="10634472" cy="3749039"/>
          </a:xfrm>
          <a:prstGeom prst="rect">
            <a:avLst/>
          </a:prstGeom>
          <a:solidFill>
            <a:srgbClr val="FFFFFF"/>
          </a:solidFill>
          <a:ln w="12700">
            <a:solidFill>
              <a:srgbClr val="D7E0D9"/>
            </a:solidFill>
          </a:ln>
          <a:effectLst/>
        </p:spPr>
        <p:txBody>
          <a:bodyPr rtlCol="0" anchor="ctr"/>
          <a:lstStyle/>
          <a:p>
            <a:pPr algn="ctr"/>
          </a:p>
        </p:txBody>
      </p:sp>
      <p:pic>
        <p:nvPicPr>
          <p:cNvPr id="8" name="Picture 7" descr="chart-b.png"/>
          <p:cNvPicPr>
            <a:picLocks noChangeAspect="1"/>
          </p:cNvPicPr>
          <p:nvPr/>
        </p:nvPicPr>
        <p:blipFill>
          <a:blip r:embed="rId2"/>
          <a:stretch>
            <a:fillRect/>
          </a:stretch>
        </p:blipFill>
        <p:spPr>
          <a:xfrm>
            <a:off x="897483" y="1929384"/>
            <a:ext cx="10396728" cy="3511296"/>
          </a:xfrm>
          <a:prstGeom prst="rect">
            <a:avLst/>
          </a:prstGeom>
        </p:spPr>
      </p:pic>
      <p:sp>
        <p:nvSpPr>
          <p:cNvPr id="9" name="TextBox 8"/>
          <p:cNvSpPr txBox="1"/>
          <p:nvPr/>
        </p:nvSpPr>
        <p:spPr>
          <a:xfrm>
            <a:off x="777240" y="5669280"/>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300" b="0" i="0">
                <a:solidFill>
                  <a:srgbClr val="818181"/>
                </a:solidFill>
                <a:latin typeface="Arial"/>
              </a:rPr>
              <a:t>Chart B - FIN1209 teaching chart, drawn for this course. Illustrative data, not a real instrument.</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Rectangle 3"/>
          <p:cNvSpPr/>
          <p:nvPr/>
        </p:nvSpPr>
        <p:spPr>
          <a:xfrm>
            <a:off x="11935663" y="0"/>
            <a:ext cx="256032" cy="6858000"/>
          </a:xfrm>
          <a:prstGeom prst="rect">
            <a:avLst/>
          </a:prstGeom>
          <a:solidFill>
            <a:srgbClr val="F2A900"/>
          </a:solidFill>
          <a:ln>
            <a:noFill/>
          </a:ln>
          <a:effectLst/>
        </p:spPr>
        <p:txBody>
          <a:bodyPr rtlCol="0" anchor="ctr"/>
          <a:lstStyle/>
          <a:p>
            <a:pPr algn="ctr"/>
          </a:p>
        </p:txBody>
      </p:sp>
      <p:sp>
        <p:nvSpPr>
          <p:cNvPr id="5" name="TextBox 4"/>
          <p:cNvSpPr txBox="1"/>
          <p:nvPr/>
        </p:nvSpPr>
        <p:spPr>
          <a:xfrm>
            <a:off x="777240" y="658368"/>
            <a:ext cx="10180015" cy="822960"/>
          </a:xfrm>
          <a:prstGeom prst="rect">
            <a:avLst/>
          </a:prstGeom>
          <a:noFill/>
        </p:spPr>
        <p:txBody>
          <a:bodyPr wrap="square" anchor="t" lIns="0" rIns="0" tIns="0" bIns="0">
            <a:spAutoFit/>
          </a:bodyPr>
          <a:lstStyle/>
          <a:p>
            <a:pPr algn="l">
              <a:lnSpc>
                <a:spcPct val="100000"/>
              </a:lnSpc>
              <a:spcBef>
                <a:spcPts val="0"/>
              </a:spcBef>
              <a:spcAft>
                <a:spcPts val="0"/>
              </a:spcAft>
            </a:pPr>
            <a:r>
              <a:rPr sz="3200" b="0" i="0">
                <a:solidFill>
                  <a:srgbClr val="007A33"/>
                </a:solidFill>
                <a:latin typeface="Palatino"/>
              </a:rPr>
              <a:t>You now know</a:t>
            </a:r>
          </a:p>
        </p:txBody>
      </p:sp>
      <p:sp>
        <p:nvSpPr>
          <p:cNvPr id="6" name="Rectangle 5"/>
          <p:cNvSpPr/>
          <p:nvPr/>
        </p:nvSpPr>
        <p:spPr>
          <a:xfrm>
            <a:off x="777240" y="1572768"/>
            <a:ext cx="10637215" cy="15875"/>
          </a:xfrm>
          <a:prstGeom prst="rect">
            <a:avLst/>
          </a:prstGeom>
          <a:solidFill>
            <a:srgbClr val="D7E0D9"/>
          </a:solidFill>
          <a:ln>
            <a:noFill/>
          </a:ln>
          <a:effectLst/>
        </p:spPr>
        <p:txBody>
          <a:bodyPr rtlCol="0" anchor="ctr"/>
          <a:lstStyle/>
          <a:p>
            <a:pPr algn="ctr"/>
          </a:p>
        </p:txBody>
      </p:sp>
      <p:sp>
        <p:nvSpPr>
          <p:cNvPr id="7" name="TextBox 6"/>
          <p:cNvSpPr txBox="1"/>
          <p:nvPr/>
        </p:nvSpPr>
        <p:spPr>
          <a:xfrm>
            <a:off x="777240" y="1965960"/>
            <a:ext cx="4815687" cy="3794760"/>
          </a:xfrm>
          <a:prstGeom prst="rect">
            <a:avLst/>
          </a:prstGeom>
          <a:noFill/>
        </p:spPr>
        <p:txBody>
          <a:bodyPr wrap="square" anchor="t" lIns="0" rIns="0" tIns="0" bIns="0">
            <a:spAutoFit/>
          </a:bodyPr>
          <a:lstStyle/>
          <a:p>
            <a:pPr algn="l" marL="237744" indent="-237744">
              <a:lnSpc>
                <a:spcPct val="112000"/>
              </a:lnSpc>
              <a:spcBef>
                <a:spcPts val="0"/>
              </a:spcBef>
              <a:spcAft>
                <a:spcPts val="1200"/>
              </a:spcAft>
            </a:pPr>
            <a:r>
              <a:rPr sz="1800" b="0" i="0">
                <a:solidFill>
                  <a:srgbClr val="1A1A1A"/>
                </a:solidFill>
                <a:latin typeface="Arial"/>
              </a:rPr>
              <a:t>▪  The six tenets, in order</a:t>
            </a:r>
          </a:p>
          <a:p>
            <a:pPr algn="l" marL="237744" indent="-237744">
              <a:lnSpc>
                <a:spcPct val="112000"/>
              </a:lnSpc>
              <a:spcBef>
                <a:spcPts val="0"/>
              </a:spcBef>
              <a:spcAft>
                <a:spcPts val="1200"/>
              </a:spcAft>
            </a:pPr>
            <a:r>
              <a:rPr sz="1800" b="0" i="0">
                <a:solidFill>
                  <a:srgbClr val="1A1A1A"/>
                </a:solidFill>
                <a:latin typeface="Arial"/>
              </a:rPr>
              <a:t>▪  The averages discount everything</a:t>
            </a:r>
          </a:p>
          <a:p>
            <a:pPr algn="l" marL="237744" indent="-237744">
              <a:lnSpc>
                <a:spcPct val="112000"/>
              </a:lnSpc>
              <a:spcBef>
                <a:spcPts val="0"/>
              </a:spcBef>
              <a:spcAft>
                <a:spcPts val="1200"/>
              </a:spcAft>
            </a:pPr>
            <a:r>
              <a:rPr sz="1800" b="0" i="0">
                <a:solidFill>
                  <a:srgbClr val="1A1A1A"/>
                </a:solidFill>
                <a:latin typeface="Arial"/>
              </a:rPr>
              <a:t>▪  How information reaches a price, and the four things discounting does not require</a:t>
            </a:r>
          </a:p>
        </p:txBody>
      </p:sp>
      <p:sp>
        <p:nvSpPr>
          <p:cNvPr id="8" name="TextBox 7"/>
          <p:cNvSpPr txBox="1"/>
          <p:nvPr/>
        </p:nvSpPr>
        <p:spPr>
          <a:xfrm>
            <a:off x="6141567" y="1965960"/>
            <a:ext cx="4815687" cy="3794760"/>
          </a:xfrm>
          <a:prstGeom prst="rect">
            <a:avLst/>
          </a:prstGeom>
          <a:noFill/>
        </p:spPr>
        <p:txBody>
          <a:bodyPr wrap="square" anchor="t" lIns="0" rIns="0" tIns="0" bIns="0">
            <a:spAutoFit/>
          </a:bodyPr>
          <a:lstStyle/>
          <a:p>
            <a:pPr algn="l" marL="237744" indent="-237744">
              <a:lnSpc>
                <a:spcPct val="112000"/>
              </a:lnSpc>
              <a:spcBef>
                <a:spcPts val="0"/>
              </a:spcBef>
              <a:spcAft>
                <a:spcPts val="1200"/>
              </a:spcAft>
            </a:pPr>
            <a:r>
              <a:rPr sz="1800" b="0" i="0">
                <a:solidFill>
                  <a:srgbClr val="1A1A1A"/>
                </a:solidFill>
                <a:latin typeface="Arial"/>
              </a:rPr>
              <a:t>▪  Acts of God, the one exception</a:t>
            </a:r>
          </a:p>
          <a:p>
            <a:pPr algn="l" marL="237744" indent="-237744">
              <a:lnSpc>
                <a:spcPct val="112000"/>
              </a:lnSpc>
              <a:spcBef>
                <a:spcPts val="0"/>
              </a:spcBef>
              <a:spcAft>
                <a:spcPts val="1200"/>
              </a:spcAft>
            </a:pPr>
            <a:r>
              <a:rPr sz="1800" b="0" i="0">
                <a:solidFill>
                  <a:srgbClr val="1A1A1A"/>
                </a:solidFill>
                <a:latin typeface="Arial"/>
              </a:rPr>
              <a:t>▪  Only closing prices are recognized</a:t>
            </a:r>
          </a:p>
        </p:txBody>
      </p:sp>
      <p:sp>
        <p:nvSpPr>
          <p:cNvPr id="9" name="TextBox 8"/>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2 of 6 - Discounting  |  recap</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07A33"/>
          </a:solidFill>
          <a:ln>
            <a:noFill/>
          </a:ln>
          <a:effectLst/>
        </p:spPr>
        <p:txBody>
          <a:bodyPr rtlCol="0" anchor="ctr"/>
          <a:lstStyle/>
          <a:p>
            <a:pPr algn="ctr"/>
          </a:p>
        </p:txBody>
      </p:sp>
      <p:sp>
        <p:nvSpPr>
          <p:cNvPr id="3" name="Rectangle 2"/>
          <p:cNvSpPr/>
          <p:nvPr/>
        </p:nvSpPr>
        <p:spPr>
          <a:xfrm>
            <a:off x="0" y="0"/>
            <a:ext cx="256032" cy="6858000"/>
          </a:xfrm>
          <a:prstGeom prst="rect">
            <a:avLst/>
          </a:prstGeom>
          <a:solidFill>
            <a:srgbClr val="F2A900"/>
          </a:solidFill>
          <a:ln>
            <a:noFill/>
          </a:ln>
          <a:effectLst/>
        </p:spPr>
        <p:txBody>
          <a:bodyPr rtlCol="0" anchor="ctr"/>
          <a:lstStyle/>
          <a:p>
            <a:pPr algn="ctr"/>
          </a:p>
        </p:txBody>
      </p:sp>
      <p:sp>
        <p:nvSpPr>
          <p:cNvPr id="4" name="TextBox 3"/>
          <p:cNvSpPr txBox="1"/>
          <p:nvPr/>
        </p:nvSpPr>
        <p:spPr>
          <a:xfrm>
            <a:off x="777240" y="1051560"/>
            <a:ext cx="10637215" cy="365760"/>
          </a:xfrm>
          <a:prstGeom prst="rect">
            <a:avLst/>
          </a:prstGeom>
          <a:noFill/>
        </p:spPr>
        <p:txBody>
          <a:bodyPr wrap="square" anchor="t" lIns="0" rIns="0" tIns="0" bIns="0">
            <a:spAutoFit/>
          </a:bodyPr>
          <a:lstStyle/>
          <a:p>
            <a:pPr algn="l">
              <a:lnSpc>
                <a:spcPct val="100000"/>
              </a:lnSpc>
              <a:spcBef>
                <a:spcPts val="0"/>
              </a:spcBef>
              <a:spcAft>
                <a:spcPts val="0"/>
              </a:spcAft>
            </a:pPr>
            <a:r>
              <a:rPr sz="1500" b="1" i="0">
                <a:solidFill>
                  <a:srgbClr val="F2A900"/>
                </a:solidFill>
                <a:latin typeface="Arial"/>
              </a:rPr>
              <a:t>Part 3 of 6</a:t>
            </a:r>
          </a:p>
        </p:txBody>
      </p:sp>
      <p:sp>
        <p:nvSpPr>
          <p:cNvPr id="5" name="TextBox 4"/>
          <p:cNvSpPr txBox="1"/>
          <p:nvPr/>
        </p:nvSpPr>
        <p:spPr>
          <a:xfrm>
            <a:off x="777240" y="1600200"/>
            <a:ext cx="10637215" cy="1097280"/>
          </a:xfrm>
          <a:prstGeom prst="rect">
            <a:avLst/>
          </a:prstGeom>
          <a:noFill/>
        </p:spPr>
        <p:txBody>
          <a:bodyPr wrap="square" anchor="t" lIns="0" rIns="0" tIns="0" bIns="0">
            <a:spAutoFit/>
          </a:bodyPr>
          <a:lstStyle/>
          <a:p>
            <a:pPr algn="l">
              <a:lnSpc>
                <a:spcPct val="105000"/>
              </a:lnSpc>
              <a:spcBef>
                <a:spcPts val="0"/>
              </a:spcBef>
              <a:spcAft>
                <a:spcPts val="0"/>
              </a:spcAft>
            </a:pPr>
            <a:r>
              <a:rPr sz="4000" b="0" i="0">
                <a:solidFill>
                  <a:srgbClr val="FFFFFF"/>
                </a:solidFill>
                <a:latin typeface="Palatino"/>
              </a:rPr>
              <a:t>Three Trends, and the Primary One</a:t>
            </a:r>
          </a:p>
        </p:txBody>
      </p:sp>
      <p:sp>
        <p:nvSpPr>
          <p:cNvPr id="6" name="Rectangle 5"/>
          <p:cNvSpPr/>
          <p:nvPr/>
        </p:nvSpPr>
        <p:spPr>
          <a:xfrm>
            <a:off x="777240" y="2926080"/>
            <a:ext cx="1463040" cy="38100"/>
          </a:xfrm>
          <a:prstGeom prst="rect">
            <a:avLst/>
          </a:prstGeom>
          <a:solidFill>
            <a:srgbClr val="F2A900"/>
          </a:solidFill>
          <a:ln>
            <a:noFill/>
          </a:ln>
          <a:effectLst/>
        </p:spPr>
        <p:txBody>
          <a:bodyPr rtlCol="0" anchor="ctr"/>
          <a:lstStyle/>
          <a:p>
            <a:pPr algn="ctr"/>
          </a:p>
        </p:txBody>
      </p:sp>
      <p:sp>
        <p:nvSpPr>
          <p:cNvPr id="7" name="TextBox 6"/>
          <p:cNvSpPr txBox="1"/>
          <p:nvPr/>
        </p:nvSpPr>
        <p:spPr>
          <a:xfrm>
            <a:off x="777240" y="3383280"/>
            <a:ext cx="10637215" cy="2011680"/>
          </a:xfrm>
          <a:prstGeom prst="rect">
            <a:avLst/>
          </a:prstGeom>
          <a:noFill/>
        </p:spPr>
        <p:txBody>
          <a:bodyPr wrap="square" anchor="t" lIns="0" rIns="0" tIns="0" bIns="0">
            <a:spAutoFit/>
          </a:bodyPr>
          <a:lstStyle/>
          <a:p>
            <a:pPr algn="l">
              <a:lnSpc>
                <a:spcPct val="115000"/>
              </a:lnSpc>
              <a:spcBef>
                <a:spcPts val="0"/>
              </a:spcBef>
              <a:spcAft>
                <a:spcPts val="1000"/>
              </a:spcAft>
            </a:pPr>
            <a:r>
              <a:rPr sz="1900" b="0" i="0">
                <a:solidFill>
                  <a:srgbClr val="FFFFFF"/>
                </a:solidFill>
                <a:latin typeface="Arial"/>
              </a:rPr>
              <a:t>The three movements the book says are running at the same time.</a:t>
            </a:r>
          </a:p>
          <a:p>
            <a:pPr algn="l">
              <a:lnSpc>
                <a:spcPct val="115000"/>
              </a:lnSpc>
              <a:spcBef>
                <a:spcPts val="0"/>
              </a:spcBef>
              <a:spcAft>
                <a:spcPts val="1000"/>
              </a:spcAft>
            </a:pPr>
            <a:r>
              <a:rPr sz="1900" b="0" i="0">
                <a:solidFill>
                  <a:srgbClr val="FFFFFF"/>
                </a:solidFill>
                <a:latin typeface="Arial"/>
              </a:rPr>
              <a:t>What an uptrend actually is, and what ends one.</a:t>
            </a:r>
          </a:p>
          <a:p>
            <a:pPr algn="l">
              <a:lnSpc>
                <a:spcPct val="115000"/>
              </a:lnSpc>
              <a:spcBef>
                <a:spcPts val="0"/>
              </a:spcBef>
              <a:spcAft>
                <a:spcPts val="1000"/>
              </a:spcAft>
            </a:pPr>
            <a:r>
              <a:rPr sz="1900" b="0" i="0">
                <a:solidFill>
                  <a:srgbClr val="FFFFFF"/>
                </a:solidFill>
                <a:latin typeface="Arial"/>
              </a:rPr>
              <a:t>Why the signal always arrives late, and why Dow was content with that.</a:t>
            </a:r>
          </a:p>
        </p:txBody>
      </p:sp>
      <p:sp>
        <p:nvSpPr>
          <p:cNvPr id="8" name="TextBox 7"/>
          <p:cNvSpPr txBox="1"/>
          <p:nvPr/>
        </p:nvSpPr>
        <p:spPr>
          <a:xfrm>
            <a:off x="777240" y="6035040"/>
            <a:ext cx="10637215" cy="365760"/>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F2A900"/>
                </a:solidFill>
                <a:latin typeface="Arial"/>
              </a:rPr>
              <a:t>About 35 minutes</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Rectangle 3"/>
          <p:cNvSpPr/>
          <p:nvPr/>
        </p:nvSpPr>
        <p:spPr>
          <a:xfrm>
            <a:off x="777240" y="566928"/>
            <a:ext cx="1234440" cy="329184"/>
          </a:xfrm>
          <a:prstGeom prst="rect">
            <a:avLst/>
          </a:prstGeom>
          <a:solidFill>
            <a:srgbClr val="F2A900"/>
          </a:solidFill>
          <a:ln>
            <a:noFill/>
          </a:ln>
          <a:effectLst/>
        </p:spPr>
        <p:txBody>
          <a:bodyPr rtlCol="0" anchor="ctr" wrap="none" lIns="0" rIns="0" tIns="0" bIns="0"/>
          <a:lstStyle/>
          <a:p>
            <a:pPr algn="ctr">
              <a:lnSpc>
                <a:spcPct val="100000"/>
              </a:lnSpc>
              <a:spcBef>
                <a:spcPts val="0"/>
              </a:spcBef>
              <a:spcAft>
                <a:spcPts val="0"/>
              </a:spcAft>
            </a:pPr>
            <a:r>
              <a:rPr sz="1200" b="1" i="0">
                <a:solidFill>
                  <a:srgbClr val="1A1A1A"/>
                </a:solidFill>
                <a:latin typeface="Arial"/>
              </a:rPr>
              <a:t>NEW TERM</a:t>
            </a:r>
          </a:p>
        </p:txBody>
      </p:sp>
      <p:sp>
        <p:nvSpPr>
          <p:cNvPr id="5" name="TextBox 4"/>
          <p:cNvSpPr txBox="1"/>
          <p:nvPr/>
        </p:nvSpPr>
        <p:spPr>
          <a:xfrm>
            <a:off x="777240" y="1051560"/>
            <a:ext cx="10637215" cy="822960"/>
          </a:xfrm>
          <a:prstGeom prst="rect">
            <a:avLst/>
          </a:prstGeom>
          <a:noFill/>
        </p:spPr>
        <p:txBody>
          <a:bodyPr wrap="square" anchor="t" lIns="0" rIns="0" tIns="0" bIns="0">
            <a:spAutoFit/>
          </a:bodyPr>
          <a:lstStyle/>
          <a:p>
            <a:pPr algn="l">
              <a:lnSpc>
                <a:spcPct val="105000"/>
              </a:lnSpc>
              <a:spcBef>
                <a:spcPts val="0"/>
              </a:spcBef>
              <a:spcAft>
                <a:spcPts val="0"/>
              </a:spcAft>
            </a:pPr>
            <a:r>
              <a:rPr sz="3200" b="0" i="0">
                <a:solidFill>
                  <a:srgbClr val="007A33"/>
                </a:solidFill>
                <a:latin typeface="Palatino"/>
              </a:rPr>
              <a:t>The market has three trends</a:t>
            </a:r>
          </a:p>
        </p:txBody>
      </p:sp>
      <p:sp>
        <p:nvSpPr>
          <p:cNvPr id="6" name="Rectangle 5"/>
          <p:cNvSpPr/>
          <p:nvPr/>
        </p:nvSpPr>
        <p:spPr>
          <a:xfrm>
            <a:off x="777240" y="1874519"/>
            <a:ext cx="10637215" cy="15875"/>
          </a:xfrm>
          <a:prstGeom prst="rect">
            <a:avLst/>
          </a:prstGeom>
          <a:solidFill>
            <a:srgbClr val="D7E0D9"/>
          </a:solidFill>
          <a:ln>
            <a:noFill/>
          </a:ln>
          <a:effectLst/>
        </p:spPr>
        <p:txBody>
          <a:bodyPr rtlCol="0" anchor="ctr"/>
          <a:lstStyle/>
          <a:p>
            <a:pPr algn="ctr"/>
          </a:p>
        </p:txBody>
      </p:sp>
      <p:sp>
        <p:nvSpPr>
          <p:cNvPr id="7" name="Rectangle 6"/>
          <p:cNvSpPr/>
          <p:nvPr/>
        </p:nvSpPr>
        <p:spPr>
          <a:xfrm>
            <a:off x="777240" y="2258568"/>
            <a:ext cx="64008" cy="811022"/>
          </a:xfrm>
          <a:prstGeom prst="rect">
            <a:avLst/>
          </a:prstGeom>
          <a:solidFill>
            <a:srgbClr val="F2A900"/>
          </a:solidFill>
          <a:ln>
            <a:noFill/>
          </a:ln>
          <a:effectLst/>
        </p:spPr>
        <p:txBody>
          <a:bodyPr rtlCol="0" anchor="ctr"/>
          <a:lstStyle/>
          <a:p>
            <a:pPr algn="ctr"/>
          </a:p>
        </p:txBody>
      </p:sp>
      <p:sp>
        <p:nvSpPr>
          <p:cNvPr id="8" name="TextBox 7"/>
          <p:cNvSpPr txBox="1"/>
          <p:nvPr/>
        </p:nvSpPr>
        <p:spPr>
          <a:xfrm>
            <a:off x="1051560" y="2212848"/>
            <a:ext cx="10362895" cy="920750"/>
          </a:xfrm>
          <a:prstGeom prst="rect">
            <a:avLst/>
          </a:prstGeom>
          <a:noFill/>
        </p:spPr>
        <p:txBody>
          <a:bodyPr wrap="square" anchor="t" lIns="0" rIns="0" tIns="0" bIns="0">
            <a:spAutoFit/>
          </a:bodyPr>
          <a:lstStyle/>
          <a:p>
            <a:pPr algn="l">
              <a:lnSpc>
                <a:spcPct val="100000"/>
              </a:lnSpc>
              <a:spcBef>
                <a:spcPts val="0"/>
              </a:spcBef>
              <a:spcAft>
                <a:spcPts val="400"/>
              </a:spcAft>
            </a:pPr>
            <a:r>
              <a:rPr sz="1100" b="1" i="0">
                <a:solidFill>
                  <a:srgbClr val="818181"/>
                </a:solidFill>
                <a:latin typeface="Arial"/>
              </a:rPr>
              <a:t>IN PLAIN WORDS</a:t>
            </a:r>
          </a:p>
          <a:p>
            <a:pPr algn="l">
              <a:lnSpc>
                <a:spcPct val="115000"/>
              </a:lnSpc>
              <a:spcBef>
                <a:spcPts val="0"/>
              </a:spcBef>
              <a:spcAft>
                <a:spcPts val="0"/>
              </a:spcAft>
            </a:pPr>
            <a:r>
              <a:rPr sz="1900" b="1" i="0">
                <a:solidFill>
                  <a:srgbClr val="1A1A1A"/>
                </a:solidFill>
                <a:latin typeface="Arial"/>
              </a:rPr>
              <a:t>At any moment the market is doing three things at once: a long movement, a shorter movement against it, and daily noise.</a:t>
            </a:r>
          </a:p>
        </p:txBody>
      </p:sp>
      <p:sp>
        <p:nvSpPr>
          <p:cNvPr id="9" name="Rectangle 8"/>
          <p:cNvSpPr/>
          <p:nvPr/>
        </p:nvSpPr>
        <p:spPr>
          <a:xfrm>
            <a:off x="777240" y="3417061"/>
            <a:ext cx="64008" cy="811022"/>
          </a:xfrm>
          <a:prstGeom prst="rect">
            <a:avLst/>
          </a:prstGeom>
          <a:solidFill>
            <a:srgbClr val="D7E0D9"/>
          </a:solidFill>
          <a:ln>
            <a:noFill/>
          </a:ln>
          <a:effectLst/>
        </p:spPr>
        <p:txBody>
          <a:bodyPr rtlCol="0" anchor="ctr"/>
          <a:lstStyle/>
          <a:p>
            <a:pPr algn="ctr"/>
          </a:p>
        </p:txBody>
      </p:sp>
      <p:sp>
        <p:nvSpPr>
          <p:cNvPr id="10" name="TextBox 9"/>
          <p:cNvSpPr txBox="1"/>
          <p:nvPr/>
        </p:nvSpPr>
        <p:spPr>
          <a:xfrm>
            <a:off x="1051560" y="3371342"/>
            <a:ext cx="10362895" cy="920750"/>
          </a:xfrm>
          <a:prstGeom prst="rect">
            <a:avLst/>
          </a:prstGeom>
          <a:noFill/>
        </p:spPr>
        <p:txBody>
          <a:bodyPr wrap="square" anchor="t" lIns="0" rIns="0" tIns="0" bIns="0">
            <a:spAutoFit/>
          </a:bodyPr>
          <a:lstStyle/>
          <a:p>
            <a:pPr algn="l">
              <a:lnSpc>
                <a:spcPct val="100000"/>
              </a:lnSpc>
              <a:spcBef>
                <a:spcPts val="0"/>
              </a:spcBef>
              <a:spcAft>
                <a:spcPts val="400"/>
              </a:spcAft>
            </a:pPr>
            <a:r>
              <a:rPr sz="1100" b="1" i="0">
                <a:solidFill>
                  <a:srgbClr val="818181"/>
                </a:solidFill>
                <a:latin typeface="Arial"/>
              </a:rPr>
              <a:t>FOR EXAMPLE</a:t>
            </a:r>
          </a:p>
          <a:p>
            <a:pPr algn="l">
              <a:lnSpc>
                <a:spcPct val="115000"/>
              </a:lnSpc>
              <a:spcBef>
                <a:spcPts val="0"/>
              </a:spcBef>
              <a:spcAft>
                <a:spcPts val="0"/>
              </a:spcAft>
            </a:pPr>
            <a:r>
              <a:rPr sz="1900" b="0" i="0">
                <a:solidFill>
                  <a:srgbClr val="1A1A1A"/>
                </a:solidFill>
                <a:latin typeface="Arial"/>
              </a:rPr>
              <a:t>The ocean does all three at the same time as well. That is the picture Rhea used, and we will use it too.</a:t>
            </a:r>
          </a:p>
        </p:txBody>
      </p:sp>
      <p:sp>
        <p:nvSpPr>
          <p:cNvPr id="11" name="Rectangle 10"/>
          <p:cNvSpPr/>
          <p:nvPr/>
        </p:nvSpPr>
        <p:spPr>
          <a:xfrm>
            <a:off x="777240" y="4575556"/>
            <a:ext cx="64008" cy="811022"/>
          </a:xfrm>
          <a:prstGeom prst="rect">
            <a:avLst/>
          </a:prstGeom>
          <a:solidFill>
            <a:srgbClr val="D7E0D9"/>
          </a:solidFill>
          <a:ln>
            <a:noFill/>
          </a:ln>
          <a:effectLst/>
        </p:spPr>
        <p:txBody>
          <a:bodyPr rtlCol="0" anchor="ctr"/>
          <a:lstStyle/>
          <a:p>
            <a:pPr algn="ctr"/>
          </a:p>
        </p:txBody>
      </p:sp>
      <p:sp>
        <p:nvSpPr>
          <p:cNvPr id="12" name="TextBox 11"/>
          <p:cNvSpPr txBox="1"/>
          <p:nvPr/>
        </p:nvSpPr>
        <p:spPr>
          <a:xfrm>
            <a:off x="1051560" y="4529836"/>
            <a:ext cx="10362895" cy="920750"/>
          </a:xfrm>
          <a:prstGeom prst="rect">
            <a:avLst/>
          </a:prstGeom>
          <a:noFill/>
        </p:spPr>
        <p:txBody>
          <a:bodyPr wrap="square" anchor="t" lIns="0" rIns="0" tIns="0" bIns="0">
            <a:spAutoFit/>
          </a:bodyPr>
          <a:lstStyle/>
          <a:p>
            <a:pPr algn="l">
              <a:lnSpc>
                <a:spcPct val="100000"/>
              </a:lnSpc>
              <a:spcBef>
                <a:spcPts val="0"/>
              </a:spcBef>
              <a:spcAft>
                <a:spcPts val="400"/>
              </a:spcAft>
            </a:pPr>
            <a:r>
              <a:rPr sz="1100" b="1" i="0">
                <a:solidFill>
                  <a:srgbClr val="818181"/>
                </a:solidFill>
                <a:latin typeface="Arial"/>
              </a:rPr>
              <a:t>THE FORMAL DEFINITION</a:t>
            </a:r>
          </a:p>
          <a:p>
            <a:pPr algn="l">
              <a:lnSpc>
                <a:spcPct val="115000"/>
              </a:lnSpc>
              <a:spcBef>
                <a:spcPts val="0"/>
              </a:spcBef>
              <a:spcAft>
                <a:spcPts val="0"/>
              </a:spcAft>
            </a:pPr>
            <a:r>
              <a:rPr sz="1900" b="0" i="0">
                <a:solidFill>
                  <a:srgbClr val="1A1A1A"/>
                </a:solidFill>
                <a:latin typeface="Arial"/>
              </a:rPr>
              <a:t>The second tenet of Dow Theory is that the market comprises three trends: the primary trend, the secondary reaction and the minor trend.</a:t>
            </a:r>
          </a:p>
        </p:txBody>
      </p:sp>
      <p:sp>
        <p:nvSpPr>
          <p:cNvPr id="13" name="TextBox 12"/>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3 of 6 - Primary trend  |  1 of 28</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Rectangle 3"/>
          <p:cNvSpPr/>
          <p:nvPr/>
        </p:nvSpPr>
        <p:spPr>
          <a:xfrm>
            <a:off x="777240" y="1325880"/>
            <a:ext cx="109728" cy="1332230"/>
          </a:xfrm>
          <a:prstGeom prst="rect">
            <a:avLst/>
          </a:prstGeom>
          <a:solidFill>
            <a:srgbClr val="F2A900"/>
          </a:solidFill>
          <a:ln>
            <a:noFill/>
          </a:ln>
          <a:effectLst/>
        </p:spPr>
        <p:txBody>
          <a:bodyPr rtlCol="0" anchor="ctr"/>
          <a:lstStyle/>
          <a:p>
            <a:pPr algn="ctr"/>
          </a:p>
        </p:txBody>
      </p:sp>
      <p:sp>
        <p:nvSpPr>
          <p:cNvPr id="5" name="TextBox 4"/>
          <p:cNvSpPr txBox="1"/>
          <p:nvPr/>
        </p:nvSpPr>
        <p:spPr>
          <a:xfrm>
            <a:off x="777240" y="658368"/>
            <a:ext cx="10637215" cy="457200"/>
          </a:xfrm>
          <a:prstGeom prst="rect">
            <a:avLst/>
          </a:prstGeom>
          <a:noFill/>
        </p:spPr>
        <p:txBody>
          <a:bodyPr wrap="square" anchor="t" lIns="0" rIns="0" tIns="0" bIns="0">
            <a:spAutoFit/>
          </a:bodyPr>
          <a:lstStyle/>
          <a:p>
            <a:pPr algn="l">
              <a:lnSpc>
                <a:spcPct val="100000"/>
              </a:lnSpc>
              <a:spcBef>
                <a:spcPts val="0"/>
              </a:spcBef>
              <a:spcAft>
                <a:spcPts val="0"/>
              </a:spcAft>
            </a:pPr>
            <a:r>
              <a:rPr sz="1300" b="1" i="0">
                <a:solidFill>
                  <a:srgbClr val="818181"/>
                </a:solidFill>
                <a:latin typeface="Arial"/>
              </a:rPr>
              <a:t>A definition worth writing down</a:t>
            </a:r>
          </a:p>
        </p:txBody>
      </p:sp>
      <p:sp>
        <p:nvSpPr>
          <p:cNvPr id="6" name="TextBox 5"/>
          <p:cNvSpPr txBox="1"/>
          <p:nvPr/>
        </p:nvSpPr>
        <p:spPr>
          <a:xfrm>
            <a:off x="1161288" y="1371600"/>
            <a:ext cx="10253167" cy="1332230"/>
          </a:xfrm>
          <a:prstGeom prst="rect">
            <a:avLst/>
          </a:prstGeom>
          <a:noFill/>
        </p:spPr>
        <p:txBody>
          <a:bodyPr wrap="square" anchor="t" lIns="0" rIns="0" tIns="0" bIns="0">
            <a:spAutoFit/>
          </a:bodyPr>
          <a:lstStyle/>
          <a:p>
            <a:pPr algn="l">
              <a:lnSpc>
                <a:spcPct val="120000"/>
              </a:lnSpc>
              <a:spcBef>
                <a:spcPts val="0"/>
              </a:spcBef>
              <a:spcAft>
                <a:spcPts val="0"/>
              </a:spcAft>
            </a:pPr>
            <a:r>
              <a:rPr sz="2500" b="0" i="0">
                <a:solidFill>
                  <a:srgbClr val="1A1A1A"/>
                </a:solidFill>
                <a:latin typeface="Palatino"/>
              </a:rPr>
              <a:t>"There are three movements of the averages, all of which may be in progress at one and the same time."</a:t>
            </a:r>
          </a:p>
          <a:p>
            <a:pPr algn="l">
              <a:lnSpc>
                <a:spcPct val="100000"/>
              </a:lnSpc>
              <a:spcBef>
                <a:spcPts val="1400"/>
              </a:spcBef>
              <a:spcAft>
                <a:spcPts val="0"/>
              </a:spcAft>
            </a:pPr>
            <a:r>
              <a:rPr sz="1400" b="0" i="0">
                <a:solidFill>
                  <a:srgbClr val="818181"/>
                </a:solidFill>
                <a:latin typeface="Arial"/>
              </a:rPr>
              <a:t>Robert Rhea, The Dow Theory, quoted in Lim, The Handbook of Technical Analysis</a:t>
            </a:r>
          </a:p>
        </p:txBody>
      </p:sp>
      <p:sp>
        <p:nvSpPr>
          <p:cNvPr id="7" name="TextBox 6"/>
          <p:cNvSpPr txBox="1"/>
          <p:nvPr/>
        </p:nvSpPr>
        <p:spPr>
          <a:xfrm>
            <a:off x="777240" y="3023870"/>
            <a:ext cx="10637215" cy="1280160"/>
          </a:xfrm>
          <a:prstGeom prst="rect">
            <a:avLst/>
          </a:prstGeom>
          <a:noFill/>
        </p:spPr>
        <p:txBody>
          <a:bodyPr wrap="square" anchor="t" lIns="0" rIns="0" tIns="0" bIns="0">
            <a:spAutoFit/>
          </a:bodyPr>
          <a:lstStyle/>
          <a:p>
            <a:pPr algn="l">
              <a:lnSpc>
                <a:spcPct val="100000"/>
              </a:lnSpc>
              <a:spcBef>
                <a:spcPts val="0"/>
              </a:spcBef>
              <a:spcAft>
                <a:spcPts val="600"/>
              </a:spcAft>
            </a:pPr>
            <a:r>
              <a:rPr sz="1100" b="1" i="0">
                <a:solidFill>
                  <a:srgbClr val="818181"/>
                </a:solidFill>
                <a:latin typeface="Arial"/>
              </a:rPr>
              <a:t>What it tells us</a:t>
            </a:r>
          </a:p>
          <a:p>
            <a:pPr algn="l">
              <a:lnSpc>
                <a:spcPct val="115000"/>
              </a:lnSpc>
              <a:spcBef>
                <a:spcPts val="0"/>
              </a:spcBef>
              <a:spcAft>
                <a:spcPts val="0"/>
              </a:spcAft>
            </a:pPr>
            <a:r>
              <a:rPr sz="2100" b="1" i="0">
                <a:solidFill>
                  <a:srgbClr val="007A33"/>
                </a:solidFill>
                <a:latin typeface="Arial"/>
              </a:rPr>
              <a:t>All three at once. Not one after the other.</a:t>
            </a:r>
          </a:p>
        </p:txBody>
      </p:sp>
      <p:sp>
        <p:nvSpPr>
          <p:cNvPr id="8" name="TextBox 7"/>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3 of 6 - Primary trend  |  2 of 28</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TextBox 3"/>
          <p:cNvSpPr txBox="1"/>
          <p:nvPr/>
        </p:nvSpPr>
        <p:spPr>
          <a:xfrm>
            <a:off x="777240" y="658368"/>
            <a:ext cx="10637215" cy="914400"/>
          </a:xfrm>
          <a:prstGeom prst="rect">
            <a:avLst/>
          </a:prstGeom>
          <a:noFill/>
        </p:spPr>
        <p:txBody>
          <a:bodyPr wrap="square" anchor="t" lIns="0" rIns="0" tIns="0" bIns="0">
            <a:spAutoFit/>
          </a:bodyPr>
          <a:lstStyle/>
          <a:p>
            <a:pPr algn="l">
              <a:lnSpc>
                <a:spcPct val="105000"/>
              </a:lnSpc>
              <a:spcBef>
                <a:spcPts val="0"/>
              </a:spcBef>
              <a:spcAft>
                <a:spcPts val="0"/>
              </a:spcAft>
            </a:pPr>
            <a:r>
              <a:rPr sz="3000" b="0" i="0">
                <a:solidFill>
                  <a:srgbClr val="007A33"/>
                </a:solidFill>
                <a:latin typeface="Palatino"/>
              </a:rPr>
              <a:t>The three, named</a:t>
            </a:r>
          </a:p>
        </p:txBody>
      </p:sp>
      <p:sp>
        <p:nvSpPr>
          <p:cNvPr id="5" name="Rectangle 4"/>
          <p:cNvSpPr/>
          <p:nvPr/>
        </p:nvSpPr>
        <p:spPr>
          <a:xfrm>
            <a:off x="777240" y="1572768"/>
            <a:ext cx="10637215" cy="15875"/>
          </a:xfrm>
          <a:prstGeom prst="rect">
            <a:avLst/>
          </a:prstGeom>
          <a:solidFill>
            <a:srgbClr val="D7E0D9"/>
          </a:solidFill>
          <a:ln>
            <a:noFill/>
          </a:ln>
          <a:effectLst/>
        </p:spPr>
        <p:txBody>
          <a:bodyPr rtlCol="0" anchor="ctr"/>
          <a:lstStyle/>
          <a:p>
            <a:pPr algn="ctr"/>
          </a:p>
        </p:txBody>
      </p:sp>
      <p:sp>
        <p:nvSpPr>
          <p:cNvPr id="6" name="TextBox 5"/>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3 of 6 - Primary trend  |  3 of 28</a:t>
            </a:r>
          </a:p>
        </p:txBody>
      </p:sp>
      <p:sp>
        <p:nvSpPr>
          <p:cNvPr id="7" name="TextBox 6"/>
          <p:cNvSpPr txBox="1"/>
          <p:nvPr/>
        </p:nvSpPr>
        <p:spPr>
          <a:xfrm>
            <a:off x="777240" y="1965960"/>
            <a:ext cx="10637215" cy="3108960"/>
          </a:xfrm>
          <a:prstGeom prst="rect">
            <a:avLst/>
          </a:prstGeom>
          <a:noFill/>
        </p:spPr>
        <p:txBody>
          <a:bodyPr wrap="square" anchor="t" lIns="0" rIns="0" tIns="0" bIns="0">
            <a:spAutoFit/>
          </a:bodyPr>
          <a:lstStyle/>
          <a:p>
            <a:pPr algn="l">
              <a:lnSpc>
                <a:spcPct val="118000"/>
              </a:lnSpc>
              <a:spcBef>
                <a:spcPts val="0"/>
              </a:spcBef>
              <a:spcAft>
                <a:spcPts val="1300"/>
              </a:spcAft>
            </a:pPr>
            <a:r>
              <a:rPr sz="2100" b="0" i="0">
                <a:solidFill>
                  <a:srgbClr val="1A1A1A"/>
                </a:solidFill>
                <a:latin typeface="Arial"/>
              </a:rPr>
              <a:t>1.  Primary trend, the major trend. Months to years. Long term.</a:t>
            </a:r>
          </a:p>
          <a:p>
            <a:pPr algn="l">
              <a:lnSpc>
                <a:spcPct val="118000"/>
              </a:lnSpc>
              <a:spcBef>
                <a:spcPts val="0"/>
              </a:spcBef>
              <a:spcAft>
                <a:spcPts val="1300"/>
              </a:spcAft>
            </a:pPr>
            <a:r>
              <a:rPr sz="2100" b="0" i="0">
                <a:solidFill>
                  <a:srgbClr val="1A1A1A"/>
                </a:solidFill>
                <a:latin typeface="Arial"/>
              </a:rPr>
              <a:t>2.  Secondary reaction, the intermediate trend. Weeks to months. Medium term.</a:t>
            </a:r>
          </a:p>
          <a:p>
            <a:pPr algn="l">
              <a:lnSpc>
                <a:spcPct val="118000"/>
              </a:lnSpc>
              <a:spcBef>
                <a:spcPts val="0"/>
              </a:spcBef>
              <a:spcAft>
                <a:spcPts val="1300"/>
              </a:spcAft>
            </a:pPr>
            <a:r>
              <a:rPr sz="2100" b="0" i="0">
                <a:solidFill>
                  <a:srgbClr val="1A1A1A"/>
                </a:solidFill>
                <a:latin typeface="Arial"/>
              </a:rPr>
              <a:t>3.  Minor trend. Days to weeks. Short term.</a:t>
            </a:r>
          </a:p>
        </p:txBody>
      </p:sp>
      <p:sp>
        <p:nvSpPr>
          <p:cNvPr id="8" name="Rectangle 7"/>
          <p:cNvSpPr/>
          <p:nvPr/>
        </p:nvSpPr>
        <p:spPr>
          <a:xfrm>
            <a:off x="777240" y="3769614"/>
            <a:ext cx="82296" cy="788924"/>
          </a:xfrm>
          <a:prstGeom prst="rect">
            <a:avLst/>
          </a:prstGeom>
          <a:solidFill>
            <a:srgbClr val="F2A900"/>
          </a:solidFill>
          <a:ln>
            <a:noFill/>
          </a:ln>
          <a:effectLst/>
        </p:spPr>
        <p:txBody>
          <a:bodyPr rtlCol="0" anchor="ctr"/>
          <a:lstStyle/>
          <a:p>
            <a:pPr algn="ctr"/>
          </a:p>
        </p:txBody>
      </p:sp>
      <p:sp>
        <p:nvSpPr>
          <p:cNvPr id="9" name="TextBox 8"/>
          <p:cNvSpPr txBox="1"/>
          <p:nvPr/>
        </p:nvSpPr>
        <p:spPr>
          <a:xfrm>
            <a:off x="1069848" y="3806190"/>
            <a:ext cx="10344607" cy="788924"/>
          </a:xfrm>
          <a:prstGeom prst="rect">
            <a:avLst/>
          </a:prstGeom>
          <a:noFill/>
        </p:spPr>
        <p:txBody>
          <a:bodyPr wrap="square" anchor="t" lIns="0" rIns="0" tIns="0" bIns="0">
            <a:spAutoFit/>
          </a:bodyPr>
          <a:lstStyle/>
          <a:p>
            <a:pPr algn="l">
              <a:lnSpc>
                <a:spcPct val="115000"/>
              </a:lnSpc>
              <a:spcBef>
                <a:spcPts val="0"/>
              </a:spcBef>
              <a:spcAft>
                <a:spcPts val="0"/>
              </a:spcAft>
            </a:pPr>
            <a:r>
              <a:rPr sz="2200" b="1" i="0">
                <a:solidFill>
                  <a:srgbClr val="1A1A1A"/>
                </a:solidFill>
                <a:latin typeface="Arial"/>
              </a:rPr>
              <a:t>Rhea called the primary the most important and the secondary the most deceptive.</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TextBox 3"/>
          <p:cNvSpPr txBox="1"/>
          <p:nvPr/>
        </p:nvSpPr>
        <p:spPr>
          <a:xfrm>
            <a:off x="777240" y="658368"/>
            <a:ext cx="10637215" cy="914400"/>
          </a:xfrm>
          <a:prstGeom prst="rect">
            <a:avLst/>
          </a:prstGeom>
          <a:noFill/>
        </p:spPr>
        <p:txBody>
          <a:bodyPr wrap="square" anchor="t" lIns="0" rIns="0" tIns="0" bIns="0">
            <a:spAutoFit/>
          </a:bodyPr>
          <a:lstStyle/>
          <a:p>
            <a:pPr algn="l">
              <a:lnSpc>
                <a:spcPct val="105000"/>
              </a:lnSpc>
              <a:spcBef>
                <a:spcPts val="0"/>
              </a:spcBef>
              <a:spcAft>
                <a:spcPts val="0"/>
              </a:spcAft>
            </a:pPr>
            <a:r>
              <a:rPr sz="3000" b="0" i="0">
                <a:solidFill>
                  <a:srgbClr val="007A33"/>
                </a:solidFill>
                <a:latin typeface="Palatino"/>
              </a:rPr>
              <a:t>Tides, waves and ripples</a:t>
            </a:r>
          </a:p>
        </p:txBody>
      </p:sp>
      <p:sp>
        <p:nvSpPr>
          <p:cNvPr id="5" name="Rectangle 4"/>
          <p:cNvSpPr/>
          <p:nvPr/>
        </p:nvSpPr>
        <p:spPr>
          <a:xfrm>
            <a:off x="777240" y="1572768"/>
            <a:ext cx="10637215" cy="15875"/>
          </a:xfrm>
          <a:prstGeom prst="rect">
            <a:avLst/>
          </a:prstGeom>
          <a:solidFill>
            <a:srgbClr val="D7E0D9"/>
          </a:solidFill>
          <a:ln>
            <a:noFill/>
          </a:ln>
          <a:effectLst/>
        </p:spPr>
        <p:txBody>
          <a:bodyPr rtlCol="0" anchor="ctr"/>
          <a:lstStyle/>
          <a:p>
            <a:pPr algn="ctr"/>
          </a:p>
        </p:txBody>
      </p:sp>
      <p:sp>
        <p:nvSpPr>
          <p:cNvPr id="6" name="TextBox 5"/>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3 of 6 - Primary trend  |  4 of 28</a:t>
            </a:r>
          </a:p>
        </p:txBody>
      </p:sp>
      <p:sp>
        <p:nvSpPr>
          <p:cNvPr id="7" name="TextBox 6"/>
          <p:cNvSpPr txBox="1"/>
          <p:nvPr/>
        </p:nvSpPr>
        <p:spPr>
          <a:xfrm>
            <a:off x="777240" y="1965960"/>
            <a:ext cx="10637215" cy="3108960"/>
          </a:xfrm>
          <a:prstGeom prst="rect">
            <a:avLst/>
          </a:prstGeom>
          <a:noFill/>
        </p:spPr>
        <p:txBody>
          <a:bodyPr wrap="square" anchor="t" lIns="0" rIns="0" tIns="0" bIns="0">
            <a:spAutoFit/>
          </a:bodyPr>
          <a:lstStyle/>
          <a:p>
            <a:pPr algn="l">
              <a:lnSpc>
                <a:spcPct val="118000"/>
              </a:lnSpc>
              <a:spcBef>
                <a:spcPts val="0"/>
              </a:spcBef>
              <a:spcAft>
                <a:spcPts val="1300"/>
              </a:spcAft>
            </a:pPr>
            <a:r>
              <a:rPr sz="2100" b="0" i="0">
                <a:solidFill>
                  <a:srgbClr val="1A1A1A"/>
                </a:solidFill>
                <a:latin typeface="Arial"/>
              </a:rPr>
              <a:t>The primary trend is sometimes called the tides of the ocean.</a:t>
            </a:r>
          </a:p>
          <a:p>
            <a:pPr algn="l">
              <a:lnSpc>
                <a:spcPct val="118000"/>
              </a:lnSpc>
              <a:spcBef>
                <a:spcPts val="0"/>
              </a:spcBef>
              <a:spcAft>
                <a:spcPts val="1300"/>
              </a:spcAft>
            </a:pPr>
            <a:r>
              <a:rPr sz="2100" b="0" i="0">
                <a:solidFill>
                  <a:srgbClr val="1A1A1A"/>
                </a:solidFill>
                <a:latin typeface="Arial"/>
              </a:rPr>
              <a:t>The secondary reaction is the waves on the tides.</a:t>
            </a:r>
          </a:p>
          <a:p>
            <a:pPr algn="l">
              <a:lnSpc>
                <a:spcPct val="118000"/>
              </a:lnSpc>
              <a:spcBef>
                <a:spcPts val="0"/>
              </a:spcBef>
              <a:spcAft>
                <a:spcPts val="1300"/>
              </a:spcAft>
            </a:pPr>
            <a:r>
              <a:rPr sz="2100" b="0" i="0">
                <a:solidFill>
                  <a:srgbClr val="1A1A1A"/>
                </a:solidFill>
                <a:latin typeface="Arial"/>
              </a:rPr>
              <a:t>The minor trend is the ripples on the waves.</a:t>
            </a:r>
          </a:p>
        </p:txBody>
      </p:sp>
      <p:sp>
        <p:nvSpPr>
          <p:cNvPr id="8" name="Rectangle 7"/>
          <p:cNvSpPr/>
          <p:nvPr/>
        </p:nvSpPr>
        <p:spPr>
          <a:xfrm>
            <a:off x="777240" y="3769614"/>
            <a:ext cx="82296" cy="467614"/>
          </a:xfrm>
          <a:prstGeom prst="rect">
            <a:avLst/>
          </a:prstGeom>
          <a:solidFill>
            <a:srgbClr val="F2A900"/>
          </a:solidFill>
          <a:ln>
            <a:noFill/>
          </a:ln>
          <a:effectLst/>
        </p:spPr>
        <p:txBody>
          <a:bodyPr rtlCol="0" anchor="ctr"/>
          <a:lstStyle/>
          <a:p>
            <a:pPr algn="ctr"/>
          </a:p>
        </p:txBody>
      </p:sp>
      <p:sp>
        <p:nvSpPr>
          <p:cNvPr id="9" name="TextBox 8"/>
          <p:cNvSpPr txBox="1"/>
          <p:nvPr/>
        </p:nvSpPr>
        <p:spPr>
          <a:xfrm>
            <a:off x="1069848" y="3806190"/>
            <a:ext cx="10344607" cy="467614"/>
          </a:xfrm>
          <a:prstGeom prst="rect">
            <a:avLst/>
          </a:prstGeom>
          <a:noFill/>
        </p:spPr>
        <p:txBody>
          <a:bodyPr wrap="square" anchor="t" lIns="0" rIns="0" tIns="0" bIns="0">
            <a:spAutoFit/>
          </a:bodyPr>
          <a:lstStyle/>
          <a:p>
            <a:pPr algn="l">
              <a:lnSpc>
                <a:spcPct val="115000"/>
              </a:lnSpc>
              <a:spcBef>
                <a:spcPts val="0"/>
              </a:spcBef>
              <a:spcAft>
                <a:spcPts val="0"/>
              </a:spcAft>
            </a:pPr>
            <a:r>
              <a:rPr sz="2200" b="1" i="0">
                <a:solidFill>
                  <a:srgbClr val="1A1A1A"/>
                </a:solidFill>
                <a:latin typeface="Arial"/>
              </a:rPr>
              <a:t>A ripple never tells you whether the tide is coming in or going out.</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TextBox 3"/>
          <p:cNvSpPr txBox="1"/>
          <p:nvPr/>
        </p:nvSpPr>
        <p:spPr>
          <a:xfrm>
            <a:off x="777240" y="658368"/>
            <a:ext cx="10637215" cy="914400"/>
          </a:xfrm>
          <a:prstGeom prst="rect">
            <a:avLst/>
          </a:prstGeom>
          <a:noFill/>
        </p:spPr>
        <p:txBody>
          <a:bodyPr wrap="square" anchor="t" lIns="0" rIns="0" tIns="0" bIns="0">
            <a:spAutoFit/>
          </a:bodyPr>
          <a:lstStyle/>
          <a:p>
            <a:pPr algn="l">
              <a:lnSpc>
                <a:spcPct val="105000"/>
              </a:lnSpc>
              <a:spcBef>
                <a:spcPts val="0"/>
              </a:spcBef>
              <a:spcAft>
                <a:spcPts val="0"/>
              </a:spcAft>
            </a:pPr>
            <a:r>
              <a:rPr sz="3000" b="0" i="0">
                <a:solidFill>
                  <a:srgbClr val="007A33"/>
                </a:solidFill>
                <a:latin typeface="Palatino"/>
              </a:rPr>
              <a:t>All three, on one line</a:t>
            </a:r>
          </a:p>
        </p:txBody>
      </p:sp>
      <p:sp>
        <p:nvSpPr>
          <p:cNvPr id="5" name="Rectangle 4"/>
          <p:cNvSpPr/>
          <p:nvPr/>
        </p:nvSpPr>
        <p:spPr>
          <a:xfrm>
            <a:off x="777240" y="1572768"/>
            <a:ext cx="10637215" cy="15875"/>
          </a:xfrm>
          <a:prstGeom prst="rect">
            <a:avLst/>
          </a:prstGeom>
          <a:solidFill>
            <a:srgbClr val="D7E0D9"/>
          </a:solidFill>
          <a:ln>
            <a:noFill/>
          </a:ln>
          <a:effectLst/>
        </p:spPr>
        <p:txBody>
          <a:bodyPr rtlCol="0" anchor="ctr"/>
          <a:lstStyle/>
          <a:p>
            <a:pPr algn="ctr"/>
          </a:p>
        </p:txBody>
      </p:sp>
      <p:sp>
        <p:nvSpPr>
          <p:cNvPr id="6" name="TextBox 5"/>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3 of 6 - Primary trend  |  5 of 28</a:t>
            </a:r>
          </a:p>
        </p:txBody>
      </p:sp>
      <p:sp>
        <p:nvSpPr>
          <p:cNvPr id="7" name="Rectangle 6"/>
          <p:cNvSpPr/>
          <p:nvPr/>
        </p:nvSpPr>
        <p:spPr>
          <a:xfrm>
            <a:off x="778611" y="1810512"/>
            <a:ext cx="10634472" cy="3749039"/>
          </a:xfrm>
          <a:prstGeom prst="rect">
            <a:avLst/>
          </a:prstGeom>
          <a:solidFill>
            <a:srgbClr val="FFFFFF"/>
          </a:solidFill>
          <a:ln w="12700">
            <a:solidFill>
              <a:srgbClr val="D7E0D9"/>
            </a:solidFill>
          </a:ln>
          <a:effectLst/>
        </p:spPr>
        <p:txBody>
          <a:bodyPr rtlCol="0" anchor="ctr"/>
          <a:lstStyle/>
          <a:p>
            <a:pPr algn="ctr"/>
          </a:p>
        </p:txBody>
      </p:sp>
      <p:pic>
        <p:nvPicPr>
          <p:cNvPr id="8" name="Picture 7" descr="chart-c.png"/>
          <p:cNvPicPr>
            <a:picLocks noChangeAspect="1"/>
          </p:cNvPicPr>
          <p:nvPr/>
        </p:nvPicPr>
        <p:blipFill>
          <a:blip r:embed="rId2"/>
          <a:stretch>
            <a:fillRect/>
          </a:stretch>
        </p:blipFill>
        <p:spPr>
          <a:xfrm>
            <a:off x="897483" y="1929384"/>
            <a:ext cx="10396728" cy="3511296"/>
          </a:xfrm>
          <a:prstGeom prst="rect">
            <a:avLst/>
          </a:prstGeom>
        </p:spPr>
      </p:pic>
      <p:sp>
        <p:nvSpPr>
          <p:cNvPr id="9" name="TextBox 8"/>
          <p:cNvSpPr txBox="1"/>
          <p:nvPr/>
        </p:nvSpPr>
        <p:spPr>
          <a:xfrm>
            <a:off x="777240" y="5669280"/>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300" b="0" i="0">
                <a:solidFill>
                  <a:srgbClr val="818181"/>
                </a:solidFill>
                <a:latin typeface="Arial"/>
              </a:rPr>
              <a:t>Chart C - FIN1209 teaching chart, drawn for this course. Illustrative data, not a real instrument.</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TextBox 3"/>
          <p:cNvSpPr txBox="1"/>
          <p:nvPr/>
        </p:nvSpPr>
        <p:spPr>
          <a:xfrm>
            <a:off x="777240" y="658368"/>
            <a:ext cx="10637215" cy="914400"/>
          </a:xfrm>
          <a:prstGeom prst="rect">
            <a:avLst/>
          </a:prstGeom>
          <a:noFill/>
        </p:spPr>
        <p:txBody>
          <a:bodyPr wrap="square" anchor="t" lIns="0" rIns="0" tIns="0" bIns="0">
            <a:spAutoFit/>
          </a:bodyPr>
          <a:lstStyle/>
          <a:p>
            <a:pPr algn="l">
              <a:lnSpc>
                <a:spcPct val="105000"/>
              </a:lnSpc>
              <a:spcBef>
                <a:spcPts val="0"/>
              </a:spcBef>
              <a:spcAft>
                <a:spcPts val="0"/>
              </a:spcAft>
            </a:pPr>
            <a:r>
              <a:rPr sz="3000" b="0" i="0">
                <a:solidFill>
                  <a:srgbClr val="007A33"/>
                </a:solidFill>
                <a:latin typeface="Palatino"/>
              </a:rPr>
              <a:t>All three trends on one index</a:t>
            </a:r>
          </a:p>
        </p:txBody>
      </p:sp>
      <p:sp>
        <p:nvSpPr>
          <p:cNvPr id="5" name="Rectangle 4"/>
          <p:cNvSpPr/>
          <p:nvPr/>
        </p:nvSpPr>
        <p:spPr>
          <a:xfrm>
            <a:off x="777240" y="1572768"/>
            <a:ext cx="10637215" cy="15875"/>
          </a:xfrm>
          <a:prstGeom prst="rect">
            <a:avLst/>
          </a:prstGeom>
          <a:solidFill>
            <a:srgbClr val="D7E0D9"/>
          </a:solidFill>
          <a:ln>
            <a:noFill/>
          </a:ln>
          <a:effectLst/>
        </p:spPr>
        <p:txBody>
          <a:bodyPr rtlCol="0" anchor="ctr"/>
          <a:lstStyle/>
          <a:p>
            <a:pPr algn="ctr"/>
          </a:p>
        </p:txBody>
      </p:sp>
      <p:sp>
        <p:nvSpPr>
          <p:cNvPr id="6" name="TextBox 5"/>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3 of 6 - Primary trend  |  6 of 28</a:t>
            </a:r>
          </a:p>
        </p:txBody>
      </p:sp>
      <p:sp>
        <p:nvSpPr>
          <p:cNvPr id="7" name="Rectangle 6"/>
          <p:cNvSpPr/>
          <p:nvPr/>
        </p:nvSpPr>
        <p:spPr>
          <a:xfrm>
            <a:off x="2346807" y="1810512"/>
            <a:ext cx="7498079" cy="3749039"/>
          </a:xfrm>
          <a:prstGeom prst="rect">
            <a:avLst/>
          </a:prstGeom>
          <a:solidFill>
            <a:srgbClr val="FFFFFF"/>
          </a:solidFill>
          <a:ln w="12700">
            <a:solidFill>
              <a:srgbClr val="D7E0D9"/>
            </a:solidFill>
          </a:ln>
          <a:effectLst/>
        </p:spPr>
        <p:txBody>
          <a:bodyPr rtlCol="0" anchor="ctr"/>
          <a:lstStyle/>
          <a:p>
            <a:pPr algn="ctr"/>
          </a:p>
        </p:txBody>
      </p:sp>
      <p:sp>
        <p:nvSpPr>
          <p:cNvPr id="8" name="Rectangle 7"/>
          <p:cNvSpPr/>
          <p:nvPr/>
        </p:nvSpPr>
        <p:spPr>
          <a:xfrm>
            <a:off x="2346807" y="1810512"/>
            <a:ext cx="7498079" cy="50800"/>
          </a:xfrm>
          <a:prstGeom prst="rect">
            <a:avLst/>
          </a:prstGeom>
          <a:solidFill>
            <a:srgbClr val="F2A900"/>
          </a:solidFill>
          <a:ln>
            <a:noFill/>
          </a:ln>
          <a:effectLst/>
        </p:spPr>
        <p:txBody>
          <a:bodyPr rtlCol="0" anchor="ctr"/>
          <a:lstStyle/>
          <a:p>
            <a:pPr algn="ctr"/>
          </a:p>
        </p:txBody>
      </p:sp>
      <p:sp>
        <p:nvSpPr>
          <p:cNvPr id="9" name="TextBox 8"/>
          <p:cNvSpPr txBox="1"/>
          <p:nvPr/>
        </p:nvSpPr>
        <p:spPr>
          <a:xfrm>
            <a:off x="2895447" y="2450591"/>
            <a:ext cx="6400799" cy="2651759"/>
          </a:xfrm>
          <a:prstGeom prst="rect">
            <a:avLst/>
          </a:prstGeom>
          <a:noFill/>
        </p:spPr>
        <p:txBody>
          <a:bodyPr wrap="square" anchor="t" lIns="0" rIns="0" tIns="0" bIns="0">
            <a:spAutoFit/>
          </a:bodyPr>
          <a:lstStyle/>
          <a:p>
            <a:pPr algn="l">
              <a:lnSpc>
                <a:spcPct val="100000"/>
              </a:lnSpc>
              <a:spcBef>
                <a:spcPts val="0"/>
              </a:spcBef>
              <a:spcAft>
                <a:spcPts val="1400"/>
              </a:spcAft>
            </a:pPr>
            <a:r>
              <a:rPr sz="1500" b="1" i="0">
                <a:solidFill>
                  <a:srgbClr val="818181"/>
                </a:solidFill>
                <a:latin typeface="Arial"/>
              </a:rPr>
              <a:t>FIGURE 2.3</a:t>
            </a:r>
          </a:p>
          <a:p>
            <a:pPr algn="l">
              <a:lnSpc>
                <a:spcPct val="120000"/>
              </a:lnSpc>
              <a:spcBef>
                <a:spcPts val="0"/>
              </a:spcBef>
              <a:spcAft>
                <a:spcPts val="1800"/>
              </a:spcAft>
            </a:pPr>
            <a:r>
              <a:rPr sz="2200" b="0" i="0">
                <a:solidFill>
                  <a:srgbClr val="1A1A1A"/>
                </a:solidFill>
                <a:latin typeface="Palatino"/>
              </a:rPr>
              <a:t>A daily chart of the NYSE Composite Index with the primary trend, a secondary reaction and the minor trends all labelled on the same price action, and the primary trend resuming on a breakout of the secondary peak.</a:t>
            </a:r>
          </a:p>
          <a:p>
            <a:pPr algn="l">
              <a:lnSpc>
                <a:spcPct val="115000"/>
              </a:lnSpc>
              <a:spcBef>
                <a:spcPts val="0"/>
              </a:spcBef>
              <a:spcAft>
                <a:spcPts val="0"/>
              </a:spcAft>
            </a:pPr>
            <a:r>
              <a:rPr sz="1400" b="0" i="1">
                <a:solidFill>
                  <a:srgbClr val="818181"/>
                </a:solidFill>
                <a:latin typeface="Arial"/>
              </a:rPr>
              <a:t>The artwork is copyrighted and is not in the public repository. Build with assets/figures/ present to place it here.</a:t>
            </a:r>
          </a:p>
        </p:txBody>
      </p:sp>
      <p:sp>
        <p:nvSpPr>
          <p:cNvPr id="10" name="TextBox 9"/>
          <p:cNvSpPr txBox="1"/>
          <p:nvPr/>
        </p:nvSpPr>
        <p:spPr>
          <a:xfrm>
            <a:off x="777240" y="5669280"/>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300" b="0" i="0">
                <a:solidFill>
                  <a:srgbClr val="818181"/>
                </a:solidFill>
                <a:latin typeface="Arial"/>
              </a:rPr>
              <a:t>Figure 2.3 - Lim, The Handbook of Technical Analysis (Wiley, 2016)</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Rectangle 3"/>
          <p:cNvSpPr/>
          <p:nvPr/>
        </p:nvSpPr>
        <p:spPr>
          <a:xfrm>
            <a:off x="777240" y="566928"/>
            <a:ext cx="1234440" cy="329184"/>
          </a:xfrm>
          <a:prstGeom prst="rect">
            <a:avLst/>
          </a:prstGeom>
          <a:solidFill>
            <a:srgbClr val="F2A900"/>
          </a:solidFill>
          <a:ln>
            <a:noFill/>
          </a:ln>
          <a:effectLst/>
        </p:spPr>
        <p:txBody>
          <a:bodyPr rtlCol="0" anchor="ctr" wrap="none" lIns="0" rIns="0" tIns="0" bIns="0"/>
          <a:lstStyle/>
          <a:p>
            <a:pPr algn="ctr">
              <a:lnSpc>
                <a:spcPct val="100000"/>
              </a:lnSpc>
              <a:spcBef>
                <a:spcPts val="0"/>
              </a:spcBef>
              <a:spcAft>
                <a:spcPts val="0"/>
              </a:spcAft>
            </a:pPr>
            <a:r>
              <a:rPr sz="1200" b="1" i="0">
                <a:solidFill>
                  <a:srgbClr val="1A1A1A"/>
                </a:solidFill>
                <a:latin typeface="Arial"/>
              </a:rPr>
              <a:t>NEW TERM</a:t>
            </a:r>
          </a:p>
        </p:txBody>
      </p:sp>
      <p:sp>
        <p:nvSpPr>
          <p:cNvPr id="5" name="TextBox 4"/>
          <p:cNvSpPr txBox="1"/>
          <p:nvPr/>
        </p:nvSpPr>
        <p:spPr>
          <a:xfrm>
            <a:off x="777240" y="1051560"/>
            <a:ext cx="10637215" cy="822960"/>
          </a:xfrm>
          <a:prstGeom prst="rect">
            <a:avLst/>
          </a:prstGeom>
          <a:noFill/>
        </p:spPr>
        <p:txBody>
          <a:bodyPr wrap="square" anchor="t" lIns="0" rIns="0" tIns="0" bIns="0">
            <a:spAutoFit/>
          </a:bodyPr>
          <a:lstStyle/>
          <a:p>
            <a:pPr algn="l">
              <a:lnSpc>
                <a:spcPct val="105000"/>
              </a:lnSpc>
              <a:spcBef>
                <a:spcPts val="0"/>
              </a:spcBef>
              <a:spcAft>
                <a:spcPts val="0"/>
              </a:spcAft>
            </a:pPr>
            <a:r>
              <a:rPr sz="3200" b="0" i="0">
                <a:solidFill>
                  <a:srgbClr val="007A33"/>
                </a:solidFill>
                <a:latin typeface="Palatino"/>
              </a:rPr>
              <a:t>Primary trend</a:t>
            </a:r>
          </a:p>
        </p:txBody>
      </p:sp>
      <p:sp>
        <p:nvSpPr>
          <p:cNvPr id="6" name="Rectangle 5"/>
          <p:cNvSpPr/>
          <p:nvPr/>
        </p:nvSpPr>
        <p:spPr>
          <a:xfrm>
            <a:off x="777240" y="1874519"/>
            <a:ext cx="10637215" cy="15875"/>
          </a:xfrm>
          <a:prstGeom prst="rect">
            <a:avLst/>
          </a:prstGeom>
          <a:solidFill>
            <a:srgbClr val="D7E0D9"/>
          </a:solidFill>
          <a:ln>
            <a:noFill/>
          </a:ln>
          <a:effectLst/>
        </p:spPr>
        <p:txBody>
          <a:bodyPr rtlCol="0" anchor="ctr"/>
          <a:lstStyle/>
          <a:p>
            <a:pPr algn="ctr"/>
          </a:p>
        </p:txBody>
      </p:sp>
      <p:sp>
        <p:nvSpPr>
          <p:cNvPr id="7" name="Rectangle 6"/>
          <p:cNvSpPr/>
          <p:nvPr/>
        </p:nvSpPr>
        <p:spPr>
          <a:xfrm>
            <a:off x="777240" y="2258568"/>
            <a:ext cx="64008" cy="533527"/>
          </a:xfrm>
          <a:prstGeom prst="rect">
            <a:avLst/>
          </a:prstGeom>
          <a:solidFill>
            <a:srgbClr val="F2A900"/>
          </a:solidFill>
          <a:ln>
            <a:noFill/>
          </a:ln>
          <a:effectLst/>
        </p:spPr>
        <p:txBody>
          <a:bodyPr rtlCol="0" anchor="ctr"/>
          <a:lstStyle/>
          <a:p>
            <a:pPr algn="ctr"/>
          </a:p>
        </p:txBody>
      </p:sp>
      <p:sp>
        <p:nvSpPr>
          <p:cNvPr id="8" name="TextBox 7"/>
          <p:cNvSpPr txBox="1"/>
          <p:nvPr/>
        </p:nvSpPr>
        <p:spPr>
          <a:xfrm>
            <a:off x="1051560" y="2212848"/>
            <a:ext cx="10362895" cy="643255"/>
          </a:xfrm>
          <a:prstGeom prst="rect">
            <a:avLst/>
          </a:prstGeom>
          <a:noFill/>
        </p:spPr>
        <p:txBody>
          <a:bodyPr wrap="square" anchor="t" lIns="0" rIns="0" tIns="0" bIns="0">
            <a:spAutoFit/>
          </a:bodyPr>
          <a:lstStyle/>
          <a:p>
            <a:pPr algn="l">
              <a:lnSpc>
                <a:spcPct val="100000"/>
              </a:lnSpc>
              <a:spcBef>
                <a:spcPts val="0"/>
              </a:spcBef>
              <a:spcAft>
                <a:spcPts val="400"/>
              </a:spcAft>
            </a:pPr>
            <a:r>
              <a:rPr sz="1100" b="1" i="0">
                <a:solidFill>
                  <a:srgbClr val="818181"/>
                </a:solidFill>
                <a:latin typeface="Arial"/>
              </a:rPr>
              <a:t>IN PLAIN WORDS</a:t>
            </a:r>
          </a:p>
          <a:p>
            <a:pPr algn="l">
              <a:lnSpc>
                <a:spcPct val="115000"/>
              </a:lnSpc>
              <a:spcBef>
                <a:spcPts val="0"/>
              </a:spcBef>
              <a:spcAft>
                <a:spcPts val="0"/>
              </a:spcAft>
            </a:pPr>
            <a:r>
              <a:rPr sz="1900" b="1" i="0">
                <a:solidFill>
                  <a:srgbClr val="1A1A1A"/>
                </a:solidFill>
                <a:latin typeface="Arial"/>
              </a:rPr>
              <a:t>The long movement, and the biggest one on the chart. Normally months to years.</a:t>
            </a:r>
          </a:p>
        </p:txBody>
      </p:sp>
      <p:sp>
        <p:nvSpPr>
          <p:cNvPr id="9" name="Rectangle 8"/>
          <p:cNvSpPr/>
          <p:nvPr/>
        </p:nvSpPr>
        <p:spPr>
          <a:xfrm>
            <a:off x="777240" y="3139567"/>
            <a:ext cx="64008" cy="811022"/>
          </a:xfrm>
          <a:prstGeom prst="rect">
            <a:avLst/>
          </a:prstGeom>
          <a:solidFill>
            <a:srgbClr val="D7E0D9"/>
          </a:solidFill>
          <a:ln>
            <a:noFill/>
          </a:ln>
          <a:effectLst/>
        </p:spPr>
        <p:txBody>
          <a:bodyPr rtlCol="0" anchor="ctr"/>
          <a:lstStyle/>
          <a:p>
            <a:pPr algn="ctr"/>
          </a:p>
        </p:txBody>
      </p:sp>
      <p:sp>
        <p:nvSpPr>
          <p:cNvPr id="10" name="TextBox 9"/>
          <p:cNvSpPr txBox="1"/>
          <p:nvPr/>
        </p:nvSpPr>
        <p:spPr>
          <a:xfrm>
            <a:off x="1051560" y="3093847"/>
            <a:ext cx="10362895" cy="920750"/>
          </a:xfrm>
          <a:prstGeom prst="rect">
            <a:avLst/>
          </a:prstGeom>
          <a:noFill/>
        </p:spPr>
        <p:txBody>
          <a:bodyPr wrap="square" anchor="t" lIns="0" rIns="0" tIns="0" bIns="0">
            <a:spAutoFit/>
          </a:bodyPr>
          <a:lstStyle/>
          <a:p>
            <a:pPr algn="l">
              <a:lnSpc>
                <a:spcPct val="100000"/>
              </a:lnSpc>
              <a:spcBef>
                <a:spcPts val="0"/>
              </a:spcBef>
              <a:spcAft>
                <a:spcPts val="400"/>
              </a:spcAft>
            </a:pPr>
            <a:r>
              <a:rPr sz="1100" b="1" i="0">
                <a:solidFill>
                  <a:srgbClr val="818181"/>
                </a:solidFill>
                <a:latin typeface="Arial"/>
              </a:rPr>
              <a:t>FOR EXAMPLE</a:t>
            </a:r>
          </a:p>
          <a:p>
            <a:pPr algn="l">
              <a:lnSpc>
                <a:spcPct val="115000"/>
              </a:lnSpc>
              <a:spcBef>
                <a:spcPts val="0"/>
              </a:spcBef>
              <a:spcAft>
                <a:spcPts val="0"/>
              </a:spcAft>
            </a:pPr>
            <a:r>
              <a:rPr sz="1900" b="0" i="0">
                <a:solidFill>
                  <a:srgbClr val="1A1A1A"/>
                </a:solidFill>
                <a:latin typeface="Arial"/>
              </a:rPr>
              <a:t>A share that goes from 40 pesos to 140 pesos over three years is in a primary bull trend, whatever it did in any given week.</a:t>
            </a:r>
          </a:p>
        </p:txBody>
      </p:sp>
      <p:sp>
        <p:nvSpPr>
          <p:cNvPr id="11" name="Rectangle 10"/>
          <p:cNvSpPr/>
          <p:nvPr/>
        </p:nvSpPr>
        <p:spPr>
          <a:xfrm>
            <a:off x="777240" y="4298061"/>
            <a:ext cx="64008" cy="1088517"/>
          </a:xfrm>
          <a:prstGeom prst="rect">
            <a:avLst/>
          </a:prstGeom>
          <a:solidFill>
            <a:srgbClr val="D7E0D9"/>
          </a:solidFill>
          <a:ln>
            <a:noFill/>
          </a:ln>
          <a:effectLst/>
        </p:spPr>
        <p:txBody>
          <a:bodyPr rtlCol="0" anchor="ctr"/>
          <a:lstStyle/>
          <a:p>
            <a:pPr algn="ctr"/>
          </a:p>
        </p:txBody>
      </p:sp>
      <p:sp>
        <p:nvSpPr>
          <p:cNvPr id="12" name="TextBox 11"/>
          <p:cNvSpPr txBox="1"/>
          <p:nvPr/>
        </p:nvSpPr>
        <p:spPr>
          <a:xfrm>
            <a:off x="1051560" y="4252341"/>
            <a:ext cx="10362895" cy="1198245"/>
          </a:xfrm>
          <a:prstGeom prst="rect">
            <a:avLst/>
          </a:prstGeom>
          <a:noFill/>
        </p:spPr>
        <p:txBody>
          <a:bodyPr wrap="square" anchor="t" lIns="0" rIns="0" tIns="0" bIns="0">
            <a:spAutoFit/>
          </a:bodyPr>
          <a:lstStyle/>
          <a:p>
            <a:pPr algn="l">
              <a:lnSpc>
                <a:spcPct val="100000"/>
              </a:lnSpc>
              <a:spcBef>
                <a:spcPts val="0"/>
              </a:spcBef>
              <a:spcAft>
                <a:spcPts val="400"/>
              </a:spcAft>
            </a:pPr>
            <a:r>
              <a:rPr sz="1100" b="1" i="0">
                <a:solidFill>
                  <a:srgbClr val="818181"/>
                </a:solidFill>
                <a:latin typeface="Arial"/>
              </a:rPr>
              <a:t>THE FORMAL DEFINITION</a:t>
            </a:r>
          </a:p>
          <a:p>
            <a:pPr algn="l">
              <a:lnSpc>
                <a:spcPct val="115000"/>
              </a:lnSpc>
              <a:spcBef>
                <a:spcPts val="0"/>
              </a:spcBef>
              <a:spcAft>
                <a:spcPts val="0"/>
              </a:spcAft>
            </a:pPr>
            <a:r>
              <a:rPr sz="1900" b="0" i="0">
                <a:solidFill>
                  <a:srgbClr val="1A1A1A"/>
                </a:solidFill>
                <a:latin typeface="Arial"/>
              </a:rPr>
              <a:t>The primary or major trend is the largest trend, normally expected to last from months to years, and the one Rhea held to be a more reliable barometer for investment decisions.</a:t>
            </a:r>
          </a:p>
        </p:txBody>
      </p:sp>
      <p:sp>
        <p:nvSpPr>
          <p:cNvPr id="13" name="TextBox 12"/>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3 of 6 - Primary trend  |  7 of 28</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TextBox 3"/>
          <p:cNvSpPr txBox="1"/>
          <p:nvPr/>
        </p:nvSpPr>
        <p:spPr>
          <a:xfrm>
            <a:off x="777240" y="658368"/>
            <a:ext cx="10637215" cy="914400"/>
          </a:xfrm>
          <a:prstGeom prst="rect">
            <a:avLst/>
          </a:prstGeom>
          <a:noFill/>
        </p:spPr>
        <p:txBody>
          <a:bodyPr wrap="square" anchor="t" lIns="0" rIns="0" tIns="0" bIns="0">
            <a:spAutoFit/>
          </a:bodyPr>
          <a:lstStyle/>
          <a:p>
            <a:pPr algn="l">
              <a:lnSpc>
                <a:spcPct val="105000"/>
              </a:lnSpc>
              <a:spcBef>
                <a:spcPts val="0"/>
              </a:spcBef>
              <a:spcAft>
                <a:spcPts val="0"/>
              </a:spcAft>
            </a:pPr>
            <a:r>
              <a:rPr sz="3000" b="0" i="0">
                <a:solidFill>
                  <a:srgbClr val="007A33"/>
                </a:solidFill>
                <a:latin typeface="Palatino"/>
              </a:rPr>
              <a:t>Two kinds of primary trend</a:t>
            </a:r>
          </a:p>
        </p:txBody>
      </p:sp>
      <p:sp>
        <p:nvSpPr>
          <p:cNvPr id="5" name="Rectangle 4"/>
          <p:cNvSpPr/>
          <p:nvPr/>
        </p:nvSpPr>
        <p:spPr>
          <a:xfrm>
            <a:off x="777240" y="1572768"/>
            <a:ext cx="10637215" cy="15875"/>
          </a:xfrm>
          <a:prstGeom prst="rect">
            <a:avLst/>
          </a:prstGeom>
          <a:solidFill>
            <a:srgbClr val="D7E0D9"/>
          </a:solidFill>
          <a:ln>
            <a:noFill/>
          </a:ln>
          <a:effectLst/>
        </p:spPr>
        <p:txBody>
          <a:bodyPr rtlCol="0" anchor="ctr"/>
          <a:lstStyle/>
          <a:p>
            <a:pPr algn="ctr"/>
          </a:p>
        </p:txBody>
      </p:sp>
      <p:sp>
        <p:nvSpPr>
          <p:cNvPr id="6" name="TextBox 5"/>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3 of 6 - Primary trend  |  8 of 28</a:t>
            </a:r>
          </a:p>
        </p:txBody>
      </p:sp>
      <p:sp>
        <p:nvSpPr>
          <p:cNvPr id="7" name="TextBox 6"/>
          <p:cNvSpPr txBox="1"/>
          <p:nvPr/>
        </p:nvSpPr>
        <p:spPr>
          <a:xfrm>
            <a:off x="777240" y="1965960"/>
            <a:ext cx="10637215" cy="3108960"/>
          </a:xfrm>
          <a:prstGeom prst="rect">
            <a:avLst/>
          </a:prstGeom>
          <a:noFill/>
        </p:spPr>
        <p:txBody>
          <a:bodyPr wrap="square" anchor="t" lIns="0" rIns="0" tIns="0" bIns="0">
            <a:spAutoFit/>
          </a:bodyPr>
          <a:lstStyle/>
          <a:p>
            <a:pPr algn="l">
              <a:lnSpc>
                <a:spcPct val="118000"/>
              </a:lnSpc>
              <a:spcBef>
                <a:spcPts val="0"/>
              </a:spcBef>
              <a:spcAft>
                <a:spcPts val="1300"/>
              </a:spcAft>
            </a:pPr>
            <a:r>
              <a:rPr sz="2100" b="0" i="0">
                <a:solidFill>
                  <a:srgbClr val="1A1A1A"/>
                </a:solidFill>
                <a:latin typeface="Arial"/>
              </a:rPr>
              <a:t>Primary bull trend, which is a bull market.</a:t>
            </a:r>
          </a:p>
          <a:p>
            <a:pPr algn="l">
              <a:lnSpc>
                <a:spcPct val="118000"/>
              </a:lnSpc>
              <a:spcBef>
                <a:spcPts val="0"/>
              </a:spcBef>
              <a:spcAft>
                <a:spcPts val="1300"/>
              </a:spcAft>
            </a:pPr>
            <a:r>
              <a:rPr sz="2100" b="0" i="0">
                <a:solidFill>
                  <a:srgbClr val="1A1A1A"/>
                </a:solidFill>
                <a:latin typeface="Arial"/>
              </a:rPr>
              <a:t>Primary bear trend, which is a bear market.</a:t>
            </a:r>
          </a:p>
        </p:txBody>
      </p:sp>
      <p:sp>
        <p:nvSpPr>
          <p:cNvPr id="8" name="Rectangle 7"/>
          <p:cNvSpPr/>
          <p:nvPr/>
        </p:nvSpPr>
        <p:spPr>
          <a:xfrm>
            <a:off x="777240" y="3272028"/>
            <a:ext cx="82296" cy="788924"/>
          </a:xfrm>
          <a:prstGeom prst="rect">
            <a:avLst/>
          </a:prstGeom>
          <a:solidFill>
            <a:srgbClr val="F2A900"/>
          </a:solidFill>
          <a:ln>
            <a:noFill/>
          </a:ln>
          <a:effectLst/>
        </p:spPr>
        <p:txBody>
          <a:bodyPr rtlCol="0" anchor="ctr"/>
          <a:lstStyle/>
          <a:p>
            <a:pPr algn="ctr"/>
          </a:p>
        </p:txBody>
      </p:sp>
      <p:sp>
        <p:nvSpPr>
          <p:cNvPr id="9" name="TextBox 8"/>
          <p:cNvSpPr txBox="1"/>
          <p:nvPr/>
        </p:nvSpPr>
        <p:spPr>
          <a:xfrm>
            <a:off x="1069848" y="3308604"/>
            <a:ext cx="10344607" cy="788924"/>
          </a:xfrm>
          <a:prstGeom prst="rect">
            <a:avLst/>
          </a:prstGeom>
          <a:noFill/>
        </p:spPr>
        <p:txBody>
          <a:bodyPr wrap="square" anchor="t" lIns="0" rIns="0" tIns="0" bIns="0">
            <a:spAutoFit/>
          </a:bodyPr>
          <a:lstStyle/>
          <a:p>
            <a:pPr algn="l">
              <a:lnSpc>
                <a:spcPct val="115000"/>
              </a:lnSpc>
              <a:spcBef>
                <a:spcPts val="0"/>
              </a:spcBef>
              <a:spcAft>
                <a:spcPts val="0"/>
              </a:spcAft>
            </a:pPr>
            <a:r>
              <a:rPr sz="2200" b="1" i="0">
                <a:solidFill>
                  <a:srgbClr val="1A1A1A"/>
                </a:solidFill>
                <a:latin typeface="Arial"/>
              </a:rPr>
              <a:t>Rhea also said it is very difficult to forecast the extent or the duration of either.</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Rectangle 3"/>
          <p:cNvSpPr/>
          <p:nvPr/>
        </p:nvSpPr>
        <p:spPr>
          <a:xfrm>
            <a:off x="777240" y="566928"/>
            <a:ext cx="1234440" cy="329184"/>
          </a:xfrm>
          <a:prstGeom prst="rect">
            <a:avLst/>
          </a:prstGeom>
          <a:solidFill>
            <a:srgbClr val="F2A900"/>
          </a:solidFill>
          <a:ln>
            <a:noFill/>
          </a:ln>
          <a:effectLst/>
        </p:spPr>
        <p:txBody>
          <a:bodyPr rtlCol="0" anchor="ctr" wrap="none" lIns="0" rIns="0" tIns="0" bIns="0"/>
          <a:lstStyle/>
          <a:p>
            <a:pPr algn="ctr">
              <a:lnSpc>
                <a:spcPct val="100000"/>
              </a:lnSpc>
              <a:spcBef>
                <a:spcPts val="0"/>
              </a:spcBef>
              <a:spcAft>
                <a:spcPts val="0"/>
              </a:spcAft>
            </a:pPr>
            <a:r>
              <a:rPr sz="1200" b="1" i="0">
                <a:solidFill>
                  <a:srgbClr val="1A1A1A"/>
                </a:solidFill>
                <a:latin typeface="Arial"/>
              </a:rPr>
              <a:t>NEW TERM</a:t>
            </a:r>
          </a:p>
        </p:txBody>
      </p:sp>
      <p:sp>
        <p:nvSpPr>
          <p:cNvPr id="5" name="TextBox 4"/>
          <p:cNvSpPr txBox="1"/>
          <p:nvPr/>
        </p:nvSpPr>
        <p:spPr>
          <a:xfrm>
            <a:off x="777240" y="1051560"/>
            <a:ext cx="10637215" cy="822960"/>
          </a:xfrm>
          <a:prstGeom prst="rect">
            <a:avLst/>
          </a:prstGeom>
          <a:noFill/>
        </p:spPr>
        <p:txBody>
          <a:bodyPr wrap="square" anchor="t" lIns="0" rIns="0" tIns="0" bIns="0">
            <a:spAutoFit/>
          </a:bodyPr>
          <a:lstStyle/>
          <a:p>
            <a:pPr algn="l">
              <a:lnSpc>
                <a:spcPct val="105000"/>
              </a:lnSpc>
              <a:spcBef>
                <a:spcPts val="0"/>
              </a:spcBef>
              <a:spcAft>
                <a:spcPts val="0"/>
              </a:spcAft>
            </a:pPr>
            <a:r>
              <a:rPr sz="3200" b="0" i="0">
                <a:solidFill>
                  <a:srgbClr val="007A33"/>
                </a:solidFill>
                <a:latin typeface="Palatino"/>
              </a:rPr>
              <a:t>Uptrend</a:t>
            </a:r>
          </a:p>
        </p:txBody>
      </p:sp>
      <p:sp>
        <p:nvSpPr>
          <p:cNvPr id="6" name="Rectangle 5"/>
          <p:cNvSpPr/>
          <p:nvPr/>
        </p:nvSpPr>
        <p:spPr>
          <a:xfrm>
            <a:off x="777240" y="1874519"/>
            <a:ext cx="10637215" cy="15875"/>
          </a:xfrm>
          <a:prstGeom prst="rect">
            <a:avLst/>
          </a:prstGeom>
          <a:solidFill>
            <a:srgbClr val="D7E0D9"/>
          </a:solidFill>
          <a:ln>
            <a:noFill/>
          </a:ln>
          <a:effectLst/>
        </p:spPr>
        <p:txBody>
          <a:bodyPr rtlCol="0" anchor="ctr"/>
          <a:lstStyle/>
          <a:p>
            <a:pPr algn="ctr"/>
          </a:p>
        </p:txBody>
      </p:sp>
      <p:sp>
        <p:nvSpPr>
          <p:cNvPr id="7" name="Rectangle 6"/>
          <p:cNvSpPr/>
          <p:nvPr/>
        </p:nvSpPr>
        <p:spPr>
          <a:xfrm>
            <a:off x="777240" y="2258568"/>
            <a:ext cx="64008" cy="811022"/>
          </a:xfrm>
          <a:prstGeom prst="rect">
            <a:avLst/>
          </a:prstGeom>
          <a:solidFill>
            <a:srgbClr val="F2A900"/>
          </a:solidFill>
          <a:ln>
            <a:noFill/>
          </a:ln>
          <a:effectLst/>
        </p:spPr>
        <p:txBody>
          <a:bodyPr rtlCol="0" anchor="ctr"/>
          <a:lstStyle/>
          <a:p>
            <a:pPr algn="ctr"/>
          </a:p>
        </p:txBody>
      </p:sp>
      <p:sp>
        <p:nvSpPr>
          <p:cNvPr id="8" name="TextBox 7"/>
          <p:cNvSpPr txBox="1"/>
          <p:nvPr/>
        </p:nvSpPr>
        <p:spPr>
          <a:xfrm>
            <a:off x="1051560" y="2212848"/>
            <a:ext cx="10362895" cy="920750"/>
          </a:xfrm>
          <a:prstGeom prst="rect">
            <a:avLst/>
          </a:prstGeom>
          <a:noFill/>
        </p:spPr>
        <p:txBody>
          <a:bodyPr wrap="square" anchor="t" lIns="0" rIns="0" tIns="0" bIns="0">
            <a:spAutoFit/>
          </a:bodyPr>
          <a:lstStyle/>
          <a:p>
            <a:pPr algn="l">
              <a:lnSpc>
                <a:spcPct val="100000"/>
              </a:lnSpc>
              <a:spcBef>
                <a:spcPts val="0"/>
              </a:spcBef>
              <a:spcAft>
                <a:spcPts val="400"/>
              </a:spcAft>
            </a:pPr>
            <a:r>
              <a:rPr sz="1100" b="1" i="0">
                <a:solidFill>
                  <a:srgbClr val="818181"/>
                </a:solidFill>
                <a:latin typeface="Arial"/>
              </a:rPr>
              <a:t>IN PLAIN WORDS</a:t>
            </a:r>
          </a:p>
          <a:p>
            <a:pPr algn="l">
              <a:lnSpc>
                <a:spcPct val="115000"/>
              </a:lnSpc>
              <a:spcBef>
                <a:spcPts val="0"/>
              </a:spcBef>
              <a:spcAft>
                <a:spcPts val="0"/>
              </a:spcAft>
            </a:pPr>
            <a:r>
              <a:rPr sz="1900" b="1" i="0">
                <a:solidFill>
                  <a:srgbClr val="1A1A1A"/>
                </a:solidFill>
                <a:latin typeface="Arial"/>
              </a:rPr>
              <a:t>Price makes a high, falls back to a low above the last low, then makes a high above the last high. Then it does it again.</a:t>
            </a:r>
          </a:p>
        </p:txBody>
      </p:sp>
      <p:sp>
        <p:nvSpPr>
          <p:cNvPr id="9" name="Rectangle 8"/>
          <p:cNvSpPr/>
          <p:nvPr/>
        </p:nvSpPr>
        <p:spPr>
          <a:xfrm>
            <a:off x="777240" y="3417061"/>
            <a:ext cx="64008" cy="811022"/>
          </a:xfrm>
          <a:prstGeom prst="rect">
            <a:avLst/>
          </a:prstGeom>
          <a:solidFill>
            <a:srgbClr val="D7E0D9"/>
          </a:solidFill>
          <a:ln>
            <a:noFill/>
          </a:ln>
          <a:effectLst/>
        </p:spPr>
        <p:txBody>
          <a:bodyPr rtlCol="0" anchor="ctr"/>
          <a:lstStyle/>
          <a:p>
            <a:pPr algn="ctr"/>
          </a:p>
        </p:txBody>
      </p:sp>
      <p:sp>
        <p:nvSpPr>
          <p:cNvPr id="10" name="TextBox 9"/>
          <p:cNvSpPr txBox="1"/>
          <p:nvPr/>
        </p:nvSpPr>
        <p:spPr>
          <a:xfrm>
            <a:off x="1051560" y="3371342"/>
            <a:ext cx="10362895" cy="920750"/>
          </a:xfrm>
          <a:prstGeom prst="rect">
            <a:avLst/>
          </a:prstGeom>
          <a:noFill/>
        </p:spPr>
        <p:txBody>
          <a:bodyPr wrap="square" anchor="t" lIns="0" rIns="0" tIns="0" bIns="0">
            <a:spAutoFit/>
          </a:bodyPr>
          <a:lstStyle/>
          <a:p>
            <a:pPr algn="l">
              <a:lnSpc>
                <a:spcPct val="100000"/>
              </a:lnSpc>
              <a:spcBef>
                <a:spcPts val="0"/>
              </a:spcBef>
              <a:spcAft>
                <a:spcPts val="400"/>
              </a:spcAft>
            </a:pPr>
            <a:r>
              <a:rPr sz="1100" b="1" i="0">
                <a:solidFill>
                  <a:srgbClr val="818181"/>
                </a:solidFill>
                <a:latin typeface="Arial"/>
              </a:rPr>
              <a:t>FOR EXAMPLE</a:t>
            </a:r>
          </a:p>
          <a:p>
            <a:pPr algn="l">
              <a:lnSpc>
                <a:spcPct val="115000"/>
              </a:lnSpc>
              <a:spcBef>
                <a:spcPts val="0"/>
              </a:spcBef>
              <a:spcAft>
                <a:spcPts val="0"/>
              </a:spcAft>
            </a:pPr>
            <a:r>
              <a:rPr sz="1900" b="0" i="0">
                <a:solidFill>
                  <a:srgbClr val="1A1A1A"/>
                </a:solidFill>
                <a:latin typeface="Arial"/>
              </a:rPr>
              <a:t>Peaks at 104, 116 and 128 pesos, with troughs at 98, 108 and 119 between them. Every peak beats the last peak and every trough beats the last trough.</a:t>
            </a:r>
          </a:p>
        </p:txBody>
      </p:sp>
      <p:sp>
        <p:nvSpPr>
          <p:cNvPr id="11" name="Rectangle 10"/>
          <p:cNvSpPr/>
          <p:nvPr/>
        </p:nvSpPr>
        <p:spPr>
          <a:xfrm>
            <a:off x="777240" y="4575556"/>
            <a:ext cx="64008" cy="811022"/>
          </a:xfrm>
          <a:prstGeom prst="rect">
            <a:avLst/>
          </a:prstGeom>
          <a:solidFill>
            <a:srgbClr val="D7E0D9"/>
          </a:solidFill>
          <a:ln>
            <a:noFill/>
          </a:ln>
          <a:effectLst/>
        </p:spPr>
        <p:txBody>
          <a:bodyPr rtlCol="0" anchor="ctr"/>
          <a:lstStyle/>
          <a:p>
            <a:pPr algn="ctr"/>
          </a:p>
        </p:txBody>
      </p:sp>
      <p:sp>
        <p:nvSpPr>
          <p:cNvPr id="12" name="TextBox 11"/>
          <p:cNvSpPr txBox="1"/>
          <p:nvPr/>
        </p:nvSpPr>
        <p:spPr>
          <a:xfrm>
            <a:off x="1051560" y="4529836"/>
            <a:ext cx="10362895" cy="920750"/>
          </a:xfrm>
          <a:prstGeom prst="rect">
            <a:avLst/>
          </a:prstGeom>
          <a:noFill/>
        </p:spPr>
        <p:txBody>
          <a:bodyPr wrap="square" anchor="t" lIns="0" rIns="0" tIns="0" bIns="0">
            <a:spAutoFit/>
          </a:bodyPr>
          <a:lstStyle/>
          <a:p>
            <a:pPr algn="l">
              <a:lnSpc>
                <a:spcPct val="100000"/>
              </a:lnSpc>
              <a:spcBef>
                <a:spcPts val="0"/>
              </a:spcBef>
              <a:spcAft>
                <a:spcPts val="400"/>
              </a:spcAft>
            </a:pPr>
            <a:r>
              <a:rPr sz="1100" b="1" i="0">
                <a:solidFill>
                  <a:srgbClr val="818181"/>
                </a:solidFill>
                <a:latin typeface="Arial"/>
              </a:rPr>
              <a:t>THE FORMAL DEFINITION</a:t>
            </a:r>
          </a:p>
          <a:p>
            <a:pPr algn="l">
              <a:lnSpc>
                <a:spcPct val="115000"/>
              </a:lnSpc>
              <a:spcBef>
                <a:spcPts val="0"/>
              </a:spcBef>
              <a:spcAft>
                <a:spcPts val="0"/>
              </a:spcAft>
            </a:pPr>
            <a:r>
              <a:rPr sz="1900" b="0" i="0">
                <a:solidFill>
                  <a:srgbClr val="1A1A1A"/>
                </a:solidFill>
                <a:latin typeface="Arial"/>
              </a:rPr>
              <a:t>In Dow Theory, an uptrend is defined primarily as successively higher peaks and troughs.</a:t>
            </a:r>
          </a:p>
        </p:txBody>
      </p:sp>
      <p:sp>
        <p:nvSpPr>
          <p:cNvPr id="13" name="TextBox 12"/>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3 of 6 - Primary trend  |  9 of 28</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Rectangle 3"/>
          <p:cNvSpPr/>
          <p:nvPr/>
        </p:nvSpPr>
        <p:spPr>
          <a:xfrm>
            <a:off x="777240" y="566928"/>
            <a:ext cx="1234440" cy="329184"/>
          </a:xfrm>
          <a:prstGeom prst="rect">
            <a:avLst/>
          </a:prstGeom>
          <a:solidFill>
            <a:srgbClr val="F2A900"/>
          </a:solidFill>
          <a:ln>
            <a:noFill/>
          </a:ln>
          <a:effectLst/>
        </p:spPr>
        <p:txBody>
          <a:bodyPr rtlCol="0" anchor="ctr" wrap="none" lIns="0" rIns="0" tIns="0" bIns="0"/>
          <a:lstStyle/>
          <a:p>
            <a:pPr algn="ctr">
              <a:lnSpc>
                <a:spcPct val="100000"/>
              </a:lnSpc>
              <a:spcBef>
                <a:spcPts val="0"/>
              </a:spcBef>
              <a:spcAft>
                <a:spcPts val="0"/>
              </a:spcAft>
            </a:pPr>
            <a:r>
              <a:rPr sz="1200" b="1" i="0">
                <a:solidFill>
                  <a:srgbClr val="1A1A1A"/>
                </a:solidFill>
                <a:latin typeface="Arial"/>
              </a:rPr>
              <a:t>NEW TERM</a:t>
            </a:r>
          </a:p>
        </p:txBody>
      </p:sp>
      <p:sp>
        <p:nvSpPr>
          <p:cNvPr id="5" name="TextBox 4"/>
          <p:cNvSpPr txBox="1"/>
          <p:nvPr/>
        </p:nvSpPr>
        <p:spPr>
          <a:xfrm>
            <a:off x="777240" y="1051560"/>
            <a:ext cx="10637215" cy="822960"/>
          </a:xfrm>
          <a:prstGeom prst="rect">
            <a:avLst/>
          </a:prstGeom>
          <a:noFill/>
        </p:spPr>
        <p:txBody>
          <a:bodyPr wrap="square" anchor="t" lIns="0" rIns="0" tIns="0" bIns="0">
            <a:spAutoFit/>
          </a:bodyPr>
          <a:lstStyle/>
          <a:p>
            <a:pPr algn="l">
              <a:lnSpc>
                <a:spcPct val="105000"/>
              </a:lnSpc>
              <a:spcBef>
                <a:spcPts val="0"/>
              </a:spcBef>
              <a:spcAft>
                <a:spcPts val="0"/>
              </a:spcAft>
            </a:pPr>
            <a:r>
              <a:rPr sz="3200" b="0" i="0">
                <a:solidFill>
                  <a:srgbClr val="007A33"/>
                </a:solidFill>
                <a:latin typeface="Palatino"/>
              </a:rPr>
              <a:t>Downtrend</a:t>
            </a:r>
          </a:p>
        </p:txBody>
      </p:sp>
      <p:sp>
        <p:nvSpPr>
          <p:cNvPr id="6" name="Rectangle 5"/>
          <p:cNvSpPr/>
          <p:nvPr/>
        </p:nvSpPr>
        <p:spPr>
          <a:xfrm>
            <a:off x="777240" y="1874519"/>
            <a:ext cx="10637215" cy="15875"/>
          </a:xfrm>
          <a:prstGeom prst="rect">
            <a:avLst/>
          </a:prstGeom>
          <a:solidFill>
            <a:srgbClr val="D7E0D9"/>
          </a:solidFill>
          <a:ln>
            <a:noFill/>
          </a:ln>
          <a:effectLst/>
        </p:spPr>
        <p:txBody>
          <a:bodyPr rtlCol="0" anchor="ctr"/>
          <a:lstStyle/>
          <a:p>
            <a:pPr algn="ctr"/>
          </a:p>
        </p:txBody>
      </p:sp>
      <p:sp>
        <p:nvSpPr>
          <p:cNvPr id="7" name="Rectangle 6"/>
          <p:cNvSpPr/>
          <p:nvPr/>
        </p:nvSpPr>
        <p:spPr>
          <a:xfrm>
            <a:off x="777240" y="2258568"/>
            <a:ext cx="64008" cy="811022"/>
          </a:xfrm>
          <a:prstGeom prst="rect">
            <a:avLst/>
          </a:prstGeom>
          <a:solidFill>
            <a:srgbClr val="F2A900"/>
          </a:solidFill>
          <a:ln>
            <a:noFill/>
          </a:ln>
          <a:effectLst/>
        </p:spPr>
        <p:txBody>
          <a:bodyPr rtlCol="0" anchor="ctr"/>
          <a:lstStyle/>
          <a:p>
            <a:pPr algn="ctr"/>
          </a:p>
        </p:txBody>
      </p:sp>
      <p:sp>
        <p:nvSpPr>
          <p:cNvPr id="8" name="TextBox 7"/>
          <p:cNvSpPr txBox="1"/>
          <p:nvPr/>
        </p:nvSpPr>
        <p:spPr>
          <a:xfrm>
            <a:off x="1051560" y="2212848"/>
            <a:ext cx="10362895" cy="920750"/>
          </a:xfrm>
          <a:prstGeom prst="rect">
            <a:avLst/>
          </a:prstGeom>
          <a:noFill/>
        </p:spPr>
        <p:txBody>
          <a:bodyPr wrap="square" anchor="t" lIns="0" rIns="0" tIns="0" bIns="0">
            <a:spAutoFit/>
          </a:bodyPr>
          <a:lstStyle/>
          <a:p>
            <a:pPr algn="l">
              <a:lnSpc>
                <a:spcPct val="100000"/>
              </a:lnSpc>
              <a:spcBef>
                <a:spcPts val="0"/>
              </a:spcBef>
              <a:spcAft>
                <a:spcPts val="400"/>
              </a:spcAft>
            </a:pPr>
            <a:r>
              <a:rPr sz="1100" b="1" i="0">
                <a:solidFill>
                  <a:srgbClr val="818181"/>
                </a:solidFill>
                <a:latin typeface="Arial"/>
              </a:rPr>
              <a:t>IN PLAIN WORDS</a:t>
            </a:r>
          </a:p>
          <a:p>
            <a:pPr algn="l">
              <a:lnSpc>
                <a:spcPct val="115000"/>
              </a:lnSpc>
              <a:spcBef>
                <a:spcPts val="0"/>
              </a:spcBef>
              <a:spcAft>
                <a:spcPts val="0"/>
              </a:spcAft>
            </a:pPr>
            <a:r>
              <a:rPr sz="1900" b="1" i="0">
                <a:solidFill>
                  <a:srgbClr val="1A1A1A"/>
                </a:solidFill>
                <a:latin typeface="Arial"/>
              </a:rPr>
              <a:t>The same thing upside down. Each peak lower than the last, and each trough lower than the last.</a:t>
            </a:r>
          </a:p>
        </p:txBody>
      </p:sp>
      <p:sp>
        <p:nvSpPr>
          <p:cNvPr id="9" name="Rectangle 8"/>
          <p:cNvSpPr/>
          <p:nvPr/>
        </p:nvSpPr>
        <p:spPr>
          <a:xfrm>
            <a:off x="777240" y="3417061"/>
            <a:ext cx="64008" cy="533527"/>
          </a:xfrm>
          <a:prstGeom prst="rect">
            <a:avLst/>
          </a:prstGeom>
          <a:solidFill>
            <a:srgbClr val="D7E0D9"/>
          </a:solidFill>
          <a:ln>
            <a:noFill/>
          </a:ln>
          <a:effectLst/>
        </p:spPr>
        <p:txBody>
          <a:bodyPr rtlCol="0" anchor="ctr"/>
          <a:lstStyle/>
          <a:p>
            <a:pPr algn="ctr"/>
          </a:p>
        </p:txBody>
      </p:sp>
      <p:sp>
        <p:nvSpPr>
          <p:cNvPr id="10" name="TextBox 9"/>
          <p:cNvSpPr txBox="1"/>
          <p:nvPr/>
        </p:nvSpPr>
        <p:spPr>
          <a:xfrm>
            <a:off x="1051560" y="3371342"/>
            <a:ext cx="10362895" cy="643255"/>
          </a:xfrm>
          <a:prstGeom prst="rect">
            <a:avLst/>
          </a:prstGeom>
          <a:noFill/>
        </p:spPr>
        <p:txBody>
          <a:bodyPr wrap="square" anchor="t" lIns="0" rIns="0" tIns="0" bIns="0">
            <a:spAutoFit/>
          </a:bodyPr>
          <a:lstStyle/>
          <a:p>
            <a:pPr algn="l">
              <a:lnSpc>
                <a:spcPct val="100000"/>
              </a:lnSpc>
              <a:spcBef>
                <a:spcPts val="0"/>
              </a:spcBef>
              <a:spcAft>
                <a:spcPts val="400"/>
              </a:spcAft>
            </a:pPr>
            <a:r>
              <a:rPr sz="1100" b="1" i="0">
                <a:solidFill>
                  <a:srgbClr val="818181"/>
                </a:solidFill>
                <a:latin typeface="Arial"/>
              </a:rPr>
              <a:t>FOR EXAMPLE</a:t>
            </a:r>
          </a:p>
          <a:p>
            <a:pPr algn="l">
              <a:lnSpc>
                <a:spcPct val="115000"/>
              </a:lnSpc>
              <a:spcBef>
                <a:spcPts val="0"/>
              </a:spcBef>
              <a:spcAft>
                <a:spcPts val="0"/>
              </a:spcAft>
            </a:pPr>
            <a:r>
              <a:rPr sz="1900" b="0" i="0">
                <a:solidFill>
                  <a:srgbClr val="1A1A1A"/>
                </a:solidFill>
                <a:latin typeface="Arial"/>
              </a:rPr>
              <a:t>Peaks at 128, 116 and 104 pesos, with troughs at 119, 108 and 98 between them.</a:t>
            </a:r>
          </a:p>
        </p:txBody>
      </p:sp>
      <p:sp>
        <p:nvSpPr>
          <p:cNvPr id="11" name="Rectangle 10"/>
          <p:cNvSpPr/>
          <p:nvPr/>
        </p:nvSpPr>
        <p:spPr>
          <a:xfrm>
            <a:off x="777240" y="4298061"/>
            <a:ext cx="64008" cy="533527"/>
          </a:xfrm>
          <a:prstGeom prst="rect">
            <a:avLst/>
          </a:prstGeom>
          <a:solidFill>
            <a:srgbClr val="D7E0D9"/>
          </a:solidFill>
          <a:ln>
            <a:noFill/>
          </a:ln>
          <a:effectLst/>
        </p:spPr>
        <p:txBody>
          <a:bodyPr rtlCol="0" anchor="ctr"/>
          <a:lstStyle/>
          <a:p>
            <a:pPr algn="ctr"/>
          </a:p>
        </p:txBody>
      </p:sp>
      <p:sp>
        <p:nvSpPr>
          <p:cNvPr id="12" name="TextBox 11"/>
          <p:cNvSpPr txBox="1"/>
          <p:nvPr/>
        </p:nvSpPr>
        <p:spPr>
          <a:xfrm>
            <a:off x="1051560" y="4252341"/>
            <a:ext cx="10362895" cy="643255"/>
          </a:xfrm>
          <a:prstGeom prst="rect">
            <a:avLst/>
          </a:prstGeom>
          <a:noFill/>
        </p:spPr>
        <p:txBody>
          <a:bodyPr wrap="square" anchor="t" lIns="0" rIns="0" tIns="0" bIns="0">
            <a:spAutoFit/>
          </a:bodyPr>
          <a:lstStyle/>
          <a:p>
            <a:pPr algn="l">
              <a:lnSpc>
                <a:spcPct val="100000"/>
              </a:lnSpc>
              <a:spcBef>
                <a:spcPts val="0"/>
              </a:spcBef>
              <a:spcAft>
                <a:spcPts val="400"/>
              </a:spcAft>
            </a:pPr>
            <a:r>
              <a:rPr sz="1100" b="1" i="0">
                <a:solidFill>
                  <a:srgbClr val="818181"/>
                </a:solidFill>
                <a:latin typeface="Arial"/>
              </a:rPr>
              <a:t>THE FORMAL DEFINITION</a:t>
            </a:r>
          </a:p>
          <a:p>
            <a:pPr algn="l">
              <a:lnSpc>
                <a:spcPct val="115000"/>
              </a:lnSpc>
              <a:spcBef>
                <a:spcPts val="0"/>
              </a:spcBef>
              <a:spcAft>
                <a:spcPts val="0"/>
              </a:spcAft>
            </a:pPr>
            <a:r>
              <a:rPr sz="1900" b="0" i="0">
                <a:solidFill>
                  <a:srgbClr val="1A1A1A"/>
                </a:solidFill>
                <a:latin typeface="Arial"/>
              </a:rPr>
              <a:t>In Dow Theory, a downtrend is defined as successively lower peaks and troughs.</a:t>
            </a:r>
          </a:p>
        </p:txBody>
      </p:sp>
      <p:sp>
        <p:nvSpPr>
          <p:cNvPr id="13" name="TextBox 12"/>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3 of 6 - Primary trend  |  10 of 28</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TextBox 3"/>
          <p:cNvSpPr txBox="1"/>
          <p:nvPr/>
        </p:nvSpPr>
        <p:spPr>
          <a:xfrm>
            <a:off x="777240" y="658368"/>
            <a:ext cx="10637215" cy="914400"/>
          </a:xfrm>
          <a:prstGeom prst="rect">
            <a:avLst/>
          </a:prstGeom>
          <a:noFill/>
        </p:spPr>
        <p:txBody>
          <a:bodyPr wrap="square" anchor="t" lIns="0" rIns="0" tIns="0" bIns="0">
            <a:spAutoFit/>
          </a:bodyPr>
          <a:lstStyle/>
          <a:p>
            <a:pPr algn="l">
              <a:lnSpc>
                <a:spcPct val="105000"/>
              </a:lnSpc>
              <a:spcBef>
                <a:spcPts val="0"/>
              </a:spcBef>
              <a:spcAft>
                <a:spcPts val="0"/>
              </a:spcAft>
            </a:pPr>
            <a:r>
              <a:rPr sz="3000" b="0" i="0">
                <a:solidFill>
                  <a:srgbClr val="007A33"/>
                </a:solidFill>
                <a:latin typeface="Palatino"/>
              </a:rPr>
              <a:t>An uptrend, drawn as its own definition</a:t>
            </a:r>
          </a:p>
        </p:txBody>
      </p:sp>
      <p:sp>
        <p:nvSpPr>
          <p:cNvPr id="5" name="Rectangle 4"/>
          <p:cNvSpPr/>
          <p:nvPr/>
        </p:nvSpPr>
        <p:spPr>
          <a:xfrm>
            <a:off x="777240" y="1572768"/>
            <a:ext cx="10637215" cy="15875"/>
          </a:xfrm>
          <a:prstGeom prst="rect">
            <a:avLst/>
          </a:prstGeom>
          <a:solidFill>
            <a:srgbClr val="D7E0D9"/>
          </a:solidFill>
          <a:ln>
            <a:noFill/>
          </a:ln>
          <a:effectLst/>
        </p:spPr>
        <p:txBody>
          <a:bodyPr rtlCol="0" anchor="ctr"/>
          <a:lstStyle/>
          <a:p>
            <a:pPr algn="ctr"/>
          </a:p>
        </p:txBody>
      </p:sp>
      <p:sp>
        <p:nvSpPr>
          <p:cNvPr id="6" name="TextBox 5"/>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3 of 6 - Primary trend  |  11 of 28</a:t>
            </a:r>
          </a:p>
        </p:txBody>
      </p:sp>
      <p:sp>
        <p:nvSpPr>
          <p:cNvPr id="7" name="Rectangle 6"/>
          <p:cNvSpPr/>
          <p:nvPr/>
        </p:nvSpPr>
        <p:spPr>
          <a:xfrm>
            <a:off x="778611" y="1810512"/>
            <a:ext cx="10634472" cy="3749039"/>
          </a:xfrm>
          <a:prstGeom prst="rect">
            <a:avLst/>
          </a:prstGeom>
          <a:solidFill>
            <a:srgbClr val="FFFFFF"/>
          </a:solidFill>
          <a:ln w="12700">
            <a:solidFill>
              <a:srgbClr val="D7E0D9"/>
            </a:solidFill>
          </a:ln>
          <a:effectLst/>
        </p:spPr>
        <p:txBody>
          <a:bodyPr rtlCol="0" anchor="ctr"/>
          <a:lstStyle/>
          <a:p>
            <a:pPr algn="ctr"/>
          </a:p>
        </p:txBody>
      </p:sp>
      <p:pic>
        <p:nvPicPr>
          <p:cNvPr id="8" name="Picture 7" descr="chart-d.png"/>
          <p:cNvPicPr>
            <a:picLocks noChangeAspect="1"/>
          </p:cNvPicPr>
          <p:nvPr/>
        </p:nvPicPr>
        <p:blipFill>
          <a:blip r:embed="rId2"/>
          <a:stretch>
            <a:fillRect/>
          </a:stretch>
        </p:blipFill>
        <p:spPr>
          <a:xfrm>
            <a:off x="897483" y="1929384"/>
            <a:ext cx="10396728" cy="3511296"/>
          </a:xfrm>
          <a:prstGeom prst="rect">
            <a:avLst/>
          </a:prstGeom>
        </p:spPr>
      </p:pic>
      <p:sp>
        <p:nvSpPr>
          <p:cNvPr id="9" name="TextBox 8"/>
          <p:cNvSpPr txBox="1"/>
          <p:nvPr/>
        </p:nvSpPr>
        <p:spPr>
          <a:xfrm>
            <a:off x="777240" y="5669280"/>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300" b="0" i="0">
                <a:solidFill>
                  <a:srgbClr val="818181"/>
                </a:solidFill>
                <a:latin typeface="Arial"/>
              </a:rPr>
              <a:t>Chart D - FIN1209 teaching chart, drawn for this course. Illustrative data, not a real instrument.</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TextBox 3"/>
          <p:cNvSpPr txBox="1"/>
          <p:nvPr/>
        </p:nvSpPr>
        <p:spPr>
          <a:xfrm>
            <a:off x="777240" y="658368"/>
            <a:ext cx="10637215" cy="914400"/>
          </a:xfrm>
          <a:prstGeom prst="rect">
            <a:avLst/>
          </a:prstGeom>
          <a:noFill/>
        </p:spPr>
        <p:txBody>
          <a:bodyPr wrap="square" anchor="t" lIns="0" rIns="0" tIns="0" bIns="0">
            <a:spAutoFit/>
          </a:bodyPr>
          <a:lstStyle/>
          <a:p>
            <a:pPr algn="l">
              <a:lnSpc>
                <a:spcPct val="105000"/>
              </a:lnSpc>
              <a:spcBef>
                <a:spcPts val="0"/>
              </a:spcBef>
              <a:spcAft>
                <a:spcPts val="0"/>
              </a:spcAft>
            </a:pPr>
            <a:r>
              <a:rPr sz="3000" b="0" i="0">
                <a:solidFill>
                  <a:srgbClr val="007A33"/>
                </a:solidFill>
                <a:latin typeface="Palatino"/>
              </a:rPr>
              <a:t>An uptrend, and its first lower high</a:t>
            </a:r>
          </a:p>
        </p:txBody>
      </p:sp>
      <p:sp>
        <p:nvSpPr>
          <p:cNvPr id="5" name="Rectangle 4"/>
          <p:cNvSpPr/>
          <p:nvPr/>
        </p:nvSpPr>
        <p:spPr>
          <a:xfrm>
            <a:off x="777240" y="1572768"/>
            <a:ext cx="10637215" cy="15875"/>
          </a:xfrm>
          <a:prstGeom prst="rect">
            <a:avLst/>
          </a:prstGeom>
          <a:solidFill>
            <a:srgbClr val="D7E0D9"/>
          </a:solidFill>
          <a:ln>
            <a:noFill/>
          </a:ln>
          <a:effectLst/>
        </p:spPr>
        <p:txBody>
          <a:bodyPr rtlCol="0" anchor="ctr"/>
          <a:lstStyle/>
          <a:p>
            <a:pPr algn="ctr"/>
          </a:p>
        </p:txBody>
      </p:sp>
      <p:sp>
        <p:nvSpPr>
          <p:cNvPr id="6" name="TextBox 5"/>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3 of 6 - Primary trend  |  12 of 28</a:t>
            </a:r>
          </a:p>
        </p:txBody>
      </p:sp>
      <p:sp>
        <p:nvSpPr>
          <p:cNvPr id="7" name="Rectangle 6"/>
          <p:cNvSpPr/>
          <p:nvPr/>
        </p:nvSpPr>
        <p:spPr>
          <a:xfrm>
            <a:off x="2346807" y="1810512"/>
            <a:ext cx="7498079" cy="3749039"/>
          </a:xfrm>
          <a:prstGeom prst="rect">
            <a:avLst/>
          </a:prstGeom>
          <a:solidFill>
            <a:srgbClr val="FFFFFF"/>
          </a:solidFill>
          <a:ln w="12700">
            <a:solidFill>
              <a:srgbClr val="D7E0D9"/>
            </a:solidFill>
          </a:ln>
          <a:effectLst/>
        </p:spPr>
        <p:txBody>
          <a:bodyPr rtlCol="0" anchor="ctr"/>
          <a:lstStyle/>
          <a:p>
            <a:pPr algn="ctr"/>
          </a:p>
        </p:txBody>
      </p:sp>
      <p:sp>
        <p:nvSpPr>
          <p:cNvPr id="8" name="Rectangle 7"/>
          <p:cNvSpPr/>
          <p:nvPr/>
        </p:nvSpPr>
        <p:spPr>
          <a:xfrm>
            <a:off x="2346807" y="1810512"/>
            <a:ext cx="7498079" cy="50800"/>
          </a:xfrm>
          <a:prstGeom prst="rect">
            <a:avLst/>
          </a:prstGeom>
          <a:solidFill>
            <a:srgbClr val="F2A900"/>
          </a:solidFill>
          <a:ln>
            <a:noFill/>
          </a:ln>
          <a:effectLst/>
        </p:spPr>
        <p:txBody>
          <a:bodyPr rtlCol="0" anchor="ctr"/>
          <a:lstStyle/>
          <a:p>
            <a:pPr algn="ctr"/>
          </a:p>
        </p:txBody>
      </p:sp>
      <p:sp>
        <p:nvSpPr>
          <p:cNvPr id="9" name="TextBox 8"/>
          <p:cNvSpPr txBox="1"/>
          <p:nvPr/>
        </p:nvSpPr>
        <p:spPr>
          <a:xfrm>
            <a:off x="2895447" y="2450591"/>
            <a:ext cx="6400799" cy="2651759"/>
          </a:xfrm>
          <a:prstGeom prst="rect">
            <a:avLst/>
          </a:prstGeom>
          <a:noFill/>
        </p:spPr>
        <p:txBody>
          <a:bodyPr wrap="square" anchor="t" lIns="0" rIns="0" tIns="0" bIns="0">
            <a:spAutoFit/>
          </a:bodyPr>
          <a:lstStyle/>
          <a:p>
            <a:pPr algn="l">
              <a:lnSpc>
                <a:spcPct val="100000"/>
              </a:lnSpc>
              <a:spcBef>
                <a:spcPts val="0"/>
              </a:spcBef>
              <a:spcAft>
                <a:spcPts val="1400"/>
              </a:spcAft>
            </a:pPr>
            <a:r>
              <a:rPr sz="1500" b="1" i="0">
                <a:solidFill>
                  <a:srgbClr val="818181"/>
                </a:solidFill>
                <a:latin typeface="Arial"/>
              </a:rPr>
              <a:t>FIGURE 2.4</a:t>
            </a:r>
          </a:p>
          <a:p>
            <a:pPr algn="l">
              <a:lnSpc>
                <a:spcPct val="120000"/>
              </a:lnSpc>
              <a:spcBef>
                <a:spcPts val="0"/>
              </a:spcBef>
              <a:spcAft>
                <a:spcPts val="1800"/>
              </a:spcAft>
            </a:pPr>
            <a:r>
              <a:rPr sz="2200" b="0" i="0">
                <a:solidFill>
                  <a:srgbClr val="1A1A1A"/>
                </a:solidFill>
                <a:latin typeface="Palatino"/>
              </a:rPr>
              <a:t>A rising price with successive higher highs and higher lows labelled HH and HL, the appearance of the first lower high circled, and the note that the uptrend has technically ended.</a:t>
            </a:r>
          </a:p>
          <a:p>
            <a:pPr algn="l">
              <a:lnSpc>
                <a:spcPct val="115000"/>
              </a:lnSpc>
              <a:spcBef>
                <a:spcPts val="0"/>
              </a:spcBef>
              <a:spcAft>
                <a:spcPts val="0"/>
              </a:spcAft>
            </a:pPr>
            <a:r>
              <a:rPr sz="1400" b="0" i="1">
                <a:solidFill>
                  <a:srgbClr val="818181"/>
                </a:solidFill>
                <a:latin typeface="Arial"/>
              </a:rPr>
              <a:t>The artwork is copyrighted and is not in the public repository. Build with assets/figures/ present to place it here.</a:t>
            </a:r>
          </a:p>
        </p:txBody>
      </p:sp>
      <p:sp>
        <p:nvSpPr>
          <p:cNvPr id="10" name="TextBox 9"/>
          <p:cNvSpPr txBox="1"/>
          <p:nvPr/>
        </p:nvSpPr>
        <p:spPr>
          <a:xfrm>
            <a:off x="777240" y="5669280"/>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300" b="0" i="0">
                <a:solidFill>
                  <a:srgbClr val="818181"/>
                </a:solidFill>
                <a:latin typeface="Arial"/>
              </a:rPr>
              <a:t>Figure 2.4 - Lim, The Handbook of Technical Analysis (Wiley, 2016)</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TextBox 3"/>
          <p:cNvSpPr txBox="1"/>
          <p:nvPr/>
        </p:nvSpPr>
        <p:spPr>
          <a:xfrm>
            <a:off x="777240" y="658368"/>
            <a:ext cx="10637215" cy="914400"/>
          </a:xfrm>
          <a:prstGeom prst="rect">
            <a:avLst/>
          </a:prstGeom>
          <a:noFill/>
        </p:spPr>
        <p:txBody>
          <a:bodyPr wrap="square" anchor="t" lIns="0" rIns="0" tIns="0" bIns="0">
            <a:spAutoFit/>
          </a:bodyPr>
          <a:lstStyle/>
          <a:p>
            <a:pPr algn="l">
              <a:lnSpc>
                <a:spcPct val="105000"/>
              </a:lnSpc>
              <a:spcBef>
                <a:spcPts val="0"/>
              </a:spcBef>
              <a:spcAft>
                <a:spcPts val="0"/>
              </a:spcAft>
            </a:pPr>
            <a:r>
              <a:rPr sz="3000" b="0" i="0">
                <a:solidFill>
                  <a:srgbClr val="007A33"/>
                </a:solidFill>
                <a:latin typeface="Palatino"/>
              </a:rPr>
              <a:t>What the first lower peak means</a:t>
            </a:r>
          </a:p>
        </p:txBody>
      </p:sp>
      <p:sp>
        <p:nvSpPr>
          <p:cNvPr id="5" name="Rectangle 4"/>
          <p:cNvSpPr/>
          <p:nvPr/>
        </p:nvSpPr>
        <p:spPr>
          <a:xfrm>
            <a:off x="777240" y="1572768"/>
            <a:ext cx="10637215" cy="15875"/>
          </a:xfrm>
          <a:prstGeom prst="rect">
            <a:avLst/>
          </a:prstGeom>
          <a:solidFill>
            <a:srgbClr val="D7E0D9"/>
          </a:solidFill>
          <a:ln>
            <a:noFill/>
          </a:ln>
          <a:effectLst/>
        </p:spPr>
        <p:txBody>
          <a:bodyPr rtlCol="0" anchor="ctr"/>
          <a:lstStyle/>
          <a:p>
            <a:pPr algn="ctr"/>
          </a:p>
        </p:txBody>
      </p:sp>
      <p:sp>
        <p:nvSpPr>
          <p:cNvPr id="6" name="TextBox 5"/>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3 of 6 - Primary trend  |  13 of 28</a:t>
            </a:r>
          </a:p>
        </p:txBody>
      </p:sp>
      <p:sp>
        <p:nvSpPr>
          <p:cNvPr id="7" name="TextBox 6"/>
          <p:cNvSpPr txBox="1"/>
          <p:nvPr/>
        </p:nvSpPr>
        <p:spPr>
          <a:xfrm>
            <a:off x="777240" y="1965960"/>
            <a:ext cx="10637215" cy="3108960"/>
          </a:xfrm>
          <a:prstGeom prst="rect">
            <a:avLst/>
          </a:prstGeom>
          <a:noFill/>
        </p:spPr>
        <p:txBody>
          <a:bodyPr wrap="square" anchor="t" lIns="0" rIns="0" tIns="0" bIns="0">
            <a:spAutoFit/>
          </a:bodyPr>
          <a:lstStyle/>
          <a:p>
            <a:pPr algn="l">
              <a:lnSpc>
                <a:spcPct val="118000"/>
              </a:lnSpc>
              <a:spcBef>
                <a:spcPts val="0"/>
              </a:spcBef>
              <a:spcAft>
                <a:spcPts val="1300"/>
              </a:spcAft>
            </a:pPr>
            <a:r>
              <a:rPr sz="2100" b="0" i="0">
                <a:solidFill>
                  <a:srgbClr val="1A1A1A"/>
                </a:solidFill>
                <a:latin typeface="Arial"/>
              </a:rPr>
              <a:t>The appearance of a lower high in an uptrend may be an early indication that the uptrend is coming to an end.</a:t>
            </a:r>
          </a:p>
          <a:p>
            <a:pPr algn="l">
              <a:lnSpc>
                <a:spcPct val="118000"/>
              </a:lnSpc>
              <a:spcBef>
                <a:spcPts val="0"/>
              </a:spcBef>
              <a:spcAft>
                <a:spcPts val="1300"/>
              </a:spcAft>
            </a:pPr>
            <a:r>
              <a:rPr sz="2100" b="0" i="0">
                <a:solidFill>
                  <a:srgbClr val="1A1A1A"/>
                </a:solidFill>
                <a:latin typeface="Arial"/>
              </a:rPr>
              <a:t>Nothing else had to change. The sequence changed.</a:t>
            </a:r>
          </a:p>
        </p:txBody>
      </p:sp>
      <p:sp>
        <p:nvSpPr>
          <p:cNvPr id="8" name="Rectangle 7"/>
          <p:cNvSpPr/>
          <p:nvPr/>
        </p:nvSpPr>
        <p:spPr>
          <a:xfrm>
            <a:off x="777240" y="3586734"/>
            <a:ext cx="82296" cy="788924"/>
          </a:xfrm>
          <a:prstGeom prst="rect">
            <a:avLst/>
          </a:prstGeom>
          <a:solidFill>
            <a:srgbClr val="F2A900"/>
          </a:solidFill>
          <a:ln>
            <a:noFill/>
          </a:ln>
          <a:effectLst/>
        </p:spPr>
        <p:txBody>
          <a:bodyPr rtlCol="0" anchor="ctr"/>
          <a:lstStyle/>
          <a:p>
            <a:pPr algn="ctr"/>
          </a:p>
        </p:txBody>
      </p:sp>
      <p:sp>
        <p:nvSpPr>
          <p:cNvPr id="9" name="TextBox 8"/>
          <p:cNvSpPr txBox="1"/>
          <p:nvPr/>
        </p:nvSpPr>
        <p:spPr>
          <a:xfrm>
            <a:off x="1069848" y="3623310"/>
            <a:ext cx="10344607" cy="788924"/>
          </a:xfrm>
          <a:prstGeom prst="rect">
            <a:avLst/>
          </a:prstGeom>
          <a:noFill/>
        </p:spPr>
        <p:txBody>
          <a:bodyPr wrap="square" anchor="t" lIns="0" rIns="0" tIns="0" bIns="0">
            <a:spAutoFit/>
          </a:bodyPr>
          <a:lstStyle/>
          <a:p>
            <a:pPr algn="l">
              <a:lnSpc>
                <a:spcPct val="115000"/>
              </a:lnSpc>
              <a:spcBef>
                <a:spcPts val="0"/>
              </a:spcBef>
              <a:spcAft>
                <a:spcPts val="0"/>
              </a:spcAft>
            </a:pPr>
            <a:r>
              <a:rPr sz="2200" b="1" i="0">
                <a:solidFill>
                  <a:srgbClr val="1A1A1A"/>
                </a:solidFill>
                <a:latin typeface="Arial"/>
              </a:rPr>
              <a:t>A trend is a sequence of points, so a trend ends when the sequence breaks.</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Rectangle 3"/>
          <p:cNvSpPr/>
          <p:nvPr/>
        </p:nvSpPr>
        <p:spPr>
          <a:xfrm>
            <a:off x="777240" y="566928"/>
            <a:ext cx="1234440" cy="329184"/>
          </a:xfrm>
          <a:prstGeom prst="rect">
            <a:avLst/>
          </a:prstGeom>
          <a:solidFill>
            <a:srgbClr val="F2A900"/>
          </a:solidFill>
          <a:ln>
            <a:noFill/>
          </a:ln>
          <a:effectLst/>
        </p:spPr>
        <p:txBody>
          <a:bodyPr rtlCol="0" anchor="ctr" wrap="none" lIns="0" rIns="0" tIns="0" bIns="0"/>
          <a:lstStyle/>
          <a:p>
            <a:pPr algn="ctr">
              <a:lnSpc>
                <a:spcPct val="100000"/>
              </a:lnSpc>
              <a:spcBef>
                <a:spcPts val="0"/>
              </a:spcBef>
              <a:spcAft>
                <a:spcPts val="0"/>
              </a:spcAft>
            </a:pPr>
            <a:r>
              <a:rPr sz="1200" b="1" i="0">
                <a:solidFill>
                  <a:srgbClr val="1A1A1A"/>
                </a:solidFill>
                <a:latin typeface="Arial"/>
              </a:rPr>
              <a:t>NEW TERM</a:t>
            </a:r>
          </a:p>
        </p:txBody>
      </p:sp>
      <p:sp>
        <p:nvSpPr>
          <p:cNvPr id="5" name="TextBox 4"/>
          <p:cNvSpPr txBox="1"/>
          <p:nvPr/>
        </p:nvSpPr>
        <p:spPr>
          <a:xfrm>
            <a:off x="777240" y="1051560"/>
            <a:ext cx="10637215" cy="822960"/>
          </a:xfrm>
          <a:prstGeom prst="rect">
            <a:avLst/>
          </a:prstGeom>
          <a:noFill/>
        </p:spPr>
        <p:txBody>
          <a:bodyPr wrap="square" anchor="t" lIns="0" rIns="0" tIns="0" bIns="0">
            <a:spAutoFit/>
          </a:bodyPr>
          <a:lstStyle/>
          <a:p>
            <a:pPr algn="l">
              <a:lnSpc>
                <a:spcPct val="105000"/>
              </a:lnSpc>
              <a:spcBef>
                <a:spcPts val="0"/>
              </a:spcBef>
              <a:spcAft>
                <a:spcPts val="0"/>
              </a:spcAft>
            </a:pPr>
            <a:r>
              <a:rPr sz="3200" b="0" i="0">
                <a:solidFill>
                  <a:srgbClr val="007A33"/>
                </a:solidFill>
                <a:latin typeface="Palatino"/>
              </a:rPr>
              <a:t>Penetration</a:t>
            </a:r>
          </a:p>
        </p:txBody>
      </p:sp>
      <p:sp>
        <p:nvSpPr>
          <p:cNvPr id="6" name="Rectangle 5"/>
          <p:cNvSpPr/>
          <p:nvPr/>
        </p:nvSpPr>
        <p:spPr>
          <a:xfrm>
            <a:off x="777240" y="1874519"/>
            <a:ext cx="10637215" cy="15875"/>
          </a:xfrm>
          <a:prstGeom prst="rect">
            <a:avLst/>
          </a:prstGeom>
          <a:solidFill>
            <a:srgbClr val="D7E0D9"/>
          </a:solidFill>
          <a:ln>
            <a:noFill/>
          </a:ln>
          <a:effectLst/>
        </p:spPr>
        <p:txBody>
          <a:bodyPr rtlCol="0" anchor="ctr"/>
          <a:lstStyle/>
          <a:p>
            <a:pPr algn="ctr"/>
          </a:p>
        </p:txBody>
      </p:sp>
      <p:sp>
        <p:nvSpPr>
          <p:cNvPr id="7" name="Rectangle 6"/>
          <p:cNvSpPr/>
          <p:nvPr/>
        </p:nvSpPr>
        <p:spPr>
          <a:xfrm>
            <a:off x="777240" y="2258568"/>
            <a:ext cx="64008" cy="811022"/>
          </a:xfrm>
          <a:prstGeom prst="rect">
            <a:avLst/>
          </a:prstGeom>
          <a:solidFill>
            <a:srgbClr val="F2A900"/>
          </a:solidFill>
          <a:ln>
            <a:noFill/>
          </a:ln>
          <a:effectLst/>
        </p:spPr>
        <p:txBody>
          <a:bodyPr rtlCol="0" anchor="ctr"/>
          <a:lstStyle/>
          <a:p>
            <a:pPr algn="ctr"/>
          </a:p>
        </p:txBody>
      </p:sp>
      <p:sp>
        <p:nvSpPr>
          <p:cNvPr id="8" name="TextBox 7"/>
          <p:cNvSpPr txBox="1"/>
          <p:nvPr/>
        </p:nvSpPr>
        <p:spPr>
          <a:xfrm>
            <a:off x="1051560" y="2212848"/>
            <a:ext cx="10362895" cy="920750"/>
          </a:xfrm>
          <a:prstGeom prst="rect">
            <a:avLst/>
          </a:prstGeom>
          <a:noFill/>
        </p:spPr>
        <p:txBody>
          <a:bodyPr wrap="square" anchor="t" lIns="0" rIns="0" tIns="0" bIns="0">
            <a:spAutoFit/>
          </a:bodyPr>
          <a:lstStyle/>
          <a:p>
            <a:pPr algn="l">
              <a:lnSpc>
                <a:spcPct val="100000"/>
              </a:lnSpc>
              <a:spcBef>
                <a:spcPts val="0"/>
              </a:spcBef>
              <a:spcAft>
                <a:spcPts val="400"/>
              </a:spcAft>
            </a:pPr>
            <a:r>
              <a:rPr sz="1100" b="1" i="0">
                <a:solidFill>
                  <a:srgbClr val="818181"/>
                </a:solidFill>
                <a:latin typeface="Arial"/>
              </a:rPr>
              <a:t>IN PLAIN WORDS</a:t>
            </a:r>
          </a:p>
          <a:p>
            <a:pPr algn="l">
              <a:lnSpc>
                <a:spcPct val="115000"/>
              </a:lnSpc>
              <a:spcBef>
                <a:spcPts val="0"/>
              </a:spcBef>
              <a:spcAft>
                <a:spcPts val="0"/>
              </a:spcAft>
            </a:pPr>
            <a:r>
              <a:rPr sz="1900" b="1" i="0">
                <a:solidFill>
                  <a:srgbClr val="1A1A1A"/>
                </a:solidFill>
                <a:latin typeface="Arial"/>
              </a:rPr>
              <a:t>Price going through a previous peak or a previous trough. That is the event Dow Theory watches for.</a:t>
            </a:r>
          </a:p>
        </p:txBody>
      </p:sp>
      <p:sp>
        <p:nvSpPr>
          <p:cNvPr id="9" name="Rectangle 8"/>
          <p:cNvSpPr/>
          <p:nvPr/>
        </p:nvSpPr>
        <p:spPr>
          <a:xfrm>
            <a:off x="777240" y="3417061"/>
            <a:ext cx="64008" cy="533527"/>
          </a:xfrm>
          <a:prstGeom prst="rect">
            <a:avLst/>
          </a:prstGeom>
          <a:solidFill>
            <a:srgbClr val="D7E0D9"/>
          </a:solidFill>
          <a:ln>
            <a:noFill/>
          </a:ln>
          <a:effectLst/>
        </p:spPr>
        <p:txBody>
          <a:bodyPr rtlCol="0" anchor="ctr"/>
          <a:lstStyle/>
          <a:p>
            <a:pPr algn="ctr"/>
          </a:p>
        </p:txBody>
      </p:sp>
      <p:sp>
        <p:nvSpPr>
          <p:cNvPr id="10" name="TextBox 9"/>
          <p:cNvSpPr txBox="1"/>
          <p:nvPr/>
        </p:nvSpPr>
        <p:spPr>
          <a:xfrm>
            <a:off x="1051560" y="3371342"/>
            <a:ext cx="10362895" cy="643255"/>
          </a:xfrm>
          <a:prstGeom prst="rect">
            <a:avLst/>
          </a:prstGeom>
          <a:noFill/>
        </p:spPr>
        <p:txBody>
          <a:bodyPr wrap="square" anchor="t" lIns="0" rIns="0" tIns="0" bIns="0">
            <a:spAutoFit/>
          </a:bodyPr>
          <a:lstStyle/>
          <a:p>
            <a:pPr algn="l">
              <a:lnSpc>
                <a:spcPct val="100000"/>
              </a:lnSpc>
              <a:spcBef>
                <a:spcPts val="0"/>
              </a:spcBef>
              <a:spcAft>
                <a:spcPts val="400"/>
              </a:spcAft>
            </a:pPr>
            <a:r>
              <a:rPr sz="1100" b="1" i="0">
                <a:solidFill>
                  <a:srgbClr val="818181"/>
                </a:solidFill>
                <a:latin typeface="Arial"/>
              </a:rPr>
              <a:t>FOR EXAMPLE</a:t>
            </a:r>
          </a:p>
          <a:p>
            <a:pPr algn="l">
              <a:lnSpc>
                <a:spcPct val="115000"/>
              </a:lnSpc>
              <a:spcBef>
                <a:spcPts val="0"/>
              </a:spcBef>
              <a:spcAft>
                <a:spcPts val="0"/>
              </a:spcAft>
            </a:pPr>
            <a:r>
              <a:rPr sz="1900" b="0" i="0">
                <a:solidFill>
                  <a:srgbClr val="1A1A1A"/>
                </a:solidFill>
                <a:latin typeface="Arial"/>
              </a:rPr>
              <a:t>The last peak was 141 pesos. Price closes at 143. The peak has been penetrated.</a:t>
            </a:r>
          </a:p>
        </p:txBody>
      </p:sp>
      <p:sp>
        <p:nvSpPr>
          <p:cNvPr id="11" name="Rectangle 10"/>
          <p:cNvSpPr/>
          <p:nvPr/>
        </p:nvSpPr>
        <p:spPr>
          <a:xfrm>
            <a:off x="777240" y="4298061"/>
            <a:ext cx="64008" cy="811022"/>
          </a:xfrm>
          <a:prstGeom prst="rect">
            <a:avLst/>
          </a:prstGeom>
          <a:solidFill>
            <a:srgbClr val="D7E0D9"/>
          </a:solidFill>
          <a:ln>
            <a:noFill/>
          </a:ln>
          <a:effectLst/>
        </p:spPr>
        <p:txBody>
          <a:bodyPr rtlCol="0" anchor="ctr"/>
          <a:lstStyle/>
          <a:p>
            <a:pPr algn="ctr"/>
          </a:p>
        </p:txBody>
      </p:sp>
      <p:sp>
        <p:nvSpPr>
          <p:cNvPr id="12" name="TextBox 11"/>
          <p:cNvSpPr txBox="1"/>
          <p:nvPr/>
        </p:nvSpPr>
        <p:spPr>
          <a:xfrm>
            <a:off x="1051560" y="4252341"/>
            <a:ext cx="10362895" cy="920750"/>
          </a:xfrm>
          <a:prstGeom prst="rect">
            <a:avLst/>
          </a:prstGeom>
          <a:noFill/>
        </p:spPr>
        <p:txBody>
          <a:bodyPr wrap="square" anchor="t" lIns="0" rIns="0" tIns="0" bIns="0">
            <a:spAutoFit/>
          </a:bodyPr>
          <a:lstStyle/>
          <a:p>
            <a:pPr algn="l">
              <a:lnSpc>
                <a:spcPct val="100000"/>
              </a:lnSpc>
              <a:spcBef>
                <a:spcPts val="0"/>
              </a:spcBef>
              <a:spcAft>
                <a:spcPts val="400"/>
              </a:spcAft>
            </a:pPr>
            <a:r>
              <a:rPr sz="1100" b="1" i="0">
                <a:solidFill>
                  <a:srgbClr val="818181"/>
                </a:solidFill>
                <a:latin typeface="Arial"/>
              </a:rPr>
              <a:t>THE FORMAL DEFINITION</a:t>
            </a:r>
          </a:p>
          <a:p>
            <a:pPr algn="l">
              <a:lnSpc>
                <a:spcPct val="115000"/>
              </a:lnSpc>
              <a:spcBef>
                <a:spcPts val="0"/>
              </a:spcBef>
              <a:spcAft>
                <a:spcPts val="0"/>
              </a:spcAft>
            </a:pPr>
            <a:r>
              <a:rPr sz="1900" b="0" i="0">
                <a:solidFill>
                  <a:srgbClr val="1A1A1A"/>
                </a:solidFill>
                <a:latin typeface="Arial"/>
              </a:rPr>
              <a:t>In Dow Theory, an indication of a trend continuation or reversal is signaled by the penetration of a previous peak or trough.</a:t>
            </a:r>
          </a:p>
        </p:txBody>
      </p:sp>
      <p:sp>
        <p:nvSpPr>
          <p:cNvPr id="13" name="TextBox 12"/>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3 of 6 - Primary trend  |  14 of 28</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TextBox 3"/>
          <p:cNvSpPr txBox="1"/>
          <p:nvPr/>
        </p:nvSpPr>
        <p:spPr>
          <a:xfrm>
            <a:off x="777240" y="658368"/>
            <a:ext cx="10637215" cy="914400"/>
          </a:xfrm>
          <a:prstGeom prst="rect">
            <a:avLst/>
          </a:prstGeom>
          <a:noFill/>
        </p:spPr>
        <p:txBody>
          <a:bodyPr wrap="square" anchor="t" lIns="0" rIns="0" tIns="0" bIns="0">
            <a:spAutoFit/>
          </a:bodyPr>
          <a:lstStyle/>
          <a:p>
            <a:pPr algn="l">
              <a:lnSpc>
                <a:spcPct val="105000"/>
              </a:lnSpc>
              <a:spcBef>
                <a:spcPts val="0"/>
              </a:spcBef>
              <a:spcAft>
                <a:spcPts val="0"/>
              </a:spcAft>
            </a:pPr>
            <a:r>
              <a:rPr sz="3000" b="0" i="0">
                <a:solidFill>
                  <a:srgbClr val="007A33"/>
                </a:solidFill>
                <a:latin typeface="Palatino"/>
              </a:rPr>
              <a:t>The price of waiting for it</a:t>
            </a:r>
          </a:p>
        </p:txBody>
      </p:sp>
      <p:sp>
        <p:nvSpPr>
          <p:cNvPr id="5" name="Rectangle 4"/>
          <p:cNvSpPr/>
          <p:nvPr/>
        </p:nvSpPr>
        <p:spPr>
          <a:xfrm>
            <a:off x="777240" y="1572768"/>
            <a:ext cx="10637215" cy="15875"/>
          </a:xfrm>
          <a:prstGeom prst="rect">
            <a:avLst/>
          </a:prstGeom>
          <a:solidFill>
            <a:srgbClr val="D7E0D9"/>
          </a:solidFill>
          <a:ln>
            <a:noFill/>
          </a:ln>
          <a:effectLst/>
        </p:spPr>
        <p:txBody>
          <a:bodyPr rtlCol="0" anchor="ctr"/>
          <a:lstStyle/>
          <a:p>
            <a:pPr algn="ctr"/>
          </a:p>
        </p:txBody>
      </p:sp>
      <p:sp>
        <p:nvSpPr>
          <p:cNvPr id="6" name="TextBox 5"/>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3 of 6 - Primary trend  |  15 of 28</a:t>
            </a:r>
          </a:p>
        </p:txBody>
      </p:sp>
      <p:sp>
        <p:nvSpPr>
          <p:cNvPr id="7" name="TextBox 6"/>
          <p:cNvSpPr txBox="1"/>
          <p:nvPr/>
        </p:nvSpPr>
        <p:spPr>
          <a:xfrm>
            <a:off x="777240" y="1965960"/>
            <a:ext cx="10637215" cy="3108960"/>
          </a:xfrm>
          <a:prstGeom prst="rect">
            <a:avLst/>
          </a:prstGeom>
          <a:noFill/>
        </p:spPr>
        <p:txBody>
          <a:bodyPr wrap="square" anchor="t" lIns="0" rIns="0" tIns="0" bIns="0">
            <a:spAutoFit/>
          </a:bodyPr>
          <a:lstStyle/>
          <a:p>
            <a:pPr algn="l">
              <a:lnSpc>
                <a:spcPct val="118000"/>
              </a:lnSpc>
              <a:spcBef>
                <a:spcPts val="0"/>
              </a:spcBef>
              <a:spcAft>
                <a:spcPts val="1300"/>
              </a:spcAft>
            </a:pPr>
            <a:r>
              <a:rPr sz="2100" b="0" i="0">
                <a:solidFill>
                  <a:srgbClr val="1A1A1A"/>
                </a:solidFill>
                <a:latin typeface="Arial"/>
              </a:rPr>
              <a:t>One of the main criticisms of Dow Theory is that its buy and sell signals arrive too late.</a:t>
            </a:r>
          </a:p>
          <a:p>
            <a:pPr algn="l">
              <a:lnSpc>
                <a:spcPct val="118000"/>
              </a:lnSpc>
              <a:spcBef>
                <a:spcPts val="0"/>
              </a:spcBef>
              <a:spcAft>
                <a:spcPts val="1300"/>
              </a:spcAft>
            </a:pPr>
            <a:r>
              <a:rPr sz="2100" b="0" i="0">
                <a:solidFill>
                  <a:srgbClr val="1A1A1A"/>
                </a:solidFill>
                <a:latin typeface="Arial"/>
              </a:rPr>
              <a:t>They usually miss out on one third or more of the entire trend.</a:t>
            </a:r>
          </a:p>
        </p:txBody>
      </p:sp>
      <p:sp>
        <p:nvSpPr>
          <p:cNvPr id="8" name="Rectangle 7"/>
          <p:cNvSpPr/>
          <p:nvPr/>
        </p:nvSpPr>
        <p:spPr>
          <a:xfrm>
            <a:off x="777240" y="3586734"/>
            <a:ext cx="82296" cy="467614"/>
          </a:xfrm>
          <a:prstGeom prst="rect">
            <a:avLst/>
          </a:prstGeom>
          <a:solidFill>
            <a:srgbClr val="F2A900"/>
          </a:solidFill>
          <a:ln>
            <a:noFill/>
          </a:ln>
          <a:effectLst/>
        </p:spPr>
        <p:txBody>
          <a:bodyPr rtlCol="0" anchor="ctr"/>
          <a:lstStyle/>
          <a:p>
            <a:pPr algn="ctr"/>
          </a:p>
        </p:txBody>
      </p:sp>
      <p:sp>
        <p:nvSpPr>
          <p:cNvPr id="9" name="TextBox 8"/>
          <p:cNvSpPr txBox="1"/>
          <p:nvPr/>
        </p:nvSpPr>
        <p:spPr>
          <a:xfrm>
            <a:off x="1069848" y="3623310"/>
            <a:ext cx="10344607" cy="467614"/>
          </a:xfrm>
          <a:prstGeom prst="rect">
            <a:avLst/>
          </a:prstGeom>
          <a:noFill/>
        </p:spPr>
        <p:txBody>
          <a:bodyPr wrap="square" anchor="t" lIns="0" rIns="0" tIns="0" bIns="0">
            <a:spAutoFit/>
          </a:bodyPr>
          <a:lstStyle/>
          <a:p>
            <a:pPr algn="l">
              <a:lnSpc>
                <a:spcPct val="115000"/>
              </a:lnSpc>
              <a:spcBef>
                <a:spcPts val="0"/>
              </a:spcBef>
              <a:spcAft>
                <a:spcPts val="0"/>
              </a:spcAft>
            </a:pPr>
            <a:r>
              <a:rPr sz="2200" b="1" i="0">
                <a:solidFill>
                  <a:srgbClr val="1A1A1A"/>
                </a:solidFill>
                <a:latin typeface="Arial"/>
              </a:rPr>
              <a:t>You buy after the bottom, and you sell after the top. Always.</a:t>
            </a: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TextBox 3"/>
          <p:cNvSpPr txBox="1"/>
          <p:nvPr/>
        </p:nvSpPr>
        <p:spPr>
          <a:xfrm>
            <a:off x="777240" y="658368"/>
            <a:ext cx="10637215" cy="914400"/>
          </a:xfrm>
          <a:prstGeom prst="rect">
            <a:avLst/>
          </a:prstGeom>
          <a:noFill/>
        </p:spPr>
        <p:txBody>
          <a:bodyPr wrap="square" anchor="t" lIns="0" rIns="0" tIns="0" bIns="0">
            <a:spAutoFit/>
          </a:bodyPr>
          <a:lstStyle/>
          <a:p>
            <a:pPr algn="l">
              <a:lnSpc>
                <a:spcPct val="105000"/>
              </a:lnSpc>
              <a:spcBef>
                <a:spcPts val="0"/>
              </a:spcBef>
              <a:spcAft>
                <a:spcPts val="0"/>
              </a:spcAft>
            </a:pPr>
            <a:r>
              <a:rPr sz="3000" b="0" i="0">
                <a:solidFill>
                  <a:srgbClr val="007A33"/>
                </a:solidFill>
                <a:latin typeface="Palatino"/>
              </a:rPr>
              <a:t>Dow thought the trade was worth it</a:t>
            </a:r>
          </a:p>
        </p:txBody>
      </p:sp>
      <p:sp>
        <p:nvSpPr>
          <p:cNvPr id="5" name="Rectangle 4"/>
          <p:cNvSpPr/>
          <p:nvPr/>
        </p:nvSpPr>
        <p:spPr>
          <a:xfrm>
            <a:off x="777240" y="1572768"/>
            <a:ext cx="10637215" cy="15875"/>
          </a:xfrm>
          <a:prstGeom prst="rect">
            <a:avLst/>
          </a:prstGeom>
          <a:solidFill>
            <a:srgbClr val="D7E0D9"/>
          </a:solidFill>
          <a:ln>
            <a:noFill/>
          </a:ln>
          <a:effectLst/>
        </p:spPr>
        <p:txBody>
          <a:bodyPr rtlCol="0" anchor="ctr"/>
          <a:lstStyle/>
          <a:p>
            <a:pPr algn="ctr"/>
          </a:p>
        </p:txBody>
      </p:sp>
      <p:sp>
        <p:nvSpPr>
          <p:cNvPr id="6" name="TextBox 5"/>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3 of 6 - Primary trend  |  16 of 28</a:t>
            </a:r>
          </a:p>
        </p:txBody>
      </p:sp>
      <p:sp>
        <p:nvSpPr>
          <p:cNvPr id="7" name="TextBox 6"/>
          <p:cNvSpPr txBox="1"/>
          <p:nvPr/>
        </p:nvSpPr>
        <p:spPr>
          <a:xfrm>
            <a:off x="777240" y="1965960"/>
            <a:ext cx="10637215" cy="3108960"/>
          </a:xfrm>
          <a:prstGeom prst="rect">
            <a:avLst/>
          </a:prstGeom>
          <a:noFill/>
        </p:spPr>
        <p:txBody>
          <a:bodyPr wrap="square" anchor="t" lIns="0" rIns="0" tIns="0" bIns="0">
            <a:spAutoFit/>
          </a:bodyPr>
          <a:lstStyle/>
          <a:p>
            <a:pPr algn="l">
              <a:lnSpc>
                <a:spcPct val="118000"/>
              </a:lnSpc>
              <a:spcBef>
                <a:spcPts val="0"/>
              </a:spcBef>
              <a:spcAft>
                <a:spcPts val="1300"/>
              </a:spcAft>
            </a:pPr>
            <a:r>
              <a:rPr sz="2100" b="0" i="0">
                <a:solidFill>
                  <a:srgbClr val="1A1A1A"/>
                </a:solidFill>
                <a:latin typeface="Arial"/>
              </a:rPr>
              <a:t>It is more important to participate once the trend has been confirmed.</a:t>
            </a:r>
          </a:p>
          <a:p>
            <a:pPr algn="l">
              <a:lnSpc>
                <a:spcPct val="118000"/>
              </a:lnSpc>
              <a:spcBef>
                <a:spcPts val="0"/>
              </a:spcBef>
              <a:spcAft>
                <a:spcPts val="1300"/>
              </a:spcAft>
            </a:pPr>
            <a:r>
              <a:rPr sz="2100" b="0" i="0">
                <a:solidFill>
                  <a:srgbClr val="1A1A1A"/>
                </a:solidFill>
                <a:latin typeface="Arial"/>
              </a:rPr>
              <a:t>Losing some potential profit for the added safety of a confirmed trend is well worth the sacrifice.</a:t>
            </a:r>
          </a:p>
        </p:txBody>
      </p:sp>
      <p:sp>
        <p:nvSpPr>
          <p:cNvPr id="8" name="Rectangle 7"/>
          <p:cNvSpPr/>
          <p:nvPr/>
        </p:nvSpPr>
        <p:spPr>
          <a:xfrm>
            <a:off x="777240" y="3586734"/>
            <a:ext cx="82296" cy="788924"/>
          </a:xfrm>
          <a:prstGeom prst="rect">
            <a:avLst/>
          </a:prstGeom>
          <a:solidFill>
            <a:srgbClr val="F2A900"/>
          </a:solidFill>
          <a:ln>
            <a:noFill/>
          </a:ln>
          <a:effectLst/>
        </p:spPr>
        <p:txBody>
          <a:bodyPr rtlCol="0" anchor="ctr"/>
          <a:lstStyle/>
          <a:p>
            <a:pPr algn="ctr"/>
          </a:p>
        </p:txBody>
      </p:sp>
      <p:sp>
        <p:nvSpPr>
          <p:cNvPr id="9" name="TextBox 8"/>
          <p:cNvSpPr txBox="1"/>
          <p:nvPr/>
        </p:nvSpPr>
        <p:spPr>
          <a:xfrm>
            <a:off x="1069848" y="3623310"/>
            <a:ext cx="10344607" cy="788924"/>
          </a:xfrm>
          <a:prstGeom prst="rect">
            <a:avLst/>
          </a:prstGeom>
          <a:noFill/>
        </p:spPr>
        <p:txBody>
          <a:bodyPr wrap="square" anchor="t" lIns="0" rIns="0" tIns="0" bIns="0">
            <a:spAutoFit/>
          </a:bodyPr>
          <a:lstStyle/>
          <a:p>
            <a:pPr algn="l">
              <a:lnSpc>
                <a:spcPct val="115000"/>
              </a:lnSpc>
              <a:spcBef>
                <a:spcPts val="0"/>
              </a:spcBef>
              <a:spcAft>
                <a:spcPts val="0"/>
              </a:spcAft>
            </a:pPr>
            <a:r>
              <a:rPr sz="2200" b="1" i="0">
                <a:solidFill>
                  <a:srgbClr val="1A1A1A"/>
                </a:solidFill>
                <a:latin typeface="Arial"/>
              </a:rPr>
              <a:t>That is Dow's own position. The book reports it as his, not as a fact.</a:t>
            </a: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TextBox 3"/>
          <p:cNvSpPr txBox="1"/>
          <p:nvPr/>
        </p:nvSpPr>
        <p:spPr>
          <a:xfrm>
            <a:off x="777240" y="658368"/>
            <a:ext cx="10637215" cy="914400"/>
          </a:xfrm>
          <a:prstGeom prst="rect">
            <a:avLst/>
          </a:prstGeom>
          <a:noFill/>
        </p:spPr>
        <p:txBody>
          <a:bodyPr wrap="square" anchor="t" lIns="0" rIns="0" tIns="0" bIns="0">
            <a:spAutoFit/>
          </a:bodyPr>
          <a:lstStyle/>
          <a:p>
            <a:pPr algn="l">
              <a:lnSpc>
                <a:spcPct val="105000"/>
              </a:lnSpc>
              <a:spcBef>
                <a:spcPts val="0"/>
              </a:spcBef>
              <a:spcAft>
                <a:spcPts val="0"/>
              </a:spcAft>
            </a:pPr>
            <a:r>
              <a:rPr sz="3000" b="0" i="0">
                <a:solidFill>
                  <a:srgbClr val="007A33"/>
                </a:solidFill>
                <a:latin typeface="Palatino"/>
              </a:rPr>
              <a:t>Where the buy and the sell signals fall</a:t>
            </a:r>
          </a:p>
        </p:txBody>
      </p:sp>
      <p:sp>
        <p:nvSpPr>
          <p:cNvPr id="5" name="Rectangle 4"/>
          <p:cNvSpPr/>
          <p:nvPr/>
        </p:nvSpPr>
        <p:spPr>
          <a:xfrm>
            <a:off x="777240" y="1572768"/>
            <a:ext cx="10637215" cy="15875"/>
          </a:xfrm>
          <a:prstGeom prst="rect">
            <a:avLst/>
          </a:prstGeom>
          <a:solidFill>
            <a:srgbClr val="D7E0D9"/>
          </a:solidFill>
          <a:ln>
            <a:noFill/>
          </a:ln>
          <a:effectLst/>
        </p:spPr>
        <p:txBody>
          <a:bodyPr rtlCol="0" anchor="ctr"/>
          <a:lstStyle/>
          <a:p>
            <a:pPr algn="ctr"/>
          </a:p>
        </p:txBody>
      </p:sp>
      <p:sp>
        <p:nvSpPr>
          <p:cNvPr id="6" name="TextBox 5"/>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3 of 6 - Primary trend  |  17 of 28</a:t>
            </a:r>
          </a:p>
        </p:txBody>
      </p:sp>
      <p:sp>
        <p:nvSpPr>
          <p:cNvPr id="7" name="Rectangle 6"/>
          <p:cNvSpPr/>
          <p:nvPr/>
        </p:nvSpPr>
        <p:spPr>
          <a:xfrm>
            <a:off x="2346807" y="1810512"/>
            <a:ext cx="7498079" cy="3749039"/>
          </a:xfrm>
          <a:prstGeom prst="rect">
            <a:avLst/>
          </a:prstGeom>
          <a:solidFill>
            <a:srgbClr val="FFFFFF"/>
          </a:solidFill>
          <a:ln w="12700">
            <a:solidFill>
              <a:srgbClr val="D7E0D9"/>
            </a:solidFill>
          </a:ln>
          <a:effectLst/>
        </p:spPr>
        <p:txBody>
          <a:bodyPr rtlCol="0" anchor="ctr"/>
          <a:lstStyle/>
          <a:p>
            <a:pPr algn="ctr"/>
          </a:p>
        </p:txBody>
      </p:sp>
      <p:sp>
        <p:nvSpPr>
          <p:cNvPr id="8" name="Rectangle 7"/>
          <p:cNvSpPr/>
          <p:nvPr/>
        </p:nvSpPr>
        <p:spPr>
          <a:xfrm>
            <a:off x="2346807" y="1810512"/>
            <a:ext cx="7498079" cy="50800"/>
          </a:xfrm>
          <a:prstGeom prst="rect">
            <a:avLst/>
          </a:prstGeom>
          <a:solidFill>
            <a:srgbClr val="F2A900"/>
          </a:solidFill>
          <a:ln>
            <a:noFill/>
          </a:ln>
          <a:effectLst/>
        </p:spPr>
        <p:txBody>
          <a:bodyPr rtlCol="0" anchor="ctr"/>
          <a:lstStyle/>
          <a:p>
            <a:pPr algn="ctr"/>
          </a:p>
        </p:txBody>
      </p:sp>
      <p:sp>
        <p:nvSpPr>
          <p:cNvPr id="9" name="TextBox 8"/>
          <p:cNvSpPr txBox="1"/>
          <p:nvPr/>
        </p:nvSpPr>
        <p:spPr>
          <a:xfrm>
            <a:off x="2895447" y="2450591"/>
            <a:ext cx="6400799" cy="2651759"/>
          </a:xfrm>
          <a:prstGeom prst="rect">
            <a:avLst/>
          </a:prstGeom>
          <a:noFill/>
        </p:spPr>
        <p:txBody>
          <a:bodyPr wrap="square" anchor="t" lIns="0" rIns="0" tIns="0" bIns="0">
            <a:spAutoFit/>
          </a:bodyPr>
          <a:lstStyle/>
          <a:p>
            <a:pPr algn="l">
              <a:lnSpc>
                <a:spcPct val="100000"/>
              </a:lnSpc>
              <a:spcBef>
                <a:spcPts val="0"/>
              </a:spcBef>
              <a:spcAft>
                <a:spcPts val="1400"/>
              </a:spcAft>
            </a:pPr>
            <a:r>
              <a:rPr sz="1500" b="1" i="0">
                <a:solidFill>
                  <a:srgbClr val="818181"/>
                </a:solidFill>
                <a:latin typeface="Arial"/>
              </a:rPr>
              <a:t>FIGURE 2.5</a:t>
            </a:r>
          </a:p>
          <a:p>
            <a:pPr algn="l">
              <a:lnSpc>
                <a:spcPct val="120000"/>
              </a:lnSpc>
              <a:spcBef>
                <a:spcPts val="0"/>
              </a:spcBef>
              <a:spcAft>
                <a:spcPts val="1800"/>
              </a:spcAft>
            </a:pPr>
            <a:r>
              <a:rPr sz="2200" b="0" i="0">
                <a:solidFill>
                  <a:srgbClr val="1A1A1A"/>
                </a:solidFill>
                <a:latin typeface="Palatino"/>
              </a:rPr>
              <a:t>An idealized primary trend with the buy signal marked well above the low and the sell signal well below the high, and the profit potential based on Dow's signals shaded against the maximum profit potential.</a:t>
            </a:r>
          </a:p>
          <a:p>
            <a:pPr algn="l">
              <a:lnSpc>
                <a:spcPct val="115000"/>
              </a:lnSpc>
              <a:spcBef>
                <a:spcPts val="0"/>
              </a:spcBef>
              <a:spcAft>
                <a:spcPts val="0"/>
              </a:spcAft>
            </a:pPr>
            <a:r>
              <a:rPr sz="1400" b="0" i="1">
                <a:solidFill>
                  <a:srgbClr val="818181"/>
                </a:solidFill>
                <a:latin typeface="Arial"/>
              </a:rPr>
              <a:t>The artwork is copyrighted and is not in the public repository. Build with assets/figures/ present to place it here.</a:t>
            </a:r>
          </a:p>
        </p:txBody>
      </p:sp>
      <p:sp>
        <p:nvSpPr>
          <p:cNvPr id="10" name="TextBox 9"/>
          <p:cNvSpPr txBox="1"/>
          <p:nvPr/>
        </p:nvSpPr>
        <p:spPr>
          <a:xfrm>
            <a:off x="777240" y="5669280"/>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300" b="0" i="0">
                <a:solidFill>
                  <a:srgbClr val="818181"/>
                </a:solidFill>
                <a:latin typeface="Arial"/>
              </a:rPr>
              <a:t>Figure 2.5 - Lim, The Handbook of Technical Analysis (Wiley, 2016)</a:t>
            </a:r>
          </a:p>
        </p:txBody>
      </p:sp>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TextBox 3"/>
          <p:cNvSpPr txBox="1"/>
          <p:nvPr/>
        </p:nvSpPr>
        <p:spPr>
          <a:xfrm>
            <a:off x="777240" y="658368"/>
            <a:ext cx="10637215" cy="914400"/>
          </a:xfrm>
          <a:prstGeom prst="rect">
            <a:avLst/>
          </a:prstGeom>
          <a:noFill/>
        </p:spPr>
        <p:txBody>
          <a:bodyPr wrap="square" anchor="t" lIns="0" rIns="0" tIns="0" bIns="0">
            <a:spAutoFit/>
          </a:bodyPr>
          <a:lstStyle/>
          <a:p>
            <a:pPr algn="l">
              <a:lnSpc>
                <a:spcPct val="105000"/>
              </a:lnSpc>
              <a:spcBef>
                <a:spcPts val="0"/>
              </a:spcBef>
              <a:spcAft>
                <a:spcPts val="0"/>
              </a:spcAft>
            </a:pPr>
            <a:r>
              <a:rPr sz="3000" b="0" i="0">
                <a:solidFill>
                  <a:srgbClr val="007A33"/>
                </a:solidFill>
                <a:latin typeface="Palatino"/>
              </a:rPr>
              <a:t>What Dow Theory says you may trade</a:t>
            </a:r>
          </a:p>
        </p:txBody>
      </p:sp>
      <p:sp>
        <p:nvSpPr>
          <p:cNvPr id="5" name="Rectangle 4"/>
          <p:cNvSpPr/>
          <p:nvPr/>
        </p:nvSpPr>
        <p:spPr>
          <a:xfrm>
            <a:off x="777240" y="1572768"/>
            <a:ext cx="10637215" cy="15875"/>
          </a:xfrm>
          <a:prstGeom prst="rect">
            <a:avLst/>
          </a:prstGeom>
          <a:solidFill>
            <a:srgbClr val="D7E0D9"/>
          </a:solidFill>
          <a:ln>
            <a:noFill/>
          </a:ln>
          <a:effectLst/>
        </p:spPr>
        <p:txBody>
          <a:bodyPr rtlCol="0" anchor="ctr"/>
          <a:lstStyle/>
          <a:p>
            <a:pPr algn="ctr"/>
          </a:p>
        </p:txBody>
      </p:sp>
      <p:sp>
        <p:nvSpPr>
          <p:cNvPr id="6" name="TextBox 5"/>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3 of 6 - Primary trend  |  18 of 28</a:t>
            </a:r>
          </a:p>
        </p:txBody>
      </p:sp>
      <p:sp>
        <p:nvSpPr>
          <p:cNvPr id="7" name="TextBox 6"/>
          <p:cNvSpPr txBox="1"/>
          <p:nvPr/>
        </p:nvSpPr>
        <p:spPr>
          <a:xfrm>
            <a:off x="777240" y="1965960"/>
            <a:ext cx="10637215" cy="3108960"/>
          </a:xfrm>
          <a:prstGeom prst="rect">
            <a:avLst/>
          </a:prstGeom>
          <a:noFill/>
        </p:spPr>
        <p:txBody>
          <a:bodyPr wrap="square" anchor="t" lIns="0" rIns="0" tIns="0" bIns="0">
            <a:spAutoFit/>
          </a:bodyPr>
          <a:lstStyle/>
          <a:p>
            <a:pPr algn="l">
              <a:lnSpc>
                <a:spcPct val="118000"/>
              </a:lnSpc>
              <a:spcBef>
                <a:spcPts val="0"/>
              </a:spcBef>
              <a:spcAft>
                <a:spcPts val="1300"/>
              </a:spcAft>
            </a:pPr>
            <a:r>
              <a:rPr sz="2100" b="0" i="0">
                <a:solidFill>
                  <a:srgbClr val="1A1A1A"/>
                </a:solidFill>
                <a:latin typeface="Arial"/>
              </a:rPr>
              <a:t>All investment and trading decisions are based strictly on the primary trend alone.</a:t>
            </a:r>
          </a:p>
          <a:p>
            <a:pPr algn="l">
              <a:lnSpc>
                <a:spcPct val="118000"/>
              </a:lnSpc>
              <a:spcBef>
                <a:spcPts val="0"/>
              </a:spcBef>
              <a:spcAft>
                <a:spcPts val="1300"/>
              </a:spcAft>
            </a:pPr>
            <a:r>
              <a:rPr sz="2100" b="0" i="0">
                <a:solidFill>
                  <a:srgbClr val="1A1A1A"/>
                </a:solidFill>
                <a:latin typeface="Arial"/>
              </a:rPr>
              <a:t>The one exception is trading lines, which form out of the daily price fluctuations.</a:t>
            </a:r>
          </a:p>
        </p:txBody>
      </p:sp>
      <p:sp>
        <p:nvSpPr>
          <p:cNvPr id="8" name="Rectangle 7"/>
          <p:cNvSpPr/>
          <p:nvPr/>
        </p:nvSpPr>
        <p:spPr>
          <a:xfrm>
            <a:off x="777240" y="3901439"/>
            <a:ext cx="82296" cy="788924"/>
          </a:xfrm>
          <a:prstGeom prst="rect">
            <a:avLst/>
          </a:prstGeom>
          <a:solidFill>
            <a:srgbClr val="F2A900"/>
          </a:solidFill>
          <a:ln>
            <a:noFill/>
          </a:ln>
          <a:effectLst/>
        </p:spPr>
        <p:txBody>
          <a:bodyPr rtlCol="0" anchor="ctr"/>
          <a:lstStyle/>
          <a:p>
            <a:pPr algn="ctr"/>
          </a:p>
        </p:txBody>
      </p:sp>
      <p:sp>
        <p:nvSpPr>
          <p:cNvPr id="9" name="TextBox 8"/>
          <p:cNvSpPr txBox="1"/>
          <p:nvPr/>
        </p:nvSpPr>
        <p:spPr>
          <a:xfrm>
            <a:off x="1069848" y="3938015"/>
            <a:ext cx="10344607" cy="788924"/>
          </a:xfrm>
          <a:prstGeom prst="rect">
            <a:avLst/>
          </a:prstGeom>
          <a:noFill/>
        </p:spPr>
        <p:txBody>
          <a:bodyPr wrap="square" anchor="t" lIns="0" rIns="0" tIns="0" bIns="0">
            <a:spAutoFit/>
          </a:bodyPr>
          <a:lstStyle/>
          <a:p>
            <a:pPr algn="l">
              <a:lnSpc>
                <a:spcPct val="115000"/>
              </a:lnSpc>
              <a:spcBef>
                <a:spcPts val="0"/>
              </a:spcBef>
              <a:spcAft>
                <a:spcPts val="0"/>
              </a:spcAft>
            </a:pPr>
            <a:r>
              <a:rPr sz="2200" b="1" i="0">
                <a:solidFill>
                  <a:srgbClr val="1A1A1A"/>
                </a:solidFill>
                <a:latin typeface="Arial"/>
              </a:rPr>
              <a:t>Two tradable things in the whole theory. We meet the second one in Part 4.</a:t>
            </a:r>
          </a:p>
        </p:txBody>
      </p:sp>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TextBox 3"/>
          <p:cNvSpPr txBox="1"/>
          <p:nvPr/>
        </p:nvSpPr>
        <p:spPr>
          <a:xfrm>
            <a:off x="777240" y="658368"/>
            <a:ext cx="10637215" cy="914400"/>
          </a:xfrm>
          <a:prstGeom prst="rect">
            <a:avLst/>
          </a:prstGeom>
          <a:noFill/>
        </p:spPr>
        <p:txBody>
          <a:bodyPr wrap="square" anchor="t" lIns="0" rIns="0" tIns="0" bIns="0">
            <a:spAutoFit/>
          </a:bodyPr>
          <a:lstStyle/>
          <a:p>
            <a:pPr algn="l">
              <a:lnSpc>
                <a:spcPct val="105000"/>
              </a:lnSpc>
              <a:spcBef>
                <a:spcPts val="0"/>
              </a:spcBef>
              <a:spcAft>
                <a:spcPts val="0"/>
              </a:spcAft>
            </a:pPr>
            <a:r>
              <a:rPr sz="3000" b="0" i="0">
                <a:solidFill>
                  <a:srgbClr val="007A33"/>
                </a:solidFill>
                <a:latin typeface="Palatino"/>
              </a:rPr>
              <a:t>A primary bull trend that ran twelve years</a:t>
            </a:r>
          </a:p>
        </p:txBody>
      </p:sp>
      <p:sp>
        <p:nvSpPr>
          <p:cNvPr id="5" name="Rectangle 4"/>
          <p:cNvSpPr/>
          <p:nvPr/>
        </p:nvSpPr>
        <p:spPr>
          <a:xfrm>
            <a:off x="777240" y="1572768"/>
            <a:ext cx="10637215" cy="15875"/>
          </a:xfrm>
          <a:prstGeom prst="rect">
            <a:avLst/>
          </a:prstGeom>
          <a:solidFill>
            <a:srgbClr val="D7E0D9"/>
          </a:solidFill>
          <a:ln>
            <a:noFill/>
          </a:ln>
          <a:effectLst/>
        </p:spPr>
        <p:txBody>
          <a:bodyPr rtlCol="0" anchor="ctr"/>
          <a:lstStyle/>
          <a:p>
            <a:pPr algn="ctr"/>
          </a:p>
        </p:txBody>
      </p:sp>
      <p:sp>
        <p:nvSpPr>
          <p:cNvPr id="6" name="TextBox 5"/>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3 of 6 - Primary trend  |  19 of 28</a:t>
            </a:r>
          </a:p>
        </p:txBody>
      </p:sp>
      <p:sp>
        <p:nvSpPr>
          <p:cNvPr id="7" name="Rectangle 6"/>
          <p:cNvSpPr/>
          <p:nvPr/>
        </p:nvSpPr>
        <p:spPr>
          <a:xfrm>
            <a:off x="2346807" y="1810512"/>
            <a:ext cx="7498079" cy="3749039"/>
          </a:xfrm>
          <a:prstGeom prst="rect">
            <a:avLst/>
          </a:prstGeom>
          <a:solidFill>
            <a:srgbClr val="FFFFFF"/>
          </a:solidFill>
          <a:ln w="12700">
            <a:solidFill>
              <a:srgbClr val="D7E0D9"/>
            </a:solidFill>
          </a:ln>
          <a:effectLst/>
        </p:spPr>
        <p:txBody>
          <a:bodyPr rtlCol="0" anchor="ctr"/>
          <a:lstStyle/>
          <a:p>
            <a:pPr algn="ctr"/>
          </a:p>
        </p:txBody>
      </p:sp>
      <p:sp>
        <p:nvSpPr>
          <p:cNvPr id="8" name="Rectangle 7"/>
          <p:cNvSpPr/>
          <p:nvPr/>
        </p:nvSpPr>
        <p:spPr>
          <a:xfrm>
            <a:off x="2346807" y="1810512"/>
            <a:ext cx="7498079" cy="50800"/>
          </a:xfrm>
          <a:prstGeom prst="rect">
            <a:avLst/>
          </a:prstGeom>
          <a:solidFill>
            <a:srgbClr val="F2A900"/>
          </a:solidFill>
          <a:ln>
            <a:noFill/>
          </a:ln>
          <a:effectLst/>
        </p:spPr>
        <p:txBody>
          <a:bodyPr rtlCol="0" anchor="ctr"/>
          <a:lstStyle/>
          <a:p>
            <a:pPr algn="ctr"/>
          </a:p>
        </p:txBody>
      </p:sp>
      <p:sp>
        <p:nvSpPr>
          <p:cNvPr id="9" name="TextBox 8"/>
          <p:cNvSpPr txBox="1"/>
          <p:nvPr/>
        </p:nvSpPr>
        <p:spPr>
          <a:xfrm>
            <a:off x="2895447" y="2450591"/>
            <a:ext cx="6400799" cy="2651759"/>
          </a:xfrm>
          <a:prstGeom prst="rect">
            <a:avLst/>
          </a:prstGeom>
          <a:noFill/>
        </p:spPr>
        <p:txBody>
          <a:bodyPr wrap="square" anchor="t" lIns="0" rIns="0" tIns="0" bIns="0">
            <a:spAutoFit/>
          </a:bodyPr>
          <a:lstStyle/>
          <a:p>
            <a:pPr algn="l">
              <a:lnSpc>
                <a:spcPct val="100000"/>
              </a:lnSpc>
              <a:spcBef>
                <a:spcPts val="0"/>
              </a:spcBef>
              <a:spcAft>
                <a:spcPts val="1400"/>
              </a:spcAft>
            </a:pPr>
            <a:r>
              <a:rPr sz="1500" b="1" i="0">
                <a:solidFill>
                  <a:srgbClr val="818181"/>
                </a:solidFill>
                <a:latin typeface="Arial"/>
              </a:rPr>
              <a:t>FIGURE 2.6</a:t>
            </a:r>
          </a:p>
          <a:p>
            <a:pPr algn="l">
              <a:lnSpc>
                <a:spcPct val="120000"/>
              </a:lnSpc>
              <a:spcBef>
                <a:spcPts val="0"/>
              </a:spcBef>
              <a:spcAft>
                <a:spcPts val="1800"/>
              </a:spcAft>
            </a:pPr>
            <a:r>
              <a:rPr sz="2200" b="0" i="0">
                <a:solidFill>
                  <a:srgbClr val="1A1A1A"/>
                </a:solidFill>
                <a:latin typeface="Palatino"/>
              </a:rPr>
              <a:t>A long term chart of gold labelled as a primary bull trend lasting approximately twelve years.</a:t>
            </a:r>
          </a:p>
          <a:p>
            <a:pPr algn="l">
              <a:lnSpc>
                <a:spcPct val="115000"/>
              </a:lnSpc>
              <a:spcBef>
                <a:spcPts val="0"/>
              </a:spcBef>
              <a:spcAft>
                <a:spcPts val="0"/>
              </a:spcAft>
            </a:pPr>
            <a:r>
              <a:rPr sz="1400" b="0" i="1">
                <a:solidFill>
                  <a:srgbClr val="818181"/>
                </a:solidFill>
                <a:latin typeface="Arial"/>
              </a:rPr>
              <a:t>The artwork is copyrighted and is not in the public repository. Build with assets/figures/ present to place it here.</a:t>
            </a:r>
          </a:p>
        </p:txBody>
      </p:sp>
      <p:sp>
        <p:nvSpPr>
          <p:cNvPr id="10" name="TextBox 9"/>
          <p:cNvSpPr txBox="1"/>
          <p:nvPr/>
        </p:nvSpPr>
        <p:spPr>
          <a:xfrm>
            <a:off x="777240" y="5669280"/>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300" b="0" i="0">
                <a:solidFill>
                  <a:srgbClr val="818181"/>
                </a:solidFill>
                <a:latin typeface="Arial"/>
              </a:rPr>
              <a:t>Figure 2.6 - Lim, The Handbook of Technical Analysis (Wiley, 2016)</a:t>
            </a:r>
          </a:p>
        </p:txBody>
      </p:sp>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TextBox 3"/>
          <p:cNvSpPr txBox="1"/>
          <p:nvPr/>
        </p:nvSpPr>
        <p:spPr>
          <a:xfrm>
            <a:off x="777240" y="658368"/>
            <a:ext cx="10637215" cy="914400"/>
          </a:xfrm>
          <a:prstGeom prst="rect">
            <a:avLst/>
          </a:prstGeom>
          <a:noFill/>
        </p:spPr>
        <p:txBody>
          <a:bodyPr wrap="square" anchor="t" lIns="0" rIns="0" tIns="0" bIns="0">
            <a:spAutoFit/>
          </a:bodyPr>
          <a:lstStyle/>
          <a:p>
            <a:pPr algn="l">
              <a:lnSpc>
                <a:spcPct val="105000"/>
              </a:lnSpc>
              <a:spcBef>
                <a:spcPts val="0"/>
              </a:spcBef>
              <a:spcAft>
                <a:spcPts val="0"/>
              </a:spcAft>
            </a:pPr>
            <a:r>
              <a:rPr sz="3000" b="0" i="0">
                <a:solidFill>
                  <a:srgbClr val="007A33"/>
                </a:solidFill>
                <a:latin typeface="Palatino"/>
              </a:rPr>
              <a:t>A primary bear trend that ran twenty three years</a:t>
            </a:r>
          </a:p>
        </p:txBody>
      </p:sp>
      <p:sp>
        <p:nvSpPr>
          <p:cNvPr id="5" name="Rectangle 4"/>
          <p:cNvSpPr/>
          <p:nvPr/>
        </p:nvSpPr>
        <p:spPr>
          <a:xfrm>
            <a:off x="777240" y="1572768"/>
            <a:ext cx="10637215" cy="15875"/>
          </a:xfrm>
          <a:prstGeom prst="rect">
            <a:avLst/>
          </a:prstGeom>
          <a:solidFill>
            <a:srgbClr val="D7E0D9"/>
          </a:solidFill>
          <a:ln>
            <a:noFill/>
          </a:ln>
          <a:effectLst/>
        </p:spPr>
        <p:txBody>
          <a:bodyPr rtlCol="0" anchor="ctr"/>
          <a:lstStyle/>
          <a:p>
            <a:pPr algn="ctr"/>
          </a:p>
        </p:txBody>
      </p:sp>
      <p:sp>
        <p:nvSpPr>
          <p:cNvPr id="6" name="TextBox 5"/>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3 of 6 - Primary trend  |  20 of 28</a:t>
            </a:r>
          </a:p>
        </p:txBody>
      </p:sp>
      <p:sp>
        <p:nvSpPr>
          <p:cNvPr id="7" name="Rectangle 6"/>
          <p:cNvSpPr/>
          <p:nvPr/>
        </p:nvSpPr>
        <p:spPr>
          <a:xfrm>
            <a:off x="2346807" y="1810512"/>
            <a:ext cx="7498079" cy="3749039"/>
          </a:xfrm>
          <a:prstGeom prst="rect">
            <a:avLst/>
          </a:prstGeom>
          <a:solidFill>
            <a:srgbClr val="FFFFFF"/>
          </a:solidFill>
          <a:ln w="12700">
            <a:solidFill>
              <a:srgbClr val="D7E0D9"/>
            </a:solidFill>
          </a:ln>
          <a:effectLst/>
        </p:spPr>
        <p:txBody>
          <a:bodyPr rtlCol="0" anchor="ctr"/>
          <a:lstStyle/>
          <a:p>
            <a:pPr algn="ctr"/>
          </a:p>
        </p:txBody>
      </p:sp>
      <p:sp>
        <p:nvSpPr>
          <p:cNvPr id="8" name="Rectangle 7"/>
          <p:cNvSpPr/>
          <p:nvPr/>
        </p:nvSpPr>
        <p:spPr>
          <a:xfrm>
            <a:off x="2346807" y="1810512"/>
            <a:ext cx="7498079" cy="50800"/>
          </a:xfrm>
          <a:prstGeom prst="rect">
            <a:avLst/>
          </a:prstGeom>
          <a:solidFill>
            <a:srgbClr val="F2A900"/>
          </a:solidFill>
          <a:ln>
            <a:noFill/>
          </a:ln>
          <a:effectLst/>
        </p:spPr>
        <p:txBody>
          <a:bodyPr rtlCol="0" anchor="ctr"/>
          <a:lstStyle/>
          <a:p>
            <a:pPr algn="ctr"/>
          </a:p>
        </p:txBody>
      </p:sp>
      <p:sp>
        <p:nvSpPr>
          <p:cNvPr id="9" name="TextBox 8"/>
          <p:cNvSpPr txBox="1"/>
          <p:nvPr/>
        </p:nvSpPr>
        <p:spPr>
          <a:xfrm>
            <a:off x="2895447" y="2450591"/>
            <a:ext cx="6400799" cy="2651759"/>
          </a:xfrm>
          <a:prstGeom prst="rect">
            <a:avLst/>
          </a:prstGeom>
          <a:noFill/>
        </p:spPr>
        <p:txBody>
          <a:bodyPr wrap="square" anchor="t" lIns="0" rIns="0" tIns="0" bIns="0">
            <a:spAutoFit/>
          </a:bodyPr>
          <a:lstStyle/>
          <a:p>
            <a:pPr algn="l">
              <a:lnSpc>
                <a:spcPct val="100000"/>
              </a:lnSpc>
              <a:spcBef>
                <a:spcPts val="0"/>
              </a:spcBef>
              <a:spcAft>
                <a:spcPts val="1400"/>
              </a:spcAft>
            </a:pPr>
            <a:r>
              <a:rPr sz="1500" b="1" i="0">
                <a:solidFill>
                  <a:srgbClr val="818181"/>
                </a:solidFill>
                <a:latin typeface="Arial"/>
              </a:rPr>
              <a:t>FIGURE 2.7</a:t>
            </a:r>
          </a:p>
          <a:p>
            <a:pPr algn="l">
              <a:lnSpc>
                <a:spcPct val="120000"/>
              </a:lnSpc>
              <a:spcBef>
                <a:spcPts val="0"/>
              </a:spcBef>
              <a:spcAft>
                <a:spcPts val="1800"/>
              </a:spcAft>
            </a:pPr>
            <a:r>
              <a:rPr sz="2200" b="0" i="0">
                <a:solidFill>
                  <a:srgbClr val="1A1A1A"/>
                </a:solidFill>
                <a:latin typeface="Palatino"/>
              </a:rPr>
              <a:t>A long term chart of the 30 year Treasury bond yield labelled as a primary bear trend lasting approximately twenty three years.</a:t>
            </a:r>
          </a:p>
          <a:p>
            <a:pPr algn="l">
              <a:lnSpc>
                <a:spcPct val="115000"/>
              </a:lnSpc>
              <a:spcBef>
                <a:spcPts val="0"/>
              </a:spcBef>
              <a:spcAft>
                <a:spcPts val="0"/>
              </a:spcAft>
            </a:pPr>
            <a:r>
              <a:rPr sz="1400" b="0" i="1">
                <a:solidFill>
                  <a:srgbClr val="818181"/>
                </a:solidFill>
                <a:latin typeface="Arial"/>
              </a:rPr>
              <a:t>The artwork is copyrighted and is not in the public repository. Build with assets/figures/ present to place it here.</a:t>
            </a:r>
          </a:p>
        </p:txBody>
      </p:sp>
      <p:sp>
        <p:nvSpPr>
          <p:cNvPr id="10" name="TextBox 9"/>
          <p:cNvSpPr txBox="1"/>
          <p:nvPr/>
        </p:nvSpPr>
        <p:spPr>
          <a:xfrm>
            <a:off x="777240" y="5669280"/>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300" b="0" i="0">
                <a:solidFill>
                  <a:srgbClr val="818181"/>
                </a:solidFill>
                <a:latin typeface="Arial"/>
              </a:rPr>
              <a:t>Figure 2.7 - Lim, The Handbook of Technical Analysis (Wiley, 2016)</a:t>
            </a:r>
          </a:p>
        </p:txBody>
      </p:sp>
    </p:spTree>
  </p:cSld>
  <p:clrMapOvr>
    <a:masterClrMapping/>
  </p:clrMapOvr>
</p:sld>
</file>

<file path=ppt/slides/slide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TextBox 3"/>
          <p:cNvSpPr txBox="1"/>
          <p:nvPr/>
        </p:nvSpPr>
        <p:spPr>
          <a:xfrm>
            <a:off x="777240" y="658368"/>
            <a:ext cx="10637215" cy="914400"/>
          </a:xfrm>
          <a:prstGeom prst="rect">
            <a:avLst/>
          </a:prstGeom>
          <a:noFill/>
        </p:spPr>
        <p:txBody>
          <a:bodyPr wrap="square" anchor="t" lIns="0" rIns="0" tIns="0" bIns="0">
            <a:spAutoFit/>
          </a:bodyPr>
          <a:lstStyle/>
          <a:p>
            <a:pPr algn="l">
              <a:lnSpc>
                <a:spcPct val="105000"/>
              </a:lnSpc>
              <a:spcBef>
                <a:spcPts val="0"/>
              </a:spcBef>
              <a:spcAft>
                <a:spcPts val="0"/>
              </a:spcAft>
            </a:pPr>
            <a:r>
              <a:rPr sz="3000" b="0" i="0">
                <a:solidFill>
                  <a:srgbClr val="007A33"/>
                </a:solidFill>
                <a:latin typeface="Palatino"/>
              </a:rPr>
              <a:t>Two ways to define a trend, and they can disagree</a:t>
            </a:r>
          </a:p>
        </p:txBody>
      </p:sp>
      <p:sp>
        <p:nvSpPr>
          <p:cNvPr id="5" name="Rectangle 4"/>
          <p:cNvSpPr/>
          <p:nvPr/>
        </p:nvSpPr>
        <p:spPr>
          <a:xfrm>
            <a:off x="777240" y="1572768"/>
            <a:ext cx="10637215" cy="15875"/>
          </a:xfrm>
          <a:prstGeom prst="rect">
            <a:avLst/>
          </a:prstGeom>
          <a:solidFill>
            <a:srgbClr val="D7E0D9"/>
          </a:solidFill>
          <a:ln>
            <a:noFill/>
          </a:ln>
          <a:effectLst/>
        </p:spPr>
        <p:txBody>
          <a:bodyPr rtlCol="0" anchor="ctr"/>
          <a:lstStyle/>
          <a:p>
            <a:pPr algn="ctr"/>
          </a:p>
        </p:txBody>
      </p:sp>
      <p:sp>
        <p:nvSpPr>
          <p:cNvPr id="6" name="TextBox 5"/>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3 of 6 - Primary trend  |  21 of 28</a:t>
            </a:r>
          </a:p>
        </p:txBody>
      </p:sp>
      <p:sp>
        <p:nvSpPr>
          <p:cNvPr id="7" name="TextBox 6"/>
          <p:cNvSpPr txBox="1"/>
          <p:nvPr/>
        </p:nvSpPr>
        <p:spPr>
          <a:xfrm>
            <a:off x="777240" y="1965960"/>
            <a:ext cx="10637215" cy="3108960"/>
          </a:xfrm>
          <a:prstGeom prst="rect">
            <a:avLst/>
          </a:prstGeom>
          <a:noFill/>
        </p:spPr>
        <p:txBody>
          <a:bodyPr wrap="square" anchor="t" lIns="0" rIns="0" tIns="0" bIns="0">
            <a:spAutoFit/>
          </a:bodyPr>
          <a:lstStyle/>
          <a:p>
            <a:pPr algn="l">
              <a:lnSpc>
                <a:spcPct val="118000"/>
              </a:lnSpc>
              <a:spcBef>
                <a:spcPts val="0"/>
              </a:spcBef>
              <a:spcAft>
                <a:spcPts val="1300"/>
              </a:spcAft>
            </a:pPr>
            <a:r>
              <a:rPr sz="2100" b="0" i="0">
                <a:solidFill>
                  <a:srgbClr val="1A1A1A"/>
                </a:solidFill>
                <a:latin typeface="Arial"/>
              </a:rPr>
              <a:t>One way is the sequence of rising or falling peaks and troughs, which is the definition we just learned.</a:t>
            </a:r>
          </a:p>
          <a:p>
            <a:pPr algn="l">
              <a:lnSpc>
                <a:spcPct val="118000"/>
              </a:lnSpc>
              <a:spcBef>
                <a:spcPts val="0"/>
              </a:spcBef>
              <a:spcAft>
                <a:spcPts val="1300"/>
              </a:spcAft>
            </a:pPr>
            <a:r>
              <a:rPr sz="2100" b="0" i="0">
                <a:solidFill>
                  <a:srgbClr val="1A1A1A"/>
                </a:solidFill>
                <a:latin typeface="Arial"/>
              </a:rPr>
              <a:t>The other way is a trendline violation.</a:t>
            </a:r>
          </a:p>
        </p:txBody>
      </p:sp>
      <p:sp>
        <p:nvSpPr>
          <p:cNvPr id="8" name="Rectangle 7"/>
          <p:cNvSpPr/>
          <p:nvPr/>
        </p:nvSpPr>
        <p:spPr>
          <a:xfrm>
            <a:off x="777240" y="3586734"/>
            <a:ext cx="82296" cy="467614"/>
          </a:xfrm>
          <a:prstGeom prst="rect">
            <a:avLst/>
          </a:prstGeom>
          <a:solidFill>
            <a:srgbClr val="F2A900"/>
          </a:solidFill>
          <a:ln>
            <a:noFill/>
          </a:ln>
          <a:effectLst/>
        </p:spPr>
        <p:txBody>
          <a:bodyPr rtlCol="0" anchor="ctr"/>
          <a:lstStyle/>
          <a:p>
            <a:pPr algn="ctr"/>
          </a:p>
        </p:txBody>
      </p:sp>
      <p:sp>
        <p:nvSpPr>
          <p:cNvPr id="9" name="TextBox 8"/>
          <p:cNvSpPr txBox="1"/>
          <p:nvPr/>
        </p:nvSpPr>
        <p:spPr>
          <a:xfrm>
            <a:off x="1069848" y="3623310"/>
            <a:ext cx="10344607" cy="467614"/>
          </a:xfrm>
          <a:prstGeom prst="rect">
            <a:avLst/>
          </a:prstGeom>
          <a:noFill/>
        </p:spPr>
        <p:txBody>
          <a:bodyPr wrap="square" anchor="t" lIns="0" rIns="0" tIns="0" bIns="0">
            <a:spAutoFit/>
          </a:bodyPr>
          <a:lstStyle/>
          <a:p>
            <a:pPr algn="l">
              <a:lnSpc>
                <a:spcPct val="115000"/>
              </a:lnSpc>
              <a:spcBef>
                <a:spcPts val="0"/>
              </a:spcBef>
              <a:spcAft>
                <a:spcPts val="0"/>
              </a:spcAft>
            </a:pPr>
            <a:r>
              <a:rPr sz="2200" b="1" i="0">
                <a:solidFill>
                  <a:srgbClr val="1A1A1A"/>
                </a:solidFill>
                <a:latin typeface="Arial"/>
              </a:rPr>
              <a:t>The book says the two may date a change of trend differently.</a:t>
            </a:r>
          </a:p>
        </p:txBody>
      </p:sp>
    </p:spTree>
  </p:cSld>
  <p:clrMapOvr>
    <a:masterClrMapping/>
  </p:clrMapOvr>
</p:sld>
</file>

<file path=ppt/slides/slide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Rectangle 3"/>
          <p:cNvSpPr/>
          <p:nvPr/>
        </p:nvSpPr>
        <p:spPr>
          <a:xfrm>
            <a:off x="777240" y="566928"/>
            <a:ext cx="1234440" cy="329184"/>
          </a:xfrm>
          <a:prstGeom prst="rect">
            <a:avLst/>
          </a:prstGeom>
          <a:solidFill>
            <a:srgbClr val="F2A900"/>
          </a:solidFill>
          <a:ln>
            <a:noFill/>
          </a:ln>
          <a:effectLst/>
        </p:spPr>
        <p:txBody>
          <a:bodyPr rtlCol="0" anchor="ctr" wrap="none" lIns="0" rIns="0" tIns="0" bIns="0"/>
          <a:lstStyle/>
          <a:p>
            <a:pPr algn="ctr">
              <a:lnSpc>
                <a:spcPct val="100000"/>
              </a:lnSpc>
              <a:spcBef>
                <a:spcPts val="0"/>
              </a:spcBef>
              <a:spcAft>
                <a:spcPts val="0"/>
              </a:spcAft>
            </a:pPr>
            <a:r>
              <a:rPr sz="1200" b="1" i="0">
                <a:solidFill>
                  <a:srgbClr val="1A1A1A"/>
                </a:solidFill>
                <a:latin typeface="Arial"/>
              </a:rPr>
              <a:t>NEW TERM</a:t>
            </a:r>
          </a:p>
        </p:txBody>
      </p:sp>
      <p:sp>
        <p:nvSpPr>
          <p:cNvPr id="5" name="TextBox 4"/>
          <p:cNvSpPr txBox="1"/>
          <p:nvPr/>
        </p:nvSpPr>
        <p:spPr>
          <a:xfrm>
            <a:off x="777240" y="1051560"/>
            <a:ext cx="10637215" cy="822960"/>
          </a:xfrm>
          <a:prstGeom prst="rect">
            <a:avLst/>
          </a:prstGeom>
          <a:noFill/>
        </p:spPr>
        <p:txBody>
          <a:bodyPr wrap="square" anchor="t" lIns="0" rIns="0" tIns="0" bIns="0">
            <a:spAutoFit/>
          </a:bodyPr>
          <a:lstStyle/>
          <a:p>
            <a:pPr algn="l">
              <a:lnSpc>
                <a:spcPct val="105000"/>
              </a:lnSpc>
              <a:spcBef>
                <a:spcPts val="0"/>
              </a:spcBef>
              <a:spcAft>
                <a:spcPts val="0"/>
              </a:spcAft>
            </a:pPr>
            <a:r>
              <a:rPr sz="3200" b="0" i="0">
                <a:solidFill>
                  <a:srgbClr val="007A33"/>
                </a:solidFill>
                <a:latin typeface="Palatino"/>
              </a:rPr>
              <a:t>Arithmetic scaling</a:t>
            </a:r>
          </a:p>
        </p:txBody>
      </p:sp>
      <p:sp>
        <p:nvSpPr>
          <p:cNvPr id="6" name="Rectangle 5"/>
          <p:cNvSpPr/>
          <p:nvPr/>
        </p:nvSpPr>
        <p:spPr>
          <a:xfrm>
            <a:off x="777240" y="1874519"/>
            <a:ext cx="10637215" cy="15875"/>
          </a:xfrm>
          <a:prstGeom prst="rect">
            <a:avLst/>
          </a:prstGeom>
          <a:solidFill>
            <a:srgbClr val="D7E0D9"/>
          </a:solidFill>
          <a:ln>
            <a:noFill/>
          </a:ln>
          <a:effectLst/>
        </p:spPr>
        <p:txBody>
          <a:bodyPr rtlCol="0" anchor="ctr"/>
          <a:lstStyle/>
          <a:p>
            <a:pPr algn="ctr"/>
          </a:p>
        </p:txBody>
      </p:sp>
      <p:sp>
        <p:nvSpPr>
          <p:cNvPr id="7" name="Rectangle 6"/>
          <p:cNvSpPr/>
          <p:nvPr/>
        </p:nvSpPr>
        <p:spPr>
          <a:xfrm>
            <a:off x="777240" y="2258568"/>
            <a:ext cx="64008" cy="533527"/>
          </a:xfrm>
          <a:prstGeom prst="rect">
            <a:avLst/>
          </a:prstGeom>
          <a:solidFill>
            <a:srgbClr val="F2A900"/>
          </a:solidFill>
          <a:ln>
            <a:noFill/>
          </a:ln>
          <a:effectLst/>
        </p:spPr>
        <p:txBody>
          <a:bodyPr rtlCol="0" anchor="ctr"/>
          <a:lstStyle/>
          <a:p>
            <a:pPr algn="ctr"/>
          </a:p>
        </p:txBody>
      </p:sp>
      <p:sp>
        <p:nvSpPr>
          <p:cNvPr id="8" name="TextBox 7"/>
          <p:cNvSpPr txBox="1"/>
          <p:nvPr/>
        </p:nvSpPr>
        <p:spPr>
          <a:xfrm>
            <a:off x="1051560" y="2212848"/>
            <a:ext cx="10362895" cy="643255"/>
          </a:xfrm>
          <a:prstGeom prst="rect">
            <a:avLst/>
          </a:prstGeom>
          <a:noFill/>
        </p:spPr>
        <p:txBody>
          <a:bodyPr wrap="square" anchor="t" lIns="0" rIns="0" tIns="0" bIns="0">
            <a:spAutoFit/>
          </a:bodyPr>
          <a:lstStyle/>
          <a:p>
            <a:pPr algn="l">
              <a:lnSpc>
                <a:spcPct val="100000"/>
              </a:lnSpc>
              <a:spcBef>
                <a:spcPts val="0"/>
              </a:spcBef>
              <a:spcAft>
                <a:spcPts val="400"/>
              </a:spcAft>
            </a:pPr>
            <a:r>
              <a:rPr sz="1100" b="1" i="0">
                <a:solidFill>
                  <a:srgbClr val="818181"/>
                </a:solidFill>
                <a:latin typeface="Arial"/>
              </a:rPr>
              <a:t>IN PLAIN WORDS</a:t>
            </a:r>
          </a:p>
          <a:p>
            <a:pPr algn="l">
              <a:lnSpc>
                <a:spcPct val="115000"/>
              </a:lnSpc>
              <a:spcBef>
                <a:spcPts val="0"/>
              </a:spcBef>
              <a:spcAft>
                <a:spcPts val="0"/>
              </a:spcAft>
            </a:pPr>
            <a:r>
              <a:rPr sz="1900" b="1" i="0">
                <a:solidFill>
                  <a:srgbClr val="1A1A1A"/>
                </a:solidFill>
                <a:latin typeface="Arial"/>
              </a:rPr>
              <a:t>A price axis where equal distances up the page mean equal amounts of money.</a:t>
            </a:r>
          </a:p>
        </p:txBody>
      </p:sp>
      <p:sp>
        <p:nvSpPr>
          <p:cNvPr id="9" name="Rectangle 8"/>
          <p:cNvSpPr/>
          <p:nvPr/>
        </p:nvSpPr>
        <p:spPr>
          <a:xfrm>
            <a:off x="777240" y="3139567"/>
            <a:ext cx="64008" cy="811022"/>
          </a:xfrm>
          <a:prstGeom prst="rect">
            <a:avLst/>
          </a:prstGeom>
          <a:solidFill>
            <a:srgbClr val="D7E0D9"/>
          </a:solidFill>
          <a:ln>
            <a:noFill/>
          </a:ln>
          <a:effectLst/>
        </p:spPr>
        <p:txBody>
          <a:bodyPr rtlCol="0" anchor="ctr"/>
          <a:lstStyle/>
          <a:p>
            <a:pPr algn="ctr"/>
          </a:p>
        </p:txBody>
      </p:sp>
      <p:sp>
        <p:nvSpPr>
          <p:cNvPr id="10" name="TextBox 9"/>
          <p:cNvSpPr txBox="1"/>
          <p:nvPr/>
        </p:nvSpPr>
        <p:spPr>
          <a:xfrm>
            <a:off x="1051560" y="3093847"/>
            <a:ext cx="10362895" cy="920750"/>
          </a:xfrm>
          <a:prstGeom prst="rect">
            <a:avLst/>
          </a:prstGeom>
          <a:noFill/>
        </p:spPr>
        <p:txBody>
          <a:bodyPr wrap="square" anchor="t" lIns="0" rIns="0" tIns="0" bIns="0">
            <a:spAutoFit/>
          </a:bodyPr>
          <a:lstStyle/>
          <a:p>
            <a:pPr algn="l">
              <a:lnSpc>
                <a:spcPct val="100000"/>
              </a:lnSpc>
              <a:spcBef>
                <a:spcPts val="0"/>
              </a:spcBef>
              <a:spcAft>
                <a:spcPts val="400"/>
              </a:spcAft>
            </a:pPr>
            <a:r>
              <a:rPr sz="1100" b="1" i="0">
                <a:solidFill>
                  <a:srgbClr val="818181"/>
                </a:solidFill>
                <a:latin typeface="Arial"/>
              </a:rPr>
              <a:t>FOR EXAMPLE</a:t>
            </a:r>
          </a:p>
          <a:p>
            <a:pPr algn="l">
              <a:lnSpc>
                <a:spcPct val="115000"/>
              </a:lnSpc>
              <a:spcBef>
                <a:spcPts val="0"/>
              </a:spcBef>
              <a:spcAft>
                <a:spcPts val="0"/>
              </a:spcAft>
            </a:pPr>
            <a:r>
              <a:rPr sz="1900" b="0" i="0">
                <a:solidFill>
                  <a:srgbClr val="1A1A1A"/>
                </a:solidFill>
                <a:latin typeface="Arial"/>
              </a:rPr>
              <a:t>The gap from 100 to 110 pesos is exactly the same height as the gap from 200 to 210 pesos.</a:t>
            </a:r>
          </a:p>
        </p:txBody>
      </p:sp>
      <p:sp>
        <p:nvSpPr>
          <p:cNvPr id="11" name="Rectangle 10"/>
          <p:cNvSpPr/>
          <p:nvPr/>
        </p:nvSpPr>
        <p:spPr>
          <a:xfrm>
            <a:off x="777240" y="4298061"/>
            <a:ext cx="64008" cy="1088517"/>
          </a:xfrm>
          <a:prstGeom prst="rect">
            <a:avLst/>
          </a:prstGeom>
          <a:solidFill>
            <a:srgbClr val="D7E0D9"/>
          </a:solidFill>
          <a:ln>
            <a:noFill/>
          </a:ln>
          <a:effectLst/>
        </p:spPr>
        <p:txBody>
          <a:bodyPr rtlCol="0" anchor="ctr"/>
          <a:lstStyle/>
          <a:p>
            <a:pPr algn="ctr"/>
          </a:p>
        </p:txBody>
      </p:sp>
      <p:sp>
        <p:nvSpPr>
          <p:cNvPr id="12" name="TextBox 11"/>
          <p:cNvSpPr txBox="1"/>
          <p:nvPr/>
        </p:nvSpPr>
        <p:spPr>
          <a:xfrm>
            <a:off x="1051560" y="4252341"/>
            <a:ext cx="10362895" cy="1198245"/>
          </a:xfrm>
          <a:prstGeom prst="rect">
            <a:avLst/>
          </a:prstGeom>
          <a:noFill/>
        </p:spPr>
        <p:txBody>
          <a:bodyPr wrap="square" anchor="t" lIns="0" rIns="0" tIns="0" bIns="0">
            <a:spAutoFit/>
          </a:bodyPr>
          <a:lstStyle/>
          <a:p>
            <a:pPr algn="l">
              <a:lnSpc>
                <a:spcPct val="100000"/>
              </a:lnSpc>
              <a:spcBef>
                <a:spcPts val="0"/>
              </a:spcBef>
              <a:spcAft>
                <a:spcPts val="400"/>
              </a:spcAft>
            </a:pPr>
            <a:r>
              <a:rPr sz="1100" b="1" i="0">
                <a:solidFill>
                  <a:srgbClr val="818181"/>
                </a:solidFill>
                <a:latin typeface="Arial"/>
              </a:rPr>
              <a:t>THE FORMAL DEFINITION</a:t>
            </a:r>
          </a:p>
          <a:p>
            <a:pPr algn="l">
              <a:lnSpc>
                <a:spcPct val="115000"/>
              </a:lnSpc>
              <a:spcBef>
                <a:spcPts val="0"/>
              </a:spcBef>
              <a:spcAft>
                <a:spcPts val="0"/>
              </a:spcAft>
            </a:pPr>
            <a:r>
              <a:rPr sz="1900" b="0" i="0">
                <a:solidFill>
                  <a:srgbClr val="1A1A1A"/>
                </a:solidFill>
                <a:latin typeface="Arial"/>
              </a:rPr>
              <a:t>An arithmetically scaled chart plots price in equal price increments. Arithmetically scaled charts tend to give slower trend change signals, as uptrend lines are violated much later.</a:t>
            </a:r>
          </a:p>
        </p:txBody>
      </p:sp>
      <p:sp>
        <p:nvSpPr>
          <p:cNvPr id="13" name="TextBox 12"/>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3 of 6 - Primary trend  |  22 of 28</a:t>
            </a:r>
          </a:p>
        </p:txBody>
      </p:sp>
    </p:spTree>
  </p:cSld>
  <p:clrMapOvr>
    <a:masterClrMapping/>
  </p:clrMapOvr>
</p:sld>
</file>

<file path=ppt/slides/slide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Rectangle 3"/>
          <p:cNvSpPr/>
          <p:nvPr/>
        </p:nvSpPr>
        <p:spPr>
          <a:xfrm>
            <a:off x="777240" y="566928"/>
            <a:ext cx="1234440" cy="329184"/>
          </a:xfrm>
          <a:prstGeom prst="rect">
            <a:avLst/>
          </a:prstGeom>
          <a:solidFill>
            <a:srgbClr val="F2A900"/>
          </a:solidFill>
          <a:ln>
            <a:noFill/>
          </a:ln>
          <a:effectLst/>
        </p:spPr>
        <p:txBody>
          <a:bodyPr rtlCol="0" anchor="ctr" wrap="none" lIns="0" rIns="0" tIns="0" bIns="0"/>
          <a:lstStyle/>
          <a:p>
            <a:pPr algn="ctr">
              <a:lnSpc>
                <a:spcPct val="100000"/>
              </a:lnSpc>
              <a:spcBef>
                <a:spcPts val="0"/>
              </a:spcBef>
              <a:spcAft>
                <a:spcPts val="0"/>
              </a:spcAft>
            </a:pPr>
            <a:r>
              <a:rPr sz="1200" b="1" i="0">
                <a:solidFill>
                  <a:srgbClr val="1A1A1A"/>
                </a:solidFill>
                <a:latin typeface="Arial"/>
              </a:rPr>
              <a:t>NEW TERM</a:t>
            </a:r>
          </a:p>
        </p:txBody>
      </p:sp>
      <p:sp>
        <p:nvSpPr>
          <p:cNvPr id="5" name="TextBox 4"/>
          <p:cNvSpPr txBox="1"/>
          <p:nvPr/>
        </p:nvSpPr>
        <p:spPr>
          <a:xfrm>
            <a:off x="777240" y="1051560"/>
            <a:ext cx="10637215" cy="822960"/>
          </a:xfrm>
          <a:prstGeom prst="rect">
            <a:avLst/>
          </a:prstGeom>
          <a:noFill/>
        </p:spPr>
        <p:txBody>
          <a:bodyPr wrap="square" anchor="t" lIns="0" rIns="0" tIns="0" bIns="0">
            <a:spAutoFit/>
          </a:bodyPr>
          <a:lstStyle/>
          <a:p>
            <a:pPr algn="l">
              <a:lnSpc>
                <a:spcPct val="105000"/>
              </a:lnSpc>
              <a:spcBef>
                <a:spcPts val="0"/>
              </a:spcBef>
              <a:spcAft>
                <a:spcPts val="0"/>
              </a:spcAft>
            </a:pPr>
            <a:r>
              <a:rPr sz="3200" b="0" i="0">
                <a:solidFill>
                  <a:srgbClr val="007A33"/>
                </a:solidFill>
                <a:latin typeface="Palatino"/>
              </a:rPr>
              <a:t>Logarithmic scaling</a:t>
            </a:r>
          </a:p>
        </p:txBody>
      </p:sp>
      <p:sp>
        <p:nvSpPr>
          <p:cNvPr id="6" name="Rectangle 5"/>
          <p:cNvSpPr/>
          <p:nvPr/>
        </p:nvSpPr>
        <p:spPr>
          <a:xfrm>
            <a:off x="777240" y="1874519"/>
            <a:ext cx="10637215" cy="15875"/>
          </a:xfrm>
          <a:prstGeom prst="rect">
            <a:avLst/>
          </a:prstGeom>
          <a:solidFill>
            <a:srgbClr val="D7E0D9"/>
          </a:solidFill>
          <a:ln>
            <a:noFill/>
          </a:ln>
          <a:effectLst/>
        </p:spPr>
        <p:txBody>
          <a:bodyPr rtlCol="0" anchor="ctr"/>
          <a:lstStyle/>
          <a:p>
            <a:pPr algn="ctr"/>
          </a:p>
        </p:txBody>
      </p:sp>
      <p:sp>
        <p:nvSpPr>
          <p:cNvPr id="7" name="Rectangle 6"/>
          <p:cNvSpPr/>
          <p:nvPr/>
        </p:nvSpPr>
        <p:spPr>
          <a:xfrm>
            <a:off x="777240" y="2258568"/>
            <a:ext cx="64008" cy="533527"/>
          </a:xfrm>
          <a:prstGeom prst="rect">
            <a:avLst/>
          </a:prstGeom>
          <a:solidFill>
            <a:srgbClr val="F2A900"/>
          </a:solidFill>
          <a:ln>
            <a:noFill/>
          </a:ln>
          <a:effectLst/>
        </p:spPr>
        <p:txBody>
          <a:bodyPr rtlCol="0" anchor="ctr"/>
          <a:lstStyle/>
          <a:p>
            <a:pPr algn="ctr"/>
          </a:p>
        </p:txBody>
      </p:sp>
      <p:sp>
        <p:nvSpPr>
          <p:cNvPr id="8" name="TextBox 7"/>
          <p:cNvSpPr txBox="1"/>
          <p:nvPr/>
        </p:nvSpPr>
        <p:spPr>
          <a:xfrm>
            <a:off x="1051560" y="2212848"/>
            <a:ext cx="10362895" cy="643255"/>
          </a:xfrm>
          <a:prstGeom prst="rect">
            <a:avLst/>
          </a:prstGeom>
          <a:noFill/>
        </p:spPr>
        <p:txBody>
          <a:bodyPr wrap="square" anchor="t" lIns="0" rIns="0" tIns="0" bIns="0">
            <a:spAutoFit/>
          </a:bodyPr>
          <a:lstStyle/>
          <a:p>
            <a:pPr algn="l">
              <a:lnSpc>
                <a:spcPct val="100000"/>
              </a:lnSpc>
              <a:spcBef>
                <a:spcPts val="0"/>
              </a:spcBef>
              <a:spcAft>
                <a:spcPts val="400"/>
              </a:spcAft>
            </a:pPr>
            <a:r>
              <a:rPr sz="1100" b="1" i="0">
                <a:solidFill>
                  <a:srgbClr val="818181"/>
                </a:solidFill>
                <a:latin typeface="Arial"/>
              </a:rPr>
              <a:t>IN PLAIN WORDS</a:t>
            </a:r>
          </a:p>
          <a:p>
            <a:pPr algn="l">
              <a:lnSpc>
                <a:spcPct val="115000"/>
              </a:lnSpc>
              <a:spcBef>
                <a:spcPts val="0"/>
              </a:spcBef>
              <a:spcAft>
                <a:spcPts val="0"/>
              </a:spcAft>
            </a:pPr>
            <a:r>
              <a:rPr sz="1900" b="1" i="0">
                <a:solidFill>
                  <a:srgbClr val="1A1A1A"/>
                </a:solidFill>
                <a:latin typeface="Arial"/>
              </a:rPr>
              <a:t>A price axis where equal distances up the page mean equal percentage moves.</a:t>
            </a:r>
          </a:p>
        </p:txBody>
      </p:sp>
      <p:sp>
        <p:nvSpPr>
          <p:cNvPr id="9" name="Rectangle 8"/>
          <p:cNvSpPr/>
          <p:nvPr/>
        </p:nvSpPr>
        <p:spPr>
          <a:xfrm>
            <a:off x="777240" y="3139567"/>
            <a:ext cx="64008" cy="811022"/>
          </a:xfrm>
          <a:prstGeom prst="rect">
            <a:avLst/>
          </a:prstGeom>
          <a:solidFill>
            <a:srgbClr val="D7E0D9"/>
          </a:solidFill>
          <a:ln>
            <a:noFill/>
          </a:ln>
          <a:effectLst/>
        </p:spPr>
        <p:txBody>
          <a:bodyPr rtlCol="0" anchor="ctr"/>
          <a:lstStyle/>
          <a:p>
            <a:pPr algn="ctr"/>
          </a:p>
        </p:txBody>
      </p:sp>
      <p:sp>
        <p:nvSpPr>
          <p:cNvPr id="10" name="TextBox 9"/>
          <p:cNvSpPr txBox="1"/>
          <p:nvPr/>
        </p:nvSpPr>
        <p:spPr>
          <a:xfrm>
            <a:off x="1051560" y="3093847"/>
            <a:ext cx="10362895" cy="920750"/>
          </a:xfrm>
          <a:prstGeom prst="rect">
            <a:avLst/>
          </a:prstGeom>
          <a:noFill/>
        </p:spPr>
        <p:txBody>
          <a:bodyPr wrap="square" anchor="t" lIns="0" rIns="0" tIns="0" bIns="0">
            <a:spAutoFit/>
          </a:bodyPr>
          <a:lstStyle/>
          <a:p>
            <a:pPr algn="l">
              <a:lnSpc>
                <a:spcPct val="100000"/>
              </a:lnSpc>
              <a:spcBef>
                <a:spcPts val="0"/>
              </a:spcBef>
              <a:spcAft>
                <a:spcPts val="400"/>
              </a:spcAft>
            </a:pPr>
            <a:r>
              <a:rPr sz="1100" b="1" i="0">
                <a:solidFill>
                  <a:srgbClr val="818181"/>
                </a:solidFill>
                <a:latin typeface="Arial"/>
              </a:rPr>
              <a:t>FOR EXAMPLE</a:t>
            </a:r>
          </a:p>
          <a:p>
            <a:pPr algn="l">
              <a:lnSpc>
                <a:spcPct val="115000"/>
              </a:lnSpc>
              <a:spcBef>
                <a:spcPts val="0"/>
              </a:spcBef>
              <a:spcAft>
                <a:spcPts val="0"/>
              </a:spcAft>
            </a:pPr>
            <a:r>
              <a:rPr sz="1900" b="0" i="0">
                <a:solidFill>
                  <a:srgbClr val="1A1A1A"/>
                </a:solidFill>
                <a:latin typeface="Arial"/>
              </a:rPr>
              <a:t>The gap from 100 to 110 pesos is the same height as the gap from 200 to 220 pesos, because both are ten percent.</a:t>
            </a:r>
          </a:p>
        </p:txBody>
      </p:sp>
      <p:sp>
        <p:nvSpPr>
          <p:cNvPr id="11" name="Rectangle 10"/>
          <p:cNvSpPr/>
          <p:nvPr/>
        </p:nvSpPr>
        <p:spPr>
          <a:xfrm>
            <a:off x="777240" y="4298061"/>
            <a:ext cx="64008" cy="1088517"/>
          </a:xfrm>
          <a:prstGeom prst="rect">
            <a:avLst/>
          </a:prstGeom>
          <a:solidFill>
            <a:srgbClr val="D7E0D9"/>
          </a:solidFill>
          <a:ln>
            <a:noFill/>
          </a:ln>
          <a:effectLst/>
        </p:spPr>
        <p:txBody>
          <a:bodyPr rtlCol="0" anchor="ctr"/>
          <a:lstStyle/>
          <a:p>
            <a:pPr algn="ctr"/>
          </a:p>
        </p:txBody>
      </p:sp>
      <p:sp>
        <p:nvSpPr>
          <p:cNvPr id="12" name="TextBox 11"/>
          <p:cNvSpPr txBox="1"/>
          <p:nvPr/>
        </p:nvSpPr>
        <p:spPr>
          <a:xfrm>
            <a:off x="1051560" y="4252341"/>
            <a:ext cx="10362895" cy="1198245"/>
          </a:xfrm>
          <a:prstGeom prst="rect">
            <a:avLst/>
          </a:prstGeom>
          <a:noFill/>
        </p:spPr>
        <p:txBody>
          <a:bodyPr wrap="square" anchor="t" lIns="0" rIns="0" tIns="0" bIns="0">
            <a:spAutoFit/>
          </a:bodyPr>
          <a:lstStyle/>
          <a:p>
            <a:pPr algn="l">
              <a:lnSpc>
                <a:spcPct val="100000"/>
              </a:lnSpc>
              <a:spcBef>
                <a:spcPts val="0"/>
              </a:spcBef>
              <a:spcAft>
                <a:spcPts val="400"/>
              </a:spcAft>
            </a:pPr>
            <a:r>
              <a:rPr sz="1100" b="1" i="0">
                <a:solidFill>
                  <a:srgbClr val="818181"/>
                </a:solidFill>
                <a:latin typeface="Arial"/>
              </a:rPr>
              <a:t>THE FORMAL DEFINITION</a:t>
            </a:r>
          </a:p>
          <a:p>
            <a:pPr algn="l">
              <a:lnSpc>
                <a:spcPct val="115000"/>
              </a:lnSpc>
              <a:spcBef>
                <a:spcPts val="0"/>
              </a:spcBef>
              <a:spcAft>
                <a:spcPts val="0"/>
              </a:spcAft>
            </a:pPr>
            <a:r>
              <a:rPr sz="1900" b="0" i="0">
                <a:solidFill>
                  <a:srgbClr val="1A1A1A"/>
                </a:solidFill>
                <a:latin typeface="Arial"/>
              </a:rPr>
              <a:t>A logarithmically scaled chart plots price in equal proportional increments. Logarithmically scaled charts tend to give earlier trend change signals, since uptrend lines are violated sooner.</a:t>
            </a:r>
          </a:p>
        </p:txBody>
      </p:sp>
      <p:sp>
        <p:nvSpPr>
          <p:cNvPr id="13" name="TextBox 12"/>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3 of 6 - Primary trend  |  23 of 28</a:t>
            </a:r>
          </a:p>
        </p:txBody>
      </p:sp>
    </p:spTree>
  </p:cSld>
  <p:clrMapOvr>
    <a:masterClrMapping/>
  </p:clrMapOvr>
</p:sld>
</file>

<file path=ppt/slides/slide5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TextBox 3"/>
          <p:cNvSpPr txBox="1"/>
          <p:nvPr/>
        </p:nvSpPr>
        <p:spPr>
          <a:xfrm>
            <a:off x="777240" y="658368"/>
            <a:ext cx="10637215" cy="914400"/>
          </a:xfrm>
          <a:prstGeom prst="rect">
            <a:avLst/>
          </a:prstGeom>
          <a:noFill/>
        </p:spPr>
        <p:txBody>
          <a:bodyPr wrap="square" anchor="t" lIns="0" rIns="0" tIns="0" bIns="0">
            <a:spAutoFit/>
          </a:bodyPr>
          <a:lstStyle/>
          <a:p>
            <a:pPr algn="l">
              <a:lnSpc>
                <a:spcPct val="105000"/>
              </a:lnSpc>
              <a:spcBef>
                <a:spcPts val="0"/>
              </a:spcBef>
              <a:spcAft>
                <a:spcPts val="0"/>
              </a:spcAft>
            </a:pPr>
            <a:r>
              <a:rPr sz="3000" b="0" i="0">
                <a:solidFill>
                  <a:srgbClr val="007A33"/>
                </a:solidFill>
                <a:latin typeface="Palatino"/>
              </a:rPr>
              <a:t>Log scaling, the earlier signal</a:t>
            </a:r>
          </a:p>
        </p:txBody>
      </p:sp>
      <p:sp>
        <p:nvSpPr>
          <p:cNvPr id="5" name="Rectangle 4"/>
          <p:cNvSpPr/>
          <p:nvPr/>
        </p:nvSpPr>
        <p:spPr>
          <a:xfrm>
            <a:off x="777240" y="1572768"/>
            <a:ext cx="10637215" cy="15875"/>
          </a:xfrm>
          <a:prstGeom prst="rect">
            <a:avLst/>
          </a:prstGeom>
          <a:solidFill>
            <a:srgbClr val="D7E0D9"/>
          </a:solidFill>
          <a:ln>
            <a:noFill/>
          </a:ln>
          <a:effectLst/>
        </p:spPr>
        <p:txBody>
          <a:bodyPr rtlCol="0" anchor="ctr"/>
          <a:lstStyle/>
          <a:p>
            <a:pPr algn="ctr"/>
          </a:p>
        </p:txBody>
      </p:sp>
      <p:sp>
        <p:nvSpPr>
          <p:cNvPr id="6" name="TextBox 5"/>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3 of 6 - Primary trend  |  24 of 28</a:t>
            </a:r>
          </a:p>
        </p:txBody>
      </p:sp>
      <p:sp>
        <p:nvSpPr>
          <p:cNvPr id="7" name="Rectangle 6"/>
          <p:cNvSpPr/>
          <p:nvPr/>
        </p:nvSpPr>
        <p:spPr>
          <a:xfrm>
            <a:off x="2346807" y="1810512"/>
            <a:ext cx="7498079" cy="3749039"/>
          </a:xfrm>
          <a:prstGeom prst="rect">
            <a:avLst/>
          </a:prstGeom>
          <a:solidFill>
            <a:srgbClr val="FFFFFF"/>
          </a:solidFill>
          <a:ln w="12700">
            <a:solidFill>
              <a:srgbClr val="D7E0D9"/>
            </a:solidFill>
          </a:ln>
          <a:effectLst/>
        </p:spPr>
        <p:txBody>
          <a:bodyPr rtlCol="0" anchor="ctr"/>
          <a:lstStyle/>
          <a:p>
            <a:pPr algn="ctr"/>
          </a:p>
        </p:txBody>
      </p:sp>
      <p:sp>
        <p:nvSpPr>
          <p:cNvPr id="8" name="Rectangle 7"/>
          <p:cNvSpPr/>
          <p:nvPr/>
        </p:nvSpPr>
        <p:spPr>
          <a:xfrm>
            <a:off x="2346807" y="1810512"/>
            <a:ext cx="7498079" cy="50800"/>
          </a:xfrm>
          <a:prstGeom prst="rect">
            <a:avLst/>
          </a:prstGeom>
          <a:solidFill>
            <a:srgbClr val="F2A900"/>
          </a:solidFill>
          <a:ln>
            <a:noFill/>
          </a:ln>
          <a:effectLst/>
        </p:spPr>
        <p:txBody>
          <a:bodyPr rtlCol="0" anchor="ctr"/>
          <a:lstStyle/>
          <a:p>
            <a:pPr algn="ctr"/>
          </a:p>
        </p:txBody>
      </p:sp>
      <p:sp>
        <p:nvSpPr>
          <p:cNvPr id="9" name="TextBox 8"/>
          <p:cNvSpPr txBox="1"/>
          <p:nvPr/>
        </p:nvSpPr>
        <p:spPr>
          <a:xfrm>
            <a:off x="2895447" y="2450591"/>
            <a:ext cx="6400799" cy="2651759"/>
          </a:xfrm>
          <a:prstGeom prst="rect">
            <a:avLst/>
          </a:prstGeom>
          <a:noFill/>
        </p:spPr>
        <p:txBody>
          <a:bodyPr wrap="square" anchor="t" lIns="0" rIns="0" tIns="0" bIns="0">
            <a:spAutoFit/>
          </a:bodyPr>
          <a:lstStyle/>
          <a:p>
            <a:pPr algn="l">
              <a:lnSpc>
                <a:spcPct val="100000"/>
              </a:lnSpc>
              <a:spcBef>
                <a:spcPts val="0"/>
              </a:spcBef>
              <a:spcAft>
                <a:spcPts val="1400"/>
              </a:spcAft>
            </a:pPr>
            <a:r>
              <a:rPr sz="1500" b="1" i="0">
                <a:solidFill>
                  <a:srgbClr val="818181"/>
                </a:solidFill>
                <a:latin typeface="Arial"/>
              </a:rPr>
              <a:t>FIGURE 2.8</a:t>
            </a:r>
          </a:p>
          <a:p>
            <a:pPr algn="l">
              <a:lnSpc>
                <a:spcPct val="120000"/>
              </a:lnSpc>
              <a:spcBef>
                <a:spcPts val="0"/>
              </a:spcBef>
              <a:spcAft>
                <a:spcPts val="1800"/>
              </a:spcAft>
            </a:pPr>
            <a:r>
              <a:rPr sz="2200" b="0" i="0">
                <a:solidFill>
                  <a:srgbClr val="1A1A1A"/>
                </a:solidFill>
                <a:latin typeface="Palatino"/>
              </a:rPr>
              <a:t>A logarithmically scaled chart of the Nasdaq 100 index through a bull market turning into a bear market, annotated with an earlier trend change signal.</a:t>
            </a:r>
          </a:p>
          <a:p>
            <a:pPr algn="l">
              <a:lnSpc>
                <a:spcPct val="115000"/>
              </a:lnSpc>
              <a:spcBef>
                <a:spcPts val="0"/>
              </a:spcBef>
              <a:spcAft>
                <a:spcPts val="0"/>
              </a:spcAft>
            </a:pPr>
            <a:r>
              <a:rPr sz="1400" b="0" i="1">
                <a:solidFill>
                  <a:srgbClr val="818181"/>
                </a:solidFill>
                <a:latin typeface="Arial"/>
              </a:rPr>
              <a:t>The artwork is copyrighted and is not in the public repository. Build with assets/figures/ present to place it here.</a:t>
            </a:r>
          </a:p>
        </p:txBody>
      </p:sp>
      <p:sp>
        <p:nvSpPr>
          <p:cNvPr id="10" name="TextBox 9"/>
          <p:cNvSpPr txBox="1"/>
          <p:nvPr/>
        </p:nvSpPr>
        <p:spPr>
          <a:xfrm>
            <a:off x="777240" y="5669280"/>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300" b="0" i="0">
                <a:solidFill>
                  <a:srgbClr val="818181"/>
                </a:solidFill>
                <a:latin typeface="Arial"/>
              </a:rPr>
              <a:t>Figure 2.8 - Lim, The Handbook of Technical Analysis (Wiley, 2016)</a:t>
            </a:r>
          </a:p>
        </p:txBody>
      </p:sp>
    </p:spTree>
  </p:cSld>
  <p:clrMapOvr>
    <a:masterClrMapping/>
  </p:clrMapOvr>
</p:sld>
</file>

<file path=ppt/slides/slide5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TextBox 3"/>
          <p:cNvSpPr txBox="1"/>
          <p:nvPr/>
        </p:nvSpPr>
        <p:spPr>
          <a:xfrm>
            <a:off x="777240" y="658368"/>
            <a:ext cx="10637215" cy="914400"/>
          </a:xfrm>
          <a:prstGeom prst="rect">
            <a:avLst/>
          </a:prstGeom>
          <a:noFill/>
        </p:spPr>
        <p:txBody>
          <a:bodyPr wrap="square" anchor="t" lIns="0" rIns="0" tIns="0" bIns="0">
            <a:spAutoFit/>
          </a:bodyPr>
          <a:lstStyle/>
          <a:p>
            <a:pPr algn="l">
              <a:lnSpc>
                <a:spcPct val="105000"/>
              </a:lnSpc>
              <a:spcBef>
                <a:spcPts val="0"/>
              </a:spcBef>
              <a:spcAft>
                <a:spcPts val="0"/>
              </a:spcAft>
            </a:pPr>
            <a:r>
              <a:rPr sz="3000" b="0" i="0">
                <a:solidFill>
                  <a:srgbClr val="007A33"/>
                </a:solidFill>
                <a:latin typeface="Palatino"/>
              </a:rPr>
              <a:t>Arithmetic scaling, the later signal</a:t>
            </a:r>
          </a:p>
        </p:txBody>
      </p:sp>
      <p:sp>
        <p:nvSpPr>
          <p:cNvPr id="5" name="Rectangle 4"/>
          <p:cNvSpPr/>
          <p:nvPr/>
        </p:nvSpPr>
        <p:spPr>
          <a:xfrm>
            <a:off x="777240" y="1572768"/>
            <a:ext cx="10637215" cy="15875"/>
          </a:xfrm>
          <a:prstGeom prst="rect">
            <a:avLst/>
          </a:prstGeom>
          <a:solidFill>
            <a:srgbClr val="D7E0D9"/>
          </a:solidFill>
          <a:ln>
            <a:noFill/>
          </a:ln>
          <a:effectLst/>
        </p:spPr>
        <p:txBody>
          <a:bodyPr rtlCol="0" anchor="ctr"/>
          <a:lstStyle/>
          <a:p>
            <a:pPr algn="ctr"/>
          </a:p>
        </p:txBody>
      </p:sp>
      <p:sp>
        <p:nvSpPr>
          <p:cNvPr id="6" name="TextBox 5"/>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3 of 6 - Primary trend  |  25 of 28</a:t>
            </a:r>
          </a:p>
        </p:txBody>
      </p:sp>
      <p:sp>
        <p:nvSpPr>
          <p:cNvPr id="7" name="Rectangle 6"/>
          <p:cNvSpPr/>
          <p:nvPr/>
        </p:nvSpPr>
        <p:spPr>
          <a:xfrm>
            <a:off x="2346807" y="1810512"/>
            <a:ext cx="7498079" cy="3749039"/>
          </a:xfrm>
          <a:prstGeom prst="rect">
            <a:avLst/>
          </a:prstGeom>
          <a:solidFill>
            <a:srgbClr val="FFFFFF"/>
          </a:solidFill>
          <a:ln w="12700">
            <a:solidFill>
              <a:srgbClr val="D7E0D9"/>
            </a:solidFill>
          </a:ln>
          <a:effectLst/>
        </p:spPr>
        <p:txBody>
          <a:bodyPr rtlCol="0" anchor="ctr"/>
          <a:lstStyle/>
          <a:p>
            <a:pPr algn="ctr"/>
          </a:p>
        </p:txBody>
      </p:sp>
      <p:sp>
        <p:nvSpPr>
          <p:cNvPr id="8" name="Rectangle 7"/>
          <p:cNvSpPr/>
          <p:nvPr/>
        </p:nvSpPr>
        <p:spPr>
          <a:xfrm>
            <a:off x="2346807" y="1810512"/>
            <a:ext cx="7498079" cy="50800"/>
          </a:xfrm>
          <a:prstGeom prst="rect">
            <a:avLst/>
          </a:prstGeom>
          <a:solidFill>
            <a:srgbClr val="F2A900"/>
          </a:solidFill>
          <a:ln>
            <a:noFill/>
          </a:ln>
          <a:effectLst/>
        </p:spPr>
        <p:txBody>
          <a:bodyPr rtlCol="0" anchor="ctr"/>
          <a:lstStyle/>
          <a:p>
            <a:pPr algn="ctr"/>
          </a:p>
        </p:txBody>
      </p:sp>
      <p:sp>
        <p:nvSpPr>
          <p:cNvPr id="9" name="TextBox 8"/>
          <p:cNvSpPr txBox="1"/>
          <p:nvPr/>
        </p:nvSpPr>
        <p:spPr>
          <a:xfrm>
            <a:off x="2895447" y="2450591"/>
            <a:ext cx="6400799" cy="2651759"/>
          </a:xfrm>
          <a:prstGeom prst="rect">
            <a:avLst/>
          </a:prstGeom>
          <a:noFill/>
        </p:spPr>
        <p:txBody>
          <a:bodyPr wrap="square" anchor="t" lIns="0" rIns="0" tIns="0" bIns="0">
            <a:spAutoFit/>
          </a:bodyPr>
          <a:lstStyle/>
          <a:p>
            <a:pPr algn="l">
              <a:lnSpc>
                <a:spcPct val="100000"/>
              </a:lnSpc>
              <a:spcBef>
                <a:spcPts val="0"/>
              </a:spcBef>
              <a:spcAft>
                <a:spcPts val="1400"/>
              </a:spcAft>
            </a:pPr>
            <a:r>
              <a:rPr sz="1500" b="1" i="0">
                <a:solidFill>
                  <a:srgbClr val="818181"/>
                </a:solidFill>
                <a:latin typeface="Arial"/>
              </a:rPr>
              <a:t>FIGURE 2.9</a:t>
            </a:r>
          </a:p>
          <a:p>
            <a:pPr algn="l">
              <a:lnSpc>
                <a:spcPct val="120000"/>
              </a:lnSpc>
              <a:spcBef>
                <a:spcPts val="0"/>
              </a:spcBef>
              <a:spcAft>
                <a:spcPts val="1800"/>
              </a:spcAft>
            </a:pPr>
            <a:r>
              <a:rPr sz="2200" b="0" i="0">
                <a:solidFill>
                  <a:srgbClr val="1A1A1A"/>
                </a:solidFill>
                <a:latin typeface="Palatino"/>
              </a:rPr>
              <a:t>The same Nasdaq 100 index over the same period on an arithmetic scale, annotated with a slower trend change signal.</a:t>
            </a:r>
          </a:p>
          <a:p>
            <a:pPr algn="l">
              <a:lnSpc>
                <a:spcPct val="115000"/>
              </a:lnSpc>
              <a:spcBef>
                <a:spcPts val="0"/>
              </a:spcBef>
              <a:spcAft>
                <a:spcPts val="0"/>
              </a:spcAft>
            </a:pPr>
            <a:r>
              <a:rPr sz="1400" b="0" i="1">
                <a:solidFill>
                  <a:srgbClr val="818181"/>
                </a:solidFill>
                <a:latin typeface="Arial"/>
              </a:rPr>
              <a:t>The artwork is copyrighted and is not in the public repository. Build with assets/figures/ present to place it here.</a:t>
            </a:r>
          </a:p>
        </p:txBody>
      </p:sp>
      <p:sp>
        <p:nvSpPr>
          <p:cNvPr id="10" name="TextBox 9"/>
          <p:cNvSpPr txBox="1"/>
          <p:nvPr/>
        </p:nvSpPr>
        <p:spPr>
          <a:xfrm>
            <a:off x="777240" y="5669280"/>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300" b="0" i="0">
                <a:solidFill>
                  <a:srgbClr val="818181"/>
                </a:solidFill>
                <a:latin typeface="Arial"/>
              </a:rPr>
              <a:t>Figure 2.9 - Lim, The Handbook of Technical Analysis (Wiley, 2016)</a:t>
            </a:r>
          </a:p>
        </p:txBody>
      </p:sp>
    </p:spTree>
  </p:cSld>
  <p:clrMapOvr>
    <a:masterClrMapping/>
  </p:clrMapOvr>
</p:sld>
</file>

<file path=ppt/slides/slide6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TextBox 3"/>
          <p:cNvSpPr txBox="1"/>
          <p:nvPr/>
        </p:nvSpPr>
        <p:spPr>
          <a:xfrm>
            <a:off x="777240" y="658368"/>
            <a:ext cx="10637215" cy="914400"/>
          </a:xfrm>
          <a:prstGeom prst="rect">
            <a:avLst/>
          </a:prstGeom>
          <a:noFill/>
        </p:spPr>
        <p:txBody>
          <a:bodyPr wrap="square" anchor="t" lIns="0" rIns="0" tIns="0" bIns="0">
            <a:spAutoFit/>
          </a:bodyPr>
          <a:lstStyle/>
          <a:p>
            <a:pPr algn="l">
              <a:lnSpc>
                <a:spcPct val="105000"/>
              </a:lnSpc>
              <a:spcBef>
                <a:spcPts val="0"/>
              </a:spcBef>
              <a:spcAft>
                <a:spcPts val="0"/>
              </a:spcAft>
            </a:pPr>
            <a:r>
              <a:rPr sz="3000" b="0" i="0">
                <a:solidFill>
                  <a:srgbClr val="007A33"/>
                </a:solidFill>
                <a:latin typeface="Palatino"/>
              </a:rPr>
              <a:t>One stock, flattening out</a:t>
            </a:r>
          </a:p>
        </p:txBody>
      </p:sp>
      <p:sp>
        <p:nvSpPr>
          <p:cNvPr id="5" name="Rectangle 4"/>
          <p:cNvSpPr/>
          <p:nvPr/>
        </p:nvSpPr>
        <p:spPr>
          <a:xfrm>
            <a:off x="777240" y="1572768"/>
            <a:ext cx="10637215" cy="15875"/>
          </a:xfrm>
          <a:prstGeom prst="rect">
            <a:avLst/>
          </a:prstGeom>
          <a:solidFill>
            <a:srgbClr val="D7E0D9"/>
          </a:solidFill>
          <a:ln>
            <a:noFill/>
          </a:ln>
          <a:effectLst/>
        </p:spPr>
        <p:txBody>
          <a:bodyPr rtlCol="0" anchor="ctr"/>
          <a:lstStyle/>
          <a:p>
            <a:pPr algn="ctr"/>
          </a:p>
        </p:txBody>
      </p:sp>
      <p:sp>
        <p:nvSpPr>
          <p:cNvPr id="6" name="TextBox 5"/>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3 of 6 - Primary trend  |  26 of 28</a:t>
            </a:r>
          </a:p>
        </p:txBody>
      </p:sp>
      <p:sp>
        <p:nvSpPr>
          <p:cNvPr id="7" name="Rectangle 6"/>
          <p:cNvSpPr/>
          <p:nvPr/>
        </p:nvSpPr>
        <p:spPr>
          <a:xfrm>
            <a:off x="2346807" y="1810512"/>
            <a:ext cx="7498079" cy="3749039"/>
          </a:xfrm>
          <a:prstGeom prst="rect">
            <a:avLst/>
          </a:prstGeom>
          <a:solidFill>
            <a:srgbClr val="FFFFFF"/>
          </a:solidFill>
          <a:ln w="12700">
            <a:solidFill>
              <a:srgbClr val="D7E0D9"/>
            </a:solidFill>
          </a:ln>
          <a:effectLst/>
        </p:spPr>
        <p:txBody>
          <a:bodyPr rtlCol="0" anchor="ctr"/>
          <a:lstStyle/>
          <a:p>
            <a:pPr algn="ctr"/>
          </a:p>
        </p:txBody>
      </p:sp>
      <p:sp>
        <p:nvSpPr>
          <p:cNvPr id="8" name="Rectangle 7"/>
          <p:cNvSpPr/>
          <p:nvPr/>
        </p:nvSpPr>
        <p:spPr>
          <a:xfrm>
            <a:off x="2346807" y="1810512"/>
            <a:ext cx="7498079" cy="50800"/>
          </a:xfrm>
          <a:prstGeom prst="rect">
            <a:avLst/>
          </a:prstGeom>
          <a:solidFill>
            <a:srgbClr val="F2A900"/>
          </a:solidFill>
          <a:ln>
            <a:noFill/>
          </a:ln>
          <a:effectLst/>
        </p:spPr>
        <p:txBody>
          <a:bodyPr rtlCol="0" anchor="ctr"/>
          <a:lstStyle/>
          <a:p>
            <a:pPr algn="ctr"/>
          </a:p>
        </p:txBody>
      </p:sp>
      <p:sp>
        <p:nvSpPr>
          <p:cNvPr id="9" name="TextBox 8"/>
          <p:cNvSpPr txBox="1"/>
          <p:nvPr/>
        </p:nvSpPr>
        <p:spPr>
          <a:xfrm>
            <a:off x="2895447" y="2450591"/>
            <a:ext cx="6400799" cy="2651759"/>
          </a:xfrm>
          <a:prstGeom prst="rect">
            <a:avLst/>
          </a:prstGeom>
          <a:noFill/>
        </p:spPr>
        <p:txBody>
          <a:bodyPr wrap="square" anchor="t" lIns="0" rIns="0" tIns="0" bIns="0">
            <a:spAutoFit/>
          </a:bodyPr>
          <a:lstStyle/>
          <a:p>
            <a:pPr algn="l">
              <a:lnSpc>
                <a:spcPct val="100000"/>
              </a:lnSpc>
              <a:spcBef>
                <a:spcPts val="0"/>
              </a:spcBef>
              <a:spcAft>
                <a:spcPts val="1400"/>
              </a:spcAft>
            </a:pPr>
            <a:r>
              <a:rPr sz="1500" b="1" i="0">
                <a:solidFill>
                  <a:srgbClr val="818181"/>
                </a:solidFill>
                <a:latin typeface="Arial"/>
              </a:rPr>
              <a:t>FIGURE 2.10</a:t>
            </a:r>
          </a:p>
          <a:p>
            <a:pPr algn="l">
              <a:lnSpc>
                <a:spcPct val="120000"/>
              </a:lnSpc>
              <a:spcBef>
                <a:spcPts val="0"/>
              </a:spcBef>
              <a:spcAft>
                <a:spcPts val="1800"/>
              </a:spcAft>
            </a:pPr>
            <a:r>
              <a:rPr sz="2200" b="0" i="0">
                <a:solidFill>
                  <a:srgbClr val="1A1A1A"/>
                </a:solidFill>
                <a:latin typeface="Palatino"/>
              </a:rPr>
              <a:t>A logarithmically scaled chart of Apple Inc. where the advance appears to be flattening out, which the book reads as more bearish behaviour.</a:t>
            </a:r>
          </a:p>
          <a:p>
            <a:pPr algn="l">
              <a:lnSpc>
                <a:spcPct val="115000"/>
              </a:lnSpc>
              <a:spcBef>
                <a:spcPts val="0"/>
              </a:spcBef>
              <a:spcAft>
                <a:spcPts val="0"/>
              </a:spcAft>
            </a:pPr>
            <a:r>
              <a:rPr sz="1400" b="0" i="1">
                <a:solidFill>
                  <a:srgbClr val="818181"/>
                </a:solidFill>
                <a:latin typeface="Arial"/>
              </a:rPr>
              <a:t>The artwork is copyrighted and is not in the public repository. Build with assets/figures/ present to place it here.</a:t>
            </a:r>
          </a:p>
        </p:txBody>
      </p:sp>
      <p:sp>
        <p:nvSpPr>
          <p:cNvPr id="10" name="TextBox 9"/>
          <p:cNvSpPr txBox="1"/>
          <p:nvPr/>
        </p:nvSpPr>
        <p:spPr>
          <a:xfrm>
            <a:off x="777240" y="5669280"/>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300" b="0" i="0">
                <a:solidFill>
                  <a:srgbClr val="818181"/>
                </a:solidFill>
                <a:latin typeface="Arial"/>
              </a:rPr>
              <a:t>Figure 2.10 - Lim, The Handbook of Technical Analysis (Wiley, 2016)</a:t>
            </a:r>
          </a:p>
        </p:txBody>
      </p:sp>
    </p:spTree>
  </p:cSld>
  <p:clrMapOvr>
    <a:masterClrMapping/>
  </p:clrMapOvr>
</p:sld>
</file>

<file path=ppt/slides/slide6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TextBox 3"/>
          <p:cNvSpPr txBox="1"/>
          <p:nvPr/>
        </p:nvSpPr>
        <p:spPr>
          <a:xfrm>
            <a:off x="777240" y="658368"/>
            <a:ext cx="10637215" cy="914400"/>
          </a:xfrm>
          <a:prstGeom prst="rect">
            <a:avLst/>
          </a:prstGeom>
          <a:noFill/>
        </p:spPr>
        <p:txBody>
          <a:bodyPr wrap="square" anchor="t" lIns="0" rIns="0" tIns="0" bIns="0">
            <a:spAutoFit/>
          </a:bodyPr>
          <a:lstStyle/>
          <a:p>
            <a:pPr algn="l">
              <a:lnSpc>
                <a:spcPct val="105000"/>
              </a:lnSpc>
              <a:spcBef>
                <a:spcPts val="0"/>
              </a:spcBef>
              <a:spcAft>
                <a:spcPts val="0"/>
              </a:spcAft>
            </a:pPr>
            <a:r>
              <a:rPr sz="3000" b="0" i="0">
                <a:solidFill>
                  <a:srgbClr val="007A33"/>
                </a:solidFill>
                <a:latin typeface="Palatino"/>
              </a:rPr>
              <a:t>The same stock, not flattening</a:t>
            </a:r>
          </a:p>
        </p:txBody>
      </p:sp>
      <p:sp>
        <p:nvSpPr>
          <p:cNvPr id="5" name="Rectangle 4"/>
          <p:cNvSpPr/>
          <p:nvPr/>
        </p:nvSpPr>
        <p:spPr>
          <a:xfrm>
            <a:off x="777240" y="1572768"/>
            <a:ext cx="10637215" cy="15875"/>
          </a:xfrm>
          <a:prstGeom prst="rect">
            <a:avLst/>
          </a:prstGeom>
          <a:solidFill>
            <a:srgbClr val="D7E0D9"/>
          </a:solidFill>
          <a:ln>
            <a:noFill/>
          </a:ln>
          <a:effectLst/>
        </p:spPr>
        <p:txBody>
          <a:bodyPr rtlCol="0" anchor="ctr"/>
          <a:lstStyle/>
          <a:p>
            <a:pPr algn="ctr"/>
          </a:p>
        </p:txBody>
      </p:sp>
      <p:sp>
        <p:nvSpPr>
          <p:cNvPr id="6" name="TextBox 5"/>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3 of 6 - Primary trend  |  27 of 28</a:t>
            </a:r>
          </a:p>
        </p:txBody>
      </p:sp>
      <p:sp>
        <p:nvSpPr>
          <p:cNvPr id="7" name="Rectangle 6"/>
          <p:cNvSpPr/>
          <p:nvPr/>
        </p:nvSpPr>
        <p:spPr>
          <a:xfrm>
            <a:off x="2346807" y="1810512"/>
            <a:ext cx="7498079" cy="3749039"/>
          </a:xfrm>
          <a:prstGeom prst="rect">
            <a:avLst/>
          </a:prstGeom>
          <a:solidFill>
            <a:srgbClr val="FFFFFF"/>
          </a:solidFill>
          <a:ln w="12700">
            <a:solidFill>
              <a:srgbClr val="D7E0D9"/>
            </a:solidFill>
          </a:ln>
          <a:effectLst/>
        </p:spPr>
        <p:txBody>
          <a:bodyPr rtlCol="0" anchor="ctr"/>
          <a:lstStyle/>
          <a:p>
            <a:pPr algn="ctr"/>
          </a:p>
        </p:txBody>
      </p:sp>
      <p:sp>
        <p:nvSpPr>
          <p:cNvPr id="8" name="Rectangle 7"/>
          <p:cNvSpPr/>
          <p:nvPr/>
        </p:nvSpPr>
        <p:spPr>
          <a:xfrm>
            <a:off x="2346807" y="1810512"/>
            <a:ext cx="7498079" cy="50800"/>
          </a:xfrm>
          <a:prstGeom prst="rect">
            <a:avLst/>
          </a:prstGeom>
          <a:solidFill>
            <a:srgbClr val="F2A900"/>
          </a:solidFill>
          <a:ln>
            <a:noFill/>
          </a:ln>
          <a:effectLst/>
        </p:spPr>
        <p:txBody>
          <a:bodyPr rtlCol="0" anchor="ctr"/>
          <a:lstStyle/>
          <a:p>
            <a:pPr algn="ctr"/>
          </a:p>
        </p:txBody>
      </p:sp>
      <p:sp>
        <p:nvSpPr>
          <p:cNvPr id="9" name="TextBox 8"/>
          <p:cNvSpPr txBox="1"/>
          <p:nvPr/>
        </p:nvSpPr>
        <p:spPr>
          <a:xfrm>
            <a:off x="2895447" y="2450591"/>
            <a:ext cx="6400799" cy="2651759"/>
          </a:xfrm>
          <a:prstGeom prst="rect">
            <a:avLst/>
          </a:prstGeom>
          <a:noFill/>
        </p:spPr>
        <p:txBody>
          <a:bodyPr wrap="square" anchor="t" lIns="0" rIns="0" tIns="0" bIns="0">
            <a:spAutoFit/>
          </a:bodyPr>
          <a:lstStyle/>
          <a:p>
            <a:pPr algn="l">
              <a:lnSpc>
                <a:spcPct val="100000"/>
              </a:lnSpc>
              <a:spcBef>
                <a:spcPts val="0"/>
              </a:spcBef>
              <a:spcAft>
                <a:spcPts val="1400"/>
              </a:spcAft>
            </a:pPr>
            <a:r>
              <a:rPr sz="1500" b="1" i="0">
                <a:solidFill>
                  <a:srgbClr val="818181"/>
                </a:solidFill>
                <a:latin typeface="Arial"/>
              </a:rPr>
              <a:t>FIGURE 2.11</a:t>
            </a:r>
          </a:p>
          <a:p>
            <a:pPr algn="l">
              <a:lnSpc>
                <a:spcPct val="120000"/>
              </a:lnSpc>
              <a:spcBef>
                <a:spcPts val="0"/>
              </a:spcBef>
              <a:spcAft>
                <a:spcPts val="1800"/>
              </a:spcAft>
            </a:pPr>
            <a:r>
              <a:rPr sz="2200" b="0" i="0">
                <a:solidFill>
                  <a:srgbClr val="1A1A1A"/>
                </a:solidFill>
                <a:latin typeface="Palatino"/>
              </a:rPr>
              <a:t>The same period of Apple Inc. on an arithmetic scale, where the same price action appears as a stronger and steadier uptrend.</a:t>
            </a:r>
          </a:p>
          <a:p>
            <a:pPr algn="l">
              <a:lnSpc>
                <a:spcPct val="115000"/>
              </a:lnSpc>
              <a:spcBef>
                <a:spcPts val="0"/>
              </a:spcBef>
              <a:spcAft>
                <a:spcPts val="0"/>
              </a:spcAft>
            </a:pPr>
            <a:r>
              <a:rPr sz="1400" b="0" i="1">
                <a:solidFill>
                  <a:srgbClr val="818181"/>
                </a:solidFill>
                <a:latin typeface="Arial"/>
              </a:rPr>
              <a:t>The artwork is copyrighted and is not in the public repository. Build with assets/figures/ present to place it here.</a:t>
            </a:r>
          </a:p>
        </p:txBody>
      </p:sp>
      <p:sp>
        <p:nvSpPr>
          <p:cNvPr id="10" name="TextBox 9"/>
          <p:cNvSpPr txBox="1"/>
          <p:nvPr/>
        </p:nvSpPr>
        <p:spPr>
          <a:xfrm>
            <a:off x="777240" y="5669280"/>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300" b="0" i="0">
                <a:solidFill>
                  <a:srgbClr val="818181"/>
                </a:solidFill>
                <a:latin typeface="Arial"/>
              </a:rPr>
              <a:t>Figure 2.11 - Lim, The Handbook of Technical Analysis (Wiley, 2016)</a:t>
            </a:r>
          </a:p>
        </p:txBody>
      </p:sp>
    </p:spTree>
  </p:cSld>
  <p:clrMapOvr>
    <a:masterClrMapping/>
  </p:clrMapOvr>
</p:sld>
</file>

<file path=ppt/slides/slide6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TextBox 3"/>
          <p:cNvSpPr txBox="1"/>
          <p:nvPr/>
        </p:nvSpPr>
        <p:spPr>
          <a:xfrm>
            <a:off x="777240" y="658368"/>
            <a:ext cx="10637215" cy="914400"/>
          </a:xfrm>
          <a:prstGeom prst="rect">
            <a:avLst/>
          </a:prstGeom>
          <a:noFill/>
        </p:spPr>
        <p:txBody>
          <a:bodyPr wrap="square" anchor="t" lIns="0" rIns="0" tIns="0" bIns="0">
            <a:spAutoFit/>
          </a:bodyPr>
          <a:lstStyle/>
          <a:p>
            <a:pPr algn="l">
              <a:lnSpc>
                <a:spcPct val="105000"/>
              </a:lnSpc>
              <a:spcBef>
                <a:spcPts val="0"/>
              </a:spcBef>
              <a:spcAft>
                <a:spcPts val="0"/>
              </a:spcAft>
            </a:pPr>
            <a:r>
              <a:rPr sz="3000" b="0" i="0">
                <a:solidFill>
                  <a:srgbClr val="007A33"/>
                </a:solidFill>
                <a:latin typeface="Palatino"/>
              </a:rPr>
              <a:t>Two analysts, two habits, two readings</a:t>
            </a:r>
          </a:p>
        </p:txBody>
      </p:sp>
      <p:sp>
        <p:nvSpPr>
          <p:cNvPr id="5" name="Rectangle 4"/>
          <p:cNvSpPr/>
          <p:nvPr/>
        </p:nvSpPr>
        <p:spPr>
          <a:xfrm>
            <a:off x="777240" y="1572768"/>
            <a:ext cx="10637215" cy="15875"/>
          </a:xfrm>
          <a:prstGeom prst="rect">
            <a:avLst/>
          </a:prstGeom>
          <a:solidFill>
            <a:srgbClr val="D7E0D9"/>
          </a:solidFill>
          <a:ln>
            <a:noFill/>
          </a:ln>
          <a:effectLst/>
        </p:spPr>
        <p:txBody>
          <a:bodyPr rtlCol="0" anchor="ctr"/>
          <a:lstStyle/>
          <a:p>
            <a:pPr algn="ctr"/>
          </a:p>
        </p:txBody>
      </p:sp>
      <p:sp>
        <p:nvSpPr>
          <p:cNvPr id="6" name="TextBox 5"/>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3 of 6 - Primary trend  |  28 of 28</a:t>
            </a:r>
          </a:p>
        </p:txBody>
      </p:sp>
      <p:sp>
        <p:nvSpPr>
          <p:cNvPr id="7" name="TextBox 6"/>
          <p:cNvSpPr txBox="1"/>
          <p:nvPr/>
        </p:nvSpPr>
        <p:spPr>
          <a:xfrm>
            <a:off x="777240" y="1965960"/>
            <a:ext cx="10637215" cy="3108960"/>
          </a:xfrm>
          <a:prstGeom prst="rect">
            <a:avLst/>
          </a:prstGeom>
          <a:noFill/>
        </p:spPr>
        <p:txBody>
          <a:bodyPr wrap="square" anchor="t" lIns="0" rIns="0" tIns="0" bIns="0">
            <a:spAutoFit/>
          </a:bodyPr>
          <a:lstStyle/>
          <a:p>
            <a:pPr algn="l">
              <a:lnSpc>
                <a:spcPct val="118000"/>
              </a:lnSpc>
              <a:spcBef>
                <a:spcPts val="0"/>
              </a:spcBef>
              <a:spcAft>
                <a:spcPts val="1300"/>
              </a:spcAft>
            </a:pPr>
            <a:r>
              <a:rPr sz="2100" b="0" i="0">
                <a:solidFill>
                  <a:srgbClr val="1A1A1A"/>
                </a:solidFill>
                <a:latin typeface="Arial"/>
              </a:rPr>
              <a:t>Sometimes it is hard to decide which scaling to use.</a:t>
            </a:r>
          </a:p>
          <a:p>
            <a:pPr algn="l">
              <a:lnSpc>
                <a:spcPct val="118000"/>
              </a:lnSpc>
              <a:spcBef>
                <a:spcPts val="0"/>
              </a:spcBef>
              <a:spcAft>
                <a:spcPts val="1300"/>
              </a:spcAft>
            </a:pPr>
            <a:r>
              <a:rPr sz="2100" b="0" i="0">
                <a:solidFill>
                  <a:srgbClr val="1A1A1A"/>
                </a:solidFill>
                <a:latin typeface="Arial"/>
              </a:rPr>
              <a:t>An analyst who always uses log charts may read the same price differently from one who always uses arithmetic charts.</a:t>
            </a:r>
          </a:p>
        </p:txBody>
      </p:sp>
      <p:sp>
        <p:nvSpPr>
          <p:cNvPr id="8" name="Rectangle 7"/>
          <p:cNvSpPr/>
          <p:nvPr/>
        </p:nvSpPr>
        <p:spPr>
          <a:xfrm>
            <a:off x="777240" y="3586734"/>
            <a:ext cx="82296" cy="788924"/>
          </a:xfrm>
          <a:prstGeom prst="rect">
            <a:avLst/>
          </a:prstGeom>
          <a:solidFill>
            <a:srgbClr val="F2A900"/>
          </a:solidFill>
          <a:ln>
            <a:noFill/>
          </a:ln>
          <a:effectLst/>
        </p:spPr>
        <p:txBody>
          <a:bodyPr rtlCol="0" anchor="ctr"/>
          <a:lstStyle/>
          <a:p>
            <a:pPr algn="ctr"/>
          </a:p>
        </p:txBody>
      </p:sp>
      <p:sp>
        <p:nvSpPr>
          <p:cNvPr id="9" name="TextBox 8"/>
          <p:cNvSpPr txBox="1"/>
          <p:nvPr/>
        </p:nvSpPr>
        <p:spPr>
          <a:xfrm>
            <a:off x="1069848" y="3623310"/>
            <a:ext cx="10344607" cy="788924"/>
          </a:xfrm>
          <a:prstGeom prst="rect">
            <a:avLst/>
          </a:prstGeom>
          <a:noFill/>
        </p:spPr>
        <p:txBody>
          <a:bodyPr wrap="square" anchor="t" lIns="0" rIns="0" tIns="0" bIns="0">
            <a:spAutoFit/>
          </a:bodyPr>
          <a:lstStyle/>
          <a:p>
            <a:pPr algn="l">
              <a:lnSpc>
                <a:spcPct val="115000"/>
              </a:lnSpc>
              <a:spcBef>
                <a:spcPts val="0"/>
              </a:spcBef>
              <a:spcAft>
                <a:spcPts val="0"/>
              </a:spcAft>
            </a:pPr>
            <a:r>
              <a:rPr sz="2200" b="1" i="0">
                <a:solidFill>
                  <a:srgbClr val="1A1A1A"/>
                </a:solidFill>
                <a:latin typeface="Arial"/>
              </a:rPr>
              <a:t>Same prices, same period, different conclusion. Chapter 1 called that subjectivity.</a:t>
            </a:r>
          </a:p>
        </p:txBody>
      </p:sp>
    </p:spTree>
  </p:cSld>
  <p:clrMapOvr>
    <a:masterClrMapping/>
  </p:clrMapOvr>
</p:sld>
</file>

<file path=ppt/slides/slide6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Rectangle 3"/>
          <p:cNvSpPr/>
          <p:nvPr/>
        </p:nvSpPr>
        <p:spPr>
          <a:xfrm>
            <a:off x="11935663" y="0"/>
            <a:ext cx="256032" cy="6858000"/>
          </a:xfrm>
          <a:prstGeom prst="rect">
            <a:avLst/>
          </a:prstGeom>
          <a:solidFill>
            <a:srgbClr val="F2A900"/>
          </a:solidFill>
          <a:ln>
            <a:noFill/>
          </a:ln>
          <a:effectLst/>
        </p:spPr>
        <p:txBody>
          <a:bodyPr rtlCol="0" anchor="ctr"/>
          <a:lstStyle/>
          <a:p>
            <a:pPr algn="ctr"/>
          </a:p>
        </p:txBody>
      </p:sp>
      <p:sp>
        <p:nvSpPr>
          <p:cNvPr id="5" name="TextBox 4"/>
          <p:cNvSpPr txBox="1"/>
          <p:nvPr/>
        </p:nvSpPr>
        <p:spPr>
          <a:xfrm>
            <a:off x="777240" y="658368"/>
            <a:ext cx="10180015" cy="822960"/>
          </a:xfrm>
          <a:prstGeom prst="rect">
            <a:avLst/>
          </a:prstGeom>
          <a:noFill/>
        </p:spPr>
        <p:txBody>
          <a:bodyPr wrap="square" anchor="t" lIns="0" rIns="0" tIns="0" bIns="0">
            <a:spAutoFit/>
          </a:bodyPr>
          <a:lstStyle/>
          <a:p>
            <a:pPr algn="l">
              <a:lnSpc>
                <a:spcPct val="100000"/>
              </a:lnSpc>
              <a:spcBef>
                <a:spcPts val="0"/>
              </a:spcBef>
              <a:spcAft>
                <a:spcPts val="0"/>
              </a:spcAft>
            </a:pPr>
            <a:r>
              <a:rPr sz="3200" b="0" i="0">
                <a:solidFill>
                  <a:srgbClr val="007A33"/>
                </a:solidFill>
                <a:latin typeface="Palatino"/>
              </a:rPr>
              <a:t>You now know</a:t>
            </a:r>
          </a:p>
        </p:txBody>
      </p:sp>
      <p:sp>
        <p:nvSpPr>
          <p:cNvPr id="6" name="Rectangle 5"/>
          <p:cNvSpPr/>
          <p:nvPr/>
        </p:nvSpPr>
        <p:spPr>
          <a:xfrm>
            <a:off x="777240" y="1572768"/>
            <a:ext cx="10637215" cy="15875"/>
          </a:xfrm>
          <a:prstGeom prst="rect">
            <a:avLst/>
          </a:prstGeom>
          <a:solidFill>
            <a:srgbClr val="D7E0D9"/>
          </a:solidFill>
          <a:ln>
            <a:noFill/>
          </a:ln>
          <a:effectLst/>
        </p:spPr>
        <p:txBody>
          <a:bodyPr rtlCol="0" anchor="ctr"/>
          <a:lstStyle/>
          <a:p>
            <a:pPr algn="ctr"/>
          </a:p>
        </p:txBody>
      </p:sp>
      <p:sp>
        <p:nvSpPr>
          <p:cNvPr id="7" name="TextBox 6"/>
          <p:cNvSpPr txBox="1"/>
          <p:nvPr/>
        </p:nvSpPr>
        <p:spPr>
          <a:xfrm>
            <a:off x="777240" y="1965960"/>
            <a:ext cx="4815687" cy="3794760"/>
          </a:xfrm>
          <a:prstGeom prst="rect">
            <a:avLst/>
          </a:prstGeom>
          <a:noFill/>
        </p:spPr>
        <p:txBody>
          <a:bodyPr wrap="square" anchor="t" lIns="0" rIns="0" tIns="0" bIns="0">
            <a:spAutoFit/>
          </a:bodyPr>
          <a:lstStyle/>
          <a:p>
            <a:pPr algn="l" marL="237744" indent="-237744">
              <a:lnSpc>
                <a:spcPct val="112000"/>
              </a:lnSpc>
              <a:spcBef>
                <a:spcPts val="0"/>
              </a:spcBef>
              <a:spcAft>
                <a:spcPts val="1200"/>
              </a:spcAft>
            </a:pPr>
            <a:r>
              <a:rPr sz="1800" b="0" i="0">
                <a:solidFill>
                  <a:srgbClr val="1A1A1A"/>
                </a:solidFill>
                <a:latin typeface="Arial"/>
              </a:rPr>
              <a:t>▪  The three trends, and that they run together</a:t>
            </a:r>
          </a:p>
          <a:p>
            <a:pPr algn="l" marL="237744" indent="-237744">
              <a:lnSpc>
                <a:spcPct val="112000"/>
              </a:lnSpc>
              <a:spcBef>
                <a:spcPts val="0"/>
              </a:spcBef>
              <a:spcAft>
                <a:spcPts val="1200"/>
              </a:spcAft>
            </a:pPr>
            <a:r>
              <a:rPr sz="1800" b="0" i="0">
                <a:solidFill>
                  <a:srgbClr val="1A1A1A"/>
                </a:solidFill>
                <a:latin typeface="Arial"/>
              </a:rPr>
              <a:t>▪  The primary trend, and its two kinds</a:t>
            </a:r>
          </a:p>
          <a:p>
            <a:pPr algn="l" marL="237744" indent="-237744">
              <a:lnSpc>
                <a:spcPct val="112000"/>
              </a:lnSpc>
              <a:spcBef>
                <a:spcPts val="0"/>
              </a:spcBef>
              <a:spcAft>
                <a:spcPts val="1200"/>
              </a:spcAft>
            </a:pPr>
            <a:r>
              <a:rPr sz="1800" b="0" i="0">
                <a:solidFill>
                  <a:srgbClr val="1A1A1A"/>
                </a:solidFill>
                <a:latin typeface="Arial"/>
              </a:rPr>
              <a:t>▪  Uptrend and downtrend, as sequences of peaks and troughs</a:t>
            </a:r>
          </a:p>
        </p:txBody>
      </p:sp>
      <p:sp>
        <p:nvSpPr>
          <p:cNvPr id="8" name="TextBox 7"/>
          <p:cNvSpPr txBox="1"/>
          <p:nvPr/>
        </p:nvSpPr>
        <p:spPr>
          <a:xfrm>
            <a:off x="6141567" y="1965960"/>
            <a:ext cx="4815687" cy="3794760"/>
          </a:xfrm>
          <a:prstGeom prst="rect">
            <a:avLst/>
          </a:prstGeom>
          <a:noFill/>
        </p:spPr>
        <p:txBody>
          <a:bodyPr wrap="square" anchor="t" lIns="0" rIns="0" tIns="0" bIns="0">
            <a:spAutoFit/>
          </a:bodyPr>
          <a:lstStyle/>
          <a:p>
            <a:pPr algn="l" marL="237744" indent="-237744">
              <a:lnSpc>
                <a:spcPct val="112000"/>
              </a:lnSpc>
              <a:spcBef>
                <a:spcPts val="0"/>
              </a:spcBef>
              <a:spcAft>
                <a:spcPts val="1200"/>
              </a:spcAft>
            </a:pPr>
            <a:r>
              <a:rPr sz="1800" b="0" i="0">
                <a:solidFill>
                  <a:srgbClr val="1A1A1A"/>
                </a:solidFill>
                <a:latin typeface="Arial"/>
              </a:rPr>
              <a:t>▪  Penetration, and why the signal is always late</a:t>
            </a:r>
          </a:p>
          <a:p>
            <a:pPr algn="l" marL="237744" indent="-237744">
              <a:lnSpc>
                <a:spcPct val="112000"/>
              </a:lnSpc>
              <a:spcBef>
                <a:spcPts val="0"/>
              </a:spcBef>
              <a:spcAft>
                <a:spcPts val="1200"/>
              </a:spcAft>
            </a:pPr>
            <a:r>
              <a:rPr sz="1800" b="0" i="0">
                <a:solidFill>
                  <a:srgbClr val="1A1A1A"/>
                </a:solidFill>
                <a:latin typeface="Arial"/>
              </a:rPr>
              <a:t>▪  Arithmetic and logarithmic scaling, and the two readings they produce</a:t>
            </a:r>
          </a:p>
        </p:txBody>
      </p:sp>
      <p:sp>
        <p:nvSpPr>
          <p:cNvPr id="9" name="TextBox 8"/>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3 of 6 - Primary trend  |  recap</a:t>
            </a:r>
          </a:p>
        </p:txBody>
      </p:sp>
    </p:spTree>
  </p:cSld>
  <p:clrMapOvr>
    <a:masterClrMapping/>
  </p:clrMapOvr>
</p:sld>
</file>

<file path=ppt/slides/slide6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07A33"/>
          </a:solidFill>
          <a:ln>
            <a:noFill/>
          </a:ln>
          <a:effectLst/>
        </p:spPr>
        <p:txBody>
          <a:bodyPr rtlCol="0" anchor="ctr"/>
          <a:lstStyle/>
          <a:p>
            <a:pPr algn="ctr"/>
          </a:p>
        </p:txBody>
      </p:sp>
      <p:sp>
        <p:nvSpPr>
          <p:cNvPr id="3" name="Rectangle 2"/>
          <p:cNvSpPr/>
          <p:nvPr/>
        </p:nvSpPr>
        <p:spPr>
          <a:xfrm>
            <a:off x="0" y="0"/>
            <a:ext cx="256032" cy="6858000"/>
          </a:xfrm>
          <a:prstGeom prst="rect">
            <a:avLst/>
          </a:prstGeom>
          <a:solidFill>
            <a:srgbClr val="F2A900"/>
          </a:solidFill>
          <a:ln>
            <a:noFill/>
          </a:ln>
          <a:effectLst/>
        </p:spPr>
        <p:txBody>
          <a:bodyPr rtlCol="0" anchor="ctr"/>
          <a:lstStyle/>
          <a:p>
            <a:pPr algn="ctr"/>
          </a:p>
        </p:txBody>
      </p:sp>
      <p:sp>
        <p:nvSpPr>
          <p:cNvPr id="4" name="TextBox 3"/>
          <p:cNvSpPr txBox="1"/>
          <p:nvPr/>
        </p:nvSpPr>
        <p:spPr>
          <a:xfrm>
            <a:off x="777240" y="1051560"/>
            <a:ext cx="10637215" cy="365760"/>
          </a:xfrm>
          <a:prstGeom prst="rect">
            <a:avLst/>
          </a:prstGeom>
          <a:noFill/>
        </p:spPr>
        <p:txBody>
          <a:bodyPr wrap="square" anchor="t" lIns="0" rIns="0" tIns="0" bIns="0">
            <a:spAutoFit/>
          </a:bodyPr>
          <a:lstStyle/>
          <a:p>
            <a:pPr algn="l">
              <a:lnSpc>
                <a:spcPct val="100000"/>
              </a:lnSpc>
              <a:spcBef>
                <a:spcPts val="0"/>
              </a:spcBef>
              <a:spcAft>
                <a:spcPts val="0"/>
              </a:spcAft>
            </a:pPr>
            <a:r>
              <a:rPr sz="1500" b="1" i="0">
                <a:solidFill>
                  <a:srgbClr val="F2A900"/>
                </a:solidFill>
                <a:latin typeface="Arial"/>
              </a:rPr>
              <a:t>Part 4 of 6</a:t>
            </a:r>
          </a:p>
        </p:txBody>
      </p:sp>
      <p:sp>
        <p:nvSpPr>
          <p:cNvPr id="5" name="TextBox 4"/>
          <p:cNvSpPr txBox="1"/>
          <p:nvPr/>
        </p:nvSpPr>
        <p:spPr>
          <a:xfrm>
            <a:off x="777240" y="1600200"/>
            <a:ext cx="10637215" cy="1097280"/>
          </a:xfrm>
          <a:prstGeom prst="rect">
            <a:avLst/>
          </a:prstGeom>
          <a:noFill/>
        </p:spPr>
        <p:txBody>
          <a:bodyPr wrap="square" anchor="t" lIns="0" rIns="0" tIns="0" bIns="0">
            <a:spAutoFit/>
          </a:bodyPr>
          <a:lstStyle/>
          <a:p>
            <a:pPr algn="l">
              <a:lnSpc>
                <a:spcPct val="105000"/>
              </a:lnSpc>
              <a:spcBef>
                <a:spcPts val="0"/>
              </a:spcBef>
              <a:spcAft>
                <a:spcPts val="0"/>
              </a:spcAft>
            </a:pPr>
            <a:r>
              <a:rPr sz="4000" b="0" i="0">
                <a:solidFill>
                  <a:srgbClr val="FFFFFF"/>
                </a:solidFill>
                <a:latin typeface="Palatino"/>
              </a:rPr>
              <a:t>The Secondary Reaction and the Minor Trend</a:t>
            </a:r>
          </a:p>
        </p:txBody>
      </p:sp>
      <p:sp>
        <p:nvSpPr>
          <p:cNvPr id="6" name="Rectangle 5"/>
          <p:cNvSpPr/>
          <p:nvPr/>
        </p:nvSpPr>
        <p:spPr>
          <a:xfrm>
            <a:off x="777240" y="2926080"/>
            <a:ext cx="1463040" cy="38100"/>
          </a:xfrm>
          <a:prstGeom prst="rect">
            <a:avLst/>
          </a:prstGeom>
          <a:solidFill>
            <a:srgbClr val="F2A900"/>
          </a:solidFill>
          <a:ln>
            <a:noFill/>
          </a:ln>
          <a:effectLst/>
        </p:spPr>
        <p:txBody>
          <a:bodyPr rtlCol="0" anchor="ctr"/>
          <a:lstStyle/>
          <a:p>
            <a:pPr algn="ctr"/>
          </a:p>
        </p:txBody>
      </p:sp>
      <p:sp>
        <p:nvSpPr>
          <p:cNvPr id="7" name="TextBox 6"/>
          <p:cNvSpPr txBox="1"/>
          <p:nvPr/>
        </p:nvSpPr>
        <p:spPr>
          <a:xfrm>
            <a:off x="777240" y="3383280"/>
            <a:ext cx="10637215" cy="2011680"/>
          </a:xfrm>
          <a:prstGeom prst="rect">
            <a:avLst/>
          </a:prstGeom>
          <a:noFill/>
        </p:spPr>
        <p:txBody>
          <a:bodyPr wrap="square" anchor="t" lIns="0" rIns="0" tIns="0" bIns="0">
            <a:spAutoFit/>
          </a:bodyPr>
          <a:lstStyle/>
          <a:p>
            <a:pPr algn="l">
              <a:lnSpc>
                <a:spcPct val="115000"/>
              </a:lnSpc>
              <a:spcBef>
                <a:spcPts val="0"/>
              </a:spcBef>
              <a:spcAft>
                <a:spcPts val="1000"/>
              </a:spcAft>
            </a:pPr>
            <a:r>
              <a:rPr sz="1900" b="0" i="0">
                <a:solidFill>
                  <a:srgbClr val="FFFFFF"/>
                </a:solidFill>
                <a:latin typeface="Arial"/>
              </a:rPr>
              <a:t>How far back a reaction against the primary trend usually comes.</a:t>
            </a:r>
          </a:p>
          <a:p>
            <a:pPr algn="l">
              <a:lnSpc>
                <a:spcPct val="115000"/>
              </a:lnSpc>
              <a:spcBef>
                <a:spcPts val="0"/>
              </a:spcBef>
              <a:spcAft>
                <a:spcPts val="1000"/>
              </a:spcAft>
            </a:pPr>
            <a:r>
              <a:rPr sz="1900" b="0" i="0">
                <a:solidFill>
                  <a:srgbClr val="FFFFFF"/>
                </a:solidFill>
                <a:latin typeface="Arial"/>
              </a:rPr>
              <a:t>The moment a reaction stops being a reaction.</a:t>
            </a:r>
          </a:p>
          <a:p>
            <a:pPr algn="l">
              <a:lnSpc>
                <a:spcPct val="115000"/>
              </a:lnSpc>
              <a:spcBef>
                <a:spcPts val="0"/>
              </a:spcBef>
              <a:spcAft>
                <a:spcPts val="1000"/>
              </a:spcAft>
            </a:pPr>
            <a:r>
              <a:rPr sz="1900" b="0" i="0">
                <a:solidFill>
                  <a:srgbClr val="FFFFFF"/>
                </a:solidFill>
                <a:latin typeface="Arial"/>
              </a:rPr>
              <a:t>The one small formation Dow Theory says you are allowed to trade.</a:t>
            </a:r>
          </a:p>
        </p:txBody>
      </p:sp>
      <p:sp>
        <p:nvSpPr>
          <p:cNvPr id="8" name="TextBox 7"/>
          <p:cNvSpPr txBox="1"/>
          <p:nvPr/>
        </p:nvSpPr>
        <p:spPr>
          <a:xfrm>
            <a:off x="777240" y="6035040"/>
            <a:ext cx="10637215" cy="365760"/>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F2A900"/>
                </a:solidFill>
                <a:latin typeface="Arial"/>
              </a:rPr>
              <a:t>About 25 minutes</a:t>
            </a:r>
          </a:p>
        </p:txBody>
      </p:sp>
    </p:spTree>
  </p:cSld>
  <p:clrMapOvr>
    <a:masterClrMapping/>
  </p:clrMapOvr>
</p:sld>
</file>

<file path=ppt/slides/slide6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Rectangle 3"/>
          <p:cNvSpPr/>
          <p:nvPr/>
        </p:nvSpPr>
        <p:spPr>
          <a:xfrm>
            <a:off x="777240" y="566928"/>
            <a:ext cx="1234440" cy="329184"/>
          </a:xfrm>
          <a:prstGeom prst="rect">
            <a:avLst/>
          </a:prstGeom>
          <a:solidFill>
            <a:srgbClr val="F2A900"/>
          </a:solidFill>
          <a:ln>
            <a:noFill/>
          </a:ln>
          <a:effectLst/>
        </p:spPr>
        <p:txBody>
          <a:bodyPr rtlCol="0" anchor="ctr" wrap="none" lIns="0" rIns="0" tIns="0" bIns="0"/>
          <a:lstStyle/>
          <a:p>
            <a:pPr algn="ctr">
              <a:lnSpc>
                <a:spcPct val="100000"/>
              </a:lnSpc>
              <a:spcBef>
                <a:spcPts val="0"/>
              </a:spcBef>
              <a:spcAft>
                <a:spcPts val="0"/>
              </a:spcAft>
            </a:pPr>
            <a:r>
              <a:rPr sz="1200" b="1" i="0">
                <a:solidFill>
                  <a:srgbClr val="1A1A1A"/>
                </a:solidFill>
                <a:latin typeface="Arial"/>
              </a:rPr>
              <a:t>NEW TERM</a:t>
            </a:r>
          </a:p>
        </p:txBody>
      </p:sp>
      <p:sp>
        <p:nvSpPr>
          <p:cNvPr id="5" name="TextBox 4"/>
          <p:cNvSpPr txBox="1"/>
          <p:nvPr/>
        </p:nvSpPr>
        <p:spPr>
          <a:xfrm>
            <a:off x="777240" y="1051560"/>
            <a:ext cx="10637215" cy="822960"/>
          </a:xfrm>
          <a:prstGeom prst="rect">
            <a:avLst/>
          </a:prstGeom>
          <a:noFill/>
        </p:spPr>
        <p:txBody>
          <a:bodyPr wrap="square" anchor="t" lIns="0" rIns="0" tIns="0" bIns="0">
            <a:spAutoFit/>
          </a:bodyPr>
          <a:lstStyle/>
          <a:p>
            <a:pPr algn="l">
              <a:lnSpc>
                <a:spcPct val="105000"/>
              </a:lnSpc>
              <a:spcBef>
                <a:spcPts val="0"/>
              </a:spcBef>
              <a:spcAft>
                <a:spcPts val="0"/>
              </a:spcAft>
            </a:pPr>
            <a:r>
              <a:rPr sz="3200" b="0" i="0">
                <a:solidFill>
                  <a:srgbClr val="007A33"/>
                </a:solidFill>
                <a:latin typeface="Palatino"/>
              </a:rPr>
              <a:t>Secondary reaction</a:t>
            </a:r>
          </a:p>
        </p:txBody>
      </p:sp>
      <p:sp>
        <p:nvSpPr>
          <p:cNvPr id="6" name="Rectangle 5"/>
          <p:cNvSpPr/>
          <p:nvPr/>
        </p:nvSpPr>
        <p:spPr>
          <a:xfrm>
            <a:off x="777240" y="1874519"/>
            <a:ext cx="10637215" cy="15875"/>
          </a:xfrm>
          <a:prstGeom prst="rect">
            <a:avLst/>
          </a:prstGeom>
          <a:solidFill>
            <a:srgbClr val="D7E0D9"/>
          </a:solidFill>
          <a:ln>
            <a:noFill/>
          </a:ln>
          <a:effectLst/>
        </p:spPr>
        <p:txBody>
          <a:bodyPr rtlCol="0" anchor="ctr"/>
          <a:lstStyle/>
          <a:p>
            <a:pPr algn="ctr"/>
          </a:p>
        </p:txBody>
      </p:sp>
      <p:sp>
        <p:nvSpPr>
          <p:cNvPr id="7" name="Rectangle 6"/>
          <p:cNvSpPr/>
          <p:nvPr/>
        </p:nvSpPr>
        <p:spPr>
          <a:xfrm>
            <a:off x="777240" y="2258568"/>
            <a:ext cx="64008" cy="811022"/>
          </a:xfrm>
          <a:prstGeom prst="rect">
            <a:avLst/>
          </a:prstGeom>
          <a:solidFill>
            <a:srgbClr val="F2A900"/>
          </a:solidFill>
          <a:ln>
            <a:noFill/>
          </a:ln>
          <a:effectLst/>
        </p:spPr>
        <p:txBody>
          <a:bodyPr rtlCol="0" anchor="ctr"/>
          <a:lstStyle/>
          <a:p>
            <a:pPr algn="ctr"/>
          </a:p>
        </p:txBody>
      </p:sp>
      <p:sp>
        <p:nvSpPr>
          <p:cNvPr id="8" name="TextBox 7"/>
          <p:cNvSpPr txBox="1"/>
          <p:nvPr/>
        </p:nvSpPr>
        <p:spPr>
          <a:xfrm>
            <a:off x="1051560" y="2212848"/>
            <a:ext cx="10362895" cy="920750"/>
          </a:xfrm>
          <a:prstGeom prst="rect">
            <a:avLst/>
          </a:prstGeom>
          <a:noFill/>
        </p:spPr>
        <p:txBody>
          <a:bodyPr wrap="square" anchor="t" lIns="0" rIns="0" tIns="0" bIns="0">
            <a:spAutoFit/>
          </a:bodyPr>
          <a:lstStyle/>
          <a:p>
            <a:pPr algn="l">
              <a:lnSpc>
                <a:spcPct val="100000"/>
              </a:lnSpc>
              <a:spcBef>
                <a:spcPts val="0"/>
              </a:spcBef>
              <a:spcAft>
                <a:spcPts val="400"/>
              </a:spcAft>
            </a:pPr>
            <a:r>
              <a:rPr sz="1100" b="1" i="0">
                <a:solidFill>
                  <a:srgbClr val="818181"/>
                </a:solidFill>
                <a:latin typeface="Arial"/>
              </a:rPr>
              <a:t>IN PLAIN WORDS</a:t>
            </a:r>
          </a:p>
          <a:p>
            <a:pPr algn="l">
              <a:lnSpc>
                <a:spcPct val="115000"/>
              </a:lnSpc>
              <a:spcBef>
                <a:spcPts val="0"/>
              </a:spcBef>
              <a:spcAft>
                <a:spcPts val="0"/>
              </a:spcAft>
            </a:pPr>
            <a:r>
              <a:rPr sz="1900" b="1" i="0">
                <a:solidFill>
                  <a:srgbClr val="1A1A1A"/>
                </a:solidFill>
                <a:latin typeface="Arial"/>
              </a:rPr>
              <a:t>A move against the primary trend that is big enough to notice but not big enough to be a new primary trend.</a:t>
            </a:r>
          </a:p>
        </p:txBody>
      </p:sp>
      <p:sp>
        <p:nvSpPr>
          <p:cNvPr id="9" name="Rectangle 8"/>
          <p:cNvSpPr/>
          <p:nvPr/>
        </p:nvSpPr>
        <p:spPr>
          <a:xfrm>
            <a:off x="777240" y="3417061"/>
            <a:ext cx="64008" cy="811022"/>
          </a:xfrm>
          <a:prstGeom prst="rect">
            <a:avLst/>
          </a:prstGeom>
          <a:solidFill>
            <a:srgbClr val="D7E0D9"/>
          </a:solidFill>
          <a:ln>
            <a:noFill/>
          </a:ln>
          <a:effectLst/>
        </p:spPr>
        <p:txBody>
          <a:bodyPr rtlCol="0" anchor="ctr"/>
          <a:lstStyle/>
          <a:p>
            <a:pPr algn="ctr"/>
          </a:p>
        </p:txBody>
      </p:sp>
      <p:sp>
        <p:nvSpPr>
          <p:cNvPr id="10" name="TextBox 9"/>
          <p:cNvSpPr txBox="1"/>
          <p:nvPr/>
        </p:nvSpPr>
        <p:spPr>
          <a:xfrm>
            <a:off x="1051560" y="3371342"/>
            <a:ext cx="10362895" cy="920750"/>
          </a:xfrm>
          <a:prstGeom prst="rect">
            <a:avLst/>
          </a:prstGeom>
          <a:noFill/>
        </p:spPr>
        <p:txBody>
          <a:bodyPr wrap="square" anchor="t" lIns="0" rIns="0" tIns="0" bIns="0">
            <a:spAutoFit/>
          </a:bodyPr>
          <a:lstStyle/>
          <a:p>
            <a:pPr algn="l">
              <a:lnSpc>
                <a:spcPct val="100000"/>
              </a:lnSpc>
              <a:spcBef>
                <a:spcPts val="0"/>
              </a:spcBef>
              <a:spcAft>
                <a:spcPts val="400"/>
              </a:spcAft>
            </a:pPr>
            <a:r>
              <a:rPr sz="1100" b="1" i="0">
                <a:solidFill>
                  <a:srgbClr val="818181"/>
                </a:solidFill>
                <a:latin typeface="Arial"/>
              </a:rPr>
              <a:t>FOR EXAMPLE</a:t>
            </a:r>
          </a:p>
          <a:p>
            <a:pPr algn="l">
              <a:lnSpc>
                <a:spcPct val="115000"/>
              </a:lnSpc>
              <a:spcBef>
                <a:spcPts val="0"/>
              </a:spcBef>
              <a:spcAft>
                <a:spcPts val="0"/>
              </a:spcAft>
            </a:pPr>
            <a:r>
              <a:rPr sz="1900" b="0" i="0">
                <a:solidFill>
                  <a:srgbClr val="1A1A1A"/>
                </a:solidFill>
                <a:latin typeface="Arial"/>
              </a:rPr>
              <a:t>A market that has run from 4,000 to 5,200 and falls back to 4,400 is in a secondary reaction, not a bear market.</a:t>
            </a:r>
          </a:p>
        </p:txBody>
      </p:sp>
      <p:sp>
        <p:nvSpPr>
          <p:cNvPr id="11" name="Rectangle 10"/>
          <p:cNvSpPr/>
          <p:nvPr/>
        </p:nvSpPr>
        <p:spPr>
          <a:xfrm>
            <a:off x="777240" y="4575556"/>
            <a:ext cx="64008" cy="1088517"/>
          </a:xfrm>
          <a:prstGeom prst="rect">
            <a:avLst/>
          </a:prstGeom>
          <a:solidFill>
            <a:srgbClr val="D7E0D9"/>
          </a:solidFill>
          <a:ln>
            <a:noFill/>
          </a:ln>
          <a:effectLst/>
        </p:spPr>
        <p:txBody>
          <a:bodyPr rtlCol="0" anchor="ctr"/>
          <a:lstStyle/>
          <a:p>
            <a:pPr algn="ctr"/>
          </a:p>
        </p:txBody>
      </p:sp>
      <p:sp>
        <p:nvSpPr>
          <p:cNvPr id="12" name="TextBox 11"/>
          <p:cNvSpPr txBox="1"/>
          <p:nvPr/>
        </p:nvSpPr>
        <p:spPr>
          <a:xfrm>
            <a:off x="1051560" y="4529836"/>
            <a:ext cx="10362895" cy="1198245"/>
          </a:xfrm>
          <a:prstGeom prst="rect">
            <a:avLst/>
          </a:prstGeom>
          <a:noFill/>
        </p:spPr>
        <p:txBody>
          <a:bodyPr wrap="square" anchor="t" lIns="0" rIns="0" tIns="0" bIns="0">
            <a:spAutoFit/>
          </a:bodyPr>
          <a:lstStyle/>
          <a:p>
            <a:pPr algn="l">
              <a:lnSpc>
                <a:spcPct val="100000"/>
              </a:lnSpc>
              <a:spcBef>
                <a:spcPts val="0"/>
              </a:spcBef>
              <a:spcAft>
                <a:spcPts val="400"/>
              </a:spcAft>
            </a:pPr>
            <a:r>
              <a:rPr sz="1100" b="1" i="0">
                <a:solidFill>
                  <a:srgbClr val="818181"/>
                </a:solidFill>
                <a:latin typeface="Arial"/>
              </a:rPr>
              <a:t>THE FORMAL DEFINITION</a:t>
            </a:r>
          </a:p>
          <a:p>
            <a:pPr algn="l">
              <a:lnSpc>
                <a:spcPct val="115000"/>
              </a:lnSpc>
              <a:spcBef>
                <a:spcPts val="0"/>
              </a:spcBef>
              <a:spcAft>
                <a:spcPts val="0"/>
              </a:spcAft>
            </a:pPr>
            <a:r>
              <a:rPr sz="1900" b="0" i="0">
                <a:solidFill>
                  <a:srgbClr val="1A1A1A"/>
                </a:solidFill>
                <a:latin typeface="Arial"/>
              </a:rPr>
              <a:t>The secondary trend, also called the secondary reaction, moves in the opposite direction of the existing primary trend. It usually lasts from weeks to approximately three months, and frequently slightly longer.</a:t>
            </a:r>
          </a:p>
        </p:txBody>
      </p:sp>
      <p:sp>
        <p:nvSpPr>
          <p:cNvPr id="13" name="TextBox 12"/>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4 of 6 - Secondary and minor  |  1 of 12</a:t>
            </a:r>
          </a:p>
        </p:txBody>
      </p:sp>
    </p:spTree>
  </p:cSld>
  <p:clrMapOvr>
    <a:masterClrMapping/>
  </p:clrMapOvr>
</p:sld>
</file>

<file path=ppt/slides/slide6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TextBox 3"/>
          <p:cNvSpPr txBox="1"/>
          <p:nvPr/>
        </p:nvSpPr>
        <p:spPr>
          <a:xfrm>
            <a:off x="777240" y="658368"/>
            <a:ext cx="10637215" cy="914400"/>
          </a:xfrm>
          <a:prstGeom prst="rect">
            <a:avLst/>
          </a:prstGeom>
          <a:noFill/>
        </p:spPr>
        <p:txBody>
          <a:bodyPr wrap="square" anchor="t" lIns="0" rIns="0" tIns="0" bIns="0">
            <a:spAutoFit/>
          </a:bodyPr>
          <a:lstStyle/>
          <a:p>
            <a:pPr algn="l">
              <a:lnSpc>
                <a:spcPct val="105000"/>
              </a:lnSpc>
              <a:spcBef>
                <a:spcPts val="0"/>
              </a:spcBef>
              <a:spcAft>
                <a:spcPts val="0"/>
              </a:spcAft>
            </a:pPr>
            <a:r>
              <a:rPr sz="3000" b="0" i="0">
                <a:solidFill>
                  <a:srgbClr val="007A33"/>
                </a:solidFill>
                <a:latin typeface="Palatino"/>
              </a:rPr>
              <a:t>How far back a reaction usually comes</a:t>
            </a:r>
          </a:p>
        </p:txBody>
      </p:sp>
      <p:sp>
        <p:nvSpPr>
          <p:cNvPr id="5" name="Rectangle 4"/>
          <p:cNvSpPr/>
          <p:nvPr/>
        </p:nvSpPr>
        <p:spPr>
          <a:xfrm>
            <a:off x="777240" y="1572768"/>
            <a:ext cx="10637215" cy="15875"/>
          </a:xfrm>
          <a:prstGeom prst="rect">
            <a:avLst/>
          </a:prstGeom>
          <a:solidFill>
            <a:srgbClr val="D7E0D9"/>
          </a:solidFill>
          <a:ln>
            <a:noFill/>
          </a:ln>
          <a:effectLst/>
        </p:spPr>
        <p:txBody>
          <a:bodyPr rtlCol="0" anchor="ctr"/>
          <a:lstStyle/>
          <a:p>
            <a:pPr algn="ctr"/>
          </a:p>
        </p:txBody>
      </p:sp>
      <p:sp>
        <p:nvSpPr>
          <p:cNvPr id="6" name="TextBox 5"/>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4 of 6 - Secondary and minor  |  2 of 12</a:t>
            </a:r>
          </a:p>
        </p:txBody>
      </p:sp>
      <p:sp>
        <p:nvSpPr>
          <p:cNvPr id="7" name="TextBox 6"/>
          <p:cNvSpPr txBox="1"/>
          <p:nvPr/>
        </p:nvSpPr>
        <p:spPr>
          <a:xfrm>
            <a:off x="777240" y="1965960"/>
            <a:ext cx="10637215" cy="3108960"/>
          </a:xfrm>
          <a:prstGeom prst="rect">
            <a:avLst/>
          </a:prstGeom>
          <a:noFill/>
        </p:spPr>
        <p:txBody>
          <a:bodyPr wrap="square" anchor="t" lIns="0" rIns="0" tIns="0" bIns="0">
            <a:spAutoFit/>
          </a:bodyPr>
          <a:lstStyle/>
          <a:p>
            <a:pPr algn="l">
              <a:lnSpc>
                <a:spcPct val="118000"/>
              </a:lnSpc>
              <a:spcBef>
                <a:spcPts val="0"/>
              </a:spcBef>
              <a:spcAft>
                <a:spcPts val="1300"/>
              </a:spcAft>
            </a:pPr>
            <a:r>
              <a:rPr sz="2100" b="0" i="0">
                <a:solidFill>
                  <a:srgbClr val="1A1A1A"/>
                </a:solidFill>
                <a:latin typeface="Arial"/>
              </a:rPr>
              <a:t>The secondary reaction usually retraces from one third to two thirds of the primary trend's range.</a:t>
            </a:r>
          </a:p>
          <a:p>
            <a:pPr algn="l">
              <a:lnSpc>
                <a:spcPct val="118000"/>
              </a:lnSpc>
              <a:spcBef>
                <a:spcPts val="0"/>
              </a:spcBef>
              <a:spcAft>
                <a:spcPts val="1300"/>
              </a:spcAft>
            </a:pPr>
            <a:r>
              <a:rPr sz="2100" b="0" i="0">
                <a:solidFill>
                  <a:srgbClr val="1A1A1A"/>
                </a:solidFill>
                <a:latin typeface="Arial"/>
              </a:rPr>
              <a:t>Any retracement beyond two thirds on high volume usually signifies it may in fact be a new primary bear market.</a:t>
            </a:r>
          </a:p>
        </p:txBody>
      </p:sp>
      <p:sp>
        <p:nvSpPr>
          <p:cNvPr id="8" name="Rectangle 7"/>
          <p:cNvSpPr/>
          <p:nvPr/>
        </p:nvSpPr>
        <p:spPr>
          <a:xfrm>
            <a:off x="777240" y="3901439"/>
            <a:ext cx="82296" cy="467614"/>
          </a:xfrm>
          <a:prstGeom prst="rect">
            <a:avLst/>
          </a:prstGeom>
          <a:solidFill>
            <a:srgbClr val="F2A900"/>
          </a:solidFill>
          <a:ln>
            <a:noFill/>
          </a:ln>
          <a:effectLst/>
        </p:spPr>
        <p:txBody>
          <a:bodyPr rtlCol="0" anchor="ctr"/>
          <a:lstStyle/>
          <a:p>
            <a:pPr algn="ctr"/>
          </a:p>
        </p:txBody>
      </p:sp>
      <p:sp>
        <p:nvSpPr>
          <p:cNvPr id="9" name="TextBox 8"/>
          <p:cNvSpPr txBox="1"/>
          <p:nvPr/>
        </p:nvSpPr>
        <p:spPr>
          <a:xfrm>
            <a:off x="1069848" y="3938015"/>
            <a:ext cx="10344607" cy="467614"/>
          </a:xfrm>
          <a:prstGeom prst="rect">
            <a:avLst/>
          </a:prstGeom>
          <a:noFill/>
        </p:spPr>
        <p:txBody>
          <a:bodyPr wrap="square" anchor="t" lIns="0" rIns="0" tIns="0" bIns="0">
            <a:spAutoFit/>
          </a:bodyPr>
          <a:lstStyle/>
          <a:p>
            <a:pPr algn="l">
              <a:lnSpc>
                <a:spcPct val="115000"/>
              </a:lnSpc>
              <a:spcBef>
                <a:spcPts val="0"/>
              </a:spcBef>
              <a:spcAft>
                <a:spcPts val="0"/>
              </a:spcAft>
            </a:pPr>
            <a:r>
              <a:rPr sz="2200" b="1" i="0">
                <a:solidFill>
                  <a:srgbClr val="1A1A1A"/>
                </a:solidFill>
                <a:latin typeface="Arial"/>
              </a:rPr>
              <a:t>One third to two thirds is normal. Past two thirds, start worrying.</a:t>
            </a:r>
          </a:p>
        </p:txBody>
      </p:sp>
    </p:spTree>
  </p:cSld>
  <p:clrMapOvr>
    <a:masterClrMapping/>
  </p:clrMapOvr>
</p:sld>
</file>

<file path=ppt/slides/slide6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TextBox 3"/>
          <p:cNvSpPr txBox="1"/>
          <p:nvPr/>
        </p:nvSpPr>
        <p:spPr>
          <a:xfrm>
            <a:off x="777240" y="658368"/>
            <a:ext cx="10637215" cy="914400"/>
          </a:xfrm>
          <a:prstGeom prst="rect">
            <a:avLst/>
          </a:prstGeom>
          <a:noFill/>
        </p:spPr>
        <p:txBody>
          <a:bodyPr wrap="square" anchor="t" lIns="0" rIns="0" tIns="0" bIns="0">
            <a:spAutoFit/>
          </a:bodyPr>
          <a:lstStyle/>
          <a:p>
            <a:pPr algn="l">
              <a:lnSpc>
                <a:spcPct val="105000"/>
              </a:lnSpc>
              <a:spcBef>
                <a:spcPts val="0"/>
              </a:spcBef>
              <a:spcAft>
                <a:spcPts val="0"/>
              </a:spcAft>
            </a:pPr>
            <a:r>
              <a:rPr sz="3000" b="0" i="0">
                <a:solidFill>
                  <a:srgbClr val="007A33"/>
                </a:solidFill>
                <a:latin typeface="Palatino"/>
              </a:rPr>
              <a:t>And the level in the middle</a:t>
            </a:r>
          </a:p>
        </p:txBody>
      </p:sp>
      <p:sp>
        <p:nvSpPr>
          <p:cNvPr id="5" name="Rectangle 4"/>
          <p:cNvSpPr/>
          <p:nvPr/>
        </p:nvSpPr>
        <p:spPr>
          <a:xfrm>
            <a:off x="777240" y="1572768"/>
            <a:ext cx="10637215" cy="15875"/>
          </a:xfrm>
          <a:prstGeom prst="rect">
            <a:avLst/>
          </a:prstGeom>
          <a:solidFill>
            <a:srgbClr val="D7E0D9"/>
          </a:solidFill>
          <a:ln>
            <a:noFill/>
          </a:ln>
          <a:effectLst/>
        </p:spPr>
        <p:txBody>
          <a:bodyPr rtlCol="0" anchor="ctr"/>
          <a:lstStyle/>
          <a:p>
            <a:pPr algn="ctr"/>
          </a:p>
        </p:txBody>
      </p:sp>
      <p:sp>
        <p:nvSpPr>
          <p:cNvPr id="6" name="TextBox 5"/>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4 of 6 - Secondary and minor  |  3 of 12</a:t>
            </a:r>
          </a:p>
        </p:txBody>
      </p:sp>
      <p:sp>
        <p:nvSpPr>
          <p:cNvPr id="7" name="TextBox 6"/>
          <p:cNvSpPr txBox="1"/>
          <p:nvPr/>
        </p:nvSpPr>
        <p:spPr>
          <a:xfrm>
            <a:off x="777240" y="1965960"/>
            <a:ext cx="10637215" cy="3108960"/>
          </a:xfrm>
          <a:prstGeom prst="rect">
            <a:avLst/>
          </a:prstGeom>
          <a:noFill/>
        </p:spPr>
        <p:txBody>
          <a:bodyPr wrap="square" anchor="t" lIns="0" rIns="0" tIns="0" bIns="0">
            <a:spAutoFit/>
          </a:bodyPr>
          <a:lstStyle/>
          <a:p>
            <a:pPr algn="l">
              <a:lnSpc>
                <a:spcPct val="118000"/>
              </a:lnSpc>
              <a:spcBef>
                <a:spcPts val="0"/>
              </a:spcBef>
              <a:spcAft>
                <a:spcPts val="1300"/>
              </a:spcAft>
            </a:pPr>
            <a:r>
              <a:rPr sz="2100" b="0" i="0">
                <a:solidFill>
                  <a:srgbClr val="1A1A1A"/>
                </a:solidFill>
                <a:latin typeface="Arial"/>
              </a:rPr>
              <a:t>Dow Theory stresses the importance and psychological significance of the 50 percent retracement level.</a:t>
            </a:r>
          </a:p>
          <a:p>
            <a:pPr algn="l">
              <a:lnSpc>
                <a:spcPct val="118000"/>
              </a:lnSpc>
              <a:spcBef>
                <a:spcPts val="0"/>
              </a:spcBef>
              <a:spcAft>
                <a:spcPts val="1300"/>
              </a:spcAft>
            </a:pPr>
            <a:r>
              <a:rPr sz="2100" b="0" i="0">
                <a:solidFill>
                  <a:srgbClr val="1A1A1A"/>
                </a:solidFill>
                <a:latin typeface="Arial"/>
              </a:rPr>
              <a:t>It is a view shared by another prominent technician, W. D. Gann.</a:t>
            </a:r>
          </a:p>
        </p:txBody>
      </p:sp>
      <p:sp>
        <p:nvSpPr>
          <p:cNvPr id="8" name="Rectangle 7"/>
          <p:cNvSpPr/>
          <p:nvPr/>
        </p:nvSpPr>
        <p:spPr>
          <a:xfrm>
            <a:off x="777240" y="3586734"/>
            <a:ext cx="82296" cy="467614"/>
          </a:xfrm>
          <a:prstGeom prst="rect">
            <a:avLst/>
          </a:prstGeom>
          <a:solidFill>
            <a:srgbClr val="F2A900"/>
          </a:solidFill>
          <a:ln>
            <a:noFill/>
          </a:ln>
          <a:effectLst/>
        </p:spPr>
        <p:txBody>
          <a:bodyPr rtlCol="0" anchor="ctr"/>
          <a:lstStyle/>
          <a:p>
            <a:pPr algn="ctr"/>
          </a:p>
        </p:txBody>
      </p:sp>
      <p:sp>
        <p:nvSpPr>
          <p:cNvPr id="9" name="TextBox 8"/>
          <p:cNvSpPr txBox="1"/>
          <p:nvPr/>
        </p:nvSpPr>
        <p:spPr>
          <a:xfrm>
            <a:off x="1069848" y="3623310"/>
            <a:ext cx="10344607" cy="467614"/>
          </a:xfrm>
          <a:prstGeom prst="rect">
            <a:avLst/>
          </a:prstGeom>
          <a:noFill/>
        </p:spPr>
        <p:txBody>
          <a:bodyPr wrap="square" anchor="t" lIns="0" rIns="0" tIns="0" bIns="0">
            <a:spAutoFit/>
          </a:bodyPr>
          <a:lstStyle/>
          <a:p>
            <a:pPr algn="l">
              <a:lnSpc>
                <a:spcPct val="115000"/>
              </a:lnSpc>
              <a:spcBef>
                <a:spcPts val="0"/>
              </a:spcBef>
              <a:spcAft>
                <a:spcPts val="0"/>
              </a:spcAft>
            </a:pPr>
            <a:r>
              <a:rPr sz="2200" b="1" i="0">
                <a:solidFill>
                  <a:srgbClr val="1A1A1A"/>
                </a:solidFill>
                <a:latin typeface="Arial"/>
              </a:rPr>
              <a:t>Half back is the level people watch, and the book says so plainly.</a:t>
            </a:r>
          </a:p>
        </p:txBody>
      </p:sp>
    </p:spTree>
  </p:cSld>
  <p:clrMapOvr>
    <a:masterClrMapping/>
  </p:clrMapOvr>
</p:sld>
</file>

<file path=ppt/slides/slide6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TextBox 3"/>
          <p:cNvSpPr txBox="1"/>
          <p:nvPr/>
        </p:nvSpPr>
        <p:spPr>
          <a:xfrm>
            <a:off x="777240" y="658368"/>
            <a:ext cx="10637215" cy="914400"/>
          </a:xfrm>
          <a:prstGeom prst="rect">
            <a:avLst/>
          </a:prstGeom>
          <a:noFill/>
        </p:spPr>
        <p:txBody>
          <a:bodyPr wrap="square" anchor="t" lIns="0" rIns="0" tIns="0" bIns="0">
            <a:spAutoFit/>
          </a:bodyPr>
          <a:lstStyle/>
          <a:p>
            <a:pPr algn="l">
              <a:lnSpc>
                <a:spcPct val="105000"/>
              </a:lnSpc>
              <a:spcBef>
                <a:spcPts val="0"/>
              </a:spcBef>
              <a:spcAft>
                <a:spcPts val="0"/>
              </a:spcAft>
            </a:pPr>
            <a:r>
              <a:rPr sz="3000" b="0" i="0">
                <a:solidFill>
                  <a:srgbClr val="007A33"/>
                </a:solidFill>
                <a:latin typeface="Palatino"/>
              </a:rPr>
              <a:t>How far back a reaction comes</a:t>
            </a:r>
          </a:p>
        </p:txBody>
      </p:sp>
      <p:sp>
        <p:nvSpPr>
          <p:cNvPr id="5" name="Rectangle 4"/>
          <p:cNvSpPr/>
          <p:nvPr/>
        </p:nvSpPr>
        <p:spPr>
          <a:xfrm>
            <a:off x="777240" y="1572768"/>
            <a:ext cx="10637215" cy="15875"/>
          </a:xfrm>
          <a:prstGeom prst="rect">
            <a:avLst/>
          </a:prstGeom>
          <a:solidFill>
            <a:srgbClr val="D7E0D9"/>
          </a:solidFill>
          <a:ln>
            <a:noFill/>
          </a:ln>
          <a:effectLst/>
        </p:spPr>
        <p:txBody>
          <a:bodyPr rtlCol="0" anchor="ctr"/>
          <a:lstStyle/>
          <a:p>
            <a:pPr algn="ctr"/>
          </a:p>
        </p:txBody>
      </p:sp>
      <p:sp>
        <p:nvSpPr>
          <p:cNvPr id="6" name="TextBox 5"/>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4 of 6 - Secondary and minor  |  4 of 12</a:t>
            </a:r>
          </a:p>
        </p:txBody>
      </p:sp>
      <p:sp>
        <p:nvSpPr>
          <p:cNvPr id="7" name="Rectangle 6"/>
          <p:cNvSpPr/>
          <p:nvPr/>
        </p:nvSpPr>
        <p:spPr>
          <a:xfrm>
            <a:off x="778611" y="1810512"/>
            <a:ext cx="10634472" cy="3749039"/>
          </a:xfrm>
          <a:prstGeom prst="rect">
            <a:avLst/>
          </a:prstGeom>
          <a:solidFill>
            <a:srgbClr val="FFFFFF"/>
          </a:solidFill>
          <a:ln w="12700">
            <a:solidFill>
              <a:srgbClr val="D7E0D9"/>
            </a:solidFill>
          </a:ln>
          <a:effectLst/>
        </p:spPr>
        <p:txBody>
          <a:bodyPr rtlCol="0" anchor="ctr"/>
          <a:lstStyle/>
          <a:p>
            <a:pPr algn="ctr"/>
          </a:p>
        </p:txBody>
      </p:sp>
      <p:pic>
        <p:nvPicPr>
          <p:cNvPr id="8" name="Picture 7" descr="chart-e.png"/>
          <p:cNvPicPr>
            <a:picLocks noChangeAspect="1"/>
          </p:cNvPicPr>
          <p:nvPr/>
        </p:nvPicPr>
        <p:blipFill>
          <a:blip r:embed="rId2"/>
          <a:stretch>
            <a:fillRect/>
          </a:stretch>
        </p:blipFill>
        <p:spPr>
          <a:xfrm>
            <a:off x="897483" y="1929384"/>
            <a:ext cx="10396728" cy="3511296"/>
          </a:xfrm>
          <a:prstGeom prst="rect">
            <a:avLst/>
          </a:prstGeom>
        </p:spPr>
      </p:pic>
      <p:sp>
        <p:nvSpPr>
          <p:cNvPr id="9" name="TextBox 8"/>
          <p:cNvSpPr txBox="1"/>
          <p:nvPr/>
        </p:nvSpPr>
        <p:spPr>
          <a:xfrm>
            <a:off x="777240" y="5669280"/>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300" b="0" i="0">
                <a:solidFill>
                  <a:srgbClr val="818181"/>
                </a:solidFill>
                <a:latin typeface="Arial"/>
              </a:rPr>
              <a:t>Chart E - FIN1209 teaching chart, drawn for this course. Illustrative data, not a real instrument.</a:t>
            </a:r>
          </a:p>
        </p:txBody>
      </p:sp>
    </p:spTree>
  </p:cSld>
  <p:clrMapOvr>
    <a:masterClrMapping/>
  </p:clrMapOvr>
</p:sld>
</file>

<file path=ppt/slides/slide6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TextBox 3"/>
          <p:cNvSpPr txBox="1"/>
          <p:nvPr/>
        </p:nvSpPr>
        <p:spPr>
          <a:xfrm>
            <a:off x="777240" y="658368"/>
            <a:ext cx="10637215" cy="914400"/>
          </a:xfrm>
          <a:prstGeom prst="rect">
            <a:avLst/>
          </a:prstGeom>
          <a:noFill/>
        </p:spPr>
        <p:txBody>
          <a:bodyPr wrap="square" anchor="t" lIns="0" rIns="0" tIns="0" bIns="0">
            <a:spAutoFit/>
          </a:bodyPr>
          <a:lstStyle/>
          <a:p>
            <a:pPr algn="l">
              <a:lnSpc>
                <a:spcPct val="105000"/>
              </a:lnSpc>
              <a:spcBef>
                <a:spcPts val="0"/>
              </a:spcBef>
              <a:spcAft>
                <a:spcPts val="0"/>
              </a:spcAft>
            </a:pPr>
            <a:r>
              <a:rPr sz="3000" b="0" i="0">
                <a:solidFill>
                  <a:srgbClr val="007A33"/>
                </a:solidFill>
                <a:latin typeface="Palatino"/>
              </a:rPr>
              <a:t>When the primary trend resumes</a:t>
            </a:r>
          </a:p>
        </p:txBody>
      </p:sp>
      <p:sp>
        <p:nvSpPr>
          <p:cNvPr id="5" name="Rectangle 4"/>
          <p:cNvSpPr/>
          <p:nvPr/>
        </p:nvSpPr>
        <p:spPr>
          <a:xfrm>
            <a:off x="777240" y="1572768"/>
            <a:ext cx="10637215" cy="15875"/>
          </a:xfrm>
          <a:prstGeom prst="rect">
            <a:avLst/>
          </a:prstGeom>
          <a:solidFill>
            <a:srgbClr val="D7E0D9"/>
          </a:solidFill>
          <a:ln>
            <a:noFill/>
          </a:ln>
          <a:effectLst/>
        </p:spPr>
        <p:txBody>
          <a:bodyPr rtlCol="0" anchor="ctr"/>
          <a:lstStyle/>
          <a:p>
            <a:pPr algn="ctr"/>
          </a:p>
        </p:txBody>
      </p:sp>
      <p:sp>
        <p:nvSpPr>
          <p:cNvPr id="6" name="TextBox 5"/>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4 of 6 - Secondary and minor  |  5 of 12</a:t>
            </a:r>
          </a:p>
        </p:txBody>
      </p:sp>
      <p:sp>
        <p:nvSpPr>
          <p:cNvPr id="7" name="TextBox 6"/>
          <p:cNvSpPr txBox="1"/>
          <p:nvPr/>
        </p:nvSpPr>
        <p:spPr>
          <a:xfrm>
            <a:off x="777240" y="1965960"/>
            <a:ext cx="10637215" cy="3108960"/>
          </a:xfrm>
          <a:prstGeom prst="rect">
            <a:avLst/>
          </a:prstGeom>
          <a:noFill/>
        </p:spPr>
        <p:txBody>
          <a:bodyPr wrap="square" anchor="t" lIns="0" rIns="0" tIns="0" bIns="0">
            <a:spAutoFit/>
          </a:bodyPr>
          <a:lstStyle/>
          <a:p>
            <a:pPr algn="l">
              <a:lnSpc>
                <a:spcPct val="118000"/>
              </a:lnSpc>
              <a:spcBef>
                <a:spcPts val="0"/>
              </a:spcBef>
              <a:spcAft>
                <a:spcPts val="1300"/>
              </a:spcAft>
            </a:pPr>
            <a:r>
              <a:rPr sz="2100" b="0" i="0">
                <a:solidFill>
                  <a:srgbClr val="1A1A1A"/>
                </a:solidFill>
                <a:latin typeface="Arial"/>
              </a:rPr>
              <a:t>A primary bull trend resumes its uptrend once price breaches the highest peak formed by the secondary reaction.</a:t>
            </a:r>
          </a:p>
          <a:p>
            <a:pPr algn="l">
              <a:lnSpc>
                <a:spcPct val="118000"/>
              </a:lnSpc>
              <a:spcBef>
                <a:spcPts val="0"/>
              </a:spcBef>
              <a:spcAft>
                <a:spcPts val="1300"/>
              </a:spcAft>
            </a:pPr>
            <a:r>
              <a:rPr sz="2100" b="0" i="0">
                <a:solidFill>
                  <a:srgbClr val="1A1A1A"/>
                </a:solidFill>
                <a:latin typeface="Arial"/>
              </a:rPr>
              <a:t>A primary bear trend resumes its downtrend once price breaches the lowest trough formed by the secondary reaction.</a:t>
            </a:r>
          </a:p>
        </p:txBody>
      </p:sp>
      <p:sp>
        <p:nvSpPr>
          <p:cNvPr id="8" name="Rectangle 7"/>
          <p:cNvSpPr/>
          <p:nvPr/>
        </p:nvSpPr>
        <p:spPr>
          <a:xfrm>
            <a:off x="777240" y="3901439"/>
            <a:ext cx="82296" cy="467614"/>
          </a:xfrm>
          <a:prstGeom prst="rect">
            <a:avLst/>
          </a:prstGeom>
          <a:solidFill>
            <a:srgbClr val="F2A900"/>
          </a:solidFill>
          <a:ln>
            <a:noFill/>
          </a:ln>
          <a:effectLst/>
        </p:spPr>
        <p:txBody>
          <a:bodyPr rtlCol="0" anchor="ctr"/>
          <a:lstStyle/>
          <a:p>
            <a:pPr algn="ctr"/>
          </a:p>
        </p:txBody>
      </p:sp>
      <p:sp>
        <p:nvSpPr>
          <p:cNvPr id="9" name="TextBox 8"/>
          <p:cNvSpPr txBox="1"/>
          <p:nvPr/>
        </p:nvSpPr>
        <p:spPr>
          <a:xfrm>
            <a:off x="1069848" y="3938015"/>
            <a:ext cx="10344607" cy="467614"/>
          </a:xfrm>
          <a:prstGeom prst="rect">
            <a:avLst/>
          </a:prstGeom>
          <a:noFill/>
        </p:spPr>
        <p:txBody>
          <a:bodyPr wrap="square" anchor="t" lIns="0" rIns="0" tIns="0" bIns="0">
            <a:spAutoFit/>
          </a:bodyPr>
          <a:lstStyle/>
          <a:p>
            <a:pPr algn="l">
              <a:lnSpc>
                <a:spcPct val="115000"/>
              </a:lnSpc>
              <a:spcBef>
                <a:spcPts val="0"/>
              </a:spcBef>
              <a:spcAft>
                <a:spcPts val="0"/>
              </a:spcAft>
            </a:pPr>
            <a:r>
              <a:rPr sz="2200" b="1" i="0">
                <a:solidFill>
                  <a:srgbClr val="1A1A1A"/>
                </a:solidFill>
                <a:latin typeface="Arial"/>
              </a:rPr>
              <a:t>The reaction is over when the peak it made is taken out.</a:t>
            </a:r>
          </a:p>
        </p:txBody>
      </p:sp>
    </p:spTree>
  </p:cSld>
  <p:clrMapOvr>
    <a:masterClrMapping/>
  </p:clrMapOvr>
</p:sld>
</file>

<file path=ppt/slides/slide7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TextBox 3"/>
          <p:cNvSpPr txBox="1"/>
          <p:nvPr/>
        </p:nvSpPr>
        <p:spPr>
          <a:xfrm>
            <a:off x="777240" y="658368"/>
            <a:ext cx="10637215" cy="914400"/>
          </a:xfrm>
          <a:prstGeom prst="rect">
            <a:avLst/>
          </a:prstGeom>
          <a:noFill/>
        </p:spPr>
        <p:txBody>
          <a:bodyPr wrap="square" anchor="t" lIns="0" rIns="0" tIns="0" bIns="0">
            <a:spAutoFit/>
          </a:bodyPr>
          <a:lstStyle/>
          <a:p>
            <a:pPr algn="l">
              <a:lnSpc>
                <a:spcPct val="105000"/>
              </a:lnSpc>
              <a:spcBef>
                <a:spcPts val="0"/>
              </a:spcBef>
              <a:spcAft>
                <a:spcPts val="0"/>
              </a:spcAft>
            </a:pPr>
            <a:r>
              <a:rPr sz="3000" b="0" i="0">
                <a:solidFill>
                  <a:srgbClr val="007A33"/>
                </a:solidFill>
                <a:latin typeface="Palatino"/>
              </a:rPr>
              <a:t>A reaction of 75 percent, and the resumption</a:t>
            </a:r>
          </a:p>
        </p:txBody>
      </p:sp>
      <p:sp>
        <p:nvSpPr>
          <p:cNvPr id="5" name="Rectangle 4"/>
          <p:cNvSpPr/>
          <p:nvPr/>
        </p:nvSpPr>
        <p:spPr>
          <a:xfrm>
            <a:off x="777240" y="1572768"/>
            <a:ext cx="10637215" cy="15875"/>
          </a:xfrm>
          <a:prstGeom prst="rect">
            <a:avLst/>
          </a:prstGeom>
          <a:solidFill>
            <a:srgbClr val="D7E0D9"/>
          </a:solidFill>
          <a:ln>
            <a:noFill/>
          </a:ln>
          <a:effectLst/>
        </p:spPr>
        <p:txBody>
          <a:bodyPr rtlCol="0" anchor="ctr"/>
          <a:lstStyle/>
          <a:p>
            <a:pPr algn="ctr"/>
          </a:p>
        </p:txBody>
      </p:sp>
      <p:sp>
        <p:nvSpPr>
          <p:cNvPr id="6" name="TextBox 5"/>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4 of 6 - Secondary and minor  |  6 of 12</a:t>
            </a:r>
          </a:p>
        </p:txBody>
      </p:sp>
      <p:sp>
        <p:nvSpPr>
          <p:cNvPr id="7" name="Rectangle 6"/>
          <p:cNvSpPr/>
          <p:nvPr/>
        </p:nvSpPr>
        <p:spPr>
          <a:xfrm>
            <a:off x="2346807" y="1810512"/>
            <a:ext cx="7498079" cy="3749039"/>
          </a:xfrm>
          <a:prstGeom prst="rect">
            <a:avLst/>
          </a:prstGeom>
          <a:solidFill>
            <a:srgbClr val="FFFFFF"/>
          </a:solidFill>
          <a:ln w="12700">
            <a:solidFill>
              <a:srgbClr val="D7E0D9"/>
            </a:solidFill>
          </a:ln>
          <a:effectLst/>
        </p:spPr>
        <p:txBody>
          <a:bodyPr rtlCol="0" anchor="ctr"/>
          <a:lstStyle/>
          <a:p>
            <a:pPr algn="ctr"/>
          </a:p>
        </p:txBody>
      </p:sp>
      <p:sp>
        <p:nvSpPr>
          <p:cNvPr id="8" name="Rectangle 7"/>
          <p:cNvSpPr/>
          <p:nvPr/>
        </p:nvSpPr>
        <p:spPr>
          <a:xfrm>
            <a:off x="2346807" y="1810512"/>
            <a:ext cx="7498079" cy="50800"/>
          </a:xfrm>
          <a:prstGeom prst="rect">
            <a:avLst/>
          </a:prstGeom>
          <a:solidFill>
            <a:srgbClr val="F2A900"/>
          </a:solidFill>
          <a:ln>
            <a:noFill/>
          </a:ln>
          <a:effectLst/>
        </p:spPr>
        <p:txBody>
          <a:bodyPr rtlCol="0" anchor="ctr"/>
          <a:lstStyle/>
          <a:p>
            <a:pPr algn="ctr"/>
          </a:p>
        </p:txBody>
      </p:sp>
      <p:sp>
        <p:nvSpPr>
          <p:cNvPr id="9" name="TextBox 8"/>
          <p:cNvSpPr txBox="1"/>
          <p:nvPr/>
        </p:nvSpPr>
        <p:spPr>
          <a:xfrm>
            <a:off x="2895447" y="2450591"/>
            <a:ext cx="6400799" cy="2651759"/>
          </a:xfrm>
          <a:prstGeom prst="rect">
            <a:avLst/>
          </a:prstGeom>
          <a:noFill/>
        </p:spPr>
        <p:txBody>
          <a:bodyPr wrap="square" anchor="t" lIns="0" rIns="0" tIns="0" bIns="0">
            <a:spAutoFit/>
          </a:bodyPr>
          <a:lstStyle/>
          <a:p>
            <a:pPr algn="l">
              <a:lnSpc>
                <a:spcPct val="100000"/>
              </a:lnSpc>
              <a:spcBef>
                <a:spcPts val="0"/>
              </a:spcBef>
              <a:spcAft>
                <a:spcPts val="1400"/>
              </a:spcAft>
            </a:pPr>
            <a:r>
              <a:rPr sz="1500" b="1" i="0">
                <a:solidFill>
                  <a:srgbClr val="818181"/>
                </a:solidFill>
                <a:latin typeface="Arial"/>
              </a:rPr>
              <a:t>FIGURE 2.12</a:t>
            </a:r>
          </a:p>
          <a:p>
            <a:pPr algn="l">
              <a:lnSpc>
                <a:spcPct val="120000"/>
              </a:lnSpc>
              <a:spcBef>
                <a:spcPts val="0"/>
              </a:spcBef>
              <a:spcAft>
                <a:spcPts val="1800"/>
              </a:spcAft>
            </a:pPr>
            <a:r>
              <a:rPr sz="2200" b="0" i="0">
                <a:solidFill>
                  <a:srgbClr val="1A1A1A"/>
                </a:solidFill>
                <a:latin typeface="Palatino"/>
              </a:rPr>
              <a:t>The Dow Jones Industrial Average with a secondary reaction retracing about 75 percent of the primary trend's range, and the primary bull market resuming its uptrend on breaching the highest peak formed during the reaction.</a:t>
            </a:r>
          </a:p>
          <a:p>
            <a:pPr algn="l">
              <a:lnSpc>
                <a:spcPct val="115000"/>
              </a:lnSpc>
              <a:spcBef>
                <a:spcPts val="0"/>
              </a:spcBef>
              <a:spcAft>
                <a:spcPts val="0"/>
              </a:spcAft>
            </a:pPr>
            <a:r>
              <a:rPr sz="1400" b="0" i="1">
                <a:solidFill>
                  <a:srgbClr val="818181"/>
                </a:solidFill>
                <a:latin typeface="Arial"/>
              </a:rPr>
              <a:t>The artwork is copyrighted and is not in the public repository. Build with assets/figures/ present to place it here.</a:t>
            </a:r>
          </a:p>
        </p:txBody>
      </p:sp>
      <p:sp>
        <p:nvSpPr>
          <p:cNvPr id="10" name="TextBox 9"/>
          <p:cNvSpPr txBox="1"/>
          <p:nvPr/>
        </p:nvSpPr>
        <p:spPr>
          <a:xfrm>
            <a:off x="777240" y="5669280"/>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300" b="0" i="0">
                <a:solidFill>
                  <a:srgbClr val="818181"/>
                </a:solidFill>
                <a:latin typeface="Arial"/>
              </a:rPr>
              <a:t>Figure 2.12 - Lim, The Handbook of Technical Analysis (Wiley, 2016)</a:t>
            </a:r>
          </a:p>
        </p:txBody>
      </p:sp>
    </p:spTree>
  </p:cSld>
  <p:clrMapOvr>
    <a:masterClrMapping/>
  </p:clrMapOvr>
</p:sld>
</file>

<file path=ppt/slides/slide7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TextBox 3"/>
          <p:cNvSpPr txBox="1"/>
          <p:nvPr/>
        </p:nvSpPr>
        <p:spPr>
          <a:xfrm>
            <a:off x="777240" y="658368"/>
            <a:ext cx="10637215" cy="914400"/>
          </a:xfrm>
          <a:prstGeom prst="rect">
            <a:avLst/>
          </a:prstGeom>
          <a:noFill/>
        </p:spPr>
        <p:txBody>
          <a:bodyPr wrap="square" anchor="t" lIns="0" rIns="0" tIns="0" bIns="0">
            <a:spAutoFit/>
          </a:bodyPr>
          <a:lstStyle/>
          <a:p>
            <a:pPr algn="l">
              <a:lnSpc>
                <a:spcPct val="105000"/>
              </a:lnSpc>
              <a:spcBef>
                <a:spcPts val="0"/>
              </a:spcBef>
              <a:spcAft>
                <a:spcPts val="0"/>
              </a:spcAft>
            </a:pPr>
            <a:r>
              <a:rPr sz="3000" b="0" i="0">
                <a:solidFill>
                  <a:srgbClr val="007A33"/>
                </a:solidFill>
                <a:latin typeface="Palatino"/>
              </a:rPr>
              <a:t>Reactions of several depths on one chart</a:t>
            </a:r>
          </a:p>
        </p:txBody>
      </p:sp>
      <p:sp>
        <p:nvSpPr>
          <p:cNvPr id="5" name="Rectangle 4"/>
          <p:cNvSpPr/>
          <p:nvPr/>
        </p:nvSpPr>
        <p:spPr>
          <a:xfrm>
            <a:off x="777240" y="1572768"/>
            <a:ext cx="10637215" cy="15875"/>
          </a:xfrm>
          <a:prstGeom prst="rect">
            <a:avLst/>
          </a:prstGeom>
          <a:solidFill>
            <a:srgbClr val="D7E0D9"/>
          </a:solidFill>
          <a:ln>
            <a:noFill/>
          </a:ln>
          <a:effectLst/>
        </p:spPr>
        <p:txBody>
          <a:bodyPr rtlCol="0" anchor="ctr"/>
          <a:lstStyle/>
          <a:p>
            <a:pPr algn="ctr"/>
          </a:p>
        </p:txBody>
      </p:sp>
      <p:sp>
        <p:nvSpPr>
          <p:cNvPr id="6" name="TextBox 5"/>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4 of 6 - Secondary and minor  |  7 of 12</a:t>
            </a:r>
          </a:p>
        </p:txBody>
      </p:sp>
      <p:sp>
        <p:nvSpPr>
          <p:cNvPr id="7" name="Rectangle 6"/>
          <p:cNvSpPr/>
          <p:nvPr/>
        </p:nvSpPr>
        <p:spPr>
          <a:xfrm>
            <a:off x="2346807" y="1810512"/>
            <a:ext cx="7498079" cy="3749039"/>
          </a:xfrm>
          <a:prstGeom prst="rect">
            <a:avLst/>
          </a:prstGeom>
          <a:solidFill>
            <a:srgbClr val="FFFFFF"/>
          </a:solidFill>
          <a:ln w="12700">
            <a:solidFill>
              <a:srgbClr val="D7E0D9"/>
            </a:solidFill>
          </a:ln>
          <a:effectLst/>
        </p:spPr>
        <p:txBody>
          <a:bodyPr rtlCol="0" anchor="ctr"/>
          <a:lstStyle/>
          <a:p>
            <a:pPr algn="ctr"/>
          </a:p>
        </p:txBody>
      </p:sp>
      <p:sp>
        <p:nvSpPr>
          <p:cNvPr id="8" name="Rectangle 7"/>
          <p:cNvSpPr/>
          <p:nvPr/>
        </p:nvSpPr>
        <p:spPr>
          <a:xfrm>
            <a:off x="2346807" y="1810512"/>
            <a:ext cx="7498079" cy="50800"/>
          </a:xfrm>
          <a:prstGeom prst="rect">
            <a:avLst/>
          </a:prstGeom>
          <a:solidFill>
            <a:srgbClr val="F2A900"/>
          </a:solidFill>
          <a:ln>
            <a:noFill/>
          </a:ln>
          <a:effectLst/>
        </p:spPr>
        <p:txBody>
          <a:bodyPr rtlCol="0" anchor="ctr"/>
          <a:lstStyle/>
          <a:p>
            <a:pPr algn="ctr"/>
          </a:p>
        </p:txBody>
      </p:sp>
      <p:sp>
        <p:nvSpPr>
          <p:cNvPr id="9" name="TextBox 8"/>
          <p:cNvSpPr txBox="1"/>
          <p:nvPr/>
        </p:nvSpPr>
        <p:spPr>
          <a:xfrm>
            <a:off x="2895447" y="2450591"/>
            <a:ext cx="6400799" cy="2651759"/>
          </a:xfrm>
          <a:prstGeom prst="rect">
            <a:avLst/>
          </a:prstGeom>
          <a:noFill/>
        </p:spPr>
        <p:txBody>
          <a:bodyPr wrap="square" anchor="t" lIns="0" rIns="0" tIns="0" bIns="0">
            <a:spAutoFit/>
          </a:bodyPr>
          <a:lstStyle/>
          <a:p>
            <a:pPr algn="l">
              <a:lnSpc>
                <a:spcPct val="100000"/>
              </a:lnSpc>
              <a:spcBef>
                <a:spcPts val="0"/>
              </a:spcBef>
              <a:spcAft>
                <a:spcPts val="1400"/>
              </a:spcAft>
            </a:pPr>
            <a:r>
              <a:rPr sz="1500" b="1" i="0">
                <a:solidFill>
                  <a:srgbClr val="818181"/>
                </a:solidFill>
                <a:latin typeface="Arial"/>
              </a:rPr>
              <a:t>FIGURE 2.13</a:t>
            </a:r>
          </a:p>
          <a:p>
            <a:pPr algn="l">
              <a:lnSpc>
                <a:spcPct val="120000"/>
              </a:lnSpc>
              <a:spcBef>
                <a:spcPts val="0"/>
              </a:spcBef>
              <a:spcAft>
                <a:spcPts val="1800"/>
              </a:spcAft>
            </a:pPr>
            <a:r>
              <a:rPr sz="2200" b="0" i="0">
                <a:solidFill>
                  <a:srgbClr val="1A1A1A"/>
                </a:solidFill>
                <a:latin typeface="Palatino"/>
              </a:rPr>
              <a:t>A daily chart of the EURUSD with several secondary reactions marked at roughly one third, one half and two thirds retracements.</a:t>
            </a:r>
          </a:p>
          <a:p>
            <a:pPr algn="l">
              <a:lnSpc>
                <a:spcPct val="115000"/>
              </a:lnSpc>
              <a:spcBef>
                <a:spcPts val="0"/>
              </a:spcBef>
              <a:spcAft>
                <a:spcPts val="0"/>
              </a:spcAft>
            </a:pPr>
            <a:r>
              <a:rPr sz="1400" b="0" i="1">
                <a:solidFill>
                  <a:srgbClr val="818181"/>
                </a:solidFill>
                <a:latin typeface="Arial"/>
              </a:rPr>
              <a:t>The artwork is copyrighted and is not in the public repository. Build with assets/figures/ present to place it here.</a:t>
            </a:r>
          </a:p>
        </p:txBody>
      </p:sp>
      <p:sp>
        <p:nvSpPr>
          <p:cNvPr id="10" name="TextBox 9"/>
          <p:cNvSpPr txBox="1"/>
          <p:nvPr/>
        </p:nvSpPr>
        <p:spPr>
          <a:xfrm>
            <a:off x="777240" y="5669280"/>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300" b="0" i="0">
                <a:solidFill>
                  <a:srgbClr val="818181"/>
                </a:solidFill>
                <a:latin typeface="Arial"/>
              </a:rPr>
              <a:t>Figure 2.13 - Lim, The Handbook of Technical Analysis (Wiley, 2016)</a:t>
            </a:r>
          </a:p>
        </p:txBody>
      </p:sp>
    </p:spTree>
  </p:cSld>
  <p:clrMapOvr>
    <a:masterClrMapping/>
  </p:clrMapOvr>
</p:sld>
</file>

<file path=ppt/slides/slide7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Rectangle 3"/>
          <p:cNvSpPr/>
          <p:nvPr/>
        </p:nvSpPr>
        <p:spPr>
          <a:xfrm>
            <a:off x="777240" y="566928"/>
            <a:ext cx="1234440" cy="329184"/>
          </a:xfrm>
          <a:prstGeom prst="rect">
            <a:avLst/>
          </a:prstGeom>
          <a:solidFill>
            <a:srgbClr val="F2A900"/>
          </a:solidFill>
          <a:ln>
            <a:noFill/>
          </a:ln>
          <a:effectLst/>
        </p:spPr>
        <p:txBody>
          <a:bodyPr rtlCol="0" anchor="ctr" wrap="none" lIns="0" rIns="0" tIns="0" bIns="0"/>
          <a:lstStyle/>
          <a:p>
            <a:pPr algn="ctr">
              <a:lnSpc>
                <a:spcPct val="100000"/>
              </a:lnSpc>
              <a:spcBef>
                <a:spcPts val="0"/>
              </a:spcBef>
              <a:spcAft>
                <a:spcPts val="0"/>
              </a:spcAft>
            </a:pPr>
            <a:r>
              <a:rPr sz="1200" b="1" i="0">
                <a:solidFill>
                  <a:srgbClr val="1A1A1A"/>
                </a:solidFill>
                <a:latin typeface="Arial"/>
              </a:rPr>
              <a:t>NEW TERM</a:t>
            </a:r>
          </a:p>
        </p:txBody>
      </p:sp>
      <p:sp>
        <p:nvSpPr>
          <p:cNvPr id="5" name="TextBox 4"/>
          <p:cNvSpPr txBox="1"/>
          <p:nvPr/>
        </p:nvSpPr>
        <p:spPr>
          <a:xfrm>
            <a:off x="777240" y="1051560"/>
            <a:ext cx="10637215" cy="822960"/>
          </a:xfrm>
          <a:prstGeom prst="rect">
            <a:avLst/>
          </a:prstGeom>
          <a:noFill/>
        </p:spPr>
        <p:txBody>
          <a:bodyPr wrap="square" anchor="t" lIns="0" rIns="0" tIns="0" bIns="0">
            <a:spAutoFit/>
          </a:bodyPr>
          <a:lstStyle/>
          <a:p>
            <a:pPr algn="l">
              <a:lnSpc>
                <a:spcPct val="105000"/>
              </a:lnSpc>
              <a:spcBef>
                <a:spcPts val="0"/>
              </a:spcBef>
              <a:spcAft>
                <a:spcPts val="0"/>
              </a:spcAft>
            </a:pPr>
            <a:r>
              <a:rPr sz="3200" b="0" i="0">
                <a:solidFill>
                  <a:srgbClr val="007A33"/>
                </a:solidFill>
                <a:latin typeface="Palatino"/>
              </a:rPr>
              <a:t>Minor trend</a:t>
            </a:r>
          </a:p>
        </p:txBody>
      </p:sp>
      <p:sp>
        <p:nvSpPr>
          <p:cNvPr id="6" name="Rectangle 5"/>
          <p:cNvSpPr/>
          <p:nvPr/>
        </p:nvSpPr>
        <p:spPr>
          <a:xfrm>
            <a:off x="777240" y="1874519"/>
            <a:ext cx="10637215" cy="15875"/>
          </a:xfrm>
          <a:prstGeom prst="rect">
            <a:avLst/>
          </a:prstGeom>
          <a:solidFill>
            <a:srgbClr val="D7E0D9"/>
          </a:solidFill>
          <a:ln>
            <a:noFill/>
          </a:ln>
          <a:effectLst/>
        </p:spPr>
        <p:txBody>
          <a:bodyPr rtlCol="0" anchor="ctr"/>
          <a:lstStyle/>
          <a:p>
            <a:pPr algn="ctr"/>
          </a:p>
        </p:txBody>
      </p:sp>
      <p:sp>
        <p:nvSpPr>
          <p:cNvPr id="7" name="Rectangle 6"/>
          <p:cNvSpPr/>
          <p:nvPr/>
        </p:nvSpPr>
        <p:spPr>
          <a:xfrm>
            <a:off x="777240" y="2258568"/>
            <a:ext cx="64008" cy="533527"/>
          </a:xfrm>
          <a:prstGeom prst="rect">
            <a:avLst/>
          </a:prstGeom>
          <a:solidFill>
            <a:srgbClr val="F2A900"/>
          </a:solidFill>
          <a:ln>
            <a:noFill/>
          </a:ln>
          <a:effectLst/>
        </p:spPr>
        <p:txBody>
          <a:bodyPr rtlCol="0" anchor="ctr"/>
          <a:lstStyle/>
          <a:p>
            <a:pPr algn="ctr"/>
          </a:p>
        </p:txBody>
      </p:sp>
      <p:sp>
        <p:nvSpPr>
          <p:cNvPr id="8" name="TextBox 7"/>
          <p:cNvSpPr txBox="1"/>
          <p:nvPr/>
        </p:nvSpPr>
        <p:spPr>
          <a:xfrm>
            <a:off x="1051560" y="2212848"/>
            <a:ext cx="10362895" cy="643255"/>
          </a:xfrm>
          <a:prstGeom prst="rect">
            <a:avLst/>
          </a:prstGeom>
          <a:noFill/>
        </p:spPr>
        <p:txBody>
          <a:bodyPr wrap="square" anchor="t" lIns="0" rIns="0" tIns="0" bIns="0">
            <a:spAutoFit/>
          </a:bodyPr>
          <a:lstStyle/>
          <a:p>
            <a:pPr algn="l">
              <a:lnSpc>
                <a:spcPct val="100000"/>
              </a:lnSpc>
              <a:spcBef>
                <a:spcPts val="0"/>
              </a:spcBef>
              <a:spcAft>
                <a:spcPts val="400"/>
              </a:spcAft>
            </a:pPr>
            <a:r>
              <a:rPr sz="1100" b="1" i="0">
                <a:solidFill>
                  <a:srgbClr val="818181"/>
                </a:solidFill>
                <a:latin typeface="Arial"/>
              </a:rPr>
              <a:t>IN PLAIN WORDS</a:t>
            </a:r>
          </a:p>
          <a:p>
            <a:pPr algn="l">
              <a:lnSpc>
                <a:spcPct val="115000"/>
              </a:lnSpc>
              <a:spcBef>
                <a:spcPts val="0"/>
              </a:spcBef>
              <a:spcAft>
                <a:spcPts val="0"/>
              </a:spcAft>
            </a:pPr>
            <a:r>
              <a:rPr sz="1900" b="1" i="0">
                <a:solidFill>
                  <a:srgbClr val="1A1A1A"/>
                </a:solidFill>
                <a:latin typeface="Arial"/>
              </a:rPr>
              <a:t>The day to day movement. Dow Theory does not regard it as important.</a:t>
            </a:r>
          </a:p>
        </p:txBody>
      </p:sp>
      <p:sp>
        <p:nvSpPr>
          <p:cNvPr id="9" name="Rectangle 8"/>
          <p:cNvSpPr/>
          <p:nvPr/>
        </p:nvSpPr>
        <p:spPr>
          <a:xfrm>
            <a:off x="777240" y="3139567"/>
            <a:ext cx="64008" cy="811022"/>
          </a:xfrm>
          <a:prstGeom prst="rect">
            <a:avLst/>
          </a:prstGeom>
          <a:solidFill>
            <a:srgbClr val="D7E0D9"/>
          </a:solidFill>
          <a:ln>
            <a:noFill/>
          </a:ln>
          <a:effectLst/>
        </p:spPr>
        <p:txBody>
          <a:bodyPr rtlCol="0" anchor="ctr"/>
          <a:lstStyle/>
          <a:p>
            <a:pPr algn="ctr"/>
          </a:p>
        </p:txBody>
      </p:sp>
      <p:sp>
        <p:nvSpPr>
          <p:cNvPr id="10" name="TextBox 9"/>
          <p:cNvSpPr txBox="1"/>
          <p:nvPr/>
        </p:nvSpPr>
        <p:spPr>
          <a:xfrm>
            <a:off x="1051560" y="3093847"/>
            <a:ext cx="10362895" cy="920750"/>
          </a:xfrm>
          <a:prstGeom prst="rect">
            <a:avLst/>
          </a:prstGeom>
          <a:noFill/>
        </p:spPr>
        <p:txBody>
          <a:bodyPr wrap="square" anchor="t" lIns="0" rIns="0" tIns="0" bIns="0">
            <a:spAutoFit/>
          </a:bodyPr>
          <a:lstStyle/>
          <a:p>
            <a:pPr algn="l">
              <a:lnSpc>
                <a:spcPct val="100000"/>
              </a:lnSpc>
              <a:spcBef>
                <a:spcPts val="0"/>
              </a:spcBef>
              <a:spcAft>
                <a:spcPts val="400"/>
              </a:spcAft>
            </a:pPr>
            <a:r>
              <a:rPr sz="1100" b="1" i="0">
                <a:solidFill>
                  <a:srgbClr val="818181"/>
                </a:solidFill>
                <a:latin typeface="Arial"/>
              </a:rPr>
              <a:t>FOR EXAMPLE</a:t>
            </a:r>
          </a:p>
          <a:p>
            <a:pPr algn="l">
              <a:lnSpc>
                <a:spcPct val="115000"/>
              </a:lnSpc>
              <a:spcBef>
                <a:spcPts val="0"/>
              </a:spcBef>
              <a:spcAft>
                <a:spcPts val="0"/>
              </a:spcAft>
            </a:pPr>
            <a:r>
              <a:rPr sz="1900" b="0" i="0">
                <a:solidFill>
                  <a:srgbClr val="1A1A1A"/>
                </a:solidFill>
                <a:latin typeface="Arial"/>
              </a:rPr>
              <a:t>A share closes up 40 centavos on Tuesday and down 30 centavos on Wednesday. Dow Theory calls that noise.</a:t>
            </a:r>
          </a:p>
        </p:txBody>
      </p:sp>
      <p:sp>
        <p:nvSpPr>
          <p:cNvPr id="11" name="Rectangle 10"/>
          <p:cNvSpPr/>
          <p:nvPr/>
        </p:nvSpPr>
        <p:spPr>
          <a:xfrm>
            <a:off x="777240" y="4298061"/>
            <a:ext cx="64008" cy="1088517"/>
          </a:xfrm>
          <a:prstGeom prst="rect">
            <a:avLst/>
          </a:prstGeom>
          <a:solidFill>
            <a:srgbClr val="D7E0D9"/>
          </a:solidFill>
          <a:ln>
            <a:noFill/>
          </a:ln>
          <a:effectLst/>
        </p:spPr>
        <p:txBody>
          <a:bodyPr rtlCol="0" anchor="ctr"/>
          <a:lstStyle/>
          <a:p>
            <a:pPr algn="ctr"/>
          </a:p>
        </p:txBody>
      </p:sp>
      <p:sp>
        <p:nvSpPr>
          <p:cNvPr id="12" name="TextBox 11"/>
          <p:cNvSpPr txBox="1"/>
          <p:nvPr/>
        </p:nvSpPr>
        <p:spPr>
          <a:xfrm>
            <a:off x="1051560" y="4252341"/>
            <a:ext cx="10362895" cy="1198245"/>
          </a:xfrm>
          <a:prstGeom prst="rect">
            <a:avLst/>
          </a:prstGeom>
          <a:noFill/>
        </p:spPr>
        <p:txBody>
          <a:bodyPr wrap="square" anchor="t" lIns="0" rIns="0" tIns="0" bIns="0">
            <a:spAutoFit/>
          </a:bodyPr>
          <a:lstStyle/>
          <a:p>
            <a:pPr algn="l">
              <a:lnSpc>
                <a:spcPct val="100000"/>
              </a:lnSpc>
              <a:spcBef>
                <a:spcPts val="0"/>
              </a:spcBef>
              <a:spcAft>
                <a:spcPts val="400"/>
              </a:spcAft>
            </a:pPr>
            <a:r>
              <a:rPr sz="1100" b="1" i="0">
                <a:solidFill>
                  <a:srgbClr val="818181"/>
                </a:solidFill>
                <a:latin typeface="Arial"/>
              </a:rPr>
              <a:t>THE FORMAL DEFINITION</a:t>
            </a:r>
          </a:p>
          <a:p>
            <a:pPr algn="l">
              <a:lnSpc>
                <a:spcPct val="115000"/>
              </a:lnSpc>
              <a:spcBef>
                <a:spcPts val="0"/>
              </a:spcBef>
              <a:spcAft>
                <a:spcPts val="0"/>
              </a:spcAft>
            </a:pPr>
            <a:r>
              <a:rPr sz="1900" b="0" i="0">
                <a:solidFill>
                  <a:srgbClr val="1A1A1A"/>
                </a:solidFill>
                <a:latin typeface="Arial"/>
              </a:rPr>
              <a:t>Minor trends usually last from days to weeks. Under Dow Theory the day's erratic fluctuations represent market noise, and no investment decision should be based on such activity, with the exception of lines being formed.</a:t>
            </a:r>
          </a:p>
        </p:txBody>
      </p:sp>
      <p:sp>
        <p:nvSpPr>
          <p:cNvPr id="13" name="TextBox 12"/>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4 of 6 - Secondary and minor  |  8 of 12</a:t>
            </a:r>
          </a:p>
        </p:txBody>
      </p:sp>
    </p:spTree>
  </p:cSld>
  <p:clrMapOvr>
    <a:masterClrMapping/>
  </p:clrMapOvr>
</p:sld>
</file>

<file path=ppt/slides/slide7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Rectangle 3"/>
          <p:cNvSpPr/>
          <p:nvPr/>
        </p:nvSpPr>
        <p:spPr>
          <a:xfrm>
            <a:off x="777240" y="1325880"/>
            <a:ext cx="109728" cy="1332230"/>
          </a:xfrm>
          <a:prstGeom prst="rect">
            <a:avLst/>
          </a:prstGeom>
          <a:solidFill>
            <a:srgbClr val="F2A900"/>
          </a:solidFill>
          <a:ln>
            <a:noFill/>
          </a:ln>
          <a:effectLst/>
        </p:spPr>
        <p:txBody>
          <a:bodyPr rtlCol="0" anchor="ctr"/>
          <a:lstStyle/>
          <a:p>
            <a:pPr algn="ctr"/>
          </a:p>
        </p:txBody>
      </p:sp>
      <p:sp>
        <p:nvSpPr>
          <p:cNvPr id="5" name="TextBox 4"/>
          <p:cNvSpPr txBox="1"/>
          <p:nvPr/>
        </p:nvSpPr>
        <p:spPr>
          <a:xfrm>
            <a:off x="777240" y="658368"/>
            <a:ext cx="10637215" cy="457200"/>
          </a:xfrm>
          <a:prstGeom prst="rect">
            <a:avLst/>
          </a:prstGeom>
          <a:noFill/>
        </p:spPr>
        <p:txBody>
          <a:bodyPr wrap="square" anchor="t" lIns="0" rIns="0" tIns="0" bIns="0">
            <a:spAutoFit/>
          </a:bodyPr>
          <a:lstStyle/>
          <a:p>
            <a:pPr algn="l">
              <a:lnSpc>
                <a:spcPct val="100000"/>
              </a:lnSpc>
              <a:spcBef>
                <a:spcPts val="0"/>
              </a:spcBef>
              <a:spcAft>
                <a:spcPts val="0"/>
              </a:spcAft>
            </a:pPr>
            <a:r>
              <a:rPr sz="1300" b="1" i="0">
                <a:solidFill>
                  <a:srgbClr val="818181"/>
                </a:solidFill>
                <a:latin typeface="Arial"/>
              </a:rPr>
              <a:t>A definition worth writing down</a:t>
            </a:r>
          </a:p>
        </p:txBody>
      </p:sp>
      <p:sp>
        <p:nvSpPr>
          <p:cNvPr id="6" name="TextBox 5"/>
          <p:cNvSpPr txBox="1"/>
          <p:nvPr/>
        </p:nvSpPr>
        <p:spPr>
          <a:xfrm>
            <a:off x="1161288" y="1371600"/>
            <a:ext cx="10253167" cy="1332230"/>
          </a:xfrm>
          <a:prstGeom prst="rect">
            <a:avLst/>
          </a:prstGeom>
          <a:noFill/>
        </p:spPr>
        <p:txBody>
          <a:bodyPr wrap="square" anchor="t" lIns="0" rIns="0" tIns="0" bIns="0">
            <a:spAutoFit/>
          </a:bodyPr>
          <a:lstStyle/>
          <a:p>
            <a:pPr algn="l">
              <a:lnSpc>
                <a:spcPct val="120000"/>
              </a:lnSpc>
              <a:spcBef>
                <a:spcPts val="0"/>
              </a:spcBef>
              <a:spcAft>
                <a:spcPts val="0"/>
              </a:spcAft>
            </a:pPr>
            <a:r>
              <a:rPr sz="2500" b="0" i="0">
                <a:solidFill>
                  <a:srgbClr val="1A1A1A"/>
                </a:solidFill>
                <a:latin typeface="Palatino"/>
              </a:rPr>
              <a:t>"The stock market is not logical in its movements from day to day."</a:t>
            </a:r>
          </a:p>
          <a:p>
            <a:pPr algn="l">
              <a:lnSpc>
                <a:spcPct val="100000"/>
              </a:lnSpc>
              <a:spcBef>
                <a:spcPts val="1400"/>
              </a:spcBef>
              <a:spcAft>
                <a:spcPts val="0"/>
              </a:spcAft>
            </a:pPr>
            <a:r>
              <a:rPr sz="1400" b="0" i="0">
                <a:solidFill>
                  <a:srgbClr val="818181"/>
                </a:solidFill>
                <a:latin typeface="Arial"/>
              </a:rPr>
              <a:t>William P. Hamilton, The Stock Market Barometer, quoted in Lim, The Handbook of Technical Analysis</a:t>
            </a:r>
          </a:p>
        </p:txBody>
      </p:sp>
      <p:sp>
        <p:nvSpPr>
          <p:cNvPr id="7" name="TextBox 6"/>
          <p:cNvSpPr txBox="1"/>
          <p:nvPr/>
        </p:nvSpPr>
        <p:spPr>
          <a:xfrm>
            <a:off x="777240" y="3023870"/>
            <a:ext cx="10637215" cy="1280160"/>
          </a:xfrm>
          <a:prstGeom prst="rect">
            <a:avLst/>
          </a:prstGeom>
          <a:noFill/>
        </p:spPr>
        <p:txBody>
          <a:bodyPr wrap="square" anchor="t" lIns="0" rIns="0" tIns="0" bIns="0">
            <a:spAutoFit/>
          </a:bodyPr>
          <a:lstStyle/>
          <a:p>
            <a:pPr algn="l">
              <a:lnSpc>
                <a:spcPct val="100000"/>
              </a:lnSpc>
              <a:spcBef>
                <a:spcPts val="0"/>
              </a:spcBef>
              <a:spcAft>
                <a:spcPts val="600"/>
              </a:spcAft>
            </a:pPr>
            <a:r>
              <a:rPr sz="1100" b="1" i="0">
                <a:solidFill>
                  <a:srgbClr val="818181"/>
                </a:solidFill>
                <a:latin typeface="Arial"/>
              </a:rPr>
              <a:t>What it tells us</a:t>
            </a:r>
          </a:p>
          <a:p>
            <a:pPr algn="l">
              <a:lnSpc>
                <a:spcPct val="115000"/>
              </a:lnSpc>
              <a:spcBef>
                <a:spcPts val="0"/>
              </a:spcBef>
              <a:spcAft>
                <a:spcPts val="0"/>
              </a:spcAft>
            </a:pPr>
            <a:r>
              <a:rPr sz="2100" b="1" i="0">
                <a:solidFill>
                  <a:srgbClr val="007A33"/>
                </a:solidFill>
                <a:latin typeface="Arial"/>
              </a:rPr>
              <a:t>Which is exactly why Dow Theory refuses to trade the daily movement.</a:t>
            </a:r>
          </a:p>
        </p:txBody>
      </p:sp>
      <p:sp>
        <p:nvSpPr>
          <p:cNvPr id="8" name="TextBox 7"/>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4 of 6 - Secondary and minor  |  9 of 12</a:t>
            </a:r>
          </a:p>
        </p:txBody>
      </p:sp>
    </p:spTree>
  </p:cSld>
  <p:clrMapOvr>
    <a:masterClrMapping/>
  </p:clrMapOvr>
</p:sld>
</file>

<file path=ppt/slides/slide7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Rectangle 3"/>
          <p:cNvSpPr/>
          <p:nvPr/>
        </p:nvSpPr>
        <p:spPr>
          <a:xfrm>
            <a:off x="777240" y="566928"/>
            <a:ext cx="1234440" cy="329184"/>
          </a:xfrm>
          <a:prstGeom prst="rect">
            <a:avLst/>
          </a:prstGeom>
          <a:solidFill>
            <a:srgbClr val="F2A900"/>
          </a:solidFill>
          <a:ln>
            <a:noFill/>
          </a:ln>
          <a:effectLst/>
        </p:spPr>
        <p:txBody>
          <a:bodyPr rtlCol="0" anchor="ctr" wrap="none" lIns="0" rIns="0" tIns="0" bIns="0"/>
          <a:lstStyle/>
          <a:p>
            <a:pPr algn="ctr">
              <a:lnSpc>
                <a:spcPct val="100000"/>
              </a:lnSpc>
              <a:spcBef>
                <a:spcPts val="0"/>
              </a:spcBef>
              <a:spcAft>
                <a:spcPts val="0"/>
              </a:spcAft>
            </a:pPr>
            <a:r>
              <a:rPr sz="1200" b="1" i="0">
                <a:solidFill>
                  <a:srgbClr val="1A1A1A"/>
                </a:solidFill>
                <a:latin typeface="Arial"/>
              </a:rPr>
              <a:t>NEW TERM</a:t>
            </a:r>
          </a:p>
        </p:txBody>
      </p:sp>
      <p:sp>
        <p:nvSpPr>
          <p:cNvPr id="5" name="TextBox 4"/>
          <p:cNvSpPr txBox="1"/>
          <p:nvPr/>
        </p:nvSpPr>
        <p:spPr>
          <a:xfrm>
            <a:off x="777240" y="1051560"/>
            <a:ext cx="10637215" cy="822960"/>
          </a:xfrm>
          <a:prstGeom prst="rect">
            <a:avLst/>
          </a:prstGeom>
          <a:noFill/>
        </p:spPr>
        <p:txBody>
          <a:bodyPr wrap="square" anchor="t" lIns="0" rIns="0" tIns="0" bIns="0">
            <a:spAutoFit/>
          </a:bodyPr>
          <a:lstStyle/>
          <a:p>
            <a:pPr algn="l">
              <a:lnSpc>
                <a:spcPct val="105000"/>
              </a:lnSpc>
              <a:spcBef>
                <a:spcPts val="0"/>
              </a:spcBef>
              <a:spcAft>
                <a:spcPts val="0"/>
              </a:spcAft>
            </a:pPr>
            <a:r>
              <a:rPr sz="3200" b="0" i="0">
                <a:solidFill>
                  <a:srgbClr val="007A33"/>
                </a:solidFill>
                <a:latin typeface="Palatino"/>
              </a:rPr>
              <a:t>Line</a:t>
            </a:r>
          </a:p>
        </p:txBody>
      </p:sp>
      <p:sp>
        <p:nvSpPr>
          <p:cNvPr id="6" name="Rectangle 5"/>
          <p:cNvSpPr/>
          <p:nvPr/>
        </p:nvSpPr>
        <p:spPr>
          <a:xfrm>
            <a:off x="777240" y="1874519"/>
            <a:ext cx="10637215" cy="15875"/>
          </a:xfrm>
          <a:prstGeom prst="rect">
            <a:avLst/>
          </a:prstGeom>
          <a:solidFill>
            <a:srgbClr val="D7E0D9"/>
          </a:solidFill>
          <a:ln>
            <a:noFill/>
          </a:ln>
          <a:effectLst/>
        </p:spPr>
        <p:txBody>
          <a:bodyPr rtlCol="0" anchor="ctr"/>
          <a:lstStyle/>
          <a:p>
            <a:pPr algn="ctr"/>
          </a:p>
        </p:txBody>
      </p:sp>
      <p:sp>
        <p:nvSpPr>
          <p:cNvPr id="7" name="Rectangle 6"/>
          <p:cNvSpPr/>
          <p:nvPr/>
        </p:nvSpPr>
        <p:spPr>
          <a:xfrm>
            <a:off x="777240" y="2258568"/>
            <a:ext cx="64008" cy="811022"/>
          </a:xfrm>
          <a:prstGeom prst="rect">
            <a:avLst/>
          </a:prstGeom>
          <a:solidFill>
            <a:srgbClr val="F2A900"/>
          </a:solidFill>
          <a:ln>
            <a:noFill/>
          </a:ln>
          <a:effectLst/>
        </p:spPr>
        <p:txBody>
          <a:bodyPr rtlCol="0" anchor="ctr"/>
          <a:lstStyle/>
          <a:p>
            <a:pPr algn="ctr"/>
          </a:p>
        </p:txBody>
      </p:sp>
      <p:sp>
        <p:nvSpPr>
          <p:cNvPr id="8" name="TextBox 7"/>
          <p:cNvSpPr txBox="1"/>
          <p:nvPr/>
        </p:nvSpPr>
        <p:spPr>
          <a:xfrm>
            <a:off x="1051560" y="2212848"/>
            <a:ext cx="10362895" cy="920750"/>
          </a:xfrm>
          <a:prstGeom prst="rect">
            <a:avLst/>
          </a:prstGeom>
          <a:noFill/>
        </p:spPr>
        <p:txBody>
          <a:bodyPr wrap="square" anchor="t" lIns="0" rIns="0" tIns="0" bIns="0">
            <a:spAutoFit/>
          </a:bodyPr>
          <a:lstStyle/>
          <a:p>
            <a:pPr algn="l">
              <a:lnSpc>
                <a:spcPct val="100000"/>
              </a:lnSpc>
              <a:spcBef>
                <a:spcPts val="0"/>
              </a:spcBef>
              <a:spcAft>
                <a:spcPts val="400"/>
              </a:spcAft>
            </a:pPr>
            <a:r>
              <a:rPr sz="1100" b="1" i="0">
                <a:solidFill>
                  <a:srgbClr val="818181"/>
                </a:solidFill>
                <a:latin typeface="Arial"/>
              </a:rPr>
              <a:t>IN PLAIN WORDS</a:t>
            </a:r>
          </a:p>
          <a:p>
            <a:pPr algn="l">
              <a:lnSpc>
                <a:spcPct val="115000"/>
              </a:lnSpc>
              <a:spcBef>
                <a:spcPts val="0"/>
              </a:spcBef>
              <a:spcAft>
                <a:spcPts val="0"/>
              </a:spcAft>
            </a:pPr>
            <a:r>
              <a:rPr sz="1900" b="1" i="0">
                <a:solidFill>
                  <a:srgbClr val="1A1A1A"/>
                </a:solidFill>
                <a:latin typeface="Arial"/>
              </a:rPr>
              <a:t>A narrow sideways range on the daily chart. The market stops going anywhere for a while.</a:t>
            </a:r>
          </a:p>
        </p:txBody>
      </p:sp>
      <p:sp>
        <p:nvSpPr>
          <p:cNvPr id="9" name="Rectangle 8"/>
          <p:cNvSpPr/>
          <p:nvPr/>
        </p:nvSpPr>
        <p:spPr>
          <a:xfrm>
            <a:off x="777240" y="3417061"/>
            <a:ext cx="64008" cy="811022"/>
          </a:xfrm>
          <a:prstGeom prst="rect">
            <a:avLst/>
          </a:prstGeom>
          <a:solidFill>
            <a:srgbClr val="D7E0D9"/>
          </a:solidFill>
          <a:ln>
            <a:noFill/>
          </a:ln>
          <a:effectLst/>
        </p:spPr>
        <p:txBody>
          <a:bodyPr rtlCol="0" anchor="ctr"/>
          <a:lstStyle/>
          <a:p>
            <a:pPr algn="ctr"/>
          </a:p>
        </p:txBody>
      </p:sp>
      <p:sp>
        <p:nvSpPr>
          <p:cNvPr id="10" name="TextBox 9"/>
          <p:cNvSpPr txBox="1"/>
          <p:nvPr/>
        </p:nvSpPr>
        <p:spPr>
          <a:xfrm>
            <a:off x="1051560" y="3371342"/>
            <a:ext cx="10362895" cy="920750"/>
          </a:xfrm>
          <a:prstGeom prst="rect">
            <a:avLst/>
          </a:prstGeom>
          <a:noFill/>
        </p:spPr>
        <p:txBody>
          <a:bodyPr wrap="square" anchor="t" lIns="0" rIns="0" tIns="0" bIns="0">
            <a:spAutoFit/>
          </a:bodyPr>
          <a:lstStyle/>
          <a:p>
            <a:pPr algn="l">
              <a:lnSpc>
                <a:spcPct val="100000"/>
              </a:lnSpc>
              <a:spcBef>
                <a:spcPts val="0"/>
              </a:spcBef>
              <a:spcAft>
                <a:spcPts val="400"/>
              </a:spcAft>
            </a:pPr>
            <a:r>
              <a:rPr sz="1100" b="1" i="0">
                <a:solidFill>
                  <a:srgbClr val="818181"/>
                </a:solidFill>
                <a:latin typeface="Arial"/>
              </a:rPr>
              <a:t>FOR EXAMPLE</a:t>
            </a:r>
          </a:p>
          <a:p>
            <a:pPr algn="l">
              <a:lnSpc>
                <a:spcPct val="115000"/>
              </a:lnSpc>
              <a:spcBef>
                <a:spcPts val="0"/>
              </a:spcBef>
              <a:spcAft>
                <a:spcPts val="0"/>
              </a:spcAft>
            </a:pPr>
            <a:r>
              <a:rPr sz="1900" b="0" i="0">
                <a:solidFill>
                  <a:srgbClr val="1A1A1A"/>
                </a:solidFill>
                <a:latin typeface="Arial"/>
              </a:rPr>
              <a:t>Price spends five weeks between 63 and 66 pesos ahead of an announcement, then breaks sharply out of that range.</a:t>
            </a:r>
          </a:p>
        </p:txBody>
      </p:sp>
      <p:sp>
        <p:nvSpPr>
          <p:cNvPr id="11" name="Rectangle 10"/>
          <p:cNvSpPr/>
          <p:nvPr/>
        </p:nvSpPr>
        <p:spPr>
          <a:xfrm>
            <a:off x="777240" y="4575556"/>
            <a:ext cx="64008" cy="1088517"/>
          </a:xfrm>
          <a:prstGeom prst="rect">
            <a:avLst/>
          </a:prstGeom>
          <a:solidFill>
            <a:srgbClr val="D7E0D9"/>
          </a:solidFill>
          <a:ln>
            <a:noFill/>
          </a:ln>
          <a:effectLst/>
        </p:spPr>
        <p:txBody>
          <a:bodyPr rtlCol="0" anchor="ctr"/>
          <a:lstStyle/>
          <a:p>
            <a:pPr algn="ctr"/>
          </a:p>
        </p:txBody>
      </p:sp>
      <p:sp>
        <p:nvSpPr>
          <p:cNvPr id="12" name="TextBox 11"/>
          <p:cNvSpPr txBox="1"/>
          <p:nvPr/>
        </p:nvSpPr>
        <p:spPr>
          <a:xfrm>
            <a:off x="1051560" y="4529836"/>
            <a:ext cx="10362895" cy="1198245"/>
          </a:xfrm>
          <a:prstGeom prst="rect">
            <a:avLst/>
          </a:prstGeom>
          <a:noFill/>
        </p:spPr>
        <p:txBody>
          <a:bodyPr wrap="square" anchor="t" lIns="0" rIns="0" tIns="0" bIns="0">
            <a:spAutoFit/>
          </a:bodyPr>
          <a:lstStyle/>
          <a:p>
            <a:pPr algn="l">
              <a:lnSpc>
                <a:spcPct val="100000"/>
              </a:lnSpc>
              <a:spcBef>
                <a:spcPts val="0"/>
              </a:spcBef>
              <a:spcAft>
                <a:spcPts val="400"/>
              </a:spcAft>
            </a:pPr>
            <a:r>
              <a:rPr sz="1100" b="1" i="0">
                <a:solidFill>
                  <a:srgbClr val="818181"/>
                </a:solidFill>
                <a:latin typeface="Arial"/>
              </a:rPr>
              <a:t>THE FORMAL DEFINITION</a:t>
            </a:r>
          </a:p>
          <a:p>
            <a:pPr algn="l">
              <a:lnSpc>
                <a:spcPct val="115000"/>
              </a:lnSpc>
              <a:spcBef>
                <a:spcPts val="0"/>
              </a:spcBef>
              <a:spcAft>
                <a:spcPts val="0"/>
              </a:spcAft>
            </a:pPr>
            <a:r>
              <a:rPr sz="1900" b="0" i="0">
                <a:solidFill>
                  <a:srgbClr val="1A1A1A"/>
                </a:solidFill>
                <a:latin typeface="Arial"/>
              </a:rPr>
              <a:t>Lines are narrow horizontal ranging formations on the daily chart. They are usually formed in anticipation of some significant news or economic announcement, and these narrow consolidations usually result in strong breakouts.</a:t>
            </a:r>
          </a:p>
        </p:txBody>
      </p:sp>
      <p:sp>
        <p:nvSpPr>
          <p:cNvPr id="13" name="TextBox 12"/>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4 of 6 - Secondary and minor  |  10 of 12</a:t>
            </a:r>
          </a:p>
        </p:txBody>
      </p:sp>
    </p:spTree>
  </p:cSld>
  <p:clrMapOvr>
    <a:masterClrMapping/>
  </p:clrMapOvr>
</p:sld>
</file>

<file path=ppt/slides/slide7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TextBox 3"/>
          <p:cNvSpPr txBox="1"/>
          <p:nvPr/>
        </p:nvSpPr>
        <p:spPr>
          <a:xfrm>
            <a:off x="777240" y="658368"/>
            <a:ext cx="10637215" cy="914400"/>
          </a:xfrm>
          <a:prstGeom prst="rect">
            <a:avLst/>
          </a:prstGeom>
          <a:noFill/>
        </p:spPr>
        <p:txBody>
          <a:bodyPr wrap="square" anchor="t" lIns="0" rIns="0" tIns="0" bIns="0">
            <a:spAutoFit/>
          </a:bodyPr>
          <a:lstStyle/>
          <a:p>
            <a:pPr algn="l">
              <a:lnSpc>
                <a:spcPct val="105000"/>
              </a:lnSpc>
              <a:spcBef>
                <a:spcPts val="0"/>
              </a:spcBef>
              <a:spcAft>
                <a:spcPts val="0"/>
              </a:spcAft>
            </a:pPr>
            <a:r>
              <a:rPr sz="3000" b="0" i="0">
                <a:solidFill>
                  <a:srgbClr val="007A33"/>
                </a:solidFill>
                <a:latin typeface="Palatino"/>
              </a:rPr>
              <a:t>Why the book lets you trade a line</a:t>
            </a:r>
          </a:p>
        </p:txBody>
      </p:sp>
      <p:sp>
        <p:nvSpPr>
          <p:cNvPr id="5" name="Rectangle 4"/>
          <p:cNvSpPr/>
          <p:nvPr/>
        </p:nvSpPr>
        <p:spPr>
          <a:xfrm>
            <a:off x="777240" y="1572768"/>
            <a:ext cx="10637215" cy="15875"/>
          </a:xfrm>
          <a:prstGeom prst="rect">
            <a:avLst/>
          </a:prstGeom>
          <a:solidFill>
            <a:srgbClr val="D7E0D9"/>
          </a:solidFill>
          <a:ln>
            <a:noFill/>
          </a:ln>
          <a:effectLst/>
        </p:spPr>
        <p:txBody>
          <a:bodyPr rtlCol="0" anchor="ctr"/>
          <a:lstStyle/>
          <a:p>
            <a:pPr algn="ctr"/>
          </a:p>
        </p:txBody>
      </p:sp>
      <p:sp>
        <p:nvSpPr>
          <p:cNvPr id="6" name="TextBox 5"/>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4 of 6 - Secondary and minor  |  11 of 12</a:t>
            </a:r>
          </a:p>
        </p:txBody>
      </p:sp>
      <p:sp>
        <p:nvSpPr>
          <p:cNvPr id="7" name="TextBox 6"/>
          <p:cNvSpPr txBox="1"/>
          <p:nvPr/>
        </p:nvSpPr>
        <p:spPr>
          <a:xfrm>
            <a:off x="777240" y="1965960"/>
            <a:ext cx="10637215" cy="3108960"/>
          </a:xfrm>
          <a:prstGeom prst="rect">
            <a:avLst/>
          </a:prstGeom>
          <a:noFill/>
        </p:spPr>
        <p:txBody>
          <a:bodyPr wrap="square" anchor="t" lIns="0" rIns="0" tIns="0" bIns="0">
            <a:spAutoFit/>
          </a:bodyPr>
          <a:lstStyle/>
          <a:p>
            <a:pPr algn="l">
              <a:lnSpc>
                <a:spcPct val="118000"/>
              </a:lnSpc>
              <a:spcBef>
                <a:spcPts val="0"/>
              </a:spcBef>
              <a:spcAft>
                <a:spcPts val="1300"/>
              </a:spcAft>
            </a:pPr>
            <a:r>
              <a:rPr sz="2100" b="0" i="0">
                <a:solidFill>
                  <a:srgbClr val="1A1A1A"/>
                </a:solidFill>
                <a:latin typeface="Arial"/>
              </a:rPr>
              <a:t>Dow Theory recognizes lines as potentially profitable formations, even though they are essentially minor trends.</a:t>
            </a:r>
          </a:p>
          <a:p>
            <a:pPr algn="l">
              <a:lnSpc>
                <a:spcPct val="118000"/>
              </a:lnSpc>
              <a:spcBef>
                <a:spcPts val="0"/>
              </a:spcBef>
              <a:spcAft>
                <a:spcPts val="1300"/>
              </a:spcAft>
            </a:pPr>
            <a:r>
              <a:rPr sz="2100" b="0" i="0">
                <a:solidFill>
                  <a:srgbClr val="1A1A1A"/>
                </a:solidFill>
                <a:latin typeface="Arial"/>
              </a:rPr>
              <a:t>A line is the only tradable formation under Dow Theory other than inflection point breakouts in the primary trend.</a:t>
            </a:r>
          </a:p>
        </p:txBody>
      </p:sp>
      <p:sp>
        <p:nvSpPr>
          <p:cNvPr id="8" name="Rectangle 7"/>
          <p:cNvSpPr/>
          <p:nvPr/>
        </p:nvSpPr>
        <p:spPr>
          <a:xfrm>
            <a:off x="777240" y="3901439"/>
            <a:ext cx="82296" cy="788924"/>
          </a:xfrm>
          <a:prstGeom prst="rect">
            <a:avLst/>
          </a:prstGeom>
          <a:solidFill>
            <a:srgbClr val="F2A900"/>
          </a:solidFill>
          <a:ln>
            <a:noFill/>
          </a:ln>
          <a:effectLst/>
        </p:spPr>
        <p:txBody>
          <a:bodyPr rtlCol="0" anchor="ctr"/>
          <a:lstStyle/>
          <a:p>
            <a:pPr algn="ctr"/>
          </a:p>
        </p:txBody>
      </p:sp>
      <p:sp>
        <p:nvSpPr>
          <p:cNvPr id="9" name="TextBox 8"/>
          <p:cNvSpPr txBox="1"/>
          <p:nvPr/>
        </p:nvSpPr>
        <p:spPr>
          <a:xfrm>
            <a:off x="1069848" y="3938015"/>
            <a:ext cx="10344607" cy="788924"/>
          </a:xfrm>
          <a:prstGeom prst="rect">
            <a:avLst/>
          </a:prstGeom>
          <a:noFill/>
        </p:spPr>
        <p:txBody>
          <a:bodyPr wrap="square" anchor="t" lIns="0" rIns="0" tIns="0" bIns="0">
            <a:spAutoFit/>
          </a:bodyPr>
          <a:lstStyle/>
          <a:p>
            <a:pPr algn="l">
              <a:lnSpc>
                <a:spcPct val="115000"/>
              </a:lnSpc>
              <a:spcBef>
                <a:spcPts val="0"/>
              </a:spcBef>
              <a:spcAft>
                <a:spcPts val="0"/>
              </a:spcAft>
            </a:pPr>
            <a:r>
              <a:rPr sz="2200" b="1" i="0">
                <a:solidFill>
                  <a:srgbClr val="1A1A1A"/>
                </a:solidFill>
                <a:latin typeface="Arial"/>
              </a:rPr>
              <a:t>So the whole theory gives you two things to trade: the primary trend, and lines.</a:t>
            </a:r>
          </a:p>
        </p:txBody>
      </p:sp>
    </p:spTree>
  </p:cSld>
  <p:clrMapOvr>
    <a:masterClrMapping/>
  </p:clrMapOvr>
</p:sld>
</file>

<file path=ppt/slides/slide7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TextBox 3"/>
          <p:cNvSpPr txBox="1"/>
          <p:nvPr/>
        </p:nvSpPr>
        <p:spPr>
          <a:xfrm>
            <a:off x="777240" y="658368"/>
            <a:ext cx="10637215" cy="914400"/>
          </a:xfrm>
          <a:prstGeom prst="rect">
            <a:avLst/>
          </a:prstGeom>
          <a:noFill/>
        </p:spPr>
        <p:txBody>
          <a:bodyPr wrap="square" anchor="t" lIns="0" rIns="0" tIns="0" bIns="0">
            <a:spAutoFit/>
          </a:bodyPr>
          <a:lstStyle/>
          <a:p>
            <a:pPr algn="l">
              <a:lnSpc>
                <a:spcPct val="105000"/>
              </a:lnSpc>
              <a:spcBef>
                <a:spcPts val="0"/>
              </a:spcBef>
              <a:spcAft>
                <a:spcPts val="0"/>
              </a:spcAft>
            </a:pPr>
            <a:r>
              <a:rPr sz="3000" b="0" i="0">
                <a:solidFill>
                  <a:srgbClr val="007A33"/>
                </a:solidFill>
                <a:latin typeface="Palatino"/>
              </a:rPr>
              <a:t>A line, and its breakout</a:t>
            </a:r>
          </a:p>
        </p:txBody>
      </p:sp>
      <p:sp>
        <p:nvSpPr>
          <p:cNvPr id="5" name="Rectangle 4"/>
          <p:cNvSpPr/>
          <p:nvPr/>
        </p:nvSpPr>
        <p:spPr>
          <a:xfrm>
            <a:off x="777240" y="1572768"/>
            <a:ext cx="10637215" cy="15875"/>
          </a:xfrm>
          <a:prstGeom prst="rect">
            <a:avLst/>
          </a:prstGeom>
          <a:solidFill>
            <a:srgbClr val="D7E0D9"/>
          </a:solidFill>
          <a:ln>
            <a:noFill/>
          </a:ln>
          <a:effectLst/>
        </p:spPr>
        <p:txBody>
          <a:bodyPr rtlCol="0" anchor="ctr"/>
          <a:lstStyle/>
          <a:p>
            <a:pPr algn="ctr"/>
          </a:p>
        </p:txBody>
      </p:sp>
      <p:sp>
        <p:nvSpPr>
          <p:cNvPr id="6" name="TextBox 5"/>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4 of 6 - Secondary and minor  |  12 of 12</a:t>
            </a:r>
          </a:p>
        </p:txBody>
      </p:sp>
      <p:sp>
        <p:nvSpPr>
          <p:cNvPr id="7" name="Rectangle 6"/>
          <p:cNvSpPr/>
          <p:nvPr/>
        </p:nvSpPr>
        <p:spPr>
          <a:xfrm>
            <a:off x="2346807" y="1810512"/>
            <a:ext cx="7498079" cy="3749039"/>
          </a:xfrm>
          <a:prstGeom prst="rect">
            <a:avLst/>
          </a:prstGeom>
          <a:solidFill>
            <a:srgbClr val="FFFFFF"/>
          </a:solidFill>
          <a:ln w="12700">
            <a:solidFill>
              <a:srgbClr val="D7E0D9"/>
            </a:solidFill>
          </a:ln>
          <a:effectLst/>
        </p:spPr>
        <p:txBody>
          <a:bodyPr rtlCol="0" anchor="ctr"/>
          <a:lstStyle/>
          <a:p>
            <a:pPr algn="ctr"/>
          </a:p>
        </p:txBody>
      </p:sp>
      <p:sp>
        <p:nvSpPr>
          <p:cNvPr id="8" name="Rectangle 7"/>
          <p:cNvSpPr/>
          <p:nvPr/>
        </p:nvSpPr>
        <p:spPr>
          <a:xfrm>
            <a:off x="2346807" y="1810512"/>
            <a:ext cx="7498079" cy="50800"/>
          </a:xfrm>
          <a:prstGeom prst="rect">
            <a:avLst/>
          </a:prstGeom>
          <a:solidFill>
            <a:srgbClr val="F2A900"/>
          </a:solidFill>
          <a:ln>
            <a:noFill/>
          </a:ln>
          <a:effectLst/>
        </p:spPr>
        <p:txBody>
          <a:bodyPr rtlCol="0" anchor="ctr"/>
          <a:lstStyle/>
          <a:p>
            <a:pPr algn="ctr"/>
          </a:p>
        </p:txBody>
      </p:sp>
      <p:sp>
        <p:nvSpPr>
          <p:cNvPr id="9" name="TextBox 8"/>
          <p:cNvSpPr txBox="1"/>
          <p:nvPr/>
        </p:nvSpPr>
        <p:spPr>
          <a:xfrm>
            <a:off x="2895447" y="2450591"/>
            <a:ext cx="6400799" cy="2651759"/>
          </a:xfrm>
          <a:prstGeom prst="rect">
            <a:avLst/>
          </a:prstGeom>
          <a:noFill/>
        </p:spPr>
        <p:txBody>
          <a:bodyPr wrap="square" anchor="t" lIns="0" rIns="0" tIns="0" bIns="0">
            <a:spAutoFit/>
          </a:bodyPr>
          <a:lstStyle/>
          <a:p>
            <a:pPr algn="l">
              <a:lnSpc>
                <a:spcPct val="100000"/>
              </a:lnSpc>
              <a:spcBef>
                <a:spcPts val="0"/>
              </a:spcBef>
              <a:spcAft>
                <a:spcPts val="1400"/>
              </a:spcAft>
            </a:pPr>
            <a:r>
              <a:rPr sz="1500" b="1" i="0">
                <a:solidFill>
                  <a:srgbClr val="818181"/>
                </a:solidFill>
                <a:latin typeface="Arial"/>
              </a:rPr>
              <a:t>FIGURE 2.14</a:t>
            </a:r>
          </a:p>
          <a:p>
            <a:pPr algn="l">
              <a:lnSpc>
                <a:spcPct val="120000"/>
              </a:lnSpc>
              <a:spcBef>
                <a:spcPts val="0"/>
              </a:spcBef>
              <a:spcAft>
                <a:spcPts val="1800"/>
              </a:spcAft>
            </a:pPr>
            <a:r>
              <a:rPr sz="2200" b="0" i="0">
                <a:solidFill>
                  <a:srgbClr val="1A1A1A"/>
                </a:solidFill>
                <a:latin typeface="Palatino"/>
              </a:rPr>
              <a:t>A daily chart of the GBPUSD with a narrow horizontal range lasting 106 days and spanning about 4.2 percent of the midrange price, and the breakout out of it marked.</a:t>
            </a:r>
          </a:p>
          <a:p>
            <a:pPr algn="l">
              <a:lnSpc>
                <a:spcPct val="115000"/>
              </a:lnSpc>
              <a:spcBef>
                <a:spcPts val="0"/>
              </a:spcBef>
              <a:spcAft>
                <a:spcPts val="0"/>
              </a:spcAft>
            </a:pPr>
            <a:r>
              <a:rPr sz="1400" b="0" i="1">
                <a:solidFill>
                  <a:srgbClr val="818181"/>
                </a:solidFill>
                <a:latin typeface="Arial"/>
              </a:rPr>
              <a:t>The artwork is copyrighted and is not in the public repository. Build with assets/figures/ present to place it here.</a:t>
            </a:r>
          </a:p>
        </p:txBody>
      </p:sp>
      <p:sp>
        <p:nvSpPr>
          <p:cNvPr id="10" name="TextBox 9"/>
          <p:cNvSpPr txBox="1"/>
          <p:nvPr/>
        </p:nvSpPr>
        <p:spPr>
          <a:xfrm>
            <a:off x="777240" y="5669280"/>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300" b="0" i="0">
                <a:solidFill>
                  <a:srgbClr val="818181"/>
                </a:solidFill>
                <a:latin typeface="Arial"/>
              </a:rPr>
              <a:t>Figure 2.14 - Lim, The Handbook of Technical Analysis (Wiley, 2016)</a:t>
            </a:r>
          </a:p>
        </p:txBody>
      </p:sp>
    </p:spTree>
  </p:cSld>
  <p:clrMapOvr>
    <a:masterClrMapping/>
  </p:clrMapOvr>
</p:sld>
</file>

<file path=ppt/slides/slide7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Rectangle 3"/>
          <p:cNvSpPr/>
          <p:nvPr/>
        </p:nvSpPr>
        <p:spPr>
          <a:xfrm>
            <a:off x="11935663" y="0"/>
            <a:ext cx="256032" cy="6858000"/>
          </a:xfrm>
          <a:prstGeom prst="rect">
            <a:avLst/>
          </a:prstGeom>
          <a:solidFill>
            <a:srgbClr val="F2A900"/>
          </a:solidFill>
          <a:ln>
            <a:noFill/>
          </a:ln>
          <a:effectLst/>
        </p:spPr>
        <p:txBody>
          <a:bodyPr rtlCol="0" anchor="ctr"/>
          <a:lstStyle/>
          <a:p>
            <a:pPr algn="ctr"/>
          </a:p>
        </p:txBody>
      </p:sp>
      <p:sp>
        <p:nvSpPr>
          <p:cNvPr id="5" name="TextBox 4"/>
          <p:cNvSpPr txBox="1"/>
          <p:nvPr/>
        </p:nvSpPr>
        <p:spPr>
          <a:xfrm>
            <a:off x="777240" y="658368"/>
            <a:ext cx="10180015" cy="822960"/>
          </a:xfrm>
          <a:prstGeom prst="rect">
            <a:avLst/>
          </a:prstGeom>
          <a:noFill/>
        </p:spPr>
        <p:txBody>
          <a:bodyPr wrap="square" anchor="t" lIns="0" rIns="0" tIns="0" bIns="0">
            <a:spAutoFit/>
          </a:bodyPr>
          <a:lstStyle/>
          <a:p>
            <a:pPr algn="l">
              <a:lnSpc>
                <a:spcPct val="100000"/>
              </a:lnSpc>
              <a:spcBef>
                <a:spcPts val="0"/>
              </a:spcBef>
              <a:spcAft>
                <a:spcPts val="0"/>
              </a:spcAft>
            </a:pPr>
            <a:r>
              <a:rPr sz="3200" b="0" i="0">
                <a:solidFill>
                  <a:srgbClr val="007A33"/>
                </a:solidFill>
                <a:latin typeface="Palatino"/>
              </a:rPr>
              <a:t>You now know</a:t>
            </a:r>
          </a:p>
        </p:txBody>
      </p:sp>
      <p:sp>
        <p:nvSpPr>
          <p:cNvPr id="6" name="Rectangle 5"/>
          <p:cNvSpPr/>
          <p:nvPr/>
        </p:nvSpPr>
        <p:spPr>
          <a:xfrm>
            <a:off x="777240" y="1572768"/>
            <a:ext cx="10637215" cy="15875"/>
          </a:xfrm>
          <a:prstGeom prst="rect">
            <a:avLst/>
          </a:prstGeom>
          <a:solidFill>
            <a:srgbClr val="D7E0D9"/>
          </a:solidFill>
          <a:ln>
            <a:noFill/>
          </a:ln>
          <a:effectLst/>
        </p:spPr>
        <p:txBody>
          <a:bodyPr rtlCol="0" anchor="ctr"/>
          <a:lstStyle/>
          <a:p>
            <a:pPr algn="ctr"/>
          </a:p>
        </p:txBody>
      </p:sp>
      <p:sp>
        <p:nvSpPr>
          <p:cNvPr id="7" name="TextBox 6"/>
          <p:cNvSpPr txBox="1"/>
          <p:nvPr/>
        </p:nvSpPr>
        <p:spPr>
          <a:xfrm>
            <a:off x="777240" y="1965960"/>
            <a:ext cx="4815687" cy="3794760"/>
          </a:xfrm>
          <a:prstGeom prst="rect">
            <a:avLst/>
          </a:prstGeom>
          <a:noFill/>
        </p:spPr>
        <p:txBody>
          <a:bodyPr wrap="square" anchor="t" lIns="0" rIns="0" tIns="0" bIns="0">
            <a:spAutoFit/>
          </a:bodyPr>
          <a:lstStyle/>
          <a:p>
            <a:pPr algn="l" marL="237744" indent="-237744">
              <a:lnSpc>
                <a:spcPct val="112000"/>
              </a:lnSpc>
              <a:spcBef>
                <a:spcPts val="0"/>
              </a:spcBef>
              <a:spcAft>
                <a:spcPts val="1200"/>
              </a:spcAft>
            </a:pPr>
            <a:r>
              <a:rPr sz="1800" b="0" i="0">
                <a:solidFill>
                  <a:srgbClr val="1A1A1A"/>
                </a:solidFill>
                <a:latin typeface="Arial"/>
              </a:rPr>
              <a:t>▪  The secondary reaction, and how long it lasts</a:t>
            </a:r>
          </a:p>
          <a:p>
            <a:pPr algn="l" marL="237744" indent="-237744">
              <a:lnSpc>
                <a:spcPct val="112000"/>
              </a:lnSpc>
              <a:spcBef>
                <a:spcPts val="0"/>
              </a:spcBef>
              <a:spcAft>
                <a:spcPts val="1200"/>
              </a:spcAft>
            </a:pPr>
            <a:r>
              <a:rPr sz="1800" b="0" i="0">
                <a:solidFill>
                  <a:srgbClr val="1A1A1A"/>
                </a:solidFill>
                <a:latin typeface="Arial"/>
              </a:rPr>
              <a:t>▪  One third to two thirds, and the 50 percent level</a:t>
            </a:r>
          </a:p>
        </p:txBody>
      </p:sp>
      <p:sp>
        <p:nvSpPr>
          <p:cNvPr id="8" name="TextBox 7"/>
          <p:cNvSpPr txBox="1"/>
          <p:nvPr/>
        </p:nvSpPr>
        <p:spPr>
          <a:xfrm>
            <a:off x="6141567" y="1965960"/>
            <a:ext cx="4815687" cy="3794760"/>
          </a:xfrm>
          <a:prstGeom prst="rect">
            <a:avLst/>
          </a:prstGeom>
          <a:noFill/>
        </p:spPr>
        <p:txBody>
          <a:bodyPr wrap="square" anchor="t" lIns="0" rIns="0" tIns="0" bIns="0">
            <a:spAutoFit/>
          </a:bodyPr>
          <a:lstStyle/>
          <a:p>
            <a:pPr algn="l" marL="237744" indent="-237744">
              <a:lnSpc>
                <a:spcPct val="112000"/>
              </a:lnSpc>
              <a:spcBef>
                <a:spcPts val="0"/>
              </a:spcBef>
              <a:spcAft>
                <a:spcPts val="1200"/>
              </a:spcAft>
            </a:pPr>
            <a:r>
              <a:rPr sz="1800" b="0" i="0">
                <a:solidFill>
                  <a:srgbClr val="1A1A1A"/>
                </a:solidFill>
                <a:latin typeface="Arial"/>
              </a:rPr>
              <a:t>▪  When a reaction stops being a reaction</a:t>
            </a:r>
          </a:p>
          <a:p>
            <a:pPr algn="l" marL="237744" indent="-237744">
              <a:lnSpc>
                <a:spcPct val="112000"/>
              </a:lnSpc>
              <a:spcBef>
                <a:spcPts val="0"/>
              </a:spcBef>
              <a:spcAft>
                <a:spcPts val="1200"/>
              </a:spcAft>
            </a:pPr>
            <a:r>
              <a:rPr sz="1800" b="0" i="0">
                <a:solidFill>
                  <a:srgbClr val="1A1A1A"/>
                </a:solidFill>
                <a:latin typeface="Arial"/>
              </a:rPr>
              <a:t>▪  How a primary trend resumes</a:t>
            </a:r>
          </a:p>
          <a:p>
            <a:pPr algn="l" marL="237744" indent="-237744">
              <a:lnSpc>
                <a:spcPct val="112000"/>
              </a:lnSpc>
              <a:spcBef>
                <a:spcPts val="0"/>
              </a:spcBef>
              <a:spcAft>
                <a:spcPts val="1200"/>
              </a:spcAft>
            </a:pPr>
            <a:r>
              <a:rPr sz="1800" b="0" i="0">
                <a:solidFill>
                  <a:srgbClr val="1A1A1A"/>
                </a:solidFill>
                <a:latin typeface="Arial"/>
              </a:rPr>
              <a:t>▪  The minor trend, market noise, and the line</a:t>
            </a:r>
          </a:p>
        </p:txBody>
      </p:sp>
      <p:sp>
        <p:nvSpPr>
          <p:cNvPr id="9" name="TextBox 8"/>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4 of 6 - Secondary and minor  |  recap</a:t>
            </a:r>
          </a:p>
        </p:txBody>
      </p:sp>
    </p:spTree>
  </p:cSld>
  <p:clrMapOvr>
    <a:masterClrMapping/>
  </p:clrMapOvr>
</p:sld>
</file>

<file path=ppt/slides/slide7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07A33"/>
          </a:solidFill>
          <a:ln>
            <a:noFill/>
          </a:ln>
          <a:effectLst/>
        </p:spPr>
        <p:txBody>
          <a:bodyPr rtlCol="0" anchor="ctr"/>
          <a:lstStyle/>
          <a:p>
            <a:pPr algn="ctr"/>
          </a:p>
        </p:txBody>
      </p:sp>
      <p:sp>
        <p:nvSpPr>
          <p:cNvPr id="3" name="Rectangle 2"/>
          <p:cNvSpPr/>
          <p:nvPr/>
        </p:nvSpPr>
        <p:spPr>
          <a:xfrm>
            <a:off x="0" y="0"/>
            <a:ext cx="256032" cy="6858000"/>
          </a:xfrm>
          <a:prstGeom prst="rect">
            <a:avLst/>
          </a:prstGeom>
          <a:solidFill>
            <a:srgbClr val="F2A900"/>
          </a:solidFill>
          <a:ln>
            <a:noFill/>
          </a:ln>
          <a:effectLst/>
        </p:spPr>
        <p:txBody>
          <a:bodyPr rtlCol="0" anchor="ctr"/>
          <a:lstStyle/>
          <a:p>
            <a:pPr algn="ctr"/>
          </a:p>
        </p:txBody>
      </p:sp>
      <p:sp>
        <p:nvSpPr>
          <p:cNvPr id="4" name="TextBox 3"/>
          <p:cNvSpPr txBox="1"/>
          <p:nvPr/>
        </p:nvSpPr>
        <p:spPr>
          <a:xfrm>
            <a:off x="777240" y="1051560"/>
            <a:ext cx="10637215" cy="365760"/>
          </a:xfrm>
          <a:prstGeom prst="rect">
            <a:avLst/>
          </a:prstGeom>
          <a:noFill/>
        </p:spPr>
        <p:txBody>
          <a:bodyPr wrap="square" anchor="t" lIns="0" rIns="0" tIns="0" bIns="0">
            <a:spAutoFit/>
          </a:bodyPr>
          <a:lstStyle/>
          <a:p>
            <a:pPr algn="l">
              <a:lnSpc>
                <a:spcPct val="100000"/>
              </a:lnSpc>
              <a:spcBef>
                <a:spcPts val="0"/>
              </a:spcBef>
              <a:spcAft>
                <a:spcPts val="0"/>
              </a:spcAft>
            </a:pPr>
            <a:r>
              <a:rPr sz="1500" b="1" i="0">
                <a:solidFill>
                  <a:srgbClr val="F2A900"/>
                </a:solidFill>
                <a:latin typeface="Arial"/>
              </a:rPr>
              <a:t>Part 5 of 6</a:t>
            </a:r>
          </a:p>
        </p:txBody>
      </p:sp>
      <p:sp>
        <p:nvSpPr>
          <p:cNvPr id="5" name="TextBox 4"/>
          <p:cNvSpPr txBox="1"/>
          <p:nvPr/>
        </p:nvSpPr>
        <p:spPr>
          <a:xfrm>
            <a:off x="777240" y="1600200"/>
            <a:ext cx="10637215" cy="1097280"/>
          </a:xfrm>
          <a:prstGeom prst="rect">
            <a:avLst/>
          </a:prstGeom>
          <a:noFill/>
        </p:spPr>
        <p:txBody>
          <a:bodyPr wrap="square" anchor="t" lIns="0" rIns="0" tIns="0" bIns="0">
            <a:spAutoFit/>
          </a:bodyPr>
          <a:lstStyle/>
          <a:p>
            <a:pPr algn="l">
              <a:lnSpc>
                <a:spcPct val="105000"/>
              </a:lnSpc>
              <a:spcBef>
                <a:spcPts val="0"/>
              </a:spcBef>
              <a:spcAft>
                <a:spcPts val="0"/>
              </a:spcAft>
            </a:pPr>
            <a:r>
              <a:rPr sz="4000" b="0" i="0">
                <a:solidFill>
                  <a:srgbClr val="FFFFFF"/>
                </a:solidFill>
                <a:latin typeface="Palatino"/>
              </a:rPr>
              <a:t>Three Phases, and When a Trend Reverses</a:t>
            </a:r>
          </a:p>
        </p:txBody>
      </p:sp>
      <p:sp>
        <p:nvSpPr>
          <p:cNvPr id="6" name="Rectangle 5"/>
          <p:cNvSpPr/>
          <p:nvPr/>
        </p:nvSpPr>
        <p:spPr>
          <a:xfrm>
            <a:off x="777240" y="2926080"/>
            <a:ext cx="1463040" cy="38100"/>
          </a:xfrm>
          <a:prstGeom prst="rect">
            <a:avLst/>
          </a:prstGeom>
          <a:solidFill>
            <a:srgbClr val="F2A900"/>
          </a:solidFill>
          <a:ln>
            <a:noFill/>
          </a:ln>
          <a:effectLst/>
        </p:spPr>
        <p:txBody>
          <a:bodyPr rtlCol="0" anchor="ctr"/>
          <a:lstStyle/>
          <a:p>
            <a:pPr algn="ctr"/>
          </a:p>
        </p:txBody>
      </p:sp>
      <p:sp>
        <p:nvSpPr>
          <p:cNvPr id="7" name="TextBox 6"/>
          <p:cNvSpPr txBox="1"/>
          <p:nvPr/>
        </p:nvSpPr>
        <p:spPr>
          <a:xfrm>
            <a:off x="777240" y="3383280"/>
            <a:ext cx="10637215" cy="2011680"/>
          </a:xfrm>
          <a:prstGeom prst="rect">
            <a:avLst/>
          </a:prstGeom>
          <a:noFill/>
        </p:spPr>
        <p:txBody>
          <a:bodyPr wrap="square" anchor="t" lIns="0" rIns="0" tIns="0" bIns="0">
            <a:spAutoFit/>
          </a:bodyPr>
          <a:lstStyle/>
          <a:p>
            <a:pPr algn="l">
              <a:lnSpc>
                <a:spcPct val="115000"/>
              </a:lnSpc>
              <a:spcBef>
                <a:spcPts val="0"/>
              </a:spcBef>
              <a:spcAft>
                <a:spcPts val="1000"/>
              </a:spcAft>
            </a:pPr>
            <a:r>
              <a:rPr sz="1900" b="0" i="0">
                <a:solidFill>
                  <a:srgbClr val="FFFFFF"/>
                </a:solidFill>
                <a:latin typeface="Arial"/>
              </a:rPr>
              <a:t>The three phases every primary trend passes through, and who is buying in each.</a:t>
            </a:r>
          </a:p>
          <a:p>
            <a:pPr algn="l">
              <a:lnSpc>
                <a:spcPct val="115000"/>
              </a:lnSpc>
              <a:spcBef>
                <a:spcPts val="0"/>
              </a:spcBef>
              <a:spcAft>
                <a:spcPts val="1000"/>
              </a:spcAft>
            </a:pPr>
            <a:r>
              <a:rPr sz="1900" b="0" i="0">
                <a:solidFill>
                  <a:srgbClr val="FFFFFF"/>
                </a:solidFill>
                <a:latin typeface="Arial"/>
              </a:rPr>
              <a:t>Why one phase always lasts longer than the other.</a:t>
            </a:r>
          </a:p>
          <a:p>
            <a:pPr algn="l">
              <a:lnSpc>
                <a:spcPct val="115000"/>
              </a:lnSpc>
              <a:spcBef>
                <a:spcPts val="0"/>
              </a:spcBef>
              <a:spcAft>
                <a:spcPts val="1000"/>
              </a:spcAft>
            </a:pPr>
            <a:r>
              <a:rPr sz="1900" b="0" i="0">
                <a:solidFill>
                  <a:srgbClr val="FFFFFF"/>
                </a:solidFill>
                <a:latin typeface="Arial"/>
              </a:rPr>
              <a:t>The three formations that say a trend has turned.</a:t>
            </a:r>
          </a:p>
        </p:txBody>
      </p:sp>
      <p:sp>
        <p:nvSpPr>
          <p:cNvPr id="8" name="TextBox 7"/>
          <p:cNvSpPr txBox="1"/>
          <p:nvPr/>
        </p:nvSpPr>
        <p:spPr>
          <a:xfrm>
            <a:off x="777240" y="6035040"/>
            <a:ext cx="10637215" cy="365760"/>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F2A900"/>
                </a:solidFill>
                <a:latin typeface="Arial"/>
              </a:rPr>
              <a:t>About 30 minutes</a:t>
            </a:r>
          </a:p>
        </p:txBody>
      </p:sp>
    </p:spTree>
  </p:cSld>
  <p:clrMapOvr>
    <a:masterClrMapping/>
  </p:clrMapOvr>
</p:sld>
</file>

<file path=ppt/slides/slide7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TextBox 3"/>
          <p:cNvSpPr txBox="1"/>
          <p:nvPr/>
        </p:nvSpPr>
        <p:spPr>
          <a:xfrm>
            <a:off x="777240" y="658368"/>
            <a:ext cx="10637215" cy="914400"/>
          </a:xfrm>
          <a:prstGeom prst="rect">
            <a:avLst/>
          </a:prstGeom>
          <a:noFill/>
        </p:spPr>
        <p:txBody>
          <a:bodyPr wrap="square" anchor="t" lIns="0" rIns="0" tIns="0" bIns="0">
            <a:spAutoFit/>
          </a:bodyPr>
          <a:lstStyle/>
          <a:p>
            <a:pPr algn="l">
              <a:lnSpc>
                <a:spcPct val="105000"/>
              </a:lnSpc>
              <a:spcBef>
                <a:spcPts val="0"/>
              </a:spcBef>
              <a:spcAft>
                <a:spcPts val="0"/>
              </a:spcAft>
            </a:pPr>
            <a:r>
              <a:rPr sz="3000" b="0" i="0">
                <a:solidFill>
                  <a:srgbClr val="007A33"/>
                </a:solidFill>
                <a:latin typeface="Palatino"/>
              </a:rPr>
              <a:t>The third tenet: primary trends have three phases</a:t>
            </a:r>
          </a:p>
        </p:txBody>
      </p:sp>
      <p:sp>
        <p:nvSpPr>
          <p:cNvPr id="5" name="Rectangle 4"/>
          <p:cNvSpPr/>
          <p:nvPr/>
        </p:nvSpPr>
        <p:spPr>
          <a:xfrm>
            <a:off x="777240" y="1572768"/>
            <a:ext cx="10637215" cy="15875"/>
          </a:xfrm>
          <a:prstGeom prst="rect">
            <a:avLst/>
          </a:prstGeom>
          <a:solidFill>
            <a:srgbClr val="D7E0D9"/>
          </a:solidFill>
          <a:ln>
            <a:noFill/>
          </a:ln>
          <a:effectLst/>
        </p:spPr>
        <p:txBody>
          <a:bodyPr rtlCol="0" anchor="ctr"/>
          <a:lstStyle/>
          <a:p>
            <a:pPr algn="ctr"/>
          </a:p>
        </p:txBody>
      </p:sp>
      <p:sp>
        <p:nvSpPr>
          <p:cNvPr id="6" name="TextBox 5"/>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5 of 6 - Phases and reversal  |  1 of 22</a:t>
            </a:r>
          </a:p>
        </p:txBody>
      </p:sp>
      <p:sp>
        <p:nvSpPr>
          <p:cNvPr id="7" name="TextBox 6"/>
          <p:cNvSpPr txBox="1"/>
          <p:nvPr/>
        </p:nvSpPr>
        <p:spPr>
          <a:xfrm>
            <a:off x="777240" y="1965960"/>
            <a:ext cx="10637215" cy="3108960"/>
          </a:xfrm>
          <a:prstGeom prst="rect">
            <a:avLst/>
          </a:prstGeom>
          <a:noFill/>
        </p:spPr>
        <p:txBody>
          <a:bodyPr wrap="square" anchor="t" lIns="0" rIns="0" tIns="0" bIns="0">
            <a:spAutoFit/>
          </a:bodyPr>
          <a:lstStyle/>
          <a:p>
            <a:pPr algn="l">
              <a:lnSpc>
                <a:spcPct val="118000"/>
              </a:lnSpc>
              <a:spcBef>
                <a:spcPts val="0"/>
              </a:spcBef>
              <a:spcAft>
                <a:spcPts val="1300"/>
              </a:spcAft>
            </a:pPr>
            <a:r>
              <a:rPr sz="2100" b="0" i="0">
                <a:solidFill>
                  <a:srgbClr val="1A1A1A"/>
                </a:solidFill>
                <a:latin typeface="Arial"/>
              </a:rPr>
              <a:t>1.  Accumulation phase.</a:t>
            </a:r>
          </a:p>
          <a:p>
            <a:pPr algn="l">
              <a:lnSpc>
                <a:spcPct val="118000"/>
              </a:lnSpc>
              <a:spcBef>
                <a:spcPts val="0"/>
              </a:spcBef>
              <a:spcAft>
                <a:spcPts val="1300"/>
              </a:spcAft>
            </a:pPr>
            <a:r>
              <a:rPr sz="2100" b="0" i="0">
                <a:solidFill>
                  <a:srgbClr val="1A1A1A"/>
                </a:solidFill>
                <a:latin typeface="Arial"/>
              </a:rPr>
              <a:t>2.  Trending phase.</a:t>
            </a:r>
          </a:p>
          <a:p>
            <a:pPr algn="l">
              <a:lnSpc>
                <a:spcPct val="118000"/>
              </a:lnSpc>
              <a:spcBef>
                <a:spcPts val="0"/>
              </a:spcBef>
              <a:spcAft>
                <a:spcPts val="1300"/>
              </a:spcAft>
            </a:pPr>
            <a:r>
              <a:rPr sz="2100" b="0" i="0">
                <a:solidFill>
                  <a:srgbClr val="1A1A1A"/>
                </a:solidFill>
                <a:latin typeface="Arial"/>
              </a:rPr>
              <a:t>3.  Distribution phase.</a:t>
            </a:r>
          </a:p>
        </p:txBody>
      </p:sp>
      <p:sp>
        <p:nvSpPr>
          <p:cNvPr id="8" name="Rectangle 7"/>
          <p:cNvSpPr/>
          <p:nvPr/>
        </p:nvSpPr>
        <p:spPr>
          <a:xfrm>
            <a:off x="777240" y="3769614"/>
            <a:ext cx="82296" cy="467614"/>
          </a:xfrm>
          <a:prstGeom prst="rect">
            <a:avLst/>
          </a:prstGeom>
          <a:solidFill>
            <a:srgbClr val="F2A900"/>
          </a:solidFill>
          <a:ln>
            <a:noFill/>
          </a:ln>
          <a:effectLst/>
        </p:spPr>
        <p:txBody>
          <a:bodyPr rtlCol="0" anchor="ctr"/>
          <a:lstStyle/>
          <a:p>
            <a:pPr algn="ctr"/>
          </a:p>
        </p:txBody>
      </p:sp>
      <p:sp>
        <p:nvSpPr>
          <p:cNvPr id="9" name="TextBox 8"/>
          <p:cNvSpPr txBox="1"/>
          <p:nvPr/>
        </p:nvSpPr>
        <p:spPr>
          <a:xfrm>
            <a:off x="1069848" y="3806190"/>
            <a:ext cx="10344607" cy="467614"/>
          </a:xfrm>
          <a:prstGeom prst="rect">
            <a:avLst/>
          </a:prstGeom>
          <a:noFill/>
        </p:spPr>
        <p:txBody>
          <a:bodyPr wrap="square" anchor="t" lIns="0" rIns="0" tIns="0" bIns="0">
            <a:spAutoFit/>
          </a:bodyPr>
          <a:lstStyle/>
          <a:p>
            <a:pPr algn="l">
              <a:lnSpc>
                <a:spcPct val="115000"/>
              </a:lnSpc>
              <a:spcBef>
                <a:spcPts val="0"/>
              </a:spcBef>
              <a:spcAft>
                <a:spcPts val="0"/>
              </a:spcAft>
            </a:pPr>
            <a:r>
              <a:rPr sz="2200" b="1" i="0">
                <a:solidFill>
                  <a:srgbClr val="1A1A1A"/>
                </a:solidFill>
                <a:latin typeface="Arial"/>
              </a:rPr>
              <a:t>Primary trends. Not all trends. That distinction is asked directly.</a:t>
            </a:r>
          </a:p>
        </p:txBody>
      </p:sp>
    </p:spTree>
  </p:cSld>
  <p:clrMapOvr>
    <a:masterClrMapping/>
  </p:clrMapOvr>
</p:sld>
</file>

<file path=ppt/slides/slide8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Rectangle 3"/>
          <p:cNvSpPr/>
          <p:nvPr/>
        </p:nvSpPr>
        <p:spPr>
          <a:xfrm>
            <a:off x="777240" y="566928"/>
            <a:ext cx="1234440" cy="329184"/>
          </a:xfrm>
          <a:prstGeom prst="rect">
            <a:avLst/>
          </a:prstGeom>
          <a:solidFill>
            <a:srgbClr val="F2A900"/>
          </a:solidFill>
          <a:ln>
            <a:noFill/>
          </a:ln>
          <a:effectLst/>
        </p:spPr>
        <p:txBody>
          <a:bodyPr rtlCol="0" anchor="ctr" wrap="none" lIns="0" rIns="0" tIns="0" bIns="0"/>
          <a:lstStyle/>
          <a:p>
            <a:pPr algn="ctr">
              <a:lnSpc>
                <a:spcPct val="100000"/>
              </a:lnSpc>
              <a:spcBef>
                <a:spcPts val="0"/>
              </a:spcBef>
              <a:spcAft>
                <a:spcPts val="0"/>
              </a:spcAft>
            </a:pPr>
            <a:r>
              <a:rPr sz="1200" b="1" i="0">
                <a:solidFill>
                  <a:srgbClr val="1A1A1A"/>
                </a:solidFill>
                <a:latin typeface="Arial"/>
              </a:rPr>
              <a:t>NEW TERM</a:t>
            </a:r>
          </a:p>
        </p:txBody>
      </p:sp>
      <p:sp>
        <p:nvSpPr>
          <p:cNvPr id="5" name="TextBox 4"/>
          <p:cNvSpPr txBox="1"/>
          <p:nvPr/>
        </p:nvSpPr>
        <p:spPr>
          <a:xfrm>
            <a:off x="777240" y="1051560"/>
            <a:ext cx="10637215" cy="822960"/>
          </a:xfrm>
          <a:prstGeom prst="rect">
            <a:avLst/>
          </a:prstGeom>
          <a:noFill/>
        </p:spPr>
        <p:txBody>
          <a:bodyPr wrap="square" anchor="t" lIns="0" rIns="0" tIns="0" bIns="0">
            <a:spAutoFit/>
          </a:bodyPr>
          <a:lstStyle/>
          <a:p>
            <a:pPr algn="l">
              <a:lnSpc>
                <a:spcPct val="105000"/>
              </a:lnSpc>
              <a:spcBef>
                <a:spcPts val="0"/>
              </a:spcBef>
              <a:spcAft>
                <a:spcPts val="0"/>
              </a:spcAft>
            </a:pPr>
            <a:r>
              <a:rPr sz="3200" b="0" i="0">
                <a:solidFill>
                  <a:srgbClr val="007A33"/>
                </a:solidFill>
                <a:latin typeface="Palatino"/>
              </a:rPr>
              <a:t>Accumulation phase</a:t>
            </a:r>
          </a:p>
        </p:txBody>
      </p:sp>
      <p:sp>
        <p:nvSpPr>
          <p:cNvPr id="6" name="Rectangle 5"/>
          <p:cNvSpPr/>
          <p:nvPr/>
        </p:nvSpPr>
        <p:spPr>
          <a:xfrm>
            <a:off x="777240" y="1874519"/>
            <a:ext cx="10637215" cy="15875"/>
          </a:xfrm>
          <a:prstGeom prst="rect">
            <a:avLst/>
          </a:prstGeom>
          <a:solidFill>
            <a:srgbClr val="D7E0D9"/>
          </a:solidFill>
          <a:ln>
            <a:noFill/>
          </a:ln>
          <a:effectLst/>
        </p:spPr>
        <p:txBody>
          <a:bodyPr rtlCol="0" anchor="ctr"/>
          <a:lstStyle/>
          <a:p>
            <a:pPr algn="ctr"/>
          </a:p>
        </p:txBody>
      </p:sp>
      <p:sp>
        <p:nvSpPr>
          <p:cNvPr id="7" name="Rectangle 6"/>
          <p:cNvSpPr/>
          <p:nvPr/>
        </p:nvSpPr>
        <p:spPr>
          <a:xfrm>
            <a:off x="777240" y="2258568"/>
            <a:ext cx="64008" cy="811022"/>
          </a:xfrm>
          <a:prstGeom prst="rect">
            <a:avLst/>
          </a:prstGeom>
          <a:solidFill>
            <a:srgbClr val="F2A900"/>
          </a:solidFill>
          <a:ln>
            <a:noFill/>
          </a:ln>
          <a:effectLst/>
        </p:spPr>
        <p:txBody>
          <a:bodyPr rtlCol="0" anchor="ctr"/>
          <a:lstStyle/>
          <a:p>
            <a:pPr algn="ctr"/>
          </a:p>
        </p:txBody>
      </p:sp>
      <p:sp>
        <p:nvSpPr>
          <p:cNvPr id="8" name="TextBox 7"/>
          <p:cNvSpPr txBox="1"/>
          <p:nvPr/>
        </p:nvSpPr>
        <p:spPr>
          <a:xfrm>
            <a:off x="1051560" y="2212848"/>
            <a:ext cx="10362895" cy="920750"/>
          </a:xfrm>
          <a:prstGeom prst="rect">
            <a:avLst/>
          </a:prstGeom>
          <a:noFill/>
        </p:spPr>
        <p:txBody>
          <a:bodyPr wrap="square" anchor="t" lIns="0" rIns="0" tIns="0" bIns="0">
            <a:spAutoFit/>
          </a:bodyPr>
          <a:lstStyle/>
          <a:p>
            <a:pPr algn="l">
              <a:lnSpc>
                <a:spcPct val="100000"/>
              </a:lnSpc>
              <a:spcBef>
                <a:spcPts val="0"/>
              </a:spcBef>
              <a:spcAft>
                <a:spcPts val="400"/>
              </a:spcAft>
            </a:pPr>
            <a:r>
              <a:rPr sz="1100" b="1" i="0">
                <a:solidFill>
                  <a:srgbClr val="818181"/>
                </a:solidFill>
                <a:latin typeface="Arial"/>
              </a:rPr>
              <a:t>IN PLAIN WORDS</a:t>
            </a:r>
          </a:p>
          <a:p>
            <a:pPr algn="l">
              <a:lnSpc>
                <a:spcPct val="115000"/>
              </a:lnSpc>
              <a:spcBef>
                <a:spcPts val="0"/>
              </a:spcBef>
              <a:spcAft>
                <a:spcPts val="0"/>
              </a:spcAft>
            </a:pPr>
            <a:r>
              <a:rPr sz="1900" b="1" i="0">
                <a:solidFill>
                  <a:srgbClr val="1A1A1A"/>
                </a:solidFill>
                <a:latin typeface="Arial"/>
              </a:rPr>
              <a:t>The quiet stretch after a bad fall, where informed buyers pick up shares cheaply from people who have given up.</a:t>
            </a:r>
          </a:p>
        </p:txBody>
      </p:sp>
      <p:sp>
        <p:nvSpPr>
          <p:cNvPr id="9" name="Rectangle 8"/>
          <p:cNvSpPr/>
          <p:nvPr/>
        </p:nvSpPr>
        <p:spPr>
          <a:xfrm>
            <a:off x="777240" y="3417061"/>
            <a:ext cx="64008" cy="811022"/>
          </a:xfrm>
          <a:prstGeom prst="rect">
            <a:avLst/>
          </a:prstGeom>
          <a:solidFill>
            <a:srgbClr val="D7E0D9"/>
          </a:solidFill>
          <a:ln>
            <a:noFill/>
          </a:ln>
          <a:effectLst/>
        </p:spPr>
        <p:txBody>
          <a:bodyPr rtlCol="0" anchor="ctr"/>
          <a:lstStyle/>
          <a:p>
            <a:pPr algn="ctr"/>
          </a:p>
        </p:txBody>
      </p:sp>
      <p:sp>
        <p:nvSpPr>
          <p:cNvPr id="10" name="TextBox 9"/>
          <p:cNvSpPr txBox="1"/>
          <p:nvPr/>
        </p:nvSpPr>
        <p:spPr>
          <a:xfrm>
            <a:off x="1051560" y="3371342"/>
            <a:ext cx="10362895" cy="920750"/>
          </a:xfrm>
          <a:prstGeom prst="rect">
            <a:avLst/>
          </a:prstGeom>
          <a:noFill/>
        </p:spPr>
        <p:txBody>
          <a:bodyPr wrap="square" anchor="t" lIns="0" rIns="0" tIns="0" bIns="0">
            <a:spAutoFit/>
          </a:bodyPr>
          <a:lstStyle/>
          <a:p>
            <a:pPr algn="l">
              <a:lnSpc>
                <a:spcPct val="100000"/>
              </a:lnSpc>
              <a:spcBef>
                <a:spcPts val="0"/>
              </a:spcBef>
              <a:spcAft>
                <a:spcPts val="400"/>
              </a:spcAft>
            </a:pPr>
            <a:r>
              <a:rPr sz="1100" b="1" i="0">
                <a:solidFill>
                  <a:srgbClr val="818181"/>
                </a:solidFill>
                <a:latin typeface="Arial"/>
              </a:rPr>
              <a:t>FOR EXAMPLE</a:t>
            </a:r>
          </a:p>
          <a:p>
            <a:pPr algn="l">
              <a:lnSpc>
                <a:spcPct val="115000"/>
              </a:lnSpc>
              <a:spcBef>
                <a:spcPts val="0"/>
              </a:spcBef>
              <a:spcAft>
                <a:spcPts val="0"/>
              </a:spcAft>
            </a:pPr>
            <a:r>
              <a:rPr sz="1900" b="0" i="0">
                <a:solidFill>
                  <a:srgbClr val="1A1A1A"/>
                </a:solidFill>
                <a:latin typeface="Arial"/>
              </a:rPr>
              <a:t>A share falls from 180 to 95 pesos on bad results. It then goes nowhere for a year while somebody quietly buys it.</a:t>
            </a:r>
          </a:p>
        </p:txBody>
      </p:sp>
      <p:sp>
        <p:nvSpPr>
          <p:cNvPr id="11" name="Rectangle 10"/>
          <p:cNvSpPr/>
          <p:nvPr/>
        </p:nvSpPr>
        <p:spPr>
          <a:xfrm>
            <a:off x="777240" y="4575556"/>
            <a:ext cx="64008" cy="1366012"/>
          </a:xfrm>
          <a:prstGeom prst="rect">
            <a:avLst/>
          </a:prstGeom>
          <a:solidFill>
            <a:srgbClr val="D7E0D9"/>
          </a:solidFill>
          <a:ln>
            <a:noFill/>
          </a:ln>
          <a:effectLst/>
        </p:spPr>
        <p:txBody>
          <a:bodyPr rtlCol="0" anchor="ctr"/>
          <a:lstStyle/>
          <a:p>
            <a:pPr algn="ctr"/>
          </a:p>
        </p:txBody>
      </p:sp>
      <p:sp>
        <p:nvSpPr>
          <p:cNvPr id="12" name="TextBox 11"/>
          <p:cNvSpPr txBox="1"/>
          <p:nvPr/>
        </p:nvSpPr>
        <p:spPr>
          <a:xfrm>
            <a:off x="1051560" y="4529836"/>
            <a:ext cx="10362895" cy="1475740"/>
          </a:xfrm>
          <a:prstGeom prst="rect">
            <a:avLst/>
          </a:prstGeom>
          <a:noFill/>
        </p:spPr>
        <p:txBody>
          <a:bodyPr wrap="square" anchor="t" lIns="0" rIns="0" tIns="0" bIns="0">
            <a:spAutoFit/>
          </a:bodyPr>
          <a:lstStyle/>
          <a:p>
            <a:pPr algn="l">
              <a:lnSpc>
                <a:spcPct val="100000"/>
              </a:lnSpc>
              <a:spcBef>
                <a:spcPts val="0"/>
              </a:spcBef>
              <a:spcAft>
                <a:spcPts val="400"/>
              </a:spcAft>
            </a:pPr>
            <a:r>
              <a:rPr sz="1100" b="1" i="0">
                <a:solidFill>
                  <a:srgbClr val="818181"/>
                </a:solidFill>
                <a:latin typeface="Arial"/>
              </a:rPr>
              <a:t>THE FORMAL DEFINITION</a:t>
            </a:r>
          </a:p>
          <a:p>
            <a:pPr algn="l">
              <a:lnSpc>
                <a:spcPct val="115000"/>
              </a:lnSpc>
              <a:spcBef>
                <a:spcPts val="0"/>
              </a:spcBef>
              <a:spcAft>
                <a:spcPts val="0"/>
              </a:spcAft>
            </a:pPr>
            <a:r>
              <a:rPr sz="1900" b="0" i="0">
                <a:solidFill>
                  <a:srgbClr val="1A1A1A"/>
                </a:solidFill>
                <a:latin typeface="Arial"/>
              </a:rPr>
              <a:t>Accumulation normally occurs after a deep and rapid decline in prices following companies releasing very negative data. The uninformed participants are extremely bearish and sell at any price available, while the better informed start accumulating at extremely cheap prices.</a:t>
            </a:r>
          </a:p>
        </p:txBody>
      </p:sp>
      <p:sp>
        <p:nvSpPr>
          <p:cNvPr id="13" name="TextBox 12"/>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5 of 6 - Phases and reversal  |  2 of 22</a:t>
            </a:r>
          </a:p>
        </p:txBody>
      </p:sp>
    </p:spTree>
  </p:cSld>
  <p:clrMapOvr>
    <a:masterClrMapping/>
  </p:clrMapOvr>
</p:sld>
</file>

<file path=ppt/slides/slide8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TextBox 3"/>
          <p:cNvSpPr txBox="1"/>
          <p:nvPr/>
        </p:nvSpPr>
        <p:spPr>
          <a:xfrm>
            <a:off x="777240" y="658368"/>
            <a:ext cx="10637215" cy="914400"/>
          </a:xfrm>
          <a:prstGeom prst="rect">
            <a:avLst/>
          </a:prstGeom>
          <a:noFill/>
        </p:spPr>
        <p:txBody>
          <a:bodyPr wrap="square" anchor="t" lIns="0" rIns="0" tIns="0" bIns="0">
            <a:spAutoFit/>
          </a:bodyPr>
          <a:lstStyle/>
          <a:p>
            <a:pPr algn="l">
              <a:lnSpc>
                <a:spcPct val="105000"/>
              </a:lnSpc>
              <a:spcBef>
                <a:spcPts val="0"/>
              </a:spcBef>
              <a:spcAft>
                <a:spcPts val="0"/>
              </a:spcAft>
            </a:pPr>
            <a:r>
              <a:rPr sz="3000" b="0" i="0">
                <a:solidFill>
                  <a:srgbClr val="007A33"/>
                </a:solidFill>
                <a:latin typeface="Palatino"/>
              </a:rPr>
              <a:t>Who is on each side during accumulation</a:t>
            </a:r>
          </a:p>
        </p:txBody>
      </p:sp>
      <p:sp>
        <p:nvSpPr>
          <p:cNvPr id="5" name="Rectangle 4"/>
          <p:cNvSpPr/>
          <p:nvPr/>
        </p:nvSpPr>
        <p:spPr>
          <a:xfrm>
            <a:off x="777240" y="1572768"/>
            <a:ext cx="10637215" cy="15875"/>
          </a:xfrm>
          <a:prstGeom prst="rect">
            <a:avLst/>
          </a:prstGeom>
          <a:solidFill>
            <a:srgbClr val="D7E0D9"/>
          </a:solidFill>
          <a:ln>
            <a:noFill/>
          </a:ln>
          <a:effectLst/>
        </p:spPr>
        <p:txBody>
          <a:bodyPr rtlCol="0" anchor="ctr"/>
          <a:lstStyle/>
          <a:p>
            <a:pPr algn="ctr"/>
          </a:p>
        </p:txBody>
      </p:sp>
      <p:sp>
        <p:nvSpPr>
          <p:cNvPr id="6" name="TextBox 5"/>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5 of 6 - Phases and reversal  |  3 of 22</a:t>
            </a:r>
          </a:p>
        </p:txBody>
      </p:sp>
      <p:sp>
        <p:nvSpPr>
          <p:cNvPr id="7" name="TextBox 6"/>
          <p:cNvSpPr txBox="1"/>
          <p:nvPr/>
        </p:nvSpPr>
        <p:spPr>
          <a:xfrm>
            <a:off x="777240" y="1965960"/>
            <a:ext cx="10637215" cy="3108960"/>
          </a:xfrm>
          <a:prstGeom prst="rect">
            <a:avLst/>
          </a:prstGeom>
          <a:noFill/>
        </p:spPr>
        <p:txBody>
          <a:bodyPr wrap="square" anchor="t" lIns="0" rIns="0" tIns="0" bIns="0">
            <a:spAutoFit/>
          </a:bodyPr>
          <a:lstStyle/>
          <a:p>
            <a:pPr algn="l">
              <a:lnSpc>
                <a:spcPct val="118000"/>
              </a:lnSpc>
              <a:spcBef>
                <a:spcPts val="0"/>
              </a:spcBef>
              <a:spcAft>
                <a:spcPts val="1300"/>
              </a:spcAft>
            </a:pPr>
            <a:r>
              <a:rPr sz="2100" b="0" i="0">
                <a:solidFill>
                  <a:srgbClr val="1A1A1A"/>
                </a:solidFill>
                <a:latin typeface="Arial"/>
              </a:rPr>
              <a:t>The uninformed participants are usually extremely bearish, selling off whatever shares they have left at any price.</a:t>
            </a:r>
          </a:p>
          <a:p>
            <a:pPr algn="l">
              <a:lnSpc>
                <a:spcPct val="118000"/>
              </a:lnSpc>
              <a:spcBef>
                <a:spcPts val="0"/>
              </a:spcBef>
              <a:spcAft>
                <a:spcPts val="1300"/>
              </a:spcAft>
            </a:pPr>
            <a:r>
              <a:rPr sz="2100" b="0" i="0">
                <a:solidFill>
                  <a:srgbClr val="1A1A1A"/>
                </a:solidFill>
                <a:latin typeface="Arial"/>
              </a:rPr>
              <a:t>The better informed participants start accumulating shares at extremely cheap prices.</a:t>
            </a:r>
          </a:p>
        </p:txBody>
      </p:sp>
      <p:sp>
        <p:nvSpPr>
          <p:cNvPr id="8" name="Rectangle 7"/>
          <p:cNvSpPr/>
          <p:nvPr/>
        </p:nvSpPr>
        <p:spPr>
          <a:xfrm>
            <a:off x="777240" y="3901439"/>
            <a:ext cx="82296" cy="467614"/>
          </a:xfrm>
          <a:prstGeom prst="rect">
            <a:avLst/>
          </a:prstGeom>
          <a:solidFill>
            <a:srgbClr val="F2A900"/>
          </a:solidFill>
          <a:ln>
            <a:noFill/>
          </a:ln>
          <a:effectLst/>
        </p:spPr>
        <p:txBody>
          <a:bodyPr rtlCol="0" anchor="ctr"/>
          <a:lstStyle/>
          <a:p>
            <a:pPr algn="ctr"/>
          </a:p>
        </p:txBody>
      </p:sp>
      <p:sp>
        <p:nvSpPr>
          <p:cNvPr id="9" name="TextBox 8"/>
          <p:cNvSpPr txBox="1"/>
          <p:nvPr/>
        </p:nvSpPr>
        <p:spPr>
          <a:xfrm>
            <a:off x="1069848" y="3938015"/>
            <a:ext cx="10344607" cy="467614"/>
          </a:xfrm>
          <a:prstGeom prst="rect">
            <a:avLst/>
          </a:prstGeom>
          <a:noFill/>
        </p:spPr>
        <p:txBody>
          <a:bodyPr wrap="square" anchor="t" lIns="0" rIns="0" tIns="0" bIns="0">
            <a:spAutoFit/>
          </a:bodyPr>
          <a:lstStyle/>
          <a:p>
            <a:pPr algn="l">
              <a:lnSpc>
                <a:spcPct val="115000"/>
              </a:lnSpc>
              <a:spcBef>
                <a:spcPts val="0"/>
              </a:spcBef>
              <a:spcAft>
                <a:spcPts val="0"/>
              </a:spcAft>
            </a:pPr>
            <a:r>
              <a:rPr sz="2200" b="1" i="0">
                <a:solidFill>
                  <a:srgbClr val="1A1A1A"/>
                </a:solidFill>
                <a:latin typeface="Arial"/>
              </a:rPr>
              <a:t>The sentiment is worst exactly where the informed money is buying.</a:t>
            </a:r>
          </a:p>
        </p:txBody>
      </p:sp>
    </p:spTree>
  </p:cSld>
  <p:clrMapOvr>
    <a:masterClrMapping/>
  </p:clrMapOvr>
</p:sld>
</file>

<file path=ppt/slides/slide8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Rectangle 3"/>
          <p:cNvSpPr/>
          <p:nvPr/>
        </p:nvSpPr>
        <p:spPr>
          <a:xfrm>
            <a:off x="777240" y="566928"/>
            <a:ext cx="1234440" cy="329184"/>
          </a:xfrm>
          <a:prstGeom prst="rect">
            <a:avLst/>
          </a:prstGeom>
          <a:solidFill>
            <a:srgbClr val="F2A900"/>
          </a:solidFill>
          <a:ln>
            <a:noFill/>
          </a:ln>
          <a:effectLst/>
        </p:spPr>
        <p:txBody>
          <a:bodyPr rtlCol="0" anchor="ctr" wrap="none" lIns="0" rIns="0" tIns="0" bIns="0"/>
          <a:lstStyle/>
          <a:p>
            <a:pPr algn="ctr">
              <a:lnSpc>
                <a:spcPct val="100000"/>
              </a:lnSpc>
              <a:spcBef>
                <a:spcPts val="0"/>
              </a:spcBef>
              <a:spcAft>
                <a:spcPts val="0"/>
              </a:spcAft>
            </a:pPr>
            <a:r>
              <a:rPr sz="1200" b="1" i="0">
                <a:solidFill>
                  <a:srgbClr val="1A1A1A"/>
                </a:solidFill>
                <a:latin typeface="Arial"/>
              </a:rPr>
              <a:t>NEW TERM</a:t>
            </a:r>
          </a:p>
        </p:txBody>
      </p:sp>
      <p:sp>
        <p:nvSpPr>
          <p:cNvPr id="5" name="TextBox 4"/>
          <p:cNvSpPr txBox="1"/>
          <p:nvPr/>
        </p:nvSpPr>
        <p:spPr>
          <a:xfrm>
            <a:off x="777240" y="1051560"/>
            <a:ext cx="10637215" cy="822960"/>
          </a:xfrm>
          <a:prstGeom prst="rect">
            <a:avLst/>
          </a:prstGeom>
          <a:noFill/>
        </p:spPr>
        <p:txBody>
          <a:bodyPr wrap="square" anchor="t" lIns="0" rIns="0" tIns="0" bIns="0">
            <a:spAutoFit/>
          </a:bodyPr>
          <a:lstStyle/>
          <a:p>
            <a:pPr algn="l">
              <a:lnSpc>
                <a:spcPct val="105000"/>
              </a:lnSpc>
              <a:spcBef>
                <a:spcPts val="0"/>
              </a:spcBef>
              <a:spcAft>
                <a:spcPts val="0"/>
              </a:spcAft>
            </a:pPr>
            <a:r>
              <a:rPr sz="3200" b="0" i="0">
                <a:solidFill>
                  <a:srgbClr val="007A33"/>
                </a:solidFill>
                <a:latin typeface="Palatino"/>
              </a:rPr>
              <a:t>Trending phase</a:t>
            </a:r>
          </a:p>
        </p:txBody>
      </p:sp>
      <p:sp>
        <p:nvSpPr>
          <p:cNvPr id="6" name="Rectangle 5"/>
          <p:cNvSpPr/>
          <p:nvPr/>
        </p:nvSpPr>
        <p:spPr>
          <a:xfrm>
            <a:off x="777240" y="1874519"/>
            <a:ext cx="10637215" cy="15875"/>
          </a:xfrm>
          <a:prstGeom prst="rect">
            <a:avLst/>
          </a:prstGeom>
          <a:solidFill>
            <a:srgbClr val="D7E0D9"/>
          </a:solidFill>
          <a:ln>
            <a:noFill/>
          </a:ln>
          <a:effectLst/>
        </p:spPr>
        <p:txBody>
          <a:bodyPr rtlCol="0" anchor="ctr"/>
          <a:lstStyle/>
          <a:p>
            <a:pPr algn="ctr"/>
          </a:p>
        </p:txBody>
      </p:sp>
      <p:sp>
        <p:nvSpPr>
          <p:cNvPr id="7" name="Rectangle 6"/>
          <p:cNvSpPr/>
          <p:nvPr/>
        </p:nvSpPr>
        <p:spPr>
          <a:xfrm>
            <a:off x="777240" y="2258568"/>
            <a:ext cx="64008" cy="533527"/>
          </a:xfrm>
          <a:prstGeom prst="rect">
            <a:avLst/>
          </a:prstGeom>
          <a:solidFill>
            <a:srgbClr val="F2A900"/>
          </a:solidFill>
          <a:ln>
            <a:noFill/>
          </a:ln>
          <a:effectLst/>
        </p:spPr>
        <p:txBody>
          <a:bodyPr rtlCol="0" anchor="ctr"/>
          <a:lstStyle/>
          <a:p>
            <a:pPr algn="ctr"/>
          </a:p>
        </p:txBody>
      </p:sp>
      <p:sp>
        <p:nvSpPr>
          <p:cNvPr id="8" name="TextBox 7"/>
          <p:cNvSpPr txBox="1"/>
          <p:nvPr/>
        </p:nvSpPr>
        <p:spPr>
          <a:xfrm>
            <a:off x="1051560" y="2212848"/>
            <a:ext cx="10362895" cy="643255"/>
          </a:xfrm>
          <a:prstGeom prst="rect">
            <a:avLst/>
          </a:prstGeom>
          <a:noFill/>
        </p:spPr>
        <p:txBody>
          <a:bodyPr wrap="square" anchor="t" lIns="0" rIns="0" tIns="0" bIns="0">
            <a:spAutoFit/>
          </a:bodyPr>
          <a:lstStyle/>
          <a:p>
            <a:pPr algn="l">
              <a:lnSpc>
                <a:spcPct val="100000"/>
              </a:lnSpc>
              <a:spcBef>
                <a:spcPts val="0"/>
              </a:spcBef>
              <a:spcAft>
                <a:spcPts val="400"/>
              </a:spcAft>
            </a:pPr>
            <a:r>
              <a:rPr sz="1100" b="1" i="0">
                <a:solidFill>
                  <a:srgbClr val="818181"/>
                </a:solidFill>
                <a:latin typeface="Arial"/>
              </a:rPr>
              <a:t>IN PLAIN WORDS</a:t>
            </a:r>
          </a:p>
          <a:p>
            <a:pPr algn="l">
              <a:lnSpc>
                <a:spcPct val="115000"/>
              </a:lnSpc>
              <a:spcBef>
                <a:spcPts val="0"/>
              </a:spcBef>
              <a:spcAft>
                <a:spcPts val="0"/>
              </a:spcAft>
            </a:pPr>
            <a:r>
              <a:rPr sz="1900" b="1" i="0">
                <a:solidFill>
                  <a:srgbClr val="1A1A1A"/>
                </a:solidFill>
                <a:latin typeface="Arial"/>
              </a:rPr>
              <a:t>The middle stretch, where the move becomes obvious and the public arrives.</a:t>
            </a:r>
          </a:p>
        </p:txBody>
      </p:sp>
      <p:sp>
        <p:nvSpPr>
          <p:cNvPr id="9" name="Rectangle 8"/>
          <p:cNvSpPr/>
          <p:nvPr/>
        </p:nvSpPr>
        <p:spPr>
          <a:xfrm>
            <a:off x="777240" y="3139567"/>
            <a:ext cx="64008" cy="811022"/>
          </a:xfrm>
          <a:prstGeom prst="rect">
            <a:avLst/>
          </a:prstGeom>
          <a:solidFill>
            <a:srgbClr val="D7E0D9"/>
          </a:solidFill>
          <a:ln>
            <a:noFill/>
          </a:ln>
          <a:effectLst/>
        </p:spPr>
        <p:txBody>
          <a:bodyPr rtlCol="0" anchor="ctr"/>
          <a:lstStyle/>
          <a:p>
            <a:pPr algn="ctr"/>
          </a:p>
        </p:txBody>
      </p:sp>
      <p:sp>
        <p:nvSpPr>
          <p:cNvPr id="10" name="TextBox 9"/>
          <p:cNvSpPr txBox="1"/>
          <p:nvPr/>
        </p:nvSpPr>
        <p:spPr>
          <a:xfrm>
            <a:off x="1051560" y="3093847"/>
            <a:ext cx="10362895" cy="920750"/>
          </a:xfrm>
          <a:prstGeom prst="rect">
            <a:avLst/>
          </a:prstGeom>
          <a:noFill/>
        </p:spPr>
        <p:txBody>
          <a:bodyPr wrap="square" anchor="t" lIns="0" rIns="0" tIns="0" bIns="0">
            <a:spAutoFit/>
          </a:bodyPr>
          <a:lstStyle/>
          <a:p>
            <a:pPr algn="l">
              <a:lnSpc>
                <a:spcPct val="100000"/>
              </a:lnSpc>
              <a:spcBef>
                <a:spcPts val="0"/>
              </a:spcBef>
              <a:spcAft>
                <a:spcPts val="400"/>
              </a:spcAft>
            </a:pPr>
            <a:r>
              <a:rPr sz="1100" b="1" i="0">
                <a:solidFill>
                  <a:srgbClr val="818181"/>
                </a:solidFill>
                <a:latin typeface="Arial"/>
              </a:rPr>
              <a:t>FOR EXAMPLE</a:t>
            </a:r>
          </a:p>
          <a:p>
            <a:pPr algn="l">
              <a:lnSpc>
                <a:spcPct val="115000"/>
              </a:lnSpc>
              <a:spcBef>
                <a:spcPts val="0"/>
              </a:spcBef>
              <a:spcAft>
                <a:spcPts val="0"/>
              </a:spcAft>
            </a:pPr>
            <a:r>
              <a:rPr sz="1900" b="0" i="0">
                <a:solidFill>
                  <a:srgbClr val="1A1A1A"/>
                </a:solidFill>
                <a:latin typeface="Arial"/>
              </a:rPr>
              <a:t>The share leaves 95 pesos, reaches 140, and only then starts appearing in the news as a good buy.</a:t>
            </a:r>
          </a:p>
        </p:txBody>
      </p:sp>
      <p:sp>
        <p:nvSpPr>
          <p:cNvPr id="11" name="Rectangle 10"/>
          <p:cNvSpPr/>
          <p:nvPr/>
        </p:nvSpPr>
        <p:spPr>
          <a:xfrm>
            <a:off x="777240" y="4298061"/>
            <a:ext cx="64008" cy="811022"/>
          </a:xfrm>
          <a:prstGeom prst="rect">
            <a:avLst/>
          </a:prstGeom>
          <a:solidFill>
            <a:srgbClr val="D7E0D9"/>
          </a:solidFill>
          <a:ln>
            <a:noFill/>
          </a:ln>
          <a:effectLst/>
        </p:spPr>
        <p:txBody>
          <a:bodyPr rtlCol="0" anchor="ctr"/>
          <a:lstStyle/>
          <a:p>
            <a:pPr algn="ctr"/>
          </a:p>
        </p:txBody>
      </p:sp>
      <p:sp>
        <p:nvSpPr>
          <p:cNvPr id="12" name="TextBox 11"/>
          <p:cNvSpPr txBox="1"/>
          <p:nvPr/>
        </p:nvSpPr>
        <p:spPr>
          <a:xfrm>
            <a:off x="1051560" y="4252341"/>
            <a:ext cx="10362895" cy="920750"/>
          </a:xfrm>
          <a:prstGeom prst="rect">
            <a:avLst/>
          </a:prstGeom>
          <a:noFill/>
        </p:spPr>
        <p:txBody>
          <a:bodyPr wrap="square" anchor="t" lIns="0" rIns="0" tIns="0" bIns="0">
            <a:spAutoFit/>
          </a:bodyPr>
          <a:lstStyle/>
          <a:p>
            <a:pPr algn="l">
              <a:lnSpc>
                <a:spcPct val="100000"/>
              </a:lnSpc>
              <a:spcBef>
                <a:spcPts val="0"/>
              </a:spcBef>
              <a:spcAft>
                <a:spcPts val="400"/>
              </a:spcAft>
            </a:pPr>
            <a:r>
              <a:rPr sz="1100" b="1" i="0">
                <a:solidFill>
                  <a:srgbClr val="818181"/>
                </a:solidFill>
                <a:latin typeface="Arial"/>
              </a:rPr>
              <a:t>THE FORMAL DEFINITION</a:t>
            </a:r>
          </a:p>
          <a:p>
            <a:pPr algn="l">
              <a:lnSpc>
                <a:spcPct val="115000"/>
              </a:lnSpc>
              <a:spcBef>
                <a:spcPts val="0"/>
              </a:spcBef>
              <a:spcAft>
                <a:spcPts val="0"/>
              </a:spcAft>
            </a:pPr>
            <a:r>
              <a:rPr sz="1900" b="0" i="0">
                <a:solidFill>
                  <a:srgbClr val="1A1A1A"/>
                </a:solidFill>
                <a:latin typeface="Arial"/>
              </a:rPr>
              <a:t>The trend phase consists of the uptrend and the downtrend phase. The uptrend phase is driven by participants expecting higher prices after an accumulation.</a:t>
            </a:r>
          </a:p>
        </p:txBody>
      </p:sp>
      <p:sp>
        <p:nvSpPr>
          <p:cNvPr id="13" name="TextBox 12"/>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5 of 6 - Phases and reversal  |  4 of 22</a:t>
            </a:r>
          </a:p>
        </p:txBody>
      </p:sp>
    </p:spTree>
  </p:cSld>
  <p:clrMapOvr>
    <a:masterClrMapping/>
  </p:clrMapOvr>
</p:sld>
</file>

<file path=ppt/slides/slide8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TextBox 3"/>
          <p:cNvSpPr txBox="1"/>
          <p:nvPr/>
        </p:nvSpPr>
        <p:spPr>
          <a:xfrm>
            <a:off x="777240" y="658368"/>
            <a:ext cx="10637215" cy="914400"/>
          </a:xfrm>
          <a:prstGeom prst="rect">
            <a:avLst/>
          </a:prstGeom>
          <a:noFill/>
        </p:spPr>
        <p:txBody>
          <a:bodyPr wrap="square" anchor="t" lIns="0" rIns="0" tIns="0" bIns="0">
            <a:spAutoFit/>
          </a:bodyPr>
          <a:lstStyle/>
          <a:p>
            <a:pPr algn="l">
              <a:lnSpc>
                <a:spcPct val="105000"/>
              </a:lnSpc>
              <a:spcBef>
                <a:spcPts val="0"/>
              </a:spcBef>
              <a:spcAft>
                <a:spcPts val="0"/>
              </a:spcAft>
            </a:pPr>
            <a:r>
              <a:rPr sz="3000" b="0" i="0">
                <a:solidFill>
                  <a:srgbClr val="007A33"/>
                </a:solidFill>
                <a:latin typeface="Palatino"/>
              </a:rPr>
              <a:t>The uptrend phase</a:t>
            </a:r>
          </a:p>
        </p:txBody>
      </p:sp>
      <p:sp>
        <p:nvSpPr>
          <p:cNvPr id="5" name="Rectangle 4"/>
          <p:cNvSpPr/>
          <p:nvPr/>
        </p:nvSpPr>
        <p:spPr>
          <a:xfrm>
            <a:off x="777240" y="1572768"/>
            <a:ext cx="10637215" cy="15875"/>
          </a:xfrm>
          <a:prstGeom prst="rect">
            <a:avLst/>
          </a:prstGeom>
          <a:solidFill>
            <a:srgbClr val="D7E0D9"/>
          </a:solidFill>
          <a:ln>
            <a:noFill/>
          </a:ln>
          <a:effectLst/>
        </p:spPr>
        <p:txBody>
          <a:bodyPr rtlCol="0" anchor="ctr"/>
          <a:lstStyle/>
          <a:p>
            <a:pPr algn="ctr"/>
          </a:p>
        </p:txBody>
      </p:sp>
      <p:sp>
        <p:nvSpPr>
          <p:cNvPr id="6" name="TextBox 5"/>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5 of 6 - Phases and reversal  |  5 of 22</a:t>
            </a:r>
          </a:p>
        </p:txBody>
      </p:sp>
      <p:sp>
        <p:nvSpPr>
          <p:cNvPr id="7" name="TextBox 6"/>
          <p:cNvSpPr txBox="1"/>
          <p:nvPr/>
        </p:nvSpPr>
        <p:spPr>
          <a:xfrm>
            <a:off x="777240" y="1965960"/>
            <a:ext cx="10637215" cy="3108960"/>
          </a:xfrm>
          <a:prstGeom prst="rect">
            <a:avLst/>
          </a:prstGeom>
          <a:noFill/>
        </p:spPr>
        <p:txBody>
          <a:bodyPr wrap="square" anchor="t" lIns="0" rIns="0" tIns="0" bIns="0">
            <a:spAutoFit/>
          </a:bodyPr>
          <a:lstStyle/>
          <a:p>
            <a:pPr algn="l">
              <a:lnSpc>
                <a:spcPct val="118000"/>
              </a:lnSpc>
              <a:spcBef>
                <a:spcPts val="0"/>
              </a:spcBef>
              <a:spcAft>
                <a:spcPts val="1300"/>
              </a:spcAft>
            </a:pPr>
            <a:r>
              <a:rPr sz="2100" b="0" i="0">
                <a:solidFill>
                  <a:srgbClr val="1A1A1A"/>
                </a:solidFill>
                <a:latin typeface="Arial"/>
              </a:rPr>
              <a:t>The initial general sentiment tends to be slightly less bearish.</a:t>
            </a:r>
          </a:p>
          <a:p>
            <a:pPr algn="l">
              <a:lnSpc>
                <a:spcPct val="118000"/>
              </a:lnSpc>
              <a:spcBef>
                <a:spcPts val="0"/>
              </a:spcBef>
              <a:spcAft>
                <a:spcPts val="1300"/>
              </a:spcAft>
            </a:pPr>
            <a:r>
              <a:rPr sz="2100" b="0" i="0">
                <a:solidFill>
                  <a:srgbClr val="1A1A1A"/>
                </a:solidFill>
                <a:latin typeface="Arial"/>
              </a:rPr>
              <a:t>The public begins to participate as rising prices become obvious and more bullish news is reported.</a:t>
            </a:r>
          </a:p>
          <a:p>
            <a:pPr algn="l">
              <a:lnSpc>
                <a:spcPct val="118000"/>
              </a:lnSpc>
              <a:spcBef>
                <a:spcPts val="0"/>
              </a:spcBef>
              <a:spcAft>
                <a:spcPts val="1300"/>
              </a:spcAft>
            </a:pPr>
            <a:r>
              <a:rPr sz="2100" b="0" i="0">
                <a:solidFill>
                  <a:srgbClr val="1A1A1A"/>
                </a:solidFill>
                <a:latin typeface="Arial"/>
              </a:rPr>
              <a:t>At higher prices margin debt starts to increase as the public scrambles to invest.</a:t>
            </a:r>
          </a:p>
        </p:txBody>
      </p:sp>
      <p:sp>
        <p:nvSpPr>
          <p:cNvPr id="8" name="Rectangle 7"/>
          <p:cNvSpPr/>
          <p:nvPr/>
        </p:nvSpPr>
        <p:spPr>
          <a:xfrm>
            <a:off x="777240" y="4399026"/>
            <a:ext cx="82296" cy="788924"/>
          </a:xfrm>
          <a:prstGeom prst="rect">
            <a:avLst/>
          </a:prstGeom>
          <a:solidFill>
            <a:srgbClr val="F2A900"/>
          </a:solidFill>
          <a:ln>
            <a:noFill/>
          </a:ln>
          <a:effectLst/>
        </p:spPr>
        <p:txBody>
          <a:bodyPr rtlCol="0" anchor="ctr"/>
          <a:lstStyle/>
          <a:p>
            <a:pPr algn="ctr"/>
          </a:p>
        </p:txBody>
      </p:sp>
      <p:sp>
        <p:nvSpPr>
          <p:cNvPr id="9" name="TextBox 8"/>
          <p:cNvSpPr txBox="1"/>
          <p:nvPr/>
        </p:nvSpPr>
        <p:spPr>
          <a:xfrm>
            <a:off x="1069848" y="4435602"/>
            <a:ext cx="10344607" cy="788924"/>
          </a:xfrm>
          <a:prstGeom prst="rect">
            <a:avLst/>
          </a:prstGeom>
          <a:noFill/>
        </p:spPr>
        <p:txBody>
          <a:bodyPr wrap="square" anchor="t" lIns="0" rIns="0" tIns="0" bIns="0">
            <a:spAutoFit/>
          </a:bodyPr>
          <a:lstStyle/>
          <a:p>
            <a:pPr algn="l">
              <a:lnSpc>
                <a:spcPct val="115000"/>
              </a:lnSpc>
              <a:spcBef>
                <a:spcPts val="0"/>
              </a:spcBef>
              <a:spcAft>
                <a:spcPts val="0"/>
              </a:spcAft>
            </a:pPr>
            <a:r>
              <a:rPr sz="2200" b="1" i="0">
                <a:solidFill>
                  <a:srgbClr val="1A1A1A"/>
                </a:solidFill>
                <a:latin typeface="Arial"/>
              </a:rPr>
              <a:t>It lasts longer than the downtrend phase, because there is less capital and profit at risk at lower prices.</a:t>
            </a:r>
          </a:p>
        </p:txBody>
      </p:sp>
    </p:spTree>
  </p:cSld>
  <p:clrMapOvr>
    <a:masterClrMapping/>
  </p:clrMapOvr>
</p:sld>
</file>

<file path=ppt/slides/slide8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TextBox 3"/>
          <p:cNvSpPr txBox="1"/>
          <p:nvPr/>
        </p:nvSpPr>
        <p:spPr>
          <a:xfrm>
            <a:off x="777240" y="658368"/>
            <a:ext cx="10637215" cy="914400"/>
          </a:xfrm>
          <a:prstGeom prst="rect">
            <a:avLst/>
          </a:prstGeom>
          <a:noFill/>
        </p:spPr>
        <p:txBody>
          <a:bodyPr wrap="square" anchor="t" lIns="0" rIns="0" tIns="0" bIns="0">
            <a:spAutoFit/>
          </a:bodyPr>
          <a:lstStyle/>
          <a:p>
            <a:pPr algn="l">
              <a:lnSpc>
                <a:spcPct val="105000"/>
              </a:lnSpc>
              <a:spcBef>
                <a:spcPts val="0"/>
              </a:spcBef>
              <a:spcAft>
                <a:spcPts val="0"/>
              </a:spcAft>
            </a:pPr>
            <a:r>
              <a:rPr sz="3000" b="0" i="0">
                <a:solidFill>
                  <a:srgbClr val="007A33"/>
                </a:solidFill>
                <a:latin typeface="Palatino"/>
              </a:rPr>
              <a:t>The downtrend phase</a:t>
            </a:r>
          </a:p>
        </p:txBody>
      </p:sp>
      <p:sp>
        <p:nvSpPr>
          <p:cNvPr id="5" name="Rectangle 4"/>
          <p:cNvSpPr/>
          <p:nvPr/>
        </p:nvSpPr>
        <p:spPr>
          <a:xfrm>
            <a:off x="777240" y="1572768"/>
            <a:ext cx="10637215" cy="15875"/>
          </a:xfrm>
          <a:prstGeom prst="rect">
            <a:avLst/>
          </a:prstGeom>
          <a:solidFill>
            <a:srgbClr val="D7E0D9"/>
          </a:solidFill>
          <a:ln>
            <a:noFill/>
          </a:ln>
          <a:effectLst/>
        </p:spPr>
        <p:txBody>
          <a:bodyPr rtlCol="0" anchor="ctr"/>
          <a:lstStyle/>
          <a:p>
            <a:pPr algn="ctr"/>
          </a:p>
        </p:txBody>
      </p:sp>
      <p:sp>
        <p:nvSpPr>
          <p:cNvPr id="6" name="TextBox 5"/>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5 of 6 - Phases and reversal  |  6 of 22</a:t>
            </a:r>
          </a:p>
        </p:txBody>
      </p:sp>
      <p:sp>
        <p:nvSpPr>
          <p:cNvPr id="7" name="TextBox 6"/>
          <p:cNvSpPr txBox="1"/>
          <p:nvPr/>
        </p:nvSpPr>
        <p:spPr>
          <a:xfrm>
            <a:off x="777240" y="1965960"/>
            <a:ext cx="10637215" cy="3108960"/>
          </a:xfrm>
          <a:prstGeom prst="rect">
            <a:avLst/>
          </a:prstGeom>
          <a:noFill/>
        </p:spPr>
        <p:txBody>
          <a:bodyPr wrap="square" anchor="t" lIns="0" rIns="0" tIns="0" bIns="0">
            <a:spAutoFit/>
          </a:bodyPr>
          <a:lstStyle/>
          <a:p>
            <a:pPr algn="l">
              <a:lnSpc>
                <a:spcPct val="118000"/>
              </a:lnSpc>
              <a:spcBef>
                <a:spcPts val="0"/>
              </a:spcBef>
              <a:spcAft>
                <a:spcPts val="1300"/>
              </a:spcAft>
            </a:pPr>
            <a:r>
              <a:rPr sz="2100" b="0" i="0">
                <a:solidFill>
                  <a:srgbClr val="1A1A1A"/>
                </a:solidFill>
                <a:latin typeface="Arial"/>
              </a:rPr>
              <a:t>It normally accelerates as more companies report increasingly bearish news.</a:t>
            </a:r>
          </a:p>
          <a:p>
            <a:pPr algn="l">
              <a:lnSpc>
                <a:spcPct val="118000"/>
              </a:lnSpc>
              <a:spcBef>
                <a:spcPts val="0"/>
              </a:spcBef>
              <a:spcAft>
                <a:spcPts val="1300"/>
              </a:spcAft>
            </a:pPr>
            <a:r>
              <a:rPr sz="2100" b="0" i="0">
                <a:solidFill>
                  <a:srgbClr val="1A1A1A"/>
                </a:solidFill>
                <a:latin typeface="Arial"/>
              </a:rPr>
              <a:t>The uninformed begin to unload, and as prices fall unexpectedly the public liquidates.</a:t>
            </a:r>
          </a:p>
          <a:p>
            <a:pPr algn="l">
              <a:lnSpc>
                <a:spcPct val="118000"/>
              </a:lnSpc>
              <a:spcBef>
                <a:spcPts val="0"/>
              </a:spcBef>
              <a:spcAft>
                <a:spcPts val="1300"/>
              </a:spcAft>
            </a:pPr>
            <a:r>
              <a:rPr sz="2100" b="0" i="0">
                <a:solidFill>
                  <a:srgbClr val="1A1A1A"/>
                </a:solidFill>
                <a:latin typeface="Arial"/>
              </a:rPr>
              <a:t>Bearish sentiment intensifies as prices sink to new depths.</a:t>
            </a:r>
          </a:p>
        </p:txBody>
      </p:sp>
      <p:sp>
        <p:nvSpPr>
          <p:cNvPr id="8" name="Rectangle 7"/>
          <p:cNvSpPr/>
          <p:nvPr/>
        </p:nvSpPr>
        <p:spPr>
          <a:xfrm>
            <a:off x="777240" y="4084320"/>
            <a:ext cx="82296" cy="788924"/>
          </a:xfrm>
          <a:prstGeom prst="rect">
            <a:avLst/>
          </a:prstGeom>
          <a:solidFill>
            <a:srgbClr val="F2A900"/>
          </a:solidFill>
          <a:ln>
            <a:noFill/>
          </a:ln>
          <a:effectLst/>
        </p:spPr>
        <p:txBody>
          <a:bodyPr rtlCol="0" anchor="ctr"/>
          <a:lstStyle/>
          <a:p>
            <a:pPr algn="ctr"/>
          </a:p>
        </p:txBody>
      </p:sp>
      <p:sp>
        <p:nvSpPr>
          <p:cNvPr id="9" name="TextBox 8"/>
          <p:cNvSpPr txBox="1"/>
          <p:nvPr/>
        </p:nvSpPr>
        <p:spPr>
          <a:xfrm>
            <a:off x="1069848" y="4120896"/>
            <a:ext cx="10344607" cy="788924"/>
          </a:xfrm>
          <a:prstGeom prst="rect">
            <a:avLst/>
          </a:prstGeom>
          <a:noFill/>
        </p:spPr>
        <p:txBody>
          <a:bodyPr wrap="square" anchor="t" lIns="0" rIns="0" tIns="0" bIns="0">
            <a:spAutoFit/>
          </a:bodyPr>
          <a:lstStyle/>
          <a:p>
            <a:pPr algn="l">
              <a:lnSpc>
                <a:spcPct val="115000"/>
              </a:lnSpc>
              <a:spcBef>
                <a:spcPts val="0"/>
              </a:spcBef>
              <a:spcAft>
                <a:spcPts val="0"/>
              </a:spcAft>
            </a:pPr>
            <a:r>
              <a:rPr sz="2200" b="1" i="0">
                <a:solidFill>
                  <a:srgbClr val="1A1A1A"/>
                </a:solidFill>
                <a:latin typeface="Arial"/>
              </a:rPr>
              <a:t>It is shorter lived than the uptrend phase, because more capital and unrealized profit is at risk at higher prices.</a:t>
            </a:r>
          </a:p>
        </p:txBody>
      </p:sp>
    </p:spTree>
  </p:cSld>
  <p:clrMapOvr>
    <a:masterClrMapping/>
  </p:clrMapOvr>
</p:sld>
</file>

<file path=ppt/slides/slide8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Rectangle 3"/>
          <p:cNvSpPr/>
          <p:nvPr/>
        </p:nvSpPr>
        <p:spPr>
          <a:xfrm>
            <a:off x="777240" y="566928"/>
            <a:ext cx="1234440" cy="329184"/>
          </a:xfrm>
          <a:prstGeom prst="rect">
            <a:avLst/>
          </a:prstGeom>
          <a:solidFill>
            <a:srgbClr val="F2A900"/>
          </a:solidFill>
          <a:ln>
            <a:noFill/>
          </a:ln>
          <a:effectLst/>
        </p:spPr>
        <p:txBody>
          <a:bodyPr rtlCol="0" anchor="ctr" wrap="none" lIns="0" rIns="0" tIns="0" bIns="0"/>
          <a:lstStyle/>
          <a:p>
            <a:pPr algn="ctr">
              <a:lnSpc>
                <a:spcPct val="100000"/>
              </a:lnSpc>
              <a:spcBef>
                <a:spcPts val="0"/>
              </a:spcBef>
              <a:spcAft>
                <a:spcPts val="0"/>
              </a:spcAft>
            </a:pPr>
            <a:r>
              <a:rPr sz="1200" b="1" i="0">
                <a:solidFill>
                  <a:srgbClr val="1A1A1A"/>
                </a:solidFill>
                <a:latin typeface="Arial"/>
              </a:rPr>
              <a:t>NEW TERM</a:t>
            </a:r>
          </a:p>
        </p:txBody>
      </p:sp>
      <p:sp>
        <p:nvSpPr>
          <p:cNvPr id="5" name="TextBox 4"/>
          <p:cNvSpPr txBox="1"/>
          <p:nvPr/>
        </p:nvSpPr>
        <p:spPr>
          <a:xfrm>
            <a:off x="777240" y="1051560"/>
            <a:ext cx="10637215" cy="822960"/>
          </a:xfrm>
          <a:prstGeom prst="rect">
            <a:avLst/>
          </a:prstGeom>
          <a:noFill/>
        </p:spPr>
        <p:txBody>
          <a:bodyPr wrap="square" anchor="t" lIns="0" rIns="0" tIns="0" bIns="0">
            <a:spAutoFit/>
          </a:bodyPr>
          <a:lstStyle/>
          <a:p>
            <a:pPr algn="l">
              <a:lnSpc>
                <a:spcPct val="105000"/>
              </a:lnSpc>
              <a:spcBef>
                <a:spcPts val="0"/>
              </a:spcBef>
              <a:spcAft>
                <a:spcPts val="0"/>
              </a:spcAft>
            </a:pPr>
            <a:r>
              <a:rPr sz="3200" b="0" i="0">
                <a:solidFill>
                  <a:srgbClr val="007A33"/>
                </a:solidFill>
                <a:latin typeface="Palatino"/>
              </a:rPr>
              <a:t>Distribution phase</a:t>
            </a:r>
          </a:p>
        </p:txBody>
      </p:sp>
      <p:sp>
        <p:nvSpPr>
          <p:cNvPr id="6" name="Rectangle 5"/>
          <p:cNvSpPr/>
          <p:nvPr/>
        </p:nvSpPr>
        <p:spPr>
          <a:xfrm>
            <a:off x="777240" y="1874519"/>
            <a:ext cx="10637215" cy="15875"/>
          </a:xfrm>
          <a:prstGeom prst="rect">
            <a:avLst/>
          </a:prstGeom>
          <a:solidFill>
            <a:srgbClr val="D7E0D9"/>
          </a:solidFill>
          <a:ln>
            <a:noFill/>
          </a:ln>
          <a:effectLst/>
        </p:spPr>
        <p:txBody>
          <a:bodyPr rtlCol="0" anchor="ctr"/>
          <a:lstStyle/>
          <a:p>
            <a:pPr algn="ctr"/>
          </a:p>
        </p:txBody>
      </p:sp>
      <p:sp>
        <p:nvSpPr>
          <p:cNvPr id="7" name="Rectangle 6"/>
          <p:cNvSpPr/>
          <p:nvPr/>
        </p:nvSpPr>
        <p:spPr>
          <a:xfrm>
            <a:off x="777240" y="2258568"/>
            <a:ext cx="64008" cy="811022"/>
          </a:xfrm>
          <a:prstGeom prst="rect">
            <a:avLst/>
          </a:prstGeom>
          <a:solidFill>
            <a:srgbClr val="F2A900"/>
          </a:solidFill>
          <a:ln>
            <a:noFill/>
          </a:ln>
          <a:effectLst/>
        </p:spPr>
        <p:txBody>
          <a:bodyPr rtlCol="0" anchor="ctr"/>
          <a:lstStyle/>
          <a:p>
            <a:pPr algn="ctr"/>
          </a:p>
        </p:txBody>
      </p:sp>
      <p:sp>
        <p:nvSpPr>
          <p:cNvPr id="8" name="TextBox 7"/>
          <p:cNvSpPr txBox="1"/>
          <p:nvPr/>
        </p:nvSpPr>
        <p:spPr>
          <a:xfrm>
            <a:off x="1051560" y="2212848"/>
            <a:ext cx="10362895" cy="920750"/>
          </a:xfrm>
          <a:prstGeom prst="rect">
            <a:avLst/>
          </a:prstGeom>
          <a:noFill/>
        </p:spPr>
        <p:txBody>
          <a:bodyPr wrap="square" anchor="t" lIns="0" rIns="0" tIns="0" bIns="0">
            <a:spAutoFit/>
          </a:bodyPr>
          <a:lstStyle/>
          <a:p>
            <a:pPr algn="l">
              <a:lnSpc>
                <a:spcPct val="100000"/>
              </a:lnSpc>
              <a:spcBef>
                <a:spcPts val="0"/>
              </a:spcBef>
              <a:spcAft>
                <a:spcPts val="400"/>
              </a:spcAft>
            </a:pPr>
            <a:r>
              <a:rPr sz="1100" b="1" i="0">
                <a:solidFill>
                  <a:srgbClr val="818181"/>
                </a:solidFill>
                <a:latin typeface="Arial"/>
              </a:rPr>
              <a:t>IN PLAIN WORDS</a:t>
            </a:r>
          </a:p>
          <a:p>
            <a:pPr algn="l">
              <a:lnSpc>
                <a:spcPct val="115000"/>
              </a:lnSpc>
              <a:spcBef>
                <a:spcPts val="0"/>
              </a:spcBef>
              <a:spcAft>
                <a:spcPts val="0"/>
              </a:spcAft>
            </a:pPr>
            <a:r>
              <a:rPr sz="1900" b="1" i="0">
                <a:solidFill>
                  <a:srgbClr val="1A1A1A"/>
                </a:solidFill>
                <a:latin typeface="Arial"/>
              </a:rPr>
              <a:t>The noisy stretch at the top, where informed holders sell gradually to a crowd that is certain prices will keep rising.</a:t>
            </a:r>
          </a:p>
        </p:txBody>
      </p:sp>
      <p:sp>
        <p:nvSpPr>
          <p:cNvPr id="9" name="Rectangle 8"/>
          <p:cNvSpPr/>
          <p:nvPr/>
        </p:nvSpPr>
        <p:spPr>
          <a:xfrm>
            <a:off x="777240" y="3417061"/>
            <a:ext cx="64008" cy="811022"/>
          </a:xfrm>
          <a:prstGeom prst="rect">
            <a:avLst/>
          </a:prstGeom>
          <a:solidFill>
            <a:srgbClr val="D7E0D9"/>
          </a:solidFill>
          <a:ln>
            <a:noFill/>
          </a:ln>
          <a:effectLst/>
        </p:spPr>
        <p:txBody>
          <a:bodyPr rtlCol="0" anchor="ctr"/>
          <a:lstStyle/>
          <a:p>
            <a:pPr algn="ctr"/>
          </a:p>
        </p:txBody>
      </p:sp>
      <p:sp>
        <p:nvSpPr>
          <p:cNvPr id="10" name="TextBox 9"/>
          <p:cNvSpPr txBox="1"/>
          <p:nvPr/>
        </p:nvSpPr>
        <p:spPr>
          <a:xfrm>
            <a:off x="1051560" y="3371342"/>
            <a:ext cx="10362895" cy="920750"/>
          </a:xfrm>
          <a:prstGeom prst="rect">
            <a:avLst/>
          </a:prstGeom>
          <a:noFill/>
        </p:spPr>
        <p:txBody>
          <a:bodyPr wrap="square" anchor="t" lIns="0" rIns="0" tIns="0" bIns="0">
            <a:spAutoFit/>
          </a:bodyPr>
          <a:lstStyle/>
          <a:p>
            <a:pPr algn="l">
              <a:lnSpc>
                <a:spcPct val="100000"/>
              </a:lnSpc>
              <a:spcBef>
                <a:spcPts val="0"/>
              </a:spcBef>
              <a:spcAft>
                <a:spcPts val="400"/>
              </a:spcAft>
            </a:pPr>
            <a:r>
              <a:rPr sz="1100" b="1" i="0">
                <a:solidFill>
                  <a:srgbClr val="818181"/>
                </a:solidFill>
                <a:latin typeface="Arial"/>
              </a:rPr>
              <a:t>FOR EXAMPLE</a:t>
            </a:r>
          </a:p>
          <a:p>
            <a:pPr algn="l">
              <a:lnSpc>
                <a:spcPct val="115000"/>
              </a:lnSpc>
              <a:spcBef>
                <a:spcPts val="0"/>
              </a:spcBef>
              <a:spcAft>
                <a:spcPts val="0"/>
              </a:spcAft>
            </a:pPr>
            <a:r>
              <a:rPr sz="1900" b="0" i="0">
                <a:solidFill>
                  <a:srgbClr val="1A1A1A"/>
                </a:solidFill>
                <a:latin typeface="Arial"/>
              </a:rPr>
              <a:t>Everyone is buying the share at 178 pesos and the headlines are all positive. That is when the early buyers are selling to them.</a:t>
            </a:r>
          </a:p>
        </p:txBody>
      </p:sp>
      <p:sp>
        <p:nvSpPr>
          <p:cNvPr id="11" name="Rectangle 10"/>
          <p:cNvSpPr/>
          <p:nvPr/>
        </p:nvSpPr>
        <p:spPr>
          <a:xfrm>
            <a:off x="777240" y="4575556"/>
            <a:ext cx="64008" cy="1366012"/>
          </a:xfrm>
          <a:prstGeom prst="rect">
            <a:avLst/>
          </a:prstGeom>
          <a:solidFill>
            <a:srgbClr val="D7E0D9"/>
          </a:solidFill>
          <a:ln>
            <a:noFill/>
          </a:ln>
          <a:effectLst/>
        </p:spPr>
        <p:txBody>
          <a:bodyPr rtlCol="0" anchor="ctr"/>
          <a:lstStyle/>
          <a:p>
            <a:pPr algn="ctr"/>
          </a:p>
        </p:txBody>
      </p:sp>
      <p:sp>
        <p:nvSpPr>
          <p:cNvPr id="12" name="TextBox 11"/>
          <p:cNvSpPr txBox="1"/>
          <p:nvPr/>
        </p:nvSpPr>
        <p:spPr>
          <a:xfrm>
            <a:off x="1051560" y="4529836"/>
            <a:ext cx="10362895" cy="1475740"/>
          </a:xfrm>
          <a:prstGeom prst="rect">
            <a:avLst/>
          </a:prstGeom>
          <a:noFill/>
        </p:spPr>
        <p:txBody>
          <a:bodyPr wrap="square" anchor="t" lIns="0" rIns="0" tIns="0" bIns="0">
            <a:spAutoFit/>
          </a:bodyPr>
          <a:lstStyle/>
          <a:p>
            <a:pPr algn="l">
              <a:lnSpc>
                <a:spcPct val="100000"/>
              </a:lnSpc>
              <a:spcBef>
                <a:spcPts val="0"/>
              </a:spcBef>
              <a:spcAft>
                <a:spcPts val="400"/>
              </a:spcAft>
            </a:pPr>
            <a:r>
              <a:rPr sz="1100" b="1" i="0">
                <a:solidFill>
                  <a:srgbClr val="818181"/>
                </a:solidFill>
                <a:latin typeface="Arial"/>
              </a:rPr>
              <a:t>THE FORMAL DEFINITION</a:t>
            </a:r>
          </a:p>
          <a:p>
            <a:pPr algn="l">
              <a:lnSpc>
                <a:spcPct val="115000"/>
              </a:lnSpc>
              <a:spcBef>
                <a:spcPts val="0"/>
              </a:spcBef>
              <a:spcAft>
                <a:spcPts val="0"/>
              </a:spcAft>
            </a:pPr>
            <a:r>
              <a:rPr sz="1900" b="0" i="0">
                <a:solidFill>
                  <a:srgbClr val="1A1A1A"/>
                </a:solidFill>
                <a:latin typeface="Arial"/>
              </a:rPr>
              <a:t>Distribution normally occurs after a prolonged and rapid rise in prices. The uninformed tend to be extremely optimistic, buying whatever is available at any price, a state normally referred to as irrational exuberance. The smart investors liquidate gradually so as not to drive prices down too rapidly.</a:t>
            </a:r>
          </a:p>
        </p:txBody>
      </p:sp>
      <p:sp>
        <p:nvSpPr>
          <p:cNvPr id="13" name="TextBox 12"/>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5 of 6 - Phases and reversal  |  7 of 22</a:t>
            </a:r>
          </a:p>
        </p:txBody>
      </p:sp>
    </p:spTree>
  </p:cSld>
  <p:clrMapOvr>
    <a:masterClrMapping/>
  </p:clrMapOvr>
</p:sld>
</file>

<file path=ppt/slides/slide8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TextBox 3"/>
          <p:cNvSpPr txBox="1"/>
          <p:nvPr/>
        </p:nvSpPr>
        <p:spPr>
          <a:xfrm>
            <a:off x="777240" y="658368"/>
            <a:ext cx="10637215" cy="914400"/>
          </a:xfrm>
          <a:prstGeom prst="rect">
            <a:avLst/>
          </a:prstGeom>
          <a:noFill/>
        </p:spPr>
        <p:txBody>
          <a:bodyPr wrap="square" anchor="t" lIns="0" rIns="0" tIns="0" bIns="0">
            <a:spAutoFit/>
          </a:bodyPr>
          <a:lstStyle/>
          <a:p>
            <a:pPr algn="l">
              <a:lnSpc>
                <a:spcPct val="105000"/>
              </a:lnSpc>
              <a:spcBef>
                <a:spcPts val="0"/>
              </a:spcBef>
              <a:spcAft>
                <a:spcPts val="0"/>
              </a:spcAft>
            </a:pPr>
            <a:r>
              <a:rPr sz="3000" b="0" i="0">
                <a:solidFill>
                  <a:srgbClr val="007A33"/>
                </a:solidFill>
                <a:latin typeface="Palatino"/>
              </a:rPr>
              <a:t>Why accumulation lasts longer than distribution</a:t>
            </a:r>
          </a:p>
        </p:txBody>
      </p:sp>
      <p:sp>
        <p:nvSpPr>
          <p:cNvPr id="5" name="Rectangle 4"/>
          <p:cNvSpPr/>
          <p:nvPr/>
        </p:nvSpPr>
        <p:spPr>
          <a:xfrm>
            <a:off x="777240" y="1572768"/>
            <a:ext cx="10637215" cy="15875"/>
          </a:xfrm>
          <a:prstGeom prst="rect">
            <a:avLst/>
          </a:prstGeom>
          <a:solidFill>
            <a:srgbClr val="D7E0D9"/>
          </a:solidFill>
          <a:ln>
            <a:noFill/>
          </a:ln>
          <a:effectLst/>
        </p:spPr>
        <p:txBody>
          <a:bodyPr rtlCol="0" anchor="ctr"/>
          <a:lstStyle/>
          <a:p>
            <a:pPr algn="ctr"/>
          </a:p>
        </p:txBody>
      </p:sp>
      <p:sp>
        <p:nvSpPr>
          <p:cNvPr id="6" name="TextBox 5"/>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5 of 6 - Phases and reversal  |  8 of 22</a:t>
            </a:r>
          </a:p>
        </p:txBody>
      </p:sp>
      <p:sp>
        <p:nvSpPr>
          <p:cNvPr id="7" name="TextBox 6"/>
          <p:cNvSpPr txBox="1"/>
          <p:nvPr/>
        </p:nvSpPr>
        <p:spPr>
          <a:xfrm>
            <a:off x="777240" y="1965960"/>
            <a:ext cx="10637215" cy="3108960"/>
          </a:xfrm>
          <a:prstGeom prst="rect">
            <a:avLst/>
          </a:prstGeom>
          <a:noFill/>
        </p:spPr>
        <p:txBody>
          <a:bodyPr wrap="square" anchor="t" lIns="0" rIns="0" tIns="0" bIns="0">
            <a:spAutoFit/>
          </a:bodyPr>
          <a:lstStyle/>
          <a:p>
            <a:pPr algn="l">
              <a:lnSpc>
                <a:spcPct val="118000"/>
              </a:lnSpc>
              <a:spcBef>
                <a:spcPts val="0"/>
              </a:spcBef>
              <a:spcAft>
                <a:spcPts val="1300"/>
              </a:spcAft>
            </a:pPr>
            <a:r>
              <a:rPr sz="2100" b="0" i="0">
                <a:solidFill>
                  <a:srgbClr val="1A1A1A"/>
                </a:solidFill>
                <a:latin typeface="Arial"/>
              </a:rPr>
              <a:t>Accumulation happens at low prices, where less capital and less profit is at risk.</a:t>
            </a:r>
          </a:p>
          <a:p>
            <a:pPr algn="l">
              <a:lnSpc>
                <a:spcPct val="118000"/>
              </a:lnSpc>
              <a:spcBef>
                <a:spcPts val="0"/>
              </a:spcBef>
              <a:spcAft>
                <a:spcPts val="1300"/>
              </a:spcAft>
            </a:pPr>
            <a:r>
              <a:rPr sz="2100" b="0" i="0">
                <a:solidFill>
                  <a:srgbClr val="1A1A1A"/>
                </a:solidFill>
                <a:latin typeface="Arial"/>
              </a:rPr>
              <a:t>Distribution happens at the top, where much more capital and unrealized profit is at risk.</a:t>
            </a:r>
          </a:p>
          <a:p>
            <a:pPr algn="l">
              <a:lnSpc>
                <a:spcPct val="118000"/>
              </a:lnSpc>
              <a:spcBef>
                <a:spcPts val="0"/>
              </a:spcBef>
              <a:spcAft>
                <a:spcPts val="1300"/>
              </a:spcAft>
            </a:pPr>
            <a:r>
              <a:rPr sz="2100" b="0" i="0">
                <a:solidFill>
                  <a:srgbClr val="1A1A1A"/>
                </a:solidFill>
                <a:latin typeface="Arial"/>
              </a:rPr>
              <a:t>So there is more urgency to get out than there ever was to get in.</a:t>
            </a:r>
          </a:p>
        </p:txBody>
      </p:sp>
      <p:sp>
        <p:nvSpPr>
          <p:cNvPr id="8" name="Rectangle 7"/>
          <p:cNvSpPr/>
          <p:nvPr/>
        </p:nvSpPr>
        <p:spPr>
          <a:xfrm>
            <a:off x="777240" y="4399026"/>
            <a:ext cx="82296" cy="788924"/>
          </a:xfrm>
          <a:prstGeom prst="rect">
            <a:avLst/>
          </a:prstGeom>
          <a:solidFill>
            <a:srgbClr val="F2A900"/>
          </a:solidFill>
          <a:ln>
            <a:noFill/>
          </a:ln>
          <a:effectLst/>
        </p:spPr>
        <p:txBody>
          <a:bodyPr rtlCol="0" anchor="ctr"/>
          <a:lstStyle/>
          <a:p>
            <a:pPr algn="ctr"/>
          </a:p>
        </p:txBody>
      </p:sp>
      <p:sp>
        <p:nvSpPr>
          <p:cNvPr id="9" name="TextBox 8"/>
          <p:cNvSpPr txBox="1"/>
          <p:nvPr/>
        </p:nvSpPr>
        <p:spPr>
          <a:xfrm>
            <a:off x="1069848" y="4435602"/>
            <a:ext cx="10344607" cy="788924"/>
          </a:xfrm>
          <a:prstGeom prst="rect">
            <a:avLst/>
          </a:prstGeom>
          <a:noFill/>
        </p:spPr>
        <p:txBody>
          <a:bodyPr wrap="square" anchor="t" lIns="0" rIns="0" tIns="0" bIns="0">
            <a:spAutoFit/>
          </a:bodyPr>
          <a:lstStyle/>
          <a:p>
            <a:pPr algn="l">
              <a:lnSpc>
                <a:spcPct val="115000"/>
              </a:lnSpc>
              <a:spcBef>
                <a:spcPts val="0"/>
              </a:spcBef>
              <a:spcAft>
                <a:spcPts val="0"/>
              </a:spcAft>
            </a:pPr>
            <a:r>
              <a:rPr sz="2200" b="1" i="0">
                <a:solidFill>
                  <a:srgbClr val="1A1A1A"/>
                </a:solidFill>
                <a:latin typeface="Arial"/>
              </a:rPr>
              <a:t>The reason is risk at the price, not sentiment. That is the answer the paper wants.</a:t>
            </a:r>
          </a:p>
        </p:txBody>
      </p:sp>
    </p:spTree>
  </p:cSld>
  <p:clrMapOvr>
    <a:masterClrMapping/>
  </p:clrMapOvr>
</p:sld>
</file>

<file path=ppt/slides/slide8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TextBox 3"/>
          <p:cNvSpPr txBox="1"/>
          <p:nvPr/>
        </p:nvSpPr>
        <p:spPr>
          <a:xfrm>
            <a:off x="777240" y="658368"/>
            <a:ext cx="10637215" cy="914400"/>
          </a:xfrm>
          <a:prstGeom prst="rect">
            <a:avLst/>
          </a:prstGeom>
          <a:noFill/>
        </p:spPr>
        <p:txBody>
          <a:bodyPr wrap="square" anchor="t" lIns="0" rIns="0" tIns="0" bIns="0">
            <a:spAutoFit/>
          </a:bodyPr>
          <a:lstStyle/>
          <a:p>
            <a:pPr algn="l">
              <a:lnSpc>
                <a:spcPct val="105000"/>
              </a:lnSpc>
              <a:spcBef>
                <a:spcPts val="0"/>
              </a:spcBef>
              <a:spcAft>
                <a:spcPts val="0"/>
              </a:spcAft>
            </a:pPr>
            <a:r>
              <a:rPr sz="3000" b="0" i="0">
                <a:solidFill>
                  <a:srgbClr val="007A33"/>
                </a:solidFill>
                <a:latin typeface="Palatino"/>
              </a:rPr>
              <a:t>The three phases, and their relative lengths</a:t>
            </a:r>
          </a:p>
        </p:txBody>
      </p:sp>
      <p:sp>
        <p:nvSpPr>
          <p:cNvPr id="5" name="Rectangle 4"/>
          <p:cNvSpPr/>
          <p:nvPr/>
        </p:nvSpPr>
        <p:spPr>
          <a:xfrm>
            <a:off x="777240" y="1572768"/>
            <a:ext cx="10637215" cy="15875"/>
          </a:xfrm>
          <a:prstGeom prst="rect">
            <a:avLst/>
          </a:prstGeom>
          <a:solidFill>
            <a:srgbClr val="D7E0D9"/>
          </a:solidFill>
          <a:ln>
            <a:noFill/>
          </a:ln>
          <a:effectLst/>
        </p:spPr>
        <p:txBody>
          <a:bodyPr rtlCol="0" anchor="ctr"/>
          <a:lstStyle/>
          <a:p>
            <a:pPr algn="ctr"/>
          </a:p>
        </p:txBody>
      </p:sp>
      <p:sp>
        <p:nvSpPr>
          <p:cNvPr id="6" name="TextBox 5"/>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5 of 6 - Phases and reversal  |  9 of 22</a:t>
            </a:r>
          </a:p>
        </p:txBody>
      </p:sp>
      <p:sp>
        <p:nvSpPr>
          <p:cNvPr id="7" name="Rectangle 6"/>
          <p:cNvSpPr/>
          <p:nvPr/>
        </p:nvSpPr>
        <p:spPr>
          <a:xfrm>
            <a:off x="778611" y="1810512"/>
            <a:ext cx="10634472" cy="3749039"/>
          </a:xfrm>
          <a:prstGeom prst="rect">
            <a:avLst/>
          </a:prstGeom>
          <a:solidFill>
            <a:srgbClr val="FFFFFF"/>
          </a:solidFill>
          <a:ln w="12700">
            <a:solidFill>
              <a:srgbClr val="D7E0D9"/>
            </a:solidFill>
          </a:ln>
          <a:effectLst/>
        </p:spPr>
        <p:txBody>
          <a:bodyPr rtlCol="0" anchor="ctr"/>
          <a:lstStyle/>
          <a:p>
            <a:pPr algn="ctr"/>
          </a:p>
        </p:txBody>
      </p:sp>
      <p:pic>
        <p:nvPicPr>
          <p:cNvPr id="8" name="Picture 7" descr="chart-f.png"/>
          <p:cNvPicPr>
            <a:picLocks noChangeAspect="1"/>
          </p:cNvPicPr>
          <p:nvPr/>
        </p:nvPicPr>
        <p:blipFill>
          <a:blip r:embed="rId2"/>
          <a:stretch>
            <a:fillRect/>
          </a:stretch>
        </p:blipFill>
        <p:spPr>
          <a:xfrm>
            <a:off x="897483" y="1929384"/>
            <a:ext cx="10396728" cy="3511296"/>
          </a:xfrm>
          <a:prstGeom prst="rect">
            <a:avLst/>
          </a:prstGeom>
        </p:spPr>
      </p:pic>
      <p:sp>
        <p:nvSpPr>
          <p:cNvPr id="9" name="TextBox 8"/>
          <p:cNvSpPr txBox="1"/>
          <p:nvPr/>
        </p:nvSpPr>
        <p:spPr>
          <a:xfrm>
            <a:off x="777240" y="5669280"/>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300" b="0" i="0">
                <a:solidFill>
                  <a:srgbClr val="818181"/>
                </a:solidFill>
                <a:latin typeface="Arial"/>
              </a:rPr>
              <a:t>Chart F - FIN1209 teaching chart, drawn for this course. Illustrative data, not a real instrument.</a:t>
            </a:r>
          </a:p>
        </p:txBody>
      </p:sp>
    </p:spTree>
  </p:cSld>
  <p:clrMapOvr>
    <a:masterClrMapping/>
  </p:clrMapOvr>
</p:sld>
</file>

<file path=ppt/slides/slide8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TextBox 3"/>
          <p:cNvSpPr txBox="1"/>
          <p:nvPr/>
        </p:nvSpPr>
        <p:spPr>
          <a:xfrm>
            <a:off x="777240" y="658368"/>
            <a:ext cx="10637215" cy="914400"/>
          </a:xfrm>
          <a:prstGeom prst="rect">
            <a:avLst/>
          </a:prstGeom>
          <a:noFill/>
        </p:spPr>
        <p:txBody>
          <a:bodyPr wrap="square" anchor="t" lIns="0" rIns="0" tIns="0" bIns="0">
            <a:spAutoFit/>
          </a:bodyPr>
          <a:lstStyle/>
          <a:p>
            <a:pPr algn="l">
              <a:lnSpc>
                <a:spcPct val="105000"/>
              </a:lnSpc>
              <a:spcBef>
                <a:spcPts val="0"/>
              </a:spcBef>
              <a:spcAft>
                <a:spcPts val="0"/>
              </a:spcAft>
            </a:pPr>
            <a:r>
              <a:rPr sz="3000" b="0" i="0">
                <a:solidFill>
                  <a:srgbClr val="007A33"/>
                </a:solidFill>
                <a:latin typeface="Palatino"/>
              </a:rPr>
              <a:t>The idealized three phases</a:t>
            </a:r>
          </a:p>
        </p:txBody>
      </p:sp>
      <p:sp>
        <p:nvSpPr>
          <p:cNvPr id="5" name="Rectangle 4"/>
          <p:cNvSpPr/>
          <p:nvPr/>
        </p:nvSpPr>
        <p:spPr>
          <a:xfrm>
            <a:off x="777240" y="1572768"/>
            <a:ext cx="10637215" cy="15875"/>
          </a:xfrm>
          <a:prstGeom prst="rect">
            <a:avLst/>
          </a:prstGeom>
          <a:solidFill>
            <a:srgbClr val="D7E0D9"/>
          </a:solidFill>
          <a:ln>
            <a:noFill/>
          </a:ln>
          <a:effectLst/>
        </p:spPr>
        <p:txBody>
          <a:bodyPr rtlCol="0" anchor="ctr"/>
          <a:lstStyle/>
          <a:p>
            <a:pPr algn="ctr"/>
          </a:p>
        </p:txBody>
      </p:sp>
      <p:sp>
        <p:nvSpPr>
          <p:cNvPr id="6" name="TextBox 5"/>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5 of 6 - Phases and reversal  |  10 of 22</a:t>
            </a:r>
          </a:p>
        </p:txBody>
      </p:sp>
      <p:sp>
        <p:nvSpPr>
          <p:cNvPr id="7" name="Rectangle 6"/>
          <p:cNvSpPr/>
          <p:nvPr/>
        </p:nvSpPr>
        <p:spPr>
          <a:xfrm>
            <a:off x="2346807" y="1810512"/>
            <a:ext cx="7498079" cy="3749039"/>
          </a:xfrm>
          <a:prstGeom prst="rect">
            <a:avLst/>
          </a:prstGeom>
          <a:solidFill>
            <a:srgbClr val="FFFFFF"/>
          </a:solidFill>
          <a:ln w="12700">
            <a:solidFill>
              <a:srgbClr val="D7E0D9"/>
            </a:solidFill>
          </a:ln>
          <a:effectLst/>
        </p:spPr>
        <p:txBody>
          <a:bodyPr rtlCol="0" anchor="ctr"/>
          <a:lstStyle/>
          <a:p>
            <a:pPr algn="ctr"/>
          </a:p>
        </p:txBody>
      </p:sp>
      <p:sp>
        <p:nvSpPr>
          <p:cNvPr id="8" name="Rectangle 7"/>
          <p:cNvSpPr/>
          <p:nvPr/>
        </p:nvSpPr>
        <p:spPr>
          <a:xfrm>
            <a:off x="2346807" y="1810512"/>
            <a:ext cx="7498079" cy="50800"/>
          </a:xfrm>
          <a:prstGeom prst="rect">
            <a:avLst/>
          </a:prstGeom>
          <a:solidFill>
            <a:srgbClr val="F2A900"/>
          </a:solidFill>
          <a:ln>
            <a:noFill/>
          </a:ln>
          <a:effectLst/>
        </p:spPr>
        <p:txBody>
          <a:bodyPr rtlCol="0" anchor="ctr"/>
          <a:lstStyle/>
          <a:p>
            <a:pPr algn="ctr"/>
          </a:p>
        </p:txBody>
      </p:sp>
      <p:sp>
        <p:nvSpPr>
          <p:cNvPr id="9" name="TextBox 8"/>
          <p:cNvSpPr txBox="1"/>
          <p:nvPr/>
        </p:nvSpPr>
        <p:spPr>
          <a:xfrm>
            <a:off x="2895447" y="2450591"/>
            <a:ext cx="6400799" cy="2651759"/>
          </a:xfrm>
          <a:prstGeom prst="rect">
            <a:avLst/>
          </a:prstGeom>
          <a:noFill/>
        </p:spPr>
        <p:txBody>
          <a:bodyPr wrap="square" anchor="t" lIns="0" rIns="0" tIns="0" bIns="0">
            <a:spAutoFit/>
          </a:bodyPr>
          <a:lstStyle/>
          <a:p>
            <a:pPr algn="l">
              <a:lnSpc>
                <a:spcPct val="100000"/>
              </a:lnSpc>
              <a:spcBef>
                <a:spcPts val="0"/>
              </a:spcBef>
              <a:spcAft>
                <a:spcPts val="1400"/>
              </a:spcAft>
            </a:pPr>
            <a:r>
              <a:rPr sz="1500" b="1" i="0">
                <a:solidFill>
                  <a:srgbClr val="818181"/>
                </a:solidFill>
                <a:latin typeface="Arial"/>
              </a:rPr>
              <a:t>FIGURE 2.15</a:t>
            </a:r>
          </a:p>
          <a:p>
            <a:pPr algn="l">
              <a:lnSpc>
                <a:spcPct val="120000"/>
              </a:lnSpc>
              <a:spcBef>
                <a:spcPts val="0"/>
              </a:spcBef>
              <a:spcAft>
                <a:spcPts val="1800"/>
              </a:spcAft>
            </a:pPr>
            <a:r>
              <a:rPr sz="2200" b="0" i="0">
                <a:solidFill>
                  <a:srgbClr val="1A1A1A"/>
                </a:solidFill>
                <a:latin typeface="Palatino"/>
              </a:rPr>
              <a:t>A schematic primary bull trend with accumulation at the base, the trending stretch rising out of it, and distribution across the top.</a:t>
            </a:r>
          </a:p>
          <a:p>
            <a:pPr algn="l">
              <a:lnSpc>
                <a:spcPct val="115000"/>
              </a:lnSpc>
              <a:spcBef>
                <a:spcPts val="0"/>
              </a:spcBef>
              <a:spcAft>
                <a:spcPts val="0"/>
              </a:spcAft>
            </a:pPr>
            <a:r>
              <a:rPr sz="1400" b="0" i="1">
                <a:solidFill>
                  <a:srgbClr val="818181"/>
                </a:solidFill>
                <a:latin typeface="Arial"/>
              </a:rPr>
              <a:t>The artwork is copyrighted and is not in the public repository. Build with assets/figures/ present to place it here.</a:t>
            </a:r>
          </a:p>
        </p:txBody>
      </p:sp>
      <p:sp>
        <p:nvSpPr>
          <p:cNvPr id="10" name="TextBox 9"/>
          <p:cNvSpPr txBox="1"/>
          <p:nvPr/>
        </p:nvSpPr>
        <p:spPr>
          <a:xfrm>
            <a:off x="777240" y="5669280"/>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300" b="0" i="0">
                <a:solidFill>
                  <a:srgbClr val="818181"/>
                </a:solidFill>
                <a:latin typeface="Arial"/>
              </a:rPr>
              <a:t>Figure 2.15 - Lim, The Handbook of Technical Analysis (Wiley, 2016)</a:t>
            </a:r>
          </a:p>
        </p:txBody>
      </p:sp>
    </p:spTree>
  </p:cSld>
  <p:clrMapOvr>
    <a:masterClrMapping/>
  </p:clrMapOvr>
</p:sld>
</file>

<file path=ppt/slides/slide8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TextBox 3"/>
          <p:cNvSpPr txBox="1"/>
          <p:nvPr/>
        </p:nvSpPr>
        <p:spPr>
          <a:xfrm>
            <a:off x="777240" y="658368"/>
            <a:ext cx="10637215" cy="914400"/>
          </a:xfrm>
          <a:prstGeom prst="rect">
            <a:avLst/>
          </a:prstGeom>
          <a:noFill/>
        </p:spPr>
        <p:txBody>
          <a:bodyPr wrap="square" anchor="t" lIns="0" rIns="0" tIns="0" bIns="0">
            <a:spAutoFit/>
          </a:bodyPr>
          <a:lstStyle/>
          <a:p>
            <a:pPr algn="l">
              <a:lnSpc>
                <a:spcPct val="105000"/>
              </a:lnSpc>
              <a:spcBef>
                <a:spcPts val="0"/>
              </a:spcBef>
              <a:spcAft>
                <a:spcPts val="0"/>
              </a:spcAft>
            </a:pPr>
            <a:r>
              <a:rPr sz="3000" b="0" i="0">
                <a:solidFill>
                  <a:srgbClr val="007A33"/>
                </a:solidFill>
                <a:latin typeface="Palatino"/>
              </a:rPr>
              <a:t>The same three phases on a real chart</a:t>
            </a:r>
          </a:p>
        </p:txBody>
      </p:sp>
      <p:sp>
        <p:nvSpPr>
          <p:cNvPr id="5" name="Rectangle 4"/>
          <p:cNvSpPr/>
          <p:nvPr/>
        </p:nvSpPr>
        <p:spPr>
          <a:xfrm>
            <a:off x="777240" y="1572768"/>
            <a:ext cx="10637215" cy="15875"/>
          </a:xfrm>
          <a:prstGeom prst="rect">
            <a:avLst/>
          </a:prstGeom>
          <a:solidFill>
            <a:srgbClr val="D7E0D9"/>
          </a:solidFill>
          <a:ln>
            <a:noFill/>
          </a:ln>
          <a:effectLst/>
        </p:spPr>
        <p:txBody>
          <a:bodyPr rtlCol="0" anchor="ctr"/>
          <a:lstStyle/>
          <a:p>
            <a:pPr algn="ctr"/>
          </a:p>
        </p:txBody>
      </p:sp>
      <p:sp>
        <p:nvSpPr>
          <p:cNvPr id="6" name="TextBox 5"/>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5 of 6 - Phases and reversal  |  11 of 22</a:t>
            </a:r>
          </a:p>
        </p:txBody>
      </p:sp>
      <p:sp>
        <p:nvSpPr>
          <p:cNvPr id="7" name="Rectangle 6"/>
          <p:cNvSpPr/>
          <p:nvPr/>
        </p:nvSpPr>
        <p:spPr>
          <a:xfrm>
            <a:off x="2346807" y="1810512"/>
            <a:ext cx="7498079" cy="3749039"/>
          </a:xfrm>
          <a:prstGeom prst="rect">
            <a:avLst/>
          </a:prstGeom>
          <a:solidFill>
            <a:srgbClr val="FFFFFF"/>
          </a:solidFill>
          <a:ln w="12700">
            <a:solidFill>
              <a:srgbClr val="D7E0D9"/>
            </a:solidFill>
          </a:ln>
          <a:effectLst/>
        </p:spPr>
        <p:txBody>
          <a:bodyPr rtlCol="0" anchor="ctr"/>
          <a:lstStyle/>
          <a:p>
            <a:pPr algn="ctr"/>
          </a:p>
        </p:txBody>
      </p:sp>
      <p:sp>
        <p:nvSpPr>
          <p:cNvPr id="8" name="Rectangle 7"/>
          <p:cNvSpPr/>
          <p:nvPr/>
        </p:nvSpPr>
        <p:spPr>
          <a:xfrm>
            <a:off x="2346807" y="1810512"/>
            <a:ext cx="7498079" cy="50800"/>
          </a:xfrm>
          <a:prstGeom prst="rect">
            <a:avLst/>
          </a:prstGeom>
          <a:solidFill>
            <a:srgbClr val="F2A900"/>
          </a:solidFill>
          <a:ln>
            <a:noFill/>
          </a:ln>
          <a:effectLst/>
        </p:spPr>
        <p:txBody>
          <a:bodyPr rtlCol="0" anchor="ctr"/>
          <a:lstStyle/>
          <a:p>
            <a:pPr algn="ctr"/>
          </a:p>
        </p:txBody>
      </p:sp>
      <p:sp>
        <p:nvSpPr>
          <p:cNvPr id="9" name="TextBox 8"/>
          <p:cNvSpPr txBox="1"/>
          <p:nvPr/>
        </p:nvSpPr>
        <p:spPr>
          <a:xfrm>
            <a:off x="2895447" y="2450591"/>
            <a:ext cx="6400799" cy="2651759"/>
          </a:xfrm>
          <a:prstGeom prst="rect">
            <a:avLst/>
          </a:prstGeom>
          <a:noFill/>
        </p:spPr>
        <p:txBody>
          <a:bodyPr wrap="square" anchor="t" lIns="0" rIns="0" tIns="0" bIns="0">
            <a:spAutoFit/>
          </a:bodyPr>
          <a:lstStyle/>
          <a:p>
            <a:pPr algn="l">
              <a:lnSpc>
                <a:spcPct val="100000"/>
              </a:lnSpc>
              <a:spcBef>
                <a:spcPts val="0"/>
              </a:spcBef>
              <a:spcAft>
                <a:spcPts val="1400"/>
              </a:spcAft>
            </a:pPr>
            <a:r>
              <a:rPr sz="1500" b="1" i="0">
                <a:solidFill>
                  <a:srgbClr val="818181"/>
                </a:solidFill>
                <a:latin typeface="Arial"/>
              </a:rPr>
              <a:t>FIGURE 2.16</a:t>
            </a:r>
          </a:p>
          <a:p>
            <a:pPr algn="l">
              <a:lnSpc>
                <a:spcPct val="120000"/>
              </a:lnSpc>
              <a:spcBef>
                <a:spcPts val="0"/>
              </a:spcBef>
              <a:spcAft>
                <a:spcPts val="1800"/>
              </a:spcAft>
            </a:pPr>
            <a:r>
              <a:rPr sz="2200" b="0" i="0">
                <a:solidFill>
                  <a:srgbClr val="1A1A1A"/>
                </a:solidFill>
                <a:latin typeface="Palatino"/>
              </a:rPr>
              <a:t>A real market example of the three phases of a primary bull trend, with a strong breakout out of the accumulation phase and stronger breakouts marked out of the wider distribution.</a:t>
            </a:r>
          </a:p>
          <a:p>
            <a:pPr algn="l">
              <a:lnSpc>
                <a:spcPct val="115000"/>
              </a:lnSpc>
              <a:spcBef>
                <a:spcPts val="0"/>
              </a:spcBef>
              <a:spcAft>
                <a:spcPts val="0"/>
              </a:spcAft>
            </a:pPr>
            <a:r>
              <a:rPr sz="1400" b="0" i="1">
                <a:solidFill>
                  <a:srgbClr val="818181"/>
                </a:solidFill>
                <a:latin typeface="Arial"/>
              </a:rPr>
              <a:t>The artwork is copyrighted and is not in the public repository. Build with assets/figures/ present to place it here.</a:t>
            </a:r>
          </a:p>
        </p:txBody>
      </p:sp>
      <p:sp>
        <p:nvSpPr>
          <p:cNvPr id="10" name="TextBox 9"/>
          <p:cNvSpPr txBox="1"/>
          <p:nvPr/>
        </p:nvSpPr>
        <p:spPr>
          <a:xfrm>
            <a:off x="777240" y="5669280"/>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300" b="0" i="0">
                <a:solidFill>
                  <a:srgbClr val="818181"/>
                </a:solidFill>
                <a:latin typeface="Arial"/>
              </a:rPr>
              <a:t>Figure 2.16 - Lim, The Handbook of Technical Analysis (Wiley, 2016)</a:t>
            </a:r>
          </a:p>
        </p:txBody>
      </p:sp>
    </p:spTree>
  </p:cSld>
  <p:clrMapOvr>
    <a:masterClrMapping/>
  </p:clrMapOvr>
</p:sld>
</file>

<file path=ppt/slides/slide9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TextBox 3"/>
          <p:cNvSpPr txBox="1"/>
          <p:nvPr/>
        </p:nvSpPr>
        <p:spPr>
          <a:xfrm>
            <a:off x="777240" y="658368"/>
            <a:ext cx="10637215" cy="914400"/>
          </a:xfrm>
          <a:prstGeom prst="rect">
            <a:avLst/>
          </a:prstGeom>
          <a:noFill/>
        </p:spPr>
        <p:txBody>
          <a:bodyPr wrap="square" anchor="t" lIns="0" rIns="0" tIns="0" bIns="0">
            <a:spAutoFit/>
          </a:bodyPr>
          <a:lstStyle/>
          <a:p>
            <a:pPr algn="l">
              <a:lnSpc>
                <a:spcPct val="105000"/>
              </a:lnSpc>
              <a:spcBef>
                <a:spcPts val="0"/>
              </a:spcBef>
              <a:spcAft>
                <a:spcPts val="0"/>
              </a:spcAft>
            </a:pPr>
            <a:r>
              <a:rPr sz="3000" b="0" i="0">
                <a:solidFill>
                  <a:srgbClr val="007A33"/>
                </a:solidFill>
                <a:latin typeface="Palatino"/>
              </a:rPr>
              <a:t>The longer the base, the bigger the move out of it</a:t>
            </a:r>
          </a:p>
        </p:txBody>
      </p:sp>
      <p:sp>
        <p:nvSpPr>
          <p:cNvPr id="5" name="Rectangle 4"/>
          <p:cNvSpPr/>
          <p:nvPr/>
        </p:nvSpPr>
        <p:spPr>
          <a:xfrm>
            <a:off x="777240" y="1572768"/>
            <a:ext cx="10637215" cy="15875"/>
          </a:xfrm>
          <a:prstGeom prst="rect">
            <a:avLst/>
          </a:prstGeom>
          <a:solidFill>
            <a:srgbClr val="D7E0D9"/>
          </a:solidFill>
          <a:ln>
            <a:noFill/>
          </a:ln>
          <a:effectLst/>
        </p:spPr>
        <p:txBody>
          <a:bodyPr rtlCol="0" anchor="ctr"/>
          <a:lstStyle/>
          <a:p>
            <a:pPr algn="ctr"/>
          </a:p>
        </p:txBody>
      </p:sp>
      <p:sp>
        <p:nvSpPr>
          <p:cNvPr id="6" name="TextBox 5"/>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5 of 6 - Phases and reversal  |  12 of 22</a:t>
            </a:r>
          </a:p>
        </p:txBody>
      </p:sp>
      <p:sp>
        <p:nvSpPr>
          <p:cNvPr id="7" name="TextBox 6"/>
          <p:cNvSpPr txBox="1"/>
          <p:nvPr/>
        </p:nvSpPr>
        <p:spPr>
          <a:xfrm>
            <a:off x="777240" y="1965960"/>
            <a:ext cx="10637215" cy="3108960"/>
          </a:xfrm>
          <a:prstGeom prst="rect">
            <a:avLst/>
          </a:prstGeom>
          <a:noFill/>
        </p:spPr>
        <p:txBody>
          <a:bodyPr wrap="square" anchor="t" lIns="0" rIns="0" tIns="0" bIns="0">
            <a:spAutoFit/>
          </a:bodyPr>
          <a:lstStyle/>
          <a:p>
            <a:pPr algn="l">
              <a:lnSpc>
                <a:spcPct val="118000"/>
              </a:lnSpc>
              <a:spcBef>
                <a:spcPts val="0"/>
              </a:spcBef>
              <a:spcAft>
                <a:spcPts val="1300"/>
              </a:spcAft>
            </a:pPr>
            <a:r>
              <a:rPr sz="2100" b="0" i="0">
                <a:solidFill>
                  <a:srgbClr val="1A1A1A"/>
                </a:solidFill>
                <a:latin typeface="Arial"/>
              </a:rPr>
              <a:t>The longer the accumulation or the distribution lasts, the greater its subsequent breakout move will be.</a:t>
            </a:r>
          </a:p>
        </p:txBody>
      </p:sp>
      <p:sp>
        <p:nvSpPr>
          <p:cNvPr id="8" name="Rectangle 7"/>
          <p:cNvSpPr/>
          <p:nvPr/>
        </p:nvSpPr>
        <p:spPr>
          <a:xfrm>
            <a:off x="777240" y="3089147"/>
            <a:ext cx="82296" cy="467614"/>
          </a:xfrm>
          <a:prstGeom prst="rect">
            <a:avLst/>
          </a:prstGeom>
          <a:solidFill>
            <a:srgbClr val="F2A900"/>
          </a:solidFill>
          <a:ln>
            <a:noFill/>
          </a:ln>
          <a:effectLst/>
        </p:spPr>
        <p:txBody>
          <a:bodyPr rtlCol="0" anchor="ctr"/>
          <a:lstStyle/>
          <a:p>
            <a:pPr algn="ctr"/>
          </a:p>
        </p:txBody>
      </p:sp>
      <p:sp>
        <p:nvSpPr>
          <p:cNvPr id="9" name="TextBox 8"/>
          <p:cNvSpPr txBox="1"/>
          <p:nvPr/>
        </p:nvSpPr>
        <p:spPr>
          <a:xfrm>
            <a:off x="1069848" y="3125723"/>
            <a:ext cx="10344607" cy="467614"/>
          </a:xfrm>
          <a:prstGeom prst="rect">
            <a:avLst/>
          </a:prstGeom>
          <a:noFill/>
        </p:spPr>
        <p:txBody>
          <a:bodyPr wrap="square" anchor="t" lIns="0" rIns="0" tIns="0" bIns="0">
            <a:spAutoFit/>
          </a:bodyPr>
          <a:lstStyle/>
          <a:p>
            <a:pPr algn="l">
              <a:lnSpc>
                <a:spcPct val="115000"/>
              </a:lnSpc>
              <a:spcBef>
                <a:spcPts val="0"/>
              </a:spcBef>
              <a:spcAft>
                <a:spcPts val="0"/>
              </a:spcAft>
            </a:pPr>
            <a:r>
              <a:rPr sz="2200" b="1" i="0">
                <a:solidFill>
                  <a:srgbClr val="1A1A1A"/>
                </a:solidFill>
                <a:latin typeface="Arial"/>
              </a:rPr>
              <a:t>A year of going nowhere is not nothing happening. It is the setup.</a:t>
            </a:r>
          </a:p>
        </p:txBody>
      </p:sp>
    </p:spTree>
  </p:cSld>
  <p:clrMapOvr>
    <a:masterClrMapping/>
  </p:clrMapOvr>
</p:sld>
</file>

<file path=ppt/slides/slide9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Rectangle 3"/>
          <p:cNvSpPr/>
          <p:nvPr/>
        </p:nvSpPr>
        <p:spPr>
          <a:xfrm>
            <a:off x="777240" y="566928"/>
            <a:ext cx="1234440" cy="329184"/>
          </a:xfrm>
          <a:prstGeom prst="rect">
            <a:avLst/>
          </a:prstGeom>
          <a:solidFill>
            <a:srgbClr val="F2A900"/>
          </a:solidFill>
          <a:ln>
            <a:noFill/>
          </a:ln>
          <a:effectLst/>
        </p:spPr>
        <p:txBody>
          <a:bodyPr rtlCol="0" anchor="ctr" wrap="none" lIns="0" rIns="0" tIns="0" bIns="0"/>
          <a:lstStyle/>
          <a:p>
            <a:pPr algn="ctr">
              <a:lnSpc>
                <a:spcPct val="100000"/>
              </a:lnSpc>
              <a:spcBef>
                <a:spcPts val="0"/>
              </a:spcBef>
              <a:spcAft>
                <a:spcPts val="0"/>
              </a:spcAft>
            </a:pPr>
            <a:r>
              <a:rPr sz="1200" b="1" i="0">
                <a:solidFill>
                  <a:srgbClr val="1A1A1A"/>
                </a:solidFill>
                <a:latin typeface="Arial"/>
              </a:rPr>
              <a:t>NEW TERM</a:t>
            </a:r>
          </a:p>
        </p:txBody>
      </p:sp>
      <p:sp>
        <p:nvSpPr>
          <p:cNvPr id="5" name="TextBox 4"/>
          <p:cNvSpPr txBox="1"/>
          <p:nvPr/>
        </p:nvSpPr>
        <p:spPr>
          <a:xfrm>
            <a:off x="777240" y="1051560"/>
            <a:ext cx="10637215" cy="822960"/>
          </a:xfrm>
          <a:prstGeom prst="rect">
            <a:avLst/>
          </a:prstGeom>
          <a:noFill/>
        </p:spPr>
        <p:txBody>
          <a:bodyPr wrap="square" anchor="t" lIns="0" rIns="0" tIns="0" bIns="0">
            <a:spAutoFit/>
          </a:bodyPr>
          <a:lstStyle/>
          <a:p>
            <a:pPr algn="l">
              <a:lnSpc>
                <a:spcPct val="105000"/>
              </a:lnSpc>
              <a:spcBef>
                <a:spcPts val="0"/>
              </a:spcBef>
              <a:spcAft>
                <a:spcPts val="0"/>
              </a:spcAft>
            </a:pPr>
            <a:r>
              <a:rPr sz="3200" b="0" i="0">
                <a:solidFill>
                  <a:srgbClr val="007A33"/>
                </a:solidFill>
                <a:latin typeface="Palatino"/>
              </a:rPr>
              <a:t>A trend persists until its reversal is indicated</a:t>
            </a:r>
          </a:p>
        </p:txBody>
      </p:sp>
      <p:sp>
        <p:nvSpPr>
          <p:cNvPr id="6" name="Rectangle 5"/>
          <p:cNvSpPr/>
          <p:nvPr/>
        </p:nvSpPr>
        <p:spPr>
          <a:xfrm>
            <a:off x="777240" y="1874519"/>
            <a:ext cx="10637215" cy="15875"/>
          </a:xfrm>
          <a:prstGeom prst="rect">
            <a:avLst/>
          </a:prstGeom>
          <a:solidFill>
            <a:srgbClr val="D7E0D9"/>
          </a:solidFill>
          <a:ln>
            <a:noFill/>
          </a:ln>
          <a:effectLst/>
        </p:spPr>
        <p:txBody>
          <a:bodyPr rtlCol="0" anchor="ctr"/>
          <a:lstStyle/>
          <a:p>
            <a:pPr algn="ctr"/>
          </a:p>
        </p:txBody>
      </p:sp>
      <p:sp>
        <p:nvSpPr>
          <p:cNvPr id="7" name="Rectangle 6"/>
          <p:cNvSpPr/>
          <p:nvPr/>
        </p:nvSpPr>
        <p:spPr>
          <a:xfrm>
            <a:off x="777240" y="2258568"/>
            <a:ext cx="64008" cy="811022"/>
          </a:xfrm>
          <a:prstGeom prst="rect">
            <a:avLst/>
          </a:prstGeom>
          <a:solidFill>
            <a:srgbClr val="F2A900"/>
          </a:solidFill>
          <a:ln>
            <a:noFill/>
          </a:ln>
          <a:effectLst/>
        </p:spPr>
        <p:txBody>
          <a:bodyPr rtlCol="0" anchor="ctr"/>
          <a:lstStyle/>
          <a:p>
            <a:pPr algn="ctr"/>
          </a:p>
        </p:txBody>
      </p:sp>
      <p:sp>
        <p:nvSpPr>
          <p:cNvPr id="8" name="TextBox 7"/>
          <p:cNvSpPr txBox="1"/>
          <p:nvPr/>
        </p:nvSpPr>
        <p:spPr>
          <a:xfrm>
            <a:off x="1051560" y="2212848"/>
            <a:ext cx="10362895" cy="920750"/>
          </a:xfrm>
          <a:prstGeom prst="rect">
            <a:avLst/>
          </a:prstGeom>
          <a:noFill/>
        </p:spPr>
        <p:txBody>
          <a:bodyPr wrap="square" anchor="t" lIns="0" rIns="0" tIns="0" bIns="0">
            <a:spAutoFit/>
          </a:bodyPr>
          <a:lstStyle/>
          <a:p>
            <a:pPr algn="l">
              <a:lnSpc>
                <a:spcPct val="100000"/>
              </a:lnSpc>
              <a:spcBef>
                <a:spcPts val="0"/>
              </a:spcBef>
              <a:spcAft>
                <a:spcPts val="400"/>
              </a:spcAft>
            </a:pPr>
            <a:r>
              <a:rPr sz="1100" b="1" i="0">
                <a:solidFill>
                  <a:srgbClr val="818181"/>
                </a:solidFill>
                <a:latin typeface="Arial"/>
              </a:rPr>
              <a:t>IN PLAIN WORDS</a:t>
            </a:r>
          </a:p>
          <a:p>
            <a:pPr algn="l">
              <a:lnSpc>
                <a:spcPct val="115000"/>
              </a:lnSpc>
              <a:spcBef>
                <a:spcPts val="0"/>
              </a:spcBef>
              <a:spcAft>
                <a:spcPts val="0"/>
              </a:spcAft>
            </a:pPr>
            <a:r>
              <a:rPr sz="1900" b="1" i="0">
                <a:solidFill>
                  <a:srgbClr val="1A1A1A"/>
                </a:solidFill>
                <a:latin typeface="Arial"/>
              </a:rPr>
              <a:t>The fourth tenet. You assume the trend you can see is still running until something tells you it is not.</a:t>
            </a:r>
          </a:p>
        </p:txBody>
      </p:sp>
      <p:sp>
        <p:nvSpPr>
          <p:cNvPr id="9" name="Rectangle 8"/>
          <p:cNvSpPr/>
          <p:nvPr/>
        </p:nvSpPr>
        <p:spPr>
          <a:xfrm>
            <a:off x="777240" y="3417061"/>
            <a:ext cx="64008" cy="811022"/>
          </a:xfrm>
          <a:prstGeom prst="rect">
            <a:avLst/>
          </a:prstGeom>
          <a:solidFill>
            <a:srgbClr val="D7E0D9"/>
          </a:solidFill>
          <a:ln>
            <a:noFill/>
          </a:ln>
          <a:effectLst/>
        </p:spPr>
        <p:txBody>
          <a:bodyPr rtlCol="0" anchor="ctr"/>
          <a:lstStyle/>
          <a:p>
            <a:pPr algn="ctr"/>
          </a:p>
        </p:txBody>
      </p:sp>
      <p:sp>
        <p:nvSpPr>
          <p:cNvPr id="10" name="TextBox 9"/>
          <p:cNvSpPr txBox="1"/>
          <p:nvPr/>
        </p:nvSpPr>
        <p:spPr>
          <a:xfrm>
            <a:off x="1051560" y="3371342"/>
            <a:ext cx="10362895" cy="920750"/>
          </a:xfrm>
          <a:prstGeom prst="rect">
            <a:avLst/>
          </a:prstGeom>
          <a:noFill/>
        </p:spPr>
        <p:txBody>
          <a:bodyPr wrap="square" anchor="t" lIns="0" rIns="0" tIns="0" bIns="0">
            <a:spAutoFit/>
          </a:bodyPr>
          <a:lstStyle/>
          <a:p>
            <a:pPr algn="l">
              <a:lnSpc>
                <a:spcPct val="100000"/>
              </a:lnSpc>
              <a:spcBef>
                <a:spcPts val="0"/>
              </a:spcBef>
              <a:spcAft>
                <a:spcPts val="400"/>
              </a:spcAft>
            </a:pPr>
            <a:r>
              <a:rPr sz="1100" b="1" i="0">
                <a:solidFill>
                  <a:srgbClr val="818181"/>
                </a:solidFill>
                <a:latin typeface="Arial"/>
              </a:rPr>
              <a:t>FOR EXAMPLE</a:t>
            </a:r>
          </a:p>
          <a:p>
            <a:pPr algn="l">
              <a:lnSpc>
                <a:spcPct val="115000"/>
              </a:lnSpc>
              <a:spcBef>
                <a:spcPts val="0"/>
              </a:spcBef>
              <a:spcAft>
                <a:spcPts val="0"/>
              </a:spcAft>
            </a:pPr>
            <a:r>
              <a:rPr sz="1900" b="0" i="0">
                <a:solidFill>
                  <a:srgbClr val="1A1A1A"/>
                </a:solidFill>
                <a:latin typeface="Arial"/>
              </a:rPr>
              <a:t>A market has been rising for two years. Until a previous significant peak or trough is penetrated, you assume it is still rising.</a:t>
            </a:r>
          </a:p>
        </p:txBody>
      </p:sp>
      <p:sp>
        <p:nvSpPr>
          <p:cNvPr id="11" name="Rectangle 10"/>
          <p:cNvSpPr/>
          <p:nvPr/>
        </p:nvSpPr>
        <p:spPr>
          <a:xfrm>
            <a:off x="777240" y="4575556"/>
            <a:ext cx="64008" cy="1088517"/>
          </a:xfrm>
          <a:prstGeom prst="rect">
            <a:avLst/>
          </a:prstGeom>
          <a:solidFill>
            <a:srgbClr val="D7E0D9"/>
          </a:solidFill>
          <a:ln>
            <a:noFill/>
          </a:ln>
          <a:effectLst/>
        </p:spPr>
        <p:txBody>
          <a:bodyPr rtlCol="0" anchor="ctr"/>
          <a:lstStyle/>
          <a:p>
            <a:pPr algn="ctr"/>
          </a:p>
        </p:txBody>
      </p:sp>
      <p:sp>
        <p:nvSpPr>
          <p:cNvPr id="12" name="TextBox 11"/>
          <p:cNvSpPr txBox="1"/>
          <p:nvPr/>
        </p:nvSpPr>
        <p:spPr>
          <a:xfrm>
            <a:off x="1051560" y="4529836"/>
            <a:ext cx="10362895" cy="1198245"/>
          </a:xfrm>
          <a:prstGeom prst="rect">
            <a:avLst/>
          </a:prstGeom>
          <a:noFill/>
        </p:spPr>
        <p:txBody>
          <a:bodyPr wrap="square" anchor="t" lIns="0" rIns="0" tIns="0" bIns="0">
            <a:spAutoFit/>
          </a:bodyPr>
          <a:lstStyle/>
          <a:p>
            <a:pPr algn="l">
              <a:lnSpc>
                <a:spcPct val="100000"/>
              </a:lnSpc>
              <a:spcBef>
                <a:spcPts val="0"/>
              </a:spcBef>
              <a:spcAft>
                <a:spcPts val="400"/>
              </a:spcAft>
            </a:pPr>
            <a:r>
              <a:rPr sz="1100" b="1" i="0">
                <a:solidFill>
                  <a:srgbClr val="818181"/>
                </a:solidFill>
                <a:latin typeface="Arial"/>
              </a:rPr>
              <a:t>THE FORMAL DEFINITION</a:t>
            </a:r>
          </a:p>
          <a:p>
            <a:pPr algn="l">
              <a:lnSpc>
                <a:spcPct val="115000"/>
              </a:lnSpc>
              <a:spcBef>
                <a:spcPts val="0"/>
              </a:spcBef>
              <a:spcAft>
                <a:spcPts val="0"/>
              </a:spcAft>
            </a:pPr>
            <a:r>
              <a:rPr sz="1900" b="0" i="0">
                <a:solidFill>
                  <a:srgbClr val="1A1A1A"/>
                </a:solidFill>
                <a:latin typeface="Arial"/>
              </a:rPr>
              <a:t>In Dow Theory a trend is assumed to persist until there is evidence to the contrary. Trend changes are identified by a penetration of a previous significant peak or trough.</a:t>
            </a:r>
          </a:p>
        </p:txBody>
      </p:sp>
      <p:sp>
        <p:nvSpPr>
          <p:cNvPr id="13" name="TextBox 12"/>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5 of 6 - Phases and reversal  |  13 of 22</a:t>
            </a:r>
          </a:p>
        </p:txBody>
      </p:sp>
    </p:spTree>
  </p:cSld>
  <p:clrMapOvr>
    <a:masterClrMapping/>
  </p:clrMapOvr>
</p:sld>
</file>

<file path=ppt/slides/slide9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TextBox 3"/>
          <p:cNvSpPr txBox="1"/>
          <p:nvPr/>
        </p:nvSpPr>
        <p:spPr>
          <a:xfrm>
            <a:off x="777240" y="658368"/>
            <a:ext cx="10637215" cy="914400"/>
          </a:xfrm>
          <a:prstGeom prst="rect">
            <a:avLst/>
          </a:prstGeom>
          <a:noFill/>
        </p:spPr>
        <p:txBody>
          <a:bodyPr wrap="square" anchor="t" lIns="0" rIns="0" tIns="0" bIns="0">
            <a:spAutoFit/>
          </a:bodyPr>
          <a:lstStyle/>
          <a:p>
            <a:pPr algn="l">
              <a:lnSpc>
                <a:spcPct val="105000"/>
              </a:lnSpc>
              <a:spcBef>
                <a:spcPts val="0"/>
              </a:spcBef>
              <a:spcAft>
                <a:spcPts val="0"/>
              </a:spcAft>
            </a:pPr>
            <a:r>
              <a:rPr sz="3000" b="0" i="0">
                <a:solidFill>
                  <a:srgbClr val="007A33"/>
                </a:solidFill>
                <a:latin typeface="Palatino"/>
              </a:rPr>
              <a:t>Until a level is breached, nothing has happened</a:t>
            </a:r>
          </a:p>
        </p:txBody>
      </p:sp>
      <p:sp>
        <p:nvSpPr>
          <p:cNvPr id="5" name="Rectangle 4"/>
          <p:cNvSpPr/>
          <p:nvPr/>
        </p:nvSpPr>
        <p:spPr>
          <a:xfrm>
            <a:off x="777240" y="1572768"/>
            <a:ext cx="10637215" cy="15875"/>
          </a:xfrm>
          <a:prstGeom prst="rect">
            <a:avLst/>
          </a:prstGeom>
          <a:solidFill>
            <a:srgbClr val="D7E0D9"/>
          </a:solidFill>
          <a:ln>
            <a:noFill/>
          </a:ln>
          <a:effectLst/>
        </p:spPr>
        <p:txBody>
          <a:bodyPr rtlCol="0" anchor="ctr"/>
          <a:lstStyle/>
          <a:p>
            <a:pPr algn="ctr"/>
          </a:p>
        </p:txBody>
      </p:sp>
      <p:sp>
        <p:nvSpPr>
          <p:cNvPr id="6" name="TextBox 5"/>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5 of 6 - Phases and reversal  |  14 of 22</a:t>
            </a:r>
          </a:p>
        </p:txBody>
      </p:sp>
      <p:sp>
        <p:nvSpPr>
          <p:cNvPr id="7" name="TextBox 6"/>
          <p:cNvSpPr txBox="1"/>
          <p:nvPr/>
        </p:nvSpPr>
        <p:spPr>
          <a:xfrm>
            <a:off x="777240" y="1965960"/>
            <a:ext cx="10637215" cy="3108960"/>
          </a:xfrm>
          <a:prstGeom prst="rect">
            <a:avLst/>
          </a:prstGeom>
          <a:noFill/>
        </p:spPr>
        <p:txBody>
          <a:bodyPr wrap="square" anchor="t" lIns="0" rIns="0" tIns="0" bIns="0">
            <a:spAutoFit/>
          </a:bodyPr>
          <a:lstStyle/>
          <a:p>
            <a:pPr algn="l">
              <a:lnSpc>
                <a:spcPct val="118000"/>
              </a:lnSpc>
              <a:spcBef>
                <a:spcPts val="0"/>
              </a:spcBef>
              <a:spcAft>
                <a:spcPts val="1300"/>
              </a:spcAft>
            </a:pPr>
            <a:r>
              <a:rPr sz="2100" b="0" i="0">
                <a:solidFill>
                  <a:srgbClr val="1A1A1A"/>
                </a:solidFill>
                <a:latin typeface="Arial"/>
              </a:rPr>
              <a:t>Unless a prior support or resistance level is breached, the trend is assumed to be still intact.</a:t>
            </a:r>
          </a:p>
          <a:p>
            <a:pPr algn="l">
              <a:lnSpc>
                <a:spcPct val="118000"/>
              </a:lnSpc>
              <a:spcBef>
                <a:spcPts val="0"/>
              </a:spcBef>
              <a:spcAft>
                <a:spcPts val="1300"/>
              </a:spcAft>
            </a:pPr>
            <a:r>
              <a:rPr sz="2100" b="0" i="0">
                <a:solidFill>
                  <a:srgbClr val="1A1A1A"/>
                </a:solidFill>
                <a:latin typeface="Arial"/>
              </a:rPr>
              <a:t>The book uses those two words here and does not define them in this chapter.</a:t>
            </a:r>
          </a:p>
        </p:txBody>
      </p:sp>
      <p:sp>
        <p:nvSpPr>
          <p:cNvPr id="8" name="Rectangle 7"/>
          <p:cNvSpPr/>
          <p:nvPr/>
        </p:nvSpPr>
        <p:spPr>
          <a:xfrm>
            <a:off x="777240" y="3586734"/>
            <a:ext cx="82296" cy="467614"/>
          </a:xfrm>
          <a:prstGeom prst="rect">
            <a:avLst/>
          </a:prstGeom>
          <a:solidFill>
            <a:srgbClr val="F2A900"/>
          </a:solidFill>
          <a:ln>
            <a:noFill/>
          </a:ln>
          <a:effectLst/>
        </p:spPr>
        <p:txBody>
          <a:bodyPr rtlCol="0" anchor="ctr"/>
          <a:lstStyle/>
          <a:p>
            <a:pPr algn="ctr"/>
          </a:p>
        </p:txBody>
      </p:sp>
      <p:sp>
        <p:nvSpPr>
          <p:cNvPr id="9" name="TextBox 8"/>
          <p:cNvSpPr txBox="1"/>
          <p:nvPr/>
        </p:nvSpPr>
        <p:spPr>
          <a:xfrm>
            <a:off x="1069848" y="3623310"/>
            <a:ext cx="10344607" cy="467614"/>
          </a:xfrm>
          <a:prstGeom prst="rect">
            <a:avLst/>
          </a:prstGeom>
          <a:noFill/>
        </p:spPr>
        <p:txBody>
          <a:bodyPr wrap="square" anchor="t" lIns="0" rIns="0" tIns="0" bIns="0">
            <a:spAutoFit/>
          </a:bodyPr>
          <a:lstStyle/>
          <a:p>
            <a:pPr algn="l">
              <a:lnSpc>
                <a:spcPct val="115000"/>
              </a:lnSpc>
              <a:spcBef>
                <a:spcPts val="0"/>
              </a:spcBef>
              <a:spcAft>
                <a:spcPts val="0"/>
              </a:spcAft>
            </a:pPr>
            <a:r>
              <a:rPr sz="2200" b="1" i="0">
                <a:solidFill>
                  <a:srgbClr val="1A1A1A"/>
                </a:solidFill>
                <a:latin typeface="Arial"/>
              </a:rPr>
              <a:t>Treat them for now as the previous trough and the previous peak.</a:t>
            </a:r>
          </a:p>
        </p:txBody>
      </p:sp>
      <p:sp>
        <p:nvSpPr>
          <p:cNvPr id="10" name="TextBox 9"/>
          <p:cNvSpPr txBox="1"/>
          <p:nvPr/>
        </p:nvSpPr>
        <p:spPr>
          <a:xfrm>
            <a:off x="777240" y="4292092"/>
            <a:ext cx="10637215" cy="731520"/>
          </a:xfrm>
          <a:prstGeom prst="rect">
            <a:avLst/>
          </a:prstGeom>
          <a:noFill/>
        </p:spPr>
        <p:txBody>
          <a:bodyPr wrap="square" anchor="t" lIns="0" rIns="0" tIns="0" bIns="0">
            <a:spAutoFit/>
          </a:bodyPr>
          <a:lstStyle/>
          <a:p>
            <a:pPr algn="l">
              <a:lnSpc>
                <a:spcPct val="115000"/>
              </a:lnSpc>
              <a:spcBef>
                <a:spcPts val="0"/>
              </a:spcBef>
              <a:spcAft>
                <a:spcPts val="0"/>
              </a:spcAft>
            </a:pPr>
            <a:r>
              <a:rPr sz="1500" b="0" i="1">
                <a:solidFill>
                  <a:srgbClr val="818181"/>
                </a:solidFill>
                <a:latin typeface="Arial"/>
              </a:rPr>
              <a:t>Chapter 5 is where the book defines support and resistance properly.</a:t>
            </a:r>
          </a:p>
        </p:txBody>
      </p:sp>
    </p:spTree>
  </p:cSld>
  <p:clrMapOvr>
    <a:masterClrMapping/>
  </p:clrMapOvr>
</p:sld>
</file>

<file path=ppt/slides/slide9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TextBox 3"/>
          <p:cNvSpPr txBox="1"/>
          <p:nvPr/>
        </p:nvSpPr>
        <p:spPr>
          <a:xfrm>
            <a:off x="777240" y="658368"/>
            <a:ext cx="10637215" cy="914400"/>
          </a:xfrm>
          <a:prstGeom prst="rect">
            <a:avLst/>
          </a:prstGeom>
          <a:noFill/>
        </p:spPr>
        <p:txBody>
          <a:bodyPr wrap="square" anchor="t" lIns="0" rIns="0" tIns="0" bIns="0">
            <a:spAutoFit/>
          </a:bodyPr>
          <a:lstStyle/>
          <a:p>
            <a:pPr algn="l">
              <a:lnSpc>
                <a:spcPct val="105000"/>
              </a:lnSpc>
              <a:spcBef>
                <a:spcPts val="0"/>
              </a:spcBef>
              <a:spcAft>
                <a:spcPts val="0"/>
              </a:spcAft>
            </a:pPr>
            <a:r>
              <a:rPr sz="3000" b="0" i="0">
                <a:solidFill>
                  <a:srgbClr val="007A33"/>
                </a:solidFill>
                <a:latin typeface="Palatino"/>
              </a:rPr>
              <a:t>A primary bull trend ending on a breach</a:t>
            </a:r>
          </a:p>
        </p:txBody>
      </p:sp>
      <p:sp>
        <p:nvSpPr>
          <p:cNvPr id="5" name="Rectangle 4"/>
          <p:cNvSpPr/>
          <p:nvPr/>
        </p:nvSpPr>
        <p:spPr>
          <a:xfrm>
            <a:off x="777240" y="1572768"/>
            <a:ext cx="10637215" cy="15875"/>
          </a:xfrm>
          <a:prstGeom prst="rect">
            <a:avLst/>
          </a:prstGeom>
          <a:solidFill>
            <a:srgbClr val="D7E0D9"/>
          </a:solidFill>
          <a:ln>
            <a:noFill/>
          </a:ln>
          <a:effectLst/>
        </p:spPr>
        <p:txBody>
          <a:bodyPr rtlCol="0" anchor="ctr"/>
          <a:lstStyle/>
          <a:p>
            <a:pPr algn="ctr"/>
          </a:p>
        </p:txBody>
      </p:sp>
      <p:sp>
        <p:nvSpPr>
          <p:cNvPr id="6" name="TextBox 5"/>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5 of 6 - Phases and reversal  |  15 of 22</a:t>
            </a:r>
          </a:p>
        </p:txBody>
      </p:sp>
      <p:sp>
        <p:nvSpPr>
          <p:cNvPr id="7" name="Rectangle 6"/>
          <p:cNvSpPr/>
          <p:nvPr/>
        </p:nvSpPr>
        <p:spPr>
          <a:xfrm>
            <a:off x="2346807" y="1810512"/>
            <a:ext cx="7498079" cy="3749039"/>
          </a:xfrm>
          <a:prstGeom prst="rect">
            <a:avLst/>
          </a:prstGeom>
          <a:solidFill>
            <a:srgbClr val="FFFFFF"/>
          </a:solidFill>
          <a:ln w="12700">
            <a:solidFill>
              <a:srgbClr val="D7E0D9"/>
            </a:solidFill>
          </a:ln>
          <a:effectLst/>
        </p:spPr>
        <p:txBody>
          <a:bodyPr rtlCol="0" anchor="ctr"/>
          <a:lstStyle/>
          <a:p>
            <a:pPr algn="ctr"/>
          </a:p>
        </p:txBody>
      </p:sp>
      <p:sp>
        <p:nvSpPr>
          <p:cNvPr id="8" name="Rectangle 7"/>
          <p:cNvSpPr/>
          <p:nvPr/>
        </p:nvSpPr>
        <p:spPr>
          <a:xfrm>
            <a:off x="2346807" y="1810512"/>
            <a:ext cx="7498079" cy="50800"/>
          </a:xfrm>
          <a:prstGeom prst="rect">
            <a:avLst/>
          </a:prstGeom>
          <a:solidFill>
            <a:srgbClr val="F2A900"/>
          </a:solidFill>
          <a:ln>
            <a:noFill/>
          </a:ln>
          <a:effectLst/>
        </p:spPr>
        <p:txBody>
          <a:bodyPr rtlCol="0" anchor="ctr"/>
          <a:lstStyle/>
          <a:p>
            <a:pPr algn="ctr"/>
          </a:p>
        </p:txBody>
      </p:sp>
      <p:sp>
        <p:nvSpPr>
          <p:cNvPr id="9" name="TextBox 8"/>
          <p:cNvSpPr txBox="1"/>
          <p:nvPr/>
        </p:nvSpPr>
        <p:spPr>
          <a:xfrm>
            <a:off x="2895447" y="2450591"/>
            <a:ext cx="6400799" cy="2651759"/>
          </a:xfrm>
          <a:prstGeom prst="rect">
            <a:avLst/>
          </a:prstGeom>
          <a:noFill/>
        </p:spPr>
        <p:txBody>
          <a:bodyPr wrap="square" anchor="t" lIns="0" rIns="0" tIns="0" bIns="0">
            <a:spAutoFit/>
          </a:bodyPr>
          <a:lstStyle/>
          <a:p>
            <a:pPr algn="l">
              <a:lnSpc>
                <a:spcPct val="100000"/>
              </a:lnSpc>
              <a:spcBef>
                <a:spcPts val="0"/>
              </a:spcBef>
              <a:spcAft>
                <a:spcPts val="1400"/>
              </a:spcAft>
            </a:pPr>
            <a:r>
              <a:rPr sz="1500" b="1" i="0">
                <a:solidFill>
                  <a:srgbClr val="818181"/>
                </a:solidFill>
                <a:latin typeface="Arial"/>
              </a:rPr>
              <a:t>FIGURE 2.17</a:t>
            </a:r>
          </a:p>
          <a:p>
            <a:pPr algn="l">
              <a:lnSpc>
                <a:spcPct val="120000"/>
              </a:lnSpc>
              <a:spcBef>
                <a:spcPts val="0"/>
              </a:spcBef>
              <a:spcAft>
                <a:spcPts val="1800"/>
              </a:spcAft>
            </a:pPr>
            <a:r>
              <a:rPr sz="2200" b="0" i="0">
                <a:solidFill>
                  <a:srgbClr val="1A1A1A"/>
                </a:solidFill>
                <a:latin typeface="Palatino"/>
              </a:rPr>
              <a:t>A chart of a primary bull trend terminated by a violation of a prior support level, with the accumulation, the trend and the distribution marked and the reversal signalled at the breach.</a:t>
            </a:r>
          </a:p>
          <a:p>
            <a:pPr algn="l">
              <a:lnSpc>
                <a:spcPct val="115000"/>
              </a:lnSpc>
              <a:spcBef>
                <a:spcPts val="0"/>
              </a:spcBef>
              <a:spcAft>
                <a:spcPts val="0"/>
              </a:spcAft>
            </a:pPr>
            <a:r>
              <a:rPr sz="1400" b="0" i="1">
                <a:solidFill>
                  <a:srgbClr val="818181"/>
                </a:solidFill>
                <a:latin typeface="Arial"/>
              </a:rPr>
              <a:t>The artwork is copyrighted and is not in the public repository. Build with assets/figures/ present to place it here.</a:t>
            </a:r>
          </a:p>
        </p:txBody>
      </p:sp>
      <p:sp>
        <p:nvSpPr>
          <p:cNvPr id="10" name="TextBox 9"/>
          <p:cNvSpPr txBox="1"/>
          <p:nvPr/>
        </p:nvSpPr>
        <p:spPr>
          <a:xfrm>
            <a:off x="777240" y="5669280"/>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300" b="0" i="0">
                <a:solidFill>
                  <a:srgbClr val="818181"/>
                </a:solidFill>
                <a:latin typeface="Arial"/>
              </a:rPr>
              <a:t>Figure 2.17 - Lim, The Handbook of Technical Analysis (Wiley, 2016)</a:t>
            </a:r>
          </a:p>
        </p:txBody>
      </p:sp>
    </p:spTree>
  </p:cSld>
  <p:clrMapOvr>
    <a:masterClrMapping/>
  </p:clrMapOvr>
</p:sld>
</file>

<file path=ppt/slides/slide9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TextBox 3"/>
          <p:cNvSpPr txBox="1"/>
          <p:nvPr/>
        </p:nvSpPr>
        <p:spPr>
          <a:xfrm>
            <a:off x="777240" y="658368"/>
            <a:ext cx="10637215" cy="914400"/>
          </a:xfrm>
          <a:prstGeom prst="rect">
            <a:avLst/>
          </a:prstGeom>
          <a:noFill/>
        </p:spPr>
        <p:txBody>
          <a:bodyPr wrap="square" anchor="t" lIns="0" rIns="0" tIns="0" bIns="0">
            <a:spAutoFit/>
          </a:bodyPr>
          <a:lstStyle/>
          <a:p>
            <a:pPr algn="l">
              <a:lnSpc>
                <a:spcPct val="105000"/>
              </a:lnSpc>
              <a:spcBef>
                <a:spcPts val="0"/>
              </a:spcBef>
              <a:spcAft>
                <a:spcPts val="0"/>
              </a:spcAft>
            </a:pPr>
            <a:r>
              <a:rPr sz="3000" b="0" i="0">
                <a:solidFill>
                  <a:srgbClr val="007A33"/>
                </a:solidFill>
                <a:latin typeface="Palatino"/>
              </a:rPr>
              <a:t>Three formations that signal a reversal</a:t>
            </a:r>
          </a:p>
        </p:txBody>
      </p:sp>
      <p:sp>
        <p:nvSpPr>
          <p:cNvPr id="5" name="Rectangle 4"/>
          <p:cNvSpPr/>
          <p:nvPr/>
        </p:nvSpPr>
        <p:spPr>
          <a:xfrm>
            <a:off x="777240" y="1572768"/>
            <a:ext cx="10637215" cy="15875"/>
          </a:xfrm>
          <a:prstGeom prst="rect">
            <a:avLst/>
          </a:prstGeom>
          <a:solidFill>
            <a:srgbClr val="D7E0D9"/>
          </a:solidFill>
          <a:ln>
            <a:noFill/>
          </a:ln>
          <a:effectLst/>
        </p:spPr>
        <p:txBody>
          <a:bodyPr rtlCol="0" anchor="ctr"/>
          <a:lstStyle/>
          <a:p>
            <a:pPr algn="ctr"/>
          </a:p>
        </p:txBody>
      </p:sp>
      <p:sp>
        <p:nvSpPr>
          <p:cNvPr id="6" name="TextBox 5"/>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5 of 6 - Phases and reversal  |  16 of 22</a:t>
            </a:r>
          </a:p>
        </p:txBody>
      </p:sp>
      <p:sp>
        <p:nvSpPr>
          <p:cNvPr id="7" name="TextBox 6"/>
          <p:cNvSpPr txBox="1"/>
          <p:nvPr/>
        </p:nvSpPr>
        <p:spPr>
          <a:xfrm>
            <a:off x="777240" y="1965960"/>
            <a:ext cx="10637215" cy="3108960"/>
          </a:xfrm>
          <a:prstGeom prst="rect">
            <a:avLst/>
          </a:prstGeom>
          <a:noFill/>
        </p:spPr>
        <p:txBody>
          <a:bodyPr wrap="square" anchor="t" lIns="0" rIns="0" tIns="0" bIns="0">
            <a:spAutoFit/>
          </a:bodyPr>
          <a:lstStyle/>
          <a:p>
            <a:pPr algn="l">
              <a:lnSpc>
                <a:spcPct val="118000"/>
              </a:lnSpc>
              <a:spcBef>
                <a:spcPts val="0"/>
              </a:spcBef>
              <a:spcAft>
                <a:spcPts val="1300"/>
              </a:spcAft>
            </a:pPr>
            <a:r>
              <a:rPr sz="2100" b="0" i="0">
                <a:solidFill>
                  <a:srgbClr val="1A1A1A"/>
                </a:solidFill>
                <a:latin typeface="Arial"/>
              </a:rPr>
              <a:t>1.  Failure swings.</a:t>
            </a:r>
          </a:p>
          <a:p>
            <a:pPr algn="l">
              <a:lnSpc>
                <a:spcPct val="118000"/>
              </a:lnSpc>
              <a:spcBef>
                <a:spcPts val="0"/>
              </a:spcBef>
              <a:spcAft>
                <a:spcPts val="1300"/>
              </a:spcAft>
            </a:pPr>
            <a:r>
              <a:rPr sz="2100" b="0" i="0">
                <a:solidFill>
                  <a:srgbClr val="1A1A1A"/>
                </a:solidFill>
                <a:latin typeface="Arial"/>
              </a:rPr>
              <a:t>2.  Non failure swings.</a:t>
            </a:r>
          </a:p>
          <a:p>
            <a:pPr algn="l">
              <a:lnSpc>
                <a:spcPct val="118000"/>
              </a:lnSpc>
              <a:spcBef>
                <a:spcPts val="0"/>
              </a:spcBef>
              <a:spcAft>
                <a:spcPts val="1300"/>
              </a:spcAft>
            </a:pPr>
            <a:r>
              <a:rPr sz="2100" b="0" i="0">
                <a:solidFill>
                  <a:srgbClr val="1A1A1A"/>
                </a:solidFill>
                <a:latin typeface="Arial"/>
              </a:rPr>
              <a:t>3.  Double tops and double bottoms.</a:t>
            </a:r>
          </a:p>
        </p:txBody>
      </p:sp>
      <p:sp>
        <p:nvSpPr>
          <p:cNvPr id="8" name="Rectangle 7"/>
          <p:cNvSpPr/>
          <p:nvPr/>
        </p:nvSpPr>
        <p:spPr>
          <a:xfrm>
            <a:off x="777240" y="3769614"/>
            <a:ext cx="82296" cy="788924"/>
          </a:xfrm>
          <a:prstGeom prst="rect">
            <a:avLst/>
          </a:prstGeom>
          <a:solidFill>
            <a:srgbClr val="F2A900"/>
          </a:solidFill>
          <a:ln>
            <a:noFill/>
          </a:ln>
          <a:effectLst/>
        </p:spPr>
        <p:txBody>
          <a:bodyPr rtlCol="0" anchor="ctr"/>
          <a:lstStyle/>
          <a:p>
            <a:pPr algn="ctr"/>
          </a:p>
        </p:txBody>
      </p:sp>
      <p:sp>
        <p:nvSpPr>
          <p:cNvPr id="9" name="TextBox 8"/>
          <p:cNvSpPr txBox="1"/>
          <p:nvPr/>
        </p:nvSpPr>
        <p:spPr>
          <a:xfrm>
            <a:off x="1069848" y="3806190"/>
            <a:ext cx="10344607" cy="788924"/>
          </a:xfrm>
          <a:prstGeom prst="rect">
            <a:avLst/>
          </a:prstGeom>
          <a:noFill/>
        </p:spPr>
        <p:txBody>
          <a:bodyPr wrap="square" anchor="t" lIns="0" rIns="0" tIns="0" bIns="0">
            <a:spAutoFit/>
          </a:bodyPr>
          <a:lstStyle/>
          <a:p>
            <a:pPr algn="l">
              <a:lnSpc>
                <a:spcPct val="115000"/>
              </a:lnSpc>
              <a:spcBef>
                <a:spcPts val="0"/>
              </a:spcBef>
              <a:spcAft>
                <a:spcPts val="0"/>
              </a:spcAft>
            </a:pPr>
            <a:r>
              <a:rPr sz="2200" b="1" i="0">
                <a:solidFill>
                  <a:srgbClr val="1A1A1A"/>
                </a:solidFill>
                <a:latin typeface="Arial"/>
              </a:rPr>
              <a:t>Three shapes, one question: did the second attempt beat the first one?</a:t>
            </a:r>
          </a:p>
        </p:txBody>
      </p:sp>
    </p:spTree>
  </p:cSld>
  <p:clrMapOvr>
    <a:masterClrMapping/>
  </p:clrMapOvr>
</p:sld>
</file>

<file path=ppt/slides/slide9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Rectangle 3"/>
          <p:cNvSpPr/>
          <p:nvPr/>
        </p:nvSpPr>
        <p:spPr>
          <a:xfrm>
            <a:off x="777240" y="566928"/>
            <a:ext cx="1234440" cy="329184"/>
          </a:xfrm>
          <a:prstGeom prst="rect">
            <a:avLst/>
          </a:prstGeom>
          <a:solidFill>
            <a:srgbClr val="F2A900"/>
          </a:solidFill>
          <a:ln>
            <a:noFill/>
          </a:ln>
          <a:effectLst/>
        </p:spPr>
        <p:txBody>
          <a:bodyPr rtlCol="0" anchor="ctr" wrap="none" lIns="0" rIns="0" tIns="0" bIns="0"/>
          <a:lstStyle/>
          <a:p>
            <a:pPr algn="ctr">
              <a:lnSpc>
                <a:spcPct val="100000"/>
              </a:lnSpc>
              <a:spcBef>
                <a:spcPts val="0"/>
              </a:spcBef>
              <a:spcAft>
                <a:spcPts val="0"/>
              </a:spcAft>
            </a:pPr>
            <a:r>
              <a:rPr sz="1200" b="1" i="0">
                <a:solidFill>
                  <a:srgbClr val="1A1A1A"/>
                </a:solidFill>
                <a:latin typeface="Arial"/>
              </a:rPr>
              <a:t>NEW TERM</a:t>
            </a:r>
          </a:p>
        </p:txBody>
      </p:sp>
      <p:sp>
        <p:nvSpPr>
          <p:cNvPr id="5" name="TextBox 4"/>
          <p:cNvSpPr txBox="1"/>
          <p:nvPr/>
        </p:nvSpPr>
        <p:spPr>
          <a:xfrm>
            <a:off x="777240" y="1051560"/>
            <a:ext cx="10637215" cy="822960"/>
          </a:xfrm>
          <a:prstGeom prst="rect">
            <a:avLst/>
          </a:prstGeom>
          <a:noFill/>
        </p:spPr>
        <p:txBody>
          <a:bodyPr wrap="square" anchor="t" lIns="0" rIns="0" tIns="0" bIns="0">
            <a:spAutoFit/>
          </a:bodyPr>
          <a:lstStyle/>
          <a:p>
            <a:pPr algn="l">
              <a:lnSpc>
                <a:spcPct val="105000"/>
              </a:lnSpc>
              <a:spcBef>
                <a:spcPts val="0"/>
              </a:spcBef>
              <a:spcAft>
                <a:spcPts val="0"/>
              </a:spcAft>
            </a:pPr>
            <a:r>
              <a:rPr sz="3200" b="0" i="0">
                <a:solidFill>
                  <a:srgbClr val="007A33"/>
                </a:solidFill>
                <a:latin typeface="Palatino"/>
              </a:rPr>
              <a:t>Failure swing</a:t>
            </a:r>
          </a:p>
        </p:txBody>
      </p:sp>
      <p:sp>
        <p:nvSpPr>
          <p:cNvPr id="6" name="Rectangle 5"/>
          <p:cNvSpPr/>
          <p:nvPr/>
        </p:nvSpPr>
        <p:spPr>
          <a:xfrm>
            <a:off x="777240" y="1874519"/>
            <a:ext cx="10637215" cy="15875"/>
          </a:xfrm>
          <a:prstGeom prst="rect">
            <a:avLst/>
          </a:prstGeom>
          <a:solidFill>
            <a:srgbClr val="D7E0D9"/>
          </a:solidFill>
          <a:ln>
            <a:noFill/>
          </a:ln>
          <a:effectLst/>
        </p:spPr>
        <p:txBody>
          <a:bodyPr rtlCol="0" anchor="ctr"/>
          <a:lstStyle/>
          <a:p>
            <a:pPr algn="ctr"/>
          </a:p>
        </p:txBody>
      </p:sp>
      <p:sp>
        <p:nvSpPr>
          <p:cNvPr id="7" name="Rectangle 6"/>
          <p:cNvSpPr/>
          <p:nvPr/>
        </p:nvSpPr>
        <p:spPr>
          <a:xfrm>
            <a:off x="777240" y="2258568"/>
            <a:ext cx="64008" cy="811022"/>
          </a:xfrm>
          <a:prstGeom prst="rect">
            <a:avLst/>
          </a:prstGeom>
          <a:solidFill>
            <a:srgbClr val="F2A900"/>
          </a:solidFill>
          <a:ln>
            <a:noFill/>
          </a:ln>
          <a:effectLst/>
        </p:spPr>
        <p:txBody>
          <a:bodyPr rtlCol="0" anchor="ctr"/>
          <a:lstStyle/>
          <a:p>
            <a:pPr algn="ctr"/>
          </a:p>
        </p:txBody>
      </p:sp>
      <p:sp>
        <p:nvSpPr>
          <p:cNvPr id="8" name="TextBox 7"/>
          <p:cNvSpPr txBox="1"/>
          <p:nvPr/>
        </p:nvSpPr>
        <p:spPr>
          <a:xfrm>
            <a:off x="1051560" y="2212848"/>
            <a:ext cx="10362895" cy="920750"/>
          </a:xfrm>
          <a:prstGeom prst="rect">
            <a:avLst/>
          </a:prstGeom>
          <a:noFill/>
        </p:spPr>
        <p:txBody>
          <a:bodyPr wrap="square" anchor="t" lIns="0" rIns="0" tIns="0" bIns="0">
            <a:spAutoFit/>
          </a:bodyPr>
          <a:lstStyle/>
          <a:p>
            <a:pPr algn="l">
              <a:lnSpc>
                <a:spcPct val="100000"/>
              </a:lnSpc>
              <a:spcBef>
                <a:spcPts val="0"/>
              </a:spcBef>
              <a:spcAft>
                <a:spcPts val="400"/>
              </a:spcAft>
            </a:pPr>
            <a:r>
              <a:rPr sz="1100" b="1" i="0">
                <a:solidFill>
                  <a:srgbClr val="818181"/>
                </a:solidFill>
                <a:latin typeface="Arial"/>
              </a:rPr>
              <a:t>IN PLAIN WORDS</a:t>
            </a:r>
          </a:p>
          <a:p>
            <a:pPr algn="l">
              <a:lnSpc>
                <a:spcPct val="115000"/>
              </a:lnSpc>
              <a:spcBef>
                <a:spcPts val="0"/>
              </a:spcBef>
              <a:spcAft>
                <a:spcPts val="0"/>
              </a:spcAft>
            </a:pPr>
            <a:r>
              <a:rPr sz="1900" b="1" i="0">
                <a:solidFill>
                  <a:srgbClr val="1A1A1A"/>
                </a:solidFill>
                <a:latin typeface="Arial"/>
              </a:rPr>
              <a:t>The second peak fails to reach the first one. The market tried again and could not get there.</a:t>
            </a:r>
          </a:p>
        </p:txBody>
      </p:sp>
      <p:sp>
        <p:nvSpPr>
          <p:cNvPr id="9" name="Rectangle 8"/>
          <p:cNvSpPr/>
          <p:nvPr/>
        </p:nvSpPr>
        <p:spPr>
          <a:xfrm>
            <a:off x="777240" y="3417061"/>
            <a:ext cx="64008" cy="811022"/>
          </a:xfrm>
          <a:prstGeom prst="rect">
            <a:avLst/>
          </a:prstGeom>
          <a:solidFill>
            <a:srgbClr val="D7E0D9"/>
          </a:solidFill>
          <a:ln>
            <a:noFill/>
          </a:ln>
          <a:effectLst/>
        </p:spPr>
        <p:txBody>
          <a:bodyPr rtlCol="0" anchor="ctr"/>
          <a:lstStyle/>
          <a:p>
            <a:pPr algn="ctr"/>
          </a:p>
        </p:txBody>
      </p:sp>
      <p:sp>
        <p:nvSpPr>
          <p:cNvPr id="10" name="TextBox 9"/>
          <p:cNvSpPr txBox="1"/>
          <p:nvPr/>
        </p:nvSpPr>
        <p:spPr>
          <a:xfrm>
            <a:off x="1051560" y="3371342"/>
            <a:ext cx="10362895" cy="920750"/>
          </a:xfrm>
          <a:prstGeom prst="rect">
            <a:avLst/>
          </a:prstGeom>
          <a:noFill/>
        </p:spPr>
        <p:txBody>
          <a:bodyPr wrap="square" anchor="t" lIns="0" rIns="0" tIns="0" bIns="0">
            <a:spAutoFit/>
          </a:bodyPr>
          <a:lstStyle/>
          <a:p>
            <a:pPr algn="l">
              <a:lnSpc>
                <a:spcPct val="100000"/>
              </a:lnSpc>
              <a:spcBef>
                <a:spcPts val="0"/>
              </a:spcBef>
              <a:spcAft>
                <a:spcPts val="400"/>
              </a:spcAft>
            </a:pPr>
            <a:r>
              <a:rPr sz="1100" b="1" i="0">
                <a:solidFill>
                  <a:srgbClr val="818181"/>
                </a:solidFill>
                <a:latin typeface="Arial"/>
              </a:rPr>
              <a:t>FOR EXAMPLE</a:t>
            </a:r>
          </a:p>
          <a:p>
            <a:pPr algn="l">
              <a:lnSpc>
                <a:spcPct val="115000"/>
              </a:lnSpc>
              <a:spcBef>
                <a:spcPts val="0"/>
              </a:spcBef>
              <a:spcAft>
                <a:spcPts val="0"/>
              </a:spcAft>
            </a:pPr>
            <a:r>
              <a:rPr sz="1900" b="0" i="0">
                <a:solidFill>
                  <a:srgbClr val="1A1A1A"/>
                </a:solidFill>
                <a:latin typeface="Arial"/>
              </a:rPr>
              <a:t>Price makes a peak at 141 pesos, falls back, then rallies only to 134 and turns down again.</a:t>
            </a:r>
          </a:p>
        </p:txBody>
      </p:sp>
      <p:sp>
        <p:nvSpPr>
          <p:cNvPr id="11" name="Rectangle 10"/>
          <p:cNvSpPr/>
          <p:nvPr/>
        </p:nvSpPr>
        <p:spPr>
          <a:xfrm>
            <a:off x="777240" y="4575556"/>
            <a:ext cx="64008" cy="1088517"/>
          </a:xfrm>
          <a:prstGeom prst="rect">
            <a:avLst/>
          </a:prstGeom>
          <a:solidFill>
            <a:srgbClr val="D7E0D9"/>
          </a:solidFill>
          <a:ln>
            <a:noFill/>
          </a:ln>
          <a:effectLst/>
        </p:spPr>
        <p:txBody>
          <a:bodyPr rtlCol="0" anchor="ctr"/>
          <a:lstStyle/>
          <a:p>
            <a:pPr algn="ctr"/>
          </a:p>
        </p:txBody>
      </p:sp>
      <p:sp>
        <p:nvSpPr>
          <p:cNvPr id="12" name="TextBox 11"/>
          <p:cNvSpPr txBox="1"/>
          <p:nvPr/>
        </p:nvSpPr>
        <p:spPr>
          <a:xfrm>
            <a:off x="1051560" y="4529836"/>
            <a:ext cx="10362895" cy="1198245"/>
          </a:xfrm>
          <a:prstGeom prst="rect">
            <a:avLst/>
          </a:prstGeom>
          <a:noFill/>
        </p:spPr>
        <p:txBody>
          <a:bodyPr wrap="square" anchor="t" lIns="0" rIns="0" tIns="0" bIns="0">
            <a:spAutoFit/>
          </a:bodyPr>
          <a:lstStyle/>
          <a:p>
            <a:pPr algn="l">
              <a:lnSpc>
                <a:spcPct val="100000"/>
              </a:lnSpc>
              <a:spcBef>
                <a:spcPts val="0"/>
              </a:spcBef>
              <a:spcAft>
                <a:spcPts val="400"/>
              </a:spcAft>
            </a:pPr>
            <a:r>
              <a:rPr sz="1100" b="1" i="0">
                <a:solidFill>
                  <a:srgbClr val="818181"/>
                </a:solidFill>
                <a:latin typeface="Arial"/>
              </a:rPr>
              <a:t>THE FORMAL DEFINITION</a:t>
            </a:r>
          </a:p>
          <a:p>
            <a:pPr algn="l">
              <a:lnSpc>
                <a:spcPct val="115000"/>
              </a:lnSpc>
              <a:spcBef>
                <a:spcPts val="0"/>
              </a:spcBef>
              <a:spcAft>
                <a:spcPts val="0"/>
              </a:spcAft>
            </a:pPr>
            <a:r>
              <a:rPr sz="1900" b="0" i="0">
                <a:solidFill>
                  <a:srgbClr val="1A1A1A"/>
                </a:solidFill>
                <a:latin typeface="Arial"/>
              </a:rPr>
              <a:t>In a top reversal, a failure swing is the variation in which the second peak fails to penetrate the previous peak. A breach of the prior support then signals a potential change in the direction of the trend.</a:t>
            </a:r>
          </a:p>
        </p:txBody>
      </p:sp>
      <p:sp>
        <p:nvSpPr>
          <p:cNvPr id="13" name="TextBox 12"/>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5 of 6 - Phases and reversal  |  17 of 22</a:t>
            </a:r>
          </a:p>
        </p:txBody>
      </p:sp>
    </p:spTree>
  </p:cSld>
  <p:clrMapOvr>
    <a:masterClrMapping/>
  </p:clrMapOvr>
</p:sld>
</file>

<file path=ppt/slides/slide9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Rectangle 3"/>
          <p:cNvSpPr/>
          <p:nvPr/>
        </p:nvSpPr>
        <p:spPr>
          <a:xfrm>
            <a:off x="777240" y="566928"/>
            <a:ext cx="1234440" cy="329184"/>
          </a:xfrm>
          <a:prstGeom prst="rect">
            <a:avLst/>
          </a:prstGeom>
          <a:solidFill>
            <a:srgbClr val="F2A900"/>
          </a:solidFill>
          <a:ln>
            <a:noFill/>
          </a:ln>
          <a:effectLst/>
        </p:spPr>
        <p:txBody>
          <a:bodyPr rtlCol="0" anchor="ctr" wrap="none" lIns="0" rIns="0" tIns="0" bIns="0"/>
          <a:lstStyle/>
          <a:p>
            <a:pPr algn="ctr">
              <a:lnSpc>
                <a:spcPct val="100000"/>
              </a:lnSpc>
              <a:spcBef>
                <a:spcPts val="0"/>
              </a:spcBef>
              <a:spcAft>
                <a:spcPts val="0"/>
              </a:spcAft>
            </a:pPr>
            <a:r>
              <a:rPr sz="1200" b="1" i="0">
                <a:solidFill>
                  <a:srgbClr val="1A1A1A"/>
                </a:solidFill>
                <a:latin typeface="Arial"/>
              </a:rPr>
              <a:t>NEW TERM</a:t>
            </a:r>
          </a:p>
        </p:txBody>
      </p:sp>
      <p:sp>
        <p:nvSpPr>
          <p:cNvPr id="5" name="TextBox 4"/>
          <p:cNvSpPr txBox="1"/>
          <p:nvPr/>
        </p:nvSpPr>
        <p:spPr>
          <a:xfrm>
            <a:off x="777240" y="1051560"/>
            <a:ext cx="10637215" cy="822960"/>
          </a:xfrm>
          <a:prstGeom prst="rect">
            <a:avLst/>
          </a:prstGeom>
          <a:noFill/>
        </p:spPr>
        <p:txBody>
          <a:bodyPr wrap="square" anchor="t" lIns="0" rIns="0" tIns="0" bIns="0">
            <a:spAutoFit/>
          </a:bodyPr>
          <a:lstStyle/>
          <a:p>
            <a:pPr algn="l">
              <a:lnSpc>
                <a:spcPct val="105000"/>
              </a:lnSpc>
              <a:spcBef>
                <a:spcPts val="0"/>
              </a:spcBef>
              <a:spcAft>
                <a:spcPts val="0"/>
              </a:spcAft>
            </a:pPr>
            <a:r>
              <a:rPr sz="3200" b="0" i="0">
                <a:solidFill>
                  <a:srgbClr val="007A33"/>
                </a:solidFill>
                <a:latin typeface="Palatino"/>
              </a:rPr>
              <a:t>Non failure swing</a:t>
            </a:r>
          </a:p>
        </p:txBody>
      </p:sp>
      <p:sp>
        <p:nvSpPr>
          <p:cNvPr id="6" name="Rectangle 5"/>
          <p:cNvSpPr/>
          <p:nvPr/>
        </p:nvSpPr>
        <p:spPr>
          <a:xfrm>
            <a:off x="777240" y="1874519"/>
            <a:ext cx="10637215" cy="15875"/>
          </a:xfrm>
          <a:prstGeom prst="rect">
            <a:avLst/>
          </a:prstGeom>
          <a:solidFill>
            <a:srgbClr val="D7E0D9"/>
          </a:solidFill>
          <a:ln>
            <a:noFill/>
          </a:ln>
          <a:effectLst/>
        </p:spPr>
        <p:txBody>
          <a:bodyPr rtlCol="0" anchor="ctr"/>
          <a:lstStyle/>
          <a:p>
            <a:pPr algn="ctr"/>
          </a:p>
        </p:txBody>
      </p:sp>
      <p:sp>
        <p:nvSpPr>
          <p:cNvPr id="7" name="Rectangle 6"/>
          <p:cNvSpPr/>
          <p:nvPr/>
        </p:nvSpPr>
        <p:spPr>
          <a:xfrm>
            <a:off x="777240" y="2258568"/>
            <a:ext cx="64008" cy="811022"/>
          </a:xfrm>
          <a:prstGeom prst="rect">
            <a:avLst/>
          </a:prstGeom>
          <a:solidFill>
            <a:srgbClr val="F2A900"/>
          </a:solidFill>
          <a:ln>
            <a:noFill/>
          </a:ln>
          <a:effectLst/>
        </p:spPr>
        <p:txBody>
          <a:bodyPr rtlCol="0" anchor="ctr"/>
          <a:lstStyle/>
          <a:p>
            <a:pPr algn="ctr"/>
          </a:p>
        </p:txBody>
      </p:sp>
      <p:sp>
        <p:nvSpPr>
          <p:cNvPr id="8" name="TextBox 7"/>
          <p:cNvSpPr txBox="1"/>
          <p:nvPr/>
        </p:nvSpPr>
        <p:spPr>
          <a:xfrm>
            <a:off x="1051560" y="2212848"/>
            <a:ext cx="10362895" cy="920750"/>
          </a:xfrm>
          <a:prstGeom prst="rect">
            <a:avLst/>
          </a:prstGeom>
          <a:noFill/>
        </p:spPr>
        <p:txBody>
          <a:bodyPr wrap="square" anchor="t" lIns="0" rIns="0" tIns="0" bIns="0">
            <a:spAutoFit/>
          </a:bodyPr>
          <a:lstStyle/>
          <a:p>
            <a:pPr algn="l">
              <a:lnSpc>
                <a:spcPct val="100000"/>
              </a:lnSpc>
              <a:spcBef>
                <a:spcPts val="0"/>
              </a:spcBef>
              <a:spcAft>
                <a:spcPts val="400"/>
              </a:spcAft>
            </a:pPr>
            <a:r>
              <a:rPr sz="1100" b="1" i="0">
                <a:solidFill>
                  <a:srgbClr val="818181"/>
                </a:solidFill>
                <a:latin typeface="Arial"/>
              </a:rPr>
              <a:t>IN PLAIN WORDS</a:t>
            </a:r>
          </a:p>
          <a:p>
            <a:pPr algn="l">
              <a:lnSpc>
                <a:spcPct val="115000"/>
              </a:lnSpc>
              <a:spcBef>
                <a:spcPts val="0"/>
              </a:spcBef>
              <a:spcAft>
                <a:spcPts val="0"/>
              </a:spcAft>
            </a:pPr>
            <a:r>
              <a:rPr sz="1900" b="1" i="0">
                <a:solidFill>
                  <a:srgbClr val="1A1A1A"/>
                </a:solidFill>
                <a:latin typeface="Arial"/>
              </a:rPr>
              <a:t>The second peak does beat the first one, and the market still turns down afterwards.</a:t>
            </a:r>
          </a:p>
        </p:txBody>
      </p:sp>
      <p:sp>
        <p:nvSpPr>
          <p:cNvPr id="9" name="Rectangle 8"/>
          <p:cNvSpPr/>
          <p:nvPr/>
        </p:nvSpPr>
        <p:spPr>
          <a:xfrm>
            <a:off x="777240" y="3417061"/>
            <a:ext cx="64008" cy="533527"/>
          </a:xfrm>
          <a:prstGeom prst="rect">
            <a:avLst/>
          </a:prstGeom>
          <a:solidFill>
            <a:srgbClr val="D7E0D9"/>
          </a:solidFill>
          <a:ln>
            <a:noFill/>
          </a:ln>
          <a:effectLst/>
        </p:spPr>
        <p:txBody>
          <a:bodyPr rtlCol="0" anchor="ctr"/>
          <a:lstStyle/>
          <a:p>
            <a:pPr algn="ctr"/>
          </a:p>
        </p:txBody>
      </p:sp>
      <p:sp>
        <p:nvSpPr>
          <p:cNvPr id="10" name="TextBox 9"/>
          <p:cNvSpPr txBox="1"/>
          <p:nvPr/>
        </p:nvSpPr>
        <p:spPr>
          <a:xfrm>
            <a:off x="1051560" y="3371342"/>
            <a:ext cx="10362895" cy="643255"/>
          </a:xfrm>
          <a:prstGeom prst="rect">
            <a:avLst/>
          </a:prstGeom>
          <a:noFill/>
        </p:spPr>
        <p:txBody>
          <a:bodyPr wrap="square" anchor="t" lIns="0" rIns="0" tIns="0" bIns="0">
            <a:spAutoFit/>
          </a:bodyPr>
          <a:lstStyle/>
          <a:p>
            <a:pPr algn="l">
              <a:lnSpc>
                <a:spcPct val="100000"/>
              </a:lnSpc>
              <a:spcBef>
                <a:spcPts val="0"/>
              </a:spcBef>
              <a:spcAft>
                <a:spcPts val="400"/>
              </a:spcAft>
            </a:pPr>
            <a:r>
              <a:rPr sz="1100" b="1" i="0">
                <a:solidFill>
                  <a:srgbClr val="818181"/>
                </a:solidFill>
                <a:latin typeface="Arial"/>
              </a:rPr>
              <a:t>FOR EXAMPLE</a:t>
            </a:r>
          </a:p>
          <a:p>
            <a:pPr algn="l">
              <a:lnSpc>
                <a:spcPct val="115000"/>
              </a:lnSpc>
              <a:spcBef>
                <a:spcPts val="0"/>
              </a:spcBef>
              <a:spcAft>
                <a:spcPts val="0"/>
              </a:spcAft>
            </a:pPr>
            <a:r>
              <a:rPr sz="1900" b="0" i="0">
                <a:solidFill>
                  <a:srgbClr val="1A1A1A"/>
                </a:solidFill>
                <a:latin typeface="Arial"/>
              </a:rPr>
              <a:t>Price peaks at 141, falls back, rallies to 146, and then rolls over anyway.</a:t>
            </a:r>
          </a:p>
        </p:txBody>
      </p:sp>
      <p:sp>
        <p:nvSpPr>
          <p:cNvPr id="11" name="Rectangle 10"/>
          <p:cNvSpPr/>
          <p:nvPr/>
        </p:nvSpPr>
        <p:spPr>
          <a:xfrm>
            <a:off x="777240" y="4298061"/>
            <a:ext cx="64008" cy="1366012"/>
          </a:xfrm>
          <a:prstGeom prst="rect">
            <a:avLst/>
          </a:prstGeom>
          <a:solidFill>
            <a:srgbClr val="D7E0D9"/>
          </a:solidFill>
          <a:ln>
            <a:noFill/>
          </a:ln>
          <a:effectLst/>
        </p:spPr>
        <p:txBody>
          <a:bodyPr rtlCol="0" anchor="ctr"/>
          <a:lstStyle/>
          <a:p>
            <a:pPr algn="ctr"/>
          </a:p>
        </p:txBody>
      </p:sp>
      <p:sp>
        <p:nvSpPr>
          <p:cNvPr id="12" name="TextBox 11"/>
          <p:cNvSpPr txBox="1"/>
          <p:nvPr/>
        </p:nvSpPr>
        <p:spPr>
          <a:xfrm>
            <a:off x="1051560" y="4252341"/>
            <a:ext cx="10362895" cy="1475740"/>
          </a:xfrm>
          <a:prstGeom prst="rect">
            <a:avLst/>
          </a:prstGeom>
          <a:noFill/>
        </p:spPr>
        <p:txBody>
          <a:bodyPr wrap="square" anchor="t" lIns="0" rIns="0" tIns="0" bIns="0">
            <a:spAutoFit/>
          </a:bodyPr>
          <a:lstStyle/>
          <a:p>
            <a:pPr algn="l">
              <a:lnSpc>
                <a:spcPct val="100000"/>
              </a:lnSpc>
              <a:spcBef>
                <a:spcPts val="0"/>
              </a:spcBef>
              <a:spcAft>
                <a:spcPts val="400"/>
              </a:spcAft>
            </a:pPr>
            <a:r>
              <a:rPr sz="1100" b="1" i="0">
                <a:solidFill>
                  <a:srgbClr val="818181"/>
                </a:solidFill>
                <a:latin typeface="Arial"/>
              </a:rPr>
              <a:t>THE FORMAL DEFINITION</a:t>
            </a:r>
          </a:p>
          <a:p>
            <a:pPr algn="l">
              <a:lnSpc>
                <a:spcPct val="115000"/>
              </a:lnSpc>
              <a:spcBef>
                <a:spcPts val="0"/>
              </a:spcBef>
              <a:spcAft>
                <a:spcPts val="0"/>
              </a:spcAft>
            </a:pPr>
            <a:r>
              <a:rPr sz="1900" b="0" i="0">
                <a:solidFill>
                  <a:srgbClr val="1A1A1A"/>
                </a:solidFill>
                <a:latin typeface="Arial"/>
              </a:rPr>
              <a:t>In a non failure swing, the second peak succeeds in penetrating the previous peak. Because the formation was still making a higher peak, more evidence is required, so the conclusive sell signal comes at the penetration of the second and lower support level rather than the first.</a:t>
            </a:r>
          </a:p>
        </p:txBody>
      </p:sp>
      <p:sp>
        <p:nvSpPr>
          <p:cNvPr id="13" name="TextBox 12"/>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5 of 6 - Phases and reversal  |  18 of 22</a:t>
            </a:r>
          </a:p>
        </p:txBody>
      </p:sp>
    </p:spTree>
  </p:cSld>
  <p:clrMapOvr>
    <a:masterClrMapping/>
  </p:clrMapOvr>
</p:sld>
</file>

<file path=ppt/slides/slide9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Rectangle 3"/>
          <p:cNvSpPr/>
          <p:nvPr/>
        </p:nvSpPr>
        <p:spPr>
          <a:xfrm>
            <a:off x="777240" y="566928"/>
            <a:ext cx="1234440" cy="329184"/>
          </a:xfrm>
          <a:prstGeom prst="rect">
            <a:avLst/>
          </a:prstGeom>
          <a:solidFill>
            <a:srgbClr val="F2A900"/>
          </a:solidFill>
          <a:ln>
            <a:noFill/>
          </a:ln>
          <a:effectLst/>
        </p:spPr>
        <p:txBody>
          <a:bodyPr rtlCol="0" anchor="ctr" wrap="none" lIns="0" rIns="0" tIns="0" bIns="0"/>
          <a:lstStyle/>
          <a:p>
            <a:pPr algn="ctr">
              <a:lnSpc>
                <a:spcPct val="100000"/>
              </a:lnSpc>
              <a:spcBef>
                <a:spcPts val="0"/>
              </a:spcBef>
              <a:spcAft>
                <a:spcPts val="0"/>
              </a:spcAft>
            </a:pPr>
            <a:r>
              <a:rPr sz="1200" b="1" i="0">
                <a:solidFill>
                  <a:srgbClr val="1A1A1A"/>
                </a:solidFill>
                <a:latin typeface="Arial"/>
              </a:rPr>
              <a:t>NEW TERM</a:t>
            </a:r>
          </a:p>
        </p:txBody>
      </p:sp>
      <p:sp>
        <p:nvSpPr>
          <p:cNvPr id="5" name="TextBox 4"/>
          <p:cNvSpPr txBox="1"/>
          <p:nvPr/>
        </p:nvSpPr>
        <p:spPr>
          <a:xfrm>
            <a:off x="777240" y="1051560"/>
            <a:ext cx="10637215" cy="822960"/>
          </a:xfrm>
          <a:prstGeom prst="rect">
            <a:avLst/>
          </a:prstGeom>
          <a:noFill/>
        </p:spPr>
        <p:txBody>
          <a:bodyPr wrap="square" anchor="t" lIns="0" rIns="0" tIns="0" bIns="0">
            <a:spAutoFit/>
          </a:bodyPr>
          <a:lstStyle/>
          <a:p>
            <a:pPr algn="l">
              <a:lnSpc>
                <a:spcPct val="105000"/>
              </a:lnSpc>
              <a:spcBef>
                <a:spcPts val="0"/>
              </a:spcBef>
              <a:spcAft>
                <a:spcPts val="0"/>
              </a:spcAft>
            </a:pPr>
            <a:r>
              <a:rPr sz="3200" b="0" i="0">
                <a:solidFill>
                  <a:srgbClr val="007A33"/>
                </a:solidFill>
                <a:latin typeface="Palatino"/>
              </a:rPr>
              <a:t>Double top and double bottom</a:t>
            </a:r>
          </a:p>
        </p:txBody>
      </p:sp>
      <p:sp>
        <p:nvSpPr>
          <p:cNvPr id="6" name="Rectangle 5"/>
          <p:cNvSpPr/>
          <p:nvPr/>
        </p:nvSpPr>
        <p:spPr>
          <a:xfrm>
            <a:off x="777240" y="1874519"/>
            <a:ext cx="10637215" cy="15875"/>
          </a:xfrm>
          <a:prstGeom prst="rect">
            <a:avLst/>
          </a:prstGeom>
          <a:solidFill>
            <a:srgbClr val="D7E0D9"/>
          </a:solidFill>
          <a:ln>
            <a:noFill/>
          </a:ln>
          <a:effectLst/>
        </p:spPr>
        <p:txBody>
          <a:bodyPr rtlCol="0" anchor="ctr"/>
          <a:lstStyle/>
          <a:p>
            <a:pPr algn="ctr"/>
          </a:p>
        </p:txBody>
      </p:sp>
      <p:sp>
        <p:nvSpPr>
          <p:cNvPr id="7" name="Rectangle 6"/>
          <p:cNvSpPr/>
          <p:nvPr/>
        </p:nvSpPr>
        <p:spPr>
          <a:xfrm>
            <a:off x="777240" y="2258568"/>
            <a:ext cx="64008" cy="811022"/>
          </a:xfrm>
          <a:prstGeom prst="rect">
            <a:avLst/>
          </a:prstGeom>
          <a:solidFill>
            <a:srgbClr val="F2A900"/>
          </a:solidFill>
          <a:ln>
            <a:noFill/>
          </a:ln>
          <a:effectLst/>
        </p:spPr>
        <p:txBody>
          <a:bodyPr rtlCol="0" anchor="ctr"/>
          <a:lstStyle/>
          <a:p>
            <a:pPr algn="ctr"/>
          </a:p>
        </p:txBody>
      </p:sp>
      <p:sp>
        <p:nvSpPr>
          <p:cNvPr id="8" name="TextBox 7"/>
          <p:cNvSpPr txBox="1"/>
          <p:nvPr/>
        </p:nvSpPr>
        <p:spPr>
          <a:xfrm>
            <a:off x="1051560" y="2212848"/>
            <a:ext cx="10362895" cy="920750"/>
          </a:xfrm>
          <a:prstGeom prst="rect">
            <a:avLst/>
          </a:prstGeom>
          <a:noFill/>
        </p:spPr>
        <p:txBody>
          <a:bodyPr wrap="square" anchor="t" lIns="0" rIns="0" tIns="0" bIns="0">
            <a:spAutoFit/>
          </a:bodyPr>
          <a:lstStyle/>
          <a:p>
            <a:pPr algn="l">
              <a:lnSpc>
                <a:spcPct val="100000"/>
              </a:lnSpc>
              <a:spcBef>
                <a:spcPts val="0"/>
              </a:spcBef>
              <a:spcAft>
                <a:spcPts val="400"/>
              </a:spcAft>
            </a:pPr>
            <a:r>
              <a:rPr sz="1100" b="1" i="0">
                <a:solidFill>
                  <a:srgbClr val="818181"/>
                </a:solidFill>
                <a:latin typeface="Arial"/>
              </a:rPr>
              <a:t>IN PLAIN WORDS</a:t>
            </a:r>
          </a:p>
          <a:p>
            <a:pPr algn="l">
              <a:lnSpc>
                <a:spcPct val="115000"/>
              </a:lnSpc>
              <a:spcBef>
                <a:spcPts val="0"/>
              </a:spcBef>
              <a:spcAft>
                <a:spcPts val="0"/>
              </a:spcAft>
            </a:pPr>
            <a:r>
              <a:rPr sz="1900" b="1" i="0">
                <a:solidFill>
                  <a:srgbClr val="1A1A1A"/>
                </a:solidFill>
                <a:latin typeface="Arial"/>
              </a:rPr>
              <a:t>The second attempt matches the first one almost exactly. The market got back to the same level and stopped there twice.</a:t>
            </a:r>
          </a:p>
        </p:txBody>
      </p:sp>
      <p:sp>
        <p:nvSpPr>
          <p:cNvPr id="9" name="Rectangle 8"/>
          <p:cNvSpPr/>
          <p:nvPr/>
        </p:nvSpPr>
        <p:spPr>
          <a:xfrm>
            <a:off x="777240" y="3417061"/>
            <a:ext cx="64008" cy="533527"/>
          </a:xfrm>
          <a:prstGeom prst="rect">
            <a:avLst/>
          </a:prstGeom>
          <a:solidFill>
            <a:srgbClr val="D7E0D9"/>
          </a:solidFill>
          <a:ln>
            <a:noFill/>
          </a:ln>
          <a:effectLst/>
        </p:spPr>
        <p:txBody>
          <a:bodyPr rtlCol="0" anchor="ctr"/>
          <a:lstStyle/>
          <a:p>
            <a:pPr algn="ctr"/>
          </a:p>
        </p:txBody>
      </p:sp>
      <p:sp>
        <p:nvSpPr>
          <p:cNvPr id="10" name="TextBox 9"/>
          <p:cNvSpPr txBox="1"/>
          <p:nvPr/>
        </p:nvSpPr>
        <p:spPr>
          <a:xfrm>
            <a:off x="1051560" y="3371342"/>
            <a:ext cx="10362895" cy="643255"/>
          </a:xfrm>
          <a:prstGeom prst="rect">
            <a:avLst/>
          </a:prstGeom>
          <a:noFill/>
        </p:spPr>
        <p:txBody>
          <a:bodyPr wrap="square" anchor="t" lIns="0" rIns="0" tIns="0" bIns="0">
            <a:spAutoFit/>
          </a:bodyPr>
          <a:lstStyle/>
          <a:p>
            <a:pPr algn="l">
              <a:lnSpc>
                <a:spcPct val="100000"/>
              </a:lnSpc>
              <a:spcBef>
                <a:spcPts val="0"/>
              </a:spcBef>
              <a:spcAft>
                <a:spcPts val="400"/>
              </a:spcAft>
            </a:pPr>
            <a:r>
              <a:rPr sz="1100" b="1" i="0">
                <a:solidFill>
                  <a:srgbClr val="818181"/>
                </a:solidFill>
                <a:latin typeface="Arial"/>
              </a:rPr>
              <a:t>FOR EXAMPLE</a:t>
            </a:r>
          </a:p>
          <a:p>
            <a:pPr algn="l">
              <a:lnSpc>
                <a:spcPct val="115000"/>
              </a:lnSpc>
              <a:spcBef>
                <a:spcPts val="0"/>
              </a:spcBef>
              <a:spcAft>
                <a:spcPts val="0"/>
              </a:spcAft>
            </a:pPr>
            <a:r>
              <a:rPr sz="1900" b="0" i="0">
                <a:solidFill>
                  <a:srgbClr val="1A1A1A"/>
                </a:solidFill>
                <a:latin typeface="Arial"/>
              </a:rPr>
              <a:t>Price peaks at 141 pesos, falls back, and rallies to 141 again before turning down.</a:t>
            </a:r>
          </a:p>
        </p:txBody>
      </p:sp>
      <p:sp>
        <p:nvSpPr>
          <p:cNvPr id="11" name="Rectangle 10"/>
          <p:cNvSpPr/>
          <p:nvPr/>
        </p:nvSpPr>
        <p:spPr>
          <a:xfrm>
            <a:off x="777240" y="4298061"/>
            <a:ext cx="64008" cy="1088517"/>
          </a:xfrm>
          <a:prstGeom prst="rect">
            <a:avLst/>
          </a:prstGeom>
          <a:solidFill>
            <a:srgbClr val="D7E0D9"/>
          </a:solidFill>
          <a:ln>
            <a:noFill/>
          </a:ln>
          <a:effectLst/>
        </p:spPr>
        <p:txBody>
          <a:bodyPr rtlCol="0" anchor="ctr"/>
          <a:lstStyle/>
          <a:p>
            <a:pPr algn="ctr"/>
          </a:p>
        </p:txBody>
      </p:sp>
      <p:sp>
        <p:nvSpPr>
          <p:cNvPr id="12" name="TextBox 11"/>
          <p:cNvSpPr txBox="1"/>
          <p:nvPr/>
        </p:nvSpPr>
        <p:spPr>
          <a:xfrm>
            <a:off x="1051560" y="4252341"/>
            <a:ext cx="10362895" cy="1198245"/>
          </a:xfrm>
          <a:prstGeom prst="rect">
            <a:avLst/>
          </a:prstGeom>
          <a:noFill/>
        </p:spPr>
        <p:txBody>
          <a:bodyPr wrap="square" anchor="t" lIns="0" rIns="0" tIns="0" bIns="0">
            <a:spAutoFit/>
          </a:bodyPr>
          <a:lstStyle/>
          <a:p>
            <a:pPr algn="l">
              <a:lnSpc>
                <a:spcPct val="100000"/>
              </a:lnSpc>
              <a:spcBef>
                <a:spcPts val="0"/>
              </a:spcBef>
              <a:spcAft>
                <a:spcPts val="400"/>
              </a:spcAft>
            </a:pPr>
            <a:r>
              <a:rPr sz="1100" b="1" i="0">
                <a:solidFill>
                  <a:srgbClr val="818181"/>
                </a:solidFill>
                <a:latin typeface="Arial"/>
              </a:rPr>
              <a:t>THE FORMAL DEFINITION</a:t>
            </a:r>
          </a:p>
          <a:p>
            <a:pPr algn="l">
              <a:lnSpc>
                <a:spcPct val="115000"/>
              </a:lnSpc>
              <a:spcBef>
                <a:spcPts val="0"/>
              </a:spcBef>
              <a:spcAft>
                <a:spcPts val="0"/>
              </a:spcAft>
            </a:pPr>
            <a:r>
              <a:rPr sz="1900" b="0" i="0">
                <a:solidFill>
                  <a:srgbClr val="1A1A1A"/>
                </a:solidFill>
                <a:latin typeface="Arial"/>
              </a:rPr>
              <a:t>A double top is the top reversal variation in which the second peak matches the level of the previous peak. A double bottom is its mirror image, where the second trough matches the level of the previous trough.</a:t>
            </a:r>
          </a:p>
        </p:txBody>
      </p:sp>
      <p:sp>
        <p:nvSpPr>
          <p:cNvPr id="13" name="TextBox 12"/>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5 of 6 - Phases and reversal  |  19 of 22</a:t>
            </a:r>
          </a:p>
        </p:txBody>
      </p:sp>
    </p:spTree>
  </p:cSld>
  <p:clrMapOvr>
    <a:masterClrMapping/>
  </p:clrMapOvr>
</p:sld>
</file>

<file path=ppt/slides/slide9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TextBox 3"/>
          <p:cNvSpPr txBox="1"/>
          <p:nvPr/>
        </p:nvSpPr>
        <p:spPr>
          <a:xfrm>
            <a:off x="777240" y="658368"/>
            <a:ext cx="10637215" cy="914400"/>
          </a:xfrm>
          <a:prstGeom prst="rect">
            <a:avLst/>
          </a:prstGeom>
          <a:noFill/>
        </p:spPr>
        <p:txBody>
          <a:bodyPr wrap="square" anchor="t" lIns="0" rIns="0" tIns="0" bIns="0">
            <a:spAutoFit/>
          </a:bodyPr>
          <a:lstStyle/>
          <a:p>
            <a:pPr algn="l">
              <a:lnSpc>
                <a:spcPct val="105000"/>
              </a:lnSpc>
              <a:spcBef>
                <a:spcPts val="0"/>
              </a:spcBef>
              <a:spcAft>
                <a:spcPts val="0"/>
              </a:spcAft>
            </a:pPr>
            <a:r>
              <a:rPr sz="3000" b="0" i="0">
                <a:solidFill>
                  <a:srgbClr val="007A33"/>
                </a:solidFill>
                <a:latin typeface="Palatino"/>
              </a:rPr>
              <a:t>The three top reversal patterns</a:t>
            </a:r>
          </a:p>
        </p:txBody>
      </p:sp>
      <p:sp>
        <p:nvSpPr>
          <p:cNvPr id="5" name="Rectangle 4"/>
          <p:cNvSpPr/>
          <p:nvPr/>
        </p:nvSpPr>
        <p:spPr>
          <a:xfrm>
            <a:off x="777240" y="1572768"/>
            <a:ext cx="10637215" cy="15875"/>
          </a:xfrm>
          <a:prstGeom prst="rect">
            <a:avLst/>
          </a:prstGeom>
          <a:solidFill>
            <a:srgbClr val="D7E0D9"/>
          </a:solidFill>
          <a:ln>
            <a:noFill/>
          </a:ln>
          <a:effectLst/>
        </p:spPr>
        <p:txBody>
          <a:bodyPr rtlCol="0" anchor="ctr"/>
          <a:lstStyle/>
          <a:p>
            <a:pPr algn="ctr"/>
          </a:p>
        </p:txBody>
      </p:sp>
      <p:sp>
        <p:nvSpPr>
          <p:cNvPr id="6" name="TextBox 5"/>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5 of 6 - Phases and reversal  |  20 of 22</a:t>
            </a:r>
          </a:p>
        </p:txBody>
      </p:sp>
      <p:sp>
        <p:nvSpPr>
          <p:cNvPr id="7" name="Rectangle 6"/>
          <p:cNvSpPr/>
          <p:nvPr/>
        </p:nvSpPr>
        <p:spPr>
          <a:xfrm>
            <a:off x="2346807" y="1810512"/>
            <a:ext cx="7498079" cy="3749039"/>
          </a:xfrm>
          <a:prstGeom prst="rect">
            <a:avLst/>
          </a:prstGeom>
          <a:solidFill>
            <a:srgbClr val="FFFFFF"/>
          </a:solidFill>
          <a:ln w="12700">
            <a:solidFill>
              <a:srgbClr val="D7E0D9"/>
            </a:solidFill>
          </a:ln>
          <a:effectLst/>
        </p:spPr>
        <p:txBody>
          <a:bodyPr rtlCol="0" anchor="ctr"/>
          <a:lstStyle/>
          <a:p>
            <a:pPr algn="ctr"/>
          </a:p>
        </p:txBody>
      </p:sp>
      <p:sp>
        <p:nvSpPr>
          <p:cNvPr id="8" name="Rectangle 7"/>
          <p:cNvSpPr/>
          <p:nvPr/>
        </p:nvSpPr>
        <p:spPr>
          <a:xfrm>
            <a:off x="2346807" y="1810512"/>
            <a:ext cx="7498079" cy="50800"/>
          </a:xfrm>
          <a:prstGeom prst="rect">
            <a:avLst/>
          </a:prstGeom>
          <a:solidFill>
            <a:srgbClr val="F2A900"/>
          </a:solidFill>
          <a:ln>
            <a:noFill/>
          </a:ln>
          <a:effectLst/>
        </p:spPr>
        <p:txBody>
          <a:bodyPr rtlCol="0" anchor="ctr"/>
          <a:lstStyle/>
          <a:p>
            <a:pPr algn="ctr"/>
          </a:p>
        </p:txBody>
      </p:sp>
      <p:sp>
        <p:nvSpPr>
          <p:cNvPr id="9" name="TextBox 8"/>
          <p:cNvSpPr txBox="1"/>
          <p:nvPr/>
        </p:nvSpPr>
        <p:spPr>
          <a:xfrm>
            <a:off x="2895447" y="2450591"/>
            <a:ext cx="6400799" cy="2651759"/>
          </a:xfrm>
          <a:prstGeom prst="rect">
            <a:avLst/>
          </a:prstGeom>
          <a:noFill/>
        </p:spPr>
        <p:txBody>
          <a:bodyPr wrap="square" anchor="t" lIns="0" rIns="0" tIns="0" bIns="0">
            <a:spAutoFit/>
          </a:bodyPr>
          <a:lstStyle/>
          <a:p>
            <a:pPr algn="l">
              <a:lnSpc>
                <a:spcPct val="100000"/>
              </a:lnSpc>
              <a:spcBef>
                <a:spcPts val="0"/>
              </a:spcBef>
              <a:spcAft>
                <a:spcPts val="1400"/>
              </a:spcAft>
            </a:pPr>
            <a:r>
              <a:rPr sz="1500" b="1" i="0">
                <a:solidFill>
                  <a:srgbClr val="818181"/>
                </a:solidFill>
                <a:latin typeface="Arial"/>
              </a:rPr>
              <a:t>FIGURE 2.18</a:t>
            </a:r>
          </a:p>
          <a:p>
            <a:pPr algn="l">
              <a:lnSpc>
                <a:spcPct val="120000"/>
              </a:lnSpc>
              <a:spcBef>
                <a:spcPts val="0"/>
              </a:spcBef>
              <a:spcAft>
                <a:spcPts val="1800"/>
              </a:spcAft>
            </a:pPr>
            <a:r>
              <a:rPr sz="2200" b="0" i="0">
                <a:solidFill>
                  <a:srgbClr val="1A1A1A"/>
                </a:solidFill>
                <a:latin typeface="Palatino"/>
              </a:rPr>
              <a:t>Three schematic top reversals side by side: a failure swing where the second peak does not reach the first, a double top where it matches, and a non failure swing where it exceeds it, each with its sell signal marked.</a:t>
            </a:r>
          </a:p>
          <a:p>
            <a:pPr algn="l">
              <a:lnSpc>
                <a:spcPct val="115000"/>
              </a:lnSpc>
              <a:spcBef>
                <a:spcPts val="0"/>
              </a:spcBef>
              <a:spcAft>
                <a:spcPts val="0"/>
              </a:spcAft>
            </a:pPr>
            <a:r>
              <a:rPr sz="1400" b="0" i="1">
                <a:solidFill>
                  <a:srgbClr val="818181"/>
                </a:solidFill>
                <a:latin typeface="Arial"/>
              </a:rPr>
              <a:t>The artwork is copyrighted and is not in the public repository. Build with assets/figures/ present to place it here.</a:t>
            </a:r>
          </a:p>
        </p:txBody>
      </p:sp>
      <p:sp>
        <p:nvSpPr>
          <p:cNvPr id="10" name="TextBox 9"/>
          <p:cNvSpPr txBox="1"/>
          <p:nvPr/>
        </p:nvSpPr>
        <p:spPr>
          <a:xfrm>
            <a:off x="777240" y="5669280"/>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300" b="0" i="0">
                <a:solidFill>
                  <a:srgbClr val="818181"/>
                </a:solidFill>
                <a:latin typeface="Arial"/>
              </a:rPr>
              <a:t>Figure 2.18 - Lim, The Handbook of Technical Analysis (Wiley, 2016)</a:t>
            </a:r>
          </a:p>
        </p:txBody>
      </p:sp>
    </p:spTree>
  </p:cSld>
  <p:clrMapOvr>
    <a:masterClrMapping/>
  </p:clrMapOvr>
</p:sld>
</file>

<file path=ppt/slides/slide9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TextBox 3"/>
          <p:cNvSpPr txBox="1"/>
          <p:nvPr/>
        </p:nvSpPr>
        <p:spPr>
          <a:xfrm>
            <a:off x="777240" y="658368"/>
            <a:ext cx="10637215" cy="914400"/>
          </a:xfrm>
          <a:prstGeom prst="rect">
            <a:avLst/>
          </a:prstGeom>
          <a:noFill/>
        </p:spPr>
        <p:txBody>
          <a:bodyPr wrap="square" anchor="t" lIns="0" rIns="0" tIns="0" bIns="0">
            <a:spAutoFit/>
          </a:bodyPr>
          <a:lstStyle/>
          <a:p>
            <a:pPr algn="l">
              <a:lnSpc>
                <a:spcPct val="105000"/>
              </a:lnSpc>
              <a:spcBef>
                <a:spcPts val="0"/>
              </a:spcBef>
              <a:spcAft>
                <a:spcPts val="0"/>
              </a:spcAft>
            </a:pPr>
            <a:r>
              <a:rPr sz="3000" b="0" i="0">
                <a:solidFill>
                  <a:srgbClr val="007A33"/>
                </a:solidFill>
                <a:latin typeface="Palatino"/>
              </a:rPr>
              <a:t>The three bottom reversal patterns</a:t>
            </a:r>
          </a:p>
        </p:txBody>
      </p:sp>
      <p:sp>
        <p:nvSpPr>
          <p:cNvPr id="5" name="Rectangle 4"/>
          <p:cNvSpPr/>
          <p:nvPr/>
        </p:nvSpPr>
        <p:spPr>
          <a:xfrm>
            <a:off x="777240" y="1572768"/>
            <a:ext cx="10637215" cy="15875"/>
          </a:xfrm>
          <a:prstGeom prst="rect">
            <a:avLst/>
          </a:prstGeom>
          <a:solidFill>
            <a:srgbClr val="D7E0D9"/>
          </a:solidFill>
          <a:ln>
            <a:noFill/>
          </a:ln>
          <a:effectLst/>
        </p:spPr>
        <p:txBody>
          <a:bodyPr rtlCol="0" anchor="ctr"/>
          <a:lstStyle/>
          <a:p>
            <a:pPr algn="ctr"/>
          </a:p>
        </p:txBody>
      </p:sp>
      <p:sp>
        <p:nvSpPr>
          <p:cNvPr id="6" name="TextBox 5"/>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5 of 6 - Phases and reversal  |  21 of 22</a:t>
            </a:r>
          </a:p>
        </p:txBody>
      </p:sp>
      <p:sp>
        <p:nvSpPr>
          <p:cNvPr id="7" name="Rectangle 6"/>
          <p:cNvSpPr/>
          <p:nvPr/>
        </p:nvSpPr>
        <p:spPr>
          <a:xfrm>
            <a:off x="2346807" y="1810512"/>
            <a:ext cx="7498079" cy="3749039"/>
          </a:xfrm>
          <a:prstGeom prst="rect">
            <a:avLst/>
          </a:prstGeom>
          <a:solidFill>
            <a:srgbClr val="FFFFFF"/>
          </a:solidFill>
          <a:ln w="12700">
            <a:solidFill>
              <a:srgbClr val="D7E0D9"/>
            </a:solidFill>
          </a:ln>
          <a:effectLst/>
        </p:spPr>
        <p:txBody>
          <a:bodyPr rtlCol="0" anchor="ctr"/>
          <a:lstStyle/>
          <a:p>
            <a:pPr algn="ctr"/>
          </a:p>
        </p:txBody>
      </p:sp>
      <p:sp>
        <p:nvSpPr>
          <p:cNvPr id="8" name="Rectangle 7"/>
          <p:cNvSpPr/>
          <p:nvPr/>
        </p:nvSpPr>
        <p:spPr>
          <a:xfrm>
            <a:off x="2346807" y="1810512"/>
            <a:ext cx="7498079" cy="50800"/>
          </a:xfrm>
          <a:prstGeom prst="rect">
            <a:avLst/>
          </a:prstGeom>
          <a:solidFill>
            <a:srgbClr val="F2A900"/>
          </a:solidFill>
          <a:ln>
            <a:noFill/>
          </a:ln>
          <a:effectLst/>
        </p:spPr>
        <p:txBody>
          <a:bodyPr rtlCol="0" anchor="ctr"/>
          <a:lstStyle/>
          <a:p>
            <a:pPr algn="ctr"/>
          </a:p>
        </p:txBody>
      </p:sp>
      <p:sp>
        <p:nvSpPr>
          <p:cNvPr id="9" name="TextBox 8"/>
          <p:cNvSpPr txBox="1"/>
          <p:nvPr/>
        </p:nvSpPr>
        <p:spPr>
          <a:xfrm>
            <a:off x="2895447" y="2450591"/>
            <a:ext cx="6400799" cy="2651759"/>
          </a:xfrm>
          <a:prstGeom prst="rect">
            <a:avLst/>
          </a:prstGeom>
          <a:noFill/>
        </p:spPr>
        <p:txBody>
          <a:bodyPr wrap="square" anchor="t" lIns="0" rIns="0" tIns="0" bIns="0">
            <a:spAutoFit/>
          </a:bodyPr>
          <a:lstStyle/>
          <a:p>
            <a:pPr algn="l">
              <a:lnSpc>
                <a:spcPct val="100000"/>
              </a:lnSpc>
              <a:spcBef>
                <a:spcPts val="0"/>
              </a:spcBef>
              <a:spcAft>
                <a:spcPts val="1400"/>
              </a:spcAft>
            </a:pPr>
            <a:r>
              <a:rPr sz="1500" b="1" i="0">
                <a:solidFill>
                  <a:srgbClr val="818181"/>
                </a:solidFill>
                <a:latin typeface="Arial"/>
              </a:rPr>
              <a:t>FIGURE 2.19</a:t>
            </a:r>
          </a:p>
          <a:p>
            <a:pPr algn="l">
              <a:lnSpc>
                <a:spcPct val="120000"/>
              </a:lnSpc>
              <a:spcBef>
                <a:spcPts val="0"/>
              </a:spcBef>
              <a:spcAft>
                <a:spcPts val="1800"/>
              </a:spcAft>
            </a:pPr>
            <a:r>
              <a:rPr sz="2200" b="0" i="0">
                <a:solidFill>
                  <a:srgbClr val="1A1A1A"/>
                </a:solidFill>
                <a:latin typeface="Palatino"/>
              </a:rPr>
              <a:t>The same three formations inverted as bottom reversals, with the buy signal marked on each.</a:t>
            </a:r>
          </a:p>
          <a:p>
            <a:pPr algn="l">
              <a:lnSpc>
                <a:spcPct val="115000"/>
              </a:lnSpc>
              <a:spcBef>
                <a:spcPts val="0"/>
              </a:spcBef>
              <a:spcAft>
                <a:spcPts val="0"/>
              </a:spcAft>
            </a:pPr>
            <a:r>
              <a:rPr sz="1400" b="0" i="1">
                <a:solidFill>
                  <a:srgbClr val="818181"/>
                </a:solidFill>
                <a:latin typeface="Arial"/>
              </a:rPr>
              <a:t>The artwork is copyrighted and is not in the public repository. Build with assets/figures/ present to place it here.</a:t>
            </a:r>
          </a:p>
        </p:txBody>
      </p:sp>
      <p:sp>
        <p:nvSpPr>
          <p:cNvPr id="10" name="TextBox 9"/>
          <p:cNvSpPr txBox="1"/>
          <p:nvPr/>
        </p:nvSpPr>
        <p:spPr>
          <a:xfrm>
            <a:off x="777240" y="5669280"/>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300" b="0" i="0">
                <a:solidFill>
                  <a:srgbClr val="818181"/>
                </a:solidFill>
                <a:latin typeface="Arial"/>
              </a:rPr>
              <a:t>Figure 2.19 - Lim, The Handbook of Technical Analysis (Wiley, 2016)</a:t>
            </a:r>
          </a:p>
        </p:txBody>
      </p:sp>
    </p:spTree>
  </p:cSld>
  <p:clrMapOvr>
    <a:masterClrMapping/>
  </p:clrMapOvr>
</p:sld>
</file>

<file path=ppt/slides/slide10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TextBox 3"/>
          <p:cNvSpPr txBox="1"/>
          <p:nvPr/>
        </p:nvSpPr>
        <p:spPr>
          <a:xfrm>
            <a:off x="777240" y="658368"/>
            <a:ext cx="10637215" cy="914400"/>
          </a:xfrm>
          <a:prstGeom prst="rect">
            <a:avLst/>
          </a:prstGeom>
          <a:noFill/>
        </p:spPr>
        <p:txBody>
          <a:bodyPr wrap="square" anchor="t" lIns="0" rIns="0" tIns="0" bIns="0">
            <a:spAutoFit/>
          </a:bodyPr>
          <a:lstStyle/>
          <a:p>
            <a:pPr algn="l">
              <a:lnSpc>
                <a:spcPct val="105000"/>
              </a:lnSpc>
              <a:spcBef>
                <a:spcPts val="0"/>
              </a:spcBef>
              <a:spcAft>
                <a:spcPts val="0"/>
              </a:spcAft>
            </a:pPr>
            <a:r>
              <a:rPr sz="3000" b="0" i="0">
                <a:solidFill>
                  <a:srgbClr val="007A33"/>
                </a:solidFill>
                <a:latin typeface="Palatino"/>
              </a:rPr>
              <a:t>Why the non failure swing needs the lower level</a:t>
            </a:r>
          </a:p>
        </p:txBody>
      </p:sp>
      <p:sp>
        <p:nvSpPr>
          <p:cNvPr id="5" name="Rectangle 4"/>
          <p:cNvSpPr/>
          <p:nvPr/>
        </p:nvSpPr>
        <p:spPr>
          <a:xfrm>
            <a:off x="777240" y="1572768"/>
            <a:ext cx="10637215" cy="15875"/>
          </a:xfrm>
          <a:prstGeom prst="rect">
            <a:avLst/>
          </a:prstGeom>
          <a:solidFill>
            <a:srgbClr val="D7E0D9"/>
          </a:solidFill>
          <a:ln>
            <a:noFill/>
          </a:ln>
          <a:effectLst/>
        </p:spPr>
        <p:txBody>
          <a:bodyPr rtlCol="0" anchor="ctr"/>
          <a:lstStyle/>
          <a:p>
            <a:pPr algn="ctr"/>
          </a:p>
        </p:txBody>
      </p:sp>
      <p:sp>
        <p:nvSpPr>
          <p:cNvPr id="6" name="TextBox 5"/>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5 of 6 - Phases and reversal  |  22 of 22</a:t>
            </a:r>
          </a:p>
        </p:txBody>
      </p:sp>
      <p:sp>
        <p:nvSpPr>
          <p:cNvPr id="7" name="TextBox 6"/>
          <p:cNvSpPr txBox="1"/>
          <p:nvPr/>
        </p:nvSpPr>
        <p:spPr>
          <a:xfrm>
            <a:off x="777240" y="1965960"/>
            <a:ext cx="10637215" cy="3108960"/>
          </a:xfrm>
          <a:prstGeom prst="rect">
            <a:avLst/>
          </a:prstGeom>
          <a:noFill/>
        </p:spPr>
        <p:txBody>
          <a:bodyPr wrap="square" anchor="t" lIns="0" rIns="0" tIns="0" bIns="0">
            <a:spAutoFit/>
          </a:bodyPr>
          <a:lstStyle/>
          <a:p>
            <a:pPr algn="l">
              <a:lnSpc>
                <a:spcPct val="118000"/>
              </a:lnSpc>
              <a:spcBef>
                <a:spcPts val="0"/>
              </a:spcBef>
              <a:spcAft>
                <a:spcPts val="1300"/>
              </a:spcAft>
            </a:pPr>
            <a:r>
              <a:rPr sz="2100" b="0" i="0">
                <a:solidFill>
                  <a:srgbClr val="1A1A1A"/>
                </a:solidFill>
                <a:latin typeface="Arial"/>
              </a:rPr>
              <a:t>The formation was still in the process of making a higher peak, so more evidence is needed.</a:t>
            </a:r>
          </a:p>
          <a:p>
            <a:pPr algn="l">
              <a:lnSpc>
                <a:spcPct val="118000"/>
              </a:lnSpc>
              <a:spcBef>
                <a:spcPts val="0"/>
              </a:spcBef>
              <a:spcAft>
                <a:spcPts val="1300"/>
              </a:spcAft>
            </a:pPr>
            <a:r>
              <a:rPr sz="2100" b="0" i="0">
                <a:solidFill>
                  <a:srgbClr val="1A1A1A"/>
                </a:solidFill>
                <a:latin typeface="Arial"/>
              </a:rPr>
              <a:t>The conclusive sell signal is the penetration of the second and lower support level.</a:t>
            </a:r>
          </a:p>
          <a:p>
            <a:pPr algn="l">
              <a:lnSpc>
                <a:spcPct val="118000"/>
              </a:lnSpc>
              <a:spcBef>
                <a:spcPts val="0"/>
              </a:spcBef>
              <a:spcAft>
                <a:spcPts val="1300"/>
              </a:spcAft>
            </a:pPr>
            <a:r>
              <a:rPr sz="2100" b="0" i="0">
                <a:solidFill>
                  <a:srgbClr val="1A1A1A"/>
                </a:solidFill>
                <a:latin typeface="Arial"/>
              </a:rPr>
              <a:t>Many traders scale out at the first, higher level and finish at the second.</a:t>
            </a:r>
          </a:p>
        </p:txBody>
      </p:sp>
      <p:sp>
        <p:nvSpPr>
          <p:cNvPr id="8" name="Rectangle 7"/>
          <p:cNvSpPr/>
          <p:nvPr/>
        </p:nvSpPr>
        <p:spPr>
          <a:xfrm>
            <a:off x="777240" y="4399026"/>
            <a:ext cx="82296" cy="788924"/>
          </a:xfrm>
          <a:prstGeom prst="rect">
            <a:avLst/>
          </a:prstGeom>
          <a:solidFill>
            <a:srgbClr val="F2A900"/>
          </a:solidFill>
          <a:ln>
            <a:noFill/>
          </a:ln>
          <a:effectLst/>
        </p:spPr>
        <p:txBody>
          <a:bodyPr rtlCol="0" anchor="ctr"/>
          <a:lstStyle/>
          <a:p>
            <a:pPr algn="ctr"/>
          </a:p>
        </p:txBody>
      </p:sp>
      <p:sp>
        <p:nvSpPr>
          <p:cNvPr id="9" name="TextBox 8"/>
          <p:cNvSpPr txBox="1"/>
          <p:nvPr/>
        </p:nvSpPr>
        <p:spPr>
          <a:xfrm>
            <a:off x="1069848" y="4435602"/>
            <a:ext cx="10344607" cy="788924"/>
          </a:xfrm>
          <a:prstGeom prst="rect">
            <a:avLst/>
          </a:prstGeom>
          <a:noFill/>
        </p:spPr>
        <p:txBody>
          <a:bodyPr wrap="square" anchor="t" lIns="0" rIns="0" tIns="0" bIns="0">
            <a:spAutoFit/>
          </a:bodyPr>
          <a:lstStyle/>
          <a:p>
            <a:pPr algn="l">
              <a:lnSpc>
                <a:spcPct val="115000"/>
              </a:lnSpc>
              <a:spcBef>
                <a:spcPts val="0"/>
              </a:spcBef>
              <a:spcAft>
                <a:spcPts val="0"/>
              </a:spcAft>
            </a:pPr>
            <a:r>
              <a:rPr sz="2200" b="1" i="0">
                <a:solidFill>
                  <a:srgbClr val="1A1A1A"/>
                </a:solidFill>
                <a:latin typeface="Arial"/>
              </a:rPr>
              <a:t>A stronger looking top needs stronger evidence before you call it a top.</a:t>
            </a:r>
          </a:p>
        </p:txBody>
      </p:sp>
    </p:spTree>
  </p:cSld>
  <p:clrMapOvr>
    <a:masterClrMapping/>
  </p:clrMapOvr>
</p:sld>
</file>

<file path=ppt/slides/slide10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Rectangle 3"/>
          <p:cNvSpPr/>
          <p:nvPr/>
        </p:nvSpPr>
        <p:spPr>
          <a:xfrm>
            <a:off x="11935663" y="0"/>
            <a:ext cx="256032" cy="6858000"/>
          </a:xfrm>
          <a:prstGeom prst="rect">
            <a:avLst/>
          </a:prstGeom>
          <a:solidFill>
            <a:srgbClr val="F2A900"/>
          </a:solidFill>
          <a:ln>
            <a:noFill/>
          </a:ln>
          <a:effectLst/>
        </p:spPr>
        <p:txBody>
          <a:bodyPr rtlCol="0" anchor="ctr"/>
          <a:lstStyle/>
          <a:p>
            <a:pPr algn="ctr"/>
          </a:p>
        </p:txBody>
      </p:sp>
      <p:sp>
        <p:nvSpPr>
          <p:cNvPr id="5" name="TextBox 4"/>
          <p:cNvSpPr txBox="1"/>
          <p:nvPr/>
        </p:nvSpPr>
        <p:spPr>
          <a:xfrm>
            <a:off x="777240" y="658368"/>
            <a:ext cx="10180015" cy="822960"/>
          </a:xfrm>
          <a:prstGeom prst="rect">
            <a:avLst/>
          </a:prstGeom>
          <a:noFill/>
        </p:spPr>
        <p:txBody>
          <a:bodyPr wrap="square" anchor="t" lIns="0" rIns="0" tIns="0" bIns="0">
            <a:spAutoFit/>
          </a:bodyPr>
          <a:lstStyle/>
          <a:p>
            <a:pPr algn="l">
              <a:lnSpc>
                <a:spcPct val="100000"/>
              </a:lnSpc>
              <a:spcBef>
                <a:spcPts val="0"/>
              </a:spcBef>
              <a:spcAft>
                <a:spcPts val="0"/>
              </a:spcAft>
            </a:pPr>
            <a:r>
              <a:rPr sz="3200" b="0" i="0">
                <a:solidFill>
                  <a:srgbClr val="007A33"/>
                </a:solidFill>
                <a:latin typeface="Palatino"/>
              </a:rPr>
              <a:t>You now know</a:t>
            </a:r>
          </a:p>
        </p:txBody>
      </p:sp>
      <p:sp>
        <p:nvSpPr>
          <p:cNvPr id="6" name="Rectangle 5"/>
          <p:cNvSpPr/>
          <p:nvPr/>
        </p:nvSpPr>
        <p:spPr>
          <a:xfrm>
            <a:off x="777240" y="1572768"/>
            <a:ext cx="10637215" cy="15875"/>
          </a:xfrm>
          <a:prstGeom prst="rect">
            <a:avLst/>
          </a:prstGeom>
          <a:solidFill>
            <a:srgbClr val="D7E0D9"/>
          </a:solidFill>
          <a:ln>
            <a:noFill/>
          </a:ln>
          <a:effectLst/>
        </p:spPr>
        <p:txBody>
          <a:bodyPr rtlCol="0" anchor="ctr"/>
          <a:lstStyle/>
          <a:p>
            <a:pPr algn="ctr"/>
          </a:p>
        </p:txBody>
      </p:sp>
      <p:sp>
        <p:nvSpPr>
          <p:cNvPr id="7" name="TextBox 6"/>
          <p:cNvSpPr txBox="1"/>
          <p:nvPr/>
        </p:nvSpPr>
        <p:spPr>
          <a:xfrm>
            <a:off x="777240" y="1965960"/>
            <a:ext cx="4815687" cy="3794760"/>
          </a:xfrm>
          <a:prstGeom prst="rect">
            <a:avLst/>
          </a:prstGeom>
          <a:noFill/>
        </p:spPr>
        <p:txBody>
          <a:bodyPr wrap="square" anchor="t" lIns="0" rIns="0" tIns="0" bIns="0">
            <a:spAutoFit/>
          </a:bodyPr>
          <a:lstStyle/>
          <a:p>
            <a:pPr algn="l" marL="237744" indent="-237744">
              <a:lnSpc>
                <a:spcPct val="112000"/>
              </a:lnSpc>
              <a:spcBef>
                <a:spcPts val="0"/>
              </a:spcBef>
              <a:spcAft>
                <a:spcPts val="1200"/>
              </a:spcAft>
            </a:pPr>
            <a:r>
              <a:rPr sz="1800" b="0" i="0">
                <a:solidFill>
                  <a:srgbClr val="1A1A1A"/>
                </a:solidFill>
                <a:latin typeface="Arial"/>
              </a:rPr>
              <a:t>▪  The three phases, and that they belong to primary trends</a:t>
            </a:r>
          </a:p>
          <a:p>
            <a:pPr algn="l" marL="237744" indent="-237744">
              <a:lnSpc>
                <a:spcPct val="112000"/>
              </a:lnSpc>
              <a:spcBef>
                <a:spcPts val="0"/>
              </a:spcBef>
              <a:spcAft>
                <a:spcPts val="1200"/>
              </a:spcAft>
            </a:pPr>
            <a:r>
              <a:rPr sz="1800" b="0" i="0">
                <a:solidFill>
                  <a:srgbClr val="1A1A1A"/>
                </a:solidFill>
                <a:latin typeface="Arial"/>
              </a:rPr>
              <a:t>▪  Accumulation, and who is on each side of it</a:t>
            </a:r>
          </a:p>
          <a:p>
            <a:pPr algn="l" marL="237744" indent="-237744">
              <a:lnSpc>
                <a:spcPct val="112000"/>
              </a:lnSpc>
              <a:spcBef>
                <a:spcPts val="0"/>
              </a:spcBef>
              <a:spcAft>
                <a:spcPts val="1200"/>
              </a:spcAft>
            </a:pPr>
            <a:r>
              <a:rPr sz="1800" b="0" i="0">
                <a:solidFill>
                  <a:srgbClr val="1A1A1A"/>
                </a:solidFill>
                <a:latin typeface="Arial"/>
              </a:rPr>
              <a:t>▪  The uptrend and downtrend phases, and why one is longer</a:t>
            </a:r>
          </a:p>
        </p:txBody>
      </p:sp>
      <p:sp>
        <p:nvSpPr>
          <p:cNvPr id="8" name="TextBox 7"/>
          <p:cNvSpPr txBox="1"/>
          <p:nvPr/>
        </p:nvSpPr>
        <p:spPr>
          <a:xfrm>
            <a:off x="6141567" y="1965960"/>
            <a:ext cx="4815687" cy="3794760"/>
          </a:xfrm>
          <a:prstGeom prst="rect">
            <a:avLst/>
          </a:prstGeom>
          <a:noFill/>
        </p:spPr>
        <p:txBody>
          <a:bodyPr wrap="square" anchor="t" lIns="0" rIns="0" tIns="0" bIns="0">
            <a:spAutoFit/>
          </a:bodyPr>
          <a:lstStyle/>
          <a:p>
            <a:pPr algn="l" marL="237744" indent="-237744">
              <a:lnSpc>
                <a:spcPct val="112000"/>
              </a:lnSpc>
              <a:spcBef>
                <a:spcPts val="0"/>
              </a:spcBef>
              <a:spcAft>
                <a:spcPts val="1200"/>
              </a:spcAft>
            </a:pPr>
            <a:r>
              <a:rPr sz="1800" b="0" i="0">
                <a:solidFill>
                  <a:srgbClr val="1A1A1A"/>
                </a:solidFill>
                <a:latin typeface="Arial"/>
              </a:rPr>
              <a:t>▪  Distribution, and irrational exuberance</a:t>
            </a:r>
          </a:p>
          <a:p>
            <a:pPr algn="l" marL="237744" indent="-237744">
              <a:lnSpc>
                <a:spcPct val="112000"/>
              </a:lnSpc>
              <a:spcBef>
                <a:spcPts val="0"/>
              </a:spcBef>
              <a:spcAft>
                <a:spcPts val="1200"/>
              </a:spcAft>
            </a:pPr>
            <a:r>
              <a:rPr sz="1800" b="0" i="0">
                <a:solidFill>
                  <a:srgbClr val="1A1A1A"/>
                </a:solidFill>
                <a:latin typeface="Arial"/>
              </a:rPr>
              <a:t>▪  A trend persists until its reversal is indicated</a:t>
            </a:r>
          </a:p>
          <a:p>
            <a:pPr algn="l" marL="237744" indent="-237744">
              <a:lnSpc>
                <a:spcPct val="112000"/>
              </a:lnSpc>
              <a:spcBef>
                <a:spcPts val="0"/>
              </a:spcBef>
              <a:spcAft>
                <a:spcPts val="1200"/>
              </a:spcAft>
            </a:pPr>
            <a:r>
              <a:rPr sz="1800" b="0" i="0">
                <a:solidFill>
                  <a:srgbClr val="1A1A1A"/>
                </a:solidFill>
                <a:latin typeface="Arial"/>
              </a:rPr>
              <a:t>▪  Failure swings, non failure swings, double tops and bottoms</a:t>
            </a:r>
          </a:p>
        </p:txBody>
      </p:sp>
      <p:sp>
        <p:nvSpPr>
          <p:cNvPr id="9" name="TextBox 8"/>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5 of 6 - Phases and reversal  |  recap</a:t>
            </a:r>
          </a:p>
        </p:txBody>
      </p:sp>
    </p:spTree>
  </p:cSld>
  <p:clrMapOvr>
    <a:masterClrMapping/>
  </p:clrMapOvr>
</p:sld>
</file>

<file path=ppt/slides/slide10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07A33"/>
          </a:solidFill>
          <a:ln>
            <a:noFill/>
          </a:ln>
          <a:effectLst/>
        </p:spPr>
        <p:txBody>
          <a:bodyPr rtlCol="0" anchor="ctr"/>
          <a:lstStyle/>
          <a:p>
            <a:pPr algn="ctr"/>
          </a:p>
        </p:txBody>
      </p:sp>
      <p:sp>
        <p:nvSpPr>
          <p:cNvPr id="3" name="Rectangle 2"/>
          <p:cNvSpPr/>
          <p:nvPr/>
        </p:nvSpPr>
        <p:spPr>
          <a:xfrm>
            <a:off x="0" y="0"/>
            <a:ext cx="256032" cy="6858000"/>
          </a:xfrm>
          <a:prstGeom prst="rect">
            <a:avLst/>
          </a:prstGeom>
          <a:solidFill>
            <a:srgbClr val="F2A900"/>
          </a:solidFill>
          <a:ln>
            <a:noFill/>
          </a:ln>
          <a:effectLst/>
        </p:spPr>
        <p:txBody>
          <a:bodyPr rtlCol="0" anchor="ctr"/>
          <a:lstStyle/>
          <a:p>
            <a:pPr algn="ctr"/>
          </a:p>
        </p:txBody>
      </p:sp>
      <p:sp>
        <p:nvSpPr>
          <p:cNvPr id="4" name="TextBox 3"/>
          <p:cNvSpPr txBox="1"/>
          <p:nvPr/>
        </p:nvSpPr>
        <p:spPr>
          <a:xfrm>
            <a:off x="777240" y="1051560"/>
            <a:ext cx="10637215" cy="365760"/>
          </a:xfrm>
          <a:prstGeom prst="rect">
            <a:avLst/>
          </a:prstGeom>
          <a:noFill/>
        </p:spPr>
        <p:txBody>
          <a:bodyPr wrap="square" anchor="t" lIns="0" rIns="0" tIns="0" bIns="0">
            <a:spAutoFit/>
          </a:bodyPr>
          <a:lstStyle/>
          <a:p>
            <a:pPr algn="l">
              <a:lnSpc>
                <a:spcPct val="100000"/>
              </a:lnSpc>
              <a:spcBef>
                <a:spcPts val="0"/>
              </a:spcBef>
              <a:spcAft>
                <a:spcPts val="0"/>
              </a:spcAft>
            </a:pPr>
            <a:r>
              <a:rPr sz="1500" b="1" i="0">
                <a:solidFill>
                  <a:srgbClr val="F2A900"/>
                </a:solidFill>
                <a:latin typeface="Arial"/>
              </a:rPr>
              <a:t>Part 6 of 6</a:t>
            </a:r>
          </a:p>
        </p:txBody>
      </p:sp>
      <p:sp>
        <p:nvSpPr>
          <p:cNvPr id="5" name="TextBox 4"/>
          <p:cNvSpPr txBox="1"/>
          <p:nvPr/>
        </p:nvSpPr>
        <p:spPr>
          <a:xfrm>
            <a:off x="777240" y="1600200"/>
            <a:ext cx="10637215" cy="1097280"/>
          </a:xfrm>
          <a:prstGeom prst="rect">
            <a:avLst/>
          </a:prstGeom>
          <a:noFill/>
        </p:spPr>
        <p:txBody>
          <a:bodyPr wrap="square" anchor="t" lIns="0" rIns="0" tIns="0" bIns="0">
            <a:spAutoFit/>
          </a:bodyPr>
          <a:lstStyle/>
          <a:p>
            <a:pPr algn="l">
              <a:lnSpc>
                <a:spcPct val="105000"/>
              </a:lnSpc>
              <a:spcBef>
                <a:spcPts val="0"/>
              </a:spcBef>
              <a:spcAft>
                <a:spcPts val="0"/>
              </a:spcAft>
            </a:pPr>
            <a:r>
              <a:rPr sz="4000" b="0" i="0">
                <a:solidFill>
                  <a:srgbClr val="FFFFFF"/>
                </a:solidFill>
                <a:latin typeface="Palatino"/>
              </a:rPr>
              <a:t>Confirmation, Volume, and the Challenges</a:t>
            </a:r>
          </a:p>
        </p:txBody>
      </p:sp>
      <p:sp>
        <p:nvSpPr>
          <p:cNvPr id="6" name="Rectangle 5"/>
          <p:cNvSpPr/>
          <p:nvPr/>
        </p:nvSpPr>
        <p:spPr>
          <a:xfrm>
            <a:off x="777240" y="2926080"/>
            <a:ext cx="1463040" cy="38100"/>
          </a:xfrm>
          <a:prstGeom prst="rect">
            <a:avLst/>
          </a:prstGeom>
          <a:solidFill>
            <a:srgbClr val="F2A900"/>
          </a:solidFill>
          <a:ln>
            <a:noFill/>
          </a:ln>
          <a:effectLst/>
        </p:spPr>
        <p:txBody>
          <a:bodyPr rtlCol="0" anchor="ctr"/>
          <a:lstStyle/>
          <a:p>
            <a:pPr algn="ctr"/>
          </a:p>
        </p:txBody>
      </p:sp>
      <p:sp>
        <p:nvSpPr>
          <p:cNvPr id="7" name="TextBox 6"/>
          <p:cNvSpPr txBox="1"/>
          <p:nvPr/>
        </p:nvSpPr>
        <p:spPr>
          <a:xfrm>
            <a:off x="777240" y="3383280"/>
            <a:ext cx="10637215" cy="2011680"/>
          </a:xfrm>
          <a:prstGeom prst="rect">
            <a:avLst/>
          </a:prstGeom>
          <a:noFill/>
        </p:spPr>
        <p:txBody>
          <a:bodyPr wrap="square" anchor="t" lIns="0" rIns="0" tIns="0" bIns="0">
            <a:spAutoFit/>
          </a:bodyPr>
          <a:lstStyle/>
          <a:p>
            <a:pPr algn="l">
              <a:lnSpc>
                <a:spcPct val="115000"/>
              </a:lnSpc>
              <a:spcBef>
                <a:spcPts val="0"/>
              </a:spcBef>
              <a:spcAft>
                <a:spcPts val="1000"/>
              </a:spcAft>
            </a:pPr>
            <a:r>
              <a:rPr sz="1900" b="0" i="0">
                <a:solidFill>
                  <a:srgbClr val="FFFFFF"/>
                </a:solidFill>
                <a:latin typeface="Arial"/>
              </a:rPr>
              <a:t>Why one average is not allowed to call a trend on its own.</a:t>
            </a:r>
          </a:p>
          <a:p>
            <a:pPr algn="l">
              <a:lnSpc>
                <a:spcPct val="115000"/>
              </a:lnSpc>
              <a:spcBef>
                <a:spcPts val="0"/>
              </a:spcBef>
              <a:spcAft>
                <a:spcPts val="1000"/>
              </a:spcAft>
            </a:pPr>
            <a:r>
              <a:rPr sz="1900" b="0" i="0">
                <a:solidFill>
                  <a:srgbClr val="FFFFFF"/>
                </a:solidFill>
                <a:latin typeface="Arial"/>
              </a:rPr>
              <a:t>What volume has to do before a trend counts as healthy.</a:t>
            </a:r>
          </a:p>
          <a:p>
            <a:pPr algn="l">
              <a:lnSpc>
                <a:spcPct val="115000"/>
              </a:lnSpc>
              <a:spcBef>
                <a:spcPts val="0"/>
              </a:spcBef>
              <a:spcAft>
                <a:spcPts val="1000"/>
              </a:spcAft>
            </a:pPr>
            <a:r>
              <a:rPr sz="1900" b="0" i="0">
                <a:solidFill>
                  <a:srgbClr val="FFFFFF"/>
                </a:solidFill>
                <a:latin typeface="Arial"/>
              </a:rPr>
              <a:t>The seven arguments the book itself makes against Dow Theory.</a:t>
            </a:r>
          </a:p>
        </p:txBody>
      </p:sp>
      <p:sp>
        <p:nvSpPr>
          <p:cNvPr id="8" name="TextBox 7"/>
          <p:cNvSpPr txBox="1"/>
          <p:nvPr/>
        </p:nvSpPr>
        <p:spPr>
          <a:xfrm>
            <a:off x="777240" y="6035040"/>
            <a:ext cx="10637215" cy="365760"/>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F2A900"/>
                </a:solidFill>
                <a:latin typeface="Arial"/>
              </a:rPr>
              <a:t>About 35 minutes</a:t>
            </a:r>
          </a:p>
        </p:txBody>
      </p:sp>
    </p:spTree>
  </p:cSld>
  <p:clrMapOvr>
    <a:masterClrMapping/>
  </p:clrMapOvr>
</p:sld>
</file>

<file path=ppt/slides/slide10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Rectangle 3"/>
          <p:cNvSpPr/>
          <p:nvPr/>
        </p:nvSpPr>
        <p:spPr>
          <a:xfrm>
            <a:off x="777240" y="566928"/>
            <a:ext cx="1234440" cy="329184"/>
          </a:xfrm>
          <a:prstGeom prst="rect">
            <a:avLst/>
          </a:prstGeom>
          <a:solidFill>
            <a:srgbClr val="F2A900"/>
          </a:solidFill>
          <a:ln>
            <a:noFill/>
          </a:ln>
          <a:effectLst/>
        </p:spPr>
        <p:txBody>
          <a:bodyPr rtlCol="0" anchor="ctr" wrap="none" lIns="0" rIns="0" tIns="0" bIns="0"/>
          <a:lstStyle/>
          <a:p>
            <a:pPr algn="ctr">
              <a:lnSpc>
                <a:spcPct val="100000"/>
              </a:lnSpc>
              <a:spcBef>
                <a:spcPts val="0"/>
              </a:spcBef>
              <a:spcAft>
                <a:spcPts val="0"/>
              </a:spcAft>
            </a:pPr>
            <a:r>
              <a:rPr sz="1200" b="1" i="0">
                <a:solidFill>
                  <a:srgbClr val="1A1A1A"/>
                </a:solidFill>
                <a:latin typeface="Arial"/>
              </a:rPr>
              <a:t>NEW TERM</a:t>
            </a:r>
          </a:p>
        </p:txBody>
      </p:sp>
      <p:sp>
        <p:nvSpPr>
          <p:cNvPr id="5" name="TextBox 4"/>
          <p:cNvSpPr txBox="1"/>
          <p:nvPr/>
        </p:nvSpPr>
        <p:spPr>
          <a:xfrm>
            <a:off x="777240" y="1051560"/>
            <a:ext cx="10637215" cy="822960"/>
          </a:xfrm>
          <a:prstGeom prst="rect">
            <a:avLst/>
          </a:prstGeom>
          <a:noFill/>
        </p:spPr>
        <p:txBody>
          <a:bodyPr wrap="square" anchor="t" lIns="0" rIns="0" tIns="0" bIns="0">
            <a:spAutoFit/>
          </a:bodyPr>
          <a:lstStyle/>
          <a:p>
            <a:pPr algn="l">
              <a:lnSpc>
                <a:spcPct val="105000"/>
              </a:lnSpc>
              <a:spcBef>
                <a:spcPts val="0"/>
              </a:spcBef>
              <a:spcAft>
                <a:spcPts val="0"/>
              </a:spcAft>
            </a:pPr>
            <a:r>
              <a:rPr sz="3200" b="0" i="0">
                <a:solidFill>
                  <a:srgbClr val="007A33"/>
                </a:solidFill>
                <a:latin typeface="Palatino"/>
              </a:rPr>
              <a:t>The averages must confirm one another</a:t>
            </a:r>
          </a:p>
        </p:txBody>
      </p:sp>
      <p:sp>
        <p:nvSpPr>
          <p:cNvPr id="6" name="Rectangle 5"/>
          <p:cNvSpPr/>
          <p:nvPr/>
        </p:nvSpPr>
        <p:spPr>
          <a:xfrm>
            <a:off x="777240" y="1874519"/>
            <a:ext cx="10637215" cy="15875"/>
          </a:xfrm>
          <a:prstGeom prst="rect">
            <a:avLst/>
          </a:prstGeom>
          <a:solidFill>
            <a:srgbClr val="D7E0D9"/>
          </a:solidFill>
          <a:ln>
            <a:noFill/>
          </a:ln>
          <a:effectLst/>
        </p:spPr>
        <p:txBody>
          <a:bodyPr rtlCol="0" anchor="ctr"/>
          <a:lstStyle/>
          <a:p>
            <a:pPr algn="ctr"/>
          </a:p>
        </p:txBody>
      </p:sp>
      <p:sp>
        <p:nvSpPr>
          <p:cNvPr id="7" name="Rectangle 6"/>
          <p:cNvSpPr/>
          <p:nvPr/>
        </p:nvSpPr>
        <p:spPr>
          <a:xfrm>
            <a:off x="777240" y="2258568"/>
            <a:ext cx="64008" cy="811022"/>
          </a:xfrm>
          <a:prstGeom prst="rect">
            <a:avLst/>
          </a:prstGeom>
          <a:solidFill>
            <a:srgbClr val="F2A900"/>
          </a:solidFill>
          <a:ln>
            <a:noFill/>
          </a:ln>
          <a:effectLst/>
        </p:spPr>
        <p:txBody>
          <a:bodyPr rtlCol="0" anchor="ctr"/>
          <a:lstStyle/>
          <a:p>
            <a:pPr algn="ctr"/>
          </a:p>
        </p:txBody>
      </p:sp>
      <p:sp>
        <p:nvSpPr>
          <p:cNvPr id="8" name="TextBox 7"/>
          <p:cNvSpPr txBox="1"/>
          <p:nvPr/>
        </p:nvSpPr>
        <p:spPr>
          <a:xfrm>
            <a:off x="1051560" y="2212848"/>
            <a:ext cx="10362895" cy="920750"/>
          </a:xfrm>
          <a:prstGeom prst="rect">
            <a:avLst/>
          </a:prstGeom>
          <a:noFill/>
        </p:spPr>
        <p:txBody>
          <a:bodyPr wrap="square" anchor="t" lIns="0" rIns="0" tIns="0" bIns="0">
            <a:spAutoFit/>
          </a:bodyPr>
          <a:lstStyle/>
          <a:p>
            <a:pPr algn="l">
              <a:lnSpc>
                <a:spcPct val="100000"/>
              </a:lnSpc>
              <a:spcBef>
                <a:spcPts val="0"/>
              </a:spcBef>
              <a:spcAft>
                <a:spcPts val="400"/>
              </a:spcAft>
            </a:pPr>
            <a:r>
              <a:rPr sz="1100" b="1" i="0">
                <a:solidFill>
                  <a:srgbClr val="818181"/>
                </a:solidFill>
                <a:latin typeface="Arial"/>
              </a:rPr>
              <a:t>IN PLAIN WORDS</a:t>
            </a:r>
          </a:p>
          <a:p>
            <a:pPr algn="l">
              <a:lnSpc>
                <a:spcPct val="115000"/>
              </a:lnSpc>
              <a:spcBef>
                <a:spcPts val="0"/>
              </a:spcBef>
              <a:spcAft>
                <a:spcPts val="0"/>
              </a:spcAft>
            </a:pPr>
            <a:r>
              <a:rPr sz="1900" b="1" i="0">
                <a:solidFill>
                  <a:srgbClr val="1A1A1A"/>
                </a:solidFill>
                <a:latin typeface="Arial"/>
              </a:rPr>
              <a:t>The fifth tenet. One average moving is not a signal. Two averages moving the same way is.</a:t>
            </a:r>
          </a:p>
        </p:txBody>
      </p:sp>
      <p:sp>
        <p:nvSpPr>
          <p:cNvPr id="9" name="Rectangle 8"/>
          <p:cNvSpPr/>
          <p:nvPr/>
        </p:nvSpPr>
        <p:spPr>
          <a:xfrm>
            <a:off x="777240" y="3417061"/>
            <a:ext cx="64008" cy="811022"/>
          </a:xfrm>
          <a:prstGeom prst="rect">
            <a:avLst/>
          </a:prstGeom>
          <a:solidFill>
            <a:srgbClr val="D7E0D9"/>
          </a:solidFill>
          <a:ln>
            <a:noFill/>
          </a:ln>
          <a:effectLst/>
        </p:spPr>
        <p:txBody>
          <a:bodyPr rtlCol="0" anchor="ctr"/>
          <a:lstStyle/>
          <a:p>
            <a:pPr algn="ctr"/>
          </a:p>
        </p:txBody>
      </p:sp>
      <p:sp>
        <p:nvSpPr>
          <p:cNvPr id="10" name="TextBox 9"/>
          <p:cNvSpPr txBox="1"/>
          <p:nvPr/>
        </p:nvSpPr>
        <p:spPr>
          <a:xfrm>
            <a:off x="1051560" y="3371342"/>
            <a:ext cx="10362895" cy="920750"/>
          </a:xfrm>
          <a:prstGeom prst="rect">
            <a:avLst/>
          </a:prstGeom>
          <a:noFill/>
        </p:spPr>
        <p:txBody>
          <a:bodyPr wrap="square" anchor="t" lIns="0" rIns="0" tIns="0" bIns="0">
            <a:spAutoFit/>
          </a:bodyPr>
          <a:lstStyle/>
          <a:p>
            <a:pPr algn="l">
              <a:lnSpc>
                <a:spcPct val="100000"/>
              </a:lnSpc>
              <a:spcBef>
                <a:spcPts val="0"/>
              </a:spcBef>
              <a:spcAft>
                <a:spcPts val="400"/>
              </a:spcAft>
            </a:pPr>
            <a:r>
              <a:rPr sz="1100" b="1" i="0">
                <a:solidFill>
                  <a:srgbClr val="818181"/>
                </a:solidFill>
                <a:latin typeface="Arial"/>
              </a:rPr>
              <a:t>FOR EXAMPLE</a:t>
            </a:r>
          </a:p>
          <a:p>
            <a:pPr algn="l">
              <a:lnSpc>
                <a:spcPct val="115000"/>
              </a:lnSpc>
              <a:spcBef>
                <a:spcPts val="0"/>
              </a:spcBef>
              <a:spcAft>
                <a:spcPts val="0"/>
              </a:spcAft>
            </a:pPr>
            <a:r>
              <a:rPr sz="1900" b="0" i="0">
                <a:solidFill>
                  <a:srgbClr val="1A1A1A"/>
                </a:solidFill>
                <a:latin typeface="Arial"/>
              </a:rPr>
              <a:t>If the Industrials clear their earlier peak in March and the Transportation Average does not clear its own until May, the signal is dated May.</a:t>
            </a:r>
          </a:p>
        </p:txBody>
      </p:sp>
      <p:sp>
        <p:nvSpPr>
          <p:cNvPr id="11" name="Rectangle 10"/>
          <p:cNvSpPr/>
          <p:nvPr/>
        </p:nvSpPr>
        <p:spPr>
          <a:xfrm>
            <a:off x="777240" y="4575556"/>
            <a:ext cx="64008" cy="1088517"/>
          </a:xfrm>
          <a:prstGeom prst="rect">
            <a:avLst/>
          </a:prstGeom>
          <a:solidFill>
            <a:srgbClr val="D7E0D9"/>
          </a:solidFill>
          <a:ln>
            <a:noFill/>
          </a:ln>
          <a:effectLst/>
        </p:spPr>
        <p:txBody>
          <a:bodyPr rtlCol="0" anchor="ctr"/>
          <a:lstStyle/>
          <a:p>
            <a:pPr algn="ctr"/>
          </a:p>
        </p:txBody>
      </p:sp>
      <p:sp>
        <p:nvSpPr>
          <p:cNvPr id="12" name="TextBox 11"/>
          <p:cNvSpPr txBox="1"/>
          <p:nvPr/>
        </p:nvSpPr>
        <p:spPr>
          <a:xfrm>
            <a:off x="1051560" y="4529836"/>
            <a:ext cx="10362895" cy="1198245"/>
          </a:xfrm>
          <a:prstGeom prst="rect">
            <a:avLst/>
          </a:prstGeom>
          <a:noFill/>
        </p:spPr>
        <p:txBody>
          <a:bodyPr wrap="square" anchor="t" lIns="0" rIns="0" tIns="0" bIns="0">
            <a:spAutoFit/>
          </a:bodyPr>
          <a:lstStyle/>
          <a:p>
            <a:pPr algn="l">
              <a:lnSpc>
                <a:spcPct val="100000"/>
              </a:lnSpc>
              <a:spcBef>
                <a:spcPts val="0"/>
              </a:spcBef>
              <a:spcAft>
                <a:spcPts val="400"/>
              </a:spcAft>
            </a:pPr>
            <a:r>
              <a:rPr sz="1100" b="1" i="0">
                <a:solidFill>
                  <a:srgbClr val="818181"/>
                </a:solidFill>
                <a:latin typeface="Arial"/>
              </a:rPr>
              <a:t>THE FORMAL DEFINITION</a:t>
            </a:r>
          </a:p>
          <a:p>
            <a:pPr algn="l">
              <a:lnSpc>
                <a:spcPct val="115000"/>
              </a:lnSpc>
              <a:spcBef>
                <a:spcPts val="0"/>
              </a:spcBef>
              <a:spcAft>
                <a:spcPts val="0"/>
              </a:spcAft>
            </a:pPr>
            <a:r>
              <a:rPr sz="1900" b="0" i="0">
                <a:solidFill>
                  <a:srgbClr val="1A1A1A"/>
                </a:solidFill>
                <a:latin typeface="Arial"/>
              </a:rPr>
              <a:t>In Dow Theory both the Industrials Average and the Railroad Average must extend beyond their secondary peaks in order for a trend to be established. The trend in one average must be confirmed by the other.</a:t>
            </a:r>
          </a:p>
        </p:txBody>
      </p:sp>
      <p:sp>
        <p:nvSpPr>
          <p:cNvPr id="13" name="TextBox 12"/>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6 of 6 - Confirmation and volume  |  1 of 26</a:t>
            </a:r>
          </a:p>
        </p:txBody>
      </p:sp>
    </p:spTree>
  </p:cSld>
  <p:clrMapOvr>
    <a:masterClrMapping/>
  </p:clrMapOvr>
</p:sld>
</file>

<file path=ppt/slides/slide10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TextBox 3"/>
          <p:cNvSpPr txBox="1"/>
          <p:nvPr/>
        </p:nvSpPr>
        <p:spPr>
          <a:xfrm>
            <a:off x="777240" y="658368"/>
            <a:ext cx="10637215" cy="914400"/>
          </a:xfrm>
          <a:prstGeom prst="rect">
            <a:avLst/>
          </a:prstGeom>
          <a:noFill/>
        </p:spPr>
        <p:txBody>
          <a:bodyPr wrap="square" anchor="t" lIns="0" rIns="0" tIns="0" bIns="0">
            <a:spAutoFit/>
          </a:bodyPr>
          <a:lstStyle/>
          <a:p>
            <a:pPr algn="l">
              <a:lnSpc>
                <a:spcPct val="105000"/>
              </a:lnSpc>
              <a:spcBef>
                <a:spcPts val="0"/>
              </a:spcBef>
              <a:spcAft>
                <a:spcPts val="0"/>
              </a:spcAft>
            </a:pPr>
            <a:r>
              <a:rPr sz="3000" b="0" i="0">
                <a:solidFill>
                  <a:srgbClr val="007A33"/>
                </a:solidFill>
                <a:latin typeface="Palatino"/>
              </a:rPr>
              <a:t>The signal is dated by the later average</a:t>
            </a:r>
          </a:p>
        </p:txBody>
      </p:sp>
      <p:sp>
        <p:nvSpPr>
          <p:cNvPr id="5" name="Rectangle 4"/>
          <p:cNvSpPr/>
          <p:nvPr/>
        </p:nvSpPr>
        <p:spPr>
          <a:xfrm>
            <a:off x="777240" y="1572768"/>
            <a:ext cx="10637215" cy="15875"/>
          </a:xfrm>
          <a:prstGeom prst="rect">
            <a:avLst/>
          </a:prstGeom>
          <a:solidFill>
            <a:srgbClr val="D7E0D9"/>
          </a:solidFill>
          <a:ln>
            <a:noFill/>
          </a:ln>
          <a:effectLst/>
        </p:spPr>
        <p:txBody>
          <a:bodyPr rtlCol="0" anchor="ctr"/>
          <a:lstStyle/>
          <a:p>
            <a:pPr algn="ctr"/>
          </a:p>
        </p:txBody>
      </p:sp>
      <p:sp>
        <p:nvSpPr>
          <p:cNvPr id="6" name="TextBox 5"/>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6 of 6 - Confirmation and volume  |  2 of 26</a:t>
            </a:r>
          </a:p>
        </p:txBody>
      </p:sp>
      <p:sp>
        <p:nvSpPr>
          <p:cNvPr id="7" name="TextBox 6"/>
          <p:cNvSpPr txBox="1"/>
          <p:nvPr/>
        </p:nvSpPr>
        <p:spPr>
          <a:xfrm>
            <a:off x="777240" y="1965960"/>
            <a:ext cx="10637215" cy="3108960"/>
          </a:xfrm>
          <a:prstGeom prst="rect">
            <a:avLst/>
          </a:prstGeom>
          <a:noFill/>
        </p:spPr>
        <p:txBody>
          <a:bodyPr wrap="square" anchor="t" lIns="0" rIns="0" tIns="0" bIns="0">
            <a:spAutoFit/>
          </a:bodyPr>
          <a:lstStyle/>
          <a:p>
            <a:pPr algn="l">
              <a:lnSpc>
                <a:spcPct val="118000"/>
              </a:lnSpc>
              <a:spcBef>
                <a:spcPts val="0"/>
              </a:spcBef>
              <a:spcAft>
                <a:spcPts val="1300"/>
              </a:spcAft>
            </a:pPr>
            <a:r>
              <a:rPr sz="2100" b="0" i="0">
                <a:solidFill>
                  <a:srgbClr val="1A1A1A"/>
                </a:solidFill>
                <a:latin typeface="Arial"/>
              </a:rPr>
              <a:t>One average penetrates its secondary peak at a time we will call T1.</a:t>
            </a:r>
          </a:p>
          <a:p>
            <a:pPr algn="l">
              <a:lnSpc>
                <a:spcPct val="118000"/>
              </a:lnSpc>
              <a:spcBef>
                <a:spcPts val="0"/>
              </a:spcBef>
              <a:spcAft>
                <a:spcPts val="1300"/>
              </a:spcAft>
            </a:pPr>
            <a:r>
              <a:rPr sz="2100" b="0" i="0">
                <a:solidFill>
                  <a:srgbClr val="1A1A1A"/>
                </a:solidFill>
                <a:latin typeface="Arial"/>
              </a:rPr>
              <a:t>The other penetrates its own secondary peak later, at T2.</a:t>
            </a:r>
          </a:p>
          <a:p>
            <a:pPr algn="l">
              <a:lnSpc>
                <a:spcPct val="118000"/>
              </a:lnSpc>
              <a:spcBef>
                <a:spcPts val="0"/>
              </a:spcBef>
              <a:spcAft>
                <a:spcPts val="1300"/>
              </a:spcAft>
            </a:pPr>
            <a:r>
              <a:rPr sz="2100" b="0" i="0">
                <a:solidFill>
                  <a:srgbClr val="1A1A1A"/>
                </a:solidFill>
                <a:latin typeface="Arial"/>
              </a:rPr>
              <a:t>As far as Dow Theory is concerned, the uptrend was not confirmed until T2.</a:t>
            </a:r>
          </a:p>
        </p:txBody>
      </p:sp>
      <p:sp>
        <p:nvSpPr>
          <p:cNvPr id="8" name="Rectangle 7"/>
          <p:cNvSpPr/>
          <p:nvPr/>
        </p:nvSpPr>
        <p:spPr>
          <a:xfrm>
            <a:off x="777240" y="3769614"/>
            <a:ext cx="82296" cy="788924"/>
          </a:xfrm>
          <a:prstGeom prst="rect">
            <a:avLst/>
          </a:prstGeom>
          <a:solidFill>
            <a:srgbClr val="F2A900"/>
          </a:solidFill>
          <a:ln>
            <a:noFill/>
          </a:ln>
          <a:effectLst/>
        </p:spPr>
        <p:txBody>
          <a:bodyPr rtlCol="0" anchor="ctr"/>
          <a:lstStyle/>
          <a:p>
            <a:pPr algn="ctr"/>
          </a:p>
        </p:txBody>
      </p:sp>
      <p:sp>
        <p:nvSpPr>
          <p:cNvPr id="9" name="TextBox 8"/>
          <p:cNvSpPr txBox="1"/>
          <p:nvPr/>
        </p:nvSpPr>
        <p:spPr>
          <a:xfrm>
            <a:off x="1069848" y="3806190"/>
            <a:ext cx="10344607" cy="788924"/>
          </a:xfrm>
          <a:prstGeom prst="rect">
            <a:avLst/>
          </a:prstGeom>
          <a:noFill/>
        </p:spPr>
        <p:txBody>
          <a:bodyPr wrap="square" anchor="t" lIns="0" rIns="0" tIns="0" bIns="0">
            <a:spAutoFit/>
          </a:bodyPr>
          <a:lstStyle/>
          <a:p>
            <a:pPr algn="l">
              <a:lnSpc>
                <a:spcPct val="115000"/>
              </a:lnSpc>
              <a:spcBef>
                <a:spcPts val="0"/>
              </a:spcBef>
              <a:spcAft>
                <a:spcPts val="0"/>
              </a:spcAft>
            </a:pPr>
            <a:r>
              <a:rPr sz="2200" b="1" i="0">
                <a:solidFill>
                  <a:srgbClr val="1A1A1A"/>
                </a:solidFill>
                <a:latin typeface="Arial"/>
              </a:rPr>
              <a:t>The slower average sets the date. The faster one on its own proves nothing.</a:t>
            </a:r>
          </a:p>
        </p:txBody>
      </p:sp>
    </p:spTree>
  </p:cSld>
  <p:clrMapOvr>
    <a:masterClrMapping/>
  </p:clrMapOvr>
</p:sld>
</file>

<file path=ppt/slides/slide10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TextBox 3"/>
          <p:cNvSpPr txBox="1"/>
          <p:nvPr/>
        </p:nvSpPr>
        <p:spPr>
          <a:xfrm>
            <a:off x="777240" y="658368"/>
            <a:ext cx="10637215" cy="914400"/>
          </a:xfrm>
          <a:prstGeom prst="rect">
            <a:avLst/>
          </a:prstGeom>
          <a:noFill/>
        </p:spPr>
        <p:txBody>
          <a:bodyPr wrap="square" anchor="t" lIns="0" rIns="0" tIns="0" bIns="0">
            <a:spAutoFit/>
          </a:bodyPr>
          <a:lstStyle/>
          <a:p>
            <a:pPr algn="l">
              <a:lnSpc>
                <a:spcPct val="105000"/>
              </a:lnSpc>
              <a:spcBef>
                <a:spcPts val="0"/>
              </a:spcBef>
              <a:spcAft>
                <a:spcPts val="0"/>
              </a:spcAft>
            </a:pPr>
            <a:r>
              <a:rPr sz="3000" b="0" i="0">
                <a:solidFill>
                  <a:srgbClr val="007A33"/>
                </a:solidFill>
                <a:latin typeface="Palatino"/>
              </a:rPr>
              <a:t>One average confirming the other</a:t>
            </a:r>
          </a:p>
        </p:txBody>
      </p:sp>
      <p:sp>
        <p:nvSpPr>
          <p:cNvPr id="5" name="Rectangle 4"/>
          <p:cNvSpPr/>
          <p:nvPr/>
        </p:nvSpPr>
        <p:spPr>
          <a:xfrm>
            <a:off x="777240" y="1572768"/>
            <a:ext cx="10637215" cy="15875"/>
          </a:xfrm>
          <a:prstGeom prst="rect">
            <a:avLst/>
          </a:prstGeom>
          <a:solidFill>
            <a:srgbClr val="D7E0D9"/>
          </a:solidFill>
          <a:ln>
            <a:noFill/>
          </a:ln>
          <a:effectLst/>
        </p:spPr>
        <p:txBody>
          <a:bodyPr rtlCol="0" anchor="ctr"/>
          <a:lstStyle/>
          <a:p>
            <a:pPr algn="ctr"/>
          </a:p>
        </p:txBody>
      </p:sp>
      <p:sp>
        <p:nvSpPr>
          <p:cNvPr id="6" name="TextBox 5"/>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6 of 6 - Confirmation and volume  |  3 of 26</a:t>
            </a:r>
          </a:p>
        </p:txBody>
      </p:sp>
      <p:sp>
        <p:nvSpPr>
          <p:cNvPr id="7" name="Rectangle 6"/>
          <p:cNvSpPr/>
          <p:nvPr/>
        </p:nvSpPr>
        <p:spPr>
          <a:xfrm>
            <a:off x="778611" y="1810512"/>
            <a:ext cx="10634472" cy="3749039"/>
          </a:xfrm>
          <a:prstGeom prst="rect">
            <a:avLst/>
          </a:prstGeom>
          <a:solidFill>
            <a:srgbClr val="FFFFFF"/>
          </a:solidFill>
          <a:ln w="12700">
            <a:solidFill>
              <a:srgbClr val="D7E0D9"/>
            </a:solidFill>
          </a:ln>
          <a:effectLst/>
        </p:spPr>
        <p:txBody>
          <a:bodyPr rtlCol="0" anchor="ctr"/>
          <a:lstStyle/>
          <a:p>
            <a:pPr algn="ctr"/>
          </a:p>
        </p:txBody>
      </p:sp>
      <p:pic>
        <p:nvPicPr>
          <p:cNvPr id="8" name="Picture 7" descr="chart-g.png"/>
          <p:cNvPicPr>
            <a:picLocks noChangeAspect="1"/>
          </p:cNvPicPr>
          <p:nvPr/>
        </p:nvPicPr>
        <p:blipFill>
          <a:blip r:embed="rId2"/>
          <a:stretch>
            <a:fillRect/>
          </a:stretch>
        </p:blipFill>
        <p:spPr>
          <a:xfrm>
            <a:off x="897483" y="1929384"/>
            <a:ext cx="10396728" cy="3511296"/>
          </a:xfrm>
          <a:prstGeom prst="rect">
            <a:avLst/>
          </a:prstGeom>
        </p:spPr>
      </p:pic>
      <p:sp>
        <p:nvSpPr>
          <p:cNvPr id="9" name="TextBox 8"/>
          <p:cNvSpPr txBox="1"/>
          <p:nvPr/>
        </p:nvSpPr>
        <p:spPr>
          <a:xfrm>
            <a:off x="777240" y="5669280"/>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300" b="0" i="0">
                <a:solidFill>
                  <a:srgbClr val="818181"/>
                </a:solidFill>
                <a:latin typeface="Arial"/>
              </a:rPr>
              <a:t>Chart G - FIN1209 teaching chart, drawn for this course. Illustrative data, not a real instrument.</a:t>
            </a:r>
          </a:p>
        </p:txBody>
      </p:sp>
    </p:spTree>
  </p:cSld>
  <p:clrMapOvr>
    <a:masterClrMapping/>
  </p:clrMapOvr>
</p:sld>
</file>

<file path=ppt/slides/slide10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TextBox 3"/>
          <p:cNvSpPr txBox="1"/>
          <p:nvPr/>
        </p:nvSpPr>
        <p:spPr>
          <a:xfrm>
            <a:off x="777240" y="658368"/>
            <a:ext cx="10637215" cy="914400"/>
          </a:xfrm>
          <a:prstGeom prst="rect">
            <a:avLst/>
          </a:prstGeom>
          <a:noFill/>
        </p:spPr>
        <p:txBody>
          <a:bodyPr wrap="square" anchor="t" lIns="0" rIns="0" tIns="0" bIns="0">
            <a:spAutoFit/>
          </a:bodyPr>
          <a:lstStyle/>
          <a:p>
            <a:pPr algn="l">
              <a:lnSpc>
                <a:spcPct val="105000"/>
              </a:lnSpc>
              <a:spcBef>
                <a:spcPts val="0"/>
              </a:spcBef>
              <a:spcAft>
                <a:spcPts val="0"/>
              </a:spcAft>
            </a:pPr>
            <a:r>
              <a:rPr sz="3000" b="0" i="0">
                <a:solidFill>
                  <a:srgbClr val="007A33"/>
                </a:solidFill>
                <a:latin typeface="Palatino"/>
              </a:rPr>
              <a:t>Confirmation of the averages</a:t>
            </a:r>
          </a:p>
        </p:txBody>
      </p:sp>
      <p:sp>
        <p:nvSpPr>
          <p:cNvPr id="5" name="Rectangle 4"/>
          <p:cNvSpPr/>
          <p:nvPr/>
        </p:nvSpPr>
        <p:spPr>
          <a:xfrm>
            <a:off x="777240" y="1572768"/>
            <a:ext cx="10637215" cy="15875"/>
          </a:xfrm>
          <a:prstGeom prst="rect">
            <a:avLst/>
          </a:prstGeom>
          <a:solidFill>
            <a:srgbClr val="D7E0D9"/>
          </a:solidFill>
          <a:ln>
            <a:noFill/>
          </a:ln>
          <a:effectLst/>
        </p:spPr>
        <p:txBody>
          <a:bodyPr rtlCol="0" anchor="ctr"/>
          <a:lstStyle/>
          <a:p>
            <a:pPr algn="ctr"/>
          </a:p>
        </p:txBody>
      </p:sp>
      <p:sp>
        <p:nvSpPr>
          <p:cNvPr id="6" name="TextBox 5"/>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6 of 6 - Confirmation and volume  |  4 of 26</a:t>
            </a:r>
          </a:p>
        </p:txBody>
      </p:sp>
      <p:sp>
        <p:nvSpPr>
          <p:cNvPr id="7" name="Rectangle 6"/>
          <p:cNvSpPr/>
          <p:nvPr/>
        </p:nvSpPr>
        <p:spPr>
          <a:xfrm>
            <a:off x="2346807" y="1810512"/>
            <a:ext cx="7498079" cy="3749039"/>
          </a:xfrm>
          <a:prstGeom prst="rect">
            <a:avLst/>
          </a:prstGeom>
          <a:solidFill>
            <a:srgbClr val="FFFFFF"/>
          </a:solidFill>
          <a:ln w="12700">
            <a:solidFill>
              <a:srgbClr val="D7E0D9"/>
            </a:solidFill>
          </a:ln>
          <a:effectLst/>
        </p:spPr>
        <p:txBody>
          <a:bodyPr rtlCol="0" anchor="ctr"/>
          <a:lstStyle/>
          <a:p>
            <a:pPr algn="ctr"/>
          </a:p>
        </p:txBody>
      </p:sp>
      <p:sp>
        <p:nvSpPr>
          <p:cNvPr id="8" name="Rectangle 7"/>
          <p:cNvSpPr/>
          <p:nvPr/>
        </p:nvSpPr>
        <p:spPr>
          <a:xfrm>
            <a:off x="2346807" y="1810512"/>
            <a:ext cx="7498079" cy="50800"/>
          </a:xfrm>
          <a:prstGeom prst="rect">
            <a:avLst/>
          </a:prstGeom>
          <a:solidFill>
            <a:srgbClr val="F2A900"/>
          </a:solidFill>
          <a:ln>
            <a:noFill/>
          </a:ln>
          <a:effectLst/>
        </p:spPr>
        <p:txBody>
          <a:bodyPr rtlCol="0" anchor="ctr"/>
          <a:lstStyle/>
          <a:p>
            <a:pPr algn="ctr"/>
          </a:p>
        </p:txBody>
      </p:sp>
      <p:sp>
        <p:nvSpPr>
          <p:cNvPr id="9" name="TextBox 8"/>
          <p:cNvSpPr txBox="1"/>
          <p:nvPr/>
        </p:nvSpPr>
        <p:spPr>
          <a:xfrm>
            <a:off x="2895447" y="2450591"/>
            <a:ext cx="6400799" cy="2651759"/>
          </a:xfrm>
          <a:prstGeom prst="rect">
            <a:avLst/>
          </a:prstGeom>
          <a:noFill/>
        </p:spPr>
        <p:txBody>
          <a:bodyPr wrap="square" anchor="t" lIns="0" rIns="0" tIns="0" bIns="0">
            <a:spAutoFit/>
          </a:bodyPr>
          <a:lstStyle/>
          <a:p>
            <a:pPr algn="l">
              <a:lnSpc>
                <a:spcPct val="100000"/>
              </a:lnSpc>
              <a:spcBef>
                <a:spcPts val="0"/>
              </a:spcBef>
              <a:spcAft>
                <a:spcPts val="1400"/>
              </a:spcAft>
            </a:pPr>
            <a:r>
              <a:rPr sz="1500" b="1" i="0">
                <a:solidFill>
                  <a:srgbClr val="818181"/>
                </a:solidFill>
                <a:latin typeface="Arial"/>
              </a:rPr>
              <a:t>FIGURE 2.20</a:t>
            </a:r>
          </a:p>
          <a:p>
            <a:pPr algn="l">
              <a:lnSpc>
                <a:spcPct val="120000"/>
              </a:lnSpc>
              <a:spcBef>
                <a:spcPts val="0"/>
              </a:spcBef>
              <a:spcAft>
                <a:spcPts val="1800"/>
              </a:spcAft>
            </a:pPr>
            <a:r>
              <a:rPr sz="2200" b="0" i="0">
                <a:solidFill>
                  <a:srgbClr val="1A1A1A"/>
                </a:solidFill>
                <a:latin typeface="Palatino"/>
              </a:rPr>
              <a:t>A schematic of two averages, with the Industrials Average penetrating its secondary peak at T1 and the Railroad Average penetrating its own a little later at T2, at which point the uptrend is confirmed.</a:t>
            </a:r>
          </a:p>
          <a:p>
            <a:pPr algn="l">
              <a:lnSpc>
                <a:spcPct val="115000"/>
              </a:lnSpc>
              <a:spcBef>
                <a:spcPts val="0"/>
              </a:spcBef>
              <a:spcAft>
                <a:spcPts val="0"/>
              </a:spcAft>
            </a:pPr>
            <a:r>
              <a:rPr sz="1400" b="0" i="1">
                <a:solidFill>
                  <a:srgbClr val="818181"/>
                </a:solidFill>
                <a:latin typeface="Arial"/>
              </a:rPr>
              <a:t>The artwork is copyrighted and is not in the public repository. Build with assets/figures/ present to place it here.</a:t>
            </a:r>
          </a:p>
        </p:txBody>
      </p:sp>
      <p:sp>
        <p:nvSpPr>
          <p:cNvPr id="10" name="TextBox 9"/>
          <p:cNvSpPr txBox="1"/>
          <p:nvPr/>
        </p:nvSpPr>
        <p:spPr>
          <a:xfrm>
            <a:off x="777240" y="5669280"/>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300" b="0" i="0">
                <a:solidFill>
                  <a:srgbClr val="818181"/>
                </a:solidFill>
                <a:latin typeface="Arial"/>
              </a:rPr>
              <a:t>Figure 2.20 - Lim, The Handbook of Technical Analysis (Wiley, 2016)</a:t>
            </a:r>
          </a:p>
        </p:txBody>
      </p:sp>
    </p:spTree>
  </p:cSld>
  <p:clrMapOvr>
    <a:masterClrMapping/>
  </p:clrMapOvr>
</p:sld>
</file>

<file path=ppt/slides/slide10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TextBox 3"/>
          <p:cNvSpPr txBox="1"/>
          <p:nvPr/>
        </p:nvSpPr>
        <p:spPr>
          <a:xfrm>
            <a:off x="777240" y="658368"/>
            <a:ext cx="10637215" cy="914400"/>
          </a:xfrm>
          <a:prstGeom prst="rect">
            <a:avLst/>
          </a:prstGeom>
          <a:noFill/>
        </p:spPr>
        <p:txBody>
          <a:bodyPr wrap="square" anchor="t" lIns="0" rIns="0" tIns="0" bIns="0">
            <a:spAutoFit/>
          </a:bodyPr>
          <a:lstStyle/>
          <a:p>
            <a:pPr algn="l">
              <a:lnSpc>
                <a:spcPct val="105000"/>
              </a:lnSpc>
              <a:spcBef>
                <a:spcPts val="0"/>
              </a:spcBef>
              <a:spcAft>
                <a:spcPts val="0"/>
              </a:spcAft>
            </a:pPr>
            <a:r>
              <a:rPr sz="3000" b="0" i="0">
                <a:solidFill>
                  <a:srgbClr val="007A33"/>
                </a:solidFill>
                <a:latin typeface="Palatino"/>
              </a:rPr>
              <a:t>The same thing on real averages</a:t>
            </a:r>
          </a:p>
        </p:txBody>
      </p:sp>
      <p:sp>
        <p:nvSpPr>
          <p:cNvPr id="5" name="Rectangle 4"/>
          <p:cNvSpPr/>
          <p:nvPr/>
        </p:nvSpPr>
        <p:spPr>
          <a:xfrm>
            <a:off x="777240" y="1572768"/>
            <a:ext cx="10637215" cy="15875"/>
          </a:xfrm>
          <a:prstGeom prst="rect">
            <a:avLst/>
          </a:prstGeom>
          <a:solidFill>
            <a:srgbClr val="D7E0D9"/>
          </a:solidFill>
          <a:ln>
            <a:noFill/>
          </a:ln>
          <a:effectLst/>
        </p:spPr>
        <p:txBody>
          <a:bodyPr rtlCol="0" anchor="ctr"/>
          <a:lstStyle/>
          <a:p>
            <a:pPr algn="ctr"/>
          </a:p>
        </p:txBody>
      </p:sp>
      <p:sp>
        <p:nvSpPr>
          <p:cNvPr id="6" name="TextBox 5"/>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6 of 6 - Confirmation and volume  |  5 of 26</a:t>
            </a:r>
          </a:p>
        </p:txBody>
      </p:sp>
      <p:sp>
        <p:nvSpPr>
          <p:cNvPr id="7" name="Rectangle 6"/>
          <p:cNvSpPr/>
          <p:nvPr/>
        </p:nvSpPr>
        <p:spPr>
          <a:xfrm>
            <a:off x="2346807" y="1810512"/>
            <a:ext cx="7498079" cy="3749039"/>
          </a:xfrm>
          <a:prstGeom prst="rect">
            <a:avLst/>
          </a:prstGeom>
          <a:solidFill>
            <a:srgbClr val="FFFFFF"/>
          </a:solidFill>
          <a:ln w="12700">
            <a:solidFill>
              <a:srgbClr val="D7E0D9"/>
            </a:solidFill>
          </a:ln>
          <a:effectLst/>
        </p:spPr>
        <p:txBody>
          <a:bodyPr rtlCol="0" anchor="ctr"/>
          <a:lstStyle/>
          <a:p>
            <a:pPr algn="ctr"/>
          </a:p>
        </p:txBody>
      </p:sp>
      <p:sp>
        <p:nvSpPr>
          <p:cNvPr id="8" name="Rectangle 7"/>
          <p:cNvSpPr/>
          <p:nvPr/>
        </p:nvSpPr>
        <p:spPr>
          <a:xfrm>
            <a:off x="2346807" y="1810512"/>
            <a:ext cx="7498079" cy="50800"/>
          </a:xfrm>
          <a:prstGeom prst="rect">
            <a:avLst/>
          </a:prstGeom>
          <a:solidFill>
            <a:srgbClr val="F2A900"/>
          </a:solidFill>
          <a:ln>
            <a:noFill/>
          </a:ln>
          <a:effectLst/>
        </p:spPr>
        <p:txBody>
          <a:bodyPr rtlCol="0" anchor="ctr"/>
          <a:lstStyle/>
          <a:p>
            <a:pPr algn="ctr"/>
          </a:p>
        </p:txBody>
      </p:sp>
      <p:sp>
        <p:nvSpPr>
          <p:cNvPr id="9" name="TextBox 8"/>
          <p:cNvSpPr txBox="1"/>
          <p:nvPr/>
        </p:nvSpPr>
        <p:spPr>
          <a:xfrm>
            <a:off x="2895447" y="2450591"/>
            <a:ext cx="6400799" cy="2651759"/>
          </a:xfrm>
          <a:prstGeom prst="rect">
            <a:avLst/>
          </a:prstGeom>
          <a:noFill/>
        </p:spPr>
        <p:txBody>
          <a:bodyPr wrap="square" anchor="t" lIns="0" rIns="0" tIns="0" bIns="0">
            <a:spAutoFit/>
          </a:bodyPr>
          <a:lstStyle/>
          <a:p>
            <a:pPr algn="l">
              <a:lnSpc>
                <a:spcPct val="100000"/>
              </a:lnSpc>
              <a:spcBef>
                <a:spcPts val="0"/>
              </a:spcBef>
              <a:spcAft>
                <a:spcPts val="1400"/>
              </a:spcAft>
            </a:pPr>
            <a:r>
              <a:rPr sz="1500" b="1" i="0">
                <a:solidFill>
                  <a:srgbClr val="818181"/>
                </a:solidFill>
                <a:latin typeface="Arial"/>
              </a:rPr>
              <a:t>FIGURE 2.21</a:t>
            </a:r>
          </a:p>
          <a:p>
            <a:pPr algn="l">
              <a:lnSpc>
                <a:spcPct val="120000"/>
              </a:lnSpc>
              <a:spcBef>
                <a:spcPts val="0"/>
              </a:spcBef>
              <a:spcAft>
                <a:spcPts val="1800"/>
              </a:spcAft>
            </a:pPr>
            <a:r>
              <a:rPr sz="2200" b="0" i="0">
                <a:solidFill>
                  <a:srgbClr val="1A1A1A"/>
                </a:solidFill>
                <a:latin typeface="Palatino"/>
              </a:rPr>
              <a:t>The Dow Jones Industrial Average breaching its secondary peak at T1 and the Dow Jones Transportation Average breaching its own at T2, with the secondary reaction marked on both.</a:t>
            </a:r>
          </a:p>
          <a:p>
            <a:pPr algn="l">
              <a:lnSpc>
                <a:spcPct val="115000"/>
              </a:lnSpc>
              <a:spcBef>
                <a:spcPts val="0"/>
              </a:spcBef>
              <a:spcAft>
                <a:spcPts val="0"/>
              </a:spcAft>
            </a:pPr>
            <a:r>
              <a:rPr sz="1400" b="0" i="1">
                <a:solidFill>
                  <a:srgbClr val="818181"/>
                </a:solidFill>
                <a:latin typeface="Arial"/>
              </a:rPr>
              <a:t>The artwork is copyrighted and is not in the public repository. Build with assets/figures/ present to place it here.</a:t>
            </a:r>
          </a:p>
        </p:txBody>
      </p:sp>
      <p:sp>
        <p:nvSpPr>
          <p:cNvPr id="10" name="TextBox 9"/>
          <p:cNvSpPr txBox="1"/>
          <p:nvPr/>
        </p:nvSpPr>
        <p:spPr>
          <a:xfrm>
            <a:off x="777240" y="5669280"/>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300" b="0" i="0">
                <a:solidFill>
                  <a:srgbClr val="818181"/>
                </a:solidFill>
                <a:latin typeface="Arial"/>
              </a:rPr>
              <a:t>Figure 2.21 - Lim, The Handbook of Technical Analysis (Wiley, 2016)</a:t>
            </a:r>
          </a:p>
        </p:txBody>
      </p:sp>
    </p:spTree>
  </p:cSld>
  <p:clrMapOvr>
    <a:masterClrMapping/>
  </p:clrMapOvr>
</p:sld>
</file>

<file path=ppt/slides/slide10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Rectangle 3"/>
          <p:cNvSpPr/>
          <p:nvPr/>
        </p:nvSpPr>
        <p:spPr>
          <a:xfrm>
            <a:off x="777240" y="566928"/>
            <a:ext cx="1234440" cy="329184"/>
          </a:xfrm>
          <a:prstGeom prst="rect">
            <a:avLst/>
          </a:prstGeom>
          <a:solidFill>
            <a:srgbClr val="F2A900"/>
          </a:solidFill>
          <a:ln>
            <a:noFill/>
          </a:ln>
          <a:effectLst/>
        </p:spPr>
        <p:txBody>
          <a:bodyPr rtlCol="0" anchor="ctr" wrap="none" lIns="0" rIns="0" tIns="0" bIns="0"/>
          <a:lstStyle/>
          <a:p>
            <a:pPr algn="ctr">
              <a:lnSpc>
                <a:spcPct val="100000"/>
              </a:lnSpc>
              <a:spcBef>
                <a:spcPts val="0"/>
              </a:spcBef>
              <a:spcAft>
                <a:spcPts val="0"/>
              </a:spcAft>
            </a:pPr>
            <a:r>
              <a:rPr sz="1200" b="1" i="0">
                <a:solidFill>
                  <a:srgbClr val="1A1A1A"/>
                </a:solidFill>
                <a:latin typeface="Arial"/>
              </a:rPr>
              <a:t>NEW TERM</a:t>
            </a:r>
          </a:p>
        </p:txBody>
      </p:sp>
      <p:sp>
        <p:nvSpPr>
          <p:cNvPr id="5" name="TextBox 4"/>
          <p:cNvSpPr txBox="1"/>
          <p:nvPr/>
        </p:nvSpPr>
        <p:spPr>
          <a:xfrm>
            <a:off x="777240" y="1051560"/>
            <a:ext cx="10637215" cy="822960"/>
          </a:xfrm>
          <a:prstGeom prst="rect">
            <a:avLst/>
          </a:prstGeom>
          <a:noFill/>
        </p:spPr>
        <p:txBody>
          <a:bodyPr wrap="square" anchor="t" lIns="0" rIns="0" tIns="0" bIns="0">
            <a:spAutoFit/>
          </a:bodyPr>
          <a:lstStyle/>
          <a:p>
            <a:pPr algn="l">
              <a:lnSpc>
                <a:spcPct val="105000"/>
              </a:lnSpc>
              <a:spcBef>
                <a:spcPts val="0"/>
              </a:spcBef>
              <a:spcAft>
                <a:spcPts val="0"/>
              </a:spcAft>
            </a:pPr>
            <a:r>
              <a:rPr sz="3200" b="0" i="0">
                <a:solidFill>
                  <a:srgbClr val="007A33"/>
                </a:solidFill>
                <a:latin typeface="Palatino"/>
              </a:rPr>
              <a:t>Non confirmation</a:t>
            </a:r>
          </a:p>
        </p:txBody>
      </p:sp>
      <p:sp>
        <p:nvSpPr>
          <p:cNvPr id="6" name="Rectangle 5"/>
          <p:cNvSpPr/>
          <p:nvPr/>
        </p:nvSpPr>
        <p:spPr>
          <a:xfrm>
            <a:off x="777240" y="1874519"/>
            <a:ext cx="10637215" cy="15875"/>
          </a:xfrm>
          <a:prstGeom prst="rect">
            <a:avLst/>
          </a:prstGeom>
          <a:solidFill>
            <a:srgbClr val="D7E0D9"/>
          </a:solidFill>
          <a:ln>
            <a:noFill/>
          </a:ln>
          <a:effectLst/>
        </p:spPr>
        <p:txBody>
          <a:bodyPr rtlCol="0" anchor="ctr"/>
          <a:lstStyle/>
          <a:p>
            <a:pPr algn="ctr"/>
          </a:p>
        </p:txBody>
      </p:sp>
      <p:sp>
        <p:nvSpPr>
          <p:cNvPr id="7" name="Rectangle 6"/>
          <p:cNvSpPr/>
          <p:nvPr/>
        </p:nvSpPr>
        <p:spPr>
          <a:xfrm>
            <a:off x="777240" y="2258568"/>
            <a:ext cx="64008" cy="811022"/>
          </a:xfrm>
          <a:prstGeom prst="rect">
            <a:avLst/>
          </a:prstGeom>
          <a:solidFill>
            <a:srgbClr val="F2A900"/>
          </a:solidFill>
          <a:ln>
            <a:noFill/>
          </a:ln>
          <a:effectLst/>
        </p:spPr>
        <p:txBody>
          <a:bodyPr rtlCol="0" anchor="ctr"/>
          <a:lstStyle/>
          <a:p>
            <a:pPr algn="ctr"/>
          </a:p>
        </p:txBody>
      </p:sp>
      <p:sp>
        <p:nvSpPr>
          <p:cNvPr id="8" name="TextBox 7"/>
          <p:cNvSpPr txBox="1"/>
          <p:nvPr/>
        </p:nvSpPr>
        <p:spPr>
          <a:xfrm>
            <a:off x="1051560" y="2212848"/>
            <a:ext cx="10362895" cy="920750"/>
          </a:xfrm>
          <a:prstGeom prst="rect">
            <a:avLst/>
          </a:prstGeom>
          <a:noFill/>
        </p:spPr>
        <p:txBody>
          <a:bodyPr wrap="square" anchor="t" lIns="0" rIns="0" tIns="0" bIns="0">
            <a:spAutoFit/>
          </a:bodyPr>
          <a:lstStyle/>
          <a:p>
            <a:pPr algn="l">
              <a:lnSpc>
                <a:spcPct val="100000"/>
              </a:lnSpc>
              <a:spcBef>
                <a:spcPts val="0"/>
              </a:spcBef>
              <a:spcAft>
                <a:spcPts val="400"/>
              </a:spcAft>
            </a:pPr>
            <a:r>
              <a:rPr sz="1100" b="1" i="0">
                <a:solidFill>
                  <a:srgbClr val="818181"/>
                </a:solidFill>
                <a:latin typeface="Arial"/>
              </a:rPr>
              <a:t>IN PLAIN WORDS</a:t>
            </a:r>
          </a:p>
          <a:p>
            <a:pPr algn="l">
              <a:lnSpc>
                <a:spcPct val="115000"/>
              </a:lnSpc>
              <a:spcBef>
                <a:spcPts val="0"/>
              </a:spcBef>
              <a:spcAft>
                <a:spcPts val="0"/>
              </a:spcAft>
            </a:pPr>
            <a:r>
              <a:rPr sz="1900" b="1" i="0">
                <a:solidFill>
                  <a:srgbClr val="1A1A1A"/>
                </a:solidFill>
                <a:latin typeface="Arial"/>
              </a:rPr>
              <a:t>One average gives a signal and the other refuses to. Dow Theory then treats the signal as unproven.</a:t>
            </a:r>
          </a:p>
        </p:txBody>
      </p:sp>
      <p:sp>
        <p:nvSpPr>
          <p:cNvPr id="9" name="Rectangle 8"/>
          <p:cNvSpPr/>
          <p:nvPr/>
        </p:nvSpPr>
        <p:spPr>
          <a:xfrm>
            <a:off x="777240" y="3417061"/>
            <a:ext cx="64008" cy="811022"/>
          </a:xfrm>
          <a:prstGeom prst="rect">
            <a:avLst/>
          </a:prstGeom>
          <a:solidFill>
            <a:srgbClr val="D7E0D9"/>
          </a:solidFill>
          <a:ln>
            <a:noFill/>
          </a:ln>
          <a:effectLst/>
        </p:spPr>
        <p:txBody>
          <a:bodyPr rtlCol="0" anchor="ctr"/>
          <a:lstStyle/>
          <a:p>
            <a:pPr algn="ctr"/>
          </a:p>
        </p:txBody>
      </p:sp>
      <p:sp>
        <p:nvSpPr>
          <p:cNvPr id="10" name="TextBox 9"/>
          <p:cNvSpPr txBox="1"/>
          <p:nvPr/>
        </p:nvSpPr>
        <p:spPr>
          <a:xfrm>
            <a:off x="1051560" y="3371342"/>
            <a:ext cx="10362895" cy="920750"/>
          </a:xfrm>
          <a:prstGeom prst="rect">
            <a:avLst/>
          </a:prstGeom>
          <a:noFill/>
        </p:spPr>
        <p:txBody>
          <a:bodyPr wrap="square" anchor="t" lIns="0" rIns="0" tIns="0" bIns="0">
            <a:spAutoFit/>
          </a:bodyPr>
          <a:lstStyle/>
          <a:p>
            <a:pPr algn="l">
              <a:lnSpc>
                <a:spcPct val="100000"/>
              </a:lnSpc>
              <a:spcBef>
                <a:spcPts val="0"/>
              </a:spcBef>
              <a:spcAft>
                <a:spcPts val="400"/>
              </a:spcAft>
            </a:pPr>
            <a:r>
              <a:rPr sz="1100" b="1" i="0">
                <a:solidFill>
                  <a:srgbClr val="818181"/>
                </a:solidFill>
                <a:latin typeface="Arial"/>
              </a:rPr>
              <a:t>FOR EXAMPLE</a:t>
            </a:r>
          </a:p>
          <a:p>
            <a:pPr algn="l">
              <a:lnSpc>
                <a:spcPct val="115000"/>
              </a:lnSpc>
              <a:spcBef>
                <a:spcPts val="0"/>
              </a:spcBef>
              <a:spcAft>
                <a:spcPts val="0"/>
              </a:spcAft>
            </a:pPr>
            <a:r>
              <a:rPr sz="1900" b="0" i="0">
                <a:solidFill>
                  <a:srgbClr val="1A1A1A"/>
                </a:solidFill>
                <a:latin typeface="Arial"/>
              </a:rPr>
              <a:t>The Industrials give a sell signal, the Transportation Average does not, and the book reads that as a bullish indication rather than a bearish one.</a:t>
            </a:r>
          </a:p>
        </p:txBody>
      </p:sp>
      <p:sp>
        <p:nvSpPr>
          <p:cNvPr id="11" name="Rectangle 10"/>
          <p:cNvSpPr/>
          <p:nvPr/>
        </p:nvSpPr>
        <p:spPr>
          <a:xfrm>
            <a:off x="777240" y="4575556"/>
            <a:ext cx="64008" cy="1088517"/>
          </a:xfrm>
          <a:prstGeom prst="rect">
            <a:avLst/>
          </a:prstGeom>
          <a:solidFill>
            <a:srgbClr val="D7E0D9"/>
          </a:solidFill>
          <a:ln>
            <a:noFill/>
          </a:ln>
          <a:effectLst/>
        </p:spPr>
        <p:txBody>
          <a:bodyPr rtlCol="0" anchor="ctr"/>
          <a:lstStyle/>
          <a:p>
            <a:pPr algn="ctr"/>
          </a:p>
        </p:txBody>
      </p:sp>
      <p:sp>
        <p:nvSpPr>
          <p:cNvPr id="12" name="TextBox 11"/>
          <p:cNvSpPr txBox="1"/>
          <p:nvPr/>
        </p:nvSpPr>
        <p:spPr>
          <a:xfrm>
            <a:off x="1051560" y="4529836"/>
            <a:ext cx="10362895" cy="1198245"/>
          </a:xfrm>
          <a:prstGeom prst="rect">
            <a:avLst/>
          </a:prstGeom>
          <a:noFill/>
        </p:spPr>
        <p:txBody>
          <a:bodyPr wrap="square" anchor="t" lIns="0" rIns="0" tIns="0" bIns="0">
            <a:spAutoFit/>
          </a:bodyPr>
          <a:lstStyle/>
          <a:p>
            <a:pPr algn="l">
              <a:lnSpc>
                <a:spcPct val="100000"/>
              </a:lnSpc>
              <a:spcBef>
                <a:spcPts val="0"/>
              </a:spcBef>
              <a:spcAft>
                <a:spcPts val="400"/>
              </a:spcAft>
            </a:pPr>
            <a:r>
              <a:rPr sz="1100" b="1" i="0">
                <a:solidFill>
                  <a:srgbClr val="818181"/>
                </a:solidFill>
                <a:latin typeface="Arial"/>
              </a:rPr>
              <a:t>THE FORMAL DEFINITION</a:t>
            </a:r>
          </a:p>
          <a:p>
            <a:pPr algn="l">
              <a:lnSpc>
                <a:spcPct val="115000"/>
              </a:lnSpc>
              <a:spcBef>
                <a:spcPts val="0"/>
              </a:spcBef>
              <a:spcAft>
                <a:spcPts val="0"/>
              </a:spcAft>
            </a:pPr>
            <a:r>
              <a:rPr sz="1900" b="0" i="0">
                <a:solidFill>
                  <a:srgbClr val="1A1A1A"/>
                </a:solidFill>
                <a:latin typeface="Arial"/>
              </a:rPr>
              <a:t>Non confirmation occurs when a signal in one average is not confirmed by the other. A bearish signal that is not confirmed is regarded as a bullish indication, and the trend may simply resume.</a:t>
            </a:r>
          </a:p>
        </p:txBody>
      </p:sp>
      <p:sp>
        <p:nvSpPr>
          <p:cNvPr id="13" name="TextBox 12"/>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6 of 6 - Confirmation and volume  |  6 of 26</a:t>
            </a:r>
          </a:p>
        </p:txBody>
      </p:sp>
    </p:spTree>
  </p:cSld>
  <p:clrMapOvr>
    <a:masterClrMapping/>
  </p:clrMapOvr>
</p:sld>
</file>

<file path=ppt/slides/slide10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TextBox 3"/>
          <p:cNvSpPr txBox="1"/>
          <p:nvPr/>
        </p:nvSpPr>
        <p:spPr>
          <a:xfrm>
            <a:off x="777240" y="658368"/>
            <a:ext cx="10637215" cy="914400"/>
          </a:xfrm>
          <a:prstGeom prst="rect">
            <a:avLst/>
          </a:prstGeom>
          <a:noFill/>
        </p:spPr>
        <p:txBody>
          <a:bodyPr wrap="square" anchor="t" lIns="0" rIns="0" tIns="0" bIns="0">
            <a:spAutoFit/>
          </a:bodyPr>
          <a:lstStyle/>
          <a:p>
            <a:pPr algn="l">
              <a:lnSpc>
                <a:spcPct val="105000"/>
              </a:lnSpc>
              <a:spcBef>
                <a:spcPts val="0"/>
              </a:spcBef>
              <a:spcAft>
                <a:spcPts val="0"/>
              </a:spcAft>
            </a:pPr>
            <a:r>
              <a:rPr sz="3000" b="0" i="0">
                <a:solidFill>
                  <a:srgbClr val="007A33"/>
                </a:solidFill>
                <a:latin typeface="Palatino"/>
              </a:rPr>
              <a:t>A sell signal that was not confirmed</a:t>
            </a:r>
          </a:p>
        </p:txBody>
      </p:sp>
      <p:sp>
        <p:nvSpPr>
          <p:cNvPr id="5" name="Rectangle 4"/>
          <p:cNvSpPr/>
          <p:nvPr/>
        </p:nvSpPr>
        <p:spPr>
          <a:xfrm>
            <a:off x="777240" y="1572768"/>
            <a:ext cx="10637215" cy="15875"/>
          </a:xfrm>
          <a:prstGeom prst="rect">
            <a:avLst/>
          </a:prstGeom>
          <a:solidFill>
            <a:srgbClr val="D7E0D9"/>
          </a:solidFill>
          <a:ln>
            <a:noFill/>
          </a:ln>
          <a:effectLst/>
        </p:spPr>
        <p:txBody>
          <a:bodyPr rtlCol="0" anchor="ctr"/>
          <a:lstStyle/>
          <a:p>
            <a:pPr algn="ctr"/>
          </a:p>
        </p:txBody>
      </p:sp>
      <p:sp>
        <p:nvSpPr>
          <p:cNvPr id="6" name="TextBox 5"/>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6 of 6 - Confirmation and volume  |  7 of 26</a:t>
            </a:r>
          </a:p>
        </p:txBody>
      </p:sp>
      <p:sp>
        <p:nvSpPr>
          <p:cNvPr id="7" name="Rectangle 6"/>
          <p:cNvSpPr/>
          <p:nvPr/>
        </p:nvSpPr>
        <p:spPr>
          <a:xfrm>
            <a:off x="2346807" y="1810512"/>
            <a:ext cx="7498079" cy="3749039"/>
          </a:xfrm>
          <a:prstGeom prst="rect">
            <a:avLst/>
          </a:prstGeom>
          <a:solidFill>
            <a:srgbClr val="FFFFFF"/>
          </a:solidFill>
          <a:ln w="12700">
            <a:solidFill>
              <a:srgbClr val="D7E0D9"/>
            </a:solidFill>
          </a:ln>
          <a:effectLst/>
        </p:spPr>
        <p:txBody>
          <a:bodyPr rtlCol="0" anchor="ctr"/>
          <a:lstStyle/>
          <a:p>
            <a:pPr algn="ctr"/>
          </a:p>
        </p:txBody>
      </p:sp>
      <p:sp>
        <p:nvSpPr>
          <p:cNvPr id="8" name="Rectangle 7"/>
          <p:cNvSpPr/>
          <p:nvPr/>
        </p:nvSpPr>
        <p:spPr>
          <a:xfrm>
            <a:off x="2346807" y="1810512"/>
            <a:ext cx="7498079" cy="50800"/>
          </a:xfrm>
          <a:prstGeom prst="rect">
            <a:avLst/>
          </a:prstGeom>
          <a:solidFill>
            <a:srgbClr val="F2A900"/>
          </a:solidFill>
          <a:ln>
            <a:noFill/>
          </a:ln>
          <a:effectLst/>
        </p:spPr>
        <p:txBody>
          <a:bodyPr rtlCol="0" anchor="ctr"/>
          <a:lstStyle/>
          <a:p>
            <a:pPr algn="ctr"/>
          </a:p>
        </p:txBody>
      </p:sp>
      <p:sp>
        <p:nvSpPr>
          <p:cNvPr id="9" name="TextBox 8"/>
          <p:cNvSpPr txBox="1"/>
          <p:nvPr/>
        </p:nvSpPr>
        <p:spPr>
          <a:xfrm>
            <a:off x="2895447" y="2450591"/>
            <a:ext cx="6400799" cy="2651759"/>
          </a:xfrm>
          <a:prstGeom prst="rect">
            <a:avLst/>
          </a:prstGeom>
          <a:noFill/>
        </p:spPr>
        <p:txBody>
          <a:bodyPr wrap="square" anchor="t" lIns="0" rIns="0" tIns="0" bIns="0">
            <a:spAutoFit/>
          </a:bodyPr>
          <a:lstStyle/>
          <a:p>
            <a:pPr algn="l">
              <a:lnSpc>
                <a:spcPct val="100000"/>
              </a:lnSpc>
              <a:spcBef>
                <a:spcPts val="0"/>
              </a:spcBef>
              <a:spcAft>
                <a:spcPts val="1400"/>
              </a:spcAft>
            </a:pPr>
            <a:r>
              <a:rPr sz="1500" b="1" i="0">
                <a:solidFill>
                  <a:srgbClr val="818181"/>
                </a:solidFill>
                <a:latin typeface="Arial"/>
              </a:rPr>
              <a:t>FIGURE 2.22</a:t>
            </a:r>
          </a:p>
          <a:p>
            <a:pPr algn="l">
              <a:lnSpc>
                <a:spcPct val="120000"/>
              </a:lnSpc>
              <a:spcBef>
                <a:spcPts val="0"/>
              </a:spcBef>
              <a:spcAft>
                <a:spcPts val="1800"/>
              </a:spcAft>
            </a:pPr>
            <a:r>
              <a:rPr sz="2200" b="0" i="0">
                <a:solidFill>
                  <a:srgbClr val="1A1A1A"/>
                </a:solidFill>
                <a:latin typeface="Palatino"/>
              </a:rPr>
              <a:t>The Dow Jones Industrial Average making a weak non failure swing sell signal with support breached, while the Dow Jones Transportation Average does not breach its own support, after which the Industrials resume the uptrend.</a:t>
            </a:r>
          </a:p>
          <a:p>
            <a:pPr algn="l">
              <a:lnSpc>
                <a:spcPct val="115000"/>
              </a:lnSpc>
              <a:spcBef>
                <a:spcPts val="0"/>
              </a:spcBef>
              <a:spcAft>
                <a:spcPts val="0"/>
              </a:spcAft>
            </a:pPr>
            <a:r>
              <a:rPr sz="1400" b="0" i="1">
                <a:solidFill>
                  <a:srgbClr val="818181"/>
                </a:solidFill>
                <a:latin typeface="Arial"/>
              </a:rPr>
              <a:t>The artwork is copyrighted and is not in the public repository. Build with assets/figures/ present to place it here.</a:t>
            </a:r>
          </a:p>
        </p:txBody>
      </p:sp>
      <p:sp>
        <p:nvSpPr>
          <p:cNvPr id="10" name="TextBox 9"/>
          <p:cNvSpPr txBox="1"/>
          <p:nvPr/>
        </p:nvSpPr>
        <p:spPr>
          <a:xfrm>
            <a:off x="777240" y="5669280"/>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300" b="0" i="0">
                <a:solidFill>
                  <a:srgbClr val="818181"/>
                </a:solidFill>
                <a:latin typeface="Arial"/>
              </a:rPr>
              <a:t>Figure 2.22 - Lim, The Handbook of Technical Analysis (Wiley, 2016)</a:t>
            </a:r>
          </a:p>
        </p:txBody>
      </p:sp>
    </p:spTree>
  </p:cSld>
  <p:clrMapOvr>
    <a:masterClrMapping/>
  </p:clrMapOvr>
</p:sld>
</file>

<file path=ppt/slides/slide1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TextBox 3"/>
          <p:cNvSpPr txBox="1"/>
          <p:nvPr/>
        </p:nvSpPr>
        <p:spPr>
          <a:xfrm>
            <a:off x="777240" y="658368"/>
            <a:ext cx="10637215" cy="914400"/>
          </a:xfrm>
          <a:prstGeom prst="rect">
            <a:avLst/>
          </a:prstGeom>
          <a:noFill/>
        </p:spPr>
        <p:txBody>
          <a:bodyPr wrap="square" anchor="t" lIns="0" rIns="0" tIns="0" bIns="0">
            <a:spAutoFit/>
          </a:bodyPr>
          <a:lstStyle/>
          <a:p>
            <a:pPr algn="l">
              <a:lnSpc>
                <a:spcPct val="105000"/>
              </a:lnSpc>
              <a:spcBef>
                <a:spcPts val="0"/>
              </a:spcBef>
              <a:spcAft>
                <a:spcPts val="0"/>
              </a:spcAft>
            </a:pPr>
            <a:r>
              <a:rPr sz="3000" b="0" i="0">
                <a:solidFill>
                  <a:srgbClr val="007A33"/>
                </a:solidFill>
                <a:latin typeface="Palatino"/>
              </a:rPr>
              <a:t>Confirmation between closely correlated markets</a:t>
            </a:r>
          </a:p>
        </p:txBody>
      </p:sp>
      <p:sp>
        <p:nvSpPr>
          <p:cNvPr id="5" name="Rectangle 4"/>
          <p:cNvSpPr/>
          <p:nvPr/>
        </p:nvSpPr>
        <p:spPr>
          <a:xfrm>
            <a:off x="777240" y="1572768"/>
            <a:ext cx="10637215" cy="15875"/>
          </a:xfrm>
          <a:prstGeom prst="rect">
            <a:avLst/>
          </a:prstGeom>
          <a:solidFill>
            <a:srgbClr val="D7E0D9"/>
          </a:solidFill>
          <a:ln>
            <a:noFill/>
          </a:ln>
          <a:effectLst/>
        </p:spPr>
        <p:txBody>
          <a:bodyPr rtlCol="0" anchor="ctr"/>
          <a:lstStyle/>
          <a:p>
            <a:pPr algn="ctr"/>
          </a:p>
        </p:txBody>
      </p:sp>
      <p:sp>
        <p:nvSpPr>
          <p:cNvPr id="6" name="TextBox 5"/>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6 of 6 - Confirmation and volume  |  8 of 26</a:t>
            </a:r>
          </a:p>
        </p:txBody>
      </p:sp>
      <p:sp>
        <p:nvSpPr>
          <p:cNvPr id="7" name="TextBox 6"/>
          <p:cNvSpPr txBox="1"/>
          <p:nvPr/>
        </p:nvSpPr>
        <p:spPr>
          <a:xfrm>
            <a:off x="777240" y="1965960"/>
            <a:ext cx="10637215" cy="3108960"/>
          </a:xfrm>
          <a:prstGeom prst="rect">
            <a:avLst/>
          </a:prstGeom>
          <a:noFill/>
        </p:spPr>
        <p:txBody>
          <a:bodyPr wrap="square" anchor="t" lIns="0" rIns="0" tIns="0" bIns="0">
            <a:spAutoFit/>
          </a:bodyPr>
          <a:lstStyle/>
          <a:p>
            <a:pPr algn="l">
              <a:lnSpc>
                <a:spcPct val="118000"/>
              </a:lnSpc>
              <a:spcBef>
                <a:spcPts val="0"/>
              </a:spcBef>
              <a:spcAft>
                <a:spcPts val="1300"/>
              </a:spcAft>
            </a:pPr>
            <a:r>
              <a:rPr sz="2100" b="0" i="0">
                <a:solidFill>
                  <a:srgbClr val="1A1A1A"/>
                </a:solidFill>
                <a:latin typeface="Arial"/>
              </a:rPr>
              <a:t>The concept may also be applied to closely correlated markets, not only to the two averages.</a:t>
            </a:r>
          </a:p>
          <a:p>
            <a:pPr algn="l">
              <a:lnSpc>
                <a:spcPct val="118000"/>
              </a:lnSpc>
              <a:spcBef>
                <a:spcPts val="0"/>
              </a:spcBef>
              <a:spcAft>
                <a:spcPts val="1300"/>
              </a:spcAft>
            </a:pPr>
            <a:r>
              <a:rPr sz="2100" b="0" i="0">
                <a:solidFill>
                  <a:srgbClr val="1A1A1A"/>
                </a:solidFill>
                <a:latin typeface="Arial"/>
              </a:rPr>
              <a:t>Practitioners also compare a large cap index with a small cap index.</a:t>
            </a:r>
          </a:p>
        </p:txBody>
      </p:sp>
      <p:sp>
        <p:nvSpPr>
          <p:cNvPr id="8" name="Rectangle 7"/>
          <p:cNvSpPr/>
          <p:nvPr/>
        </p:nvSpPr>
        <p:spPr>
          <a:xfrm>
            <a:off x="777240" y="3586734"/>
            <a:ext cx="82296" cy="467614"/>
          </a:xfrm>
          <a:prstGeom prst="rect">
            <a:avLst/>
          </a:prstGeom>
          <a:solidFill>
            <a:srgbClr val="F2A900"/>
          </a:solidFill>
          <a:ln>
            <a:noFill/>
          </a:ln>
          <a:effectLst/>
        </p:spPr>
        <p:txBody>
          <a:bodyPr rtlCol="0" anchor="ctr"/>
          <a:lstStyle/>
          <a:p>
            <a:pPr algn="ctr"/>
          </a:p>
        </p:txBody>
      </p:sp>
      <p:sp>
        <p:nvSpPr>
          <p:cNvPr id="9" name="TextBox 8"/>
          <p:cNvSpPr txBox="1"/>
          <p:nvPr/>
        </p:nvSpPr>
        <p:spPr>
          <a:xfrm>
            <a:off x="1069848" y="3623310"/>
            <a:ext cx="10344607" cy="467614"/>
          </a:xfrm>
          <a:prstGeom prst="rect">
            <a:avLst/>
          </a:prstGeom>
          <a:noFill/>
        </p:spPr>
        <p:txBody>
          <a:bodyPr wrap="square" anchor="t" lIns="0" rIns="0" tIns="0" bIns="0">
            <a:spAutoFit/>
          </a:bodyPr>
          <a:lstStyle/>
          <a:p>
            <a:pPr algn="l">
              <a:lnSpc>
                <a:spcPct val="115000"/>
              </a:lnSpc>
              <a:spcBef>
                <a:spcPts val="0"/>
              </a:spcBef>
              <a:spcAft>
                <a:spcPts val="0"/>
              </a:spcAft>
            </a:pPr>
            <a:r>
              <a:rPr sz="2200" b="1" i="0">
                <a:solidFill>
                  <a:srgbClr val="1A1A1A"/>
                </a:solidFill>
                <a:latin typeface="Arial"/>
              </a:rPr>
              <a:t>The idea is general: one market alone is not evidence.</a:t>
            </a:r>
          </a:p>
        </p:txBody>
      </p:sp>
    </p:spTree>
  </p:cSld>
  <p:clrMapOvr>
    <a:masterClrMapping/>
  </p:clrMapOvr>
</p:sld>
</file>

<file path=ppt/slides/slide1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TextBox 3"/>
          <p:cNvSpPr txBox="1"/>
          <p:nvPr/>
        </p:nvSpPr>
        <p:spPr>
          <a:xfrm>
            <a:off x="777240" y="658368"/>
            <a:ext cx="10637215" cy="914400"/>
          </a:xfrm>
          <a:prstGeom prst="rect">
            <a:avLst/>
          </a:prstGeom>
          <a:noFill/>
        </p:spPr>
        <p:txBody>
          <a:bodyPr wrap="square" anchor="t" lIns="0" rIns="0" tIns="0" bIns="0">
            <a:spAutoFit/>
          </a:bodyPr>
          <a:lstStyle/>
          <a:p>
            <a:pPr algn="l">
              <a:lnSpc>
                <a:spcPct val="105000"/>
              </a:lnSpc>
              <a:spcBef>
                <a:spcPts val="0"/>
              </a:spcBef>
              <a:spcAft>
                <a:spcPts val="0"/>
              </a:spcAft>
            </a:pPr>
            <a:r>
              <a:rPr sz="3000" b="0" i="0">
                <a:solidFill>
                  <a:srgbClr val="007A33"/>
                </a:solidFill>
                <a:latin typeface="Palatino"/>
              </a:rPr>
              <a:t>Two correlated markets disagreeing</a:t>
            </a:r>
          </a:p>
        </p:txBody>
      </p:sp>
      <p:sp>
        <p:nvSpPr>
          <p:cNvPr id="5" name="Rectangle 4"/>
          <p:cNvSpPr/>
          <p:nvPr/>
        </p:nvSpPr>
        <p:spPr>
          <a:xfrm>
            <a:off x="777240" y="1572768"/>
            <a:ext cx="10637215" cy="15875"/>
          </a:xfrm>
          <a:prstGeom prst="rect">
            <a:avLst/>
          </a:prstGeom>
          <a:solidFill>
            <a:srgbClr val="D7E0D9"/>
          </a:solidFill>
          <a:ln>
            <a:noFill/>
          </a:ln>
          <a:effectLst/>
        </p:spPr>
        <p:txBody>
          <a:bodyPr rtlCol="0" anchor="ctr"/>
          <a:lstStyle/>
          <a:p>
            <a:pPr algn="ctr"/>
          </a:p>
        </p:txBody>
      </p:sp>
      <p:sp>
        <p:nvSpPr>
          <p:cNvPr id="6" name="TextBox 5"/>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6 of 6 - Confirmation and volume  |  9 of 26</a:t>
            </a:r>
          </a:p>
        </p:txBody>
      </p:sp>
      <p:sp>
        <p:nvSpPr>
          <p:cNvPr id="7" name="Rectangle 6"/>
          <p:cNvSpPr/>
          <p:nvPr/>
        </p:nvSpPr>
        <p:spPr>
          <a:xfrm>
            <a:off x="2346807" y="1810512"/>
            <a:ext cx="7498079" cy="3749039"/>
          </a:xfrm>
          <a:prstGeom prst="rect">
            <a:avLst/>
          </a:prstGeom>
          <a:solidFill>
            <a:srgbClr val="FFFFFF"/>
          </a:solidFill>
          <a:ln w="12700">
            <a:solidFill>
              <a:srgbClr val="D7E0D9"/>
            </a:solidFill>
          </a:ln>
          <a:effectLst/>
        </p:spPr>
        <p:txBody>
          <a:bodyPr rtlCol="0" anchor="ctr"/>
          <a:lstStyle/>
          <a:p>
            <a:pPr algn="ctr"/>
          </a:p>
        </p:txBody>
      </p:sp>
      <p:sp>
        <p:nvSpPr>
          <p:cNvPr id="8" name="Rectangle 7"/>
          <p:cNvSpPr/>
          <p:nvPr/>
        </p:nvSpPr>
        <p:spPr>
          <a:xfrm>
            <a:off x="2346807" y="1810512"/>
            <a:ext cx="7498079" cy="50800"/>
          </a:xfrm>
          <a:prstGeom prst="rect">
            <a:avLst/>
          </a:prstGeom>
          <a:solidFill>
            <a:srgbClr val="F2A900"/>
          </a:solidFill>
          <a:ln>
            <a:noFill/>
          </a:ln>
          <a:effectLst/>
        </p:spPr>
        <p:txBody>
          <a:bodyPr rtlCol="0" anchor="ctr"/>
          <a:lstStyle/>
          <a:p>
            <a:pPr algn="ctr"/>
          </a:p>
        </p:txBody>
      </p:sp>
      <p:sp>
        <p:nvSpPr>
          <p:cNvPr id="9" name="TextBox 8"/>
          <p:cNvSpPr txBox="1"/>
          <p:nvPr/>
        </p:nvSpPr>
        <p:spPr>
          <a:xfrm>
            <a:off x="2895447" y="2450591"/>
            <a:ext cx="6400799" cy="2651759"/>
          </a:xfrm>
          <a:prstGeom prst="rect">
            <a:avLst/>
          </a:prstGeom>
          <a:noFill/>
        </p:spPr>
        <p:txBody>
          <a:bodyPr wrap="square" anchor="t" lIns="0" rIns="0" tIns="0" bIns="0">
            <a:spAutoFit/>
          </a:bodyPr>
          <a:lstStyle/>
          <a:p>
            <a:pPr algn="l">
              <a:lnSpc>
                <a:spcPct val="100000"/>
              </a:lnSpc>
              <a:spcBef>
                <a:spcPts val="0"/>
              </a:spcBef>
              <a:spcAft>
                <a:spcPts val="1400"/>
              </a:spcAft>
            </a:pPr>
            <a:r>
              <a:rPr sz="1500" b="1" i="0">
                <a:solidFill>
                  <a:srgbClr val="818181"/>
                </a:solidFill>
                <a:latin typeface="Arial"/>
              </a:rPr>
              <a:t>FIGURE 2.23</a:t>
            </a:r>
          </a:p>
          <a:p>
            <a:pPr algn="l">
              <a:lnSpc>
                <a:spcPct val="120000"/>
              </a:lnSpc>
              <a:spcBef>
                <a:spcPts val="0"/>
              </a:spcBef>
              <a:spcAft>
                <a:spcPts val="1800"/>
              </a:spcAft>
            </a:pPr>
            <a:r>
              <a:rPr sz="2200" b="0" i="0">
                <a:solidFill>
                  <a:srgbClr val="1A1A1A"/>
                </a:solidFill>
                <a:latin typeface="Palatino"/>
              </a:rPr>
              <a:t>Gold and silver side by side, with silver breaching its support while gold does not, which the book reads as either a bearish signal for gold or a bullish one for silver.</a:t>
            </a:r>
          </a:p>
          <a:p>
            <a:pPr algn="l">
              <a:lnSpc>
                <a:spcPct val="115000"/>
              </a:lnSpc>
              <a:spcBef>
                <a:spcPts val="0"/>
              </a:spcBef>
              <a:spcAft>
                <a:spcPts val="0"/>
              </a:spcAft>
            </a:pPr>
            <a:r>
              <a:rPr sz="1400" b="0" i="1">
                <a:solidFill>
                  <a:srgbClr val="818181"/>
                </a:solidFill>
                <a:latin typeface="Arial"/>
              </a:rPr>
              <a:t>The artwork is copyrighted and is not in the public repository. Build with assets/figures/ present to place it here.</a:t>
            </a:r>
          </a:p>
        </p:txBody>
      </p:sp>
      <p:sp>
        <p:nvSpPr>
          <p:cNvPr id="10" name="TextBox 9"/>
          <p:cNvSpPr txBox="1"/>
          <p:nvPr/>
        </p:nvSpPr>
        <p:spPr>
          <a:xfrm>
            <a:off x="777240" y="5669280"/>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300" b="0" i="0">
                <a:solidFill>
                  <a:srgbClr val="818181"/>
                </a:solidFill>
                <a:latin typeface="Arial"/>
              </a:rPr>
              <a:t>Figure 2.23 - Lim, The Handbook of Technical Analysis (Wiley, 2016)</a:t>
            </a:r>
          </a:p>
        </p:txBody>
      </p:sp>
    </p:spTree>
  </p:cSld>
  <p:clrMapOvr>
    <a:masterClrMapping/>
  </p:clrMapOvr>
</p:sld>
</file>

<file path=ppt/slides/slide1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TextBox 3"/>
          <p:cNvSpPr txBox="1"/>
          <p:nvPr/>
        </p:nvSpPr>
        <p:spPr>
          <a:xfrm>
            <a:off x="777240" y="658368"/>
            <a:ext cx="10637215" cy="914400"/>
          </a:xfrm>
          <a:prstGeom prst="rect">
            <a:avLst/>
          </a:prstGeom>
          <a:noFill/>
        </p:spPr>
        <p:txBody>
          <a:bodyPr wrap="square" anchor="t" lIns="0" rIns="0" tIns="0" bIns="0">
            <a:spAutoFit/>
          </a:bodyPr>
          <a:lstStyle/>
          <a:p>
            <a:pPr algn="l">
              <a:lnSpc>
                <a:spcPct val="105000"/>
              </a:lnSpc>
              <a:spcBef>
                <a:spcPts val="0"/>
              </a:spcBef>
              <a:spcAft>
                <a:spcPts val="0"/>
              </a:spcAft>
            </a:pPr>
            <a:r>
              <a:rPr sz="3000" b="0" i="0">
                <a:solidFill>
                  <a:srgbClr val="007A33"/>
                </a:solidFill>
                <a:latin typeface="Palatino"/>
              </a:rPr>
              <a:t>A large cap index and a small cap index</a:t>
            </a:r>
          </a:p>
        </p:txBody>
      </p:sp>
      <p:sp>
        <p:nvSpPr>
          <p:cNvPr id="5" name="Rectangle 4"/>
          <p:cNvSpPr/>
          <p:nvPr/>
        </p:nvSpPr>
        <p:spPr>
          <a:xfrm>
            <a:off x="777240" y="1572768"/>
            <a:ext cx="10637215" cy="15875"/>
          </a:xfrm>
          <a:prstGeom prst="rect">
            <a:avLst/>
          </a:prstGeom>
          <a:solidFill>
            <a:srgbClr val="D7E0D9"/>
          </a:solidFill>
          <a:ln>
            <a:noFill/>
          </a:ln>
          <a:effectLst/>
        </p:spPr>
        <p:txBody>
          <a:bodyPr rtlCol="0" anchor="ctr"/>
          <a:lstStyle/>
          <a:p>
            <a:pPr algn="ctr"/>
          </a:p>
        </p:txBody>
      </p:sp>
      <p:sp>
        <p:nvSpPr>
          <p:cNvPr id="6" name="TextBox 5"/>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6 of 6 - Confirmation and volume  |  10 of 26</a:t>
            </a:r>
          </a:p>
        </p:txBody>
      </p:sp>
      <p:sp>
        <p:nvSpPr>
          <p:cNvPr id="7" name="Rectangle 6"/>
          <p:cNvSpPr/>
          <p:nvPr/>
        </p:nvSpPr>
        <p:spPr>
          <a:xfrm>
            <a:off x="2346807" y="1810512"/>
            <a:ext cx="7498079" cy="3749039"/>
          </a:xfrm>
          <a:prstGeom prst="rect">
            <a:avLst/>
          </a:prstGeom>
          <a:solidFill>
            <a:srgbClr val="FFFFFF"/>
          </a:solidFill>
          <a:ln w="12700">
            <a:solidFill>
              <a:srgbClr val="D7E0D9"/>
            </a:solidFill>
          </a:ln>
          <a:effectLst/>
        </p:spPr>
        <p:txBody>
          <a:bodyPr rtlCol="0" anchor="ctr"/>
          <a:lstStyle/>
          <a:p>
            <a:pPr algn="ctr"/>
          </a:p>
        </p:txBody>
      </p:sp>
      <p:sp>
        <p:nvSpPr>
          <p:cNvPr id="8" name="Rectangle 7"/>
          <p:cNvSpPr/>
          <p:nvPr/>
        </p:nvSpPr>
        <p:spPr>
          <a:xfrm>
            <a:off x="2346807" y="1810512"/>
            <a:ext cx="7498079" cy="50800"/>
          </a:xfrm>
          <a:prstGeom prst="rect">
            <a:avLst/>
          </a:prstGeom>
          <a:solidFill>
            <a:srgbClr val="F2A900"/>
          </a:solidFill>
          <a:ln>
            <a:noFill/>
          </a:ln>
          <a:effectLst/>
        </p:spPr>
        <p:txBody>
          <a:bodyPr rtlCol="0" anchor="ctr"/>
          <a:lstStyle/>
          <a:p>
            <a:pPr algn="ctr"/>
          </a:p>
        </p:txBody>
      </p:sp>
      <p:sp>
        <p:nvSpPr>
          <p:cNvPr id="9" name="TextBox 8"/>
          <p:cNvSpPr txBox="1"/>
          <p:nvPr/>
        </p:nvSpPr>
        <p:spPr>
          <a:xfrm>
            <a:off x="2895447" y="2450591"/>
            <a:ext cx="6400799" cy="2651759"/>
          </a:xfrm>
          <a:prstGeom prst="rect">
            <a:avLst/>
          </a:prstGeom>
          <a:noFill/>
        </p:spPr>
        <p:txBody>
          <a:bodyPr wrap="square" anchor="t" lIns="0" rIns="0" tIns="0" bIns="0">
            <a:spAutoFit/>
          </a:bodyPr>
          <a:lstStyle/>
          <a:p>
            <a:pPr algn="l">
              <a:lnSpc>
                <a:spcPct val="100000"/>
              </a:lnSpc>
              <a:spcBef>
                <a:spcPts val="0"/>
              </a:spcBef>
              <a:spcAft>
                <a:spcPts val="1400"/>
              </a:spcAft>
            </a:pPr>
            <a:r>
              <a:rPr sz="1500" b="1" i="0">
                <a:solidFill>
                  <a:srgbClr val="818181"/>
                </a:solidFill>
                <a:latin typeface="Arial"/>
              </a:rPr>
              <a:t>FIGURE 2.24</a:t>
            </a:r>
          </a:p>
          <a:p>
            <a:pPr algn="l">
              <a:lnSpc>
                <a:spcPct val="120000"/>
              </a:lnSpc>
              <a:spcBef>
                <a:spcPts val="0"/>
              </a:spcBef>
              <a:spcAft>
                <a:spcPts val="1800"/>
              </a:spcAft>
            </a:pPr>
            <a:r>
              <a:rPr sz="2200" b="0" i="0">
                <a:solidFill>
                  <a:srgbClr val="1A1A1A"/>
                </a:solidFill>
                <a:latin typeface="Palatino"/>
              </a:rPr>
              <a:t>The S&amp;P500 large cap index showing sell signals that the Russell 2000 small cap index does not confirm, which the book construes as an oversold indication on the S&amp;P500.</a:t>
            </a:r>
          </a:p>
          <a:p>
            <a:pPr algn="l">
              <a:lnSpc>
                <a:spcPct val="115000"/>
              </a:lnSpc>
              <a:spcBef>
                <a:spcPts val="0"/>
              </a:spcBef>
              <a:spcAft>
                <a:spcPts val="0"/>
              </a:spcAft>
            </a:pPr>
            <a:r>
              <a:rPr sz="1400" b="0" i="1">
                <a:solidFill>
                  <a:srgbClr val="818181"/>
                </a:solidFill>
                <a:latin typeface="Arial"/>
              </a:rPr>
              <a:t>The artwork is copyrighted and is not in the public repository. Build with assets/figures/ present to place it here.</a:t>
            </a:r>
          </a:p>
        </p:txBody>
      </p:sp>
      <p:sp>
        <p:nvSpPr>
          <p:cNvPr id="10" name="TextBox 9"/>
          <p:cNvSpPr txBox="1"/>
          <p:nvPr/>
        </p:nvSpPr>
        <p:spPr>
          <a:xfrm>
            <a:off x="777240" y="5669280"/>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300" b="0" i="0">
                <a:solidFill>
                  <a:srgbClr val="818181"/>
                </a:solidFill>
                <a:latin typeface="Arial"/>
              </a:rPr>
              <a:t>Figure 2.24 - Lim, The Handbook of Technical Analysis (Wiley, 2016)</a:t>
            </a:r>
          </a:p>
        </p:txBody>
      </p:sp>
    </p:spTree>
  </p:cSld>
  <p:clrMapOvr>
    <a:masterClrMapping/>
  </p:clrMapOvr>
</p:sld>
</file>

<file path=ppt/slides/slide1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Rectangle 3"/>
          <p:cNvSpPr/>
          <p:nvPr/>
        </p:nvSpPr>
        <p:spPr>
          <a:xfrm>
            <a:off x="777240" y="566928"/>
            <a:ext cx="1234440" cy="329184"/>
          </a:xfrm>
          <a:prstGeom prst="rect">
            <a:avLst/>
          </a:prstGeom>
          <a:solidFill>
            <a:srgbClr val="F2A900"/>
          </a:solidFill>
          <a:ln>
            <a:noFill/>
          </a:ln>
          <a:effectLst/>
        </p:spPr>
        <p:txBody>
          <a:bodyPr rtlCol="0" anchor="ctr" wrap="none" lIns="0" rIns="0" tIns="0" bIns="0"/>
          <a:lstStyle/>
          <a:p>
            <a:pPr algn="ctr">
              <a:lnSpc>
                <a:spcPct val="100000"/>
              </a:lnSpc>
              <a:spcBef>
                <a:spcPts val="0"/>
              </a:spcBef>
              <a:spcAft>
                <a:spcPts val="0"/>
              </a:spcAft>
            </a:pPr>
            <a:r>
              <a:rPr sz="1200" b="1" i="0">
                <a:solidFill>
                  <a:srgbClr val="1A1A1A"/>
                </a:solidFill>
                <a:latin typeface="Arial"/>
              </a:rPr>
              <a:t>NEW TERM</a:t>
            </a:r>
          </a:p>
        </p:txBody>
      </p:sp>
      <p:sp>
        <p:nvSpPr>
          <p:cNvPr id="5" name="TextBox 4"/>
          <p:cNvSpPr txBox="1"/>
          <p:nvPr/>
        </p:nvSpPr>
        <p:spPr>
          <a:xfrm>
            <a:off x="777240" y="1051560"/>
            <a:ext cx="10637215" cy="822960"/>
          </a:xfrm>
          <a:prstGeom prst="rect">
            <a:avLst/>
          </a:prstGeom>
          <a:noFill/>
        </p:spPr>
        <p:txBody>
          <a:bodyPr wrap="square" anchor="t" lIns="0" rIns="0" tIns="0" bIns="0">
            <a:spAutoFit/>
          </a:bodyPr>
          <a:lstStyle/>
          <a:p>
            <a:pPr algn="l">
              <a:lnSpc>
                <a:spcPct val="105000"/>
              </a:lnSpc>
              <a:spcBef>
                <a:spcPts val="0"/>
              </a:spcBef>
              <a:spcAft>
                <a:spcPts val="0"/>
              </a:spcAft>
            </a:pPr>
            <a:r>
              <a:rPr sz="3200" b="0" i="0">
                <a:solidFill>
                  <a:srgbClr val="007A33"/>
                </a:solidFill>
                <a:latin typeface="Palatino"/>
              </a:rPr>
              <a:t>Volume must confirm the trend</a:t>
            </a:r>
          </a:p>
        </p:txBody>
      </p:sp>
      <p:sp>
        <p:nvSpPr>
          <p:cNvPr id="6" name="Rectangle 5"/>
          <p:cNvSpPr/>
          <p:nvPr/>
        </p:nvSpPr>
        <p:spPr>
          <a:xfrm>
            <a:off x="777240" y="1874519"/>
            <a:ext cx="10637215" cy="15875"/>
          </a:xfrm>
          <a:prstGeom prst="rect">
            <a:avLst/>
          </a:prstGeom>
          <a:solidFill>
            <a:srgbClr val="D7E0D9"/>
          </a:solidFill>
          <a:ln>
            <a:noFill/>
          </a:ln>
          <a:effectLst/>
        </p:spPr>
        <p:txBody>
          <a:bodyPr rtlCol="0" anchor="ctr"/>
          <a:lstStyle/>
          <a:p>
            <a:pPr algn="ctr"/>
          </a:p>
        </p:txBody>
      </p:sp>
      <p:sp>
        <p:nvSpPr>
          <p:cNvPr id="7" name="Rectangle 6"/>
          <p:cNvSpPr/>
          <p:nvPr/>
        </p:nvSpPr>
        <p:spPr>
          <a:xfrm>
            <a:off x="777240" y="2258568"/>
            <a:ext cx="64008" cy="811022"/>
          </a:xfrm>
          <a:prstGeom prst="rect">
            <a:avLst/>
          </a:prstGeom>
          <a:solidFill>
            <a:srgbClr val="F2A900"/>
          </a:solidFill>
          <a:ln>
            <a:noFill/>
          </a:ln>
          <a:effectLst/>
        </p:spPr>
        <p:txBody>
          <a:bodyPr rtlCol="0" anchor="ctr"/>
          <a:lstStyle/>
          <a:p>
            <a:pPr algn="ctr"/>
          </a:p>
        </p:txBody>
      </p:sp>
      <p:sp>
        <p:nvSpPr>
          <p:cNvPr id="8" name="TextBox 7"/>
          <p:cNvSpPr txBox="1"/>
          <p:nvPr/>
        </p:nvSpPr>
        <p:spPr>
          <a:xfrm>
            <a:off x="1051560" y="2212848"/>
            <a:ext cx="10362895" cy="920750"/>
          </a:xfrm>
          <a:prstGeom prst="rect">
            <a:avLst/>
          </a:prstGeom>
          <a:noFill/>
        </p:spPr>
        <p:txBody>
          <a:bodyPr wrap="square" anchor="t" lIns="0" rIns="0" tIns="0" bIns="0">
            <a:spAutoFit/>
          </a:bodyPr>
          <a:lstStyle/>
          <a:p>
            <a:pPr algn="l">
              <a:lnSpc>
                <a:spcPct val="100000"/>
              </a:lnSpc>
              <a:spcBef>
                <a:spcPts val="0"/>
              </a:spcBef>
              <a:spcAft>
                <a:spcPts val="400"/>
              </a:spcAft>
            </a:pPr>
            <a:r>
              <a:rPr sz="1100" b="1" i="0">
                <a:solidFill>
                  <a:srgbClr val="818181"/>
                </a:solidFill>
                <a:latin typeface="Arial"/>
              </a:rPr>
              <a:t>IN PLAIN WORDS</a:t>
            </a:r>
          </a:p>
          <a:p>
            <a:pPr algn="l">
              <a:lnSpc>
                <a:spcPct val="115000"/>
              </a:lnSpc>
              <a:spcBef>
                <a:spcPts val="0"/>
              </a:spcBef>
              <a:spcAft>
                <a:spcPts val="0"/>
              </a:spcAft>
            </a:pPr>
            <a:r>
              <a:rPr sz="1900" b="1" i="0">
                <a:solidFill>
                  <a:srgbClr val="1A1A1A"/>
                </a:solidFill>
                <a:latin typeface="Arial"/>
              </a:rPr>
              <a:t>The sixth tenet. Volume has to grow when price moves with the trend and shrink when it moves against it.</a:t>
            </a:r>
          </a:p>
        </p:txBody>
      </p:sp>
      <p:sp>
        <p:nvSpPr>
          <p:cNvPr id="9" name="Rectangle 8"/>
          <p:cNvSpPr/>
          <p:nvPr/>
        </p:nvSpPr>
        <p:spPr>
          <a:xfrm>
            <a:off x="777240" y="3417061"/>
            <a:ext cx="64008" cy="811022"/>
          </a:xfrm>
          <a:prstGeom prst="rect">
            <a:avLst/>
          </a:prstGeom>
          <a:solidFill>
            <a:srgbClr val="D7E0D9"/>
          </a:solidFill>
          <a:ln>
            <a:noFill/>
          </a:ln>
          <a:effectLst/>
        </p:spPr>
        <p:txBody>
          <a:bodyPr rtlCol="0" anchor="ctr"/>
          <a:lstStyle/>
          <a:p>
            <a:pPr algn="ctr"/>
          </a:p>
        </p:txBody>
      </p:sp>
      <p:sp>
        <p:nvSpPr>
          <p:cNvPr id="10" name="TextBox 9"/>
          <p:cNvSpPr txBox="1"/>
          <p:nvPr/>
        </p:nvSpPr>
        <p:spPr>
          <a:xfrm>
            <a:off x="1051560" y="3371342"/>
            <a:ext cx="10362895" cy="920750"/>
          </a:xfrm>
          <a:prstGeom prst="rect">
            <a:avLst/>
          </a:prstGeom>
          <a:noFill/>
        </p:spPr>
        <p:txBody>
          <a:bodyPr wrap="square" anchor="t" lIns="0" rIns="0" tIns="0" bIns="0">
            <a:spAutoFit/>
          </a:bodyPr>
          <a:lstStyle/>
          <a:p>
            <a:pPr algn="l">
              <a:lnSpc>
                <a:spcPct val="100000"/>
              </a:lnSpc>
              <a:spcBef>
                <a:spcPts val="0"/>
              </a:spcBef>
              <a:spcAft>
                <a:spcPts val="400"/>
              </a:spcAft>
            </a:pPr>
            <a:r>
              <a:rPr sz="1100" b="1" i="0">
                <a:solidFill>
                  <a:srgbClr val="818181"/>
                </a:solidFill>
                <a:latin typeface="Arial"/>
              </a:rPr>
              <a:t>FOR EXAMPLE</a:t>
            </a:r>
          </a:p>
          <a:p>
            <a:pPr algn="l">
              <a:lnSpc>
                <a:spcPct val="115000"/>
              </a:lnSpc>
              <a:spcBef>
                <a:spcPts val="0"/>
              </a:spcBef>
              <a:spcAft>
                <a:spcPts val="0"/>
              </a:spcAft>
            </a:pPr>
            <a:r>
              <a:rPr sz="1900" b="0" i="0">
                <a:solidFill>
                  <a:srgbClr val="1A1A1A"/>
                </a:solidFill>
                <a:latin typeface="Arial"/>
              </a:rPr>
              <a:t>A share rising on 3 million shares a day and pulling back on 1 million is behaving the way the tenet wants.</a:t>
            </a:r>
          </a:p>
        </p:txBody>
      </p:sp>
      <p:sp>
        <p:nvSpPr>
          <p:cNvPr id="11" name="Rectangle 10"/>
          <p:cNvSpPr/>
          <p:nvPr/>
        </p:nvSpPr>
        <p:spPr>
          <a:xfrm>
            <a:off x="777240" y="4575556"/>
            <a:ext cx="64008" cy="1366012"/>
          </a:xfrm>
          <a:prstGeom prst="rect">
            <a:avLst/>
          </a:prstGeom>
          <a:solidFill>
            <a:srgbClr val="D7E0D9"/>
          </a:solidFill>
          <a:ln>
            <a:noFill/>
          </a:ln>
          <a:effectLst/>
        </p:spPr>
        <p:txBody>
          <a:bodyPr rtlCol="0" anchor="ctr"/>
          <a:lstStyle/>
          <a:p>
            <a:pPr algn="ctr"/>
          </a:p>
        </p:txBody>
      </p:sp>
      <p:sp>
        <p:nvSpPr>
          <p:cNvPr id="12" name="TextBox 11"/>
          <p:cNvSpPr txBox="1"/>
          <p:nvPr/>
        </p:nvSpPr>
        <p:spPr>
          <a:xfrm>
            <a:off x="1051560" y="4529836"/>
            <a:ext cx="10362895" cy="1475740"/>
          </a:xfrm>
          <a:prstGeom prst="rect">
            <a:avLst/>
          </a:prstGeom>
          <a:noFill/>
        </p:spPr>
        <p:txBody>
          <a:bodyPr wrap="square" anchor="t" lIns="0" rIns="0" tIns="0" bIns="0">
            <a:spAutoFit/>
          </a:bodyPr>
          <a:lstStyle/>
          <a:p>
            <a:pPr algn="l">
              <a:lnSpc>
                <a:spcPct val="100000"/>
              </a:lnSpc>
              <a:spcBef>
                <a:spcPts val="0"/>
              </a:spcBef>
              <a:spcAft>
                <a:spcPts val="400"/>
              </a:spcAft>
            </a:pPr>
            <a:r>
              <a:rPr sz="1100" b="1" i="0">
                <a:solidFill>
                  <a:srgbClr val="818181"/>
                </a:solidFill>
                <a:latin typeface="Arial"/>
              </a:rPr>
              <a:t>THE FORMAL DEFINITION</a:t>
            </a:r>
          </a:p>
          <a:p>
            <a:pPr algn="l">
              <a:lnSpc>
                <a:spcPct val="115000"/>
              </a:lnSpc>
              <a:spcBef>
                <a:spcPts val="0"/>
              </a:spcBef>
              <a:spcAft>
                <a:spcPts val="0"/>
              </a:spcAft>
            </a:pPr>
            <a:r>
              <a:rPr sz="1900" b="0" i="0">
                <a:solidFill>
                  <a:srgbClr val="1A1A1A"/>
                </a:solidFill>
                <a:latin typeface="Arial"/>
              </a:rPr>
              <a:t>In Dow Theory, volume has to increase or expand in the direction of the existing trend. If volume does not expand in the direction of the existing trend, this is seen as a sign of weakness in the trend, and may potentially lead to a weakening or reversal of it.</a:t>
            </a:r>
          </a:p>
        </p:txBody>
      </p:sp>
      <p:sp>
        <p:nvSpPr>
          <p:cNvPr id="13" name="TextBox 12"/>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6 of 6 - Confirmation and volume  |  11 of 26</a:t>
            </a:r>
          </a:p>
        </p:txBody>
      </p:sp>
    </p:spTree>
  </p:cSld>
  <p:clrMapOvr>
    <a:masterClrMapping/>
  </p:clrMapOvr>
</p:sld>
</file>

<file path=ppt/slides/slide1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TextBox 3"/>
          <p:cNvSpPr txBox="1"/>
          <p:nvPr/>
        </p:nvSpPr>
        <p:spPr>
          <a:xfrm>
            <a:off x="777240" y="658368"/>
            <a:ext cx="10637215" cy="914400"/>
          </a:xfrm>
          <a:prstGeom prst="rect">
            <a:avLst/>
          </a:prstGeom>
          <a:noFill/>
        </p:spPr>
        <p:txBody>
          <a:bodyPr wrap="square" anchor="t" lIns="0" rIns="0" tIns="0" bIns="0">
            <a:spAutoFit/>
          </a:bodyPr>
          <a:lstStyle/>
          <a:p>
            <a:pPr algn="l">
              <a:lnSpc>
                <a:spcPct val="105000"/>
              </a:lnSpc>
              <a:spcBef>
                <a:spcPts val="0"/>
              </a:spcBef>
              <a:spcAft>
                <a:spcPts val="0"/>
              </a:spcAft>
            </a:pPr>
            <a:r>
              <a:rPr sz="3000" b="0" i="0">
                <a:solidFill>
                  <a:srgbClr val="007A33"/>
                </a:solidFill>
                <a:latin typeface="Palatino"/>
              </a:rPr>
              <a:t>The four conditions, in full</a:t>
            </a:r>
          </a:p>
        </p:txBody>
      </p:sp>
      <p:sp>
        <p:nvSpPr>
          <p:cNvPr id="5" name="Rectangle 4"/>
          <p:cNvSpPr/>
          <p:nvPr/>
        </p:nvSpPr>
        <p:spPr>
          <a:xfrm>
            <a:off x="777240" y="1572768"/>
            <a:ext cx="10637215" cy="15875"/>
          </a:xfrm>
          <a:prstGeom prst="rect">
            <a:avLst/>
          </a:prstGeom>
          <a:solidFill>
            <a:srgbClr val="D7E0D9"/>
          </a:solidFill>
          <a:ln>
            <a:noFill/>
          </a:ln>
          <a:effectLst/>
        </p:spPr>
        <p:txBody>
          <a:bodyPr rtlCol="0" anchor="ctr"/>
          <a:lstStyle/>
          <a:p>
            <a:pPr algn="ctr"/>
          </a:p>
        </p:txBody>
      </p:sp>
      <p:sp>
        <p:nvSpPr>
          <p:cNvPr id="6" name="TextBox 5"/>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6 of 6 - Confirmation and volume  |  12 of 26</a:t>
            </a:r>
          </a:p>
        </p:txBody>
      </p:sp>
      <p:sp>
        <p:nvSpPr>
          <p:cNvPr id="7" name="TextBox 6"/>
          <p:cNvSpPr txBox="1"/>
          <p:nvPr/>
        </p:nvSpPr>
        <p:spPr>
          <a:xfrm>
            <a:off x="777240" y="1965960"/>
            <a:ext cx="10637215" cy="3108960"/>
          </a:xfrm>
          <a:prstGeom prst="rect">
            <a:avLst/>
          </a:prstGeom>
          <a:noFill/>
        </p:spPr>
        <p:txBody>
          <a:bodyPr wrap="square" anchor="t" lIns="0" rIns="0" tIns="0" bIns="0">
            <a:spAutoFit/>
          </a:bodyPr>
          <a:lstStyle/>
          <a:p>
            <a:pPr algn="l">
              <a:lnSpc>
                <a:spcPct val="118000"/>
              </a:lnSpc>
              <a:spcBef>
                <a:spcPts val="0"/>
              </a:spcBef>
              <a:spcAft>
                <a:spcPts val="1300"/>
              </a:spcAft>
            </a:pPr>
            <a:r>
              <a:rPr sz="2100" b="0" i="0">
                <a:solidFill>
                  <a:srgbClr val="1A1A1A"/>
                </a:solidFill>
                <a:latin typeface="Arial"/>
              </a:rPr>
              <a:t>1.  In an uptrend, volume should be increasing.</a:t>
            </a:r>
          </a:p>
          <a:p>
            <a:pPr algn="l">
              <a:lnSpc>
                <a:spcPct val="118000"/>
              </a:lnSpc>
              <a:spcBef>
                <a:spcPts val="0"/>
              </a:spcBef>
              <a:spcAft>
                <a:spcPts val="1300"/>
              </a:spcAft>
            </a:pPr>
            <a:r>
              <a:rPr sz="2100" b="0" i="0">
                <a:solidFill>
                  <a:srgbClr val="1A1A1A"/>
                </a:solidFill>
                <a:latin typeface="Arial"/>
              </a:rPr>
              <a:t>2.  In an uptrend, volume should be decreasing during a downside retracement.</a:t>
            </a:r>
          </a:p>
          <a:p>
            <a:pPr algn="l">
              <a:lnSpc>
                <a:spcPct val="118000"/>
              </a:lnSpc>
              <a:spcBef>
                <a:spcPts val="0"/>
              </a:spcBef>
              <a:spcAft>
                <a:spcPts val="1300"/>
              </a:spcAft>
            </a:pPr>
            <a:r>
              <a:rPr sz="2100" b="0" i="0">
                <a:solidFill>
                  <a:srgbClr val="1A1A1A"/>
                </a:solidFill>
                <a:latin typeface="Arial"/>
              </a:rPr>
              <a:t>3.  In a downtrend, volume should be increasing.</a:t>
            </a:r>
          </a:p>
          <a:p>
            <a:pPr algn="l">
              <a:lnSpc>
                <a:spcPct val="118000"/>
              </a:lnSpc>
              <a:spcBef>
                <a:spcPts val="0"/>
              </a:spcBef>
              <a:spcAft>
                <a:spcPts val="1300"/>
              </a:spcAft>
            </a:pPr>
            <a:r>
              <a:rPr sz="2100" b="0" i="0">
                <a:solidFill>
                  <a:srgbClr val="1A1A1A"/>
                </a:solidFill>
                <a:latin typeface="Arial"/>
              </a:rPr>
              <a:t>4.  In a downtrend, volume should be decreasing during an upside retracement.</a:t>
            </a:r>
          </a:p>
        </p:txBody>
      </p:sp>
      <p:sp>
        <p:nvSpPr>
          <p:cNvPr id="8" name="Rectangle 7"/>
          <p:cNvSpPr/>
          <p:nvPr/>
        </p:nvSpPr>
        <p:spPr>
          <a:xfrm>
            <a:off x="777240" y="4267199"/>
            <a:ext cx="82296" cy="788924"/>
          </a:xfrm>
          <a:prstGeom prst="rect">
            <a:avLst/>
          </a:prstGeom>
          <a:solidFill>
            <a:srgbClr val="F2A900"/>
          </a:solidFill>
          <a:ln>
            <a:noFill/>
          </a:ln>
          <a:effectLst/>
        </p:spPr>
        <p:txBody>
          <a:bodyPr rtlCol="0" anchor="ctr"/>
          <a:lstStyle/>
          <a:p>
            <a:pPr algn="ctr"/>
          </a:p>
        </p:txBody>
      </p:sp>
      <p:sp>
        <p:nvSpPr>
          <p:cNvPr id="9" name="TextBox 8"/>
          <p:cNvSpPr txBox="1"/>
          <p:nvPr/>
        </p:nvSpPr>
        <p:spPr>
          <a:xfrm>
            <a:off x="1069848" y="4303775"/>
            <a:ext cx="10344607" cy="788924"/>
          </a:xfrm>
          <a:prstGeom prst="rect">
            <a:avLst/>
          </a:prstGeom>
          <a:noFill/>
        </p:spPr>
        <p:txBody>
          <a:bodyPr wrap="square" anchor="t" lIns="0" rIns="0" tIns="0" bIns="0">
            <a:spAutoFit/>
          </a:bodyPr>
          <a:lstStyle/>
          <a:p>
            <a:pPr algn="l">
              <a:lnSpc>
                <a:spcPct val="115000"/>
              </a:lnSpc>
              <a:spcBef>
                <a:spcPts val="0"/>
              </a:spcBef>
              <a:spcAft>
                <a:spcPts val="0"/>
              </a:spcAft>
            </a:pPr>
            <a:r>
              <a:rPr sz="2200" b="1" i="0">
                <a:solidFill>
                  <a:srgbClr val="1A1A1A"/>
                </a:solidFill>
                <a:latin typeface="Arial"/>
              </a:rPr>
              <a:t>Volume grows with the trend and shrinks against it. All four say only that.</a:t>
            </a:r>
          </a:p>
        </p:txBody>
      </p:sp>
    </p:spTree>
  </p:cSld>
  <p:clrMapOvr>
    <a:masterClrMapping/>
  </p:clrMapOvr>
</p:sld>
</file>

<file path=ppt/slides/slide1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TextBox 3"/>
          <p:cNvSpPr txBox="1"/>
          <p:nvPr/>
        </p:nvSpPr>
        <p:spPr>
          <a:xfrm>
            <a:off x="777240" y="658368"/>
            <a:ext cx="10637215" cy="914400"/>
          </a:xfrm>
          <a:prstGeom prst="rect">
            <a:avLst/>
          </a:prstGeom>
          <a:noFill/>
        </p:spPr>
        <p:txBody>
          <a:bodyPr wrap="square" anchor="t" lIns="0" rIns="0" tIns="0" bIns="0">
            <a:spAutoFit/>
          </a:bodyPr>
          <a:lstStyle/>
          <a:p>
            <a:pPr algn="l">
              <a:lnSpc>
                <a:spcPct val="105000"/>
              </a:lnSpc>
              <a:spcBef>
                <a:spcPts val="0"/>
              </a:spcBef>
              <a:spcAft>
                <a:spcPts val="0"/>
              </a:spcAft>
            </a:pPr>
            <a:r>
              <a:rPr sz="3000" b="0" i="0">
                <a:solidFill>
                  <a:srgbClr val="007A33"/>
                </a:solidFill>
                <a:latin typeface="Palatino"/>
              </a:rPr>
              <a:t>If any one of the four is not met</a:t>
            </a:r>
          </a:p>
        </p:txBody>
      </p:sp>
      <p:sp>
        <p:nvSpPr>
          <p:cNvPr id="5" name="Rectangle 4"/>
          <p:cNvSpPr/>
          <p:nvPr/>
        </p:nvSpPr>
        <p:spPr>
          <a:xfrm>
            <a:off x="777240" y="1572768"/>
            <a:ext cx="10637215" cy="15875"/>
          </a:xfrm>
          <a:prstGeom prst="rect">
            <a:avLst/>
          </a:prstGeom>
          <a:solidFill>
            <a:srgbClr val="D7E0D9"/>
          </a:solidFill>
          <a:ln>
            <a:noFill/>
          </a:ln>
          <a:effectLst/>
        </p:spPr>
        <p:txBody>
          <a:bodyPr rtlCol="0" anchor="ctr"/>
          <a:lstStyle/>
          <a:p>
            <a:pPr algn="ctr"/>
          </a:p>
        </p:txBody>
      </p:sp>
      <p:sp>
        <p:nvSpPr>
          <p:cNvPr id="6" name="TextBox 5"/>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6 of 6 - Confirmation and volume  |  13 of 26</a:t>
            </a:r>
          </a:p>
        </p:txBody>
      </p:sp>
      <p:sp>
        <p:nvSpPr>
          <p:cNvPr id="7" name="TextBox 6"/>
          <p:cNvSpPr txBox="1"/>
          <p:nvPr/>
        </p:nvSpPr>
        <p:spPr>
          <a:xfrm>
            <a:off x="777240" y="1965960"/>
            <a:ext cx="10637215" cy="3108960"/>
          </a:xfrm>
          <a:prstGeom prst="rect">
            <a:avLst/>
          </a:prstGeom>
          <a:noFill/>
        </p:spPr>
        <p:txBody>
          <a:bodyPr wrap="square" anchor="t" lIns="0" rIns="0" tIns="0" bIns="0">
            <a:spAutoFit/>
          </a:bodyPr>
          <a:lstStyle/>
          <a:p>
            <a:pPr algn="l">
              <a:lnSpc>
                <a:spcPct val="118000"/>
              </a:lnSpc>
              <a:spcBef>
                <a:spcPts val="0"/>
              </a:spcBef>
              <a:spcAft>
                <a:spcPts val="1300"/>
              </a:spcAft>
            </a:pPr>
            <a:r>
              <a:rPr sz="2100" b="0" i="0">
                <a:solidFill>
                  <a:srgbClr val="1A1A1A"/>
                </a:solidFill>
                <a:latin typeface="Arial"/>
              </a:rPr>
              <a:t>The existing trend may be potentially weaker than expected.</a:t>
            </a:r>
          </a:p>
          <a:p>
            <a:pPr algn="l">
              <a:lnSpc>
                <a:spcPct val="118000"/>
              </a:lnSpc>
              <a:spcBef>
                <a:spcPts val="0"/>
              </a:spcBef>
              <a:spcAft>
                <a:spcPts val="1300"/>
              </a:spcAft>
            </a:pPr>
            <a:r>
              <a:rPr sz="2100" b="0" i="0">
                <a:solidFill>
                  <a:srgbClr val="1A1A1A"/>
                </a:solidFill>
                <a:latin typeface="Arial"/>
              </a:rPr>
              <a:t>That may lead to a reversal in the existing trend.</a:t>
            </a:r>
          </a:p>
        </p:txBody>
      </p:sp>
      <p:sp>
        <p:nvSpPr>
          <p:cNvPr id="8" name="Rectangle 7"/>
          <p:cNvSpPr/>
          <p:nvPr/>
        </p:nvSpPr>
        <p:spPr>
          <a:xfrm>
            <a:off x="777240" y="3272028"/>
            <a:ext cx="82296" cy="788924"/>
          </a:xfrm>
          <a:prstGeom prst="rect">
            <a:avLst/>
          </a:prstGeom>
          <a:solidFill>
            <a:srgbClr val="F2A900"/>
          </a:solidFill>
          <a:ln>
            <a:noFill/>
          </a:ln>
          <a:effectLst/>
        </p:spPr>
        <p:txBody>
          <a:bodyPr rtlCol="0" anchor="ctr"/>
          <a:lstStyle/>
          <a:p>
            <a:pPr algn="ctr"/>
          </a:p>
        </p:txBody>
      </p:sp>
      <p:sp>
        <p:nvSpPr>
          <p:cNvPr id="9" name="TextBox 8"/>
          <p:cNvSpPr txBox="1"/>
          <p:nvPr/>
        </p:nvSpPr>
        <p:spPr>
          <a:xfrm>
            <a:off x="1069848" y="3308604"/>
            <a:ext cx="10344607" cy="788924"/>
          </a:xfrm>
          <a:prstGeom prst="rect">
            <a:avLst/>
          </a:prstGeom>
          <a:noFill/>
        </p:spPr>
        <p:txBody>
          <a:bodyPr wrap="square" anchor="t" lIns="0" rIns="0" tIns="0" bIns="0">
            <a:spAutoFit/>
          </a:bodyPr>
          <a:lstStyle/>
          <a:p>
            <a:pPr algn="l">
              <a:lnSpc>
                <a:spcPct val="115000"/>
              </a:lnSpc>
              <a:spcBef>
                <a:spcPts val="0"/>
              </a:spcBef>
              <a:spcAft>
                <a:spcPts val="0"/>
              </a:spcAft>
            </a:pPr>
            <a:r>
              <a:rPr sz="2200" b="1" i="0">
                <a:solidFill>
                  <a:srgbClr val="1A1A1A"/>
                </a:solidFill>
                <a:latin typeface="Arial"/>
              </a:rPr>
              <a:t>May, and potentially. The book does not promise a reversal and neither should you.</a:t>
            </a:r>
          </a:p>
        </p:txBody>
      </p:sp>
    </p:spTree>
  </p:cSld>
  <p:clrMapOvr>
    <a:masterClrMapping/>
  </p:clrMapOvr>
</p:sld>
</file>

<file path=ppt/slides/slide1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TextBox 3"/>
          <p:cNvSpPr txBox="1"/>
          <p:nvPr/>
        </p:nvSpPr>
        <p:spPr>
          <a:xfrm>
            <a:off x="777240" y="658368"/>
            <a:ext cx="10637215" cy="914400"/>
          </a:xfrm>
          <a:prstGeom prst="rect">
            <a:avLst/>
          </a:prstGeom>
          <a:noFill/>
        </p:spPr>
        <p:txBody>
          <a:bodyPr wrap="square" anchor="t" lIns="0" rIns="0" tIns="0" bIns="0">
            <a:spAutoFit/>
          </a:bodyPr>
          <a:lstStyle/>
          <a:p>
            <a:pPr algn="l">
              <a:lnSpc>
                <a:spcPct val="105000"/>
              </a:lnSpc>
              <a:spcBef>
                <a:spcPts val="0"/>
              </a:spcBef>
              <a:spcAft>
                <a:spcPts val="0"/>
              </a:spcAft>
            </a:pPr>
            <a:r>
              <a:rPr sz="3000" b="0" i="0">
                <a:solidFill>
                  <a:srgbClr val="007A33"/>
                </a:solidFill>
                <a:latin typeface="Palatino"/>
              </a:rPr>
              <a:t>And volume is only a secondary indicator</a:t>
            </a:r>
          </a:p>
        </p:txBody>
      </p:sp>
      <p:sp>
        <p:nvSpPr>
          <p:cNvPr id="5" name="Rectangle 4"/>
          <p:cNvSpPr/>
          <p:nvPr/>
        </p:nvSpPr>
        <p:spPr>
          <a:xfrm>
            <a:off x="777240" y="1572768"/>
            <a:ext cx="10637215" cy="15875"/>
          </a:xfrm>
          <a:prstGeom prst="rect">
            <a:avLst/>
          </a:prstGeom>
          <a:solidFill>
            <a:srgbClr val="D7E0D9"/>
          </a:solidFill>
          <a:ln>
            <a:noFill/>
          </a:ln>
          <a:effectLst/>
        </p:spPr>
        <p:txBody>
          <a:bodyPr rtlCol="0" anchor="ctr"/>
          <a:lstStyle/>
          <a:p>
            <a:pPr algn="ctr"/>
          </a:p>
        </p:txBody>
      </p:sp>
      <p:sp>
        <p:nvSpPr>
          <p:cNvPr id="6" name="TextBox 5"/>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6 of 6 - Confirmation and volume  |  14 of 26</a:t>
            </a:r>
          </a:p>
        </p:txBody>
      </p:sp>
      <p:sp>
        <p:nvSpPr>
          <p:cNvPr id="7" name="TextBox 6"/>
          <p:cNvSpPr txBox="1"/>
          <p:nvPr/>
        </p:nvSpPr>
        <p:spPr>
          <a:xfrm>
            <a:off x="777240" y="1965960"/>
            <a:ext cx="10637215" cy="3108960"/>
          </a:xfrm>
          <a:prstGeom prst="rect">
            <a:avLst/>
          </a:prstGeom>
          <a:noFill/>
        </p:spPr>
        <p:txBody>
          <a:bodyPr wrap="square" anchor="t" lIns="0" rIns="0" tIns="0" bIns="0">
            <a:spAutoFit/>
          </a:bodyPr>
          <a:lstStyle/>
          <a:p>
            <a:pPr algn="l">
              <a:lnSpc>
                <a:spcPct val="118000"/>
              </a:lnSpc>
              <a:spcBef>
                <a:spcPts val="0"/>
              </a:spcBef>
              <a:spcAft>
                <a:spcPts val="1300"/>
              </a:spcAft>
            </a:pPr>
            <a:r>
              <a:rPr sz="2100" b="0" i="0">
                <a:solidFill>
                  <a:srgbClr val="1A1A1A"/>
                </a:solidFill>
                <a:latin typeface="Arial"/>
              </a:rPr>
              <a:t>The book notes that volume is considered to be a secondary indicator.</a:t>
            </a:r>
          </a:p>
        </p:txBody>
      </p:sp>
      <p:sp>
        <p:nvSpPr>
          <p:cNvPr id="8" name="Rectangle 7"/>
          <p:cNvSpPr/>
          <p:nvPr/>
        </p:nvSpPr>
        <p:spPr>
          <a:xfrm>
            <a:off x="777240" y="2774442"/>
            <a:ext cx="82296" cy="467614"/>
          </a:xfrm>
          <a:prstGeom prst="rect">
            <a:avLst/>
          </a:prstGeom>
          <a:solidFill>
            <a:srgbClr val="F2A900"/>
          </a:solidFill>
          <a:ln>
            <a:noFill/>
          </a:ln>
          <a:effectLst/>
        </p:spPr>
        <p:txBody>
          <a:bodyPr rtlCol="0" anchor="ctr"/>
          <a:lstStyle/>
          <a:p>
            <a:pPr algn="ctr"/>
          </a:p>
        </p:txBody>
      </p:sp>
      <p:sp>
        <p:nvSpPr>
          <p:cNvPr id="9" name="TextBox 8"/>
          <p:cNvSpPr txBox="1"/>
          <p:nvPr/>
        </p:nvSpPr>
        <p:spPr>
          <a:xfrm>
            <a:off x="1069848" y="2811018"/>
            <a:ext cx="10344607" cy="467614"/>
          </a:xfrm>
          <a:prstGeom prst="rect">
            <a:avLst/>
          </a:prstGeom>
          <a:noFill/>
        </p:spPr>
        <p:txBody>
          <a:bodyPr wrap="square" anchor="t" lIns="0" rIns="0" tIns="0" bIns="0">
            <a:spAutoFit/>
          </a:bodyPr>
          <a:lstStyle/>
          <a:p>
            <a:pPr algn="l">
              <a:lnSpc>
                <a:spcPct val="115000"/>
              </a:lnSpc>
              <a:spcBef>
                <a:spcPts val="0"/>
              </a:spcBef>
              <a:spcAft>
                <a:spcPts val="0"/>
              </a:spcAft>
            </a:pPr>
            <a:r>
              <a:rPr sz="2200" b="1" i="0">
                <a:solidFill>
                  <a:srgbClr val="1A1A1A"/>
                </a:solidFill>
                <a:latin typeface="Arial"/>
              </a:rPr>
              <a:t>Price first. Volume confirms or fails to confirm. It does not lead.</a:t>
            </a:r>
          </a:p>
        </p:txBody>
      </p:sp>
    </p:spTree>
  </p:cSld>
  <p:clrMapOvr>
    <a:masterClrMapping/>
  </p:clrMapOvr>
</p:sld>
</file>

<file path=ppt/slides/slide1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TextBox 3"/>
          <p:cNvSpPr txBox="1"/>
          <p:nvPr/>
        </p:nvSpPr>
        <p:spPr>
          <a:xfrm>
            <a:off x="777240" y="658368"/>
            <a:ext cx="10637215" cy="914400"/>
          </a:xfrm>
          <a:prstGeom prst="rect">
            <a:avLst/>
          </a:prstGeom>
          <a:noFill/>
        </p:spPr>
        <p:txBody>
          <a:bodyPr wrap="square" anchor="t" lIns="0" rIns="0" tIns="0" bIns="0">
            <a:spAutoFit/>
          </a:bodyPr>
          <a:lstStyle/>
          <a:p>
            <a:pPr algn="l">
              <a:lnSpc>
                <a:spcPct val="105000"/>
              </a:lnSpc>
              <a:spcBef>
                <a:spcPts val="0"/>
              </a:spcBef>
              <a:spcAft>
                <a:spcPts val="0"/>
              </a:spcAft>
            </a:pPr>
            <a:r>
              <a:rPr sz="3000" b="0" i="0">
                <a:solidFill>
                  <a:srgbClr val="007A33"/>
                </a:solidFill>
                <a:latin typeface="Palatino"/>
              </a:rPr>
              <a:t>Volume expanding with the trend, and easing against it</a:t>
            </a:r>
          </a:p>
        </p:txBody>
      </p:sp>
      <p:sp>
        <p:nvSpPr>
          <p:cNvPr id="5" name="Rectangle 4"/>
          <p:cNvSpPr/>
          <p:nvPr/>
        </p:nvSpPr>
        <p:spPr>
          <a:xfrm>
            <a:off x="777240" y="1572768"/>
            <a:ext cx="10637215" cy="15875"/>
          </a:xfrm>
          <a:prstGeom prst="rect">
            <a:avLst/>
          </a:prstGeom>
          <a:solidFill>
            <a:srgbClr val="D7E0D9"/>
          </a:solidFill>
          <a:ln>
            <a:noFill/>
          </a:ln>
          <a:effectLst/>
        </p:spPr>
        <p:txBody>
          <a:bodyPr rtlCol="0" anchor="ctr"/>
          <a:lstStyle/>
          <a:p>
            <a:pPr algn="ctr"/>
          </a:p>
        </p:txBody>
      </p:sp>
      <p:sp>
        <p:nvSpPr>
          <p:cNvPr id="6" name="TextBox 5"/>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6 of 6 - Confirmation and volume  |  15 of 26</a:t>
            </a:r>
          </a:p>
        </p:txBody>
      </p:sp>
      <p:sp>
        <p:nvSpPr>
          <p:cNvPr id="7" name="Rectangle 6"/>
          <p:cNvSpPr/>
          <p:nvPr/>
        </p:nvSpPr>
        <p:spPr>
          <a:xfrm>
            <a:off x="778611" y="1810512"/>
            <a:ext cx="10634472" cy="3749039"/>
          </a:xfrm>
          <a:prstGeom prst="rect">
            <a:avLst/>
          </a:prstGeom>
          <a:solidFill>
            <a:srgbClr val="FFFFFF"/>
          </a:solidFill>
          <a:ln w="12700">
            <a:solidFill>
              <a:srgbClr val="D7E0D9"/>
            </a:solidFill>
          </a:ln>
          <a:effectLst/>
        </p:spPr>
        <p:txBody>
          <a:bodyPr rtlCol="0" anchor="ctr"/>
          <a:lstStyle/>
          <a:p>
            <a:pPr algn="ctr"/>
          </a:p>
        </p:txBody>
      </p:sp>
      <p:pic>
        <p:nvPicPr>
          <p:cNvPr id="8" name="Picture 7" descr="chart-h.png"/>
          <p:cNvPicPr>
            <a:picLocks noChangeAspect="1"/>
          </p:cNvPicPr>
          <p:nvPr/>
        </p:nvPicPr>
        <p:blipFill>
          <a:blip r:embed="rId2"/>
          <a:stretch>
            <a:fillRect/>
          </a:stretch>
        </p:blipFill>
        <p:spPr>
          <a:xfrm>
            <a:off x="897483" y="1929384"/>
            <a:ext cx="10396728" cy="3511296"/>
          </a:xfrm>
          <a:prstGeom prst="rect">
            <a:avLst/>
          </a:prstGeom>
        </p:spPr>
      </p:pic>
      <p:sp>
        <p:nvSpPr>
          <p:cNvPr id="9" name="TextBox 8"/>
          <p:cNvSpPr txBox="1"/>
          <p:nvPr/>
        </p:nvSpPr>
        <p:spPr>
          <a:xfrm>
            <a:off x="777240" y="5669280"/>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300" b="0" i="0">
                <a:solidFill>
                  <a:srgbClr val="818181"/>
                </a:solidFill>
                <a:latin typeface="Arial"/>
              </a:rPr>
              <a:t>Chart H - FIN1209 teaching chart, drawn for this course. Illustrative data, not a real instrument.</a:t>
            </a:r>
          </a:p>
        </p:txBody>
      </p:sp>
    </p:spTree>
  </p:cSld>
  <p:clrMapOvr>
    <a:masterClrMapping/>
  </p:clrMapOvr>
</p:sld>
</file>

<file path=ppt/slides/slide1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TextBox 3"/>
          <p:cNvSpPr txBox="1"/>
          <p:nvPr/>
        </p:nvSpPr>
        <p:spPr>
          <a:xfrm>
            <a:off x="777240" y="658368"/>
            <a:ext cx="10637215" cy="914400"/>
          </a:xfrm>
          <a:prstGeom prst="rect">
            <a:avLst/>
          </a:prstGeom>
          <a:noFill/>
        </p:spPr>
        <p:txBody>
          <a:bodyPr wrap="square" anchor="t" lIns="0" rIns="0" tIns="0" bIns="0">
            <a:spAutoFit/>
          </a:bodyPr>
          <a:lstStyle/>
          <a:p>
            <a:pPr algn="l">
              <a:lnSpc>
                <a:spcPct val="105000"/>
              </a:lnSpc>
              <a:spcBef>
                <a:spcPts val="0"/>
              </a:spcBef>
              <a:spcAft>
                <a:spcPts val="0"/>
              </a:spcAft>
            </a:pPr>
            <a:r>
              <a:rPr sz="3000" b="0" i="0">
                <a:solidFill>
                  <a:srgbClr val="007A33"/>
                </a:solidFill>
                <a:latin typeface="Palatino"/>
              </a:rPr>
              <a:t>Volume expanding with a primary bull trend</a:t>
            </a:r>
          </a:p>
        </p:txBody>
      </p:sp>
      <p:sp>
        <p:nvSpPr>
          <p:cNvPr id="5" name="Rectangle 4"/>
          <p:cNvSpPr/>
          <p:nvPr/>
        </p:nvSpPr>
        <p:spPr>
          <a:xfrm>
            <a:off x="777240" y="1572768"/>
            <a:ext cx="10637215" cy="15875"/>
          </a:xfrm>
          <a:prstGeom prst="rect">
            <a:avLst/>
          </a:prstGeom>
          <a:solidFill>
            <a:srgbClr val="D7E0D9"/>
          </a:solidFill>
          <a:ln>
            <a:noFill/>
          </a:ln>
          <a:effectLst/>
        </p:spPr>
        <p:txBody>
          <a:bodyPr rtlCol="0" anchor="ctr"/>
          <a:lstStyle/>
          <a:p>
            <a:pPr algn="ctr"/>
          </a:p>
        </p:txBody>
      </p:sp>
      <p:sp>
        <p:nvSpPr>
          <p:cNvPr id="6" name="TextBox 5"/>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6 of 6 - Confirmation and volume  |  16 of 26</a:t>
            </a:r>
          </a:p>
        </p:txBody>
      </p:sp>
      <p:sp>
        <p:nvSpPr>
          <p:cNvPr id="7" name="Rectangle 6"/>
          <p:cNvSpPr/>
          <p:nvPr/>
        </p:nvSpPr>
        <p:spPr>
          <a:xfrm>
            <a:off x="2346807" y="1810512"/>
            <a:ext cx="7498079" cy="3749039"/>
          </a:xfrm>
          <a:prstGeom prst="rect">
            <a:avLst/>
          </a:prstGeom>
          <a:solidFill>
            <a:srgbClr val="FFFFFF"/>
          </a:solidFill>
          <a:ln w="12700">
            <a:solidFill>
              <a:srgbClr val="D7E0D9"/>
            </a:solidFill>
          </a:ln>
          <a:effectLst/>
        </p:spPr>
        <p:txBody>
          <a:bodyPr rtlCol="0" anchor="ctr"/>
          <a:lstStyle/>
          <a:p>
            <a:pPr algn="ctr"/>
          </a:p>
        </p:txBody>
      </p:sp>
      <p:sp>
        <p:nvSpPr>
          <p:cNvPr id="8" name="Rectangle 7"/>
          <p:cNvSpPr/>
          <p:nvPr/>
        </p:nvSpPr>
        <p:spPr>
          <a:xfrm>
            <a:off x="2346807" y="1810512"/>
            <a:ext cx="7498079" cy="50800"/>
          </a:xfrm>
          <a:prstGeom prst="rect">
            <a:avLst/>
          </a:prstGeom>
          <a:solidFill>
            <a:srgbClr val="F2A900"/>
          </a:solidFill>
          <a:ln>
            <a:noFill/>
          </a:ln>
          <a:effectLst/>
        </p:spPr>
        <p:txBody>
          <a:bodyPr rtlCol="0" anchor="ctr"/>
          <a:lstStyle/>
          <a:p>
            <a:pPr algn="ctr"/>
          </a:p>
        </p:txBody>
      </p:sp>
      <p:sp>
        <p:nvSpPr>
          <p:cNvPr id="9" name="TextBox 8"/>
          <p:cNvSpPr txBox="1"/>
          <p:nvPr/>
        </p:nvSpPr>
        <p:spPr>
          <a:xfrm>
            <a:off x="2895447" y="2450591"/>
            <a:ext cx="6400799" cy="2651759"/>
          </a:xfrm>
          <a:prstGeom prst="rect">
            <a:avLst/>
          </a:prstGeom>
          <a:noFill/>
        </p:spPr>
        <p:txBody>
          <a:bodyPr wrap="square" anchor="t" lIns="0" rIns="0" tIns="0" bIns="0">
            <a:spAutoFit/>
          </a:bodyPr>
          <a:lstStyle/>
          <a:p>
            <a:pPr algn="l">
              <a:lnSpc>
                <a:spcPct val="100000"/>
              </a:lnSpc>
              <a:spcBef>
                <a:spcPts val="0"/>
              </a:spcBef>
              <a:spcAft>
                <a:spcPts val="1400"/>
              </a:spcAft>
            </a:pPr>
            <a:r>
              <a:rPr sz="1500" b="1" i="0">
                <a:solidFill>
                  <a:srgbClr val="818181"/>
                </a:solidFill>
                <a:latin typeface="Arial"/>
              </a:rPr>
              <a:t>FIGURE 2.25</a:t>
            </a:r>
          </a:p>
          <a:p>
            <a:pPr algn="l">
              <a:lnSpc>
                <a:spcPct val="120000"/>
              </a:lnSpc>
              <a:spcBef>
                <a:spcPts val="0"/>
              </a:spcBef>
              <a:spcAft>
                <a:spcPts val="1800"/>
              </a:spcAft>
            </a:pPr>
            <a:r>
              <a:rPr sz="2200" b="0" i="0">
                <a:solidFill>
                  <a:srgbClr val="1A1A1A"/>
                </a:solidFill>
                <a:latin typeface="Palatino"/>
              </a:rPr>
              <a:t>A long term chart of gold with volume expanding in the direction of the existing primary bull trend in one marked area, and declining on average during the retracement in another.</a:t>
            </a:r>
          </a:p>
          <a:p>
            <a:pPr algn="l">
              <a:lnSpc>
                <a:spcPct val="115000"/>
              </a:lnSpc>
              <a:spcBef>
                <a:spcPts val="0"/>
              </a:spcBef>
              <a:spcAft>
                <a:spcPts val="0"/>
              </a:spcAft>
            </a:pPr>
            <a:r>
              <a:rPr sz="1400" b="0" i="1">
                <a:solidFill>
                  <a:srgbClr val="818181"/>
                </a:solidFill>
                <a:latin typeface="Arial"/>
              </a:rPr>
              <a:t>The artwork is copyrighted and is not in the public repository. Build with assets/figures/ present to place it here.</a:t>
            </a:r>
          </a:p>
        </p:txBody>
      </p:sp>
      <p:sp>
        <p:nvSpPr>
          <p:cNvPr id="10" name="TextBox 9"/>
          <p:cNvSpPr txBox="1"/>
          <p:nvPr/>
        </p:nvSpPr>
        <p:spPr>
          <a:xfrm>
            <a:off x="777240" y="5669280"/>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300" b="0" i="0">
                <a:solidFill>
                  <a:srgbClr val="818181"/>
                </a:solidFill>
                <a:latin typeface="Arial"/>
              </a:rPr>
              <a:t>Figure 2.25 - Lim, The Handbook of Technical Analysis (Wiley, 2016)</a:t>
            </a:r>
          </a:p>
        </p:txBody>
      </p:sp>
    </p:spTree>
  </p:cSld>
  <p:clrMapOvr>
    <a:masterClrMapping/>
  </p:clrMapOvr>
</p:sld>
</file>

<file path=ppt/slides/slide1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TextBox 3"/>
          <p:cNvSpPr txBox="1"/>
          <p:nvPr/>
        </p:nvSpPr>
        <p:spPr>
          <a:xfrm>
            <a:off x="777240" y="658368"/>
            <a:ext cx="10637215" cy="914400"/>
          </a:xfrm>
          <a:prstGeom prst="rect">
            <a:avLst/>
          </a:prstGeom>
          <a:noFill/>
        </p:spPr>
        <p:txBody>
          <a:bodyPr wrap="square" anchor="t" lIns="0" rIns="0" tIns="0" bIns="0">
            <a:spAutoFit/>
          </a:bodyPr>
          <a:lstStyle/>
          <a:p>
            <a:pPr algn="l">
              <a:lnSpc>
                <a:spcPct val="105000"/>
              </a:lnSpc>
              <a:spcBef>
                <a:spcPts val="0"/>
              </a:spcBef>
              <a:spcAft>
                <a:spcPts val="0"/>
              </a:spcAft>
            </a:pPr>
            <a:r>
              <a:rPr sz="3000" b="0" i="0">
                <a:solidFill>
                  <a:srgbClr val="007A33"/>
                </a:solidFill>
                <a:latin typeface="Palatino"/>
              </a:rPr>
              <a:t>The same test, period by period</a:t>
            </a:r>
          </a:p>
        </p:txBody>
      </p:sp>
      <p:sp>
        <p:nvSpPr>
          <p:cNvPr id="5" name="Rectangle 4"/>
          <p:cNvSpPr/>
          <p:nvPr/>
        </p:nvSpPr>
        <p:spPr>
          <a:xfrm>
            <a:off x="777240" y="1572768"/>
            <a:ext cx="10637215" cy="15875"/>
          </a:xfrm>
          <a:prstGeom prst="rect">
            <a:avLst/>
          </a:prstGeom>
          <a:solidFill>
            <a:srgbClr val="D7E0D9"/>
          </a:solidFill>
          <a:ln>
            <a:noFill/>
          </a:ln>
          <a:effectLst/>
        </p:spPr>
        <p:txBody>
          <a:bodyPr rtlCol="0" anchor="ctr"/>
          <a:lstStyle/>
          <a:p>
            <a:pPr algn="ctr"/>
          </a:p>
        </p:txBody>
      </p:sp>
      <p:sp>
        <p:nvSpPr>
          <p:cNvPr id="6" name="TextBox 5"/>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6 of 6 - Confirmation and volume  |  17 of 26</a:t>
            </a:r>
          </a:p>
        </p:txBody>
      </p:sp>
      <p:sp>
        <p:nvSpPr>
          <p:cNvPr id="7" name="Rectangle 6"/>
          <p:cNvSpPr/>
          <p:nvPr/>
        </p:nvSpPr>
        <p:spPr>
          <a:xfrm>
            <a:off x="2346807" y="1810512"/>
            <a:ext cx="7498079" cy="3749039"/>
          </a:xfrm>
          <a:prstGeom prst="rect">
            <a:avLst/>
          </a:prstGeom>
          <a:solidFill>
            <a:srgbClr val="FFFFFF"/>
          </a:solidFill>
          <a:ln w="12700">
            <a:solidFill>
              <a:srgbClr val="D7E0D9"/>
            </a:solidFill>
          </a:ln>
          <a:effectLst/>
        </p:spPr>
        <p:txBody>
          <a:bodyPr rtlCol="0" anchor="ctr"/>
          <a:lstStyle/>
          <a:p>
            <a:pPr algn="ctr"/>
          </a:p>
        </p:txBody>
      </p:sp>
      <p:sp>
        <p:nvSpPr>
          <p:cNvPr id="8" name="Rectangle 7"/>
          <p:cNvSpPr/>
          <p:nvPr/>
        </p:nvSpPr>
        <p:spPr>
          <a:xfrm>
            <a:off x="2346807" y="1810512"/>
            <a:ext cx="7498079" cy="50800"/>
          </a:xfrm>
          <a:prstGeom prst="rect">
            <a:avLst/>
          </a:prstGeom>
          <a:solidFill>
            <a:srgbClr val="F2A900"/>
          </a:solidFill>
          <a:ln>
            <a:noFill/>
          </a:ln>
          <a:effectLst/>
        </p:spPr>
        <p:txBody>
          <a:bodyPr rtlCol="0" anchor="ctr"/>
          <a:lstStyle/>
          <a:p>
            <a:pPr algn="ctr"/>
          </a:p>
        </p:txBody>
      </p:sp>
      <p:sp>
        <p:nvSpPr>
          <p:cNvPr id="9" name="TextBox 8"/>
          <p:cNvSpPr txBox="1"/>
          <p:nvPr/>
        </p:nvSpPr>
        <p:spPr>
          <a:xfrm>
            <a:off x="2895447" y="2450591"/>
            <a:ext cx="6400799" cy="2651759"/>
          </a:xfrm>
          <a:prstGeom prst="rect">
            <a:avLst/>
          </a:prstGeom>
          <a:noFill/>
        </p:spPr>
        <p:txBody>
          <a:bodyPr wrap="square" anchor="t" lIns="0" rIns="0" tIns="0" bIns="0">
            <a:spAutoFit/>
          </a:bodyPr>
          <a:lstStyle/>
          <a:p>
            <a:pPr algn="l">
              <a:lnSpc>
                <a:spcPct val="100000"/>
              </a:lnSpc>
              <a:spcBef>
                <a:spcPts val="0"/>
              </a:spcBef>
              <a:spcAft>
                <a:spcPts val="1400"/>
              </a:spcAft>
            </a:pPr>
            <a:r>
              <a:rPr sz="1500" b="1" i="0">
                <a:solidFill>
                  <a:srgbClr val="818181"/>
                </a:solidFill>
                <a:latin typeface="Arial"/>
              </a:rPr>
              <a:t>FIGURE 2.26</a:t>
            </a:r>
          </a:p>
          <a:p>
            <a:pPr algn="l">
              <a:lnSpc>
                <a:spcPct val="120000"/>
              </a:lnSpc>
              <a:spcBef>
                <a:spcPts val="0"/>
              </a:spcBef>
              <a:spcAft>
                <a:spcPts val="1800"/>
              </a:spcAft>
            </a:pPr>
            <a:r>
              <a:rPr sz="2200" b="0" i="0">
                <a:solidFill>
                  <a:srgbClr val="1A1A1A"/>
                </a:solidFill>
                <a:latin typeface="Palatino"/>
              </a:rPr>
              <a:t>A weekly chart of the GLD SPDR Gold Trust Shares with ten numbered periods, volume expanding with the trend in the odd numbered ones and declining during each correction or retracement.</a:t>
            </a:r>
          </a:p>
          <a:p>
            <a:pPr algn="l">
              <a:lnSpc>
                <a:spcPct val="115000"/>
              </a:lnSpc>
              <a:spcBef>
                <a:spcPts val="0"/>
              </a:spcBef>
              <a:spcAft>
                <a:spcPts val="0"/>
              </a:spcAft>
            </a:pPr>
            <a:r>
              <a:rPr sz="1400" b="0" i="1">
                <a:solidFill>
                  <a:srgbClr val="818181"/>
                </a:solidFill>
                <a:latin typeface="Arial"/>
              </a:rPr>
              <a:t>The artwork is copyrighted and is not in the public repository. Build with assets/figures/ present to place it here.</a:t>
            </a:r>
          </a:p>
        </p:txBody>
      </p:sp>
      <p:sp>
        <p:nvSpPr>
          <p:cNvPr id="10" name="TextBox 9"/>
          <p:cNvSpPr txBox="1"/>
          <p:nvPr/>
        </p:nvSpPr>
        <p:spPr>
          <a:xfrm>
            <a:off x="777240" y="5669280"/>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300" b="0" i="0">
                <a:solidFill>
                  <a:srgbClr val="818181"/>
                </a:solidFill>
                <a:latin typeface="Arial"/>
              </a:rPr>
              <a:t>Figure 2.26 - Lim, The Handbook of Technical Analysis (Wiley, 2016)</a:t>
            </a:r>
          </a:p>
        </p:txBody>
      </p:sp>
    </p:spTree>
  </p:cSld>
  <p:clrMapOvr>
    <a:masterClrMapping/>
  </p:clrMapOvr>
</p:sld>
</file>

<file path=ppt/slides/slide1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TextBox 3"/>
          <p:cNvSpPr txBox="1"/>
          <p:nvPr/>
        </p:nvSpPr>
        <p:spPr>
          <a:xfrm>
            <a:off x="777240" y="658368"/>
            <a:ext cx="10637215" cy="914400"/>
          </a:xfrm>
          <a:prstGeom prst="rect">
            <a:avLst/>
          </a:prstGeom>
          <a:noFill/>
        </p:spPr>
        <p:txBody>
          <a:bodyPr wrap="square" anchor="t" lIns="0" rIns="0" tIns="0" bIns="0">
            <a:spAutoFit/>
          </a:bodyPr>
          <a:lstStyle/>
          <a:p>
            <a:pPr algn="l">
              <a:lnSpc>
                <a:spcPct val="105000"/>
              </a:lnSpc>
              <a:spcBef>
                <a:spcPts val="0"/>
              </a:spcBef>
              <a:spcAft>
                <a:spcPts val="0"/>
              </a:spcAft>
            </a:pPr>
            <a:r>
              <a:rPr sz="3000" b="0" i="0">
                <a:solidFill>
                  <a:srgbClr val="007A33"/>
                </a:solidFill>
                <a:latin typeface="Palatino"/>
              </a:rPr>
              <a:t>There are many criticisms of Dow Theory</a:t>
            </a:r>
          </a:p>
        </p:txBody>
      </p:sp>
      <p:sp>
        <p:nvSpPr>
          <p:cNvPr id="5" name="Rectangle 4"/>
          <p:cNvSpPr/>
          <p:nvPr/>
        </p:nvSpPr>
        <p:spPr>
          <a:xfrm>
            <a:off x="777240" y="1572768"/>
            <a:ext cx="10637215" cy="15875"/>
          </a:xfrm>
          <a:prstGeom prst="rect">
            <a:avLst/>
          </a:prstGeom>
          <a:solidFill>
            <a:srgbClr val="D7E0D9"/>
          </a:solidFill>
          <a:ln>
            <a:noFill/>
          </a:ln>
          <a:effectLst/>
        </p:spPr>
        <p:txBody>
          <a:bodyPr rtlCol="0" anchor="ctr"/>
          <a:lstStyle/>
          <a:p>
            <a:pPr algn="ctr"/>
          </a:p>
        </p:txBody>
      </p:sp>
      <p:sp>
        <p:nvSpPr>
          <p:cNvPr id="6" name="TextBox 5"/>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6 of 6 - Confirmation and volume  |  18 of 26</a:t>
            </a:r>
          </a:p>
        </p:txBody>
      </p:sp>
      <p:sp>
        <p:nvSpPr>
          <p:cNvPr id="7" name="TextBox 6"/>
          <p:cNvSpPr txBox="1"/>
          <p:nvPr/>
        </p:nvSpPr>
        <p:spPr>
          <a:xfrm>
            <a:off x="777240" y="1965960"/>
            <a:ext cx="10637215" cy="3108960"/>
          </a:xfrm>
          <a:prstGeom prst="rect">
            <a:avLst/>
          </a:prstGeom>
          <a:noFill/>
        </p:spPr>
        <p:txBody>
          <a:bodyPr wrap="square" anchor="t" lIns="0" rIns="0" tIns="0" bIns="0">
            <a:spAutoFit/>
          </a:bodyPr>
          <a:lstStyle/>
          <a:p>
            <a:pPr algn="l">
              <a:lnSpc>
                <a:spcPct val="118000"/>
              </a:lnSpc>
              <a:spcBef>
                <a:spcPts val="0"/>
              </a:spcBef>
              <a:spcAft>
                <a:spcPts val="1300"/>
              </a:spcAft>
            </a:pPr>
            <a:r>
              <a:rPr sz="2100" b="0" i="0">
                <a:solidFill>
                  <a:srgbClr val="1A1A1A"/>
                </a:solidFill>
                <a:latin typeface="Arial"/>
              </a:rPr>
              <a:t>The book lists seven of the more significant arguments against it.</a:t>
            </a:r>
          </a:p>
          <a:p>
            <a:pPr algn="l">
              <a:lnSpc>
                <a:spcPct val="118000"/>
              </a:lnSpc>
              <a:spcBef>
                <a:spcPts val="0"/>
              </a:spcBef>
              <a:spcAft>
                <a:spcPts val="1300"/>
              </a:spcAft>
            </a:pPr>
            <a:r>
              <a:rPr sz="2100" b="0" i="0">
                <a:solidFill>
                  <a:srgbClr val="1A1A1A"/>
                </a:solidFill>
                <a:latin typeface="Arial"/>
              </a:rPr>
              <a:t>They are the book's own, not ours, and several attack Rhea's assumptions directly.</a:t>
            </a:r>
          </a:p>
        </p:txBody>
      </p:sp>
      <p:sp>
        <p:nvSpPr>
          <p:cNvPr id="8" name="Rectangle 7"/>
          <p:cNvSpPr/>
          <p:nvPr/>
        </p:nvSpPr>
        <p:spPr>
          <a:xfrm>
            <a:off x="777240" y="3586734"/>
            <a:ext cx="82296" cy="467614"/>
          </a:xfrm>
          <a:prstGeom prst="rect">
            <a:avLst/>
          </a:prstGeom>
          <a:solidFill>
            <a:srgbClr val="F2A900"/>
          </a:solidFill>
          <a:ln>
            <a:noFill/>
          </a:ln>
          <a:effectLst/>
        </p:spPr>
        <p:txBody>
          <a:bodyPr rtlCol="0" anchor="ctr"/>
          <a:lstStyle/>
          <a:p>
            <a:pPr algn="ctr"/>
          </a:p>
        </p:txBody>
      </p:sp>
      <p:sp>
        <p:nvSpPr>
          <p:cNvPr id="9" name="TextBox 8"/>
          <p:cNvSpPr txBox="1"/>
          <p:nvPr/>
        </p:nvSpPr>
        <p:spPr>
          <a:xfrm>
            <a:off x="1069848" y="3623310"/>
            <a:ext cx="10344607" cy="467614"/>
          </a:xfrm>
          <a:prstGeom prst="rect">
            <a:avLst/>
          </a:prstGeom>
          <a:noFill/>
        </p:spPr>
        <p:txBody>
          <a:bodyPr wrap="square" anchor="t" lIns="0" rIns="0" tIns="0" bIns="0">
            <a:spAutoFit/>
          </a:bodyPr>
          <a:lstStyle/>
          <a:p>
            <a:pPr algn="l">
              <a:lnSpc>
                <a:spcPct val="115000"/>
              </a:lnSpc>
              <a:spcBef>
                <a:spcPts val="0"/>
              </a:spcBef>
              <a:spcAft>
                <a:spcPts val="0"/>
              </a:spcAft>
            </a:pPr>
            <a:r>
              <a:rPr sz="2200" b="1" i="0">
                <a:solidFill>
                  <a:srgbClr val="1A1A1A"/>
                </a:solidFill>
                <a:latin typeface="Arial"/>
              </a:rPr>
              <a:t>A textbook that argues with itself is worth reading carefully.</a:t>
            </a:r>
          </a:p>
        </p:txBody>
      </p:sp>
    </p:spTree>
  </p:cSld>
  <p:clrMapOvr>
    <a:masterClrMapping/>
  </p:clrMapOvr>
</p:sld>
</file>

<file path=ppt/slides/slide1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TextBox 3"/>
          <p:cNvSpPr txBox="1"/>
          <p:nvPr/>
        </p:nvSpPr>
        <p:spPr>
          <a:xfrm>
            <a:off x="777240" y="658368"/>
            <a:ext cx="10637215" cy="914400"/>
          </a:xfrm>
          <a:prstGeom prst="rect">
            <a:avLst/>
          </a:prstGeom>
          <a:noFill/>
        </p:spPr>
        <p:txBody>
          <a:bodyPr wrap="square" anchor="t" lIns="0" rIns="0" tIns="0" bIns="0">
            <a:spAutoFit/>
          </a:bodyPr>
          <a:lstStyle/>
          <a:p>
            <a:pPr algn="l">
              <a:lnSpc>
                <a:spcPct val="105000"/>
              </a:lnSpc>
              <a:spcBef>
                <a:spcPts val="0"/>
              </a:spcBef>
              <a:spcAft>
                <a:spcPts val="0"/>
              </a:spcAft>
            </a:pPr>
            <a:r>
              <a:rPr sz="3000" b="0" i="0">
                <a:solidFill>
                  <a:srgbClr val="007A33"/>
                </a:solidFill>
                <a:latin typeface="Palatino"/>
              </a:rPr>
              <a:t>1. It suits the equity markets better than anything else</a:t>
            </a:r>
          </a:p>
        </p:txBody>
      </p:sp>
      <p:sp>
        <p:nvSpPr>
          <p:cNvPr id="5" name="Rectangle 4"/>
          <p:cNvSpPr/>
          <p:nvPr/>
        </p:nvSpPr>
        <p:spPr>
          <a:xfrm>
            <a:off x="777240" y="1572768"/>
            <a:ext cx="10637215" cy="15875"/>
          </a:xfrm>
          <a:prstGeom prst="rect">
            <a:avLst/>
          </a:prstGeom>
          <a:solidFill>
            <a:srgbClr val="D7E0D9"/>
          </a:solidFill>
          <a:ln>
            <a:noFill/>
          </a:ln>
          <a:effectLst/>
        </p:spPr>
        <p:txBody>
          <a:bodyPr rtlCol="0" anchor="ctr"/>
          <a:lstStyle/>
          <a:p>
            <a:pPr algn="ctr"/>
          </a:p>
        </p:txBody>
      </p:sp>
      <p:sp>
        <p:nvSpPr>
          <p:cNvPr id="6" name="TextBox 5"/>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6 of 6 - Confirmation and volume  |  19 of 26</a:t>
            </a:r>
          </a:p>
        </p:txBody>
      </p:sp>
      <p:sp>
        <p:nvSpPr>
          <p:cNvPr id="7" name="TextBox 6"/>
          <p:cNvSpPr txBox="1"/>
          <p:nvPr/>
        </p:nvSpPr>
        <p:spPr>
          <a:xfrm>
            <a:off x="777240" y="1965960"/>
            <a:ext cx="10637215" cy="3108960"/>
          </a:xfrm>
          <a:prstGeom prst="rect">
            <a:avLst/>
          </a:prstGeom>
          <a:noFill/>
        </p:spPr>
        <p:txBody>
          <a:bodyPr wrap="square" anchor="t" lIns="0" rIns="0" tIns="0" bIns="0">
            <a:spAutoFit/>
          </a:bodyPr>
          <a:lstStyle/>
          <a:p>
            <a:pPr algn="l">
              <a:lnSpc>
                <a:spcPct val="118000"/>
              </a:lnSpc>
              <a:spcBef>
                <a:spcPts val="0"/>
              </a:spcBef>
              <a:spcAft>
                <a:spcPts val="1300"/>
              </a:spcAft>
            </a:pPr>
            <a:r>
              <a:rPr sz="2100" b="0" i="0">
                <a:solidFill>
                  <a:srgbClr val="1A1A1A"/>
                </a:solidFill>
                <a:latin typeface="Arial"/>
              </a:rPr>
              <a:t>A commodity trader might wait months or years for a signal on the primary trend.</a:t>
            </a:r>
          </a:p>
          <a:p>
            <a:pPr algn="l">
              <a:lnSpc>
                <a:spcPct val="118000"/>
              </a:lnSpc>
              <a:spcBef>
                <a:spcPts val="0"/>
              </a:spcBef>
              <a:spcAft>
                <a:spcPts val="1300"/>
              </a:spcAft>
            </a:pPr>
            <a:r>
              <a:rPr sz="2100" b="0" i="0">
                <a:solidFill>
                  <a:srgbClr val="1A1A1A"/>
                </a:solidFill>
                <a:latin typeface="Arial"/>
              </a:rPr>
              <a:t>Hedgers would have few or no counterparties to take the other side.</a:t>
            </a:r>
          </a:p>
          <a:p>
            <a:pPr algn="l">
              <a:lnSpc>
                <a:spcPct val="118000"/>
              </a:lnSpc>
              <a:spcBef>
                <a:spcPts val="0"/>
              </a:spcBef>
              <a:spcAft>
                <a:spcPts val="1300"/>
              </a:spcAft>
            </a:pPr>
            <a:r>
              <a:rPr sz="2100" b="0" i="0">
                <a:solidFill>
                  <a:srgbClr val="1A1A1A"/>
                </a:solidFill>
                <a:latin typeface="Arial"/>
              </a:rPr>
              <a:t>The capital risk is astronomically high if the stop loss is set by the primary trend.</a:t>
            </a:r>
          </a:p>
        </p:txBody>
      </p:sp>
      <p:sp>
        <p:nvSpPr>
          <p:cNvPr id="8" name="Rectangle 7"/>
          <p:cNvSpPr/>
          <p:nvPr/>
        </p:nvSpPr>
        <p:spPr>
          <a:xfrm>
            <a:off x="777240" y="4399026"/>
            <a:ext cx="82296" cy="788924"/>
          </a:xfrm>
          <a:prstGeom prst="rect">
            <a:avLst/>
          </a:prstGeom>
          <a:solidFill>
            <a:srgbClr val="F2A900"/>
          </a:solidFill>
          <a:ln>
            <a:noFill/>
          </a:ln>
          <a:effectLst/>
        </p:spPr>
        <p:txBody>
          <a:bodyPr rtlCol="0" anchor="ctr"/>
          <a:lstStyle/>
          <a:p>
            <a:pPr algn="ctr"/>
          </a:p>
        </p:txBody>
      </p:sp>
      <p:sp>
        <p:nvSpPr>
          <p:cNvPr id="9" name="TextBox 8"/>
          <p:cNvSpPr txBox="1"/>
          <p:nvPr/>
        </p:nvSpPr>
        <p:spPr>
          <a:xfrm>
            <a:off x="1069848" y="4435602"/>
            <a:ext cx="10344607" cy="788924"/>
          </a:xfrm>
          <a:prstGeom prst="rect">
            <a:avLst/>
          </a:prstGeom>
          <a:noFill/>
        </p:spPr>
        <p:txBody>
          <a:bodyPr wrap="square" anchor="t" lIns="0" rIns="0" tIns="0" bIns="0">
            <a:spAutoFit/>
          </a:bodyPr>
          <a:lstStyle/>
          <a:p>
            <a:pPr algn="l">
              <a:lnSpc>
                <a:spcPct val="115000"/>
              </a:lnSpc>
              <a:spcBef>
                <a:spcPts val="0"/>
              </a:spcBef>
              <a:spcAft>
                <a:spcPts val="0"/>
              </a:spcAft>
            </a:pPr>
            <a:r>
              <a:rPr sz="2200" b="1" i="0">
                <a:solidFill>
                  <a:srgbClr val="1A1A1A"/>
                </a:solidFill>
                <a:latin typeface="Arial"/>
              </a:rPr>
              <a:t>A twenty three year bear trend is not a trade anybody can actually hold.</a:t>
            </a:r>
          </a:p>
        </p:txBody>
      </p:sp>
    </p:spTree>
  </p:cSld>
  <p:clrMapOvr>
    <a:masterClrMapping/>
  </p:clrMapOvr>
</p:sld>
</file>

<file path=ppt/slides/slide1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TextBox 3"/>
          <p:cNvSpPr txBox="1"/>
          <p:nvPr/>
        </p:nvSpPr>
        <p:spPr>
          <a:xfrm>
            <a:off x="777240" y="658368"/>
            <a:ext cx="10637215" cy="914400"/>
          </a:xfrm>
          <a:prstGeom prst="rect">
            <a:avLst/>
          </a:prstGeom>
          <a:noFill/>
        </p:spPr>
        <p:txBody>
          <a:bodyPr wrap="square" anchor="t" lIns="0" rIns="0" tIns="0" bIns="0">
            <a:spAutoFit/>
          </a:bodyPr>
          <a:lstStyle/>
          <a:p>
            <a:pPr algn="l">
              <a:lnSpc>
                <a:spcPct val="105000"/>
              </a:lnSpc>
              <a:spcBef>
                <a:spcPts val="0"/>
              </a:spcBef>
              <a:spcAft>
                <a:spcPts val="0"/>
              </a:spcAft>
            </a:pPr>
            <a:r>
              <a:rPr sz="3000" b="0" i="0">
                <a:solidFill>
                  <a:srgbClr val="007A33"/>
                </a:solidFill>
                <a:latin typeface="Palatino"/>
              </a:rPr>
              <a:t>2. The primary trend is susceptible to manipulation</a:t>
            </a:r>
          </a:p>
        </p:txBody>
      </p:sp>
      <p:sp>
        <p:nvSpPr>
          <p:cNvPr id="5" name="Rectangle 4"/>
          <p:cNvSpPr/>
          <p:nvPr/>
        </p:nvSpPr>
        <p:spPr>
          <a:xfrm>
            <a:off x="777240" y="1572768"/>
            <a:ext cx="10637215" cy="15875"/>
          </a:xfrm>
          <a:prstGeom prst="rect">
            <a:avLst/>
          </a:prstGeom>
          <a:solidFill>
            <a:srgbClr val="D7E0D9"/>
          </a:solidFill>
          <a:ln>
            <a:noFill/>
          </a:ln>
          <a:effectLst/>
        </p:spPr>
        <p:txBody>
          <a:bodyPr rtlCol="0" anchor="ctr"/>
          <a:lstStyle/>
          <a:p>
            <a:pPr algn="ctr"/>
          </a:p>
        </p:txBody>
      </p:sp>
      <p:sp>
        <p:nvSpPr>
          <p:cNvPr id="6" name="TextBox 5"/>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6 of 6 - Confirmation and volume  |  20 of 26</a:t>
            </a:r>
          </a:p>
        </p:txBody>
      </p:sp>
      <p:sp>
        <p:nvSpPr>
          <p:cNvPr id="7" name="TextBox 6"/>
          <p:cNvSpPr txBox="1"/>
          <p:nvPr/>
        </p:nvSpPr>
        <p:spPr>
          <a:xfrm>
            <a:off x="777240" y="1965960"/>
            <a:ext cx="10637215" cy="3108960"/>
          </a:xfrm>
          <a:prstGeom prst="rect">
            <a:avLst/>
          </a:prstGeom>
          <a:noFill/>
        </p:spPr>
        <p:txBody>
          <a:bodyPr wrap="square" anchor="t" lIns="0" rIns="0" tIns="0" bIns="0">
            <a:spAutoFit/>
          </a:bodyPr>
          <a:lstStyle/>
          <a:p>
            <a:pPr algn="l">
              <a:lnSpc>
                <a:spcPct val="118000"/>
              </a:lnSpc>
              <a:spcBef>
                <a:spcPts val="0"/>
              </a:spcBef>
              <a:spcAft>
                <a:spcPts val="1300"/>
              </a:spcAft>
            </a:pPr>
            <a:r>
              <a:rPr sz="2100" b="0" i="0">
                <a:solidFill>
                  <a:srgbClr val="1A1A1A"/>
                </a:solidFill>
                <a:latin typeface="Arial"/>
              </a:rPr>
              <a:t>Near zero interest rates over extended periods, colossal stimulus and quantitative easing.</a:t>
            </a:r>
          </a:p>
          <a:p>
            <a:pPr algn="l">
              <a:lnSpc>
                <a:spcPct val="118000"/>
              </a:lnSpc>
              <a:spcBef>
                <a:spcPts val="0"/>
              </a:spcBef>
              <a:spcAft>
                <a:spcPts val="1300"/>
              </a:spcAft>
            </a:pPr>
            <a:r>
              <a:rPr sz="2100" b="0" i="0">
                <a:solidFill>
                  <a:srgbClr val="1A1A1A"/>
                </a:solidFill>
                <a:latin typeface="Arial"/>
              </a:rPr>
              <a:t>Collective energy market rigging, and the Libor scandal.</a:t>
            </a:r>
          </a:p>
        </p:txBody>
      </p:sp>
      <p:sp>
        <p:nvSpPr>
          <p:cNvPr id="8" name="Rectangle 7"/>
          <p:cNvSpPr/>
          <p:nvPr/>
        </p:nvSpPr>
        <p:spPr>
          <a:xfrm>
            <a:off x="777240" y="3586734"/>
            <a:ext cx="82296" cy="788924"/>
          </a:xfrm>
          <a:prstGeom prst="rect">
            <a:avLst/>
          </a:prstGeom>
          <a:solidFill>
            <a:srgbClr val="F2A900"/>
          </a:solidFill>
          <a:ln>
            <a:noFill/>
          </a:ln>
          <a:effectLst/>
        </p:spPr>
        <p:txBody>
          <a:bodyPr rtlCol="0" anchor="ctr"/>
          <a:lstStyle/>
          <a:p>
            <a:pPr algn="ctr"/>
          </a:p>
        </p:txBody>
      </p:sp>
      <p:sp>
        <p:nvSpPr>
          <p:cNvPr id="9" name="TextBox 8"/>
          <p:cNvSpPr txBox="1"/>
          <p:nvPr/>
        </p:nvSpPr>
        <p:spPr>
          <a:xfrm>
            <a:off x="1069848" y="3623310"/>
            <a:ext cx="10344607" cy="788924"/>
          </a:xfrm>
          <a:prstGeom prst="rect">
            <a:avLst/>
          </a:prstGeom>
          <a:noFill/>
        </p:spPr>
        <p:txBody>
          <a:bodyPr wrap="square" anchor="t" lIns="0" rIns="0" tIns="0" bIns="0">
            <a:spAutoFit/>
          </a:bodyPr>
          <a:lstStyle/>
          <a:p>
            <a:pPr algn="l">
              <a:lnSpc>
                <a:spcPct val="115000"/>
              </a:lnSpc>
              <a:spcBef>
                <a:spcPts val="0"/>
              </a:spcBef>
              <a:spcAft>
                <a:spcPts val="0"/>
              </a:spcAft>
            </a:pPr>
            <a:r>
              <a:rPr sz="2200" b="1" i="0">
                <a:solidFill>
                  <a:srgbClr val="1A1A1A"/>
                </a:solidFill>
                <a:latin typeface="Arial"/>
              </a:rPr>
              <a:t>This attacks Rhea's first assumption directly, and it is the book making the attack.</a:t>
            </a:r>
          </a:p>
        </p:txBody>
      </p:sp>
    </p:spTree>
  </p:cSld>
  <p:clrMapOvr>
    <a:masterClrMapping/>
  </p:clrMapOvr>
</p:sld>
</file>

<file path=ppt/slides/slide1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TextBox 3"/>
          <p:cNvSpPr txBox="1"/>
          <p:nvPr/>
        </p:nvSpPr>
        <p:spPr>
          <a:xfrm>
            <a:off x="777240" y="658368"/>
            <a:ext cx="10637215" cy="914400"/>
          </a:xfrm>
          <a:prstGeom prst="rect">
            <a:avLst/>
          </a:prstGeom>
          <a:noFill/>
        </p:spPr>
        <p:txBody>
          <a:bodyPr wrap="square" anchor="t" lIns="0" rIns="0" tIns="0" bIns="0">
            <a:spAutoFit/>
          </a:bodyPr>
          <a:lstStyle/>
          <a:p>
            <a:pPr algn="l">
              <a:lnSpc>
                <a:spcPct val="105000"/>
              </a:lnSpc>
              <a:spcBef>
                <a:spcPts val="0"/>
              </a:spcBef>
              <a:spcAft>
                <a:spcPts val="0"/>
              </a:spcAft>
            </a:pPr>
            <a:r>
              <a:rPr sz="3000" b="0" i="0">
                <a:solidFill>
                  <a:srgbClr val="007A33"/>
                </a:solidFill>
                <a:latin typeface="Palatino"/>
              </a:rPr>
              <a:t>3. The averages are not a true barometer any more</a:t>
            </a:r>
          </a:p>
        </p:txBody>
      </p:sp>
      <p:sp>
        <p:nvSpPr>
          <p:cNvPr id="5" name="Rectangle 4"/>
          <p:cNvSpPr/>
          <p:nvPr/>
        </p:nvSpPr>
        <p:spPr>
          <a:xfrm>
            <a:off x="777240" y="1572768"/>
            <a:ext cx="10637215" cy="15875"/>
          </a:xfrm>
          <a:prstGeom prst="rect">
            <a:avLst/>
          </a:prstGeom>
          <a:solidFill>
            <a:srgbClr val="D7E0D9"/>
          </a:solidFill>
          <a:ln>
            <a:noFill/>
          </a:ln>
          <a:effectLst/>
        </p:spPr>
        <p:txBody>
          <a:bodyPr rtlCol="0" anchor="ctr"/>
          <a:lstStyle/>
          <a:p>
            <a:pPr algn="ctr"/>
          </a:p>
        </p:txBody>
      </p:sp>
      <p:sp>
        <p:nvSpPr>
          <p:cNvPr id="6" name="TextBox 5"/>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6 of 6 - Confirmation and volume  |  21 of 26</a:t>
            </a:r>
          </a:p>
        </p:txBody>
      </p:sp>
      <p:sp>
        <p:nvSpPr>
          <p:cNvPr id="7" name="TextBox 6"/>
          <p:cNvSpPr txBox="1"/>
          <p:nvPr/>
        </p:nvSpPr>
        <p:spPr>
          <a:xfrm>
            <a:off x="777240" y="1965960"/>
            <a:ext cx="10637215" cy="3108960"/>
          </a:xfrm>
          <a:prstGeom prst="rect">
            <a:avLst/>
          </a:prstGeom>
          <a:noFill/>
        </p:spPr>
        <p:txBody>
          <a:bodyPr wrap="square" anchor="t" lIns="0" rIns="0" tIns="0" bIns="0">
            <a:spAutoFit/>
          </a:bodyPr>
          <a:lstStyle/>
          <a:p>
            <a:pPr algn="l">
              <a:lnSpc>
                <a:spcPct val="118000"/>
              </a:lnSpc>
              <a:spcBef>
                <a:spcPts val="0"/>
              </a:spcBef>
              <a:spcAft>
                <a:spcPts val="1300"/>
              </a:spcAft>
            </a:pPr>
            <a:r>
              <a:rPr sz="2100" b="0" i="0">
                <a:solidFill>
                  <a:srgbClr val="1A1A1A"/>
                </a:solidFill>
                <a:latin typeface="Arial"/>
              </a:rPr>
              <a:t>Most indices are themselves tradable today, so they are open to manipulation.</a:t>
            </a:r>
          </a:p>
          <a:p>
            <a:pPr algn="l">
              <a:lnSpc>
                <a:spcPct val="118000"/>
              </a:lnSpc>
              <a:spcBef>
                <a:spcPts val="0"/>
              </a:spcBef>
              <a:spcAft>
                <a:spcPts val="1300"/>
              </a:spcAft>
            </a:pPr>
            <a:r>
              <a:rPr sz="2100" b="0" i="0">
                <a:solidFill>
                  <a:srgbClr val="1A1A1A"/>
                </a:solidFill>
                <a:latin typeface="Arial"/>
              </a:rPr>
              <a:t>The VIX was meant to reflect fear, and heavy speculative trading works against that.</a:t>
            </a:r>
          </a:p>
          <a:p>
            <a:pPr algn="l">
              <a:lnSpc>
                <a:spcPct val="118000"/>
              </a:lnSpc>
              <a:spcBef>
                <a:spcPts val="0"/>
              </a:spcBef>
              <a:spcAft>
                <a:spcPts val="1300"/>
              </a:spcAft>
            </a:pPr>
            <a:r>
              <a:rPr sz="2100" b="0" i="0">
                <a:solidFill>
                  <a:srgbClr val="1A1A1A"/>
                </a:solidFill>
                <a:latin typeface="Arial"/>
              </a:rPr>
              <a:t>Physical gold is at the mercy of shorting in its ETFs, futures and options.</a:t>
            </a:r>
          </a:p>
        </p:txBody>
      </p:sp>
      <p:sp>
        <p:nvSpPr>
          <p:cNvPr id="8" name="Rectangle 7"/>
          <p:cNvSpPr/>
          <p:nvPr/>
        </p:nvSpPr>
        <p:spPr>
          <a:xfrm>
            <a:off x="777240" y="4084320"/>
            <a:ext cx="82296" cy="467614"/>
          </a:xfrm>
          <a:prstGeom prst="rect">
            <a:avLst/>
          </a:prstGeom>
          <a:solidFill>
            <a:srgbClr val="F2A900"/>
          </a:solidFill>
          <a:ln>
            <a:noFill/>
          </a:ln>
          <a:effectLst/>
        </p:spPr>
        <p:txBody>
          <a:bodyPr rtlCol="0" anchor="ctr"/>
          <a:lstStyle/>
          <a:p>
            <a:pPr algn="ctr"/>
          </a:p>
        </p:txBody>
      </p:sp>
      <p:sp>
        <p:nvSpPr>
          <p:cNvPr id="9" name="TextBox 8"/>
          <p:cNvSpPr txBox="1"/>
          <p:nvPr/>
        </p:nvSpPr>
        <p:spPr>
          <a:xfrm>
            <a:off x="1069848" y="4120896"/>
            <a:ext cx="10344607" cy="467614"/>
          </a:xfrm>
          <a:prstGeom prst="rect">
            <a:avLst/>
          </a:prstGeom>
          <a:noFill/>
        </p:spPr>
        <p:txBody>
          <a:bodyPr wrap="square" anchor="t" lIns="0" rIns="0" tIns="0" bIns="0">
            <a:spAutoFit/>
          </a:bodyPr>
          <a:lstStyle/>
          <a:p>
            <a:pPr algn="l">
              <a:lnSpc>
                <a:spcPct val="115000"/>
              </a:lnSpc>
              <a:spcBef>
                <a:spcPts val="0"/>
              </a:spcBef>
              <a:spcAft>
                <a:spcPts val="0"/>
              </a:spcAft>
            </a:pPr>
            <a:r>
              <a:rPr sz="2200" b="1" i="0">
                <a:solidFill>
                  <a:srgbClr val="1A1A1A"/>
                </a:solidFill>
                <a:latin typeface="Arial"/>
              </a:rPr>
              <a:t>Such products never existed in Dow's time.</a:t>
            </a:r>
          </a:p>
        </p:txBody>
      </p:sp>
    </p:spTree>
  </p:cSld>
  <p:clrMapOvr>
    <a:masterClrMapping/>
  </p:clrMapOvr>
</p:sld>
</file>

<file path=ppt/slides/slide1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TextBox 3"/>
          <p:cNvSpPr txBox="1"/>
          <p:nvPr/>
        </p:nvSpPr>
        <p:spPr>
          <a:xfrm>
            <a:off x="777240" y="658368"/>
            <a:ext cx="10637215" cy="914400"/>
          </a:xfrm>
          <a:prstGeom prst="rect">
            <a:avLst/>
          </a:prstGeom>
          <a:noFill/>
        </p:spPr>
        <p:txBody>
          <a:bodyPr wrap="square" anchor="t" lIns="0" rIns="0" tIns="0" bIns="0">
            <a:spAutoFit/>
          </a:bodyPr>
          <a:lstStyle/>
          <a:p>
            <a:pPr algn="l">
              <a:lnSpc>
                <a:spcPct val="105000"/>
              </a:lnSpc>
              <a:spcBef>
                <a:spcPts val="0"/>
              </a:spcBef>
              <a:spcAft>
                <a:spcPts val="0"/>
              </a:spcAft>
            </a:pPr>
            <a:r>
              <a:rPr sz="3000" b="0" i="0">
                <a:solidFill>
                  <a:srgbClr val="007A33"/>
                </a:solidFill>
                <a:latin typeface="Palatino"/>
              </a:rPr>
              <a:t>4. Only closing prices are recognized</a:t>
            </a:r>
          </a:p>
        </p:txBody>
      </p:sp>
      <p:sp>
        <p:nvSpPr>
          <p:cNvPr id="5" name="Rectangle 4"/>
          <p:cNvSpPr/>
          <p:nvPr/>
        </p:nvSpPr>
        <p:spPr>
          <a:xfrm>
            <a:off x="777240" y="1572768"/>
            <a:ext cx="10637215" cy="15875"/>
          </a:xfrm>
          <a:prstGeom prst="rect">
            <a:avLst/>
          </a:prstGeom>
          <a:solidFill>
            <a:srgbClr val="D7E0D9"/>
          </a:solidFill>
          <a:ln>
            <a:noFill/>
          </a:ln>
          <a:effectLst/>
        </p:spPr>
        <p:txBody>
          <a:bodyPr rtlCol="0" anchor="ctr"/>
          <a:lstStyle/>
          <a:p>
            <a:pPr algn="ctr"/>
          </a:p>
        </p:txBody>
      </p:sp>
      <p:sp>
        <p:nvSpPr>
          <p:cNvPr id="6" name="TextBox 5"/>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6 of 6 - Confirmation and volume  |  22 of 26</a:t>
            </a:r>
          </a:p>
        </p:txBody>
      </p:sp>
      <p:sp>
        <p:nvSpPr>
          <p:cNvPr id="7" name="TextBox 6"/>
          <p:cNvSpPr txBox="1"/>
          <p:nvPr/>
        </p:nvSpPr>
        <p:spPr>
          <a:xfrm>
            <a:off x="777240" y="1965960"/>
            <a:ext cx="10637215" cy="3108960"/>
          </a:xfrm>
          <a:prstGeom prst="rect">
            <a:avLst/>
          </a:prstGeom>
          <a:noFill/>
        </p:spPr>
        <p:txBody>
          <a:bodyPr wrap="square" anchor="t" lIns="0" rIns="0" tIns="0" bIns="0">
            <a:spAutoFit/>
          </a:bodyPr>
          <a:lstStyle/>
          <a:p>
            <a:pPr algn="l">
              <a:lnSpc>
                <a:spcPct val="118000"/>
              </a:lnSpc>
              <a:spcBef>
                <a:spcPts val="0"/>
              </a:spcBef>
              <a:spcAft>
                <a:spcPts val="1300"/>
              </a:spcAft>
            </a:pPr>
            <a:r>
              <a:rPr sz="2100" b="0" i="0">
                <a:solidFill>
                  <a:srgbClr val="1A1A1A"/>
                </a:solidFill>
                <a:latin typeface="Arial"/>
              </a:rPr>
              <a:t>Recognizing only the close ignores potentially large intraday ranges.</a:t>
            </a:r>
          </a:p>
          <a:p>
            <a:pPr algn="l">
              <a:lnSpc>
                <a:spcPct val="118000"/>
              </a:lnSpc>
              <a:spcBef>
                <a:spcPts val="0"/>
              </a:spcBef>
              <a:spcAft>
                <a:spcPts val="1300"/>
              </a:spcAft>
            </a:pPr>
            <a:r>
              <a:rPr sz="2100" b="0" i="0">
                <a:solidFill>
                  <a:srgbClr val="1A1A1A"/>
                </a:solidFill>
                <a:latin typeface="Arial"/>
              </a:rPr>
              <a:t>Those important price rejection levels are totally disregarded.</a:t>
            </a:r>
          </a:p>
        </p:txBody>
      </p:sp>
      <p:sp>
        <p:nvSpPr>
          <p:cNvPr id="8" name="Rectangle 7"/>
          <p:cNvSpPr/>
          <p:nvPr/>
        </p:nvSpPr>
        <p:spPr>
          <a:xfrm>
            <a:off x="777240" y="3272028"/>
            <a:ext cx="82296" cy="788924"/>
          </a:xfrm>
          <a:prstGeom prst="rect">
            <a:avLst/>
          </a:prstGeom>
          <a:solidFill>
            <a:srgbClr val="F2A900"/>
          </a:solidFill>
          <a:ln>
            <a:noFill/>
          </a:ln>
          <a:effectLst/>
        </p:spPr>
        <p:txBody>
          <a:bodyPr rtlCol="0" anchor="ctr"/>
          <a:lstStyle/>
          <a:p>
            <a:pPr algn="ctr"/>
          </a:p>
        </p:txBody>
      </p:sp>
      <p:sp>
        <p:nvSpPr>
          <p:cNvPr id="9" name="TextBox 8"/>
          <p:cNvSpPr txBox="1"/>
          <p:nvPr/>
        </p:nvSpPr>
        <p:spPr>
          <a:xfrm>
            <a:off x="1069848" y="3308604"/>
            <a:ext cx="10344607" cy="788924"/>
          </a:xfrm>
          <a:prstGeom prst="rect">
            <a:avLst/>
          </a:prstGeom>
          <a:noFill/>
        </p:spPr>
        <p:txBody>
          <a:bodyPr wrap="square" anchor="t" lIns="0" rIns="0" tIns="0" bIns="0">
            <a:spAutoFit/>
          </a:bodyPr>
          <a:lstStyle/>
          <a:p>
            <a:pPr algn="l">
              <a:lnSpc>
                <a:spcPct val="115000"/>
              </a:lnSpc>
              <a:spcBef>
                <a:spcPts val="0"/>
              </a:spcBef>
              <a:spcAft>
                <a:spcPts val="0"/>
              </a:spcAft>
            </a:pPr>
            <a:r>
              <a:rPr sz="2200" b="1" i="0">
                <a:solidFill>
                  <a:srgbClr val="1A1A1A"/>
                </a:solidFill>
                <a:latin typeface="Arial"/>
              </a:rPr>
              <a:t>And there is a conceptual conflict: one centavo on the close counts, a huge swing does not.</a:t>
            </a:r>
          </a:p>
        </p:txBody>
      </p:sp>
    </p:spTree>
  </p:cSld>
  <p:clrMapOvr>
    <a:masterClrMapping/>
  </p:clrMapOvr>
</p:sld>
</file>

<file path=ppt/slides/slide1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TextBox 3"/>
          <p:cNvSpPr txBox="1"/>
          <p:nvPr/>
        </p:nvSpPr>
        <p:spPr>
          <a:xfrm>
            <a:off x="777240" y="658368"/>
            <a:ext cx="10637215" cy="914400"/>
          </a:xfrm>
          <a:prstGeom prst="rect">
            <a:avLst/>
          </a:prstGeom>
          <a:noFill/>
        </p:spPr>
        <p:txBody>
          <a:bodyPr wrap="square" anchor="t" lIns="0" rIns="0" tIns="0" bIns="0">
            <a:spAutoFit/>
          </a:bodyPr>
          <a:lstStyle/>
          <a:p>
            <a:pPr algn="l">
              <a:lnSpc>
                <a:spcPct val="105000"/>
              </a:lnSpc>
              <a:spcBef>
                <a:spcPts val="0"/>
              </a:spcBef>
              <a:spcAft>
                <a:spcPts val="0"/>
              </a:spcAft>
            </a:pPr>
            <a:r>
              <a:rPr sz="3000" b="0" i="0">
                <a:solidFill>
                  <a:srgbClr val="007A33"/>
                </a:solidFill>
                <a:latin typeface="Palatino"/>
              </a:rPr>
              <a:t>5. The signals on the primary trend are said to be safer</a:t>
            </a:r>
          </a:p>
        </p:txBody>
      </p:sp>
      <p:sp>
        <p:nvSpPr>
          <p:cNvPr id="5" name="Rectangle 4"/>
          <p:cNvSpPr/>
          <p:nvPr/>
        </p:nvSpPr>
        <p:spPr>
          <a:xfrm>
            <a:off x="777240" y="1572768"/>
            <a:ext cx="10637215" cy="15875"/>
          </a:xfrm>
          <a:prstGeom prst="rect">
            <a:avLst/>
          </a:prstGeom>
          <a:solidFill>
            <a:srgbClr val="D7E0D9"/>
          </a:solidFill>
          <a:ln>
            <a:noFill/>
          </a:ln>
          <a:effectLst/>
        </p:spPr>
        <p:txBody>
          <a:bodyPr rtlCol="0" anchor="ctr"/>
          <a:lstStyle/>
          <a:p>
            <a:pPr algn="ctr"/>
          </a:p>
        </p:txBody>
      </p:sp>
      <p:sp>
        <p:nvSpPr>
          <p:cNvPr id="6" name="TextBox 5"/>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6 of 6 - Confirmation and volume  |  23 of 26</a:t>
            </a:r>
          </a:p>
        </p:txBody>
      </p:sp>
      <p:sp>
        <p:nvSpPr>
          <p:cNvPr id="7" name="TextBox 6"/>
          <p:cNvSpPr txBox="1"/>
          <p:nvPr/>
        </p:nvSpPr>
        <p:spPr>
          <a:xfrm>
            <a:off x="777240" y="1965960"/>
            <a:ext cx="10637215" cy="3108960"/>
          </a:xfrm>
          <a:prstGeom prst="rect">
            <a:avLst/>
          </a:prstGeom>
          <a:noFill/>
        </p:spPr>
        <p:txBody>
          <a:bodyPr wrap="square" anchor="t" lIns="0" rIns="0" tIns="0" bIns="0">
            <a:spAutoFit/>
          </a:bodyPr>
          <a:lstStyle/>
          <a:p>
            <a:pPr algn="l">
              <a:lnSpc>
                <a:spcPct val="118000"/>
              </a:lnSpc>
              <a:spcBef>
                <a:spcPts val="0"/>
              </a:spcBef>
              <a:spcAft>
                <a:spcPts val="1300"/>
              </a:spcAft>
            </a:pPr>
            <a:r>
              <a:rPr sz="2100" b="0" i="0">
                <a:solidFill>
                  <a:srgbClr val="1A1A1A"/>
                </a:solidFill>
                <a:latin typeface="Arial"/>
              </a:rPr>
              <a:t>This may or may not be true.</a:t>
            </a:r>
          </a:p>
          <a:p>
            <a:pPr algn="l">
              <a:lnSpc>
                <a:spcPct val="118000"/>
              </a:lnSpc>
              <a:spcBef>
                <a:spcPts val="0"/>
              </a:spcBef>
              <a:spcAft>
                <a:spcPts val="1300"/>
              </a:spcAft>
            </a:pPr>
            <a:r>
              <a:rPr sz="2100" b="0" i="0">
                <a:solidFill>
                  <a:srgbClr val="1A1A1A"/>
                </a:solidFill>
                <a:latin typeface="Arial"/>
              </a:rPr>
              <a:t>Detractors argue such signals usually occur late in the trend and miss a large part of it.</a:t>
            </a:r>
          </a:p>
        </p:txBody>
      </p:sp>
      <p:sp>
        <p:nvSpPr>
          <p:cNvPr id="8" name="Rectangle 7"/>
          <p:cNvSpPr/>
          <p:nvPr/>
        </p:nvSpPr>
        <p:spPr>
          <a:xfrm>
            <a:off x="777240" y="3586734"/>
            <a:ext cx="82296" cy="467614"/>
          </a:xfrm>
          <a:prstGeom prst="rect">
            <a:avLst/>
          </a:prstGeom>
          <a:solidFill>
            <a:srgbClr val="F2A900"/>
          </a:solidFill>
          <a:ln>
            <a:noFill/>
          </a:ln>
          <a:effectLst/>
        </p:spPr>
        <p:txBody>
          <a:bodyPr rtlCol="0" anchor="ctr"/>
          <a:lstStyle/>
          <a:p>
            <a:pPr algn="ctr"/>
          </a:p>
        </p:txBody>
      </p:sp>
      <p:sp>
        <p:nvSpPr>
          <p:cNvPr id="9" name="TextBox 8"/>
          <p:cNvSpPr txBox="1"/>
          <p:nvPr/>
        </p:nvSpPr>
        <p:spPr>
          <a:xfrm>
            <a:off x="1069848" y="3623310"/>
            <a:ext cx="10344607" cy="467614"/>
          </a:xfrm>
          <a:prstGeom prst="rect">
            <a:avLst/>
          </a:prstGeom>
          <a:noFill/>
        </p:spPr>
        <p:txBody>
          <a:bodyPr wrap="square" anchor="t" lIns="0" rIns="0" tIns="0" bIns="0">
            <a:spAutoFit/>
          </a:bodyPr>
          <a:lstStyle/>
          <a:p>
            <a:pPr algn="l">
              <a:lnSpc>
                <a:spcPct val="115000"/>
              </a:lnSpc>
              <a:spcBef>
                <a:spcPts val="0"/>
              </a:spcBef>
              <a:spcAft>
                <a:spcPts val="0"/>
              </a:spcAft>
            </a:pPr>
            <a:r>
              <a:rPr sz="2200" b="1" i="0">
                <a:solidFill>
                  <a:srgbClr val="1A1A1A"/>
                </a:solidFill>
                <a:latin typeface="Arial"/>
              </a:rPr>
              <a:t>Note the wording. The book does not settle this one either way.</a:t>
            </a:r>
          </a:p>
        </p:txBody>
      </p:sp>
    </p:spTree>
  </p:cSld>
  <p:clrMapOvr>
    <a:masterClrMapping/>
  </p:clrMapOvr>
</p:sld>
</file>

<file path=ppt/slides/slide1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TextBox 3"/>
          <p:cNvSpPr txBox="1"/>
          <p:nvPr/>
        </p:nvSpPr>
        <p:spPr>
          <a:xfrm>
            <a:off x="777240" y="658368"/>
            <a:ext cx="10637215" cy="914400"/>
          </a:xfrm>
          <a:prstGeom prst="rect">
            <a:avLst/>
          </a:prstGeom>
          <a:noFill/>
        </p:spPr>
        <p:txBody>
          <a:bodyPr wrap="square" anchor="t" lIns="0" rIns="0" tIns="0" bIns="0">
            <a:spAutoFit/>
          </a:bodyPr>
          <a:lstStyle/>
          <a:p>
            <a:pPr algn="l">
              <a:lnSpc>
                <a:spcPct val="105000"/>
              </a:lnSpc>
              <a:spcBef>
                <a:spcPts val="0"/>
              </a:spcBef>
              <a:spcAft>
                <a:spcPts val="0"/>
              </a:spcAft>
            </a:pPr>
            <a:r>
              <a:rPr sz="3000" b="0" i="0">
                <a:solidFill>
                  <a:srgbClr val="007A33"/>
                </a:solidFill>
                <a:latin typeface="Palatino"/>
              </a:rPr>
              <a:t>6. Telling a new primary trend from a reaction</a:t>
            </a:r>
          </a:p>
        </p:txBody>
      </p:sp>
      <p:sp>
        <p:nvSpPr>
          <p:cNvPr id="5" name="Rectangle 4"/>
          <p:cNvSpPr/>
          <p:nvPr/>
        </p:nvSpPr>
        <p:spPr>
          <a:xfrm>
            <a:off x="777240" y="1572768"/>
            <a:ext cx="10637215" cy="15875"/>
          </a:xfrm>
          <a:prstGeom prst="rect">
            <a:avLst/>
          </a:prstGeom>
          <a:solidFill>
            <a:srgbClr val="D7E0D9"/>
          </a:solidFill>
          <a:ln>
            <a:noFill/>
          </a:ln>
          <a:effectLst/>
        </p:spPr>
        <p:txBody>
          <a:bodyPr rtlCol="0" anchor="ctr"/>
          <a:lstStyle/>
          <a:p>
            <a:pPr algn="ctr"/>
          </a:p>
        </p:txBody>
      </p:sp>
      <p:sp>
        <p:nvSpPr>
          <p:cNvPr id="6" name="TextBox 5"/>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6 of 6 - Confirmation and volume  |  24 of 26</a:t>
            </a:r>
          </a:p>
        </p:txBody>
      </p:sp>
      <p:sp>
        <p:nvSpPr>
          <p:cNvPr id="7" name="TextBox 6"/>
          <p:cNvSpPr txBox="1"/>
          <p:nvPr/>
        </p:nvSpPr>
        <p:spPr>
          <a:xfrm>
            <a:off x="777240" y="1965960"/>
            <a:ext cx="10637215" cy="3108960"/>
          </a:xfrm>
          <a:prstGeom prst="rect">
            <a:avLst/>
          </a:prstGeom>
          <a:noFill/>
        </p:spPr>
        <p:txBody>
          <a:bodyPr wrap="square" anchor="t" lIns="0" rIns="0" tIns="0" bIns="0">
            <a:spAutoFit/>
          </a:bodyPr>
          <a:lstStyle/>
          <a:p>
            <a:pPr algn="l">
              <a:lnSpc>
                <a:spcPct val="118000"/>
              </a:lnSpc>
              <a:spcBef>
                <a:spcPts val="0"/>
              </a:spcBef>
              <a:spcAft>
                <a:spcPts val="1300"/>
              </a:spcAft>
            </a:pPr>
            <a:r>
              <a:rPr sz="2100" b="0" i="0">
                <a:solidFill>
                  <a:srgbClr val="1A1A1A"/>
                </a:solidFill>
                <a:latin typeface="Arial"/>
              </a:rPr>
              <a:t>It is difficult to establish whether a retracement is part of a secondary reaction.</a:t>
            </a:r>
          </a:p>
          <a:p>
            <a:pPr algn="l">
              <a:lnSpc>
                <a:spcPct val="118000"/>
              </a:lnSpc>
              <a:spcBef>
                <a:spcPts val="0"/>
              </a:spcBef>
              <a:spcAft>
                <a:spcPts val="1300"/>
              </a:spcAft>
            </a:pPr>
            <a:r>
              <a:rPr sz="2100" b="0" i="0">
                <a:solidFill>
                  <a:srgbClr val="1A1A1A"/>
                </a:solidFill>
                <a:latin typeface="Arial"/>
              </a:rPr>
              <a:t>Or whether it is the inception of a new primary trend in the opposite direction.</a:t>
            </a:r>
          </a:p>
          <a:p>
            <a:pPr algn="l">
              <a:lnSpc>
                <a:spcPct val="118000"/>
              </a:lnSpc>
              <a:spcBef>
                <a:spcPts val="0"/>
              </a:spcBef>
              <a:spcAft>
                <a:spcPts val="1300"/>
              </a:spcAft>
            </a:pPr>
            <a:r>
              <a:rPr sz="2100" b="0" i="0">
                <a:solidFill>
                  <a:srgbClr val="1A1A1A"/>
                </a:solidFill>
                <a:latin typeface="Arial"/>
              </a:rPr>
              <a:t>Investing on the wrong reading runs a higher risk of losing capital.</a:t>
            </a:r>
          </a:p>
        </p:txBody>
      </p:sp>
      <p:sp>
        <p:nvSpPr>
          <p:cNvPr id="8" name="Rectangle 7"/>
          <p:cNvSpPr/>
          <p:nvPr/>
        </p:nvSpPr>
        <p:spPr>
          <a:xfrm>
            <a:off x="777240" y="4399026"/>
            <a:ext cx="82296" cy="788924"/>
          </a:xfrm>
          <a:prstGeom prst="rect">
            <a:avLst/>
          </a:prstGeom>
          <a:solidFill>
            <a:srgbClr val="F2A900"/>
          </a:solidFill>
          <a:ln>
            <a:noFill/>
          </a:ln>
          <a:effectLst/>
        </p:spPr>
        <p:txBody>
          <a:bodyPr rtlCol="0" anchor="ctr"/>
          <a:lstStyle/>
          <a:p>
            <a:pPr algn="ctr"/>
          </a:p>
        </p:txBody>
      </p:sp>
      <p:sp>
        <p:nvSpPr>
          <p:cNvPr id="9" name="TextBox 8"/>
          <p:cNvSpPr txBox="1"/>
          <p:nvPr/>
        </p:nvSpPr>
        <p:spPr>
          <a:xfrm>
            <a:off x="1069848" y="4435602"/>
            <a:ext cx="10344607" cy="788924"/>
          </a:xfrm>
          <a:prstGeom prst="rect">
            <a:avLst/>
          </a:prstGeom>
          <a:noFill/>
        </p:spPr>
        <p:txBody>
          <a:bodyPr wrap="square" anchor="t" lIns="0" rIns="0" tIns="0" bIns="0">
            <a:spAutoFit/>
          </a:bodyPr>
          <a:lstStyle/>
          <a:p>
            <a:pPr algn="l">
              <a:lnSpc>
                <a:spcPct val="115000"/>
              </a:lnSpc>
              <a:spcBef>
                <a:spcPts val="0"/>
              </a:spcBef>
              <a:spcAft>
                <a:spcPts val="0"/>
              </a:spcAft>
            </a:pPr>
            <a:r>
              <a:rPr sz="2200" b="1" i="0">
                <a:solidFill>
                  <a:srgbClr val="1A1A1A"/>
                </a:solidFill>
                <a:latin typeface="Arial"/>
              </a:rPr>
              <a:t>This is why the secondary reaction is the most deceptive of the three movements.</a:t>
            </a:r>
          </a:p>
        </p:txBody>
      </p:sp>
    </p:spTree>
  </p:cSld>
  <p:clrMapOvr>
    <a:masterClrMapping/>
  </p:clrMapOvr>
</p:sld>
</file>

<file path=ppt/slides/slide1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TextBox 3"/>
          <p:cNvSpPr txBox="1"/>
          <p:nvPr/>
        </p:nvSpPr>
        <p:spPr>
          <a:xfrm>
            <a:off x="777240" y="658368"/>
            <a:ext cx="10637215" cy="914400"/>
          </a:xfrm>
          <a:prstGeom prst="rect">
            <a:avLst/>
          </a:prstGeom>
          <a:noFill/>
        </p:spPr>
        <p:txBody>
          <a:bodyPr wrap="square" anchor="t" lIns="0" rIns="0" tIns="0" bIns="0">
            <a:spAutoFit/>
          </a:bodyPr>
          <a:lstStyle/>
          <a:p>
            <a:pPr algn="l">
              <a:lnSpc>
                <a:spcPct val="105000"/>
              </a:lnSpc>
              <a:spcBef>
                <a:spcPts val="0"/>
              </a:spcBef>
              <a:spcAft>
                <a:spcPts val="0"/>
              </a:spcAft>
            </a:pPr>
            <a:r>
              <a:rPr sz="3000" b="0" i="0">
                <a:solidFill>
                  <a:srgbClr val="007A33"/>
                </a:solidFill>
                <a:latin typeface="Palatino"/>
              </a:rPr>
              <a:t>7. The two averages no longer measure what they used to</a:t>
            </a:r>
          </a:p>
        </p:txBody>
      </p:sp>
      <p:sp>
        <p:nvSpPr>
          <p:cNvPr id="5" name="Rectangle 4"/>
          <p:cNvSpPr/>
          <p:nvPr/>
        </p:nvSpPr>
        <p:spPr>
          <a:xfrm>
            <a:off x="777240" y="1572768"/>
            <a:ext cx="10637215" cy="15875"/>
          </a:xfrm>
          <a:prstGeom prst="rect">
            <a:avLst/>
          </a:prstGeom>
          <a:solidFill>
            <a:srgbClr val="D7E0D9"/>
          </a:solidFill>
          <a:ln>
            <a:noFill/>
          </a:ln>
          <a:effectLst/>
        </p:spPr>
        <p:txBody>
          <a:bodyPr rtlCol="0" anchor="ctr"/>
          <a:lstStyle/>
          <a:p>
            <a:pPr algn="ctr"/>
          </a:p>
        </p:txBody>
      </p:sp>
      <p:sp>
        <p:nvSpPr>
          <p:cNvPr id="6" name="TextBox 5"/>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6 of 6 - Confirmation and volume  |  25 of 26</a:t>
            </a:r>
          </a:p>
        </p:txBody>
      </p:sp>
      <p:sp>
        <p:nvSpPr>
          <p:cNvPr id="7" name="TextBox 6"/>
          <p:cNvSpPr txBox="1"/>
          <p:nvPr/>
        </p:nvSpPr>
        <p:spPr>
          <a:xfrm>
            <a:off x="777240" y="1965960"/>
            <a:ext cx="10637215" cy="3108960"/>
          </a:xfrm>
          <a:prstGeom prst="rect">
            <a:avLst/>
          </a:prstGeom>
          <a:noFill/>
        </p:spPr>
        <p:txBody>
          <a:bodyPr wrap="square" anchor="t" lIns="0" rIns="0" tIns="0" bIns="0">
            <a:spAutoFit/>
          </a:bodyPr>
          <a:lstStyle/>
          <a:p>
            <a:pPr algn="l">
              <a:lnSpc>
                <a:spcPct val="118000"/>
              </a:lnSpc>
              <a:spcBef>
                <a:spcPts val="0"/>
              </a:spcBef>
              <a:spcAft>
                <a:spcPts val="1300"/>
              </a:spcAft>
            </a:pPr>
            <a:r>
              <a:rPr sz="2100" b="0" i="0">
                <a:solidFill>
                  <a:srgbClr val="1A1A1A"/>
                </a:solidFill>
                <a:latin typeface="Arial"/>
              </a:rPr>
              <a:t>The logic was that industry produces goods and the transports ship them.</a:t>
            </a:r>
          </a:p>
          <a:p>
            <a:pPr algn="l">
              <a:lnSpc>
                <a:spcPct val="118000"/>
              </a:lnSpc>
              <a:spcBef>
                <a:spcPts val="0"/>
              </a:spcBef>
              <a:spcAft>
                <a:spcPts val="1300"/>
              </a:spcAft>
            </a:pPr>
            <a:r>
              <a:rPr sz="2100" b="0" i="0">
                <a:solidFill>
                  <a:srgbClr val="1A1A1A"/>
                </a:solidFill>
                <a:latin typeface="Arial"/>
              </a:rPr>
              <a:t>But the Industrial Average today holds many companies that produce nothing needing shipping.</a:t>
            </a:r>
          </a:p>
          <a:p>
            <a:pPr algn="l">
              <a:lnSpc>
                <a:spcPct val="118000"/>
              </a:lnSpc>
              <a:spcBef>
                <a:spcPts val="0"/>
              </a:spcBef>
              <a:spcAft>
                <a:spcPts val="1300"/>
              </a:spcAft>
            </a:pPr>
            <a:r>
              <a:rPr sz="2100" b="0" i="0">
                <a:solidFill>
                  <a:srgbClr val="1A1A1A"/>
                </a:solidFill>
                <a:latin typeface="Arial"/>
              </a:rPr>
              <a:t>Many are in financial products, telecommunications and insurance.</a:t>
            </a:r>
          </a:p>
        </p:txBody>
      </p:sp>
      <p:sp>
        <p:nvSpPr>
          <p:cNvPr id="8" name="Rectangle 7"/>
          <p:cNvSpPr/>
          <p:nvPr/>
        </p:nvSpPr>
        <p:spPr>
          <a:xfrm>
            <a:off x="777240" y="4084320"/>
            <a:ext cx="82296" cy="788924"/>
          </a:xfrm>
          <a:prstGeom prst="rect">
            <a:avLst/>
          </a:prstGeom>
          <a:solidFill>
            <a:srgbClr val="F2A900"/>
          </a:solidFill>
          <a:ln>
            <a:noFill/>
          </a:ln>
          <a:effectLst/>
        </p:spPr>
        <p:txBody>
          <a:bodyPr rtlCol="0" anchor="ctr"/>
          <a:lstStyle/>
          <a:p>
            <a:pPr algn="ctr"/>
          </a:p>
        </p:txBody>
      </p:sp>
      <p:sp>
        <p:nvSpPr>
          <p:cNvPr id="9" name="TextBox 8"/>
          <p:cNvSpPr txBox="1"/>
          <p:nvPr/>
        </p:nvSpPr>
        <p:spPr>
          <a:xfrm>
            <a:off x="1069848" y="4120896"/>
            <a:ext cx="10344607" cy="788924"/>
          </a:xfrm>
          <a:prstGeom prst="rect">
            <a:avLst/>
          </a:prstGeom>
          <a:noFill/>
        </p:spPr>
        <p:txBody>
          <a:bodyPr wrap="square" anchor="t" lIns="0" rIns="0" tIns="0" bIns="0">
            <a:spAutoFit/>
          </a:bodyPr>
          <a:lstStyle/>
          <a:p>
            <a:pPr algn="l">
              <a:lnSpc>
                <a:spcPct val="115000"/>
              </a:lnSpc>
              <a:spcBef>
                <a:spcPts val="0"/>
              </a:spcBef>
              <a:spcAft>
                <a:spcPts val="0"/>
              </a:spcAft>
            </a:pPr>
            <a:r>
              <a:rPr sz="2200" b="1" i="0">
                <a:solidFill>
                  <a:srgbClr val="1A1A1A"/>
                </a:solidFill>
                <a:latin typeface="Arial"/>
              </a:rPr>
              <a:t>Many practitioners prefer large cap against small cap, such as the S&amp;P500 and the Russell 2000.</a:t>
            </a:r>
          </a:p>
        </p:txBody>
      </p:sp>
    </p:spTree>
  </p:cSld>
  <p:clrMapOvr>
    <a:masterClrMapping/>
  </p:clrMapOvr>
</p:sld>
</file>

<file path=ppt/slides/slide1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TextBox 3"/>
          <p:cNvSpPr txBox="1"/>
          <p:nvPr/>
        </p:nvSpPr>
        <p:spPr>
          <a:xfrm>
            <a:off x="777240" y="658368"/>
            <a:ext cx="10637215" cy="914400"/>
          </a:xfrm>
          <a:prstGeom prst="rect">
            <a:avLst/>
          </a:prstGeom>
          <a:noFill/>
        </p:spPr>
        <p:txBody>
          <a:bodyPr wrap="square" anchor="t" lIns="0" rIns="0" tIns="0" bIns="0">
            <a:spAutoFit/>
          </a:bodyPr>
          <a:lstStyle/>
          <a:p>
            <a:pPr algn="l">
              <a:lnSpc>
                <a:spcPct val="105000"/>
              </a:lnSpc>
              <a:spcBef>
                <a:spcPts val="0"/>
              </a:spcBef>
              <a:spcAft>
                <a:spcPts val="0"/>
              </a:spcAft>
            </a:pPr>
            <a:r>
              <a:rPr sz="3000" b="0" i="0">
                <a:solidFill>
                  <a:srgbClr val="007A33"/>
                </a:solidFill>
                <a:latin typeface="Palatino"/>
              </a:rPr>
              <a:t>What the book still claims for Dow Theory</a:t>
            </a:r>
          </a:p>
        </p:txBody>
      </p:sp>
      <p:sp>
        <p:nvSpPr>
          <p:cNvPr id="5" name="Rectangle 4"/>
          <p:cNvSpPr/>
          <p:nvPr/>
        </p:nvSpPr>
        <p:spPr>
          <a:xfrm>
            <a:off x="777240" y="1572768"/>
            <a:ext cx="10637215" cy="15875"/>
          </a:xfrm>
          <a:prstGeom prst="rect">
            <a:avLst/>
          </a:prstGeom>
          <a:solidFill>
            <a:srgbClr val="D7E0D9"/>
          </a:solidFill>
          <a:ln>
            <a:noFill/>
          </a:ln>
          <a:effectLst/>
        </p:spPr>
        <p:txBody>
          <a:bodyPr rtlCol="0" anchor="ctr"/>
          <a:lstStyle/>
          <a:p>
            <a:pPr algn="ctr"/>
          </a:p>
        </p:txBody>
      </p:sp>
      <p:sp>
        <p:nvSpPr>
          <p:cNvPr id="6" name="TextBox 5"/>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6 of 6 - Confirmation and volume  |  26 of 26</a:t>
            </a:r>
          </a:p>
        </p:txBody>
      </p:sp>
      <p:sp>
        <p:nvSpPr>
          <p:cNvPr id="7" name="TextBox 6"/>
          <p:cNvSpPr txBox="1"/>
          <p:nvPr/>
        </p:nvSpPr>
        <p:spPr>
          <a:xfrm>
            <a:off x="777240" y="1965960"/>
            <a:ext cx="10637215" cy="3108960"/>
          </a:xfrm>
          <a:prstGeom prst="rect">
            <a:avLst/>
          </a:prstGeom>
          <a:noFill/>
        </p:spPr>
        <p:txBody>
          <a:bodyPr wrap="square" anchor="t" lIns="0" rIns="0" tIns="0" bIns="0">
            <a:spAutoFit/>
          </a:bodyPr>
          <a:lstStyle/>
          <a:p>
            <a:pPr algn="l">
              <a:lnSpc>
                <a:spcPct val="118000"/>
              </a:lnSpc>
              <a:spcBef>
                <a:spcPts val="0"/>
              </a:spcBef>
              <a:spcAft>
                <a:spcPts val="1300"/>
              </a:spcAft>
            </a:pPr>
            <a:r>
              <a:rPr sz="2100" b="0" i="0">
                <a:solidFill>
                  <a:srgbClr val="1A1A1A"/>
                </a:solidFill>
                <a:latin typeface="Arial"/>
              </a:rPr>
              <a:t>Dow Theory forms the basis for much of technical analysis in the twenty first century.</a:t>
            </a:r>
          </a:p>
          <a:p>
            <a:pPr algn="l">
              <a:lnSpc>
                <a:spcPct val="118000"/>
              </a:lnSpc>
              <a:spcBef>
                <a:spcPts val="0"/>
              </a:spcBef>
              <a:spcAft>
                <a:spcPts val="1300"/>
              </a:spcAft>
            </a:pPr>
            <a:r>
              <a:rPr sz="2100" b="0" i="0">
                <a:solidFill>
                  <a:srgbClr val="1A1A1A"/>
                </a:solidFill>
                <a:latin typeface="Arial"/>
              </a:rPr>
              <a:t>Many practitioners still regard it as one of the most reliable ways to confirm a trend exists.</a:t>
            </a:r>
          </a:p>
          <a:p>
            <a:pPr algn="l">
              <a:lnSpc>
                <a:spcPct val="118000"/>
              </a:lnSpc>
              <a:spcBef>
                <a:spcPts val="0"/>
              </a:spcBef>
              <a:spcAft>
                <a:spcPts val="1300"/>
              </a:spcAft>
            </a:pPr>
            <a:r>
              <a:rPr sz="2100" b="0" i="0">
                <a:solidFill>
                  <a:srgbClr val="1A1A1A"/>
                </a:solidFill>
                <a:latin typeface="Arial"/>
              </a:rPr>
              <a:t>Market phase and volume confirmation changed how investors participate.</a:t>
            </a:r>
          </a:p>
        </p:txBody>
      </p:sp>
      <p:sp>
        <p:nvSpPr>
          <p:cNvPr id="8" name="Rectangle 7"/>
          <p:cNvSpPr/>
          <p:nvPr/>
        </p:nvSpPr>
        <p:spPr>
          <a:xfrm>
            <a:off x="777240" y="4399026"/>
            <a:ext cx="82296" cy="788924"/>
          </a:xfrm>
          <a:prstGeom prst="rect">
            <a:avLst/>
          </a:prstGeom>
          <a:solidFill>
            <a:srgbClr val="F2A900"/>
          </a:solidFill>
          <a:ln>
            <a:noFill/>
          </a:ln>
          <a:effectLst/>
        </p:spPr>
        <p:txBody>
          <a:bodyPr rtlCol="0" anchor="ctr"/>
          <a:lstStyle/>
          <a:p>
            <a:pPr algn="ctr"/>
          </a:p>
        </p:txBody>
      </p:sp>
      <p:sp>
        <p:nvSpPr>
          <p:cNvPr id="9" name="TextBox 8"/>
          <p:cNvSpPr txBox="1"/>
          <p:nvPr/>
        </p:nvSpPr>
        <p:spPr>
          <a:xfrm>
            <a:off x="1069848" y="4435602"/>
            <a:ext cx="10344607" cy="788924"/>
          </a:xfrm>
          <a:prstGeom prst="rect">
            <a:avLst/>
          </a:prstGeom>
          <a:noFill/>
        </p:spPr>
        <p:txBody>
          <a:bodyPr wrap="square" anchor="t" lIns="0" rIns="0" tIns="0" bIns="0">
            <a:spAutoFit/>
          </a:bodyPr>
          <a:lstStyle/>
          <a:p>
            <a:pPr algn="l">
              <a:lnSpc>
                <a:spcPct val="115000"/>
              </a:lnSpc>
              <a:spcBef>
                <a:spcPts val="0"/>
              </a:spcBef>
              <a:spcAft>
                <a:spcPts val="0"/>
              </a:spcAft>
            </a:pPr>
            <a:r>
              <a:rPr sz="2200" b="1" i="0">
                <a:solidFill>
                  <a:srgbClr val="1A1A1A"/>
                </a:solidFill>
                <a:latin typeface="Arial"/>
              </a:rPr>
              <a:t>More than a century after it was introduced, and after all seven of those criticisms.</a:t>
            </a:r>
          </a:p>
        </p:txBody>
      </p:sp>
    </p:spTree>
  </p:cSld>
  <p:clrMapOvr>
    <a:masterClrMapping/>
  </p:clrMapOvr>
</p:sld>
</file>

<file path=ppt/slides/slide1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Rectangle 3"/>
          <p:cNvSpPr/>
          <p:nvPr/>
        </p:nvSpPr>
        <p:spPr>
          <a:xfrm>
            <a:off x="11935663" y="0"/>
            <a:ext cx="256032" cy="6858000"/>
          </a:xfrm>
          <a:prstGeom prst="rect">
            <a:avLst/>
          </a:prstGeom>
          <a:solidFill>
            <a:srgbClr val="F2A900"/>
          </a:solidFill>
          <a:ln>
            <a:noFill/>
          </a:ln>
          <a:effectLst/>
        </p:spPr>
        <p:txBody>
          <a:bodyPr rtlCol="0" anchor="ctr"/>
          <a:lstStyle/>
          <a:p>
            <a:pPr algn="ctr"/>
          </a:p>
        </p:txBody>
      </p:sp>
      <p:sp>
        <p:nvSpPr>
          <p:cNvPr id="5" name="TextBox 4"/>
          <p:cNvSpPr txBox="1"/>
          <p:nvPr/>
        </p:nvSpPr>
        <p:spPr>
          <a:xfrm>
            <a:off x="777240" y="658368"/>
            <a:ext cx="10180015" cy="822960"/>
          </a:xfrm>
          <a:prstGeom prst="rect">
            <a:avLst/>
          </a:prstGeom>
          <a:noFill/>
        </p:spPr>
        <p:txBody>
          <a:bodyPr wrap="square" anchor="t" lIns="0" rIns="0" tIns="0" bIns="0">
            <a:spAutoFit/>
          </a:bodyPr>
          <a:lstStyle/>
          <a:p>
            <a:pPr algn="l">
              <a:lnSpc>
                <a:spcPct val="100000"/>
              </a:lnSpc>
              <a:spcBef>
                <a:spcPts val="0"/>
              </a:spcBef>
              <a:spcAft>
                <a:spcPts val="0"/>
              </a:spcAft>
            </a:pPr>
            <a:r>
              <a:rPr sz="3200" b="0" i="0">
                <a:solidFill>
                  <a:srgbClr val="007A33"/>
                </a:solidFill>
                <a:latin typeface="Palatino"/>
              </a:rPr>
              <a:t>You now know</a:t>
            </a:r>
          </a:p>
        </p:txBody>
      </p:sp>
      <p:sp>
        <p:nvSpPr>
          <p:cNvPr id="6" name="Rectangle 5"/>
          <p:cNvSpPr/>
          <p:nvPr/>
        </p:nvSpPr>
        <p:spPr>
          <a:xfrm>
            <a:off x="777240" y="1572768"/>
            <a:ext cx="10637215" cy="15875"/>
          </a:xfrm>
          <a:prstGeom prst="rect">
            <a:avLst/>
          </a:prstGeom>
          <a:solidFill>
            <a:srgbClr val="D7E0D9"/>
          </a:solidFill>
          <a:ln>
            <a:noFill/>
          </a:ln>
          <a:effectLst/>
        </p:spPr>
        <p:txBody>
          <a:bodyPr rtlCol="0" anchor="ctr"/>
          <a:lstStyle/>
          <a:p>
            <a:pPr algn="ctr"/>
          </a:p>
        </p:txBody>
      </p:sp>
      <p:sp>
        <p:nvSpPr>
          <p:cNvPr id="7" name="TextBox 6"/>
          <p:cNvSpPr txBox="1"/>
          <p:nvPr/>
        </p:nvSpPr>
        <p:spPr>
          <a:xfrm>
            <a:off x="777240" y="1965960"/>
            <a:ext cx="4815687" cy="3794760"/>
          </a:xfrm>
          <a:prstGeom prst="rect">
            <a:avLst/>
          </a:prstGeom>
          <a:noFill/>
        </p:spPr>
        <p:txBody>
          <a:bodyPr wrap="square" anchor="t" lIns="0" rIns="0" tIns="0" bIns="0">
            <a:spAutoFit/>
          </a:bodyPr>
          <a:lstStyle/>
          <a:p>
            <a:pPr algn="l" marL="237744" indent="-237744">
              <a:lnSpc>
                <a:spcPct val="112000"/>
              </a:lnSpc>
              <a:spcBef>
                <a:spcPts val="0"/>
              </a:spcBef>
              <a:spcAft>
                <a:spcPts val="1200"/>
              </a:spcAft>
            </a:pPr>
            <a:r>
              <a:rPr sz="1800" b="0" i="0">
                <a:solidFill>
                  <a:srgbClr val="1A1A1A"/>
                </a:solidFill>
                <a:latin typeface="Arial"/>
              </a:rPr>
              <a:t>▪  The averages must confirm one another, and the signal is dated by the later one</a:t>
            </a:r>
          </a:p>
          <a:p>
            <a:pPr algn="l" marL="237744" indent="-237744">
              <a:lnSpc>
                <a:spcPct val="112000"/>
              </a:lnSpc>
              <a:spcBef>
                <a:spcPts val="0"/>
              </a:spcBef>
              <a:spcAft>
                <a:spcPts val="1200"/>
              </a:spcAft>
            </a:pPr>
            <a:r>
              <a:rPr sz="1800" b="0" i="0">
                <a:solidFill>
                  <a:srgbClr val="1A1A1A"/>
                </a:solidFill>
                <a:latin typeface="Arial"/>
              </a:rPr>
              <a:t>▪  Non confirmation, and why an unconfirmed sell signal reads as bullish</a:t>
            </a:r>
          </a:p>
          <a:p>
            <a:pPr algn="l" marL="237744" indent="-237744">
              <a:lnSpc>
                <a:spcPct val="112000"/>
              </a:lnSpc>
              <a:spcBef>
                <a:spcPts val="0"/>
              </a:spcBef>
              <a:spcAft>
                <a:spcPts val="1200"/>
              </a:spcAft>
            </a:pPr>
            <a:r>
              <a:rPr sz="1800" b="0" i="0">
                <a:solidFill>
                  <a:srgbClr val="1A1A1A"/>
                </a:solidFill>
                <a:latin typeface="Arial"/>
              </a:rPr>
              <a:t>▪  Volume must confirm the trend, and the four conditions</a:t>
            </a:r>
          </a:p>
        </p:txBody>
      </p:sp>
      <p:sp>
        <p:nvSpPr>
          <p:cNvPr id="8" name="TextBox 7"/>
          <p:cNvSpPr txBox="1"/>
          <p:nvPr/>
        </p:nvSpPr>
        <p:spPr>
          <a:xfrm>
            <a:off x="6141567" y="1965960"/>
            <a:ext cx="4815687" cy="3794760"/>
          </a:xfrm>
          <a:prstGeom prst="rect">
            <a:avLst/>
          </a:prstGeom>
          <a:noFill/>
        </p:spPr>
        <p:txBody>
          <a:bodyPr wrap="square" anchor="t" lIns="0" rIns="0" tIns="0" bIns="0">
            <a:spAutoFit/>
          </a:bodyPr>
          <a:lstStyle/>
          <a:p>
            <a:pPr algn="l" marL="237744" indent="-237744">
              <a:lnSpc>
                <a:spcPct val="112000"/>
              </a:lnSpc>
              <a:spcBef>
                <a:spcPts val="0"/>
              </a:spcBef>
              <a:spcAft>
                <a:spcPts val="1200"/>
              </a:spcAft>
            </a:pPr>
            <a:r>
              <a:rPr sz="1800" b="0" i="0">
                <a:solidFill>
                  <a:srgbClr val="1A1A1A"/>
                </a:solidFill>
                <a:latin typeface="Arial"/>
              </a:rPr>
              <a:t>▪  Volume is a secondary indicator</a:t>
            </a:r>
          </a:p>
          <a:p>
            <a:pPr algn="l" marL="237744" indent="-237744">
              <a:lnSpc>
                <a:spcPct val="112000"/>
              </a:lnSpc>
              <a:spcBef>
                <a:spcPts val="0"/>
              </a:spcBef>
              <a:spcAft>
                <a:spcPts val="1200"/>
              </a:spcAft>
            </a:pPr>
            <a:r>
              <a:rPr sz="1800" b="0" i="0">
                <a:solidFill>
                  <a:srgbClr val="1A1A1A"/>
                </a:solidFill>
                <a:latin typeface="Arial"/>
              </a:rPr>
              <a:t>▪  The seven criticisms, two of which attack Rhea's own assumptions</a:t>
            </a:r>
          </a:p>
          <a:p>
            <a:pPr algn="l" marL="237744" indent="-237744">
              <a:lnSpc>
                <a:spcPct val="112000"/>
              </a:lnSpc>
              <a:spcBef>
                <a:spcPts val="0"/>
              </a:spcBef>
              <a:spcAft>
                <a:spcPts val="1200"/>
              </a:spcAft>
            </a:pPr>
            <a:r>
              <a:rPr sz="1800" b="0" i="0">
                <a:solidFill>
                  <a:srgbClr val="1A1A1A"/>
                </a:solidFill>
                <a:latin typeface="Arial"/>
              </a:rPr>
              <a:t>▪  What the book still claims for the theory</a:t>
            </a:r>
          </a:p>
        </p:txBody>
      </p:sp>
      <p:sp>
        <p:nvSpPr>
          <p:cNvPr id="9" name="TextBox 8"/>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6 of 6 - Confirmation and volume  |  recap</a:t>
            </a:r>
          </a:p>
        </p:txBody>
      </p:sp>
    </p:spTree>
  </p:cSld>
  <p:clrMapOvr>
    <a:masterClrMapping/>
  </p:clrMapOvr>
</p:sld>
</file>

<file path=ppt/slides/slide1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TextBox 3"/>
          <p:cNvSpPr txBox="1"/>
          <p:nvPr/>
        </p:nvSpPr>
        <p:spPr>
          <a:xfrm>
            <a:off x="777240" y="658368"/>
            <a:ext cx="10637215" cy="914400"/>
          </a:xfrm>
          <a:prstGeom prst="rect">
            <a:avLst/>
          </a:prstGeom>
          <a:noFill/>
        </p:spPr>
        <p:txBody>
          <a:bodyPr wrap="square" anchor="t" lIns="0" rIns="0" tIns="0" bIns="0">
            <a:spAutoFit/>
          </a:bodyPr>
          <a:lstStyle/>
          <a:p>
            <a:pPr algn="l">
              <a:lnSpc>
                <a:spcPct val="105000"/>
              </a:lnSpc>
              <a:spcBef>
                <a:spcPts val="0"/>
              </a:spcBef>
              <a:spcAft>
                <a:spcPts val="0"/>
              </a:spcAft>
            </a:pPr>
            <a:r>
              <a:rPr sz="3000" b="0" i="0">
                <a:solidFill>
                  <a:srgbClr val="007A33"/>
                </a:solidFill>
                <a:latin typeface="Palatino"/>
              </a:rPr>
              <a:t>Chapter 2 in five sentences</a:t>
            </a:r>
          </a:p>
        </p:txBody>
      </p:sp>
      <p:sp>
        <p:nvSpPr>
          <p:cNvPr id="5" name="Rectangle 4"/>
          <p:cNvSpPr/>
          <p:nvPr/>
        </p:nvSpPr>
        <p:spPr>
          <a:xfrm>
            <a:off x="777240" y="1572768"/>
            <a:ext cx="10637215" cy="15875"/>
          </a:xfrm>
          <a:prstGeom prst="rect">
            <a:avLst/>
          </a:prstGeom>
          <a:solidFill>
            <a:srgbClr val="D7E0D9"/>
          </a:solidFill>
          <a:ln>
            <a:noFill/>
          </a:ln>
          <a:effectLst/>
        </p:spPr>
        <p:txBody>
          <a:bodyPr rtlCol="0" anchor="ctr"/>
          <a:lstStyle/>
          <a:p>
            <a:pPr algn="ctr"/>
          </a:p>
        </p:txBody>
      </p:sp>
      <p:sp>
        <p:nvSpPr>
          <p:cNvPr id="6" name="TextBox 5"/>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Chapter 2 - Wrap up</a:t>
            </a:r>
          </a:p>
        </p:txBody>
      </p:sp>
      <p:sp>
        <p:nvSpPr>
          <p:cNvPr id="7" name="TextBox 6"/>
          <p:cNvSpPr txBox="1"/>
          <p:nvPr/>
        </p:nvSpPr>
        <p:spPr>
          <a:xfrm>
            <a:off x="777240" y="1965960"/>
            <a:ext cx="10637215" cy="3108960"/>
          </a:xfrm>
          <a:prstGeom prst="rect">
            <a:avLst/>
          </a:prstGeom>
          <a:noFill/>
        </p:spPr>
        <p:txBody>
          <a:bodyPr wrap="square" anchor="t" lIns="0" rIns="0" tIns="0" bIns="0">
            <a:spAutoFit/>
          </a:bodyPr>
          <a:lstStyle/>
          <a:p>
            <a:pPr algn="l">
              <a:lnSpc>
                <a:spcPct val="118000"/>
              </a:lnSpc>
              <a:spcBef>
                <a:spcPts val="0"/>
              </a:spcBef>
              <a:spcAft>
                <a:spcPts val="1300"/>
              </a:spcAft>
            </a:pPr>
            <a:r>
              <a:rPr sz="2100" b="0" i="0">
                <a:solidFill>
                  <a:srgbClr val="1A1A1A"/>
                </a:solidFill>
                <a:latin typeface="Arial"/>
              </a:rPr>
              <a:t>Dow Theory is six tenets, codified by Robert Rhea out of Charles Dow's editorials.</a:t>
            </a:r>
          </a:p>
          <a:p>
            <a:pPr algn="l">
              <a:lnSpc>
                <a:spcPct val="118000"/>
              </a:lnSpc>
              <a:spcBef>
                <a:spcPts val="0"/>
              </a:spcBef>
              <a:spcAft>
                <a:spcPts val="1300"/>
              </a:spcAft>
            </a:pPr>
            <a:r>
              <a:rPr sz="2100" b="0" i="0">
                <a:solidFill>
                  <a:srgbClr val="1A1A1A"/>
                </a:solidFill>
                <a:latin typeface="Arial"/>
              </a:rPr>
              <a:t>The averages discount everything, and only closing prices are recognized.</a:t>
            </a:r>
          </a:p>
          <a:p>
            <a:pPr algn="l">
              <a:lnSpc>
                <a:spcPct val="118000"/>
              </a:lnSpc>
              <a:spcBef>
                <a:spcPts val="0"/>
              </a:spcBef>
              <a:spcAft>
                <a:spcPts val="1300"/>
              </a:spcAft>
            </a:pPr>
            <a:r>
              <a:rPr sz="2100" b="0" i="0">
                <a:solidFill>
                  <a:srgbClr val="1A1A1A"/>
                </a:solidFill>
                <a:latin typeface="Arial"/>
              </a:rPr>
              <a:t>Three trends run at once, and only the primary one and lines may be traded.</a:t>
            </a:r>
          </a:p>
          <a:p>
            <a:pPr algn="l">
              <a:lnSpc>
                <a:spcPct val="118000"/>
              </a:lnSpc>
              <a:spcBef>
                <a:spcPts val="0"/>
              </a:spcBef>
              <a:spcAft>
                <a:spcPts val="1300"/>
              </a:spcAft>
            </a:pPr>
            <a:r>
              <a:rPr sz="2100" b="0" i="0">
                <a:solidFill>
                  <a:srgbClr val="1A1A1A"/>
                </a:solidFill>
                <a:latin typeface="Arial"/>
              </a:rPr>
              <a:t>A primary trend has three phases and persists until a peak or trough is penetrated.</a:t>
            </a:r>
          </a:p>
          <a:p>
            <a:pPr algn="l">
              <a:lnSpc>
                <a:spcPct val="118000"/>
              </a:lnSpc>
              <a:spcBef>
                <a:spcPts val="0"/>
              </a:spcBef>
              <a:spcAft>
                <a:spcPts val="1300"/>
              </a:spcAft>
            </a:pPr>
            <a:r>
              <a:rPr sz="2100" b="0" i="0">
                <a:solidFill>
                  <a:srgbClr val="1A1A1A"/>
                </a:solidFill>
                <a:latin typeface="Arial"/>
              </a:rPr>
              <a:t>The averages must confirm one another, and volume must confirm the trend.</a:t>
            </a:r>
          </a:p>
        </p:txBody>
      </p:sp>
      <p:sp>
        <p:nvSpPr>
          <p:cNvPr id="8" name="Rectangle 7"/>
          <p:cNvSpPr/>
          <p:nvPr/>
        </p:nvSpPr>
        <p:spPr>
          <a:xfrm>
            <a:off x="777240" y="5394197"/>
            <a:ext cx="82296" cy="788924"/>
          </a:xfrm>
          <a:prstGeom prst="rect">
            <a:avLst/>
          </a:prstGeom>
          <a:solidFill>
            <a:srgbClr val="F2A900"/>
          </a:solidFill>
          <a:ln>
            <a:noFill/>
          </a:ln>
          <a:effectLst/>
        </p:spPr>
        <p:txBody>
          <a:bodyPr rtlCol="0" anchor="ctr"/>
          <a:lstStyle/>
          <a:p>
            <a:pPr algn="ctr"/>
          </a:p>
        </p:txBody>
      </p:sp>
      <p:sp>
        <p:nvSpPr>
          <p:cNvPr id="9" name="TextBox 8"/>
          <p:cNvSpPr txBox="1"/>
          <p:nvPr/>
        </p:nvSpPr>
        <p:spPr>
          <a:xfrm>
            <a:off x="1069848" y="5430773"/>
            <a:ext cx="10344607" cy="788924"/>
          </a:xfrm>
          <a:prstGeom prst="rect">
            <a:avLst/>
          </a:prstGeom>
          <a:noFill/>
        </p:spPr>
        <p:txBody>
          <a:bodyPr wrap="square" anchor="t" lIns="0" rIns="0" tIns="0" bIns="0">
            <a:spAutoFit/>
          </a:bodyPr>
          <a:lstStyle/>
          <a:p>
            <a:pPr algn="l">
              <a:lnSpc>
                <a:spcPct val="115000"/>
              </a:lnSpc>
              <a:spcBef>
                <a:spcPts val="0"/>
              </a:spcBef>
              <a:spcAft>
                <a:spcPts val="0"/>
              </a:spcAft>
            </a:pPr>
            <a:r>
              <a:rPr sz="2200" b="1" i="0">
                <a:solidFill>
                  <a:srgbClr val="1A1A1A"/>
                </a:solidFill>
                <a:latin typeface="Arial"/>
              </a:rPr>
              <a:t>If you can say those five, you can answer most of what this chapter is asked about.</a:t>
            </a:r>
          </a:p>
        </p:txBody>
      </p:sp>
    </p:spTree>
  </p:cSld>
  <p:clrMapOvr>
    <a:masterClrMapping/>
  </p:clrMapOvr>
</p:sld>
</file>

<file path=ppt/slides/slide1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TextBox 3"/>
          <p:cNvSpPr txBox="1"/>
          <p:nvPr/>
        </p:nvSpPr>
        <p:spPr>
          <a:xfrm>
            <a:off x="777240" y="658368"/>
            <a:ext cx="10637215" cy="914400"/>
          </a:xfrm>
          <a:prstGeom prst="rect">
            <a:avLst/>
          </a:prstGeom>
          <a:noFill/>
        </p:spPr>
        <p:txBody>
          <a:bodyPr wrap="square" anchor="t" lIns="0" rIns="0" tIns="0" bIns="0">
            <a:spAutoFit/>
          </a:bodyPr>
          <a:lstStyle/>
          <a:p>
            <a:pPr algn="l">
              <a:lnSpc>
                <a:spcPct val="105000"/>
              </a:lnSpc>
              <a:spcBef>
                <a:spcPts val="0"/>
              </a:spcBef>
              <a:spcAft>
                <a:spcPts val="0"/>
              </a:spcAft>
            </a:pPr>
            <a:r>
              <a:rPr sz="3000" b="0" i="0">
                <a:solidFill>
                  <a:srgbClr val="007A33"/>
                </a:solidFill>
                <a:latin typeface="Palatino"/>
              </a:rPr>
              <a:t>The review questions to prepare</a:t>
            </a:r>
          </a:p>
        </p:txBody>
      </p:sp>
      <p:sp>
        <p:nvSpPr>
          <p:cNvPr id="5" name="Rectangle 4"/>
          <p:cNvSpPr/>
          <p:nvPr/>
        </p:nvSpPr>
        <p:spPr>
          <a:xfrm>
            <a:off x="777240" y="1572768"/>
            <a:ext cx="10637215" cy="15875"/>
          </a:xfrm>
          <a:prstGeom prst="rect">
            <a:avLst/>
          </a:prstGeom>
          <a:solidFill>
            <a:srgbClr val="D7E0D9"/>
          </a:solidFill>
          <a:ln>
            <a:noFill/>
          </a:ln>
          <a:effectLst/>
        </p:spPr>
        <p:txBody>
          <a:bodyPr rtlCol="0" anchor="ctr"/>
          <a:lstStyle/>
          <a:p>
            <a:pPr algn="ctr"/>
          </a:p>
        </p:txBody>
      </p:sp>
      <p:sp>
        <p:nvSpPr>
          <p:cNvPr id="6" name="TextBox 5"/>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Chapter 2 - Wrap up</a:t>
            </a:r>
          </a:p>
        </p:txBody>
      </p:sp>
      <p:sp>
        <p:nvSpPr>
          <p:cNvPr id="7" name="TextBox 6"/>
          <p:cNvSpPr txBox="1"/>
          <p:nvPr/>
        </p:nvSpPr>
        <p:spPr>
          <a:xfrm>
            <a:off x="777240" y="1965960"/>
            <a:ext cx="10637215" cy="3108960"/>
          </a:xfrm>
          <a:prstGeom prst="rect">
            <a:avLst/>
          </a:prstGeom>
          <a:noFill/>
        </p:spPr>
        <p:txBody>
          <a:bodyPr wrap="square" anchor="t" lIns="0" rIns="0" tIns="0" bIns="0">
            <a:spAutoFit/>
          </a:bodyPr>
          <a:lstStyle/>
          <a:p>
            <a:pPr algn="l">
              <a:lnSpc>
                <a:spcPct val="118000"/>
              </a:lnSpc>
              <a:spcBef>
                <a:spcPts val="0"/>
              </a:spcBef>
              <a:spcAft>
                <a:spcPts val="1300"/>
              </a:spcAft>
            </a:pPr>
            <a:r>
              <a:rPr sz="2100" b="0" i="0">
                <a:solidFill>
                  <a:srgbClr val="1A1A1A"/>
                </a:solidFill>
                <a:latin typeface="Arial"/>
              </a:rPr>
              <a:t>Describe the basic tenets of Dow Theory.</a:t>
            </a:r>
          </a:p>
          <a:p>
            <a:pPr algn="l">
              <a:lnSpc>
                <a:spcPct val="118000"/>
              </a:lnSpc>
              <a:spcBef>
                <a:spcPts val="0"/>
              </a:spcBef>
              <a:spcAft>
                <a:spcPts val="1300"/>
              </a:spcAft>
            </a:pPr>
            <a:r>
              <a:rPr sz="2100" b="0" i="0">
                <a:solidFill>
                  <a:srgbClr val="1A1A1A"/>
                </a:solidFill>
                <a:latin typeface="Arial"/>
              </a:rPr>
              <a:t>Give examples of the primary trend being manipulated.</a:t>
            </a:r>
          </a:p>
          <a:p>
            <a:pPr algn="l">
              <a:lnSpc>
                <a:spcPct val="118000"/>
              </a:lnSpc>
              <a:spcBef>
                <a:spcPts val="0"/>
              </a:spcBef>
              <a:spcAft>
                <a:spcPts val="1300"/>
              </a:spcAft>
            </a:pPr>
            <a:r>
              <a:rPr sz="2100" b="0" i="0">
                <a:solidFill>
                  <a:srgbClr val="1A1A1A"/>
                </a:solidFill>
                <a:latin typeface="Arial"/>
              </a:rPr>
              <a:t>Is Dow Theory still relevant today, and what are its main weaknesses?</a:t>
            </a:r>
          </a:p>
          <a:p>
            <a:pPr algn="l">
              <a:lnSpc>
                <a:spcPct val="118000"/>
              </a:lnSpc>
              <a:spcBef>
                <a:spcPts val="0"/>
              </a:spcBef>
              <a:spcAft>
                <a:spcPts val="1300"/>
              </a:spcAft>
            </a:pPr>
            <a:r>
              <a:rPr sz="2100" b="0" i="0">
                <a:solidFill>
                  <a:srgbClr val="1A1A1A"/>
                </a:solidFill>
                <a:latin typeface="Arial"/>
              </a:rPr>
              <a:t>Explain why volume should expand in the direction of the existing trend.</a:t>
            </a:r>
          </a:p>
          <a:p>
            <a:pPr algn="l">
              <a:lnSpc>
                <a:spcPct val="118000"/>
              </a:lnSpc>
              <a:spcBef>
                <a:spcPts val="0"/>
              </a:spcBef>
              <a:spcAft>
                <a:spcPts val="1300"/>
              </a:spcAft>
            </a:pPr>
            <a:r>
              <a:rPr sz="2100" b="0" i="0">
                <a:solidFill>
                  <a:srgbClr val="1A1A1A"/>
                </a:solidFill>
                <a:latin typeface="Arial"/>
              </a:rPr>
              <a:t>In what ways is accumulation similar to distribution?</a:t>
            </a:r>
          </a:p>
          <a:p>
            <a:pPr algn="l">
              <a:lnSpc>
                <a:spcPct val="118000"/>
              </a:lnSpc>
              <a:spcBef>
                <a:spcPts val="0"/>
              </a:spcBef>
              <a:spcAft>
                <a:spcPts val="1300"/>
              </a:spcAft>
            </a:pPr>
            <a:r>
              <a:rPr sz="2100" b="0" i="0">
                <a:solidFill>
                  <a:srgbClr val="1A1A1A"/>
                </a:solidFill>
                <a:latin typeface="Arial"/>
              </a:rPr>
              <a:t>Why is the secondary reaction more problematic than the primary trend?</a:t>
            </a:r>
          </a:p>
        </p:txBody>
      </p:sp>
      <p:sp>
        <p:nvSpPr>
          <p:cNvPr id="8" name="Rectangle 7"/>
          <p:cNvSpPr/>
          <p:nvPr/>
        </p:nvSpPr>
        <p:spPr>
          <a:xfrm>
            <a:off x="777240" y="5262371"/>
            <a:ext cx="82296" cy="467614"/>
          </a:xfrm>
          <a:prstGeom prst="rect">
            <a:avLst/>
          </a:prstGeom>
          <a:solidFill>
            <a:srgbClr val="F2A900"/>
          </a:solidFill>
          <a:ln>
            <a:noFill/>
          </a:ln>
          <a:effectLst/>
        </p:spPr>
        <p:txBody>
          <a:bodyPr rtlCol="0" anchor="ctr"/>
          <a:lstStyle/>
          <a:p>
            <a:pPr algn="ctr"/>
          </a:p>
        </p:txBody>
      </p:sp>
      <p:sp>
        <p:nvSpPr>
          <p:cNvPr id="9" name="TextBox 8"/>
          <p:cNvSpPr txBox="1"/>
          <p:nvPr/>
        </p:nvSpPr>
        <p:spPr>
          <a:xfrm>
            <a:off x="1069848" y="5298947"/>
            <a:ext cx="10344607" cy="467614"/>
          </a:xfrm>
          <a:prstGeom prst="rect">
            <a:avLst/>
          </a:prstGeom>
          <a:noFill/>
        </p:spPr>
        <p:txBody>
          <a:bodyPr wrap="square" anchor="t" lIns="0" rIns="0" tIns="0" bIns="0">
            <a:spAutoFit/>
          </a:bodyPr>
          <a:lstStyle/>
          <a:p>
            <a:pPr algn="l">
              <a:lnSpc>
                <a:spcPct val="115000"/>
              </a:lnSpc>
              <a:spcBef>
                <a:spcPts val="0"/>
              </a:spcBef>
              <a:spcAft>
                <a:spcPts val="0"/>
              </a:spcAft>
            </a:pPr>
            <a:r>
              <a:rPr sz="2200" b="1" i="0">
                <a:solidFill>
                  <a:srgbClr val="1A1A1A"/>
                </a:solidFill>
                <a:latin typeface="Arial"/>
              </a:rPr>
              <a:t>Seven of the book's eight questions. The eighth is on the next slide.</a:t>
            </a:r>
          </a:p>
        </p:txBody>
      </p:sp>
    </p:spTree>
  </p:cSld>
  <p:clrMapOvr>
    <a:masterClrMapping/>
  </p:clrMapOvr>
</p:sld>
</file>

<file path=ppt/slides/slide1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TextBox 3"/>
          <p:cNvSpPr txBox="1"/>
          <p:nvPr/>
        </p:nvSpPr>
        <p:spPr>
          <a:xfrm>
            <a:off x="777240" y="658368"/>
            <a:ext cx="10637215" cy="914400"/>
          </a:xfrm>
          <a:prstGeom prst="rect">
            <a:avLst/>
          </a:prstGeom>
          <a:noFill/>
        </p:spPr>
        <p:txBody>
          <a:bodyPr wrap="square" anchor="t" lIns="0" rIns="0" tIns="0" bIns="0">
            <a:spAutoFit/>
          </a:bodyPr>
          <a:lstStyle/>
          <a:p>
            <a:pPr algn="l">
              <a:lnSpc>
                <a:spcPct val="105000"/>
              </a:lnSpc>
              <a:spcBef>
                <a:spcPts val="0"/>
              </a:spcBef>
              <a:spcAft>
                <a:spcPts val="0"/>
              </a:spcAft>
            </a:pPr>
            <a:r>
              <a:rPr sz="3000" b="0" i="0">
                <a:solidFill>
                  <a:srgbClr val="007A33"/>
                </a:solidFill>
                <a:latin typeface="Palatino"/>
              </a:rPr>
              <a:t>The one question this chapter does not answer</a:t>
            </a:r>
          </a:p>
        </p:txBody>
      </p:sp>
      <p:sp>
        <p:nvSpPr>
          <p:cNvPr id="5" name="Rectangle 4"/>
          <p:cNvSpPr/>
          <p:nvPr/>
        </p:nvSpPr>
        <p:spPr>
          <a:xfrm>
            <a:off x="777240" y="1572768"/>
            <a:ext cx="10637215" cy="15875"/>
          </a:xfrm>
          <a:prstGeom prst="rect">
            <a:avLst/>
          </a:prstGeom>
          <a:solidFill>
            <a:srgbClr val="D7E0D9"/>
          </a:solidFill>
          <a:ln>
            <a:noFill/>
          </a:ln>
          <a:effectLst/>
        </p:spPr>
        <p:txBody>
          <a:bodyPr rtlCol="0" anchor="ctr"/>
          <a:lstStyle/>
          <a:p>
            <a:pPr algn="ctr"/>
          </a:p>
        </p:txBody>
      </p:sp>
      <p:sp>
        <p:nvSpPr>
          <p:cNvPr id="6" name="TextBox 5"/>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Chapter 2 - Wrap up</a:t>
            </a:r>
          </a:p>
        </p:txBody>
      </p:sp>
      <p:sp>
        <p:nvSpPr>
          <p:cNvPr id="7" name="TextBox 6"/>
          <p:cNvSpPr txBox="1"/>
          <p:nvPr/>
        </p:nvSpPr>
        <p:spPr>
          <a:xfrm>
            <a:off x="777240" y="1965960"/>
            <a:ext cx="10637215" cy="3108960"/>
          </a:xfrm>
          <a:prstGeom prst="rect">
            <a:avLst/>
          </a:prstGeom>
          <a:noFill/>
        </p:spPr>
        <p:txBody>
          <a:bodyPr wrap="square" anchor="t" lIns="0" rIns="0" tIns="0" bIns="0">
            <a:spAutoFit/>
          </a:bodyPr>
          <a:lstStyle/>
          <a:p>
            <a:pPr algn="l">
              <a:lnSpc>
                <a:spcPct val="118000"/>
              </a:lnSpc>
              <a:spcBef>
                <a:spcPts val="0"/>
              </a:spcBef>
              <a:spcAft>
                <a:spcPts val="1300"/>
              </a:spcAft>
            </a:pPr>
            <a:r>
              <a:rPr sz="2100" b="0" i="0">
                <a:solidFill>
                  <a:srgbClr val="1A1A1A"/>
                </a:solidFill>
                <a:latin typeface="Arial"/>
              </a:rPr>
              <a:t>Review question 8 asks for the differences between Dow's and Ralph N. Elliott's determination of a trend.</a:t>
            </a:r>
          </a:p>
          <a:p>
            <a:pPr algn="l">
              <a:lnSpc>
                <a:spcPct val="118000"/>
              </a:lnSpc>
              <a:spcBef>
                <a:spcPts val="0"/>
              </a:spcBef>
              <a:spcAft>
                <a:spcPts val="1300"/>
              </a:spcAft>
            </a:pPr>
            <a:r>
              <a:rPr sz="2100" b="0" i="0">
                <a:solidFill>
                  <a:srgbClr val="1A1A1A"/>
                </a:solidFill>
                <a:latin typeface="Arial"/>
              </a:rPr>
              <a:t>Chapter 2 never mentions Elliott. It gives you Dow's half and nothing else.</a:t>
            </a:r>
          </a:p>
          <a:p>
            <a:pPr algn="l">
              <a:lnSpc>
                <a:spcPct val="118000"/>
              </a:lnSpc>
              <a:spcBef>
                <a:spcPts val="0"/>
              </a:spcBef>
              <a:spcAft>
                <a:spcPts val="1300"/>
              </a:spcAft>
            </a:pPr>
            <a:r>
              <a:rPr sz="2100" b="0" i="0">
                <a:solidFill>
                  <a:srgbClr val="1A1A1A"/>
                </a:solidFill>
                <a:latin typeface="Arial"/>
              </a:rPr>
              <a:t>The book takes up Elliott properly in Chapter 4 and Chapter 18.</a:t>
            </a:r>
          </a:p>
        </p:txBody>
      </p:sp>
      <p:sp>
        <p:nvSpPr>
          <p:cNvPr id="8" name="Rectangle 7"/>
          <p:cNvSpPr/>
          <p:nvPr/>
        </p:nvSpPr>
        <p:spPr>
          <a:xfrm>
            <a:off x="777240" y="4084320"/>
            <a:ext cx="82296" cy="788924"/>
          </a:xfrm>
          <a:prstGeom prst="rect">
            <a:avLst/>
          </a:prstGeom>
          <a:solidFill>
            <a:srgbClr val="F2A900"/>
          </a:solidFill>
          <a:ln>
            <a:noFill/>
          </a:ln>
          <a:effectLst/>
        </p:spPr>
        <p:txBody>
          <a:bodyPr rtlCol="0" anchor="ctr"/>
          <a:lstStyle/>
          <a:p>
            <a:pPr algn="ctr"/>
          </a:p>
        </p:txBody>
      </p:sp>
      <p:sp>
        <p:nvSpPr>
          <p:cNvPr id="9" name="TextBox 8"/>
          <p:cNvSpPr txBox="1"/>
          <p:nvPr/>
        </p:nvSpPr>
        <p:spPr>
          <a:xfrm>
            <a:off x="1069848" y="4120896"/>
            <a:ext cx="10344607" cy="788924"/>
          </a:xfrm>
          <a:prstGeom prst="rect">
            <a:avLst/>
          </a:prstGeom>
          <a:noFill/>
        </p:spPr>
        <p:txBody>
          <a:bodyPr wrap="square" anchor="t" lIns="0" rIns="0" tIns="0" bIns="0">
            <a:spAutoFit/>
          </a:bodyPr>
          <a:lstStyle/>
          <a:p>
            <a:pPr algn="l">
              <a:lnSpc>
                <a:spcPct val="115000"/>
              </a:lnSpc>
              <a:spcBef>
                <a:spcPts val="0"/>
              </a:spcBef>
              <a:spcAft>
                <a:spcPts val="0"/>
              </a:spcAft>
            </a:pPr>
            <a:r>
              <a:rPr sz="2200" b="1" i="0">
                <a:solidFill>
                  <a:srgbClr val="1A1A1A"/>
                </a:solidFill>
                <a:latin typeface="Arial"/>
              </a:rPr>
              <a:t>Answer the Dow half now, and finish the question when we reach Elliott.</a:t>
            </a:r>
          </a:p>
        </p:txBody>
      </p:sp>
      <p:sp>
        <p:nvSpPr>
          <p:cNvPr id="10" name="TextBox 9"/>
          <p:cNvSpPr txBox="1"/>
          <p:nvPr/>
        </p:nvSpPr>
        <p:spPr>
          <a:xfrm>
            <a:off x="777240" y="5110988"/>
            <a:ext cx="10637215" cy="731520"/>
          </a:xfrm>
          <a:prstGeom prst="rect">
            <a:avLst/>
          </a:prstGeom>
          <a:noFill/>
        </p:spPr>
        <p:txBody>
          <a:bodyPr wrap="square" anchor="t" lIns="0" rIns="0" tIns="0" bIns="0">
            <a:spAutoFit/>
          </a:bodyPr>
          <a:lstStyle/>
          <a:p>
            <a:pPr algn="l">
              <a:lnSpc>
                <a:spcPct val="115000"/>
              </a:lnSpc>
              <a:spcBef>
                <a:spcPts val="0"/>
              </a:spcBef>
              <a:spcAft>
                <a:spcPts val="0"/>
              </a:spcAft>
            </a:pPr>
            <a:r>
              <a:rPr sz="1500" b="0" i="1">
                <a:solidFill>
                  <a:srgbClr val="818181"/>
                </a:solidFill>
                <a:latin typeface="Arial"/>
              </a:rPr>
              <a:t>Do not fill the gap from outside the book. The paper is set on the book.</a:t>
            </a:r>
          </a:p>
        </p:txBody>
      </p:sp>
    </p:spTree>
  </p:cSld>
  <p:clrMapOvr>
    <a:masterClrMapping/>
  </p:clrMapOvr>
</p:sld>
</file>

<file path=ppt/slides/slide1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07A33"/>
          </a:solidFill>
          <a:ln>
            <a:noFill/>
          </a:ln>
          <a:effectLst/>
        </p:spPr>
        <p:txBody>
          <a:bodyPr rtlCol="0" anchor="ctr"/>
          <a:lstStyle/>
          <a:p>
            <a:pPr algn="ctr"/>
          </a:p>
        </p:txBody>
      </p:sp>
      <p:sp>
        <p:nvSpPr>
          <p:cNvPr id="3" name="Rectangle 2"/>
          <p:cNvSpPr/>
          <p:nvPr/>
        </p:nvSpPr>
        <p:spPr>
          <a:xfrm>
            <a:off x="0" y="0"/>
            <a:ext cx="12191695" cy="201168"/>
          </a:xfrm>
          <a:prstGeom prst="rect">
            <a:avLst/>
          </a:prstGeom>
          <a:solidFill>
            <a:srgbClr val="F2A900"/>
          </a:solidFill>
          <a:ln>
            <a:noFill/>
          </a:ln>
          <a:effectLst/>
        </p:spPr>
        <p:txBody>
          <a:bodyPr rtlCol="0" anchor="ctr"/>
          <a:lstStyle/>
          <a:p>
            <a:pPr algn="ctr"/>
          </a:p>
        </p:txBody>
      </p:sp>
      <p:sp>
        <p:nvSpPr>
          <p:cNvPr id="4" name="TextBox 3"/>
          <p:cNvSpPr txBox="1"/>
          <p:nvPr/>
        </p:nvSpPr>
        <p:spPr>
          <a:xfrm>
            <a:off x="777240" y="1371600"/>
            <a:ext cx="10637215" cy="1005840"/>
          </a:xfrm>
          <a:prstGeom prst="rect">
            <a:avLst/>
          </a:prstGeom>
          <a:noFill/>
        </p:spPr>
        <p:txBody>
          <a:bodyPr wrap="square" anchor="t" lIns="0" rIns="0" tIns="0" bIns="0">
            <a:spAutoFit/>
          </a:bodyPr>
          <a:lstStyle/>
          <a:p>
            <a:pPr algn="l">
              <a:lnSpc>
                <a:spcPct val="105000"/>
              </a:lnSpc>
              <a:spcBef>
                <a:spcPts val="0"/>
              </a:spcBef>
              <a:spcAft>
                <a:spcPts val="0"/>
              </a:spcAft>
            </a:pPr>
            <a:r>
              <a:rPr sz="3800" b="0" i="0">
                <a:solidFill>
                  <a:srgbClr val="FFFFFF"/>
                </a:solidFill>
                <a:latin typeface="Palatino"/>
              </a:rPr>
              <a:t>Next: mechanics and dynamics of charting</a:t>
            </a:r>
          </a:p>
        </p:txBody>
      </p:sp>
      <p:sp>
        <p:nvSpPr>
          <p:cNvPr id="5" name="Rectangle 4"/>
          <p:cNvSpPr/>
          <p:nvPr/>
        </p:nvSpPr>
        <p:spPr>
          <a:xfrm>
            <a:off x="777240" y="2651760"/>
            <a:ext cx="1463040" cy="38100"/>
          </a:xfrm>
          <a:prstGeom prst="rect">
            <a:avLst/>
          </a:prstGeom>
          <a:solidFill>
            <a:srgbClr val="F2A900"/>
          </a:solidFill>
          <a:ln>
            <a:noFill/>
          </a:ln>
          <a:effectLst/>
        </p:spPr>
        <p:txBody>
          <a:bodyPr rtlCol="0" anchor="ctr"/>
          <a:lstStyle/>
          <a:p>
            <a:pPr algn="ctr"/>
          </a:p>
        </p:txBody>
      </p:sp>
      <p:sp>
        <p:nvSpPr>
          <p:cNvPr id="6" name="TextBox 5"/>
          <p:cNvSpPr txBox="1"/>
          <p:nvPr/>
        </p:nvSpPr>
        <p:spPr>
          <a:xfrm>
            <a:off x="777240" y="3108960"/>
            <a:ext cx="10637215" cy="2194560"/>
          </a:xfrm>
          <a:prstGeom prst="rect">
            <a:avLst/>
          </a:prstGeom>
          <a:noFill/>
        </p:spPr>
        <p:txBody>
          <a:bodyPr wrap="square" anchor="t" lIns="0" rIns="0" tIns="0" bIns="0">
            <a:spAutoFit/>
          </a:bodyPr>
          <a:lstStyle/>
          <a:p>
            <a:pPr algn="l">
              <a:lnSpc>
                <a:spcPct val="115000"/>
              </a:lnSpc>
              <a:spcBef>
                <a:spcPts val="0"/>
              </a:spcBef>
              <a:spcAft>
                <a:spcPts val="1200"/>
              </a:spcAft>
            </a:pPr>
            <a:r>
              <a:rPr sz="2000" b="0" i="0">
                <a:solidFill>
                  <a:srgbClr val="FFFFFF"/>
                </a:solidFill>
                <a:latin typeface="Arial"/>
              </a:rPr>
              <a:t>Chapter 3 builds the chart itself: open, high, low and close, and how a bar is made.</a:t>
            </a:r>
          </a:p>
          <a:p>
            <a:pPr algn="l">
              <a:lnSpc>
                <a:spcPct val="115000"/>
              </a:lnSpc>
              <a:spcBef>
                <a:spcPts val="0"/>
              </a:spcBef>
              <a:spcAft>
                <a:spcPts val="1200"/>
              </a:spcAft>
            </a:pPr>
            <a:r>
              <a:rPr sz="2000" b="0" i="0">
                <a:solidFill>
                  <a:srgbClr val="FFFFFF"/>
                </a:solidFill>
                <a:latin typeface="Arial"/>
              </a:rPr>
              <a:t>Bring the closing price with you. Chapter 3 explains the other three you were told to ignore.</a:t>
            </a:r>
          </a:p>
          <a:p>
            <a:pPr algn="l">
              <a:lnSpc>
                <a:spcPct val="115000"/>
              </a:lnSpc>
              <a:spcBef>
                <a:spcPts val="0"/>
              </a:spcBef>
              <a:spcAft>
                <a:spcPts val="1200"/>
              </a:spcAft>
            </a:pPr>
            <a:r>
              <a:rPr sz="2000" b="0" i="0">
                <a:solidFill>
                  <a:srgbClr val="FFFFFF"/>
                </a:solidFill>
                <a:latin typeface="Arial"/>
              </a:rPr>
              <a:t>Before then: find a chart with a clear trend, mark its peaks and troughs, and say where the trend ended.</a:t>
            </a:r>
          </a:p>
        </p:txBody>
      </p:sp>
      <p:sp>
        <p:nvSpPr>
          <p:cNvPr id="7" name="TextBox 6"/>
          <p:cNvSpPr txBox="1"/>
          <p:nvPr/>
        </p:nvSpPr>
        <p:spPr>
          <a:xfrm>
            <a:off x="777240" y="5486400"/>
            <a:ext cx="10637215" cy="640080"/>
          </a:xfrm>
          <a:prstGeom prst="rect">
            <a:avLst/>
          </a:prstGeom>
          <a:noFill/>
        </p:spPr>
        <p:txBody>
          <a:bodyPr wrap="square" anchor="t" lIns="0" rIns="0" tIns="0" bIns="0">
            <a:spAutoFit/>
          </a:bodyPr>
          <a:lstStyle/>
          <a:p>
            <a:pPr algn="l">
              <a:lnSpc>
                <a:spcPct val="100000"/>
              </a:lnSpc>
              <a:spcBef>
                <a:spcPts val="0"/>
              </a:spcBef>
              <a:spcAft>
                <a:spcPts val="0"/>
              </a:spcAft>
            </a:pPr>
            <a:r>
              <a:rPr sz="1800" b="1" i="0">
                <a:solidFill>
                  <a:srgbClr val="F2A900"/>
                </a:solidFill>
                <a:latin typeface="Arial"/>
              </a:rPr>
              <a:t>FIN1209  Technical Analysis in Investment  |  Institute of Accounts, Business and Finance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FIN1209 Chapter 2 - Introduction to Dow Theory</dc:title>
  <dc:subject>Technical Analysis in Investment</dc:subject>
  <dc:creator>Benjamin C. Sotelo</dc:creator>
  <cp:keywords/>
  <dc:description>generated using python-pptx</dc:description>
  <cp:lastModifiedBy>Benjamin C. Sotelo</cp:lastModifiedBy>
  <cp:revision>1</cp:revision>
  <dcterms:created xsi:type="dcterms:W3CDTF">2020-01-01T00:00:00Z</dcterms:created>
  <dcterms:modified xsi:type="dcterms:W3CDTF">2020-01-01T00:00:00Z</dcterms:modified>
  <cp:category/>
</cp:coreProperties>
</file>