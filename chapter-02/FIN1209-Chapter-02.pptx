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Greet the room, then say what today buys them: after this session they can read a chart argument and say what it does and does not claim.</a:t>
            </a:r>
          </a:p>
          <a:p>
            <a:r>
              <a:rPr sz="1400"/>
              <a:t>- Point at the roadmap slide next and promise a clean stopping point every twenty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these out once, slowly. These are the exact learning objectives in the course booklet for this week.</a:t>
            </a:r>
          </a:p>
          <a:p>
            <a:r>
              <a:rPr sz="1400"/>
              <a:t>- Tell them every one of these is examinable.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these out once, slowly. These are the exact learning objectives in the course booklet for this week.</a:t>
            </a:r>
          </a:p>
          <a:p>
            <a:r>
              <a:rPr sz="1400"/>
              <a:t>- Tell them every one of these is examinable.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shape of the session out loud: six parts, roughly twenty five minutes each.</a:t>
            </a:r>
          </a:p>
          <a:p>
            <a:r>
              <a:rPr sz="1400"/>
              <a:t>- Tell them the checks are for reading the room, not for marks.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we are starting Part 1 of 6.</a:t>
            </a:r>
          </a:p>
          <a:p>
            <a:r>
              <a:rPr sz="1400"/>
              <a:t>- Read the three covers lines, then move. Do not linger 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this out loud: Chapter 1 was what analysis is. Chapter 2 is the first actual theory.</a:t>
            </a:r>
          </a:p>
          <a:p>
            <a:r>
              <a:rPr sz="1400"/>
              <a:t>- Promise them the six tenets by name before the session ends. That is the examinable list.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Warn them now that Dow himself never published anything called Dow Theory.</a:t>
            </a:r>
          </a:p>
          <a:p>
            <a:r>
              <a:rPr sz="1400"/>
              <a:t>- Ask who has heard of the Dow Jones. Almost every hand goes up. Tell them that is this man.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out that a newspaper column is where this whole subject starts.</a:t>
            </a:r>
          </a:p>
          <a:p>
            <a:r>
              <a:rPr sz="1400"/>
              <a:t>- Do not linger. The name that matters for the quiz is two slides away.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three names and the three books slowly. Tell them the pairing is examinable.</a:t>
            </a:r>
          </a:p>
          <a:p>
            <a:r>
              <a:rPr sz="1400"/>
              <a:t>- Ask the room which one gave the theory its name before you show them.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Land Rhea hard. Every past paper that asks about a proponent has asked about him.</a:t>
            </a:r>
          </a:p>
          <a:p>
            <a:r>
              <a:rPr sz="1400"/>
              <a:t>- Say the word codification and then say it in plain words: he wrote the rules down as rules.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These three are the foundation Rhea laid. Number them out loud.</a:t>
            </a:r>
          </a:p>
          <a:p>
            <a:r>
              <a:rPr sz="1400"/>
              <a:t>- Tell them number one comes back in Part 6, where the book itself argues against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assumption is why Dow Theory only trades the primary trend. Say that link out loud.</a:t>
            </a:r>
          </a:p>
          <a:p>
            <a:r>
              <a:rPr sz="1400"/>
              <a:t>- Flag that the book returns in Part 6 and says this is no longer true. Do not explain why yet.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plainly that the man who codified the theory is the one telling you it is fallible.</a:t>
            </a:r>
          </a:p>
          <a:p>
            <a:r>
              <a:rPr sz="1400"/>
              <a:t>- This is a past paper favourite. The wrong answers all claim the theory is infallible.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three numbers, 11, 12 and 20, have all appeared as options in past papers.</a:t>
            </a:r>
          </a:p>
          <a:p>
            <a:r>
              <a:rPr sz="1400"/>
              <a:t>- Ask why he would bother. Take one answer, then show them.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Use the PSEi because they have all seen it on the news. Then come straight back to Dow.</a:t>
            </a:r>
          </a:p>
          <a:p>
            <a:r>
              <a:rPr sz="1400"/>
              <a:t>- Say the word barometer once here. It is coming up in two slides.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Trace one thin line with a finger and ask what it tells you about the market. Very little.</a:t>
            </a:r>
          </a:p>
          <a:p>
            <a:r>
              <a:rPr sz="1400"/>
              <a:t>- Then trace the bold one. Say: that is what Dow was trying to build.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Barometer is Hamilton's own word and the title of his book. Point that out.</a:t>
            </a:r>
          </a:p>
          <a:p>
            <a:r>
              <a:rPr sz="1400"/>
              <a:t>- Ask what a barometer is for. Somebody will say predicting rain. That is exactly the claim.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both modern names slowly. Students know the first and have never heard the second.</a:t>
            </a:r>
          </a:p>
          <a:p>
            <a:r>
              <a:rPr sz="1400"/>
              <a:t>- Do not explain confirmation yet. Just plant that the pair matters.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for the man who codified the theory and the man who named it. Two answers, ten seconds.</a:t>
            </a:r>
          </a:p>
          <a:p>
            <a:r>
              <a:rPr sz="1400"/>
              <a:t>- Then move. The six tenets are next and they are the spine of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we are starting Part 2 of 6.</a:t>
            </a:r>
          </a:p>
          <a:p>
            <a:r>
              <a:rPr sz="1400"/>
              <a:t>- Read the three covers lines, then move. Do not linger here.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all six out loud, numbered. Then read them again. This slide is the chapter.</a:t>
            </a:r>
          </a:p>
          <a:p>
            <a:r>
              <a:rPr sz="1400"/>
              <a:t>- Point at number three and say the word primary twice. It is the trap in every past paper.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it is a seventh rule that the book deliberately does not number. Do not pretend it is a tenet.</a:t>
            </a:r>
          </a:p>
          <a:p>
            <a:r>
              <a:rPr sz="1400"/>
              <a:t>- We come back to it properly at the end of this part.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why the price sometimes falls on good news. Somebody will get close. This is the answer.</a:t>
            </a:r>
          </a:p>
          <a:p>
            <a:r>
              <a:rPr sz="1400"/>
              <a:t>- Tell them this is the same discounting assumption Chapter 1 introduced, now stated as a tenet.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sentence to write on the board if you write one thing all session.</a:t>
            </a:r>
          </a:p>
          <a:p>
            <a:r>
              <a:rPr sz="1400"/>
              <a:t>- Ask: if everyone in this room believes a stock is cheap and nobody buys, what happens to the price?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Contrast with the efficient market hypothesis from Chapter 1, which demands all four.</a:t>
            </a:r>
          </a:p>
          <a:p>
            <a:r>
              <a:rPr sz="1400"/>
              <a:t>- Say plainly: Dow Theory survives irrational, slow, partial and inconsistent participants.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Note the second half carefully: it cannot discount the shock, but it adjusts to it quickly.</a:t>
            </a:r>
          </a:p>
          <a:p>
            <a:r>
              <a:rPr sz="1400"/>
              <a:t>- Ask the room for a local example. A typhoon usually comes up. Take one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book's own question off the chart and then stop. It does not answer it.</a:t>
            </a:r>
          </a:p>
          <a:p>
            <a:r>
              <a:rPr sz="1400"/>
              <a:t>- Say that plainly: the author asks whether this is discounting or coincidence and leaves it open.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one is the second half of the acts of God definition: the shock cannot be priced in advance, but it is absorbed fast.</a:t>
            </a:r>
          </a:p>
          <a:p>
            <a:r>
              <a:rPr sz="1400"/>
              <a:t>- Contrast the two figures out loud. One is a question, this one is an illustration.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phrase effects not causes and make them repeat it. It is on every paper.</a:t>
            </a:r>
          </a:p>
          <a:p>
            <a:r>
              <a:rPr sz="1400"/>
              <a:t>- Remind them the fundamentalist takes the opposite side of exactly this sentence.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Do the arithmetic on the board. 96 to 104 is an eight peso range and none of it survives.</a:t>
            </a:r>
          </a:p>
          <a:p>
            <a:r>
              <a:rPr sz="1400"/>
              <a:t>- Tell them Part 6 lists this as one of the criticisms of the theory, so hold the objection.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Past papers phrase this as a valid breakout being a closing violation. Say that wording once.</a:t>
            </a:r>
          </a:p>
          <a:p>
            <a:r>
              <a:rPr sz="1400"/>
              <a:t>- Point at the tension: huge intraday swings are noise, one centavo on the close is a signal.</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the pale bars first: that is everything Dow Theory throws away.</a:t>
            </a:r>
          </a:p>
          <a:p>
            <a:r>
              <a:rPr sz="1400"/>
              <a:t>- Then the joined dots: that is the entire record the theory works from.</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for the six tenets. Accept four and prompt for the rest.</a:t>
            </a:r>
          </a:p>
          <a:p>
            <a:r>
              <a:rPr sz="1400"/>
              <a:t>- Say we now spend the next two parts on tenet number two alone. It is the biggest one.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we are starting Part 3 of 6.</a:t>
            </a:r>
          </a:p>
          <a:p>
            <a:r>
              <a:rPr sz="1400"/>
              <a:t>- Read the three covers lines, then move. Do not linger here.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at once twice. Students expect the three to take turns and they do not.</a:t>
            </a:r>
          </a:p>
          <a:p>
            <a:r>
              <a:rPr sz="1400"/>
              <a:t>- Tell them this tenet takes the whole of this part and the whole of the next one.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it once, then read only the last eight words again.</a:t>
            </a:r>
          </a:p>
          <a:p>
            <a:r>
              <a:rPr sz="1400"/>
              <a:t>- This is one of two sentences in the chapter worth memorising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three durations out loud. Every past paper has tested one of them.</a:t>
            </a:r>
          </a:p>
          <a:p>
            <a:r>
              <a:rPr sz="1400"/>
              <a:t>- Write the word deceptive next to the secondary. Part 4 explains why.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analogy students remember a year later. Spend twenty seconds on it, not two minutes.</a:t>
            </a:r>
          </a:p>
          <a:p>
            <a:r>
              <a:rPr sz="1400"/>
              <a:t>- Ask which of the three you would want to know about if you were mooring a boat.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Trace the arrow, then the shaded block, then one small wiggle. Three fingers, one line.</a:t>
            </a:r>
          </a:p>
          <a:p>
            <a:r>
              <a:rPr sz="1400"/>
              <a:t>- Land it: nothing on this chart happened at a different time from anything else.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Make them find the secondary reaction before you point at it.</a:t>
            </a:r>
          </a:p>
          <a:p>
            <a:r>
              <a:rPr sz="1400"/>
              <a:t>- Note the resumption label on the right. We come back to it in Part 4.</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Link back to Rhea's first assumption: it is reliable because it cannot be manipulated.</a:t>
            </a:r>
          </a:p>
          <a:p>
            <a:r>
              <a:rPr sz="1400"/>
              <a:t>- Say that every trading decision in this theory is made on this trend and no other.</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accent line matters: the theory names the trend, it does not size it.</a:t>
            </a:r>
          </a:p>
          <a:p>
            <a:r>
              <a:rPr sz="1400"/>
              <a:t>- Ask what use a trend is if you cannot say how far it goes. Let the question sit.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six numbers out slowly and let them check the pattern themselves.</a:t>
            </a:r>
          </a:p>
          <a:p>
            <a:r>
              <a:rPr sz="1400"/>
              <a:t>- Stress the word primarily. The chapter says there is a second way to define it and they can disagree.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Same numbers, read backwards. Say so, it saves a minute.</a:t>
            </a:r>
          </a:p>
          <a:p>
            <a:r>
              <a:rPr sz="1400"/>
              <a:t>- Ask what a market doing neither looks like. Somebody will describe a line, which is Part 4.</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Walk the dots left to right, saying higher, higher, higher. Then stop dead on the gold one.</a:t>
            </a:r>
          </a:p>
          <a:p>
            <a:r>
              <a:rPr sz="1400"/>
              <a:t>- Ask what changed. Nothing about the company changed. The sequence changed.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book's own words off the figure: the uptrend has technically ended.</a:t>
            </a:r>
          </a:p>
          <a:p>
            <a:r>
              <a:rPr sz="1400"/>
              <a:t>- Point at the word technically. The price is still high. The definition is what failed.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Note the word may. The book does not say the trend has certainly ended.</a:t>
            </a:r>
          </a:p>
          <a:p>
            <a:r>
              <a:rPr sz="1400"/>
              <a:t>- This is the whole of tenet four in miniature. We do it properly in Part 5.</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word closes in the example on purpose. Penetration is judged on the close.</a:t>
            </a:r>
          </a:p>
          <a:p>
            <a:r>
              <a:rPr sz="1400"/>
              <a:t>- This is the single most examined sentence in the chapter. Repeat it.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One third or more is a number they should write down. It is asked directly.</a:t>
            </a:r>
          </a:p>
          <a:p>
            <a:r>
              <a:rPr sz="1400"/>
              <a:t>- Ask whether they would accept that trade. Some will say no. That is the right instinct to have.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Be careful here. The book states this as Dow's belief. Do not upgrade it to a conclusion.</a:t>
            </a:r>
          </a:p>
          <a:p>
            <a:r>
              <a:rPr sz="1400"/>
              <a:t>- Say Part 6 gives them the arguments on the other side.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the gap at the bottom and the gap at the top. That is the one third being given away.</a:t>
            </a:r>
          </a:p>
          <a:p>
            <a:r>
              <a:rPr sz="1400"/>
              <a:t>- Ask which of the two blocks they would rather have. Then say nobody gets the bigger one.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strictly. The theory is unusually restrictive and students find that surprising.</a:t>
            </a:r>
          </a:p>
          <a:p>
            <a:r>
              <a:rPr sz="1400"/>
              <a:t>- Do not define a line yet. Just promise it.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twelve years out loud and let it land. This is what months to years really means.</a:t>
            </a:r>
          </a:p>
          <a:p>
            <a:r>
              <a:rPr sz="1400"/>
              <a:t>- Ask how many secondary reactions are inside it. The honest answer is many.</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Twenty three years is longer than most of the room has been alive. Say that.</a:t>
            </a:r>
          </a:p>
          <a:p>
            <a:r>
              <a:rPr sz="1400"/>
              <a:t>- Then say the obvious problem out loud: a stop loss on that trend is not a real trade.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chapter admitting its own definition is not the only one in use.</a:t>
            </a:r>
          </a:p>
          <a:p>
            <a:r>
              <a:rPr sz="1400"/>
              <a:t>- The next four slides show what that costs, using the same prices twice.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Draw the two gaps in the air with your hands. Same height, same ten pesos.</a:t>
            </a:r>
          </a:p>
          <a:p>
            <a:r>
              <a:rPr sz="1400"/>
              <a:t>- Slower signal is the phrase to remember, and it is the one that gets asked.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Same two gaps, different arithmetic. Ten pesos on 200 is only five percent, so it is half the height.</a:t>
            </a:r>
          </a:p>
          <a:p>
            <a:r>
              <a:rPr sz="1400"/>
              <a:t>- Earlier signal. Pair it with the previous slide out loud: log early, arithmetic late.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Name the scale before you name what happened. The scale is the subject here.</a:t>
            </a:r>
          </a:p>
          <a:p>
            <a:r>
              <a:rPr sz="1400"/>
              <a:t>- Hold this image in mind. The next slide is the same prices.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Same index, same dates, same closes. Say all three.</a:t>
            </a:r>
          </a:p>
          <a:p>
            <a:r>
              <a:rPr sz="1400"/>
              <a:t>- Ask which analyst got out first, and then ask which one was right.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word on the chart is flattening. That is the reading this scale produces.</a:t>
            </a:r>
          </a:p>
          <a:p>
            <a:r>
              <a:rPr sz="1400"/>
              <a:t>- One more slide and they will see the same stock refuse to flatten.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Put 2.10 and 2.11 side by side in their heads. Same company, same period, opposite conclusion.</a:t>
            </a:r>
          </a:p>
          <a:p>
            <a:r>
              <a:rPr sz="1400"/>
              <a:t>- This is Chapter 1's subjectivity argument arriving inside Dow Theory.</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Do not resolve it. The book does not resolve it either.</a:t>
            </a:r>
          </a:p>
          <a:p>
            <a:r>
              <a:rPr sz="1400"/>
              <a:t>- Tell them to state their scaling when they hand in Homework 1. It is part of the answer.</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for the definition of an uptrend. You want the words peaks and troughs back.</a:t>
            </a:r>
          </a:p>
          <a:p>
            <a:r>
              <a:rPr sz="1400"/>
              <a:t>- Say the next part finishes tenet two: the other two trends, and the only small thing you may trade.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we are starting Part 4 of 6.</a:t>
            </a:r>
          </a:p>
          <a:p>
            <a:r>
              <a:rPr sz="1400"/>
              <a:t>- Read the three covers lines, then move. Do not linger here.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word reaction. It reacts against something, so it only exists relative to a primary trend.</a:t>
            </a:r>
          </a:p>
          <a:p>
            <a:r>
              <a:rPr sz="1400"/>
              <a:t>- The duration, weeks to about three months, is directly examinable.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One third to two thirds is the single most asked number in this chapter. Write it up.</a:t>
            </a:r>
          </a:p>
          <a:p>
            <a:r>
              <a:rPr sz="1400"/>
              <a:t>- Note the words on high volume. The depth alone is not the whole test.</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Gann gets a whole chapter later in the book. Here he is just a second opinion.</a:t>
            </a:r>
          </a:p>
          <a:p>
            <a:r>
              <a:rPr sz="1400"/>
              <a:t>- The book does not say why half matters. It says it is psychological. Leave it there.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the top of the advance and say the fractions are measured from here, not from zero.</a:t>
            </a:r>
          </a:p>
          <a:p>
            <a:r>
              <a:rPr sz="1400"/>
              <a:t>- Then run a finger down to where the reaction stopped. Ask the room which line it landed on.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penetration again, applied to the reaction instead of the trend. Say that link.</a:t>
            </a:r>
          </a:p>
          <a:p>
            <a:r>
              <a:rPr sz="1400"/>
              <a:t>- Make them state the bear market version back to you. It is the same sentence upside down.</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Seventy five percent is past two thirds, and it still turned out to be a reaction. Say so.</a:t>
            </a:r>
          </a:p>
          <a:p>
            <a:r>
              <a:rPr sz="1400"/>
              <a:t>- That is exactly why the book calls the secondary the deceptive movement.</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Walk the three marked reactions in order and read each fraction aloud.</a:t>
            </a:r>
          </a:p>
          <a:p>
            <a:r>
              <a:rPr sz="1400"/>
              <a:t>- Ask which one they would have called a new trend at the time. Nobody can tell.</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last clause twice. The exception is the whole of the next three slides.</a:t>
            </a:r>
          </a:p>
          <a:p>
            <a:r>
              <a:rPr sz="1400"/>
              <a:t>- Ask how much of financial news is about the minor trend. Almost all of it.</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second sentence in this chapter worth memorising word for word.</a:t>
            </a:r>
          </a:p>
          <a:p>
            <a:r>
              <a:rPr sz="1400"/>
              <a:t>- Ask whether they agree. Most of them will not, which is a useful thing for them to notice.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Line here does not mean a line you draw. It means a stretch of flat price. Say that explicitly.</a:t>
            </a:r>
          </a:p>
          <a:p>
            <a:r>
              <a:rPr sz="1400"/>
              <a:t>- Students confuse it with a trendline every single year.</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Count them on two fingers. Two. That is the complete list.</a:t>
            </a:r>
          </a:p>
          <a:p>
            <a:r>
              <a:rPr sz="1400"/>
              <a:t>- Ask why a narrow range would break out strongly. The answer is on the definition slide: news.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two numbers on the chart: 106 days, and a range of about 4.2 percent.</a:t>
            </a:r>
          </a:p>
          <a:p>
            <a:r>
              <a:rPr sz="1400"/>
              <a:t>- Narrow is relative. Four percent over a hundred days is very flat for a currency.</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for the two things Dow Theory lets you trade. You want primary trend and lines.</a:t>
            </a:r>
          </a:p>
          <a:p>
            <a:r>
              <a:rPr sz="1400"/>
              <a:t>- That finishes tenet two. Next is tenet three, and it is the one about crowds.</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we are starting Part 5 of 6.</a:t>
            </a:r>
          </a:p>
          <a:p>
            <a:r>
              <a:rPr sz="1400"/>
              <a:t>- Read the three covers lines, then move. Do not linger here.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primary twice. The paper's wrong answer is always all trends have three phases.</a:t>
            </a:r>
          </a:p>
          <a:p>
            <a:r>
              <a:rPr sz="1400"/>
              <a:t>- Tell them this tenet is really about who is buying, not about price.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Two groups, opposite behaviour, same price. Say that out loud.</a:t>
            </a:r>
          </a:p>
          <a:p>
            <a:r>
              <a:rPr sz="1400"/>
              <a:t>- Ask which group they would rather be in, then ask how they would know.</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crowd psychology idea Chapter 1 set up, now attached to a phase of a trend.</a:t>
            </a:r>
          </a:p>
          <a:p>
            <a:r>
              <a:rPr sz="1400"/>
              <a:t>- Do not moralise about the uninformed. Their information really is worse.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 calls it the trending phase in the list and the trend phase in the prose. Say both.</a:t>
            </a:r>
          </a:p>
          <a:p>
            <a:r>
              <a:rPr sz="1400"/>
              <a:t>- The trending phase is where most people meet a stock for the first time.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Margin debt was one of the flow of funds items in Chapter 1. Point at the link.</a:t>
            </a:r>
          </a:p>
          <a:p>
            <a:r>
              <a:rPr sz="1400"/>
              <a:t>- The accent line is a reason, not a fact to memorise. Make them say the reason back.</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Same reason, opposite direction. Markets fall faster than they rise and this is the book's explanation.</a:t>
            </a:r>
          </a:p>
          <a:p>
            <a:r>
              <a:rPr sz="1400"/>
              <a:t>- Ask the room whether that matches what they have seen. It usually does.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Irrational exuberance is the phrase to underline. It appears in the book and in past papers.</a:t>
            </a:r>
          </a:p>
          <a:p>
            <a:r>
              <a:rPr sz="1400"/>
              <a:t>- Note the word gradually. Selling fast would spoil their own price, so they cannot.</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review question 6: in what ways is accumulation similar to distribution.</a:t>
            </a:r>
          </a:p>
          <a:p>
            <a:r>
              <a:rPr sz="1400"/>
              <a:t>- Similar in mechanism, opposite in direction, different in duration. Give them that sentence.</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Compare the width of the first block with the width of the third. That difference is the point.</a:t>
            </a:r>
          </a:p>
          <a:p>
            <a:r>
              <a:rPr sz="1400"/>
              <a:t>- Then point at the breakout mark and say that is the only tradable event on this chart.</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Idealized is the word on the caption. Say it. No real chart looks this tidy.</a:t>
            </a:r>
          </a:p>
          <a:p>
            <a:r>
              <a:rPr sz="1400"/>
              <a:t>- Have them find each of the three phases before you name them.</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Now compare with the idealized one. Ask which phase was hardest to see live.</a:t>
            </a:r>
          </a:p>
          <a:p>
            <a:r>
              <a:rPr sz="1400"/>
              <a:t>- Point at the label about wider formations giving stronger breakouts. That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One sentence, and the book gives no formula for it. Do not supply one.</a:t>
            </a:r>
          </a:p>
          <a:p>
            <a:r>
              <a:rPr sz="1400"/>
              <a:t>- Ask them to hold this. Chapter 4 is market phase analysis and it starts here.</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tenet is the reason the theory is late and the reason it is safe. Both at once.</a:t>
            </a:r>
          </a:p>
          <a:p>
            <a:r>
              <a:rPr sz="1400"/>
              <a:t>- Ask what the alternative is. Guessing the top. That is the comparison being made.</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Be honest that the chapter borrows two words it has not defined. Do not import a definition.</a:t>
            </a:r>
          </a:p>
          <a:p>
            <a:r>
              <a:rPr sz="1400"/>
              <a:t>- The working reading, previous trough and previous peak, is what the chapter's own figures show.</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All three phases are labelled on this one as well. Point at them again, quickly.</a:t>
            </a:r>
          </a:p>
          <a:p>
            <a:r>
              <a:rPr sz="1400"/>
              <a:t>- Then point at the breach and say that is the moment the theory changes its mind.</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three differ only in what the second peak or trough did. Say that before defining them.</a:t>
            </a:r>
          </a:p>
          <a:p>
            <a:r>
              <a:rPr sz="1400"/>
              <a:t>- The term failure swing comes from Welles Wilder, describing swings on the RSI indicator.</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word failure describes the second peak, not the trader. Say that, it prevents confusion.</a:t>
            </a:r>
          </a:p>
          <a:p>
            <a:r>
              <a:rPr sz="1400"/>
              <a:t>- Bottom version: the second trough fails to reach down to the first one.</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one students get wrong. The trend looked fine and then failed anyway.</a:t>
            </a:r>
          </a:p>
          <a:p>
            <a:r>
              <a:rPr sz="1400"/>
              <a:t>- Point out the practical consequence on the next slide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Three variations, and this is the middle case: not higher, not lower, the same.</a:t>
            </a:r>
          </a:p>
          <a:p>
            <a:r>
              <a:rPr sz="1400"/>
              <a:t>- Chapter 13 is chart pattern analysis and it takes double tops much further. Not today.</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them left to right and name each one. Then cover the labels and ask again.</a:t>
            </a:r>
          </a:p>
          <a:p>
            <a:r>
              <a:rPr sz="1400"/>
              <a:t>- Point at the two support levels on the non failure swing. That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same rationale applies except in reverse, which is the book's own sentence.</a:t>
            </a:r>
          </a:p>
          <a:p>
            <a:r>
              <a:rPr sz="1400"/>
              <a:t>- Do not spend long here. The room has already seen the argument once.</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Scaling out is the practical answer to the tension. Mention it and move.</a:t>
            </a:r>
          </a:p>
          <a:p>
            <a:r>
              <a:rPr sz="1400"/>
              <a:t>- Ask which of the three formations gives the earliest signal. The failure swing does.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for the three formations. Then ask what distinguishes them: the second peak.</a:t>
            </a:r>
          </a:p>
          <a:p>
            <a:r>
              <a:rPr sz="1400"/>
              <a:t>- One part left, and it holds two tenets and every criticism of the theory.</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we are starting Part 6 of 6.</a:t>
            </a:r>
          </a:p>
          <a:p>
            <a:r>
              <a:rPr sz="1400"/>
              <a:t>- Read the three covers lines, then move. Do not linger here.</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modern names too: Industrials and Transportation. The paper uses Railroad.</a:t>
            </a:r>
          </a:p>
          <a:p>
            <a:r>
              <a:rPr sz="1400"/>
              <a:t>- The word is extend beyond their secondary peaks. Not rise, not rally. Penetrate.</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T1 and T2 are the book's own labels on the next two figures. Introduce them here.</a:t>
            </a:r>
          </a:p>
          <a:p>
            <a:r>
              <a:rPr sz="1400"/>
              <a:t>- Ask what you would have lost between T1 and T2. Some of the move, again.</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Cover the lower panel with your hand and ask whether the trend is confirmed. It is not.</a:t>
            </a:r>
          </a:p>
          <a:p>
            <a:r>
              <a:rPr sz="1400"/>
              <a:t>- Uncover it. The date is T2 and there is nothing to argue about.</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definition slide in picture form. Point at T1, then T2, then say confirmed.</a:t>
            </a:r>
          </a:p>
          <a:p>
            <a:r>
              <a:rPr sz="1400"/>
              <a:t>- Have somebody read the caption out. The book's own words are the safest wording.</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Same shape, real data, two panels. Make them find T2 before you point at it.</a:t>
            </a:r>
          </a:p>
          <a:p>
            <a:r>
              <a:rPr sz="1400"/>
              <a:t>- Say the confirmation date out loud: the uptrend is confirmed at T2, not at T1.</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counterintuitive bit: a sell signal nobody confirms is read as bullish. Say it twice.</a:t>
            </a:r>
          </a:p>
          <a:p>
            <a:r>
              <a:rPr sz="1400"/>
              <a:t>- This is the tenet doing real work, not just delaying a trade.</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Name the formation on the Industrials: a non failure swing. They met it in Part 5.</a:t>
            </a:r>
          </a:p>
          <a:p>
            <a:r>
              <a:rPr sz="1400"/>
              <a:t>- Then point at the average below that did not break. That is the whole argument.</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 extends this itself, so it is fair game. It uses gold and silver, and two US indices.</a:t>
            </a:r>
          </a:p>
          <a:p>
            <a:r>
              <a:rPr sz="1400"/>
              <a:t>- Ask the room for a pair of Philippine listings that usually move together.</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Note that the book offers two readings and does not pick one. Say so plainly.</a:t>
            </a:r>
          </a:p>
          <a:p>
            <a:r>
              <a:rPr sz="1400"/>
              <a:t>- It does add that a penetration of gold's support would generally be bearish for silver.</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pairing comes back in the criticisms, so flag it now: many practitioners prefer it.</a:t>
            </a:r>
          </a:p>
          <a:p>
            <a:r>
              <a:rPr sz="1400"/>
              <a:t>- Do not go deeper. Oversold is a Chapter 8 word and this chapter does not define it.</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formal wording is the answer to review question 5, so read it as written.</a:t>
            </a:r>
          </a:p>
          <a:p>
            <a:r>
              <a:rPr sz="1400"/>
              <a:t>- Expand in the direction of the trend is the phrase. Not simply high volume.</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all four. Then say the accent line and let them see that it is one idea, not four.</a:t>
            </a:r>
          </a:p>
          <a:p>
            <a:r>
              <a:rPr sz="1400"/>
              <a:t>- Past papers quote these four almost word for word, so the wording matters.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the hedging words. Students overstate this every year.</a:t>
            </a:r>
          </a:p>
          <a:p>
            <a:r>
              <a:rPr sz="1400"/>
              <a:t>- Ask what you would do about it. The honest answer is watch more carefully, not sell.</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One line, and it is the sentence that keeps volume in its place.</a:t>
            </a:r>
          </a:p>
          <a:p>
            <a:r>
              <a:rPr sz="1400"/>
              <a:t>- Chapter 6 is volume and open interest in full. Today it is a confirmation tool.</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Do not talk about the price panel. Point only at the bars and let the pattern do the work.</a:t>
            </a:r>
          </a:p>
          <a:p>
            <a:r>
              <a:rPr sz="1400"/>
              <a:t>- Then ask which of the four conditions this chart shows. It shows the first two.</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Find area A and area B on the chart with them. A is with the trend, B is the retracement.</a:t>
            </a:r>
          </a:p>
          <a:p>
            <a:r>
              <a:rPr sz="1400"/>
              <a:t>- The book calls this a bullish indication for gold. Report it as the book's reading.</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Ten numbered periods is more than the room needs. Do two of them and move on.</a:t>
            </a:r>
          </a:p>
          <a:p>
            <a:r>
              <a:rPr sz="1400"/>
              <a:t>- This figure is the first thing to drop if the clock is against you.</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Set this up as the honest part of the chapter. The author is not selling the theory.</a:t>
            </a:r>
          </a:p>
          <a:p>
            <a:r>
              <a:rPr sz="1400"/>
              <a:t>- Two of the review questions are answered entirely out of the next seven slides.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accent line and then say stop loss out loud. Twenty three years of it.</a:t>
            </a:r>
          </a:p>
          <a:p>
            <a:r>
              <a:rPr sz="1400"/>
              <a:t>- This is the criticism about faster markets and lower timeframes.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Take them back to Part 1 and Rhea's first assumption. The book has just contradicted it.</a:t>
            </a:r>
          </a:p>
          <a:p>
            <a:r>
              <a:rPr sz="1400"/>
              <a:t>- This is review question 2, give examples of the primary trend being manipulated.</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barometer word from Part 1 comes back here. A barometer you can trade is a strange barometer.</a:t>
            </a:r>
          </a:p>
          <a:p>
            <a:r>
              <a:rPr sz="1400"/>
              <a:t>- Do not explain the VIX or ETFs beyond what is on the slide. The chapter does not.</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objection you told them to hold in Part 2. Give it back to them now.</a:t>
            </a:r>
          </a:p>
          <a:p>
            <a:r>
              <a:rPr sz="1400"/>
              <a:t>- Price rejection level is a phrase the chapter uses and does not define. Leave it undefined.</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Contrast with Dow's own position from Part 3, that the sacrifice is well worth it.</a:t>
            </a:r>
          </a:p>
          <a:p>
            <a:r>
              <a:rPr sz="1400"/>
              <a:t>- Two positions, both reported, neither endorsed. That is the standard to hold them to.</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review question 7 answered in full: why the secondary reaction is more problematic.</a:t>
            </a:r>
          </a:p>
          <a:p>
            <a:r>
              <a:rPr sz="1400"/>
              <a:t>- Take them back to the 75 percent reaction in Part 4. Nobody could have called it live.</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original logic is worth stating: confirmation was an economic argument, not a chart one.</a:t>
            </a:r>
          </a:p>
          <a:p>
            <a:r>
              <a:rPr sz="1400"/>
              <a:t>- That is why practitioners now pair a large cap index with a small cap one instead.</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summary as written. The author criticises the theory and still defends it.</a:t>
            </a:r>
          </a:p>
          <a:p>
            <a:r>
              <a:rPr sz="1400"/>
              <a:t>- This is review question 3: is Dow Theory still relevant in today's market.</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for the four volume conditions. Accept two and give them the summary line instead.</a:t>
            </a:r>
          </a:p>
          <a:p>
            <a:r>
              <a:rPr sz="1400"/>
              <a:t>- That is the whole chapter. Move to the wrap up.</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all five slowly. This is the summary students should copy word for word.</a:t>
            </a:r>
          </a:p>
          <a:p>
            <a:r>
              <a:rPr sz="1400"/>
              <a:t>- Then ask for the six tenets one last time, from the room, with the slide hidden.</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where each answer sits: Part 2, Part 6, Part 6, Part 6, Part 5, Parts 4 and 6.</a:t>
            </a:r>
          </a:p>
          <a:p>
            <a:r>
              <a:rPr sz="1400"/>
              <a:t>- Line three carries two of the book's eight questions, so there are seven here, not six.</a:t>
            </a:r>
          </a:p>
          <a:p>
            <a:r>
              <a:rPr sz="1400"/>
              <a:t>- Set the expectation that these appear on the quiz in the department's four statement format.</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Be straight with them: the chapter's own review question runs past the chapter.</a:t>
            </a:r>
          </a:p>
          <a:p>
            <a:r>
              <a:rPr sz="1400"/>
              <a:t>- Give them Dow's determination of a trend, which is successively higher or lower peaks and troughs.</a:t>
            </a:r>
          </a:p>
          <a:p>
            <a:r>
              <a:rPr sz="1400"/>
              <a:t>- Say we will not invent Elliott's half today. That is a promise about how this course works.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Name the exact preparation. That last line is Homework 1 in one sentence.</a:t>
            </a:r>
          </a:p>
          <a:p>
            <a:r>
              <a:rPr sz="1400"/>
              <a:t>- Remind them quiz 1 covers chapters 1 and 2 together.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6355080"/>
            <a:ext cx="12191695" cy="502920"/>
          </a:xfrm>
          <a:prstGeom prst="rect">
            <a:avLst/>
          </a:prstGeom>
          <a:solidFill>
            <a:srgbClr val="004F21"/>
          </a:solidFill>
          <a:ln>
            <a:noFill/>
          </a:ln>
          <a:effectLst/>
        </p:spPr>
        <p:txBody>
          <a:bodyPr rtlCol="0" anchor="ctr"/>
          <a:lstStyle/>
          <a:p>
            <a:pPr algn="ctr"/>
          </a:p>
        </p:txBody>
      </p:sp>
      <p:sp>
        <p:nvSpPr>
          <p:cNvPr id="4" name="TextBox 3"/>
          <p:cNvSpPr txBox="1"/>
          <p:nvPr/>
        </p:nvSpPr>
        <p:spPr>
          <a:xfrm>
            <a:off x="777240" y="1417320"/>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FIN1209  Technical Analysis in Investment</a:t>
            </a:r>
          </a:p>
        </p:txBody>
      </p:sp>
      <p:sp>
        <p:nvSpPr>
          <p:cNvPr id="5" name="Rectangle 4"/>
          <p:cNvSpPr/>
          <p:nvPr/>
        </p:nvSpPr>
        <p:spPr>
          <a:xfrm>
            <a:off x="777240" y="2057400"/>
            <a:ext cx="1463040" cy="50800"/>
          </a:xfrm>
          <a:prstGeom prst="rect">
            <a:avLst/>
          </a:prstGeom>
          <a:solidFill>
            <a:srgbClr val="F2A900"/>
          </a:solidFill>
          <a:ln>
            <a:noFill/>
          </a:ln>
          <a:effectLst/>
        </p:spPr>
        <p:txBody>
          <a:bodyPr rtlCol="0" anchor="ctr"/>
          <a:lstStyle/>
          <a:p>
            <a:pPr algn="ctr"/>
          </a:p>
        </p:txBody>
      </p:sp>
      <p:sp>
        <p:nvSpPr>
          <p:cNvPr id="6" name="TextBox 5"/>
          <p:cNvSpPr txBox="1"/>
          <p:nvPr/>
        </p:nvSpPr>
        <p:spPr>
          <a:xfrm>
            <a:off x="777240" y="2423160"/>
            <a:ext cx="10637215" cy="2194560"/>
          </a:xfrm>
          <a:prstGeom prst="rect">
            <a:avLst/>
          </a:prstGeom>
          <a:noFill/>
        </p:spPr>
        <p:txBody>
          <a:bodyPr wrap="square" anchor="t" lIns="0" rIns="0" tIns="0" bIns="0">
            <a:spAutoFit/>
          </a:bodyPr>
          <a:lstStyle/>
          <a:p>
            <a:pPr algn="l">
              <a:lnSpc>
                <a:spcPct val="100000"/>
              </a:lnSpc>
              <a:spcBef>
                <a:spcPts val="0"/>
              </a:spcBef>
              <a:spcAft>
                <a:spcPts val="0"/>
              </a:spcAft>
            </a:pPr>
            <a:r>
              <a:rPr sz="2000" b="0" i="0">
                <a:solidFill>
                  <a:srgbClr val="FFFFFF"/>
                </a:solidFill>
                <a:latin typeface="Palatino"/>
              </a:rPr>
              <a:t>Chapter 2</a:t>
            </a:r>
          </a:p>
          <a:p>
            <a:pPr algn="l">
              <a:lnSpc>
                <a:spcPct val="105000"/>
              </a:lnSpc>
              <a:spcBef>
                <a:spcPts val="1000"/>
              </a:spcBef>
              <a:spcAft>
                <a:spcPts val="0"/>
              </a:spcAft>
            </a:pPr>
            <a:r>
              <a:rPr sz="4400" b="0" i="0">
                <a:solidFill>
                  <a:srgbClr val="FFFFFF"/>
                </a:solidFill>
                <a:latin typeface="Palatino"/>
              </a:rPr>
              <a:t>Introduction to Dow Theory</a:t>
            </a:r>
          </a:p>
        </p:txBody>
      </p:sp>
      <p:sp>
        <p:nvSpPr>
          <p:cNvPr id="7" name="TextBox 6"/>
          <p:cNvSpPr txBox="1"/>
          <p:nvPr/>
        </p:nvSpPr>
        <p:spPr>
          <a:xfrm>
            <a:off x="777240" y="4892040"/>
            <a:ext cx="10637215" cy="914400"/>
          </a:xfrm>
          <a:prstGeom prst="rect">
            <a:avLst/>
          </a:prstGeom>
          <a:noFill/>
        </p:spPr>
        <p:txBody>
          <a:bodyPr wrap="square" anchor="t" lIns="0" rIns="0" tIns="0" bIns="0">
            <a:spAutoFit/>
          </a:bodyPr>
          <a:lstStyle/>
          <a:p>
            <a:pPr algn="l">
              <a:lnSpc>
                <a:spcPct val="100000"/>
              </a:lnSpc>
              <a:spcBef>
                <a:spcPts val="0"/>
              </a:spcBef>
              <a:spcAft>
                <a:spcPts val="0"/>
              </a:spcAft>
            </a:pPr>
            <a:r>
              <a:rPr sz="1600" b="0" i="0">
                <a:solidFill>
                  <a:srgbClr val="FFFFFF"/>
                </a:solidFill>
                <a:latin typeface="Arial"/>
              </a:rPr>
              <a:t>Institute of Accounts, Business and Finance  |  Far Eastern University Manila</a:t>
            </a:r>
          </a:p>
          <a:p>
            <a:pPr algn="l">
              <a:lnSpc>
                <a:spcPct val="100000"/>
              </a:lnSpc>
              <a:spcBef>
                <a:spcPts val="800"/>
              </a:spcBef>
              <a:spcAft>
                <a:spcPts val="0"/>
              </a:spcAft>
            </a:pPr>
            <a:r>
              <a:rPr sz="1400" b="0" i="0">
                <a:solidFill>
                  <a:srgbClr val="F2A900"/>
                </a:solidFill>
                <a:latin typeface="Arial"/>
              </a:rPr>
              <a:t>Benjamin C. Sotelo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you will be able to do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2 - Learning objectives</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Understand the basic concepts and assumptions of Dow Theory.</a:t>
            </a:r>
          </a:p>
          <a:p>
            <a:pPr algn="l">
              <a:lnSpc>
                <a:spcPct val="118000"/>
              </a:lnSpc>
              <a:spcBef>
                <a:spcPts val="0"/>
              </a:spcBef>
              <a:spcAft>
                <a:spcPts val="1300"/>
              </a:spcAft>
            </a:pPr>
            <a:r>
              <a:rPr sz="2100" b="0" i="0">
                <a:solidFill>
                  <a:srgbClr val="1A1A1A"/>
                </a:solidFill>
                <a:latin typeface="Arial"/>
              </a:rPr>
              <a:t>Apply the concepts of Dow Theory to forecast potential entry and exit points in the market.</a:t>
            </a:r>
          </a:p>
          <a:p>
            <a:pPr algn="l">
              <a:lnSpc>
                <a:spcPct val="118000"/>
              </a:lnSpc>
              <a:spcBef>
                <a:spcPts val="0"/>
              </a:spcBef>
              <a:spcAft>
                <a:spcPts val="1300"/>
              </a:spcAft>
            </a:pPr>
            <a:r>
              <a:rPr sz="2100" b="0" i="0">
                <a:solidFill>
                  <a:srgbClr val="1A1A1A"/>
                </a:solidFill>
                <a:latin typeface="Arial"/>
              </a:rPr>
              <a:t>Identify the strengths and weaknesses of applying Dow Theory.</a:t>
            </a:r>
          </a:p>
          <a:p>
            <a:pPr algn="l">
              <a:lnSpc>
                <a:spcPct val="118000"/>
              </a:lnSpc>
              <a:spcBef>
                <a:spcPts val="0"/>
              </a:spcBef>
              <a:spcAft>
                <a:spcPts val="1300"/>
              </a:spcAft>
            </a:pPr>
            <a:r>
              <a:rPr sz="2100" b="0" i="0">
                <a:solidFill>
                  <a:srgbClr val="1A1A1A"/>
                </a:solidFill>
                <a:latin typeface="Arial"/>
              </a:rPr>
              <a:t>Explain the importance of price and volume confirmation as a basis for determining potential market action.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you will be able to do, continued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2 - Learning objectives</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Highlight the current challenges to Dow Theory.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today is laid 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2 - Roadmap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Part 1  Where Dow Theory came from</a:t>
            </a:r>
          </a:p>
          <a:p>
            <a:pPr algn="l">
              <a:lnSpc>
                <a:spcPct val="118000"/>
              </a:lnSpc>
              <a:spcBef>
                <a:spcPts val="0"/>
              </a:spcBef>
              <a:spcAft>
                <a:spcPts val="1300"/>
              </a:spcAft>
            </a:pPr>
            <a:r>
              <a:rPr sz="2100" b="0" i="0">
                <a:solidFill>
                  <a:srgbClr val="1A1A1A"/>
                </a:solidFill>
                <a:latin typeface="Arial"/>
              </a:rPr>
              <a:t>Part 2  The six tenets, and the first one</a:t>
            </a:r>
          </a:p>
          <a:p>
            <a:pPr algn="l">
              <a:lnSpc>
                <a:spcPct val="118000"/>
              </a:lnSpc>
              <a:spcBef>
                <a:spcPts val="0"/>
              </a:spcBef>
              <a:spcAft>
                <a:spcPts val="1300"/>
              </a:spcAft>
            </a:pPr>
            <a:r>
              <a:rPr sz="2100" b="0" i="0">
                <a:solidFill>
                  <a:srgbClr val="1A1A1A"/>
                </a:solidFill>
                <a:latin typeface="Arial"/>
              </a:rPr>
              <a:t>Part 3  Three trends, and the primary one</a:t>
            </a:r>
          </a:p>
          <a:p>
            <a:pPr algn="l">
              <a:lnSpc>
                <a:spcPct val="118000"/>
              </a:lnSpc>
              <a:spcBef>
                <a:spcPts val="0"/>
              </a:spcBef>
              <a:spcAft>
                <a:spcPts val="1300"/>
              </a:spcAft>
            </a:pPr>
            <a:r>
              <a:rPr sz="2100" b="0" i="0">
                <a:solidFill>
                  <a:srgbClr val="1A1A1A"/>
                </a:solidFill>
                <a:latin typeface="Arial"/>
              </a:rPr>
              <a:t>Part 4  The secondary reaction and the minor trend</a:t>
            </a:r>
          </a:p>
          <a:p>
            <a:pPr algn="l">
              <a:lnSpc>
                <a:spcPct val="118000"/>
              </a:lnSpc>
              <a:spcBef>
                <a:spcPts val="0"/>
              </a:spcBef>
              <a:spcAft>
                <a:spcPts val="1300"/>
              </a:spcAft>
            </a:pPr>
            <a:r>
              <a:rPr sz="2100" b="0" i="0">
                <a:solidFill>
                  <a:srgbClr val="1A1A1A"/>
                </a:solidFill>
                <a:latin typeface="Arial"/>
              </a:rPr>
              <a:t>Part 5  Three phases, and when a trend reverses</a:t>
            </a:r>
          </a:p>
          <a:p>
            <a:pPr algn="l">
              <a:lnSpc>
                <a:spcPct val="118000"/>
              </a:lnSpc>
              <a:spcBef>
                <a:spcPts val="0"/>
              </a:spcBef>
              <a:spcAft>
                <a:spcPts val="1300"/>
              </a:spcAft>
            </a:pPr>
            <a:r>
              <a:rPr sz="2100" b="0" i="0">
                <a:solidFill>
                  <a:srgbClr val="1A1A1A"/>
                </a:solidFill>
                <a:latin typeface="Arial"/>
              </a:rPr>
              <a:t>Part 6  Confirmation, volume, and the challenges</a:t>
            </a:r>
          </a:p>
        </p:txBody>
      </p:sp>
      <p:sp>
        <p:nvSpPr>
          <p:cNvPr id="8" name="Rectangle 7"/>
          <p:cNvSpPr/>
          <p:nvPr/>
        </p:nvSpPr>
        <p:spPr>
          <a:xfrm>
            <a:off x="777240" y="526237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29894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Six parts, a check every few terms, and a clean stop at every boundary.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1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Where Dow Theory Came From</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The four men whose writing became Dow Theory, and which one wrote it down.</a:t>
            </a:r>
          </a:p>
          <a:p>
            <a:pPr algn="l">
              <a:lnSpc>
                <a:spcPct val="115000"/>
              </a:lnSpc>
              <a:spcBef>
                <a:spcPts val="0"/>
              </a:spcBef>
              <a:spcAft>
                <a:spcPts val="1000"/>
              </a:spcAft>
            </a:pPr>
            <a:r>
              <a:rPr sz="1900" b="0" i="0">
                <a:solidFill>
                  <a:srgbClr val="FFFFFF"/>
                </a:solidFill>
                <a:latin typeface="Arial"/>
              </a:rPr>
              <a:t>The three assumptions Robert Rhea built it on.</a:t>
            </a:r>
          </a:p>
          <a:p>
            <a:pPr algn="l">
              <a:lnSpc>
                <a:spcPct val="115000"/>
              </a:lnSpc>
              <a:spcBef>
                <a:spcPts val="0"/>
              </a:spcBef>
              <a:spcAft>
                <a:spcPts val="1000"/>
              </a:spcAft>
            </a:pPr>
            <a:r>
              <a:rPr sz="1900" b="0" i="0">
                <a:solidFill>
                  <a:srgbClr val="FFFFFF"/>
                </a:solidFill>
                <a:latin typeface="Arial"/>
              </a:rPr>
              <a:t>Why Dow wanted an average of many stocks instead of one.</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20 minutes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this chapter is for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1 of 13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Dow Theory lays the basic foundation for modern day technical analysis.</a:t>
            </a:r>
          </a:p>
          <a:p>
            <a:pPr algn="l">
              <a:lnSpc>
                <a:spcPct val="118000"/>
              </a:lnSpc>
              <a:spcBef>
                <a:spcPts val="0"/>
              </a:spcBef>
              <a:spcAft>
                <a:spcPts val="1300"/>
              </a:spcAft>
            </a:pPr>
            <a:r>
              <a:rPr sz="2100" b="0" i="0">
                <a:solidFill>
                  <a:srgbClr val="1A1A1A"/>
                </a:solidFill>
                <a:latin typeface="Arial"/>
              </a:rPr>
              <a:t>Its premises underpin the very study of market action.</a:t>
            </a:r>
          </a:p>
          <a:p>
            <a:pPr algn="l">
              <a:lnSpc>
                <a:spcPct val="118000"/>
              </a:lnSpc>
              <a:spcBef>
                <a:spcPts val="0"/>
              </a:spcBef>
              <a:spcAft>
                <a:spcPts val="1300"/>
              </a:spcAft>
            </a:pPr>
            <a:r>
              <a:rPr sz="2100" b="0" i="0">
                <a:solidFill>
                  <a:srgbClr val="1A1A1A"/>
                </a:solidFill>
                <a:latin typeface="Arial"/>
              </a:rPr>
              <a:t>The book says they have withstood the test of time.</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Almost everything in the rest of this course sits on top of today.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Dow Theory</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set of basic statements about how markets move, taken from what Charles H. Dow wrote and organized by the people who came after him.</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It is not a formula and there is nothing to compute. It is six statements, and we take them one at a time.</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Dow Theory is the body of basic premises credited to Charles H. Dow and codified by later writers, which lays the basic foundation for modern day technical analysis.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2 of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Charles H. Dow</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3 of 13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Dow is credited for much of the early work that led to Dow Theory.</a:t>
            </a:r>
          </a:p>
          <a:p>
            <a:pPr algn="l">
              <a:lnSpc>
                <a:spcPct val="118000"/>
              </a:lnSpc>
              <a:spcBef>
                <a:spcPts val="0"/>
              </a:spcBef>
              <a:spcAft>
                <a:spcPts val="1300"/>
              </a:spcAft>
            </a:pPr>
            <a:r>
              <a:rPr sz="2100" b="0" i="0">
                <a:solidFill>
                  <a:srgbClr val="1A1A1A"/>
                </a:solidFill>
                <a:latin typeface="Arial"/>
              </a:rPr>
              <a:t>His writing was not a book. It was editorials in the Wall Street Journal.</a:t>
            </a:r>
          </a:p>
          <a:p>
            <a:pPr algn="l">
              <a:lnSpc>
                <a:spcPct val="118000"/>
              </a:lnSpc>
              <a:spcBef>
                <a:spcPts val="0"/>
              </a:spcBef>
              <a:spcAft>
                <a:spcPts val="1300"/>
              </a:spcAft>
            </a:pPr>
            <a:r>
              <a:rPr sz="2100" b="0" i="0">
                <a:solidFill>
                  <a:srgbClr val="1A1A1A"/>
                </a:solidFill>
                <a:latin typeface="Arial"/>
              </a:rPr>
              <a:t>They were published around the beginning of the twentieth century.</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Dow wrote the ideas. Other people assembled them into a theory.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three who came after him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4 of 13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William P. Hamilton, Dow's successor. Book: The Stock Market Barometer.</a:t>
            </a:r>
          </a:p>
          <a:p>
            <a:pPr algn="l">
              <a:lnSpc>
                <a:spcPct val="118000"/>
              </a:lnSpc>
              <a:spcBef>
                <a:spcPts val="0"/>
              </a:spcBef>
              <a:spcAft>
                <a:spcPts val="1300"/>
              </a:spcAft>
            </a:pPr>
            <a:r>
              <a:rPr sz="2100" b="0" i="0">
                <a:solidFill>
                  <a:srgbClr val="1A1A1A"/>
                </a:solidFill>
                <a:latin typeface="Arial"/>
              </a:rPr>
              <a:t>S. A. Nelson, a close acquaintance of Dow's. Book: The ABC of Stock Speculation.</a:t>
            </a:r>
          </a:p>
          <a:p>
            <a:pPr algn="l">
              <a:lnSpc>
                <a:spcPct val="118000"/>
              </a:lnSpc>
              <a:spcBef>
                <a:spcPts val="0"/>
              </a:spcBef>
              <a:spcAft>
                <a:spcPts val="1300"/>
              </a:spcAft>
            </a:pPr>
            <a:r>
              <a:rPr sz="2100" b="0" i="0">
                <a:solidFill>
                  <a:srgbClr val="1A1A1A"/>
                </a:solidFill>
                <a:latin typeface="Arial"/>
              </a:rPr>
              <a:t>Robert Rhea, a student of Hamilton. Book: The Dow Theory.</a:t>
            </a:r>
          </a:p>
        </p:txBody>
      </p:sp>
      <p:sp>
        <p:nvSpPr>
          <p:cNvPr id="8" name="Rectangle 7"/>
          <p:cNvSpPr/>
          <p:nvPr/>
        </p:nvSpPr>
        <p:spPr>
          <a:xfrm>
            <a:off x="777240" y="4084320"/>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Nelson was the first person to call the ideas the Dow Theory.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each of them actually did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5 of 13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Hamilton carried on developing and organizing Dow's original early writings.</a:t>
            </a:r>
          </a:p>
          <a:p>
            <a:pPr algn="l">
              <a:lnSpc>
                <a:spcPct val="118000"/>
              </a:lnSpc>
              <a:spcBef>
                <a:spcPts val="0"/>
              </a:spcBef>
              <a:spcAft>
                <a:spcPts val="1300"/>
              </a:spcAft>
            </a:pPr>
            <a:r>
              <a:rPr sz="2100" b="0" i="0">
                <a:solidFill>
                  <a:srgbClr val="1A1A1A"/>
                </a:solidFill>
                <a:latin typeface="Arial"/>
              </a:rPr>
              <a:t>Nelson published a book about Dow's work, and named the theory.</a:t>
            </a:r>
          </a:p>
          <a:p>
            <a:pPr algn="l">
              <a:lnSpc>
                <a:spcPct val="118000"/>
              </a:lnSpc>
              <a:spcBef>
                <a:spcPts val="0"/>
              </a:spcBef>
              <a:spcAft>
                <a:spcPts val="1300"/>
              </a:spcAft>
            </a:pPr>
            <a:r>
              <a:rPr sz="2100" b="0" i="0">
                <a:solidFill>
                  <a:srgbClr val="1A1A1A"/>
                </a:solidFill>
                <a:latin typeface="Arial"/>
              </a:rPr>
              <a:t>Rhea did the categorizing, the refining and the formal codification.</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It was Rhea's work that really developed the theory and laid its foundation.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The four proponents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1332864"/>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proponent was responsible for much of the categorizing, refining and formal codification of Dow's basic premises, later laid out in his book The Dow Theory?</a:t>
            </a:r>
          </a:p>
        </p:txBody>
      </p:sp>
      <p:sp>
        <p:nvSpPr>
          <p:cNvPr id="9" name="TextBox 8"/>
          <p:cNvSpPr txBox="1"/>
          <p:nvPr/>
        </p:nvSpPr>
        <p:spPr>
          <a:xfrm>
            <a:off x="1051560" y="327139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William P. Hamilton</a:t>
            </a:r>
          </a:p>
          <a:p>
            <a:pPr algn="l">
              <a:lnSpc>
                <a:spcPct val="112000"/>
              </a:lnSpc>
              <a:spcBef>
                <a:spcPts val="0"/>
              </a:spcBef>
              <a:spcAft>
                <a:spcPts val="900"/>
              </a:spcAft>
            </a:pPr>
            <a:r>
              <a:rPr sz="1500" b="0" i="0">
                <a:solidFill>
                  <a:srgbClr val="FFFFFF"/>
                </a:solidFill>
                <a:latin typeface="Arial"/>
              </a:rPr>
              <a:t>B.  Charles H. Dow</a:t>
            </a:r>
          </a:p>
          <a:p>
            <a:pPr algn="l">
              <a:lnSpc>
                <a:spcPct val="112000"/>
              </a:lnSpc>
              <a:spcBef>
                <a:spcPts val="0"/>
              </a:spcBef>
              <a:spcAft>
                <a:spcPts val="900"/>
              </a:spcAft>
            </a:pPr>
            <a:r>
              <a:rPr sz="1500" b="0" i="0">
                <a:solidFill>
                  <a:srgbClr val="FFFFFF"/>
                </a:solidFill>
                <a:latin typeface="Arial"/>
              </a:rPr>
              <a:t>C.  Robert Rhea</a:t>
            </a:r>
          </a:p>
          <a:p>
            <a:pPr algn="l">
              <a:lnSpc>
                <a:spcPct val="112000"/>
              </a:lnSpc>
              <a:spcBef>
                <a:spcPts val="0"/>
              </a:spcBef>
              <a:spcAft>
                <a:spcPts val="900"/>
              </a:spcAft>
            </a:pPr>
            <a:r>
              <a:rPr sz="1500" b="0" i="0">
                <a:solidFill>
                  <a:srgbClr val="FFFFFF"/>
                </a:solidFill>
                <a:latin typeface="Arial"/>
              </a:rPr>
              <a:t>D.  S. A. Nelson</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Who was the first person to refer to Dow's concepts and ideas as the Dow Theory?</a:t>
            </a:r>
          </a:p>
        </p:txBody>
      </p:sp>
      <p:sp>
        <p:nvSpPr>
          <p:cNvPr id="13" name="TextBox 12"/>
          <p:cNvSpPr txBox="1"/>
          <p:nvPr/>
        </p:nvSpPr>
        <p:spPr>
          <a:xfrm>
            <a:off x="6690207" y="327139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S. A. Nelson</a:t>
            </a:r>
          </a:p>
          <a:p>
            <a:pPr algn="l">
              <a:lnSpc>
                <a:spcPct val="112000"/>
              </a:lnSpc>
              <a:spcBef>
                <a:spcPts val="0"/>
              </a:spcBef>
              <a:spcAft>
                <a:spcPts val="900"/>
              </a:spcAft>
            </a:pPr>
            <a:r>
              <a:rPr sz="1500" b="0" i="0">
                <a:solidFill>
                  <a:srgbClr val="FFFFFF"/>
                </a:solidFill>
                <a:latin typeface="Arial"/>
              </a:rPr>
              <a:t>B.  Robert Rhea</a:t>
            </a:r>
          </a:p>
          <a:p>
            <a:pPr algn="l">
              <a:lnSpc>
                <a:spcPct val="112000"/>
              </a:lnSpc>
              <a:spcBef>
                <a:spcPts val="0"/>
              </a:spcBef>
              <a:spcAft>
                <a:spcPts val="900"/>
              </a:spcAft>
            </a:pPr>
            <a:r>
              <a:rPr sz="1500" b="0" i="0">
                <a:solidFill>
                  <a:srgbClr val="FFFFFF"/>
                </a:solidFill>
                <a:latin typeface="Arial"/>
              </a:rPr>
              <a:t>C.  Charles H. Dow</a:t>
            </a:r>
          </a:p>
          <a:p>
            <a:pPr algn="l">
              <a:lnSpc>
                <a:spcPct val="112000"/>
              </a:lnSpc>
              <a:spcBef>
                <a:spcPts val="0"/>
              </a:spcBef>
              <a:spcAft>
                <a:spcPts val="900"/>
              </a:spcAft>
            </a:pPr>
            <a:r>
              <a:rPr sz="1500" b="0" i="0">
                <a:solidFill>
                  <a:srgbClr val="FFFFFF"/>
                </a:solidFill>
                <a:latin typeface="Arial"/>
              </a:rPr>
              <a:t>D.  William P. Hamilton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 of 6 - Origins  |  Check 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The four proponents</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Which proponent was responsible for much of the categorizing, refining and formal codification of Dow's basic premises, later laid out in his book The Dow Theory?</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Robert Rhea</a:t>
            </a:r>
          </a:p>
          <a:p>
            <a:pPr algn="l">
              <a:lnSpc>
                <a:spcPct val="115000"/>
              </a:lnSpc>
              <a:spcBef>
                <a:spcPts val="700"/>
              </a:spcBef>
              <a:spcAft>
                <a:spcPts val="0"/>
              </a:spcAft>
            </a:pPr>
            <a:r>
              <a:rPr sz="1600" b="0" i="0">
                <a:solidFill>
                  <a:srgbClr val="1A1A1A"/>
                </a:solidFill>
                <a:latin typeface="Arial"/>
              </a:rPr>
              <a:t>Rhea, a student of Hamilton, did the codification and wrote The Dow Theory.</a:t>
            </a:r>
          </a:p>
        </p:txBody>
      </p:sp>
      <p:sp>
        <p:nvSpPr>
          <p:cNvPr id="10" name="Rectangle 9"/>
          <p:cNvSpPr/>
          <p:nvPr/>
        </p:nvSpPr>
        <p:spPr>
          <a:xfrm>
            <a:off x="777240" y="331571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Who was the first person to refer to Dow's concepts and ideas as the Dow Theory?</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S. A. Nelson</a:t>
            </a:r>
          </a:p>
          <a:p>
            <a:pPr algn="l">
              <a:lnSpc>
                <a:spcPct val="115000"/>
              </a:lnSpc>
              <a:spcBef>
                <a:spcPts val="700"/>
              </a:spcBef>
              <a:spcAft>
                <a:spcPts val="0"/>
              </a:spcAft>
            </a:pPr>
            <a:r>
              <a:rPr sz="1600" b="0" i="0">
                <a:solidFill>
                  <a:srgbClr val="1A1A1A"/>
                </a:solidFill>
                <a:latin typeface="Arial"/>
              </a:rPr>
              <a:t>Nelson, a close acquaintance, named it in The ABC of Stock Speculation.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Check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Rhea built the theory on three assumptions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6 of 13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The primary trend is not susceptible to manipulation.</a:t>
            </a:r>
          </a:p>
          <a:p>
            <a:pPr algn="l">
              <a:lnSpc>
                <a:spcPct val="118000"/>
              </a:lnSpc>
              <a:spcBef>
                <a:spcPts val="0"/>
              </a:spcBef>
              <a:spcAft>
                <a:spcPts val="1300"/>
              </a:spcAft>
            </a:pPr>
            <a:r>
              <a:rPr sz="2100" b="0" i="0">
                <a:solidFill>
                  <a:srgbClr val="1A1A1A"/>
                </a:solidFill>
                <a:latin typeface="Arial"/>
              </a:rPr>
              <a:t>2.  The averages discount everything. Price reflects all information.</a:t>
            </a:r>
          </a:p>
          <a:p>
            <a:pPr algn="l">
              <a:lnSpc>
                <a:spcPct val="118000"/>
              </a:lnSpc>
              <a:spcBef>
                <a:spcPts val="0"/>
              </a:spcBef>
              <a:spcAft>
                <a:spcPts val="1300"/>
              </a:spcAft>
            </a:pPr>
            <a:r>
              <a:rPr sz="2100" b="0" i="0">
                <a:solidFill>
                  <a:srgbClr val="1A1A1A"/>
                </a:solidFill>
                <a:latin typeface="Arial"/>
              </a:rPr>
              <a:t>3.  Dow Theory is not perfect. It will not guarantee profitability.</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At most, Rhea said, treat it as a set of guidelines for investing.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primary trend is not susceptible to manipulation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Rhea's first assumption. The long movement of a market is too big for anyone to push around, though a shorter stretch of it might be.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One large buyer can move a small listed company for a week. Rhea's claim is that nobody can hold a whole market up for two years.</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Rhea's first assumption is that the primary trend is not susceptible to manipulation, although there is a possibility that manipulation could occur over the shorter term.</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7 of 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Dow Theory is not perfect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Rhea's third assumption. Investing by these principles will not guarantee that you make money.</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theory can tell you the primary trend is up. It cannot tell you this particular trade will profit.</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Rhea's third assumption is that Dow Theory itself is not perfect and that investing according to its principles will not guarantee profitability. At most it should be regarded as a set of guidelines for investing.</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8 of 13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Rhea's assumptions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33972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One of Rhea's basic assumptions was:</a:t>
            </a:r>
          </a:p>
        </p:txBody>
      </p:sp>
      <p:sp>
        <p:nvSpPr>
          <p:cNvPr id="9" name="TextBox 8"/>
          <p:cNvSpPr txBox="1"/>
          <p:nvPr/>
        </p:nvSpPr>
        <p:spPr>
          <a:xfrm>
            <a:off x="1051560"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averages do not discount everything</a:t>
            </a:r>
          </a:p>
          <a:p>
            <a:pPr algn="l">
              <a:lnSpc>
                <a:spcPct val="112000"/>
              </a:lnSpc>
              <a:spcBef>
                <a:spcPts val="0"/>
              </a:spcBef>
              <a:spcAft>
                <a:spcPts val="900"/>
              </a:spcAft>
            </a:pPr>
            <a:r>
              <a:rPr sz="1500" b="0" i="0">
                <a:solidFill>
                  <a:srgbClr val="FFFFFF"/>
                </a:solidFill>
                <a:latin typeface="Arial"/>
              </a:rPr>
              <a:t>B.  That Dow Theory itself is perfect</a:t>
            </a:r>
          </a:p>
          <a:p>
            <a:pPr algn="l">
              <a:lnSpc>
                <a:spcPct val="112000"/>
              </a:lnSpc>
              <a:spcBef>
                <a:spcPts val="0"/>
              </a:spcBef>
              <a:spcAft>
                <a:spcPts val="900"/>
              </a:spcAft>
            </a:pPr>
            <a:r>
              <a:rPr sz="1500" b="0" i="0">
                <a:solidFill>
                  <a:srgbClr val="FFFFFF"/>
                </a:solidFill>
                <a:latin typeface="Arial"/>
              </a:rPr>
              <a:t>C.  That the markets are efficient</a:t>
            </a:r>
          </a:p>
          <a:p>
            <a:pPr algn="l">
              <a:lnSpc>
                <a:spcPct val="112000"/>
              </a:lnSpc>
              <a:spcBef>
                <a:spcPts val="0"/>
              </a:spcBef>
              <a:spcAft>
                <a:spcPts val="900"/>
              </a:spcAft>
            </a:pPr>
            <a:r>
              <a:rPr sz="1500" b="0" i="0">
                <a:solidFill>
                  <a:srgbClr val="FFFFFF"/>
                </a:solidFill>
                <a:latin typeface="Arial"/>
              </a:rPr>
              <a:t>D.  The primary trend is not susceptible to manipulation</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According to Rhea, Dow Theory should at most be regarded as:</a:t>
            </a:r>
          </a:p>
        </p:txBody>
      </p:sp>
      <p:sp>
        <p:nvSpPr>
          <p:cNvPr id="13" name="TextBox 12"/>
          <p:cNvSpPr txBox="1"/>
          <p:nvPr/>
        </p:nvSpPr>
        <p:spPr>
          <a:xfrm>
            <a:off x="6690207"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guaranteed method of making a profit</a:t>
            </a:r>
          </a:p>
          <a:p>
            <a:pPr algn="l">
              <a:lnSpc>
                <a:spcPct val="112000"/>
              </a:lnSpc>
              <a:spcBef>
                <a:spcPts val="0"/>
              </a:spcBef>
              <a:spcAft>
                <a:spcPts val="900"/>
              </a:spcAft>
            </a:pPr>
            <a:r>
              <a:rPr sz="1500" b="0" i="0">
                <a:solidFill>
                  <a:srgbClr val="FFFFFF"/>
                </a:solidFill>
                <a:latin typeface="Arial"/>
              </a:rPr>
              <a:t>B.  A set of guidelines for investing</a:t>
            </a:r>
          </a:p>
          <a:p>
            <a:pPr algn="l">
              <a:lnSpc>
                <a:spcPct val="112000"/>
              </a:lnSpc>
              <a:spcBef>
                <a:spcPts val="0"/>
              </a:spcBef>
              <a:spcAft>
                <a:spcPts val="900"/>
              </a:spcAft>
            </a:pPr>
            <a:r>
              <a:rPr sz="1500" b="0" i="0">
                <a:solidFill>
                  <a:srgbClr val="FFFFFF"/>
                </a:solidFill>
                <a:latin typeface="Arial"/>
              </a:rPr>
              <a:t>C.  A mathematical model of price</a:t>
            </a:r>
          </a:p>
          <a:p>
            <a:pPr algn="l">
              <a:lnSpc>
                <a:spcPct val="112000"/>
              </a:lnSpc>
              <a:spcBef>
                <a:spcPts val="0"/>
              </a:spcBef>
              <a:spcAft>
                <a:spcPts val="900"/>
              </a:spcAft>
            </a:pPr>
            <a:r>
              <a:rPr sz="1500" b="0" i="0">
                <a:solidFill>
                  <a:srgbClr val="FFFFFF"/>
                </a:solidFill>
                <a:latin typeface="Arial"/>
              </a:rPr>
              <a:t>D.  A replacement for fundamental analysis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 of 6 - Origins  |  Check 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Rhea's assumptions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One of Rhea's basic assumptions was: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The primary trend is not susceptible to manipulation</a:t>
            </a:r>
          </a:p>
          <a:p>
            <a:pPr algn="l">
              <a:lnSpc>
                <a:spcPct val="115000"/>
              </a:lnSpc>
              <a:spcBef>
                <a:spcPts val="700"/>
              </a:spcBef>
              <a:spcAft>
                <a:spcPts val="0"/>
              </a:spcAft>
            </a:pPr>
            <a:r>
              <a:rPr sz="1600" b="0" i="0">
                <a:solidFill>
                  <a:srgbClr val="1A1A1A"/>
                </a:solidFill>
                <a:latin typeface="Arial"/>
              </a:rPr>
              <a:t>Rhea's first assumption. Manipulation is possible only over the shorter term.</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According to Rhea, Dow Theory should at most be regarded as:</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A set of guidelines for investing</a:t>
            </a:r>
          </a:p>
          <a:p>
            <a:pPr algn="l">
              <a:lnSpc>
                <a:spcPct val="115000"/>
              </a:lnSpc>
              <a:spcBef>
                <a:spcPts val="700"/>
              </a:spcBef>
              <a:spcAft>
                <a:spcPts val="0"/>
              </a:spcAft>
            </a:pPr>
            <a:r>
              <a:rPr sz="1600" b="0" i="0">
                <a:solidFill>
                  <a:srgbClr val="1A1A1A"/>
                </a:solidFill>
                <a:latin typeface="Arial"/>
              </a:rPr>
              <a:t>Rhea's third assumption says the theory is not perfect and guarantees nothing.</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Check 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1884: eleven stocks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9 of 13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In 1884 Dow published a stock market average of 11 stocks.</a:t>
            </a:r>
          </a:p>
          <a:p>
            <a:pPr algn="l">
              <a:lnSpc>
                <a:spcPct val="118000"/>
              </a:lnSpc>
              <a:spcBef>
                <a:spcPts val="0"/>
              </a:spcBef>
              <a:spcAft>
                <a:spcPts val="1300"/>
              </a:spcAft>
            </a:pPr>
            <a:r>
              <a:rPr sz="2100" b="0" i="0">
                <a:solidFill>
                  <a:srgbClr val="1A1A1A"/>
                </a:solidFill>
                <a:latin typeface="Arial"/>
              </a:rPr>
              <a:t>He later developed it into a 12 stock Industrial Index and a 20 stock Railroad Average.</a:t>
            </a:r>
          </a:p>
        </p:txBody>
      </p:sp>
      <p:sp>
        <p:nvSpPr>
          <p:cNvPr id="8" name="Rectangle 7"/>
          <p:cNvSpPr/>
          <p:nvPr/>
        </p:nvSpPr>
        <p:spPr>
          <a:xfrm>
            <a:off x="777240" y="358673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He wanted a number for the market, not a number for one company.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A stock market average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One number that stands for a group of companies, so you can talk about what the market did rather than what one share did.</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PSEi is the same idea: one number that moves with thirty listed companies at once.</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stock market average is an index of stocks created to better reflect the general action of the markets, instead of gauging market behavior through individual stock action.</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10 of 13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One share, and the average of several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11 of 13</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a.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A - FIN1209 teaching chart, drawn for this course. Illustrative data, not a real instrument.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Dow wanted the average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12 of 13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Individual stock action at the time was fairly erratic and open to manipulation.</a:t>
            </a:r>
          </a:p>
          <a:p>
            <a:pPr algn="l">
              <a:lnSpc>
                <a:spcPct val="118000"/>
              </a:lnSpc>
              <a:spcBef>
                <a:spcPts val="0"/>
              </a:spcBef>
              <a:spcAft>
                <a:spcPts val="1300"/>
              </a:spcAft>
            </a:pPr>
            <a:r>
              <a:rPr sz="2100" b="0" i="0">
                <a:solidFill>
                  <a:srgbClr val="1A1A1A"/>
                </a:solidFill>
                <a:latin typeface="Arial"/>
              </a:rPr>
              <a:t>The index was meant to average out or smooth those erratic price movements.</a:t>
            </a:r>
          </a:p>
          <a:p>
            <a:pPr algn="l">
              <a:lnSpc>
                <a:spcPct val="118000"/>
              </a:lnSpc>
              <a:spcBef>
                <a:spcPts val="0"/>
              </a:spcBef>
              <a:spcAft>
                <a:spcPts val="1300"/>
              </a:spcAft>
            </a:pPr>
            <a:r>
              <a:rPr sz="2100" b="0" i="0">
                <a:solidFill>
                  <a:srgbClr val="1A1A1A"/>
                </a:solidFill>
                <a:latin typeface="Arial"/>
              </a:rPr>
              <a:t>The action of the averages was meant to act as a barometer of the market environment.</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Barometer is the word to hold on to. It reads the weather. It does not make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those two averages are called now</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13 of 13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12 stock Industrial Index has gradually evolved into 30 stocks.</a:t>
            </a:r>
          </a:p>
          <a:p>
            <a:pPr algn="l">
              <a:lnSpc>
                <a:spcPct val="118000"/>
              </a:lnSpc>
              <a:spcBef>
                <a:spcPts val="0"/>
              </a:spcBef>
              <a:spcAft>
                <a:spcPts val="1300"/>
              </a:spcAft>
            </a:pPr>
            <a:r>
              <a:rPr sz="2100" b="0" i="0">
                <a:solidFill>
                  <a:srgbClr val="1A1A1A"/>
                </a:solidFill>
                <a:latin typeface="Arial"/>
              </a:rPr>
              <a:t>It is known today as the Dow Jones Industrial Average.</a:t>
            </a:r>
          </a:p>
          <a:p>
            <a:pPr algn="l">
              <a:lnSpc>
                <a:spcPct val="118000"/>
              </a:lnSpc>
              <a:spcBef>
                <a:spcPts val="0"/>
              </a:spcBef>
              <a:spcAft>
                <a:spcPts val="1300"/>
              </a:spcAft>
            </a:pPr>
            <a:r>
              <a:rPr sz="2100" b="0" i="0">
                <a:solidFill>
                  <a:srgbClr val="1A1A1A"/>
                </a:solidFill>
                <a:latin typeface="Arial"/>
              </a:rPr>
              <a:t>The Railroad Average is known today as the Dow Jones Transportation Average.</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Two averages. In Part 6 they will have to agree with each other.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3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The averages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Dow published his first stock market average in 1884. How many stocks were in it?</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Eleven</a:t>
            </a:r>
          </a:p>
          <a:p>
            <a:pPr algn="l">
              <a:lnSpc>
                <a:spcPct val="112000"/>
              </a:lnSpc>
              <a:spcBef>
                <a:spcPts val="0"/>
              </a:spcBef>
              <a:spcAft>
                <a:spcPts val="900"/>
              </a:spcAft>
            </a:pPr>
            <a:r>
              <a:rPr sz="1500" b="0" i="0">
                <a:solidFill>
                  <a:srgbClr val="FFFFFF"/>
                </a:solidFill>
                <a:latin typeface="Arial"/>
              </a:rPr>
              <a:t>B.  Twelve</a:t>
            </a:r>
          </a:p>
          <a:p>
            <a:pPr algn="l">
              <a:lnSpc>
                <a:spcPct val="112000"/>
              </a:lnSpc>
              <a:spcBef>
                <a:spcPts val="0"/>
              </a:spcBef>
              <a:spcAft>
                <a:spcPts val="900"/>
              </a:spcAft>
            </a:pPr>
            <a:r>
              <a:rPr sz="1500" b="0" i="0">
                <a:solidFill>
                  <a:srgbClr val="FFFFFF"/>
                </a:solidFill>
                <a:latin typeface="Arial"/>
              </a:rPr>
              <a:t>C.  Twenty</a:t>
            </a:r>
          </a:p>
          <a:p>
            <a:pPr algn="l">
              <a:lnSpc>
                <a:spcPct val="112000"/>
              </a:lnSpc>
              <a:spcBef>
                <a:spcPts val="0"/>
              </a:spcBef>
              <a:spcAft>
                <a:spcPts val="900"/>
              </a:spcAft>
            </a:pPr>
            <a:r>
              <a:rPr sz="1500" b="0" i="0">
                <a:solidFill>
                  <a:srgbClr val="FFFFFF"/>
                </a:solidFill>
                <a:latin typeface="Arial"/>
              </a:rPr>
              <a:t>D.  Thirty</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The Railroad Average is known today as:</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12 stock Industrial Index</a:t>
            </a:r>
          </a:p>
          <a:p>
            <a:pPr algn="l">
              <a:lnSpc>
                <a:spcPct val="112000"/>
              </a:lnSpc>
              <a:spcBef>
                <a:spcPts val="0"/>
              </a:spcBef>
              <a:spcAft>
                <a:spcPts val="900"/>
              </a:spcAft>
            </a:pPr>
            <a:r>
              <a:rPr sz="1500" b="0" i="0">
                <a:solidFill>
                  <a:srgbClr val="FFFFFF"/>
                </a:solidFill>
                <a:latin typeface="Arial"/>
              </a:rPr>
              <a:t>B.  The Dow Jones Industrial Average</a:t>
            </a:r>
          </a:p>
          <a:p>
            <a:pPr algn="l">
              <a:lnSpc>
                <a:spcPct val="112000"/>
              </a:lnSpc>
              <a:spcBef>
                <a:spcPts val="0"/>
              </a:spcBef>
              <a:spcAft>
                <a:spcPts val="900"/>
              </a:spcAft>
            </a:pPr>
            <a:r>
              <a:rPr sz="1500" b="0" i="0">
                <a:solidFill>
                  <a:srgbClr val="FFFFFF"/>
                </a:solidFill>
                <a:latin typeface="Arial"/>
              </a:rPr>
              <a:t>C.  The Dow Jones Transportation Average</a:t>
            </a:r>
          </a:p>
          <a:p>
            <a:pPr algn="l">
              <a:lnSpc>
                <a:spcPct val="112000"/>
              </a:lnSpc>
              <a:spcBef>
                <a:spcPts val="0"/>
              </a:spcBef>
              <a:spcAft>
                <a:spcPts val="900"/>
              </a:spcAft>
            </a:pPr>
            <a:r>
              <a:rPr sz="1500" b="0" i="0">
                <a:solidFill>
                  <a:srgbClr val="FFFFFF"/>
                </a:solidFill>
                <a:latin typeface="Arial"/>
              </a:rPr>
              <a:t>D.  The 11 stock average of 1884</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 of 6 - Origins  |  Check 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The averages</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Dow published his first stock market average in 1884. How many stocks were in it?</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Eleven</a:t>
            </a:r>
          </a:p>
          <a:p>
            <a:pPr algn="l">
              <a:lnSpc>
                <a:spcPct val="115000"/>
              </a:lnSpc>
              <a:spcBef>
                <a:spcPts val="700"/>
              </a:spcBef>
              <a:spcAft>
                <a:spcPts val="0"/>
              </a:spcAft>
            </a:pPr>
            <a:r>
              <a:rPr sz="1600" b="0" i="0">
                <a:solidFill>
                  <a:srgbClr val="1A1A1A"/>
                </a:solidFill>
                <a:latin typeface="Arial"/>
              </a:rPr>
              <a:t>Eleven in 1884. Twelve industrials and twenty railroads came later, and thirty is the modern industrial count.</a:t>
            </a:r>
          </a:p>
        </p:txBody>
      </p:sp>
      <p:sp>
        <p:nvSpPr>
          <p:cNvPr id="10" name="Rectangle 9"/>
          <p:cNvSpPr/>
          <p:nvPr/>
        </p:nvSpPr>
        <p:spPr>
          <a:xfrm>
            <a:off x="777240" y="331571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The Railroad Average is known today as:</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The Dow Jones Transportation Average</a:t>
            </a:r>
          </a:p>
          <a:p>
            <a:pPr algn="l">
              <a:lnSpc>
                <a:spcPct val="115000"/>
              </a:lnSpc>
              <a:spcBef>
                <a:spcPts val="700"/>
              </a:spcBef>
              <a:spcAft>
                <a:spcPts val="0"/>
              </a:spcAft>
            </a:pPr>
            <a:r>
              <a:rPr sz="1600" b="0" i="0">
                <a:solidFill>
                  <a:srgbClr val="1A1A1A"/>
                </a:solidFill>
                <a:latin typeface="Arial"/>
              </a:rPr>
              <a:t>The Railroad Average became the Dow Jones Transportation Average.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Check 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Dow Theory, and that Dow never published it</a:t>
            </a:r>
          </a:p>
          <a:p>
            <a:pPr algn="l" marL="237744" indent="-237744">
              <a:lnSpc>
                <a:spcPct val="112000"/>
              </a:lnSpc>
              <a:spcBef>
                <a:spcPts val="0"/>
              </a:spcBef>
              <a:spcAft>
                <a:spcPts val="1200"/>
              </a:spcAft>
            </a:pPr>
            <a:r>
              <a:rPr sz="1800" b="0" i="0">
                <a:solidFill>
                  <a:srgbClr val="1A1A1A"/>
                </a:solidFill>
                <a:latin typeface="Arial"/>
              </a:rPr>
              <a:t>▪  Dow, Hamilton, Nelson and Rhea, and their three books</a:t>
            </a:r>
          </a:p>
          <a:p>
            <a:pPr algn="l" marL="237744" indent="-237744">
              <a:lnSpc>
                <a:spcPct val="112000"/>
              </a:lnSpc>
              <a:spcBef>
                <a:spcPts val="0"/>
              </a:spcBef>
              <a:spcAft>
                <a:spcPts val="1200"/>
              </a:spcAft>
            </a:pPr>
            <a:r>
              <a:rPr sz="1800" b="0" i="0">
                <a:solidFill>
                  <a:srgbClr val="1A1A1A"/>
                </a:solidFill>
                <a:latin typeface="Arial"/>
              </a:rPr>
              <a:t>▪  Rhea's three assumptions</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A stock market average, and why Dow wanted one</a:t>
            </a:r>
          </a:p>
          <a:p>
            <a:pPr algn="l" marL="237744" indent="-237744">
              <a:lnSpc>
                <a:spcPct val="112000"/>
              </a:lnSpc>
              <a:spcBef>
                <a:spcPts val="0"/>
              </a:spcBef>
              <a:spcAft>
                <a:spcPts val="1200"/>
              </a:spcAft>
            </a:pPr>
            <a:r>
              <a:rPr sz="1800" b="0" i="0">
                <a:solidFill>
                  <a:srgbClr val="1A1A1A"/>
                </a:solidFill>
                <a:latin typeface="Arial"/>
              </a:rPr>
              <a:t>▪  The Industrial Average and the Transportation Average</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recap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2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The Six Tenets, and the First One</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The six basic tenets of Dow Theory, which is the list the paper asks for.</a:t>
            </a:r>
          </a:p>
          <a:p>
            <a:pPr algn="l">
              <a:lnSpc>
                <a:spcPct val="115000"/>
              </a:lnSpc>
              <a:spcBef>
                <a:spcPts val="0"/>
              </a:spcBef>
              <a:spcAft>
                <a:spcPts val="1000"/>
              </a:spcAft>
            </a:pPr>
            <a:r>
              <a:rPr sz="1900" b="0" i="0">
                <a:solidFill>
                  <a:srgbClr val="FFFFFF"/>
                </a:solidFill>
                <a:latin typeface="Arial"/>
              </a:rPr>
              <a:t>What it means to say the averages discount everything.</a:t>
            </a:r>
          </a:p>
          <a:p>
            <a:pPr algn="l">
              <a:lnSpc>
                <a:spcPct val="115000"/>
              </a:lnSpc>
              <a:spcBef>
                <a:spcPts val="0"/>
              </a:spcBef>
              <a:spcAft>
                <a:spcPts val="1000"/>
              </a:spcAft>
            </a:pPr>
            <a:r>
              <a:rPr sz="1900" b="0" i="0">
                <a:solidFill>
                  <a:srgbClr val="FFFFFF"/>
                </a:solidFill>
                <a:latin typeface="Arial"/>
              </a:rPr>
              <a:t>The one price Dow Theory keeps, and everything it throws away.</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20 minutes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six basic tenets of Dow Theory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1 of 12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The averages discount everything.</a:t>
            </a:r>
          </a:p>
          <a:p>
            <a:pPr algn="l">
              <a:lnSpc>
                <a:spcPct val="118000"/>
              </a:lnSpc>
              <a:spcBef>
                <a:spcPts val="0"/>
              </a:spcBef>
              <a:spcAft>
                <a:spcPts val="1300"/>
              </a:spcAft>
            </a:pPr>
            <a:r>
              <a:rPr sz="2100" b="0" i="0">
                <a:solidFill>
                  <a:srgbClr val="1A1A1A"/>
                </a:solidFill>
                <a:latin typeface="Arial"/>
              </a:rPr>
              <a:t>2.  The market has three trends.</a:t>
            </a:r>
          </a:p>
          <a:p>
            <a:pPr algn="l">
              <a:lnSpc>
                <a:spcPct val="118000"/>
              </a:lnSpc>
              <a:spcBef>
                <a:spcPts val="0"/>
              </a:spcBef>
              <a:spcAft>
                <a:spcPts val="1300"/>
              </a:spcAft>
            </a:pPr>
            <a:r>
              <a:rPr sz="2100" b="0" i="0">
                <a:solidFill>
                  <a:srgbClr val="1A1A1A"/>
                </a:solidFill>
                <a:latin typeface="Arial"/>
              </a:rPr>
              <a:t>3.  Primary trends have three phases.</a:t>
            </a:r>
          </a:p>
          <a:p>
            <a:pPr algn="l">
              <a:lnSpc>
                <a:spcPct val="118000"/>
              </a:lnSpc>
              <a:spcBef>
                <a:spcPts val="0"/>
              </a:spcBef>
              <a:spcAft>
                <a:spcPts val="1300"/>
              </a:spcAft>
            </a:pPr>
            <a:r>
              <a:rPr sz="2100" b="0" i="0">
                <a:solidFill>
                  <a:srgbClr val="1A1A1A"/>
                </a:solidFill>
                <a:latin typeface="Arial"/>
              </a:rPr>
              <a:t>4.  A trend persists until its reversal is indicated.</a:t>
            </a:r>
          </a:p>
          <a:p>
            <a:pPr algn="l">
              <a:lnSpc>
                <a:spcPct val="118000"/>
              </a:lnSpc>
              <a:spcBef>
                <a:spcPts val="0"/>
              </a:spcBef>
              <a:spcAft>
                <a:spcPts val="1300"/>
              </a:spcAft>
            </a:pPr>
            <a:r>
              <a:rPr sz="2100" b="0" i="0">
                <a:solidFill>
                  <a:srgbClr val="1A1A1A"/>
                </a:solidFill>
                <a:latin typeface="Arial"/>
              </a:rPr>
              <a:t>5.  The averages must confirm one another.</a:t>
            </a:r>
          </a:p>
          <a:p>
            <a:pPr algn="l">
              <a:lnSpc>
                <a:spcPct val="118000"/>
              </a:lnSpc>
              <a:spcBef>
                <a:spcPts val="0"/>
              </a:spcBef>
              <a:spcAft>
                <a:spcPts val="1300"/>
              </a:spcAft>
            </a:pPr>
            <a:r>
              <a:rPr sz="2100" b="0" i="0">
                <a:solidFill>
                  <a:srgbClr val="1A1A1A"/>
                </a:solidFill>
                <a:latin typeface="Arial"/>
              </a:rPr>
              <a:t>6.  Volume must confirm the trend.</a:t>
            </a:r>
          </a:p>
        </p:txBody>
      </p:sp>
      <p:sp>
        <p:nvSpPr>
          <p:cNvPr id="8" name="TextBox 7"/>
          <p:cNvSpPr txBox="1"/>
          <p:nvPr/>
        </p:nvSpPr>
        <p:spPr>
          <a:xfrm>
            <a:off x="777240" y="5262371"/>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Learn this list. Parts 2 to 6 take them one at a time, in order. There is no gold line on this slide because all six of them matter.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And one more rule that is not on the list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2 of 12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In addition to the six basic tenets, only closing prices are recognized in Dow Theory.</a:t>
            </a:r>
          </a:p>
        </p:txBody>
      </p:sp>
      <p:sp>
        <p:nvSpPr>
          <p:cNvPr id="8" name="Rectangle 7"/>
          <p:cNvSpPr/>
          <p:nvPr/>
        </p:nvSpPr>
        <p:spPr>
          <a:xfrm>
            <a:off x="777240" y="3089147"/>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125723"/>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Six tenets, plus that. The book states it separately, so we will too.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4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The six tenets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158115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Pick the statements below that represent the tenets of Dow Theory. I. The averages discount everything. II. The market has three trends. III. All trends have three phases. IV. Volume must confirm the trend.</a:t>
            </a:r>
          </a:p>
        </p:txBody>
      </p:sp>
      <p:sp>
        <p:nvSpPr>
          <p:cNvPr id="9" name="TextBox 8"/>
          <p:cNvSpPr txBox="1"/>
          <p:nvPr/>
        </p:nvSpPr>
        <p:spPr>
          <a:xfrm>
            <a:off x="1051560" y="351967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Only I and III</a:t>
            </a:r>
          </a:p>
          <a:p>
            <a:pPr algn="l">
              <a:lnSpc>
                <a:spcPct val="112000"/>
              </a:lnSpc>
              <a:spcBef>
                <a:spcPts val="0"/>
              </a:spcBef>
              <a:spcAft>
                <a:spcPts val="900"/>
              </a:spcAft>
            </a:pPr>
            <a:r>
              <a:rPr sz="1500" b="0" i="0">
                <a:solidFill>
                  <a:srgbClr val="FFFFFF"/>
                </a:solidFill>
                <a:latin typeface="Arial"/>
              </a:rPr>
              <a:t>B.  Only III and IV</a:t>
            </a:r>
          </a:p>
          <a:p>
            <a:pPr algn="l">
              <a:lnSpc>
                <a:spcPct val="112000"/>
              </a:lnSpc>
              <a:spcBef>
                <a:spcPts val="0"/>
              </a:spcBef>
              <a:spcAft>
                <a:spcPts val="900"/>
              </a:spcAft>
            </a:pPr>
            <a:r>
              <a:rPr sz="1500" b="0" i="0">
                <a:solidFill>
                  <a:srgbClr val="FFFFFF"/>
                </a:solidFill>
                <a:latin typeface="Arial"/>
              </a:rPr>
              <a:t>C.  Only I, II and IV</a:t>
            </a:r>
          </a:p>
          <a:p>
            <a:pPr algn="l">
              <a:lnSpc>
                <a:spcPct val="112000"/>
              </a:lnSpc>
              <a:spcBef>
                <a:spcPts val="0"/>
              </a:spcBef>
              <a:spcAft>
                <a:spcPts val="900"/>
              </a:spcAft>
            </a:pPr>
            <a:r>
              <a:rPr sz="1500" b="0" i="0">
                <a:solidFill>
                  <a:srgbClr val="FFFFFF"/>
                </a:solidFill>
                <a:latin typeface="Arial"/>
              </a:rPr>
              <a:t>D.  All are correct</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addition to the six basic tenets, Dow Theory recognizes:</a:t>
            </a:r>
          </a:p>
        </p:txBody>
      </p:sp>
      <p:sp>
        <p:nvSpPr>
          <p:cNvPr id="13" name="TextBox 12"/>
          <p:cNvSpPr txBox="1"/>
          <p:nvPr/>
        </p:nvSpPr>
        <p:spPr>
          <a:xfrm>
            <a:off x="6690207" y="351967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Only opening prices</a:t>
            </a:r>
          </a:p>
          <a:p>
            <a:pPr algn="l">
              <a:lnSpc>
                <a:spcPct val="112000"/>
              </a:lnSpc>
              <a:spcBef>
                <a:spcPts val="0"/>
              </a:spcBef>
              <a:spcAft>
                <a:spcPts val="900"/>
              </a:spcAft>
            </a:pPr>
            <a:r>
              <a:rPr sz="1500" b="0" i="0">
                <a:solidFill>
                  <a:srgbClr val="FFFFFF"/>
                </a:solidFill>
                <a:latin typeface="Arial"/>
              </a:rPr>
              <a:t>B.  Only the day's high and low</a:t>
            </a:r>
          </a:p>
          <a:p>
            <a:pPr algn="l">
              <a:lnSpc>
                <a:spcPct val="112000"/>
              </a:lnSpc>
              <a:spcBef>
                <a:spcPts val="0"/>
              </a:spcBef>
              <a:spcAft>
                <a:spcPts val="900"/>
              </a:spcAft>
            </a:pPr>
            <a:r>
              <a:rPr sz="1500" b="0" i="0">
                <a:solidFill>
                  <a:srgbClr val="FFFFFF"/>
                </a:solidFill>
                <a:latin typeface="Arial"/>
              </a:rPr>
              <a:t>C.  Both opening and closing prices</a:t>
            </a:r>
          </a:p>
          <a:p>
            <a:pPr algn="l">
              <a:lnSpc>
                <a:spcPct val="112000"/>
              </a:lnSpc>
              <a:spcBef>
                <a:spcPts val="0"/>
              </a:spcBef>
              <a:spcAft>
                <a:spcPts val="900"/>
              </a:spcAft>
            </a:pPr>
            <a:r>
              <a:rPr sz="1500" b="0" i="0">
                <a:solidFill>
                  <a:srgbClr val="FFFFFF"/>
                </a:solidFill>
                <a:latin typeface="Arial"/>
              </a:rPr>
              <a:t>D.  Only closing prices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6 - Discounting  |  Check 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The six tenets</a:t>
            </a:r>
          </a:p>
        </p:txBody>
      </p:sp>
      <p:sp>
        <p:nvSpPr>
          <p:cNvPr id="6" name="Rectangle 5"/>
          <p:cNvSpPr/>
          <p:nvPr/>
        </p:nvSpPr>
        <p:spPr>
          <a:xfrm>
            <a:off x="777240" y="1207008"/>
            <a:ext cx="10637215" cy="209549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09549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79247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Pick the statements below that represent the tenets of Dow Theory. I. The averages discount everything. II. The market has three trends. III. All trends have three phases. IV. Volume must confirm the trend.</a:t>
            </a:r>
          </a:p>
        </p:txBody>
      </p:sp>
      <p:sp>
        <p:nvSpPr>
          <p:cNvPr id="9" name="TextBox 8"/>
          <p:cNvSpPr txBox="1"/>
          <p:nvPr/>
        </p:nvSpPr>
        <p:spPr>
          <a:xfrm>
            <a:off x="1143000" y="240182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Only I, II and IV</a:t>
            </a:r>
          </a:p>
          <a:p>
            <a:pPr algn="l">
              <a:lnSpc>
                <a:spcPct val="115000"/>
              </a:lnSpc>
              <a:spcBef>
                <a:spcPts val="700"/>
              </a:spcBef>
              <a:spcAft>
                <a:spcPts val="0"/>
              </a:spcAft>
            </a:pPr>
            <a:r>
              <a:rPr sz="1600" b="0" i="0">
                <a:solidFill>
                  <a:srgbClr val="1A1A1A"/>
                </a:solidFill>
                <a:latin typeface="Arial"/>
              </a:rPr>
              <a:t>Statement III overstates it. The tenet is that primary trends have three phases, not all trends.</a:t>
            </a:r>
          </a:p>
        </p:txBody>
      </p:sp>
      <p:sp>
        <p:nvSpPr>
          <p:cNvPr id="10" name="Rectangle 9"/>
          <p:cNvSpPr/>
          <p:nvPr/>
        </p:nvSpPr>
        <p:spPr>
          <a:xfrm>
            <a:off x="777240" y="354939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54939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78714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In addition to the six basic tenets, Dow Theory recognizes:</a:t>
            </a:r>
          </a:p>
        </p:txBody>
      </p:sp>
      <p:sp>
        <p:nvSpPr>
          <p:cNvPr id="13" name="TextBox 12"/>
          <p:cNvSpPr txBox="1"/>
          <p:nvPr/>
        </p:nvSpPr>
        <p:spPr>
          <a:xfrm>
            <a:off x="1143000" y="427685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Only closing prices</a:t>
            </a:r>
          </a:p>
          <a:p>
            <a:pPr algn="l">
              <a:lnSpc>
                <a:spcPct val="115000"/>
              </a:lnSpc>
              <a:spcBef>
                <a:spcPts val="700"/>
              </a:spcBef>
              <a:spcAft>
                <a:spcPts val="0"/>
              </a:spcAft>
            </a:pPr>
            <a:r>
              <a:rPr sz="1600" b="0" i="0">
                <a:solidFill>
                  <a:srgbClr val="1A1A1A"/>
                </a:solidFill>
                <a:latin typeface="Arial"/>
              </a:rPr>
              <a:t>The book states it separately from the six: only closing prices are recognized.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Check 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averages discount everything</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market has already priced in everything anybody knows. What you see is the sum of what every participant did about what they knew.</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By the time good results are on the evening news, the people acting on them have already bought. The price moved before the bulletin.</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first tenet: the market is the end result of all participatory action, which represents all information that may be known to the markets.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3 of 12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information gets into the price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4 of 12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mechanism is participation: somebody puts capital in, or takes it out.</a:t>
            </a:r>
          </a:p>
          <a:p>
            <a:pPr algn="l">
              <a:lnSpc>
                <a:spcPct val="118000"/>
              </a:lnSpc>
              <a:spcBef>
                <a:spcPts val="0"/>
              </a:spcBef>
              <a:spcAft>
                <a:spcPts val="1300"/>
              </a:spcAft>
            </a:pPr>
            <a:r>
              <a:rPr sz="2100" b="0" i="0">
                <a:solidFill>
                  <a:srgbClr val="1A1A1A"/>
                </a:solidFill>
                <a:latin typeface="Arial"/>
              </a:rPr>
              <a:t>Information nobody acts on has not reached the market at all.</a:t>
            </a:r>
          </a:p>
        </p:txBody>
      </p:sp>
      <p:sp>
        <p:nvSpPr>
          <p:cNvPr id="8" name="Rectangle 7"/>
          <p:cNvSpPr/>
          <p:nvPr/>
        </p:nvSpPr>
        <p:spPr>
          <a:xfrm>
            <a:off x="777240" y="3272028"/>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308604"/>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price is not what people think. It is what they did about what they think.</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Four things discounting does not require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5 of 12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It need not be instantaneous.</a:t>
            </a:r>
          </a:p>
          <a:p>
            <a:pPr algn="l">
              <a:lnSpc>
                <a:spcPct val="118000"/>
              </a:lnSpc>
              <a:spcBef>
                <a:spcPts val="0"/>
              </a:spcBef>
              <a:spcAft>
                <a:spcPts val="1300"/>
              </a:spcAft>
            </a:pPr>
            <a:r>
              <a:rPr sz="2100" b="0" i="0">
                <a:solidFill>
                  <a:srgbClr val="1A1A1A"/>
                </a:solidFill>
                <a:latin typeface="Arial"/>
              </a:rPr>
              <a:t>It need not be driven by rational participants.</a:t>
            </a:r>
          </a:p>
          <a:p>
            <a:pPr algn="l">
              <a:lnSpc>
                <a:spcPct val="118000"/>
              </a:lnSpc>
              <a:spcBef>
                <a:spcPts val="0"/>
              </a:spcBef>
              <a:spcAft>
                <a:spcPts val="1300"/>
              </a:spcAft>
            </a:pPr>
            <a:r>
              <a:rPr sz="2100" b="0" i="0">
                <a:solidFill>
                  <a:srgbClr val="1A1A1A"/>
                </a:solidFill>
                <a:latin typeface="Arial"/>
              </a:rPr>
              <a:t>Participants need not act on all information all of the time.</a:t>
            </a:r>
          </a:p>
          <a:p>
            <a:pPr algn="l">
              <a:lnSpc>
                <a:spcPct val="118000"/>
              </a:lnSpc>
              <a:spcBef>
                <a:spcPts val="0"/>
              </a:spcBef>
              <a:spcAft>
                <a:spcPts val="1300"/>
              </a:spcAft>
            </a:pPr>
            <a:r>
              <a:rPr sz="2100" b="0" i="0">
                <a:solidFill>
                  <a:srgbClr val="1A1A1A"/>
                </a:solidFill>
                <a:latin typeface="Arial"/>
              </a:rPr>
              <a:t>They need not react in the same manner as each other.</a:t>
            </a:r>
          </a:p>
        </p:txBody>
      </p:sp>
      <p:sp>
        <p:nvSpPr>
          <p:cNvPr id="8" name="Rectangle 7"/>
          <p:cNvSpPr/>
          <p:nvPr/>
        </p:nvSpPr>
        <p:spPr>
          <a:xfrm>
            <a:off x="777240" y="426719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This is a much weaker claim than it first sounds, and that is deliberate.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Acts of God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one thing the market cannot discount: an event nobody knew was coming.</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An earthquake at nine in the morning is not in yesterday's closing price. Nothing could have put it there.</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market discounts everything except acts of God, that is, unexpected events or unknown information. It can still absorb, react and adjust to such shocks fairly rapidly.</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6 of 12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Prices before September 11, 2001</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7 of 12</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2.1</a:t>
            </a:r>
          </a:p>
          <a:p>
            <a:pPr algn="l">
              <a:lnSpc>
                <a:spcPct val="120000"/>
              </a:lnSpc>
              <a:spcBef>
                <a:spcPts val="0"/>
              </a:spcBef>
              <a:spcAft>
                <a:spcPts val="1800"/>
              </a:spcAft>
            </a:pPr>
            <a:r>
              <a:rPr sz="2200" b="0" i="0">
                <a:solidFill>
                  <a:srgbClr val="1A1A1A"/>
                </a:solidFill>
                <a:latin typeface="Palatino"/>
              </a:rPr>
              <a:t>A daily chart of the Nasdaq 100 index through 2001, with prices already declining ahead of the September 11 event, and the question printed on the chart: is the market discounting unknown information?</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2.1 - Lim, The Handbook of Technical Analysis (Wiley, 2016)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Gold, after the same event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8 of 12</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2.2</a:t>
            </a:r>
          </a:p>
          <a:p>
            <a:pPr algn="l">
              <a:lnSpc>
                <a:spcPct val="120000"/>
              </a:lnSpc>
              <a:spcBef>
                <a:spcPts val="0"/>
              </a:spcBef>
              <a:spcAft>
                <a:spcPts val="1800"/>
              </a:spcAft>
            </a:pPr>
            <a:r>
              <a:rPr sz="2200" b="0" i="0">
                <a:solidFill>
                  <a:srgbClr val="1A1A1A"/>
                </a:solidFill>
                <a:latin typeface="Palatino"/>
              </a:rPr>
              <a:t>A daily chart of spot gold around September 2001, with the price adjusting very rapidly once the information is known, annotated as the market discounting all information once it has become known.</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2.2 - Lim, The Handbook of Technical Analysis (Wiley, 2016)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5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Discounting</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Dow Theory, the market discounts everything except:</a:t>
            </a:r>
          </a:p>
        </p:txBody>
      </p:sp>
      <p:sp>
        <p:nvSpPr>
          <p:cNvPr id="9" name="TextBox 8"/>
          <p:cNvSpPr txBox="1"/>
          <p:nvPr/>
        </p:nvSpPr>
        <p:spPr>
          <a:xfrm>
            <a:off x="1051560"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Company earnings</a:t>
            </a:r>
          </a:p>
          <a:p>
            <a:pPr algn="l">
              <a:lnSpc>
                <a:spcPct val="112000"/>
              </a:lnSpc>
              <a:spcBef>
                <a:spcPts val="0"/>
              </a:spcBef>
              <a:spcAft>
                <a:spcPts val="900"/>
              </a:spcAft>
            </a:pPr>
            <a:r>
              <a:rPr sz="1500" b="0" i="0">
                <a:solidFill>
                  <a:srgbClr val="FFFFFF"/>
                </a:solidFill>
                <a:latin typeface="Arial"/>
              </a:rPr>
              <a:t>B.  Acts of God</a:t>
            </a:r>
          </a:p>
          <a:p>
            <a:pPr algn="l">
              <a:lnSpc>
                <a:spcPct val="112000"/>
              </a:lnSpc>
              <a:spcBef>
                <a:spcPts val="0"/>
              </a:spcBef>
              <a:spcAft>
                <a:spcPts val="900"/>
              </a:spcAft>
            </a:pPr>
            <a:r>
              <a:rPr sz="1500" b="0" i="0">
                <a:solidFill>
                  <a:srgbClr val="FFFFFF"/>
                </a:solidFill>
                <a:latin typeface="Arial"/>
              </a:rPr>
              <a:t>C.  Interest rate changes</a:t>
            </a:r>
          </a:p>
          <a:p>
            <a:pPr algn="l">
              <a:lnSpc>
                <a:spcPct val="112000"/>
              </a:lnSpc>
              <a:spcBef>
                <a:spcPts val="0"/>
              </a:spcBef>
              <a:spcAft>
                <a:spcPts val="900"/>
              </a:spcAft>
            </a:pPr>
            <a:r>
              <a:rPr sz="1500" b="0" i="0">
                <a:solidFill>
                  <a:srgbClr val="FFFFFF"/>
                </a:solidFill>
                <a:latin typeface="Arial"/>
              </a:rPr>
              <a:t>D.  Government policy</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33972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As far as Dow Theory is concerned:</a:t>
            </a:r>
          </a:p>
        </p:txBody>
      </p:sp>
      <p:sp>
        <p:nvSpPr>
          <p:cNvPr id="13" name="TextBox 12"/>
          <p:cNvSpPr txBox="1"/>
          <p:nvPr/>
        </p:nvSpPr>
        <p:spPr>
          <a:xfrm>
            <a:off x="6690207"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market must discount everything instantaneously</a:t>
            </a:r>
          </a:p>
          <a:p>
            <a:pPr algn="l">
              <a:lnSpc>
                <a:spcPct val="112000"/>
              </a:lnSpc>
              <a:spcBef>
                <a:spcPts val="0"/>
              </a:spcBef>
              <a:spcAft>
                <a:spcPts val="900"/>
              </a:spcAft>
            </a:pPr>
            <a:r>
              <a:rPr sz="1500" b="0" i="0">
                <a:solidFill>
                  <a:srgbClr val="FFFFFF"/>
                </a:solidFill>
                <a:latin typeface="Arial"/>
              </a:rPr>
              <a:t>B.  The participants must be rational</a:t>
            </a:r>
          </a:p>
          <a:p>
            <a:pPr algn="l">
              <a:lnSpc>
                <a:spcPct val="112000"/>
              </a:lnSpc>
              <a:spcBef>
                <a:spcPts val="0"/>
              </a:spcBef>
              <a:spcAft>
                <a:spcPts val="900"/>
              </a:spcAft>
            </a:pPr>
            <a:r>
              <a:rPr sz="1500" b="0" i="0">
                <a:solidFill>
                  <a:srgbClr val="FFFFFF"/>
                </a:solidFill>
                <a:latin typeface="Arial"/>
              </a:rPr>
              <a:t>C.  It is not infallible</a:t>
            </a:r>
          </a:p>
          <a:p>
            <a:pPr algn="l">
              <a:lnSpc>
                <a:spcPct val="112000"/>
              </a:lnSpc>
              <a:spcBef>
                <a:spcPts val="0"/>
              </a:spcBef>
              <a:spcAft>
                <a:spcPts val="900"/>
              </a:spcAft>
            </a:pPr>
            <a:r>
              <a:rPr sz="1500" b="0" i="0">
                <a:solidFill>
                  <a:srgbClr val="FFFFFF"/>
                </a:solidFill>
                <a:latin typeface="Arial"/>
              </a:rPr>
              <a:t>D.  All participants must act on all information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6 - Discounting  |  Check 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Discounting</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In Dow Theory, the market discounts everything except:</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Acts of God</a:t>
            </a:r>
          </a:p>
          <a:p>
            <a:pPr algn="l">
              <a:lnSpc>
                <a:spcPct val="115000"/>
              </a:lnSpc>
              <a:spcBef>
                <a:spcPts val="700"/>
              </a:spcBef>
              <a:spcAft>
                <a:spcPts val="0"/>
              </a:spcAft>
            </a:pPr>
            <a:r>
              <a:rPr sz="1600" b="0" i="0">
                <a:solidFill>
                  <a:srgbClr val="1A1A1A"/>
                </a:solidFill>
                <a:latin typeface="Arial"/>
              </a:rPr>
              <a:t>Only unexpected events and unknown information escape it, and even those are absorbed quickly.</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As far as Dow Theory is concerned:</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It is not infallible</a:t>
            </a:r>
          </a:p>
          <a:p>
            <a:pPr algn="l">
              <a:lnSpc>
                <a:spcPct val="115000"/>
              </a:lnSpc>
              <a:spcBef>
                <a:spcPts val="700"/>
              </a:spcBef>
              <a:spcAft>
                <a:spcPts val="0"/>
              </a:spcAft>
            </a:pPr>
            <a:r>
              <a:rPr sz="1600" b="0" i="0">
                <a:solidFill>
                  <a:srgbClr val="1A1A1A"/>
                </a:solidFill>
                <a:latin typeface="Arial"/>
              </a:rPr>
              <a:t>Rhea's third assumption. The other three are precisely the requirements Dow Theory does not make.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Check 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analyst does with that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9 of 12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Price is the ultimate reflection and embodiment of everything that is knowable.</a:t>
            </a:r>
          </a:p>
          <a:p>
            <a:pPr algn="l">
              <a:lnSpc>
                <a:spcPct val="118000"/>
              </a:lnSpc>
              <a:spcBef>
                <a:spcPts val="0"/>
              </a:spcBef>
              <a:spcAft>
                <a:spcPts val="1300"/>
              </a:spcAft>
            </a:pPr>
            <a:r>
              <a:rPr sz="2100" b="0" i="0">
                <a:solidFill>
                  <a:srgbClr val="1A1A1A"/>
                </a:solidFill>
                <a:latin typeface="Arial"/>
              </a:rPr>
              <a:t>So the technical analyst need not be concerned with the causes of market action.</a:t>
            </a:r>
          </a:p>
          <a:p>
            <a:pPr algn="l">
              <a:lnSpc>
                <a:spcPct val="118000"/>
              </a:lnSpc>
              <a:spcBef>
                <a:spcPts val="0"/>
              </a:spcBef>
              <a:spcAft>
                <a:spcPts val="1300"/>
              </a:spcAft>
            </a:pPr>
            <a:r>
              <a:rPr sz="2100" b="0" i="0">
                <a:solidFill>
                  <a:srgbClr val="1A1A1A"/>
                </a:solidFill>
                <a:latin typeface="Arial"/>
              </a:rPr>
              <a:t>Only with the effects of the underlying causes.</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Effects, not causes. You met that in Chapter 1. Here it is again as a tenet.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Only closing prices are recognized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Whatever the price did during the day, Dow Theory uses only the number it finished at.</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share swings between 96 and 104 pesos and closes at 100. Dow Theory records 100. The eight peso swing is not recorded at all.</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Dow Theory only closing prices are recognized: regardless of how large the high and low price excursions may be on any one day, only the final closing price is used.</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10 of 12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And the size of the move does not matter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11 of 12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It does not matter how miniscule the amount is.</a:t>
            </a:r>
          </a:p>
          <a:p>
            <a:pPr algn="l">
              <a:lnSpc>
                <a:spcPct val="118000"/>
              </a:lnSpc>
              <a:spcBef>
                <a:spcPts val="0"/>
              </a:spcBef>
              <a:spcAft>
                <a:spcPts val="1300"/>
              </a:spcAft>
            </a:pPr>
            <a:r>
              <a:rPr sz="2100" b="0" i="0">
                <a:solidFill>
                  <a:srgbClr val="1A1A1A"/>
                </a:solidFill>
                <a:latin typeface="Arial"/>
              </a:rPr>
              <a:t>A close one centavo above yesterday's close is a higher close.</a:t>
            </a:r>
          </a:p>
          <a:p>
            <a:pPr algn="l">
              <a:lnSpc>
                <a:spcPct val="118000"/>
              </a:lnSpc>
              <a:spcBef>
                <a:spcPts val="0"/>
              </a:spcBef>
              <a:spcAft>
                <a:spcPts val="1300"/>
              </a:spcAft>
            </a:pPr>
            <a:r>
              <a:rPr sz="2100" b="0" i="0">
                <a:solidFill>
                  <a:srgbClr val="1A1A1A"/>
                </a:solidFill>
                <a:latin typeface="Arial"/>
              </a:rPr>
              <a:t>A close one centavo below yesterday's close is a lower close.</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test is the close, and any amount above or below it counts.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day's whole excursion, and the one number kept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12 of 12</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b.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B - FIN1209 teaching chart, drawn for this course. Illustrative data, not a real instrument.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6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Closing prices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share trades between 96 and 104 pesos during the day and closes at 100. What does Dow Theory record?</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whole range, 96 to 104</a:t>
            </a:r>
          </a:p>
          <a:p>
            <a:pPr algn="l">
              <a:lnSpc>
                <a:spcPct val="112000"/>
              </a:lnSpc>
              <a:spcBef>
                <a:spcPts val="0"/>
              </a:spcBef>
              <a:spcAft>
                <a:spcPts val="900"/>
              </a:spcAft>
            </a:pPr>
            <a:r>
              <a:rPr sz="1500" b="0" i="0">
                <a:solidFill>
                  <a:srgbClr val="FFFFFF"/>
                </a:solidFill>
                <a:latin typeface="Arial"/>
              </a:rPr>
              <a:t>B.  The high and the low, 104 and 96</a:t>
            </a:r>
          </a:p>
          <a:p>
            <a:pPr algn="l">
              <a:lnSpc>
                <a:spcPct val="112000"/>
              </a:lnSpc>
              <a:spcBef>
                <a:spcPts val="0"/>
              </a:spcBef>
              <a:spcAft>
                <a:spcPts val="900"/>
              </a:spcAft>
            </a:pPr>
            <a:r>
              <a:rPr sz="1500" b="0" i="0">
                <a:solidFill>
                  <a:srgbClr val="FFFFFF"/>
                </a:solidFill>
                <a:latin typeface="Arial"/>
              </a:rPr>
              <a:t>C.  The average of the high and the low</a:t>
            </a:r>
          </a:p>
          <a:p>
            <a:pPr algn="l">
              <a:lnSpc>
                <a:spcPct val="112000"/>
              </a:lnSpc>
              <a:spcBef>
                <a:spcPts val="0"/>
              </a:spcBef>
              <a:spcAft>
                <a:spcPts val="900"/>
              </a:spcAft>
            </a:pPr>
            <a:r>
              <a:rPr sz="1500" b="0" i="0">
                <a:solidFill>
                  <a:srgbClr val="FFFFFF"/>
                </a:solidFill>
                <a:latin typeface="Arial"/>
              </a:rPr>
              <a:t>D.  The close, 100</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Under Dow Theory, a close one centavo above the previous close is:</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Too small to count</a:t>
            </a:r>
          </a:p>
          <a:p>
            <a:pPr algn="l">
              <a:lnSpc>
                <a:spcPct val="112000"/>
              </a:lnSpc>
              <a:spcBef>
                <a:spcPts val="0"/>
              </a:spcBef>
              <a:spcAft>
                <a:spcPts val="900"/>
              </a:spcAft>
            </a:pPr>
            <a:r>
              <a:rPr sz="1500" b="0" i="0">
                <a:solidFill>
                  <a:srgbClr val="FFFFFF"/>
                </a:solidFill>
                <a:latin typeface="Arial"/>
              </a:rPr>
              <a:t>B.  A higher close</a:t>
            </a:r>
          </a:p>
          <a:p>
            <a:pPr algn="l">
              <a:lnSpc>
                <a:spcPct val="112000"/>
              </a:lnSpc>
              <a:spcBef>
                <a:spcPts val="0"/>
              </a:spcBef>
              <a:spcAft>
                <a:spcPts val="900"/>
              </a:spcAft>
            </a:pPr>
            <a:r>
              <a:rPr sz="1500" b="0" i="0">
                <a:solidFill>
                  <a:srgbClr val="FFFFFF"/>
                </a:solidFill>
                <a:latin typeface="Arial"/>
              </a:rPr>
              <a:t>C.  Counted only if volume expands</a:t>
            </a:r>
          </a:p>
          <a:p>
            <a:pPr algn="l">
              <a:lnSpc>
                <a:spcPct val="112000"/>
              </a:lnSpc>
              <a:spcBef>
                <a:spcPts val="0"/>
              </a:spcBef>
              <a:spcAft>
                <a:spcPts val="900"/>
              </a:spcAft>
            </a:pPr>
            <a:r>
              <a:rPr sz="1500" b="0" i="0">
                <a:solidFill>
                  <a:srgbClr val="FFFFFF"/>
                </a:solidFill>
                <a:latin typeface="Arial"/>
              </a:rPr>
              <a:t>D.  Counted only on a weekly chart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6 - Discounting  |  Check 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Closing prices</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share trades between 96 and 104 pesos during the day and closes at 100. What does Dow Theory record?</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The close, 100</a:t>
            </a:r>
          </a:p>
          <a:p>
            <a:pPr algn="l">
              <a:lnSpc>
                <a:spcPct val="115000"/>
              </a:lnSpc>
              <a:spcBef>
                <a:spcPts val="700"/>
              </a:spcBef>
              <a:spcAft>
                <a:spcPts val="0"/>
              </a:spcAft>
            </a:pPr>
            <a:r>
              <a:rPr sz="1600" b="0" i="0">
                <a:solidFill>
                  <a:srgbClr val="1A1A1A"/>
                </a:solidFill>
                <a:latin typeface="Arial"/>
              </a:rPr>
              <a:t>Only the final closing price is used, however large the day's excursion was.</a:t>
            </a:r>
          </a:p>
        </p:txBody>
      </p:sp>
      <p:sp>
        <p:nvSpPr>
          <p:cNvPr id="10" name="Rectangle 9"/>
          <p:cNvSpPr/>
          <p:nvPr/>
        </p:nvSpPr>
        <p:spPr>
          <a:xfrm>
            <a:off x="777240" y="331571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Under Dow Theory, a close one centavo above the previous close is:</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A higher close</a:t>
            </a:r>
          </a:p>
          <a:p>
            <a:pPr algn="l">
              <a:lnSpc>
                <a:spcPct val="115000"/>
              </a:lnSpc>
              <a:spcBef>
                <a:spcPts val="700"/>
              </a:spcBef>
              <a:spcAft>
                <a:spcPts val="0"/>
              </a:spcAft>
            </a:pPr>
            <a:r>
              <a:rPr sz="1600" b="0" i="0">
                <a:solidFill>
                  <a:srgbClr val="1A1A1A"/>
                </a:solidFill>
                <a:latin typeface="Arial"/>
              </a:rPr>
              <a:t>It does not matter how miniscule the amount above or below the previous close is.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Check 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The six tenets, in order</a:t>
            </a:r>
          </a:p>
          <a:p>
            <a:pPr algn="l" marL="237744" indent="-237744">
              <a:lnSpc>
                <a:spcPct val="112000"/>
              </a:lnSpc>
              <a:spcBef>
                <a:spcPts val="0"/>
              </a:spcBef>
              <a:spcAft>
                <a:spcPts val="1200"/>
              </a:spcAft>
            </a:pPr>
            <a:r>
              <a:rPr sz="1800" b="0" i="0">
                <a:solidFill>
                  <a:srgbClr val="1A1A1A"/>
                </a:solidFill>
                <a:latin typeface="Arial"/>
              </a:rPr>
              <a:t>▪  The averages discount everything</a:t>
            </a:r>
          </a:p>
          <a:p>
            <a:pPr algn="l" marL="237744" indent="-237744">
              <a:lnSpc>
                <a:spcPct val="112000"/>
              </a:lnSpc>
              <a:spcBef>
                <a:spcPts val="0"/>
              </a:spcBef>
              <a:spcAft>
                <a:spcPts val="1200"/>
              </a:spcAft>
            </a:pPr>
            <a:r>
              <a:rPr sz="1800" b="0" i="0">
                <a:solidFill>
                  <a:srgbClr val="1A1A1A"/>
                </a:solidFill>
                <a:latin typeface="Arial"/>
              </a:rPr>
              <a:t>▪  How information reaches a price, and the four things discounting does not require</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Acts of God, the one exception</a:t>
            </a:r>
          </a:p>
          <a:p>
            <a:pPr algn="l" marL="237744" indent="-237744">
              <a:lnSpc>
                <a:spcPct val="112000"/>
              </a:lnSpc>
              <a:spcBef>
                <a:spcPts val="0"/>
              </a:spcBef>
              <a:spcAft>
                <a:spcPts val="1200"/>
              </a:spcAft>
            </a:pPr>
            <a:r>
              <a:rPr sz="1800" b="0" i="0">
                <a:solidFill>
                  <a:srgbClr val="1A1A1A"/>
                </a:solidFill>
                <a:latin typeface="Arial"/>
              </a:rPr>
              <a:t>▪  Only closing prices are recognized</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recap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3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Three Trends, and the Primary One</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The three movements the book says are running at the same time.</a:t>
            </a:r>
          </a:p>
          <a:p>
            <a:pPr algn="l">
              <a:lnSpc>
                <a:spcPct val="115000"/>
              </a:lnSpc>
              <a:spcBef>
                <a:spcPts val="0"/>
              </a:spcBef>
              <a:spcAft>
                <a:spcPts val="1000"/>
              </a:spcAft>
            </a:pPr>
            <a:r>
              <a:rPr sz="1900" b="0" i="0">
                <a:solidFill>
                  <a:srgbClr val="FFFFFF"/>
                </a:solidFill>
                <a:latin typeface="Arial"/>
              </a:rPr>
              <a:t>What an uptrend actually is, and what ends one.</a:t>
            </a:r>
          </a:p>
          <a:p>
            <a:pPr algn="l">
              <a:lnSpc>
                <a:spcPct val="115000"/>
              </a:lnSpc>
              <a:spcBef>
                <a:spcPts val="0"/>
              </a:spcBef>
              <a:spcAft>
                <a:spcPts val="1000"/>
              </a:spcAft>
            </a:pPr>
            <a:r>
              <a:rPr sz="1900" b="0" i="0">
                <a:solidFill>
                  <a:srgbClr val="FFFFFF"/>
                </a:solidFill>
                <a:latin typeface="Arial"/>
              </a:rPr>
              <a:t>Why the signal always arrives late, and why Dow was content with that.</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35 minutes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market has three trends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At any moment the market is doing three things at once: a long movement, a shorter movement against it, and daily noise.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ocean does all three at the same time as well. That is the picture Rhea used, and we will use it too.</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second tenet of Dow Theory is that the market comprises three trends: the primary trend, the secondary reaction and the minor trend.</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1 of 28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1325880"/>
            <a:ext cx="109728" cy="133223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818181"/>
                </a:solidFill>
                <a:latin typeface="Arial"/>
              </a:rPr>
              <a:t>A definition worth writing down</a:t>
            </a:r>
          </a:p>
        </p:txBody>
      </p:sp>
      <p:sp>
        <p:nvSpPr>
          <p:cNvPr id="6" name="TextBox 5"/>
          <p:cNvSpPr txBox="1"/>
          <p:nvPr/>
        </p:nvSpPr>
        <p:spPr>
          <a:xfrm>
            <a:off x="1161288" y="1371600"/>
            <a:ext cx="10253167" cy="1332230"/>
          </a:xfrm>
          <a:prstGeom prst="rect">
            <a:avLst/>
          </a:prstGeom>
          <a:noFill/>
        </p:spPr>
        <p:txBody>
          <a:bodyPr wrap="square" anchor="t" lIns="0" rIns="0" tIns="0" bIns="0">
            <a:spAutoFit/>
          </a:bodyPr>
          <a:lstStyle/>
          <a:p>
            <a:pPr algn="l">
              <a:lnSpc>
                <a:spcPct val="120000"/>
              </a:lnSpc>
              <a:spcBef>
                <a:spcPts val="0"/>
              </a:spcBef>
              <a:spcAft>
                <a:spcPts val="0"/>
              </a:spcAft>
            </a:pPr>
            <a:r>
              <a:rPr sz="2500" b="0" i="0">
                <a:solidFill>
                  <a:srgbClr val="1A1A1A"/>
                </a:solidFill>
                <a:latin typeface="Palatino"/>
              </a:rPr>
              <a:t>"There are three movements of the averages, all of which may be in progress at one and the same time."</a:t>
            </a:r>
          </a:p>
          <a:p>
            <a:pPr algn="l">
              <a:lnSpc>
                <a:spcPct val="100000"/>
              </a:lnSpc>
              <a:spcBef>
                <a:spcPts val="1400"/>
              </a:spcBef>
              <a:spcAft>
                <a:spcPts val="0"/>
              </a:spcAft>
            </a:pPr>
            <a:r>
              <a:rPr sz="1400" b="0" i="0">
                <a:solidFill>
                  <a:srgbClr val="818181"/>
                </a:solidFill>
                <a:latin typeface="Arial"/>
              </a:rPr>
              <a:t>Robert Rhea, The Dow Theory, quoted in Lim, The Handbook of Technical Analysis</a:t>
            </a:r>
          </a:p>
        </p:txBody>
      </p:sp>
      <p:sp>
        <p:nvSpPr>
          <p:cNvPr id="7" name="TextBox 6"/>
          <p:cNvSpPr txBox="1"/>
          <p:nvPr/>
        </p:nvSpPr>
        <p:spPr>
          <a:xfrm>
            <a:off x="777240" y="3023870"/>
            <a:ext cx="10637215" cy="128016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818181"/>
                </a:solidFill>
                <a:latin typeface="Arial"/>
              </a:rPr>
              <a:t>What it tells us</a:t>
            </a:r>
          </a:p>
          <a:p>
            <a:pPr algn="l">
              <a:lnSpc>
                <a:spcPct val="115000"/>
              </a:lnSpc>
              <a:spcBef>
                <a:spcPts val="0"/>
              </a:spcBef>
              <a:spcAft>
                <a:spcPts val="0"/>
              </a:spcAft>
            </a:pPr>
            <a:r>
              <a:rPr sz="2100" b="1" i="0">
                <a:solidFill>
                  <a:srgbClr val="007A33"/>
                </a:solidFill>
                <a:latin typeface="Arial"/>
              </a:rPr>
              <a:t>All three at once. Not one after the other.</a:t>
            </a:r>
          </a:p>
        </p:txBody>
      </p:sp>
      <p:sp>
        <p:nvSpPr>
          <p:cNvPr id="8" name="TextBox 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2 of 28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three, named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3 of 28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Primary trend, the major trend. Months to years. Long term.</a:t>
            </a:r>
          </a:p>
          <a:p>
            <a:pPr algn="l">
              <a:lnSpc>
                <a:spcPct val="118000"/>
              </a:lnSpc>
              <a:spcBef>
                <a:spcPts val="0"/>
              </a:spcBef>
              <a:spcAft>
                <a:spcPts val="1300"/>
              </a:spcAft>
            </a:pPr>
            <a:r>
              <a:rPr sz="2100" b="0" i="0">
                <a:solidFill>
                  <a:srgbClr val="1A1A1A"/>
                </a:solidFill>
                <a:latin typeface="Arial"/>
              </a:rPr>
              <a:t>2.  Secondary reaction, the intermediate trend. Weeks to months. Medium term.</a:t>
            </a:r>
          </a:p>
          <a:p>
            <a:pPr algn="l">
              <a:lnSpc>
                <a:spcPct val="118000"/>
              </a:lnSpc>
              <a:spcBef>
                <a:spcPts val="0"/>
              </a:spcBef>
              <a:spcAft>
                <a:spcPts val="1300"/>
              </a:spcAft>
            </a:pPr>
            <a:r>
              <a:rPr sz="2100" b="0" i="0">
                <a:solidFill>
                  <a:srgbClr val="1A1A1A"/>
                </a:solidFill>
                <a:latin typeface="Arial"/>
              </a:rPr>
              <a:t>3.  Minor trend. Days to weeks. Short term.</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Rhea called the primary the most important and the secondary the most deceptive.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Tides, waves and ripples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4 of 28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primary trend is sometimes called the tides of the ocean.</a:t>
            </a:r>
          </a:p>
          <a:p>
            <a:pPr algn="l">
              <a:lnSpc>
                <a:spcPct val="118000"/>
              </a:lnSpc>
              <a:spcBef>
                <a:spcPts val="0"/>
              </a:spcBef>
              <a:spcAft>
                <a:spcPts val="1300"/>
              </a:spcAft>
            </a:pPr>
            <a:r>
              <a:rPr sz="2100" b="0" i="0">
                <a:solidFill>
                  <a:srgbClr val="1A1A1A"/>
                </a:solidFill>
                <a:latin typeface="Arial"/>
              </a:rPr>
              <a:t>The secondary reaction is the waves on the tides.</a:t>
            </a:r>
          </a:p>
          <a:p>
            <a:pPr algn="l">
              <a:lnSpc>
                <a:spcPct val="118000"/>
              </a:lnSpc>
              <a:spcBef>
                <a:spcPts val="0"/>
              </a:spcBef>
              <a:spcAft>
                <a:spcPts val="1300"/>
              </a:spcAft>
            </a:pPr>
            <a:r>
              <a:rPr sz="2100" b="0" i="0">
                <a:solidFill>
                  <a:srgbClr val="1A1A1A"/>
                </a:solidFill>
                <a:latin typeface="Arial"/>
              </a:rPr>
              <a:t>The minor trend is the ripples on the waves.</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 ripple never tells you whether the tide is coming in or going out.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All three, on one line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5 of 28</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c.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C - FIN1209 teaching chart, drawn for this course. Illustrative data, not a real instrument.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All three trends on one index</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6 of 28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2.3</a:t>
            </a:r>
          </a:p>
          <a:p>
            <a:pPr algn="l">
              <a:lnSpc>
                <a:spcPct val="120000"/>
              </a:lnSpc>
              <a:spcBef>
                <a:spcPts val="0"/>
              </a:spcBef>
              <a:spcAft>
                <a:spcPts val="1800"/>
              </a:spcAft>
            </a:pPr>
            <a:r>
              <a:rPr sz="2200" b="0" i="0">
                <a:solidFill>
                  <a:srgbClr val="1A1A1A"/>
                </a:solidFill>
                <a:latin typeface="Palatino"/>
              </a:rPr>
              <a:t>A daily chart of the NYSE Composite Index with the primary trend, a secondary reaction and the minor trends all labelled on the same price action, and the primary trend resuming on a breakout of the secondary peak.</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2.3 - Lim, The Handbook of Technical Analysis (Wiley, 2016)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7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The three trends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33972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Dow Theory, the three trends:</a:t>
            </a:r>
          </a:p>
        </p:txBody>
      </p:sp>
      <p:sp>
        <p:nvSpPr>
          <p:cNvPr id="9" name="TextBox 8"/>
          <p:cNvSpPr txBox="1"/>
          <p:nvPr/>
        </p:nvSpPr>
        <p:spPr>
          <a:xfrm>
            <a:off x="1051560"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Take turns, one at a time</a:t>
            </a:r>
          </a:p>
          <a:p>
            <a:pPr algn="l">
              <a:lnSpc>
                <a:spcPct val="112000"/>
              </a:lnSpc>
              <a:spcBef>
                <a:spcPts val="0"/>
              </a:spcBef>
              <a:spcAft>
                <a:spcPts val="900"/>
              </a:spcAft>
            </a:pPr>
            <a:r>
              <a:rPr sz="1500" b="0" i="0">
                <a:solidFill>
                  <a:srgbClr val="FFFFFF"/>
                </a:solidFill>
                <a:latin typeface="Arial"/>
              </a:rPr>
              <a:t>B.  May all be in progress at one and the same time</a:t>
            </a:r>
          </a:p>
          <a:p>
            <a:pPr algn="l">
              <a:lnSpc>
                <a:spcPct val="112000"/>
              </a:lnSpc>
              <a:spcBef>
                <a:spcPts val="0"/>
              </a:spcBef>
              <a:spcAft>
                <a:spcPts val="900"/>
              </a:spcAft>
            </a:pPr>
            <a:r>
              <a:rPr sz="1500" b="0" i="0">
                <a:solidFill>
                  <a:srgbClr val="FFFFFF"/>
                </a:solidFill>
                <a:latin typeface="Arial"/>
              </a:rPr>
              <a:t>C.  Are all of equal importance</a:t>
            </a:r>
          </a:p>
          <a:p>
            <a:pPr algn="l">
              <a:lnSpc>
                <a:spcPct val="112000"/>
              </a:lnSpc>
              <a:spcBef>
                <a:spcPts val="0"/>
              </a:spcBef>
              <a:spcAft>
                <a:spcPts val="900"/>
              </a:spcAft>
            </a:pPr>
            <a:r>
              <a:rPr sz="1500" b="0" i="0">
                <a:solidFill>
                  <a:srgbClr val="FFFFFF"/>
                </a:solidFill>
                <a:latin typeface="Arial"/>
              </a:rPr>
              <a:t>D.  Appear only on weekly charts</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trend does Dow Theory call the most deceptive?</a:t>
            </a:r>
          </a:p>
        </p:txBody>
      </p:sp>
      <p:sp>
        <p:nvSpPr>
          <p:cNvPr id="13" name="TextBox 12"/>
          <p:cNvSpPr txBox="1"/>
          <p:nvPr/>
        </p:nvSpPr>
        <p:spPr>
          <a:xfrm>
            <a:off x="6690207"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primary trend</a:t>
            </a:r>
          </a:p>
          <a:p>
            <a:pPr algn="l">
              <a:lnSpc>
                <a:spcPct val="112000"/>
              </a:lnSpc>
              <a:spcBef>
                <a:spcPts val="0"/>
              </a:spcBef>
              <a:spcAft>
                <a:spcPts val="900"/>
              </a:spcAft>
            </a:pPr>
            <a:r>
              <a:rPr sz="1500" b="0" i="0">
                <a:solidFill>
                  <a:srgbClr val="FFFFFF"/>
                </a:solidFill>
                <a:latin typeface="Arial"/>
              </a:rPr>
              <a:t>B.  The minor trend</a:t>
            </a:r>
          </a:p>
          <a:p>
            <a:pPr algn="l">
              <a:lnSpc>
                <a:spcPct val="112000"/>
              </a:lnSpc>
              <a:spcBef>
                <a:spcPts val="0"/>
              </a:spcBef>
              <a:spcAft>
                <a:spcPts val="900"/>
              </a:spcAft>
            </a:pPr>
            <a:r>
              <a:rPr sz="1500" b="0" i="0">
                <a:solidFill>
                  <a:srgbClr val="FFFFFF"/>
                </a:solidFill>
                <a:latin typeface="Arial"/>
              </a:rPr>
              <a:t>C.  The secondary reaction</a:t>
            </a:r>
          </a:p>
          <a:p>
            <a:pPr algn="l">
              <a:lnSpc>
                <a:spcPct val="112000"/>
              </a:lnSpc>
              <a:spcBef>
                <a:spcPts val="0"/>
              </a:spcBef>
              <a:spcAft>
                <a:spcPts val="900"/>
              </a:spcAft>
            </a:pPr>
            <a:r>
              <a:rPr sz="1500" b="0" i="0">
                <a:solidFill>
                  <a:srgbClr val="FFFFFF"/>
                </a:solidFill>
                <a:latin typeface="Arial"/>
              </a:rPr>
              <a:t>D.  None of them is called deceptive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6 - Primary trend  |  Check 7</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The three trends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In Dow Theory, the three trends: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May all be in progress at one and the same time</a:t>
            </a:r>
          </a:p>
          <a:p>
            <a:pPr algn="l">
              <a:lnSpc>
                <a:spcPct val="115000"/>
              </a:lnSpc>
              <a:spcBef>
                <a:spcPts val="700"/>
              </a:spcBef>
              <a:spcAft>
                <a:spcPts val="0"/>
              </a:spcAft>
            </a:pPr>
            <a:r>
              <a:rPr sz="1600" b="0" i="0">
                <a:solidFill>
                  <a:srgbClr val="1A1A1A"/>
                </a:solidFill>
                <a:latin typeface="Arial"/>
              </a:rPr>
              <a:t>Rhea's own words. All three movements may be running together.</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Which trend does Dow Theory call the most deceptive?</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The secondary reaction</a:t>
            </a:r>
          </a:p>
          <a:p>
            <a:pPr algn="l">
              <a:lnSpc>
                <a:spcPct val="115000"/>
              </a:lnSpc>
              <a:spcBef>
                <a:spcPts val="700"/>
              </a:spcBef>
              <a:spcAft>
                <a:spcPts val="0"/>
              </a:spcAft>
            </a:pPr>
            <a:r>
              <a:rPr sz="1600" b="0" i="0">
                <a:solidFill>
                  <a:srgbClr val="1A1A1A"/>
                </a:solidFill>
                <a:latin typeface="Arial"/>
              </a:rPr>
              <a:t>Rhea calls the secondary reaction the second and most deceptive movement.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Check 7</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Primary trend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long movement, and the biggest one on the chart. Normally months to years.</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share that goes from 40 pesos to 140 pesos over three years is in a primary bull trend, whatever it did in any given week.</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primary or major trend is the largest trend, normally expected to last from months to years, and the one Rhea held to be a more reliable barometer for investment decisions.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7 of 28</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Two kinds of primary trend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8 of 28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Primary bull trend, which is a bull market.</a:t>
            </a:r>
          </a:p>
          <a:p>
            <a:pPr algn="l">
              <a:lnSpc>
                <a:spcPct val="118000"/>
              </a:lnSpc>
              <a:spcBef>
                <a:spcPts val="0"/>
              </a:spcBef>
              <a:spcAft>
                <a:spcPts val="1300"/>
              </a:spcAft>
            </a:pPr>
            <a:r>
              <a:rPr sz="2100" b="0" i="0">
                <a:solidFill>
                  <a:srgbClr val="1A1A1A"/>
                </a:solidFill>
                <a:latin typeface="Arial"/>
              </a:rPr>
              <a:t>Primary bear trend, which is a bear market.</a:t>
            </a:r>
          </a:p>
        </p:txBody>
      </p:sp>
      <p:sp>
        <p:nvSpPr>
          <p:cNvPr id="8" name="Rectangle 7"/>
          <p:cNvSpPr/>
          <p:nvPr/>
        </p:nvSpPr>
        <p:spPr>
          <a:xfrm>
            <a:off x="777240" y="3272028"/>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308604"/>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Rhea also said it is very difficult to forecast the extent or the duration of either.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Uptrend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Price makes a high, falls back to a low above the last low, then makes a high above the last high. Then it does it again.</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Peaks at 104, 116 and 128 pesos, with troughs at 98, 108 and 119 between them. Every peak beats the last peak and every trough beats the last trough.</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Dow Theory, an uptrend is defined primarily as successively higher peaks and troughs.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9 of 28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Downtrend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same thing upside down. Each peak lower than the last, and each trough lower than the last.</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Peaks at 128, 116 and 104 pesos, with troughs at 119, 108 and 98 between them.</a:t>
            </a:r>
          </a:p>
        </p:txBody>
      </p:sp>
      <p:sp>
        <p:nvSpPr>
          <p:cNvPr id="11" name="Rectangle 10"/>
          <p:cNvSpPr/>
          <p:nvPr/>
        </p:nvSpPr>
        <p:spPr>
          <a:xfrm>
            <a:off x="777240" y="4298061"/>
            <a:ext cx="64008" cy="53352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Dow Theory, a downtrend is defined as successively lower peaks and troughs.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10 of 28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 uptrend, drawn as its own definition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11 of 28</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d.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D - FIN1209 teaching chart, drawn for this course. Illustrative data, not a real instrument.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 uptrend, and its first lower high</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12 of 28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2.4</a:t>
            </a:r>
          </a:p>
          <a:p>
            <a:pPr algn="l">
              <a:lnSpc>
                <a:spcPct val="120000"/>
              </a:lnSpc>
              <a:spcBef>
                <a:spcPts val="0"/>
              </a:spcBef>
              <a:spcAft>
                <a:spcPts val="1800"/>
              </a:spcAft>
            </a:pPr>
            <a:r>
              <a:rPr sz="2200" b="0" i="0">
                <a:solidFill>
                  <a:srgbClr val="1A1A1A"/>
                </a:solidFill>
                <a:latin typeface="Palatino"/>
              </a:rPr>
              <a:t>A rising price with successive higher highs and higher lows labelled HH and HL, the appearance of the first lower high circled, and the note that the uptrend has technically ended.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2.4 - Lim, The Handbook of Technical Analysis (Wiley, 2016)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first lower peak means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13 of 28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appearance of a lower high in an uptrend may be an early indication that the uptrend is coming to an end.</a:t>
            </a:r>
          </a:p>
          <a:p>
            <a:pPr algn="l">
              <a:lnSpc>
                <a:spcPct val="118000"/>
              </a:lnSpc>
              <a:spcBef>
                <a:spcPts val="0"/>
              </a:spcBef>
              <a:spcAft>
                <a:spcPts val="1300"/>
              </a:spcAft>
            </a:pPr>
            <a:r>
              <a:rPr sz="2100" b="0" i="0">
                <a:solidFill>
                  <a:srgbClr val="1A1A1A"/>
                </a:solidFill>
                <a:latin typeface="Arial"/>
              </a:rPr>
              <a:t>Nothing else had to change. The sequence changed.</a:t>
            </a:r>
          </a:p>
        </p:txBody>
      </p:sp>
      <p:sp>
        <p:nvSpPr>
          <p:cNvPr id="8" name="Rectangle 7"/>
          <p:cNvSpPr/>
          <p:nvPr/>
        </p:nvSpPr>
        <p:spPr>
          <a:xfrm>
            <a:off x="777240" y="358673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 trend is a sequence of points, so a trend ends when the sequence breaks.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8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Uptrend and downtrend</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Dow Theory, an uptrend is defined primarily as:</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rise of more than twenty percent</a:t>
            </a:r>
          </a:p>
          <a:p>
            <a:pPr algn="l">
              <a:lnSpc>
                <a:spcPct val="112000"/>
              </a:lnSpc>
              <a:spcBef>
                <a:spcPts val="0"/>
              </a:spcBef>
              <a:spcAft>
                <a:spcPts val="900"/>
              </a:spcAft>
            </a:pPr>
            <a:r>
              <a:rPr sz="1500" b="0" i="0">
                <a:solidFill>
                  <a:srgbClr val="FFFFFF"/>
                </a:solidFill>
                <a:latin typeface="Arial"/>
              </a:rPr>
              <a:t>B.  A close above the previous close for three days</a:t>
            </a:r>
          </a:p>
          <a:p>
            <a:pPr algn="l">
              <a:lnSpc>
                <a:spcPct val="112000"/>
              </a:lnSpc>
              <a:spcBef>
                <a:spcPts val="0"/>
              </a:spcBef>
              <a:spcAft>
                <a:spcPts val="900"/>
              </a:spcAft>
            </a:pPr>
            <a:r>
              <a:rPr sz="1500" b="0" i="0">
                <a:solidFill>
                  <a:srgbClr val="FFFFFF"/>
                </a:solidFill>
                <a:latin typeface="Arial"/>
              </a:rPr>
              <a:t>C.  Successively higher peaks and troughs</a:t>
            </a:r>
          </a:p>
          <a:p>
            <a:pPr algn="l">
              <a:lnSpc>
                <a:spcPct val="112000"/>
              </a:lnSpc>
              <a:spcBef>
                <a:spcPts val="0"/>
              </a:spcBef>
              <a:spcAft>
                <a:spcPts val="900"/>
              </a:spcAft>
            </a:pPr>
            <a:r>
              <a:rPr sz="1500" b="0" i="0">
                <a:solidFill>
                  <a:srgbClr val="FFFFFF"/>
                </a:solidFill>
                <a:latin typeface="Arial"/>
              </a:rPr>
              <a:t>D.  Any advance lasting more than three weeks</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An uptrend has run 104, 98, 116, 108, 128, 119, 141, 128, and now makes a peak at 134. What has just happened?</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trend has made another higher peak</a:t>
            </a:r>
          </a:p>
          <a:p>
            <a:pPr algn="l">
              <a:lnSpc>
                <a:spcPct val="112000"/>
              </a:lnSpc>
              <a:spcBef>
                <a:spcPts val="0"/>
              </a:spcBef>
              <a:spcAft>
                <a:spcPts val="900"/>
              </a:spcAft>
            </a:pPr>
            <a:r>
              <a:rPr sz="1500" b="0" i="0">
                <a:solidFill>
                  <a:srgbClr val="FFFFFF"/>
                </a:solidFill>
                <a:latin typeface="Arial"/>
              </a:rPr>
              <a:t>B.  The trend has made a lower trough</a:t>
            </a:r>
          </a:p>
          <a:p>
            <a:pPr algn="l">
              <a:lnSpc>
                <a:spcPct val="112000"/>
              </a:lnSpc>
              <a:spcBef>
                <a:spcPts val="0"/>
              </a:spcBef>
              <a:spcAft>
                <a:spcPts val="900"/>
              </a:spcAft>
            </a:pPr>
            <a:r>
              <a:rPr sz="1500" b="0" i="0">
                <a:solidFill>
                  <a:srgbClr val="FFFFFF"/>
                </a:solidFill>
                <a:latin typeface="Arial"/>
              </a:rPr>
              <a:t>C.  Nothing Dow Theory takes any notice of</a:t>
            </a:r>
          </a:p>
          <a:p>
            <a:pPr algn="l">
              <a:lnSpc>
                <a:spcPct val="112000"/>
              </a:lnSpc>
              <a:spcBef>
                <a:spcPts val="0"/>
              </a:spcBef>
              <a:spcAft>
                <a:spcPts val="900"/>
              </a:spcAft>
            </a:pPr>
            <a:r>
              <a:rPr sz="1500" b="0" i="0">
                <a:solidFill>
                  <a:srgbClr val="FFFFFF"/>
                </a:solidFill>
                <a:latin typeface="Arial"/>
              </a:rPr>
              <a:t>D.  The first lower peak has appeared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6 - Primary trend  |  Check 8</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Uptrend and downtrend</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In Dow Theory, an uptrend is defined primarily as: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Successively higher peaks and troughs</a:t>
            </a:r>
          </a:p>
          <a:p>
            <a:pPr algn="l">
              <a:lnSpc>
                <a:spcPct val="115000"/>
              </a:lnSpc>
              <a:spcBef>
                <a:spcPts val="700"/>
              </a:spcBef>
              <a:spcAft>
                <a:spcPts val="0"/>
              </a:spcAft>
            </a:pPr>
            <a:r>
              <a:rPr sz="1600" b="0" i="0">
                <a:solidFill>
                  <a:srgbClr val="1A1A1A"/>
                </a:solidFill>
                <a:latin typeface="Arial"/>
              </a:rPr>
              <a:t>The definition is the sequence of peaks and troughs, not a size or a duration.</a:t>
            </a:r>
          </a:p>
        </p:txBody>
      </p:sp>
      <p:sp>
        <p:nvSpPr>
          <p:cNvPr id="10" name="Rectangle 9"/>
          <p:cNvSpPr/>
          <p:nvPr/>
        </p:nvSpPr>
        <p:spPr>
          <a:xfrm>
            <a:off x="777240" y="308203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An uptrend has run 104, 98, 116, 108, 128, 119, 141, 128, and now makes a peak at 134. What has just happened?</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The first lower peak has appeared</a:t>
            </a:r>
          </a:p>
          <a:p>
            <a:pPr algn="l">
              <a:lnSpc>
                <a:spcPct val="115000"/>
              </a:lnSpc>
              <a:spcBef>
                <a:spcPts val="700"/>
              </a:spcBef>
              <a:spcAft>
                <a:spcPts val="0"/>
              </a:spcAft>
            </a:pPr>
            <a:r>
              <a:rPr sz="1600" b="0" i="0">
                <a:solidFill>
                  <a:srgbClr val="1A1A1A"/>
                </a:solidFill>
                <a:latin typeface="Arial"/>
              </a:rPr>
              <a:t>134 is below the previous peak of 141, so the uptrend has technically ended.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Check 8</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Penetration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Price going through a previous peak or a previous trough. That is the event Dow Theory watches for.</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last peak was 141 pesos. Price closes at 143. The peak has been penetrated.</a:t>
            </a:r>
          </a:p>
        </p:txBody>
      </p:sp>
      <p:sp>
        <p:nvSpPr>
          <p:cNvPr id="11" name="Rectangle 10"/>
          <p:cNvSpPr/>
          <p:nvPr/>
        </p:nvSpPr>
        <p:spPr>
          <a:xfrm>
            <a:off x="777240" y="429806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Dow Theory, an indication of a trend continuation or reversal is signaled by the penetration of a previous peak or trough.</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14 of 28</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price of waiting for it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15 of 28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One of the main criticisms of Dow Theory is that its buy and sell signals arrive too late.</a:t>
            </a:r>
          </a:p>
          <a:p>
            <a:pPr algn="l">
              <a:lnSpc>
                <a:spcPct val="118000"/>
              </a:lnSpc>
              <a:spcBef>
                <a:spcPts val="0"/>
              </a:spcBef>
              <a:spcAft>
                <a:spcPts val="1300"/>
              </a:spcAft>
            </a:pPr>
            <a:r>
              <a:rPr sz="2100" b="0" i="0">
                <a:solidFill>
                  <a:srgbClr val="1A1A1A"/>
                </a:solidFill>
                <a:latin typeface="Arial"/>
              </a:rPr>
              <a:t>They usually miss out on one third or more of the entire trend.</a:t>
            </a:r>
          </a:p>
        </p:txBody>
      </p:sp>
      <p:sp>
        <p:nvSpPr>
          <p:cNvPr id="8" name="Rectangle 7"/>
          <p:cNvSpPr/>
          <p:nvPr/>
        </p:nvSpPr>
        <p:spPr>
          <a:xfrm>
            <a:off x="777240" y="358673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You buy after the bottom, and you sell after the top. Always.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Dow thought the trade was worth it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16 of 28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It is more important to participate once the trend has been confirmed.</a:t>
            </a:r>
          </a:p>
          <a:p>
            <a:pPr algn="l">
              <a:lnSpc>
                <a:spcPct val="118000"/>
              </a:lnSpc>
              <a:spcBef>
                <a:spcPts val="0"/>
              </a:spcBef>
              <a:spcAft>
                <a:spcPts val="1300"/>
              </a:spcAft>
            </a:pPr>
            <a:r>
              <a:rPr sz="2100" b="0" i="0">
                <a:solidFill>
                  <a:srgbClr val="1A1A1A"/>
                </a:solidFill>
                <a:latin typeface="Arial"/>
              </a:rPr>
              <a:t>Losing some potential profit for the added safety of a confirmed trend is well worth the sacrifice.</a:t>
            </a:r>
          </a:p>
        </p:txBody>
      </p:sp>
      <p:sp>
        <p:nvSpPr>
          <p:cNvPr id="8" name="Rectangle 7"/>
          <p:cNvSpPr/>
          <p:nvPr/>
        </p:nvSpPr>
        <p:spPr>
          <a:xfrm>
            <a:off x="777240" y="358673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That is Dow's own position. The book reports it as his, not as a fact.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Where the buy and the sell signals fall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17 of 28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2.5</a:t>
            </a:r>
          </a:p>
          <a:p>
            <a:pPr algn="l">
              <a:lnSpc>
                <a:spcPct val="120000"/>
              </a:lnSpc>
              <a:spcBef>
                <a:spcPts val="0"/>
              </a:spcBef>
              <a:spcAft>
                <a:spcPts val="1800"/>
              </a:spcAft>
            </a:pPr>
            <a:r>
              <a:rPr sz="2200" b="0" i="0">
                <a:solidFill>
                  <a:srgbClr val="1A1A1A"/>
                </a:solidFill>
                <a:latin typeface="Palatino"/>
              </a:rPr>
              <a:t>An idealized primary trend with the buy signal marked well above the low and the sell signal well below the high, and the profit potential based on Dow's signals shaded against the maximum profit potential.</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2.5 - Lim, The Handbook of Technical Analysis (Wiley, 2016)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Dow Theory says you may trade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18 of 28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All investment and trading decisions are based strictly on the primary trend alone.</a:t>
            </a:r>
          </a:p>
          <a:p>
            <a:pPr algn="l">
              <a:lnSpc>
                <a:spcPct val="118000"/>
              </a:lnSpc>
              <a:spcBef>
                <a:spcPts val="0"/>
              </a:spcBef>
              <a:spcAft>
                <a:spcPts val="1300"/>
              </a:spcAft>
            </a:pPr>
            <a:r>
              <a:rPr sz="2100" b="0" i="0">
                <a:solidFill>
                  <a:srgbClr val="1A1A1A"/>
                </a:solidFill>
                <a:latin typeface="Arial"/>
              </a:rPr>
              <a:t>The one exception is trading lines, which form out of the daily price fluctuations.</a:t>
            </a:r>
          </a:p>
        </p:txBody>
      </p:sp>
      <p:sp>
        <p:nvSpPr>
          <p:cNvPr id="8" name="Rectangle 7"/>
          <p:cNvSpPr/>
          <p:nvPr/>
        </p:nvSpPr>
        <p:spPr>
          <a:xfrm>
            <a:off x="777240" y="390143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93801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Two tradable things in the whole theory. We meet the second one in Part 4.</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9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Signals on the primary trend</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Dow Theory, buy and sell signals are indicated by:</a:t>
            </a:r>
          </a:p>
        </p:txBody>
      </p:sp>
      <p:sp>
        <p:nvSpPr>
          <p:cNvPr id="9" name="TextBox 8"/>
          <p:cNvSpPr txBox="1"/>
          <p:nvPr/>
        </p:nvSpPr>
        <p:spPr>
          <a:xfrm>
            <a:off x="1051560"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penetration of a previous peak or trough in the primary trend</a:t>
            </a:r>
          </a:p>
          <a:p>
            <a:pPr algn="l">
              <a:lnSpc>
                <a:spcPct val="112000"/>
              </a:lnSpc>
              <a:spcBef>
                <a:spcPts val="0"/>
              </a:spcBef>
              <a:spcAft>
                <a:spcPts val="900"/>
              </a:spcAft>
            </a:pPr>
            <a:r>
              <a:rPr sz="1500" b="0" i="0">
                <a:solidFill>
                  <a:srgbClr val="FFFFFF"/>
                </a:solidFill>
                <a:latin typeface="Arial"/>
              </a:rPr>
              <a:t>B.  Retracements exceeding twenty percent of the primary trend's range</a:t>
            </a:r>
          </a:p>
          <a:p>
            <a:pPr algn="l">
              <a:lnSpc>
                <a:spcPct val="112000"/>
              </a:lnSpc>
              <a:spcBef>
                <a:spcPts val="0"/>
              </a:spcBef>
              <a:spcAft>
                <a:spcPts val="900"/>
              </a:spcAft>
            </a:pPr>
            <a:r>
              <a:rPr sz="1500" b="0" i="0">
                <a:solidFill>
                  <a:srgbClr val="FFFFFF"/>
                </a:solidFill>
                <a:latin typeface="Arial"/>
              </a:rPr>
              <a:t>C.  The primary trend lasting more than one year</a:t>
            </a:r>
          </a:p>
          <a:p>
            <a:pPr algn="l">
              <a:lnSpc>
                <a:spcPct val="112000"/>
              </a:lnSpc>
              <a:spcBef>
                <a:spcPts val="0"/>
              </a:spcBef>
              <a:spcAft>
                <a:spcPts val="900"/>
              </a:spcAft>
            </a:pPr>
            <a:r>
              <a:rPr sz="1500" b="0" i="0">
                <a:solidFill>
                  <a:srgbClr val="FFFFFF"/>
                </a:solidFill>
                <a:latin typeface="Arial"/>
              </a:rPr>
              <a:t>D.  A close above the day's opening price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Critics say Dow Theory's signals usually miss:</a:t>
            </a:r>
          </a:p>
        </p:txBody>
      </p:sp>
      <p:sp>
        <p:nvSpPr>
          <p:cNvPr id="13" name="TextBox 12"/>
          <p:cNvSpPr txBox="1"/>
          <p:nvPr/>
        </p:nvSpPr>
        <p:spPr>
          <a:xfrm>
            <a:off x="6690207"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whole of the trend</a:t>
            </a:r>
          </a:p>
          <a:p>
            <a:pPr algn="l">
              <a:lnSpc>
                <a:spcPct val="112000"/>
              </a:lnSpc>
              <a:spcBef>
                <a:spcPts val="0"/>
              </a:spcBef>
              <a:spcAft>
                <a:spcPts val="900"/>
              </a:spcAft>
            </a:pPr>
            <a:r>
              <a:rPr sz="1500" b="0" i="0">
                <a:solidFill>
                  <a:srgbClr val="FFFFFF"/>
                </a:solidFill>
                <a:latin typeface="Arial"/>
              </a:rPr>
              <a:t>B.  One third or more of the entire trend</a:t>
            </a:r>
          </a:p>
          <a:p>
            <a:pPr algn="l">
              <a:lnSpc>
                <a:spcPct val="112000"/>
              </a:lnSpc>
              <a:spcBef>
                <a:spcPts val="0"/>
              </a:spcBef>
              <a:spcAft>
                <a:spcPts val="900"/>
              </a:spcAft>
            </a:pPr>
            <a:r>
              <a:rPr sz="1500" b="0" i="0">
                <a:solidFill>
                  <a:srgbClr val="FFFFFF"/>
                </a:solidFill>
                <a:latin typeface="Arial"/>
              </a:rPr>
              <a:t>C.  Only the first week of the trend</a:t>
            </a:r>
          </a:p>
          <a:p>
            <a:pPr algn="l">
              <a:lnSpc>
                <a:spcPct val="112000"/>
              </a:lnSpc>
              <a:spcBef>
                <a:spcPts val="0"/>
              </a:spcBef>
              <a:spcAft>
                <a:spcPts val="900"/>
              </a:spcAft>
            </a:pPr>
            <a:r>
              <a:rPr sz="1500" b="0" i="0">
                <a:solidFill>
                  <a:srgbClr val="FFFFFF"/>
                </a:solidFill>
                <a:latin typeface="Arial"/>
              </a:rPr>
              <a:t>D.  Nothing that can be measured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6 - Primary trend  |  Check 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Signals on the primary trend</a:t>
            </a:r>
          </a:p>
        </p:txBody>
      </p:sp>
      <p:sp>
        <p:nvSpPr>
          <p:cNvPr id="6" name="Rectangle 5"/>
          <p:cNvSpPr/>
          <p:nvPr/>
        </p:nvSpPr>
        <p:spPr>
          <a:xfrm>
            <a:off x="777240" y="1207008"/>
            <a:ext cx="10637215" cy="192023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92023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In Dow Theory, buy and sell signals are indicated by:</a:t>
            </a:r>
          </a:p>
        </p:txBody>
      </p:sp>
      <p:sp>
        <p:nvSpPr>
          <p:cNvPr id="9" name="TextBox 8"/>
          <p:cNvSpPr txBox="1"/>
          <p:nvPr/>
        </p:nvSpPr>
        <p:spPr>
          <a:xfrm>
            <a:off x="1143000" y="1934464"/>
            <a:ext cx="9905695" cy="14986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The penetration of a previous peak or trough in the primary trend</a:t>
            </a:r>
          </a:p>
          <a:p>
            <a:pPr algn="l">
              <a:lnSpc>
                <a:spcPct val="115000"/>
              </a:lnSpc>
              <a:spcBef>
                <a:spcPts val="700"/>
              </a:spcBef>
              <a:spcAft>
                <a:spcPts val="0"/>
              </a:spcAft>
            </a:pPr>
            <a:r>
              <a:rPr sz="1600" b="0" i="0">
                <a:solidFill>
                  <a:srgbClr val="1A1A1A"/>
                </a:solidFill>
                <a:latin typeface="Arial"/>
              </a:rPr>
              <a:t>Penetration of a previous peak or trough is the signal, and it is judged on the close.</a:t>
            </a:r>
          </a:p>
        </p:txBody>
      </p:sp>
      <p:sp>
        <p:nvSpPr>
          <p:cNvPr id="10" name="Rectangle 9"/>
          <p:cNvSpPr/>
          <p:nvPr/>
        </p:nvSpPr>
        <p:spPr>
          <a:xfrm>
            <a:off x="777240" y="3374135"/>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74135"/>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611879"/>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Critics say Dow Theory's signals usually miss:</a:t>
            </a:r>
          </a:p>
        </p:txBody>
      </p:sp>
      <p:sp>
        <p:nvSpPr>
          <p:cNvPr id="13" name="TextBox 12"/>
          <p:cNvSpPr txBox="1"/>
          <p:nvPr/>
        </p:nvSpPr>
        <p:spPr>
          <a:xfrm>
            <a:off x="1143000" y="4101591"/>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One third or more of the entire trend</a:t>
            </a:r>
          </a:p>
          <a:p>
            <a:pPr algn="l">
              <a:lnSpc>
                <a:spcPct val="115000"/>
              </a:lnSpc>
              <a:spcBef>
                <a:spcPts val="700"/>
              </a:spcBef>
              <a:spcAft>
                <a:spcPts val="0"/>
              </a:spcAft>
            </a:pPr>
            <a:r>
              <a:rPr sz="1600" b="0" i="0">
                <a:solidFill>
                  <a:srgbClr val="1A1A1A"/>
                </a:solidFill>
                <a:latin typeface="Arial"/>
              </a:rPr>
              <a:t>Waiting for confirmation costs one third or more of the move, which Dow accepted.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Check 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primary bull trend that ran twelve years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19 of 28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2.6</a:t>
            </a:r>
          </a:p>
          <a:p>
            <a:pPr algn="l">
              <a:lnSpc>
                <a:spcPct val="120000"/>
              </a:lnSpc>
              <a:spcBef>
                <a:spcPts val="0"/>
              </a:spcBef>
              <a:spcAft>
                <a:spcPts val="1800"/>
              </a:spcAft>
            </a:pPr>
            <a:r>
              <a:rPr sz="2200" b="0" i="0">
                <a:solidFill>
                  <a:srgbClr val="1A1A1A"/>
                </a:solidFill>
                <a:latin typeface="Palatino"/>
              </a:rPr>
              <a:t>A long term chart of gold labelled as a primary bull trend lasting approximately twelve years.</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2.6 - Lim, The Handbook of Technical Analysis (Wiley, 2016)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primary bear trend that ran twenty three years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20 of 28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2.7</a:t>
            </a:r>
          </a:p>
          <a:p>
            <a:pPr algn="l">
              <a:lnSpc>
                <a:spcPct val="120000"/>
              </a:lnSpc>
              <a:spcBef>
                <a:spcPts val="0"/>
              </a:spcBef>
              <a:spcAft>
                <a:spcPts val="1800"/>
              </a:spcAft>
            </a:pPr>
            <a:r>
              <a:rPr sz="2200" b="0" i="0">
                <a:solidFill>
                  <a:srgbClr val="1A1A1A"/>
                </a:solidFill>
                <a:latin typeface="Palatino"/>
              </a:rPr>
              <a:t>A long term chart of the 30 year Treasury bond yield labelled as a primary bear trend lasting approximately twenty three years.</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2.7 - Lim, The Handbook of Technical Analysis (Wiley, 2016)</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Two ways to define a trend, and they can disagree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21 of 28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One way is the sequence of rising or falling peaks and troughs, which is the definition we just learned.</a:t>
            </a:r>
          </a:p>
          <a:p>
            <a:pPr algn="l">
              <a:lnSpc>
                <a:spcPct val="118000"/>
              </a:lnSpc>
              <a:spcBef>
                <a:spcPts val="0"/>
              </a:spcBef>
              <a:spcAft>
                <a:spcPts val="1300"/>
              </a:spcAft>
            </a:pPr>
            <a:r>
              <a:rPr sz="2100" b="0" i="0">
                <a:solidFill>
                  <a:srgbClr val="1A1A1A"/>
                </a:solidFill>
                <a:latin typeface="Arial"/>
              </a:rPr>
              <a:t>The other way is a trendline violation.</a:t>
            </a:r>
          </a:p>
        </p:txBody>
      </p:sp>
      <p:sp>
        <p:nvSpPr>
          <p:cNvPr id="8" name="Rectangle 7"/>
          <p:cNvSpPr/>
          <p:nvPr/>
        </p:nvSpPr>
        <p:spPr>
          <a:xfrm>
            <a:off x="777240" y="358673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book says the two may date a change of trend differently.</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Arithmetic scaling</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price axis where equal distances up the page mean equal amounts of money.</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gap from 100 to 110 pesos is exactly the same height as the gap from 200 to 210 pesos.</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An arithmetically scaled chart plots price in equal price increments. Arithmetically scaled charts tend to give slower trend change signals, as uptrend lines are violated much later.</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22 of 28</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Logarithmic scaling</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price axis where equal distances up the page mean equal percentage moves.</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gap from 100 to 110 pesos is the same height as the gap from 200 to 220 pesos, because both are ten percent.</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logarithmically scaled chart plots price in equal proportional increments. Logarithmically scaled charts tend to give earlier trend change signals, since uptrend lines are violated sooner.</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23 of 28</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Log scaling, the earlier signal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24 of 28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2.8</a:t>
            </a:r>
          </a:p>
          <a:p>
            <a:pPr algn="l">
              <a:lnSpc>
                <a:spcPct val="120000"/>
              </a:lnSpc>
              <a:spcBef>
                <a:spcPts val="0"/>
              </a:spcBef>
              <a:spcAft>
                <a:spcPts val="1800"/>
              </a:spcAft>
            </a:pPr>
            <a:r>
              <a:rPr sz="2200" b="0" i="0">
                <a:solidFill>
                  <a:srgbClr val="1A1A1A"/>
                </a:solidFill>
                <a:latin typeface="Palatino"/>
              </a:rPr>
              <a:t>A logarithmically scaled chart of the Nasdaq 100 index through a bull market turning into a bear market, annotated with an earlier trend change signal.</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2.8 - Lim, The Handbook of Technical Analysis (Wiley, 2016)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Arithmetic scaling, the later signal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25 of 28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2.9</a:t>
            </a:r>
          </a:p>
          <a:p>
            <a:pPr algn="l">
              <a:lnSpc>
                <a:spcPct val="120000"/>
              </a:lnSpc>
              <a:spcBef>
                <a:spcPts val="0"/>
              </a:spcBef>
              <a:spcAft>
                <a:spcPts val="1800"/>
              </a:spcAft>
            </a:pPr>
            <a:r>
              <a:rPr sz="2200" b="0" i="0">
                <a:solidFill>
                  <a:srgbClr val="1A1A1A"/>
                </a:solidFill>
                <a:latin typeface="Palatino"/>
              </a:rPr>
              <a:t>The same Nasdaq 100 index over the same period on an arithmetic scale, annotated with a slower trend change signal.</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2.9 - Lim, The Handbook of Technical Analysis (Wiley, 2016)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One stock, flattening 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26 of 28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2.10</a:t>
            </a:r>
          </a:p>
          <a:p>
            <a:pPr algn="l">
              <a:lnSpc>
                <a:spcPct val="120000"/>
              </a:lnSpc>
              <a:spcBef>
                <a:spcPts val="0"/>
              </a:spcBef>
              <a:spcAft>
                <a:spcPts val="1800"/>
              </a:spcAft>
            </a:pPr>
            <a:r>
              <a:rPr sz="2200" b="0" i="0">
                <a:solidFill>
                  <a:srgbClr val="1A1A1A"/>
                </a:solidFill>
                <a:latin typeface="Palatino"/>
              </a:rPr>
              <a:t>A logarithmically scaled chart of Apple Inc. where the advance appears to be flattening out, which the book reads as more bearish behaviour.</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2.10 - Lim, The Handbook of Technical Analysis (Wiley, 2016)</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same stock, not flattening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27 of 28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2.11</a:t>
            </a:r>
          </a:p>
          <a:p>
            <a:pPr algn="l">
              <a:lnSpc>
                <a:spcPct val="120000"/>
              </a:lnSpc>
              <a:spcBef>
                <a:spcPts val="0"/>
              </a:spcBef>
              <a:spcAft>
                <a:spcPts val="1800"/>
              </a:spcAft>
            </a:pPr>
            <a:r>
              <a:rPr sz="2200" b="0" i="0">
                <a:solidFill>
                  <a:srgbClr val="1A1A1A"/>
                </a:solidFill>
                <a:latin typeface="Palatino"/>
              </a:rPr>
              <a:t>The same period of Apple Inc. on an arithmetic scale, where the same price action appears as a stronger and steadier uptrend.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2.11 - Lim, The Handbook of Technical Analysis (Wiley, 2016)</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Two analysts, two habits, two readings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28 of 28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Sometimes it is hard to decide which scaling to use.</a:t>
            </a:r>
          </a:p>
          <a:p>
            <a:pPr algn="l">
              <a:lnSpc>
                <a:spcPct val="118000"/>
              </a:lnSpc>
              <a:spcBef>
                <a:spcPts val="0"/>
              </a:spcBef>
              <a:spcAft>
                <a:spcPts val="1300"/>
              </a:spcAft>
            </a:pPr>
            <a:r>
              <a:rPr sz="2100" b="0" i="0">
                <a:solidFill>
                  <a:srgbClr val="1A1A1A"/>
                </a:solidFill>
                <a:latin typeface="Arial"/>
              </a:rPr>
              <a:t>An analyst who always uses log charts may read the same price differently from one who always uses arithmetic charts.</a:t>
            </a:r>
          </a:p>
        </p:txBody>
      </p:sp>
      <p:sp>
        <p:nvSpPr>
          <p:cNvPr id="8" name="Rectangle 7"/>
          <p:cNvSpPr/>
          <p:nvPr/>
        </p:nvSpPr>
        <p:spPr>
          <a:xfrm>
            <a:off x="777240" y="358673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Same prices, same period, different conclusion. Chapter 1 called that subjectivity.</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10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Scaling</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Logarithmically scaled charts tend to give:</a:t>
            </a:r>
          </a:p>
        </p:txBody>
      </p:sp>
      <p:sp>
        <p:nvSpPr>
          <p:cNvPr id="9" name="TextBox 8"/>
          <p:cNvSpPr txBox="1"/>
          <p:nvPr/>
        </p:nvSpPr>
        <p:spPr>
          <a:xfrm>
            <a:off x="1051560"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Earlier trend change signals</a:t>
            </a:r>
          </a:p>
          <a:p>
            <a:pPr algn="l">
              <a:lnSpc>
                <a:spcPct val="112000"/>
              </a:lnSpc>
              <a:spcBef>
                <a:spcPts val="0"/>
              </a:spcBef>
              <a:spcAft>
                <a:spcPts val="900"/>
              </a:spcAft>
            </a:pPr>
            <a:r>
              <a:rPr sz="1500" b="0" i="0">
                <a:solidFill>
                  <a:srgbClr val="FFFFFF"/>
                </a:solidFill>
                <a:latin typeface="Arial"/>
              </a:rPr>
              <a:t>B.  Later trend change signals</a:t>
            </a:r>
          </a:p>
          <a:p>
            <a:pPr algn="l">
              <a:lnSpc>
                <a:spcPct val="112000"/>
              </a:lnSpc>
              <a:spcBef>
                <a:spcPts val="0"/>
              </a:spcBef>
              <a:spcAft>
                <a:spcPts val="900"/>
              </a:spcAft>
            </a:pPr>
            <a:r>
              <a:rPr sz="1500" b="0" i="0">
                <a:solidFill>
                  <a:srgbClr val="FFFFFF"/>
                </a:solidFill>
                <a:latin typeface="Arial"/>
              </a:rPr>
              <a:t>C.  Exactly the same signals as arithmetic charts</a:t>
            </a:r>
          </a:p>
          <a:p>
            <a:pPr algn="l">
              <a:lnSpc>
                <a:spcPct val="112000"/>
              </a:lnSpc>
              <a:spcBef>
                <a:spcPts val="0"/>
              </a:spcBef>
              <a:spcAft>
                <a:spcPts val="900"/>
              </a:spcAft>
            </a:pPr>
            <a:r>
              <a:rPr sz="1500" b="0" i="0">
                <a:solidFill>
                  <a:srgbClr val="FFFFFF"/>
                </a:solidFill>
                <a:latin typeface="Arial"/>
              </a:rPr>
              <a:t>D.  No trend change signals at all</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On a logarithmic price axis, equal vertical distances represent:</a:t>
            </a:r>
          </a:p>
        </p:txBody>
      </p:sp>
      <p:sp>
        <p:nvSpPr>
          <p:cNvPr id="13" name="TextBox 12"/>
          <p:cNvSpPr txBox="1"/>
          <p:nvPr/>
        </p:nvSpPr>
        <p:spPr>
          <a:xfrm>
            <a:off x="6690207"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Equal amounts of pesos</a:t>
            </a:r>
          </a:p>
          <a:p>
            <a:pPr algn="l">
              <a:lnSpc>
                <a:spcPct val="112000"/>
              </a:lnSpc>
              <a:spcBef>
                <a:spcPts val="0"/>
              </a:spcBef>
              <a:spcAft>
                <a:spcPts val="900"/>
              </a:spcAft>
            </a:pPr>
            <a:r>
              <a:rPr sz="1500" b="0" i="0">
                <a:solidFill>
                  <a:srgbClr val="FFFFFF"/>
                </a:solidFill>
                <a:latin typeface="Arial"/>
              </a:rPr>
              <a:t>B.  Equal numbers of trading days</a:t>
            </a:r>
          </a:p>
          <a:p>
            <a:pPr algn="l">
              <a:lnSpc>
                <a:spcPct val="112000"/>
              </a:lnSpc>
              <a:spcBef>
                <a:spcPts val="0"/>
              </a:spcBef>
              <a:spcAft>
                <a:spcPts val="900"/>
              </a:spcAft>
            </a:pPr>
            <a:r>
              <a:rPr sz="1500" b="0" i="0">
                <a:solidFill>
                  <a:srgbClr val="FFFFFF"/>
                </a:solidFill>
                <a:latin typeface="Arial"/>
              </a:rPr>
              <a:t>C.  Equal percentage moves</a:t>
            </a:r>
          </a:p>
          <a:p>
            <a:pPr algn="l">
              <a:lnSpc>
                <a:spcPct val="112000"/>
              </a:lnSpc>
              <a:spcBef>
                <a:spcPts val="0"/>
              </a:spcBef>
              <a:spcAft>
                <a:spcPts val="900"/>
              </a:spcAft>
            </a:pPr>
            <a:r>
              <a:rPr sz="1500" b="0" i="0">
                <a:solidFill>
                  <a:srgbClr val="FFFFFF"/>
                </a:solidFill>
                <a:latin typeface="Arial"/>
              </a:rPr>
              <a:t>D.  Equal volumes traded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6 - Primary trend  |  Check 10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Scaling</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Logarithmically scaled charts tend to give:</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Earlier trend change signals</a:t>
            </a:r>
          </a:p>
          <a:p>
            <a:pPr algn="l">
              <a:lnSpc>
                <a:spcPct val="115000"/>
              </a:lnSpc>
              <a:spcBef>
                <a:spcPts val="700"/>
              </a:spcBef>
              <a:spcAft>
                <a:spcPts val="0"/>
              </a:spcAft>
            </a:pPr>
            <a:r>
              <a:rPr sz="1600" b="0" i="0">
                <a:solidFill>
                  <a:srgbClr val="1A1A1A"/>
                </a:solidFill>
                <a:latin typeface="Arial"/>
              </a:rPr>
              <a:t>Uptrend lines are violated sooner on a log scale, so the signal comes earlier.</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On a logarithmic price axis, equal vertical distances represent:</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Equal percentage moves</a:t>
            </a:r>
          </a:p>
          <a:p>
            <a:pPr algn="l">
              <a:lnSpc>
                <a:spcPct val="115000"/>
              </a:lnSpc>
              <a:spcBef>
                <a:spcPts val="700"/>
              </a:spcBef>
              <a:spcAft>
                <a:spcPts val="0"/>
              </a:spcAft>
            </a:pPr>
            <a:r>
              <a:rPr sz="1600" b="0" i="0">
                <a:solidFill>
                  <a:srgbClr val="1A1A1A"/>
                </a:solidFill>
                <a:latin typeface="Arial"/>
              </a:rPr>
              <a:t>Log scaling is proportional, so 100 to 110 and 200 to 220 are the same height.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Check 10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The three trends, and that they run together</a:t>
            </a:r>
          </a:p>
          <a:p>
            <a:pPr algn="l" marL="237744" indent="-237744">
              <a:lnSpc>
                <a:spcPct val="112000"/>
              </a:lnSpc>
              <a:spcBef>
                <a:spcPts val="0"/>
              </a:spcBef>
              <a:spcAft>
                <a:spcPts val="1200"/>
              </a:spcAft>
            </a:pPr>
            <a:r>
              <a:rPr sz="1800" b="0" i="0">
                <a:solidFill>
                  <a:srgbClr val="1A1A1A"/>
                </a:solidFill>
                <a:latin typeface="Arial"/>
              </a:rPr>
              <a:t>▪  The primary trend, and its two kinds</a:t>
            </a:r>
          </a:p>
          <a:p>
            <a:pPr algn="l" marL="237744" indent="-237744">
              <a:lnSpc>
                <a:spcPct val="112000"/>
              </a:lnSpc>
              <a:spcBef>
                <a:spcPts val="0"/>
              </a:spcBef>
              <a:spcAft>
                <a:spcPts val="1200"/>
              </a:spcAft>
            </a:pPr>
            <a:r>
              <a:rPr sz="1800" b="0" i="0">
                <a:solidFill>
                  <a:srgbClr val="1A1A1A"/>
                </a:solidFill>
                <a:latin typeface="Arial"/>
              </a:rPr>
              <a:t>▪  Uptrend and downtrend, as sequences of peaks and troughs</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Penetration, and why the signal is always late</a:t>
            </a:r>
          </a:p>
          <a:p>
            <a:pPr algn="l" marL="237744" indent="-237744">
              <a:lnSpc>
                <a:spcPct val="112000"/>
              </a:lnSpc>
              <a:spcBef>
                <a:spcPts val="0"/>
              </a:spcBef>
              <a:spcAft>
                <a:spcPts val="1200"/>
              </a:spcAft>
            </a:pPr>
            <a:r>
              <a:rPr sz="1800" b="0" i="0">
                <a:solidFill>
                  <a:srgbClr val="1A1A1A"/>
                </a:solidFill>
                <a:latin typeface="Arial"/>
              </a:rPr>
              <a:t>▪  Arithmetic and logarithmic scaling, and the two readings they produce</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recap</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4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The Secondary Reaction and the Minor Trend</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How far back a reaction against the primary trend usually comes.</a:t>
            </a:r>
          </a:p>
          <a:p>
            <a:pPr algn="l">
              <a:lnSpc>
                <a:spcPct val="115000"/>
              </a:lnSpc>
              <a:spcBef>
                <a:spcPts val="0"/>
              </a:spcBef>
              <a:spcAft>
                <a:spcPts val="1000"/>
              </a:spcAft>
            </a:pPr>
            <a:r>
              <a:rPr sz="1900" b="0" i="0">
                <a:solidFill>
                  <a:srgbClr val="FFFFFF"/>
                </a:solidFill>
                <a:latin typeface="Arial"/>
              </a:rPr>
              <a:t>The moment a reaction stops being a reaction.</a:t>
            </a:r>
          </a:p>
          <a:p>
            <a:pPr algn="l">
              <a:lnSpc>
                <a:spcPct val="115000"/>
              </a:lnSpc>
              <a:spcBef>
                <a:spcPts val="0"/>
              </a:spcBef>
              <a:spcAft>
                <a:spcPts val="1000"/>
              </a:spcAft>
            </a:pPr>
            <a:r>
              <a:rPr sz="1900" b="0" i="0">
                <a:solidFill>
                  <a:srgbClr val="FFFFFF"/>
                </a:solidFill>
                <a:latin typeface="Arial"/>
              </a:rPr>
              <a:t>The one small formation Dow Theory says you are allowed to trade.</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25 minutes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Secondary reaction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move against the primary trend that is big enough to notice but not big enough to be a new primary trend.</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market that has run from 4,000 to 5,200 and falls back to 4,400 is in a secondary reaction, not a bear market.</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secondary trend, also called the secondary reaction, moves in the opposite direction of the existing primary trend. It usually lasts from weeks to approximately three months, and frequently slightly longer.</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1 of 12</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far back a reaction usually comes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2 of 12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secondary reaction usually retraces from one third to two thirds of the primary trend's range.</a:t>
            </a:r>
          </a:p>
          <a:p>
            <a:pPr algn="l">
              <a:lnSpc>
                <a:spcPct val="118000"/>
              </a:lnSpc>
              <a:spcBef>
                <a:spcPts val="0"/>
              </a:spcBef>
              <a:spcAft>
                <a:spcPts val="1300"/>
              </a:spcAft>
            </a:pPr>
            <a:r>
              <a:rPr sz="2100" b="0" i="0">
                <a:solidFill>
                  <a:srgbClr val="1A1A1A"/>
                </a:solidFill>
                <a:latin typeface="Arial"/>
              </a:rPr>
              <a:t>Any retracement beyond two thirds on high volume usually signifies it may in fact be a new primary bear market.</a:t>
            </a:r>
          </a:p>
        </p:txBody>
      </p:sp>
      <p:sp>
        <p:nvSpPr>
          <p:cNvPr id="8" name="Rectangle 7"/>
          <p:cNvSpPr/>
          <p:nvPr/>
        </p:nvSpPr>
        <p:spPr>
          <a:xfrm>
            <a:off x="777240" y="3901439"/>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938015"/>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One third to two thirds is normal. Past two thirds, start worrying.</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And the level in the middle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3 of 12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Dow Theory stresses the importance and psychological significance of the 50 percent retracement level.</a:t>
            </a:r>
          </a:p>
          <a:p>
            <a:pPr algn="l">
              <a:lnSpc>
                <a:spcPct val="118000"/>
              </a:lnSpc>
              <a:spcBef>
                <a:spcPts val="0"/>
              </a:spcBef>
              <a:spcAft>
                <a:spcPts val="1300"/>
              </a:spcAft>
            </a:pPr>
            <a:r>
              <a:rPr sz="2100" b="0" i="0">
                <a:solidFill>
                  <a:srgbClr val="1A1A1A"/>
                </a:solidFill>
                <a:latin typeface="Arial"/>
              </a:rPr>
              <a:t>It is a view shared by another prominent technician, W. D. Gann.</a:t>
            </a:r>
          </a:p>
        </p:txBody>
      </p:sp>
      <p:sp>
        <p:nvSpPr>
          <p:cNvPr id="8" name="Rectangle 7"/>
          <p:cNvSpPr/>
          <p:nvPr/>
        </p:nvSpPr>
        <p:spPr>
          <a:xfrm>
            <a:off x="777240" y="358673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Half back is the level people watch, and the book says so plainly.</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far back a reaction comes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4 of 12</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e.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E - FIN1209 teaching chart, drawn for this course. Illustrative data, not a real instrument.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11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How deep a reaction goes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33972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Dow Theory, the secondary trend:</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Moves in the direction of the primary trend</a:t>
            </a:r>
          </a:p>
          <a:p>
            <a:pPr algn="l">
              <a:lnSpc>
                <a:spcPct val="112000"/>
              </a:lnSpc>
              <a:spcBef>
                <a:spcPts val="0"/>
              </a:spcBef>
              <a:spcAft>
                <a:spcPts val="900"/>
              </a:spcAft>
            </a:pPr>
            <a:r>
              <a:rPr sz="1500" b="0" i="0">
                <a:solidFill>
                  <a:srgbClr val="FFFFFF"/>
                </a:solidFill>
                <a:latin typeface="Arial"/>
              </a:rPr>
              <a:t>B.  Lasts from months to years</a:t>
            </a:r>
          </a:p>
          <a:p>
            <a:pPr algn="l">
              <a:lnSpc>
                <a:spcPct val="112000"/>
              </a:lnSpc>
              <a:spcBef>
                <a:spcPts val="0"/>
              </a:spcBef>
              <a:spcAft>
                <a:spcPts val="900"/>
              </a:spcAft>
            </a:pPr>
            <a:r>
              <a:rPr sz="1500" b="0" i="0">
                <a:solidFill>
                  <a:srgbClr val="FFFFFF"/>
                </a:solidFill>
                <a:latin typeface="Arial"/>
              </a:rPr>
              <a:t>C.  Normally retraces from one third to two thirds of the primary trend's range</a:t>
            </a:r>
          </a:p>
          <a:p>
            <a:pPr algn="l">
              <a:lnSpc>
                <a:spcPct val="112000"/>
              </a:lnSpc>
              <a:spcBef>
                <a:spcPts val="0"/>
              </a:spcBef>
              <a:spcAft>
                <a:spcPts val="900"/>
              </a:spcAft>
            </a:pPr>
            <a:r>
              <a:rPr sz="1500" b="0" i="0">
                <a:solidFill>
                  <a:srgbClr val="FFFFFF"/>
                </a:solidFill>
                <a:latin typeface="Arial"/>
              </a:rPr>
              <a:t>D.  Is always accompanied by very low volume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retracement that goes beyond two thirds on high volume usually signifies:</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deeper than usual secondary reaction</a:t>
            </a:r>
          </a:p>
          <a:p>
            <a:pPr algn="l">
              <a:lnSpc>
                <a:spcPct val="112000"/>
              </a:lnSpc>
              <a:spcBef>
                <a:spcPts val="0"/>
              </a:spcBef>
              <a:spcAft>
                <a:spcPts val="900"/>
              </a:spcAft>
            </a:pPr>
            <a:r>
              <a:rPr sz="1500" b="0" i="0">
                <a:solidFill>
                  <a:srgbClr val="FFFFFF"/>
                </a:solidFill>
                <a:latin typeface="Arial"/>
              </a:rPr>
              <a:t>B.  That the minor trend has taken over</a:t>
            </a:r>
          </a:p>
          <a:p>
            <a:pPr algn="l">
              <a:lnSpc>
                <a:spcPct val="112000"/>
              </a:lnSpc>
              <a:spcBef>
                <a:spcPts val="0"/>
              </a:spcBef>
              <a:spcAft>
                <a:spcPts val="900"/>
              </a:spcAft>
            </a:pPr>
            <a:r>
              <a:rPr sz="1500" b="0" i="0">
                <a:solidFill>
                  <a:srgbClr val="FFFFFF"/>
                </a:solidFill>
                <a:latin typeface="Arial"/>
              </a:rPr>
              <a:t>C.  That volume has stopped confirming</a:t>
            </a:r>
          </a:p>
          <a:p>
            <a:pPr algn="l">
              <a:lnSpc>
                <a:spcPct val="112000"/>
              </a:lnSpc>
              <a:spcBef>
                <a:spcPts val="0"/>
              </a:spcBef>
              <a:spcAft>
                <a:spcPts val="900"/>
              </a:spcAft>
            </a:pPr>
            <a:r>
              <a:rPr sz="1500" b="0" i="0">
                <a:solidFill>
                  <a:srgbClr val="FFFFFF"/>
                </a:solidFill>
                <a:latin typeface="Arial"/>
              </a:rPr>
              <a:t>D.  That it may in fact be a new primary bear market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4 of 6 - Secondary and minor  |  Check 11</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How deep a reaction goes</a:t>
            </a:r>
          </a:p>
        </p:txBody>
      </p:sp>
      <p:sp>
        <p:nvSpPr>
          <p:cNvPr id="6" name="Rectangle 5"/>
          <p:cNvSpPr/>
          <p:nvPr/>
        </p:nvSpPr>
        <p:spPr>
          <a:xfrm>
            <a:off x="777240" y="1207008"/>
            <a:ext cx="10637215" cy="21539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1539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In Dow Theory, the secondary trend:</a:t>
            </a:r>
          </a:p>
        </p:txBody>
      </p:sp>
      <p:sp>
        <p:nvSpPr>
          <p:cNvPr id="9" name="TextBox 8"/>
          <p:cNvSpPr txBox="1"/>
          <p:nvPr/>
        </p:nvSpPr>
        <p:spPr>
          <a:xfrm>
            <a:off x="1143000" y="1934464"/>
            <a:ext cx="9905695" cy="14986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Normally retraces from one third to two thirds of the primary trend's range</a:t>
            </a:r>
          </a:p>
          <a:p>
            <a:pPr algn="l">
              <a:lnSpc>
                <a:spcPct val="115000"/>
              </a:lnSpc>
              <a:spcBef>
                <a:spcPts val="700"/>
              </a:spcBef>
              <a:spcAft>
                <a:spcPts val="0"/>
              </a:spcAft>
            </a:pPr>
            <a:r>
              <a:rPr sz="1600" b="0" i="0">
                <a:solidFill>
                  <a:srgbClr val="1A1A1A"/>
                </a:solidFill>
                <a:latin typeface="Arial"/>
              </a:rPr>
              <a:t>It moves against the primary trend, lasts weeks to about three months, and retraces one to two thirds.</a:t>
            </a:r>
          </a:p>
        </p:txBody>
      </p:sp>
      <p:sp>
        <p:nvSpPr>
          <p:cNvPr id="10" name="Rectangle 9"/>
          <p:cNvSpPr/>
          <p:nvPr/>
        </p:nvSpPr>
        <p:spPr>
          <a:xfrm>
            <a:off x="777240" y="3607815"/>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607815"/>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845559"/>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retracement that goes beyond two thirds on high volume usually signifies:</a:t>
            </a:r>
          </a:p>
        </p:txBody>
      </p:sp>
      <p:sp>
        <p:nvSpPr>
          <p:cNvPr id="13" name="TextBox 12"/>
          <p:cNvSpPr txBox="1"/>
          <p:nvPr/>
        </p:nvSpPr>
        <p:spPr>
          <a:xfrm>
            <a:off x="1143000" y="43352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That it may in fact be a new primary bear market</a:t>
            </a:r>
          </a:p>
          <a:p>
            <a:pPr algn="l">
              <a:lnSpc>
                <a:spcPct val="115000"/>
              </a:lnSpc>
              <a:spcBef>
                <a:spcPts val="700"/>
              </a:spcBef>
              <a:spcAft>
                <a:spcPts val="0"/>
              </a:spcAft>
            </a:pPr>
            <a:r>
              <a:rPr sz="1600" b="0" i="0">
                <a:solidFill>
                  <a:srgbClr val="1A1A1A"/>
                </a:solidFill>
                <a:latin typeface="Arial"/>
              </a:rPr>
              <a:t>Past two thirds on high volume, the book stops calling it a reaction.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Check 11</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When the primary trend resumes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5 of 12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 primary bull trend resumes its uptrend once price breaches the highest peak formed by the secondary reaction.</a:t>
            </a:r>
          </a:p>
          <a:p>
            <a:pPr algn="l">
              <a:lnSpc>
                <a:spcPct val="118000"/>
              </a:lnSpc>
              <a:spcBef>
                <a:spcPts val="0"/>
              </a:spcBef>
              <a:spcAft>
                <a:spcPts val="1300"/>
              </a:spcAft>
            </a:pPr>
            <a:r>
              <a:rPr sz="2100" b="0" i="0">
                <a:solidFill>
                  <a:srgbClr val="1A1A1A"/>
                </a:solidFill>
                <a:latin typeface="Arial"/>
              </a:rPr>
              <a:t>A primary bear trend resumes its downtrend once price breaches the lowest trough formed by the secondary reaction.</a:t>
            </a:r>
          </a:p>
        </p:txBody>
      </p:sp>
      <p:sp>
        <p:nvSpPr>
          <p:cNvPr id="8" name="Rectangle 7"/>
          <p:cNvSpPr/>
          <p:nvPr/>
        </p:nvSpPr>
        <p:spPr>
          <a:xfrm>
            <a:off x="777240" y="3901439"/>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938015"/>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reaction is over when the peak it made is taken out.</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reaction of 75 percent, and the resumption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6 of 12</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2.12</a:t>
            </a:r>
          </a:p>
          <a:p>
            <a:pPr algn="l">
              <a:lnSpc>
                <a:spcPct val="120000"/>
              </a:lnSpc>
              <a:spcBef>
                <a:spcPts val="0"/>
              </a:spcBef>
              <a:spcAft>
                <a:spcPts val="1800"/>
              </a:spcAft>
            </a:pPr>
            <a:r>
              <a:rPr sz="2200" b="0" i="0">
                <a:solidFill>
                  <a:srgbClr val="1A1A1A"/>
                </a:solidFill>
                <a:latin typeface="Palatino"/>
              </a:rPr>
              <a:t>The Dow Jones Industrial Average with a secondary reaction retracing about 75 percent of the primary trend's range, and the primary bull market resuming its uptrend on breaching the highest peak formed during the reaction.</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2.12 - Lim, The Handbook of Technical Analysis (Wiley, 2016)</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Reactions of several depths on one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7 of 12</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2.13</a:t>
            </a:r>
          </a:p>
          <a:p>
            <a:pPr algn="l">
              <a:lnSpc>
                <a:spcPct val="120000"/>
              </a:lnSpc>
              <a:spcBef>
                <a:spcPts val="0"/>
              </a:spcBef>
              <a:spcAft>
                <a:spcPts val="1800"/>
              </a:spcAft>
            </a:pPr>
            <a:r>
              <a:rPr sz="2200" b="0" i="0">
                <a:solidFill>
                  <a:srgbClr val="1A1A1A"/>
                </a:solidFill>
                <a:latin typeface="Palatino"/>
              </a:rPr>
              <a:t>A daily chart of the EURUSD with several secondary reactions marked at roughly one third, one half and two thirds retracements.</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2.13 - Lim, The Handbook of Technical Analysis (Wiley, 2016)</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12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Resumption</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primary bull trend resumes its uptrend once price:</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Breaches the highest peak formed by the secondary reaction</a:t>
            </a:r>
          </a:p>
          <a:p>
            <a:pPr algn="l">
              <a:lnSpc>
                <a:spcPct val="112000"/>
              </a:lnSpc>
              <a:spcBef>
                <a:spcPts val="0"/>
              </a:spcBef>
              <a:spcAft>
                <a:spcPts val="900"/>
              </a:spcAft>
            </a:pPr>
            <a:r>
              <a:rPr sz="1500" b="0" i="0">
                <a:solidFill>
                  <a:srgbClr val="FFFFFF"/>
                </a:solidFill>
                <a:latin typeface="Arial"/>
              </a:rPr>
              <a:t>B.  Falls back by less than half of the primary trend's range</a:t>
            </a:r>
          </a:p>
          <a:p>
            <a:pPr algn="l">
              <a:lnSpc>
                <a:spcPct val="112000"/>
              </a:lnSpc>
              <a:spcBef>
                <a:spcPts val="0"/>
              </a:spcBef>
              <a:spcAft>
                <a:spcPts val="900"/>
              </a:spcAft>
            </a:pPr>
            <a:r>
              <a:rPr sz="1500" b="0" i="0">
                <a:solidFill>
                  <a:srgbClr val="FFFFFF"/>
                </a:solidFill>
                <a:latin typeface="Arial"/>
              </a:rPr>
              <a:t>C.  Closes above its own opening price</a:t>
            </a:r>
          </a:p>
          <a:p>
            <a:pPr algn="l">
              <a:lnSpc>
                <a:spcPct val="112000"/>
              </a:lnSpc>
              <a:spcBef>
                <a:spcPts val="0"/>
              </a:spcBef>
              <a:spcAft>
                <a:spcPts val="900"/>
              </a:spcAft>
            </a:pPr>
            <a:r>
              <a:rPr sz="1500" b="0" i="0">
                <a:solidFill>
                  <a:srgbClr val="FFFFFF"/>
                </a:solidFill>
                <a:latin typeface="Arial"/>
              </a:rPr>
              <a:t>D.  Retraces beyond two thirds</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reaction retraces about 75 percent, and the primary bull trend then resumes. What does that tell you?</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one third to two thirds guide is a rule with no exceptions</a:t>
            </a:r>
          </a:p>
          <a:p>
            <a:pPr algn="l">
              <a:lnSpc>
                <a:spcPct val="112000"/>
              </a:lnSpc>
              <a:spcBef>
                <a:spcPts val="0"/>
              </a:spcBef>
              <a:spcAft>
                <a:spcPts val="900"/>
              </a:spcAft>
            </a:pPr>
            <a:r>
              <a:rPr sz="1500" b="0" i="0">
                <a:solidFill>
                  <a:srgbClr val="FFFFFF"/>
                </a:solidFill>
                <a:latin typeface="Arial"/>
              </a:rPr>
              <a:t>B.  Depth alone does not settle what a move is</a:t>
            </a:r>
          </a:p>
          <a:p>
            <a:pPr algn="l">
              <a:lnSpc>
                <a:spcPct val="112000"/>
              </a:lnSpc>
              <a:spcBef>
                <a:spcPts val="0"/>
              </a:spcBef>
              <a:spcAft>
                <a:spcPts val="900"/>
              </a:spcAft>
            </a:pPr>
            <a:r>
              <a:rPr sz="1500" b="0" i="0">
                <a:solidFill>
                  <a:srgbClr val="FFFFFF"/>
                </a:solidFill>
                <a:latin typeface="Arial"/>
              </a:rPr>
              <a:t>C.  Retracements are always measured on weekly charts</a:t>
            </a:r>
          </a:p>
          <a:p>
            <a:pPr algn="l">
              <a:lnSpc>
                <a:spcPct val="112000"/>
              </a:lnSpc>
              <a:spcBef>
                <a:spcPts val="0"/>
              </a:spcBef>
              <a:spcAft>
                <a:spcPts val="900"/>
              </a:spcAft>
            </a:pPr>
            <a:r>
              <a:rPr sz="1500" b="0" i="0">
                <a:solidFill>
                  <a:srgbClr val="FFFFFF"/>
                </a:solidFill>
                <a:latin typeface="Arial"/>
              </a:rPr>
              <a:t>D.  The primary trend had already ended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4 of 6 - Secondary and minor  |  Check 12</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Resumption</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primary bull trend resumes its uptrend once price:</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Breaches the highest peak formed by the secondary reaction</a:t>
            </a:r>
          </a:p>
          <a:p>
            <a:pPr algn="l">
              <a:lnSpc>
                <a:spcPct val="115000"/>
              </a:lnSpc>
              <a:spcBef>
                <a:spcPts val="700"/>
              </a:spcBef>
              <a:spcAft>
                <a:spcPts val="0"/>
              </a:spcAft>
            </a:pPr>
            <a:r>
              <a:rPr sz="1600" b="0" i="0">
                <a:solidFill>
                  <a:srgbClr val="1A1A1A"/>
                </a:solidFill>
                <a:latin typeface="Arial"/>
              </a:rPr>
              <a:t>The reaction ends when the peak it formed is penetrated.</a:t>
            </a:r>
          </a:p>
        </p:txBody>
      </p:sp>
      <p:sp>
        <p:nvSpPr>
          <p:cNvPr id="10" name="Rectangle 9"/>
          <p:cNvSpPr/>
          <p:nvPr/>
        </p:nvSpPr>
        <p:spPr>
          <a:xfrm>
            <a:off x="777240" y="308203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reaction retraces about 75 percent, and the primary bull trend then resumes. What does that tell you?</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Depth alone does not settle what a move is</a:t>
            </a:r>
          </a:p>
          <a:p>
            <a:pPr algn="l">
              <a:lnSpc>
                <a:spcPct val="115000"/>
              </a:lnSpc>
              <a:spcBef>
                <a:spcPts val="700"/>
              </a:spcBef>
              <a:spcAft>
                <a:spcPts val="0"/>
              </a:spcAft>
            </a:pPr>
            <a:r>
              <a:rPr sz="1600" b="0" i="0">
                <a:solidFill>
                  <a:srgbClr val="1A1A1A"/>
                </a:solidFill>
                <a:latin typeface="Arial"/>
              </a:rPr>
              <a:t>It is why Rhea called the secondary reaction the most deceptive movement.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Check 12</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Minor trend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day to day movement. Dow Theory does not regard it as important.</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share closes up 40 centavos on Tuesday and down 30 centavos on Wednesday. Dow Theory calls that noise.</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Minor trends usually last from days to weeks. Under Dow Theory the day's erratic fluctuations represent market noise, and no investment decision should be based on such activity, with the exception of lines being formed.</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8 of 12</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1325880"/>
            <a:ext cx="109728" cy="133223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818181"/>
                </a:solidFill>
                <a:latin typeface="Arial"/>
              </a:rPr>
              <a:t>A definition worth writing down</a:t>
            </a:r>
          </a:p>
        </p:txBody>
      </p:sp>
      <p:sp>
        <p:nvSpPr>
          <p:cNvPr id="6" name="TextBox 5"/>
          <p:cNvSpPr txBox="1"/>
          <p:nvPr/>
        </p:nvSpPr>
        <p:spPr>
          <a:xfrm>
            <a:off x="1161288" y="1371600"/>
            <a:ext cx="10253167" cy="1332230"/>
          </a:xfrm>
          <a:prstGeom prst="rect">
            <a:avLst/>
          </a:prstGeom>
          <a:noFill/>
        </p:spPr>
        <p:txBody>
          <a:bodyPr wrap="square" anchor="t" lIns="0" rIns="0" tIns="0" bIns="0">
            <a:spAutoFit/>
          </a:bodyPr>
          <a:lstStyle/>
          <a:p>
            <a:pPr algn="l">
              <a:lnSpc>
                <a:spcPct val="120000"/>
              </a:lnSpc>
              <a:spcBef>
                <a:spcPts val="0"/>
              </a:spcBef>
              <a:spcAft>
                <a:spcPts val="0"/>
              </a:spcAft>
            </a:pPr>
            <a:r>
              <a:rPr sz="2500" b="0" i="0">
                <a:solidFill>
                  <a:srgbClr val="1A1A1A"/>
                </a:solidFill>
                <a:latin typeface="Palatino"/>
              </a:rPr>
              <a:t>"The stock market is not logical in its movements from day to day."</a:t>
            </a:r>
          </a:p>
          <a:p>
            <a:pPr algn="l">
              <a:lnSpc>
                <a:spcPct val="100000"/>
              </a:lnSpc>
              <a:spcBef>
                <a:spcPts val="1400"/>
              </a:spcBef>
              <a:spcAft>
                <a:spcPts val="0"/>
              </a:spcAft>
            </a:pPr>
            <a:r>
              <a:rPr sz="1400" b="0" i="0">
                <a:solidFill>
                  <a:srgbClr val="818181"/>
                </a:solidFill>
                <a:latin typeface="Arial"/>
              </a:rPr>
              <a:t>William P. Hamilton, The Stock Market Barometer, quoted in Lim, The Handbook of Technical Analysis</a:t>
            </a:r>
          </a:p>
        </p:txBody>
      </p:sp>
      <p:sp>
        <p:nvSpPr>
          <p:cNvPr id="7" name="TextBox 6"/>
          <p:cNvSpPr txBox="1"/>
          <p:nvPr/>
        </p:nvSpPr>
        <p:spPr>
          <a:xfrm>
            <a:off x="777240" y="3023870"/>
            <a:ext cx="10637215" cy="128016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818181"/>
                </a:solidFill>
                <a:latin typeface="Arial"/>
              </a:rPr>
              <a:t>What it tells us</a:t>
            </a:r>
          </a:p>
          <a:p>
            <a:pPr algn="l">
              <a:lnSpc>
                <a:spcPct val="115000"/>
              </a:lnSpc>
              <a:spcBef>
                <a:spcPts val="0"/>
              </a:spcBef>
              <a:spcAft>
                <a:spcPts val="0"/>
              </a:spcAft>
            </a:pPr>
            <a:r>
              <a:rPr sz="2100" b="1" i="0">
                <a:solidFill>
                  <a:srgbClr val="007A33"/>
                </a:solidFill>
                <a:latin typeface="Arial"/>
              </a:rPr>
              <a:t>Which is exactly why Dow Theory refuses to trade the daily movement.</a:t>
            </a:r>
          </a:p>
        </p:txBody>
      </p:sp>
      <p:sp>
        <p:nvSpPr>
          <p:cNvPr id="8" name="TextBox 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9 of 12</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Line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narrow sideways range on the daily chart. The market stops going anywhere for a while.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Price spends five weeks between 63 and 66 pesos ahead of an announcement, then breaks sharply out of that range.</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Lines are narrow horizontal ranging formations on the daily chart. They are usually formed in anticipation of some significant news or economic announcement, and these narrow consolidations usually result in strong breakouts.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10 of 12</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the book lets you trade a line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11 of 12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Dow Theory recognizes lines as potentially profitable formations, even though they are essentially minor trends.</a:t>
            </a:r>
          </a:p>
          <a:p>
            <a:pPr algn="l">
              <a:lnSpc>
                <a:spcPct val="118000"/>
              </a:lnSpc>
              <a:spcBef>
                <a:spcPts val="0"/>
              </a:spcBef>
              <a:spcAft>
                <a:spcPts val="1300"/>
              </a:spcAft>
            </a:pPr>
            <a:r>
              <a:rPr sz="2100" b="0" i="0">
                <a:solidFill>
                  <a:srgbClr val="1A1A1A"/>
                </a:solidFill>
                <a:latin typeface="Arial"/>
              </a:rPr>
              <a:t>A line is the only tradable formation under Dow Theory other than inflection point breakouts in the primary trend.</a:t>
            </a:r>
          </a:p>
        </p:txBody>
      </p:sp>
      <p:sp>
        <p:nvSpPr>
          <p:cNvPr id="8" name="Rectangle 7"/>
          <p:cNvSpPr/>
          <p:nvPr/>
        </p:nvSpPr>
        <p:spPr>
          <a:xfrm>
            <a:off x="777240" y="390143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93801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So the whole theory gives you two things to trade: the primary trend, and lines.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line, and its breakout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12 of 12</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2.14</a:t>
            </a:r>
          </a:p>
          <a:p>
            <a:pPr algn="l">
              <a:lnSpc>
                <a:spcPct val="120000"/>
              </a:lnSpc>
              <a:spcBef>
                <a:spcPts val="0"/>
              </a:spcBef>
              <a:spcAft>
                <a:spcPts val="1800"/>
              </a:spcAft>
            </a:pPr>
            <a:r>
              <a:rPr sz="2200" b="0" i="0">
                <a:solidFill>
                  <a:srgbClr val="1A1A1A"/>
                </a:solidFill>
                <a:latin typeface="Palatino"/>
              </a:rPr>
              <a:t>A daily chart of the GBPUSD with a narrow horizontal range lasting 106 days and spanning about 4.2 percent of the midrange price, and the breakout out of it marked.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2.14 - Lim, The Handbook of Technical Analysis (Wiley, 2016)</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13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Minor trends and lines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of the following did Dow consider tradable? I. Primary trend. II. Secondary trend. III. Minor trends. IV. Lines in the market.</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Only I and IV</a:t>
            </a:r>
          </a:p>
          <a:p>
            <a:pPr algn="l">
              <a:lnSpc>
                <a:spcPct val="112000"/>
              </a:lnSpc>
              <a:spcBef>
                <a:spcPts val="0"/>
              </a:spcBef>
              <a:spcAft>
                <a:spcPts val="900"/>
              </a:spcAft>
            </a:pPr>
            <a:r>
              <a:rPr sz="1500" b="0" i="0">
                <a:solidFill>
                  <a:srgbClr val="FFFFFF"/>
                </a:solidFill>
                <a:latin typeface="Arial"/>
              </a:rPr>
              <a:t>B.  Only I, II and III</a:t>
            </a:r>
          </a:p>
          <a:p>
            <a:pPr algn="l">
              <a:lnSpc>
                <a:spcPct val="112000"/>
              </a:lnSpc>
              <a:spcBef>
                <a:spcPts val="0"/>
              </a:spcBef>
              <a:spcAft>
                <a:spcPts val="900"/>
              </a:spcAft>
            </a:pPr>
            <a:r>
              <a:rPr sz="1500" b="0" i="0">
                <a:solidFill>
                  <a:srgbClr val="FFFFFF"/>
                </a:solidFill>
                <a:latin typeface="Arial"/>
              </a:rPr>
              <a:t>C.  Only I</a:t>
            </a:r>
          </a:p>
          <a:p>
            <a:pPr algn="l">
              <a:lnSpc>
                <a:spcPct val="112000"/>
              </a:lnSpc>
              <a:spcBef>
                <a:spcPts val="0"/>
              </a:spcBef>
              <a:spcAft>
                <a:spcPts val="900"/>
              </a:spcAft>
            </a:pPr>
            <a:r>
              <a:rPr sz="1500" b="0" i="0">
                <a:solidFill>
                  <a:srgbClr val="FFFFFF"/>
                </a:solidFill>
                <a:latin typeface="Arial"/>
              </a:rPr>
              <a:t>D.  All are correct</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33972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line is best described as:</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trendline drawn through the lows</a:t>
            </a:r>
          </a:p>
          <a:p>
            <a:pPr algn="l">
              <a:lnSpc>
                <a:spcPct val="112000"/>
              </a:lnSpc>
              <a:spcBef>
                <a:spcPts val="0"/>
              </a:spcBef>
              <a:spcAft>
                <a:spcPts val="900"/>
              </a:spcAft>
            </a:pPr>
            <a:r>
              <a:rPr sz="1500" b="0" i="0">
                <a:solidFill>
                  <a:srgbClr val="FFFFFF"/>
                </a:solidFill>
                <a:latin typeface="Arial"/>
              </a:rPr>
              <a:t>B.  The direction of the primary trend</a:t>
            </a:r>
          </a:p>
          <a:p>
            <a:pPr algn="l">
              <a:lnSpc>
                <a:spcPct val="112000"/>
              </a:lnSpc>
              <a:spcBef>
                <a:spcPts val="0"/>
              </a:spcBef>
              <a:spcAft>
                <a:spcPts val="900"/>
              </a:spcAft>
            </a:pPr>
            <a:r>
              <a:rPr sz="1500" b="0" i="0">
                <a:solidFill>
                  <a:srgbClr val="FFFFFF"/>
                </a:solidFill>
                <a:latin typeface="Arial"/>
              </a:rPr>
              <a:t>C.  A narrow horizontal ranging formation on the daily chart</a:t>
            </a:r>
          </a:p>
          <a:p>
            <a:pPr algn="l">
              <a:lnSpc>
                <a:spcPct val="112000"/>
              </a:lnSpc>
              <a:spcBef>
                <a:spcPts val="0"/>
              </a:spcBef>
              <a:spcAft>
                <a:spcPts val="900"/>
              </a:spcAft>
            </a:pPr>
            <a:r>
              <a:rPr sz="1500" b="0" i="0">
                <a:solidFill>
                  <a:srgbClr val="FFFFFF"/>
                </a:solidFill>
                <a:latin typeface="Arial"/>
              </a:rPr>
              <a:t>D.  The 50 percent retracement level</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4 of 6 - Secondary and minor  |  Check 13</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Minor trends and lines</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Which of the following did Dow consider tradable? I. Primary trend. II. Secondary trend. III. Minor trends. IV. Lines in the market.</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Only I and IV</a:t>
            </a:r>
          </a:p>
          <a:p>
            <a:pPr algn="l">
              <a:lnSpc>
                <a:spcPct val="115000"/>
              </a:lnSpc>
              <a:spcBef>
                <a:spcPts val="700"/>
              </a:spcBef>
              <a:spcAft>
                <a:spcPts val="0"/>
              </a:spcAft>
            </a:pPr>
            <a:r>
              <a:rPr sz="1600" b="0" i="0">
                <a:solidFill>
                  <a:srgbClr val="1A1A1A"/>
                </a:solidFill>
                <a:latin typeface="Arial"/>
              </a:rPr>
              <a:t>The primary trend, and lines. Nothing else is tradable under Dow Theory.</a:t>
            </a:r>
          </a:p>
        </p:txBody>
      </p:sp>
      <p:sp>
        <p:nvSpPr>
          <p:cNvPr id="10" name="Rectangle 9"/>
          <p:cNvSpPr/>
          <p:nvPr/>
        </p:nvSpPr>
        <p:spPr>
          <a:xfrm>
            <a:off x="777240" y="331571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line is best described as:</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A narrow horizontal ranging formation on the daily chart</a:t>
            </a:r>
          </a:p>
          <a:p>
            <a:pPr algn="l">
              <a:lnSpc>
                <a:spcPct val="115000"/>
              </a:lnSpc>
              <a:spcBef>
                <a:spcPts val="700"/>
              </a:spcBef>
              <a:spcAft>
                <a:spcPts val="0"/>
              </a:spcAft>
            </a:pPr>
            <a:r>
              <a:rPr sz="1600" b="0" i="0">
                <a:solidFill>
                  <a:srgbClr val="1A1A1A"/>
                </a:solidFill>
                <a:latin typeface="Arial"/>
              </a:rPr>
              <a:t>A line is flat price action, not a line anybody draws on the chart.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Check 13</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The secondary reaction, and how long it lasts</a:t>
            </a:r>
          </a:p>
          <a:p>
            <a:pPr algn="l" marL="237744" indent="-237744">
              <a:lnSpc>
                <a:spcPct val="112000"/>
              </a:lnSpc>
              <a:spcBef>
                <a:spcPts val="0"/>
              </a:spcBef>
              <a:spcAft>
                <a:spcPts val="1200"/>
              </a:spcAft>
            </a:pPr>
            <a:r>
              <a:rPr sz="1800" b="0" i="0">
                <a:solidFill>
                  <a:srgbClr val="1A1A1A"/>
                </a:solidFill>
                <a:latin typeface="Arial"/>
              </a:rPr>
              <a:t>▪  One third to two thirds, and the 50 percent level</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When a reaction stops being a reaction</a:t>
            </a:r>
          </a:p>
          <a:p>
            <a:pPr algn="l" marL="237744" indent="-237744">
              <a:lnSpc>
                <a:spcPct val="112000"/>
              </a:lnSpc>
              <a:spcBef>
                <a:spcPts val="0"/>
              </a:spcBef>
              <a:spcAft>
                <a:spcPts val="1200"/>
              </a:spcAft>
            </a:pPr>
            <a:r>
              <a:rPr sz="1800" b="0" i="0">
                <a:solidFill>
                  <a:srgbClr val="1A1A1A"/>
                </a:solidFill>
                <a:latin typeface="Arial"/>
              </a:rPr>
              <a:t>▪  How a primary trend resumes</a:t>
            </a:r>
          </a:p>
          <a:p>
            <a:pPr algn="l" marL="237744" indent="-237744">
              <a:lnSpc>
                <a:spcPct val="112000"/>
              </a:lnSpc>
              <a:spcBef>
                <a:spcPts val="0"/>
              </a:spcBef>
              <a:spcAft>
                <a:spcPts val="1200"/>
              </a:spcAft>
            </a:pPr>
            <a:r>
              <a:rPr sz="1800" b="0" i="0">
                <a:solidFill>
                  <a:srgbClr val="1A1A1A"/>
                </a:solidFill>
                <a:latin typeface="Arial"/>
              </a:rPr>
              <a:t>▪  The minor trend, market noise, and the line</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recap</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5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Three Phases, and When a Trend Reverses</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The three phases every primary trend passes through, and who is buying in each.</a:t>
            </a:r>
          </a:p>
          <a:p>
            <a:pPr algn="l">
              <a:lnSpc>
                <a:spcPct val="115000"/>
              </a:lnSpc>
              <a:spcBef>
                <a:spcPts val="0"/>
              </a:spcBef>
              <a:spcAft>
                <a:spcPts val="1000"/>
              </a:spcAft>
            </a:pPr>
            <a:r>
              <a:rPr sz="1900" b="0" i="0">
                <a:solidFill>
                  <a:srgbClr val="FFFFFF"/>
                </a:solidFill>
                <a:latin typeface="Arial"/>
              </a:rPr>
              <a:t>Why one phase always lasts longer than the other.</a:t>
            </a:r>
          </a:p>
          <a:p>
            <a:pPr algn="l">
              <a:lnSpc>
                <a:spcPct val="115000"/>
              </a:lnSpc>
              <a:spcBef>
                <a:spcPts val="0"/>
              </a:spcBef>
              <a:spcAft>
                <a:spcPts val="1000"/>
              </a:spcAft>
            </a:pPr>
            <a:r>
              <a:rPr sz="1900" b="0" i="0">
                <a:solidFill>
                  <a:srgbClr val="FFFFFF"/>
                </a:solidFill>
                <a:latin typeface="Arial"/>
              </a:rPr>
              <a:t>The three formations that say a trend has turned.</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30 minutes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third tenet: primary trends have three phases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1 of 22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Accumulation phase.</a:t>
            </a:r>
          </a:p>
          <a:p>
            <a:pPr algn="l">
              <a:lnSpc>
                <a:spcPct val="118000"/>
              </a:lnSpc>
              <a:spcBef>
                <a:spcPts val="0"/>
              </a:spcBef>
              <a:spcAft>
                <a:spcPts val="1300"/>
              </a:spcAft>
            </a:pPr>
            <a:r>
              <a:rPr sz="2100" b="0" i="0">
                <a:solidFill>
                  <a:srgbClr val="1A1A1A"/>
                </a:solidFill>
                <a:latin typeface="Arial"/>
              </a:rPr>
              <a:t>2.  Trending phase.</a:t>
            </a:r>
          </a:p>
          <a:p>
            <a:pPr algn="l">
              <a:lnSpc>
                <a:spcPct val="118000"/>
              </a:lnSpc>
              <a:spcBef>
                <a:spcPts val="0"/>
              </a:spcBef>
              <a:spcAft>
                <a:spcPts val="1300"/>
              </a:spcAft>
            </a:pPr>
            <a:r>
              <a:rPr sz="2100" b="0" i="0">
                <a:solidFill>
                  <a:srgbClr val="1A1A1A"/>
                </a:solidFill>
                <a:latin typeface="Arial"/>
              </a:rPr>
              <a:t>3.  Distribution phase.</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Primary trends. Not all trends. That distinction is asked directly.</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Accumulation phase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quiet stretch after a bad fall, where informed buyers pick up shares cheaply from people who have given up.</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share falls from 180 to 95 pesos on bad results. It then goes nowhere for a year while somebody quietly buys it.</a:t>
            </a:r>
          </a:p>
        </p:txBody>
      </p:sp>
      <p:sp>
        <p:nvSpPr>
          <p:cNvPr id="11" name="Rectangle 10"/>
          <p:cNvSpPr/>
          <p:nvPr/>
        </p:nvSpPr>
        <p:spPr>
          <a:xfrm>
            <a:off x="777240" y="4575556"/>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Accumulation normally occurs after a deep and rapid decline in prices following companies releasing very negative data. The uninformed participants are extremely bearish and sell at any price available, while the better informed start accumulating at extremely cheap prices.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2 of 22</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Who is on each side during accumulation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3 of 22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uninformed participants are usually extremely bearish, selling off whatever shares they have left at any price.</a:t>
            </a:r>
          </a:p>
          <a:p>
            <a:pPr algn="l">
              <a:lnSpc>
                <a:spcPct val="118000"/>
              </a:lnSpc>
              <a:spcBef>
                <a:spcPts val="0"/>
              </a:spcBef>
              <a:spcAft>
                <a:spcPts val="1300"/>
              </a:spcAft>
            </a:pPr>
            <a:r>
              <a:rPr sz="2100" b="0" i="0">
                <a:solidFill>
                  <a:srgbClr val="1A1A1A"/>
                </a:solidFill>
                <a:latin typeface="Arial"/>
              </a:rPr>
              <a:t>The better informed participants start accumulating shares at extremely cheap prices.</a:t>
            </a:r>
          </a:p>
        </p:txBody>
      </p:sp>
      <p:sp>
        <p:nvSpPr>
          <p:cNvPr id="8" name="Rectangle 7"/>
          <p:cNvSpPr/>
          <p:nvPr/>
        </p:nvSpPr>
        <p:spPr>
          <a:xfrm>
            <a:off x="777240" y="3901439"/>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938015"/>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sentiment is worst exactly where the informed money is buying.</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Trending phase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middle stretch, where the move becomes obvious and the public arrives.</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share leaves 95 pesos, reaches 140, and only then starts appearing in the news as a good buy.</a:t>
            </a:r>
          </a:p>
        </p:txBody>
      </p:sp>
      <p:sp>
        <p:nvSpPr>
          <p:cNvPr id="11" name="Rectangle 10"/>
          <p:cNvSpPr/>
          <p:nvPr/>
        </p:nvSpPr>
        <p:spPr>
          <a:xfrm>
            <a:off x="777240" y="429806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trend phase consists of the uptrend and the downtrend phase. The uptrend phase is driven by participants expecting higher prices after an accumulation.</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4 of 22</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uptrend phase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5 of 22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initial general sentiment tends to be slightly less bearish.</a:t>
            </a:r>
          </a:p>
          <a:p>
            <a:pPr algn="l">
              <a:lnSpc>
                <a:spcPct val="118000"/>
              </a:lnSpc>
              <a:spcBef>
                <a:spcPts val="0"/>
              </a:spcBef>
              <a:spcAft>
                <a:spcPts val="1300"/>
              </a:spcAft>
            </a:pPr>
            <a:r>
              <a:rPr sz="2100" b="0" i="0">
                <a:solidFill>
                  <a:srgbClr val="1A1A1A"/>
                </a:solidFill>
                <a:latin typeface="Arial"/>
              </a:rPr>
              <a:t>The public begins to participate as rising prices become obvious and more bullish news is reported.</a:t>
            </a:r>
          </a:p>
          <a:p>
            <a:pPr algn="l">
              <a:lnSpc>
                <a:spcPct val="118000"/>
              </a:lnSpc>
              <a:spcBef>
                <a:spcPts val="0"/>
              </a:spcBef>
              <a:spcAft>
                <a:spcPts val="1300"/>
              </a:spcAft>
            </a:pPr>
            <a:r>
              <a:rPr sz="2100" b="0" i="0">
                <a:solidFill>
                  <a:srgbClr val="1A1A1A"/>
                </a:solidFill>
                <a:latin typeface="Arial"/>
              </a:rPr>
              <a:t>At higher prices margin debt starts to increase as the public scrambles to invest.</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It lasts longer than the downtrend phase, because there is less capital and profit at risk at lower prices.</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downtrend phase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6 of 22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It normally accelerates as more companies report increasingly bearish news.</a:t>
            </a:r>
          </a:p>
          <a:p>
            <a:pPr algn="l">
              <a:lnSpc>
                <a:spcPct val="118000"/>
              </a:lnSpc>
              <a:spcBef>
                <a:spcPts val="0"/>
              </a:spcBef>
              <a:spcAft>
                <a:spcPts val="1300"/>
              </a:spcAft>
            </a:pPr>
            <a:r>
              <a:rPr sz="2100" b="0" i="0">
                <a:solidFill>
                  <a:srgbClr val="1A1A1A"/>
                </a:solidFill>
                <a:latin typeface="Arial"/>
              </a:rPr>
              <a:t>The uninformed begin to unload, and as prices fall unexpectedly the public liquidates.</a:t>
            </a:r>
          </a:p>
          <a:p>
            <a:pPr algn="l">
              <a:lnSpc>
                <a:spcPct val="118000"/>
              </a:lnSpc>
              <a:spcBef>
                <a:spcPts val="0"/>
              </a:spcBef>
              <a:spcAft>
                <a:spcPts val="1300"/>
              </a:spcAft>
            </a:pPr>
            <a:r>
              <a:rPr sz="2100" b="0" i="0">
                <a:solidFill>
                  <a:srgbClr val="1A1A1A"/>
                </a:solidFill>
                <a:latin typeface="Arial"/>
              </a:rPr>
              <a:t>Bearish sentiment intensifies as prices sink to new depths.</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It is shorter lived than the uptrend phase, because more capital and unrealized profit is at risk at higher prices.</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Distribution phase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noisy stretch at the top, where informed holders sell gradually to a crowd that is certain prices will keep rising.</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Everyone is buying the share at 178 pesos and the headlines are all positive. That is when the early buyers are selling to them.</a:t>
            </a:r>
          </a:p>
        </p:txBody>
      </p:sp>
      <p:sp>
        <p:nvSpPr>
          <p:cNvPr id="11" name="Rectangle 10"/>
          <p:cNvSpPr/>
          <p:nvPr/>
        </p:nvSpPr>
        <p:spPr>
          <a:xfrm>
            <a:off x="777240" y="4575556"/>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Distribution normally occurs after a prolonged and rapid rise in prices. The uninformed tend to be extremely optimistic, buying whatever is available at any price, a state normally referred to as irrational exuberance. The smart investors liquidate gradually so as not to drive prices down too rapidly.</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7 of 22</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accumulation lasts longer than distribution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8 of 22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Accumulation happens at low prices, where less capital and less profit is at risk.</a:t>
            </a:r>
          </a:p>
          <a:p>
            <a:pPr algn="l">
              <a:lnSpc>
                <a:spcPct val="118000"/>
              </a:lnSpc>
              <a:spcBef>
                <a:spcPts val="0"/>
              </a:spcBef>
              <a:spcAft>
                <a:spcPts val="1300"/>
              </a:spcAft>
            </a:pPr>
            <a:r>
              <a:rPr sz="2100" b="0" i="0">
                <a:solidFill>
                  <a:srgbClr val="1A1A1A"/>
                </a:solidFill>
                <a:latin typeface="Arial"/>
              </a:rPr>
              <a:t>Distribution happens at the top, where much more capital and unrealized profit is at risk.</a:t>
            </a:r>
          </a:p>
          <a:p>
            <a:pPr algn="l">
              <a:lnSpc>
                <a:spcPct val="118000"/>
              </a:lnSpc>
              <a:spcBef>
                <a:spcPts val="0"/>
              </a:spcBef>
              <a:spcAft>
                <a:spcPts val="1300"/>
              </a:spcAft>
            </a:pPr>
            <a:r>
              <a:rPr sz="2100" b="0" i="0">
                <a:solidFill>
                  <a:srgbClr val="1A1A1A"/>
                </a:solidFill>
                <a:latin typeface="Arial"/>
              </a:rPr>
              <a:t>So there is more urgency to get out than there ever was to get in.</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reason is risk at the price, not sentiment. That is the answer the paper wants.</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three phases, and their relative lengths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9 of 22</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f.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F - FIN1209 teaching chart, drawn for this course. Illustrative data, not a real instrument.</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idealized three phases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10 of 22</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2.15</a:t>
            </a:r>
          </a:p>
          <a:p>
            <a:pPr algn="l">
              <a:lnSpc>
                <a:spcPct val="120000"/>
              </a:lnSpc>
              <a:spcBef>
                <a:spcPts val="0"/>
              </a:spcBef>
              <a:spcAft>
                <a:spcPts val="1800"/>
              </a:spcAft>
            </a:pPr>
            <a:r>
              <a:rPr sz="2200" b="0" i="0">
                <a:solidFill>
                  <a:srgbClr val="1A1A1A"/>
                </a:solidFill>
                <a:latin typeface="Palatino"/>
              </a:rPr>
              <a:t>A schematic primary bull trend with accumulation at the base, the trending stretch rising out of it, and distribution across the top.</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2.15 - Lim, The Handbook of Technical Analysis (Wiley, 2016)</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same three phases on a real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11 of 22</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2.16</a:t>
            </a:r>
          </a:p>
          <a:p>
            <a:pPr algn="l">
              <a:lnSpc>
                <a:spcPct val="120000"/>
              </a:lnSpc>
              <a:spcBef>
                <a:spcPts val="0"/>
              </a:spcBef>
              <a:spcAft>
                <a:spcPts val="1800"/>
              </a:spcAft>
            </a:pPr>
            <a:r>
              <a:rPr sz="2200" b="0" i="0">
                <a:solidFill>
                  <a:srgbClr val="1A1A1A"/>
                </a:solidFill>
                <a:latin typeface="Palatino"/>
              </a:rPr>
              <a:t>A real market example of the three phases of a primary bull trend, with a strong breakout out of the accumulation phase and stronger breakouts marked out of the wider distribution.</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2.16 - Lim, The Handbook of Technical Analysis (Wiley, 2016)</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longer the base, the bigger the move out of it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12 of 22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longer the accumulation or the distribution lasts, the greater its subsequent breakout move will be.</a:t>
            </a:r>
          </a:p>
        </p:txBody>
      </p:sp>
      <p:sp>
        <p:nvSpPr>
          <p:cNvPr id="8" name="Rectangle 7"/>
          <p:cNvSpPr/>
          <p:nvPr/>
        </p:nvSpPr>
        <p:spPr>
          <a:xfrm>
            <a:off x="777240" y="3089147"/>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125723"/>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 year of going nowhere is not nothing happening. It is the setup.</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14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The three phases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Under Dow Theory, three phases belong to:</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All trends</a:t>
            </a:r>
          </a:p>
          <a:p>
            <a:pPr algn="l">
              <a:lnSpc>
                <a:spcPct val="112000"/>
              </a:lnSpc>
              <a:spcBef>
                <a:spcPts val="0"/>
              </a:spcBef>
              <a:spcAft>
                <a:spcPts val="900"/>
              </a:spcAft>
            </a:pPr>
            <a:r>
              <a:rPr sz="1500" b="0" i="0">
                <a:solidFill>
                  <a:srgbClr val="FFFFFF"/>
                </a:solidFill>
                <a:latin typeface="Arial"/>
              </a:rPr>
              <a:t>B.  Secondary reactions only</a:t>
            </a:r>
          </a:p>
          <a:p>
            <a:pPr algn="l">
              <a:lnSpc>
                <a:spcPct val="112000"/>
              </a:lnSpc>
              <a:spcBef>
                <a:spcPts val="0"/>
              </a:spcBef>
              <a:spcAft>
                <a:spcPts val="900"/>
              </a:spcAft>
            </a:pPr>
            <a:r>
              <a:rPr sz="1500" b="0" i="0">
                <a:solidFill>
                  <a:srgbClr val="FFFFFF"/>
                </a:solidFill>
                <a:latin typeface="Arial"/>
              </a:rPr>
              <a:t>C.  Minor trends only</a:t>
            </a:r>
          </a:p>
          <a:p>
            <a:pPr algn="l">
              <a:lnSpc>
                <a:spcPct val="112000"/>
              </a:lnSpc>
              <a:spcBef>
                <a:spcPts val="0"/>
              </a:spcBef>
              <a:spcAft>
                <a:spcPts val="900"/>
              </a:spcAft>
            </a:pPr>
            <a:r>
              <a:rPr sz="1500" b="0" i="0">
                <a:solidFill>
                  <a:srgbClr val="FFFFFF"/>
                </a:solidFill>
                <a:latin typeface="Arial"/>
              </a:rPr>
              <a:t>D.  Primary trends</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The accumulation phase normally lasts longer than the distribution phase because:</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There is less capital and profit at risk at the lower prices</a:t>
            </a:r>
          </a:p>
          <a:p>
            <a:pPr algn="l">
              <a:lnSpc>
                <a:spcPct val="112000"/>
              </a:lnSpc>
              <a:spcBef>
                <a:spcPts val="0"/>
              </a:spcBef>
              <a:spcAft>
                <a:spcPts val="900"/>
              </a:spcAft>
            </a:pPr>
            <a:r>
              <a:rPr sz="1500" b="0" i="0">
                <a:solidFill>
                  <a:srgbClr val="FFFFFF"/>
                </a:solidFill>
                <a:latin typeface="Arial"/>
              </a:rPr>
              <a:t>B.  Informed buyers are slower than informed sellers</a:t>
            </a:r>
          </a:p>
          <a:p>
            <a:pPr algn="l">
              <a:lnSpc>
                <a:spcPct val="112000"/>
              </a:lnSpc>
              <a:spcBef>
                <a:spcPts val="0"/>
              </a:spcBef>
              <a:spcAft>
                <a:spcPts val="900"/>
              </a:spcAft>
            </a:pPr>
            <a:r>
              <a:rPr sz="1500" b="0" i="0">
                <a:solidFill>
                  <a:srgbClr val="FFFFFF"/>
                </a:solidFill>
                <a:latin typeface="Arial"/>
              </a:rPr>
              <a:t>C.  Accumulation always follows a bear market</a:t>
            </a:r>
          </a:p>
          <a:p>
            <a:pPr algn="l">
              <a:lnSpc>
                <a:spcPct val="112000"/>
              </a:lnSpc>
              <a:spcBef>
                <a:spcPts val="0"/>
              </a:spcBef>
              <a:spcAft>
                <a:spcPts val="900"/>
              </a:spcAft>
            </a:pPr>
            <a:r>
              <a:rPr sz="1500" b="0" i="0">
                <a:solidFill>
                  <a:srgbClr val="FFFFFF"/>
                </a:solidFill>
                <a:latin typeface="Arial"/>
              </a:rPr>
              <a:t>D.  Volume is lower at the bottom of a market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5 of 6 - Phases and reversal  |  Check 14</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The three phases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Under Dow Theory, three phases belong to:</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Primary trends</a:t>
            </a:r>
          </a:p>
          <a:p>
            <a:pPr algn="l">
              <a:lnSpc>
                <a:spcPct val="115000"/>
              </a:lnSpc>
              <a:spcBef>
                <a:spcPts val="700"/>
              </a:spcBef>
              <a:spcAft>
                <a:spcPts val="0"/>
              </a:spcAft>
            </a:pPr>
            <a:r>
              <a:rPr sz="1600" b="0" i="0">
                <a:solidFill>
                  <a:srgbClr val="1A1A1A"/>
                </a:solidFill>
                <a:latin typeface="Arial"/>
              </a:rPr>
              <a:t>The tenet is that primary trends have three phases. Any wider claim is wrong.</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The accumulation phase normally lasts longer than the distribution phase because:</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There is less capital and profit at risk at the lower prices</a:t>
            </a:r>
          </a:p>
          <a:p>
            <a:pPr algn="l">
              <a:lnSpc>
                <a:spcPct val="115000"/>
              </a:lnSpc>
              <a:spcBef>
                <a:spcPts val="700"/>
              </a:spcBef>
              <a:spcAft>
                <a:spcPts val="0"/>
              </a:spcAft>
            </a:pPr>
            <a:r>
              <a:rPr sz="1600" b="0" i="0">
                <a:solidFill>
                  <a:srgbClr val="1A1A1A"/>
                </a:solidFill>
                <a:latin typeface="Arial"/>
              </a:rPr>
              <a:t>Distribution happens at the top, where much more capital and unrealized profit is at risk.</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Check 14</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15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Who is buying, and when</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During accumulation, the uninformed market participants are usually:</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Extremely optimistic and buying at any price</a:t>
            </a:r>
          </a:p>
          <a:p>
            <a:pPr algn="l">
              <a:lnSpc>
                <a:spcPct val="112000"/>
              </a:lnSpc>
              <a:spcBef>
                <a:spcPts val="0"/>
              </a:spcBef>
              <a:spcAft>
                <a:spcPts val="900"/>
              </a:spcAft>
            </a:pPr>
            <a:r>
              <a:rPr sz="1500" b="0" i="0">
                <a:solidFill>
                  <a:srgbClr val="FFFFFF"/>
                </a:solidFill>
                <a:latin typeface="Arial"/>
              </a:rPr>
              <a:t>B.  Extremely bearish and selling at any price available</a:t>
            </a:r>
          </a:p>
          <a:p>
            <a:pPr algn="l">
              <a:lnSpc>
                <a:spcPct val="112000"/>
              </a:lnSpc>
              <a:spcBef>
                <a:spcPts val="0"/>
              </a:spcBef>
              <a:spcAft>
                <a:spcPts val="900"/>
              </a:spcAft>
            </a:pPr>
            <a:r>
              <a:rPr sz="1500" b="0" i="0">
                <a:solidFill>
                  <a:srgbClr val="FFFFFF"/>
                </a:solidFill>
                <a:latin typeface="Arial"/>
              </a:rPr>
              <a:t>C.  Absent from the market entirely</a:t>
            </a:r>
          </a:p>
          <a:p>
            <a:pPr algn="l">
              <a:lnSpc>
                <a:spcPct val="112000"/>
              </a:lnSpc>
              <a:spcBef>
                <a:spcPts val="0"/>
              </a:spcBef>
              <a:spcAft>
                <a:spcPts val="900"/>
              </a:spcAft>
            </a:pPr>
            <a:r>
              <a:rPr sz="1500" b="0" i="0">
                <a:solidFill>
                  <a:srgbClr val="FFFFFF"/>
                </a:solidFill>
                <a:latin typeface="Arial"/>
              </a:rPr>
              <a:t>D.  Buying on margin</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The state in which uninformed participants buy up whatever shares are available at any price is normally referred to as:</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Market noise</a:t>
            </a:r>
          </a:p>
          <a:p>
            <a:pPr algn="l">
              <a:lnSpc>
                <a:spcPct val="112000"/>
              </a:lnSpc>
              <a:spcBef>
                <a:spcPts val="0"/>
              </a:spcBef>
              <a:spcAft>
                <a:spcPts val="900"/>
              </a:spcAft>
            </a:pPr>
            <a:r>
              <a:rPr sz="1500" b="0" i="0">
                <a:solidFill>
                  <a:srgbClr val="FFFFFF"/>
                </a:solidFill>
                <a:latin typeface="Arial"/>
              </a:rPr>
              <a:t>B.  Non confirmation</a:t>
            </a:r>
          </a:p>
          <a:p>
            <a:pPr algn="l">
              <a:lnSpc>
                <a:spcPct val="112000"/>
              </a:lnSpc>
              <a:spcBef>
                <a:spcPts val="0"/>
              </a:spcBef>
              <a:spcAft>
                <a:spcPts val="900"/>
              </a:spcAft>
            </a:pPr>
            <a:r>
              <a:rPr sz="1500" b="0" i="0">
                <a:solidFill>
                  <a:srgbClr val="FFFFFF"/>
                </a:solidFill>
                <a:latin typeface="Arial"/>
              </a:rPr>
              <a:t>C.  Irrational exuberance</a:t>
            </a:r>
          </a:p>
          <a:p>
            <a:pPr algn="l">
              <a:lnSpc>
                <a:spcPct val="112000"/>
              </a:lnSpc>
              <a:spcBef>
                <a:spcPts val="0"/>
              </a:spcBef>
              <a:spcAft>
                <a:spcPts val="900"/>
              </a:spcAft>
            </a:pPr>
            <a:r>
              <a:rPr sz="1500" b="0" i="0">
                <a:solidFill>
                  <a:srgbClr val="FFFFFF"/>
                </a:solidFill>
                <a:latin typeface="Arial"/>
              </a:rPr>
              <a:t>D.  A secondary reaction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5 of 6 - Phases and reversal  |  Check 15</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Who is buying, and when</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During accumulation, the uninformed market participants are usually:</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Extremely bearish and selling at any price available</a:t>
            </a:r>
          </a:p>
          <a:p>
            <a:pPr algn="l">
              <a:lnSpc>
                <a:spcPct val="115000"/>
              </a:lnSpc>
              <a:spcBef>
                <a:spcPts val="700"/>
              </a:spcBef>
              <a:spcAft>
                <a:spcPts val="0"/>
              </a:spcAft>
            </a:pPr>
            <a:r>
              <a:rPr sz="1600" b="0" i="0">
                <a:solidFill>
                  <a:srgbClr val="1A1A1A"/>
                </a:solidFill>
                <a:latin typeface="Arial"/>
              </a:rPr>
              <a:t>Accumulation follows very negative data, so the uninformed are selling into it.</a:t>
            </a:r>
          </a:p>
        </p:txBody>
      </p:sp>
      <p:sp>
        <p:nvSpPr>
          <p:cNvPr id="10" name="Rectangle 9"/>
          <p:cNvSpPr/>
          <p:nvPr/>
        </p:nvSpPr>
        <p:spPr>
          <a:xfrm>
            <a:off x="777240" y="308203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The state in which uninformed participants buy up whatever shares are available at any price is normally referred to as:</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Irrational exuberance</a:t>
            </a:r>
          </a:p>
          <a:p>
            <a:pPr algn="l">
              <a:lnSpc>
                <a:spcPct val="115000"/>
              </a:lnSpc>
              <a:spcBef>
                <a:spcPts val="700"/>
              </a:spcBef>
              <a:spcAft>
                <a:spcPts val="0"/>
              </a:spcAft>
            </a:pPr>
            <a:r>
              <a:rPr sz="1600" b="0" i="0">
                <a:solidFill>
                  <a:srgbClr val="1A1A1A"/>
                </a:solidFill>
                <a:latin typeface="Arial"/>
              </a:rPr>
              <a:t>The book uses the phrase for the crowd at the top, during distribution.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Check 15</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A trend persists until its reversal is indicated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fourth tenet. You assume the trend you can see is still running until something tells you it is not.</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market has been rising for two years. Until a previous significant peak or trough is penetrated, you assume it is still rising.</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Dow Theory a trend is assumed to persist until there is evidence to the contrary. Trend changes are identified by a penetration of a previous significant peak or trough.</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13 of 22</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Until a level is breached, nothing has happened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14 of 22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Unless a prior support or resistance level is breached, the trend is assumed to be still intact.</a:t>
            </a:r>
          </a:p>
          <a:p>
            <a:pPr algn="l">
              <a:lnSpc>
                <a:spcPct val="118000"/>
              </a:lnSpc>
              <a:spcBef>
                <a:spcPts val="0"/>
              </a:spcBef>
              <a:spcAft>
                <a:spcPts val="1300"/>
              </a:spcAft>
            </a:pPr>
            <a:r>
              <a:rPr sz="2100" b="0" i="0">
                <a:solidFill>
                  <a:srgbClr val="1A1A1A"/>
                </a:solidFill>
                <a:latin typeface="Arial"/>
              </a:rPr>
              <a:t>The book uses those two words here and does not define them in this chapter.</a:t>
            </a:r>
          </a:p>
        </p:txBody>
      </p:sp>
      <p:sp>
        <p:nvSpPr>
          <p:cNvPr id="8" name="Rectangle 7"/>
          <p:cNvSpPr/>
          <p:nvPr/>
        </p:nvSpPr>
        <p:spPr>
          <a:xfrm>
            <a:off x="777240" y="358673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Treat them for now as the previous trough and the previous peak.</a:t>
            </a:r>
          </a:p>
        </p:txBody>
      </p:sp>
      <p:sp>
        <p:nvSpPr>
          <p:cNvPr id="10" name="TextBox 9"/>
          <p:cNvSpPr txBox="1"/>
          <p:nvPr/>
        </p:nvSpPr>
        <p:spPr>
          <a:xfrm>
            <a:off x="777240" y="4292092"/>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Chapter 5 is where the book defines support and resistance properly.</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primary bull trend ending on a breach</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15 of 22</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2.17</a:t>
            </a:r>
          </a:p>
          <a:p>
            <a:pPr algn="l">
              <a:lnSpc>
                <a:spcPct val="120000"/>
              </a:lnSpc>
              <a:spcBef>
                <a:spcPts val="0"/>
              </a:spcBef>
              <a:spcAft>
                <a:spcPts val="1800"/>
              </a:spcAft>
            </a:pPr>
            <a:r>
              <a:rPr sz="2200" b="0" i="0">
                <a:solidFill>
                  <a:srgbClr val="1A1A1A"/>
                </a:solidFill>
                <a:latin typeface="Palatino"/>
              </a:rPr>
              <a:t>A chart of a primary bull trend terminated by a violation of a prior support level, with the accumulation, the trend and the distribution marked and the reversal signalled at the breach.</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2.17 - Lim, The Handbook of Technical Analysis (Wiley, 2016)</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Three formations that signal a reversal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16 of 22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Failure swings.</a:t>
            </a:r>
          </a:p>
          <a:p>
            <a:pPr algn="l">
              <a:lnSpc>
                <a:spcPct val="118000"/>
              </a:lnSpc>
              <a:spcBef>
                <a:spcPts val="0"/>
              </a:spcBef>
              <a:spcAft>
                <a:spcPts val="1300"/>
              </a:spcAft>
            </a:pPr>
            <a:r>
              <a:rPr sz="2100" b="0" i="0">
                <a:solidFill>
                  <a:srgbClr val="1A1A1A"/>
                </a:solidFill>
                <a:latin typeface="Arial"/>
              </a:rPr>
              <a:t>2.  Non failure swings.</a:t>
            </a:r>
          </a:p>
          <a:p>
            <a:pPr algn="l">
              <a:lnSpc>
                <a:spcPct val="118000"/>
              </a:lnSpc>
              <a:spcBef>
                <a:spcPts val="0"/>
              </a:spcBef>
              <a:spcAft>
                <a:spcPts val="1300"/>
              </a:spcAft>
            </a:pPr>
            <a:r>
              <a:rPr sz="2100" b="0" i="0">
                <a:solidFill>
                  <a:srgbClr val="1A1A1A"/>
                </a:solidFill>
                <a:latin typeface="Arial"/>
              </a:rPr>
              <a:t>3.  Double tops and double bottoms.</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Three shapes, one question: did the second attempt beat the first one?</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Failure swing</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second peak fails to reach the first one. The market tried again and could not get there.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Price makes a peak at 141 pesos, falls back, then rallies only to 134 and turns down again.</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a top reversal, a failure swing is the variation in which the second peak fails to penetrate the previous peak. A breach of the prior support then signals a potential change in the direction of the trend.</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17 of 22</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Non failure swing</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second peak does beat the first one, and the market still turns down afterwards.</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Price peaks at 141, falls back, rallies to 146, and then rolls over anyway.</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a non failure swing, the second peak succeeds in penetrating the previous peak. Because the formation was still making a higher peak, more evidence is required, so the conclusive sell signal comes at the penetration of the second and lower support level rather than the first.</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18 of 22</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Double top and double bottom</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second attempt matches the first one almost exactly. The market got back to the same level and stopped there twice.</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Price peaks at 141 pesos, falls back, and rallies to 141 again before turning down.</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double top is the top reversal variation in which the second peak matches the level of the previous peak. A double bottom is its mirror image, where the second trough matches the level of the previous trough.</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19 of 22</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three top reversal patterns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20 of 22</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2.18</a:t>
            </a:r>
          </a:p>
          <a:p>
            <a:pPr algn="l">
              <a:lnSpc>
                <a:spcPct val="120000"/>
              </a:lnSpc>
              <a:spcBef>
                <a:spcPts val="0"/>
              </a:spcBef>
              <a:spcAft>
                <a:spcPts val="1800"/>
              </a:spcAft>
            </a:pPr>
            <a:r>
              <a:rPr sz="2200" b="0" i="0">
                <a:solidFill>
                  <a:srgbClr val="1A1A1A"/>
                </a:solidFill>
                <a:latin typeface="Palatino"/>
              </a:rPr>
              <a:t>Three schematic top reversals side by side: a failure swing where the second peak does not reach the first, a double top where it matches, and a non failure swing where it exceeds it, each with its sell signal marked.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2.18 - Lim, The Handbook of Technical Analysis (Wiley, 2016)</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three bottom reversal patterns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21 of 22</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2.19</a:t>
            </a:r>
          </a:p>
          <a:p>
            <a:pPr algn="l">
              <a:lnSpc>
                <a:spcPct val="120000"/>
              </a:lnSpc>
              <a:spcBef>
                <a:spcPts val="0"/>
              </a:spcBef>
              <a:spcAft>
                <a:spcPts val="1800"/>
              </a:spcAft>
            </a:pPr>
            <a:r>
              <a:rPr sz="2200" b="0" i="0">
                <a:solidFill>
                  <a:srgbClr val="1A1A1A"/>
                </a:solidFill>
                <a:latin typeface="Palatino"/>
              </a:rPr>
              <a:t>The same three formations inverted as bottom reversals, with the buy signal marked on each.</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2.19 - Lim, The Handbook of Technical Analysis (Wiley, 2016)</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the non failure swing needs the lower level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22 of 22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formation was still in the process of making a higher peak, so more evidence is needed.</a:t>
            </a:r>
          </a:p>
          <a:p>
            <a:pPr algn="l">
              <a:lnSpc>
                <a:spcPct val="118000"/>
              </a:lnSpc>
              <a:spcBef>
                <a:spcPts val="0"/>
              </a:spcBef>
              <a:spcAft>
                <a:spcPts val="1300"/>
              </a:spcAft>
            </a:pPr>
            <a:r>
              <a:rPr sz="2100" b="0" i="0">
                <a:solidFill>
                  <a:srgbClr val="1A1A1A"/>
                </a:solidFill>
                <a:latin typeface="Arial"/>
              </a:rPr>
              <a:t>The conclusive sell signal is the penetration of the second and lower support level.</a:t>
            </a:r>
          </a:p>
          <a:p>
            <a:pPr algn="l">
              <a:lnSpc>
                <a:spcPct val="118000"/>
              </a:lnSpc>
              <a:spcBef>
                <a:spcPts val="0"/>
              </a:spcBef>
              <a:spcAft>
                <a:spcPts val="1300"/>
              </a:spcAft>
            </a:pPr>
            <a:r>
              <a:rPr sz="2100" b="0" i="0">
                <a:solidFill>
                  <a:srgbClr val="1A1A1A"/>
                </a:solidFill>
                <a:latin typeface="Arial"/>
              </a:rPr>
              <a:t>Many traders scale out at the first, higher level and finish at the second.</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 stronger looking top needs stronger evidence before you call it a top.</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16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Reversal formations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Dow Theory, a trend is assumed to persist:</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For at least three months</a:t>
            </a:r>
          </a:p>
          <a:p>
            <a:pPr algn="l">
              <a:lnSpc>
                <a:spcPct val="112000"/>
              </a:lnSpc>
              <a:spcBef>
                <a:spcPts val="0"/>
              </a:spcBef>
              <a:spcAft>
                <a:spcPts val="900"/>
              </a:spcAft>
            </a:pPr>
            <a:r>
              <a:rPr sz="1500" b="0" i="0">
                <a:solidFill>
                  <a:srgbClr val="FFFFFF"/>
                </a:solidFill>
                <a:latin typeface="Arial"/>
              </a:rPr>
              <a:t>B.  Until there is evidence to the contrary</a:t>
            </a:r>
          </a:p>
          <a:p>
            <a:pPr algn="l">
              <a:lnSpc>
                <a:spcPct val="112000"/>
              </a:lnSpc>
              <a:spcBef>
                <a:spcPts val="0"/>
              </a:spcBef>
              <a:spcAft>
                <a:spcPts val="900"/>
              </a:spcAft>
            </a:pPr>
            <a:r>
              <a:rPr sz="1500" b="0" i="0">
                <a:solidFill>
                  <a:srgbClr val="FFFFFF"/>
                </a:solidFill>
                <a:latin typeface="Arial"/>
              </a:rPr>
              <a:t>C.  Until volume stops expanding</a:t>
            </a:r>
          </a:p>
          <a:p>
            <a:pPr algn="l">
              <a:lnSpc>
                <a:spcPct val="112000"/>
              </a:lnSpc>
              <a:spcBef>
                <a:spcPts val="0"/>
              </a:spcBef>
              <a:spcAft>
                <a:spcPts val="900"/>
              </a:spcAft>
            </a:pPr>
            <a:r>
              <a:rPr sz="1500" b="0" i="0">
                <a:solidFill>
                  <a:srgbClr val="FFFFFF"/>
                </a:solidFill>
                <a:latin typeface="Arial"/>
              </a:rPr>
              <a:t>D.  Until the averages disagree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top reversal in which the second peak succeeds in penetrating the previous peak is:</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failure swing</a:t>
            </a:r>
          </a:p>
          <a:p>
            <a:pPr algn="l">
              <a:lnSpc>
                <a:spcPct val="112000"/>
              </a:lnSpc>
              <a:spcBef>
                <a:spcPts val="0"/>
              </a:spcBef>
              <a:spcAft>
                <a:spcPts val="900"/>
              </a:spcAft>
            </a:pPr>
            <a:r>
              <a:rPr sz="1500" b="0" i="0">
                <a:solidFill>
                  <a:srgbClr val="FFFFFF"/>
                </a:solidFill>
                <a:latin typeface="Arial"/>
              </a:rPr>
              <a:t>B.  A double top</a:t>
            </a:r>
          </a:p>
          <a:p>
            <a:pPr algn="l">
              <a:lnSpc>
                <a:spcPct val="112000"/>
              </a:lnSpc>
              <a:spcBef>
                <a:spcPts val="0"/>
              </a:spcBef>
              <a:spcAft>
                <a:spcPts val="900"/>
              </a:spcAft>
            </a:pPr>
            <a:r>
              <a:rPr sz="1500" b="0" i="0">
                <a:solidFill>
                  <a:srgbClr val="FFFFFF"/>
                </a:solidFill>
                <a:latin typeface="Arial"/>
              </a:rPr>
              <a:t>C.  A non failure swing</a:t>
            </a:r>
          </a:p>
          <a:p>
            <a:pPr algn="l">
              <a:lnSpc>
                <a:spcPct val="112000"/>
              </a:lnSpc>
              <a:spcBef>
                <a:spcPts val="0"/>
              </a:spcBef>
              <a:spcAft>
                <a:spcPts val="900"/>
              </a:spcAft>
            </a:pPr>
            <a:r>
              <a:rPr sz="1500" b="0" i="0">
                <a:solidFill>
                  <a:srgbClr val="FFFFFF"/>
                </a:solidFill>
                <a:latin typeface="Arial"/>
              </a:rPr>
              <a:t>D.  A secondary reaction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5 of 6 - Phases and reversal  |  Check 16</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Reversal formations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In Dow Theory, a trend is assumed to persist:</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Until there is evidence to the contrary</a:t>
            </a:r>
          </a:p>
          <a:p>
            <a:pPr algn="l">
              <a:lnSpc>
                <a:spcPct val="115000"/>
              </a:lnSpc>
              <a:spcBef>
                <a:spcPts val="700"/>
              </a:spcBef>
              <a:spcAft>
                <a:spcPts val="0"/>
              </a:spcAft>
            </a:pPr>
            <a:r>
              <a:rPr sz="1600" b="0" i="0">
                <a:solidFill>
                  <a:srgbClr val="1A1A1A"/>
                </a:solidFill>
                <a:latin typeface="Arial"/>
              </a:rPr>
              <a:t>Trend changes are identified by penetration of a previous significant peak or trough.</a:t>
            </a:r>
          </a:p>
        </p:txBody>
      </p:sp>
      <p:sp>
        <p:nvSpPr>
          <p:cNvPr id="10" name="Rectangle 9"/>
          <p:cNvSpPr/>
          <p:nvPr/>
        </p:nvSpPr>
        <p:spPr>
          <a:xfrm>
            <a:off x="777240" y="308203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top reversal in which the second peak succeeds in penetrating the previous peak is:</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A non failure swing</a:t>
            </a:r>
          </a:p>
          <a:p>
            <a:pPr algn="l">
              <a:lnSpc>
                <a:spcPct val="115000"/>
              </a:lnSpc>
              <a:spcBef>
                <a:spcPts val="700"/>
              </a:spcBef>
              <a:spcAft>
                <a:spcPts val="0"/>
              </a:spcAft>
            </a:pPr>
            <a:r>
              <a:rPr sz="1600" b="0" i="0">
                <a:solidFill>
                  <a:srgbClr val="1A1A1A"/>
                </a:solidFill>
                <a:latin typeface="Arial"/>
              </a:rPr>
              <a:t>Fails to reach it is a failure swing, matches it is a double top, exceeds it is a non failure swing.</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Check 16</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17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Where the signal falls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The conclusive sell signal on a non failure swing comes at the penetration of:</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first and higher support level</a:t>
            </a:r>
          </a:p>
          <a:p>
            <a:pPr algn="l">
              <a:lnSpc>
                <a:spcPct val="112000"/>
              </a:lnSpc>
              <a:spcBef>
                <a:spcPts val="0"/>
              </a:spcBef>
              <a:spcAft>
                <a:spcPts val="900"/>
              </a:spcAft>
            </a:pPr>
            <a:r>
              <a:rPr sz="1500" b="0" i="0">
                <a:solidFill>
                  <a:srgbClr val="FFFFFF"/>
                </a:solidFill>
                <a:latin typeface="Arial"/>
              </a:rPr>
              <a:t>B.  The second and lower support level</a:t>
            </a:r>
          </a:p>
          <a:p>
            <a:pPr algn="l">
              <a:lnSpc>
                <a:spcPct val="112000"/>
              </a:lnSpc>
              <a:spcBef>
                <a:spcPts val="0"/>
              </a:spcBef>
              <a:spcAft>
                <a:spcPts val="900"/>
              </a:spcAft>
            </a:pPr>
            <a:r>
              <a:rPr sz="1500" b="0" i="0">
                <a:solidFill>
                  <a:srgbClr val="FFFFFF"/>
                </a:solidFill>
                <a:latin typeface="Arial"/>
              </a:rPr>
              <a:t>C.  The previous peak</a:t>
            </a:r>
          </a:p>
          <a:p>
            <a:pPr algn="l">
              <a:lnSpc>
                <a:spcPct val="112000"/>
              </a:lnSpc>
              <a:spcBef>
                <a:spcPts val="0"/>
              </a:spcBef>
              <a:spcAft>
                <a:spcPts val="900"/>
              </a:spcAft>
            </a:pPr>
            <a:r>
              <a:rPr sz="1500" b="0" i="0">
                <a:solidFill>
                  <a:srgbClr val="FFFFFF"/>
                </a:solidFill>
                <a:latin typeface="Arial"/>
              </a:rPr>
              <a:t>D.  The 50 percent retracement level</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top reversal in which the second peak matches the level of the previous peak is:</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double top</a:t>
            </a:r>
          </a:p>
          <a:p>
            <a:pPr algn="l">
              <a:lnSpc>
                <a:spcPct val="112000"/>
              </a:lnSpc>
              <a:spcBef>
                <a:spcPts val="0"/>
              </a:spcBef>
              <a:spcAft>
                <a:spcPts val="900"/>
              </a:spcAft>
            </a:pPr>
            <a:r>
              <a:rPr sz="1500" b="0" i="0">
                <a:solidFill>
                  <a:srgbClr val="FFFFFF"/>
                </a:solidFill>
                <a:latin typeface="Arial"/>
              </a:rPr>
              <a:t>B.  A failure swing</a:t>
            </a:r>
          </a:p>
          <a:p>
            <a:pPr algn="l">
              <a:lnSpc>
                <a:spcPct val="112000"/>
              </a:lnSpc>
              <a:spcBef>
                <a:spcPts val="0"/>
              </a:spcBef>
              <a:spcAft>
                <a:spcPts val="900"/>
              </a:spcAft>
            </a:pPr>
            <a:r>
              <a:rPr sz="1500" b="0" i="0">
                <a:solidFill>
                  <a:srgbClr val="FFFFFF"/>
                </a:solidFill>
                <a:latin typeface="Arial"/>
              </a:rPr>
              <a:t>C.  A non failure swing</a:t>
            </a:r>
          </a:p>
          <a:p>
            <a:pPr algn="l">
              <a:lnSpc>
                <a:spcPct val="112000"/>
              </a:lnSpc>
              <a:spcBef>
                <a:spcPts val="0"/>
              </a:spcBef>
              <a:spcAft>
                <a:spcPts val="900"/>
              </a:spcAft>
            </a:pPr>
            <a:r>
              <a:rPr sz="1500" b="0" i="0">
                <a:solidFill>
                  <a:srgbClr val="FFFFFF"/>
                </a:solidFill>
                <a:latin typeface="Arial"/>
              </a:rPr>
              <a:t>D.  A line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5 of 6 - Phases and reversal  |  Check 17</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Where the signal falls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The conclusive sell signal on a non failure swing comes at the penetration of:</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The second and lower support level</a:t>
            </a:r>
          </a:p>
          <a:p>
            <a:pPr algn="l">
              <a:lnSpc>
                <a:spcPct val="115000"/>
              </a:lnSpc>
              <a:spcBef>
                <a:spcPts val="700"/>
              </a:spcBef>
              <a:spcAft>
                <a:spcPts val="0"/>
              </a:spcAft>
            </a:pPr>
            <a:r>
              <a:rPr sz="1600" b="0" i="0">
                <a:solidFill>
                  <a:srgbClr val="1A1A1A"/>
                </a:solidFill>
                <a:latin typeface="Arial"/>
              </a:rPr>
              <a:t>The formation was still making a higher peak, so more evidence is required.</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top reversal in which the second peak matches the level of the previous peak is:</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A double top</a:t>
            </a:r>
          </a:p>
          <a:p>
            <a:pPr algn="l">
              <a:lnSpc>
                <a:spcPct val="115000"/>
              </a:lnSpc>
              <a:spcBef>
                <a:spcPts val="700"/>
              </a:spcBef>
              <a:spcAft>
                <a:spcPts val="0"/>
              </a:spcAft>
            </a:pPr>
            <a:r>
              <a:rPr sz="1600" b="0" i="0">
                <a:solidFill>
                  <a:srgbClr val="1A1A1A"/>
                </a:solidFill>
                <a:latin typeface="Arial"/>
              </a:rPr>
              <a:t>Matching the previous peak is the double top, the middle of the three variations.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Check 17</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The three phases, and that they belong to primary trends</a:t>
            </a:r>
          </a:p>
          <a:p>
            <a:pPr algn="l" marL="237744" indent="-237744">
              <a:lnSpc>
                <a:spcPct val="112000"/>
              </a:lnSpc>
              <a:spcBef>
                <a:spcPts val="0"/>
              </a:spcBef>
              <a:spcAft>
                <a:spcPts val="1200"/>
              </a:spcAft>
            </a:pPr>
            <a:r>
              <a:rPr sz="1800" b="0" i="0">
                <a:solidFill>
                  <a:srgbClr val="1A1A1A"/>
                </a:solidFill>
                <a:latin typeface="Arial"/>
              </a:rPr>
              <a:t>▪  Accumulation, and who is on each side of it</a:t>
            </a:r>
          </a:p>
          <a:p>
            <a:pPr algn="l" marL="237744" indent="-237744">
              <a:lnSpc>
                <a:spcPct val="112000"/>
              </a:lnSpc>
              <a:spcBef>
                <a:spcPts val="0"/>
              </a:spcBef>
              <a:spcAft>
                <a:spcPts val="1200"/>
              </a:spcAft>
            </a:pPr>
            <a:r>
              <a:rPr sz="1800" b="0" i="0">
                <a:solidFill>
                  <a:srgbClr val="1A1A1A"/>
                </a:solidFill>
                <a:latin typeface="Arial"/>
              </a:rPr>
              <a:t>▪  The uptrend and downtrend phases, and why one is longer</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Distribution, and irrational exuberance</a:t>
            </a:r>
          </a:p>
          <a:p>
            <a:pPr algn="l" marL="237744" indent="-237744">
              <a:lnSpc>
                <a:spcPct val="112000"/>
              </a:lnSpc>
              <a:spcBef>
                <a:spcPts val="0"/>
              </a:spcBef>
              <a:spcAft>
                <a:spcPts val="1200"/>
              </a:spcAft>
            </a:pPr>
            <a:r>
              <a:rPr sz="1800" b="0" i="0">
                <a:solidFill>
                  <a:srgbClr val="1A1A1A"/>
                </a:solidFill>
                <a:latin typeface="Arial"/>
              </a:rPr>
              <a:t>▪  A trend persists until its reversal is indicated</a:t>
            </a:r>
          </a:p>
          <a:p>
            <a:pPr algn="l" marL="237744" indent="-237744">
              <a:lnSpc>
                <a:spcPct val="112000"/>
              </a:lnSpc>
              <a:spcBef>
                <a:spcPts val="0"/>
              </a:spcBef>
              <a:spcAft>
                <a:spcPts val="1200"/>
              </a:spcAft>
            </a:pPr>
            <a:r>
              <a:rPr sz="1800" b="0" i="0">
                <a:solidFill>
                  <a:srgbClr val="1A1A1A"/>
                </a:solidFill>
                <a:latin typeface="Arial"/>
              </a:rPr>
              <a:t>▪  Failure swings, non failure swings, double tops and bottoms</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recap</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6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Confirmation, Volume, and the Challenges</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Why one average is not allowed to call a trend on its own.</a:t>
            </a:r>
          </a:p>
          <a:p>
            <a:pPr algn="l">
              <a:lnSpc>
                <a:spcPct val="115000"/>
              </a:lnSpc>
              <a:spcBef>
                <a:spcPts val="0"/>
              </a:spcBef>
              <a:spcAft>
                <a:spcPts val="1000"/>
              </a:spcAft>
            </a:pPr>
            <a:r>
              <a:rPr sz="1900" b="0" i="0">
                <a:solidFill>
                  <a:srgbClr val="FFFFFF"/>
                </a:solidFill>
                <a:latin typeface="Arial"/>
              </a:rPr>
              <a:t>What volume has to do before a trend counts as healthy.</a:t>
            </a:r>
          </a:p>
          <a:p>
            <a:pPr algn="l">
              <a:lnSpc>
                <a:spcPct val="115000"/>
              </a:lnSpc>
              <a:spcBef>
                <a:spcPts val="0"/>
              </a:spcBef>
              <a:spcAft>
                <a:spcPts val="1000"/>
              </a:spcAft>
            </a:pPr>
            <a:r>
              <a:rPr sz="1900" b="0" i="0">
                <a:solidFill>
                  <a:srgbClr val="FFFFFF"/>
                </a:solidFill>
                <a:latin typeface="Arial"/>
              </a:rPr>
              <a:t>The seven arguments the book itself makes against Dow Theory.</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35 minutes</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averages must confirm one another</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fifth tenet. One average moving is not a signal. Two averages moving the same way is.</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If the Industrials clear their earlier peak in March and the Transportation Average does not clear its own until May, the signal is dated May.</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Dow Theory both the Industrials Average and the Railroad Average must extend beyond their secondary peaks in order for a trend to be established. The trend in one average must be confirmed by the other.</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1 of 26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signal is dated by the later average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2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One average penetrates its secondary peak at a time we will call T1.</a:t>
            </a:r>
          </a:p>
          <a:p>
            <a:pPr algn="l">
              <a:lnSpc>
                <a:spcPct val="118000"/>
              </a:lnSpc>
              <a:spcBef>
                <a:spcPts val="0"/>
              </a:spcBef>
              <a:spcAft>
                <a:spcPts val="1300"/>
              </a:spcAft>
            </a:pPr>
            <a:r>
              <a:rPr sz="2100" b="0" i="0">
                <a:solidFill>
                  <a:srgbClr val="1A1A1A"/>
                </a:solidFill>
                <a:latin typeface="Arial"/>
              </a:rPr>
              <a:t>The other penetrates its own secondary peak later, at T2.</a:t>
            </a:r>
          </a:p>
          <a:p>
            <a:pPr algn="l">
              <a:lnSpc>
                <a:spcPct val="118000"/>
              </a:lnSpc>
              <a:spcBef>
                <a:spcPts val="0"/>
              </a:spcBef>
              <a:spcAft>
                <a:spcPts val="1300"/>
              </a:spcAft>
            </a:pPr>
            <a:r>
              <a:rPr sz="2100" b="0" i="0">
                <a:solidFill>
                  <a:srgbClr val="1A1A1A"/>
                </a:solidFill>
                <a:latin typeface="Arial"/>
              </a:rPr>
              <a:t>As far as Dow Theory is concerned, the uptrend was not confirmed until T2.</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slower average sets the date. The faster one on its own proves nothing.</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One average confirming the other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3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g.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G - FIN1209 teaching chart, drawn for this course. Illustrative data, not a real instrument.</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Confirmation of the averages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4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2.20</a:t>
            </a:r>
          </a:p>
          <a:p>
            <a:pPr algn="l">
              <a:lnSpc>
                <a:spcPct val="120000"/>
              </a:lnSpc>
              <a:spcBef>
                <a:spcPts val="0"/>
              </a:spcBef>
              <a:spcAft>
                <a:spcPts val="1800"/>
              </a:spcAft>
            </a:pPr>
            <a:r>
              <a:rPr sz="2200" b="0" i="0">
                <a:solidFill>
                  <a:srgbClr val="1A1A1A"/>
                </a:solidFill>
                <a:latin typeface="Palatino"/>
              </a:rPr>
              <a:t>A schematic of two averages, with the Industrials Average penetrating its secondary peak at T1 and the Railroad Average penetrating its own a little later at T2, at which point the uptrend is confirmed.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2.20 - Lim, The Handbook of Technical Analysis (Wiley, 2016)</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same thing on real averages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5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2.21</a:t>
            </a:r>
          </a:p>
          <a:p>
            <a:pPr algn="l">
              <a:lnSpc>
                <a:spcPct val="120000"/>
              </a:lnSpc>
              <a:spcBef>
                <a:spcPts val="0"/>
              </a:spcBef>
              <a:spcAft>
                <a:spcPts val="1800"/>
              </a:spcAft>
            </a:pPr>
            <a:r>
              <a:rPr sz="2200" b="0" i="0">
                <a:solidFill>
                  <a:srgbClr val="1A1A1A"/>
                </a:solidFill>
                <a:latin typeface="Palatino"/>
              </a:rPr>
              <a:t>The Dow Jones Industrial Average breaching its secondary peak at T1 and the Dow Jones Transportation Average breaching its own at T2, with the secondary reaction marked on both.</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2.21 - Lim, The Handbook of Technical Analysis (Wiley, 2016)</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Non confirmation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One average gives a signal and the other refuses to. Dow Theory then treats the signal as unproven.</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Industrials give a sell signal, the Transportation Average does not, and the book reads that as a bullish indication rather than a bearish one.</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Non confirmation occurs when a signal in one average is not confirmed by the other. A bearish signal that is not confirmed is regarded as a bullish indication, and the trend may simply resume.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6 of 26</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sell signal that was not confirmed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7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2.22</a:t>
            </a:r>
          </a:p>
          <a:p>
            <a:pPr algn="l">
              <a:lnSpc>
                <a:spcPct val="120000"/>
              </a:lnSpc>
              <a:spcBef>
                <a:spcPts val="0"/>
              </a:spcBef>
              <a:spcAft>
                <a:spcPts val="1800"/>
              </a:spcAft>
            </a:pPr>
            <a:r>
              <a:rPr sz="2200" b="0" i="0">
                <a:solidFill>
                  <a:srgbClr val="1A1A1A"/>
                </a:solidFill>
                <a:latin typeface="Palatino"/>
              </a:rPr>
              <a:t>The Dow Jones Industrial Average making a weak non failure swing sell signal with support breached, while the Dow Jones Transportation Average does not breach its own support, after which the Industrials resume the uptrend.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2.22 - Lim, The Handbook of Technical Analysis (Wiley, 2016)</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Confirmation between closely correlated markets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8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concept may also be applied to closely correlated markets, not only to the two averages.</a:t>
            </a:r>
          </a:p>
          <a:p>
            <a:pPr algn="l">
              <a:lnSpc>
                <a:spcPct val="118000"/>
              </a:lnSpc>
              <a:spcBef>
                <a:spcPts val="0"/>
              </a:spcBef>
              <a:spcAft>
                <a:spcPts val="1300"/>
              </a:spcAft>
            </a:pPr>
            <a:r>
              <a:rPr sz="2100" b="0" i="0">
                <a:solidFill>
                  <a:srgbClr val="1A1A1A"/>
                </a:solidFill>
                <a:latin typeface="Arial"/>
              </a:rPr>
              <a:t>Practitioners also compare a large cap index with a small cap index.</a:t>
            </a:r>
          </a:p>
        </p:txBody>
      </p:sp>
      <p:sp>
        <p:nvSpPr>
          <p:cNvPr id="8" name="Rectangle 7"/>
          <p:cNvSpPr/>
          <p:nvPr/>
        </p:nvSpPr>
        <p:spPr>
          <a:xfrm>
            <a:off x="777240" y="358673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idea is general: one market alone is not evidence.</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Two correlated markets disagreeing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9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2.23</a:t>
            </a:r>
          </a:p>
          <a:p>
            <a:pPr algn="l">
              <a:lnSpc>
                <a:spcPct val="120000"/>
              </a:lnSpc>
              <a:spcBef>
                <a:spcPts val="0"/>
              </a:spcBef>
              <a:spcAft>
                <a:spcPts val="1800"/>
              </a:spcAft>
            </a:pPr>
            <a:r>
              <a:rPr sz="2200" b="0" i="0">
                <a:solidFill>
                  <a:srgbClr val="1A1A1A"/>
                </a:solidFill>
                <a:latin typeface="Palatino"/>
              </a:rPr>
              <a:t>Gold and silver side by side, with silver breaching its support while gold does not, which the book reads as either a bearish signal for gold or a bullish one for silver.</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2.23 - Lim, The Handbook of Technical Analysis (Wiley, 2016)</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large cap index and a small cap index</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10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2.24</a:t>
            </a:r>
          </a:p>
          <a:p>
            <a:pPr algn="l">
              <a:lnSpc>
                <a:spcPct val="120000"/>
              </a:lnSpc>
              <a:spcBef>
                <a:spcPts val="0"/>
              </a:spcBef>
              <a:spcAft>
                <a:spcPts val="1800"/>
              </a:spcAft>
            </a:pPr>
            <a:r>
              <a:rPr sz="2200" b="0" i="0">
                <a:solidFill>
                  <a:srgbClr val="1A1A1A"/>
                </a:solidFill>
                <a:latin typeface="Palatino"/>
              </a:rPr>
              <a:t>The S&amp;P500 large cap index showing sell signals that the Russell 2000 small cap index does not confirm, which the book construes as an oversold indication on the S&amp;P500.</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2.24 - Lim, The Handbook of Technical Analysis (Wiley, 2016)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18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Confirmation</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Confirmation of the averages means that:</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Both averages must rise by more than twenty percent</a:t>
            </a:r>
          </a:p>
          <a:p>
            <a:pPr algn="l">
              <a:lnSpc>
                <a:spcPct val="112000"/>
              </a:lnSpc>
              <a:spcBef>
                <a:spcPts val="0"/>
              </a:spcBef>
              <a:spcAft>
                <a:spcPts val="900"/>
              </a:spcAft>
            </a:pPr>
            <a:r>
              <a:rPr sz="1500" b="0" i="0">
                <a:solidFill>
                  <a:srgbClr val="FFFFFF"/>
                </a:solidFill>
                <a:latin typeface="Arial"/>
              </a:rPr>
              <a:t>B.  Both the Industrials Average and the Railroad Average must extend beyond their secondary peaks</a:t>
            </a:r>
          </a:p>
          <a:p>
            <a:pPr algn="l">
              <a:lnSpc>
                <a:spcPct val="112000"/>
              </a:lnSpc>
              <a:spcBef>
                <a:spcPts val="0"/>
              </a:spcBef>
              <a:spcAft>
                <a:spcPts val="900"/>
              </a:spcAft>
            </a:pPr>
            <a:r>
              <a:rPr sz="1500" b="0" i="0">
                <a:solidFill>
                  <a:srgbClr val="FFFFFF"/>
                </a:solidFill>
                <a:latin typeface="Arial"/>
              </a:rPr>
              <a:t>C.  Both averages must close higher on the same day</a:t>
            </a:r>
          </a:p>
          <a:p>
            <a:pPr algn="l">
              <a:lnSpc>
                <a:spcPct val="112000"/>
              </a:lnSpc>
              <a:spcBef>
                <a:spcPts val="0"/>
              </a:spcBef>
              <a:spcAft>
                <a:spcPts val="900"/>
              </a:spcAft>
            </a:pPr>
            <a:r>
              <a:rPr sz="1500" b="0" i="0">
                <a:solidFill>
                  <a:srgbClr val="FFFFFF"/>
                </a:solidFill>
                <a:latin typeface="Arial"/>
              </a:rPr>
              <a:t>D.  Both averages must breach their minor peaks</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One average penetrates its secondary peak at T1 and the other penetrates its own at T2, which is later. When is the uptrend confirmed?</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At T1</a:t>
            </a:r>
          </a:p>
          <a:p>
            <a:pPr algn="l">
              <a:lnSpc>
                <a:spcPct val="112000"/>
              </a:lnSpc>
              <a:spcBef>
                <a:spcPts val="0"/>
              </a:spcBef>
              <a:spcAft>
                <a:spcPts val="900"/>
              </a:spcAft>
            </a:pPr>
            <a:r>
              <a:rPr sz="1500" b="0" i="0">
                <a:solidFill>
                  <a:srgbClr val="FFFFFF"/>
                </a:solidFill>
                <a:latin typeface="Arial"/>
              </a:rPr>
              <a:t>B.  Halfway between T1 and T2</a:t>
            </a:r>
          </a:p>
          <a:p>
            <a:pPr algn="l">
              <a:lnSpc>
                <a:spcPct val="112000"/>
              </a:lnSpc>
              <a:spcBef>
                <a:spcPts val="0"/>
              </a:spcBef>
              <a:spcAft>
                <a:spcPts val="900"/>
              </a:spcAft>
            </a:pPr>
            <a:r>
              <a:rPr sz="1500" b="0" i="0">
                <a:solidFill>
                  <a:srgbClr val="FFFFFF"/>
                </a:solidFill>
                <a:latin typeface="Arial"/>
              </a:rPr>
              <a:t>C.  At T2</a:t>
            </a:r>
          </a:p>
          <a:p>
            <a:pPr algn="l">
              <a:lnSpc>
                <a:spcPct val="112000"/>
              </a:lnSpc>
              <a:spcBef>
                <a:spcPts val="0"/>
              </a:spcBef>
              <a:spcAft>
                <a:spcPts val="900"/>
              </a:spcAft>
            </a:pPr>
            <a:r>
              <a:rPr sz="1500" b="0" i="0">
                <a:solidFill>
                  <a:srgbClr val="FFFFFF"/>
                </a:solidFill>
                <a:latin typeface="Arial"/>
              </a:rPr>
              <a:t>D.  It is never confirmed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6 of 6 - Confirmation and volume  |  Check 18</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Confirmation</a:t>
            </a:r>
          </a:p>
        </p:txBody>
      </p:sp>
      <p:sp>
        <p:nvSpPr>
          <p:cNvPr id="6" name="Rectangle 5"/>
          <p:cNvSpPr/>
          <p:nvPr/>
        </p:nvSpPr>
        <p:spPr>
          <a:xfrm>
            <a:off x="777240" y="1207008"/>
            <a:ext cx="10637215" cy="192023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92023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Confirmation of the averages means that:</a:t>
            </a:r>
          </a:p>
        </p:txBody>
      </p:sp>
      <p:sp>
        <p:nvSpPr>
          <p:cNvPr id="9" name="TextBox 8"/>
          <p:cNvSpPr txBox="1"/>
          <p:nvPr/>
        </p:nvSpPr>
        <p:spPr>
          <a:xfrm>
            <a:off x="1143000" y="1934464"/>
            <a:ext cx="9905695" cy="14986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Both the Industrials Average and the Railroad Average must extend beyond their secondary peaks</a:t>
            </a:r>
          </a:p>
          <a:p>
            <a:pPr algn="l">
              <a:lnSpc>
                <a:spcPct val="115000"/>
              </a:lnSpc>
              <a:spcBef>
                <a:spcPts val="700"/>
              </a:spcBef>
              <a:spcAft>
                <a:spcPts val="0"/>
              </a:spcAft>
            </a:pPr>
            <a:r>
              <a:rPr sz="1600" b="0" i="0">
                <a:solidFill>
                  <a:srgbClr val="1A1A1A"/>
                </a:solidFill>
                <a:latin typeface="Arial"/>
              </a:rPr>
              <a:t>Secondary peaks, and the trend in one average must be confirmed by the other.</a:t>
            </a:r>
          </a:p>
        </p:txBody>
      </p:sp>
      <p:sp>
        <p:nvSpPr>
          <p:cNvPr id="10" name="Rectangle 9"/>
          <p:cNvSpPr/>
          <p:nvPr/>
        </p:nvSpPr>
        <p:spPr>
          <a:xfrm>
            <a:off x="777240" y="3374135"/>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74135"/>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611879"/>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One average penetrates its secondary peak at T1 and the other penetrates its own at T2, which is later. When is the uptrend confirmed?</a:t>
            </a:r>
          </a:p>
        </p:txBody>
      </p:sp>
      <p:sp>
        <p:nvSpPr>
          <p:cNvPr id="13" name="TextBox 12"/>
          <p:cNvSpPr txBox="1"/>
          <p:nvPr/>
        </p:nvSpPr>
        <p:spPr>
          <a:xfrm>
            <a:off x="1143000" y="43352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At T2</a:t>
            </a:r>
          </a:p>
          <a:p>
            <a:pPr algn="l">
              <a:lnSpc>
                <a:spcPct val="115000"/>
              </a:lnSpc>
              <a:spcBef>
                <a:spcPts val="700"/>
              </a:spcBef>
              <a:spcAft>
                <a:spcPts val="0"/>
              </a:spcAft>
            </a:pPr>
            <a:r>
              <a:rPr sz="1600" b="0" i="0">
                <a:solidFill>
                  <a:srgbClr val="1A1A1A"/>
                </a:solidFill>
                <a:latin typeface="Arial"/>
              </a:rPr>
              <a:t>The later average dates the signal. Until then the move is unconfirmed.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Check 18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Volume must confirm the trend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sixth tenet. Volume has to grow when price moves with the trend and shrink when it moves against it.</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share rising on 3 million shares a day and pulling back on 1 million is behaving the way the tenet wants.</a:t>
            </a:r>
          </a:p>
        </p:txBody>
      </p:sp>
      <p:sp>
        <p:nvSpPr>
          <p:cNvPr id="11" name="Rectangle 10"/>
          <p:cNvSpPr/>
          <p:nvPr/>
        </p:nvSpPr>
        <p:spPr>
          <a:xfrm>
            <a:off x="777240" y="4575556"/>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Dow Theory, volume has to increase or expand in the direction of the existing trend. If volume does not expand in the direction of the existing trend, this is seen as a sign of weakness in the trend, and may potentially lead to a weakening or reversal of it.</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11 of 26</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four conditions, in full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12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In an uptrend, volume should be increasing.</a:t>
            </a:r>
          </a:p>
          <a:p>
            <a:pPr algn="l">
              <a:lnSpc>
                <a:spcPct val="118000"/>
              </a:lnSpc>
              <a:spcBef>
                <a:spcPts val="0"/>
              </a:spcBef>
              <a:spcAft>
                <a:spcPts val="1300"/>
              </a:spcAft>
            </a:pPr>
            <a:r>
              <a:rPr sz="2100" b="0" i="0">
                <a:solidFill>
                  <a:srgbClr val="1A1A1A"/>
                </a:solidFill>
                <a:latin typeface="Arial"/>
              </a:rPr>
              <a:t>2.  In an uptrend, volume should be decreasing during a downside retracement.</a:t>
            </a:r>
          </a:p>
          <a:p>
            <a:pPr algn="l">
              <a:lnSpc>
                <a:spcPct val="118000"/>
              </a:lnSpc>
              <a:spcBef>
                <a:spcPts val="0"/>
              </a:spcBef>
              <a:spcAft>
                <a:spcPts val="1300"/>
              </a:spcAft>
            </a:pPr>
            <a:r>
              <a:rPr sz="2100" b="0" i="0">
                <a:solidFill>
                  <a:srgbClr val="1A1A1A"/>
                </a:solidFill>
                <a:latin typeface="Arial"/>
              </a:rPr>
              <a:t>3.  In a downtrend, volume should be increasing.</a:t>
            </a:r>
          </a:p>
          <a:p>
            <a:pPr algn="l">
              <a:lnSpc>
                <a:spcPct val="118000"/>
              </a:lnSpc>
              <a:spcBef>
                <a:spcPts val="0"/>
              </a:spcBef>
              <a:spcAft>
                <a:spcPts val="1300"/>
              </a:spcAft>
            </a:pPr>
            <a:r>
              <a:rPr sz="2100" b="0" i="0">
                <a:solidFill>
                  <a:srgbClr val="1A1A1A"/>
                </a:solidFill>
                <a:latin typeface="Arial"/>
              </a:rPr>
              <a:t>4.  In a downtrend, volume should be decreasing during an upside retracement.</a:t>
            </a:r>
          </a:p>
        </p:txBody>
      </p:sp>
      <p:sp>
        <p:nvSpPr>
          <p:cNvPr id="8" name="Rectangle 7"/>
          <p:cNvSpPr/>
          <p:nvPr/>
        </p:nvSpPr>
        <p:spPr>
          <a:xfrm>
            <a:off x="777240" y="426719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Volume grows with the trend and shrinks against it. All four say only that.</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If any one of the four is not met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13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existing trend may be potentially weaker than expected.</a:t>
            </a:r>
          </a:p>
          <a:p>
            <a:pPr algn="l">
              <a:lnSpc>
                <a:spcPct val="118000"/>
              </a:lnSpc>
              <a:spcBef>
                <a:spcPts val="0"/>
              </a:spcBef>
              <a:spcAft>
                <a:spcPts val="1300"/>
              </a:spcAft>
            </a:pPr>
            <a:r>
              <a:rPr sz="2100" b="0" i="0">
                <a:solidFill>
                  <a:srgbClr val="1A1A1A"/>
                </a:solidFill>
                <a:latin typeface="Arial"/>
              </a:rPr>
              <a:t>That may lead to a reversal in the existing trend.</a:t>
            </a:r>
          </a:p>
        </p:txBody>
      </p:sp>
      <p:sp>
        <p:nvSpPr>
          <p:cNvPr id="8" name="Rectangle 7"/>
          <p:cNvSpPr/>
          <p:nvPr/>
        </p:nvSpPr>
        <p:spPr>
          <a:xfrm>
            <a:off x="777240" y="3272028"/>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308604"/>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May, and potentially. The book does not promise a reversal and neither should you.</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And volume is only a secondary indicator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14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book notes that volume is considered to be a secondary indicator.</a:t>
            </a:r>
          </a:p>
        </p:txBody>
      </p:sp>
      <p:sp>
        <p:nvSpPr>
          <p:cNvPr id="8" name="Rectangle 7"/>
          <p:cNvSpPr/>
          <p:nvPr/>
        </p:nvSpPr>
        <p:spPr>
          <a:xfrm>
            <a:off x="777240" y="2774442"/>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2811018"/>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Price first. Volume confirms or fails to confirm. It does not lead.</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Volume expanding with the trend, and easing against it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15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h.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H - FIN1209 teaching chart, drawn for this course. Illustrative data, not a real instrument.</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Volume expanding with a primary bull trend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16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2.25</a:t>
            </a:r>
          </a:p>
          <a:p>
            <a:pPr algn="l">
              <a:lnSpc>
                <a:spcPct val="120000"/>
              </a:lnSpc>
              <a:spcBef>
                <a:spcPts val="0"/>
              </a:spcBef>
              <a:spcAft>
                <a:spcPts val="1800"/>
              </a:spcAft>
            </a:pPr>
            <a:r>
              <a:rPr sz="2200" b="0" i="0">
                <a:solidFill>
                  <a:srgbClr val="1A1A1A"/>
                </a:solidFill>
                <a:latin typeface="Palatino"/>
              </a:rPr>
              <a:t>A long term chart of gold with volume expanding in the direction of the existing primary bull trend in one marked area, and declining on average during the retracement in another.</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2.25 - Lim, The Handbook of Technical Analysis (Wiley, 2016)</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same test, period by period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17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2.26</a:t>
            </a:r>
          </a:p>
          <a:p>
            <a:pPr algn="l">
              <a:lnSpc>
                <a:spcPct val="120000"/>
              </a:lnSpc>
              <a:spcBef>
                <a:spcPts val="0"/>
              </a:spcBef>
              <a:spcAft>
                <a:spcPts val="1800"/>
              </a:spcAft>
            </a:pPr>
            <a:r>
              <a:rPr sz="2200" b="0" i="0">
                <a:solidFill>
                  <a:srgbClr val="1A1A1A"/>
                </a:solidFill>
                <a:latin typeface="Palatino"/>
              </a:rPr>
              <a:t>A weekly chart of the GLD SPDR Gold Trust Shares with ten numbered periods, volume expanding with the trend in the odd numbered ones and declining during each correction or retracement.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2.26 - Lim, The Handbook of Technical Analysis (Wiley, 2016)</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19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Volume</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Dow Theory, volume confirmation of the existing trend implies that:</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In an uptrend, volume should be increasing</a:t>
            </a:r>
          </a:p>
          <a:p>
            <a:pPr algn="l">
              <a:lnSpc>
                <a:spcPct val="112000"/>
              </a:lnSpc>
              <a:spcBef>
                <a:spcPts val="0"/>
              </a:spcBef>
              <a:spcAft>
                <a:spcPts val="900"/>
              </a:spcAft>
            </a:pPr>
            <a:r>
              <a:rPr sz="1500" b="0" i="0">
                <a:solidFill>
                  <a:srgbClr val="FFFFFF"/>
                </a:solidFill>
                <a:latin typeface="Arial"/>
              </a:rPr>
              <a:t>B.  In an uptrend, volume should be increasing during a downside retracement</a:t>
            </a:r>
          </a:p>
          <a:p>
            <a:pPr algn="l">
              <a:lnSpc>
                <a:spcPct val="112000"/>
              </a:lnSpc>
              <a:spcBef>
                <a:spcPts val="0"/>
              </a:spcBef>
              <a:spcAft>
                <a:spcPts val="900"/>
              </a:spcAft>
            </a:pPr>
            <a:r>
              <a:rPr sz="1500" b="0" i="0">
                <a:solidFill>
                  <a:srgbClr val="FFFFFF"/>
                </a:solidFill>
                <a:latin typeface="Arial"/>
              </a:rPr>
              <a:t>C.  In a downtrend, volume should be decreasing</a:t>
            </a:r>
          </a:p>
          <a:p>
            <a:pPr algn="l">
              <a:lnSpc>
                <a:spcPct val="112000"/>
              </a:lnSpc>
              <a:spcBef>
                <a:spcPts val="0"/>
              </a:spcBef>
              <a:spcAft>
                <a:spcPts val="900"/>
              </a:spcAft>
            </a:pPr>
            <a:r>
              <a:rPr sz="1500" b="0" i="0">
                <a:solidFill>
                  <a:srgbClr val="FFFFFF"/>
                </a:solidFill>
                <a:latin typeface="Arial"/>
              </a:rPr>
              <a:t>D.  Volume should increase during accumulation and decrease during distribution</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If volume does not expand in the direction of the existing trend, the book says this is:</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Proof that the trend has reversed</a:t>
            </a:r>
          </a:p>
          <a:p>
            <a:pPr algn="l">
              <a:lnSpc>
                <a:spcPct val="112000"/>
              </a:lnSpc>
              <a:spcBef>
                <a:spcPts val="0"/>
              </a:spcBef>
              <a:spcAft>
                <a:spcPts val="900"/>
              </a:spcAft>
            </a:pPr>
            <a:r>
              <a:rPr sz="1500" b="0" i="0">
                <a:solidFill>
                  <a:srgbClr val="FFFFFF"/>
                </a:solidFill>
                <a:latin typeface="Arial"/>
              </a:rPr>
              <a:t>B.  A sign of weakness that may lead to a reversal</a:t>
            </a:r>
          </a:p>
          <a:p>
            <a:pPr algn="l">
              <a:lnSpc>
                <a:spcPct val="112000"/>
              </a:lnSpc>
              <a:spcBef>
                <a:spcPts val="0"/>
              </a:spcBef>
              <a:spcAft>
                <a:spcPts val="900"/>
              </a:spcAft>
            </a:pPr>
            <a:r>
              <a:rPr sz="1500" b="0" i="0">
                <a:solidFill>
                  <a:srgbClr val="FFFFFF"/>
                </a:solidFill>
                <a:latin typeface="Arial"/>
              </a:rPr>
              <a:t>C.  Irrelevant, since volume is a secondary indicator</a:t>
            </a:r>
          </a:p>
          <a:p>
            <a:pPr algn="l">
              <a:lnSpc>
                <a:spcPct val="112000"/>
              </a:lnSpc>
              <a:spcBef>
                <a:spcPts val="0"/>
              </a:spcBef>
              <a:spcAft>
                <a:spcPts val="900"/>
              </a:spcAft>
            </a:pPr>
            <a:r>
              <a:rPr sz="1500" b="0" i="0">
                <a:solidFill>
                  <a:srgbClr val="FFFFFF"/>
                </a:solidFill>
                <a:latin typeface="Arial"/>
              </a:rPr>
              <a:t>D.  A confirmation of the secondary reaction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6 of 6 - Confirmation and volume  |  Check 19</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Volume</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In Dow Theory, volume confirmation of the existing trend implies that:</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In an uptrend, volume should be increasing</a:t>
            </a:r>
          </a:p>
          <a:p>
            <a:pPr algn="l">
              <a:lnSpc>
                <a:spcPct val="115000"/>
              </a:lnSpc>
              <a:spcBef>
                <a:spcPts val="700"/>
              </a:spcBef>
              <a:spcAft>
                <a:spcPts val="0"/>
              </a:spcAft>
            </a:pPr>
            <a:r>
              <a:rPr sz="1600" b="0" i="0">
                <a:solidFill>
                  <a:srgbClr val="1A1A1A"/>
                </a:solidFill>
                <a:latin typeface="Arial"/>
              </a:rPr>
              <a:t>Volume expands with the trend and contracts against it. The other three reverse that.</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If volume does not expand in the direction of the existing trend, the book says this is:</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A sign of weakness that may lead to a reversal</a:t>
            </a:r>
          </a:p>
          <a:p>
            <a:pPr algn="l">
              <a:lnSpc>
                <a:spcPct val="115000"/>
              </a:lnSpc>
              <a:spcBef>
                <a:spcPts val="700"/>
              </a:spcBef>
              <a:spcAft>
                <a:spcPts val="0"/>
              </a:spcAft>
            </a:pPr>
            <a:r>
              <a:rPr sz="1600" b="0" i="0">
                <a:solidFill>
                  <a:srgbClr val="1A1A1A"/>
                </a:solidFill>
                <a:latin typeface="Arial"/>
              </a:rPr>
              <a:t>A sign of weakness, and only potentially a reversal. The book hedges and so should you.</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Check 19</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There are many criticisms of Dow Theory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18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book lists seven of the more significant arguments against it.</a:t>
            </a:r>
          </a:p>
          <a:p>
            <a:pPr algn="l">
              <a:lnSpc>
                <a:spcPct val="118000"/>
              </a:lnSpc>
              <a:spcBef>
                <a:spcPts val="0"/>
              </a:spcBef>
              <a:spcAft>
                <a:spcPts val="1300"/>
              </a:spcAft>
            </a:pPr>
            <a:r>
              <a:rPr sz="2100" b="0" i="0">
                <a:solidFill>
                  <a:srgbClr val="1A1A1A"/>
                </a:solidFill>
                <a:latin typeface="Arial"/>
              </a:rPr>
              <a:t>They are the book's own, not ours, and several attack Rhea's assumptions directly.</a:t>
            </a:r>
          </a:p>
        </p:txBody>
      </p:sp>
      <p:sp>
        <p:nvSpPr>
          <p:cNvPr id="8" name="Rectangle 7"/>
          <p:cNvSpPr/>
          <p:nvPr/>
        </p:nvSpPr>
        <p:spPr>
          <a:xfrm>
            <a:off x="777240" y="358673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 textbook that argues with itself is worth reading carefully.</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1. It suits the equity markets better than anything else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19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 commodity trader might wait months or years for a signal on the primary trend.</a:t>
            </a:r>
          </a:p>
          <a:p>
            <a:pPr algn="l">
              <a:lnSpc>
                <a:spcPct val="118000"/>
              </a:lnSpc>
              <a:spcBef>
                <a:spcPts val="0"/>
              </a:spcBef>
              <a:spcAft>
                <a:spcPts val="1300"/>
              </a:spcAft>
            </a:pPr>
            <a:r>
              <a:rPr sz="2100" b="0" i="0">
                <a:solidFill>
                  <a:srgbClr val="1A1A1A"/>
                </a:solidFill>
                <a:latin typeface="Arial"/>
              </a:rPr>
              <a:t>Hedgers would have few or no counterparties to take the other side.</a:t>
            </a:r>
          </a:p>
          <a:p>
            <a:pPr algn="l">
              <a:lnSpc>
                <a:spcPct val="118000"/>
              </a:lnSpc>
              <a:spcBef>
                <a:spcPts val="0"/>
              </a:spcBef>
              <a:spcAft>
                <a:spcPts val="1300"/>
              </a:spcAft>
            </a:pPr>
            <a:r>
              <a:rPr sz="2100" b="0" i="0">
                <a:solidFill>
                  <a:srgbClr val="1A1A1A"/>
                </a:solidFill>
                <a:latin typeface="Arial"/>
              </a:rPr>
              <a:t>The capital risk is astronomically high if the stop loss is set by the primary trend.</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 twenty three year bear trend is not a trade anybody can actually hold.</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2. The primary trend is susceptible to manipulation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20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Near zero interest rates over extended periods, colossal stimulus and quantitative easing.</a:t>
            </a:r>
          </a:p>
          <a:p>
            <a:pPr algn="l">
              <a:lnSpc>
                <a:spcPct val="118000"/>
              </a:lnSpc>
              <a:spcBef>
                <a:spcPts val="0"/>
              </a:spcBef>
              <a:spcAft>
                <a:spcPts val="1300"/>
              </a:spcAft>
            </a:pPr>
            <a:r>
              <a:rPr sz="2100" b="0" i="0">
                <a:solidFill>
                  <a:srgbClr val="1A1A1A"/>
                </a:solidFill>
                <a:latin typeface="Arial"/>
              </a:rPr>
              <a:t>Collective energy market rigging, and the Libor scandal.</a:t>
            </a:r>
          </a:p>
        </p:txBody>
      </p:sp>
      <p:sp>
        <p:nvSpPr>
          <p:cNvPr id="8" name="Rectangle 7"/>
          <p:cNvSpPr/>
          <p:nvPr/>
        </p:nvSpPr>
        <p:spPr>
          <a:xfrm>
            <a:off x="777240" y="358673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This attacks Rhea's first assumption directly, and it is the book making the attack.</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3. The averages are not a true barometer any more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21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Most indices are themselves tradable today, so they are open to manipulation.</a:t>
            </a:r>
          </a:p>
          <a:p>
            <a:pPr algn="l">
              <a:lnSpc>
                <a:spcPct val="118000"/>
              </a:lnSpc>
              <a:spcBef>
                <a:spcPts val="0"/>
              </a:spcBef>
              <a:spcAft>
                <a:spcPts val="1300"/>
              </a:spcAft>
            </a:pPr>
            <a:r>
              <a:rPr sz="2100" b="0" i="0">
                <a:solidFill>
                  <a:srgbClr val="1A1A1A"/>
                </a:solidFill>
                <a:latin typeface="Arial"/>
              </a:rPr>
              <a:t>The VIX was meant to reflect fear, and heavy speculative trading works against that.</a:t>
            </a:r>
          </a:p>
          <a:p>
            <a:pPr algn="l">
              <a:lnSpc>
                <a:spcPct val="118000"/>
              </a:lnSpc>
              <a:spcBef>
                <a:spcPts val="0"/>
              </a:spcBef>
              <a:spcAft>
                <a:spcPts val="1300"/>
              </a:spcAft>
            </a:pPr>
            <a:r>
              <a:rPr sz="2100" b="0" i="0">
                <a:solidFill>
                  <a:srgbClr val="1A1A1A"/>
                </a:solidFill>
                <a:latin typeface="Arial"/>
              </a:rPr>
              <a:t>Physical gold is at the mercy of shorting in its ETFs, futures and options.</a:t>
            </a:r>
          </a:p>
        </p:txBody>
      </p:sp>
      <p:sp>
        <p:nvSpPr>
          <p:cNvPr id="8" name="Rectangle 7"/>
          <p:cNvSpPr/>
          <p:nvPr/>
        </p:nvSpPr>
        <p:spPr>
          <a:xfrm>
            <a:off x="777240" y="4084320"/>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Such products never existed in Dow's time.</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4. Only closing prices are recognized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22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Recognizing only the close ignores potentially large intraday ranges.</a:t>
            </a:r>
          </a:p>
          <a:p>
            <a:pPr algn="l">
              <a:lnSpc>
                <a:spcPct val="118000"/>
              </a:lnSpc>
              <a:spcBef>
                <a:spcPts val="0"/>
              </a:spcBef>
              <a:spcAft>
                <a:spcPts val="1300"/>
              </a:spcAft>
            </a:pPr>
            <a:r>
              <a:rPr sz="2100" b="0" i="0">
                <a:solidFill>
                  <a:srgbClr val="1A1A1A"/>
                </a:solidFill>
                <a:latin typeface="Arial"/>
              </a:rPr>
              <a:t>Those important price rejection levels are totally disregarded.</a:t>
            </a:r>
          </a:p>
        </p:txBody>
      </p:sp>
      <p:sp>
        <p:nvSpPr>
          <p:cNvPr id="8" name="Rectangle 7"/>
          <p:cNvSpPr/>
          <p:nvPr/>
        </p:nvSpPr>
        <p:spPr>
          <a:xfrm>
            <a:off x="777240" y="3272028"/>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308604"/>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And there is a conceptual conflict: one centavo on the close counts, a huge swing does not.</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5. The signals on the primary trend are said to be safer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23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This may or may not be true.</a:t>
            </a:r>
          </a:p>
          <a:p>
            <a:pPr algn="l">
              <a:lnSpc>
                <a:spcPct val="118000"/>
              </a:lnSpc>
              <a:spcBef>
                <a:spcPts val="0"/>
              </a:spcBef>
              <a:spcAft>
                <a:spcPts val="1300"/>
              </a:spcAft>
            </a:pPr>
            <a:r>
              <a:rPr sz="2100" b="0" i="0">
                <a:solidFill>
                  <a:srgbClr val="1A1A1A"/>
                </a:solidFill>
                <a:latin typeface="Arial"/>
              </a:rPr>
              <a:t>Detractors argue such signals usually occur late in the trend and miss a large part of it.</a:t>
            </a:r>
          </a:p>
        </p:txBody>
      </p:sp>
      <p:sp>
        <p:nvSpPr>
          <p:cNvPr id="8" name="Rectangle 7"/>
          <p:cNvSpPr/>
          <p:nvPr/>
        </p:nvSpPr>
        <p:spPr>
          <a:xfrm>
            <a:off x="777240" y="358673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Note the wording. The book does not settle this one either way.</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6. Telling a new primary trend from a reaction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24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It is difficult to establish whether a retracement is part of a secondary reaction.</a:t>
            </a:r>
          </a:p>
          <a:p>
            <a:pPr algn="l">
              <a:lnSpc>
                <a:spcPct val="118000"/>
              </a:lnSpc>
              <a:spcBef>
                <a:spcPts val="0"/>
              </a:spcBef>
              <a:spcAft>
                <a:spcPts val="1300"/>
              </a:spcAft>
            </a:pPr>
            <a:r>
              <a:rPr sz="2100" b="0" i="0">
                <a:solidFill>
                  <a:srgbClr val="1A1A1A"/>
                </a:solidFill>
                <a:latin typeface="Arial"/>
              </a:rPr>
              <a:t>Or whether it is the inception of a new primary trend in the opposite direction.</a:t>
            </a:r>
          </a:p>
          <a:p>
            <a:pPr algn="l">
              <a:lnSpc>
                <a:spcPct val="118000"/>
              </a:lnSpc>
              <a:spcBef>
                <a:spcPts val="0"/>
              </a:spcBef>
              <a:spcAft>
                <a:spcPts val="1300"/>
              </a:spcAft>
            </a:pPr>
            <a:r>
              <a:rPr sz="2100" b="0" i="0">
                <a:solidFill>
                  <a:srgbClr val="1A1A1A"/>
                </a:solidFill>
                <a:latin typeface="Arial"/>
              </a:rPr>
              <a:t>Investing on the wrong reading runs a higher risk of losing capital.</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This is why the secondary reaction is the most deceptive of the three movements.</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7. The two averages no longer measure what they used to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25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logic was that industry produces goods and the transports ship them.</a:t>
            </a:r>
          </a:p>
          <a:p>
            <a:pPr algn="l">
              <a:lnSpc>
                <a:spcPct val="118000"/>
              </a:lnSpc>
              <a:spcBef>
                <a:spcPts val="0"/>
              </a:spcBef>
              <a:spcAft>
                <a:spcPts val="1300"/>
              </a:spcAft>
            </a:pPr>
            <a:r>
              <a:rPr sz="2100" b="0" i="0">
                <a:solidFill>
                  <a:srgbClr val="1A1A1A"/>
                </a:solidFill>
                <a:latin typeface="Arial"/>
              </a:rPr>
              <a:t>But the Industrial Average today holds many companies that produce nothing needing shipping.</a:t>
            </a:r>
          </a:p>
          <a:p>
            <a:pPr algn="l">
              <a:lnSpc>
                <a:spcPct val="118000"/>
              </a:lnSpc>
              <a:spcBef>
                <a:spcPts val="0"/>
              </a:spcBef>
              <a:spcAft>
                <a:spcPts val="1300"/>
              </a:spcAft>
            </a:pPr>
            <a:r>
              <a:rPr sz="2100" b="0" i="0">
                <a:solidFill>
                  <a:srgbClr val="1A1A1A"/>
                </a:solidFill>
                <a:latin typeface="Arial"/>
              </a:rPr>
              <a:t>Many are in financial products, telecommunications and insurance.</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Many practitioners prefer large cap against small cap, such as the S&amp;P500 and the Russell 2000.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20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The challenges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criticism attacks Rhea's first assumption directly?</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Only closing prices are recognized</a:t>
            </a:r>
          </a:p>
          <a:p>
            <a:pPr algn="l">
              <a:lnSpc>
                <a:spcPct val="112000"/>
              </a:lnSpc>
              <a:spcBef>
                <a:spcPts val="0"/>
              </a:spcBef>
              <a:spcAft>
                <a:spcPts val="900"/>
              </a:spcAft>
            </a:pPr>
            <a:r>
              <a:rPr sz="1500" b="0" i="0">
                <a:solidFill>
                  <a:srgbClr val="FFFFFF"/>
                </a:solidFill>
                <a:latin typeface="Arial"/>
              </a:rPr>
              <a:t>B.  The signals arrive late in the trend</a:t>
            </a:r>
          </a:p>
          <a:p>
            <a:pPr algn="l">
              <a:lnSpc>
                <a:spcPct val="112000"/>
              </a:lnSpc>
              <a:spcBef>
                <a:spcPts val="0"/>
              </a:spcBef>
              <a:spcAft>
                <a:spcPts val="900"/>
              </a:spcAft>
            </a:pPr>
            <a:r>
              <a:rPr sz="1500" b="0" i="0">
                <a:solidFill>
                  <a:srgbClr val="FFFFFF"/>
                </a:solidFill>
                <a:latin typeface="Arial"/>
              </a:rPr>
              <a:t>C.  The primary trend is susceptible to manipulation</a:t>
            </a:r>
          </a:p>
          <a:p>
            <a:pPr algn="l">
              <a:lnSpc>
                <a:spcPct val="112000"/>
              </a:lnSpc>
              <a:spcBef>
                <a:spcPts val="0"/>
              </a:spcBef>
              <a:spcAft>
                <a:spcPts val="900"/>
              </a:spcAft>
            </a:pPr>
            <a:r>
              <a:rPr sz="1500" b="0" i="0">
                <a:solidFill>
                  <a:srgbClr val="FFFFFF"/>
                </a:solidFill>
                <a:latin typeface="Arial"/>
              </a:rPr>
              <a:t>D.  Dow Theory suits the equity markets best</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Why does the book say confirmation between the Industrials and the Transports has become less effective?</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two averages now hold the same companies</a:t>
            </a:r>
          </a:p>
          <a:p>
            <a:pPr algn="l">
              <a:lnSpc>
                <a:spcPct val="112000"/>
              </a:lnSpc>
              <a:spcBef>
                <a:spcPts val="0"/>
              </a:spcBef>
              <a:spcAft>
                <a:spcPts val="900"/>
              </a:spcAft>
            </a:pPr>
            <a:r>
              <a:rPr sz="1500" b="0" i="0">
                <a:solidFill>
                  <a:srgbClr val="FFFFFF"/>
                </a:solidFill>
                <a:latin typeface="Arial"/>
              </a:rPr>
              <a:t>B.  Many industrial companies no longer produce anything that needs shipping</a:t>
            </a:r>
          </a:p>
          <a:p>
            <a:pPr algn="l">
              <a:lnSpc>
                <a:spcPct val="112000"/>
              </a:lnSpc>
              <a:spcBef>
                <a:spcPts val="0"/>
              </a:spcBef>
              <a:spcAft>
                <a:spcPts val="900"/>
              </a:spcAft>
            </a:pPr>
            <a:r>
              <a:rPr sz="1500" b="0" i="0">
                <a:solidFill>
                  <a:srgbClr val="FFFFFF"/>
                </a:solidFill>
                <a:latin typeface="Arial"/>
              </a:rPr>
              <a:t>C.  The Transportation Average is no longer published</a:t>
            </a:r>
          </a:p>
          <a:p>
            <a:pPr algn="l">
              <a:lnSpc>
                <a:spcPct val="112000"/>
              </a:lnSpc>
              <a:spcBef>
                <a:spcPts val="0"/>
              </a:spcBef>
              <a:spcAft>
                <a:spcPts val="900"/>
              </a:spcAft>
            </a:pPr>
            <a:r>
              <a:rPr sz="1500" b="0" i="0">
                <a:solidFill>
                  <a:srgbClr val="FFFFFF"/>
                </a:solidFill>
                <a:latin typeface="Arial"/>
              </a:rPr>
              <a:t>D.  Transport costs are no longer reported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6 of 6 - Confirmation and volume  |  Check 20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The challenges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Which criticism attacks Rhea's first assumption directly?</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The primary trend is susceptible to manipulation</a:t>
            </a:r>
          </a:p>
          <a:p>
            <a:pPr algn="l">
              <a:lnSpc>
                <a:spcPct val="115000"/>
              </a:lnSpc>
              <a:spcBef>
                <a:spcPts val="700"/>
              </a:spcBef>
              <a:spcAft>
                <a:spcPts val="0"/>
              </a:spcAft>
            </a:pPr>
            <a:r>
              <a:rPr sz="1600" b="0" i="0">
                <a:solidFill>
                  <a:srgbClr val="1A1A1A"/>
                </a:solidFill>
                <a:latin typeface="Arial"/>
              </a:rPr>
              <a:t>Rhea assumed the primary trend could not be manipulated. The book now says it can.</a:t>
            </a:r>
          </a:p>
        </p:txBody>
      </p:sp>
      <p:sp>
        <p:nvSpPr>
          <p:cNvPr id="10" name="Rectangle 9"/>
          <p:cNvSpPr/>
          <p:nvPr/>
        </p:nvSpPr>
        <p:spPr>
          <a:xfrm>
            <a:off x="777240" y="3082036"/>
            <a:ext cx="10637215" cy="21539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21539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Why does the book say confirmation between the Industrials and the Transports has become less effective?</a:t>
            </a:r>
          </a:p>
        </p:txBody>
      </p:sp>
      <p:sp>
        <p:nvSpPr>
          <p:cNvPr id="13" name="TextBox 12"/>
          <p:cNvSpPr txBox="1"/>
          <p:nvPr/>
        </p:nvSpPr>
        <p:spPr>
          <a:xfrm>
            <a:off x="1143000" y="4043172"/>
            <a:ext cx="9905695" cy="14986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Many industrial companies no longer produce anything that needs shipping</a:t>
            </a:r>
          </a:p>
          <a:p>
            <a:pPr algn="l">
              <a:lnSpc>
                <a:spcPct val="115000"/>
              </a:lnSpc>
              <a:spcBef>
                <a:spcPts val="700"/>
              </a:spcBef>
              <a:spcAft>
                <a:spcPts val="0"/>
              </a:spcAft>
            </a:pPr>
            <a:r>
              <a:rPr sz="1600" b="0" i="0">
                <a:solidFill>
                  <a:srgbClr val="1A1A1A"/>
                </a:solidFill>
                <a:latin typeface="Arial"/>
              </a:rPr>
              <a:t>The original logic was industry producing goods and transport shipping them.</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Check 20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book still claims for Dow Theory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26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Dow Theory forms the basis for much of technical analysis in the twenty first century.</a:t>
            </a:r>
          </a:p>
          <a:p>
            <a:pPr algn="l">
              <a:lnSpc>
                <a:spcPct val="118000"/>
              </a:lnSpc>
              <a:spcBef>
                <a:spcPts val="0"/>
              </a:spcBef>
              <a:spcAft>
                <a:spcPts val="1300"/>
              </a:spcAft>
            </a:pPr>
            <a:r>
              <a:rPr sz="2100" b="0" i="0">
                <a:solidFill>
                  <a:srgbClr val="1A1A1A"/>
                </a:solidFill>
                <a:latin typeface="Arial"/>
              </a:rPr>
              <a:t>Many practitioners still regard it as one of the most reliable ways to confirm a trend exists.</a:t>
            </a:r>
          </a:p>
          <a:p>
            <a:pPr algn="l">
              <a:lnSpc>
                <a:spcPct val="118000"/>
              </a:lnSpc>
              <a:spcBef>
                <a:spcPts val="0"/>
              </a:spcBef>
              <a:spcAft>
                <a:spcPts val="1300"/>
              </a:spcAft>
            </a:pPr>
            <a:r>
              <a:rPr sz="2100" b="0" i="0">
                <a:solidFill>
                  <a:srgbClr val="1A1A1A"/>
                </a:solidFill>
                <a:latin typeface="Arial"/>
              </a:rPr>
              <a:t>Market phase and volume confirmation changed how investors participate.</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More than a century after it was introduced, and after all seven of those criticisms.</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21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What survives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The book's own summary says Dow Theory is still widely regarded as reliable for:</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Forecasting the exact extent of a primary trend</a:t>
            </a:r>
          </a:p>
          <a:p>
            <a:pPr algn="l">
              <a:lnSpc>
                <a:spcPct val="112000"/>
              </a:lnSpc>
              <a:spcBef>
                <a:spcPts val="0"/>
              </a:spcBef>
              <a:spcAft>
                <a:spcPts val="900"/>
              </a:spcAft>
            </a:pPr>
            <a:r>
              <a:rPr sz="1500" b="0" i="0">
                <a:solidFill>
                  <a:srgbClr val="FFFFFF"/>
                </a:solidFill>
                <a:latin typeface="Arial"/>
              </a:rPr>
              <a:t>B.  Timing entries on the minor trend</a:t>
            </a:r>
          </a:p>
          <a:p>
            <a:pPr algn="l">
              <a:lnSpc>
                <a:spcPct val="112000"/>
              </a:lnSpc>
              <a:spcBef>
                <a:spcPts val="0"/>
              </a:spcBef>
              <a:spcAft>
                <a:spcPts val="900"/>
              </a:spcAft>
            </a:pPr>
            <a:r>
              <a:rPr sz="1500" b="0" i="0">
                <a:solidFill>
                  <a:srgbClr val="FFFFFF"/>
                </a:solidFill>
                <a:latin typeface="Arial"/>
              </a:rPr>
              <a:t>C.  Pricing derivatives on the averages</a:t>
            </a:r>
          </a:p>
          <a:p>
            <a:pPr algn="l">
              <a:lnSpc>
                <a:spcPct val="112000"/>
              </a:lnSpc>
              <a:spcBef>
                <a:spcPts val="0"/>
              </a:spcBef>
              <a:spcAft>
                <a:spcPts val="900"/>
              </a:spcAft>
            </a:pPr>
            <a:r>
              <a:rPr sz="1500" b="0" i="0">
                <a:solidFill>
                  <a:srgbClr val="FFFFFF"/>
                </a:solidFill>
                <a:latin typeface="Arial"/>
              </a:rPr>
              <a:t>D.  Determining and confirming that a trend exists</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commodity trader following Dow Theory strictly would most likely complain that:</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theory ignores volume</a:t>
            </a:r>
          </a:p>
          <a:p>
            <a:pPr algn="l">
              <a:lnSpc>
                <a:spcPct val="112000"/>
              </a:lnSpc>
              <a:spcBef>
                <a:spcPts val="0"/>
              </a:spcBef>
              <a:spcAft>
                <a:spcPts val="900"/>
              </a:spcAft>
            </a:pPr>
            <a:r>
              <a:rPr sz="1500" b="0" i="0">
                <a:solidFill>
                  <a:srgbClr val="FFFFFF"/>
                </a:solidFill>
                <a:latin typeface="Arial"/>
              </a:rPr>
              <a:t>B.  A signal on the primary trend can take months or years to arrive</a:t>
            </a:r>
          </a:p>
          <a:p>
            <a:pPr algn="l">
              <a:lnSpc>
                <a:spcPct val="112000"/>
              </a:lnSpc>
              <a:spcBef>
                <a:spcPts val="0"/>
              </a:spcBef>
              <a:spcAft>
                <a:spcPts val="900"/>
              </a:spcAft>
            </a:pPr>
            <a:r>
              <a:rPr sz="1500" b="0" i="0">
                <a:solidFill>
                  <a:srgbClr val="FFFFFF"/>
                </a:solidFill>
                <a:latin typeface="Arial"/>
              </a:rPr>
              <a:t>C.  The theory has too many tenets to apply</a:t>
            </a:r>
          </a:p>
          <a:p>
            <a:pPr algn="l">
              <a:lnSpc>
                <a:spcPct val="112000"/>
              </a:lnSpc>
              <a:spcBef>
                <a:spcPts val="0"/>
              </a:spcBef>
              <a:spcAft>
                <a:spcPts val="900"/>
              </a:spcAft>
            </a:pPr>
            <a:r>
              <a:rPr sz="1500" b="0" i="0">
                <a:solidFill>
                  <a:srgbClr val="FFFFFF"/>
                </a:solidFill>
                <a:latin typeface="Arial"/>
              </a:rPr>
              <a:t>D.  Closing prices are unavailable in commodities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6 of 6 - Confirmation and volume  |  Check 21</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What survives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The book's own summary says Dow Theory is still widely regarded as reliable for:</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Determining and confirming that a trend exists</a:t>
            </a:r>
          </a:p>
          <a:p>
            <a:pPr algn="l">
              <a:lnSpc>
                <a:spcPct val="115000"/>
              </a:lnSpc>
              <a:spcBef>
                <a:spcPts val="700"/>
              </a:spcBef>
              <a:spcAft>
                <a:spcPts val="0"/>
              </a:spcAft>
            </a:pPr>
            <a:r>
              <a:rPr sz="1600" b="0" i="0">
                <a:solidFill>
                  <a:srgbClr val="1A1A1A"/>
                </a:solidFill>
                <a:latin typeface="Arial"/>
              </a:rPr>
              <a:t>Determining and confirming the existence of a trend, which is the whole claim.</a:t>
            </a:r>
          </a:p>
        </p:txBody>
      </p:sp>
      <p:sp>
        <p:nvSpPr>
          <p:cNvPr id="10" name="Rectangle 9"/>
          <p:cNvSpPr/>
          <p:nvPr/>
        </p:nvSpPr>
        <p:spPr>
          <a:xfrm>
            <a:off x="777240" y="3082036"/>
            <a:ext cx="10637215" cy="19202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92023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commodity trader following Dow Theory strictly would most likely complain that:</a:t>
            </a:r>
          </a:p>
        </p:txBody>
      </p:sp>
      <p:sp>
        <p:nvSpPr>
          <p:cNvPr id="13" name="TextBox 12"/>
          <p:cNvSpPr txBox="1"/>
          <p:nvPr/>
        </p:nvSpPr>
        <p:spPr>
          <a:xfrm>
            <a:off x="1143000" y="3809492"/>
            <a:ext cx="9905695" cy="14986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A signal on the primary trend can take months or years to arrive</a:t>
            </a:r>
          </a:p>
          <a:p>
            <a:pPr algn="l">
              <a:lnSpc>
                <a:spcPct val="115000"/>
              </a:lnSpc>
              <a:spcBef>
                <a:spcPts val="700"/>
              </a:spcBef>
              <a:spcAft>
                <a:spcPts val="0"/>
              </a:spcAft>
            </a:pPr>
            <a:r>
              <a:rPr sz="1600" b="0" i="0">
                <a:solidFill>
                  <a:srgbClr val="1A1A1A"/>
                </a:solidFill>
                <a:latin typeface="Arial"/>
              </a:rPr>
              <a:t>The first criticism: the theory suits equities, and slow signals make hedging impractical.</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Check 21</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The averages must confirm one another, and the signal is dated by the later one</a:t>
            </a:r>
          </a:p>
          <a:p>
            <a:pPr algn="l" marL="237744" indent="-237744">
              <a:lnSpc>
                <a:spcPct val="112000"/>
              </a:lnSpc>
              <a:spcBef>
                <a:spcPts val="0"/>
              </a:spcBef>
              <a:spcAft>
                <a:spcPts val="1200"/>
              </a:spcAft>
            </a:pPr>
            <a:r>
              <a:rPr sz="1800" b="0" i="0">
                <a:solidFill>
                  <a:srgbClr val="1A1A1A"/>
                </a:solidFill>
                <a:latin typeface="Arial"/>
              </a:rPr>
              <a:t>▪  Non confirmation, and why an unconfirmed sell signal reads as bullish</a:t>
            </a:r>
          </a:p>
          <a:p>
            <a:pPr algn="l" marL="237744" indent="-237744">
              <a:lnSpc>
                <a:spcPct val="112000"/>
              </a:lnSpc>
              <a:spcBef>
                <a:spcPts val="0"/>
              </a:spcBef>
              <a:spcAft>
                <a:spcPts val="1200"/>
              </a:spcAft>
            </a:pPr>
            <a:r>
              <a:rPr sz="1800" b="0" i="0">
                <a:solidFill>
                  <a:srgbClr val="1A1A1A"/>
                </a:solidFill>
                <a:latin typeface="Arial"/>
              </a:rPr>
              <a:t>▪  Volume must confirm the trend, and the four conditions</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Volume is a secondary indicator</a:t>
            </a:r>
          </a:p>
          <a:p>
            <a:pPr algn="l" marL="237744" indent="-237744">
              <a:lnSpc>
                <a:spcPct val="112000"/>
              </a:lnSpc>
              <a:spcBef>
                <a:spcPts val="0"/>
              </a:spcBef>
              <a:spcAft>
                <a:spcPts val="1200"/>
              </a:spcAft>
            </a:pPr>
            <a:r>
              <a:rPr sz="1800" b="0" i="0">
                <a:solidFill>
                  <a:srgbClr val="1A1A1A"/>
                </a:solidFill>
                <a:latin typeface="Arial"/>
              </a:rPr>
              <a:t>▪  The seven criticisms, two of which attack Rhea's own assumptions</a:t>
            </a:r>
          </a:p>
          <a:p>
            <a:pPr algn="l" marL="237744" indent="-237744">
              <a:lnSpc>
                <a:spcPct val="112000"/>
              </a:lnSpc>
              <a:spcBef>
                <a:spcPts val="0"/>
              </a:spcBef>
              <a:spcAft>
                <a:spcPts val="1200"/>
              </a:spcAft>
            </a:pPr>
            <a:r>
              <a:rPr sz="1800" b="0" i="0">
                <a:solidFill>
                  <a:srgbClr val="1A1A1A"/>
                </a:solidFill>
                <a:latin typeface="Arial"/>
              </a:rPr>
              <a:t>▪  What the book still claims for the theory</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recap</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Chapter 2 in five sentences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2 -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Dow Theory is six tenets, codified by Robert Rhea out of Charles Dow's editorials.</a:t>
            </a:r>
          </a:p>
          <a:p>
            <a:pPr algn="l">
              <a:lnSpc>
                <a:spcPct val="118000"/>
              </a:lnSpc>
              <a:spcBef>
                <a:spcPts val="0"/>
              </a:spcBef>
              <a:spcAft>
                <a:spcPts val="1300"/>
              </a:spcAft>
            </a:pPr>
            <a:r>
              <a:rPr sz="2100" b="0" i="0">
                <a:solidFill>
                  <a:srgbClr val="1A1A1A"/>
                </a:solidFill>
                <a:latin typeface="Arial"/>
              </a:rPr>
              <a:t>The averages discount everything, and only closing prices are recognized.</a:t>
            </a:r>
          </a:p>
          <a:p>
            <a:pPr algn="l">
              <a:lnSpc>
                <a:spcPct val="118000"/>
              </a:lnSpc>
              <a:spcBef>
                <a:spcPts val="0"/>
              </a:spcBef>
              <a:spcAft>
                <a:spcPts val="1300"/>
              </a:spcAft>
            </a:pPr>
            <a:r>
              <a:rPr sz="2100" b="0" i="0">
                <a:solidFill>
                  <a:srgbClr val="1A1A1A"/>
                </a:solidFill>
                <a:latin typeface="Arial"/>
              </a:rPr>
              <a:t>Three trends run at once, and only the primary one and lines may be traded.</a:t>
            </a:r>
          </a:p>
          <a:p>
            <a:pPr algn="l">
              <a:lnSpc>
                <a:spcPct val="118000"/>
              </a:lnSpc>
              <a:spcBef>
                <a:spcPts val="0"/>
              </a:spcBef>
              <a:spcAft>
                <a:spcPts val="1300"/>
              </a:spcAft>
            </a:pPr>
            <a:r>
              <a:rPr sz="2100" b="0" i="0">
                <a:solidFill>
                  <a:srgbClr val="1A1A1A"/>
                </a:solidFill>
                <a:latin typeface="Arial"/>
              </a:rPr>
              <a:t>A primary trend has three phases and persists until a peak or trough is penetrated.</a:t>
            </a:r>
          </a:p>
          <a:p>
            <a:pPr algn="l">
              <a:lnSpc>
                <a:spcPct val="118000"/>
              </a:lnSpc>
              <a:spcBef>
                <a:spcPts val="0"/>
              </a:spcBef>
              <a:spcAft>
                <a:spcPts val="1300"/>
              </a:spcAft>
            </a:pPr>
            <a:r>
              <a:rPr sz="2100" b="0" i="0">
                <a:solidFill>
                  <a:srgbClr val="1A1A1A"/>
                </a:solidFill>
                <a:latin typeface="Arial"/>
              </a:rPr>
              <a:t>The averages must confirm one another, and volume must confirm the trend.</a:t>
            </a:r>
          </a:p>
        </p:txBody>
      </p:sp>
      <p:sp>
        <p:nvSpPr>
          <p:cNvPr id="8" name="Rectangle 7"/>
          <p:cNvSpPr/>
          <p:nvPr/>
        </p:nvSpPr>
        <p:spPr>
          <a:xfrm>
            <a:off x="777240" y="5394197"/>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430773"/>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If you can say those five, you can answer most of what this chapter is asked about.</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review questions to prepare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2 -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Describe the basic tenets of Dow Theory.</a:t>
            </a:r>
          </a:p>
          <a:p>
            <a:pPr algn="l">
              <a:lnSpc>
                <a:spcPct val="118000"/>
              </a:lnSpc>
              <a:spcBef>
                <a:spcPts val="0"/>
              </a:spcBef>
              <a:spcAft>
                <a:spcPts val="1300"/>
              </a:spcAft>
            </a:pPr>
            <a:r>
              <a:rPr sz="2100" b="0" i="0">
                <a:solidFill>
                  <a:srgbClr val="1A1A1A"/>
                </a:solidFill>
                <a:latin typeface="Arial"/>
              </a:rPr>
              <a:t>Give examples of the primary trend being manipulated.</a:t>
            </a:r>
          </a:p>
          <a:p>
            <a:pPr algn="l">
              <a:lnSpc>
                <a:spcPct val="118000"/>
              </a:lnSpc>
              <a:spcBef>
                <a:spcPts val="0"/>
              </a:spcBef>
              <a:spcAft>
                <a:spcPts val="1300"/>
              </a:spcAft>
            </a:pPr>
            <a:r>
              <a:rPr sz="2100" b="0" i="0">
                <a:solidFill>
                  <a:srgbClr val="1A1A1A"/>
                </a:solidFill>
                <a:latin typeface="Arial"/>
              </a:rPr>
              <a:t>Is Dow Theory still relevant today, and what are its main weaknesses?</a:t>
            </a:r>
          </a:p>
          <a:p>
            <a:pPr algn="l">
              <a:lnSpc>
                <a:spcPct val="118000"/>
              </a:lnSpc>
              <a:spcBef>
                <a:spcPts val="0"/>
              </a:spcBef>
              <a:spcAft>
                <a:spcPts val="1300"/>
              </a:spcAft>
            </a:pPr>
            <a:r>
              <a:rPr sz="2100" b="0" i="0">
                <a:solidFill>
                  <a:srgbClr val="1A1A1A"/>
                </a:solidFill>
                <a:latin typeface="Arial"/>
              </a:rPr>
              <a:t>Explain why volume should expand in the direction of the existing trend.</a:t>
            </a:r>
          </a:p>
          <a:p>
            <a:pPr algn="l">
              <a:lnSpc>
                <a:spcPct val="118000"/>
              </a:lnSpc>
              <a:spcBef>
                <a:spcPts val="0"/>
              </a:spcBef>
              <a:spcAft>
                <a:spcPts val="1300"/>
              </a:spcAft>
            </a:pPr>
            <a:r>
              <a:rPr sz="2100" b="0" i="0">
                <a:solidFill>
                  <a:srgbClr val="1A1A1A"/>
                </a:solidFill>
                <a:latin typeface="Arial"/>
              </a:rPr>
              <a:t>In what ways is accumulation similar to distribution?</a:t>
            </a:r>
          </a:p>
          <a:p>
            <a:pPr algn="l">
              <a:lnSpc>
                <a:spcPct val="118000"/>
              </a:lnSpc>
              <a:spcBef>
                <a:spcPts val="0"/>
              </a:spcBef>
              <a:spcAft>
                <a:spcPts val="1300"/>
              </a:spcAft>
            </a:pPr>
            <a:r>
              <a:rPr sz="2100" b="0" i="0">
                <a:solidFill>
                  <a:srgbClr val="1A1A1A"/>
                </a:solidFill>
                <a:latin typeface="Arial"/>
              </a:rPr>
              <a:t>Why is the secondary reaction more problematic than the primary trend?</a:t>
            </a:r>
          </a:p>
        </p:txBody>
      </p:sp>
      <p:sp>
        <p:nvSpPr>
          <p:cNvPr id="8" name="Rectangle 7"/>
          <p:cNvSpPr/>
          <p:nvPr/>
        </p:nvSpPr>
        <p:spPr>
          <a:xfrm>
            <a:off x="777240" y="526237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29894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Seven of the book's eight questions. The eighth is on the next slide.</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one question this chapter does not answer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2 -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Review question 8 asks for the differences between Dow's and Ralph N. Elliott's determination of a trend.</a:t>
            </a:r>
          </a:p>
          <a:p>
            <a:pPr algn="l">
              <a:lnSpc>
                <a:spcPct val="118000"/>
              </a:lnSpc>
              <a:spcBef>
                <a:spcPts val="0"/>
              </a:spcBef>
              <a:spcAft>
                <a:spcPts val="1300"/>
              </a:spcAft>
            </a:pPr>
            <a:r>
              <a:rPr sz="2100" b="0" i="0">
                <a:solidFill>
                  <a:srgbClr val="1A1A1A"/>
                </a:solidFill>
                <a:latin typeface="Arial"/>
              </a:rPr>
              <a:t>Chapter 2 never mentions Elliott. It gives you Dow's half and nothing else.</a:t>
            </a:r>
          </a:p>
          <a:p>
            <a:pPr algn="l">
              <a:lnSpc>
                <a:spcPct val="118000"/>
              </a:lnSpc>
              <a:spcBef>
                <a:spcPts val="0"/>
              </a:spcBef>
              <a:spcAft>
                <a:spcPts val="1300"/>
              </a:spcAft>
            </a:pPr>
            <a:r>
              <a:rPr sz="2100" b="0" i="0">
                <a:solidFill>
                  <a:srgbClr val="1A1A1A"/>
                </a:solidFill>
                <a:latin typeface="Arial"/>
              </a:rPr>
              <a:t>The book takes up Elliott properly in Chapter 4 and Chapter 18.</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Answer the Dow half now, and finish the question when we reach Elliott.</a:t>
            </a:r>
          </a:p>
        </p:txBody>
      </p:sp>
      <p:sp>
        <p:nvSpPr>
          <p:cNvPr id="10" name="TextBox 9"/>
          <p:cNvSpPr txBox="1"/>
          <p:nvPr/>
        </p:nvSpPr>
        <p:spPr>
          <a:xfrm>
            <a:off x="777240" y="5110988"/>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Do not fill the gap from outside the book. The paper is set on the book.</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12191695" cy="201168"/>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371600"/>
            <a:ext cx="10637215" cy="1005840"/>
          </a:xfrm>
          <a:prstGeom prst="rect">
            <a:avLst/>
          </a:prstGeom>
          <a:noFill/>
        </p:spPr>
        <p:txBody>
          <a:bodyPr wrap="square" anchor="t" lIns="0" rIns="0" tIns="0" bIns="0">
            <a:spAutoFit/>
          </a:bodyPr>
          <a:lstStyle/>
          <a:p>
            <a:pPr algn="l">
              <a:lnSpc>
                <a:spcPct val="105000"/>
              </a:lnSpc>
              <a:spcBef>
                <a:spcPts val="0"/>
              </a:spcBef>
              <a:spcAft>
                <a:spcPts val="0"/>
              </a:spcAft>
            </a:pPr>
            <a:r>
              <a:rPr sz="3800" b="0" i="0">
                <a:solidFill>
                  <a:srgbClr val="FFFFFF"/>
                </a:solidFill>
                <a:latin typeface="Palatino"/>
              </a:rPr>
              <a:t>Next: mechanics and dynamics of charting</a:t>
            </a:r>
          </a:p>
        </p:txBody>
      </p:sp>
      <p:sp>
        <p:nvSpPr>
          <p:cNvPr id="5" name="Rectangle 4"/>
          <p:cNvSpPr/>
          <p:nvPr/>
        </p:nvSpPr>
        <p:spPr>
          <a:xfrm>
            <a:off x="777240" y="2651760"/>
            <a:ext cx="1463040" cy="38100"/>
          </a:xfrm>
          <a:prstGeom prst="rect">
            <a:avLst/>
          </a:prstGeom>
          <a:solidFill>
            <a:srgbClr val="F2A900"/>
          </a:solidFill>
          <a:ln>
            <a:noFill/>
          </a:ln>
          <a:effectLst/>
        </p:spPr>
        <p:txBody>
          <a:bodyPr rtlCol="0" anchor="ctr"/>
          <a:lstStyle/>
          <a:p>
            <a:pPr algn="ctr"/>
          </a:p>
        </p:txBody>
      </p:sp>
      <p:sp>
        <p:nvSpPr>
          <p:cNvPr id="6" name="TextBox 5"/>
          <p:cNvSpPr txBox="1"/>
          <p:nvPr/>
        </p:nvSpPr>
        <p:spPr>
          <a:xfrm>
            <a:off x="777240" y="3108960"/>
            <a:ext cx="10637215" cy="2194560"/>
          </a:xfrm>
          <a:prstGeom prst="rect">
            <a:avLst/>
          </a:prstGeom>
          <a:noFill/>
        </p:spPr>
        <p:txBody>
          <a:bodyPr wrap="square" anchor="t" lIns="0" rIns="0" tIns="0" bIns="0">
            <a:spAutoFit/>
          </a:bodyPr>
          <a:lstStyle/>
          <a:p>
            <a:pPr algn="l">
              <a:lnSpc>
                <a:spcPct val="115000"/>
              </a:lnSpc>
              <a:spcBef>
                <a:spcPts val="0"/>
              </a:spcBef>
              <a:spcAft>
                <a:spcPts val="1200"/>
              </a:spcAft>
            </a:pPr>
            <a:r>
              <a:rPr sz="2000" b="0" i="0">
                <a:solidFill>
                  <a:srgbClr val="FFFFFF"/>
                </a:solidFill>
                <a:latin typeface="Arial"/>
              </a:rPr>
              <a:t>Chapter 3 builds the chart itself: open, high, low and close, and how a bar is made.</a:t>
            </a:r>
          </a:p>
          <a:p>
            <a:pPr algn="l">
              <a:lnSpc>
                <a:spcPct val="115000"/>
              </a:lnSpc>
              <a:spcBef>
                <a:spcPts val="0"/>
              </a:spcBef>
              <a:spcAft>
                <a:spcPts val="1200"/>
              </a:spcAft>
            </a:pPr>
            <a:r>
              <a:rPr sz="2000" b="0" i="0">
                <a:solidFill>
                  <a:srgbClr val="FFFFFF"/>
                </a:solidFill>
                <a:latin typeface="Arial"/>
              </a:rPr>
              <a:t>Bring the closing price with you. Chapter 3 explains the other three you were told to ignore.</a:t>
            </a:r>
          </a:p>
          <a:p>
            <a:pPr algn="l">
              <a:lnSpc>
                <a:spcPct val="115000"/>
              </a:lnSpc>
              <a:spcBef>
                <a:spcPts val="0"/>
              </a:spcBef>
              <a:spcAft>
                <a:spcPts val="1200"/>
              </a:spcAft>
            </a:pPr>
            <a:r>
              <a:rPr sz="2000" b="0" i="0">
                <a:solidFill>
                  <a:srgbClr val="FFFFFF"/>
                </a:solidFill>
                <a:latin typeface="Arial"/>
              </a:rPr>
              <a:t>Before then: find a chart with a clear trend, mark its peaks and troughs, and say where the trend ended.</a:t>
            </a:r>
          </a:p>
        </p:txBody>
      </p:sp>
      <p:sp>
        <p:nvSpPr>
          <p:cNvPr id="7" name="TextBox 6"/>
          <p:cNvSpPr txBox="1"/>
          <p:nvPr/>
        </p:nvSpPr>
        <p:spPr>
          <a:xfrm>
            <a:off x="777240" y="5486400"/>
            <a:ext cx="10637215" cy="640080"/>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F2A900"/>
                </a:solidFill>
                <a:latin typeface="Arial"/>
              </a:rPr>
              <a:t>FIN1209  Technical Analysis in Investment  |  Institute of Accounts, Business and Finance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FIN1209 Chapter 2 - Introduction to Dow Theory</dc:title>
  <dc:subject>Technical Analysis in Investment</dc:subject>
  <dc:creator>Benjamin C. Sotelo</dc:creator>
  <cp:keywords/>
  <dc:description>generated using python-pptx</dc:description>
  <cp:lastModifiedBy>Benjamin C. Sotelo</cp:lastModifiedBy>
  <cp:revision>1</cp:revision>
  <dcterms:created xsi:type="dcterms:W3CDTF">2020-01-01T00:00:00Z</dcterms:created>
  <dcterms:modified xsi:type="dcterms:W3CDTF">2020-01-01T00:00:00Z</dcterms:modified>
  <cp:category/>
</cp:coreProperties>
</file>