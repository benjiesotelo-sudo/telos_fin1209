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Figure 5.5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each swing is longer and taller than the one above it, and holds four of it. Four is this chart's number, not a rule.</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four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Then the link back. This section has just said a market can trend at one degree and consolidate at another. The long stretch under the top is that: a fall and a recovery to one trader, a sideways range to a trader of a larger wave.</a:t>
            </a:r>
          </a:p>
          <a:p>
            <a:r>
              <a:rPr sz="1400"/>
              <a:t>- So nothing taught in Chapters 2 and 4 is withdrawn. A breakout from a range is a breakout through a level, at the degree where the range can be seen.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Chapter 3 gave the true range: the greater of the bar's range and the distance from the last close. That is why the ATR sees gaps. How it is averaged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a:t>
            </a:r>
          </a:p>
          <a:p>
            <a:r>
              <a:rPr sz="1400"/>
              <a:t>- The limit exit is the profit-take, or take profit, order. Under gapping price action it can exit with greater profit.</a:t>
            </a:r>
          </a:p>
          <a:p>
            <a:r>
              <a:rPr sz="1400"/>
              <a:t>- Negative slippage may sometimes occur when placing market orders.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and it still does.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Dow Theory, trends are classified and defined by their duration and extent.</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the primary trend, the secondary reaction and the minor 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represented by a series of successively higher highs, the peaks, and lows, the troughs.</a:t>
            </a:r>
          </a:p>
          <a:p>
            <a:pPr algn="l">
              <a:lnSpc>
                <a:spcPct val="105000"/>
              </a:lnSpc>
              <a:spcBef>
                <a:spcPts val="0"/>
              </a:spcBef>
              <a:spcAft>
                <a:spcPts val="1100"/>
              </a:spcAft>
            </a:pPr>
            <a:r>
              <a:rPr sz="1700" b="0" i="0">
                <a:solidFill>
                  <a:srgbClr val="1A1A1A"/>
                </a:solidFill>
                <a:latin typeface="Arial"/>
              </a:rPr>
              <a:t>Each rally carries above the last peak: a higher high, HH.</a:t>
            </a:r>
          </a:p>
          <a:p>
            <a:pPr algn="l">
              <a:lnSpc>
                <a:spcPct val="105000"/>
              </a:lnSpc>
              <a:spcBef>
                <a:spcPts val="0"/>
              </a:spcBef>
              <a:spcAft>
                <a:spcPts val="1100"/>
              </a:spcAft>
            </a:pPr>
            <a:r>
              <a:rPr sz="1700" b="0" i="0">
                <a:solidFill>
                  <a:srgbClr val="1A1A1A"/>
                </a:solidFill>
                <a:latin typeface="Arial"/>
              </a:rPr>
              <a:t>Each dip holds above the last trough: a higher low, HL.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20</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downtrend is represented by a series of successively lower highs and lows.</a:t>
            </a:r>
          </a:p>
          <a:p>
            <a:pPr algn="l">
              <a:lnSpc>
                <a:spcPct val="105000"/>
              </a:lnSpc>
              <a:spcBef>
                <a:spcPts val="0"/>
              </a:spcBef>
              <a:spcAft>
                <a:spcPts val="1100"/>
              </a:spcAft>
            </a:pPr>
            <a:r>
              <a:rPr sz="2000" b="0" i="0">
                <a:solidFill>
                  <a:srgbClr val="1A1A1A"/>
                </a:solidFill>
                <a:latin typeface="Arial"/>
              </a:rPr>
              <a:t>Each rally stops below the last peak: a lower high, LH.</a:t>
            </a:r>
          </a:p>
          <a:p>
            <a:pPr algn="l">
              <a:lnSpc>
                <a:spcPct val="105000"/>
              </a:lnSpc>
              <a:spcBef>
                <a:spcPts val="0"/>
              </a:spcBef>
              <a:spcAft>
                <a:spcPts val="1100"/>
              </a:spcAft>
            </a:pPr>
            <a:r>
              <a:rPr sz="2000" b="0" i="0">
                <a:solidFill>
                  <a:srgbClr val="1A1A1A"/>
                </a:solidFill>
                <a:latin typeface="Arial"/>
              </a:rPr>
              <a:t>Each decline carries below the last trough: a lower low, LL.</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20</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no higher highs or lows. Scenario 4 has no highs or lows at all.</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Erratic or chaotic price action can also make peaks and troughs extremely hard to identify.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 avoid depending on how price behaves, many practitioners use other means:</a:t>
            </a:r>
          </a:p>
          <a:p>
            <a:pPr algn="l">
              <a:lnSpc>
                <a:spcPct val="105000"/>
              </a:lnSpc>
              <a:spcBef>
                <a:spcPts val="0"/>
              </a:spcBef>
              <a:spcAft>
                <a:spcPts val="1100"/>
              </a:spcAft>
            </a:pPr>
            <a:r>
              <a:rPr sz="1700" b="0" i="0">
                <a:solidFill>
                  <a:srgbClr val="1A1A1A"/>
                </a:solidFill>
                <a:latin typeface="Arial"/>
              </a:rPr>
              <a:t>Price remaining above or below an overlay indicator: a trendline, a moving average.</a:t>
            </a:r>
          </a:p>
          <a:p>
            <a:pPr algn="l">
              <a:lnSpc>
                <a:spcPct val="105000"/>
              </a:lnSpc>
              <a:spcBef>
                <a:spcPts val="0"/>
              </a:spcBef>
              <a:spcAft>
                <a:spcPts val="1100"/>
              </a:spcAft>
            </a:pPr>
            <a:r>
              <a:rPr sz="1700" b="0" i="0">
                <a:solidFill>
                  <a:srgbClr val="1A1A1A"/>
                </a:solidFill>
                <a:latin typeface="Arial"/>
              </a:rPr>
              <a:t>Price remaining above or below an arbitrarily chosen price level.</a:t>
            </a:r>
          </a:p>
          <a:p>
            <a:pPr algn="l">
              <a:lnSpc>
                <a:spcPct val="105000"/>
              </a:lnSpc>
              <a:spcBef>
                <a:spcPts val="0"/>
              </a:spcBef>
              <a:spcAft>
                <a:spcPts val="1100"/>
              </a:spcAft>
            </a:pPr>
            <a:r>
              <a:rPr sz="1700" b="0" i="0">
                <a:solidFill>
                  <a:srgbClr val="1A1A1A"/>
                </a:solidFill>
                <a:latin typeface="Arial"/>
              </a:rPr>
              <a:t>The absence of a reversal of a specified amount: Point and Figure, Renko.</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absolute measure: the distance traversed, not the behavior of price.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moves in swings, up and back down. The book calls a swing a wave cycle.</a:t>
            </a:r>
          </a:p>
          <a:p>
            <a:pPr algn="l">
              <a:lnSpc>
                <a:spcPct val="105000"/>
              </a:lnSpc>
              <a:spcBef>
                <a:spcPts val="0"/>
              </a:spcBef>
              <a:spcAft>
                <a:spcPts val="1100"/>
              </a:spcAft>
            </a:pPr>
            <a:r>
              <a:rPr sz="1700" b="0" i="0">
                <a:solidFill>
                  <a:srgbClr val="1A1A1A"/>
                </a:solidFill>
                <a:latin typeface="Arial"/>
              </a:rPr>
              <a:t>Small swings ride inside bigger ones. The smaller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swing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which exist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20</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LWC is the price itself: a thin line in the book, the bars on a price chart.</a:t>
            </a:r>
          </a:p>
          <a:p>
            <a:pPr algn="l">
              <a:lnSpc>
                <a:spcPct val="105000"/>
              </a:lnSpc>
              <a:spcBef>
                <a:spcPts val="0"/>
              </a:spcBef>
              <a:spcAft>
                <a:spcPts val="1100"/>
              </a:spcAft>
            </a:pPr>
            <a:r>
              <a:rPr sz="1700" b="0" i="0">
                <a:solidFill>
                  <a:srgbClr val="1A1A1A"/>
                </a:solidFill>
                <a:latin typeface="Arial"/>
              </a:rPr>
              <a:t>The MWC and HWC are not prices. Each is a smooth line through the middle of the smaller swings, to show the bigger swing.</a:t>
            </a:r>
          </a:p>
          <a:p>
            <a:pPr algn="l">
              <a:lnSpc>
                <a:spcPct val="105000"/>
              </a:lnSpc>
              <a:spcBef>
                <a:spcPts val="0"/>
              </a:spcBef>
              <a:spcAft>
                <a:spcPts val="1100"/>
              </a:spcAft>
            </a:pPr>
            <a:r>
              <a:rPr sz="1700" b="0" i="0">
                <a:solidFill>
                  <a:srgbClr val="1A1A1A"/>
                </a:solidFill>
                <a:latin typeface="Arial"/>
              </a:rPr>
              <a:t>The book gives no rule for drawing them: no formula, no indicator, no number of bars.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thick, dotted, thin. Ours: the bars, and where the two smooth lines sit.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b.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Compare the swings with each other. The book fixes no size, duration or timeframe.</a:t>
            </a:r>
          </a:p>
          <a:p>
            <a:pPr algn="l">
              <a:lnSpc>
                <a:spcPct val="105000"/>
              </a:lnSpc>
              <a:spcBef>
                <a:spcPts val="0"/>
              </a:spcBef>
              <a:spcAft>
                <a:spcPts val="1100"/>
              </a:spcAft>
            </a:pPr>
            <a:r>
              <a:rPr sz="1700" b="0" i="0">
                <a:solidFill>
                  <a:srgbClr val="1A1A1A"/>
                </a:solidFill>
                <a:latin typeface="Arial"/>
              </a:rPr>
              <a:t>The smallest swings in view: the LWC. The bigger swing they ride on: the MWC. The biggest: the HWC.</a:t>
            </a:r>
          </a:p>
          <a:p>
            <a:pPr algn="l">
              <a:lnSpc>
                <a:spcPct val="105000"/>
              </a:lnSpc>
              <a:spcBef>
                <a:spcPts val="0"/>
              </a:spcBef>
              <a:spcAft>
                <a:spcPts val="1100"/>
              </a:spcAft>
            </a:pPr>
            <a:r>
              <a:rPr sz="1700" b="0" i="0">
                <a:solidFill>
                  <a:srgbClr val="1A1A1A"/>
                </a:solidFill>
                <a:latin typeface="Arial"/>
              </a:rPr>
              <a:t>Subwave test: LWC swings sit inside one MWC swing, MWC swings inside the HWC swing.</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a wave has a degree only against another wave.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Bar counts and pesos are read off our invented chart, not the book.</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20</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one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a:t>
            </a:r>
          </a:p>
          <a:p>
            <a:pPr algn="l">
              <a:lnSpc>
                <a:spcPct val="105000"/>
              </a:lnSpc>
              <a:spcBef>
                <a:spcPts val="0"/>
              </a:spcBef>
              <a:spcAft>
                <a:spcPts val="1100"/>
              </a:spcAft>
            </a:pPr>
            <a:r>
              <a:rPr sz="1700" b="0" i="0">
                <a:solidFill>
                  <a:srgbClr val="1A1A1A"/>
                </a:solidFill>
                <a:latin typeface="Arial"/>
              </a:rPr>
              <a:t>Apply effective stopsizing.</a:t>
            </a:r>
          </a:p>
          <a:p>
            <a:pPr algn="l">
              <a:lnSpc>
                <a:spcPct val="105000"/>
              </a:lnSpc>
              <a:spcBef>
                <a:spcPts val="0"/>
              </a:spcBef>
              <a:spcAft>
                <a:spcPts val="1100"/>
              </a:spcAft>
            </a:pPr>
            <a:r>
              <a:rPr sz="1700" b="0" i="0">
                <a:solidFill>
                  <a:srgbClr val="1A1A1A"/>
                </a:solidFill>
                <a:latin typeface="Arial"/>
              </a:rPr>
              <a:t>Distinguish between trend and consolidation mode.</a:t>
            </a:r>
          </a:p>
          <a:p>
            <a:pPr algn="l">
              <a:lnSpc>
                <a:spcPct val="105000"/>
              </a:lnSpc>
              <a:spcBef>
                <a:spcPts val="0"/>
              </a:spcBef>
              <a:spcAft>
                <a:spcPts val="1100"/>
              </a:spcAft>
            </a:pPr>
            <a:r>
              <a:rPr sz="1700" b="0" i="0">
                <a:solidFill>
                  <a:srgbClr val="1A1A1A"/>
                </a:solidFill>
                <a:latin typeface="Arial"/>
              </a:rPr>
              <a:t>Determine the direction of the predominant trend.</a:t>
            </a:r>
          </a:p>
        </p:txBody>
      </p:sp>
      <p:sp>
        <p:nvSpPr>
          <p:cNvPr id="8" name="TextBox 7"/>
          <p:cNvSpPr txBox="1"/>
          <p:nvPr/>
        </p:nvSpPr>
        <p:spPr>
          <a:xfrm>
            <a:off x="777240" y="543839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Breakout levels: later in 5.1. Stoploss: 5.4. Stopsizing: 5.5. Elliott, met in Chapter 4, is Chapter 18.</a:t>
            </a:r>
          </a:p>
        </p:txBody>
      </p:sp>
      <p:sp>
        <p:nvSpPr>
          <p:cNvPr id="9" name="Rectangle 8"/>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5.6 - Lim, The Handbook of Technical Analysis (Wiley,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20</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the same time, depending on the wave cycle being observed.</a:t>
            </a:r>
          </a:p>
          <a:p>
            <a:pPr algn="l">
              <a:lnSpc>
                <a:spcPct val="105000"/>
              </a:lnSpc>
              <a:spcBef>
                <a:spcPts val="0"/>
              </a:spcBef>
              <a:spcAft>
                <a:spcPts val="1100"/>
              </a:spcAft>
            </a:pPr>
            <a:r>
              <a:rPr sz="1700" b="0" i="0">
                <a:solidFill>
                  <a:srgbClr val="1A1A1A"/>
                </a:solidFill>
                <a:latin typeface="Arial"/>
              </a:rPr>
              <a:t>In the figure the small LWC climbs each swing: trend mode. The MWC swings across one level: ranging mode. The large HWC is flat: flatline mode.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bars are the LWC. Bar by bar they climb, then fall: trend mode, up and then down.</a:t>
            </a:r>
          </a:p>
          <a:p>
            <a:pPr algn="l">
              <a:lnSpc>
                <a:spcPct val="105000"/>
              </a:lnSpc>
              <a:spcBef>
                <a:spcPts val="0"/>
              </a:spcBef>
              <a:spcAft>
                <a:spcPts val="1100"/>
              </a:spcAft>
            </a:pPr>
            <a:r>
              <a:rPr sz="18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800" b="0" i="0">
                <a:solidFill>
                  <a:srgbClr val="1A1A1A"/>
                </a:solidFill>
                <a:latin typeface="Arial"/>
              </a:rPr>
              <a:t>The thick HWC stays at PHP 60: flatline mode.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One chart. Whether it is trending depends on which wave is read.</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technical breakout from the range, and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far, a breakout has been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chapter gave breakout a definition of its own, and neither does the book. This is how the word has been used.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edge of a range is one kind of level. Chapter 5 breaks out of others:</a:t>
            </a:r>
          </a:p>
          <a:p>
            <a:pPr algn="l">
              <a:lnSpc>
                <a:spcPct val="105000"/>
              </a:lnSpc>
              <a:spcBef>
                <a:spcPts val="0"/>
              </a:spcBef>
              <a:spcAft>
                <a:spcPts val="1100"/>
              </a:spcAft>
            </a:pPr>
            <a:r>
              <a:rPr sz="1900" b="0" i="0">
                <a:solidFill>
                  <a:srgbClr val="1A1A1A"/>
                </a:solidFill>
                <a:latin typeface="Arial"/>
              </a:rPr>
              <a:t>a prior peak or trough, a trendline, a channel line, any price overlay.</a:t>
            </a:r>
          </a:p>
          <a:p>
            <a:pPr algn="l">
              <a:lnSpc>
                <a:spcPct val="105000"/>
              </a:lnSpc>
              <a:spcBef>
                <a:spcPts val="0"/>
              </a:spcBef>
              <a:spcAft>
                <a:spcPts val="1100"/>
              </a:spcAft>
            </a:pPr>
            <a:r>
              <a:rPr sz="1900" b="0" i="0">
                <a:solidFill>
                  <a:srgbClr val="1A1A1A"/>
                </a:solidFill>
                <a:latin typeface="Arial"/>
              </a:rPr>
              <a:t>Each time, a level holds price and then price gets through it.</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Same word, wider use: the level need not be the edge of a range.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20</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the degree of the wave cycle: lower, medium or higher.</a:t>
            </a:r>
          </a:p>
          <a:p>
            <a:pPr algn="l">
              <a:lnSpc>
                <a:spcPct val="105000"/>
              </a:lnSpc>
              <a:spcBef>
                <a:spcPts val="0"/>
              </a:spcBef>
              <a:spcAft>
                <a:spcPts val="1100"/>
              </a:spcAft>
            </a:pPr>
            <a:r>
              <a:rPr sz="1700" b="0" i="0">
                <a:solidFill>
                  <a:srgbClr val="1A1A1A"/>
                </a:solidFill>
                <a:latin typeface="Arial"/>
              </a:rPr>
              <a:t>The breakout level depends on the wave degree being traded.</a:t>
            </a:r>
          </a:p>
          <a:p>
            <a:pPr algn="l">
              <a:lnSpc>
                <a:spcPct val="105000"/>
              </a:lnSpc>
              <a:spcBef>
                <a:spcPts val="0"/>
              </a:spcBef>
              <a:spcAft>
                <a:spcPts val="1100"/>
              </a:spcAft>
            </a:pPr>
            <a:r>
              <a:rPr sz="1700" b="0" i="0">
                <a:solidFill>
                  <a:srgbClr val="1A1A1A"/>
                </a:solidFill>
                <a:latin typeface="Arial"/>
              </a:rPr>
              <a:t>Knowing the degree lets the trader size the stoploss to that degree's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In the figure each B/OUT LEVEL is a line across a prior peak of one wave cycle. Amplitude: 5.2. Stoploss: 5.4.</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5.8 - Lim, The Handbook of Technical Analysis (Wiley, 2016)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passes the last small peak, PHP 57.</a:t>
            </a:r>
          </a:p>
          <a:p>
            <a:pPr algn="l">
              <a:lnSpc>
                <a:spcPct val="105000"/>
              </a:lnSpc>
              <a:spcBef>
                <a:spcPts val="0"/>
              </a:spcBef>
              <a:spcAft>
                <a:spcPts val="1100"/>
              </a:spcAft>
            </a:pPr>
            <a:r>
              <a:rPr sz="1700" b="0" i="0">
                <a:solidFill>
                  <a:srgbClr val="1A1A1A"/>
                </a:solidFill>
                <a:latin typeface="Arial"/>
              </a:rPr>
              <a:t>MWC: passes the last medium peak, PHP 60.</a:t>
            </a:r>
          </a:p>
          <a:p>
            <a:pPr algn="l">
              <a:lnSpc>
                <a:spcPct val="105000"/>
              </a:lnSpc>
              <a:spcBef>
                <a:spcPts val="0"/>
              </a:spcBef>
              <a:spcAft>
                <a:spcPts val="1100"/>
              </a:spcAft>
            </a:pPr>
            <a:r>
              <a:rPr sz="1700" b="0" i="0">
                <a:solidFill>
                  <a:srgbClr val="1A1A1A"/>
                </a:solidFill>
                <a:latin typeface="Arial"/>
              </a:rPr>
              <a:t>HWC: passes the top of the whole move, PHP 71.</a:t>
            </a:r>
          </a:p>
          <a:p>
            <a:pPr algn="l">
              <a:lnSpc>
                <a:spcPct val="105000"/>
              </a:lnSpc>
              <a:spcBef>
                <a:spcPts val="0"/>
              </a:spcBef>
              <a:spcAft>
                <a:spcPts val="1100"/>
              </a:spcAft>
            </a:pPr>
            <a:r>
              <a:rPr sz="1700" b="0" i="0">
                <a:solidFill>
                  <a:srgbClr val="1A1A1A"/>
                </a:solidFill>
                <a:latin typeface="Arial"/>
              </a:rPr>
              <a:t>The 67 bars under that top are a consolidation at a higher degree, and this is its breakout.</a:t>
            </a:r>
          </a:p>
        </p:txBody>
      </p:sp>
      <p:sp>
        <p:nvSpPr>
          <p:cNvPr id="8" name="Rectangle 7"/>
          <p:cNvSpPr/>
          <p:nvPr/>
        </p:nvSpPr>
        <p:spPr>
          <a:xfrm>
            <a:off x="777240" y="418566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4's breakout from a range is one of these.</a:t>
            </a:r>
          </a:p>
        </p:txBody>
      </p:sp>
      <p:sp>
        <p:nvSpPr>
          <p:cNvPr id="10" name="TextBox 9"/>
          <p:cNvSpPr txBox="1"/>
          <p:nvPr/>
        </p:nvSpPr>
        <p:spPr>
          <a:xfrm>
            <a:off x="777240" y="508177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Levels are read off our invented chart. The last line is our reading; the book does not join the two uses.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20</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 the way up the LWC turns down again and again, and the rise goes on.</a:t>
            </a:r>
          </a:p>
          <a:p>
            <a:pPr algn="l">
              <a:lnSpc>
                <a:spcPct val="105000"/>
              </a:lnSpc>
              <a:spcBef>
                <a:spcPts val="0"/>
              </a:spcBef>
              <a:spcAft>
                <a:spcPts val="1100"/>
              </a:spcAft>
            </a:pPr>
            <a:r>
              <a:rPr sz="1700" b="0" i="0">
                <a:solidFill>
                  <a:srgbClr val="1A1A1A"/>
                </a:solidFill>
                <a:latin typeface="Arial"/>
              </a:rPr>
              <a:t>The MWC turns down as well, with the LWC, and the HWC still rises.</a:t>
            </a:r>
          </a:p>
          <a:p>
            <a:pPr algn="l">
              <a:lnSpc>
                <a:spcPct val="105000"/>
              </a:lnSpc>
              <a:spcBef>
                <a:spcPts val="0"/>
              </a:spcBef>
              <a:spcAft>
                <a:spcPts val="1100"/>
              </a:spcAft>
            </a:pPr>
            <a:r>
              <a:rPr sz="1700" b="0" i="0">
                <a:solidFill>
                  <a:srgbClr val="1A1A1A"/>
                </a:solidFill>
                <a:latin typeface="Arial"/>
              </a:rPr>
              <a:t>At the top the HWC turns down, and the MWC and the LWC turn with it.</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turn of the largest wave is a turn of every wave. That is why it is the significant one.</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Convergence in Chapter 3 was a futures price meeting the spot price. Here it is wave degrees turning together.</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20</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climbs from PHP 40 to PHP 50, then dips to PHP 49: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20</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Peak and trough analysis can show a flat market while the closes rise bar after bar.</a:t>
            </a:r>
          </a:p>
          <a:p>
            <a:pPr algn="l">
              <a:lnSpc>
                <a:spcPct val="105000"/>
              </a:lnSpc>
              <a:spcBef>
                <a:spcPts val="0"/>
              </a:spcBef>
              <a:spcAft>
                <a:spcPts val="1100"/>
              </a:spcAft>
            </a:pPr>
            <a:r>
              <a:rPr sz="1700" b="0" i="0">
                <a:solidFill>
                  <a:srgbClr val="1A1A1A"/>
                </a:solidFill>
                <a:latin typeface="Arial"/>
              </a:rPr>
              <a:t>Rising closes are an uptrend as far as close prices are concerned: Chapter 3's line chart in action.</a:t>
            </a:r>
          </a:p>
          <a:p>
            <a:pPr algn="l">
              <a:lnSpc>
                <a:spcPct val="105000"/>
              </a:lnSpc>
              <a:spcBef>
                <a:spcPts val="0"/>
              </a:spcBef>
              <a:spcAft>
                <a:spcPts val="1100"/>
              </a:spcAft>
            </a:pPr>
            <a:r>
              <a:rPr sz="1700" b="0" i="0">
                <a:solidFill>
                  <a:srgbClr val="1A1A1A"/>
                </a:solidFill>
                <a:latin typeface="Arial"/>
              </a:rPr>
              <a:t>The same holds for the highs, the lows, and the mid or typical prices.</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names typical price, and the CCI oscillator and Floor Trader's Pivot Points that are based on it, and defines none of them here.</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Degrees, reversals and OHLC trends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All the lower degree cycles reverse in sync with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Degrees, reversals and OHLC trends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All the lower degree cycles reverse in sync with it</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Oscillation frequency and depth.</a:t>
            </a:r>
          </a:p>
          <a:p>
            <a:pPr algn="l">
              <a:lnSpc>
                <a:spcPct val="118000"/>
              </a:lnSpc>
              <a:spcBef>
                <a:spcPts val="0"/>
              </a:spcBef>
              <a:spcAft>
                <a:spcPts val="1300"/>
              </a:spcAft>
            </a:pPr>
            <a:r>
              <a:rPr sz="2100" b="0" i="0">
                <a:solidFill>
                  <a:srgbClr val="1A1A1A"/>
                </a:solidFill>
                <a:latin typeface="Arial"/>
              </a:rPr>
              <a:t>11 Consolidation size and duration.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Variations in these may impact future price activity. The book calls reading pure price action the highest skill any trader can aspire to.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swing's height, as the figure marks it.</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Up swings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800" b="0" i="0">
                <a:solidFill>
                  <a:srgbClr val="1A1A1A"/>
                </a:solidFill>
                <a:latin typeface="Arial"/>
              </a:rPr>
              <a:t>Expanding formations, with both boundary lines pointing upward, are generally bullish in an uptrend.</a:t>
            </a:r>
          </a:p>
          <a:p>
            <a:pPr algn="l">
              <a:lnSpc>
                <a:spcPct val="105000"/>
              </a:lnSpc>
              <a:spcBef>
                <a:spcPts val="0"/>
              </a:spcBef>
              <a:spcAft>
                <a:spcPts val="1100"/>
              </a:spcAft>
            </a:pPr>
            <a:r>
              <a:rPr sz="1800" b="0" i="0">
                <a:solidFill>
                  <a:srgbClr val="1A1A1A"/>
                </a:solidFill>
                <a:latin typeface="Arial"/>
              </a:rPr>
              <a:t>Steady, consistent amplitude is bullish in an uptrend and bearish in a downtrend.</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steady trend is generally regarded as the most reliable in extent and duration.</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5.12 - Lim, The Handbook of Technical Analysis (Wiley, 2016)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period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period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average height of the bars, low to high.</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ranges of PHP 3.00, then 2.40, then 1.80 as price climbs: a decreasing average bar range.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decrease in the average bar range is an early indication of potential weakness in an uptrend, and a bullish indication in a downtrend. It can be tracked with the average true range, ATR, oscillator which, unlike average bar range, accounts for gaps between the bars as well.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with a declining ATR.</a:t>
            </a:r>
          </a:p>
          <a:p>
            <a:pPr algn="l">
              <a:lnSpc>
                <a:spcPct val="105000"/>
              </a:lnSpc>
              <a:spcBef>
                <a:spcPts val="0"/>
              </a:spcBef>
              <a:spcAft>
                <a:spcPts val="1100"/>
              </a:spcAft>
            </a:pPr>
            <a:r>
              <a:rPr sz="2000" b="0" i="0">
                <a:solidFill>
                  <a:srgbClr val="1A1A1A"/>
                </a:solidFill>
                <a:latin typeface="Arial"/>
              </a:rPr>
              <a:t>Volume is bullish, but the ATR is indicating otherwise.</a:t>
            </a:r>
          </a:p>
          <a:p>
            <a:pPr algn="l">
              <a:lnSpc>
                <a:spcPct val="105000"/>
              </a:lnSpc>
              <a:spcBef>
                <a:spcPts val="0"/>
              </a:spcBef>
              <a:spcAft>
                <a:spcPts val="1100"/>
              </a:spcAft>
            </a:pPr>
            <a:r>
              <a:rPr sz="2000" b="0" i="0">
                <a:solidFill>
                  <a:srgbClr val="1A1A1A"/>
                </a:solidFill>
                <a:latin typeface="Arial"/>
              </a:rPr>
              <a:t>A large bearish candlestick completes the bearish picture.</a:t>
            </a:r>
          </a:p>
        </p:txBody>
      </p:sp>
      <p:sp>
        <p:nvSpPr>
          <p:cNvPr id="8" name="Rectangle 7"/>
          <p:cNvSpPr/>
          <p:nvPr/>
        </p:nvSpPr>
        <p:spPr>
          <a:xfrm>
            <a:off x="777240" y="4581144"/>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Prices tend to persist for longer when price is of high quality.</a:t>
            </a:r>
          </a:p>
          <a:p>
            <a:pPr algn="l">
              <a:lnSpc>
                <a:spcPct val="105000"/>
              </a:lnSpc>
              <a:spcBef>
                <a:spcPts val="0"/>
              </a:spcBef>
              <a:spcAft>
                <a:spcPts val="1100"/>
              </a:spcAft>
            </a:pPr>
            <a:r>
              <a:rPr sz="1700" b="0" i="0">
                <a:solidFill>
                  <a:srgbClr val="1A1A1A"/>
                </a:solidFill>
                <a:latin typeface="Arial"/>
              </a:rPr>
              <a:t>High quality prices have relatively small, and approximately equal, bar ranges.</a:t>
            </a:r>
          </a:p>
          <a:p>
            <a:pPr algn="l">
              <a:lnSpc>
                <a:spcPct val="105000"/>
              </a:lnSpc>
              <a:spcBef>
                <a:spcPts val="0"/>
              </a:spcBef>
              <a:spcAft>
                <a:spcPts val="1100"/>
              </a:spcAft>
            </a:pPr>
            <a:r>
              <a:rPr sz="1700" b="0" i="0">
                <a:solidFill>
                  <a:srgbClr val="1A1A1A"/>
                </a:solidFill>
                <a:latin typeface="Arial"/>
              </a:rPr>
              <a:t>Price then moves predictably. Trends and reversals are clear and decisive.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this mode prices exhibit relatively low volatility.</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first applied assumption: price behavior persists. Here persistence is the continuity of trend action.</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ratio is monitored with a simple moving average of it.</a:t>
            </a:r>
          </a:p>
          <a:p>
            <a:pPr algn="l">
              <a:lnSpc>
                <a:spcPct val="105000"/>
              </a:lnSpc>
              <a:spcBef>
                <a:spcPts val="0"/>
              </a:spcBef>
              <a:spcAft>
                <a:spcPts val="1100"/>
              </a:spcAft>
            </a:pPr>
            <a:r>
              <a:rPr sz="2000" b="0" i="0">
                <a:solidFill>
                  <a:srgbClr val="1A1A1A"/>
                </a:solidFill>
                <a:latin typeface="Arial"/>
              </a:rPr>
              <a:t>Weekly EURUSD: a 3-period SMA of the bar stochastic, in the panel under the price.</a:t>
            </a:r>
          </a:p>
          <a:p>
            <a:pPr algn="l">
              <a:lnSpc>
                <a:spcPct val="105000"/>
              </a:lnSpc>
              <a:spcBef>
                <a:spcPts val="0"/>
              </a:spcBef>
              <a:spcAft>
                <a:spcPts val="1100"/>
              </a:spcAft>
            </a:pPr>
            <a:r>
              <a:rPr sz="2000" b="0" i="0">
                <a:solidFill>
                  <a:srgbClr val="1A1A1A"/>
                </a:solidFill>
                <a:latin typeface="Arial"/>
              </a:rPr>
              <a:t>The figure marks bearish divergences at three tops and bullish divergences at three bottoms.</a:t>
            </a:r>
          </a:p>
        </p:txBody>
      </p:sp>
      <p:sp>
        <p:nvSpPr>
          <p:cNvPr id="8" name="TextBox 7"/>
          <p:cNvSpPr txBox="1"/>
          <p:nvPr/>
        </p:nvSpPr>
        <p:spPr>
          <a:xfrm>
            <a:off x="777240" y="5221223"/>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Divergence: met in Chapter 4, on the MACD. Taught in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PHP 42, close PHP 48, low PHP 40, high PHP 50: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at one steady angle.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over three years: consistent angular symmetry. Trendlines 1 and 2 are parallel, a strong prognosticator of potential bullishness.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700" b="0" i="0">
                <a:solidFill>
                  <a:srgbClr val="1A1A1A"/>
                </a:solidFill>
                <a:latin typeface="Arial"/>
              </a:rPr>
              <a:t>Downside acceleration is bearish. Downside deceleration is bullish.</a:t>
            </a:r>
          </a:p>
          <a:p>
            <a:pPr algn="l">
              <a:lnSpc>
                <a:spcPct val="105000"/>
              </a:lnSpc>
              <a:spcBef>
                <a:spcPts val="0"/>
              </a:spcBef>
              <a:spcAft>
                <a:spcPts val="1100"/>
              </a:spcAft>
            </a:pPr>
            <a:r>
              <a:rPr sz="1700" b="0" i="0">
                <a:solidFill>
                  <a:srgbClr val="1A1A1A"/>
                </a:solidFill>
                <a:latin typeface="Arial"/>
              </a:rPr>
              <a:t>Upside and downside acceleration is normally parabolic in nature.</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An uptrend may not be self-sustaining if its rate of ascent was excessive.</a:t>
            </a:r>
          </a:p>
        </p:txBody>
      </p:sp>
      <p:sp>
        <p:nvSpPr>
          <p:cNvPr id="10" name="TextBox 9"/>
          <p:cNvSpPr txBox="1"/>
          <p:nvPr/>
        </p:nvSpPr>
        <p:spPr>
          <a:xfrm>
            <a:off x="777240" y="546354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Downside acceleration may end in a selling climax.</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5.22 - Lim, The Handbook of Technical Analysis (Wiley, 2016)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rises at a consistent trend rate, leg after leg.</a:t>
            </a:r>
          </a:p>
          <a:p>
            <a:pPr algn="l">
              <a:lnSpc>
                <a:spcPct val="105000"/>
              </a:lnSpc>
              <a:spcBef>
                <a:spcPts val="0"/>
              </a:spcBef>
              <a:spcAft>
                <a:spcPts val="1100"/>
              </a:spcAft>
            </a:pPr>
            <a:r>
              <a:rPr sz="1700" b="0" i="0">
                <a:solidFill>
                  <a:srgbClr val="1A1A1A"/>
                </a:solidFill>
                <a:latin typeface="Arial"/>
              </a:rPr>
              <a:t>Once the rate changes, the market switches to a new regime: greater volatility and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text says about $3.30 a day; the figure prints $3.80. The book's caption under 5.24 is Figure 5.25's.</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has come to a strong price barrier. The nearer, the likelier a turn.</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0292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after testing a strong support level, with the cycle-tuned stochastic oversold. This chapter uses that oscillator and never explains it.</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5.25 - Lim, The Handbook of Technical Analysis (Wiley, 2016)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Angles, 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Angles, 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more reliable with a reasonable number of oscillations: fairly frequent, not too shallow or too deep.</a:t>
            </a:r>
          </a:p>
          <a:p>
            <a:pPr algn="l">
              <a:lnSpc>
                <a:spcPct val="105000"/>
              </a:lnSpc>
              <a:spcBef>
                <a:spcPts val="0"/>
              </a:spcBef>
              <a:spcAft>
                <a:spcPts val="1100"/>
              </a:spcAft>
            </a:pPr>
            <a:r>
              <a:rPr sz="1700" b="0" i="0">
                <a:solidFill>
                  <a:srgbClr val="1A1A1A"/>
                </a:solidFill>
                <a:latin typeface="Arial"/>
              </a:rPr>
              <a:t>That is indicative of healthy profit taking.</a:t>
            </a:r>
          </a:p>
          <a:p>
            <a:pPr algn="l">
              <a:lnSpc>
                <a:spcPct val="105000"/>
              </a:lnSpc>
              <a:spcBef>
                <a:spcPts val="0"/>
              </a:spcBef>
              <a:spcAft>
                <a:spcPts val="1100"/>
              </a:spcAft>
            </a:pPr>
            <a:r>
              <a:rPr sz="1700" b="0" i="0">
                <a:solidFill>
                  <a:srgbClr val="1A1A1A"/>
                </a:solidFill>
                <a:latin typeface="Arial"/>
              </a:rPr>
              <a:t>With little profit taken, more pent-up, unrealized profit is at risk.</a:t>
            </a:r>
          </a:p>
          <a:p>
            <a:pPr algn="l">
              <a:lnSpc>
                <a:spcPct val="105000"/>
              </a:lnSpc>
              <a:spcBef>
                <a:spcPts val="0"/>
              </a:spcBef>
              <a:spcAft>
                <a:spcPts val="1100"/>
              </a:spcAft>
            </a:pPr>
            <a:r>
              <a:rPr sz="1700" b="0" i="0">
                <a:solidFill>
                  <a:srgbClr val="1A1A1A"/>
                </a:solidFill>
                <a:latin typeface="Arial"/>
              </a:rPr>
              <a:t>Traders then exit rapidly at the slightest hint of bearishness.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Such a trend is potentially more bearish at higher prices.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5.26 - Lim, The Handbook of Technical Analysis (Wiley, 2016)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189220"/>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a:t>
            </a:r>
          </a:p>
          <a:p>
            <a:pPr algn="l">
              <a:lnSpc>
                <a:spcPct val="105000"/>
              </a:lnSpc>
              <a:spcBef>
                <a:spcPts val="0"/>
              </a:spcBef>
              <a:spcAft>
                <a:spcPts val="1100"/>
              </a:spcAft>
            </a:pPr>
            <a:r>
              <a:rPr sz="1700" b="0" i="0">
                <a:solidFill>
                  <a:srgbClr val="1A1A1A"/>
                </a:solidFill>
                <a:latin typeface="Arial"/>
              </a:rPr>
              <a:t>And if it develops over a longer period: a wider chart pattern.</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a third gap in its uptrend, and bottoms after another third gap in the downtrend that follows. The cycle-tuned stochastic is overbought at the first and oversold at the second.</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size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size and gaps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25</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distance price travels in one period.</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FOREX pair's average daily range is 120 pips. Price beyond that, either way, before the trading day completes: a potential sign of exhaustion, and a reversal may be expected.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Found with the ATR, or as the 2 standard deviation value of bar range: ninety percent of ranges stay below it, the book says.</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Similarly for a penetration below a downtrending line.</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penetration of a peak or trough. Here: of a line.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5.29 - Lim, The Handbook of Technical Analysis (Wiley, 2016)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Bullish if the bar closes at or near its high, very bearish near its low.</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a stronger sign of a potential reversal. The squat bar.</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e.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may appear between price and volume, or between price and any oscillator.</a:t>
            </a:r>
          </a:p>
          <a:p>
            <a:pPr algn="l">
              <a:lnSpc>
                <a:spcPct val="118000"/>
              </a:lnSpc>
              <a:spcBef>
                <a:spcPts val="0"/>
              </a:spcBef>
              <a:spcAft>
                <a:spcPts val="1300"/>
              </a:spcAft>
            </a:pPr>
            <a:r>
              <a:rPr sz="2100" b="0" i="0">
                <a:solidFill>
                  <a:srgbClr val="1A1A1A"/>
                </a:solidFill>
                <a:latin typeface="Arial"/>
              </a:rPr>
              <a:t>It may give an early indication of potential reversals or continuations in the market.</a:t>
            </a:r>
          </a:p>
          <a:p>
            <a:pPr algn="l">
              <a:lnSpc>
                <a:spcPct val="118000"/>
              </a:lnSpc>
              <a:spcBef>
                <a:spcPts val="0"/>
              </a:spcBef>
              <a:spcAft>
                <a:spcPts val="1300"/>
              </a:spcAft>
            </a:pPr>
            <a:r>
              <a:rPr sz="2100" b="0" i="0">
                <a:solidFill>
                  <a:srgbClr val="1A1A1A"/>
                </a:solidFill>
                <a:latin typeface="Arial"/>
              </a:rPr>
              <a:t>Chapter 4 showed one: price made a higher peak while the MACD made a lower one.</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this one sentence here and refers to Chapter 9 for more.</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That completes the sixteen. The chapter summary advises paying particular attention to all of them.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 and a reversal may be expected.</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A large commitment of capital with no further extension in price implies strong opposition to the existing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intraday ones are virtually impossible to backtest, an undefined word.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800" b="0" i="0">
                <a:solidFill>
                  <a:srgbClr val="1A1A1A"/>
                </a:solidFill>
                <a:latin typeface="Arial"/>
              </a:rPr>
              <a:t>Time-based: a duration of N closed bars.</a:t>
            </a:r>
          </a:p>
          <a:p>
            <a:pPr algn="l">
              <a:lnSpc>
                <a:spcPct val="105000"/>
              </a:lnSpc>
              <a:spcBef>
                <a:spcPts val="0"/>
              </a:spcBef>
              <a:spcAft>
                <a:spcPts val="1100"/>
              </a:spcAft>
            </a:pPr>
            <a:r>
              <a:rPr sz="18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and review question 8 call the third family algorithmic. Here algorithmic is one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closing violation triggers entry. But prices may close too far beyond the entry level.</a:t>
            </a:r>
          </a:p>
          <a:p>
            <a:pPr algn="l">
              <a:lnSpc>
                <a:spcPct val="105000"/>
              </a:lnSpc>
              <a:spcBef>
                <a:spcPts val="0"/>
              </a:spcBef>
              <a:spcAft>
                <a:spcPts val="1100"/>
              </a:spcAft>
            </a:pPr>
            <a:r>
              <a:rPr sz="1700" b="0" i="0">
                <a:solidFill>
                  <a:srgbClr val="1A1A1A"/>
                </a:solidFill>
                <a:latin typeface="Arial"/>
              </a:rPr>
              <a:t>So an additional price-based filter limits entry to within a specified distance.</a:t>
            </a:r>
          </a:p>
          <a:p>
            <a:pPr algn="l">
              <a:lnSpc>
                <a:spcPct val="105000"/>
              </a:lnSpc>
              <a:spcBef>
                <a:spcPts val="0"/>
              </a:spcBef>
              <a:spcAft>
                <a:spcPts val="1100"/>
              </a:spcAft>
            </a:pPr>
            <a:r>
              <a:rPr sz="1700" b="0" i="0">
                <a:solidFill>
                  <a:srgbClr val="1A1A1A"/>
                </a:solidFill>
                <a:latin typeface="Arial"/>
              </a:rPr>
              <a:t>Time and event filters do not specify the exact price of entry, so controlling risk is ineffective, if not impossible.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why price-based filters are the preferred mode of filtering.</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no control of the maximum risk per trade, a system may meet risk of ruin, which the book does not define.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unchanged. New: in cash, holding no open positions; to square a position, to exit it.</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Buying low and selling high,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Buying low and selling high.</a:t>
            </a:r>
          </a:p>
          <a:p>
            <a:pPr algn="l">
              <a:lnSpc>
                <a:spcPct val="105000"/>
              </a:lnSpc>
              <a:spcBef>
                <a:spcPts val="0"/>
              </a:spcBef>
              <a:spcAft>
                <a:spcPts val="1100"/>
              </a:spcAft>
            </a:pPr>
            <a:r>
              <a:rPr sz="1900" b="0" i="0">
                <a:solidFill>
                  <a:srgbClr val="1A1A1A"/>
                </a:solidFill>
                <a:latin typeface="Arial"/>
              </a:rPr>
              <a:t>Buying high and selling higher.</a:t>
            </a:r>
          </a:p>
          <a:p>
            <a:pPr algn="l">
              <a:lnSpc>
                <a:spcPct val="105000"/>
              </a:lnSpc>
              <a:spcBef>
                <a:spcPts val="0"/>
              </a:spcBef>
              <a:spcAft>
                <a:spcPts val="1100"/>
              </a:spcAft>
            </a:pPr>
            <a:r>
              <a:rPr sz="1900" b="0" i="0">
                <a:solidFill>
                  <a:srgbClr val="1A1A1A"/>
                </a:solidFill>
                <a:latin typeface="Arial"/>
              </a:rPr>
              <a:t>Selling high and buying back lower.</a:t>
            </a:r>
          </a:p>
          <a:p>
            <a:pPr algn="l">
              <a:lnSpc>
                <a:spcPct val="105000"/>
              </a:lnSpc>
              <a:spcBef>
                <a:spcPts val="0"/>
              </a:spcBef>
              <a:spcAft>
                <a:spcPts val="1100"/>
              </a:spcAft>
            </a:pPr>
            <a:r>
              <a:rPr sz="1900" b="0" i="0">
                <a:solidFill>
                  <a:srgbClr val="1A1A1A"/>
                </a:solidFill>
                <a:latin typeface="Arial"/>
              </a:rPr>
              <a:t>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are longs and two are shorts. All four follow Chapter 1's one principle.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Hedging: equal and opposite positions, to reduce or neutralize all directional risk. Buying at the current price is buying at the market.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immediately, at any price.</a:t>
            </a:r>
          </a:p>
          <a:p>
            <a:pPr algn="l">
              <a:lnSpc>
                <a:spcPct val="105000"/>
              </a:lnSpc>
              <a:spcBef>
                <a:spcPts val="0"/>
              </a:spcBef>
              <a:spcAft>
                <a:spcPts val="1100"/>
              </a:spcAft>
            </a:pPr>
            <a:r>
              <a:rPr sz="1700" b="0" i="0">
                <a:solidFill>
                  <a:srgbClr val="1A1A1A"/>
                </a:solidFill>
                <a:latin typeface="Arial"/>
              </a:rPr>
              <a:t>Once triggered, a stop order turns into a market order.</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The stop exit is the stoploss.</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entry orders. New: the exits.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You asked for one price and were filled at another. The difference is slippage.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j.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stoploss is placed at PHP 30. Price gaps, and the order is filled at PHP 28.80. The slippage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stoploss is placed at PHP 30. Price gaps,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Exits, and orders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Taking profit is a limit order: a sell limit above the market, a buy limit below it.</a:t>
            </a:r>
          </a:p>
          <a:p>
            <a:pPr algn="l">
              <a:lnSpc>
                <a:spcPct val="105000"/>
              </a:lnSpc>
              <a:spcBef>
                <a:spcPts val="0"/>
              </a:spcBef>
              <a:spcAft>
                <a:spcPts val="1100"/>
              </a:spcAft>
            </a:pPr>
            <a:r>
              <a:rPr sz="1700" b="0" i="0">
                <a:solidFill>
                  <a:srgbClr val="1A1A1A"/>
                </a:solidFill>
                <a:latin typeface="Arial"/>
              </a:rPr>
              <a:t>Cutting a loss is a stop order, the stoploss: a buystop above the market, a sellstop below.</a:t>
            </a:r>
          </a:p>
          <a:p>
            <a:pPr algn="l">
              <a:lnSpc>
                <a:spcPct val="105000"/>
              </a:lnSpc>
              <a:spcBef>
                <a:spcPts val="0"/>
              </a:spcBef>
              <a:spcAft>
                <a:spcPts val="1100"/>
              </a:spcAft>
            </a:pPr>
            <a:r>
              <a:rPr sz="1700" b="0" i="0">
                <a:solidFill>
                  <a:srgbClr val="1A1A1A"/>
                </a:solidFill>
                <a:latin typeface="Arial"/>
              </a:rPr>
              <a:t>A limit exit is not guaranteed. A stop exit is, but its exact price is unknown.</a:t>
            </a:r>
          </a:p>
          <a:p>
            <a:pPr algn="l">
              <a:lnSpc>
                <a:spcPct val="105000"/>
              </a:lnSpc>
              <a:spcBef>
                <a:spcPts val="0"/>
              </a:spcBef>
              <a:spcAft>
                <a:spcPts val="1100"/>
              </a:spcAft>
            </a:pPr>
            <a:r>
              <a:rPr sz="1700" b="0" i="0">
                <a:solidFill>
                  <a:srgbClr val="1A1A1A"/>
                </a:solidFill>
                <a:latin typeface="Arial"/>
              </a:rPr>
              <a:t>At the current price: a market order. Instantaneous, with no guarantee of the quoted price.</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the buy limits included.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l.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order, above, below and at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8</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to short above the market, an MIT buy to long below it.</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OCO and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OCO is one cancel other. OTO is one trigger other.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700" b="0" i="0">
                <a:solidFill>
                  <a:srgbClr val="1A1A1A"/>
                </a:solidFill>
                <a:latin typeface="Arial"/>
              </a:rPr>
              <a:t>Overlay barrier entries: buying at a barrier support, shorting at a barrier resistance, or at a retest of a barrier.</a:t>
            </a:r>
          </a:p>
          <a:p>
            <a:pPr algn="l">
              <a:lnSpc>
                <a:spcPct val="105000"/>
              </a:lnSpc>
              <a:spcBef>
                <a:spcPts val="0"/>
              </a:spcBef>
              <a:spcAft>
                <a:spcPts val="1100"/>
              </a:spcAft>
            </a:pPr>
            <a:r>
              <a:rPr sz="17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700" b="0" i="0">
                <a:solidFill>
                  <a:srgbClr val="1A1A1A"/>
                </a:solidFill>
                <a:latin typeface="Arial"/>
              </a:rPr>
              <a:t>Random entries, and pattern or sequence-based entries.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Overlays include channels, trendlines, pivot points and price envelopes. Four ways are announced and five listed; each may be with or against the predominant trend.</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inflection point, a peak or trough, counts for more the more bars flank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with ten bars on either side of its highest bar is of strength 10. One with only two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The more bars, the more significant the peak and the stronger its resistance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price finds support and resistance at prior peaks and troughs.</a:t>
            </a:r>
          </a:p>
          <a:p>
            <a:pPr algn="l">
              <a:lnSpc>
                <a:spcPct val="105000"/>
              </a:lnSpc>
              <a:spcBef>
                <a:spcPts val="0"/>
              </a:spcBef>
              <a:spcAft>
                <a:spcPts val="1100"/>
              </a:spcAft>
            </a:pPr>
            <a:r>
              <a:rPr sz="1800" b="0" i="0">
                <a:solidFill>
                  <a:srgbClr val="1A1A1A"/>
                </a:solidFill>
                <a:latin typeface="Arial"/>
              </a:rPr>
              <a:t>It finds them on the rising channel as well.</a:t>
            </a:r>
          </a:p>
          <a:p>
            <a:pPr algn="l">
              <a:lnSpc>
                <a:spcPct val="105000"/>
              </a:lnSpc>
              <a:spcBef>
                <a:spcPts val="0"/>
              </a:spcBef>
              <a:spcAft>
                <a:spcPts val="1100"/>
              </a:spcAft>
            </a:pPr>
            <a:r>
              <a:rPr sz="1800" b="0" i="0">
                <a:solidFill>
                  <a:srgbClr val="1A1A1A"/>
                </a:solidFill>
                <a:latin typeface="Arial"/>
              </a:rPr>
              <a:t>The cycle-tuned stochastic adds confirmation: overbought at resistance, oversold at support.</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Entries, swing points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Entries, swing points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sits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Simple up and down trendlines or channels time the entries. A cycle-tuned oscillator helps fine-tune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Says whether a trend is on. Not 5.3's filters.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o.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MACD is the trend filter. The stochastic crossing its signal line times the entries.</a:t>
            </a:r>
          </a:p>
          <a:p>
            <a:pPr algn="l">
              <a:lnSpc>
                <a:spcPct val="105000"/>
              </a:lnSpc>
              <a:spcBef>
                <a:spcPts val="0"/>
              </a:spcBef>
              <a:spcAft>
                <a:spcPts val="1100"/>
              </a:spcAft>
            </a:pPr>
            <a:r>
              <a:rPr sz="1700" b="0" i="0">
                <a:solidFill>
                  <a:srgbClr val="1A1A1A"/>
                </a:solidFill>
                <a:latin typeface="Arial"/>
              </a:rPr>
              <a:t>Long entries: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just below the previous trough for a long, just above the previous peak for a short, trailing price.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73328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MACD (Chapter 4) and the stochastic are not taught here.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5.38 - Lim, The Handbook of Technical Analysis (Wiley, 2016)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and just above significant peaks for shorts.</a:t>
            </a:r>
          </a:p>
          <a:p>
            <a:pPr algn="l">
              <a:lnSpc>
                <a:spcPct val="105000"/>
              </a:lnSpc>
              <a:spcBef>
                <a:spcPts val="0"/>
              </a:spcBef>
              <a:spcAft>
                <a:spcPts val="1100"/>
              </a:spcAft>
            </a:pPr>
            <a:r>
              <a:rPr sz="1700" b="0" i="0">
                <a:solidFill>
                  <a:srgbClr val="1A1A1A"/>
                </a:solidFill>
                <a:latin typeface="Arial"/>
              </a:rPr>
              <a:t>Too far from one: a multiple of ATR or standard deviations from the entry.</a:t>
            </a:r>
          </a:p>
          <a:p>
            <a:pPr algn="l">
              <a:lnSpc>
                <a:spcPct val="105000"/>
              </a:lnSpc>
              <a:spcBef>
                <a:spcPts val="0"/>
              </a:spcBef>
              <a:spcAft>
                <a:spcPts val="1100"/>
              </a:spcAft>
            </a:pPr>
            <a:r>
              <a:rPr sz="1700" b="0" i="0">
                <a:solidFill>
                  <a:srgbClr val="1A1A1A"/>
                </a:solidFill>
                <a:latin typeface="Arial"/>
              </a:rPr>
              <a:t>Barrier entries: stopsizes are always approximately the same, just behind the barrier.</a:t>
            </a:r>
          </a:p>
          <a:p>
            <a:pPr algn="l">
              <a:lnSpc>
                <a:spcPct val="105000"/>
              </a:lnSpc>
              <a:spcBef>
                <a:spcPts val="0"/>
              </a:spcBef>
              <a:spcAft>
                <a:spcPts val="1100"/>
              </a:spcAft>
            </a:pPr>
            <a:r>
              <a:rPr sz="1700" b="0" i="0">
                <a:solidFill>
                  <a:srgbClr val="1A1A1A"/>
                </a:solidFill>
                <a:latin typeface="Arial"/>
              </a:rPr>
              <a:t>Breakout entries: stopsizes vary with each entry.</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The book never defines the word.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5.39 - Lim, The Handbook of Technical Analysis (Wiley, 2016)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significant problem for traders risking a fixed percentage or fixed unit size per trade.</a:t>
            </a:r>
          </a:p>
          <a:p>
            <a:pPr algn="l">
              <a:lnSpc>
                <a:spcPct val="105000"/>
              </a:lnSpc>
              <a:spcBef>
                <a:spcPts val="0"/>
              </a:spcBef>
              <a:spcAft>
                <a:spcPts val="1100"/>
              </a:spcAft>
            </a:pPr>
            <a:r>
              <a:rPr sz="1700" b="0" i="0">
                <a:solidFill>
                  <a:srgbClr val="1A1A1A"/>
                </a:solidFill>
                <a:latin typeface="Arial"/>
              </a:rPr>
              <a:t>The tradesize varies with the stopsize, which affects the system's performance.</a:t>
            </a:r>
          </a:p>
          <a:p>
            <a:pPr algn="l">
              <a:lnSpc>
                <a:spcPct val="105000"/>
              </a:lnSpc>
              <a:spcBef>
                <a:spcPts val="0"/>
              </a:spcBef>
              <a:spcAft>
                <a:spcPts val="1100"/>
              </a:spcAft>
            </a:pPr>
            <a:r>
              <a:rPr sz="1700" b="0" i="0">
                <a:solidFill>
                  <a:srgbClr val="1A1A1A"/>
                </a:solidFill>
                <a:latin typeface="Arial"/>
              </a:rPr>
              <a:t>Worst if narrow stops, on a fixed percentage of current capital, are taken out frequently.</a:t>
            </a:r>
          </a:p>
          <a:p>
            <a:pPr algn="l">
              <a:lnSpc>
                <a:spcPct val="105000"/>
              </a:lnSpc>
              <a:spcBef>
                <a:spcPts val="0"/>
              </a:spcBef>
              <a:spcAft>
                <a:spcPts val="1100"/>
              </a:spcAft>
            </a:pPr>
            <a:r>
              <a:rPr sz="1700" b="0" i="0">
                <a:solidFill>
                  <a:srgbClr val="1A1A1A"/>
                </a:solidFill>
                <a:latin typeface="Arial"/>
              </a:rPr>
              <a:t>Or wide stops, on a fixed percentage of original capital.</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A smaller one for any wider stop.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Threshold PHP 3.00, risk limit PHP 10,000. Stops up to PHP 3.00 trade 3,333 shares. A PHP 5.00 stop trades 10,000 / 5 =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300 to 500 trades for the average stopsize. Say PHP 2.00.</a:t>
            </a:r>
          </a:p>
          <a:p>
            <a:pPr algn="l">
              <a:lnSpc>
                <a:spcPct val="105000"/>
              </a:lnSpc>
              <a:spcBef>
                <a:spcPts val="0"/>
              </a:spcBef>
              <a:spcAft>
                <a:spcPts val="1100"/>
              </a:spcAft>
            </a:pPr>
            <a:r>
              <a:rPr sz="1700" b="0" i="0">
                <a:solidFill>
                  <a:srgbClr val="1A1A1A"/>
                </a:solidFill>
                <a:latin typeface="Arial"/>
              </a:rPr>
              <a:t>2  Calculate the two standard deviation value of those stopsizes. Say PHP 1.00.</a:t>
            </a:r>
          </a:p>
          <a:p>
            <a:pPr algn="l">
              <a:lnSpc>
                <a:spcPct val="105000"/>
              </a:lnSpc>
              <a:spcBef>
                <a:spcPts val="0"/>
              </a:spcBef>
              <a:spcAft>
                <a:spcPts val="1100"/>
              </a:spcAft>
            </a:pPr>
            <a:r>
              <a:rPr sz="1700" b="0" i="0">
                <a:solidFill>
                  <a:srgbClr val="1A1A1A"/>
                </a:solidFill>
                <a:latin typeface="Arial"/>
              </a:rPr>
              <a:t>3  Add them: 2.00 + 1.00 = PHP 3.00, the proportional stopsize.</a:t>
            </a:r>
          </a:p>
          <a:p>
            <a:pPr algn="l">
              <a:lnSpc>
                <a:spcPct val="105000"/>
              </a:lnSpc>
              <a:spcBef>
                <a:spcPts val="0"/>
              </a:spcBef>
              <a:spcAft>
                <a:spcPts val="1100"/>
              </a:spcAft>
            </a:pPr>
            <a:r>
              <a:rPr sz="1700" b="0" i="0">
                <a:solidFill>
                  <a:srgbClr val="1A1A1A"/>
                </a:solidFill>
                <a:latin typeface="Arial"/>
              </a:rPr>
              <a:t>4  Set the maximum risk per trade: 1 percent of PHP 1,000,000 is PHP 10,000.</a:t>
            </a:r>
          </a:p>
          <a:p>
            <a:pPr algn="l">
              <a:lnSpc>
                <a:spcPct val="105000"/>
              </a:lnSpc>
              <a:spcBef>
                <a:spcPts val="0"/>
              </a:spcBef>
              <a:spcAft>
                <a:spcPts val="1100"/>
              </a:spcAft>
            </a:pPr>
            <a:r>
              <a:rPr sz="1700" b="0" i="0">
                <a:solidFill>
                  <a:srgbClr val="1A1A1A"/>
                </a:solidFill>
                <a:latin typeface="Arial"/>
              </a:rPr>
              <a:t>5  Divide: 10,000 / 3.00 = 3,333 shares, the proportional tradesize.</a:t>
            </a:r>
          </a:p>
        </p:txBody>
      </p:sp>
      <p:sp>
        <p:nvSpPr>
          <p:cNvPr id="8" name="TextBox 7"/>
          <p:cNvSpPr txBox="1"/>
          <p:nvPr/>
        </p:nvSpPr>
        <p:spPr>
          <a:xfrm>
            <a:off x="777240" y="57104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divide PHP 10,000 by the stopsize.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It must not cut through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s.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to price action.</a:t>
            </a:r>
          </a:p>
          <a:p>
            <a:pPr algn="l">
              <a:lnSpc>
                <a:spcPct val="105000"/>
              </a:lnSpc>
              <a:spcBef>
                <a:spcPts val="0"/>
              </a:spcBef>
              <a:spcAft>
                <a:spcPts val="1100"/>
              </a:spcAft>
            </a:pPr>
            <a:r>
              <a:rPr sz="1700" b="0" i="0">
                <a:solidFill>
                  <a:srgbClr val="1A1A1A"/>
                </a:solidFill>
                <a:latin typeface="Arial"/>
              </a:rPr>
              <a:t>Most participants place buy orders above a barrier and short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kept under a new name.</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head and shoulders neckline is breached, and price very frequently comes back to retest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21208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trendline is invalidated once it is breached, and is thereafter referred to as an internal line. The new uptrend line is drawn between the original lower trough and the new significant trough; for downtrends, between the original higher peak and the new significant peak.</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5.41 - Lim, The Handbook of Technical Analysis (Wiley, 2016)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 depends on the filtering employed.</a:t>
            </a:r>
          </a:p>
          <a:p>
            <a:pPr algn="l">
              <a:lnSpc>
                <a:spcPct val="105000"/>
              </a:lnSpc>
              <a:spcBef>
                <a:spcPts val="0"/>
              </a:spcBef>
              <a:spcAft>
                <a:spcPts val="1100"/>
              </a:spcAft>
            </a:pPr>
            <a:r>
              <a:rPr sz="1800" b="0" i="0">
                <a:solidFill>
                  <a:srgbClr val="1A1A1A"/>
                </a:solidFill>
                <a:latin typeface="Arial"/>
              </a:rPr>
              <a:t>Closing filter rule: a penetration is valid only once price closes beyond the line.</a:t>
            </a:r>
          </a:p>
          <a:p>
            <a:pPr algn="l">
              <a:lnSpc>
                <a:spcPct val="105000"/>
              </a:lnSpc>
              <a:spcBef>
                <a:spcPts val="0"/>
              </a:spcBef>
              <a:spcAft>
                <a:spcPts val="1100"/>
              </a:spcAft>
            </a:pPr>
            <a:r>
              <a:rPr sz="1800" b="0" i="0">
                <a:solidFill>
                  <a:srgbClr val="1A1A1A"/>
                </a:solidFill>
                <a:latin typeface="Arial"/>
              </a:rPr>
              <a:t>A very significant intraday penetration that closes back above an uptrend line: significant, but invalid.</a:t>
            </a:r>
          </a:p>
          <a:p>
            <a:pPr algn="l">
              <a:lnSpc>
                <a:spcPct val="105000"/>
              </a:lnSpc>
              <a:spcBef>
                <a:spcPts val="0"/>
              </a:spcBef>
              <a:spcAft>
                <a:spcPts val="1100"/>
              </a:spcAft>
            </a:pPr>
            <a:r>
              <a:rPr sz="1800" b="0" i="0">
                <a:solidFill>
                  <a:srgbClr val="1A1A1A"/>
                </a:solidFill>
                <a:latin typeface="Arial"/>
              </a:rPr>
              <a:t>The book's answer: price-based filters only, or double-stage filtering with a price-based second filter.</a:t>
            </a:r>
          </a:p>
        </p:txBody>
      </p:sp>
      <p:sp>
        <p:nvSpPr>
          <p:cNvPr id="8" name="TextBox 7"/>
          <p:cNvSpPr txBox="1"/>
          <p:nvPr/>
        </p:nvSpPr>
        <p:spPr>
          <a:xfrm>
            <a:off x="777240" y="54178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Either way a new trendline may still be drawn. The trader monitors price reactions at both lines.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u.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institutions included. Whipsaw: still undefined, as in Chapter 4.</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v.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with other indicators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w.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21</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 straight lines catch any trend change effectively, with no need to identify price patterns.</a:t>
            </a:r>
          </a:p>
          <a:p>
            <a:pPr algn="l">
              <a:lnSpc>
                <a:spcPct val="118000"/>
              </a:lnSpc>
              <a:spcBef>
                <a:spcPts val="0"/>
              </a:spcBef>
              <a:spcAft>
                <a:spcPts val="1300"/>
              </a:spcAft>
            </a:pPr>
            <a:r>
              <a:rPr sz="2100" b="0" i="0">
                <a:solidFill>
                  <a:srgbClr val="1A1A1A"/>
                </a:solidFill>
                <a:latin typeface="Arial"/>
              </a:rPr>
              <a:t>Strength: simple to construct, and applied and viewable across all timeframes and markets.</a:t>
            </a:r>
          </a:p>
          <a:p>
            <a:pPr algn="l">
              <a:lnSpc>
                <a:spcPct val="118000"/>
              </a:lnSpc>
              <a:spcBef>
                <a:spcPts val="0"/>
              </a:spcBef>
              <a:spcAft>
                <a:spcPts val="1300"/>
              </a:spcAft>
            </a:pPr>
            <a:r>
              <a:rPr sz="2100" b="0" i="0">
                <a:solidFill>
                  <a:srgbClr val="1A1A1A"/>
                </a:solidFill>
                <a:latin typeface="Arial"/>
              </a:rPr>
              <a:t>Weakness: subject to whipsaws, like moving averages, and less effective in erratic, volatile or ranging markets.</a:t>
            </a:r>
          </a:p>
          <a:p>
            <a:pPr algn="l">
              <a:lnSpc>
                <a:spcPct val="118000"/>
              </a:lnSpc>
              <a:spcBef>
                <a:spcPts val="0"/>
              </a:spcBef>
              <a:spcAft>
                <a:spcPts val="1300"/>
              </a:spcAft>
            </a:pPr>
            <a:r>
              <a:rPr sz="2100" b="0" i="0">
                <a:solidFill>
                  <a:srgbClr val="1A1A1A"/>
                </a:solidFill>
                <a:latin typeface="Arial"/>
              </a:rPr>
              <a:t>Weakness: affected by the type of scaling used, Chapter 3's ratio or linear.</a:t>
            </a:r>
          </a:p>
          <a:p>
            <a:pPr algn="l">
              <a:lnSpc>
                <a:spcPct val="118000"/>
              </a:lnSpc>
              <a:spcBef>
                <a:spcPts val="0"/>
              </a:spcBef>
              <a:spcAft>
                <a:spcPts val="1300"/>
              </a:spcAft>
            </a:pPr>
            <a:r>
              <a:rPr sz="2100" b="0" i="0">
                <a:solidFill>
                  <a:srgbClr val="1A1A1A"/>
                </a:solidFill>
                <a:latin typeface="Arial"/>
              </a:rPr>
              <a:t>Weakness: a consolidation may breach a line without a legitimate reversal.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pullback in an uptrend, broken upward: a continuation trendline.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0292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Those that allow a breakout in the opposite direction are reversal trendlines. First ascertain which wave degree is being observed.</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5.43 - Lim, The Handbook of Technical Analysis (Wiley, 2016)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transitions through smaller channels within a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21</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Nested channeling again, this time on a chart of the USDCAD.</a:t>
            </a:r>
          </a:p>
          <a:p>
            <a:pPr algn="l">
              <a:lnSpc>
                <a:spcPct val="105000"/>
              </a:lnSpc>
              <a:spcBef>
                <a:spcPts val="0"/>
              </a:spcBef>
              <a:spcAft>
                <a:spcPts val="1100"/>
              </a:spcAft>
            </a:pPr>
            <a:r>
              <a:rPr sz="2000" b="0" i="0">
                <a:solidFill>
                  <a:srgbClr val="1A1A1A"/>
                </a:solidFill>
                <a:latin typeface="Arial"/>
              </a:rPr>
              <a:t>Notice the channels reacting at the Fibonacci retracement levels.</a:t>
            </a:r>
          </a:p>
        </p:txBody>
      </p:sp>
      <p:sp>
        <p:nvSpPr>
          <p:cNvPr id="8" name="TextBox 7"/>
          <p:cNvSpPr txBox="1"/>
          <p:nvPr/>
        </p:nvSpPr>
        <p:spPr>
          <a:xfrm>
            <a:off x="777240" y="3776472"/>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caption under this figure repeats Figure 5.45's and says Silver. Its text says USDCAD. Retracements are section 5.7.</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Channels are extremely useful for projecting potential price targets.</a:t>
            </a:r>
          </a:p>
          <a:p>
            <a:pPr algn="l">
              <a:lnSpc>
                <a:spcPct val="105000"/>
              </a:lnSpc>
              <a:spcBef>
                <a:spcPts val="0"/>
              </a:spcBef>
              <a:spcAft>
                <a:spcPts val="1100"/>
              </a:spcAft>
            </a:pPr>
            <a:r>
              <a:rPr sz="1700" b="0" i="0">
                <a:solidFill>
                  <a:srgbClr val="1A1A1A"/>
                </a:solidFill>
                <a:latin typeface="Arial"/>
              </a:rPr>
              <a:t>The return line serves as a possible price target, providing resistance to the motion of price.</a:t>
            </a:r>
          </a:p>
          <a:p>
            <a:pPr algn="l">
              <a:lnSpc>
                <a:spcPct val="105000"/>
              </a:lnSpc>
              <a:spcBef>
                <a:spcPts val="0"/>
              </a:spcBef>
              <a:spcAft>
                <a:spcPts val="1100"/>
              </a:spcAft>
            </a:pPr>
            <a:r>
              <a:rPr sz="1700" b="0" i="0">
                <a:solidFill>
                  <a:srgbClr val="1A1A1A"/>
                </a:solidFill>
                <a:latin typeface="Arial"/>
              </a:rPr>
              <a:t>In the figure the price targets at points 5 and 6 were forecast accurately by channel projection.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Project the return line forward, and read the target where price meets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5.47 - Lim, The Handbook of Technical Analysis (Wiley, 2016)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failed test of one boundary points to a breakout in the opposite direction. In an uptrend that is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more responsive line: newest points first.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three uptrend lines from a significant lower trough to gradually declining higher troughs. Accelerating: the mirror, three downtrend lines from a significant higher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range from PHP 40 to PHP 60 gives a vertical line PHP 20 tall, with three marks on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To construct a bearish one: identify a significant Fibonacci retracement range. Draw a vertical line from the peak of the range to the trough's price level. Divide it into 38.2, 50 and 61.8 percent levels. Project three lines from the trough, intercepting those three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also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a geometric overlay.</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support at the median line and upper band. Bullish: the converse.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geometrically based price overlay whose lines provide support and resistance. Bearish: after a significant peak, take an upside retracement that does not exceed it. The median line runs from the peak through the midpoint between the retracement trough and peak. Project parallels from both.</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various ratios related to the Fibonacci Phi ratio.</a:t>
            </a:r>
          </a:p>
          <a:p>
            <a:pPr algn="l">
              <a:lnSpc>
                <a:spcPct val="105000"/>
              </a:lnSpc>
              <a:spcBef>
                <a:spcPts val="0"/>
              </a:spcBef>
              <a:spcAft>
                <a:spcPts val="1100"/>
              </a:spcAft>
            </a:pPr>
            <a:r>
              <a:rPr sz="1700" b="0" i="0">
                <a:solidFill>
                  <a:srgbClr val="1A1A1A"/>
                </a:solidFill>
                <a:latin typeface="Arial"/>
              </a:rPr>
              <a:t>Dow, as in Chapter 2, paid particular attention to the one-third and two-thirds retracements.</a:t>
            </a:r>
          </a:p>
          <a:p>
            <a:pPr algn="l">
              <a:lnSpc>
                <a:spcPct val="105000"/>
              </a:lnSpc>
              <a:spcBef>
                <a:spcPts val="0"/>
              </a:spcBef>
              <a:spcAft>
                <a:spcPts val="1100"/>
              </a:spcAft>
            </a:pPr>
            <a:r>
              <a:rPr sz="1700" b="0" i="0">
                <a:solidFill>
                  <a:srgbClr val="1A1A1A"/>
                </a:solidFill>
                <a:latin typeface="Arial"/>
              </a:rPr>
              <a:t>Gann employed one-third and one-eighth retracement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46354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leaves the detail to 'a subsequent chapter', unnamed. Its Chapter 10 is Fibonacci and its Chapter 19 Gann.</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in the trend it opens.</a:t>
            </a:r>
          </a:p>
        </p:txBody>
      </p:sp>
      <p:sp>
        <p:nvSpPr>
          <p:cNvPr id="10" name="Rectangle 9"/>
          <p:cNvSpPr/>
          <p:nvPr/>
        </p:nvSpPr>
        <p:spPr>
          <a:xfrm>
            <a:off x="777240" y="297484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 of Chapter 3's gaps.</a:t>
            </a:r>
          </a:p>
        </p:txBody>
      </p:sp>
      <p:sp>
        <p:nvSpPr>
          <p:cNvPr id="12" name="Rectangle 11"/>
          <p:cNvSpPr/>
          <p:nvPr/>
        </p:nvSpPr>
        <p:spPr>
          <a:xfrm>
            <a:off x="777240" y="3691127"/>
            <a:ext cx="64008" cy="20147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645407"/>
            <a:ext cx="5394960" cy="21244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help to define the stages within a trend, and so indicate potential tops and bottoms.</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rejection is at the high of what the book calls a very bearish shooting star pattern. Candlesticks are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Gaps tend to create areas of potential support and resistance.</a:t>
            </a:r>
          </a:p>
          <a:p>
            <a:pPr algn="l">
              <a:lnSpc>
                <a:spcPct val="105000"/>
              </a:lnSpc>
              <a:spcBef>
                <a:spcPts val="0"/>
              </a:spcBef>
              <a:spcAft>
                <a:spcPts val="1100"/>
              </a:spcAft>
            </a:pPr>
            <a:r>
              <a:rPr sz="1700" b="0" i="0">
                <a:solidFill>
                  <a:srgbClr val="1A1A1A"/>
                </a:solidFill>
                <a:latin typeface="Arial"/>
              </a:rPr>
              <a:t>On the weekly Wheat chart the gaps give rise to subsequent levels of support.</a:t>
            </a:r>
          </a:p>
          <a:p>
            <a:pPr algn="l">
              <a:lnSpc>
                <a:spcPct val="105000"/>
              </a:lnSpc>
              <a:spcBef>
                <a:spcPts val="0"/>
              </a:spcBef>
              <a:spcAft>
                <a:spcPts val="1100"/>
              </a:spcAft>
            </a:pPr>
            <a:r>
              <a:rPr sz="1700" b="0" i="0">
                <a:solidFill>
                  <a:srgbClr val="1A1A1A"/>
                </a:solidFill>
                <a:latin typeface="Arial"/>
              </a:rPr>
              <a:t>On a 15 minute chart of GLD, gaps give rise to areas of both support and resistance.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cycle-tuned stochastic helps to corroborate the levels: overbought at resistance, oversold at support.</a:t>
            </a:r>
          </a:p>
        </p:txBody>
      </p:sp>
      <p:sp>
        <p:nvSpPr>
          <p:cNvPr id="10" name="Rectangle 9"/>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Trade one way only, or whichever way it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Take only breakouts with the trend and, over the long term, you have traded both ways: micro-unidirectional entries are equivalent to a macro-bidirectional approach, unless a qualified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Drummond's way to stay on the right side.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the market is regarded as bullish. Below the PLdot: bearish. Some buy when it turns up and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method: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historical support levels.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overbought signals at tops, oversold signals at bottoms.</a:t>
            </a:r>
          </a:p>
          <a:p>
            <a:pPr algn="l">
              <a:lnSpc>
                <a:spcPct val="118000"/>
              </a:lnSpc>
              <a:spcBef>
                <a:spcPts val="0"/>
              </a:spcBef>
              <a:spcAft>
                <a:spcPts val="1300"/>
              </a:spcAft>
            </a:pPr>
            <a:r>
              <a:rPr sz="2100" b="0" i="0">
                <a:solidFill>
                  <a:srgbClr val="1A1A1A"/>
                </a:solidFill>
                <a:latin typeface="Arial"/>
              </a:rPr>
              <a:t>Bearish divergence with price at market tops, bullish divergence at bottoms.</a:t>
            </a:r>
          </a:p>
          <a:p>
            <a:pPr algn="l">
              <a:lnSpc>
                <a:spcPct val="118000"/>
              </a:lnSpc>
              <a:spcBef>
                <a:spcPts val="0"/>
              </a:spcBef>
              <a:spcAft>
                <a:spcPts val="1300"/>
              </a:spcAft>
            </a:pPr>
            <a:r>
              <a:rPr sz="2100" b="0" i="0">
                <a:solidFill>
                  <a:srgbClr val="1A1A1A"/>
                </a:solidFill>
                <a:latin typeface="Arial"/>
              </a:rPr>
              <a:t>The oscillator crossing below its signal and equilibrium line at tops, above at bottoms.</a:t>
            </a:r>
          </a:p>
          <a:p>
            <a:pPr algn="l">
              <a:lnSpc>
                <a:spcPct val="118000"/>
              </a:lnSpc>
              <a:spcBef>
                <a:spcPts val="0"/>
              </a:spcBef>
              <a:spcAft>
                <a:spcPts val="1300"/>
              </a:spcAft>
            </a:pPr>
            <a:r>
              <a:rPr sz="2100" b="0" i="0">
                <a:solidFill>
                  <a:srgbClr val="1A1A1A"/>
                </a:solidFill>
                <a:latin typeface="Arial"/>
              </a:rPr>
              <a:t>Candlesticks: bearish formations at market tops, bullish formations at bottoms.</a:t>
            </a:r>
          </a:p>
          <a:p>
            <a:pPr algn="l">
              <a:lnSpc>
                <a:spcPct val="118000"/>
              </a:lnSpc>
              <a:spcBef>
                <a:spcPts val="0"/>
              </a:spcBef>
              <a:spcAft>
                <a:spcPts val="1300"/>
              </a:spcAft>
            </a:pPr>
            <a:r>
              <a:rPr sz="2100" b="0" i="0">
                <a:solidFill>
                  <a:srgbClr val="1A1A1A"/>
                </a:solidFill>
                <a:latin typeface="Arial"/>
              </a:rPr>
              <a:t>Intermarket: bearish action in the broad markets leading to a top in the stock, bullish action in highly correlated markets leading to a bottom.</a:t>
            </a:r>
          </a:p>
        </p:txBody>
      </p:sp>
      <p:sp>
        <p:nvSpPr>
          <p:cNvPr id="8" name="TextBox 7"/>
          <p:cNvSpPr txBox="1"/>
          <p:nvPr/>
        </p:nvSpPr>
        <p:spPr>
          <a:xfrm>
            <a:off x="777240" y="53941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calls this section a summary and refers to the relevant chapters for each approach.</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 in a climax</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 in a climax</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Retracements, gaps and the signs in 5.11 warn that a trend may reverse.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Explain the advantages of proportional sizing, and of price-based filters.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All eight of the book's questions, on six lines. Question 4 says 12 ways; section 5.2 lists 16.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Used, not taught: typical price, the cycle-tuned stochastic, MACD, candlesticks.</a:t>
            </a:r>
          </a:p>
          <a:p>
            <a:pPr algn="l">
              <a:lnSpc>
                <a:spcPct val="118000"/>
              </a:lnSpc>
              <a:spcBef>
                <a:spcPts val="0"/>
              </a:spcBef>
              <a:spcAft>
                <a:spcPts val="1300"/>
              </a:spcAft>
            </a:pPr>
            <a:r>
              <a:rPr sz="2100" b="0" i="0">
                <a:solidFill>
                  <a:srgbClr val="1A1A1A"/>
                </a:solidFill>
                <a:latin typeface="Arial"/>
              </a:rPr>
              <a:t>Sent ahead: divergence, Chapter 9. Channels, Chapter 13. Elliott, Chapter 18. Tradesizing, Chapter 28.</a:t>
            </a:r>
          </a:p>
          <a:p>
            <a:pPr algn="l">
              <a:lnSpc>
                <a:spcPct val="118000"/>
              </a:lnSpc>
              <a:spcBef>
                <a:spcPts val="0"/>
              </a:spcBef>
              <a:spcAft>
                <a:spcPts val="1300"/>
              </a:spcAft>
            </a:pPr>
            <a:r>
              <a:rPr sz="2100" b="0" i="0">
                <a:solidFill>
                  <a:srgbClr val="1A1A1A"/>
                </a:solidFill>
                <a:latin typeface="Arial"/>
              </a:rPr>
              <a:t>Sixteen characteristics in 5.2, twelve in review question 4. Four entry modes announced, five listed.</a:t>
            </a:r>
          </a:p>
          <a:p>
            <a:pPr algn="l">
              <a:lnSpc>
                <a:spcPct val="118000"/>
              </a:lnSpc>
              <a:spcBef>
                <a:spcPts val="0"/>
              </a:spcBef>
              <a:spcAft>
                <a:spcPts val="1300"/>
              </a:spcAft>
            </a:pPr>
            <a:r>
              <a:rPr sz="2100" b="0" i="0">
                <a:solidFill>
                  <a:srgbClr val="1A1A1A"/>
                </a:solidFill>
                <a:latin typeface="Arial"/>
              </a:rPr>
              <a:t>Figure 5.24: $3.30 a day in the text, $3.80 on the figure.</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