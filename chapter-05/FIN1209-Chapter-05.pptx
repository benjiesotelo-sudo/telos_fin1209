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Greet the room, then say what today buys them: what a trend is, how to judge its quality, and how to get in and out of one.</a:t>
            </a:r>
          </a:p>
          <a:p>
            <a:r>
              <a:rPr sz="1400"/>
              <a:t>- Say every idea today has a picture beside it. Where the book drew one it is the book's; the rest are ours.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These are the book's seven learning objectives, trimmed to six lines. The fifth line joins its fifth and sixth.</a:t>
            </a:r>
          </a:p>
          <a:p>
            <a:r>
              <a:rPr sz="1400"/>
              <a:t>- Do not read all of them aloud. Say the first and the last, and that every one is examinable.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parts are the book's own sections. The marker at the bottom left of every slide says which one we are in.</a:t>
            </a:r>
          </a:p>
          <a:p>
            <a:r>
              <a:rPr sz="1400"/>
              <a:t>- Say the checks carry no marks. Each question slide is followed by its answers on a slide of their own.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Link back to Chapter 2: the same three trends. Today's question is what a trend is, and how to tell a healthy one.</a:t>
            </a:r>
          </a:p>
          <a:p>
            <a:r>
              <a:rPr sz="1400"/>
              <a:t>- Point at the chart: the long rise is the primary trend, the fall inside it a secondary reaction, the small swings minor trends.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recall, not a new term: Chapter 2 defined the uptrend the same way. This is review question 1, what is a trend.</a:t>
            </a:r>
          </a:p>
          <a:p>
            <a:r>
              <a:rPr sz="1400"/>
              <a:t>- HH is a higher high and HL a higher low. Where the sequence stops, the figure says the uptrend has technically ended.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labels left to right: H, L, then LH and LL three times over.</a:t>
            </a:r>
          </a:p>
          <a:p>
            <a:r>
              <a:rPr sz="1400"/>
              <a:t>- The definition asks for both, lower highs and lower lows, one after another.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review question 2: the disadvantages of defining market and price action.</a:t>
            </a:r>
          </a:p>
          <a:p>
            <a:r>
              <a:rPr sz="1400"/>
              <a:t>- Ask the room: do we deny that scenarios 3 and 4 were trends? The book leaves it as a question.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Left to right in the figure: above a trendline, above a chosen level, no reversal of the minimum amount. The converse holds for downtrends.</a:t>
            </a:r>
          </a:p>
          <a:p>
            <a:r>
              <a:rPr sz="1400"/>
              <a:t>- Other overlays the book names: the lower Bollinger, linear regression and moving average band, and the lower boundary of a chart pattern.</a:t>
            </a:r>
          </a:p>
          <a:p>
            <a:r>
              <a:rPr sz="1400"/>
              <a:t>- The chosen level is often a historically significant support, whose violation implies a very high probability of the trend reversing.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Teach this slide before anything is named. Left drawing: one wave. Middle: the same wave, in green, with smaller waves riding along it. Right: smaller ones again riding along those.</a:t>
            </a:r>
          </a:p>
          <a:p>
            <a:r>
              <a:rPr sz="1400"/>
              <a:t>- Each added wave is a subwave of the one it rides on, and one degree lower. Two drawings are two degrees, three are three.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last slide's three drawings, laid over one another: the thick line is the HWC, the dotted line the MWC, the thin line the LWC.</a:t>
            </a:r>
          </a:p>
          <a:p>
            <a:r>
              <a:rPr sz="1400"/>
              <a:t>- Higher, medium and lower are relative to each other. The book fixes no size or duration for any of them.</a:t>
            </a:r>
          </a:p>
          <a:p>
            <a:r>
              <a:rPr sz="1400"/>
              <a:t>- It gives the minimum of two degrees as a note, with no reason. Do not supply one.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calls it critical that a trader be able to visualize price cycles on the chart. Its five inabilities sit on four lines here.</a:t>
            </a:r>
          </a:p>
          <a:p>
            <a:r>
              <a:rPr sz="1400"/>
              <a:t>- The figure labels one rise three ways. Point at the three sets of labels and do not teach the count: that is Chapter 18.</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Three answers to one question on one chart: flat, ranging, trending. Ranging and flatline are the figure's labels; the text says only trend and consolidation.</a:t>
            </a:r>
          </a:p>
          <a:p>
            <a:r>
              <a:rPr sz="1400"/>
              <a:t>- This is why the last slide matters: the same price is a trend to one trader and a range to another.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Count the levels in the figure: several small ones, two medium, one large. Each is a breakout to somebody.</a:t>
            </a:r>
          </a:p>
          <a:p>
            <a:r>
              <a:rPr sz="1400"/>
              <a:t>- Stopsizing comes back in section 5.5. For now: a stop sized for one degree is the wrong size for another.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arrow at the top of the figure marks the one moment all three degrees turn at once.</a:t>
            </a:r>
          </a:p>
          <a:p>
            <a:r>
              <a:rPr sz="1400"/>
              <a:t>- It runs one way only: the small waves reverse many times on the way up without the large one turning.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Reversal and retracement have been in use since Chapter 2, and correction has appeared in passing. This slide is where correction and pullback get their meaning: the small case.</a:t>
            </a:r>
          </a:p>
          <a:p>
            <a:r>
              <a:rPr sz="1400"/>
              <a:t>- The book uses all four words through the rest of the chapter. This is the one place it says how they differ.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Top row of the figure: the highs rise and the lows fall together, an uptrend by one measure and a downtrend by the other.</a:t>
            </a:r>
          </a:p>
          <a:p>
            <a:r>
              <a:rPr sz="1400"/>
              <a:t>- Typical price is named and not defined in this chapter. Do not supply a formula.</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Do not teach from this slide. It is the map of this part: say that each number gets a slide and a picture of its own.</a:t>
            </a:r>
          </a:p>
          <a:p>
            <a:r>
              <a:rPr sz="1400"/>
              <a:t>- Price is regarded as the most important indicator of potential future price action. That is why the list is about price.</a:t>
            </a:r>
          </a:p>
          <a:p>
            <a:r>
              <a:rPr sz="1400"/>
              <a:t>- Review question 4 asks for 12 ways price action may be understood. The section lists 16. Teach the 16.</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In the figure the long arrows are up cycle amplitudes and the short ones down cycle amplitudes. Both shrink, swing after swing.</a:t>
            </a:r>
          </a:p>
          <a:p>
            <a:r>
              <a:rPr sz="1400"/>
              <a:t>- The book never defines cycle amplitude in words. The plain line is how Figure 5.11 measures it, and the pesos are ours.</a:t>
            </a:r>
          </a:p>
          <a:p>
            <a:r>
              <a:rPr sz="1400"/>
              <a:t>- The pattern for all sixteen: a variation in something, and what that variation says about the trend.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figure's three labels are bearish, neutral or bullish, and bullish or volatile. The text calls the even one bullish in an uptrend.</a:t>
            </a:r>
          </a:p>
          <a:p>
            <a:r>
              <a:rPr sz="1400"/>
              <a:t>- For expanding formations in a downtrend the book says only that the converse applies.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reading as amplitude, with the swings measured sideways: each one takes less time than the one before.</a:t>
            </a:r>
          </a:p>
          <a:p>
            <a:r>
              <a:rPr sz="1400"/>
              <a:t>- The book defines neither word. The two figures do it by where they put their arrows.</a:t>
            </a:r>
          </a:p>
          <a:p>
            <a:r>
              <a:rPr sz="1400"/>
              <a:t>- Chapter 4 named the cycle period once, as the business of Chapter 20. This is the first time it is read.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Consistent symmetry indicates strong trend action: that is the figure's own label.</a:t>
            </a:r>
          </a:p>
          <a:p>
            <a:r>
              <a:rPr sz="1400"/>
              <a:t>- The same figure comes back with channels: here price also fails to reach the lower channel line before it breaks out.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shape of rule as the first two: something shrinking in an uptrend is weakness, in a downtrend it is bullish.</a:t>
            </a:r>
          </a:p>
          <a:p>
            <a:r>
              <a:rPr sz="1400"/>
              <a:t>- Chapter 3 gave the true range: the greater of the bar's range and the distance from the last close. That is why the ATR sees gaps. How it is averaged is Chapter 8.</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Three panels: price, volume, ATR. Price and volume rise together while the ATR falls the whole way up.</a:t>
            </a:r>
          </a:p>
          <a:p>
            <a:r>
              <a:rPr sz="1400"/>
              <a:t>- One characteristic disagreed with everything else on the chart, and it was the one that was right.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recall, not a new term: persistence was Chapter 1's first applied assumption. Here the book says which kind of price persists.</a:t>
            </a:r>
          </a:p>
          <a:p>
            <a:r>
              <a:rPr sz="1400"/>
              <a:t>- Two tests for high quality price, both about the bars: small ranges, and ranges about equal to each other.</a:t>
            </a:r>
          </a:p>
          <a:p>
            <a:r>
              <a:rPr sz="1400"/>
              <a:t>- Left box against right box: the same market, a week apart, easy to track and then hard to track.</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text gives the words and Figure 5.18 prints the formula. The pesos are ours.</a:t>
            </a:r>
          </a:p>
          <a:p>
            <a:r>
              <a:rPr sz="1400"/>
              <a:t>- The standard stochastic oscillator compares the close with the last N periods. This one looks inside a single bar. %K is named, not taught.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Price keeps rising while the closes sink within their bars. The average of the ratio makes that visible.</a:t>
            </a:r>
          </a:p>
          <a:p>
            <a:r>
              <a:rPr sz="1400"/>
              <a:t>- Read the figure's labels and stop. What divergence is, formally, waits for Chapter 9.</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formula is printed on Figure 5.20 and the pesos are ours. The real body was Chapter 3: the boxed space between the open and the close.</a:t>
            </a:r>
          </a:p>
          <a:p>
            <a:r>
              <a:rPr sz="1400"/>
              <a:t>- Bar stochastic asks where the bar closed. This one asks how much of the bar the open-to-close move covered.</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Trendline 1 was followed by a steady rise, so the book expects the same after trendline 2, following a minor correction at point 3.</a:t>
            </a:r>
          </a:p>
          <a:p>
            <a:r>
              <a:rPr sz="1400"/>
              <a:t>- It says 3M went on to rise above $140, which the chart does not show. The caption says hourly; the chart itself is daily.</a:t>
            </a:r>
          </a:p>
          <a:p>
            <a:r>
              <a:rPr sz="1400"/>
              <a:t>- Chapter 1's Figure 1.25 showed angular symmetries on a chart and did not say how to read them. This is where the book does.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Speeding up is with the trend, slowing down is against it. Four cases, one rule.</a:t>
            </a:r>
          </a:p>
          <a:p>
            <a:r>
              <a:rPr sz="1400"/>
              <a:t>- After a blow-off or buying climax prices subsequently collapse, the book says. Both climaxes came up in Chapter 4.</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Characteristic 4 and characteristic 8 on one chart. Two warnings agreeing is worth more than either alone.</a:t>
            </a:r>
          </a:p>
          <a:p>
            <a:r>
              <a:rPr sz="1400"/>
              <a:t>- The book's caption calls it diminishing angular momentum.</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five parallel strokes on the left are the same angle: angular symmetry again, stated as dollars per day.</a:t>
            </a:r>
          </a:p>
          <a:p>
            <a:r>
              <a:rPr sz="1400"/>
              <a:t>- Two slips in the book on this one figure. Say them once, plainly, and teach the idea: a change of rate is a change of regime.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barrier here is a support level set by an earlier low. A strong downtrend meets it and turns.</a:t>
            </a:r>
          </a:p>
          <a:p>
            <a:r>
              <a:rPr sz="1400"/>
              <a:t>- Say overbought and oversold as the figure does. The oscillator itself is Chapter 8.</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With some profit taken off the table, traders react less emotionally at higher prices. That is the book's reason.</a:t>
            </a:r>
          </a:p>
          <a:p>
            <a:r>
              <a:rPr sz="1400"/>
              <a:t>- The grey boxes in the figure say it in full: pent-up profit and emotions create more fear of losing capital and profit.</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of the sixteen on one stock: few oscillations, characteristic 10, and a falling ATR, characteristic 4.</a:t>
            </a:r>
          </a:p>
          <a:p>
            <a:r>
              <a:rPr sz="1400"/>
              <a:t>- The second rise toward the historical high has a similar rate and as little profit taking as the first.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longer a consolidation takes to unfold, the greater its disruptive power with respect to the trend, should a reversal occur.</a:t>
            </a:r>
          </a:p>
          <a:p>
            <a:r>
              <a:rPr sz="1400"/>
              <a:t>- The two boxes on the chart hold the same kind of sideways movement. Only their size differs.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figure names the three gaps breakaway, runaway and exhaustion. Section 5.8 defines them.</a:t>
            </a:r>
          </a:p>
          <a:p>
            <a:r>
              <a:rPr sz="1400"/>
              <a:t>- Chapter 4 met the same three as Sakata's San Ku, three gaps.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period can be any chosen duration of observation. The book's example is a day.</a:t>
            </a:r>
          </a:p>
          <a:p>
            <a:r>
              <a:rPr sz="1400"/>
              <a:t>- When looking for the reversal, pay special attention to supportive and resistive confluences.</a:t>
            </a:r>
          </a:p>
          <a:p>
            <a:r>
              <a:rPr sz="1400"/>
              <a:t>- The book advises a simple backtest to find the most reliable lookback period for either method.</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Top row of the figure is overextension, bottom row is the false breakout. The lines are the same; the side differs.</a:t>
            </a:r>
          </a:p>
          <a:p>
            <a:r>
              <a:rPr sz="1400"/>
              <a:t>- The book's caption for this figure is simply price exhaustion.</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says very large and very small, very large and very low, each time. The slide drops the word very to fit.</a:t>
            </a:r>
          </a:p>
          <a:p>
            <a:r>
              <a:rPr sz="1400"/>
              <a:t>- Only the squat bar is called a significantly stronger indication of reversal: a large commitment of capital and no further extension in price.</a:t>
            </a:r>
          </a:p>
          <a:p>
            <a:r>
              <a:rPr sz="1400"/>
              <a:t>- The two low volume cases are trend inhibiting, though not necessarily a reversal.</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No picture on this slide: the book explains nothing about divergence here and sends the reader to Chapter 9.</a:t>
            </a:r>
          </a:p>
          <a:p>
            <a:r>
              <a:rPr sz="1400"/>
              <a:t>- Figures 5.19 and 5.27 have already labelled divergences. That is as far as this chapter takes it.</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1 met filters on a breakout. This section sorts them by what each one pins down: the price, the time, or neither.</a:t>
            </a:r>
          </a:p>
          <a:p>
            <a:r>
              <a:rPr sz="1400"/>
              <a:t>- Without a filter a profitable performance is unrepeatable, the book says, because it cannot be backtested.</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figure is the same list beside a trendline penetration: how far through the line must price go before it counts?</a:t>
            </a:r>
          </a:p>
          <a:p>
            <a:r>
              <a:rPr sz="1400"/>
              <a:t>- Chapter 1's prose called the third family algorithmic and its Figure 1.21 called it event-based. This chapter's list settles it one way and its review question the other.</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review question 8: a price-based filter names the price, so the risk on the trade is known before it is taken.</a:t>
            </a:r>
          </a:p>
          <a:p>
            <a:r>
              <a:rPr sz="1400"/>
              <a:t>- The closing violation is still the trigger. The price filter is only there to limit risk should the violation be overextended.</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words open a position and two close one. Liquidate belongs to a long, cover belongs to a short.</a:t>
            </a:r>
          </a:p>
          <a:p>
            <a:r>
              <a:rPr sz="1400"/>
              <a:t>- Work the box in the figure aloud: 70 less 50, then 70 less 40. The short made more because it sold high and bought back lower.</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lists these four as what the principle of buying low and selling high involves.</a:t>
            </a:r>
          </a:p>
          <a:p>
            <a:r>
              <a:rPr sz="1400"/>
              <a:t>- Follow the numbers on the chart: trades 1 and 2 ride the rise, trades 3 and 4 ride the fall.</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recall, not a new term: Chapter 1 taught limit and stop entry orders. New today: the exits, and what each order can guarantee.</a:t>
            </a:r>
          </a:p>
          <a:p>
            <a:r>
              <a:rPr sz="1400"/>
              <a:t>- The book's sentence reads 'cannot guarantee that an order will be executed, or filled at the specified price, but it can guarantee execution'. Its later sentences settle it: execution yes, price no.</a:t>
            </a:r>
          </a:p>
          <a:p>
            <a:r>
              <a:rPr sz="1400"/>
              <a:t>- Stop orders may wait as pending, or working, orders. For entry: a buystop or a sellstop. To exit a position that moves adversely: a stoploss.</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stop becomes a market order, and the market had no price between 48 and 46.50 to give.</a:t>
            </a:r>
          </a:p>
          <a:p>
            <a:r>
              <a:rPr sz="1400"/>
              <a:t>- Slippage can be positive too. The next slide is the order that only ever gets the positive kind.</a:t>
            </a:r>
          </a:p>
          <a:p>
            <a:r>
              <a:rPr sz="1400"/>
              <a:t>- Chapters 1 and 3 used the word slippage without saying what it is. This is its definition.</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Also a recall from Chapter 1, and the mirror of the stop order: the price is guaranteed and the execution is not.</a:t>
            </a:r>
          </a:p>
          <a:p>
            <a:r>
              <a:rPr sz="1400"/>
              <a:t>- A share trades at PHP 50 and a buy limit waits at PHP 47. If it cannot be filled at 47 or better, nothing happens.</a:t>
            </a:r>
          </a:p>
          <a:p>
            <a:r>
              <a:rPr sz="1400"/>
              <a:t>- Limit orders can only be placed as pending, or working, orders, never instantaneously. Only positive slippage is possible with them.</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Profit is taken with a limit and a loss is cut with a stop, on either side of the market.</a:t>
            </a:r>
          </a:p>
          <a:p>
            <a:r>
              <a:rPr sz="1400"/>
              <a:t>- The limit exit is the profit-take, or take profit, order. Under gapping price action it can exit with greater profit.</a:t>
            </a:r>
          </a:p>
          <a:p>
            <a:r>
              <a:rPr sz="1400"/>
              <a:t>- Negative slippage may sometimes occur when placing market orders.</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summary of the section. Read the top row, then the bottom row as its mirror.</a:t>
            </a:r>
          </a:p>
          <a:p>
            <a:r>
              <a:rPr sz="1400"/>
              <a:t>- Entries above the market: a buystop if prices are expected to rise higher, a sell limit if they are expected to reverse there.</a:t>
            </a:r>
          </a:p>
          <a:p>
            <a:r>
              <a:rPr sz="1400"/>
              <a:t>- Entries below: a sellstop if prices are expected to continue to decline, a buy limit if they are expected to reverse.</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No picture: these are instructions about time and conditions, and the book gives each one line.</a:t>
            </a:r>
          </a:p>
          <a:p>
            <a:r>
              <a:rPr sz="1400"/>
              <a:t>- MIT sits in Figure 5.32 as a profit exit, or an entry at any price. The book describes it as shorting above the market using a stop order.</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chart shows the first three. A random entry and a pattern entry have nothing to mark on one line.</a:t>
            </a:r>
          </a:p>
          <a:p>
            <a:r>
              <a:rPr sz="1400"/>
              <a:t>- Pattern or sequence-based entries follow a particular sequence of bars, or a completed pattern. The book's examples are DeMark Sequential and Japanese candlestick entries.</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recall: all three were Chapter 2 terms in this course, under Dow Theory. The book's own sentence here says Chapter 4.</a:t>
            </a:r>
          </a:p>
          <a:p>
            <a:r>
              <a:rPr sz="1400"/>
              <a:t>- In each drawing the signal is marked where price breaks the level between the two peaks, or the two troughs.</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other name for an inflection point is a swing point. Peaks give resistance levels and troughs give support levels.</a:t>
            </a:r>
          </a:p>
          <a:p>
            <a:r>
              <a:rPr sz="1400"/>
              <a:t>- Fewer flanking bars: the level is considered less significant and less reliable.</a:t>
            </a:r>
          </a:p>
          <a:p>
            <a:r>
              <a:rPr sz="1400"/>
              <a:t>- Chapters 2 and 3 used the words inflection point in passing. Its strength, and the definition, are new today.</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Top row of the figure: horizontal levels. Bottom row: the same thing on sloping trendlines.</a:t>
            </a:r>
          </a:p>
          <a:p>
            <a:r>
              <a:rPr sz="1400"/>
              <a:t>- Follow one drawing through: price is stopped by the line, breaks it, comes back, and is held from the other side.</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gives this figure no sentence of its own. Its two labels are the two lines on the slide.</a:t>
            </a:r>
          </a:p>
          <a:p>
            <a:r>
              <a:rPr sz="1400"/>
              <a:t>- Count the levels on the way down, then on the way up. Every one was used twice.</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Horizontal levels and the channel's sloping lines are both barriers, and both change roles.</a:t>
            </a:r>
          </a:p>
          <a:p>
            <a:r>
              <a:rPr sz="1400"/>
              <a:t>- The vertical arrows join each oversold reading to the support it confirmed.</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gives two of its reasons. Both are about where the entry sits: near the trendline, so the stop is small.</a:t>
            </a:r>
          </a:p>
          <a:p>
            <a:r>
              <a:rPr sz="1400"/>
              <a:t>- In the figure every entry is at the trendline. That is a barrier entry from the first slide of this part.</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For the oscillator filter: crossing above its signal line signifies potential longer-term bullishness, crossing below potential bearishness.</a:t>
            </a:r>
          </a:p>
          <a:p>
            <a:r>
              <a:rPr sz="1400"/>
              <a:t>- For containment: price staying above the moving average or trendline signifies an uptrend still intact. That was section 5.1.</a:t>
            </a:r>
          </a:p>
          <a:p>
            <a:r>
              <a:rPr sz="1400"/>
              <a:t>- Three popular filters, which the book says is by no means exhaustive. Moving averages are Chapter 11: the chart draws two and explains neither.</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Trailing: the stop advances to the next higher trough in an uptrend, and to the next lower peak in a downtrend.</a:t>
            </a:r>
          </a:p>
          <a:p>
            <a:r>
              <a:rPr sz="1400"/>
              <a:t>- Read the figure top down: where the trades were, what triggered them, what filtered them.</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brackets in the figure are the stopsizes: wide and changing on the left, narrow and steady on the right.</a:t>
            </a:r>
          </a:p>
          <a:p>
            <a:r>
              <a:rPr sz="1400"/>
              <a:t>- For a barrier entry the significant peak or trough is usually the point of entry itself. That is why its stop is always close.</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chart is one line of arithmetic: tradesize is the risk per trade divided by the stopsize.</a:t>
            </a:r>
          </a:p>
          <a:p>
            <a:r>
              <a:rPr sz="1400"/>
              <a:t>- A narrow stop is hit more often, and with a fixed risk it is hit at full size every time.</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review question 7. The advantage: losses are limited whether the stops that get hit are the narrow ones or the wide ones.</a:t>
            </a:r>
          </a:p>
          <a:p>
            <a:r>
              <a:rPr sz="1400"/>
              <a:t>- The author says he first introduced it in The Wiley Trading Guide Volume II. Tradesizing gets Chapter 28.</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chapter objective on calculating the optimum tradesize for breakout trades. The pesos are ours; the five steps are the book's.</a:t>
            </a:r>
          </a:p>
          <a:p>
            <a:r>
              <a:rPr sz="1400"/>
              <a:t>- Why proportional: for stops at or below the threshold the percentage risk varies proportionally with the stopsize, and is always capped at the maximum.</a:t>
            </a:r>
          </a:p>
          <a:p>
            <a:r>
              <a:rPr sz="1400"/>
              <a:t>- Step 4 is a percentage of current capital. The book says 300 to 500 trades if possible.</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rule is that lines must not cut through any price action at any point along the line. Its other word for tentative is provisionary.</a:t>
            </a:r>
          </a:p>
          <a:p>
            <a:r>
              <a:rPr sz="1400"/>
              <a:t>- Tentative and valid apply only to conventional trendlines, and not to fan lines, which come at the end of this part.</a:t>
            </a:r>
          </a:p>
          <a:p>
            <a:r>
              <a:rPr sz="1400"/>
              <a:t>- Chapter 1 drew trendlines on its figures and never said how one is made. This is where the book does.</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All three lines start at the same trough. The term is set by how much price sits above the line, not by the calendar.</a:t>
            </a:r>
          </a:p>
          <a:p>
            <a:r>
              <a:rPr sz="1400"/>
              <a:t>- The Point and Figure lines are the one exception to two inflection points that the book names. Chapter 15 is Point and Figure.</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words: support and resistance are regarded as behavioral consequences of human psychology, biases and emotions.</a:t>
            </a:r>
          </a:p>
          <a:p>
            <a:r>
              <a:rPr sz="1400"/>
              <a:t>- This is the same role reversal as section 5.5, explained: one line, support from above and resistance from below.</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figure runs the whole life of a line: drawn, confirmed at the circle, invalidated, redrawn.</a:t>
            </a:r>
          </a:p>
          <a:p>
            <a:r>
              <a:rPr sz="1400"/>
              <a:t>- Invalidated does not mean ineffective. Price often comes back to an old line, as it does to a neckline.</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answer depends on the type and extent of filtering. The book: we yet again observe the problems with defining price action.</a:t>
            </a:r>
          </a:p>
          <a:p>
            <a:r>
              <a:rPr sz="1400"/>
              <a:t>- A price-based filter lets the trader decide exactly how much price excursion represents a valid penetration.</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and the next slide are review question 6: the factors that impact trendline reliability. Six of them, two here.</a:t>
            </a:r>
          </a:p>
          <a:p>
            <a:r>
              <a:rPr sz="1400"/>
              <a:t>- The steep trend may not be able to sustain itself over the longer term. Whipsaw is still used without a definition.</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first three share one mechanism: the more visible the line, the more orders gather around it, as on the behavior slide.</a:t>
            </a:r>
          </a:p>
          <a:p>
            <a:r>
              <a:rPr sz="1400"/>
              <a:t>- The fourth is section 5.2 again: a line under a weakening trend is unreliable over the longer term.</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same idea as Chapter 4's minimum measuring objective, measured from a trendline and not from a range.</a:t>
            </a:r>
          </a:p>
          <a:p>
            <a:r>
              <a:rPr sz="1400"/>
              <a:t>- The pesos are ours. The figure shows the method on EURUSD: one arrow up, the same arrow down.</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No picture: this is the book's own list of four strengths and three weaknesses, on five lines.</a:t>
            </a:r>
          </a:p>
          <a:p>
            <a:r>
              <a:rPr sz="1400"/>
              <a:t>- The scaling weakness is Chapter 3: a straight line on a linear scale is not straight on a ratio scale.</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left line is a downtrend line of a lower wave degree, drawn inside an uptrend of a higher one. Breaking it continues the larger trend.</a:t>
            </a:r>
          </a:p>
          <a:p>
            <a:r>
              <a:rPr sz="1400"/>
              <a:t>- Wave degrees, from section 5.1, are what make one breach a continuation and another a reversal.</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channel is a trendline and one parallel to it, on the other side of price. Earlier chapters showed channels and never built one.</a:t>
            </a:r>
          </a:p>
          <a:p>
            <a:r>
              <a:rPr sz="1400"/>
              <a:t>- In the figure the rising channel transitions into a falling one. Trough 6 violating the uptrend line may be an early indication of a potential trend change.</a:t>
            </a:r>
          </a:p>
          <a:p>
            <a:r>
              <a:rPr sz="1400"/>
              <a:t>- For alternative approaches to constructing a channel the book refers to Chapter 13.</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wave degrees of section 5.1, drawn as channels: a small channel inside a medium one inside a large one.</a:t>
            </a:r>
          </a:p>
          <a:p>
            <a:r>
              <a:rPr sz="1400"/>
              <a:t>- Fractal-like is the book's phrase. The same shape repeats at every size.</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kinds of barrier on one chart: the sloping channel lines and the horizontal retracement levels.</a:t>
            </a:r>
          </a:p>
          <a:p>
            <a:r>
              <a:rPr sz="1400"/>
              <a:t>- Say the slip once: the printed caption belongs to the figure before it.</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Channel projection 1 runs from point 3 and was met at point 5. Projection 2 was met at point 6.</a:t>
            </a:r>
          </a:p>
          <a:p>
            <a:r>
              <a:rPr sz="1400"/>
              <a:t>- This is review question 5: a channel pinpoints where a move may stop before price gets there.</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other half of review question 5: a failed test of one boundary points at a breakout through the other.</a:t>
            </a:r>
          </a:p>
          <a:p>
            <a:r>
              <a:rPr sz="1400"/>
              <a:t>- The chart is ours. The book makes the point on the figure it used for bar retracement symmetry.</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Find the extreme first, the highest peak, then walk back to the last minor trough before it. The line joins that to the lowest trough.</a:t>
            </a:r>
          </a:p>
          <a:p>
            <a:r>
              <a:rPr sz="1400"/>
              <a:t>- The author writes that there is no way he can do justice to the approach here, and advises reading Sperandeo's book. The pesos are ours.</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conventional trendline starts from the oldest troughs. DeMark's starts from the newest, which is why it is more responsive.</a:t>
            </a:r>
          </a:p>
          <a:p>
            <a:r>
              <a:rPr sz="1400"/>
              <a:t>- Do not teach the pivot selection process. The book sends the reader to DeMark for it.</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All three lines share one starting point: a trough for the decelerating set, a peak for the accelerating one.</a:t>
            </a:r>
          </a:p>
          <a:p>
            <a:r>
              <a:rPr sz="1400"/>
              <a:t>- Tentative and valid do not apply to fan lines. A fan line uses two inflection points but only one is at a peak or trough.</a:t>
            </a:r>
          </a:p>
          <a:p>
            <a:r>
              <a:rPr sz="1400"/>
              <a:t>- Accelerating fan lines run from a significant higher peak to gradually rising lower peaks. The book says to draw only three of either.</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fan line whose second point is not a peak or trough: it sits along a predetermined vertical axis.</a:t>
            </a:r>
          </a:p>
          <a:p>
            <a:r>
              <a:rPr sz="1400"/>
              <a:t>- Fibonacci ratios are Chapter 10. Today the three percentages are given, not derived. The pesos are ours.</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One construction, two sets of ratios: Fibonacci's three percentages, or Gould's two thirds.</a:t>
            </a:r>
          </a:p>
          <a:p>
            <a:r>
              <a:rPr sz="1400"/>
              <a:t>- One-third and two-thirds are also the retracements Dow watched, which is the next section.</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Three points make it: the significant peak, the retracement trough, the retracement peak. The middle line is called the median.</a:t>
            </a:r>
          </a:p>
          <a:p>
            <a:r>
              <a:rPr sz="1400"/>
              <a:t>- It is a channel with a centre line, drawn from three points and not two.</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table across, not down: each row is one zone and three ways of naming it.</a:t>
            </a:r>
          </a:p>
          <a:p>
            <a:r>
              <a:rPr sz="1400"/>
              <a:t>- The Gann column is in eighths: 12.5 percent is one-eighth. Nothing here is derived; that waits for the later chapters.</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rise on the chart is PHP 20, so a 50 percent retracement gives back PHP 10 and stands at PHP 50.</a:t>
            </a:r>
          </a:p>
          <a:p>
            <a:r>
              <a:rPr sz="1400"/>
              <a:t>- Three people measuring three ways still watch the same three zones. That is what convergence buys.</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3 defined a gap and named these four for later, and Chapter 4 met three of them as San Ku. This is where the book says what each one is.</a:t>
            </a:r>
          </a:p>
          <a:p>
            <a:r>
              <a:rPr sz="1400"/>
              <a:t>- Runaway, measuring, midway and continuation are four names for one gap. On the Wheat chart: common gaps inside the consolidation, then the three trend gaps.</a:t>
            </a:r>
          </a:p>
          <a:p>
            <a:r>
              <a:rPr sz="1400"/>
              <a:t>- Prices top after the third gap, the exhaustion gap: characteristic 12 from section 5.2.</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4's phases, located by gaps: common gaps in the accumulation, the exhaustion gap opening the distribution.</a:t>
            </a:r>
          </a:p>
          <a:p>
            <a:r>
              <a:rPr sz="1400"/>
              <a:t>- Two signs agree at the top: a third gap, and a significant resistance level. Barrier proximity again.</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gap is a price range nobody traded in. Its edges are levels, and levels act as barriers.</a:t>
            </a:r>
          </a:p>
          <a:p>
            <a:r>
              <a:rPr sz="1400"/>
              <a:t>- The figure also marks angular symmetry in GLD: characteristic 8, on a different chart.</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Micro means very short-term and macro means longer-term. The trader only ever trades one way at any one time.</a:t>
            </a:r>
          </a:p>
          <a:p>
            <a:r>
              <a:rPr sz="1400"/>
              <a:t>- The figure's lower half is the bidirectional trader: one buy level above, one sell level below, whichever breaks.</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For a detailed look the book refers the reader to The Ultimate Trading Guide, by Hill, Pruitt and Hill.</a:t>
            </a:r>
          </a:p>
          <a:p>
            <a:r>
              <a:rPr sz="1400"/>
              <a:t>- Typical price is named and not defined in this chapter. The forward shift is there to give an early prognostication of market sentiment.</a:t>
            </a:r>
          </a:p>
          <a:p>
            <a:r>
              <a:rPr sz="1400"/>
              <a:t>- The inter-bar trendlines connect the highs and the lows.</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calls this section a summary. These four are the ones this chapter and the last have already taught.</a:t>
            </a:r>
          </a:p>
          <a:p>
            <a:r>
              <a:rPr sz="1400"/>
              <a:t>- Diminishing volume indicates potential weakness in the trend. Extreme volume is indicative of market tops and bottoms.</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No picture: each of these needs a tool the book has not taught yet. Oscillators are Chapter 8, divergence Chapter 9, candlesticks Chapter 14.</a:t>
            </a:r>
          </a:p>
          <a:p>
            <a:r>
              <a:rPr sz="1400"/>
              <a:t>- With the last slide these are the book's seven headings, a to g. Together they answer review question 3.</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all five slowly. This is the summary to copy down.</a:t>
            </a:r>
          </a:p>
          <a:p>
            <a:r>
              <a:rPr sz="1400"/>
              <a:t>- The book's summary is three sentences long. Its one piece of advice is the gold line.</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Lines one and six each carry two of the book's eight questions.</a:t>
            </a:r>
          </a:p>
          <a:p>
            <a:r>
              <a:rPr sz="1400"/>
              <a:t>- Say where each answer sits: 5.1, 5.11, 5.2, 5.6, 5.6, then 5.5 and 5.3.</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Be straight with them: this chapter leans on oscillators and candlesticks the book has not taught yet.</a:t>
            </a:r>
          </a:p>
          <a:p>
            <a:r>
              <a:rPr sz="1400"/>
              <a:t>- Next is Chapter 6, Volume and Open Interest.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A33"/>
          </a:solidFill>
          <a:ln>
            <a:noFill/>
          </a:ln>
          <a:effectLst/>
        </p:spPr>
        <p:txBody>
          <a:bodyPr rtlCol="0" anchor="ctr"/>
          <a:lstStyle/>
          <a:p>
            <a:pPr algn="ctr"/>
          </a:p>
        </p:txBody>
      </p:sp>
      <p:sp>
        <p:nvSpPr>
          <p:cNvPr id="3" name="Rectangle 2"/>
          <p:cNvSpPr/>
          <p:nvPr/>
        </p:nvSpPr>
        <p:spPr>
          <a:xfrm>
            <a:off x="0" y="6355080"/>
            <a:ext cx="12191695" cy="502920"/>
          </a:xfrm>
          <a:prstGeom prst="rect">
            <a:avLst/>
          </a:prstGeom>
          <a:solidFill>
            <a:srgbClr val="004F21"/>
          </a:solidFill>
          <a:ln>
            <a:noFill/>
          </a:ln>
          <a:effectLst/>
        </p:spPr>
        <p:txBody>
          <a:bodyPr rtlCol="0" anchor="ctr"/>
          <a:lstStyle/>
          <a:p>
            <a:pPr algn="ctr"/>
          </a:p>
        </p:txBody>
      </p:sp>
      <p:sp>
        <p:nvSpPr>
          <p:cNvPr id="4" name="TextBox 3"/>
          <p:cNvSpPr txBox="1"/>
          <p:nvPr/>
        </p:nvSpPr>
        <p:spPr>
          <a:xfrm>
            <a:off x="777240" y="1417320"/>
            <a:ext cx="10637215" cy="45720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2A900"/>
                </a:solidFill>
                <a:latin typeface="Arial"/>
              </a:rPr>
              <a:t>FIN1209  Technical Analysis in Investment</a:t>
            </a:r>
          </a:p>
        </p:txBody>
      </p:sp>
      <p:sp>
        <p:nvSpPr>
          <p:cNvPr id="5" name="Rectangle 4"/>
          <p:cNvSpPr/>
          <p:nvPr/>
        </p:nvSpPr>
        <p:spPr>
          <a:xfrm>
            <a:off x="777240" y="2057400"/>
            <a:ext cx="1463040" cy="50800"/>
          </a:xfrm>
          <a:prstGeom prst="rect">
            <a:avLst/>
          </a:prstGeom>
          <a:solidFill>
            <a:srgbClr val="F2A900"/>
          </a:solidFill>
          <a:ln>
            <a:noFill/>
          </a:ln>
          <a:effectLst/>
        </p:spPr>
        <p:txBody>
          <a:bodyPr rtlCol="0" anchor="ctr"/>
          <a:lstStyle/>
          <a:p>
            <a:pPr algn="ctr"/>
          </a:p>
        </p:txBody>
      </p:sp>
      <p:sp>
        <p:nvSpPr>
          <p:cNvPr id="6" name="TextBox 5"/>
          <p:cNvSpPr txBox="1"/>
          <p:nvPr/>
        </p:nvSpPr>
        <p:spPr>
          <a:xfrm>
            <a:off x="777240" y="2423160"/>
            <a:ext cx="10637215" cy="2194560"/>
          </a:xfrm>
          <a:prstGeom prst="rect">
            <a:avLst/>
          </a:prstGeom>
          <a:noFill/>
        </p:spPr>
        <p:txBody>
          <a:bodyPr wrap="square" anchor="t" lIns="0" rIns="0" tIns="0" bIns="0">
            <a:spAutoFit/>
          </a:bodyPr>
          <a:lstStyle/>
          <a:p>
            <a:pPr algn="l">
              <a:lnSpc>
                <a:spcPct val="100000"/>
              </a:lnSpc>
              <a:spcBef>
                <a:spcPts val="0"/>
              </a:spcBef>
              <a:spcAft>
                <a:spcPts val="0"/>
              </a:spcAft>
            </a:pPr>
            <a:r>
              <a:rPr sz="2000" b="0" i="0">
                <a:solidFill>
                  <a:srgbClr val="FFFFFF"/>
                </a:solidFill>
                <a:latin typeface="Palatino"/>
              </a:rPr>
              <a:t>Chapter 5</a:t>
            </a:r>
          </a:p>
          <a:p>
            <a:pPr algn="l">
              <a:lnSpc>
                <a:spcPct val="105000"/>
              </a:lnSpc>
              <a:spcBef>
                <a:spcPts val="1000"/>
              </a:spcBef>
              <a:spcAft>
                <a:spcPts val="0"/>
              </a:spcAft>
            </a:pPr>
            <a:r>
              <a:rPr sz="4400" b="0" i="0">
                <a:solidFill>
                  <a:srgbClr val="FFFFFF"/>
                </a:solidFill>
                <a:latin typeface="Palatino"/>
              </a:rPr>
              <a:t>Trend Analysis</a:t>
            </a:r>
          </a:p>
        </p:txBody>
      </p:sp>
      <p:sp>
        <p:nvSpPr>
          <p:cNvPr id="7" name="TextBox 6"/>
          <p:cNvSpPr txBox="1"/>
          <p:nvPr/>
        </p:nvSpPr>
        <p:spPr>
          <a:xfrm>
            <a:off x="777240" y="4892040"/>
            <a:ext cx="10637215" cy="914400"/>
          </a:xfrm>
          <a:prstGeom prst="rect">
            <a:avLst/>
          </a:prstGeom>
          <a:noFill/>
        </p:spPr>
        <p:txBody>
          <a:bodyPr wrap="square" anchor="t" lIns="0" rIns="0" tIns="0" bIns="0">
            <a:spAutoFit/>
          </a:bodyPr>
          <a:lstStyle/>
          <a:p>
            <a:pPr algn="l">
              <a:lnSpc>
                <a:spcPct val="100000"/>
              </a:lnSpc>
              <a:spcBef>
                <a:spcPts val="0"/>
              </a:spcBef>
              <a:spcAft>
                <a:spcPts val="0"/>
              </a:spcAft>
            </a:pPr>
            <a:r>
              <a:rPr sz="1600" b="0" i="0">
                <a:solidFill>
                  <a:srgbClr val="FFFFFF"/>
                </a:solidFill>
                <a:latin typeface="Arial"/>
              </a:rPr>
              <a:t>Institute of Accounts, Business and Finance  |  Far Eastern University Manila</a:t>
            </a:r>
          </a:p>
          <a:p>
            <a:pPr algn="l">
              <a:lnSpc>
                <a:spcPct val="100000"/>
              </a:lnSpc>
              <a:spcBef>
                <a:spcPts val="800"/>
              </a:spcBef>
              <a:spcAft>
                <a:spcPts val="0"/>
              </a:spcAft>
            </a:pPr>
            <a:r>
              <a:rPr sz="1400" b="0" i="0">
                <a:solidFill>
                  <a:srgbClr val="F2A900"/>
                </a:solidFill>
                <a:latin typeface="Arial"/>
              </a:rPr>
              <a:t>Benjamin C. Sotelo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you will be able to do</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5 -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Understand the significance of a market trend and its underlying characteristics.</a:t>
            </a:r>
          </a:p>
          <a:p>
            <a:pPr algn="l">
              <a:lnSpc>
                <a:spcPct val="118000"/>
              </a:lnSpc>
              <a:spcBef>
                <a:spcPts val="0"/>
              </a:spcBef>
              <a:spcAft>
                <a:spcPts val="1300"/>
              </a:spcAft>
            </a:pPr>
            <a:r>
              <a:rPr sz="2100" b="0" i="0">
                <a:solidFill>
                  <a:srgbClr val="1A1A1A"/>
                </a:solidFill>
                <a:latin typeface="Arial"/>
              </a:rPr>
              <a:t>Recognize the limitations of defining trend and market action.</a:t>
            </a:r>
          </a:p>
          <a:p>
            <a:pPr algn="l">
              <a:lnSpc>
                <a:spcPct val="118000"/>
              </a:lnSpc>
              <a:spcBef>
                <a:spcPts val="0"/>
              </a:spcBef>
              <a:spcAft>
                <a:spcPts val="1300"/>
              </a:spcAft>
            </a:pPr>
            <a:r>
              <a:rPr sz="2100" b="0" i="0">
                <a:solidFill>
                  <a:srgbClr val="1A1A1A"/>
                </a:solidFill>
                <a:latin typeface="Arial"/>
              </a:rPr>
              <a:t>Identify early indications of a potential market reversal.</a:t>
            </a:r>
          </a:p>
          <a:p>
            <a:pPr algn="l">
              <a:lnSpc>
                <a:spcPct val="118000"/>
              </a:lnSpc>
              <a:spcBef>
                <a:spcPts val="0"/>
              </a:spcBef>
              <a:spcAft>
                <a:spcPts val="1300"/>
              </a:spcAft>
            </a:pPr>
            <a:r>
              <a:rPr sz="2100" b="0" i="0">
                <a:solidFill>
                  <a:srgbClr val="1A1A1A"/>
                </a:solidFill>
                <a:latin typeface="Arial"/>
              </a:rPr>
              <a:t>Read the markets in terms of wave cycles of various degrees.</a:t>
            </a:r>
          </a:p>
          <a:p>
            <a:pPr algn="l">
              <a:lnSpc>
                <a:spcPct val="118000"/>
              </a:lnSpc>
              <a:spcBef>
                <a:spcPts val="0"/>
              </a:spcBef>
              <a:spcAft>
                <a:spcPts val="1300"/>
              </a:spcAft>
            </a:pPr>
            <a:r>
              <a:rPr sz="2100" b="0" i="0">
                <a:solidFill>
                  <a:srgbClr val="1A1A1A"/>
                </a:solidFill>
                <a:latin typeface="Arial"/>
              </a:rPr>
              <a:t>Set up effective price filtering, and calculate the optimum tradesize for breakout trades.</a:t>
            </a:r>
          </a:p>
          <a:p>
            <a:pPr algn="l">
              <a:lnSpc>
                <a:spcPct val="118000"/>
              </a:lnSpc>
              <a:spcBef>
                <a:spcPts val="0"/>
              </a:spcBef>
              <a:spcAft>
                <a:spcPts val="1300"/>
              </a:spcAft>
            </a:pPr>
            <a:r>
              <a:rPr sz="2100" b="0" i="0">
                <a:solidFill>
                  <a:srgbClr val="1A1A1A"/>
                </a:solidFill>
                <a:latin typeface="Arial"/>
              </a:rPr>
              <a:t>Use channels, trendlines, fan lines and Drummond geometry to track the market.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this chapter is laid out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5 -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5.1  What a trend is, and where any definition runs out.</a:t>
            </a:r>
          </a:p>
          <a:p>
            <a:pPr algn="l">
              <a:lnSpc>
                <a:spcPct val="118000"/>
              </a:lnSpc>
              <a:spcBef>
                <a:spcPts val="0"/>
              </a:spcBef>
              <a:spcAft>
                <a:spcPts val="1300"/>
              </a:spcAft>
            </a:pPr>
            <a:r>
              <a:rPr sz="2100" b="0" i="0">
                <a:solidFill>
                  <a:srgbClr val="1A1A1A"/>
                </a:solidFill>
                <a:latin typeface="Arial"/>
              </a:rPr>
              <a:t>5.2  Sixteen price characteristics that show the quality of a trend.</a:t>
            </a:r>
          </a:p>
          <a:p>
            <a:pPr algn="l">
              <a:lnSpc>
                <a:spcPct val="118000"/>
              </a:lnSpc>
              <a:spcBef>
                <a:spcPts val="0"/>
              </a:spcBef>
              <a:spcAft>
                <a:spcPts val="1300"/>
              </a:spcAft>
            </a:pPr>
            <a:r>
              <a:rPr sz="2100" b="0" i="0">
                <a:solidFill>
                  <a:srgbClr val="1A1A1A"/>
                </a:solidFill>
                <a:latin typeface="Arial"/>
              </a:rPr>
              <a:t>5.3 to 5.5  Filters, orders, entries, stops and tradesize.</a:t>
            </a:r>
          </a:p>
          <a:p>
            <a:pPr algn="l">
              <a:lnSpc>
                <a:spcPct val="118000"/>
              </a:lnSpc>
              <a:spcBef>
                <a:spcPts val="0"/>
              </a:spcBef>
              <a:spcAft>
                <a:spcPts val="1300"/>
              </a:spcAft>
            </a:pPr>
            <a:r>
              <a:rPr sz="2100" b="0" i="0">
                <a:solidFill>
                  <a:srgbClr val="1A1A1A"/>
                </a:solidFill>
                <a:latin typeface="Arial"/>
              </a:rPr>
              <a:t>5.6  Trendlines, channels and fan lines.</a:t>
            </a:r>
          </a:p>
          <a:p>
            <a:pPr algn="l">
              <a:lnSpc>
                <a:spcPct val="118000"/>
              </a:lnSpc>
              <a:spcBef>
                <a:spcPts val="0"/>
              </a:spcBef>
              <a:spcAft>
                <a:spcPts val="1300"/>
              </a:spcAft>
            </a:pPr>
            <a:r>
              <a:rPr sz="2100" b="0" i="0">
                <a:solidFill>
                  <a:srgbClr val="1A1A1A"/>
                </a:solidFill>
                <a:latin typeface="Arial"/>
              </a:rPr>
              <a:t>5.7 to 5.11  Retracements, gaps, directionality, Drummond, reversal signs.</a:t>
            </a:r>
          </a:p>
        </p:txBody>
      </p:sp>
      <p:sp>
        <p:nvSpPr>
          <p:cNvPr id="8" name="Rectangle 7"/>
          <p:cNvSpPr/>
          <p:nvPr/>
        </p:nvSpPr>
        <p:spPr>
          <a:xfrm>
            <a:off x="777240" y="476478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0136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Eleven sections, the book's own. Two of them are long: 5.2 and 5.6.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5.1  Dow sorts trends by how long they last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1 of 13</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Primary, or major, trends are longer term: months to years.</a:t>
            </a:r>
          </a:p>
          <a:p>
            <a:pPr algn="l">
              <a:lnSpc>
                <a:spcPct val="105000"/>
              </a:lnSpc>
              <a:spcBef>
                <a:spcPts val="0"/>
              </a:spcBef>
              <a:spcAft>
                <a:spcPts val="1100"/>
              </a:spcAft>
            </a:pPr>
            <a:r>
              <a:rPr sz="2000" b="0" i="0">
                <a:solidFill>
                  <a:srgbClr val="1A1A1A"/>
                </a:solidFill>
                <a:latin typeface="Arial"/>
              </a:rPr>
              <a:t>Secondary trends, or reactions, are medium term: weeks to months.</a:t>
            </a:r>
          </a:p>
          <a:p>
            <a:pPr algn="l">
              <a:lnSpc>
                <a:spcPct val="105000"/>
              </a:lnSpc>
              <a:spcBef>
                <a:spcPts val="0"/>
              </a:spcBef>
              <a:spcAft>
                <a:spcPts val="1100"/>
              </a:spcAft>
            </a:pPr>
            <a:r>
              <a:rPr sz="2000" b="0" i="0">
                <a:solidFill>
                  <a:srgbClr val="1A1A1A"/>
                </a:solidFill>
                <a:latin typeface="Arial"/>
              </a:rPr>
              <a:t>Minor trends are shorter term: days to weeks.</a:t>
            </a:r>
          </a:p>
        </p:txBody>
      </p:sp>
      <p:sp>
        <p:nvSpPr>
          <p:cNvPr id="8" name="Rectangle 7"/>
          <p:cNvSpPr/>
          <p:nvPr/>
        </p:nvSpPr>
        <p:spPr>
          <a:xfrm>
            <a:off x="777240" y="4581144"/>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7720"/>
            <a:ext cx="482803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In Dow Theory, trends are classified and defined by their duration and extent.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 - FIN1209 teaching chart, drawn for this course. Illustrative data, not a real instrument.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 uptrend: higher highs and higher lows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2 of 13</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An uptrend is represented by a series of successively higher highs, the peaks, and lows, the troughs.</a:t>
            </a:r>
          </a:p>
          <a:p>
            <a:pPr algn="l">
              <a:lnSpc>
                <a:spcPct val="105000"/>
              </a:lnSpc>
              <a:spcBef>
                <a:spcPts val="0"/>
              </a:spcBef>
              <a:spcAft>
                <a:spcPts val="1100"/>
              </a:spcAft>
            </a:pPr>
            <a:r>
              <a:rPr sz="1700" b="0" i="0">
                <a:solidFill>
                  <a:srgbClr val="1A1A1A"/>
                </a:solidFill>
                <a:latin typeface="Arial"/>
              </a:rPr>
              <a:t>Each rally carries above the last peak: a higher high, HH.</a:t>
            </a:r>
          </a:p>
          <a:p>
            <a:pPr algn="l">
              <a:lnSpc>
                <a:spcPct val="105000"/>
              </a:lnSpc>
              <a:spcBef>
                <a:spcPts val="0"/>
              </a:spcBef>
              <a:spcAft>
                <a:spcPts val="1100"/>
              </a:spcAft>
            </a:pPr>
            <a:r>
              <a:rPr sz="1700" b="0" i="0">
                <a:solidFill>
                  <a:srgbClr val="1A1A1A"/>
                </a:solidFill>
                <a:latin typeface="Arial"/>
              </a:rPr>
              <a:t>Each dip holds above the last trough: a higher low, HL.</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In Dow Theory an uptrend is defined using peak and trough analysis.</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A share peaks at PHP 50, dips to 46, peaks at 54, dips to 49: higher highs and higher lows.</a:t>
            </a:r>
          </a:p>
        </p:txBody>
      </p:sp>
      <p:sp>
        <p:nvSpPr>
          <p:cNvPr id="11" name="Rectangle 10"/>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5.1</a:t>
            </a:r>
          </a:p>
          <a:p>
            <a:pPr algn="l">
              <a:lnSpc>
                <a:spcPct val="120000"/>
              </a:lnSpc>
              <a:spcBef>
                <a:spcPts val="0"/>
              </a:spcBef>
              <a:spcAft>
                <a:spcPts val="1400"/>
              </a:spcAft>
            </a:pPr>
            <a:r>
              <a:rPr sz="1800" b="0" i="0">
                <a:solidFill>
                  <a:srgbClr val="1A1A1A"/>
                </a:solidFill>
                <a:latin typeface="Palatino"/>
              </a:rPr>
              <a:t>A rising bar chart with every peak marked HH and every trough HL, labelled an uptrend as a sequence of higher highs and higher lows, and a flat stretch at the end where the uptrend has technically ended.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5.1 - Lim, The Handbook of Technical Analysis (Wiley, 2016)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downtrend: lower highs and lower lows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3 of 13</a:t>
            </a:r>
          </a:p>
        </p:txBody>
      </p:sp>
      <p:sp>
        <p:nvSpPr>
          <p:cNvPr id="7" name="TextBox 6"/>
          <p:cNvSpPr txBox="1"/>
          <p:nvPr/>
        </p:nvSpPr>
        <p:spPr>
          <a:xfrm>
            <a:off x="777240" y="1965960"/>
            <a:ext cx="621792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downtrend is represented by a series of successively lower highs and lows.</a:t>
            </a:r>
          </a:p>
          <a:p>
            <a:pPr algn="l">
              <a:lnSpc>
                <a:spcPct val="105000"/>
              </a:lnSpc>
              <a:spcBef>
                <a:spcPts val="0"/>
              </a:spcBef>
              <a:spcAft>
                <a:spcPts val="1100"/>
              </a:spcAft>
            </a:pPr>
            <a:r>
              <a:rPr sz="2000" b="0" i="0">
                <a:solidFill>
                  <a:srgbClr val="1A1A1A"/>
                </a:solidFill>
                <a:latin typeface="Arial"/>
              </a:rPr>
              <a:t>Each rally stops below the last peak: a lower high, LH.</a:t>
            </a:r>
          </a:p>
          <a:p>
            <a:pPr algn="l">
              <a:lnSpc>
                <a:spcPct val="105000"/>
              </a:lnSpc>
              <a:spcBef>
                <a:spcPts val="0"/>
              </a:spcBef>
              <a:spcAft>
                <a:spcPts val="1100"/>
              </a:spcAft>
            </a:pPr>
            <a:r>
              <a:rPr sz="2000" b="0" i="0">
                <a:solidFill>
                  <a:srgbClr val="1A1A1A"/>
                </a:solidFill>
                <a:latin typeface="Arial"/>
              </a:rPr>
              <a:t>Each decline carries below the last trough: a lower low, LL.</a:t>
            </a:r>
          </a:p>
        </p:txBody>
      </p:sp>
      <p:sp>
        <p:nvSpPr>
          <p:cNvPr id="8" name="Rectangle 7"/>
          <p:cNvSpPr/>
          <p:nvPr/>
        </p:nvSpPr>
        <p:spPr>
          <a:xfrm>
            <a:off x="777240" y="4581144"/>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7720"/>
            <a:ext cx="592531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Peak and trough analysis is the most popular definition of a trend.</a:t>
            </a:r>
          </a:p>
        </p:txBody>
      </p:sp>
      <p:sp>
        <p:nvSpPr>
          <p:cNvPr id="10" name="Rectangle 9"/>
          <p:cNvSpPr/>
          <p:nvPr/>
        </p:nvSpPr>
        <p:spPr>
          <a:xfrm>
            <a:off x="7315199" y="1810512"/>
            <a:ext cx="40992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315199" y="1810512"/>
            <a:ext cx="40992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7726679" y="2267712"/>
            <a:ext cx="327629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5.2</a:t>
            </a:r>
          </a:p>
          <a:p>
            <a:pPr algn="l">
              <a:lnSpc>
                <a:spcPct val="120000"/>
              </a:lnSpc>
              <a:spcBef>
                <a:spcPts val="0"/>
              </a:spcBef>
              <a:spcAft>
                <a:spcPts val="1400"/>
              </a:spcAft>
            </a:pPr>
            <a:r>
              <a:rPr sz="1800" b="0" i="0">
                <a:solidFill>
                  <a:srgbClr val="1A1A1A"/>
                </a:solidFill>
                <a:latin typeface="Palatino"/>
              </a:rPr>
              <a:t>A falling bar chart labelled a downtrend unfolding, with its first peak marked H, its first trough L, and after them three lower highs marked LH and three lower lows marked LL.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315199" y="5650992"/>
            <a:ext cx="409925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5.2 - Lim, The Handbook of Technical Analysis (Wiley, 2016)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the definition runs out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4 of 13</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Scenarios 1 and 2 show higher highs and higher lows: uptrends under Dow.</a:t>
            </a:r>
          </a:p>
          <a:p>
            <a:pPr algn="l">
              <a:lnSpc>
                <a:spcPct val="105000"/>
              </a:lnSpc>
              <a:spcBef>
                <a:spcPts val="0"/>
              </a:spcBef>
              <a:spcAft>
                <a:spcPts val="1100"/>
              </a:spcAft>
            </a:pPr>
            <a:r>
              <a:rPr sz="1700" b="0" i="0">
                <a:solidFill>
                  <a:srgbClr val="1A1A1A"/>
                </a:solidFill>
                <a:latin typeface="Arial"/>
              </a:rPr>
              <a:t>Scenario 3 has no higher highs or lows. Scenario 4 has no highs or lows at all.</a:t>
            </a:r>
          </a:p>
          <a:p>
            <a:pPr algn="l">
              <a:lnSpc>
                <a:spcPct val="105000"/>
              </a:lnSpc>
              <a:spcBef>
                <a:spcPts val="0"/>
              </a:spcBef>
              <a:spcAft>
                <a:spcPts val="1100"/>
              </a:spcAft>
            </a:pPr>
            <a:r>
              <a:rPr sz="1700" b="0" i="0">
                <a:solidFill>
                  <a:srgbClr val="1A1A1A"/>
                </a:solidFill>
                <a:latin typeface="Arial"/>
              </a:rPr>
              <a:t>Under the definition neither is an uptrend. Yet in all four, price went from A to B.</a:t>
            </a:r>
          </a:p>
        </p:txBody>
      </p:sp>
      <p:sp>
        <p:nvSpPr>
          <p:cNvPr id="8" name="Rectangle 7"/>
          <p:cNvSpPr/>
          <p:nvPr/>
        </p:nvSpPr>
        <p:spPr>
          <a:xfrm>
            <a:off x="777240" y="429310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446227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All definitions impose limitations: an actual trend may go unrecognized.</a:t>
            </a:r>
          </a:p>
        </p:txBody>
      </p:sp>
      <p:sp>
        <p:nvSpPr>
          <p:cNvPr id="10" name="TextBox 9"/>
          <p:cNvSpPr txBox="1"/>
          <p:nvPr/>
        </p:nvSpPr>
        <p:spPr>
          <a:xfrm>
            <a:off x="777240" y="5189220"/>
            <a:ext cx="47548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Erratic or chaotic price action can also make peaks and troughs extremely hard to identify.</a:t>
            </a:r>
          </a:p>
        </p:txBody>
      </p:sp>
      <p:sp>
        <p:nvSpPr>
          <p:cNvPr id="11" name="Rectangle 10"/>
          <p:cNvSpPr/>
          <p:nvPr/>
        </p:nvSpPr>
        <p:spPr>
          <a:xfrm>
            <a:off x="5852159" y="1810512"/>
            <a:ext cx="55622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5852159" y="1810512"/>
            <a:ext cx="55622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263640" y="2267712"/>
            <a:ext cx="47393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5.3</a:t>
            </a:r>
          </a:p>
          <a:p>
            <a:pPr algn="l">
              <a:lnSpc>
                <a:spcPct val="120000"/>
              </a:lnSpc>
              <a:spcBef>
                <a:spcPts val="0"/>
              </a:spcBef>
              <a:spcAft>
                <a:spcPts val="1400"/>
              </a:spcAft>
            </a:pPr>
            <a:r>
              <a:rPr sz="1800" b="0" i="0">
                <a:solidFill>
                  <a:srgbClr val="1A1A1A"/>
                </a:solidFill>
                <a:latin typeface="Palatino"/>
              </a:rPr>
              <a:t>Four paths from a point A up to a point B. The first two zigzag through higher highs and higher lows and are labelled uptrend. The third has one high and one low, the fourth is a straight line, and both are labelled uptrend with a question mark.</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5852159" y="5650992"/>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5.3 - Lim, The Handbook of Technical Analysis (Wiley, 2016)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Three other ways to call a trend intact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5 of 13</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To avoid depending on how price behaves, many practitioners use other means:</a:t>
            </a:r>
          </a:p>
          <a:p>
            <a:pPr algn="l">
              <a:lnSpc>
                <a:spcPct val="105000"/>
              </a:lnSpc>
              <a:spcBef>
                <a:spcPts val="0"/>
              </a:spcBef>
              <a:spcAft>
                <a:spcPts val="1100"/>
              </a:spcAft>
            </a:pPr>
            <a:r>
              <a:rPr sz="1700" b="0" i="0">
                <a:solidFill>
                  <a:srgbClr val="1A1A1A"/>
                </a:solidFill>
                <a:latin typeface="Arial"/>
              </a:rPr>
              <a:t>Price remaining above or below an overlay indicator: a trendline, a moving average.</a:t>
            </a:r>
          </a:p>
          <a:p>
            <a:pPr algn="l">
              <a:lnSpc>
                <a:spcPct val="105000"/>
              </a:lnSpc>
              <a:spcBef>
                <a:spcPts val="0"/>
              </a:spcBef>
              <a:spcAft>
                <a:spcPts val="1100"/>
              </a:spcAft>
            </a:pPr>
            <a:r>
              <a:rPr sz="1700" b="0" i="0">
                <a:solidFill>
                  <a:srgbClr val="1A1A1A"/>
                </a:solidFill>
                <a:latin typeface="Arial"/>
              </a:rPr>
              <a:t>Price remaining above or below an arbitrarily chosen price level.</a:t>
            </a:r>
          </a:p>
          <a:p>
            <a:pPr algn="l">
              <a:lnSpc>
                <a:spcPct val="105000"/>
              </a:lnSpc>
              <a:spcBef>
                <a:spcPts val="0"/>
              </a:spcBef>
              <a:spcAft>
                <a:spcPts val="1100"/>
              </a:spcAft>
            </a:pPr>
            <a:r>
              <a:rPr sz="1700" b="0" i="0">
                <a:solidFill>
                  <a:srgbClr val="1A1A1A"/>
                </a:solidFill>
                <a:latin typeface="Arial"/>
              </a:rPr>
              <a:t>The absence of a reversal of a specified amount: Point and Figure, Renko.</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An absolute measure: the distance traversed, not the behavior of price.</a:t>
            </a:r>
          </a:p>
        </p:txBody>
      </p:sp>
      <p:sp>
        <p:nvSpPr>
          <p:cNvPr id="10" name="Rectangle 9"/>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5.4</a:t>
            </a:r>
          </a:p>
          <a:p>
            <a:pPr algn="l">
              <a:lnSpc>
                <a:spcPct val="120000"/>
              </a:lnSpc>
              <a:spcBef>
                <a:spcPts val="0"/>
              </a:spcBef>
              <a:spcAft>
                <a:spcPts val="1400"/>
              </a:spcAft>
            </a:pPr>
            <a:r>
              <a:rPr sz="1800" b="0" i="0">
                <a:solidFill>
                  <a:srgbClr val="1A1A1A"/>
                </a:solidFill>
                <a:latin typeface="Palatino"/>
              </a:rPr>
              <a:t>Three rising prices, each labelled trend still intact: one remaining above a dotted trendline, one remaining above a chosen level, and one climbing through stacked boxes with the minimum reversal amount not breached.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5.4 - Lim, The Handbook of Technical Analysis (Wiley, 2016)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What a trend is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Under Dow's peak and trough definition, an uptrend is a series of successively:</a:t>
            </a:r>
          </a:p>
        </p:txBody>
      </p:sp>
      <p:sp>
        <p:nvSpPr>
          <p:cNvPr id="9" name="TextBox 8"/>
          <p:cNvSpPr txBox="1"/>
          <p:nvPr/>
        </p:nvSpPr>
        <p:spPr>
          <a:xfrm>
            <a:off x="1051560"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Higher highs and lower lows</a:t>
            </a:r>
          </a:p>
          <a:p>
            <a:pPr algn="l">
              <a:lnSpc>
                <a:spcPct val="112000"/>
              </a:lnSpc>
              <a:spcBef>
                <a:spcPts val="0"/>
              </a:spcBef>
              <a:spcAft>
                <a:spcPts val="900"/>
              </a:spcAft>
            </a:pPr>
            <a:r>
              <a:rPr sz="1500" b="0" i="0">
                <a:solidFill>
                  <a:srgbClr val="FFFFFF"/>
                </a:solidFill>
                <a:latin typeface="Arial"/>
              </a:rPr>
              <a:t>B.  Higher highs and higher lows</a:t>
            </a:r>
          </a:p>
          <a:p>
            <a:pPr algn="l">
              <a:lnSpc>
                <a:spcPct val="112000"/>
              </a:lnSpc>
              <a:spcBef>
                <a:spcPts val="0"/>
              </a:spcBef>
              <a:spcAft>
                <a:spcPts val="900"/>
              </a:spcAft>
            </a:pPr>
            <a:r>
              <a:rPr sz="1500" b="0" i="0">
                <a:solidFill>
                  <a:srgbClr val="FFFFFF"/>
                </a:solidFill>
                <a:latin typeface="Arial"/>
              </a:rPr>
              <a:t>C.  Lower highs and lower lows</a:t>
            </a:r>
          </a:p>
          <a:p>
            <a:pPr algn="l">
              <a:lnSpc>
                <a:spcPct val="112000"/>
              </a:lnSpc>
              <a:spcBef>
                <a:spcPts val="0"/>
              </a:spcBef>
              <a:spcAft>
                <a:spcPts val="900"/>
              </a:spcAft>
            </a:pPr>
            <a:r>
              <a:rPr sz="1500" b="0" i="0">
                <a:solidFill>
                  <a:srgbClr val="FFFFFF"/>
                </a:solidFill>
                <a:latin typeface="Arial"/>
              </a:rPr>
              <a:t>D.  Higher closes only</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108458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Price rises from A to B in one straight move, with no peaks or troughs at all. Under Dow's definition this is:</a:t>
            </a:r>
          </a:p>
        </p:txBody>
      </p:sp>
      <p:sp>
        <p:nvSpPr>
          <p:cNvPr id="13" name="TextBox 12"/>
          <p:cNvSpPr txBox="1"/>
          <p:nvPr/>
        </p:nvSpPr>
        <p:spPr>
          <a:xfrm>
            <a:off x="6690207"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primary uptrend</a:t>
            </a:r>
          </a:p>
          <a:p>
            <a:pPr algn="l">
              <a:lnSpc>
                <a:spcPct val="112000"/>
              </a:lnSpc>
              <a:spcBef>
                <a:spcPts val="0"/>
              </a:spcBef>
              <a:spcAft>
                <a:spcPts val="900"/>
              </a:spcAft>
            </a:pPr>
            <a:r>
              <a:rPr sz="1500" b="0" i="0">
                <a:solidFill>
                  <a:srgbClr val="FFFFFF"/>
                </a:solidFill>
                <a:latin typeface="Arial"/>
              </a:rPr>
              <a:t>B.  A secondary reaction</a:t>
            </a:r>
          </a:p>
          <a:p>
            <a:pPr algn="l">
              <a:lnSpc>
                <a:spcPct val="112000"/>
              </a:lnSpc>
              <a:spcBef>
                <a:spcPts val="0"/>
              </a:spcBef>
              <a:spcAft>
                <a:spcPts val="900"/>
              </a:spcAft>
            </a:pPr>
            <a:r>
              <a:rPr sz="1500" b="0" i="0">
                <a:solidFill>
                  <a:srgbClr val="FFFFFF"/>
                </a:solidFill>
                <a:latin typeface="Arial"/>
              </a:rPr>
              <a:t>C.  A downtrend</a:t>
            </a:r>
          </a:p>
          <a:p>
            <a:pPr algn="l">
              <a:lnSpc>
                <a:spcPct val="112000"/>
              </a:lnSpc>
              <a:spcBef>
                <a:spcPts val="0"/>
              </a:spcBef>
              <a:spcAft>
                <a:spcPts val="900"/>
              </a:spcAft>
            </a:pPr>
            <a:r>
              <a:rPr sz="1500" b="0" i="0">
                <a:solidFill>
                  <a:srgbClr val="FFFFFF"/>
                </a:solidFill>
                <a:latin typeface="Arial"/>
              </a:rPr>
              <a:t>D.  Not classified as an uptrend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11 - 5.1 Definitions  |  Check 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What a trend is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Under Dow's peak and trough definition, an uptrend is a series of successively:</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Higher highs and higher lows</a:t>
            </a:r>
          </a:p>
          <a:p>
            <a:pPr algn="l">
              <a:lnSpc>
                <a:spcPct val="115000"/>
              </a:lnSpc>
              <a:spcBef>
                <a:spcPts val="700"/>
              </a:spcBef>
              <a:spcAft>
                <a:spcPts val="0"/>
              </a:spcAft>
            </a:pPr>
            <a:r>
              <a:rPr sz="1600" b="0" i="0">
                <a:solidFill>
                  <a:srgbClr val="1A1A1A"/>
                </a:solidFill>
                <a:latin typeface="Arial"/>
              </a:rPr>
              <a:t>An uptrend is successively higher highs, the peaks, and higher lows, the troughs.</a:t>
            </a:r>
          </a:p>
        </p:txBody>
      </p:sp>
      <p:sp>
        <p:nvSpPr>
          <p:cNvPr id="10" name="Rectangle 9"/>
          <p:cNvSpPr/>
          <p:nvPr/>
        </p:nvSpPr>
        <p:spPr>
          <a:xfrm>
            <a:off x="777240" y="308203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Price rises from A to B in one straight move, with no peaks or troughs at all. Under Dow's definition this is:</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Not classified as an uptrend</a:t>
            </a:r>
          </a:p>
          <a:p>
            <a:pPr algn="l">
              <a:lnSpc>
                <a:spcPct val="115000"/>
              </a:lnSpc>
              <a:spcBef>
                <a:spcPts val="700"/>
              </a:spcBef>
              <a:spcAft>
                <a:spcPts val="0"/>
              </a:spcAft>
            </a:pPr>
            <a:r>
              <a:rPr sz="1600" b="0" i="0">
                <a:solidFill>
                  <a:srgbClr val="1A1A1A"/>
                </a:solidFill>
                <a:latin typeface="Arial"/>
              </a:rPr>
              <a:t>With no higher highs or lows there is nothing for the definition to recognize, even though price travelled from A to B.</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Check 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Waves inside waves: cycles and degrees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6 of 13</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Any trend or consolidation can be described in wave cycles, which exist at various wave degrees.</a:t>
            </a:r>
          </a:p>
          <a:p>
            <a:pPr algn="l">
              <a:lnSpc>
                <a:spcPct val="105000"/>
              </a:lnSpc>
              <a:spcBef>
                <a:spcPts val="0"/>
              </a:spcBef>
              <a:spcAft>
                <a:spcPts val="1100"/>
              </a:spcAft>
            </a:pPr>
            <a:r>
              <a:rPr sz="2000" b="0" i="0">
                <a:solidFill>
                  <a:srgbClr val="1A1A1A"/>
                </a:solidFill>
                <a:latin typeface="Arial"/>
              </a:rPr>
              <a:t>A wave cycle is a swing of price, up and back down. A larger one carries smaller ones inside it: its subwaves.</a:t>
            </a:r>
          </a:p>
          <a:p>
            <a:pPr algn="l">
              <a:lnSpc>
                <a:spcPct val="105000"/>
              </a:lnSpc>
              <a:spcBef>
                <a:spcPts val="0"/>
              </a:spcBef>
              <a:spcAft>
                <a:spcPts val="1100"/>
              </a:spcAft>
            </a:pPr>
            <a:r>
              <a:rPr sz="2000" b="0" i="0">
                <a:solidFill>
                  <a:srgbClr val="1A1A1A"/>
                </a:solidFill>
                <a:latin typeface="Arial"/>
              </a:rPr>
              <a:t>Degree ranks them by size: the larger wave cycle is of a higher degree, its subwaves of a lower one.</a:t>
            </a:r>
          </a:p>
        </p:txBody>
      </p:sp>
      <p:sp>
        <p:nvSpPr>
          <p:cNvPr id="8" name="TextBox 7"/>
          <p:cNvSpPr txBox="1"/>
          <p:nvPr/>
        </p:nvSpPr>
        <p:spPr>
          <a:xfrm>
            <a:off x="777240" y="554126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defines neither word in a sentence. This reading is from its figures and its words larger, smaller and subwave.</a:t>
            </a:r>
          </a:p>
        </p:txBody>
      </p:sp>
      <p:sp>
        <p:nvSpPr>
          <p:cNvPr id="9" name="Rectangle 8"/>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0" name="Picture 9" descr="chart-aa.png"/>
          <p:cNvPicPr>
            <a:picLocks noChangeAspect="1"/>
          </p:cNvPicPr>
          <p:nvPr/>
        </p:nvPicPr>
        <p:blipFill>
          <a:blip r:embed="rId2"/>
          <a:stretch>
            <a:fillRect/>
          </a:stretch>
        </p:blipFill>
        <p:spPr>
          <a:xfrm>
            <a:off x="6338163" y="1929384"/>
            <a:ext cx="4956048" cy="3511296"/>
          </a:xfrm>
          <a:prstGeom prst="rect">
            <a:avLst/>
          </a:prstGeom>
        </p:spPr>
      </p:pic>
      <p:sp>
        <p:nvSpPr>
          <p:cNvPr id="11" name="TextBox 10"/>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AA - FIN1209 teaching chart, drawn for this course. Illustrative data, not a real instrument.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Wave cycles: HWC, MWC and LWC</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7 of 13</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21208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Three wave degrees on one chart, named by size against each other.</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21208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In the figure: HWC thick, MWC dotted, LWC thin. Three degrees here; the minimum in any trend is two.</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21208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HWC, the higher wave cycle: the highest wave degree. MWC, the medium wave cycle: a subwave of the HWC, of a lower degree. LWC, the lower wave cycle: a subwave of both, at the lowest degree.</a:t>
            </a:r>
          </a:p>
        </p:txBody>
      </p:sp>
      <p:sp>
        <p:nvSpPr>
          <p:cNvPr id="14" name="Rectangle 13"/>
          <p:cNvSpPr/>
          <p:nvPr/>
        </p:nvSpPr>
        <p:spPr>
          <a:xfrm>
            <a:off x="6583679" y="2157984"/>
            <a:ext cx="483077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583679" y="2157984"/>
            <a:ext cx="483077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6995159" y="2615184"/>
            <a:ext cx="400781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5.5</a:t>
            </a:r>
          </a:p>
          <a:p>
            <a:pPr algn="l">
              <a:lnSpc>
                <a:spcPct val="120000"/>
              </a:lnSpc>
              <a:spcBef>
                <a:spcPts val="0"/>
              </a:spcBef>
              <a:spcAft>
                <a:spcPts val="1400"/>
              </a:spcAft>
            </a:pPr>
            <a:r>
              <a:rPr sz="1800" b="0" i="0">
                <a:solidFill>
                  <a:srgbClr val="1A1A1A"/>
                </a:solidFill>
                <a:latin typeface="Palatino"/>
              </a:rPr>
              <a:t>A wave of three degrees: one thick line rising and falling, the higher wave cycle; a dotted line weaving around it, the medium wave cycle; and a thin jagged line weaving around that, the lower wave cycle.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5.5 - Lim, The Handbook of Technical Analysis (Wiley, 2016)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Know which wave cycle you are trading</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8 of 13</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Without knowing which one is traded, a trader may be unable to:</a:t>
            </a:r>
          </a:p>
          <a:p>
            <a:pPr algn="l">
              <a:lnSpc>
                <a:spcPct val="105000"/>
              </a:lnSpc>
              <a:spcBef>
                <a:spcPts val="0"/>
              </a:spcBef>
              <a:spcAft>
                <a:spcPts val="1100"/>
              </a:spcAft>
            </a:pPr>
            <a:r>
              <a:rPr sz="1700" b="0" i="0">
                <a:solidFill>
                  <a:srgbClr val="1A1A1A"/>
                </a:solidFill>
                <a:latin typeface="Arial"/>
              </a:rPr>
              <a:t>Select consistent breakout levels, or effective stoploss levels.</a:t>
            </a:r>
          </a:p>
          <a:p>
            <a:pPr algn="l">
              <a:lnSpc>
                <a:spcPct val="105000"/>
              </a:lnSpc>
              <a:spcBef>
                <a:spcPts val="0"/>
              </a:spcBef>
              <a:spcAft>
                <a:spcPts val="1100"/>
              </a:spcAft>
            </a:pPr>
            <a:r>
              <a:rPr sz="1700" b="0" i="0">
                <a:solidFill>
                  <a:srgbClr val="1A1A1A"/>
                </a:solidFill>
                <a:latin typeface="Arial"/>
              </a:rPr>
              <a:t>Apply effective stopsizing.</a:t>
            </a:r>
          </a:p>
          <a:p>
            <a:pPr algn="l">
              <a:lnSpc>
                <a:spcPct val="105000"/>
              </a:lnSpc>
              <a:spcBef>
                <a:spcPts val="0"/>
              </a:spcBef>
              <a:spcAft>
                <a:spcPts val="1100"/>
              </a:spcAft>
            </a:pPr>
            <a:r>
              <a:rPr sz="1700" b="0" i="0">
                <a:solidFill>
                  <a:srgbClr val="1A1A1A"/>
                </a:solidFill>
                <a:latin typeface="Arial"/>
              </a:rPr>
              <a:t>Distinguish between trend and consolidation mode.</a:t>
            </a:r>
          </a:p>
          <a:p>
            <a:pPr algn="l">
              <a:lnSpc>
                <a:spcPct val="105000"/>
              </a:lnSpc>
              <a:spcBef>
                <a:spcPts val="0"/>
              </a:spcBef>
              <a:spcAft>
                <a:spcPts val="1100"/>
              </a:spcAft>
            </a:pPr>
            <a:r>
              <a:rPr sz="1700" b="0" i="0">
                <a:solidFill>
                  <a:srgbClr val="1A1A1A"/>
                </a:solidFill>
                <a:latin typeface="Arial"/>
              </a:rPr>
              <a:t>Determine the direction of the predominant trend.</a:t>
            </a:r>
          </a:p>
        </p:txBody>
      </p:sp>
      <p:sp>
        <p:nvSpPr>
          <p:cNvPr id="8" name="TextBox 7"/>
          <p:cNvSpPr txBox="1"/>
          <p:nvPr/>
        </p:nvSpPr>
        <p:spPr>
          <a:xfrm>
            <a:off x="777240" y="5438394"/>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Stoploss: section 5.4. Stopsizing: section 5.5. The Elliott count in Figure 5.6 is Chapter 18.</a:t>
            </a:r>
          </a:p>
        </p:txBody>
      </p:sp>
      <p:sp>
        <p:nvSpPr>
          <p:cNvPr id="9" name="Rectangle 8"/>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5.6</a:t>
            </a:r>
          </a:p>
          <a:p>
            <a:pPr algn="l">
              <a:lnSpc>
                <a:spcPct val="120000"/>
              </a:lnSpc>
              <a:spcBef>
                <a:spcPts val="0"/>
              </a:spcBef>
              <a:spcAft>
                <a:spcPts val="1400"/>
              </a:spcAft>
            </a:pPr>
            <a:r>
              <a:rPr sz="1800" b="0" i="0">
                <a:solidFill>
                  <a:srgbClr val="1A1A1A"/>
                </a:solidFill>
                <a:latin typeface="Palatino"/>
              </a:rPr>
              <a:t>One rise labelled at three wave degrees: i to v and a to c at the lowest degree, 1 to 3 at the medium degree, and [1] at the highest, under the heading Elliott wave in terms of wave degrees.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2" name="TextBox 11"/>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5.6 - Lim, The Handbook of Technical Analysis (Wiley, 2016)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Trending and consolidating at once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9 of 13</a:t>
            </a:r>
          </a:p>
        </p:txBody>
      </p:sp>
      <p:sp>
        <p:nvSpPr>
          <p:cNvPr id="7" name="TextBox 6"/>
          <p:cNvSpPr txBox="1"/>
          <p:nvPr/>
        </p:nvSpPr>
        <p:spPr>
          <a:xfrm>
            <a:off x="777240" y="1965960"/>
            <a:ext cx="45720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A market may be in trend mode and in consolidation mode at the same time.</a:t>
            </a:r>
          </a:p>
          <a:p>
            <a:pPr algn="l">
              <a:lnSpc>
                <a:spcPct val="105000"/>
              </a:lnSpc>
              <a:spcBef>
                <a:spcPts val="0"/>
              </a:spcBef>
              <a:spcAft>
                <a:spcPts val="1100"/>
              </a:spcAft>
            </a:pPr>
            <a:r>
              <a:rPr sz="1800" b="0" i="0">
                <a:solidFill>
                  <a:srgbClr val="1A1A1A"/>
                </a:solidFill>
                <a:latin typeface="Arial"/>
              </a:rPr>
              <a:t>It depends on the wave cycle being observed.</a:t>
            </a:r>
          </a:p>
          <a:p>
            <a:pPr algn="l">
              <a:lnSpc>
                <a:spcPct val="105000"/>
              </a:lnSpc>
              <a:spcBef>
                <a:spcPts val="0"/>
              </a:spcBef>
              <a:spcAft>
                <a:spcPts val="1100"/>
              </a:spcAft>
            </a:pPr>
            <a:r>
              <a:rPr sz="1800" b="0" i="0">
                <a:solidFill>
                  <a:srgbClr val="1A1A1A"/>
                </a:solidFill>
                <a:latin typeface="Arial"/>
              </a:rPr>
              <a:t>In the figure the small LWC climbs each swing: trend mode. The MWC swings across one level: ranging mode. The large HWC is flat: flatline mode.</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27939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Ask at which wave degree before asking whether it is trending.</a:t>
            </a:r>
          </a:p>
        </p:txBody>
      </p:sp>
      <p:sp>
        <p:nvSpPr>
          <p:cNvPr id="10" name="Rectangle 9"/>
          <p:cNvSpPr/>
          <p:nvPr/>
        </p:nvSpPr>
        <p:spPr>
          <a:xfrm>
            <a:off x="5669279" y="1810512"/>
            <a:ext cx="57451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5669279" y="1810512"/>
            <a:ext cx="57451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080759" y="2267712"/>
            <a:ext cx="49222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5.7</a:t>
            </a:r>
          </a:p>
          <a:p>
            <a:pPr algn="l">
              <a:lnSpc>
                <a:spcPct val="120000"/>
              </a:lnSpc>
              <a:spcBef>
                <a:spcPts val="0"/>
              </a:spcBef>
              <a:spcAft>
                <a:spcPts val="1400"/>
              </a:spcAft>
            </a:pPr>
            <a:r>
              <a:rPr sz="1800" b="0" i="0">
                <a:solidFill>
                  <a:srgbClr val="1A1A1A"/>
                </a:solidFill>
                <a:latin typeface="Palatino"/>
              </a:rPr>
              <a:t>A flat thick arrow, the higher wave cycle in flatline mode; a dashed wave swinging above and below it, the medium wave cycle in ranging mode; and a thin jagged line climbing each swing, the lower wave cycle in trend mode.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5669279" y="5650992"/>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5.7 - Lim, The Handbook of Technical Analysis (Wiley, 2016)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Wave cycles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Of the three wave cycles, the one that is a subwave of both of the others is the:</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Higher wave cycle, HWC</a:t>
            </a:r>
          </a:p>
          <a:p>
            <a:pPr algn="l">
              <a:lnSpc>
                <a:spcPct val="112000"/>
              </a:lnSpc>
              <a:spcBef>
                <a:spcPts val="0"/>
              </a:spcBef>
              <a:spcAft>
                <a:spcPts val="900"/>
              </a:spcAft>
            </a:pPr>
            <a:r>
              <a:rPr sz="1500" b="0" i="0">
                <a:solidFill>
                  <a:srgbClr val="FFFFFF"/>
                </a:solidFill>
                <a:latin typeface="Arial"/>
              </a:rPr>
              <a:t>B.  Lower wave cycle, LWC</a:t>
            </a:r>
          </a:p>
          <a:p>
            <a:pPr algn="l">
              <a:lnSpc>
                <a:spcPct val="112000"/>
              </a:lnSpc>
              <a:spcBef>
                <a:spcPts val="0"/>
              </a:spcBef>
              <a:spcAft>
                <a:spcPts val="900"/>
              </a:spcAft>
            </a:pPr>
            <a:r>
              <a:rPr sz="1500" b="0" i="0">
                <a:solidFill>
                  <a:srgbClr val="FFFFFF"/>
                </a:solidFill>
                <a:latin typeface="Arial"/>
              </a:rPr>
              <a:t>C.  Medium wave cycle, MWC</a:t>
            </a:r>
          </a:p>
          <a:p>
            <a:pPr algn="l">
              <a:lnSpc>
                <a:spcPct val="112000"/>
              </a:lnSpc>
              <a:spcBef>
                <a:spcPts val="0"/>
              </a:spcBef>
              <a:spcAft>
                <a:spcPts val="900"/>
              </a:spcAft>
            </a:pPr>
            <a:r>
              <a:rPr sz="1500" b="0" i="0">
                <a:solidFill>
                  <a:srgbClr val="FFFFFF"/>
                </a:solidFill>
                <a:latin typeface="Arial"/>
              </a:rPr>
              <a:t>D.  None: each is a subwave of only one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market's lower wave cycle is rising while its medium wave cycle moves sideways. The market is in:</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Trend mode only</a:t>
            </a:r>
          </a:p>
          <a:p>
            <a:pPr algn="l">
              <a:lnSpc>
                <a:spcPct val="112000"/>
              </a:lnSpc>
              <a:spcBef>
                <a:spcPts val="0"/>
              </a:spcBef>
              <a:spcAft>
                <a:spcPts val="900"/>
              </a:spcAft>
            </a:pPr>
            <a:r>
              <a:rPr sz="1500" b="0" i="0">
                <a:solidFill>
                  <a:srgbClr val="FFFFFF"/>
                </a:solidFill>
                <a:latin typeface="Arial"/>
              </a:rPr>
              <a:t>B.  Consolidation mode only</a:t>
            </a:r>
          </a:p>
          <a:p>
            <a:pPr algn="l">
              <a:lnSpc>
                <a:spcPct val="112000"/>
              </a:lnSpc>
              <a:spcBef>
                <a:spcPts val="0"/>
              </a:spcBef>
              <a:spcAft>
                <a:spcPts val="900"/>
              </a:spcAft>
            </a:pPr>
            <a:r>
              <a:rPr sz="1500" b="0" i="0">
                <a:solidFill>
                  <a:srgbClr val="FFFFFF"/>
                </a:solidFill>
                <a:latin typeface="Arial"/>
              </a:rPr>
              <a:t>C.  Both, depending on the wave cycle observed</a:t>
            </a:r>
          </a:p>
          <a:p>
            <a:pPr algn="l">
              <a:lnSpc>
                <a:spcPct val="112000"/>
              </a:lnSpc>
              <a:spcBef>
                <a:spcPts val="0"/>
              </a:spcBef>
              <a:spcAft>
                <a:spcPts val="900"/>
              </a:spcAft>
            </a:pPr>
            <a:r>
              <a:rPr sz="1500" b="0" i="0">
                <a:solidFill>
                  <a:srgbClr val="FFFFFF"/>
                </a:solidFill>
                <a:latin typeface="Arial"/>
              </a:rPr>
              <a:t>D.  Neither, until a breakout occurs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11 - 5.1 Definitions  |  Check 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Wave cycles</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Of the three wave cycles, the one that is a subwave of both of the others is the:</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Lower wave cycle, LWC</a:t>
            </a:r>
          </a:p>
          <a:p>
            <a:pPr algn="l">
              <a:lnSpc>
                <a:spcPct val="115000"/>
              </a:lnSpc>
              <a:spcBef>
                <a:spcPts val="700"/>
              </a:spcBef>
              <a:spcAft>
                <a:spcPts val="0"/>
              </a:spcAft>
            </a:pPr>
            <a:r>
              <a:rPr sz="1600" b="0" i="0">
                <a:solidFill>
                  <a:srgbClr val="1A1A1A"/>
                </a:solidFill>
                <a:latin typeface="Arial"/>
              </a:rPr>
              <a:t>The LWC is a subwave of both the HWC and the MWC, at the lowest wave degree. The MWC is a subwave of the HWC only.</a:t>
            </a:r>
          </a:p>
        </p:txBody>
      </p:sp>
      <p:sp>
        <p:nvSpPr>
          <p:cNvPr id="10" name="Rectangle 9"/>
          <p:cNvSpPr/>
          <p:nvPr/>
        </p:nvSpPr>
        <p:spPr>
          <a:xfrm>
            <a:off x="777240" y="331571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market's lower wave cycle is rising while its medium wave cycle moves sideways. The market is in:</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Both, depending on the wave cycle observed</a:t>
            </a:r>
          </a:p>
          <a:p>
            <a:pPr algn="l">
              <a:lnSpc>
                <a:spcPct val="115000"/>
              </a:lnSpc>
              <a:spcBef>
                <a:spcPts val="700"/>
              </a:spcBef>
              <a:spcAft>
                <a:spcPts val="0"/>
              </a:spcAft>
            </a:pPr>
            <a:r>
              <a:rPr sz="1600" b="0" i="0">
                <a:solidFill>
                  <a:srgbClr val="1A1A1A"/>
                </a:solidFill>
                <a:latin typeface="Arial"/>
              </a:rPr>
              <a:t>A market may be in trend and consolidation modes at the same time, depending on the wave cycle being observed.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Check 2</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breakout for every wave degree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10 of 13</a:t>
            </a:r>
          </a:p>
        </p:txBody>
      </p:sp>
      <p:sp>
        <p:nvSpPr>
          <p:cNvPr id="7" name="TextBox 6"/>
          <p:cNvSpPr txBox="1"/>
          <p:nvPr/>
        </p:nvSpPr>
        <p:spPr>
          <a:xfrm>
            <a:off x="777240" y="1965960"/>
            <a:ext cx="45720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Breakouts can be defined by the degree of the wave cycle: lower, medium or higher.</a:t>
            </a:r>
          </a:p>
          <a:p>
            <a:pPr algn="l">
              <a:lnSpc>
                <a:spcPct val="105000"/>
              </a:lnSpc>
              <a:spcBef>
                <a:spcPts val="0"/>
              </a:spcBef>
              <a:spcAft>
                <a:spcPts val="1100"/>
              </a:spcAft>
            </a:pPr>
            <a:r>
              <a:rPr sz="1700" b="0" i="0">
                <a:solidFill>
                  <a:srgbClr val="1A1A1A"/>
                </a:solidFill>
                <a:latin typeface="Arial"/>
              </a:rPr>
              <a:t>The breakout level depends on the wave degree being traded.</a:t>
            </a:r>
          </a:p>
          <a:p>
            <a:pPr algn="l">
              <a:lnSpc>
                <a:spcPct val="105000"/>
              </a:lnSpc>
              <a:spcBef>
                <a:spcPts val="0"/>
              </a:spcBef>
              <a:spcAft>
                <a:spcPts val="1100"/>
              </a:spcAft>
            </a:pPr>
            <a:r>
              <a:rPr sz="1700" b="0" i="0">
                <a:solidFill>
                  <a:srgbClr val="1A1A1A"/>
                </a:solidFill>
                <a:latin typeface="Arial"/>
              </a:rPr>
              <a:t>Knowing the degree lets the trader size the stoploss to that degree's average wave amplitude and volatility.</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27939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Volatility at one wave degree may not manifest at a higher or lower degree.</a:t>
            </a:r>
          </a:p>
        </p:txBody>
      </p:sp>
      <p:sp>
        <p:nvSpPr>
          <p:cNvPr id="10" name="TextBox 9"/>
          <p:cNvSpPr txBox="1"/>
          <p:nvPr/>
        </p:nvSpPr>
        <p:spPr>
          <a:xfrm>
            <a:off x="777240" y="5735574"/>
            <a:ext cx="45720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Amplitude: section 5.2. Stoploss: section 5.4.</a:t>
            </a:r>
          </a:p>
        </p:txBody>
      </p:sp>
      <p:sp>
        <p:nvSpPr>
          <p:cNvPr id="11" name="Rectangle 10"/>
          <p:cNvSpPr/>
          <p:nvPr/>
        </p:nvSpPr>
        <p:spPr>
          <a:xfrm>
            <a:off x="5669279" y="1810512"/>
            <a:ext cx="574517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5669279" y="1810512"/>
            <a:ext cx="574517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080759" y="2267712"/>
            <a:ext cx="49222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5.8</a:t>
            </a:r>
          </a:p>
          <a:p>
            <a:pPr algn="l">
              <a:lnSpc>
                <a:spcPct val="120000"/>
              </a:lnSpc>
              <a:spcBef>
                <a:spcPts val="0"/>
              </a:spcBef>
              <a:spcAft>
                <a:spcPts val="1400"/>
              </a:spcAft>
            </a:pPr>
            <a:r>
              <a:rPr sz="1800" b="0" i="0">
                <a:solidFill>
                  <a:srgbClr val="1A1A1A"/>
                </a:solidFill>
                <a:latin typeface="Palatino"/>
              </a:rPr>
              <a:t>One price path with breakout levels drawn at three sizes: short LWC breakout levels on the small swings, two MWC breakout levels on the medium swings, and one HWC breakout level across the top of the whole move.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5669279" y="5650992"/>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5.8 - Lim, The Handbook of Technical Analysis (Wiley, 2016)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Wave-degree convergence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11 of 13</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48463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When the biggest wave turns, every smaller wave turns with it. That is why bigger turning points matter more.</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48463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At a major top the HWC, the MWC and the LWC all turn down together.</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48463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When a large wave cycle reverses, all the wave cycles of lower degrees reverse in sync with it. Waves of higher degrees need not reverse when waves of lower degrees reverse.</a:t>
            </a:r>
          </a:p>
        </p:txBody>
      </p:sp>
      <p:sp>
        <p:nvSpPr>
          <p:cNvPr id="14" name="Rectangle 13"/>
          <p:cNvSpPr/>
          <p:nvPr/>
        </p:nvSpPr>
        <p:spPr>
          <a:xfrm>
            <a:off x="6217919" y="2157984"/>
            <a:ext cx="519653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17919" y="2157984"/>
            <a:ext cx="519653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6629399" y="2615184"/>
            <a:ext cx="437357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5.9</a:t>
            </a:r>
          </a:p>
          <a:p>
            <a:pPr algn="l">
              <a:lnSpc>
                <a:spcPct val="120000"/>
              </a:lnSpc>
              <a:spcBef>
                <a:spcPts val="0"/>
              </a:spcBef>
              <a:spcAft>
                <a:spcPts val="1400"/>
              </a:spcAft>
            </a:pPr>
            <a:r>
              <a:rPr sz="1800" b="0" i="0">
                <a:solidFill>
                  <a:srgbClr val="1A1A1A"/>
                </a:solidFill>
                <a:latin typeface="Palatino"/>
              </a:rPr>
              <a:t>The three wave cycles rising to one peak and turning down together, with the peak labelled all subwaves reversing in sync with the highest wave degree.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5.9 - Lim, The Handbook of Technical Analysis (Wiley, 2016)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Correction and pullback</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12 of 13</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small move against the trend: shallow, usually no more than a few percent.</a:t>
            </a:r>
          </a:p>
        </p:txBody>
      </p:sp>
      <p:sp>
        <p:nvSpPr>
          <p:cNvPr id="10" name="Rectangle 9"/>
          <p:cNvSpPr/>
          <p:nvPr/>
        </p:nvSpPr>
        <p:spPr>
          <a:xfrm>
            <a:off x="777240" y="323392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39496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share climbs from PHP 40 to PHP 50, then dips to PHP 49: a correction, or pullback.</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39496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Reversals and retracements imply a turnaround in prices, and may be of any amount or degree. Corrections and pullbacks tend to imply a more shallow reversal or retracement, usually no more than a few percent.</a:t>
            </a:r>
          </a:p>
        </p:txBody>
      </p:sp>
      <p:sp>
        <p:nvSpPr>
          <p:cNvPr id="14" name="Rectangle 13"/>
          <p:cNvSpPr/>
          <p:nvPr/>
        </p:nvSpPr>
        <p:spPr>
          <a:xfrm>
            <a:off x="6767931" y="2157984"/>
            <a:ext cx="464515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b.png"/>
          <p:cNvPicPr>
            <a:picLocks noChangeAspect="1"/>
          </p:cNvPicPr>
          <p:nvPr/>
        </p:nvPicPr>
        <p:blipFill>
          <a:blip r:embed="rId2"/>
          <a:stretch>
            <a:fillRect/>
          </a:stretch>
        </p:blipFill>
        <p:spPr>
          <a:xfrm>
            <a:off x="6886803" y="2276856"/>
            <a:ext cx="4407408" cy="3163824"/>
          </a:xfrm>
          <a:prstGeom prst="rect">
            <a:avLst/>
          </a:prstGeom>
        </p:spPr>
      </p:pic>
      <p:sp>
        <p:nvSpPr>
          <p:cNvPr id="16" name="TextBox 15"/>
          <p:cNvSpPr txBox="1"/>
          <p:nvPr/>
        </p:nvSpPr>
        <p:spPr>
          <a:xfrm>
            <a:off x="6766559" y="5650991"/>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B - FIN1209 teaching chart, drawn for this course. Illustrative data, not a real instrument.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trend in the highs, the lows or the closes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13 of 13</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Trend may also be defined on individual open, high, low and close data.</a:t>
            </a:r>
          </a:p>
          <a:p>
            <a:pPr algn="l">
              <a:lnSpc>
                <a:spcPct val="105000"/>
              </a:lnSpc>
              <a:spcBef>
                <a:spcPts val="0"/>
              </a:spcBef>
              <a:spcAft>
                <a:spcPts val="1100"/>
              </a:spcAft>
            </a:pPr>
            <a:r>
              <a:rPr sz="1800" b="0" i="0">
                <a:solidFill>
                  <a:srgbClr val="1A1A1A"/>
                </a:solidFill>
                <a:latin typeface="Arial"/>
              </a:rPr>
              <a:t>Peak and trough analysis can show a flat market while the closes rise bar after bar.</a:t>
            </a:r>
          </a:p>
          <a:p>
            <a:pPr algn="l">
              <a:lnSpc>
                <a:spcPct val="105000"/>
              </a:lnSpc>
              <a:spcBef>
                <a:spcPts val="0"/>
              </a:spcBef>
              <a:spcAft>
                <a:spcPts val="1100"/>
              </a:spcAft>
            </a:pPr>
            <a:r>
              <a:rPr sz="1800" b="0" i="0">
                <a:solidFill>
                  <a:srgbClr val="1A1A1A"/>
                </a:solidFill>
                <a:latin typeface="Arial"/>
              </a:rPr>
              <a:t>Rising closes are an uptrend as far as close prices are concerned: a line chart in action.</a:t>
            </a:r>
          </a:p>
          <a:p>
            <a:pPr algn="l">
              <a:lnSpc>
                <a:spcPct val="105000"/>
              </a:lnSpc>
              <a:spcBef>
                <a:spcPts val="0"/>
              </a:spcBef>
              <a:spcAft>
                <a:spcPts val="1100"/>
              </a:spcAft>
            </a:pPr>
            <a:r>
              <a:rPr sz="1800" b="0" i="0">
                <a:solidFill>
                  <a:srgbClr val="1A1A1A"/>
                </a:solidFill>
                <a:latin typeface="Arial"/>
              </a:rPr>
              <a:t>The same holds for the highs, the lows, and the mid or typical prices.</a:t>
            </a:r>
          </a:p>
        </p:txBody>
      </p:sp>
      <p:sp>
        <p:nvSpPr>
          <p:cNvPr id="8" name="TextBox 7"/>
          <p:cNvSpPr txBox="1"/>
          <p:nvPr/>
        </p:nvSpPr>
        <p:spPr>
          <a:xfrm>
            <a:off x="777240" y="5129784"/>
            <a:ext cx="530352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names typical price, and the CCI oscillator and Floor Trader's Pivot Points that are based on it, and defines none of them here.</a:t>
            </a:r>
          </a:p>
        </p:txBody>
      </p:sp>
      <p:sp>
        <p:nvSpPr>
          <p:cNvPr id="9" name="Rectangle 8"/>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5.10</a:t>
            </a:r>
          </a:p>
          <a:p>
            <a:pPr algn="l">
              <a:lnSpc>
                <a:spcPct val="120000"/>
              </a:lnSpc>
              <a:spcBef>
                <a:spcPts val="0"/>
              </a:spcBef>
              <a:spcAft>
                <a:spcPts val="1400"/>
              </a:spcAft>
            </a:pPr>
            <a:r>
              <a:rPr sz="1800" b="0" i="0">
                <a:solidFill>
                  <a:srgbClr val="1A1A1A"/>
                </a:solidFill>
                <a:latin typeface="Palatino"/>
              </a:rPr>
              <a:t>Three rows of bars under the heading OHLC-based trend: bar highs rising while bar lows fall, bar closes rising steadily and labelled equivalent to a line chart, and flatline action based on typical and midprices.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2" name="TextBox 11"/>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5.10 - Lim, The Handbook of Technical Analysis (Wiley, 2016)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3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Degrees, reversals and OHLC trends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Turning points of larger wave cycles are more significant than those of smaller ones because:</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Larger cycles always carry more volume</a:t>
            </a:r>
          </a:p>
          <a:p>
            <a:pPr algn="l">
              <a:lnSpc>
                <a:spcPct val="112000"/>
              </a:lnSpc>
              <a:spcBef>
                <a:spcPts val="0"/>
              </a:spcBef>
              <a:spcAft>
                <a:spcPts val="900"/>
              </a:spcAft>
            </a:pPr>
            <a:r>
              <a:rPr sz="1500" b="0" i="0">
                <a:solidFill>
                  <a:srgbClr val="FFFFFF"/>
                </a:solidFill>
                <a:latin typeface="Arial"/>
              </a:rPr>
              <a:t>B.  Smaller cycles never reverse</a:t>
            </a:r>
          </a:p>
          <a:p>
            <a:pPr algn="l">
              <a:lnSpc>
                <a:spcPct val="112000"/>
              </a:lnSpc>
              <a:spcBef>
                <a:spcPts val="0"/>
              </a:spcBef>
              <a:spcAft>
                <a:spcPts val="900"/>
              </a:spcAft>
            </a:pPr>
            <a:r>
              <a:rPr sz="1500" b="0" i="0">
                <a:solidFill>
                  <a:srgbClr val="FFFFFF"/>
                </a:solidFill>
                <a:latin typeface="Arial"/>
              </a:rPr>
              <a:t>C.  Larger cycles are easier to see</a:t>
            </a:r>
          </a:p>
          <a:p>
            <a:pPr algn="l">
              <a:lnSpc>
                <a:spcPct val="112000"/>
              </a:lnSpc>
              <a:spcBef>
                <a:spcPts val="0"/>
              </a:spcBef>
              <a:spcAft>
                <a:spcPts val="900"/>
              </a:spcAft>
            </a:pPr>
            <a:r>
              <a:rPr sz="1500" b="0" i="0">
                <a:solidFill>
                  <a:srgbClr val="FFFFFF"/>
                </a:solidFill>
                <a:latin typeface="Arial"/>
              </a:rPr>
              <a:t>D.  All the lower degree cycles reverse in sync with it</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correction or pullback, as opposed to a reversal or retracement, tends to imply a move that is: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Shallow, usually no more than a few percent</a:t>
            </a:r>
          </a:p>
          <a:p>
            <a:pPr algn="l">
              <a:lnSpc>
                <a:spcPct val="112000"/>
              </a:lnSpc>
              <a:spcBef>
                <a:spcPts val="0"/>
              </a:spcBef>
              <a:spcAft>
                <a:spcPts val="900"/>
              </a:spcAft>
            </a:pPr>
            <a:r>
              <a:rPr sz="1500" b="0" i="0">
                <a:solidFill>
                  <a:srgbClr val="FFFFFF"/>
                </a:solidFill>
                <a:latin typeface="Arial"/>
              </a:rPr>
              <a:t>B.  Of any amount or degree</a:t>
            </a:r>
          </a:p>
          <a:p>
            <a:pPr algn="l">
              <a:lnSpc>
                <a:spcPct val="112000"/>
              </a:lnSpc>
              <a:spcBef>
                <a:spcPts val="0"/>
              </a:spcBef>
              <a:spcAft>
                <a:spcPts val="900"/>
              </a:spcAft>
            </a:pPr>
            <a:r>
              <a:rPr sz="1500" b="0" i="0">
                <a:solidFill>
                  <a:srgbClr val="FFFFFF"/>
                </a:solidFill>
                <a:latin typeface="Arial"/>
              </a:rPr>
              <a:t>C.  At least half of the prior trend</a:t>
            </a:r>
          </a:p>
          <a:p>
            <a:pPr algn="l">
              <a:lnSpc>
                <a:spcPct val="112000"/>
              </a:lnSpc>
              <a:spcBef>
                <a:spcPts val="0"/>
              </a:spcBef>
              <a:spcAft>
                <a:spcPts val="900"/>
              </a:spcAft>
            </a:pPr>
            <a:r>
              <a:rPr sz="1500" b="0" i="0">
                <a:solidFill>
                  <a:srgbClr val="FFFFFF"/>
                </a:solidFill>
                <a:latin typeface="Arial"/>
              </a:rPr>
              <a:t>D.  Always followed by a new trend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11 - 5.1 Definitions  |  Check 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Degrees, reversals and OHLC trends</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Turning points of larger wave cycles are more significant than those of smaller ones because:</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All the lower degree cycles reverse in sync with it</a:t>
            </a:r>
          </a:p>
          <a:p>
            <a:pPr algn="l">
              <a:lnSpc>
                <a:spcPct val="115000"/>
              </a:lnSpc>
              <a:spcBef>
                <a:spcPts val="700"/>
              </a:spcBef>
              <a:spcAft>
                <a:spcPts val="0"/>
              </a:spcAft>
            </a:pPr>
            <a:r>
              <a:rPr sz="1600" b="0" i="0">
                <a:solidFill>
                  <a:srgbClr val="1A1A1A"/>
                </a:solidFill>
                <a:latin typeface="Arial"/>
              </a:rPr>
              <a:t>Wave-degree convergence: when a large wave cycle reverses, all the wave cycles of lower degrees reverse with it.</a:t>
            </a:r>
          </a:p>
        </p:txBody>
      </p:sp>
      <p:sp>
        <p:nvSpPr>
          <p:cNvPr id="10" name="Rectangle 9"/>
          <p:cNvSpPr/>
          <p:nvPr/>
        </p:nvSpPr>
        <p:spPr>
          <a:xfrm>
            <a:off x="777240" y="331571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correction or pullback, as opposed to a reversal or retracement, tends to imply a move that is:</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Shallow, usually no more than a few percent</a:t>
            </a:r>
          </a:p>
          <a:p>
            <a:pPr algn="l">
              <a:lnSpc>
                <a:spcPct val="115000"/>
              </a:lnSpc>
              <a:spcBef>
                <a:spcPts val="700"/>
              </a:spcBef>
              <a:spcAft>
                <a:spcPts val="0"/>
              </a:spcAft>
            </a:pPr>
            <a:r>
              <a:rPr sz="1600" b="0" i="0">
                <a:solidFill>
                  <a:srgbClr val="1A1A1A"/>
                </a:solidFill>
                <a:latin typeface="Arial"/>
              </a:rPr>
              <a:t>Reversals and retracements may be of any amount. Corrections and pullbacks tend to be shallow, usually no more than a few percent.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Check 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5.2  Sixteen price characteristics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1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Cycle amplitude.  2 Cycle period.  3 Bar retracement symmetry.</a:t>
            </a:r>
          </a:p>
          <a:p>
            <a:pPr algn="l">
              <a:lnSpc>
                <a:spcPct val="118000"/>
              </a:lnSpc>
              <a:spcBef>
                <a:spcPts val="0"/>
              </a:spcBef>
              <a:spcAft>
                <a:spcPts val="1300"/>
              </a:spcAft>
            </a:pPr>
            <a:r>
              <a:rPr sz="2100" b="0" i="0">
                <a:solidFill>
                  <a:srgbClr val="1A1A1A"/>
                </a:solidFill>
                <a:latin typeface="Arial"/>
              </a:rPr>
              <a:t>4 Average bar range.  5 Price persistence.  6 Bar stochastic ratio.</a:t>
            </a:r>
          </a:p>
          <a:p>
            <a:pPr algn="l">
              <a:lnSpc>
                <a:spcPct val="118000"/>
              </a:lnSpc>
              <a:spcBef>
                <a:spcPts val="0"/>
              </a:spcBef>
              <a:spcAft>
                <a:spcPts val="1300"/>
              </a:spcAft>
            </a:pPr>
            <a:r>
              <a:rPr sz="2100" b="0" i="0">
                <a:solidFill>
                  <a:srgbClr val="1A1A1A"/>
                </a:solidFill>
                <a:latin typeface="Arial"/>
              </a:rPr>
              <a:t>7 Real body to range ratio.  8 Angular symmetry and momentum.</a:t>
            </a:r>
          </a:p>
          <a:p>
            <a:pPr algn="l">
              <a:lnSpc>
                <a:spcPct val="118000"/>
              </a:lnSpc>
              <a:spcBef>
                <a:spcPts val="0"/>
              </a:spcBef>
              <a:spcAft>
                <a:spcPts val="1300"/>
              </a:spcAft>
            </a:pPr>
            <a:r>
              <a:rPr sz="2100" b="0" i="0">
                <a:solidFill>
                  <a:srgbClr val="1A1A1A"/>
                </a:solidFill>
                <a:latin typeface="Arial"/>
              </a:rPr>
              <a:t>9 Barrier proximity.  10 Oscillation frequency and depth.</a:t>
            </a:r>
          </a:p>
          <a:p>
            <a:pPr algn="l">
              <a:lnSpc>
                <a:spcPct val="118000"/>
              </a:lnSpc>
              <a:spcBef>
                <a:spcPts val="0"/>
              </a:spcBef>
              <a:spcAft>
                <a:spcPts val="1300"/>
              </a:spcAft>
            </a:pPr>
            <a:r>
              <a:rPr sz="2100" b="0" i="0">
                <a:solidFill>
                  <a:srgbClr val="1A1A1A"/>
                </a:solidFill>
                <a:latin typeface="Arial"/>
              </a:rPr>
              <a:t>11 Consolidation size and duration.  12 Third gap exhaustion.</a:t>
            </a:r>
          </a:p>
          <a:p>
            <a:pPr algn="l">
              <a:lnSpc>
                <a:spcPct val="118000"/>
              </a:lnSpc>
              <a:spcBef>
                <a:spcPts val="0"/>
              </a:spcBef>
              <a:spcAft>
                <a:spcPts val="1300"/>
              </a:spcAft>
            </a:pPr>
            <a:r>
              <a:rPr sz="2100" b="0" i="0">
                <a:solidFill>
                  <a:srgbClr val="1A1A1A"/>
                </a:solidFill>
                <a:latin typeface="Arial"/>
              </a:rPr>
              <a:t>13 Average period range.  14 Overextension.  15 Volume spread.  16 Divergence.</a:t>
            </a:r>
          </a:p>
        </p:txBody>
      </p:sp>
      <p:sp>
        <p:nvSpPr>
          <p:cNvPr id="8" name="TextBox 7"/>
          <p:cNvSpPr txBox="1"/>
          <p:nvPr/>
        </p:nvSpPr>
        <p:spPr>
          <a:xfrm>
            <a:off x="777240" y="5262371"/>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Variations in these may impact future price activity. The book calls reading pure price action the highest skill any trader can aspire to.</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1  Cycle amplitude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2 of 24</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94360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Each swing's height, as the figure marks it.</a:t>
            </a:r>
          </a:p>
        </p:txBody>
      </p:sp>
      <p:sp>
        <p:nvSpPr>
          <p:cNvPr id="10" name="Rectangle 9"/>
          <p:cNvSpPr/>
          <p:nvPr/>
        </p:nvSpPr>
        <p:spPr>
          <a:xfrm>
            <a:off x="777240" y="297484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94360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Up swings of PHP 6, then 4, then 2: decreasing amplitude.</a:t>
            </a:r>
          </a:p>
        </p:txBody>
      </p:sp>
      <p:sp>
        <p:nvSpPr>
          <p:cNvPr id="12" name="Rectangle 11"/>
          <p:cNvSpPr/>
          <p:nvPr/>
        </p:nvSpPr>
        <p:spPr>
          <a:xfrm>
            <a:off x="777240" y="3950207"/>
            <a:ext cx="64008" cy="175564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3904487"/>
            <a:ext cx="5943600" cy="18653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Decreasing cycle amplitude is an early indication of potential underlying weakness in an uptrend, and a bullish indication in a downtrend. In an uptrend the up cycle amplitudes must, on average, be larger than the down ones; the converse in a downtrend. The change in successive amplitudes matters most.</a:t>
            </a:r>
          </a:p>
        </p:txBody>
      </p:sp>
      <p:sp>
        <p:nvSpPr>
          <p:cNvPr id="14" name="Rectangle 13"/>
          <p:cNvSpPr/>
          <p:nvPr/>
        </p:nvSpPr>
        <p:spPr>
          <a:xfrm>
            <a:off x="7315199" y="2157984"/>
            <a:ext cx="409925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315199" y="2157984"/>
            <a:ext cx="409925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726679" y="2615184"/>
            <a:ext cx="327629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5.11</a:t>
            </a:r>
          </a:p>
          <a:p>
            <a:pPr algn="l">
              <a:lnSpc>
                <a:spcPct val="120000"/>
              </a:lnSpc>
              <a:spcBef>
                <a:spcPts val="0"/>
              </a:spcBef>
              <a:spcAft>
                <a:spcPts val="1400"/>
              </a:spcAft>
            </a:pPr>
            <a:r>
              <a:rPr sz="1800" b="0" i="0">
                <a:solidFill>
                  <a:srgbClr val="1A1A1A"/>
                </a:solidFill>
                <a:latin typeface="Palatino"/>
              </a:rPr>
              <a:t>A rising wave between two converging dashed lines, each swing smaller than the last, with the up cycle amplitudes and the down cycle amplitudes measured by vertical arrows, labelled gradually decreasing up and down cycle amplitudes.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315199" y="5650992"/>
            <a:ext cx="409925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5.11 - Lim, The Handbook of Technical Analysis (Wiley, 2016)</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Contracting, even and expanding amplitude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3 of 24</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Contracting formations are bearish in an uptrend and bullish in a downtrend.</a:t>
            </a:r>
          </a:p>
          <a:p>
            <a:pPr algn="l">
              <a:lnSpc>
                <a:spcPct val="105000"/>
              </a:lnSpc>
              <a:spcBef>
                <a:spcPts val="0"/>
              </a:spcBef>
              <a:spcAft>
                <a:spcPts val="1100"/>
              </a:spcAft>
            </a:pPr>
            <a:r>
              <a:rPr sz="1800" b="0" i="0">
                <a:solidFill>
                  <a:srgbClr val="1A1A1A"/>
                </a:solidFill>
                <a:latin typeface="Arial"/>
              </a:rPr>
              <a:t>Expanding formations, with both boundary lines pointing upward, are generally bullish in an uptrend.</a:t>
            </a:r>
          </a:p>
          <a:p>
            <a:pPr algn="l">
              <a:lnSpc>
                <a:spcPct val="105000"/>
              </a:lnSpc>
              <a:spcBef>
                <a:spcPts val="0"/>
              </a:spcBef>
              <a:spcAft>
                <a:spcPts val="1100"/>
              </a:spcAft>
            </a:pPr>
            <a:r>
              <a:rPr sz="1800" b="0" i="0">
                <a:solidFill>
                  <a:srgbClr val="1A1A1A"/>
                </a:solidFill>
                <a:latin typeface="Arial"/>
              </a:rPr>
              <a:t>Steady, consistent amplitude is bullish in an uptrend and bearish in a downtrend.</a:t>
            </a:r>
          </a:p>
        </p:txBody>
      </p:sp>
      <p:sp>
        <p:nvSpPr>
          <p:cNvPr id="8" name="Rectangle 7"/>
          <p:cNvSpPr/>
          <p:nvPr/>
        </p:nvSpPr>
        <p:spPr>
          <a:xfrm>
            <a:off x="777240" y="4677156"/>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46227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steady trend is generally regarded as the most reliable in extent and duration.</a:t>
            </a:r>
          </a:p>
        </p:txBody>
      </p:sp>
      <p:sp>
        <p:nvSpPr>
          <p:cNvPr id="10" name="Rectangle 9"/>
          <p:cNvSpPr/>
          <p:nvPr/>
        </p:nvSpPr>
        <p:spPr>
          <a:xfrm>
            <a:off x="5852159" y="1810512"/>
            <a:ext cx="556229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5852159" y="1810512"/>
            <a:ext cx="556229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263640" y="2267712"/>
            <a:ext cx="47393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5.12</a:t>
            </a:r>
          </a:p>
          <a:p>
            <a:pPr algn="l">
              <a:lnSpc>
                <a:spcPct val="120000"/>
              </a:lnSpc>
              <a:spcBef>
                <a:spcPts val="0"/>
              </a:spcBef>
              <a:spcAft>
                <a:spcPts val="1400"/>
              </a:spcAft>
            </a:pPr>
            <a:r>
              <a:rPr sz="1800" b="0" i="0">
                <a:solidFill>
                  <a:srgbClr val="1A1A1A"/>
                </a:solidFill>
                <a:latin typeface="Palatino"/>
              </a:rPr>
              <a:t>Three idealized uptrends side by side: contracting price action between converging lines, labelled bearish; even price action between parallel lines, labelled neutral or bullish; and expanding price action between diverging lines, labelled bullish or volatile.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5852159" y="5650992"/>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5.12 - Lim, The Handbook of Technical Analysis (Wiley, 2016)</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2  Cycle period</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4 of 24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How long each swing takes, as the figure marks it: across, from one peak to the next.</a:t>
            </a:r>
          </a:p>
        </p:txBody>
      </p:sp>
      <p:sp>
        <p:nvSpPr>
          <p:cNvPr id="10" name="Rectangle 9"/>
          <p:cNvSpPr/>
          <p:nvPr/>
        </p:nvSpPr>
        <p:spPr>
          <a:xfrm>
            <a:off x="777240" y="323392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An uptrend's peaks come 30 bars apart, then 20, then 12: a decreasing cycle period.</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76072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Decreasing cycle periods are also an early indication of potential weakness in a trend. A gradual reduction in the cycle period during an uptrend: there may be underlying weakness in the uptrend. During a downtrend: a bullish indication.</a:t>
            </a:r>
          </a:p>
        </p:txBody>
      </p:sp>
      <p:sp>
        <p:nvSpPr>
          <p:cNvPr id="14" name="Rectangle 13"/>
          <p:cNvSpPr/>
          <p:nvPr/>
        </p:nvSpPr>
        <p:spPr>
          <a:xfrm>
            <a:off x="7132319" y="2157984"/>
            <a:ext cx="428213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132319" y="2157984"/>
            <a:ext cx="428213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543799" y="2615184"/>
            <a:ext cx="345917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5.13</a:t>
            </a:r>
          </a:p>
          <a:p>
            <a:pPr algn="l">
              <a:lnSpc>
                <a:spcPct val="120000"/>
              </a:lnSpc>
              <a:spcBef>
                <a:spcPts val="0"/>
              </a:spcBef>
              <a:spcAft>
                <a:spcPts val="1400"/>
              </a:spcAft>
            </a:pPr>
            <a:r>
              <a:rPr sz="1800" b="0" i="0">
                <a:solidFill>
                  <a:srgbClr val="1A1A1A"/>
                </a:solidFill>
                <a:latin typeface="Palatino"/>
              </a:rPr>
              <a:t>A rising wave between two converging lines whose peaks come closer and closer together, with the horizontal distance between peaks marked by arrows that shorten, labelled gradually decreasing cycle periods.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132319" y="5650992"/>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5.13 - Lim, The Handbook of Technical Analysis (Wiley, 2016)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3  Bar retracement symmetry</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5 of 24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48463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In a strong trend each retracement takes about the same number of bars. Count them.</a:t>
            </a:r>
          </a:p>
        </p:txBody>
      </p:sp>
      <p:sp>
        <p:nvSpPr>
          <p:cNvPr id="10" name="Rectangle 9"/>
          <p:cNvSpPr/>
          <p:nvPr/>
        </p:nvSpPr>
        <p:spPr>
          <a:xfrm>
            <a:off x="777240" y="3233927"/>
            <a:ext cx="64008" cy="123748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48463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In the figure three retracements take 28, 30 and 26 bars: consistent symmetry. The next takes 14: symmetry broken, and a strong upside move follows.</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48463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change in the number of bars in a retracement is an early indication of a potential change in trend behavior.</a:t>
            </a:r>
          </a:p>
        </p:txBody>
      </p:sp>
      <p:sp>
        <p:nvSpPr>
          <p:cNvPr id="14" name="Rectangle 13"/>
          <p:cNvSpPr/>
          <p:nvPr/>
        </p:nvSpPr>
        <p:spPr>
          <a:xfrm>
            <a:off x="6217919" y="2157984"/>
            <a:ext cx="519653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17919" y="2157984"/>
            <a:ext cx="519653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6629399" y="2615184"/>
            <a:ext cx="437357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5.14</a:t>
            </a:r>
          </a:p>
          <a:p>
            <a:pPr algn="l">
              <a:lnSpc>
                <a:spcPct val="120000"/>
              </a:lnSpc>
              <a:spcBef>
                <a:spcPts val="0"/>
              </a:spcBef>
              <a:spcAft>
                <a:spcPts val="1400"/>
              </a:spcAft>
            </a:pPr>
            <a:r>
              <a:rPr sz="1800" b="0" i="0">
                <a:solidFill>
                  <a:srgbClr val="1A1A1A"/>
                </a:solidFill>
                <a:latin typeface="Palatino"/>
              </a:rPr>
              <a:t>A rising channel in which three retracements of 28, 30 and 26 bars are labelled consistent symmetry indicates strong trend action, then a retracement of only 14 bars circled as symmetry broken, a trend behavior change, before price leaves the channel upward at a point A.</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5.14 - Lim, The Handbook of Technical Analysis (Wiley, 2016)</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4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Amplitude, period and symmetry</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an uptrend, the cycle amplitude decreases swing after swing. This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sign that the trend is strengthening</a:t>
            </a:r>
          </a:p>
          <a:p>
            <a:pPr algn="l">
              <a:lnSpc>
                <a:spcPct val="112000"/>
              </a:lnSpc>
              <a:spcBef>
                <a:spcPts val="0"/>
              </a:spcBef>
              <a:spcAft>
                <a:spcPts val="900"/>
              </a:spcAft>
            </a:pPr>
            <a:r>
              <a:rPr sz="1500" b="0" i="0">
                <a:solidFill>
                  <a:srgbClr val="FFFFFF"/>
                </a:solidFill>
                <a:latin typeface="Arial"/>
              </a:rPr>
              <a:t>B.  A bullish indication</a:t>
            </a:r>
          </a:p>
          <a:p>
            <a:pPr algn="l">
              <a:lnSpc>
                <a:spcPct val="112000"/>
              </a:lnSpc>
              <a:spcBef>
                <a:spcPts val="0"/>
              </a:spcBef>
              <a:spcAft>
                <a:spcPts val="900"/>
              </a:spcAft>
            </a:pPr>
            <a:r>
              <a:rPr sz="1500" b="0" i="0">
                <a:solidFill>
                  <a:srgbClr val="FFFFFF"/>
                </a:solidFill>
                <a:latin typeface="Arial"/>
              </a:rPr>
              <a:t>C.  An early indication of potential weakness</a:t>
            </a:r>
          </a:p>
          <a:p>
            <a:pPr algn="l">
              <a:lnSpc>
                <a:spcPct val="112000"/>
              </a:lnSpc>
              <a:spcBef>
                <a:spcPts val="0"/>
              </a:spcBef>
              <a:spcAft>
                <a:spcPts val="900"/>
              </a:spcAft>
            </a:pPr>
            <a:r>
              <a:rPr sz="1500" b="0" i="0">
                <a:solidFill>
                  <a:srgbClr val="FFFFFF"/>
                </a:solidFill>
                <a:latin typeface="Arial"/>
              </a:rPr>
              <a:t>D.  Of no significance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Retracements in an uptrend have taken 28, 30 and 26 bars. The next one takes 14. This suggests: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potential change in trend behavior</a:t>
            </a:r>
          </a:p>
          <a:p>
            <a:pPr algn="l">
              <a:lnSpc>
                <a:spcPct val="112000"/>
              </a:lnSpc>
              <a:spcBef>
                <a:spcPts val="0"/>
              </a:spcBef>
              <a:spcAft>
                <a:spcPts val="900"/>
              </a:spcAft>
            </a:pPr>
            <a:r>
              <a:rPr sz="1500" b="0" i="0">
                <a:solidFill>
                  <a:srgbClr val="FFFFFF"/>
                </a:solidFill>
                <a:latin typeface="Arial"/>
              </a:rPr>
              <a:t>B.  Nothing, because the trend is still up</a:t>
            </a:r>
          </a:p>
          <a:p>
            <a:pPr algn="l">
              <a:lnSpc>
                <a:spcPct val="112000"/>
              </a:lnSpc>
              <a:spcBef>
                <a:spcPts val="0"/>
              </a:spcBef>
              <a:spcAft>
                <a:spcPts val="900"/>
              </a:spcAft>
            </a:pPr>
            <a:r>
              <a:rPr sz="1500" b="0" i="0">
                <a:solidFill>
                  <a:srgbClr val="FFFFFF"/>
                </a:solidFill>
                <a:latin typeface="Arial"/>
              </a:rPr>
              <a:t>C.  An increase in cycle amplitude</a:t>
            </a:r>
          </a:p>
          <a:p>
            <a:pPr algn="l">
              <a:lnSpc>
                <a:spcPct val="112000"/>
              </a:lnSpc>
              <a:spcBef>
                <a:spcPts val="0"/>
              </a:spcBef>
              <a:spcAft>
                <a:spcPts val="900"/>
              </a:spcAft>
            </a:pPr>
            <a:r>
              <a:rPr sz="1500" b="0" i="0">
                <a:solidFill>
                  <a:srgbClr val="FFFFFF"/>
                </a:solidFill>
                <a:latin typeface="Arial"/>
              </a:rPr>
              <a:t>D.  That a downtrend has begun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11 - 5.2 Quality of trend  |  Check 4</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Amplitude, period and symmetry</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In an uptrend, the cycle amplitude decreases swing after swing. This is: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An early indication of potential weakness</a:t>
            </a:r>
          </a:p>
          <a:p>
            <a:pPr algn="l">
              <a:lnSpc>
                <a:spcPct val="115000"/>
              </a:lnSpc>
              <a:spcBef>
                <a:spcPts val="700"/>
              </a:spcBef>
              <a:spcAft>
                <a:spcPts val="0"/>
              </a:spcAft>
            </a:pPr>
            <a:r>
              <a:rPr sz="1600" b="0" i="0">
                <a:solidFill>
                  <a:srgbClr val="1A1A1A"/>
                </a:solidFill>
                <a:latin typeface="Arial"/>
              </a:rPr>
              <a:t>Decreasing cycle amplitude in an uptrend is an early indication of potential underlying weakness. In a downtrend it would be bullish.</a:t>
            </a:r>
          </a:p>
        </p:txBody>
      </p:sp>
      <p:sp>
        <p:nvSpPr>
          <p:cNvPr id="10" name="Rectangle 9"/>
          <p:cNvSpPr/>
          <p:nvPr/>
        </p:nvSpPr>
        <p:spPr>
          <a:xfrm>
            <a:off x="777240" y="331571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Retracements in an uptrend have taken 28, 30 and 26 bars. The next one takes 14. This suggests:</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A potential change in trend behavior</a:t>
            </a:r>
          </a:p>
          <a:p>
            <a:pPr algn="l">
              <a:lnSpc>
                <a:spcPct val="115000"/>
              </a:lnSpc>
              <a:spcBef>
                <a:spcPts val="700"/>
              </a:spcBef>
              <a:spcAft>
                <a:spcPts val="0"/>
              </a:spcAft>
            </a:pPr>
            <a:r>
              <a:rPr sz="1600" b="0" i="0">
                <a:solidFill>
                  <a:srgbClr val="1A1A1A"/>
                </a:solidFill>
                <a:latin typeface="Arial"/>
              </a:rPr>
              <a:t>A change in the number of bars in a retracement is an early indication of a potential change in trend behavior.</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Check 4</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4  Average bar range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6 of 24</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94360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The average height of the bars, low to high.</a:t>
            </a:r>
          </a:p>
        </p:txBody>
      </p:sp>
      <p:sp>
        <p:nvSpPr>
          <p:cNvPr id="10" name="Rectangle 9"/>
          <p:cNvSpPr/>
          <p:nvPr/>
        </p:nvSpPr>
        <p:spPr>
          <a:xfrm>
            <a:off x="777240" y="297484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94360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Daily ranges of PHP 3.00, then 2.40, then 1.80 as price climbs: a decreasing average bar range.</a:t>
            </a:r>
          </a:p>
        </p:txBody>
      </p:sp>
      <p:sp>
        <p:nvSpPr>
          <p:cNvPr id="12" name="Rectangle 11"/>
          <p:cNvSpPr/>
          <p:nvPr/>
        </p:nvSpPr>
        <p:spPr>
          <a:xfrm>
            <a:off x="777240" y="3950207"/>
            <a:ext cx="64008" cy="175564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3904487"/>
            <a:ext cx="5943600" cy="18653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decrease in the average bar range is an early indication of potential weakness in an uptrend, and a bullish indication in a downtrend. It can be tracked with the average true range, ATR, oscillator which, unlike average bar range, accounts for gaps between the bars as well.</a:t>
            </a:r>
          </a:p>
        </p:txBody>
      </p:sp>
      <p:sp>
        <p:nvSpPr>
          <p:cNvPr id="14" name="Rectangle 13"/>
          <p:cNvSpPr/>
          <p:nvPr/>
        </p:nvSpPr>
        <p:spPr>
          <a:xfrm>
            <a:off x="7315199" y="2157984"/>
            <a:ext cx="409925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315199" y="2157984"/>
            <a:ext cx="409925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726679" y="2615184"/>
            <a:ext cx="327629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5.15</a:t>
            </a:r>
          </a:p>
          <a:p>
            <a:pPr algn="l">
              <a:lnSpc>
                <a:spcPct val="120000"/>
              </a:lnSpc>
              <a:spcBef>
                <a:spcPts val="0"/>
              </a:spcBef>
              <a:spcAft>
                <a:spcPts val="1400"/>
              </a:spcAft>
            </a:pPr>
            <a:r>
              <a:rPr sz="1800" b="0" i="0">
                <a:solidFill>
                  <a:srgbClr val="1A1A1A"/>
                </a:solidFill>
                <a:latin typeface="Palatino"/>
              </a:rPr>
              <a:t>A rising run of candlesticks, each shorter than the one before, labelled gradually decreasing bar range, over a lower panel in which the ATR declines.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315199" y="5650992"/>
            <a:ext cx="409925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5.15 - Lim, The Handbook of Technical Analysis (Wiley, 2016)</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declining ATR in a steady uptrend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7 of 24</a:t>
            </a:r>
          </a:p>
        </p:txBody>
      </p:sp>
      <p:sp>
        <p:nvSpPr>
          <p:cNvPr id="7" name="TextBox 6"/>
          <p:cNvSpPr txBox="1"/>
          <p:nvPr/>
        </p:nvSpPr>
        <p:spPr>
          <a:xfrm>
            <a:off x="777240" y="1965960"/>
            <a:ext cx="64008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GLD, the SPDR Gold Trust Shares, weekly: a steady uptrend with a declining ATR.</a:t>
            </a:r>
          </a:p>
          <a:p>
            <a:pPr algn="l">
              <a:lnSpc>
                <a:spcPct val="105000"/>
              </a:lnSpc>
              <a:spcBef>
                <a:spcPts val="0"/>
              </a:spcBef>
              <a:spcAft>
                <a:spcPts val="1100"/>
              </a:spcAft>
            </a:pPr>
            <a:r>
              <a:rPr sz="2000" b="0" i="0">
                <a:solidFill>
                  <a:srgbClr val="1A1A1A"/>
                </a:solidFill>
                <a:latin typeface="Arial"/>
              </a:rPr>
              <a:t>Volume is bullish, but the ATR is indicating otherwise.</a:t>
            </a:r>
          </a:p>
          <a:p>
            <a:pPr algn="l">
              <a:lnSpc>
                <a:spcPct val="105000"/>
              </a:lnSpc>
              <a:spcBef>
                <a:spcPts val="0"/>
              </a:spcBef>
              <a:spcAft>
                <a:spcPts val="1100"/>
              </a:spcAft>
            </a:pPr>
            <a:r>
              <a:rPr sz="2000" b="0" i="0">
                <a:solidFill>
                  <a:srgbClr val="1A1A1A"/>
                </a:solidFill>
                <a:latin typeface="Arial"/>
              </a:rPr>
              <a:t>A large bearish candlestick completes the bearish picture.</a:t>
            </a:r>
          </a:p>
        </p:txBody>
      </p:sp>
      <p:sp>
        <p:nvSpPr>
          <p:cNvPr id="8" name="Rectangle 7"/>
          <p:cNvSpPr/>
          <p:nvPr/>
        </p:nvSpPr>
        <p:spPr>
          <a:xfrm>
            <a:off x="777240" y="4581144"/>
            <a:ext cx="82296" cy="4663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7720"/>
            <a:ext cx="6108192" cy="46634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Price declined after the volume climax.</a:t>
            </a:r>
          </a:p>
        </p:txBody>
      </p:sp>
      <p:sp>
        <p:nvSpPr>
          <p:cNvPr id="10" name="Rectangle 9"/>
          <p:cNvSpPr/>
          <p:nvPr/>
        </p:nvSpPr>
        <p:spPr>
          <a:xfrm>
            <a:off x="7498079" y="1810512"/>
            <a:ext cx="391637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498079" y="1810512"/>
            <a:ext cx="391637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7909559" y="2267712"/>
            <a:ext cx="30934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5.16</a:t>
            </a:r>
          </a:p>
          <a:p>
            <a:pPr algn="l">
              <a:lnSpc>
                <a:spcPct val="120000"/>
              </a:lnSpc>
              <a:spcBef>
                <a:spcPts val="0"/>
              </a:spcBef>
              <a:spcAft>
                <a:spcPts val="1400"/>
              </a:spcAft>
            </a:pPr>
            <a:r>
              <a:rPr sz="1800" b="0" i="0">
                <a:solidFill>
                  <a:srgbClr val="1A1A1A"/>
                </a:solidFill>
                <a:latin typeface="Palatino"/>
              </a:rPr>
              <a:t>The weekly GLD chart in three panels: price in a strong uptrend to a circled pair of candlesticks at the top, volume increasing beneath it, and the ATR declining all the way up before turning.</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498079" y="5650992"/>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5.16 - Lim, The Handbook of Technical Analysis (Wiley, 2016)</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5  Price persistence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8 of 24</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Prices tend to persist for longer when price is of high quality.</a:t>
            </a:r>
          </a:p>
          <a:p>
            <a:pPr algn="l">
              <a:lnSpc>
                <a:spcPct val="105000"/>
              </a:lnSpc>
              <a:spcBef>
                <a:spcPts val="0"/>
              </a:spcBef>
              <a:spcAft>
                <a:spcPts val="1100"/>
              </a:spcAft>
            </a:pPr>
            <a:r>
              <a:rPr sz="1800" b="0" i="0">
                <a:solidFill>
                  <a:srgbClr val="1A1A1A"/>
                </a:solidFill>
                <a:latin typeface="Arial"/>
              </a:rPr>
              <a:t>High quality prices have relatively small, and approximately equal, bar ranges.</a:t>
            </a:r>
          </a:p>
          <a:p>
            <a:pPr algn="l">
              <a:lnSpc>
                <a:spcPct val="105000"/>
              </a:lnSpc>
              <a:spcBef>
                <a:spcPts val="0"/>
              </a:spcBef>
              <a:spcAft>
                <a:spcPts val="1100"/>
              </a:spcAft>
            </a:pPr>
            <a:r>
              <a:rPr sz="1800" b="0" i="0">
                <a:solidFill>
                  <a:srgbClr val="1A1A1A"/>
                </a:solidFill>
                <a:latin typeface="Arial"/>
              </a:rPr>
              <a:t>Price then moves predictably. Trends and reversals are clear and decisive.</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46227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In this mode prices exhibit relatively low volatility.</a:t>
            </a:r>
          </a:p>
        </p:txBody>
      </p:sp>
      <p:sp>
        <p:nvSpPr>
          <p:cNvPr id="10" name="TextBox 9"/>
          <p:cNvSpPr txBox="1"/>
          <p:nvPr/>
        </p:nvSpPr>
        <p:spPr>
          <a:xfrm>
            <a:off x="777240" y="5603748"/>
            <a:ext cx="47548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Persistence is the continuity of trend action.</a:t>
            </a:r>
          </a:p>
        </p:txBody>
      </p:sp>
      <p:sp>
        <p:nvSpPr>
          <p:cNvPr id="11" name="Rectangle 10"/>
          <p:cNvSpPr/>
          <p:nvPr/>
        </p:nvSpPr>
        <p:spPr>
          <a:xfrm>
            <a:off x="5852159" y="1810512"/>
            <a:ext cx="55622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5852159" y="1810512"/>
            <a:ext cx="55622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263640" y="2267712"/>
            <a:ext cx="47393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5.17</a:t>
            </a:r>
          </a:p>
          <a:p>
            <a:pPr algn="l">
              <a:lnSpc>
                <a:spcPct val="120000"/>
              </a:lnSpc>
              <a:spcBef>
                <a:spcPts val="0"/>
              </a:spcBef>
              <a:spcAft>
                <a:spcPts val="1400"/>
              </a:spcAft>
            </a:pPr>
            <a:r>
              <a:rPr sz="1800" b="0" i="0">
                <a:solidFill>
                  <a:srgbClr val="1A1A1A"/>
                </a:solidFill>
                <a:latin typeface="Palatino"/>
              </a:rPr>
              <a:t>An hourly GBPJPY chart with two boxes: higher quality price action with greater persistence, where the swings are long and clean, and lower quality price action with lesser persistence, where they are short and choppy.</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5852159" y="5650992"/>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5.17 - Lim, The Handbook of Technical Analysis (Wiley, 2016)</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Bar stochastic</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9 of 24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Where a bar closed inside its own range: near the top, the middle or the bottom.</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bar with a low of PHP 40, a high of PHP 50 and a close of PHP 48: (48 - 40) / (50 - 40) = 0.80. It closed near its high.</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relative position of the closing price within the bar itself, measured as a ratio: (C - L) / (H - L). The book calls it essentially a one-period %K, and does not explain %K here.</a:t>
            </a:r>
          </a:p>
        </p:txBody>
      </p:sp>
      <p:sp>
        <p:nvSpPr>
          <p:cNvPr id="14" name="Rectangle 13"/>
          <p:cNvSpPr/>
          <p:nvPr/>
        </p:nvSpPr>
        <p:spPr>
          <a:xfrm>
            <a:off x="7132319" y="2157984"/>
            <a:ext cx="428213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132319" y="2157984"/>
            <a:ext cx="428213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543799" y="2615184"/>
            <a:ext cx="345917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5.18</a:t>
            </a:r>
          </a:p>
          <a:p>
            <a:pPr algn="l">
              <a:lnSpc>
                <a:spcPct val="120000"/>
              </a:lnSpc>
              <a:spcBef>
                <a:spcPts val="0"/>
              </a:spcBef>
              <a:spcAft>
                <a:spcPts val="1400"/>
              </a:spcAft>
            </a:pPr>
            <a:r>
              <a:rPr sz="1800" b="0" i="0">
                <a:solidFill>
                  <a:srgbClr val="1A1A1A"/>
                </a:solidFill>
                <a:latin typeface="Palatino"/>
              </a:rPr>
              <a:t>A rising run of bars whose closes sit lower and lower within each bar, labelled declining closing prices with respect to the bar range, with the formula bar stochastic = (C - L) / (H - L) and a lower panel in which the bar stochastic declines.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132319" y="5650992"/>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5.18 - Lim, The Handbook of Technical Analysis (Wiley, 2016)</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  The average bar stochastic ratio</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10 of 24</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In an uptrend, a gradual decline in closes with respect to the bar is an early indication of potential weakness.</a:t>
            </a:r>
          </a:p>
          <a:p>
            <a:pPr algn="l">
              <a:lnSpc>
                <a:spcPct val="105000"/>
              </a:lnSpc>
              <a:spcBef>
                <a:spcPts val="0"/>
              </a:spcBef>
              <a:spcAft>
                <a:spcPts val="1100"/>
              </a:spcAft>
            </a:pPr>
            <a:r>
              <a:rPr sz="1700" b="0" i="0">
                <a:solidFill>
                  <a:srgbClr val="1A1A1A"/>
                </a:solidFill>
                <a:latin typeface="Arial"/>
              </a:rPr>
              <a:t>In a downtrend, a gradual increase is an early indication of potential bullishness.</a:t>
            </a:r>
          </a:p>
          <a:p>
            <a:pPr algn="l">
              <a:lnSpc>
                <a:spcPct val="105000"/>
              </a:lnSpc>
              <a:spcBef>
                <a:spcPts val="0"/>
              </a:spcBef>
              <a:spcAft>
                <a:spcPts val="1100"/>
              </a:spcAft>
            </a:pPr>
            <a:r>
              <a:rPr sz="1700" b="0" i="0">
                <a:solidFill>
                  <a:srgbClr val="1A1A1A"/>
                </a:solidFill>
                <a:latin typeface="Arial"/>
              </a:rPr>
              <a:t>It is monitored with a simple moving average of the ratio.</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46227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Figure 5.19: a 3-period SMA marks bearish and bullish divergences.</a:t>
            </a:r>
          </a:p>
        </p:txBody>
      </p:sp>
      <p:sp>
        <p:nvSpPr>
          <p:cNvPr id="10" name="TextBox 9"/>
          <p:cNvSpPr txBox="1"/>
          <p:nvPr/>
        </p:nvSpPr>
        <p:spPr>
          <a:xfrm>
            <a:off x="777240" y="5461254"/>
            <a:ext cx="47548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Divergence is Chapter 9.</a:t>
            </a:r>
          </a:p>
        </p:txBody>
      </p:sp>
      <p:sp>
        <p:nvSpPr>
          <p:cNvPr id="11" name="Rectangle 10"/>
          <p:cNvSpPr/>
          <p:nvPr/>
        </p:nvSpPr>
        <p:spPr>
          <a:xfrm>
            <a:off x="5852159" y="1810512"/>
            <a:ext cx="55622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5852159" y="1810512"/>
            <a:ext cx="55622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263640" y="2267712"/>
            <a:ext cx="47393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5.19</a:t>
            </a:r>
          </a:p>
          <a:p>
            <a:pPr algn="l">
              <a:lnSpc>
                <a:spcPct val="120000"/>
              </a:lnSpc>
              <a:spcBef>
                <a:spcPts val="0"/>
              </a:spcBef>
              <a:spcAft>
                <a:spcPts val="1400"/>
              </a:spcAft>
            </a:pPr>
            <a:r>
              <a:rPr sz="1800" b="0" i="0">
                <a:solidFill>
                  <a:srgbClr val="1A1A1A"/>
                </a:solidFill>
                <a:latin typeface="Palatino"/>
              </a:rPr>
              <a:t>A weekly EURUSD chart over a lower panel carrying a 3-period SMA of the bar stochastic, with three tops labelled bearish divergence and three bottoms labelled bullish divergence.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5852159" y="5650992"/>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5.19 - Lim, The Handbook of Technical Analysis (Wiley, 2016)</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7  Real body to range ratio, BRR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11 of 24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94360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How much of a candlestick is real body: the open-to-close move as a share of the whole bar.</a:t>
            </a:r>
          </a:p>
        </p:txBody>
      </p:sp>
      <p:sp>
        <p:nvSpPr>
          <p:cNvPr id="10" name="Rectangle 9"/>
          <p:cNvSpPr/>
          <p:nvPr/>
        </p:nvSpPr>
        <p:spPr>
          <a:xfrm>
            <a:off x="777240" y="323392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94360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Open PHP 42, close PHP 48, low PHP 40, high PHP 50: (48 - 42) / (50 - 40) = 0.60.</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94360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BRR = (C - O) / (H - L). A gradual decrease in the real body to candlestick range is an early indication of potential weakness in an uptrend, and a bullish indicator in a downtrend. A simple moving average of the ratio is used to monitor it.</a:t>
            </a:r>
          </a:p>
        </p:txBody>
      </p:sp>
      <p:sp>
        <p:nvSpPr>
          <p:cNvPr id="14" name="Rectangle 13"/>
          <p:cNvSpPr/>
          <p:nvPr/>
        </p:nvSpPr>
        <p:spPr>
          <a:xfrm>
            <a:off x="7315199" y="2157984"/>
            <a:ext cx="409925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315199" y="2157984"/>
            <a:ext cx="409925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726679" y="2615184"/>
            <a:ext cx="327629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5.20</a:t>
            </a:r>
          </a:p>
          <a:p>
            <a:pPr algn="l">
              <a:lnSpc>
                <a:spcPct val="120000"/>
              </a:lnSpc>
              <a:spcBef>
                <a:spcPts val="0"/>
              </a:spcBef>
              <a:spcAft>
                <a:spcPts val="1400"/>
              </a:spcAft>
            </a:pPr>
            <a:r>
              <a:rPr sz="1800" b="0" i="0">
                <a:solidFill>
                  <a:srgbClr val="1A1A1A"/>
                </a:solidFill>
                <a:latin typeface="Palatino"/>
              </a:rPr>
              <a:t>A rising run of candlesticks whose real bodies shrink while their ranges do not, labelled declining BRR, with the formula body to range ratio (BRR) = (C - O) / (H - L) and a lower panel in which the BRR declines.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315199" y="5650992"/>
            <a:ext cx="409925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5.20 - Lim, The Handbook of Technical Analysis (Wiley, 2016)</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5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Bar range, and where the bar closes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bar has a low of PHP 20, a high of PHP 30 and a close of PHP 22. Its bar stochastic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0.20</a:t>
            </a:r>
          </a:p>
          <a:p>
            <a:pPr algn="l">
              <a:lnSpc>
                <a:spcPct val="112000"/>
              </a:lnSpc>
              <a:spcBef>
                <a:spcPts val="0"/>
              </a:spcBef>
              <a:spcAft>
                <a:spcPts val="900"/>
              </a:spcAft>
            </a:pPr>
            <a:r>
              <a:rPr sz="1500" b="0" i="0">
                <a:solidFill>
                  <a:srgbClr val="FFFFFF"/>
                </a:solidFill>
                <a:latin typeface="Arial"/>
              </a:rPr>
              <a:t>B.  0.50</a:t>
            </a:r>
          </a:p>
          <a:p>
            <a:pPr algn="l">
              <a:lnSpc>
                <a:spcPct val="112000"/>
              </a:lnSpc>
              <a:spcBef>
                <a:spcPts val="0"/>
              </a:spcBef>
              <a:spcAft>
                <a:spcPts val="900"/>
              </a:spcAft>
            </a:pPr>
            <a:r>
              <a:rPr sz="1500" b="0" i="0">
                <a:solidFill>
                  <a:srgbClr val="FFFFFF"/>
                </a:solidFill>
                <a:latin typeface="Arial"/>
              </a:rPr>
              <a:t>C.  0.80</a:t>
            </a:r>
          </a:p>
          <a:p>
            <a:pPr algn="l">
              <a:lnSpc>
                <a:spcPct val="112000"/>
              </a:lnSpc>
              <a:spcBef>
                <a:spcPts val="0"/>
              </a:spcBef>
              <a:spcAft>
                <a:spcPts val="900"/>
              </a:spcAft>
            </a:pPr>
            <a:r>
              <a:rPr sz="1500" b="0" i="0">
                <a:solidFill>
                  <a:srgbClr val="FFFFFF"/>
                </a:solidFill>
                <a:latin typeface="Arial"/>
              </a:rPr>
              <a:t>D.  2.00</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Unlike the average bar range, the average true range (ATR) oscillator:</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Ignores the closing price</a:t>
            </a:r>
          </a:p>
          <a:p>
            <a:pPr algn="l">
              <a:lnSpc>
                <a:spcPct val="112000"/>
              </a:lnSpc>
              <a:spcBef>
                <a:spcPts val="0"/>
              </a:spcBef>
              <a:spcAft>
                <a:spcPts val="900"/>
              </a:spcAft>
            </a:pPr>
            <a:r>
              <a:rPr sz="1500" b="0" i="0">
                <a:solidFill>
                  <a:srgbClr val="FFFFFF"/>
                </a:solidFill>
                <a:latin typeface="Arial"/>
              </a:rPr>
              <a:t>B.  Accounts for gaps between the bars</a:t>
            </a:r>
          </a:p>
          <a:p>
            <a:pPr algn="l">
              <a:lnSpc>
                <a:spcPct val="112000"/>
              </a:lnSpc>
              <a:spcBef>
                <a:spcPts val="0"/>
              </a:spcBef>
              <a:spcAft>
                <a:spcPts val="900"/>
              </a:spcAft>
            </a:pPr>
            <a:r>
              <a:rPr sz="1500" b="0" i="0">
                <a:solidFill>
                  <a:srgbClr val="FFFFFF"/>
                </a:solidFill>
                <a:latin typeface="Arial"/>
              </a:rPr>
              <a:t>C.  Works only in uptrends</a:t>
            </a:r>
          </a:p>
          <a:p>
            <a:pPr algn="l">
              <a:lnSpc>
                <a:spcPct val="112000"/>
              </a:lnSpc>
              <a:spcBef>
                <a:spcPts val="0"/>
              </a:spcBef>
              <a:spcAft>
                <a:spcPts val="900"/>
              </a:spcAft>
            </a:pPr>
            <a:r>
              <a:rPr sz="1500" b="0" i="0">
                <a:solidFill>
                  <a:srgbClr val="FFFFFF"/>
                </a:solidFill>
                <a:latin typeface="Arial"/>
              </a:rPr>
              <a:t>D.  Measures volume, and not price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11 - 5.2 Quality of trend  |  Check 5</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Bar range, and where the bar closes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bar has a low of PHP 20, a high of PHP 30 and a close of PHP 22. Its bar stochastic is: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0.20</a:t>
            </a:r>
          </a:p>
          <a:p>
            <a:pPr algn="l">
              <a:lnSpc>
                <a:spcPct val="115000"/>
              </a:lnSpc>
              <a:spcBef>
                <a:spcPts val="700"/>
              </a:spcBef>
              <a:spcAft>
                <a:spcPts val="0"/>
              </a:spcAft>
            </a:pPr>
            <a:r>
              <a:rPr sz="1600" b="0" i="0">
                <a:solidFill>
                  <a:srgbClr val="1A1A1A"/>
                </a:solidFill>
                <a:latin typeface="Arial"/>
              </a:rPr>
              <a:t>(C - L) / (H - L) = (22 - 20) / (30 - 20) = 0.20. The bar closed near its low.</a:t>
            </a:r>
          </a:p>
        </p:txBody>
      </p:sp>
      <p:sp>
        <p:nvSpPr>
          <p:cNvPr id="10" name="Rectangle 9"/>
          <p:cNvSpPr/>
          <p:nvPr/>
        </p:nvSpPr>
        <p:spPr>
          <a:xfrm>
            <a:off x="777240" y="308203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Unlike the average bar range, the average true range (ATR) oscillator:</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Accounts for gaps between the bars</a:t>
            </a:r>
          </a:p>
          <a:p>
            <a:pPr algn="l">
              <a:lnSpc>
                <a:spcPct val="115000"/>
              </a:lnSpc>
              <a:spcBef>
                <a:spcPts val="700"/>
              </a:spcBef>
              <a:spcAft>
                <a:spcPts val="0"/>
              </a:spcAft>
            </a:pPr>
            <a:r>
              <a:rPr sz="1600" b="0" i="0">
                <a:solidFill>
                  <a:srgbClr val="1A1A1A"/>
                </a:solidFill>
                <a:latin typeface="Arial"/>
              </a:rPr>
              <a:t>The ATR will account for gaps between the bars as well, which a plain average of bar ranges does not.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Check 5</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8  Angular symmetry and momentum</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12 of 24</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21208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trend rising at one steady angle.</a:t>
            </a:r>
          </a:p>
        </p:txBody>
      </p:sp>
      <p:sp>
        <p:nvSpPr>
          <p:cNvPr id="10" name="Rectangle 9"/>
          <p:cNvSpPr/>
          <p:nvPr/>
        </p:nvSpPr>
        <p:spPr>
          <a:xfrm>
            <a:off x="777240" y="297484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21208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3M Co. over three years: consistent angular symmetry. Trendlines 1 and 2 are parallel, a strong prognosticator of potential bullishness.</a:t>
            </a:r>
          </a:p>
        </p:txBody>
      </p:sp>
      <p:sp>
        <p:nvSpPr>
          <p:cNvPr id="12" name="Rectangle 11"/>
          <p:cNvSpPr/>
          <p:nvPr/>
        </p:nvSpPr>
        <p:spPr>
          <a:xfrm>
            <a:off x="777240" y="420928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21208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Any change in angular symmetry is an early indication of potential bullishness or bearishness. Generally an increase in the angle of ascent is bullish, and a decrease bearish.</a:t>
            </a:r>
          </a:p>
        </p:txBody>
      </p:sp>
      <p:sp>
        <p:nvSpPr>
          <p:cNvPr id="14" name="Rectangle 13"/>
          <p:cNvSpPr/>
          <p:nvPr/>
        </p:nvSpPr>
        <p:spPr>
          <a:xfrm>
            <a:off x="6583679" y="2157984"/>
            <a:ext cx="483077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583679" y="2157984"/>
            <a:ext cx="483077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6995159" y="2615184"/>
            <a:ext cx="400781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5.21</a:t>
            </a:r>
          </a:p>
          <a:p>
            <a:pPr algn="l">
              <a:lnSpc>
                <a:spcPct val="120000"/>
              </a:lnSpc>
              <a:spcBef>
                <a:spcPts val="0"/>
              </a:spcBef>
              <a:spcAft>
                <a:spcPts val="1400"/>
              </a:spcAft>
            </a:pPr>
            <a:r>
              <a:rPr sz="1800" b="0" i="0">
                <a:solidFill>
                  <a:srgbClr val="1A1A1A"/>
                </a:solidFill>
                <a:latin typeface="Palatino"/>
              </a:rPr>
              <a:t>A three year chart of 3M Co. with many trendlines, labelled all lines are rising at the same angle and underlying angular symmetry in 3M Co., two of them dotted and numbered 1 and 2, a point 3 above the second, and a box marked bullish indication.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5.21 - Lim, The Handbook of Technical Analysis (Wiley, 2016)</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Acceleration and deceleration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13 of 24</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Upside acceleration in price is bullish. Upside deceleration is bearish.</a:t>
            </a:r>
          </a:p>
          <a:p>
            <a:pPr algn="l">
              <a:lnSpc>
                <a:spcPct val="105000"/>
              </a:lnSpc>
              <a:spcBef>
                <a:spcPts val="0"/>
              </a:spcBef>
              <a:spcAft>
                <a:spcPts val="1100"/>
              </a:spcAft>
            </a:pPr>
            <a:r>
              <a:rPr sz="1700" b="0" i="0">
                <a:solidFill>
                  <a:srgbClr val="1A1A1A"/>
                </a:solidFill>
                <a:latin typeface="Arial"/>
              </a:rPr>
              <a:t>Downside acceleration is bearish. Downside deceleration is bullish.</a:t>
            </a:r>
          </a:p>
          <a:p>
            <a:pPr algn="l">
              <a:lnSpc>
                <a:spcPct val="105000"/>
              </a:lnSpc>
              <a:spcBef>
                <a:spcPts val="0"/>
              </a:spcBef>
              <a:spcAft>
                <a:spcPts val="1100"/>
              </a:spcAft>
            </a:pPr>
            <a:r>
              <a:rPr sz="1700" b="0" i="0">
                <a:solidFill>
                  <a:srgbClr val="1A1A1A"/>
                </a:solidFill>
                <a:latin typeface="Arial"/>
              </a:rPr>
              <a:t>Upside and downside acceleration is normally parabolic in nature.</a:t>
            </a:r>
          </a:p>
        </p:txBody>
      </p:sp>
      <p:sp>
        <p:nvSpPr>
          <p:cNvPr id="8" name="Rectangle 7"/>
          <p:cNvSpPr/>
          <p:nvPr/>
        </p:nvSpPr>
        <p:spPr>
          <a:xfrm>
            <a:off x="777240" y="4293108"/>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446227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An uptrend may not be self-sustaining if its rate of ascent was excessive.</a:t>
            </a:r>
          </a:p>
        </p:txBody>
      </p:sp>
      <p:sp>
        <p:nvSpPr>
          <p:cNvPr id="10" name="TextBox 9"/>
          <p:cNvSpPr txBox="1"/>
          <p:nvPr/>
        </p:nvSpPr>
        <p:spPr>
          <a:xfrm>
            <a:off x="777240" y="5463540"/>
            <a:ext cx="47548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Such rises usually end in a blow-off or buying climax. Downside acceleration may end in a selling climax.</a:t>
            </a:r>
          </a:p>
        </p:txBody>
      </p:sp>
      <p:sp>
        <p:nvSpPr>
          <p:cNvPr id="11" name="Rectangle 10"/>
          <p:cNvSpPr/>
          <p:nvPr/>
        </p:nvSpPr>
        <p:spPr>
          <a:xfrm>
            <a:off x="5852159" y="1810512"/>
            <a:ext cx="55622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5852159" y="1810512"/>
            <a:ext cx="55622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263640" y="2267712"/>
            <a:ext cx="47393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5.22</a:t>
            </a:r>
          </a:p>
          <a:p>
            <a:pPr algn="l">
              <a:lnSpc>
                <a:spcPct val="120000"/>
              </a:lnSpc>
              <a:spcBef>
                <a:spcPts val="0"/>
              </a:spcBef>
              <a:spcAft>
                <a:spcPts val="1400"/>
              </a:spcAft>
            </a:pPr>
            <a:r>
              <a:rPr sz="1800" b="0" i="0">
                <a:solidFill>
                  <a:srgbClr val="1A1A1A"/>
                </a:solidFill>
                <a:latin typeface="Palatino"/>
              </a:rPr>
              <a:t>Four curves. Uptrends: one bending upward, upside acceleration, bullish; one flattening, upside deceleration, bearish. Downtrends: one bending downward, downside acceleration, bearish; one flattening, downside deceleration, bullish.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5852159" y="5650992"/>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5.22 - Lim, The Handbook of Technical Analysis (Wiley, 2016)</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Deceleration with a diminishing bar range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14 of 24</a:t>
            </a:r>
          </a:p>
        </p:txBody>
      </p:sp>
      <p:sp>
        <p:nvSpPr>
          <p:cNvPr id="7" name="TextBox 6"/>
          <p:cNvSpPr txBox="1"/>
          <p:nvPr/>
        </p:nvSpPr>
        <p:spPr>
          <a:xfrm>
            <a:off x="777240" y="1965960"/>
            <a:ext cx="64008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An even more potentially bearish scenario in an uptrend.</a:t>
            </a:r>
          </a:p>
          <a:p>
            <a:pPr algn="l">
              <a:lnSpc>
                <a:spcPct val="105000"/>
              </a:lnSpc>
              <a:spcBef>
                <a:spcPts val="0"/>
              </a:spcBef>
              <a:spcAft>
                <a:spcPts val="1100"/>
              </a:spcAft>
            </a:pPr>
            <a:r>
              <a:rPr sz="2000" b="0" i="0">
                <a:solidFill>
                  <a:srgbClr val="1A1A1A"/>
                </a:solidFill>
                <a:latin typeface="Arial"/>
              </a:rPr>
              <a:t>Two characteristics at once: a deceleration in price, and a diminishing bar range.</a:t>
            </a:r>
          </a:p>
        </p:txBody>
      </p:sp>
      <p:sp>
        <p:nvSpPr>
          <p:cNvPr id="8" name="Rectangle 7"/>
          <p:cNvSpPr/>
          <p:nvPr/>
        </p:nvSpPr>
        <p:spPr>
          <a:xfrm>
            <a:off x="777240" y="377647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13048"/>
            <a:ext cx="610819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trend flattens out, and each bar covers less ground than the last.</a:t>
            </a:r>
          </a:p>
        </p:txBody>
      </p:sp>
      <p:sp>
        <p:nvSpPr>
          <p:cNvPr id="10" name="Rectangle 9"/>
          <p:cNvSpPr/>
          <p:nvPr/>
        </p:nvSpPr>
        <p:spPr>
          <a:xfrm>
            <a:off x="7498079" y="1810512"/>
            <a:ext cx="391637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498079" y="1810512"/>
            <a:ext cx="391637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7909559" y="2267712"/>
            <a:ext cx="30934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5.23</a:t>
            </a:r>
          </a:p>
          <a:p>
            <a:pPr algn="l">
              <a:lnSpc>
                <a:spcPct val="120000"/>
              </a:lnSpc>
              <a:spcBef>
                <a:spcPts val="0"/>
              </a:spcBef>
              <a:spcAft>
                <a:spcPts val="1400"/>
              </a:spcAft>
            </a:pPr>
            <a:r>
              <a:rPr sz="1800" b="0" i="0">
                <a:solidFill>
                  <a:srgbClr val="1A1A1A"/>
                </a:solidFill>
                <a:latin typeface="Palatino"/>
              </a:rPr>
              <a:t>A run of candlesticks rising along a curve that flattens out, each candlestick shorter than the last, labelled gradually decreasing bar range and flattening out action.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498079" y="5650992"/>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5.23 - Lim, The Handbook of Technical Analysis (Wiley, 2016)</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change in the trend rate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15 of 24</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Gold rises at a consistent trend rate, leg after leg.</a:t>
            </a:r>
          </a:p>
          <a:p>
            <a:pPr algn="l">
              <a:lnSpc>
                <a:spcPct val="105000"/>
              </a:lnSpc>
              <a:spcBef>
                <a:spcPts val="0"/>
              </a:spcBef>
              <a:spcAft>
                <a:spcPts val="1100"/>
              </a:spcAft>
            </a:pPr>
            <a:r>
              <a:rPr sz="1700" b="0" i="0">
                <a:solidFill>
                  <a:srgbClr val="1A1A1A"/>
                </a:solidFill>
                <a:latin typeface="Arial"/>
              </a:rPr>
              <a:t>Once the rate changes, the market switches to a new regime: greater volatility and larger swings.</a:t>
            </a:r>
          </a:p>
          <a:p>
            <a:pPr algn="l">
              <a:lnSpc>
                <a:spcPct val="105000"/>
              </a:lnSpc>
              <a:spcBef>
                <a:spcPts val="0"/>
              </a:spcBef>
              <a:spcAft>
                <a:spcPts val="1100"/>
              </a:spcAft>
            </a:pPr>
            <a:r>
              <a:rPr sz="1700" b="0" i="0">
                <a:solidFill>
                  <a:srgbClr val="1A1A1A"/>
                </a:solidFill>
                <a:latin typeface="Arial"/>
              </a:rPr>
              <a:t>The new rate of $10.30 a day may be unsustainable over the longer term.</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46227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Gold in fact declined rapidly thereafter, not shown on the chart.</a:t>
            </a:r>
          </a:p>
        </p:txBody>
      </p:sp>
      <p:sp>
        <p:nvSpPr>
          <p:cNvPr id="10" name="TextBox 9"/>
          <p:cNvSpPr txBox="1"/>
          <p:nvPr/>
        </p:nvSpPr>
        <p:spPr>
          <a:xfrm>
            <a:off x="777240" y="5461254"/>
            <a:ext cx="47548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text says about $3.30 a day; the figure prints $3.80. The book's caption under 5.24 is Figure 5.25's.</a:t>
            </a:r>
          </a:p>
        </p:txBody>
      </p:sp>
      <p:sp>
        <p:nvSpPr>
          <p:cNvPr id="11" name="Rectangle 10"/>
          <p:cNvSpPr/>
          <p:nvPr/>
        </p:nvSpPr>
        <p:spPr>
          <a:xfrm>
            <a:off x="5852159" y="1810512"/>
            <a:ext cx="55622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5852159" y="1810512"/>
            <a:ext cx="55622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263640" y="2267712"/>
            <a:ext cx="47393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5.24</a:t>
            </a:r>
          </a:p>
          <a:p>
            <a:pPr algn="l">
              <a:lnSpc>
                <a:spcPct val="120000"/>
              </a:lnSpc>
              <a:spcBef>
                <a:spcPts val="0"/>
              </a:spcBef>
              <a:spcAft>
                <a:spcPts val="1400"/>
              </a:spcAft>
            </a:pPr>
            <a:r>
              <a:rPr sz="1800" b="0" i="0">
                <a:solidFill>
                  <a:srgbClr val="1A1A1A"/>
                </a:solidFill>
                <a:latin typeface="Palatino"/>
              </a:rPr>
              <a:t>A daily Gold chart headed trend rate analysis on Gold: five rising legs each drawn at an uptrend rate of $3.80 a day, labelled previous market behavior, then steeper legs at $10.30 a day, an approximately 270 percent increase, labelled new market behavior, more volatile.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5852159" y="5650992"/>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5.24 - Lim, The Handbook of Technical Analysis (Wiley, 2016)</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9  Barrier proximity</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16 of 24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02920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How near a trend has come to a strong price barrier. The nearer, the likelier a turn.</a:t>
            </a:r>
          </a:p>
        </p:txBody>
      </p:sp>
      <p:sp>
        <p:nvSpPr>
          <p:cNvPr id="10" name="Rectangle 9"/>
          <p:cNvSpPr/>
          <p:nvPr/>
        </p:nvSpPr>
        <p:spPr>
          <a:xfrm>
            <a:off x="777240" y="3233927"/>
            <a:ext cx="64008" cy="123748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02920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iShares MSCI Emerging Markets rebounds after testing a strong support level, with the cycle-tuned stochastic oversold. This chapter uses that oscillator and never explains it.</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02920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There is always a high probability that a trend may reverse as it approaches a strong and significant price barrier.</a:t>
            </a:r>
          </a:p>
        </p:txBody>
      </p:sp>
      <p:sp>
        <p:nvSpPr>
          <p:cNvPr id="14" name="Rectangle 13"/>
          <p:cNvSpPr/>
          <p:nvPr/>
        </p:nvSpPr>
        <p:spPr>
          <a:xfrm>
            <a:off x="6400799" y="2157984"/>
            <a:ext cx="501365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400799" y="2157984"/>
            <a:ext cx="501365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6812279" y="2615184"/>
            <a:ext cx="419069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5.25</a:t>
            </a:r>
          </a:p>
          <a:p>
            <a:pPr algn="l">
              <a:lnSpc>
                <a:spcPct val="120000"/>
              </a:lnSpc>
              <a:spcBef>
                <a:spcPts val="0"/>
              </a:spcBef>
              <a:spcAft>
                <a:spcPts val="1400"/>
              </a:spcAft>
            </a:pPr>
            <a:r>
              <a:rPr sz="1800" b="0" i="0">
                <a:solidFill>
                  <a:srgbClr val="1A1A1A"/>
                </a:solidFill>
                <a:latin typeface="Palatino"/>
              </a:rPr>
              <a:t>A daily chart of iShares MSCI Emerging Markets: a strong downtrend falls to a support barrier drawn from an earlier low and price rebounds, with the cycle-tuned stochastic below circled at oversold.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5.25 - Lim, The Handbook of Technical Analysis (Wiley, 2016)</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6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Angles, acceleration and barriers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Upside deceleration in an uptrend is regarded as: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Bullish</a:t>
            </a:r>
          </a:p>
          <a:p>
            <a:pPr algn="l">
              <a:lnSpc>
                <a:spcPct val="112000"/>
              </a:lnSpc>
              <a:spcBef>
                <a:spcPts val="0"/>
              </a:spcBef>
              <a:spcAft>
                <a:spcPts val="900"/>
              </a:spcAft>
            </a:pPr>
            <a:r>
              <a:rPr sz="1500" b="0" i="0">
                <a:solidFill>
                  <a:srgbClr val="FFFFFF"/>
                </a:solidFill>
                <a:latin typeface="Arial"/>
              </a:rPr>
              <a:t>B.  Bearish</a:t>
            </a:r>
          </a:p>
          <a:p>
            <a:pPr algn="l">
              <a:lnSpc>
                <a:spcPct val="112000"/>
              </a:lnSpc>
              <a:spcBef>
                <a:spcPts val="0"/>
              </a:spcBef>
              <a:spcAft>
                <a:spcPts val="900"/>
              </a:spcAft>
            </a:pPr>
            <a:r>
              <a:rPr sz="1500" b="0" i="0">
                <a:solidFill>
                  <a:srgbClr val="FFFFFF"/>
                </a:solidFill>
                <a:latin typeface="Arial"/>
              </a:rPr>
              <a:t>C.  Neutral</a:t>
            </a:r>
          </a:p>
          <a:p>
            <a:pPr algn="l">
              <a:lnSpc>
                <a:spcPct val="112000"/>
              </a:lnSpc>
              <a:spcBef>
                <a:spcPts val="0"/>
              </a:spcBef>
              <a:spcAft>
                <a:spcPts val="900"/>
              </a:spcAft>
            </a:pPr>
            <a:r>
              <a:rPr sz="1500" b="0" i="0">
                <a:solidFill>
                  <a:srgbClr val="FFFFFF"/>
                </a:solidFill>
                <a:latin typeface="Arial"/>
              </a:rPr>
              <a:t>D.  A buying climax</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strong downtrend approaches a strong and significant support level. The probability of a reversal is: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Low, because the trend is strong</a:t>
            </a:r>
          </a:p>
          <a:p>
            <a:pPr algn="l">
              <a:lnSpc>
                <a:spcPct val="112000"/>
              </a:lnSpc>
              <a:spcBef>
                <a:spcPts val="0"/>
              </a:spcBef>
              <a:spcAft>
                <a:spcPts val="900"/>
              </a:spcAft>
            </a:pPr>
            <a:r>
              <a:rPr sz="1500" b="0" i="0">
                <a:solidFill>
                  <a:srgbClr val="FFFFFF"/>
                </a:solidFill>
                <a:latin typeface="Arial"/>
              </a:rPr>
              <a:t>B.  Unchanged by the level</a:t>
            </a:r>
          </a:p>
          <a:p>
            <a:pPr algn="l">
              <a:lnSpc>
                <a:spcPct val="112000"/>
              </a:lnSpc>
              <a:spcBef>
                <a:spcPts val="0"/>
              </a:spcBef>
              <a:spcAft>
                <a:spcPts val="900"/>
              </a:spcAft>
            </a:pPr>
            <a:r>
              <a:rPr sz="1500" b="0" i="0">
                <a:solidFill>
                  <a:srgbClr val="FFFFFF"/>
                </a:solidFill>
                <a:latin typeface="Arial"/>
              </a:rPr>
              <a:t>C.  Zero until volume rises</a:t>
            </a:r>
          </a:p>
          <a:p>
            <a:pPr algn="l">
              <a:lnSpc>
                <a:spcPct val="112000"/>
              </a:lnSpc>
              <a:spcBef>
                <a:spcPts val="0"/>
              </a:spcBef>
              <a:spcAft>
                <a:spcPts val="900"/>
              </a:spcAft>
            </a:pPr>
            <a:r>
              <a:rPr sz="1500" b="0" i="0">
                <a:solidFill>
                  <a:srgbClr val="FFFFFF"/>
                </a:solidFill>
                <a:latin typeface="Arial"/>
              </a:rPr>
              <a:t>D.  High, because of barrier proximity</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11 - 5.2 Quality of trend  |  Check 6</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Angles, acceleration and barriers</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Upside deceleration in an uptrend is regarded as: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Bearish</a:t>
            </a:r>
          </a:p>
          <a:p>
            <a:pPr algn="l">
              <a:lnSpc>
                <a:spcPct val="115000"/>
              </a:lnSpc>
              <a:spcBef>
                <a:spcPts val="700"/>
              </a:spcBef>
              <a:spcAft>
                <a:spcPts val="0"/>
              </a:spcAft>
            </a:pPr>
            <a:r>
              <a:rPr sz="1600" b="0" i="0">
                <a:solidFill>
                  <a:srgbClr val="1A1A1A"/>
                </a:solidFill>
                <a:latin typeface="Arial"/>
              </a:rPr>
              <a:t>Upside acceleration is bullish and upside deceleration is bearish. For downtrends the two are reversed.</a:t>
            </a:r>
          </a:p>
        </p:txBody>
      </p:sp>
      <p:sp>
        <p:nvSpPr>
          <p:cNvPr id="10" name="Rectangle 9"/>
          <p:cNvSpPr/>
          <p:nvPr/>
        </p:nvSpPr>
        <p:spPr>
          <a:xfrm>
            <a:off x="777240" y="331571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strong downtrend approaches a strong and significant support level. The probability of a reversal is:</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High, because of barrier proximity</a:t>
            </a:r>
          </a:p>
          <a:p>
            <a:pPr algn="l">
              <a:lnSpc>
                <a:spcPct val="115000"/>
              </a:lnSpc>
              <a:spcBef>
                <a:spcPts val="700"/>
              </a:spcBef>
              <a:spcAft>
                <a:spcPts val="0"/>
              </a:spcAft>
            </a:pPr>
            <a:r>
              <a:rPr sz="1600" b="0" i="0">
                <a:solidFill>
                  <a:srgbClr val="1A1A1A"/>
                </a:solidFill>
                <a:latin typeface="Arial"/>
              </a:rPr>
              <a:t>There is always a high probability that a trend may reverse as it approaches a strong and significant price barrier.</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Check 6</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10  Frequency and depth of oscillations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17 of 24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An uptrend is more reliable with a reasonable number of oscillations: fairly frequent, not too shallow or too deep.</a:t>
            </a:r>
          </a:p>
          <a:p>
            <a:pPr algn="l">
              <a:lnSpc>
                <a:spcPct val="105000"/>
              </a:lnSpc>
              <a:spcBef>
                <a:spcPts val="0"/>
              </a:spcBef>
              <a:spcAft>
                <a:spcPts val="1100"/>
              </a:spcAft>
            </a:pPr>
            <a:r>
              <a:rPr sz="1700" b="0" i="0">
                <a:solidFill>
                  <a:srgbClr val="1A1A1A"/>
                </a:solidFill>
                <a:latin typeface="Arial"/>
              </a:rPr>
              <a:t>That is indicative of healthy profit taking.</a:t>
            </a:r>
          </a:p>
          <a:p>
            <a:pPr algn="l">
              <a:lnSpc>
                <a:spcPct val="105000"/>
              </a:lnSpc>
              <a:spcBef>
                <a:spcPts val="0"/>
              </a:spcBef>
              <a:spcAft>
                <a:spcPts val="1100"/>
              </a:spcAft>
            </a:pPr>
            <a:r>
              <a:rPr sz="1700" b="0" i="0">
                <a:solidFill>
                  <a:srgbClr val="1A1A1A"/>
                </a:solidFill>
                <a:latin typeface="Arial"/>
              </a:rPr>
              <a:t>With little profit taken, more pent-up, unrealized profit is at risk.</a:t>
            </a:r>
          </a:p>
          <a:p>
            <a:pPr algn="l">
              <a:lnSpc>
                <a:spcPct val="105000"/>
              </a:lnSpc>
              <a:spcBef>
                <a:spcPts val="0"/>
              </a:spcBef>
              <a:spcAft>
                <a:spcPts val="1100"/>
              </a:spcAft>
            </a:pPr>
            <a:r>
              <a:rPr sz="1700" b="0" i="0">
                <a:solidFill>
                  <a:srgbClr val="1A1A1A"/>
                </a:solidFill>
                <a:latin typeface="Arial"/>
              </a:rPr>
              <a:t>Traders then exit rapidly at the slightest hint of bearishness.</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Such a trend is potentially more bearish at higher prices.</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5.26</a:t>
            </a:r>
          </a:p>
          <a:p>
            <a:pPr algn="l">
              <a:lnSpc>
                <a:spcPct val="120000"/>
              </a:lnSpc>
              <a:spcBef>
                <a:spcPts val="0"/>
              </a:spcBef>
              <a:spcAft>
                <a:spcPts val="1400"/>
              </a:spcAft>
            </a:pPr>
            <a:r>
              <a:rPr sz="1800" b="0" i="0">
                <a:solidFill>
                  <a:srgbClr val="1A1A1A"/>
                </a:solidFill>
                <a:latin typeface="Palatino"/>
              </a:rPr>
              <a:t>Two uptrends. On the left a large number of deep price oscillations, with less chance of a severe retracement because more profit is taken along the way. On the right a smaller number of shallow oscillations, with a high probability of a more severe retracement.</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5.26 - Lim, The Handbook of Technical Analysis (Wiley, 2016)</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Oscillations on the Apple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18 of 24</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Apple first oscillates in a steady, rising channel.</a:t>
            </a:r>
          </a:p>
          <a:p>
            <a:pPr algn="l">
              <a:lnSpc>
                <a:spcPct val="105000"/>
              </a:lnSpc>
              <a:spcBef>
                <a:spcPts val="0"/>
              </a:spcBef>
              <a:spcAft>
                <a:spcPts val="1100"/>
              </a:spcAft>
            </a:pPr>
            <a:r>
              <a:rPr sz="1700" b="0" i="0">
                <a:solidFill>
                  <a:srgbClr val="1A1A1A"/>
                </a:solidFill>
                <a:latin typeface="Arial"/>
              </a:rPr>
              <a:t>Then price rises rapidly, with the minimum of oscillations and little profit taking.</a:t>
            </a:r>
          </a:p>
          <a:p>
            <a:pPr algn="l">
              <a:lnSpc>
                <a:spcPct val="105000"/>
              </a:lnSpc>
              <a:spcBef>
                <a:spcPts val="0"/>
              </a:spcBef>
              <a:spcAft>
                <a:spcPts val="1100"/>
              </a:spcAft>
            </a:pPr>
            <a:r>
              <a:rPr sz="1700" b="0" i="0">
                <a:solidFill>
                  <a:srgbClr val="1A1A1A"/>
                </a:solidFill>
                <a:latin typeface="Arial"/>
              </a:rPr>
              <a:t>Between time lines 1 and 2 the ATR declines as prices rise: a bearish indication.</a:t>
            </a:r>
          </a:p>
        </p:txBody>
      </p:sp>
      <p:sp>
        <p:nvSpPr>
          <p:cNvPr id="8" name="Rectangle 7"/>
          <p:cNvSpPr/>
          <p:nvPr/>
        </p:nvSpPr>
        <p:spPr>
          <a:xfrm>
            <a:off x="777240" y="429310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446227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Apple prices decline substantially thereafter.</a:t>
            </a:r>
          </a:p>
        </p:txBody>
      </p:sp>
      <p:sp>
        <p:nvSpPr>
          <p:cNvPr id="10" name="TextBox 9"/>
          <p:cNvSpPr txBox="1"/>
          <p:nvPr/>
        </p:nvSpPr>
        <p:spPr>
          <a:xfrm>
            <a:off x="777240" y="5189220"/>
            <a:ext cx="47548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Profit-taking oscillations also occur at various wave degrees within a trend.</a:t>
            </a:r>
          </a:p>
        </p:txBody>
      </p:sp>
      <p:sp>
        <p:nvSpPr>
          <p:cNvPr id="11" name="Rectangle 10"/>
          <p:cNvSpPr/>
          <p:nvPr/>
        </p:nvSpPr>
        <p:spPr>
          <a:xfrm>
            <a:off x="5852159" y="1810512"/>
            <a:ext cx="55622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5852159" y="1810512"/>
            <a:ext cx="55622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263640" y="2267712"/>
            <a:ext cx="47393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5.27</a:t>
            </a:r>
          </a:p>
          <a:p>
            <a:pPr algn="l">
              <a:lnSpc>
                <a:spcPct val="120000"/>
              </a:lnSpc>
              <a:spcBef>
                <a:spcPts val="0"/>
              </a:spcBef>
              <a:spcAft>
                <a:spcPts val="1400"/>
              </a:spcAft>
            </a:pPr>
            <a:r>
              <a:rPr sz="1800" b="0" i="0">
                <a:solidFill>
                  <a:srgbClr val="1A1A1A"/>
                </a:solidFill>
                <a:latin typeface="Palatino"/>
              </a:rPr>
              <a:t>A daily Apple chart: a relatively healthy trend with deep oscillations inside a rising channel, then a rapidly rising trend with little price oscillation, an eventual sell-off, and an ATR panel displaying bearish divergence between two dotted time lines.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5852159" y="5650992"/>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5.27 - Lim, The Handbook of Technical Analysis (Wiley, 2016)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11  Size and duration of a consolidation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19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 trend interruption is more significant if the price formation is of greater magnitude: a taller chart pattern.</a:t>
            </a:r>
          </a:p>
          <a:p>
            <a:pPr algn="l">
              <a:lnSpc>
                <a:spcPct val="105000"/>
              </a:lnSpc>
              <a:spcBef>
                <a:spcPts val="0"/>
              </a:spcBef>
              <a:spcAft>
                <a:spcPts val="1100"/>
              </a:spcAft>
            </a:pPr>
            <a:r>
              <a:rPr sz="1700" b="0" i="0">
                <a:solidFill>
                  <a:srgbClr val="1A1A1A"/>
                </a:solidFill>
                <a:latin typeface="Arial"/>
              </a:rPr>
              <a:t>And if it develops over a longer period: a wider chart pattern.</a:t>
            </a:r>
          </a:p>
          <a:p>
            <a:pPr algn="l">
              <a:lnSpc>
                <a:spcPct val="105000"/>
              </a:lnSpc>
              <a:spcBef>
                <a:spcPts val="0"/>
              </a:spcBef>
              <a:spcAft>
                <a:spcPts val="1100"/>
              </a:spcAft>
            </a:pPr>
            <a:r>
              <a:rPr sz="1700" b="0" i="0">
                <a:solidFill>
                  <a:srgbClr val="1A1A1A"/>
                </a:solidFill>
                <a:latin typeface="Arial"/>
              </a:rPr>
              <a:t>Larger trend interruptions normally lead to a greater probability of a reversal.</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In short, size takes precedence over form.</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A larger head and shoulders is more bearish in an uptrend; a larger rounding bottom more bullish in a downtrend.</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c.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C - FIN1209 teaching chart, drawn for this course. Illustrative data, not a real instrument.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12  Third gap exhaustion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20 of 24</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612648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Count the gaps in a trend. Watch the third.</a:t>
            </a:r>
          </a:p>
        </p:txBody>
      </p:sp>
      <p:sp>
        <p:nvSpPr>
          <p:cNvPr id="10" name="Rectangle 9"/>
          <p:cNvSpPr/>
          <p:nvPr/>
        </p:nvSpPr>
        <p:spPr>
          <a:xfrm>
            <a:off x="777240" y="2974847"/>
            <a:ext cx="64008" cy="14965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612648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The SPDR Dow Jones Industrial Average ETF tops after a third gap in its uptrend, and bottoms after another third gap in the downtrend that follows. The cycle-tuned stochastic is overbought at the first and oversold at the second.</a:t>
            </a:r>
          </a:p>
        </p:txBody>
      </p:sp>
      <p:sp>
        <p:nvSpPr>
          <p:cNvPr id="12" name="Rectangle 11"/>
          <p:cNvSpPr/>
          <p:nvPr/>
        </p:nvSpPr>
        <p:spPr>
          <a:xfrm>
            <a:off x="777240" y="4727448"/>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8"/>
            <a:ext cx="612648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appearance of a third gap in a trend is an indication of potential trend exhaustion and a possible reversal.</a:t>
            </a:r>
          </a:p>
        </p:txBody>
      </p:sp>
      <p:sp>
        <p:nvSpPr>
          <p:cNvPr id="14" name="Rectangle 13"/>
          <p:cNvSpPr/>
          <p:nvPr/>
        </p:nvSpPr>
        <p:spPr>
          <a:xfrm>
            <a:off x="7498079" y="2157984"/>
            <a:ext cx="391637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498079" y="2157984"/>
            <a:ext cx="391637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909559" y="2615184"/>
            <a:ext cx="309341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5.28</a:t>
            </a:r>
          </a:p>
          <a:p>
            <a:pPr algn="l">
              <a:lnSpc>
                <a:spcPct val="120000"/>
              </a:lnSpc>
              <a:spcBef>
                <a:spcPts val="0"/>
              </a:spcBef>
              <a:spcAft>
                <a:spcPts val="1400"/>
              </a:spcAft>
            </a:pPr>
            <a:r>
              <a:rPr sz="1800" b="0" i="0">
                <a:solidFill>
                  <a:srgbClr val="1A1A1A"/>
                </a:solidFill>
                <a:latin typeface="Palatino"/>
              </a:rPr>
              <a:t>A daily chart of the SPDR Dow Jones Industrial Average ETF: a breakaway, a runaway and an exhaustion gap numbered 1, 2 and 3 on the way up, the same three numbered on the way down, and a cycle-tuned stochastic indicating overextension at both third gaps.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498079" y="5650992"/>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5.28 - Lim, The Handbook of Technical Analysis (Wiley, 2016)</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7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Oscillations, size and gaps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An uptrend rises rapidly with very few oscillations. Compared with an uptrend that oscillates frequently, it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More reliable, because nothing interrupts it</a:t>
            </a:r>
          </a:p>
          <a:p>
            <a:pPr algn="l">
              <a:lnSpc>
                <a:spcPct val="112000"/>
              </a:lnSpc>
              <a:spcBef>
                <a:spcPts val="0"/>
              </a:spcBef>
              <a:spcAft>
                <a:spcPts val="900"/>
              </a:spcAft>
            </a:pPr>
            <a:r>
              <a:rPr sz="1500" b="0" i="0">
                <a:solidFill>
                  <a:srgbClr val="FFFFFF"/>
                </a:solidFill>
                <a:latin typeface="Arial"/>
              </a:rPr>
              <a:t>B.  Certain to continue</a:t>
            </a:r>
          </a:p>
          <a:p>
            <a:pPr algn="l">
              <a:lnSpc>
                <a:spcPct val="112000"/>
              </a:lnSpc>
              <a:spcBef>
                <a:spcPts val="0"/>
              </a:spcBef>
              <a:spcAft>
                <a:spcPts val="900"/>
              </a:spcAft>
            </a:pPr>
            <a:r>
              <a:rPr sz="1500" b="0" i="0">
                <a:solidFill>
                  <a:srgbClr val="FFFFFF"/>
                </a:solidFill>
                <a:latin typeface="Arial"/>
              </a:rPr>
              <a:t>C.  Potentially more bearish at higher prices</a:t>
            </a:r>
          </a:p>
          <a:p>
            <a:pPr algn="l">
              <a:lnSpc>
                <a:spcPct val="112000"/>
              </a:lnSpc>
              <a:spcBef>
                <a:spcPts val="0"/>
              </a:spcBef>
              <a:spcAft>
                <a:spcPts val="900"/>
              </a:spcAft>
            </a:pPr>
            <a:r>
              <a:rPr sz="1500" b="0" i="0">
                <a:solidFill>
                  <a:srgbClr val="FFFFFF"/>
                </a:solidFill>
                <a:latin typeface="Arial"/>
              </a:rPr>
              <a:t>D.  Free of unrealized profit</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Two head and shoulders formations appear in strong uptrends. The larger of the two is deemed:</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Less bearish than the smaller one</a:t>
            </a:r>
          </a:p>
          <a:p>
            <a:pPr algn="l">
              <a:lnSpc>
                <a:spcPct val="112000"/>
              </a:lnSpc>
              <a:spcBef>
                <a:spcPts val="0"/>
              </a:spcBef>
              <a:spcAft>
                <a:spcPts val="900"/>
              </a:spcAft>
            </a:pPr>
            <a:r>
              <a:rPr sz="1500" b="0" i="0">
                <a:solidFill>
                  <a:srgbClr val="FFFFFF"/>
                </a:solidFill>
                <a:latin typeface="Arial"/>
              </a:rPr>
              <a:t>B.  More bearish than the smaller one</a:t>
            </a:r>
          </a:p>
          <a:p>
            <a:pPr algn="l">
              <a:lnSpc>
                <a:spcPct val="112000"/>
              </a:lnSpc>
              <a:spcBef>
                <a:spcPts val="0"/>
              </a:spcBef>
              <a:spcAft>
                <a:spcPts val="900"/>
              </a:spcAft>
            </a:pPr>
            <a:r>
              <a:rPr sz="1500" b="0" i="0">
                <a:solidFill>
                  <a:srgbClr val="FFFFFF"/>
                </a:solidFill>
                <a:latin typeface="Arial"/>
              </a:rPr>
              <a:t>C.  Bullish</a:t>
            </a:r>
          </a:p>
          <a:p>
            <a:pPr algn="l">
              <a:lnSpc>
                <a:spcPct val="112000"/>
              </a:lnSpc>
              <a:spcBef>
                <a:spcPts val="0"/>
              </a:spcBef>
              <a:spcAft>
                <a:spcPts val="900"/>
              </a:spcAft>
            </a:pPr>
            <a:r>
              <a:rPr sz="1500" b="0" i="0">
                <a:solidFill>
                  <a:srgbClr val="FFFFFF"/>
                </a:solidFill>
                <a:latin typeface="Arial"/>
              </a:rPr>
              <a:t>D.  Equally bearish, because the form is the same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11 - 5.2 Quality of trend  |  Check 7</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Oscillations, size and gaps</a:t>
            </a:r>
          </a:p>
        </p:txBody>
      </p:sp>
      <p:sp>
        <p:nvSpPr>
          <p:cNvPr id="6" name="Rectangle 5"/>
          <p:cNvSpPr/>
          <p:nvPr/>
        </p:nvSpPr>
        <p:spPr>
          <a:xfrm>
            <a:off x="777240" y="1207008"/>
            <a:ext cx="10637215" cy="209549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09549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An uptrend rises rapidly with very few oscillations. Compared with an uptrend that oscillates frequently, it is:</a:t>
            </a:r>
          </a:p>
        </p:txBody>
      </p:sp>
      <p:sp>
        <p:nvSpPr>
          <p:cNvPr id="9" name="TextBox 8"/>
          <p:cNvSpPr txBox="1"/>
          <p:nvPr/>
        </p:nvSpPr>
        <p:spPr>
          <a:xfrm>
            <a:off x="1143000" y="216814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Potentially more bearish at higher prices</a:t>
            </a:r>
          </a:p>
          <a:p>
            <a:pPr algn="l">
              <a:lnSpc>
                <a:spcPct val="115000"/>
              </a:lnSpc>
              <a:spcBef>
                <a:spcPts val="700"/>
              </a:spcBef>
              <a:spcAft>
                <a:spcPts val="0"/>
              </a:spcAft>
            </a:pPr>
            <a:r>
              <a:rPr sz="1600" b="0" i="0">
                <a:solidFill>
                  <a:srgbClr val="1A1A1A"/>
                </a:solidFill>
                <a:latin typeface="Arial"/>
              </a:rPr>
              <a:t>Little profit taking leaves more pent-up and unrealized profit at risk, so traders exit rapidly at the slightest hint of bearishness.</a:t>
            </a:r>
          </a:p>
        </p:txBody>
      </p:sp>
      <p:sp>
        <p:nvSpPr>
          <p:cNvPr id="10" name="Rectangle 9"/>
          <p:cNvSpPr/>
          <p:nvPr/>
        </p:nvSpPr>
        <p:spPr>
          <a:xfrm>
            <a:off x="777240" y="354939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54939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78714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Two head and shoulders formations appear in strong uptrends. The larger of the two is deemed:</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More bearish than the smaller one</a:t>
            </a:r>
          </a:p>
          <a:p>
            <a:pPr algn="l">
              <a:lnSpc>
                <a:spcPct val="115000"/>
              </a:lnSpc>
              <a:spcBef>
                <a:spcPts val="700"/>
              </a:spcBef>
              <a:spcAft>
                <a:spcPts val="0"/>
              </a:spcAft>
            </a:pPr>
            <a:r>
              <a:rPr sz="1600" b="0" i="0">
                <a:solidFill>
                  <a:srgbClr val="1A1A1A"/>
                </a:solidFill>
                <a:latin typeface="Arial"/>
              </a:rPr>
              <a:t>Larger trend interruptions lead to a greater probability of a reversal. Size takes precedence over form.</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Check 7</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13  Average period range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21 of 24</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The usual distance price travels in one period.</a:t>
            </a:r>
          </a:p>
        </p:txBody>
      </p:sp>
      <p:sp>
        <p:nvSpPr>
          <p:cNvPr id="10" name="Rectangle 9"/>
          <p:cNvSpPr/>
          <p:nvPr/>
        </p:nvSpPr>
        <p:spPr>
          <a:xfrm>
            <a:off x="777240" y="2974847"/>
            <a:ext cx="64008" cy="123748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39496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FOREX pair's average daily range is 120 pips. Price beyond that, either way, before the trading day completes: a potential sign of exhaustion, and a reversal may be expected.</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39496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One of the most reliable characteristics of price activity. Found with the ATR, or as the 2 standard deviation value of bar range: ninety percent of ranges stay below it, the book says.</a:t>
            </a:r>
          </a:p>
        </p:txBody>
      </p:sp>
      <p:sp>
        <p:nvSpPr>
          <p:cNvPr id="14" name="Rectangle 13"/>
          <p:cNvSpPr/>
          <p:nvPr/>
        </p:nvSpPr>
        <p:spPr>
          <a:xfrm>
            <a:off x="6767931" y="2157984"/>
            <a:ext cx="464515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d.png"/>
          <p:cNvPicPr>
            <a:picLocks noChangeAspect="1"/>
          </p:cNvPicPr>
          <p:nvPr/>
        </p:nvPicPr>
        <p:blipFill>
          <a:blip r:embed="rId2"/>
          <a:stretch>
            <a:fillRect/>
          </a:stretch>
        </p:blipFill>
        <p:spPr>
          <a:xfrm>
            <a:off x="6886803" y="2276856"/>
            <a:ext cx="4407408" cy="3163824"/>
          </a:xfrm>
          <a:prstGeom prst="rect">
            <a:avLst/>
          </a:prstGeom>
        </p:spPr>
      </p:pic>
      <p:sp>
        <p:nvSpPr>
          <p:cNvPr id="16" name="TextBox 15"/>
          <p:cNvSpPr txBox="1"/>
          <p:nvPr/>
        </p:nvSpPr>
        <p:spPr>
          <a:xfrm>
            <a:off x="6766559" y="5650991"/>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D - FIN1209 teaching chart, drawn for this course. Illustrative data, not a real instrument.</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14  Overextension past an overlay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22 of 24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 price penetration above an uptrending line is generally regarded as a potential sign of exhaustion, with a reversal expected.</a:t>
            </a:r>
          </a:p>
          <a:p>
            <a:pPr algn="l">
              <a:lnSpc>
                <a:spcPct val="105000"/>
              </a:lnSpc>
              <a:spcBef>
                <a:spcPts val="0"/>
              </a:spcBef>
              <a:spcAft>
                <a:spcPts val="1100"/>
              </a:spcAft>
            </a:pPr>
            <a:r>
              <a:rPr sz="1700" b="0" i="0">
                <a:solidFill>
                  <a:srgbClr val="1A1A1A"/>
                </a:solidFill>
                <a:latin typeface="Arial"/>
              </a:rPr>
              <a:t>Similarly for a penetration below a downtrending line.</a:t>
            </a:r>
          </a:p>
          <a:p>
            <a:pPr algn="l">
              <a:lnSpc>
                <a:spcPct val="105000"/>
              </a:lnSpc>
              <a:spcBef>
                <a:spcPts val="0"/>
              </a:spcBef>
              <a:spcAft>
                <a:spcPts val="1100"/>
              </a:spcAft>
            </a:pPr>
            <a:r>
              <a:rPr sz="1700" b="0" i="0">
                <a:solidFill>
                  <a:srgbClr val="1A1A1A"/>
                </a:solidFill>
                <a:latin typeface="Arial"/>
              </a:rPr>
              <a:t>Short term penetrations below an uptrending line, or above a downtrending one, are usually regarded as false breakouts.</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With the line's slope: exhaustion. Against it: a false breakout.</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5.29</a:t>
            </a:r>
          </a:p>
          <a:p>
            <a:pPr algn="l">
              <a:lnSpc>
                <a:spcPct val="120000"/>
              </a:lnSpc>
              <a:spcBef>
                <a:spcPts val="0"/>
              </a:spcBef>
              <a:spcAft>
                <a:spcPts val="1400"/>
              </a:spcAft>
            </a:pPr>
            <a:r>
              <a:rPr sz="1800" b="0" i="0">
                <a:solidFill>
                  <a:srgbClr val="1A1A1A"/>
                </a:solidFill>
                <a:latin typeface="Palatino"/>
              </a:rPr>
              <a:t>Four small charts. Top: price spiking above an uptrending line, and price spiking below a downtrending line, each circled as price exhaustion. Bottom: price dipping below an uptrending line, and price poking above a downtrending line, each circled as a false breakout.</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5.29 - Lim, The Handbook of Technical Analysis (Wiley, 2016)</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15  Volume spread action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23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Large range, large volume: trend promoting. Bullish if the bar closes at or near its high, very bearish near its low.</a:t>
            </a:r>
          </a:p>
          <a:p>
            <a:pPr algn="l">
              <a:lnSpc>
                <a:spcPct val="105000"/>
              </a:lnSpc>
              <a:spcBef>
                <a:spcPts val="0"/>
              </a:spcBef>
              <a:spcAft>
                <a:spcPts val="1100"/>
              </a:spcAft>
            </a:pPr>
            <a:r>
              <a:rPr sz="1700" b="0" i="0">
                <a:solidFill>
                  <a:srgbClr val="1A1A1A"/>
                </a:solidFill>
                <a:latin typeface="Arial"/>
              </a:rPr>
              <a:t>Large range, low volume: trend inhibiting. A lack of commitment.</a:t>
            </a:r>
          </a:p>
          <a:p>
            <a:pPr algn="l">
              <a:lnSpc>
                <a:spcPct val="105000"/>
              </a:lnSpc>
              <a:spcBef>
                <a:spcPts val="0"/>
              </a:spcBef>
              <a:spcAft>
                <a:spcPts val="1100"/>
              </a:spcAft>
            </a:pPr>
            <a:r>
              <a:rPr sz="1700" b="0" i="0">
                <a:solidFill>
                  <a:srgbClr val="1A1A1A"/>
                </a:solidFill>
                <a:latin typeface="Arial"/>
              </a:rPr>
              <a:t>Small range, large volume: a stronger sign of a potential reversal. The squat bar.</a:t>
            </a:r>
          </a:p>
          <a:p>
            <a:pPr algn="l">
              <a:lnSpc>
                <a:spcPct val="105000"/>
              </a:lnSpc>
              <a:spcBef>
                <a:spcPts val="0"/>
              </a:spcBef>
              <a:spcAft>
                <a:spcPts val="1100"/>
              </a:spcAft>
            </a:pPr>
            <a:r>
              <a:rPr sz="1700" b="0" i="0">
                <a:solidFill>
                  <a:srgbClr val="1A1A1A"/>
                </a:solidFill>
                <a:latin typeface="Arial"/>
              </a:rPr>
              <a:t>Small range, low volume: trend inhibiting.</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Price and volume matter most together when both are extreme.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e.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E - FIN1209 teaching chart, drawn for this course. Illustrative data, not a real instrument.</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16  Volume and oscillator divergence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24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Standard or reverse divergence may appear between price and volume, or between price and any oscillator.</a:t>
            </a:r>
          </a:p>
          <a:p>
            <a:pPr algn="l">
              <a:lnSpc>
                <a:spcPct val="118000"/>
              </a:lnSpc>
              <a:spcBef>
                <a:spcPts val="0"/>
              </a:spcBef>
              <a:spcAft>
                <a:spcPts val="1300"/>
              </a:spcAft>
            </a:pPr>
            <a:r>
              <a:rPr sz="2100" b="0" i="0">
                <a:solidFill>
                  <a:srgbClr val="1A1A1A"/>
                </a:solidFill>
                <a:latin typeface="Arial"/>
              </a:rPr>
              <a:t>It may give an early indication of potential reversals or continuations in the market.</a:t>
            </a:r>
          </a:p>
        </p:txBody>
      </p:sp>
      <p:sp>
        <p:nvSpPr>
          <p:cNvPr id="8" name="Rectangle 7"/>
          <p:cNvSpPr/>
          <p:nvPr/>
        </p:nvSpPr>
        <p:spPr>
          <a:xfrm>
            <a:off x="777240" y="3901439"/>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938015"/>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 gives divergence this one sentence here and refers to Chapter 9 for more.</a:t>
            </a:r>
          </a:p>
        </p:txBody>
      </p:sp>
      <p:sp>
        <p:nvSpPr>
          <p:cNvPr id="10" name="TextBox 9"/>
          <p:cNvSpPr txBox="1"/>
          <p:nvPr/>
        </p:nvSpPr>
        <p:spPr>
          <a:xfrm>
            <a:off x="777240" y="4928107"/>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That completes the sixteen. The chapter summary advises paying particular attention to all of them.</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8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Exhaustion and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108458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currency pair has an average daily range of 120 pips. By midday it has already moved 130 pips. This is regarded as:</a:t>
            </a:r>
          </a:p>
        </p:txBody>
      </p:sp>
      <p:sp>
        <p:nvSpPr>
          <p:cNvPr id="9" name="TextBox 8"/>
          <p:cNvSpPr txBox="1"/>
          <p:nvPr/>
        </p:nvSpPr>
        <p:spPr>
          <a:xfrm>
            <a:off x="1051560"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breakaway gap</a:t>
            </a:r>
          </a:p>
          <a:p>
            <a:pPr algn="l">
              <a:lnSpc>
                <a:spcPct val="112000"/>
              </a:lnSpc>
              <a:spcBef>
                <a:spcPts val="0"/>
              </a:spcBef>
              <a:spcAft>
                <a:spcPts val="900"/>
              </a:spcAft>
            </a:pPr>
            <a:r>
              <a:rPr sz="1500" b="0" i="0">
                <a:solidFill>
                  <a:srgbClr val="FFFFFF"/>
                </a:solidFill>
                <a:latin typeface="Arial"/>
              </a:rPr>
              <a:t>B.  A potential sign of exhaustion</a:t>
            </a:r>
          </a:p>
          <a:p>
            <a:pPr algn="l">
              <a:lnSpc>
                <a:spcPct val="112000"/>
              </a:lnSpc>
              <a:spcBef>
                <a:spcPts val="0"/>
              </a:spcBef>
              <a:spcAft>
                <a:spcPts val="900"/>
              </a:spcAft>
            </a:pPr>
            <a:r>
              <a:rPr sz="1500" b="0" i="0">
                <a:solidFill>
                  <a:srgbClr val="FFFFFF"/>
                </a:solidFill>
                <a:latin typeface="Arial"/>
              </a:rPr>
              <a:t>C.  Proof that the trend will continue</a:t>
            </a:r>
          </a:p>
          <a:p>
            <a:pPr algn="l">
              <a:lnSpc>
                <a:spcPct val="112000"/>
              </a:lnSpc>
              <a:spcBef>
                <a:spcPts val="0"/>
              </a:spcBef>
              <a:spcAft>
                <a:spcPts val="900"/>
              </a:spcAft>
            </a:pPr>
            <a:r>
              <a:rPr sz="1500" b="0" i="0">
                <a:solidFill>
                  <a:srgbClr val="FFFFFF"/>
                </a:solidFill>
                <a:latin typeface="Arial"/>
              </a:rPr>
              <a:t>D.  A decrease in cycle period</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very small bar range on very large volume, the squat bar, is regarded as:</a:t>
            </a:r>
          </a:p>
        </p:txBody>
      </p:sp>
      <p:sp>
        <p:nvSpPr>
          <p:cNvPr id="13" name="TextBox 12"/>
          <p:cNvSpPr txBox="1"/>
          <p:nvPr/>
        </p:nvSpPr>
        <p:spPr>
          <a:xfrm>
            <a:off x="6690207"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Trend promoting</a:t>
            </a:r>
          </a:p>
          <a:p>
            <a:pPr algn="l">
              <a:lnSpc>
                <a:spcPct val="112000"/>
              </a:lnSpc>
              <a:spcBef>
                <a:spcPts val="0"/>
              </a:spcBef>
              <a:spcAft>
                <a:spcPts val="900"/>
              </a:spcAft>
            </a:pPr>
            <a:r>
              <a:rPr sz="1500" b="0" i="0">
                <a:solidFill>
                  <a:srgbClr val="FFFFFF"/>
                </a:solidFill>
                <a:latin typeface="Arial"/>
              </a:rPr>
              <a:t>B.  A sign of weak commitment only</a:t>
            </a:r>
          </a:p>
          <a:p>
            <a:pPr algn="l">
              <a:lnSpc>
                <a:spcPct val="112000"/>
              </a:lnSpc>
              <a:spcBef>
                <a:spcPts val="0"/>
              </a:spcBef>
              <a:spcAft>
                <a:spcPts val="900"/>
              </a:spcAft>
            </a:pPr>
            <a:r>
              <a:rPr sz="1500" b="0" i="0">
                <a:solidFill>
                  <a:srgbClr val="FFFFFF"/>
                </a:solidFill>
                <a:latin typeface="Arial"/>
              </a:rPr>
              <a:t>C.  Of no significance</a:t>
            </a:r>
          </a:p>
          <a:p>
            <a:pPr algn="l">
              <a:lnSpc>
                <a:spcPct val="112000"/>
              </a:lnSpc>
              <a:spcBef>
                <a:spcPts val="0"/>
              </a:spcBef>
              <a:spcAft>
                <a:spcPts val="900"/>
              </a:spcAft>
            </a:pPr>
            <a:r>
              <a:rPr sz="1500" b="0" i="0">
                <a:solidFill>
                  <a:srgbClr val="FFFFFF"/>
                </a:solidFill>
                <a:latin typeface="Arial"/>
              </a:rPr>
              <a:t>D.  A significantly stronger indication of a potential reversal</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11 - 5.2 Quality of trend  |  Check 8</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Exhaustion and volume</a:t>
            </a:r>
          </a:p>
        </p:txBody>
      </p:sp>
      <p:sp>
        <p:nvSpPr>
          <p:cNvPr id="6" name="Rectangle 5"/>
          <p:cNvSpPr/>
          <p:nvPr/>
        </p:nvSpPr>
        <p:spPr>
          <a:xfrm>
            <a:off x="777240" y="1207008"/>
            <a:ext cx="10637215" cy="209549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09549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currency pair has an average daily range of 120 pips. By midday it has already moved 130 pips. This is regarded as:</a:t>
            </a:r>
          </a:p>
        </p:txBody>
      </p:sp>
      <p:sp>
        <p:nvSpPr>
          <p:cNvPr id="9" name="TextBox 8"/>
          <p:cNvSpPr txBox="1"/>
          <p:nvPr/>
        </p:nvSpPr>
        <p:spPr>
          <a:xfrm>
            <a:off x="1143000" y="216814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A potential sign of exhaustion</a:t>
            </a:r>
          </a:p>
          <a:p>
            <a:pPr algn="l">
              <a:lnSpc>
                <a:spcPct val="115000"/>
              </a:lnSpc>
              <a:spcBef>
                <a:spcPts val="700"/>
              </a:spcBef>
              <a:spcAft>
                <a:spcPts val="0"/>
              </a:spcAft>
            </a:pPr>
            <a:r>
              <a:rPr sz="1600" b="0" i="0">
                <a:solidFill>
                  <a:srgbClr val="1A1A1A"/>
                </a:solidFill>
                <a:latin typeface="Arial"/>
              </a:rPr>
              <a:t>Price activity beyond the average range before the trading day completes is a potential sign of exhaustion, and a reversal may be expected.</a:t>
            </a:r>
          </a:p>
        </p:txBody>
      </p:sp>
      <p:sp>
        <p:nvSpPr>
          <p:cNvPr id="10" name="Rectangle 9"/>
          <p:cNvSpPr/>
          <p:nvPr/>
        </p:nvSpPr>
        <p:spPr>
          <a:xfrm>
            <a:off x="777240" y="354939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54939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78714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very small bar range on very large volume, the squat bar, is regarded as:</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A significantly stronger indication of a potential reversal</a:t>
            </a:r>
          </a:p>
          <a:p>
            <a:pPr algn="l">
              <a:lnSpc>
                <a:spcPct val="115000"/>
              </a:lnSpc>
              <a:spcBef>
                <a:spcPts val="700"/>
              </a:spcBef>
              <a:spcAft>
                <a:spcPts val="0"/>
              </a:spcAft>
            </a:pPr>
            <a:r>
              <a:rPr sz="1600" b="0" i="0">
                <a:solidFill>
                  <a:srgbClr val="1A1A1A"/>
                </a:solidFill>
                <a:latin typeface="Arial"/>
              </a:rPr>
              <a:t>A large commitment of capital with no further extension in price implies strong opposition to the existing trend.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Check 8</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5.3  Three categories of filter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11 - 5.3 Filters  |  1 of 3</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Price-based filters indicate the exact price of entry, but not when.</a:t>
            </a:r>
          </a:p>
          <a:p>
            <a:pPr algn="l">
              <a:lnSpc>
                <a:spcPct val="105000"/>
              </a:lnSpc>
              <a:spcBef>
                <a:spcPts val="0"/>
              </a:spcBef>
              <a:spcAft>
                <a:spcPts val="1100"/>
              </a:spcAft>
            </a:pPr>
            <a:r>
              <a:rPr sz="1700" b="0" i="0">
                <a:solidFill>
                  <a:srgbClr val="1A1A1A"/>
                </a:solidFill>
                <a:latin typeface="Arial"/>
              </a:rPr>
              <a:t>Time-based filters indicate the exact time of entry, but not the price.</a:t>
            </a:r>
          </a:p>
          <a:p>
            <a:pPr algn="l">
              <a:lnSpc>
                <a:spcPct val="105000"/>
              </a:lnSpc>
              <a:spcBef>
                <a:spcPts val="0"/>
              </a:spcBef>
              <a:spcAft>
                <a:spcPts val="1100"/>
              </a:spcAft>
            </a:pPr>
            <a:r>
              <a:rPr sz="1700" b="0" i="0">
                <a:solidFill>
                  <a:srgbClr val="1A1A1A"/>
                </a:solidFill>
                <a:latin typeface="Arial"/>
              </a:rPr>
              <a:t>Event-based filters indicate neither, until an event has occurred.</a:t>
            </a:r>
          </a:p>
        </p:txBody>
      </p:sp>
      <p:sp>
        <p:nvSpPr>
          <p:cNvPr id="8" name="Rectangle 7"/>
          <p:cNvSpPr/>
          <p:nvPr/>
        </p:nvSpPr>
        <p:spPr>
          <a:xfrm>
            <a:off x="777240" y="4293108"/>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type of filter, and the extent to which it is employed, sets the exact point of entry and exit.</a:t>
            </a:r>
          </a:p>
        </p:txBody>
      </p:sp>
      <p:sp>
        <p:nvSpPr>
          <p:cNvPr id="10" name="TextBox 9"/>
          <p:cNvSpPr txBox="1"/>
          <p:nvPr/>
        </p:nvSpPr>
        <p:spPr>
          <a:xfrm>
            <a:off x="777240" y="546354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With no filter, intraday breakouts are virtually impossible to backtest, a word the book does not define.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f.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 - FIN1209 teaching chart, drawn for this course. Illustrative data, not a real instrument.</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filters, one level down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11 - 5.3 Filters  |  2 of 3</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Price-based. Absolute: a fixed price excursion. Relative: a percentage of the breakout price. Volatility: multiples of average true range or of standard deviation.</a:t>
            </a:r>
          </a:p>
          <a:p>
            <a:pPr algn="l">
              <a:lnSpc>
                <a:spcPct val="105000"/>
              </a:lnSpc>
              <a:spcBef>
                <a:spcPts val="0"/>
              </a:spcBef>
              <a:spcAft>
                <a:spcPts val="1100"/>
              </a:spcAft>
            </a:pPr>
            <a:r>
              <a:rPr sz="1800" b="0" i="0">
                <a:solidFill>
                  <a:srgbClr val="1A1A1A"/>
                </a:solidFill>
                <a:latin typeface="Arial"/>
              </a:rPr>
              <a:t>Time-based: a duration of N closed bars.</a:t>
            </a:r>
          </a:p>
          <a:p>
            <a:pPr algn="l">
              <a:lnSpc>
                <a:spcPct val="105000"/>
              </a:lnSpc>
              <a:spcBef>
                <a:spcPts val="0"/>
              </a:spcBef>
              <a:spcAft>
                <a:spcPts val="1100"/>
              </a:spcAft>
            </a:pPr>
            <a:r>
              <a:rPr sz="1800" b="0" i="0">
                <a:solidFill>
                  <a:srgbClr val="1A1A1A"/>
                </a:solidFill>
                <a:latin typeface="Arial"/>
              </a:rPr>
              <a:t>Event-based. Algorithmic: a specific sequence of closed bars, or of new highs or lows. Event-based measure: a closing price violation, or a barrier retest after a confirmed breakout.</a:t>
            </a:r>
          </a:p>
        </p:txBody>
      </p:sp>
      <p:sp>
        <p:nvSpPr>
          <p:cNvPr id="8" name="TextBox 7"/>
          <p:cNvSpPr txBox="1"/>
          <p:nvPr/>
        </p:nvSpPr>
        <p:spPr>
          <a:xfrm>
            <a:off x="777240" y="554126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Review question 8 says 'time and algorithmic filters'. Here algorithmic is one branch of event-based.</a:t>
            </a:r>
          </a:p>
        </p:txBody>
      </p:sp>
      <p:sp>
        <p:nvSpPr>
          <p:cNvPr id="9" name="Rectangle 8"/>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5.30</a:t>
            </a:r>
          </a:p>
          <a:p>
            <a:pPr algn="l">
              <a:lnSpc>
                <a:spcPct val="120000"/>
              </a:lnSpc>
              <a:spcBef>
                <a:spcPts val="0"/>
              </a:spcBef>
              <a:spcAft>
                <a:spcPts val="1400"/>
              </a:spcAft>
            </a:pPr>
            <a:r>
              <a:rPr sz="1800" b="0" i="0">
                <a:solidFill>
                  <a:srgbClr val="1A1A1A"/>
                </a:solidFill>
                <a:latin typeface="Palatino"/>
              </a:rPr>
              <a:t>A price falling through an uptrend line after a failure swing, with a question mark on how far below the line it must go, beside the full list: (A) price-based filters, absolute, relative and volatility measures; (B) time-based filters; (C) event-based filters, algorithmic filters and event-based measures.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2" name="TextBox 11"/>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5.30 - Lim, The Handbook of Technical Analysis (Wiley, 2016)</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Two-stage filtering</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11 - 5.3 Filters  |  3 of 3</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 closing violation triggers entry. But prices may close too far beyond the entry level.</a:t>
            </a:r>
          </a:p>
          <a:p>
            <a:pPr algn="l">
              <a:lnSpc>
                <a:spcPct val="105000"/>
              </a:lnSpc>
              <a:spcBef>
                <a:spcPts val="0"/>
              </a:spcBef>
              <a:spcAft>
                <a:spcPts val="1100"/>
              </a:spcAft>
            </a:pPr>
            <a:r>
              <a:rPr sz="1700" b="0" i="0">
                <a:solidFill>
                  <a:srgbClr val="1A1A1A"/>
                </a:solidFill>
                <a:latin typeface="Arial"/>
              </a:rPr>
              <a:t>So an additional price-based filter limits entry to within a specified distance.</a:t>
            </a:r>
          </a:p>
          <a:p>
            <a:pPr algn="l">
              <a:lnSpc>
                <a:spcPct val="105000"/>
              </a:lnSpc>
              <a:spcBef>
                <a:spcPts val="0"/>
              </a:spcBef>
              <a:spcAft>
                <a:spcPts val="1100"/>
              </a:spcAft>
            </a:pPr>
            <a:r>
              <a:rPr sz="1700" b="0" i="0">
                <a:solidFill>
                  <a:srgbClr val="1A1A1A"/>
                </a:solidFill>
                <a:latin typeface="Arial"/>
              </a:rPr>
              <a:t>Time and event filters do not specify the exact price of entry, so controlling risk is ineffective, if not impossible.</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This is why price-based filters are the preferred mode of filtering.</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With no control of the maximum risk per trade, a system may meet risk of ruin, which the book does not define.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g.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G - FIN1209 teaching chart, drawn for this course. Illustrative data, not a real instrument.</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9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Filters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filter that indicates the exact price of entry, but not when the entry will be initiated,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Time-based</a:t>
            </a:r>
          </a:p>
          <a:p>
            <a:pPr algn="l">
              <a:lnSpc>
                <a:spcPct val="112000"/>
              </a:lnSpc>
              <a:spcBef>
                <a:spcPts val="0"/>
              </a:spcBef>
              <a:spcAft>
                <a:spcPts val="900"/>
              </a:spcAft>
            </a:pPr>
            <a:r>
              <a:rPr sz="1500" b="0" i="0">
                <a:solidFill>
                  <a:srgbClr val="FFFFFF"/>
                </a:solidFill>
                <a:latin typeface="Arial"/>
              </a:rPr>
              <a:t>B.  Event-based</a:t>
            </a:r>
          </a:p>
          <a:p>
            <a:pPr algn="l">
              <a:lnSpc>
                <a:spcPct val="112000"/>
              </a:lnSpc>
              <a:spcBef>
                <a:spcPts val="0"/>
              </a:spcBef>
              <a:spcAft>
                <a:spcPts val="900"/>
              </a:spcAft>
            </a:pPr>
            <a:r>
              <a:rPr sz="1500" b="0" i="0">
                <a:solidFill>
                  <a:srgbClr val="FFFFFF"/>
                </a:solidFill>
                <a:latin typeface="Arial"/>
              </a:rPr>
              <a:t>C.  Price-based</a:t>
            </a:r>
          </a:p>
          <a:p>
            <a:pPr algn="l">
              <a:lnSpc>
                <a:spcPct val="112000"/>
              </a:lnSpc>
              <a:spcBef>
                <a:spcPts val="0"/>
              </a:spcBef>
              <a:spcAft>
                <a:spcPts val="900"/>
              </a:spcAft>
            </a:pPr>
            <a:r>
              <a:rPr sz="1500" b="0" i="0">
                <a:solidFill>
                  <a:srgbClr val="FFFFFF"/>
                </a:solidFill>
                <a:latin typeface="Arial"/>
              </a:rPr>
              <a:t>D.  Algorithmic</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trader enters on a closing violation and adds a price-based filter. The second filter is there to:</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Limit entry to within a specified distance</a:t>
            </a:r>
          </a:p>
          <a:p>
            <a:pPr algn="l">
              <a:lnSpc>
                <a:spcPct val="112000"/>
              </a:lnSpc>
              <a:spcBef>
                <a:spcPts val="0"/>
              </a:spcBef>
              <a:spcAft>
                <a:spcPts val="900"/>
              </a:spcAft>
            </a:pPr>
            <a:r>
              <a:rPr sz="1500" b="0" i="0">
                <a:solidFill>
                  <a:srgbClr val="FFFFFF"/>
                </a:solidFill>
                <a:latin typeface="Arial"/>
              </a:rPr>
              <a:t>B.  Delay the entry by N closed bars</a:t>
            </a:r>
          </a:p>
          <a:p>
            <a:pPr algn="l">
              <a:lnSpc>
                <a:spcPct val="112000"/>
              </a:lnSpc>
              <a:spcBef>
                <a:spcPts val="0"/>
              </a:spcBef>
              <a:spcAft>
                <a:spcPts val="900"/>
              </a:spcAft>
            </a:pPr>
            <a:r>
              <a:rPr sz="1500" b="0" i="0">
                <a:solidFill>
                  <a:srgbClr val="FFFFFF"/>
                </a:solidFill>
                <a:latin typeface="Arial"/>
              </a:rPr>
              <a:t>C.  Confirm the trend with volume</a:t>
            </a:r>
          </a:p>
          <a:p>
            <a:pPr algn="l">
              <a:lnSpc>
                <a:spcPct val="112000"/>
              </a:lnSpc>
              <a:spcBef>
                <a:spcPts val="0"/>
              </a:spcBef>
              <a:spcAft>
                <a:spcPts val="900"/>
              </a:spcAft>
            </a:pPr>
            <a:r>
              <a:rPr sz="1500" b="0" i="0">
                <a:solidFill>
                  <a:srgbClr val="FFFFFF"/>
                </a:solidFill>
                <a:latin typeface="Arial"/>
              </a:rPr>
              <a:t>D.  Replace the closing violation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11 - 5.3 Filters  |  Check 9</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Filters</a:t>
            </a:r>
          </a:p>
        </p:txBody>
      </p:sp>
      <p:sp>
        <p:nvSpPr>
          <p:cNvPr id="6" name="Rectangle 5"/>
          <p:cNvSpPr/>
          <p:nvPr/>
        </p:nvSpPr>
        <p:spPr>
          <a:xfrm>
            <a:off x="777240" y="1207008"/>
            <a:ext cx="10637215" cy="209549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09549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filter that indicates the exact price of entry, but not when the entry will be initiated, is:</a:t>
            </a:r>
          </a:p>
        </p:txBody>
      </p:sp>
      <p:sp>
        <p:nvSpPr>
          <p:cNvPr id="9" name="TextBox 8"/>
          <p:cNvSpPr txBox="1"/>
          <p:nvPr/>
        </p:nvSpPr>
        <p:spPr>
          <a:xfrm>
            <a:off x="1143000" y="216814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Price-based</a:t>
            </a:r>
          </a:p>
          <a:p>
            <a:pPr algn="l">
              <a:lnSpc>
                <a:spcPct val="115000"/>
              </a:lnSpc>
              <a:spcBef>
                <a:spcPts val="700"/>
              </a:spcBef>
              <a:spcAft>
                <a:spcPts val="0"/>
              </a:spcAft>
            </a:pPr>
            <a:r>
              <a:rPr sz="1600" b="0" i="0">
                <a:solidFill>
                  <a:srgbClr val="1A1A1A"/>
                </a:solidFill>
                <a:latin typeface="Arial"/>
              </a:rPr>
              <a:t>Price-based filters give the exact price and not the time. Time-based filters give the time and not the price.</a:t>
            </a:r>
          </a:p>
        </p:txBody>
      </p:sp>
      <p:sp>
        <p:nvSpPr>
          <p:cNvPr id="10" name="Rectangle 9"/>
          <p:cNvSpPr/>
          <p:nvPr/>
        </p:nvSpPr>
        <p:spPr>
          <a:xfrm>
            <a:off x="777240" y="354939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54939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78714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trader enters on a closing violation and adds a price-based filter. The second filter is there to:</a:t>
            </a:r>
          </a:p>
        </p:txBody>
      </p:sp>
      <p:sp>
        <p:nvSpPr>
          <p:cNvPr id="13" name="TextBox 12"/>
          <p:cNvSpPr txBox="1"/>
          <p:nvPr/>
        </p:nvSpPr>
        <p:spPr>
          <a:xfrm>
            <a:off x="1143000" y="451053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Limit entry to within a specified distance</a:t>
            </a:r>
          </a:p>
          <a:p>
            <a:pPr algn="l">
              <a:lnSpc>
                <a:spcPct val="115000"/>
              </a:lnSpc>
              <a:spcBef>
                <a:spcPts val="700"/>
              </a:spcBef>
              <a:spcAft>
                <a:spcPts val="0"/>
              </a:spcAft>
            </a:pPr>
            <a:r>
              <a:rPr sz="1600" b="0" i="0">
                <a:solidFill>
                  <a:srgbClr val="1A1A1A"/>
                </a:solidFill>
                <a:latin typeface="Arial"/>
              </a:rPr>
              <a:t>Prices may close too far beyond the entry level. The price-based filter limits entry to within a specified distance.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11 - 5.3 Filters  |  Check 9</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5.4  Four ways into and out of the market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11 - 5.4 Participation  |  1 of 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To go long: buying to open a new position.</a:t>
            </a:r>
          </a:p>
          <a:p>
            <a:pPr algn="l">
              <a:lnSpc>
                <a:spcPct val="105000"/>
              </a:lnSpc>
              <a:spcBef>
                <a:spcPts val="0"/>
              </a:spcBef>
              <a:spcAft>
                <a:spcPts val="1100"/>
              </a:spcAft>
            </a:pPr>
            <a:r>
              <a:rPr sz="1800" b="0" i="0">
                <a:solidFill>
                  <a:srgbClr val="1A1A1A"/>
                </a:solidFill>
                <a:latin typeface="Arial"/>
              </a:rPr>
              <a:t>To go short: selling to open a new position.</a:t>
            </a:r>
          </a:p>
          <a:p>
            <a:pPr algn="l">
              <a:lnSpc>
                <a:spcPct val="105000"/>
              </a:lnSpc>
              <a:spcBef>
                <a:spcPts val="0"/>
              </a:spcBef>
              <a:spcAft>
                <a:spcPts val="1100"/>
              </a:spcAft>
            </a:pPr>
            <a:r>
              <a:rPr sz="1800" b="0" i="0">
                <a:solidFill>
                  <a:srgbClr val="1A1A1A"/>
                </a:solidFill>
                <a:latin typeface="Arial"/>
              </a:rPr>
              <a:t>To liquidate: selling to close an old long position.</a:t>
            </a:r>
          </a:p>
          <a:p>
            <a:pPr algn="l">
              <a:lnSpc>
                <a:spcPct val="105000"/>
              </a:lnSpc>
              <a:spcBef>
                <a:spcPts val="0"/>
              </a:spcBef>
              <a:spcAft>
                <a:spcPts val="1100"/>
              </a:spcAft>
            </a:pPr>
            <a:r>
              <a:rPr sz="1800" b="0" i="0">
                <a:solidFill>
                  <a:srgbClr val="1A1A1A"/>
                </a:solidFill>
                <a:latin typeface="Arial"/>
              </a:rPr>
              <a:t>To cover: buying to close an old short position.</a:t>
            </a:r>
          </a:p>
        </p:txBody>
      </p:sp>
      <p:sp>
        <p:nvSpPr>
          <p:cNvPr id="8" name="Rectangle 7"/>
          <p:cNvSpPr/>
          <p:nvPr/>
        </p:nvSpPr>
        <p:spPr>
          <a:xfrm>
            <a:off x="777240" y="455371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9028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In the figure: long from $50 to $70 is $20. Short from $70 to $40 is $30.</a:t>
            </a:r>
          </a:p>
        </p:txBody>
      </p:sp>
      <p:sp>
        <p:nvSpPr>
          <p:cNvPr id="10" name="TextBox 9"/>
          <p:cNvSpPr txBox="1"/>
          <p:nvPr/>
        </p:nvSpPr>
        <p:spPr>
          <a:xfrm>
            <a:off x="777240" y="548030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A trader holding no open positions is said to be in cash. To square a position is to exit it.</a:t>
            </a:r>
          </a:p>
        </p:txBody>
      </p:sp>
      <p:sp>
        <p:nvSpPr>
          <p:cNvPr id="11" name="Rectangle 10"/>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5.31</a:t>
            </a:r>
          </a:p>
          <a:p>
            <a:pPr algn="l">
              <a:lnSpc>
                <a:spcPct val="120000"/>
              </a:lnSpc>
              <a:spcBef>
                <a:spcPts val="0"/>
              </a:spcBef>
              <a:spcAft>
                <a:spcPts val="1400"/>
              </a:spcAft>
            </a:pPr>
            <a:r>
              <a:rPr sz="1800" b="0" i="0">
                <a:solidFill>
                  <a:srgbClr val="1A1A1A"/>
                </a:solidFill>
                <a:latin typeface="Palatino"/>
              </a:rPr>
              <a:t>One price swing with the four orders marked on it: go long, buy to open at a low price of $50; liquidate, sell to close at a higher price of $70; go short, sell to open at a high price of $70; cover, buy to close at a lower price of $40. A box works out the long profit as $20 and the short profit as $30.</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5.31 - Lim, The Handbook of Technical Analysis (Wiley, 2016)</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Buying low and selling high, four ways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11 - 5.4 Participation  |  2 of 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Buying low and selling high.</a:t>
            </a:r>
          </a:p>
          <a:p>
            <a:pPr algn="l">
              <a:lnSpc>
                <a:spcPct val="105000"/>
              </a:lnSpc>
              <a:spcBef>
                <a:spcPts val="0"/>
              </a:spcBef>
              <a:spcAft>
                <a:spcPts val="1100"/>
              </a:spcAft>
            </a:pPr>
            <a:r>
              <a:rPr sz="2000" b="0" i="0">
                <a:solidFill>
                  <a:srgbClr val="1A1A1A"/>
                </a:solidFill>
                <a:latin typeface="Arial"/>
              </a:rPr>
              <a:t>Buying high and selling higher.</a:t>
            </a:r>
          </a:p>
          <a:p>
            <a:pPr algn="l">
              <a:lnSpc>
                <a:spcPct val="105000"/>
              </a:lnSpc>
              <a:spcBef>
                <a:spcPts val="0"/>
              </a:spcBef>
              <a:spcAft>
                <a:spcPts val="1100"/>
              </a:spcAft>
            </a:pPr>
            <a:r>
              <a:rPr sz="2000" b="0" i="0">
                <a:solidFill>
                  <a:srgbClr val="1A1A1A"/>
                </a:solidFill>
                <a:latin typeface="Arial"/>
              </a:rPr>
              <a:t>Selling high and buying back lower.</a:t>
            </a:r>
          </a:p>
          <a:p>
            <a:pPr algn="l">
              <a:lnSpc>
                <a:spcPct val="105000"/>
              </a:lnSpc>
              <a:spcBef>
                <a:spcPts val="0"/>
              </a:spcBef>
              <a:spcAft>
                <a:spcPts val="1100"/>
              </a:spcAft>
            </a:pPr>
            <a:r>
              <a:rPr sz="2000" b="0" i="0">
                <a:solidFill>
                  <a:srgbClr val="1A1A1A"/>
                </a:solidFill>
                <a:latin typeface="Arial"/>
              </a:rPr>
              <a:t>Selling low and buying back even lower.</a:t>
            </a:r>
          </a:p>
        </p:txBody>
      </p:sp>
      <p:sp>
        <p:nvSpPr>
          <p:cNvPr id="8" name="Rectangle 7"/>
          <p:cNvSpPr/>
          <p:nvPr/>
        </p:nvSpPr>
        <p:spPr>
          <a:xfrm>
            <a:off x="777240" y="4105656"/>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42232"/>
            <a:ext cx="482803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Two are longs and two are shorts. All four follow the one principle.</a:t>
            </a:r>
          </a:p>
        </p:txBody>
      </p:sp>
      <p:sp>
        <p:nvSpPr>
          <p:cNvPr id="10" name="TextBox 9"/>
          <p:cNvSpPr txBox="1"/>
          <p:nvPr/>
        </p:nvSpPr>
        <p:spPr>
          <a:xfrm>
            <a:off x="777240" y="509320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Hedging: equal and opposite positions, to reduce or neutralize all directional risk. Buying at the current price is buying at the market.</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h.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H - FIN1209 teaching chart, drawn for this course. Illustrative data, not a real instrument.</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Stop orders: execution, but not the price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11 - 5.4 Participation  |  3 of 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Instructions to enter or exit a market immediately, at any price.</a:t>
            </a:r>
          </a:p>
          <a:p>
            <a:pPr algn="l">
              <a:lnSpc>
                <a:spcPct val="105000"/>
              </a:lnSpc>
              <a:spcBef>
                <a:spcPts val="0"/>
              </a:spcBef>
              <a:spcAft>
                <a:spcPts val="1100"/>
              </a:spcAft>
            </a:pPr>
            <a:r>
              <a:rPr sz="1900" b="0" i="0">
                <a:solidFill>
                  <a:srgbClr val="1A1A1A"/>
                </a:solidFill>
                <a:latin typeface="Arial"/>
              </a:rPr>
              <a:t>Once triggered, a stop order turns into a market order.</a:t>
            </a:r>
          </a:p>
          <a:p>
            <a:pPr algn="l">
              <a:lnSpc>
                <a:spcPct val="105000"/>
              </a:lnSpc>
              <a:spcBef>
                <a:spcPts val="0"/>
              </a:spcBef>
              <a:spcAft>
                <a:spcPts val="1100"/>
              </a:spcAft>
            </a:pPr>
            <a:r>
              <a:rPr sz="1900" b="0" i="0">
                <a:solidFill>
                  <a:srgbClr val="1A1A1A"/>
                </a:solidFill>
                <a:latin typeface="Arial"/>
              </a:rPr>
              <a:t>A buystop or sellstop entry is placed when a continuation in price is expected.</a:t>
            </a:r>
          </a:p>
          <a:p>
            <a:pPr algn="l">
              <a:lnSpc>
                <a:spcPct val="105000"/>
              </a:lnSpc>
              <a:spcBef>
                <a:spcPts val="0"/>
              </a:spcBef>
              <a:spcAft>
                <a:spcPts val="1100"/>
              </a:spcAft>
            </a:pPr>
            <a:r>
              <a:rPr sz="1900" b="0" i="0">
                <a:solidFill>
                  <a:srgbClr val="1A1A1A"/>
                </a:solidFill>
                <a:latin typeface="Arial"/>
              </a:rPr>
              <a:t>The stop exit is the stoploss.</a:t>
            </a:r>
          </a:p>
        </p:txBody>
      </p:sp>
      <p:sp>
        <p:nvSpPr>
          <p:cNvPr id="8" name="Rectangle 7"/>
          <p:cNvSpPr/>
          <p:nvPr/>
        </p:nvSpPr>
        <p:spPr>
          <a:xfrm>
            <a:off x="777240" y="4953762"/>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90338"/>
            <a:ext cx="482803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It can guarantee execution, but not the fill price.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i.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I - FIN1209 teaching chart, drawn for this course. Illustrative data, not a real instrument.</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Slippage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11 - 5.4 Participation  |  4 of 8</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You asked for one price and were filled at another. The difference is slippage.</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39496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stoploss waits at PHP 48. Price gaps down and the order is filled at PHP 46.50: negative slippage of PHP 1.50 a share.</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39496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difference between the specified order price and the actual filled price. Stoploss orders may experience additional loss under gapping price action, due to negative slippage.</a:t>
            </a:r>
          </a:p>
        </p:txBody>
      </p:sp>
      <p:sp>
        <p:nvSpPr>
          <p:cNvPr id="14" name="Rectangle 13"/>
          <p:cNvSpPr/>
          <p:nvPr/>
        </p:nvSpPr>
        <p:spPr>
          <a:xfrm>
            <a:off x="6767931" y="2157984"/>
            <a:ext cx="464515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j.png"/>
          <p:cNvPicPr>
            <a:picLocks noChangeAspect="1"/>
          </p:cNvPicPr>
          <p:nvPr/>
        </p:nvPicPr>
        <p:blipFill>
          <a:blip r:embed="rId2"/>
          <a:stretch>
            <a:fillRect/>
          </a:stretch>
        </p:blipFill>
        <p:spPr>
          <a:xfrm>
            <a:off x="6886803" y="2276856"/>
            <a:ext cx="4407408" cy="3163824"/>
          </a:xfrm>
          <a:prstGeom prst="rect">
            <a:avLst/>
          </a:prstGeom>
        </p:spPr>
      </p:pic>
      <p:sp>
        <p:nvSpPr>
          <p:cNvPr id="16" name="TextBox 15"/>
          <p:cNvSpPr txBox="1"/>
          <p:nvPr/>
        </p:nvSpPr>
        <p:spPr>
          <a:xfrm>
            <a:off x="6766559" y="5650991"/>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J - FIN1209 teaching chart, drawn for this course. Illustrative data, not a real instrument.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Limit orders: the price, but not execution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11 - 5.4 Participation  |  5 of 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Instructions to enter or exit a market at a specified price, or better.</a:t>
            </a:r>
          </a:p>
          <a:p>
            <a:pPr algn="l">
              <a:lnSpc>
                <a:spcPct val="105000"/>
              </a:lnSpc>
              <a:spcBef>
                <a:spcPts val="0"/>
              </a:spcBef>
              <a:spcAft>
                <a:spcPts val="1100"/>
              </a:spcAft>
            </a:pPr>
            <a:r>
              <a:rPr sz="1700" b="0" i="0">
                <a:solidFill>
                  <a:srgbClr val="1A1A1A"/>
                </a:solidFill>
                <a:latin typeface="Arial"/>
              </a:rPr>
              <a:t>If the broker cannot fill it at that price or better, it is not executed.</a:t>
            </a:r>
          </a:p>
          <a:p>
            <a:pPr algn="l">
              <a:lnSpc>
                <a:spcPct val="105000"/>
              </a:lnSpc>
              <a:spcBef>
                <a:spcPts val="0"/>
              </a:spcBef>
              <a:spcAft>
                <a:spcPts val="1100"/>
              </a:spcAft>
            </a:pPr>
            <a:r>
              <a:rPr sz="1700" b="0" i="0">
                <a:solidFill>
                  <a:srgbClr val="1A1A1A"/>
                </a:solidFill>
                <a:latin typeface="Arial"/>
              </a:rPr>
              <a:t>A buy limit or sell limit entry is placed when a reversal in price is expected.</a:t>
            </a:r>
          </a:p>
          <a:p>
            <a:pPr algn="l">
              <a:lnSpc>
                <a:spcPct val="105000"/>
              </a:lnSpc>
              <a:spcBef>
                <a:spcPts val="0"/>
              </a:spcBef>
              <a:spcAft>
                <a:spcPts val="1100"/>
              </a:spcAft>
            </a:pPr>
            <a:r>
              <a:rPr sz="1700" b="0" i="0">
                <a:solidFill>
                  <a:srgbClr val="1A1A1A"/>
                </a:solidFill>
                <a:latin typeface="Arial"/>
              </a:rPr>
              <a:t>Placed only as a pending order. Only positive slippage is possible.</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It can guarantee the intended price or better, but not execution.</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k.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K - FIN1209 teaching chart, drawn for this course. Illustrative data, not a real instrument.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10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Stop orders, limit orders and slippage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order can guarantee execution, but not the price at which it is filled?</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limit order</a:t>
            </a:r>
          </a:p>
          <a:p>
            <a:pPr algn="l">
              <a:lnSpc>
                <a:spcPct val="112000"/>
              </a:lnSpc>
              <a:spcBef>
                <a:spcPts val="0"/>
              </a:spcBef>
              <a:spcAft>
                <a:spcPts val="900"/>
              </a:spcAft>
            </a:pPr>
            <a:r>
              <a:rPr sz="1500" b="0" i="0">
                <a:solidFill>
                  <a:srgbClr val="FFFFFF"/>
                </a:solidFill>
                <a:latin typeface="Arial"/>
              </a:rPr>
              <a:t>B.  A sell limit order</a:t>
            </a:r>
          </a:p>
          <a:p>
            <a:pPr algn="l">
              <a:lnSpc>
                <a:spcPct val="112000"/>
              </a:lnSpc>
              <a:spcBef>
                <a:spcPts val="0"/>
              </a:spcBef>
              <a:spcAft>
                <a:spcPts val="900"/>
              </a:spcAft>
            </a:pPr>
            <a:r>
              <a:rPr sz="1500" b="0" i="0">
                <a:solidFill>
                  <a:srgbClr val="FFFFFF"/>
                </a:solidFill>
                <a:latin typeface="Arial"/>
              </a:rPr>
              <a:t>C.  A stop order</a:t>
            </a:r>
          </a:p>
          <a:p>
            <a:pPr algn="l">
              <a:lnSpc>
                <a:spcPct val="112000"/>
              </a:lnSpc>
              <a:spcBef>
                <a:spcPts val="0"/>
              </a:spcBef>
              <a:spcAft>
                <a:spcPts val="900"/>
              </a:spcAft>
            </a:pPr>
            <a:r>
              <a:rPr sz="1500" b="0" i="0">
                <a:solidFill>
                  <a:srgbClr val="FFFFFF"/>
                </a:solidFill>
                <a:latin typeface="Arial"/>
              </a:rPr>
              <a:t>D.  A buy limit order</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stoploss is placed at PHP 30. Price gaps, and the order is filled at PHP 28.80. The slippage is: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PHP 1.20, positive</a:t>
            </a:r>
          </a:p>
          <a:p>
            <a:pPr algn="l">
              <a:lnSpc>
                <a:spcPct val="112000"/>
              </a:lnSpc>
              <a:spcBef>
                <a:spcPts val="0"/>
              </a:spcBef>
              <a:spcAft>
                <a:spcPts val="900"/>
              </a:spcAft>
            </a:pPr>
            <a:r>
              <a:rPr sz="1500" b="0" i="0">
                <a:solidFill>
                  <a:srgbClr val="FFFFFF"/>
                </a:solidFill>
                <a:latin typeface="Arial"/>
              </a:rPr>
              <a:t>B.  PHP 1.20, negative</a:t>
            </a:r>
          </a:p>
          <a:p>
            <a:pPr algn="l">
              <a:lnSpc>
                <a:spcPct val="112000"/>
              </a:lnSpc>
              <a:spcBef>
                <a:spcPts val="0"/>
              </a:spcBef>
              <a:spcAft>
                <a:spcPts val="900"/>
              </a:spcAft>
            </a:pPr>
            <a:r>
              <a:rPr sz="1500" b="0" i="0">
                <a:solidFill>
                  <a:srgbClr val="FFFFFF"/>
                </a:solidFill>
                <a:latin typeface="Arial"/>
              </a:rPr>
              <a:t>C.  PHP 28.80</a:t>
            </a:r>
          </a:p>
          <a:p>
            <a:pPr algn="l">
              <a:lnSpc>
                <a:spcPct val="112000"/>
              </a:lnSpc>
              <a:spcBef>
                <a:spcPts val="0"/>
              </a:spcBef>
              <a:spcAft>
                <a:spcPts val="900"/>
              </a:spcAft>
            </a:pPr>
            <a:r>
              <a:rPr sz="1500" b="0" i="0">
                <a:solidFill>
                  <a:srgbClr val="FFFFFF"/>
                </a:solidFill>
                <a:latin typeface="Arial"/>
              </a:rPr>
              <a:t>D.  Zero, because the order was filled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11 - 5.4 Participation  |  Check 10</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Stop orders, limit orders and slippage</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Which order can guarantee execution, but not the price at which it is filled?</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A stop order</a:t>
            </a:r>
          </a:p>
          <a:p>
            <a:pPr algn="l">
              <a:lnSpc>
                <a:spcPct val="115000"/>
              </a:lnSpc>
              <a:spcBef>
                <a:spcPts val="700"/>
              </a:spcBef>
              <a:spcAft>
                <a:spcPts val="0"/>
              </a:spcAft>
            </a:pPr>
            <a:r>
              <a:rPr sz="1600" b="0" i="0">
                <a:solidFill>
                  <a:srgbClr val="1A1A1A"/>
                </a:solidFill>
                <a:latin typeface="Arial"/>
              </a:rPr>
              <a:t>Once triggered a stop order turns into a market order: it is executed, at whatever price the market gives.</a:t>
            </a:r>
          </a:p>
        </p:txBody>
      </p:sp>
      <p:sp>
        <p:nvSpPr>
          <p:cNvPr id="10" name="Rectangle 9"/>
          <p:cNvSpPr/>
          <p:nvPr/>
        </p:nvSpPr>
        <p:spPr>
          <a:xfrm>
            <a:off x="777240" y="331571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stoploss is placed at PHP 30. Price gaps, and the order is filled at PHP 28.80. The slippage is:</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PHP 1.20, negative</a:t>
            </a:r>
          </a:p>
          <a:p>
            <a:pPr algn="l">
              <a:lnSpc>
                <a:spcPct val="115000"/>
              </a:lnSpc>
              <a:spcBef>
                <a:spcPts val="700"/>
              </a:spcBef>
              <a:spcAft>
                <a:spcPts val="0"/>
              </a:spcAft>
            </a:pPr>
            <a:r>
              <a:rPr sz="1600" b="0" i="0">
                <a:solidFill>
                  <a:srgbClr val="1A1A1A"/>
                </a:solidFill>
                <a:latin typeface="Arial"/>
              </a:rPr>
              <a:t>Slippage is the difference between the specified order price and the actual filled price: 30.00 - 28.80 = 1.20, against the trader.</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11 - 5.4 Participation  |  Check 10</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Exits, and orders at the market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11 - 5.4 Participation  |  6 of 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Taking profit is a limit order: a sell limit above the market, a buy limit below it.</a:t>
            </a:r>
          </a:p>
          <a:p>
            <a:pPr algn="l">
              <a:lnSpc>
                <a:spcPct val="105000"/>
              </a:lnSpc>
              <a:spcBef>
                <a:spcPts val="0"/>
              </a:spcBef>
              <a:spcAft>
                <a:spcPts val="1100"/>
              </a:spcAft>
            </a:pPr>
            <a:r>
              <a:rPr sz="1700" b="0" i="0">
                <a:solidFill>
                  <a:srgbClr val="1A1A1A"/>
                </a:solidFill>
                <a:latin typeface="Arial"/>
              </a:rPr>
              <a:t>Cutting a loss is a stop order, the stoploss: a buystop above the market, a sellstop below.</a:t>
            </a:r>
          </a:p>
          <a:p>
            <a:pPr algn="l">
              <a:lnSpc>
                <a:spcPct val="105000"/>
              </a:lnSpc>
              <a:spcBef>
                <a:spcPts val="0"/>
              </a:spcBef>
              <a:spcAft>
                <a:spcPts val="1100"/>
              </a:spcAft>
            </a:pPr>
            <a:r>
              <a:rPr sz="1700" b="0" i="0">
                <a:solidFill>
                  <a:srgbClr val="1A1A1A"/>
                </a:solidFill>
                <a:latin typeface="Arial"/>
              </a:rPr>
              <a:t>A limit exit is not guaranteed. A stop exit is, but its exact price is unknown.</a:t>
            </a:r>
          </a:p>
          <a:p>
            <a:pPr algn="l">
              <a:lnSpc>
                <a:spcPct val="105000"/>
              </a:lnSpc>
              <a:spcBef>
                <a:spcPts val="0"/>
              </a:spcBef>
              <a:spcAft>
                <a:spcPts val="1100"/>
              </a:spcAft>
            </a:pPr>
            <a:r>
              <a:rPr sz="1700" b="0" i="0">
                <a:solidFill>
                  <a:srgbClr val="1A1A1A"/>
                </a:solidFill>
                <a:latin typeface="Arial"/>
              </a:rPr>
              <a:t>At the current price: a market order. Instantaneous, with no guarantee of the quoted price.</a:t>
            </a:r>
          </a:p>
        </p:txBody>
      </p:sp>
      <p:sp>
        <p:nvSpPr>
          <p:cNvPr id="8" name="TextBox 7"/>
          <p:cNvSpPr txBox="1"/>
          <p:nvPr/>
        </p:nvSpPr>
        <p:spPr>
          <a:xfrm>
            <a:off x="777240" y="5273802"/>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says 'or better, that is, higher' of every limit order, the buy limits included.</a:t>
            </a:r>
          </a:p>
        </p:txBody>
      </p:sp>
      <p:sp>
        <p:nvSpPr>
          <p:cNvPr id="9" name="Rectangle 8"/>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0" name="Picture 9" descr="chart-l.png"/>
          <p:cNvPicPr>
            <a:picLocks noChangeAspect="1"/>
          </p:cNvPicPr>
          <p:nvPr/>
        </p:nvPicPr>
        <p:blipFill>
          <a:blip r:embed="rId2"/>
          <a:stretch>
            <a:fillRect/>
          </a:stretch>
        </p:blipFill>
        <p:spPr>
          <a:xfrm>
            <a:off x="6338163" y="1929384"/>
            <a:ext cx="4956048" cy="3511296"/>
          </a:xfrm>
          <a:prstGeom prst="rect">
            <a:avLst/>
          </a:prstGeom>
        </p:spPr>
      </p:pic>
      <p:sp>
        <p:nvSpPr>
          <p:cNvPr id="11" name="TextBox 10"/>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L - FIN1209 teaching chart, drawn for this course. Illustrative data, not a real instrument.</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Every order, above, below and at the market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11 - 5.4 Participation  |  7 of 8</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5.32</a:t>
            </a:r>
          </a:p>
          <a:p>
            <a:pPr algn="l">
              <a:lnSpc>
                <a:spcPct val="120000"/>
              </a:lnSpc>
              <a:spcBef>
                <a:spcPts val="0"/>
              </a:spcBef>
              <a:spcAft>
                <a:spcPts val="1800"/>
              </a:spcAft>
            </a:pPr>
            <a:r>
              <a:rPr sz="2200" b="0" i="0">
                <a:solidFill>
                  <a:srgbClr val="1A1A1A"/>
                </a:solidFill>
                <a:latin typeface="Palatino"/>
              </a:rPr>
              <a:t>A table around the current market price. Orders allowable above the market: buy stop or limit entry, sell limit entry, MIT sell, buy stop to exit a loss, sell limit to exit with profit. Orders allowable under the market: sell stop or limit entry, buy limit entry, MIT buy, sell stop to exit a loss, buy limit to exit with profit.</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5.32 - Lim, The Handbook of Technical Analysis (Wiley, 2016)</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Other orders the book names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11 - 5.4 Participation  |  8 of 8</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Market if Touched, MIT: an MIT sell to short above the market, an MIT buy to long below it.</a:t>
            </a:r>
          </a:p>
          <a:p>
            <a:pPr algn="l">
              <a:lnSpc>
                <a:spcPct val="118000"/>
              </a:lnSpc>
              <a:spcBef>
                <a:spcPts val="0"/>
              </a:spcBef>
              <a:spcAft>
                <a:spcPts val="1300"/>
              </a:spcAft>
            </a:pPr>
            <a:r>
              <a:rPr sz="2100" b="0" i="0">
                <a:solidFill>
                  <a:srgbClr val="1A1A1A"/>
                </a:solidFill>
                <a:latin typeface="Arial"/>
              </a:rPr>
              <a:t>Day orders keep an order pending only until the end of the trading day.</a:t>
            </a:r>
          </a:p>
          <a:p>
            <a:pPr algn="l">
              <a:lnSpc>
                <a:spcPct val="118000"/>
              </a:lnSpc>
              <a:spcBef>
                <a:spcPts val="0"/>
              </a:spcBef>
              <a:spcAft>
                <a:spcPts val="1300"/>
              </a:spcAft>
            </a:pPr>
            <a:r>
              <a:rPr sz="2100" b="0" i="0">
                <a:solidFill>
                  <a:srgbClr val="1A1A1A"/>
                </a:solidFill>
                <a:latin typeface="Arial"/>
              </a:rPr>
              <a:t>Good till Cancelled orders keep an order active until further notice.</a:t>
            </a:r>
          </a:p>
          <a:p>
            <a:pPr algn="l">
              <a:lnSpc>
                <a:spcPct val="118000"/>
              </a:lnSpc>
              <a:spcBef>
                <a:spcPts val="0"/>
              </a:spcBef>
              <a:spcAft>
                <a:spcPts val="1300"/>
              </a:spcAft>
            </a:pPr>
            <a:r>
              <a:rPr sz="2100" b="0" i="0">
                <a:solidFill>
                  <a:srgbClr val="1A1A1A"/>
                </a:solidFill>
                <a:latin typeface="Arial"/>
              </a:rPr>
              <a:t>Market on Close orders are executed in the last minutes of the trading day, at or near the close.</a:t>
            </a:r>
          </a:p>
          <a:p>
            <a:pPr algn="l">
              <a:lnSpc>
                <a:spcPct val="118000"/>
              </a:lnSpc>
              <a:spcBef>
                <a:spcPts val="0"/>
              </a:spcBef>
              <a:spcAft>
                <a:spcPts val="1300"/>
              </a:spcAft>
            </a:pPr>
            <a:r>
              <a:rPr sz="2100" b="0" i="0">
                <a:solidFill>
                  <a:srgbClr val="1A1A1A"/>
                </a:solidFill>
                <a:latin typeface="Arial"/>
              </a:rPr>
              <a:t>Contingent orders are executed once another order is filled or triggered: OCO and OTO.</a:t>
            </a:r>
          </a:p>
        </p:txBody>
      </p:sp>
      <p:sp>
        <p:nvSpPr>
          <p:cNvPr id="8" name="TextBox 7"/>
          <p:cNvSpPr txBox="1"/>
          <p:nvPr/>
        </p:nvSpPr>
        <p:spPr>
          <a:xfrm>
            <a:off x="777240" y="5708903"/>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OCO is one cancel other. OTO is one trigger other.</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11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Placing orders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trader is long and wants to take profit if price rises to a level above the market. The order to place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buystop</a:t>
            </a:r>
          </a:p>
          <a:p>
            <a:pPr algn="l">
              <a:lnSpc>
                <a:spcPct val="112000"/>
              </a:lnSpc>
              <a:spcBef>
                <a:spcPts val="0"/>
              </a:spcBef>
              <a:spcAft>
                <a:spcPts val="900"/>
              </a:spcAft>
            </a:pPr>
            <a:r>
              <a:rPr sz="1500" b="0" i="0">
                <a:solidFill>
                  <a:srgbClr val="FFFFFF"/>
                </a:solidFill>
                <a:latin typeface="Arial"/>
              </a:rPr>
              <a:t>B.  A sellstop</a:t>
            </a:r>
          </a:p>
          <a:p>
            <a:pPr algn="l">
              <a:lnSpc>
                <a:spcPct val="112000"/>
              </a:lnSpc>
              <a:spcBef>
                <a:spcPts val="0"/>
              </a:spcBef>
              <a:spcAft>
                <a:spcPts val="900"/>
              </a:spcAft>
            </a:pPr>
            <a:r>
              <a:rPr sz="1500" b="0" i="0">
                <a:solidFill>
                  <a:srgbClr val="FFFFFF"/>
                </a:solidFill>
                <a:latin typeface="Arial"/>
              </a:rPr>
              <a:t>C.  A buy limit</a:t>
            </a:r>
          </a:p>
          <a:p>
            <a:pPr algn="l">
              <a:lnSpc>
                <a:spcPct val="112000"/>
              </a:lnSpc>
              <a:spcBef>
                <a:spcPts val="0"/>
              </a:spcBef>
              <a:spcAft>
                <a:spcPts val="900"/>
              </a:spcAft>
            </a:pPr>
            <a:r>
              <a:rPr sz="1500" b="0" i="0">
                <a:solidFill>
                  <a:srgbClr val="FFFFFF"/>
                </a:solidFill>
                <a:latin typeface="Arial"/>
              </a:rPr>
              <a:t>D.  A sell limit</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An order that stays pending only until the end of the trading day is a:</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Day order</a:t>
            </a:r>
          </a:p>
          <a:p>
            <a:pPr algn="l">
              <a:lnSpc>
                <a:spcPct val="112000"/>
              </a:lnSpc>
              <a:spcBef>
                <a:spcPts val="0"/>
              </a:spcBef>
              <a:spcAft>
                <a:spcPts val="900"/>
              </a:spcAft>
            </a:pPr>
            <a:r>
              <a:rPr sz="1500" b="0" i="0">
                <a:solidFill>
                  <a:srgbClr val="FFFFFF"/>
                </a:solidFill>
                <a:latin typeface="Arial"/>
              </a:rPr>
              <a:t>B.  Good till Cancelled order</a:t>
            </a:r>
          </a:p>
          <a:p>
            <a:pPr algn="l">
              <a:lnSpc>
                <a:spcPct val="112000"/>
              </a:lnSpc>
              <a:spcBef>
                <a:spcPts val="0"/>
              </a:spcBef>
              <a:spcAft>
                <a:spcPts val="900"/>
              </a:spcAft>
            </a:pPr>
            <a:r>
              <a:rPr sz="1500" b="0" i="0">
                <a:solidFill>
                  <a:srgbClr val="FFFFFF"/>
                </a:solidFill>
                <a:latin typeface="Arial"/>
              </a:rPr>
              <a:t>C.  Market on Close order</a:t>
            </a:r>
          </a:p>
          <a:p>
            <a:pPr algn="l">
              <a:lnSpc>
                <a:spcPct val="112000"/>
              </a:lnSpc>
              <a:spcBef>
                <a:spcPts val="0"/>
              </a:spcBef>
              <a:spcAft>
                <a:spcPts val="900"/>
              </a:spcAft>
            </a:pPr>
            <a:r>
              <a:rPr sz="1500" b="0" i="0">
                <a:solidFill>
                  <a:srgbClr val="FFFFFF"/>
                </a:solidFill>
                <a:latin typeface="Arial"/>
              </a:rPr>
              <a:t>D.  Contingent order</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11 - 5.4 Participation  |  Check 11</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Placing orders</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trader is long and wants to take profit if price rises to a level above the market. The order to place is:</a:t>
            </a:r>
          </a:p>
        </p:txBody>
      </p:sp>
      <p:sp>
        <p:nvSpPr>
          <p:cNvPr id="9" name="TextBox 8"/>
          <p:cNvSpPr txBox="1"/>
          <p:nvPr/>
        </p:nvSpPr>
        <p:spPr>
          <a:xfrm>
            <a:off x="1143000" y="216814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A sell limit</a:t>
            </a:r>
          </a:p>
          <a:p>
            <a:pPr algn="l">
              <a:lnSpc>
                <a:spcPct val="115000"/>
              </a:lnSpc>
              <a:spcBef>
                <a:spcPts val="700"/>
              </a:spcBef>
              <a:spcAft>
                <a:spcPts val="0"/>
              </a:spcAft>
            </a:pPr>
            <a:r>
              <a:rPr sz="1600" b="0" i="0">
                <a:solidFill>
                  <a:srgbClr val="1A1A1A"/>
                </a:solidFill>
                <a:latin typeface="Arial"/>
              </a:rPr>
              <a:t>Profit taking above the market is a sell limit, normally referred to as a profit-take order.</a:t>
            </a:r>
          </a:p>
        </p:txBody>
      </p:sp>
      <p:sp>
        <p:nvSpPr>
          <p:cNvPr id="10" name="Rectangle 9"/>
          <p:cNvSpPr/>
          <p:nvPr/>
        </p:nvSpPr>
        <p:spPr>
          <a:xfrm>
            <a:off x="777240" y="331571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An order that stays pending only until the end of the trading day is a:</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Day order</a:t>
            </a:r>
          </a:p>
          <a:p>
            <a:pPr algn="l">
              <a:lnSpc>
                <a:spcPct val="115000"/>
              </a:lnSpc>
              <a:spcBef>
                <a:spcPts val="700"/>
              </a:spcBef>
              <a:spcAft>
                <a:spcPts val="0"/>
              </a:spcAft>
            </a:pPr>
            <a:r>
              <a:rPr sz="1600" b="0" i="0">
                <a:solidFill>
                  <a:srgbClr val="1A1A1A"/>
                </a:solidFill>
                <a:latin typeface="Arial"/>
              </a:rPr>
              <a:t>Day orders instruct the broker to keep an order pending only until the end of the trading day.</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11 - 5.4 Participation  |  Check 11</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5.5  Ways of initiating an entry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1 of 13</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Overlay breakout entries: on an upside or downside breakout of a price overlay.</a:t>
            </a:r>
          </a:p>
          <a:p>
            <a:pPr algn="l">
              <a:lnSpc>
                <a:spcPct val="105000"/>
              </a:lnSpc>
              <a:spcBef>
                <a:spcPts val="0"/>
              </a:spcBef>
              <a:spcAft>
                <a:spcPts val="1100"/>
              </a:spcAft>
            </a:pPr>
            <a:r>
              <a:rPr sz="1800" b="0" i="0">
                <a:solidFill>
                  <a:srgbClr val="1A1A1A"/>
                </a:solidFill>
                <a:latin typeface="Arial"/>
              </a:rPr>
              <a:t>Overlay barrier entries: buying at a barrier support, shorting at a barrier resistance, or at a retest of a barrier.</a:t>
            </a:r>
          </a:p>
          <a:p>
            <a:pPr algn="l">
              <a:lnSpc>
                <a:spcPct val="105000"/>
              </a:lnSpc>
              <a:spcBef>
                <a:spcPts val="0"/>
              </a:spcBef>
              <a:spcAft>
                <a:spcPts val="1100"/>
              </a:spcAft>
            </a:pPr>
            <a:r>
              <a:rPr sz="1800" b="0" i="0">
                <a:solidFill>
                  <a:srgbClr val="1A1A1A"/>
                </a:solidFill>
                <a:latin typeface="Arial"/>
              </a:rPr>
              <a:t>Failed breakout entries: in the opposite direction, after a failed breakout.</a:t>
            </a:r>
          </a:p>
          <a:p>
            <a:pPr algn="l">
              <a:lnSpc>
                <a:spcPct val="105000"/>
              </a:lnSpc>
              <a:spcBef>
                <a:spcPts val="0"/>
              </a:spcBef>
              <a:spcAft>
                <a:spcPts val="1100"/>
              </a:spcAft>
            </a:pPr>
            <a:r>
              <a:rPr sz="1800" b="0" i="0">
                <a:solidFill>
                  <a:srgbClr val="1A1A1A"/>
                </a:solidFill>
                <a:latin typeface="Arial"/>
              </a:rPr>
              <a:t>Random entries, and pattern or sequence-based entries.</a:t>
            </a:r>
          </a:p>
        </p:txBody>
      </p:sp>
      <p:sp>
        <p:nvSpPr>
          <p:cNvPr id="8" name="TextBox 7"/>
          <p:cNvSpPr txBox="1"/>
          <p:nvPr/>
        </p:nvSpPr>
        <p:spPr>
          <a:xfrm>
            <a:off x="777240" y="541782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announces four simple ways and lists five. Each may or may not be in the direction of the predominant trend.</a:t>
            </a:r>
          </a:p>
        </p:txBody>
      </p:sp>
      <p:sp>
        <p:nvSpPr>
          <p:cNvPr id="9" name="Rectangle 8"/>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0" name="Picture 9" descr="chart-m.png"/>
          <p:cNvPicPr>
            <a:picLocks noChangeAspect="1"/>
          </p:cNvPicPr>
          <p:nvPr/>
        </p:nvPicPr>
        <p:blipFill>
          <a:blip r:embed="rId2"/>
          <a:stretch>
            <a:fillRect/>
          </a:stretch>
        </p:blipFill>
        <p:spPr>
          <a:xfrm>
            <a:off x="6338163" y="1929384"/>
            <a:ext cx="4956048" cy="3511296"/>
          </a:xfrm>
          <a:prstGeom prst="rect">
            <a:avLst/>
          </a:prstGeom>
        </p:spPr>
      </p:pic>
      <p:sp>
        <p:nvSpPr>
          <p:cNvPr id="11" name="TextBox 10"/>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M - FIN1209 teaching chart, drawn for this course. Illustrative data, not a real instrument.</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Three variations of a top and a bottom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2 of 13</a:t>
            </a:r>
          </a:p>
        </p:txBody>
      </p:sp>
      <p:sp>
        <p:nvSpPr>
          <p:cNvPr id="7" name="TextBox 6"/>
          <p:cNvSpPr txBox="1"/>
          <p:nvPr/>
        </p:nvSpPr>
        <p:spPr>
          <a:xfrm>
            <a:off x="777240" y="1965960"/>
            <a:ext cx="64008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Failure swing: the second peak fails to penetrate the previous peak.</a:t>
            </a:r>
          </a:p>
          <a:p>
            <a:pPr algn="l">
              <a:lnSpc>
                <a:spcPct val="105000"/>
              </a:lnSpc>
              <a:spcBef>
                <a:spcPts val="0"/>
              </a:spcBef>
              <a:spcAft>
                <a:spcPts val="1100"/>
              </a:spcAft>
            </a:pPr>
            <a:r>
              <a:rPr sz="1800" b="0" i="0">
                <a:solidFill>
                  <a:srgbClr val="1A1A1A"/>
                </a:solidFill>
                <a:latin typeface="Arial"/>
              </a:rPr>
              <a:t>Double top: the second peak matches the level of the previous peak.</a:t>
            </a:r>
          </a:p>
          <a:p>
            <a:pPr algn="l">
              <a:lnSpc>
                <a:spcPct val="105000"/>
              </a:lnSpc>
              <a:spcBef>
                <a:spcPts val="0"/>
              </a:spcBef>
              <a:spcAft>
                <a:spcPts val="1100"/>
              </a:spcAft>
            </a:pPr>
            <a:r>
              <a:rPr sz="1800" b="0" i="0">
                <a:solidFill>
                  <a:srgbClr val="1A1A1A"/>
                </a:solidFill>
                <a:latin typeface="Arial"/>
              </a:rPr>
              <a:t>Non-failure swing: the second peak succeeds in penetrating the previous peak.</a:t>
            </a:r>
          </a:p>
          <a:p>
            <a:pPr algn="l">
              <a:lnSpc>
                <a:spcPct val="105000"/>
              </a:lnSpc>
              <a:spcBef>
                <a:spcPts val="0"/>
              </a:spcBef>
              <a:spcAft>
                <a:spcPts val="1100"/>
              </a:spcAft>
            </a:pPr>
            <a:r>
              <a:rPr sz="1800" b="0" i="0">
                <a:solidFill>
                  <a:srgbClr val="1A1A1A"/>
                </a:solidFill>
                <a:latin typeface="Arial"/>
              </a:rPr>
              <a:t>Bottoms are the mirror: a failure swing, a double bottom and a non-failure swing, read on the second trough.</a:t>
            </a:r>
          </a:p>
        </p:txBody>
      </p:sp>
      <p:sp>
        <p:nvSpPr>
          <p:cNvPr id="8" name="TextBox 7"/>
          <p:cNvSpPr txBox="1"/>
          <p:nvPr/>
        </p:nvSpPr>
        <p:spPr>
          <a:xfrm>
            <a:off x="777240" y="5129784"/>
            <a:ext cx="64008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More complex tops and bottoms: a head and shoulders, a broadening formation, an island, a diamond, a rounding top or bottom.</a:t>
            </a:r>
          </a:p>
        </p:txBody>
      </p:sp>
      <p:sp>
        <p:nvSpPr>
          <p:cNvPr id="9" name="Rectangle 8"/>
          <p:cNvSpPr/>
          <p:nvPr/>
        </p:nvSpPr>
        <p:spPr>
          <a:xfrm>
            <a:off x="7498079" y="1810512"/>
            <a:ext cx="3916374" cy="3749039"/>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7498079" y="1810512"/>
            <a:ext cx="3916374"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909559" y="2267712"/>
            <a:ext cx="30934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5.33</a:t>
            </a:r>
          </a:p>
          <a:p>
            <a:pPr algn="l">
              <a:lnSpc>
                <a:spcPct val="120000"/>
              </a:lnSpc>
              <a:spcBef>
                <a:spcPts val="0"/>
              </a:spcBef>
              <a:spcAft>
                <a:spcPts val="1400"/>
              </a:spcAft>
            </a:pPr>
            <a:r>
              <a:rPr sz="1800" b="0" i="0">
                <a:solidFill>
                  <a:srgbClr val="1A1A1A"/>
                </a:solidFill>
                <a:latin typeface="Palatino"/>
              </a:rPr>
              <a:t>Two rows of three drawings. Three basic variations of a top reversal: failure swing, double top and non-failure swing, each with its second peak and its sell signal marked. Three basic variations of a bottom reversal: the same three on the second trough, each with its buy signal.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2" name="TextBox 11"/>
          <p:cNvSpPr txBox="1"/>
          <p:nvPr/>
        </p:nvSpPr>
        <p:spPr>
          <a:xfrm>
            <a:off x="7498079" y="5650992"/>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5.33 - Lim, The Handbook of Technical Analysis (Wiley, 2016)</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Inflection point of strength 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3 of 13</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peak or trough counts for more the more bars flank it on either side.</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39496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peak with ten bars on either side of its highest bar is of strength 10. One with only two is of strength 2.</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39496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N bars on either side of the highest peak or lowest trough is an inflection point of strength N. The more bars, the more significant the peak and the stronger its resistance level.</a:t>
            </a:r>
          </a:p>
        </p:txBody>
      </p:sp>
      <p:sp>
        <p:nvSpPr>
          <p:cNvPr id="14" name="Rectangle 13"/>
          <p:cNvSpPr/>
          <p:nvPr/>
        </p:nvSpPr>
        <p:spPr>
          <a:xfrm>
            <a:off x="6767931" y="2157984"/>
            <a:ext cx="464515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n.png"/>
          <p:cNvPicPr>
            <a:picLocks noChangeAspect="1"/>
          </p:cNvPicPr>
          <p:nvPr/>
        </p:nvPicPr>
        <p:blipFill>
          <a:blip r:embed="rId2"/>
          <a:stretch>
            <a:fillRect/>
          </a:stretch>
        </p:blipFill>
        <p:spPr>
          <a:xfrm>
            <a:off x="6886803" y="2276856"/>
            <a:ext cx="4407408" cy="3163824"/>
          </a:xfrm>
          <a:prstGeom prst="rect">
            <a:avLst/>
          </a:prstGeom>
        </p:spPr>
      </p:pic>
      <p:sp>
        <p:nvSpPr>
          <p:cNvPr id="16" name="TextBox 15"/>
          <p:cNvSpPr txBox="1"/>
          <p:nvPr/>
        </p:nvSpPr>
        <p:spPr>
          <a:xfrm>
            <a:off x="6766559" y="5650991"/>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N - FIN1209 teaching chart, drawn for this course. Illustrative data, not a real instrument.</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Support and resistance role reversal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4 of 13</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466344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breached barrier changes sides.</a:t>
            </a:r>
          </a:p>
        </p:txBody>
      </p:sp>
      <p:sp>
        <p:nvSpPr>
          <p:cNvPr id="10" name="Rectangle 9"/>
          <p:cNvSpPr/>
          <p:nvPr/>
        </p:nvSpPr>
        <p:spPr>
          <a:xfrm>
            <a:off x="777240" y="297484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466344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share holds at PHP 40, then falls through it. On the next rally PHP 40 stops it.</a:t>
            </a:r>
          </a:p>
        </p:txBody>
      </p:sp>
      <p:sp>
        <p:nvSpPr>
          <p:cNvPr id="12" name="Rectangle 11"/>
          <p:cNvSpPr/>
          <p:nvPr/>
        </p:nvSpPr>
        <p:spPr>
          <a:xfrm>
            <a:off x="777240" y="3950207"/>
            <a:ext cx="64008" cy="175564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3904487"/>
            <a:ext cx="4663440" cy="18653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Price barriers change roles once breached: support turns into future resistance, and resistance turns into future support. This applies to all overlay barriers, which include channels, trendlines, pivot points and price envelopes.</a:t>
            </a:r>
          </a:p>
        </p:txBody>
      </p:sp>
      <p:sp>
        <p:nvSpPr>
          <p:cNvPr id="14" name="Rectangle 13"/>
          <p:cNvSpPr/>
          <p:nvPr/>
        </p:nvSpPr>
        <p:spPr>
          <a:xfrm>
            <a:off x="6035040" y="2157984"/>
            <a:ext cx="537941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035040" y="2157984"/>
            <a:ext cx="537941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6446520" y="2615184"/>
            <a:ext cx="455645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5.34</a:t>
            </a:r>
          </a:p>
          <a:p>
            <a:pPr algn="l">
              <a:lnSpc>
                <a:spcPct val="120000"/>
              </a:lnSpc>
              <a:spcBef>
                <a:spcPts val="0"/>
              </a:spcBef>
              <a:spcAft>
                <a:spcPts val="1400"/>
              </a:spcAft>
            </a:pPr>
            <a:r>
              <a:rPr sz="1800" b="0" i="0">
                <a:solidFill>
                  <a:srgbClr val="1A1A1A"/>
                </a:solidFill>
                <a:latin typeface="Palatino"/>
              </a:rPr>
              <a:t>Four drawings in two columns, resistance turning into support and support turning into resistance: the top pair on horizontal levels, the bottom pair on a downtrend line and an uptrend line.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5.34 - Lim, The Handbook of Technical Analysis (Wiley, 2016)</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Role reversal in a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5 of 13</a:t>
            </a:r>
          </a:p>
        </p:txBody>
      </p:sp>
      <p:sp>
        <p:nvSpPr>
          <p:cNvPr id="7" name="TextBox 6"/>
          <p:cNvSpPr txBox="1"/>
          <p:nvPr/>
        </p:nvSpPr>
        <p:spPr>
          <a:xfrm>
            <a:off x="777240" y="1965960"/>
            <a:ext cx="438912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In a downtrend, support turns into resistance, level after level.</a:t>
            </a:r>
          </a:p>
          <a:p>
            <a:pPr algn="l">
              <a:lnSpc>
                <a:spcPct val="105000"/>
              </a:lnSpc>
              <a:spcBef>
                <a:spcPts val="0"/>
              </a:spcBef>
              <a:spcAft>
                <a:spcPts val="1100"/>
              </a:spcAft>
            </a:pPr>
            <a:r>
              <a:rPr sz="2000" b="0" i="0">
                <a:solidFill>
                  <a:srgbClr val="1A1A1A"/>
                </a:solidFill>
                <a:latin typeface="Arial"/>
              </a:rPr>
              <a:t>In an uptrend, resistance turns into support, level after level.</a:t>
            </a:r>
          </a:p>
        </p:txBody>
      </p:sp>
      <p:sp>
        <p:nvSpPr>
          <p:cNvPr id="8" name="Rectangle 7"/>
          <p:cNvSpPr/>
          <p:nvPr/>
        </p:nvSpPr>
        <p:spPr>
          <a:xfrm>
            <a:off x="777240" y="3776472"/>
            <a:ext cx="82296" cy="14264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13048"/>
            <a:ext cx="4096512" cy="142646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Each horizontal line in the figure is one level, met first from one side and then from the other.</a:t>
            </a:r>
          </a:p>
        </p:txBody>
      </p:sp>
      <p:sp>
        <p:nvSpPr>
          <p:cNvPr id="10" name="Rectangle 9"/>
          <p:cNvSpPr/>
          <p:nvPr/>
        </p:nvSpPr>
        <p:spPr>
          <a:xfrm>
            <a:off x="5486399" y="1810512"/>
            <a:ext cx="59280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5486399" y="1810512"/>
            <a:ext cx="59280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5897879" y="2267712"/>
            <a:ext cx="51050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5.35</a:t>
            </a:r>
          </a:p>
          <a:p>
            <a:pPr algn="l">
              <a:lnSpc>
                <a:spcPct val="120000"/>
              </a:lnSpc>
              <a:spcBef>
                <a:spcPts val="0"/>
              </a:spcBef>
              <a:spcAft>
                <a:spcPts val="1400"/>
              </a:spcAft>
            </a:pPr>
            <a:r>
              <a:rPr sz="1800" b="0" i="0">
                <a:solidFill>
                  <a:srgbClr val="1A1A1A"/>
                </a:solidFill>
                <a:latin typeface="Palatino"/>
              </a:rPr>
              <a:t>A price chart falling and then rising, with short horizontal lines at the levels where support turned into resistance in the downtrend and where resistance turned into support in the uptrend.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5486399" y="5650992"/>
            <a:ext cx="592805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5.35 - Lim, The Handbook of Technical Analysis (Wiley, 2016)</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Prior peaks, prior troughs and a channel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6 of 13</a:t>
            </a:r>
          </a:p>
        </p:txBody>
      </p:sp>
      <p:sp>
        <p:nvSpPr>
          <p:cNvPr id="7" name="TextBox 6"/>
          <p:cNvSpPr txBox="1"/>
          <p:nvPr/>
        </p:nvSpPr>
        <p:spPr>
          <a:xfrm>
            <a:off x="777240" y="1965960"/>
            <a:ext cx="43891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EURUSD, 30 minutes: price finds support and resistance at prior peaks and troughs.</a:t>
            </a:r>
          </a:p>
          <a:p>
            <a:pPr algn="l">
              <a:lnSpc>
                <a:spcPct val="105000"/>
              </a:lnSpc>
              <a:spcBef>
                <a:spcPts val="0"/>
              </a:spcBef>
              <a:spcAft>
                <a:spcPts val="1100"/>
              </a:spcAft>
            </a:pPr>
            <a:r>
              <a:rPr sz="1800" b="0" i="0">
                <a:solidFill>
                  <a:srgbClr val="1A1A1A"/>
                </a:solidFill>
                <a:latin typeface="Arial"/>
              </a:rPr>
              <a:t>It finds them on the rising channel as well.</a:t>
            </a:r>
          </a:p>
          <a:p>
            <a:pPr algn="l">
              <a:lnSpc>
                <a:spcPct val="105000"/>
              </a:lnSpc>
              <a:spcBef>
                <a:spcPts val="0"/>
              </a:spcBef>
              <a:spcAft>
                <a:spcPts val="1100"/>
              </a:spcAft>
            </a:pPr>
            <a:r>
              <a:rPr sz="1800" b="0" i="0">
                <a:solidFill>
                  <a:srgbClr val="1A1A1A"/>
                </a:solidFill>
                <a:latin typeface="Arial"/>
              </a:rPr>
              <a:t>The cycle-tuned stochastic adds confirmation: overbought at resistance, oversold at support.</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09651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Resistance turning into support, again and again, in an uptrend.</a:t>
            </a:r>
          </a:p>
        </p:txBody>
      </p:sp>
      <p:sp>
        <p:nvSpPr>
          <p:cNvPr id="10" name="Rectangle 9"/>
          <p:cNvSpPr/>
          <p:nvPr/>
        </p:nvSpPr>
        <p:spPr>
          <a:xfrm>
            <a:off x="5486399" y="1810512"/>
            <a:ext cx="59280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5486399" y="1810512"/>
            <a:ext cx="59280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5897879" y="2267712"/>
            <a:ext cx="51050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5.36</a:t>
            </a:r>
          </a:p>
          <a:p>
            <a:pPr algn="l">
              <a:lnSpc>
                <a:spcPct val="120000"/>
              </a:lnSpc>
              <a:spcBef>
                <a:spcPts val="0"/>
              </a:spcBef>
              <a:spcAft>
                <a:spcPts val="1400"/>
              </a:spcAft>
            </a:pPr>
            <a:r>
              <a:rPr sz="1800" b="0" i="0">
                <a:solidFill>
                  <a:srgbClr val="1A1A1A"/>
                </a:solidFill>
                <a:latin typeface="Palatino"/>
              </a:rPr>
              <a:t>A 30 minute EURUSD chart headed resistance turning into support in an uptrend: horizontal levels each marked resistance and then support, a rising channel around them, and a cycle-tuned stochastic below with arrows from its lows up to the support levels.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5486399" y="5650992"/>
            <a:ext cx="592805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5.36 - Lim, The Handbook of Technical Analysis (Wiley, 2016)</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12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Entries, swing points and role reversal</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At a market top, the second peak fails to penetrate the previous peak. This variation is called a:</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Double top</a:t>
            </a:r>
          </a:p>
          <a:p>
            <a:pPr algn="l">
              <a:lnSpc>
                <a:spcPct val="112000"/>
              </a:lnSpc>
              <a:spcBef>
                <a:spcPts val="0"/>
              </a:spcBef>
              <a:spcAft>
                <a:spcPts val="900"/>
              </a:spcAft>
            </a:pPr>
            <a:r>
              <a:rPr sz="1500" b="0" i="0">
                <a:solidFill>
                  <a:srgbClr val="FFFFFF"/>
                </a:solidFill>
                <a:latin typeface="Arial"/>
              </a:rPr>
              <a:t>B.  Failure swing</a:t>
            </a:r>
          </a:p>
          <a:p>
            <a:pPr algn="l">
              <a:lnSpc>
                <a:spcPct val="112000"/>
              </a:lnSpc>
              <a:spcBef>
                <a:spcPts val="0"/>
              </a:spcBef>
              <a:spcAft>
                <a:spcPts val="900"/>
              </a:spcAft>
            </a:pPr>
            <a:r>
              <a:rPr sz="1500" b="0" i="0">
                <a:solidFill>
                  <a:srgbClr val="FFFFFF"/>
                </a:solidFill>
                <a:latin typeface="Arial"/>
              </a:rPr>
              <a:t>C.  Non-failure swing</a:t>
            </a:r>
          </a:p>
          <a:p>
            <a:pPr algn="l">
              <a:lnSpc>
                <a:spcPct val="112000"/>
              </a:lnSpc>
              <a:spcBef>
                <a:spcPts val="0"/>
              </a:spcBef>
              <a:spcAft>
                <a:spcPts val="900"/>
              </a:spcAft>
            </a:pPr>
            <a:r>
              <a:rPr sz="1500" b="0" i="0">
                <a:solidFill>
                  <a:srgbClr val="FFFFFF"/>
                </a:solidFill>
                <a:latin typeface="Arial"/>
              </a:rPr>
              <a:t>D.  Rounding top</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support level is breached. In technical analysis it is now expected to act as: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Stronger support</a:t>
            </a:r>
          </a:p>
          <a:p>
            <a:pPr algn="l">
              <a:lnSpc>
                <a:spcPct val="112000"/>
              </a:lnSpc>
              <a:spcBef>
                <a:spcPts val="0"/>
              </a:spcBef>
              <a:spcAft>
                <a:spcPts val="900"/>
              </a:spcAft>
            </a:pPr>
            <a:r>
              <a:rPr sz="1500" b="0" i="0">
                <a:solidFill>
                  <a:srgbClr val="FFFFFF"/>
                </a:solidFill>
                <a:latin typeface="Arial"/>
              </a:rPr>
              <a:t>B.  A runaway gap</a:t>
            </a:r>
          </a:p>
          <a:p>
            <a:pPr algn="l">
              <a:lnSpc>
                <a:spcPct val="112000"/>
              </a:lnSpc>
              <a:spcBef>
                <a:spcPts val="0"/>
              </a:spcBef>
              <a:spcAft>
                <a:spcPts val="900"/>
              </a:spcAft>
            </a:pPr>
            <a:r>
              <a:rPr sz="1500" b="0" i="0">
                <a:solidFill>
                  <a:srgbClr val="FFFFFF"/>
                </a:solidFill>
                <a:latin typeface="Arial"/>
              </a:rPr>
              <a:t>C.  Future resistance</a:t>
            </a:r>
          </a:p>
          <a:p>
            <a:pPr algn="l">
              <a:lnSpc>
                <a:spcPct val="112000"/>
              </a:lnSpc>
              <a:spcBef>
                <a:spcPts val="0"/>
              </a:spcBef>
              <a:spcAft>
                <a:spcPts val="900"/>
              </a:spcAft>
            </a:pPr>
            <a:r>
              <a:rPr sz="1500" b="0" i="0">
                <a:solidFill>
                  <a:srgbClr val="FFFFFF"/>
                </a:solidFill>
                <a:latin typeface="Arial"/>
              </a:rPr>
              <a:t>D.  Nothing: a breached level is discarded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5 of 11 - 5.5 Inflection points  |  Check 12</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Entries, swing points and role reversal</a:t>
            </a:r>
          </a:p>
        </p:txBody>
      </p:sp>
      <p:sp>
        <p:nvSpPr>
          <p:cNvPr id="6" name="Rectangle 5"/>
          <p:cNvSpPr/>
          <p:nvPr/>
        </p:nvSpPr>
        <p:spPr>
          <a:xfrm>
            <a:off x="777240" y="1207008"/>
            <a:ext cx="10637215" cy="209549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09549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At a market top, the second peak fails to penetrate the previous peak. This variation is called a:</a:t>
            </a:r>
          </a:p>
        </p:txBody>
      </p:sp>
      <p:sp>
        <p:nvSpPr>
          <p:cNvPr id="9" name="TextBox 8"/>
          <p:cNvSpPr txBox="1"/>
          <p:nvPr/>
        </p:nvSpPr>
        <p:spPr>
          <a:xfrm>
            <a:off x="1143000" y="216814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Failure swing</a:t>
            </a:r>
          </a:p>
          <a:p>
            <a:pPr algn="l">
              <a:lnSpc>
                <a:spcPct val="115000"/>
              </a:lnSpc>
              <a:spcBef>
                <a:spcPts val="700"/>
              </a:spcBef>
              <a:spcAft>
                <a:spcPts val="0"/>
              </a:spcAft>
            </a:pPr>
            <a:r>
              <a:rPr sz="1600" b="0" i="0">
                <a:solidFill>
                  <a:srgbClr val="1A1A1A"/>
                </a:solidFill>
                <a:latin typeface="Arial"/>
              </a:rPr>
              <a:t>A failure swing fails to penetrate. A double top matches the previous peak, and a non-failure swing succeeds in penetrating it.</a:t>
            </a:r>
          </a:p>
        </p:txBody>
      </p:sp>
      <p:sp>
        <p:nvSpPr>
          <p:cNvPr id="10" name="Rectangle 9"/>
          <p:cNvSpPr/>
          <p:nvPr/>
        </p:nvSpPr>
        <p:spPr>
          <a:xfrm>
            <a:off x="777240" y="354939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54939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78714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support level is breached. In technical analysis it is now expected to act as:</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Future resistance</a:t>
            </a:r>
          </a:p>
          <a:p>
            <a:pPr algn="l">
              <a:lnSpc>
                <a:spcPct val="115000"/>
              </a:lnSpc>
              <a:spcBef>
                <a:spcPts val="700"/>
              </a:spcBef>
              <a:spcAft>
                <a:spcPts val="0"/>
              </a:spcAft>
            </a:pPr>
            <a:r>
              <a:rPr sz="1600" b="0" i="0">
                <a:solidFill>
                  <a:srgbClr val="1A1A1A"/>
                </a:solidFill>
                <a:latin typeface="Arial"/>
              </a:rPr>
              <a:t>Price barriers change roles once breached: support turns into future resistance, and resistance into future support.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Check 12</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Trade in the direction of the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7 of 13</a:t>
            </a:r>
          </a:p>
        </p:txBody>
      </p:sp>
      <p:sp>
        <p:nvSpPr>
          <p:cNvPr id="7" name="TextBox 6"/>
          <p:cNvSpPr txBox="1"/>
          <p:nvPr/>
        </p:nvSpPr>
        <p:spPr>
          <a:xfrm>
            <a:off x="777240" y="1965960"/>
            <a:ext cx="64008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It means to buy in an uptrend and short in a downtrend. It is generally easier and safer.</a:t>
            </a:r>
          </a:p>
          <a:p>
            <a:pPr algn="l">
              <a:lnSpc>
                <a:spcPct val="105000"/>
              </a:lnSpc>
              <a:spcBef>
                <a:spcPts val="0"/>
              </a:spcBef>
              <a:spcAft>
                <a:spcPts val="1100"/>
              </a:spcAft>
            </a:pPr>
            <a:r>
              <a:rPr sz="1700" b="0" i="0">
                <a:solidFill>
                  <a:srgbClr val="1A1A1A"/>
                </a:solidFill>
                <a:latin typeface="Arial"/>
              </a:rPr>
              <a:t>Buying dips and selling rallies gets positions at the most advantageous prices, with the smallest stopsizes: the stop sits close to the entry.</a:t>
            </a:r>
          </a:p>
          <a:p>
            <a:pPr algn="l">
              <a:lnSpc>
                <a:spcPct val="105000"/>
              </a:lnSpc>
              <a:spcBef>
                <a:spcPts val="0"/>
              </a:spcBef>
              <a:spcAft>
                <a:spcPts val="1100"/>
              </a:spcAft>
            </a:pPr>
            <a:r>
              <a:rPr sz="1700" b="0" i="0">
                <a:solidFill>
                  <a:srgbClr val="1A1A1A"/>
                </a:solidFill>
                <a:latin typeface="Arial"/>
              </a:rPr>
              <a:t>Positions taken with the trend can be held, and so extract greater profit from the markets.</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61081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Buying a dip and selling a rally are retracement entries in the direction of the existing trend.</a:t>
            </a:r>
          </a:p>
        </p:txBody>
      </p:sp>
      <p:sp>
        <p:nvSpPr>
          <p:cNvPr id="10" name="TextBox 9"/>
          <p:cNvSpPr txBox="1"/>
          <p:nvPr/>
        </p:nvSpPr>
        <p:spPr>
          <a:xfrm>
            <a:off x="777240" y="5461254"/>
            <a:ext cx="64008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Simple up and down trendlines or channels time the entries. A cycle-tuned oscillator helps fine-tune them.</a:t>
            </a:r>
          </a:p>
        </p:txBody>
      </p:sp>
      <p:sp>
        <p:nvSpPr>
          <p:cNvPr id="11" name="Rectangle 10"/>
          <p:cNvSpPr/>
          <p:nvPr/>
        </p:nvSpPr>
        <p:spPr>
          <a:xfrm>
            <a:off x="7498079" y="1810512"/>
            <a:ext cx="391637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498079" y="1810512"/>
            <a:ext cx="391637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909559" y="2267712"/>
            <a:ext cx="30934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5.37</a:t>
            </a:r>
          </a:p>
          <a:p>
            <a:pPr algn="l">
              <a:lnSpc>
                <a:spcPct val="120000"/>
              </a:lnSpc>
              <a:spcBef>
                <a:spcPts val="0"/>
              </a:spcBef>
              <a:spcAft>
                <a:spcPts val="1400"/>
              </a:spcAft>
            </a:pPr>
            <a:r>
              <a:rPr sz="1800" b="0" i="0">
                <a:solidFill>
                  <a:srgbClr val="1A1A1A"/>
                </a:solidFill>
                <a:latin typeface="Palatino"/>
              </a:rPr>
              <a:t>Two drawings: buying dips in an uptrend, with arrows at each trough along a rising dotted trendline, and selling into rallies in a downtrend, with arrows at each peak along a falling one.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7498079" y="5650992"/>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5.37 - Lim, The Handbook of Technical Analysis (Wiley, 2016)</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Trend filter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8 of 13</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rule that says whether a trend is on.</a:t>
            </a:r>
          </a:p>
        </p:txBody>
      </p:sp>
      <p:sp>
        <p:nvSpPr>
          <p:cNvPr id="10" name="Rectangle 9"/>
          <p:cNvSpPr/>
          <p:nvPr/>
        </p:nvSpPr>
        <p:spPr>
          <a:xfrm>
            <a:off x="777240" y="297484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39496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double moving average crossover. Shorter above longer: a potential uptrend starts. Shorter below longer: a potential downtrend.</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39496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It helps to identify a trend amidst the market noise and price volatility. Two more: a longer-term oscillator crossing its signal line, and price contained above or below an overlay barrier, such as a moving average or trendline.</a:t>
            </a:r>
          </a:p>
        </p:txBody>
      </p:sp>
      <p:sp>
        <p:nvSpPr>
          <p:cNvPr id="14" name="Rectangle 13"/>
          <p:cNvSpPr/>
          <p:nvPr/>
        </p:nvSpPr>
        <p:spPr>
          <a:xfrm>
            <a:off x="6767931" y="2157984"/>
            <a:ext cx="464515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o.png"/>
          <p:cNvPicPr>
            <a:picLocks noChangeAspect="1"/>
          </p:cNvPicPr>
          <p:nvPr/>
        </p:nvPicPr>
        <p:blipFill>
          <a:blip r:embed="rId2"/>
          <a:stretch>
            <a:fillRect/>
          </a:stretch>
        </p:blipFill>
        <p:spPr>
          <a:xfrm>
            <a:off x="6886803" y="2276856"/>
            <a:ext cx="4407408" cy="3163824"/>
          </a:xfrm>
          <a:prstGeom prst="rect">
            <a:avLst/>
          </a:prstGeom>
        </p:spPr>
      </p:pic>
      <p:sp>
        <p:nvSpPr>
          <p:cNvPr id="16" name="TextBox 15"/>
          <p:cNvSpPr txBox="1"/>
          <p:nvPr/>
        </p:nvSpPr>
        <p:spPr>
          <a:xfrm>
            <a:off x="6766559" y="5650991"/>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O - FIN1209 teaching chart, drawn for this course. Illustrative data, not a real instrument.</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filter and a trigger together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9 of 13</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MACD is the trend filter. The stochastic crossing its signal line times the entries.</a:t>
            </a:r>
          </a:p>
          <a:p>
            <a:pPr algn="l">
              <a:lnSpc>
                <a:spcPct val="105000"/>
              </a:lnSpc>
              <a:spcBef>
                <a:spcPts val="0"/>
              </a:spcBef>
              <a:spcAft>
                <a:spcPts val="1100"/>
              </a:spcAft>
            </a:pPr>
            <a:r>
              <a:rPr sz="1700" b="0" i="0">
                <a:solidFill>
                  <a:srgbClr val="1A1A1A"/>
                </a:solidFill>
                <a:latin typeface="Arial"/>
              </a:rPr>
              <a:t>Long entries: the stochastic crosses above its signal line with the MACD above zero. Short: the reverse.</a:t>
            </a:r>
          </a:p>
          <a:p>
            <a:pPr algn="l">
              <a:lnSpc>
                <a:spcPct val="105000"/>
              </a:lnSpc>
              <a:spcBef>
                <a:spcPts val="0"/>
              </a:spcBef>
              <a:spcAft>
                <a:spcPts val="1100"/>
              </a:spcAft>
            </a:pPr>
            <a:r>
              <a:rPr sz="1700" b="0" i="0">
                <a:solidFill>
                  <a:srgbClr val="1A1A1A"/>
                </a:solidFill>
                <a:latin typeface="Arial"/>
              </a:rPr>
              <a:t>Stops: just below the previous trough for a long, just above the previous peak for a short, trailing price.</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Divergence in the MACD helps to warn of a potential reversal.</a:t>
            </a:r>
          </a:p>
        </p:txBody>
      </p:sp>
      <p:sp>
        <p:nvSpPr>
          <p:cNvPr id="10" name="TextBox 9"/>
          <p:cNvSpPr txBox="1"/>
          <p:nvPr/>
        </p:nvSpPr>
        <p:spPr>
          <a:xfrm>
            <a:off x="777240" y="5733288"/>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MACD and the stochastic are used here and not taught.</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5.38</a:t>
            </a:r>
          </a:p>
          <a:p>
            <a:pPr algn="l">
              <a:lnSpc>
                <a:spcPct val="120000"/>
              </a:lnSpc>
              <a:spcBef>
                <a:spcPts val="0"/>
              </a:spcBef>
              <a:spcAft>
                <a:spcPts val="1400"/>
              </a:spcAft>
            </a:pPr>
            <a:r>
              <a:rPr sz="1800" b="0" i="0">
                <a:solidFill>
                  <a:srgbClr val="1A1A1A"/>
                </a:solidFill>
                <a:latin typeface="Palatino"/>
              </a:rPr>
              <a:t>A EURUSD chart with long entries, short entries and trailing stops marked on price, a stochastic panel with the entry crossovers circled, and a MACD panel with three divergences drawn on it.</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5.38 - Lim, The Handbook of Technical Analysis (Wiley, 2016)</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13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With the trend</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Buying on a dip in an uptrend is an example of:</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failed breakout entry</a:t>
            </a:r>
          </a:p>
          <a:p>
            <a:pPr algn="l">
              <a:lnSpc>
                <a:spcPct val="112000"/>
              </a:lnSpc>
              <a:spcBef>
                <a:spcPts val="0"/>
              </a:spcBef>
              <a:spcAft>
                <a:spcPts val="900"/>
              </a:spcAft>
            </a:pPr>
            <a:r>
              <a:rPr sz="1500" b="0" i="0">
                <a:solidFill>
                  <a:srgbClr val="FFFFFF"/>
                </a:solidFill>
                <a:latin typeface="Arial"/>
              </a:rPr>
              <a:t>B.  A random entry</a:t>
            </a:r>
          </a:p>
          <a:p>
            <a:pPr algn="l">
              <a:lnSpc>
                <a:spcPct val="112000"/>
              </a:lnSpc>
              <a:spcBef>
                <a:spcPts val="0"/>
              </a:spcBef>
              <a:spcAft>
                <a:spcPts val="900"/>
              </a:spcAft>
            </a:pPr>
            <a:r>
              <a:rPr sz="1500" b="0" i="0">
                <a:solidFill>
                  <a:srgbClr val="FFFFFF"/>
                </a:solidFill>
                <a:latin typeface="Arial"/>
              </a:rPr>
              <a:t>C.  A breakout entry against the trend</a:t>
            </a:r>
          </a:p>
          <a:p>
            <a:pPr algn="l">
              <a:lnSpc>
                <a:spcPct val="112000"/>
              </a:lnSpc>
              <a:spcBef>
                <a:spcPts val="0"/>
              </a:spcBef>
              <a:spcAft>
                <a:spcPts val="900"/>
              </a:spcAft>
            </a:pPr>
            <a:r>
              <a:rPr sz="1500" b="0" i="0">
                <a:solidFill>
                  <a:srgbClr val="FFFFFF"/>
                </a:solidFill>
                <a:latin typeface="Arial"/>
              </a:rPr>
              <a:t>D.  A retracement entry in the direction of the existing trend</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 double moving average crossover, the start of a potential uptrend is signified by:</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shorter average crossing above the longer</a:t>
            </a:r>
          </a:p>
          <a:p>
            <a:pPr algn="l">
              <a:lnSpc>
                <a:spcPct val="112000"/>
              </a:lnSpc>
              <a:spcBef>
                <a:spcPts val="0"/>
              </a:spcBef>
              <a:spcAft>
                <a:spcPts val="900"/>
              </a:spcAft>
            </a:pPr>
            <a:r>
              <a:rPr sz="1500" b="0" i="0">
                <a:solidFill>
                  <a:srgbClr val="FFFFFF"/>
                </a:solidFill>
                <a:latin typeface="Arial"/>
              </a:rPr>
              <a:t>B.  The longer average crossing above the shorter</a:t>
            </a:r>
          </a:p>
          <a:p>
            <a:pPr algn="l">
              <a:lnSpc>
                <a:spcPct val="112000"/>
              </a:lnSpc>
              <a:spcBef>
                <a:spcPts val="0"/>
              </a:spcBef>
              <a:spcAft>
                <a:spcPts val="900"/>
              </a:spcAft>
            </a:pPr>
            <a:r>
              <a:rPr sz="1500" b="0" i="0">
                <a:solidFill>
                  <a:srgbClr val="FFFFFF"/>
                </a:solidFill>
                <a:latin typeface="Arial"/>
              </a:rPr>
              <a:t>C.  Price touching either average</a:t>
            </a:r>
          </a:p>
          <a:p>
            <a:pPr algn="l">
              <a:lnSpc>
                <a:spcPct val="112000"/>
              </a:lnSpc>
              <a:spcBef>
                <a:spcPts val="0"/>
              </a:spcBef>
              <a:spcAft>
                <a:spcPts val="900"/>
              </a:spcAft>
            </a:pPr>
            <a:r>
              <a:rPr sz="1500" b="0" i="0">
                <a:solidFill>
                  <a:srgbClr val="FFFFFF"/>
                </a:solidFill>
                <a:latin typeface="Arial"/>
              </a:rPr>
              <a:t>D.  Both averages turning flat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5 of 11 - 5.5 Inflection points  |  Check 13</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With the trend</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Buying on a dip in an uptrend is an example of:</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A retracement entry in the direction of the existing trend</a:t>
            </a:r>
          </a:p>
          <a:p>
            <a:pPr algn="l">
              <a:lnSpc>
                <a:spcPct val="115000"/>
              </a:lnSpc>
              <a:spcBef>
                <a:spcPts val="700"/>
              </a:spcBef>
              <a:spcAft>
                <a:spcPts val="0"/>
              </a:spcAft>
            </a:pPr>
            <a:r>
              <a:rPr sz="1600" b="0" i="0">
                <a:solidFill>
                  <a:srgbClr val="1A1A1A"/>
                </a:solidFill>
                <a:latin typeface="Arial"/>
              </a:rPr>
              <a:t>Buying on a dip and selling into a rally are retracement entries taken in the direction of the existing trend.</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In a double moving average crossover, the start of a potential uptrend is signified by:</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The shorter average crossing above the longer</a:t>
            </a:r>
          </a:p>
          <a:p>
            <a:pPr algn="l">
              <a:lnSpc>
                <a:spcPct val="115000"/>
              </a:lnSpc>
              <a:spcBef>
                <a:spcPts val="700"/>
              </a:spcBef>
              <a:spcAft>
                <a:spcPts val="0"/>
              </a:spcAft>
            </a:pPr>
            <a:r>
              <a:rPr sz="1600" b="0" i="0">
                <a:solidFill>
                  <a:srgbClr val="1A1A1A"/>
                </a:solidFill>
                <a:latin typeface="Arial"/>
              </a:rPr>
              <a:t>The shorter crossing above the longer signifies the start of a potential uptrend. Crossing below it, a potential downtrend.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Check 13</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the stop goes, and how big it is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10 of 13</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 stop is usually placed just below significant troughs for longs, and just above significant peaks for shorts.</a:t>
            </a:r>
          </a:p>
          <a:p>
            <a:pPr algn="l">
              <a:lnSpc>
                <a:spcPct val="105000"/>
              </a:lnSpc>
              <a:spcBef>
                <a:spcPts val="0"/>
              </a:spcBef>
              <a:spcAft>
                <a:spcPts val="1100"/>
              </a:spcAft>
            </a:pPr>
            <a:r>
              <a:rPr sz="1700" b="0" i="0">
                <a:solidFill>
                  <a:srgbClr val="1A1A1A"/>
                </a:solidFill>
                <a:latin typeface="Arial"/>
              </a:rPr>
              <a:t>Too far from one: a multiple of ATR or standard deviations from the entry.</a:t>
            </a:r>
          </a:p>
          <a:p>
            <a:pPr algn="l">
              <a:lnSpc>
                <a:spcPct val="105000"/>
              </a:lnSpc>
              <a:spcBef>
                <a:spcPts val="0"/>
              </a:spcBef>
              <a:spcAft>
                <a:spcPts val="1100"/>
              </a:spcAft>
            </a:pPr>
            <a:r>
              <a:rPr sz="1700" b="0" i="0">
                <a:solidFill>
                  <a:srgbClr val="1A1A1A"/>
                </a:solidFill>
                <a:latin typeface="Arial"/>
              </a:rPr>
              <a:t>Barrier entries: stopsizes are always approximately the same, just behind the barrier.</a:t>
            </a:r>
          </a:p>
          <a:p>
            <a:pPr algn="l">
              <a:lnSpc>
                <a:spcPct val="105000"/>
              </a:lnSpc>
              <a:spcBef>
                <a:spcPts val="0"/>
              </a:spcBef>
              <a:spcAft>
                <a:spcPts val="1100"/>
              </a:spcAft>
            </a:pPr>
            <a:r>
              <a:rPr sz="1700" b="0" i="0">
                <a:solidFill>
                  <a:srgbClr val="1A1A1A"/>
                </a:solidFill>
                <a:latin typeface="Arial"/>
              </a:rPr>
              <a:t>Breakout entries: stopsizes vary with each entry.</a:t>
            </a:r>
          </a:p>
        </p:txBody>
      </p:sp>
      <p:sp>
        <p:nvSpPr>
          <p:cNvPr id="8" name="TextBox 7"/>
          <p:cNvSpPr txBox="1"/>
          <p:nvPr/>
        </p:nvSpPr>
        <p:spPr>
          <a:xfrm>
            <a:off x="777240" y="5545836"/>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Stopsize: the distance from entry to stop, the figure's brackets. The book never defines the word.</a:t>
            </a:r>
          </a:p>
        </p:txBody>
      </p:sp>
      <p:sp>
        <p:nvSpPr>
          <p:cNvPr id="9" name="Rectangle 8"/>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5.39</a:t>
            </a:r>
          </a:p>
          <a:p>
            <a:pPr algn="l">
              <a:lnSpc>
                <a:spcPct val="120000"/>
              </a:lnSpc>
              <a:spcBef>
                <a:spcPts val="0"/>
              </a:spcBef>
              <a:spcAft>
                <a:spcPts val="1400"/>
              </a:spcAft>
            </a:pPr>
            <a:r>
              <a:rPr sz="1800" b="0" i="0">
                <a:solidFill>
                  <a:srgbClr val="1A1A1A"/>
                </a:solidFill>
                <a:latin typeface="Palatino"/>
              </a:rPr>
              <a:t>Two columns. Breakout entries: go long at a breakout with the stoploss just below the trough, where the stopsize will vary with each entry. Barrier entries: go long at support with the stoploss just below the barrier, where the stopsize need not vary with each entry. Each is shown on a level and on a trendline.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2" name="TextBox 11"/>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5.39 - Lim, The Handbook of Technical Analysis (Wiley, 2016)</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trouble with a varying stopsize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11 of 13</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 significant problem for traders risking a fixed percentage or fixed unit size per trade.</a:t>
            </a:r>
          </a:p>
          <a:p>
            <a:pPr algn="l">
              <a:lnSpc>
                <a:spcPct val="105000"/>
              </a:lnSpc>
              <a:spcBef>
                <a:spcPts val="0"/>
              </a:spcBef>
              <a:spcAft>
                <a:spcPts val="1100"/>
              </a:spcAft>
            </a:pPr>
            <a:r>
              <a:rPr sz="1700" b="0" i="0">
                <a:solidFill>
                  <a:srgbClr val="1A1A1A"/>
                </a:solidFill>
                <a:latin typeface="Arial"/>
              </a:rPr>
              <a:t>The tradesize varies with the stopsize, which affects the system's performance.</a:t>
            </a:r>
          </a:p>
          <a:p>
            <a:pPr algn="l">
              <a:lnSpc>
                <a:spcPct val="105000"/>
              </a:lnSpc>
              <a:spcBef>
                <a:spcPts val="0"/>
              </a:spcBef>
              <a:spcAft>
                <a:spcPts val="1100"/>
              </a:spcAft>
            </a:pPr>
            <a:r>
              <a:rPr sz="1700" b="0" i="0">
                <a:solidFill>
                  <a:srgbClr val="1A1A1A"/>
                </a:solidFill>
                <a:latin typeface="Arial"/>
              </a:rPr>
              <a:t>Worst if narrow stops, on a fixed percentage of current capital, are taken out frequently.</a:t>
            </a:r>
          </a:p>
          <a:p>
            <a:pPr algn="l">
              <a:lnSpc>
                <a:spcPct val="105000"/>
              </a:lnSpc>
              <a:spcBef>
                <a:spcPts val="0"/>
              </a:spcBef>
              <a:spcAft>
                <a:spcPts val="1100"/>
              </a:spcAft>
            </a:pPr>
            <a:r>
              <a:rPr sz="1700" b="0" i="0">
                <a:solidFill>
                  <a:srgbClr val="1A1A1A"/>
                </a:solidFill>
                <a:latin typeface="Arial"/>
              </a:rPr>
              <a:t>Or wide stops, on a fixed percentage of original capital.</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Either way the result is significant loss.</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p.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P - FIN1209 teaching chart, drawn for this course. Illustrative data, not a real instrument.</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Proportional stopsizing</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12 of 13</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One tradesize for every stop up to a threshold. A smaller one for any wider stop.</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39496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Threshold PHP 3.00, risk limit PHP 10,000. Stops up to PHP 3.00 trade 3,333 shares. A PHP 5.00 stop trades 10,000 / 5 = 2,000.</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39496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It limits the losses in either scenario by allocating a fixed percentage of original capital to narrow stops, and of current capital for stopsizes that exceed a fixed threshold size.</a:t>
            </a:r>
          </a:p>
        </p:txBody>
      </p:sp>
      <p:sp>
        <p:nvSpPr>
          <p:cNvPr id="14" name="Rectangle 13"/>
          <p:cNvSpPr/>
          <p:nvPr/>
        </p:nvSpPr>
        <p:spPr>
          <a:xfrm>
            <a:off x="6767931" y="2157984"/>
            <a:ext cx="464515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q.png"/>
          <p:cNvPicPr>
            <a:picLocks noChangeAspect="1"/>
          </p:cNvPicPr>
          <p:nvPr/>
        </p:nvPicPr>
        <p:blipFill>
          <a:blip r:embed="rId2"/>
          <a:stretch>
            <a:fillRect/>
          </a:stretch>
        </p:blipFill>
        <p:spPr>
          <a:xfrm>
            <a:off x="6886803" y="2276856"/>
            <a:ext cx="4407408" cy="3163824"/>
          </a:xfrm>
          <a:prstGeom prst="rect">
            <a:avLst/>
          </a:prstGeom>
        </p:spPr>
      </p:pic>
      <p:sp>
        <p:nvSpPr>
          <p:cNvPr id="16" name="TextBox 15"/>
          <p:cNvSpPr txBox="1"/>
          <p:nvPr/>
        </p:nvSpPr>
        <p:spPr>
          <a:xfrm>
            <a:off x="6766559" y="5650991"/>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Q - FIN1209 teaching chart, drawn for this course. Illustrative data, not a real instrument.</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Five steps to the proportional tradesize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13 of 13</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Backtest 300 to 500 trades for the average stopsize. Say PHP 2.00.</a:t>
            </a:r>
          </a:p>
          <a:p>
            <a:pPr algn="l">
              <a:lnSpc>
                <a:spcPct val="105000"/>
              </a:lnSpc>
              <a:spcBef>
                <a:spcPts val="0"/>
              </a:spcBef>
              <a:spcAft>
                <a:spcPts val="1100"/>
              </a:spcAft>
            </a:pPr>
            <a:r>
              <a:rPr sz="1700" b="0" i="0">
                <a:solidFill>
                  <a:srgbClr val="1A1A1A"/>
                </a:solidFill>
                <a:latin typeface="Arial"/>
              </a:rPr>
              <a:t>2  Calculate the two standard deviation value of those stopsizes. Say PHP 1.00.</a:t>
            </a:r>
          </a:p>
          <a:p>
            <a:pPr algn="l">
              <a:lnSpc>
                <a:spcPct val="105000"/>
              </a:lnSpc>
              <a:spcBef>
                <a:spcPts val="0"/>
              </a:spcBef>
              <a:spcAft>
                <a:spcPts val="1100"/>
              </a:spcAft>
            </a:pPr>
            <a:r>
              <a:rPr sz="1700" b="0" i="0">
                <a:solidFill>
                  <a:srgbClr val="1A1A1A"/>
                </a:solidFill>
                <a:latin typeface="Arial"/>
              </a:rPr>
              <a:t>3  Add them: 2.00 + 1.00 = PHP 3.00, the proportional stopsize.</a:t>
            </a:r>
          </a:p>
          <a:p>
            <a:pPr algn="l">
              <a:lnSpc>
                <a:spcPct val="105000"/>
              </a:lnSpc>
              <a:spcBef>
                <a:spcPts val="0"/>
              </a:spcBef>
              <a:spcAft>
                <a:spcPts val="1100"/>
              </a:spcAft>
            </a:pPr>
            <a:r>
              <a:rPr sz="1700" b="0" i="0">
                <a:solidFill>
                  <a:srgbClr val="1A1A1A"/>
                </a:solidFill>
                <a:latin typeface="Arial"/>
              </a:rPr>
              <a:t>4  Set the maximum risk per trade: 1 percent of PHP 1,000,000 is PHP 10,000.</a:t>
            </a:r>
          </a:p>
          <a:p>
            <a:pPr algn="l">
              <a:lnSpc>
                <a:spcPct val="105000"/>
              </a:lnSpc>
              <a:spcBef>
                <a:spcPts val="0"/>
              </a:spcBef>
              <a:spcAft>
                <a:spcPts val="1100"/>
              </a:spcAft>
            </a:pPr>
            <a:r>
              <a:rPr sz="1700" b="0" i="0">
                <a:solidFill>
                  <a:srgbClr val="1A1A1A"/>
                </a:solidFill>
                <a:latin typeface="Arial"/>
              </a:rPr>
              <a:t>5  Divide: 10,000 / 3.00 = 3,333 shares, the proportional tradesize.</a:t>
            </a:r>
          </a:p>
        </p:txBody>
      </p:sp>
      <p:sp>
        <p:nvSpPr>
          <p:cNvPr id="8" name="TextBox 7"/>
          <p:cNvSpPr txBox="1"/>
          <p:nvPr/>
        </p:nvSpPr>
        <p:spPr>
          <a:xfrm>
            <a:off x="777240" y="571042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Wider stop than PHP 3.00: divide PHP 10,000 by the stopsize.</a:t>
            </a:r>
          </a:p>
        </p:txBody>
      </p:sp>
      <p:sp>
        <p:nvSpPr>
          <p:cNvPr id="9" name="Rectangle 8"/>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0" name="Picture 9" descr="chart-r.png"/>
          <p:cNvPicPr>
            <a:picLocks noChangeAspect="1"/>
          </p:cNvPicPr>
          <p:nvPr/>
        </p:nvPicPr>
        <p:blipFill>
          <a:blip r:embed="rId2"/>
          <a:stretch>
            <a:fillRect/>
          </a:stretch>
        </p:blipFill>
        <p:spPr>
          <a:xfrm>
            <a:off x="6338163" y="1929384"/>
            <a:ext cx="4956048" cy="3511296"/>
          </a:xfrm>
          <a:prstGeom prst="rect">
            <a:avLst/>
          </a:prstGeom>
        </p:spPr>
      </p:pic>
      <p:sp>
        <p:nvSpPr>
          <p:cNvPr id="11" name="TextBox 10"/>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 - FIN1209 teaching chart, drawn for this course. Illustrative data, not a real instrument.</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14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Stops and tradesize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1332864"/>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backtest gives an average stopsize of PHP 4.00 and a two standard deviation value of PHP 2.00. The risk per trade is PHP 12,000. The proportional tradesize is:</a:t>
            </a:r>
          </a:p>
        </p:txBody>
      </p:sp>
      <p:sp>
        <p:nvSpPr>
          <p:cNvPr id="9" name="TextBox 8"/>
          <p:cNvSpPr txBox="1"/>
          <p:nvPr/>
        </p:nvSpPr>
        <p:spPr>
          <a:xfrm>
            <a:off x="1051560" y="327139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1,000 shares</a:t>
            </a:r>
          </a:p>
          <a:p>
            <a:pPr algn="l">
              <a:lnSpc>
                <a:spcPct val="112000"/>
              </a:lnSpc>
              <a:spcBef>
                <a:spcPts val="0"/>
              </a:spcBef>
              <a:spcAft>
                <a:spcPts val="900"/>
              </a:spcAft>
            </a:pPr>
            <a:r>
              <a:rPr sz="1500" b="0" i="0">
                <a:solidFill>
                  <a:srgbClr val="FFFFFF"/>
                </a:solidFill>
                <a:latin typeface="Arial"/>
              </a:rPr>
              <a:t>B.  2,000 shares</a:t>
            </a:r>
          </a:p>
          <a:p>
            <a:pPr algn="l">
              <a:lnSpc>
                <a:spcPct val="112000"/>
              </a:lnSpc>
              <a:spcBef>
                <a:spcPts val="0"/>
              </a:spcBef>
              <a:spcAft>
                <a:spcPts val="900"/>
              </a:spcAft>
            </a:pPr>
            <a:r>
              <a:rPr sz="1500" b="0" i="0">
                <a:solidFill>
                  <a:srgbClr val="FFFFFF"/>
                </a:solidFill>
                <a:latin typeface="Arial"/>
              </a:rPr>
              <a:t>C.  3,000 shares</a:t>
            </a:r>
          </a:p>
          <a:p>
            <a:pPr algn="l">
              <a:lnSpc>
                <a:spcPct val="112000"/>
              </a:lnSpc>
              <a:spcBef>
                <a:spcPts val="0"/>
              </a:spcBef>
              <a:spcAft>
                <a:spcPts val="900"/>
              </a:spcAft>
            </a:pPr>
            <a:r>
              <a:rPr sz="1500" b="0" i="0">
                <a:solidFill>
                  <a:srgbClr val="FFFFFF"/>
                </a:solidFill>
                <a:latin typeface="Arial"/>
              </a:rPr>
              <a:t>D.  6,000 shares</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Compared with breakout entries, the stopsizes of barrier entries are:</a:t>
            </a:r>
          </a:p>
        </p:txBody>
      </p:sp>
      <p:sp>
        <p:nvSpPr>
          <p:cNvPr id="13" name="TextBox 12"/>
          <p:cNvSpPr txBox="1"/>
          <p:nvPr/>
        </p:nvSpPr>
        <p:spPr>
          <a:xfrm>
            <a:off x="6690207" y="327139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Always wider</a:t>
            </a:r>
          </a:p>
          <a:p>
            <a:pPr algn="l">
              <a:lnSpc>
                <a:spcPct val="112000"/>
              </a:lnSpc>
              <a:spcBef>
                <a:spcPts val="0"/>
              </a:spcBef>
              <a:spcAft>
                <a:spcPts val="900"/>
              </a:spcAft>
            </a:pPr>
            <a:r>
              <a:rPr sz="1500" b="0" i="0">
                <a:solidFill>
                  <a:srgbClr val="FFFFFF"/>
                </a:solidFill>
                <a:latin typeface="Arial"/>
              </a:rPr>
              <a:t>B.  Different with every entry</a:t>
            </a:r>
          </a:p>
          <a:p>
            <a:pPr algn="l">
              <a:lnSpc>
                <a:spcPct val="112000"/>
              </a:lnSpc>
              <a:spcBef>
                <a:spcPts val="0"/>
              </a:spcBef>
              <a:spcAft>
                <a:spcPts val="900"/>
              </a:spcAft>
            </a:pPr>
            <a:r>
              <a:rPr sz="1500" b="0" i="0">
                <a:solidFill>
                  <a:srgbClr val="FFFFFF"/>
                </a:solidFill>
                <a:latin typeface="Arial"/>
              </a:rPr>
              <a:t>C.  Always approximately the same size</a:t>
            </a:r>
          </a:p>
          <a:p>
            <a:pPr algn="l">
              <a:lnSpc>
                <a:spcPct val="112000"/>
              </a:lnSpc>
              <a:spcBef>
                <a:spcPts val="0"/>
              </a:spcBef>
              <a:spcAft>
                <a:spcPts val="900"/>
              </a:spcAft>
            </a:pPr>
            <a:r>
              <a:rPr sz="1500" b="0" i="0">
                <a:solidFill>
                  <a:srgbClr val="FFFFFF"/>
                </a:solidFill>
                <a:latin typeface="Arial"/>
              </a:rPr>
              <a:t>D.  Not needed at all</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5 of 11 - 5.5 Inflection points  |  Check 14</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Stops and tradesize</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backtest gives an average stopsize of PHP 4.00 and a two standard deviation value of PHP 2.00. The risk per trade is PHP 12,000. The proportional tradesize is:</a:t>
            </a:r>
          </a:p>
        </p:txBody>
      </p:sp>
      <p:sp>
        <p:nvSpPr>
          <p:cNvPr id="9" name="TextBox 8"/>
          <p:cNvSpPr txBox="1"/>
          <p:nvPr/>
        </p:nvSpPr>
        <p:spPr>
          <a:xfrm>
            <a:off x="1143000" y="216814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2,000 shares</a:t>
            </a:r>
          </a:p>
          <a:p>
            <a:pPr algn="l">
              <a:lnSpc>
                <a:spcPct val="115000"/>
              </a:lnSpc>
              <a:spcBef>
                <a:spcPts val="700"/>
              </a:spcBef>
              <a:spcAft>
                <a:spcPts val="0"/>
              </a:spcAft>
            </a:pPr>
            <a:r>
              <a:rPr sz="1600" b="0" i="0">
                <a:solidFill>
                  <a:srgbClr val="1A1A1A"/>
                </a:solidFill>
                <a:latin typeface="Arial"/>
              </a:rPr>
              <a:t>The proportional stopsize is 4.00 + 2.00 = PHP 6.00, and 12,000 / 6.00 = 2,000 shares.</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Compared with breakout entries, the stopsizes of barrier entries are:</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Always approximately the same size</a:t>
            </a:r>
          </a:p>
          <a:p>
            <a:pPr algn="l">
              <a:lnSpc>
                <a:spcPct val="115000"/>
              </a:lnSpc>
              <a:spcBef>
                <a:spcPts val="700"/>
              </a:spcBef>
              <a:spcAft>
                <a:spcPts val="0"/>
              </a:spcAft>
            </a:pPr>
            <a:r>
              <a:rPr sz="1600" b="0" i="0">
                <a:solidFill>
                  <a:srgbClr val="1A1A1A"/>
                </a:solidFill>
                <a:latin typeface="Arial"/>
              </a:rPr>
              <a:t>At a barrier the significant peak or trough is usually the point of entry itself, so the stop sits just behind the barrier every time.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Check 14</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5.6  Trendline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1 of 21</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straight line through two turning points, carried forward. It must not cut through price.</a:t>
            </a:r>
          </a:p>
        </p:txBody>
      </p:sp>
      <p:sp>
        <p:nvSpPr>
          <p:cNvPr id="10" name="Rectangle 9"/>
          <p:cNvSpPr/>
          <p:nvPr/>
        </p:nvSpPr>
        <p:spPr>
          <a:xfrm>
            <a:off x="777240" y="323392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39496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Join an uptrend's troughs at PHP 40 and PHP 44 and extend the line. A third touch confirms it.</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39496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line projected forward into the future from two significant inflection points: troughs for an uptrend, peaks for a downtrend. It is tentative until tested at the third point of price contact, then confirmed, or valid.</a:t>
            </a:r>
          </a:p>
        </p:txBody>
      </p:sp>
      <p:sp>
        <p:nvSpPr>
          <p:cNvPr id="14" name="Rectangle 13"/>
          <p:cNvSpPr/>
          <p:nvPr/>
        </p:nvSpPr>
        <p:spPr>
          <a:xfrm>
            <a:off x="6767931" y="2157984"/>
            <a:ext cx="464515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s.png"/>
          <p:cNvPicPr>
            <a:picLocks noChangeAspect="1"/>
          </p:cNvPicPr>
          <p:nvPr/>
        </p:nvPicPr>
        <p:blipFill>
          <a:blip r:embed="rId2"/>
          <a:stretch>
            <a:fillRect/>
          </a:stretch>
        </p:blipFill>
        <p:spPr>
          <a:xfrm>
            <a:off x="6886803" y="2276856"/>
            <a:ext cx="4407408" cy="3163824"/>
          </a:xfrm>
          <a:prstGeom prst="rect">
            <a:avLst/>
          </a:prstGeom>
        </p:spPr>
      </p:pic>
      <p:sp>
        <p:nvSpPr>
          <p:cNvPr id="16" name="TextBox 15"/>
          <p:cNvSpPr txBox="1"/>
          <p:nvPr/>
        </p:nvSpPr>
        <p:spPr>
          <a:xfrm>
            <a:off x="6766559" y="5650991"/>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S - FIN1209 teaching chart, drawn for this course. Illustrative data, not a real instrument.</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Short, medium and longer-term trendlines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2 of 21</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 trendline is short, medium or longer term depending on the amount of price activity it contains above or below it.</a:t>
            </a:r>
          </a:p>
          <a:p>
            <a:pPr algn="l">
              <a:lnSpc>
                <a:spcPct val="105000"/>
              </a:lnSpc>
              <a:spcBef>
                <a:spcPts val="0"/>
              </a:spcBef>
              <a:spcAft>
                <a:spcPts val="1100"/>
              </a:spcAft>
            </a:pPr>
            <a:r>
              <a:rPr sz="1700" b="0" i="0">
                <a:solidFill>
                  <a:srgbClr val="1A1A1A"/>
                </a:solidFill>
                <a:latin typeface="Arial"/>
              </a:rPr>
              <a:t>Longer-term uptrend lines contain more price activity above them than shorter-term uptrend lines.</a:t>
            </a:r>
          </a:p>
          <a:p>
            <a:pPr algn="l">
              <a:lnSpc>
                <a:spcPct val="105000"/>
              </a:lnSpc>
              <a:spcBef>
                <a:spcPts val="0"/>
              </a:spcBef>
              <a:spcAft>
                <a:spcPts val="1100"/>
              </a:spcAft>
            </a:pPr>
            <a:r>
              <a:rPr sz="1700" b="0" i="0">
                <a:solidFill>
                  <a:srgbClr val="1A1A1A"/>
                </a:solidFill>
                <a:latin typeface="Arial"/>
              </a:rPr>
              <a:t>The converse is true for downtrend lines.</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46227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longer-term trendline contains, or supports, more of the price action.</a:t>
            </a:r>
          </a:p>
        </p:txBody>
      </p:sp>
      <p:sp>
        <p:nvSpPr>
          <p:cNvPr id="10" name="TextBox 9"/>
          <p:cNvSpPr txBox="1"/>
          <p:nvPr/>
        </p:nvSpPr>
        <p:spPr>
          <a:xfrm>
            <a:off x="777240" y="5461254"/>
            <a:ext cx="47548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Point and Figure's bullish support and bearish resistance lines are drawn from one reference point, not two.</a:t>
            </a:r>
          </a:p>
        </p:txBody>
      </p:sp>
      <p:sp>
        <p:nvSpPr>
          <p:cNvPr id="11" name="Rectangle 10"/>
          <p:cNvSpPr/>
          <p:nvPr/>
        </p:nvSpPr>
        <p:spPr>
          <a:xfrm>
            <a:off x="5852159" y="1810512"/>
            <a:ext cx="55622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5852159" y="1810512"/>
            <a:ext cx="55622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263640" y="2267712"/>
            <a:ext cx="47393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5.40</a:t>
            </a:r>
          </a:p>
          <a:p>
            <a:pPr algn="l">
              <a:lnSpc>
                <a:spcPct val="120000"/>
              </a:lnSpc>
              <a:spcBef>
                <a:spcPts val="0"/>
              </a:spcBef>
              <a:spcAft>
                <a:spcPts val="1400"/>
              </a:spcAft>
            </a:pPr>
            <a:r>
              <a:rPr sz="1800" b="0" i="0">
                <a:solidFill>
                  <a:srgbClr val="1A1A1A"/>
                </a:solidFill>
                <a:latin typeface="Palatino"/>
              </a:rPr>
              <a:t>One rising price with three dotted uptrend lines fanning out from the same low: a steep short-term line, a medium-term line, and a shallow longer-term line that contains or supports more of the price action.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5852159" y="5650992"/>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5.40 - Lim, The Handbook of Technical Analysis (Wiley, 2016)</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a trendline holds: behavior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3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All price overlays, trendlines included, are barriers to price action.</a:t>
            </a:r>
          </a:p>
          <a:p>
            <a:pPr algn="l">
              <a:lnSpc>
                <a:spcPct val="105000"/>
              </a:lnSpc>
              <a:spcBef>
                <a:spcPts val="0"/>
              </a:spcBef>
              <a:spcAft>
                <a:spcPts val="1100"/>
              </a:spcAft>
            </a:pPr>
            <a:r>
              <a:rPr sz="1700" b="0" i="0">
                <a:solidFill>
                  <a:srgbClr val="1A1A1A"/>
                </a:solidFill>
                <a:latin typeface="Arial"/>
              </a:rPr>
              <a:t>Most participants place buy orders above a barrier and short orders below it.</a:t>
            </a:r>
          </a:p>
          <a:p>
            <a:pPr algn="l">
              <a:lnSpc>
                <a:spcPct val="105000"/>
              </a:lnSpc>
              <a:spcBef>
                <a:spcPts val="0"/>
              </a:spcBef>
              <a:spcAft>
                <a:spcPts val="1100"/>
              </a:spcAft>
            </a:pPr>
            <a:r>
              <a:rPr sz="1700" b="0" i="0">
                <a:solidFill>
                  <a:srgbClr val="1A1A1A"/>
                </a:solidFill>
                <a:latin typeface="Arial"/>
              </a:rPr>
              <a:t>From above, price triggers the buy orders: an upside reaction, temporary support.</a:t>
            </a:r>
          </a:p>
          <a:p>
            <a:pPr algn="l">
              <a:lnSpc>
                <a:spcPct val="105000"/>
              </a:lnSpc>
              <a:spcBef>
                <a:spcPts val="0"/>
              </a:spcBef>
              <a:spcAft>
                <a:spcPts val="1100"/>
              </a:spcAft>
            </a:pPr>
            <a:r>
              <a:rPr sz="1700" b="0" i="0">
                <a:solidFill>
                  <a:srgbClr val="1A1A1A"/>
                </a:solidFill>
                <a:latin typeface="Arial"/>
              </a:rPr>
              <a:t>From below, it triggers the sell orders: a downside reaction, temporary resistance.</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Support and resistance are behavioral: human psychology, biases and emotions.</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t.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T - FIN1209 teaching chart, drawn for this course. Illustrative data, not a real instrument.</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Internal line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4 of 21</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21208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breached trendline, kept under a new name.</a:t>
            </a:r>
          </a:p>
        </p:txBody>
      </p:sp>
      <p:sp>
        <p:nvSpPr>
          <p:cNvPr id="10" name="Rectangle 9"/>
          <p:cNvSpPr/>
          <p:nvPr/>
        </p:nvSpPr>
        <p:spPr>
          <a:xfrm>
            <a:off x="777240" y="297484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21208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head and shoulders neckline is breached, and price very frequently comes back to retest it.</a:t>
            </a:r>
          </a:p>
        </p:txBody>
      </p:sp>
      <p:sp>
        <p:nvSpPr>
          <p:cNvPr id="12" name="Rectangle 11"/>
          <p:cNvSpPr/>
          <p:nvPr/>
        </p:nvSpPr>
        <p:spPr>
          <a:xfrm>
            <a:off x="777240" y="3950207"/>
            <a:ext cx="64008" cy="175564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3904487"/>
            <a:ext cx="5212080" cy="18653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trendline is invalidated once it is breached, and is thereafter referred to as an internal line. The new uptrend line is drawn between the original lower trough and the new significant trough; for downtrends, between the original higher peak and the new significant peak.</a:t>
            </a:r>
          </a:p>
        </p:txBody>
      </p:sp>
      <p:sp>
        <p:nvSpPr>
          <p:cNvPr id="14" name="Rectangle 13"/>
          <p:cNvSpPr/>
          <p:nvPr/>
        </p:nvSpPr>
        <p:spPr>
          <a:xfrm>
            <a:off x="6583679" y="2157984"/>
            <a:ext cx="483077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583679" y="2157984"/>
            <a:ext cx="483077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6995159" y="2615184"/>
            <a:ext cx="400781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5.41</a:t>
            </a:r>
          </a:p>
          <a:p>
            <a:pPr algn="l">
              <a:lnSpc>
                <a:spcPct val="120000"/>
              </a:lnSpc>
              <a:spcBef>
                <a:spcPts val="0"/>
              </a:spcBef>
              <a:spcAft>
                <a:spcPts val="1400"/>
              </a:spcAft>
            </a:pPr>
            <a:r>
              <a:rPr sz="1800" b="0" i="0">
                <a:solidFill>
                  <a:srgbClr val="1A1A1A"/>
                </a:solidFill>
                <a:latin typeface="Palatino"/>
              </a:rPr>
              <a:t>A 30 minute EURUSD chart following one uptrend line: drawn from two troughs at points 1 and 2, confirmed or validated at its first retest, the third point on the line, then invalidated, and a new uptrend line redrawn between points 1 and 3.</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5.41 - Lim, The Handbook of Technical Analysis (Wiley, 2016)</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counts as a valid penetration?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5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It depends on the filtering employed.</a:t>
            </a:r>
          </a:p>
          <a:p>
            <a:pPr algn="l">
              <a:lnSpc>
                <a:spcPct val="105000"/>
              </a:lnSpc>
              <a:spcBef>
                <a:spcPts val="0"/>
              </a:spcBef>
              <a:spcAft>
                <a:spcPts val="1100"/>
              </a:spcAft>
            </a:pPr>
            <a:r>
              <a:rPr sz="1800" b="0" i="0">
                <a:solidFill>
                  <a:srgbClr val="1A1A1A"/>
                </a:solidFill>
                <a:latin typeface="Arial"/>
              </a:rPr>
              <a:t>Closing filter rule: a penetration is valid only once price closes beyond the line.</a:t>
            </a:r>
          </a:p>
          <a:p>
            <a:pPr algn="l">
              <a:lnSpc>
                <a:spcPct val="105000"/>
              </a:lnSpc>
              <a:spcBef>
                <a:spcPts val="0"/>
              </a:spcBef>
              <a:spcAft>
                <a:spcPts val="1100"/>
              </a:spcAft>
            </a:pPr>
            <a:r>
              <a:rPr sz="1800" b="0" i="0">
                <a:solidFill>
                  <a:srgbClr val="1A1A1A"/>
                </a:solidFill>
                <a:latin typeface="Arial"/>
              </a:rPr>
              <a:t>A very significant intraday penetration that closes back above an uptrend line: significant, but invalid.</a:t>
            </a:r>
          </a:p>
          <a:p>
            <a:pPr algn="l">
              <a:lnSpc>
                <a:spcPct val="105000"/>
              </a:lnSpc>
              <a:spcBef>
                <a:spcPts val="0"/>
              </a:spcBef>
              <a:spcAft>
                <a:spcPts val="1100"/>
              </a:spcAft>
            </a:pPr>
            <a:r>
              <a:rPr sz="1800" b="0" i="0">
                <a:solidFill>
                  <a:srgbClr val="1A1A1A"/>
                </a:solidFill>
                <a:latin typeface="Arial"/>
              </a:rPr>
              <a:t>The book's answer: price-based filters only, or double-stage filtering with a price-based second filter.</a:t>
            </a:r>
          </a:p>
        </p:txBody>
      </p:sp>
      <p:sp>
        <p:nvSpPr>
          <p:cNvPr id="8" name="TextBox 7"/>
          <p:cNvSpPr txBox="1"/>
          <p:nvPr/>
        </p:nvSpPr>
        <p:spPr>
          <a:xfrm>
            <a:off x="777240" y="541782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Either way a new trendline may still be drawn. The trader monitors price reactions at both lines.</a:t>
            </a:r>
          </a:p>
        </p:txBody>
      </p:sp>
      <p:sp>
        <p:nvSpPr>
          <p:cNvPr id="9" name="Rectangle 8"/>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0" name="Picture 9" descr="chart-u.png"/>
          <p:cNvPicPr>
            <a:picLocks noChangeAspect="1"/>
          </p:cNvPicPr>
          <p:nvPr/>
        </p:nvPicPr>
        <p:blipFill>
          <a:blip r:embed="rId2"/>
          <a:stretch>
            <a:fillRect/>
          </a:stretch>
        </p:blipFill>
        <p:spPr>
          <a:xfrm>
            <a:off x="6338163" y="1929384"/>
            <a:ext cx="4956048" cy="3511296"/>
          </a:xfrm>
          <a:prstGeom prst="rect">
            <a:avLst/>
          </a:prstGeom>
        </p:spPr>
      </p:pic>
      <p:sp>
        <p:nvSpPr>
          <p:cNvPr id="11" name="TextBox 10"/>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U - FIN1209 teaching chart, drawn for this course. Illustrative data, not a real instrument.</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15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Drawing and breaking a trendline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trendline drawn from two troughs becomes a confirmed, or valid, trendline when:</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 is first drawn</a:t>
            </a:r>
          </a:p>
          <a:p>
            <a:pPr algn="l">
              <a:lnSpc>
                <a:spcPct val="112000"/>
              </a:lnSpc>
              <a:spcBef>
                <a:spcPts val="0"/>
              </a:spcBef>
              <a:spcAft>
                <a:spcPts val="900"/>
              </a:spcAft>
            </a:pPr>
            <a:r>
              <a:rPr sz="1500" b="0" i="0">
                <a:solidFill>
                  <a:srgbClr val="FFFFFF"/>
                </a:solidFill>
                <a:latin typeface="Arial"/>
              </a:rPr>
              <a:t>B.  Price breaches it</a:t>
            </a:r>
          </a:p>
          <a:p>
            <a:pPr algn="l">
              <a:lnSpc>
                <a:spcPct val="112000"/>
              </a:lnSpc>
              <a:spcBef>
                <a:spcPts val="0"/>
              </a:spcBef>
              <a:spcAft>
                <a:spcPts val="900"/>
              </a:spcAft>
            </a:pPr>
            <a:r>
              <a:rPr sz="1500" b="0" i="0">
                <a:solidFill>
                  <a:srgbClr val="FFFFFF"/>
                </a:solidFill>
                <a:latin typeface="Arial"/>
              </a:rPr>
              <a:t>C.  Price tests it at a third point of contact</a:t>
            </a:r>
          </a:p>
          <a:p>
            <a:pPr algn="l">
              <a:lnSpc>
                <a:spcPct val="112000"/>
              </a:lnSpc>
              <a:spcBef>
                <a:spcPts val="0"/>
              </a:spcBef>
              <a:spcAft>
                <a:spcPts val="900"/>
              </a:spcAft>
            </a:pPr>
            <a:r>
              <a:rPr sz="1500" b="0" i="0">
                <a:solidFill>
                  <a:srgbClr val="FFFFFF"/>
                </a:solidFill>
                <a:latin typeface="Arial"/>
              </a:rPr>
              <a:t>D.  Volume rises along it</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Once a trendline has been invalidated, it is thereafter referred to as: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tentative line</a:t>
            </a:r>
          </a:p>
          <a:p>
            <a:pPr algn="l">
              <a:lnSpc>
                <a:spcPct val="112000"/>
              </a:lnSpc>
              <a:spcBef>
                <a:spcPts val="0"/>
              </a:spcBef>
              <a:spcAft>
                <a:spcPts val="900"/>
              </a:spcAft>
            </a:pPr>
            <a:r>
              <a:rPr sz="1500" b="0" i="0">
                <a:solidFill>
                  <a:srgbClr val="FFFFFF"/>
                </a:solidFill>
                <a:latin typeface="Arial"/>
              </a:rPr>
              <a:t>B.  A valid line</a:t>
            </a:r>
          </a:p>
          <a:p>
            <a:pPr algn="l">
              <a:lnSpc>
                <a:spcPct val="112000"/>
              </a:lnSpc>
              <a:spcBef>
                <a:spcPts val="0"/>
              </a:spcBef>
              <a:spcAft>
                <a:spcPts val="900"/>
              </a:spcAft>
            </a:pPr>
            <a:r>
              <a:rPr sz="1500" b="0" i="0">
                <a:solidFill>
                  <a:srgbClr val="FFFFFF"/>
                </a:solidFill>
                <a:latin typeface="Arial"/>
              </a:rPr>
              <a:t>C.  A neckline</a:t>
            </a:r>
          </a:p>
          <a:p>
            <a:pPr algn="l">
              <a:lnSpc>
                <a:spcPct val="112000"/>
              </a:lnSpc>
              <a:spcBef>
                <a:spcPts val="0"/>
              </a:spcBef>
              <a:spcAft>
                <a:spcPts val="900"/>
              </a:spcAft>
            </a:pPr>
            <a:r>
              <a:rPr sz="1500" b="0" i="0">
                <a:solidFill>
                  <a:srgbClr val="FFFFFF"/>
                </a:solidFill>
                <a:latin typeface="Arial"/>
              </a:rPr>
              <a:t>D.  An internal line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6 of 11 - 5.6 Trendlines  |  Check 15</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Drawing and breaking a trendline</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trendline drawn from two troughs becomes a confirmed, or valid, trendline when:</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Price tests it at a third point of contact</a:t>
            </a:r>
          </a:p>
          <a:p>
            <a:pPr algn="l">
              <a:lnSpc>
                <a:spcPct val="115000"/>
              </a:lnSpc>
              <a:spcBef>
                <a:spcPts val="700"/>
              </a:spcBef>
              <a:spcAft>
                <a:spcPts val="0"/>
              </a:spcAft>
            </a:pPr>
            <a:r>
              <a:rPr sz="1600" b="0" i="0">
                <a:solidFill>
                  <a:srgbClr val="1A1A1A"/>
                </a:solidFill>
                <a:latin typeface="Arial"/>
              </a:rPr>
              <a:t>A trendline is only provisionary, or tentative, until it is tested for the first time, at the third point of price contact.</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Once a trendline has been invalidated, it is thereafter referred to as:</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An internal line</a:t>
            </a:r>
          </a:p>
          <a:p>
            <a:pPr algn="l">
              <a:lnSpc>
                <a:spcPct val="115000"/>
              </a:lnSpc>
              <a:spcBef>
                <a:spcPts val="700"/>
              </a:spcBef>
              <a:spcAft>
                <a:spcPts val="0"/>
              </a:spcAft>
            </a:pPr>
            <a:r>
              <a:rPr sz="1600" b="0" i="0">
                <a:solidFill>
                  <a:srgbClr val="1A1A1A"/>
                </a:solidFill>
                <a:latin typeface="Arial"/>
              </a:rPr>
              <a:t>A breached trendline is invalidated, but not unusable. It is thereafter referred to as an internal line.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Check 15</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reliable trendline: angle and duration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6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 reliable trendline gives consistent support and resistance. A lot of whipsaws: unreliable.</a:t>
            </a:r>
          </a:p>
          <a:p>
            <a:pPr algn="l">
              <a:lnSpc>
                <a:spcPct val="105000"/>
              </a:lnSpc>
              <a:spcBef>
                <a:spcPts val="0"/>
              </a:spcBef>
              <a:spcAft>
                <a:spcPts val="1100"/>
              </a:spcAft>
            </a:pPr>
            <a:r>
              <a:rPr sz="1700" b="0" i="0">
                <a:solidFill>
                  <a:srgbClr val="1A1A1A"/>
                </a:solidFill>
                <a:latin typeface="Arial"/>
              </a:rPr>
              <a:t>Angle: above 45 degrees a steep uptrend is less stable. So is a very shallow one.</a:t>
            </a:r>
          </a:p>
          <a:p>
            <a:pPr algn="l">
              <a:lnSpc>
                <a:spcPct val="105000"/>
              </a:lnSpc>
              <a:spcBef>
                <a:spcPts val="0"/>
              </a:spcBef>
              <a:spcAft>
                <a:spcPts val="1100"/>
              </a:spcAft>
            </a:pPr>
            <a:r>
              <a:rPr sz="1700" b="0" i="0">
                <a:solidFill>
                  <a:srgbClr val="1A1A1A"/>
                </a:solidFill>
                <a:latin typeface="Arial"/>
              </a:rPr>
              <a:t>The most reliable uptrend line rises at approximately 35 to 45 degrees.</a:t>
            </a:r>
          </a:p>
          <a:p>
            <a:pPr algn="l">
              <a:lnSpc>
                <a:spcPct val="105000"/>
              </a:lnSpc>
              <a:spcBef>
                <a:spcPts val="0"/>
              </a:spcBef>
              <a:spcAft>
                <a:spcPts val="1100"/>
              </a:spcAft>
            </a:pPr>
            <a:r>
              <a:rPr sz="1700" b="0" i="0">
                <a:solidFill>
                  <a:srgbClr val="1A1A1A"/>
                </a:solidFill>
                <a:latin typeface="Arial"/>
              </a:rPr>
              <a:t>Duration: longer-term trendlines are generally more reliable than shorter-term ones.</a:t>
            </a:r>
          </a:p>
        </p:txBody>
      </p:sp>
      <p:sp>
        <p:nvSpPr>
          <p:cNvPr id="8" name="TextBox 7"/>
          <p:cNvSpPr txBox="1"/>
          <p:nvPr/>
        </p:nvSpPr>
        <p:spPr>
          <a:xfrm>
            <a:off x="777240" y="500176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A longer-term line is more obvious to all participants and attracts more and larger orders, institutions included.</a:t>
            </a:r>
          </a:p>
        </p:txBody>
      </p:sp>
      <p:sp>
        <p:nvSpPr>
          <p:cNvPr id="9" name="Rectangle 8"/>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0" name="Picture 9" descr="chart-v.png"/>
          <p:cNvPicPr>
            <a:picLocks noChangeAspect="1"/>
          </p:cNvPicPr>
          <p:nvPr/>
        </p:nvPicPr>
        <p:blipFill>
          <a:blip r:embed="rId2"/>
          <a:stretch>
            <a:fillRect/>
          </a:stretch>
        </p:blipFill>
        <p:spPr>
          <a:xfrm>
            <a:off x="6338163" y="1929384"/>
            <a:ext cx="4956048" cy="3511296"/>
          </a:xfrm>
          <a:prstGeom prst="rect">
            <a:avLst/>
          </a:prstGeom>
        </p:spPr>
      </p:pic>
      <p:sp>
        <p:nvSpPr>
          <p:cNvPr id="11" name="TextBox 10"/>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V - FIN1209 teaching chart, drawn for this course. Illustrative data, not a real instrument.</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reliable trendline: the other four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7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Number of retests: the more a line is retested, the more orders it attracts.</a:t>
            </a:r>
          </a:p>
          <a:p>
            <a:pPr algn="l">
              <a:lnSpc>
                <a:spcPct val="105000"/>
              </a:lnSpc>
              <a:spcBef>
                <a:spcPts val="0"/>
              </a:spcBef>
              <a:spcAft>
                <a:spcPts val="1100"/>
              </a:spcAft>
            </a:pPr>
            <a:r>
              <a:rPr sz="1700" b="0" i="0">
                <a:solidFill>
                  <a:srgbClr val="1A1A1A"/>
                </a:solidFill>
                <a:latin typeface="Arial"/>
              </a:rPr>
              <a:t>Clarity of the retests: the more precise, the more formidable the barrier.</a:t>
            </a:r>
          </a:p>
          <a:p>
            <a:pPr algn="l">
              <a:lnSpc>
                <a:spcPct val="105000"/>
              </a:lnSpc>
              <a:spcBef>
                <a:spcPts val="0"/>
              </a:spcBef>
              <a:spcAft>
                <a:spcPts val="1100"/>
              </a:spcAft>
            </a:pPr>
            <a:r>
              <a:rPr sz="1700" b="0" i="0">
                <a:solidFill>
                  <a:srgbClr val="1A1A1A"/>
                </a:solidFill>
                <a:latin typeface="Arial"/>
              </a:rPr>
              <a:t>Confluence with other indicators at the point of contact: a stronger rejection of price.</a:t>
            </a:r>
          </a:p>
          <a:p>
            <a:pPr algn="l">
              <a:lnSpc>
                <a:spcPct val="105000"/>
              </a:lnSpc>
              <a:spcBef>
                <a:spcPts val="0"/>
              </a:spcBef>
              <a:spcAft>
                <a:spcPts val="1100"/>
              </a:spcAft>
            </a:pPr>
            <a:r>
              <a:rPr sz="1700" b="0" i="0">
                <a:solidFill>
                  <a:srgbClr val="1A1A1A"/>
                </a:solidFill>
                <a:latin typeface="Arial"/>
              </a:rPr>
              <a:t>Preceding action: contracting cycle amplitude, cycle period, bar range or body-to-range ratio makes a line suspect.</a:t>
            </a:r>
          </a:p>
        </p:txBody>
      </p:sp>
      <p:sp>
        <p:nvSpPr>
          <p:cNvPr id="8" name="TextBox 7"/>
          <p:cNvSpPr txBox="1"/>
          <p:nvPr/>
        </p:nvSpPr>
        <p:spPr>
          <a:xfrm>
            <a:off x="777240" y="5273802"/>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Retests show that traders are aware of the line and paying attention to it.</a:t>
            </a:r>
          </a:p>
        </p:txBody>
      </p:sp>
      <p:sp>
        <p:nvSpPr>
          <p:cNvPr id="9" name="Rectangle 8"/>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0" name="Picture 9" descr="chart-w.png"/>
          <p:cNvPicPr>
            <a:picLocks noChangeAspect="1"/>
          </p:cNvPicPr>
          <p:nvPr/>
        </p:nvPicPr>
        <p:blipFill>
          <a:blip r:embed="rId2"/>
          <a:stretch>
            <a:fillRect/>
          </a:stretch>
        </p:blipFill>
        <p:spPr>
          <a:xfrm>
            <a:off x="6338163" y="1929384"/>
            <a:ext cx="4956048" cy="3511296"/>
          </a:xfrm>
          <a:prstGeom prst="rect">
            <a:avLst/>
          </a:prstGeom>
        </p:spPr>
      </p:pic>
      <p:sp>
        <p:nvSpPr>
          <p:cNvPr id="11" name="TextBox 10"/>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W - FIN1209 teaching chart, drawn for this course. Illustrative data, not a real instrument.</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trendline's minimum price target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8 of 21</a:t>
            </a:r>
          </a:p>
        </p:txBody>
      </p:sp>
      <p:sp>
        <p:nvSpPr>
          <p:cNvPr id="7" name="TextBox 6"/>
          <p:cNvSpPr txBox="1"/>
          <p:nvPr/>
        </p:nvSpPr>
        <p:spPr>
          <a:xfrm>
            <a:off x="777240" y="1965960"/>
            <a:ext cx="43891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Find the distance that price moved farthest from the trendline.</a:t>
            </a:r>
          </a:p>
          <a:p>
            <a:pPr algn="l">
              <a:lnSpc>
                <a:spcPct val="105000"/>
              </a:lnSpc>
              <a:spcBef>
                <a:spcPts val="0"/>
              </a:spcBef>
              <a:spcAft>
                <a:spcPts val="1100"/>
              </a:spcAft>
            </a:pPr>
            <a:r>
              <a:rPr sz="1800" b="0" i="0">
                <a:solidFill>
                  <a:srgbClr val="1A1A1A"/>
                </a:solidFill>
                <a:latin typeface="Arial"/>
              </a:rPr>
              <a:t>Apply a one-to-one projection of that distance from the breakout point.</a:t>
            </a:r>
          </a:p>
          <a:p>
            <a:pPr algn="l">
              <a:lnSpc>
                <a:spcPct val="105000"/>
              </a:lnSpc>
              <a:spcBef>
                <a:spcPts val="0"/>
              </a:spcBef>
              <a:spcAft>
                <a:spcPts val="1100"/>
              </a:spcAft>
            </a:pPr>
            <a:r>
              <a:rPr sz="1800" b="0" i="0">
                <a:solidFill>
                  <a:srgbClr val="1A1A1A"/>
                </a:solidFill>
                <a:latin typeface="Arial"/>
              </a:rPr>
              <a:t>Farthest distance PHP 6, breakout at PHP 50: the minimum target is 50 - 6 = PHP 44.</a:t>
            </a:r>
          </a:p>
        </p:txBody>
      </p:sp>
      <p:sp>
        <p:nvSpPr>
          <p:cNvPr id="8" name="Rectangle 7"/>
          <p:cNvSpPr/>
          <p:nvPr/>
        </p:nvSpPr>
        <p:spPr>
          <a:xfrm>
            <a:off x="777240" y="4677156"/>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09651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In the figure prices bottom very close to the minimum projected target.</a:t>
            </a:r>
          </a:p>
        </p:txBody>
      </p:sp>
      <p:sp>
        <p:nvSpPr>
          <p:cNvPr id="10" name="Rectangle 9"/>
          <p:cNvSpPr/>
          <p:nvPr/>
        </p:nvSpPr>
        <p:spPr>
          <a:xfrm>
            <a:off x="5486399" y="1810512"/>
            <a:ext cx="59280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5486399" y="1810512"/>
            <a:ext cx="59280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5897879" y="2267712"/>
            <a:ext cx="51050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5.42</a:t>
            </a:r>
          </a:p>
          <a:p>
            <a:pPr algn="l">
              <a:lnSpc>
                <a:spcPct val="120000"/>
              </a:lnSpc>
              <a:spcBef>
                <a:spcPts val="0"/>
              </a:spcBef>
              <a:spcAft>
                <a:spcPts val="1400"/>
              </a:spcAft>
            </a:pPr>
            <a:r>
              <a:rPr sz="1800" b="0" i="0">
                <a:solidFill>
                  <a:srgbClr val="1A1A1A"/>
                </a:solidFill>
                <a:latin typeface="Palatino"/>
              </a:rPr>
              <a:t>A 30 minute EURUSD chart: the maximum distance of price from the uptrend line measured as a vertical arrow, the same height projected one to one down from the breakout point, and profit-taking activity around the minimum target projection.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5486399" y="5650992"/>
            <a:ext cx="592805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5.42 - Lim, The Handbook of Technical Analysis (Wiley, 2016)</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Strengths and weaknesses of trendline analysis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9 of 21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Strength: straight lines catch any trend change effectively, with no need to identify price patterns.</a:t>
            </a:r>
          </a:p>
          <a:p>
            <a:pPr algn="l">
              <a:lnSpc>
                <a:spcPct val="118000"/>
              </a:lnSpc>
              <a:spcBef>
                <a:spcPts val="0"/>
              </a:spcBef>
              <a:spcAft>
                <a:spcPts val="1300"/>
              </a:spcAft>
            </a:pPr>
            <a:r>
              <a:rPr sz="2100" b="0" i="0">
                <a:solidFill>
                  <a:srgbClr val="1A1A1A"/>
                </a:solidFill>
                <a:latin typeface="Arial"/>
              </a:rPr>
              <a:t>Strength: simple to construct, and applied and viewable across all timeframes and markets.</a:t>
            </a:r>
          </a:p>
          <a:p>
            <a:pPr algn="l">
              <a:lnSpc>
                <a:spcPct val="118000"/>
              </a:lnSpc>
              <a:spcBef>
                <a:spcPts val="0"/>
              </a:spcBef>
              <a:spcAft>
                <a:spcPts val="1300"/>
              </a:spcAft>
            </a:pPr>
            <a:r>
              <a:rPr sz="2100" b="0" i="0">
                <a:solidFill>
                  <a:srgbClr val="1A1A1A"/>
                </a:solidFill>
                <a:latin typeface="Arial"/>
              </a:rPr>
              <a:t>Weakness: subject to whipsaws, like moving averages, and less effective in erratic, volatile or ranging markets.</a:t>
            </a:r>
          </a:p>
          <a:p>
            <a:pPr algn="l">
              <a:lnSpc>
                <a:spcPct val="118000"/>
              </a:lnSpc>
              <a:spcBef>
                <a:spcPts val="0"/>
              </a:spcBef>
              <a:spcAft>
                <a:spcPts val="1300"/>
              </a:spcAft>
            </a:pPr>
            <a:r>
              <a:rPr sz="2100" b="0" i="0">
                <a:solidFill>
                  <a:srgbClr val="1A1A1A"/>
                </a:solidFill>
                <a:latin typeface="Arial"/>
              </a:rPr>
              <a:t>Weakness: affected by the type of scaling used, ratio or linear.</a:t>
            </a:r>
          </a:p>
          <a:p>
            <a:pPr algn="l">
              <a:lnSpc>
                <a:spcPct val="118000"/>
              </a:lnSpc>
              <a:spcBef>
                <a:spcPts val="0"/>
              </a:spcBef>
              <a:spcAft>
                <a:spcPts val="1300"/>
              </a:spcAft>
            </a:pPr>
            <a:r>
              <a:rPr sz="2100" b="0" i="0">
                <a:solidFill>
                  <a:srgbClr val="1A1A1A"/>
                </a:solidFill>
                <a:latin typeface="Arial"/>
              </a:rPr>
              <a:t>Weakness: a consolidation may breach a line without a legitimate reversal.</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16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Reliability and targets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The most reliable uptrend line has an angle of ascent of approximately:</a:t>
            </a:r>
          </a:p>
        </p:txBody>
      </p:sp>
      <p:sp>
        <p:nvSpPr>
          <p:cNvPr id="9" name="TextBox 8"/>
          <p:cNvSpPr txBox="1"/>
          <p:nvPr/>
        </p:nvSpPr>
        <p:spPr>
          <a:xfrm>
            <a:off x="1051560"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10 to 20 degrees</a:t>
            </a:r>
          </a:p>
          <a:p>
            <a:pPr algn="l">
              <a:lnSpc>
                <a:spcPct val="112000"/>
              </a:lnSpc>
              <a:spcBef>
                <a:spcPts val="0"/>
              </a:spcBef>
              <a:spcAft>
                <a:spcPts val="900"/>
              </a:spcAft>
            </a:pPr>
            <a:r>
              <a:rPr sz="1500" b="0" i="0">
                <a:solidFill>
                  <a:srgbClr val="FFFFFF"/>
                </a:solidFill>
                <a:latin typeface="Arial"/>
              </a:rPr>
              <a:t>B.  35 to 45 degrees</a:t>
            </a:r>
          </a:p>
          <a:p>
            <a:pPr algn="l">
              <a:lnSpc>
                <a:spcPct val="112000"/>
              </a:lnSpc>
              <a:spcBef>
                <a:spcPts val="0"/>
              </a:spcBef>
              <a:spcAft>
                <a:spcPts val="900"/>
              </a:spcAft>
            </a:pPr>
            <a:r>
              <a:rPr sz="1500" b="0" i="0">
                <a:solidFill>
                  <a:srgbClr val="FFFFFF"/>
                </a:solidFill>
                <a:latin typeface="Arial"/>
              </a:rPr>
              <a:t>C.  50 to 60 degrees</a:t>
            </a:r>
          </a:p>
          <a:p>
            <a:pPr algn="l">
              <a:lnSpc>
                <a:spcPct val="112000"/>
              </a:lnSpc>
              <a:spcBef>
                <a:spcPts val="0"/>
              </a:spcBef>
              <a:spcAft>
                <a:spcPts val="900"/>
              </a:spcAft>
            </a:pPr>
            <a:r>
              <a:rPr sz="1500" b="0" i="0">
                <a:solidFill>
                  <a:srgbClr val="FFFFFF"/>
                </a:solidFill>
                <a:latin typeface="Arial"/>
              </a:rPr>
              <a:t>D.  75 to 90 degrees</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108458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Price moved at most PHP 8 away from an uptrend line, then broke below the line at PHP 60. The minimum price target is:</a:t>
            </a:r>
          </a:p>
        </p:txBody>
      </p:sp>
      <p:sp>
        <p:nvSpPr>
          <p:cNvPr id="13" name="TextBox 12"/>
          <p:cNvSpPr txBox="1"/>
          <p:nvPr/>
        </p:nvSpPr>
        <p:spPr>
          <a:xfrm>
            <a:off x="6690207"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PHP 44</a:t>
            </a:r>
          </a:p>
          <a:p>
            <a:pPr algn="l">
              <a:lnSpc>
                <a:spcPct val="112000"/>
              </a:lnSpc>
              <a:spcBef>
                <a:spcPts val="0"/>
              </a:spcBef>
              <a:spcAft>
                <a:spcPts val="900"/>
              </a:spcAft>
            </a:pPr>
            <a:r>
              <a:rPr sz="1500" b="0" i="0">
                <a:solidFill>
                  <a:srgbClr val="FFFFFF"/>
                </a:solidFill>
                <a:latin typeface="Arial"/>
              </a:rPr>
              <a:t>B.  PHP 52</a:t>
            </a:r>
          </a:p>
          <a:p>
            <a:pPr algn="l">
              <a:lnSpc>
                <a:spcPct val="112000"/>
              </a:lnSpc>
              <a:spcBef>
                <a:spcPts val="0"/>
              </a:spcBef>
              <a:spcAft>
                <a:spcPts val="900"/>
              </a:spcAft>
            </a:pPr>
            <a:r>
              <a:rPr sz="1500" b="0" i="0">
                <a:solidFill>
                  <a:srgbClr val="FFFFFF"/>
                </a:solidFill>
                <a:latin typeface="Arial"/>
              </a:rPr>
              <a:t>C.  PHP 60</a:t>
            </a:r>
          </a:p>
          <a:p>
            <a:pPr algn="l">
              <a:lnSpc>
                <a:spcPct val="112000"/>
              </a:lnSpc>
              <a:spcBef>
                <a:spcPts val="0"/>
              </a:spcBef>
              <a:spcAft>
                <a:spcPts val="900"/>
              </a:spcAft>
            </a:pPr>
            <a:r>
              <a:rPr sz="1500" b="0" i="0">
                <a:solidFill>
                  <a:srgbClr val="FFFFFF"/>
                </a:solidFill>
                <a:latin typeface="Arial"/>
              </a:rPr>
              <a:t>D.  PHP 68</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6 of 11 - 5.6 Trendlines  |  Check 16</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Reliability and targets</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The most reliable uptrend line has an angle of ascent of approximately:</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35 to 45 degrees</a:t>
            </a:r>
          </a:p>
          <a:p>
            <a:pPr algn="l">
              <a:lnSpc>
                <a:spcPct val="115000"/>
              </a:lnSpc>
              <a:spcBef>
                <a:spcPts val="700"/>
              </a:spcBef>
              <a:spcAft>
                <a:spcPts val="0"/>
              </a:spcAft>
            </a:pPr>
            <a:r>
              <a:rPr sz="1600" b="0" i="0">
                <a:solidFill>
                  <a:srgbClr val="1A1A1A"/>
                </a:solidFill>
                <a:latin typeface="Arial"/>
              </a:rPr>
              <a:t>Above 45 degrees a trend is less stable, and so is a very shallow one. Approximately 35 to 45 degrees is the most reliable.</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Price moved at most PHP 8 away from an uptrend line, then broke below the line at PHP 60. The minimum price target is:</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PHP 52</a:t>
            </a:r>
          </a:p>
          <a:p>
            <a:pPr algn="l">
              <a:lnSpc>
                <a:spcPct val="115000"/>
              </a:lnSpc>
              <a:spcBef>
                <a:spcPts val="700"/>
              </a:spcBef>
              <a:spcAft>
                <a:spcPts val="0"/>
              </a:spcAft>
            </a:pPr>
            <a:r>
              <a:rPr sz="1600" b="0" i="0">
                <a:solidFill>
                  <a:srgbClr val="1A1A1A"/>
                </a:solidFill>
                <a:latin typeface="Arial"/>
              </a:rPr>
              <a:t>A one-to-one projection of the farthest distance from the breakout point: 60 - 8 = PHP 52.</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Check 16</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Continuation and reversal trendlines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10 of 21</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02920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Named by the breakout a trendline allows.</a:t>
            </a:r>
          </a:p>
        </p:txBody>
      </p:sp>
      <p:sp>
        <p:nvSpPr>
          <p:cNvPr id="10" name="Rectangle 9"/>
          <p:cNvSpPr/>
          <p:nvPr/>
        </p:nvSpPr>
        <p:spPr>
          <a:xfrm>
            <a:off x="777240" y="297484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02920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falling line over a pullback in an uptrend, broken upward: a continuation trendline.</a:t>
            </a:r>
          </a:p>
        </p:txBody>
      </p:sp>
      <p:sp>
        <p:nvSpPr>
          <p:cNvPr id="12" name="Rectangle 11"/>
          <p:cNvSpPr/>
          <p:nvPr/>
        </p:nvSpPr>
        <p:spPr>
          <a:xfrm>
            <a:off x="777240" y="3950207"/>
            <a:ext cx="64008" cy="175564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3904487"/>
            <a:ext cx="5029200" cy="18653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Trendlines that allow a breakout in the direction of the existing trend are continuation trendlines. Those that allow a breakout in the opposite direction are reversal trendlines. First ascertain which wave degree is being observed.</a:t>
            </a:r>
          </a:p>
        </p:txBody>
      </p:sp>
      <p:sp>
        <p:nvSpPr>
          <p:cNvPr id="14" name="Rectangle 13"/>
          <p:cNvSpPr/>
          <p:nvPr/>
        </p:nvSpPr>
        <p:spPr>
          <a:xfrm>
            <a:off x="6400799" y="2157984"/>
            <a:ext cx="501365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400799" y="2157984"/>
            <a:ext cx="501365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6812279" y="2615184"/>
            <a:ext cx="419069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5.43</a:t>
            </a:r>
          </a:p>
          <a:p>
            <a:pPr algn="l">
              <a:lnSpc>
                <a:spcPct val="120000"/>
              </a:lnSpc>
              <a:spcBef>
                <a:spcPts val="0"/>
              </a:spcBef>
              <a:spcAft>
                <a:spcPts val="1400"/>
              </a:spcAft>
            </a:pPr>
            <a:r>
              <a:rPr sz="1800" b="0" i="0">
                <a:solidFill>
                  <a:srgbClr val="1A1A1A"/>
                </a:solidFill>
                <a:latin typeface="Palatino"/>
              </a:rPr>
              <a:t>Two existing uptrends. In the first a falling dotted line over a pullback is broken upward: a continuation trendline, with the breakout in the direction of the existing trend. In the second a rising dotted line under the trend is broken downward: a reversal trendline.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5.43 - Lim, The Handbook of Technical Analysis (Wiley, 2016)</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Channel, and its return line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11 of 21</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21208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trendline and a parallel across price.</a:t>
            </a:r>
          </a:p>
        </p:txBody>
      </p:sp>
      <p:sp>
        <p:nvSpPr>
          <p:cNvPr id="10" name="Rectangle 9"/>
          <p:cNvSpPr/>
          <p:nvPr/>
        </p:nvSpPr>
        <p:spPr>
          <a:xfrm>
            <a:off x="777240" y="2974847"/>
            <a:ext cx="64008" cy="123748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21208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Rising: an uptrend line on troughs 1 and 2, with a parallel from peak 3. Falling: a downtrend line on peaks 4 and 5, with a parallel from trough 6, which violates the uptrend line.</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21208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line projected parallel to the trendline from a significant peak or trough is the channel, or return, line. Channels indicate potential entry, profit-taking, price target and stoploss levels.</a:t>
            </a:r>
          </a:p>
        </p:txBody>
      </p:sp>
      <p:sp>
        <p:nvSpPr>
          <p:cNvPr id="14" name="Rectangle 13"/>
          <p:cNvSpPr/>
          <p:nvPr/>
        </p:nvSpPr>
        <p:spPr>
          <a:xfrm>
            <a:off x="6583679" y="2157984"/>
            <a:ext cx="483077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583679" y="2157984"/>
            <a:ext cx="483077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6995159" y="2615184"/>
            <a:ext cx="400781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5.44</a:t>
            </a:r>
          </a:p>
          <a:p>
            <a:pPr algn="l">
              <a:lnSpc>
                <a:spcPct val="120000"/>
              </a:lnSpc>
              <a:spcBef>
                <a:spcPts val="0"/>
              </a:spcBef>
              <a:spcAft>
                <a:spcPts val="1400"/>
              </a:spcAft>
            </a:pPr>
            <a:r>
              <a:rPr sz="1800" b="0" i="0">
                <a:solidFill>
                  <a:srgbClr val="1A1A1A"/>
                </a:solidFill>
                <a:latin typeface="Palatino"/>
              </a:rPr>
              <a:t>A rising channel turning into a falling channel, headed channel transition: an uptrend line through points 1 and 2 with its channel or return line from point 3, then a downtrend line through points 4 and 5 with its channel or return line from point 6.</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5.44 - Lim, The Handbook of Technical Analysis (Wiley, 2016)</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Nested channels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12 of 21</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02920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Channels inside a bigger channel.</a:t>
            </a:r>
          </a:p>
        </p:txBody>
      </p:sp>
      <p:sp>
        <p:nvSpPr>
          <p:cNvPr id="10" name="Rectangle 9"/>
          <p:cNvSpPr/>
          <p:nvPr/>
        </p:nvSpPr>
        <p:spPr>
          <a:xfrm>
            <a:off x="777240" y="297484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02920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Silver, 4 hour: price transitions through smaller channels within a larger falling channel.</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02920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smaller channels are contained, or nested, within the larger channel. Nesting can occur at multiple levels, with large channels comprised of ever-decreasing channel sizes. Channel nesting has fractal-like properties.</a:t>
            </a:r>
          </a:p>
        </p:txBody>
      </p:sp>
      <p:sp>
        <p:nvSpPr>
          <p:cNvPr id="14" name="Rectangle 13"/>
          <p:cNvSpPr/>
          <p:nvPr/>
        </p:nvSpPr>
        <p:spPr>
          <a:xfrm>
            <a:off x="6400799" y="2157984"/>
            <a:ext cx="501365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400799" y="2157984"/>
            <a:ext cx="501365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6812279" y="2615184"/>
            <a:ext cx="419069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5.45</a:t>
            </a:r>
          </a:p>
          <a:p>
            <a:pPr algn="l">
              <a:lnSpc>
                <a:spcPct val="120000"/>
              </a:lnSpc>
              <a:spcBef>
                <a:spcPts val="0"/>
              </a:spcBef>
              <a:spcAft>
                <a:spcPts val="1400"/>
              </a:spcAft>
            </a:pPr>
            <a:r>
              <a:rPr sz="1800" b="0" i="0">
                <a:solidFill>
                  <a:srgbClr val="1A1A1A"/>
                </a:solidFill>
                <a:latin typeface="Palatino"/>
              </a:rPr>
              <a:t>A 4 hour Silver chart with one larger falling channel drawn across it and many smaller channels, rising and falling, nested within the larger one.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5.45 - Lim, The Handbook of Technical Analysis (Wiley, 2016)</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Nested channels at Fibonacci levels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13 of 21</a:t>
            </a:r>
          </a:p>
        </p:txBody>
      </p:sp>
      <p:sp>
        <p:nvSpPr>
          <p:cNvPr id="7" name="TextBox 6"/>
          <p:cNvSpPr txBox="1"/>
          <p:nvPr/>
        </p:nvSpPr>
        <p:spPr>
          <a:xfrm>
            <a:off x="777240" y="1965960"/>
            <a:ext cx="438912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Nested channeling again, this time on a chart of the USDCAD.</a:t>
            </a:r>
          </a:p>
          <a:p>
            <a:pPr algn="l">
              <a:lnSpc>
                <a:spcPct val="105000"/>
              </a:lnSpc>
              <a:spcBef>
                <a:spcPts val="0"/>
              </a:spcBef>
              <a:spcAft>
                <a:spcPts val="1100"/>
              </a:spcAft>
            </a:pPr>
            <a:r>
              <a:rPr sz="2000" b="0" i="0">
                <a:solidFill>
                  <a:srgbClr val="1A1A1A"/>
                </a:solidFill>
                <a:latin typeface="Arial"/>
              </a:rPr>
              <a:t>Notice the channels reacting at the Fibonacci retracement levels.</a:t>
            </a:r>
          </a:p>
        </p:txBody>
      </p:sp>
      <p:sp>
        <p:nvSpPr>
          <p:cNvPr id="8" name="TextBox 7"/>
          <p:cNvSpPr txBox="1"/>
          <p:nvPr/>
        </p:nvSpPr>
        <p:spPr>
          <a:xfrm>
            <a:off x="777240" y="3776472"/>
            <a:ext cx="438912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book's caption under this figure repeats Figure 5.45's and says Silver. Its text says USDCAD. Retracements are section 5.7.</a:t>
            </a:r>
          </a:p>
        </p:txBody>
      </p:sp>
      <p:sp>
        <p:nvSpPr>
          <p:cNvPr id="9" name="Rectangle 8"/>
          <p:cNvSpPr/>
          <p:nvPr/>
        </p:nvSpPr>
        <p:spPr>
          <a:xfrm>
            <a:off x="5486399" y="1810512"/>
            <a:ext cx="5928055" cy="3749039"/>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86399" y="1810512"/>
            <a:ext cx="5928055"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897879" y="2267712"/>
            <a:ext cx="51050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5.46</a:t>
            </a:r>
          </a:p>
          <a:p>
            <a:pPr algn="l">
              <a:lnSpc>
                <a:spcPct val="120000"/>
              </a:lnSpc>
              <a:spcBef>
                <a:spcPts val="0"/>
              </a:spcBef>
              <a:spcAft>
                <a:spcPts val="1400"/>
              </a:spcAft>
            </a:pPr>
            <a:r>
              <a:rPr sz="1800" b="0" i="0">
                <a:solidFill>
                  <a:srgbClr val="1A1A1A"/>
                </a:solidFill>
                <a:latin typeface="Palatino"/>
              </a:rPr>
              <a:t>A price chart with nested channels drawn in solid and dashed lines over a set of horizontal Fibonacci retracement levels, from 0.0 to 100.0, with the channel turns falling on those levels.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2" name="TextBox 11"/>
          <p:cNvSpPr txBox="1"/>
          <p:nvPr/>
        </p:nvSpPr>
        <p:spPr>
          <a:xfrm>
            <a:off x="5486399" y="5650992"/>
            <a:ext cx="592805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5.46 - Lim, The Handbook of Technical Analysis (Wiley, 2016)</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Projecting a price target with a channel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14 of 21</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Channels are extremely useful for projecting potential price targets.</a:t>
            </a:r>
          </a:p>
          <a:p>
            <a:pPr algn="l">
              <a:lnSpc>
                <a:spcPct val="105000"/>
              </a:lnSpc>
              <a:spcBef>
                <a:spcPts val="0"/>
              </a:spcBef>
              <a:spcAft>
                <a:spcPts val="1100"/>
              </a:spcAft>
            </a:pPr>
            <a:r>
              <a:rPr sz="1700" b="0" i="0">
                <a:solidFill>
                  <a:srgbClr val="1A1A1A"/>
                </a:solidFill>
                <a:latin typeface="Arial"/>
              </a:rPr>
              <a:t>The return line serves as a possible price target, providing resistance to the motion of price.</a:t>
            </a:r>
          </a:p>
          <a:p>
            <a:pPr algn="l">
              <a:lnSpc>
                <a:spcPct val="105000"/>
              </a:lnSpc>
              <a:spcBef>
                <a:spcPts val="0"/>
              </a:spcBef>
              <a:spcAft>
                <a:spcPts val="1100"/>
              </a:spcAft>
            </a:pPr>
            <a:r>
              <a:rPr sz="1700" b="0" i="0">
                <a:solidFill>
                  <a:srgbClr val="1A1A1A"/>
                </a:solidFill>
                <a:latin typeface="Arial"/>
              </a:rPr>
              <a:t>In the figure the price targets at points 5 and 6 were forecast accurately by channel projection.</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Project the return line forward, and read the target where price meets it.</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5.47</a:t>
            </a:r>
          </a:p>
          <a:p>
            <a:pPr algn="l">
              <a:lnSpc>
                <a:spcPct val="120000"/>
              </a:lnSpc>
              <a:spcBef>
                <a:spcPts val="0"/>
              </a:spcBef>
              <a:spcAft>
                <a:spcPts val="1400"/>
              </a:spcAft>
            </a:pPr>
            <a:r>
              <a:rPr sz="1800" b="0" i="0">
                <a:solidFill>
                  <a:srgbClr val="1A1A1A"/>
                </a:solidFill>
                <a:latin typeface="Palatino"/>
              </a:rPr>
              <a:t>A EURUSD chart: a rising line through troughs 1 and 2 carried on to trough 4, channel projection 1 drawn parallel to it from peak 3 and met by price at point 5, and channel projection 2 carried on to point 6.</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5.47 - Lim, The Handbook of Technical Analysis (Wiley, 2016)</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Anticipating a channel breakout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15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Price failing to test one of the channel boundaries may be an early indication of a breakout in the opposite direction.</a:t>
            </a:r>
          </a:p>
          <a:p>
            <a:pPr algn="l">
              <a:lnSpc>
                <a:spcPct val="105000"/>
              </a:lnSpc>
              <a:spcBef>
                <a:spcPts val="0"/>
              </a:spcBef>
              <a:spcAft>
                <a:spcPts val="1100"/>
              </a:spcAft>
            </a:pPr>
            <a:r>
              <a:rPr sz="2000" b="0" i="0">
                <a:solidFill>
                  <a:srgbClr val="1A1A1A"/>
                </a:solidFill>
                <a:latin typeface="Arial"/>
              </a:rPr>
              <a:t>A failure to test a channel bottom in an uptrend, or a channel top in a downtrend, is even stronger evidence of a continuation of the existing trend.</a:t>
            </a:r>
          </a:p>
          <a:p>
            <a:pPr algn="l">
              <a:lnSpc>
                <a:spcPct val="105000"/>
              </a:lnSpc>
              <a:spcBef>
                <a:spcPts val="0"/>
              </a:spcBef>
              <a:spcAft>
                <a:spcPts val="1100"/>
              </a:spcAft>
            </a:pPr>
            <a:r>
              <a:rPr sz="2000" b="0" i="0">
                <a:solidFill>
                  <a:srgbClr val="1A1A1A"/>
                </a:solidFill>
                <a:latin typeface="Arial"/>
              </a:rPr>
              <a:t>Especially so if the channel breakout bar is accompanied by large volume.</a:t>
            </a:r>
          </a:p>
        </p:txBody>
      </p:sp>
      <p:sp>
        <p:nvSpPr>
          <p:cNvPr id="8" name="TextBox 7"/>
          <p:cNvSpPr txBox="1"/>
          <p:nvPr/>
        </p:nvSpPr>
        <p:spPr>
          <a:xfrm>
            <a:off x="777240" y="554126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book's example is its Figure 5.14: price fails to test the lower channel boundary, then breaks out upward at point A.</a:t>
            </a:r>
          </a:p>
        </p:txBody>
      </p:sp>
      <p:sp>
        <p:nvSpPr>
          <p:cNvPr id="9" name="Rectangle 8"/>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0" name="Picture 9" descr="chart-x.png"/>
          <p:cNvPicPr>
            <a:picLocks noChangeAspect="1"/>
          </p:cNvPicPr>
          <p:nvPr/>
        </p:nvPicPr>
        <p:blipFill>
          <a:blip r:embed="rId2"/>
          <a:stretch>
            <a:fillRect/>
          </a:stretch>
        </p:blipFill>
        <p:spPr>
          <a:xfrm>
            <a:off x="6338163" y="1929384"/>
            <a:ext cx="4956048" cy="3511296"/>
          </a:xfrm>
          <a:prstGeom prst="rect">
            <a:avLst/>
          </a:prstGeom>
        </p:spPr>
      </p:pic>
      <p:sp>
        <p:nvSpPr>
          <p:cNvPr id="11" name="TextBox 10"/>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X - FIN1209 teaching chart, drawn for this course. Illustrative data, not a real instrument.</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17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Channels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 rising channel, the line projected parallel to the uptrend line from a significant peak is called the:</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Channel, or return, line</a:t>
            </a:r>
          </a:p>
          <a:p>
            <a:pPr algn="l">
              <a:lnSpc>
                <a:spcPct val="112000"/>
              </a:lnSpc>
              <a:spcBef>
                <a:spcPts val="0"/>
              </a:spcBef>
              <a:spcAft>
                <a:spcPts val="900"/>
              </a:spcAft>
            </a:pPr>
            <a:r>
              <a:rPr sz="1500" b="0" i="0">
                <a:solidFill>
                  <a:srgbClr val="FFFFFF"/>
                </a:solidFill>
                <a:latin typeface="Arial"/>
              </a:rPr>
              <a:t>B.  Internal line</a:t>
            </a:r>
          </a:p>
          <a:p>
            <a:pPr algn="l">
              <a:lnSpc>
                <a:spcPct val="112000"/>
              </a:lnSpc>
              <a:spcBef>
                <a:spcPts val="0"/>
              </a:spcBef>
              <a:spcAft>
                <a:spcPts val="900"/>
              </a:spcAft>
            </a:pPr>
            <a:r>
              <a:rPr sz="1500" b="0" i="0">
                <a:solidFill>
                  <a:srgbClr val="FFFFFF"/>
                </a:solidFill>
                <a:latin typeface="Arial"/>
              </a:rPr>
              <a:t>C.  Neckline</a:t>
            </a:r>
          </a:p>
          <a:p>
            <a:pPr algn="l">
              <a:lnSpc>
                <a:spcPct val="112000"/>
              </a:lnSpc>
              <a:spcBef>
                <a:spcPts val="0"/>
              </a:spcBef>
              <a:spcAft>
                <a:spcPts val="900"/>
              </a:spcAft>
            </a:pPr>
            <a:r>
              <a:rPr sz="1500" b="0" i="0">
                <a:solidFill>
                  <a:srgbClr val="FFFFFF"/>
                </a:solidFill>
                <a:latin typeface="Arial"/>
              </a:rPr>
              <a:t>D.  Reversal trendline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an uptrend, price fails to test the bottom of its rising channel. This is evidence of:</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reversal to the downside</a:t>
            </a:r>
          </a:p>
          <a:p>
            <a:pPr algn="l">
              <a:lnSpc>
                <a:spcPct val="112000"/>
              </a:lnSpc>
              <a:spcBef>
                <a:spcPts val="0"/>
              </a:spcBef>
              <a:spcAft>
                <a:spcPts val="900"/>
              </a:spcAft>
            </a:pPr>
            <a:r>
              <a:rPr sz="1500" b="0" i="0">
                <a:solidFill>
                  <a:srgbClr val="FFFFFF"/>
                </a:solidFill>
                <a:latin typeface="Arial"/>
              </a:rPr>
              <a:t>B.  A failure swing</a:t>
            </a:r>
          </a:p>
          <a:p>
            <a:pPr algn="l">
              <a:lnSpc>
                <a:spcPct val="112000"/>
              </a:lnSpc>
              <a:spcBef>
                <a:spcPts val="0"/>
              </a:spcBef>
              <a:spcAft>
                <a:spcPts val="900"/>
              </a:spcAft>
            </a:pPr>
            <a:r>
              <a:rPr sz="1500" b="0" i="0">
                <a:solidFill>
                  <a:srgbClr val="FFFFFF"/>
                </a:solidFill>
                <a:latin typeface="Arial"/>
              </a:rPr>
              <a:t>C.  A potential continuation of the existing uptrend</a:t>
            </a:r>
          </a:p>
          <a:p>
            <a:pPr algn="l">
              <a:lnSpc>
                <a:spcPct val="112000"/>
              </a:lnSpc>
              <a:spcBef>
                <a:spcPts val="0"/>
              </a:spcBef>
              <a:spcAft>
                <a:spcPts val="900"/>
              </a:spcAft>
            </a:pPr>
            <a:r>
              <a:rPr sz="1500" b="0" i="0">
                <a:solidFill>
                  <a:srgbClr val="FFFFFF"/>
                </a:solidFill>
                <a:latin typeface="Arial"/>
              </a:rPr>
              <a:t>D.  An invalid trendline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6 of 11 - 5.6 Trendlines  |  Check 17</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Channels</a:t>
            </a:r>
          </a:p>
        </p:txBody>
      </p:sp>
      <p:sp>
        <p:nvSpPr>
          <p:cNvPr id="6" name="Rectangle 5"/>
          <p:cNvSpPr/>
          <p:nvPr/>
        </p:nvSpPr>
        <p:spPr>
          <a:xfrm>
            <a:off x="777240" y="1207008"/>
            <a:ext cx="10637215" cy="209549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09549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In a rising channel, the line projected parallel to the uptrend line from a significant peak is called the:</a:t>
            </a:r>
          </a:p>
        </p:txBody>
      </p:sp>
      <p:sp>
        <p:nvSpPr>
          <p:cNvPr id="9" name="TextBox 8"/>
          <p:cNvSpPr txBox="1"/>
          <p:nvPr/>
        </p:nvSpPr>
        <p:spPr>
          <a:xfrm>
            <a:off x="1143000" y="216814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Channel, or return, line</a:t>
            </a:r>
          </a:p>
          <a:p>
            <a:pPr algn="l">
              <a:lnSpc>
                <a:spcPct val="115000"/>
              </a:lnSpc>
              <a:spcBef>
                <a:spcPts val="700"/>
              </a:spcBef>
              <a:spcAft>
                <a:spcPts val="0"/>
              </a:spcAft>
            </a:pPr>
            <a:r>
              <a:rPr sz="1600" b="0" i="0">
                <a:solidFill>
                  <a:srgbClr val="1A1A1A"/>
                </a:solidFill>
                <a:latin typeface="Arial"/>
              </a:rPr>
              <a:t>The uptrend line is drawn on two significant troughs, and the parallel from a significant peak is the channel or return line.</a:t>
            </a:r>
          </a:p>
        </p:txBody>
      </p:sp>
      <p:sp>
        <p:nvSpPr>
          <p:cNvPr id="10" name="Rectangle 9"/>
          <p:cNvSpPr/>
          <p:nvPr/>
        </p:nvSpPr>
        <p:spPr>
          <a:xfrm>
            <a:off x="777240" y="354939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54939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78714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In an uptrend, price fails to test the bottom of its rising channel. This is evidence of:</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A potential continuation of the existing uptrend</a:t>
            </a:r>
          </a:p>
          <a:p>
            <a:pPr algn="l">
              <a:lnSpc>
                <a:spcPct val="115000"/>
              </a:lnSpc>
              <a:spcBef>
                <a:spcPts val="700"/>
              </a:spcBef>
              <a:spcAft>
                <a:spcPts val="0"/>
              </a:spcAft>
            </a:pPr>
            <a:r>
              <a:rPr sz="1600" b="0" i="0">
                <a:solidFill>
                  <a:srgbClr val="1A1A1A"/>
                </a:solidFill>
                <a:latin typeface="Arial"/>
              </a:rPr>
              <a:t>A failed test of one boundary points to a breakout in the opposite direction. In an uptrend that is the top: a continuation.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Check 17</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Sperandeo trendlines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16 of 21</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Sperandeo's rule for which two points to join.</a:t>
            </a:r>
          </a:p>
        </p:txBody>
      </p:sp>
      <p:sp>
        <p:nvSpPr>
          <p:cNvPr id="10" name="Rectangle 9"/>
          <p:cNvSpPr/>
          <p:nvPr/>
        </p:nvSpPr>
        <p:spPr>
          <a:xfrm>
            <a:off x="777240" y="297484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An uptrend's lowest trough is PHP 40, and its highest minor trough before the PHP 60 peak is PHP 55: the line runs from the first through the second.</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76072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Uptrend line: from the lowest trough to the highest minor trough preceding the highest peak. Downtrend line: from the highest peak to the lowest minor peak preceding the lowest trough. From Victor Sperandeo's book Trader Vic: Methods of a Wall Street Master.</a:t>
            </a:r>
          </a:p>
        </p:txBody>
      </p:sp>
      <p:sp>
        <p:nvSpPr>
          <p:cNvPr id="14" name="Rectangle 13"/>
          <p:cNvSpPr/>
          <p:nvPr/>
        </p:nvSpPr>
        <p:spPr>
          <a:xfrm>
            <a:off x="7132319" y="2157984"/>
            <a:ext cx="428213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132319" y="2157984"/>
            <a:ext cx="428213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543799" y="2615184"/>
            <a:ext cx="345917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5.48</a:t>
            </a:r>
          </a:p>
          <a:p>
            <a:pPr algn="l">
              <a:lnSpc>
                <a:spcPct val="120000"/>
              </a:lnSpc>
              <a:spcBef>
                <a:spcPts val="0"/>
              </a:spcBef>
              <a:spcAft>
                <a:spcPts val="1400"/>
              </a:spcAft>
            </a:pPr>
            <a:r>
              <a:rPr sz="1800" b="0" i="0">
                <a:solidFill>
                  <a:srgbClr val="1A1A1A"/>
                </a:solidFill>
                <a:latin typeface="Palatino"/>
              </a:rPr>
              <a:t>Two drawings. A Sperandeo uptrend line from the lowest trough through the highest minor trough preceding the highest peak, and a Sperandeo downtrend line from the highest peak through the lowest minor peak preceding the lowest trough.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132319" y="5650992"/>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5.48 - Lim, The Handbook of Technical Analysis (Wiley, 2016)</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DeMark trendlines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17 of 21</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21208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more responsive line: newest points first.</a:t>
            </a:r>
          </a:p>
        </p:txBody>
      </p:sp>
      <p:sp>
        <p:nvSpPr>
          <p:cNvPr id="10" name="Rectangle 9"/>
          <p:cNvSpPr/>
          <p:nvPr/>
        </p:nvSpPr>
        <p:spPr>
          <a:xfrm>
            <a:off x="777240" y="297484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21208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Of three uptrend lines in the figure, only the one through the two most recent troughs is marked correct.</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21208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Uptrend line: from the two most recent qualified troughs. Downtrend line: from the two most recent qualified peaks. From Thomas DeMark's The New Science of Technical Analysis, where the book sends the reader for how a point qualifies.</a:t>
            </a:r>
          </a:p>
        </p:txBody>
      </p:sp>
      <p:sp>
        <p:nvSpPr>
          <p:cNvPr id="14" name="Rectangle 13"/>
          <p:cNvSpPr/>
          <p:nvPr/>
        </p:nvSpPr>
        <p:spPr>
          <a:xfrm>
            <a:off x="6583679" y="2157984"/>
            <a:ext cx="483077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583679" y="2157984"/>
            <a:ext cx="483077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6995159" y="2615184"/>
            <a:ext cx="400781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5.49</a:t>
            </a:r>
          </a:p>
          <a:p>
            <a:pPr algn="l">
              <a:lnSpc>
                <a:spcPct val="120000"/>
              </a:lnSpc>
              <a:spcBef>
                <a:spcPts val="0"/>
              </a:spcBef>
              <a:spcAft>
                <a:spcPts val="1400"/>
              </a:spcAft>
            </a:pPr>
            <a:r>
              <a:rPr sz="1800" b="0" i="0">
                <a:solidFill>
                  <a:srgbClr val="1A1A1A"/>
                </a:solidFill>
                <a:latin typeface="Palatino"/>
              </a:rPr>
              <a:t>A rising candlestick chart with three uptrend lines drawn from different pairs of troughs: the one through the two most recent troughs is marked correct and the two drawn from older troughs are marked wrong.</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5.49 - Lim, The Handbook of Technical Analysis (Wiley, 2016)</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Standard fan lines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18 of 21</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21208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Three trendlines fanning out from one point.</a:t>
            </a:r>
          </a:p>
        </p:txBody>
      </p:sp>
      <p:sp>
        <p:nvSpPr>
          <p:cNvPr id="10" name="Rectangle 9"/>
          <p:cNvSpPr/>
          <p:nvPr/>
        </p:nvSpPr>
        <p:spPr>
          <a:xfrm>
            <a:off x="777240" y="2974847"/>
            <a:ext cx="64008" cy="123748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21208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Decelerating: three uptrend lines from a significant lower trough to gradually declining higher troughs. Accelerating: the mirror, three downtrend lines from a significant higher peak.</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21208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They indicate a change in trend: violation of the third fan line is strong confirmation. They provide support and resistance, change roles when breached, and trade like any trendline.</a:t>
            </a:r>
          </a:p>
        </p:txBody>
      </p:sp>
      <p:sp>
        <p:nvSpPr>
          <p:cNvPr id="14" name="Rectangle 13"/>
          <p:cNvSpPr/>
          <p:nvPr/>
        </p:nvSpPr>
        <p:spPr>
          <a:xfrm>
            <a:off x="6583679" y="2157984"/>
            <a:ext cx="483077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583679" y="2157984"/>
            <a:ext cx="483077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6995159" y="2615184"/>
            <a:ext cx="400781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5.50</a:t>
            </a:r>
          </a:p>
          <a:p>
            <a:pPr algn="l">
              <a:lnSpc>
                <a:spcPct val="120000"/>
              </a:lnSpc>
              <a:spcBef>
                <a:spcPts val="0"/>
              </a:spcBef>
              <a:spcAft>
                <a:spcPts val="1400"/>
              </a:spcAft>
            </a:pPr>
            <a:r>
              <a:rPr sz="1800" b="0" i="0">
                <a:solidFill>
                  <a:srgbClr val="1A1A1A"/>
                </a:solidFill>
                <a:latin typeface="Palatino"/>
              </a:rPr>
              <a:t>Two drawings: decelerating fan lines, three uptrend lines fanning out from one trough and numbered 1st, 2nd and 3rd as they flatten, and accelerating fan lines, three downtrend lines fanning out from one peak.</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5.50 - Lim, The Handbook of Technical Analysis (Wiley, 2016)</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Fibonacci fan lines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19 of 21</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Fan lines through three Fibonacci levels.</a:t>
            </a:r>
          </a:p>
        </p:txBody>
      </p:sp>
      <p:sp>
        <p:nvSpPr>
          <p:cNvPr id="10" name="Rectangle 9"/>
          <p:cNvSpPr/>
          <p:nvPr/>
        </p:nvSpPr>
        <p:spPr>
          <a:xfrm>
            <a:off x="777240" y="297484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39496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range from PHP 40 to PHP 60 gives a vertical line PHP 20 tall, with three marks on it.</a:t>
            </a:r>
          </a:p>
        </p:txBody>
      </p:sp>
      <p:sp>
        <p:nvSpPr>
          <p:cNvPr id="12" name="Rectangle 11"/>
          <p:cNvSpPr/>
          <p:nvPr/>
        </p:nvSpPr>
        <p:spPr>
          <a:xfrm>
            <a:off x="777240" y="3950207"/>
            <a:ext cx="64008" cy="175564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3904487"/>
            <a:ext cx="5394960" cy="18653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To construct a bearish one: identify a significant Fibonacci retracement range. Draw a vertical line from the peak of the range to the trough's price level. Divide it into 38.2, 50 and 61.8 percent levels. Project three lines from the trough, intercepting those three levels.</a:t>
            </a:r>
          </a:p>
        </p:txBody>
      </p:sp>
      <p:sp>
        <p:nvSpPr>
          <p:cNvPr id="14" name="Rectangle 13"/>
          <p:cNvSpPr/>
          <p:nvPr/>
        </p:nvSpPr>
        <p:spPr>
          <a:xfrm>
            <a:off x="6766559" y="2157984"/>
            <a:ext cx="46478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766559" y="2157984"/>
            <a:ext cx="46478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178040" y="2615184"/>
            <a:ext cx="38249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5.51</a:t>
            </a:r>
          </a:p>
          <a:p>
            <a:pPr algn="l">
              <a:lnSpc>
                <a:spcPct val="120000"/>
              </a:lnSpc>
              <a:spcBef>
                <a:spcPts val="0"/>
              </a:spcBef>
              <a:spcAft>
                <a:spcPts val="1400"/>
              </a:spcAft>
            </a:pPr>
            <a:r>
              <a:rPr sz="1800" b="0" i="0">
                <a:solidFill>
                  <a:srgbClr val="1A1A1A"/>
                </a:solidFill>
                <a:latin typeface="Palatino"/>
              </a:rPr>
              <a:t>A rise from a trough to a peak with a vertical line dropped from the peak to the base, divided at 38.2, 50.0 and 61.8 percent, and three lines projected from the trough through those three points.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5.51 - Lim, The Handbook of Technical Analysis (Wiley, 2016)</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Speed lines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20 of 21</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484632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Fibonacci fan lines, drawn with thirds.</a:t>
            </a:r>
          </a:p>
        </p:txBody>
      </p:sp>
      <p:sp>
        <p:nvSpPr>
          <p:cNvPr id="10" name="Rectangle 9"/>
          <p:cNvSpPr/>
          <p:nvPr/>
        </p:nvSpPr>
        <p:spPr>
          <a:xfrm>
            <a:off x="777240" y="297484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48463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The same vertical line, divided into thirds: a 1/3 speed line and a 2/3 speed line.</a:t>
            </a:r>
          </a:p>
        </p:txBody>
      </p:sp>
      <p:sp>
        <p:nvSpPr>
          <p:cNvPr id="12" name="Rectangle 11"/>
          <p:cNvSpPr/>
          <p:nvPr/>
        </p:nvSpPr>
        <p:spPr>
          <a:xfrm>
            <a:off x="777240" y="3950207"/>
            <a:ext cx="64008" cy="175564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3904487"/>
            <a:ext cx="4846320" cy="18653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Edson Gould's speed lines also track the progress of a trend as it attempts to bottom or top. They are created in exactly the same way as Fibonacci fan lines, except that the retracement ratios are one-third and two-thirds.</a:t>
            </a:r>
          </a:p>
        </p:txBody>
      </p:sp>
      <p:sp>
        <p:nvSpPr>
          <p:cNvPr id="14" name="Rectangle 13"/>
          <p:cNvSpPr/>
          <p:nvPr/>
        </p:nvSpPr>
        <p:spPr>
          <a:xfrm>
            <a:off x="6217919" y="2157984"/>
            <a:ext cx="519653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17919" y="2157984"/>
            <a:ext cx="519653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6629399" y="2615184"/>
            <a:ext cx="437357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5.52</a:t>
            </a:r>
          </a:p>
          <a:p>
            <a:pPr algn="l">
              <a:lnSpc>
                <a:spcPct val="120000"/>
              </a:lnSpc>
              <a:spcBef>
                <a:spcPts val="0"/>
              </a:spcBef>
              <a:spcAft>
                <a:spcPts val="1400"/>
              </a:spcAft>
            </a:pPr>
            <a:r>
              <a:rPr sz="1800" b="0" i="0">
                <a:solidFill>
                  <a:srgbClr val="1A1A1A"/>
                </a:solidFill>
                <a:latin typeface="Palatino"/>
              </a:rPr>
              <a:t>A rise from a trough to a peak with a vertical line dropped from the peak to the base and divided into three thirds, and two lines projected from the trough through the division points: the 1/3 speed line and the 2/3 speed line.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5.52 - Lim, The Handbook of Technical Analysis (Wiley, 2016)</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Andrew's Pitchfork</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21 of 21</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Three parallel lines; a geometric overlay.</a:t>
            </a:r>
          </a:p>
        </p:txBody>
      </p:sp>
      <p:sp>
        <p:nvSpPr>
          <p:cNvPr id="10" name="Rectangle 9"/>
          <p:cNvSpPr/>
          <p:nvPr/>
        </p:nvSpPr>
        <p:spPr>
          <a:xfrm>
            <a:off x="777240" y="297484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39496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Daily Silver: support at the median line and upper band. Bullish: the converse.</a:t>
            </a:r>
          </a:p>
        </p:txBody>
      </p:sp>
      <p:sp>
        <p:nvSpPr>
          <p:cNvPr id="12" name="Rectangle 11"/>
          <p:cNvSpPr/>
          <p:nvPr/>
        </p:nvSpPr>
        <p:spPr>
          <a:xfrm>
            <a:off x="777240" y="3950207"/>
            <a:ext cx="64008" cy="175564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3904487"/>
            <a:ext cx="5394960" cy="18653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geometrically based price overlay whose lines provide support and resistance. Bearish: after a significant peak, take an upside retracement that does not exceed it. The median line runs from the peak through the midpoint between the retracement trough and peak. Project parallels from both.</a:t>
            </a:r>
          </a:p>
        </p:txBody>
      </p:sp>
      <p:sp>
        <p:nvSpPr>
          <p:cNvPr id="14" name="Rectangle 13"/>
          <p:cNvSpPr/>
          <p:nvPr/>
        </p:nvSpPr>
        <p:spPr>
          <a:xfrm>
            <a:off x="6766559" y="2157984"/>
            <a:ext cx="46478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766559" y="2157984"/>
            <a:ext cx="46478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178040" y="2615184"/>
            <a:ext cx="38249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5.53</a:t>
            </a:r>
          </a:p>
          <a:p>
            <a:pPr algn="l">
              <a:lnSpc>
                <a:spcPct val="120000"/>
              </a:lnSpc>
              <a:spcBef>
                <a:spcPts val="0"/>
              </a:spcBef>
              <a:spcAft>
                <a:spcPts val="1400"/>
              </a:spcAft>
            </a:pPr>
            <a:r>
              <a:rPr sz="1800" b="0" i="0">
                <a:solidFill>
                  <a:srgbClr val="1A1A1A"/>
                </a:solidFill>
                <a:latin typeface="Palatino"/>
              </a:rPr>
              <a:t>A daily Silver chart with a falling pitchfork: a significant peak, a retracement trough and a retracement peak, three parallel falling lines, and labels where prices react at the median line and tag the upper band.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5.53 - Lim, The Handbook of Technical Analysis (Wiley, 2016)</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18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Other trendlines and fan lines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DeMark trendlines in an uptrend are constructed from:</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lowest trough and the highest peak</a:t>
            </a:r>
          </a:p>
          <a:p>
            <a:pPr algn="l">
              <a:lnSpc>
                <a:spcPct val="112000"/>
              </a:lnSpc>
              <a:spcBef>
                <a:spcPts val="0"/>
              </a:spcBef>
              <a:spcAft>
                <a:spcPts val="900"/>
              </a:spcAft>
            </a:pPr>
            <a:r>
              <a:rPr sz="1500" b="0" i="0">
                <a:solidFill>
                  <a:srgbClr val="FFFFFF"/>
                </a:solidFill>
                <a:latin typeface="Arial"/>
              </a:rPr>
              <a:t>B.  The two most recent qualified troughs</a:t>
            </a:r>
          </a:p>
          <a:p>
            <a:pPr algn="l">
              <a:lnSpc>
                <a:spcPct val="112000"/>
              </a:lnSpc>
              <a:spcBef>
                <a:spcPts val="0"/>
              </a:spcBef>
              <a:spcAft>
                <a:spcPts val="900"/>
              </a:spcAft>
            </a:pPr>
            <a:r>
              <a:rPr sz="1500" b="0" i="0">
                <a:solidFill>
                  <a:srgbClr val="FFFFFF"/>
                </a:solidFill>
                <a:latin typeface="Arial"/>
              </a:rPr>
              <a:t>C.  The two oldest troughs on the chart</a:t>
            </a:r>
          </a:p>
          <a:p>
            <a:pPr algn="l">
              <a:lnSpc>
                <a:spcPct val="112000"/>
              </a:lnSpc>
              <a:spcBef>
                <a:spcPts val="0"/>
              </a:spcBef>
              <a:spcAft>
                <a:spcPts val="900"/>
              </a:spcAft>
            </a:pPr>
            <a:r>
              <a:rPr sz="1500" b="0" i="0">
                <a:solidFill>
                  <a:srgbClr val="FFFFFF"/>
                </a:solidFill>
                <a:latin typeface="Arial"/>
              </a:rPr>
              <a:t>D.  The lowest trough and the highest minor trough</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Speed lines differ from Fibonacci fan lines in that their retracement ratios are:</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38.2, 50 and 61.8 percent</a:t>
            </a:r>
          </a:p>
          <a:p>
            <a:pPr algn="l">
              <a:lnSpc>
                <a:spcPct val="112000"/>
              </a:lnSpc>
              <a:spcBef>
                <a:spcPts val="0"/>
              </a:spcBef>
              <a:spcAft>
                <a:spcPts val="900"/>
              </a:spcAft>
            </a:pPr>
            <a:r>
              <a:rPr sz="1500" b="0" i="0">
                <a:solidFill>
                  <a:srgbClr val="FFFFFF"/>
                </a:solidFill>
                <a:latin typeface="Arial"/>
              </a:rPr>
              <a:t>B.  One-eighth and one-quarter</a:t>
            </a:r>
          </a:p>
          <a:p>
            <a:pPr algn="l">
              <a:lnSpc>
                <a:spcPct val="112000"/>
              </a:lnSpc>
              <a:spcBef>
                <a:spcPts val="0"/>
              </a:spcBef>
              <a:spcAft>
                <a:spcPts val="900"/>
              </a:spcAft>
            </a:pPr>
            <a:r>
              <a:rPr sz="1500" b="0" i="0">
                <a:solidFill>
                  <a:srgbClr val="FFFFFF"/>
                </a:solidFill>
                <a:latin typeface="Arial"/>
              </a:rPr>
              <a:t>C.  25, 50 and 75 percent</a:t>
            </a:r>
          </a:p>
          <a:p>
            <a:pPr algn="l">
              <a:lnSpc>
                <a:spcPct val="112000"/>
              </a:lnSpc>
              <a:spcBef>
                <a:spcPts val="0"/>
              </a:spcBef>
              <a:spcAft>
                <a:spcPts val="900"/>
              </a:spcAft>
            </a:pPr>
            <a:r>
              <a:rPr sz="1500" b="0" i="0">
                <a:solidFill>
                  <a:srgbClr val="FFFFFF"/>
                </a:solidFill>
                <a:latin typeface="Arial"/>
              </a:rPr>
              <a:t>D.  One-third and two-thirds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6 of 11 - 5.6 Trendlines  |  Check 18</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Other trendlines and fan lines</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DeMark trendlines in an uptrend are constructed from:</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The two most recent qualified troughs</a:t>
            </a:r>
          </a:p>
          <a:p>
            <a:pPr algn="l">
              <a:lnSpc>
                <a:spcPct val="115000"/>
              </a:lnSpc>
              <a:spcBef>
                <a:spcPts val="700"/>
              </a:spcBef>
              <a:spcAft>
                <a:spcPts val="0"/>
              </a:spcAft>
            </a:pPr>
            <a:r>
              <a:rPr sz="1600" b="0" i="0">
                <a:solidFill>
                  <a:srgbClr val="1A1A1A"/>
                </a:solidFill>
                <a:latin typeface="Arial"/>
              </a:rPr>
              <a:t>DeMark uses the two most recent qualified troughs in an uptrend, and the two most recent qualified peaks in a downtrend.</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Speed lines differ from Fibonacci fan lines in that their retracement ratios are:</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One-third and two-thirds</a:t>
            </a:r>
          </a:p>
          <a:p>
            <a:pPr algn="l">
              <a:lnSpc>
                <a:spcPct val="115000"/>
              </a:lnSpc>
              <a:spcBef>
                <a:spcPts val="700"/>
              </a:spcBef>
              <a:spcAft>
                <a:spcPts val="0"/>
              </a:spcAft>
            </a:pPr>
            <a:r>
              <a:rPr sz="1600" b="0" i="0">
                <a:solidFill>
                  <a:srgbClr val="1A1A1A"/>
                </a:solidFill>
                <a:latin typeface="Arial"/>
              </a:rPr>
              <a:t>Speed lines are created in exactly the same way as Fibonacci fan lines, except the ratios are one-third and two-thirds.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Check 18</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5.7  Three ways to measure a retracement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7 of 11 - 5.7 Retracements  |  1 of 2</a:t>
            </a:r>
          </a:p>
        </p:txBody>
      </p:sp>
      <p:sp>
        <p:nvSpPr>
          <p:cNvPr id="7" name="TextBox 6"/>
          <p:cNvSpPr txBox="1"/>
          <p:nvPr/>
        </p:nvSpPr>
        <p:spPr>
          <a:xfrm>
            <a:off x="777240" y="1965960"/>
            <a:ext cx="56692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Fibonacci retracements are based on various ratios related to the Fibonacci Phi ratio.</a:t>
            </a:r>
          </a:p>
          <a:p>
            <a:pPr algn="l">
              <a:lnSpc>
                <a:spcPct val="105000"/>
              </a:lnSpc>
              <a:spcBef>
                <a:spcPts val="0"/>
              </a:spcBef>
              <a:spcAft>
                <a:spcPts val="1100"/>
              </a:spcAft>
            </a:pPr>
            <a:r>
              <a:rPr sz="1700" b="0" i="0">
                <a:solidFill>
                  <a:srgbClr val="1A1A1A"/>
                </a:solidFill>
                <a:latin typeface="Arial"/>
              </a:rPr>
              <a:t>Dow paid particular attention to the one-third and two-thirds retracements.</a:t>
            </a:r>
          </a:p>
          <a:p>
            <a:pPr algn="l">
              <a:lnSpc>
                <a:spcPct val="105000"/>
              </a:lnSpc>
              <a:spcBef>
                <a:spcPts val="0"/>
              </a:spcBef>
              <a:spcAft>
                <a:spcPts val="1100"/>
              </a:spcAft>
            </a:pPr>
            <a:r>
              <a:rPr sz="1700" b="0" i="0">
                <a:solidFill>
                  <a:srgbClr val="1A1A1A"/>
                </a:solidFill>
                <a:latin typeface="Arial"/>
              </a:rPr>
              <a:t>Gann employed one-third and one-eighth retracement ranges.</a:t>
            </a:r>
          </a:p>
        </p:txBody>
      </p:sp>
      <p:sp>
        <p:nvSpPr>
          <p:cNvPr id="8" name="Rectangle 7"/>
          <p:cNvSpPr/>
          <p:nvPr/>
        </p:nvSpPr>
        <p:spPr>
          <a:xfrm>
            <a:off x="777240" y="4293108"/>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537667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Gann and Dow both regarded 50 percent as the most significant, with most major tops and bottoms forming around it.</a:t>
            </a:r>
          </a:p>
        </p:txBody>
      </p:sp>
      <p:sp>
        <p:nvSpPr>
          <p:cNvPr id="10" name="TextBox 9"/>
          <p:cNvSpPr txBox="1"/>
          <p:nvPr/>
        </p:nvSpPr>
        <p:spPr>
          <a:xfrm>
            <a:off x="777240" y="5463540"/>
            <a:ext cx="56692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leaves the detail to 'a subsequent chapter', unnamed. Its Chapter 10 is Fibonacci and its Chapter 19 Gann.</a:t>
            </a:r>
          </a:p>
        </p:txBody>
      </p:sp>
      <p:sp>
        <p:nvSpPr>
          <p:cNvPr id="11" name="Rectangle 10"/>
          <p:cNvSpPr/>
          <p:nvPr/>
        </p:nvSpPr>
        <p:spPr>
          <a:xfrm>
            <a:off x="6766559" y="1810512"/>
            <a:ext cx="46478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66559" y="1810512"/>
            <a:ext cx="46478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178040" y="2267712"/>
            <a:ext cx="38249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5.54</a:t>
            </a:r>
          </a:p>
          <a:p>
            <a:pPr algn="l">
              <a:lnSpc>
                <a:spcPct val="120000"/>
              </a:lnSpc>
              <a:spcBef>
                <a:spcPts val="0"/>
              </a:spcBef>
              <a:spcAft>
                <a:spcPts val="1400"/>
              </a:spcAft>
            </a:pPr>
            <a:r>
              <a:rPr sz="1800" b="0" i="0">
                <a:solidFill>
                  <a:srgbClr val="1A1A1A"/>
                </a:solidFill>
                <a:latin typeface="Palatino"/>
              </a:rPr>
              <a:t>A table of retracement percentages in three columns. Fibonacci: 23.6, 38.2, 50 in brackets, 61.8 and 78.6. Dow: 33, 50 and 66. Gann: 12.5, 25.0, 37.5, 50.0, 62.5, 75.0 and 87.5.</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5.54 - Lim, The Handbook of Technical Analysis (Wiley, 2016)</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the three approaches agree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7 of 11 - 5.7 Retracements  |  2 of 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Set side by side, the retracement percentages converge strongly around specific ranges.</a:t>
            </a:r>
          </a:p>
          <a:p>
            <a:pPr algn="l">
              <a:lnSpc>
                <a:spcPct val="105000"/>
              </a:lnSpc>
              <a:spcBef>
                <a:spcPts val="0"/>
              </a:spcBef>
              <a:spcAft>
                <a:spcPts val="1100"/>
              </a:spcAft>
            </a:pPr>
            <a:r>
              <a:rPr sz="1900" b="0" i="0">
                <a:solidFill>
                  <a:srgbClr val="1A1A1A"/>
                </a:solidFill>
                <a:latin typeface="Arial"/>
              </a:rPr>
              <a:t>Between 33 and 38.2 percent.</a:t>
            </a:r>
          </a:p>
          <a:p>
            <a:pPr algn="l">
              <a:lnSpc>
                <a:spcPct val="105000"/>
              </a:lnSpc>
              <a:spcBef>
                <a:spcPts val="0"/>
              </a:spcBef>
              <a:spcAft>
                <a:spcPts val="1100"/>
              </a:spcAft>
            </a:pPr>
            <a:r>
              <a:rPr sz="1900" b="0" i="0">
                <a:solidFill>
                  <a:srgbClr val="1A1A1A"/>
                </a:solidFill>
                <a:latin typeface="Arial"/>
              </a:rPr>
              <a:t>At 50 percent.</a:t>
            </a:r>
          </a:p>
          <a:p>
            <a:pPr algn="l">
              <a:lnSpc>
                <a:spcPct val="105000"/>
              </a:lnSpc>
              <a:spcBef>
                <a:spcPts val="0"/>
              </a:spcBef>
              <a:spcAft>
                <a:spcPts val="1100"/>
              </a:spcAft>
            </a:pPr>
            <a:r>
              <a:rPr sz="1900" b="0" i="0">
                <a:solidFill>
                  <a:srgbClr val="1A1A1A"/>
                </a:solidFill>
                <a:latin typeface="Arial"/>
              </a:rPr>
              <a:t>Between 61.8 and 66 percent.</a:t>
            </a:r>
          </a:p>
        </p:txBody>
      </p:sp>
      <p:sp>
        <p:nvSpPr>
          <p:cNvPr id="8" name="Rectangle 7"/>
          <p:cNvSpPr/>
          <p:nvPr/>
        </p:nvSpPr>
        <p:spPr>
          <a:xfrm>
            <a:off x="777240" y="4649724"/>
            <a:ext cx="82296" cy="10607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86300"/>
            <a:ext cx="4828032" cy="10607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Probably the most important retracement percentage of all is the 50 percent level.</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y.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Y - FIN1209 teaching chart, drawn for this course. Illustrative data, not a real instrument.</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5.8  Common, breakaway, runaway and exhaustion gaps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8 of 11 - 5.8 Gaps  |  1 of 3</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Each is named for where in the trend it opens.</a:t>
            </a:r>
          </a:p>
        </p:txBody>
      </p:sp>
      <p:sp>
        <p:nvSpPr>
          <p:cNvPr id="10" name="Rectangle 9"/>
          <p:cNvSpPr/>
          <p:nvPr/>
        </p:nvSpPr>
        <p:spPr>
          <a:xfrm>
            <a:off x="777240" y="2974847"/>
            <a:ext cx="64008" cy="460247"/>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39496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Weekly Wheat shows all four.</a:t>
            </a:r>
          </a:p>
        </p:txBody>
      </p:sp>
      <p:sp>
        <p:nvSpPr>
          <p:cNvPr id="12" name="Rectangle 11"/>
          <p:cNvSpPr/>
          <p:nvPr/>
        </p:nvSpPr>
        <p:spPr>
          <a:xfrm>
            <a:off x="777240" y="3691127"/>
            <a:ext cx="64008" cy="2014727"/>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3645407"/>
            <a:ext cx="5394960" cy="21244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Common: within a trading range, considered insignificant. Breakaway: as price breaks away from a consolidation or chart pattern. Runaway, measuring, midway or continuation: in a strong trend phase; there may be more than one. Exhaustion: at the end of a trend, before a consolidation or reversal.</a:t>
            </a:r>
          </a:p>
        </p:txBody>
      </p:sp>
      <p:sp>
        <p:nvSpPr>
          <p:cNvPr id="14" name="Rectangle 13"/>
          <p:cNvSpPr/>
          <p:nvPr/>
        </p:nvSpPr>
        <p:spPr>
          <a:xfrm>
            <a:off x="6766559" y="2157984"/>
            <a:ext cx="46478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766559" y="2157984"/>
            <a:ext cx="46478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178040" y="2615184"/>
            <a:ext cx="38249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5.55</a:t>
            </a:r>
          </a:p>
          <a:p>
            <a:pPr algn="l">
              <a:lnSpc>
                <a:spcPct val="120000"/>
              </a:lnSpc>
              <a:spcBef>
                <a:spcPts val="0"/>
              </a:spcBef>
              <a:spcAft>
                <a:spcPts val="1400"/>
              </a:spcAft>
            </a:pPr>
            <a:r>
              <a:rPr sz="1800" b="0" i="0">
                <a:solidFill>
                  <a:srgbClr val="1A1A1A"/>
                </a:solidFill>
                <a:latin typeface="Palatino"/>
              </a:rPr>
              <a:t>A weekly Wheat chart with each kind of gap boxed and named: common gaps inside the consolidation, then a breakaway gap, a runaway gap and an exhaustion gap up the trend, with arrows from the three trend gaps to later levels of support.</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5.55 - Lim, The Handbook of Technical Analysis (Wiley, 2016)</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Gaps forecasting trend exhaustion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8 of 11 - 5.8 Gaps  |  2 of 3</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Weekly Wheat: common gaps within the consolidation, then the trend-related gaps.</a:t>
            </a:r>
          </a:p>
          <a:p>
            <a:pPr algn="l">
              <a:lnSpc>
                <a:spcPct val="105000"/>
              </a:lnSpc>
              <a:spcBef>
                <a:spcPts val="0"/>
              </a:spcBef>
              <a:spcAft>
                <a:spcPts val="1100"/>
              </a:spcAft>
            </a:pPr>
            <a:r>
              <a:rPr sz="1700" b="0" i="0">
                <a:solidFill>
                  <a:srgbClr val="1A1A1A"/>
                </a:solidFill>
                <a:latin typeface="Arial"/>
              </a:rPr>
              <a:t>Prices top after the third gap: potential trend exhaustion.</a:t>
            </a:r>
          </a:p>
          <a:p>
            <a:pPr algn="l">
              <a:lnSpc>
                <a:spcPct val="105000"/>
              </a:lnSpc>
              <a:spcBef>
                <a:spcPts val="0"/>
              </a:spcBef>
              <a:spcAft>
                <a:spcPts val="1100"/>
              </a:spcAft>
            </a:pPr>
            <a:r>
              <a:rPr sz="1700" b="0" i="0">
                <a:solidFill>
                  <a:srgbClr val="1A1A1A"/>
                </a:solidFill>
                <a:latin typeface="Arial"/>
              </a:rPr>
              <a:t>The exhaustion is at a significant resistance level, created by a strong price rejection.</a:t>
            </a:r>
          </a:p>
        </p:txBody>
      </p:sp>
      <p:sp>
        <p:nvSpPr>
          <p:cNvPr id="8" name="Rectangle 7"/>
          <p:cNvSpPr/>
          <p:nvPr/>
        </p:nvSpPr>
        <p:spPr>
          <a:xfrm>
            <a:off x="777240" y="4293108"/>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Gaps help to define the stages within a trend, and so indicate potential tops and bottoms.</a:t>
            </a:r>
          </a:p>
        </p:txBody>
      </p:sp>
      <p:sp>
        <p:nvSpPr>
          <p:cNvPr id="10" name="TextBox 9"/>
          <p:cNvSpPr txBox="1"/>
          <p:nvPr/>
        </p:nvSpPr>
        <p:spPr>
          <a:xfrm>
            <a:off x="777240" y="546354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rejection is at the high of what the book calls a very bearish shooting star pattern. Candlesticks are Chapter 14.</a:t>
            </a:r>
          </a:p>
        </p:txBody>
      </p:sp>
      <p:sp>
        <p:nvSpPr>
          <p:cNvPr id="11" name="Rectangle 10"/>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5.56</a:t>
            </a:r>
          </a:p>
          <a:p>
            <a:pPr algn="l">
              <a:lnSpc>
                <a:spcPct val="120000"/>
              </a:lnSpc>
              <a:spcBef>
                <a:spcPts val="0"/>
              </a:spcBef>
              <a:spcAft>
                <a:spcPts val="1400"/>
              </a:spcAft>
            </a:pPr>
            <a:r>
              <a:rPr sz="1800" b="0" i="0">
                <a:solidFill>
                  <a:srgbClr val="1A1A1A"/>
                </a:solidFill>
                <a:latin typeface="Palatino"/>
              </a:rPr>
              <a:t>A weekly Wheat chart: a strong price rejection at an early high, a dashed line carrying that level across as prior resistance, an accumulation box holding a common gap, then a breakaway gap, a midway gap and an exhaustion gap rising into a distribution box at the resistance.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5.56 - Lim, The Handbook of Technical Analysis (Wiley, 2016)</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Gaps become support and resistance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8 of 11 - 5.8 Gaps  |  3 of 3</a:t>
            </a:r>
          </a:p>
        </p:txBody>
      </p:sp>
      <p:sp>
        <p:nvSpPr>
          <p:cNvPr id="7" name="TextBox 6"/>
          <p:cNvSpPr txBox="1"/>
          <p:nvPr/>
        </p:nvSpPr>
        <p:spPr>
          <a:xfrm>
            <a:off x="777240" y="1965960"/>
            <a:ext cx="45720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Gaps tend to create areas of potential support and resistance.</a:t>
            </a:r>
          </a:p>
          <a:p>
            <a:pPr algn="l">
              <a:lnSpc>
                <a:spcPct val="105000"/>
              </a:lnSpc>
              <a:spcBef>
                <a:spcPts val="0"/>
              </a:spcBef>
              <a:spcAft>
                <a:spcPts val="1100"/>
              </a:spcAft>
            </a:pPr>
            <a:r>
              <a:rPr sz="1700" b="0" i="0">
                <a:solidFill>
                  <a:srgbClr val="1A1A1A"/>
                </a:solidFill>
                <a:latin typeface="Arial"/>
              </a:rPr>
              <a:t>On the weekly Wheat chart the gaps give rise to subsequent levels of support.</a:t>
            </a:r>
          </a:p>
          <a:p>
            <a:pPr algn="l">
              <a:lnSpc>
                <a:spcPct val="105000"/>
              </a:lnSpc>
              <a:spcBef>
                <a:spcPts val="0"/>
              </a:spcBef>
              <a:spcAft>
                <a:spcPts val="1100"/>
              </a:spcAft>
            </a:pPr>
            <a:r>
              <a:rPr sz="1700" b="0" i="0">
                <a:solidFill>
                  <a:srgbClr val="1A1A1A"/>
                </a:solidFill>
                <a:latin typeface="Arial"/>
              </a:rPr>
              <a:t>On a 15 minute chart of GLD, gaps give rise to areas of both support and resistance.</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27939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cycle-tuned stochastic helps to corroborate the levels: overbought at resistance, oversold at support.</a:t>
            </a:r>
          </a:p>
        </p:txBody>
      </p:sp>
      <p:sp>
        <p:nvSpPr>
          <p:cNvPr id="10" name="Rectangle 9"/>
          <p:cNvSpPr/>
          <p:nvPr/>
        </p:nvSpPr>
        <p:spPr>
          <a:xfrm>
            <a:off x="5669279" y="1810512"/>
            <a:ext cx="57451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5669279" y="1810512"/>
            <a:ext cx="57451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080759" y="2267712"/>
            <a:ext cx="49222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5.57</a:t>
            </a:r>
          </a:p>
          <a:p>
            <a:pPr algn="l">
              <a:lnSpc>
                <a:spcPct val="120000"/>
              </a:lnSpc>
              <a:spcBef>
                <a:spcPts val="0"/>
              </a:spcBef>
              <a:spcAft>
                <a:spcPts val="1400"/>
              </a:spcAft>
            </a:pPr>
            <a:r>
              <a:rPr sz="1800" b="0" i="0">
                <a:solidFill>
                  <a:srgbClr val="1A1A1A"/>
                </a:solidFill>
                <a:latin typeface="Palatino"/>
              </a:rPr>
              <a:t>A 15 minute chart of the SPDR Gold Trust Shares headed gaps as support and resistance: horizontal lines drawn from each gap, parallel dashed lines showing angular symmetry in GLD, and a cycle-tuned stochastic below with its extremes circled.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5669279" y="5650992"/>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5.57 - Lim, The Handbook of Technical Analysis (Wiley, 2016)</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19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Retracements and gaps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Both Gann and Dow regarded which retracement percentage as the most significant?</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33 percent</a:t>
            </a:r>
          </a:p>
          <a:p>
            <a:pPr algn="l">
              <a:lnSpc>
                <a:spcPct val="112000"/>
              </a:lnSpc>
              <a:spcBef>
                <a:spcPts val="0"/>
              </a:spcBef>
              <a:spcAft>
                <a:spcPts val="900"/>
              </a:spcAft>
            </a:pPr>
            <a:r>
              <a:rPr sz="1500" b="0" i="0">
                <a:solidFill>
                  <a:srgbClr val="FFFFFF"/>
                </a:solidFill>
                <a:latin typeface="Arial"/>
              </a:rPr>
              <a:t>B.  38.2 percent</a:t>
            </a:r>
          </a:p>
          <a:p>
            <a:pPr algn="l">
              <a:lnSpc>
                <a:spcPct val="112000"/>
              </a:lnSpc>
              <a:spcBef>
                <a:spcPts val="0"/>
              </a:spcBef>
              <a:spcAft>
                <a:spcPts val="900"/>
              </a:spcAft>
            </a:pPr>
            <a:r>
              <a:rPr sz="1500" b="0" i="0">
                <a:solidFill>
                  <a:srgbClr val="FFFFFF"/>
                </a:solidFill>
                <a:latin typeface="Arial"/>
              </a:rPr>
              <a:t>C.  50 percent</a:t>
            </a:r>
          </a:p>
          <a:p>
            <a:pPr algn="l">
              <a:lnSpc>
                <a:spcPct val="112000"/>
              </a:lnSpc>
              <a:spcBef>
                <a:spcPts val="0"/>
              </a:spcBef>
              <a:spcAft>
                <a:spcPts val="900"/>
              </a:spcAft>
            </a:pPr>
            <a:r>
              <a:rPr sz="1500" b="0" i="0">
                <a:solidFill>
                  <a:srgbClr val="FFFFFF"/>
                </a:solidFill>
                <a:latin typeface="Arial"/>
              </a:rPr>
              <a:t>D.  61.8 percent</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gap created as price leaves a consolidation or chart pattern is a:</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Breakaway gap</a:t>
            </a:r>
          </a:p>
          <a:p>
            <a:pPr algn="l">
              <a:lnSpc>
                <a:spcPct val="112000"/>
              </a:lnSpc>
              <a:spcBef>
                <a:spcPts val="0"/>
              </a:spcBef>
              <a:spcAft>
                <a:spcPts val="900"/>
              </a:spcAft>
            </a:pPr>
            <a:r>
              <a:rPr sz="1500" b="0" i="0">
                <a:solidFill>
                  <a:srgbClr val="FFFFFF"/>
                </a:solidFill>
                <a:latin typeface="Arial"/>
              </a:rPr>
              <a:t>B.  Common gap</a:t>
            </a:r>
          </a:p>
          <a:p>
            <a:pPr algn="l">
              <a:lnSpc>
                <a:spcPct val="112000"/>
              </a:lnSpc>
              <a:spcBef>
                <a:spcPts val="0"/>
              </a:spcBef>
              <a:spcAft>
                <a:spcPts val="900"/>
              </a:spcAft>
            </a:pPr>
            <a:r>
              <a:rPr sz="1500" b="0" i="0">
                <a:solidFill>
                  <a:srgbClr val="FFFFFF"/>
                </a:solidFill>
                <a:latin typeface="Arial"/>
              </a:rPr>
              <a:t>C.  Runaway gap</a:t>
            </a:r>
          </a:p>
          <a:p>
            <a:pPr algn="l">
              <a:lnSpc>
                <a:spcPct val="112000"/>
              </a:lnSpc>
              <a:spcBef>
                <a:spcPts val="0"/>
              </a:spcBef>
              <a:spcAft>
                <a:spcPts val="900"/>
              </a:spcAft>
            </a:pPr>
            <a:r>
              <a:rPr sz="1500" b="0" i="0">
                <a:solidFill>
                  <a:srgbClr val="FFFFFF"/>
                </a:solidFill>
                <a:latin typeface="Arial"/>
              </a:rPr>
              <a:t>D.  Exhaustion gap</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8 of 11 - 5.8 Gaps  |  Check 19</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Retracements and gaps</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Both Gann and Dow regarded which retracement percentage as the most significant?</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50 percent</a:t>
            </a:r>
          </a:p>
          <a:p>
            <a:pPr algn="l">
              <a:lnSpc>
                <a:spcPct val="115000"/>
              </a:lnSpc>
              <a:spcBef>
                <a:spcPts val="700"/>
              </a:spcBef>
              <a:spcAft>
                <a:spcPts val="0"/>
              </a:spcAft>
            </a:pPr>
            <a:r>
              <a:rPr sz="1600" b="0" i="0">
                <a:solidFill>
                  <a:srgbClr val="1A1A1A"/>
                </a:solidFill>
                <a:latin typeface="Arial"/>
              </a:rPr>
              <a:t>Both regarded 50 percent as the most significant, with most major tops and bottoms forming around that level.</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gap created as price leaves a consolidation or chart pattern is a:</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Breakaway gap</a:t>
            </a:r>
          </a:p>
          <a:p>
            <a:pPr algn="l">
              <a:lnSpc>
                <a:spcPct val="115000"/>
              </a:lnSpc>
              <a:spcBef>
                <a:spcPts val="700"/>
              </a:spcBef>
              <a:spcAft>
                <a:spcPts val="0"/>
              </a:spcAft>
            </a:pPr>
            <a:r>
              <a:rPr sz="1600" b="0" i="0">
                <a:solidFill>
                  <a:srgbClr val="1A1A1A"/>
                </a:solidFill>
                <a:latin typeface="Arial"/>
              </a:rPr>
              <a:t>Common gaps sit within a range, runaway gaps in a strong trend phase, and exhaustion gaps at the end of a trend.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8 of 11 - 5.8 Gaps  |  Check 19</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5.9  Unidirectional and bidirectional entries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9 of 11 - 5.9 Directionality  |  1 of 1</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612648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Trade one way only, or whichever way it breaks.</a:t>
            </a:r>
          </a:p>
        </p:txBody>
      </p:sp>
      <p:sp>
        <p:nvSpPr>
          <p:cNvPr id="10" name="Rectangle 9"/>
          <p:cNvSpPr/>
          <p:nvPr/>
        </p:nvSpPr>
        <p:spPr>
          <a:xfrm>
            <a:off x="777240" y="2974847"/>
            <a:ext cx="64008" cy="123748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612648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Take only breakouts with the trend and, over the long term, you have traded both ways: micro-unidirectional entries are equivalent to a macro-bidirectional approach, unless a qualified trade is skipped.</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612648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unidirectional entry is a trade taken only in the direction of the existing trend, up or down. A bidirectional entry is a trade taken in either direction, depending on which way the breakout occurs.</a:t>
            </a:r>
          </a:p>
        </p:txBody>
      </p:sp>
      <p:sp>
        <p:nvSpPr>
          <p:cNvPr id="14" name="Rectangle 13"/>
          <p:cNvSpPr/>
          <p:nvPr/>
        </p:nvSpPr>
        <p:spPr>
          <a:xfrm>
            <a:off x="7498079" y="2157984"/>
            <a:ext cx="391637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498079" y="2157984"/>
            <a:ext cx="391637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909559" y="2615184"/>
            <a:ext cx="309341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5.58</a:t>
            </a:r>
          </a:p>
          <a:p>
            <a:pPr algn="l">
              <a:lnSpc>
                <a:spcPct val="120000"/>
              </a:lnSpc>
              <a:spcBef>
                <a:spcPts val="0"/>
              </a:spcBef>
              <a:spcAft>
                <a:spcPts val="1400"/>
              </a:spcAft>
            </a:pPr>
            <a:r>
              <a:rPr sz="1800" b="0" i="0">
                <a:solidFill>
                  <a:srgbClr val="1A1A1A"/>
                </a:solidFill>
                <a:latin typeface="Palatino"/>
              </a:rPr>
              <a:t>A price rising and falling between two levels, with longs marked only on the way up and shorts only on the way down, labelled micro-unidirectional entries, over the words equivalent to a macro-bidirectional mechanism: a buy-sell straddle, buying above one line and selling below the other.</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498079" y="5650992"/>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5.58 - Lim, The Handbook of Technical Analysis (Wiley, 2016)</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5.10  Drummond geometry</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10 of 11 - 5.10 Drummond  |  1 of 1</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57784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Drummond's way to stay on the right side.</a:t>
            </a:r>
          </a:p>
        </p:txBody>
      </p:sp>
      <p:sp>
        <p:nvSpPr>
          <p:cNvPr id="10" name="Rectangle 9"/>
          <p:cNvSpPr/>
          <p:nvPr/>
        </p:nvSpPr>
        <p:spPr>
          <a:xfrm>
            <a:off x="777240" y="297484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57784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Price above the PLdot: the market is regarded as bullish. Below the PLdot: bearish. Some buy when it turns up and sell when it turns down.</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57784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Charles Drummond's method: a short-term moving average, the PLdot line, and inter-bar trendlines that forecast support and resistance. The PLdot is a simple three-period moving average of typical price, and may be forward shifted by one period.</a:t>
            </a:r>
          </a:p>
        </p:txBody>
      </p:sp>
      <p:sp>
        <p:nvSpPr>
          <p:cNvPr id="14" name="Rectangle 13"/>
          <p:cNvSpPr/>
          <p:nvPr/>
        </p:nvSpPr>
        <p:spPr>
          <a:xfrm>
            <a:off x="6949440" y="2157984"/>
            <a:ext cx="446501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949440" y="2157984"/>
            <a:ext cx="446501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360919" y="2615184"/>
            <a:ext cx="364205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5.59</a:t>
            </a:r>
          </a:p>
          <a:p>
            <a:pPr algn="l">
              <a:lnSpc>
                <a:spcPct val="120000"/>
              </a:lnSpc>
              <a:spcBef>
                <a:spcPts val="0"/>
              </a:spcBef>
              <a:spcAft>
                <a:spcPts val="1400"/>
              </a:spcAft>
            </a:pPr>
            <a:r>
              <a:rPr sz="1800" b="0" i="0">
                <a:solidFill>
                  <a:srgbClr val="1A1A1A"/>
                </a:solidFill>
                <a:latin typeface="Palatino"/>
              </a:rPr>
              <a:t>A weekly EURUSD chart with a short moving average hugging price, labelled PLdot approximated by a 3-period SMA of typical price: price above the SMA is bullish, price below it is bearish, and buy when the SMA turns up and sell when it turns down.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949440" y="5650992"/>
            <a:ext cx="446501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5.59 - Lim, The Handbook of Technical Analysis (Wiley, 2016)</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20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Directionality and Drummond</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trade taken in either direction, depending on which way the breakout occurs, is a:</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Unidirectional entry</a:t>
            </a:r>
          </a:p>
          <a:p>
            <a:pPr algn="l">
              <a:lnSpc>
                <a:spcPct val="112000"/>
              </a:lnSpc>
              <a:spcBef>
                <a:spcPts val="0"/>
              </a:spcBef>
              <a:spcAft>
                <a:spcPts val="900"/>
              </a:spcAft>
            </a:pPr>
            <a:r>
              <a:rPr sz="1500" b="0" i="0">
                <a:solidFill>
                  <a:srgbClr val="FFFFFF"/>
                </a:solidFill>
                <a:latin typeface="Arial"/>
              </a:rPr>
              <a:t>B.  Barrier entry</a:t>
            </a:r>
          </a:p>
          <a:p>
            <a:pPr algn="l">
              <a:lnSpc>
                <a:spcPct val="112000"/>
              </a:lnSpc>
              <a:spcBef>
                <a:spcPts val="0"/>
              </a:spcBef>
              <a:spcAft>
                <a:spcPts val="900"/>
              </a:spcAft>
            </a:pPr>
            <a:r>
              <a:rPr sz="1500" b="0" i="0">
                <a:solidFill>
                  <a:srgbClr val="FFFFFF"/>
                </a:solidFill>
                <a:latin typeface="Arial"/>
              </a:rPr>
              <a:t>C.  Retracement entry</a:t>
            </a:r>
          </a:p>
          <a:p>
            <a:pPr algn="l">
              <a:lnSpc>
                <a:spcPct val="112000"/>
              </a:lnSpc>
              <a:spcBef>
                <a:spcPts val="0"/>
              </a:spcBef>
              <a:spcAft>
                <a:spcPts val="900"/>
              </a:spcAft>
            </a:pPr>
            <a:r>
              <a:rPr sz="1500" b="0" i="0">
                <a:solidFill>
                  <a:srgbClr val="FFFFFF"/>
                </a:solidFill>
                <a:latin typeface="Arial"/>
              </a:rPr>
              <a:t>D.  Bidirectional entry</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Drummond geometry, price above the PLdot line means the market is regarded as: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Bearish</a:t>
            </a:r>
          </a:p>
          <a:p>
            <a:pPr algn="l">
              <a:lnSpc>
                <a:spcPct val="112000"/>
              </a:lnSpc>
              <a:spcBef>
                <a:spcPts val="0"/>
              </a:spcBef>
              <a:spcAft>
                <a:spcPts val="900"/>
              </a:spcAft>
            </a:pPr>
            <a:r>
              <a:rPr sz="1500" b="0" i="0">
                <a:solidFill>
                  <a:srgbClr val="FFFFFF"/>
                </a:solidFill>
                <a:latin typeface="Arial"/>
              </a:rPr>
              <a:t>B.  Bullish</a:t>
            </a:r>
          </a:p>
          <a:p>
            <a:pPr algn="l">
              <a:lnSpc>
                <a:spcPct val="112000"/>
              </a:lnSpc>
              <a:spcBef>
                <a:spcPts val="0"/>
              </a:spcBef>
              <a:spcAft>
                <a:spcPts val="900"/>
              </a:spcAft>
            </a:pPr>
            <a:r>
              <a:rPr sz="1500" b="0" i="0">
                <a:solidFill>
                  <a:srgbClr val="FFFFFF"/>
                </a:solidFill>
                <a:latin typeface="Arial"/>
              </a:rPr>
              <a:t>C.  Overbought</a:t>
            </a:r>
          </a:p>
          <a:p>
            <a:pPr algn="l">
              <a:lnSpc>
                <a:spcPct val="112000"/>
              </a:lnSpc>
              <a:spcBef>
                <a:spcPts val="0"/>
              </a:spcBef>
              <a:spcAft>
                <a:spcPts val="900"/>
              </a:spcAft>
            </a:pPr>
            <a:r>
              <a:rPr sz="1500" b="0" i="0">
                <a:solidFill>
                  <a:srgbClr val="FFFFFF"/>
                </a:solidFill>
                <a:latin typeface="Arial"/>
              </a:rPr>
              <a:t>D.  In consolidation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10 of 11 - 5.10 Drummond  |  Check 20</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Directionality and Drummond</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trade taken in either direction, depending on which way the breakout occurs, is a:</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Bidirectional entry</a:t>
            </a:r>
          </a:p>
          <a:p>
            <a:pPr algn="l">
              <a:lnSpc>
                <a:spcPct val="115000"/>
              </a:lnSpc>
              <a:spcBef>
                <a:spcPts val="700"/>
              </a:spcBef>
              <a:spcAft>
                <a:spcPts val="0"/>
              </a:spcAft>
            </a:pPr>
            <a:r>
              <a:rPr sz="1600" b="0" i="0">
                <a:solidFill>
                  <a:srgbClr val="1A1A1A"/>
                </a:solidFill>
                <a:latin typeface="Arial"/>
              </a:rPr>
              <a:t>A unidirectional entry is taken only in the direction of the existing trend. A bidirectional one goes whichever way the breakout does.</a:t>
            </a:r>
          </a:p>
        </p:txBody>
      </p:sp>
      <p:sp>
        <p:nvSpPr>
          <p:cNvPr id="10" name="Rectangle 9"/>
          <p:cNvSpPr/>
          <p:nvPr/>
        </p:nvSpPr>
        <p:spPr>
          <a:xfrm>
            <a:off x="777240" y="331571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In Drummond geometry, price above the PLdot line means the market is regarded as:</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Bullish</a:t>
            </a:r>
          </a:p>
          <a:p>
            <a:pPr algn="l">
              <a:lnSpc>
                <a:spcPct val="115000"/>
              </a:lnSpc>
              <a:spcBef>
                <a:spcPts val="700"/>
              </a:spcBef>
              <a:spcAft>
                <a:spcPts val="0"/>
              </a:spcAft>
            </a:pPr>
            <a:r>
              <a:rPr sz="1600" b="0" i="0">
                <a:solidFill>
                  <a:srgbClr val="1A1A1A"/>
                </a:solidFill>
                <a:latin typeface="Arial"/>
              </a:rPr>
              <a:t>When price is above the PLdot the market is regarded as bullish, and when it is below, bearish.</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10 of 11 - 5.10 Drummond  |  Check 20</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5.11  Signs that a trend may reverse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11 of 11 - 5.11 Reversals  |  1 of 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Volume: diminishing volume in a trend, or extreme volume in a buying or selling climax.</a:t>
            </a:r>
          </a:p>
          <a:p>
            <a:pPr algn="l">
              <a:lnSpc>
                <a:spcPct val="105000"/>
              </a:lnSpc>
              <a:spcBef>
                <a:spcPts val="0"/>
              </a:spcBef>
              <a:spcAft>
                <a:spcPts val="1100"/>
              </a:spcAft>
            </a:pPr>
            <a:r>
              <a:rPr sz="1700" b="0" i="0">
                <a:solidFill>
                  <a:srgbClr val="1A1A1A"/>
                </a:solidFill>
                <a:latin typeface="Arial"/>
              </a:rPr>
              <a:t>Chart patterns: bearish after a strong, prolonged uptrend, bullish after a downtrend.</a:t>
            </a:r>
          </a:p>
          <a:p>
            <a:pPr algn="l">
              <a:lnSpc>
                <a:spcPct val="105000"/>
              </a:lnSpc>
              <a:spcBef>
                <a:spcPts val="0"/>
              </a:spcBef>
              <a:spcAft>
                <a:spcPts val="1100"/>
              </a:spcAft>
            </a:pPr>
            <a:r>
              <a:rPr sz="1700" b="0" i="0">
                <a:solidFill>
                  <a:srgbClr val="1A1A1A"/>
                </a:solidFill>
                <a:latin typeface="Arial"/>
              </a:rPr>
              <a:t>Cycles: peaks at tops, troughs at bottoms, or decreasing cycle amplitude or period in a trend.</a:t>
            </a:r>
          </a:p>
          <a:p>
            <a:pPr algn="l">
              <a:lnSpc>
                <a:spcPct val="105000"/>
              </a:lnSpc>
              <a:spcBef>
                <a:spcPts val="0"/>
              </a:spcBef>
              <a:spcAft>
                <a:spcPts val="1100"/>
              </a:spcAft>
            </a:pPr>
            <a:r>
              <a:rPr sz="1700" b="0" i="0">
                <a:solidFill>
                  <a:srgbClr val="1A1A1A"/>
                </a:solidFill>
                <a:latin typeface="Arial"/>
              </a:rPr>
              <a:t>Tops at significant historical resistance levels, bottoms at historical support levels.</a:t>
            </a:r>
          </a:p>
        </p:txBody>
      </p:sp>
      <p:sp>
        <p:nvSpPr>
          <p:cNvPr id="8" name="TextBox 7"/>
          <p:cNvSpPr txBox="1"/>
          <p:nvPr/>
        </p:nvSpPr>
        <p:spPr>
          <a:xfrm>
            <a:off x="777240" y="5273802"/>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Also a chart pattern sign: the appearance of a large broadening, diamond or island formation.</a:t>
            </a:r>
          </a:p>
        </p:txBody>
      </p:sp>
      <p:sp>
        <p:nvSpPr>
          <p:cNvPr id="9" name="Rectangle 8"/>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0" name="Picture 9" descr="chart-z.png"/>
          <p:cNvPicPr>
            <a:picLocks noChangeAspect="1"/>
          </p:cNvPicPr>
          <p:nvPr/>
        </p:nvPicPr>
        <p:blipFill>
          <a:blip r:embed="rId2"/>
          <a:stretch>
            <a:fillRect/>
          </a:stretch>
        </p:blipFill>
        <p:spPr>
          <a:xfrm>
            <a:off x="6338163" y="1929384"/>
            <a:ext cx="4956048" cy="3511296"/>
          </a:xfrm>
          <a:prstGeom prst="rect">
            <a:avLst/>
          </a:prstGeom>
        </p:spPr>
      </p:pic>
      <p:sp>
        <p:nvSpPr>
          <p:cNvPr id="11" name="TextBox 10"/>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Z - FIN1209 teaching chart, drawn for this course. Illustrative data, not a real instrument.</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Reversal signs from tools taught later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11 of 11 - 5.11 Reversals  |  2 of 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Oscillators: overbought signals at tops, oversold signals at bottoms.</a:t>
            </a:r>
          </a:p>
          <a:p>
            <a:pPr algn="l">
              <a:lnSpc>
                <a:spcPct val="118000"/>
              </a:lnSpc>
              <a:spcBef>
                <a:spcPts val="0"/>
              </a:spcBef>
              <a:spcAft>
                <a:spcPts val="1300"/>
              </a:spcAft>
            </a:pPr>
            <a:r>
              <a:rPr sz="2100" b="0" i="0">
                <a:solidFill>
                  <a:srgbClr val="1A1A1A"/>
                </a:solidFill>
                <a:latin typeface="Arial"/>
              </a:rPr>
              <a:t>Bearish divergence with price at market tops, bullish divergence at bottoms.</a:t>
            </a:r>
          </a:p>
          <a:p>
            <a:pPr algn="l">
              <a:lnSpc>
                <a:spcPct val="118000"/>
              </a:lnSpc>
              <a:spcBef>
                <a:spcPts val="0"/>
              </a:spcBef>
              <a:spcAft>
                <a:spcPts val="1300"/>
              </a:spcAft>
            </a:pPr>
            <a:r>
              <a:rPr sz="2100" b="0" i="0">
                <a:solidFill>
                  <a:srgbClr val="1A1A1A"/>
                </a:solidFill>
                <a:latin typeface="Arial"/>
              </a:rPr>
              <a:t>The oscillator crossing below its signal and equilibrium line at tops, above at bottoms.</a:t>
            </a:r>
          </a:p>
          <a:p>
            <a:pPr algn="l">
              <a:lnSpc>
                <a:spcPct val="118000"/>
              </a:lnSpc>
              <a:spcBef>
                <a:spcPts val="0"/>
              </a:spcBef>
              <a:spcAft>
                <a:spcPts val="1300"/>
              </a:spcAft>
            </a:pPr>
            <a:r>
              <a:rPr sz="2100" b="0" i="0">
                <a:solidFill>
                  <a:srgbClr val="1A1A1A"/>
                </a:solidFill>
                <a:latin typeface="Arial"/>
              </a:rPr>
              <a:t>Candlesticks: bearish formations at market tops, bullish formations at bottoms.</a:t>
            </a:r>
          </a:p>
          <a:p>
            <a:pPr algn="l">
              <a:lnSpc>
                <a:spcPct val="118000"/>
              </a:lnSpc>
              <a:spcBef>
                <a:spcPts val="0"/>
              </a:spcBef>
              <a:spcAft>
                <a:spcPts val="1300"/>
              </a:spcAft>
            </a:pPr>
            <a:r>
              <a:rPr sz="2100" b="0" i="0">
                <a:solidFill>
                  <a:srgbClr val="1A1A1A"/>
                </a:solidFill>
                <a:latin typeface="Arial"/>
              </a:rPr>
              <a:t>Intermarket: bearish action in the broad markets leading to a top in the stock, bullish action in highly correlated markets leading to a bottom.</a:t>
            </a:r>
          </a:p>
        </p:txBody>
      </p:sp>
      <p:sp>
        <p:nvSpPr>
          <p:cNvPr id="8" name="TextBox 7"/>
          <p:cNvSpPr txBox="1"/>
          <p:nvPr/>
        </p:nvSpPr>
        <p:spPr>
          <a:xfrm>
            <a:off x="777240" y="5394197"/>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 calls this section a summary and refers to the relevant chapters for each approach.</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21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Forecasting reversals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volume behavior tends to accompany a potential market reversal?</a:t>
            </a:r>
          </a:p>
        </p:txBody>
      </p:sp>
      <p:sp>
        <p:nvSpPr>
          <p:cNvPr id="9" name="TextBox 8"/>
          <p:cNvSpPr txBox="1"/>
          <p:nvPr/>
        </p:nvSpPr>
        <p:spPr>
          <a:xfrm>
            <a:off x="1051560" y="252653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Steady, average volume throughout</a:t>
            </a:r>
          </a:p>
          <a:p>
            <a:pPr algn="l">
              <a:lnSpc>
                <a:spcPct val="112000"/>
              </a:lnSpc>
              <a:spcBef>
                <a:spcPts val="0"/>
              </a:spcBef>
              <a:spcAft>
                <a:spcPts val="900"/>
              </a:spcAft>
            </a:pPr>
            <a:r>
              <a:rPr sz="1500" b="0" i="0">
                <a:solidFill>
                  <a:srgbClr val="FFFFFF"/>
                </a:solidFill>
                <a:latin typeface="Arial"/>
              </a:rPr>
              <a:t>B.  Volume rising in step with the trend</a:t>
            </a:r>
          </a:p>
          <a:p>
            <a:pPr algn="l">
              <a:lnSpc>
                <a:spcPct val="112000"/>
              </a:lnSpc>
              <a:spcBef>
                <a:spcPts val="0"/>
              </a:spcBef>
              <a:spcAft>
                <a:spcPts val="900"/>
              </a:spcAft>
            </a:pPr>
            <a:r>
              <a:rPr sz="1500" b="0" i="0">
                <a:solidFill>
                  <a:srgbClr val="FFFFFF"/>
                </a:solidFill>
                <a:latin typeface="Arial"/>
              </a:rPr>
              <a:t>C.  Diminishing volume, or extreme volume in a climax</a:t>
            </a:r>
          </a:p>
          <a:p>
            <a:pPr algn="l">
              <a:lnSpc>
                <a:spcPct val="112000"/>
              </a:lnSpc>
              <a:spcBef>
                <a:spcPts val="0"/>
              </a:spcBef>
              <a:spcAft>
                <a:spcPts val="900"/>
              </a:spcAft>
            </a:pPr>
            <a:r>
              <a:rPr sz="1500" b="0" i="0">
                <a:solidFill>
                  <a:srgbClr val="FFFFFF"/>
                </a:solidFill>
                <a:latin typeface="Arial"/>
              </a:rPr>
              <a:t>D.  None: volume has no bearing on reversals</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Potential market tops tend to form at:</a:t>
            </a:r>
          </a:p>
        </p:txBody>
      </p:sp>
      <p:sp>
        <p:nvSpPr>
          <p:cNvPr id="13" name="TextBox 12"/>
          <p:cNvSpPr txBox="1"/>
          <p:nvPr/>
        </p:nvSpPr>
        <p:spPr>
          <a:xfrm>
            <a:off x="6690207" y="252653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Significant historical resistance levels</a:t>
            </a:r>
          </a:p>
          <a:p>
            <a:pPr algn="l">
              <a:lnSpc>
                <a:spcPct val="112000"/>
              </a:lnSpc>
              <a:spcBef>
                <a:spcPts val="0"/>
              </a:spcBef>
              <a:spcAft>
                <a:spcPts val="900"/>
              </a:spcAft>
            </a:pPr>
            <a:r>
              <a:rPr sz="1500" b="0" i="0">
                <a:solidFill>
                  <a:srgbClr val="FFFFFF"/>
                </a:solidFill>
                <a:latin typeface="Arial"/>
              </a:rPr>
              <a:t>B.  Significant historical support levels</a:t>
            </a:r>
          </a:p>
          <a:p>
            <a:pPr algn="l">
              <a:lnSpc>
                <a:spcPct val="112000"/>
              </a:lnSpc>
              <a:spcBef>
                <a:spcPts val="0"/>
              </a:spcBef>
              <a:spcAft>
                <a:spcPts val="900"/>
              </a:spcAft>
            </a:pPr>
            <a:r>
              <a:rPr sz="1500" b="0" i="0">
                <a:solidFill>
                  <a:srgbClr val="FFFFFF"/>
                </a:solidFill>
                <a:latin typeface="Arial"/>
              </a:rPr>
              <a:t>C.  Cycle troughs</a:t>
            </a:r>
          </a:p>
          <a:p>
            <a:pPr algn="l">
              <a:lnSpc>
                <a:spcPct val="112000"/>
              </a:lnSpc>
              <a:spcBef>
                <a:spcPts val="0"/>
              </a:spcBef>
              <a:spcAft>
                <a:spcPts val="900"/>
              </a:spcAft>
            </a:pPr>
            <a:r>
              <a:rPr sz="1500" b="0" i="0">
                <a:solidFill>
                  <a:srgbClr val="FFFFFF"/>
                </a:solidFill>
                <a:latin typeface="Arial"/>
              </a:rPr>
              <a:t>D.  Oversold oscillator signals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11 of 11 - 5.11 Reversals  |  Check 21</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Forecasting reversals</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Which volume behavior tends to accompany a potential market reversal?</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Diminishing volume, or extreme volume in a climax</a:t>
            </a:r>
          </a:p>
          <a:p>
            <a:pPr algn="l">
              <a:lnSpc>
                <a:spcPct val="115000"/>
              </a:lnSpc>
              <a:spcBef>
                <a:spcPts val="700"/>
              </a:spcBef>
              <a:spcAft>
                <a:spcPts val="0"/>
              </a:spcAft>
            </a:pPr>
            <a:r>
              <a:rPr sz="1600" b="0" i="0">
                <a:solidFill>
                  <a:srgbClr val="1A1A1A"/>
                </a:solidFill>
                <a:latin typeface="Arial"/>
              </a:rPr>
              <a:t>Diminishing volume indicates potential weakness in the trend, and buying or selling climaxes are indicative of market tops and bottoms.</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Potential market tops tend to form at:</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Significant historical resistance levels</a:t>
            </a:r>
          </a:p>
          <a:p>
            <a:pPr algn="l">
              <a:lnSpc>
                <a:spcPct val="115000"/>
              </a:lnSpc>
              <a:spcBef>
                <a:spcPts val="700"/>
              </a:spcBef>
              <a:spcAft>
                <a:spcPts val="0"/>
              </a:spcAft>
            </a:pPr>
            <a:r>
              <a:rPr sz="1600" b="0" i="0">
                <a:solidFill>
                  <a:srgbClr val="1A1A1A"/>
                </a:solidFill>
                <a:latin typeface="Arial"/>
              </a:rPr>
              <a:t>Tops tend to form at significant historical resistance levels, and bottoms at significant historical support levels.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11 of 11 - 5.11 Reversals  |  Check 21</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Chapter 5 in five sentences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5 -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Dow defines a trend by its peaks and troughs, and every definition has limits.</a:t>
            </a:r>
          </a:p>
          <a:p>
            <a:pPr algn="l">
              <a:lnSpc>
                <a:spcPct val="118000"/>
              </a:lnSpc>
              <a:spcBef>
                <a:spcPts val="0"/>
              </a:spcBef>
              <a:spcAft>
                <a:spcPts val="1300"/>
              </a:spcAft>
            </a:pPr>
            <a:r>
              <a:rPr sz="2100" b="0" i="0">
                <a:solidFill>
                  <a:srgbClr val="1A1A1A"/>
                </a:solidFill>
                <a:latin typeface="Arial"/>
              </a:rPr>
              <a:t>Sixteen price characteristics show a trend's quality: watch each for a change.</a:t>
            </a:r>
          </a:p>
          <a:p>
            <a:pPr algn="l">
              <a:lnSpc>
                <a:spcPct val="118000"/>
              </a:lnSpc>
              <a:spcBef>
                <a:spcPts val="0"/>
              </a:spcBef>
              <a:spcAft>
                <a:spcPts val="1300"/>
              </a:spcAft>
            </a:pPr>
            <a:r>
              <a:rPr sz="2100" b="0" i="0">
                <a:solidFill>
                  <a:srgbClr val="1A1A1A"/>
                </a:solidFill>
                <a:latin typeface="Arial"/>
              </a:rPr>
              <a:t>Filters, orders, stops and tradesize settle how a trend is entered and exited.</a:t>
            </a:r>
          </a:p>
          <a:p>
            <a:pPr algn="l">
              <a:lnSpc>
                <a:spcPct val="118000"/>
              </a:lnSpc>
              <a:spcBef>
                <a:spcPts val="0"/>
              </a:spcBef>
              <a:spcAft>
                <a:spcPts val="1300"/>
              </a:spcAft>
            </a:pPr>
            <a:r>
              <a:rPr sz="2100" b="0" i="0">
                <a:solidFill>
                  <a:srgbClr val="1A1A1A"/>
                </a:solidFill>
                <a:latin typeface="Arial"/>
              </a:rPr>
              <a:t>Trendlines, channels and fan lines are barriers: support, resistance, targets.</a:t>
            </a:r>
          </a:p>
          <a:p>
            <a:pPr algn="l">
              <a:lnSpc>
                <a:spcPct val="118000"/>
              </a:lnSpc>
              <a:spcBef>
                <a:spcPts val="0"/>
              </a:spcBef>
              <a:spcAft>
                <a:spcPts val="1300"/>
              </a:spcAft>
            </a:pPr>
            <a:r>
              <a:rPr sz="2100" b="0" i="0">
                <a:solidFill>
                  <a:srgbClr val="1A1A1A"/>
                </a:solidFill>
                <a:latin typeface="Arial"/>
              </a:rPr>
              <a:t>Retracements, gaps and the signs in 5.11 warn that a trend may reverse.</a:t>
            </a:r>
          </a:p>
        </p:txBody>
      </p:sp>
      <p:sp>
        <p:nvSpPr>
          <p:cNvPr id="8" name="Rectangle 7"/>
          <p:cNvSpPr/>
          <p:nvPr/>
        </p:nvSpPr>
        <p:spPr>
          <a:xfrm>
            <a:off x="777240" y="476478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0136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book's own summary: pay particular attention to the 16 characteristics.</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review questions to prepare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5 -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What is a trend? Explain the disadvantages of defining market and price action.</a:t>
            </a:r>
          </a:p>
          <a:p>
            <a:pPr algn="l">
              <a:lnSpc>
                <a:spcPct val="118000"/>
              </a:lnSpc>
              <a:spcBef>
                <a:spcPts val="0"/>
              </a:spcBef>
              <a:spcAft>
                <a:spcPts val="1300"/>
              </a:spcAft>
            </a:pPr>
            <a:r>
              <a:rPr sz="2100" b="0" i="0">
                <a:solidFill>
                  <a:srgbClr val="1A1A1A"/>
                </a:solidFill>
                <a:latin typeface="Arial"/>
              </a:rPr>
              <a:t>What are the early indications of a potential reversal?</a:t>
            </a:r>
          </a:p>
          <a:p>
            <a:pPr algn="l">
              <a:lnSpc>
                <a:spcPct val="118000"/>
              </a:lnSpc>
              <a:spcBef>
                <a:spcPts val="0"/>
              </a:spcBef>
              <a:spcAft>
                <a:spcPts val="1300"/>
              </a:spcAft>
            </a:pPr>
            <a:r>
              <a:rPr sz="2100" b="0" i="0">
                <a:solidFill>
                  <a:srgbClr val="1A1A1A"/>
                </a:solidFill>
                <a:latin typeface="Arial"/>
              </a:rPr>
              <a:t>Briefly describe the ways in which price action may be understood.</a:t>
            </a:r>
          </a:p>
          <a:p>
            <a:pPr algn="l">
              <a:lnSpc>
                <a:spcPct val="118000"/>
              </a:lnSpc>
              <a:spcBef>
                <a:spcPts val="0"/>
              </a:spcBef>
              <a:spcAft>
                <a:spcPts val="1300"/>
              </a:spcAft>
            </a:pPr>
            <a:r>
              <a:rPr sz="2100" b="0" i="0">
                <a:solidFill>
                  <a:srgbClr val="1A1A1A"/>
                </a:solidFill>
                <a:latin typeface="Arial"/>
              </a:rPr>
              <a:t>How can channel analysis help pinpoint potential reversals and continuations?</a:t>
            </a:r>
          </a:p>
          <a:p>
            <a:pPr algn="l">
              <a:lnSpc>
                <a:spcPct val="118000"/>
              </a:lnSpc>
              <a:spcBef>
                <a:spcPts val="0"/>
              </a:spcBef>
              <a:spcAft>
                <a:spcPts val="1300"/>
              </a:spcAft>
            </a:pPr>
            <a:r>
              <a:rPr sz="2100" b="0" i="0">
                <a:solidFill>
                  <a:srgbClr val="1A1A1A"/>
                </a:solidFill>
                <a:latin typeface="Arial"/>
              </a:rPr>
              <a:t>What are the factors that impact trendline reliability?</a:t>
            </a:r>
          </a:p>
          <a:p>
            <a:pPr algn="l">
              <a:lnSpc>
                <a:spcPct val="118000"/>
              </a:lnSpc>
              <a:spcBef>
                <a:spcPts val="0"/>
              </a:spcBef>
              <a:spcAft>
                <a:spcPts val="1300"/>
              </a:spcAft>
            </a:pPr>
            <a:r>
              <a:rPr sz="2100" b="0" i="0">
                <a:solidFill>
                  <a:srgbClr val="1A1A1A"/>
                </a:solidFill>
                <a:latin typeface="Arial"/>
              </a:rPr>
              <a:t>Explain the advantages of proportional sizing, and of price-based filters.</a:t>
            </a:r>
          </a:p>
        </p:txBody>
      </p:sp>
      <p:sp>
        <p:nvSpPr>
          <p:cNvPr id="8" name="TextBox 7"/>
          <p:cNvSpPr txBox="1"/>
          <p:nvPr/>
        </p:nvSpPr>
        <p:spPr>
          <a:xfrm>
            <a:off x="777240" y="5262371"/>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All eight of the book's questions, on six lines. Question 4 says 12 ways; section 5.2 lists 16.</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book uses, and where it says two things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5 -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Used and not taught here: typical price, the cycle-tuned stochastic, MACD, candlestick patterns.</a:t>
            </a:r>
          </a:p>
          <a:p>
            <a:pPr algn="l">
              <a:lnSpc>
                <a:spcPct val="118000"/>
              </a:lnSpc>
              <a:spcBef>
                <a:spcPts val="0"/>
              </a:spcBef>
              <a:spcAft>
                <a:spcPts val="1300"/>
              </a:spcAft>
            </a:pPr>
            <a:r>
              <a:rPr sz="2100" b="0" i="0">
                <a:solidFill>
                  <a:srgbClr val="1A1A1A"/>
                </a:solidFill>
                <a:latin typeface="Arial"/>
              </a:rPr>
              <a:t>Sent ahead: divergence, Chapter 9. Channels, Chapter 13. Elliott, Chapter 18. Tradesizing, Chapter 28.</a:t>
            </a:r>
          </a:p>
          <a:p>
            <a:pPr algn="l">
              <a:lnSpc>
                <a:spcPct val="118000"/>
              </a:lnSpc>
              <a:spcBef>
                <a:spcPts val="0"/>
              </a:spcBef>
              <a:spcAft>
                <a:spcPts val="1300"/>
              </a:spcAft>
            </a:pPr>
            <a:r>
              <a:rPr sz="2100" b="0" i="0">
                <a:solidFill>
                  <a:srgbClr val="1A1A1A"/>
                </a:solidFill>
                <a:latin typeface="Arial"/>
              </a:rPr>
              <a:t>Sixteen characteristics in 5.2, twelve in review question 4. Four entry modes announced, five listed.</a:t>
            </a:r>
          </a:p>
          <a:p>
            <a:pPr algn="l">
              <a:lnSpc>
                <a:spcPct val="118000"/>
              </a:lnSpc>
              <a:spcBef>
                <a:spcPts val="0"/>
              </a:spcBef>
              <a:spcAft>
                <a:spcPts val="1300"/>
              </a:spcAft>
            </a:pPr>
            <a:r>
              <a:rPr sz="2100" b="0" i="0">
                <a:solidFill>
                  <a:srgbClr val="1A1A1A"/>
                </a:solidFill>
                <a:latin typeface="Arial"/>
              </a:rPr>
              <a:t>Figure 5.24: $3.30 a day in the text, $3.80 on the figure.</a:t>
            </a:r>
          </a:p>
        </p:txBody>
      </p:sp>
      <p:sp>
        <p:nvSpPr>
          <p:cNvPr id="8" name="Rectangle 7"/>
          <p:cNvSpPr/>
          <p:nvPr/>
        </p:nvSpPr>
        <p:spPr>
          <a:xfrm>
            <a:off x="777240" y="5211318"/>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4"/>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Where the book disagrees with itself, the slide says so.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FIN1209 Chapter 5 - Trend Analysis</dc:title>
  <dc:subject>Technical Analysis in Investment</dc:subject>
  <dc:creator>Benjamin C. Sotelo</dc:creator>
  <cp:keywords/>
  <dc:description>generated using python-pptx</dc:description>
  <cp:lastModifiedBy>Benjamin C. Sotelo</cp:lastModifiedBy>
  <cp:revision>1</cp:revision>
  <dcterms:created xsi:type="dcterms:W3CDTF">2020-01-01T00:00:00Z</dcterms:created>
  <dcterms:modified xsi:type="dcterms:W3CDTF">2020-01-01T00:00:00Z</dcterms:modified>
  <cp:category/>
</cp:coreProperties>
</file>