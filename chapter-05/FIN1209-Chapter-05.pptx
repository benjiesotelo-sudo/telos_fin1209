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 The book adds that erratic or chaotic price action can make peaks and troughs extremely hard to identify.</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price is made up, and how. Nothing on the next slides is a measurement of a market; it is a price we built so that the three cycles can be seen.</a:t>
            </a:r>
          </a:p>
          <a:p>
            <a:r>
              <a:rPr sz="1400"/>
              <a:t>- Read the chart like a sum in arithmetic, top to bottom: big, plus medium, plus small, equals the price. All four rows are to one scale, so the small wave really is that small.</a:t>
            </a:r>
          </a:p>
          <a:p>
            <a:r>
              <a:rPr sz="1400"/>
              <a:t>- The gold arrows are one swing of each wave: how long it takes and how tall it is. The dashed uprights show three medium swings inside the big one and four small swings inside each medium one. Any clearly different sizes would have done.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the book's figure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Every fourth small low is also a medium low, and the first and last lows are lows of all three: that is the nesting.</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two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Read each gold line from its left end, the prior peak, to its right end, the bar that closes above it. The numbers are the order in which the three breakouts happen.</a:t>
            </a:r>
          </a:p>
          <a:p>
            <a:r>
              <a:rPr sz="1400"/>
              <a:t>- Nothing taught in Chapters 2 and 4 is withdrawn. A breakout from a range is a breakout through a level: the edge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The ATR in the figure's lower panel gets the next slide to itself: what a true range is, from Chapter 3, and why the book prefers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3 gave the true range beside the Type 4 gap, which is also measured from the last close. Chapter 3's own numbers are on the chart.</a:t>
            </a:r>
          </a:p>
          <a:p>
            <a:r>
              <a:rPr sz="1400"/>
              <a:t>- Then the one thing Chapter 5 adds: the book tracks the bar range with the ATR, because the ATR also sees the gaps between bars.</a:t>
            </a:r>
          </a:p>
          <a:p>
            <a:r>
              <a:rPr sz="1400"/>
              <a:t>- How the true range is averaged into the ATR is Chapter 8. Do not supply a formula or a number of bars.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5.17 shows the result, long clean moves against short choppy ones, at a size where no bar can be seen. This chart shows the cause the book names: the bar ranges.</a:t>
            </a:r>
          </a:p>
          <a:p>
            <a:r>
              <a:rPr sz="1400"/>
              <a:t>- Point at the left stretch first: the bars are all about one height. Then the right: no two alike.</a:t>
            </a:r>
          </a:p>
          <a:p>
            <a:r>
              <a:rPr sz="1400"/>
              <a:t>- Do not turn it into a rule the book does not give. It says only that prices tend to persist for longer when these two qualities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labels six divergences on a real chart, in a panel too fine to read. This is one of the bearish ones, drawn from bars we invented.</a:t>
            </a:r>
          </a:p>
          <a:p>
            <a:r>
              <a:rPr sz="1400"/>
              <a:t>- Two arrows: the one on price rises, the one on the averaged ratio falls. They diverge, and that is all the word means on this slide.</a:t>
            </a:r>
          </a:p>
          <a:p>
            <a:r>
              <a:rPr sz="1400"/>
              <a:t>- Do not go further than Chapter 4 did. Standard, reverse, bullish and bearish divergence are Chapter 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the two old rates, and the caption printed under 5.24, which is Figure 5.25's.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recalls the picture rather than drawing a new one: the book gives divergence one sentence here and sends the reader to Chapter 9 for the rest.</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to ask before anything else: am I flat, or already in the position? This slide answers it for flat.</a:t>
            </a:r>
          </a:p>
          <a:p>
            <a:r>
              <a:rPr sz="1400"/>
              <a:t>- A buy stop turns into a market order once triggered: the price it fills at after that is not guaranteed.</a:t>
            </a:r>
          </a:p>
          <a:p>
            <a:r>
              <a:rPr sz="1400"/>
              <a:t>- A buy limit never fills worse than its price. It may not fill at all.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 the same pairing as entries.</a:t>
            </a:r>
          </a:p>
          <a:p>
            <a:r>
              <a:rPr sz="1400"/>
              <a:t>- The limit exit is the profit-take order. Under gapping price action it can sometimes exit with greater profit.</a:t>
            </a:r>
          </a:p>
          <a:p>
            <a:r>
              <a:rPr sz="1400"/>
              <a:t>- Negative slippage can occur on the stoploss if price gaps through it; Chapter 5's own slippage term, a few slides back.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picture recalls Chart W rather than drawing a new one: an MIT is the same waiting-order shape, just named for its use as a profit exit or an any-price entry.</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book reads the lower panel as confirming oversold at each support; it cannot be verified at this size, so the slide does not assert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this slide gives it a working definition, ours, since the book never does.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makes this point on a real chart at a size where neither the levels nor a single reaction can be made out. This is the same point, drawn so it can be.</a:t>
            </a:r>
          </a:p>
          <a:p>
            <a:r>
              <a:rPr sz="1400"/>
              <a:t>- Work one level aloud: 38.2 percent of PHP 20 is PHP 7.64, and 40 plus 7.64 is 47.64.</a:t>
            </a:r>
          </a:p>
          <a:p>
            <a:r>
              <a:rPr sz="1400"/>
              <a:t>- Say plainly that the chart was drawn to turn at the levels. It shows what reacting at a level looks like, not that price must.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three lines on a real chart and marks one Correct. Which troughs each line joins cannot be seen on it, so this is the same picture with the troughs numbered.</a:t>
            </a:r>
          </a:p>
          <a:p>
            <a:r>
              <a:rPr sz="1400"/>
              <a:t>- The line through 3 and 4 is the steepest of the three here, and the closest to the latest price. The book's word for the approach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The troughs and peaks are too small to read here, so the next slide redraws the idea on an invented chart.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and a cycle-tuned stochastic; neither is legible here and neither is this chapter's to explain.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range of prices nobody traded in. The band is that range, carried to the right.</a:t>
            </a:r>
          </a:p>
          <a:p>
            <a:r>
              <a:rPr sz="1400"/>
              <a:t>- Left stretch first: the return from above stops at the band. Then the right stretch, its mirror.</a:t>
            </a:r>
          </a:p>
          <a:p>
            <a:r>
              <a:rPr sz="1400"/>
              <a:t>- This is role by side, the same as any barrier: support from above,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the same thing on EURUSD, where the line sits on the bars and cannot be picked out.</a:t>
            </a:r>
          </a:p>
          <a:p>
            <a:r>
              <a:rPr sz="1400"/>
              <a:t>- Three readings, all on the chart: above the line, below the line, and the turn.</a:t>
            </a:r>
          </a:p>
          <a:p>
            <a:r>
              <a:rPr sz="1400"/>
              <a:t>- Our line averages closing prices because typical price is not defined in this chapter. Do not supply a formula for 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degrees and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Lower degree cycles all reverse with them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degrees and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Lower degree cycles all reverse with them</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sentence set in gold on the left is its own, and counting gaps its only reason. The recall is this course's Chapter 3 deck, slide 48. The chart is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and 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and size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normally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The usual range of price in one period.</a:t>
            </a:r>
          </a:p>
        </p:txBody>
      </p:sp>
      <p:sp>
        <p:nvSpPr>
          <p:cNvPr id="10" name="Rectangle 9"/>
          <p:cNvSpPr/>
          <p:nvPr/>
        </p:nvSpPr>
        <p:spPr>
          <a:xfrm>
            <a:off x="777240" y="29443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foreign exchange (FOREX) pair averages 120 pips a day, a pip being the smallest price step a forex quote moves in. Price beyond that, either way, before the day completes: potential exhaustion.</a:t>
            </a:r>
          </a:p>
        </p:txBody>
      </p:sp>
      <p:sp>
        <p:nvSpPr>
          <p:cNvPr id="12" name="Rectangle 11"/>
          <p:cNvSpPr/>
          <p:nvPr/>
        </p:nvSpPr>
        <p:spPr>
          <a:xfrm>
            <a:off x="777240" y="4315968"/>
            <a:ext cx="64008" cy="13441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394960" cy="14538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of the most reliable characteristics of price activity. The average is found with the ATR. A higher mark, the 2 standard deviation value of bar range (twice how far ranges typically spread from that average):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Standard divergence, price and volume or price and any oscillator, may signal a potential reversal or continuation.</a:t>
            </a:r>
          </a:p>
          <a:p>
            <a:pPr algn="l">
              <a:lnSpc>
                <a:spcPct val="105000"/>
              </a:lnSpc>
              <a:spcBef>
                <a:spcPts val="0"/>
              </a:spcBef>
              <a:spcAft>
                <a:spcPts val="1100"/>
              </a:spcAft>
            </a:pPr>
            <a:r>
              <a:rPr sz="1700" b="0" i="0">
                <a:solidFill>
                  <a:srgbClr val="1A1A1A"/>
                </a:solidFill>
                <a:latin typeface="Arial"/>
              </a:rPr>
              <a:t>As Chapter 4 showed: price makes a higher peak while the MACD makes a lower one. Recalled on the right, characteristic 6's own example.</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names a second kind, reverse divergence, but gives it no sentence of its own here.</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and how either kind signals a continuation, are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Chapter 9. MACD: Chapter 4. Chart recalls Chart O, a few slides back.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Trend inhibiting, and a much stronger sign of a potential reversal: much capital committed, and no further extension in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Price-based filters indicate the exact price of entry, but not when.</a:t>
            </a:r>
          </a:p>
          <a:p>
            <a:pPr algn="l">
              <a:lnSpc>
                <a:spcPct val="105000"/>
              </a:lnSpc>
              <a:spcBef>
                <a:spcPts val="0"/>
              </a:spcBef>
              <a:spcAft>
                <a:spcPts val="1100"/>
              </a:spcAft>
            </a:pPr>
            <a:r>
              <a:rPr sz="1600" b="0" i="0">
                <a:solidFill>
                  <a:srgbClr val="1A1A1A"/>
                </a:solidFill>
                <a:latin typeface="Arial"/>
              </a:rPr>
              <a:t>Time-based filters indicate the exact time of entry, but not the price.</a:t>
            </a:r>
          </a:p>
          <a:p>
            <a:pPr algn="l">
              <a:lnSpc>
                <a:spcPct val="105000"/>
              </a:lnSpc>
              <a:spcBef>
                <a:spcPts val="0"/>
              </a:spcBef>
              <a:spcAft>
                <a:spcPts val="1100"/>
              </a:spcAft>
            </a:pPr>
            <a:r>
              <a:rPr sz="1600" b="0" i="0">
                <a:solidFill>
                  <a:srgbClr val="1A1A1A"/>
                </a:solidFill>
                <a:latin typeface="Arial"/>
              </a:rPr>
              <a:t>Event-based filters indicate neither, until an event has occurred.</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run against past prices to see how they would have performed,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backtest glossed in the caption, ours. The chart is ours: the book's own figure lists the filters and does not show the three entries.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Price-based. Absolute: a fixed price excursion. Relative: a percentage of the breakout price. Volatility: multiples of ATR or of standard deviation, how far a bar's range typically varies.</a:t>
            </a:r>
          </a:p>
          <a:p>
            <a:pPr algn="l">
              <a:lnSpc>
                <a:spcPct val="105000"/>
              </a:lnSpc>
              <a:spcBef>
                <a:spcPts val="0"/>
              </a:spcBef>
              <a:spcAft>
                <a:spcPts val="1100"/>
              </a:spcAft>
            </a:pPr>
            <a:r>
              <a:rPr sz="1500" b="0" i="0">
                <a:solidFill>
                  <a:srgbClr val="1A1A1A"/>
                </a:solidFill>
                <a:latin typeface="Arial"/>
              </a:rPr>
              <a:t>Time-based: a duration of N closed bars, N being however many the trader chooses.</a:t>
            </a:r>
          </a:p>
          <a:p>
            <a:pPr algn="l">
              <a:lnSpc>
                <a:spcPct val="105000"/>
              </a:lnSpc>
              <a:spcBef>
                <a:spcPts val="0"/>
              </a:spcBef>
              <a:spcAft>
                <a:spcPts val="1100"/>
              </a:spcAft>
            </a:pPr>
            <a:r>
              <a:rPr sz="1500" b="0" i="0">
                <a:solidFill>
                  <a:srgbClr val="1A1A1A"/>
                </a:solidFill>
                <a:latin typeface="Arial"/>
              </a:rPr>
              <a:t>Event-based. Algorithmic: a specific sequence of closed bars, several in a row closing the same way, or of new highs or lows. Event-based measure: a closing violation, or a retest, price returning to touch a broken level.</a:t>
            </a:r>
          </a:p>
        </p:txBody>
      </p:sp>
      <p:sp>
        <p:nvSpPr>
          <p:cNvPr id="8" name="TextBox 7"/>
          <p:cNvSpPr txBox="1"/>
          <p:nvPr/>
        </p:nvSpPr>
        <p:spPr>
          <a:xfrm>
            <a:off x="777240" y="530123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How far past the line, the ?, before the break counts? Chapter 1 calls the third family algorithmic;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 a sequence, a retest and standard deviation are glossed in one line each; the book gives no number for any of them.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u.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v.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w.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long position has its stoploss at PHP 30. Price gaps down, and the order is filled at PHP 28.80. The slippage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long position has its stoploss at PHP 30. Price gaps down,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Market if Touched, MIT: sells above the market, buys below it, with a stop order. Same shape as the recall, right.</a:t>
            </a:r>
          </a:p>
          <a:p>
            <a:pPr algn="l">
              <a:lnSpc>
                <a:spcPct val="105000"/>
              </a:lnSpc>
              <a:spcBef>
                <a:spcPts val="0"/>
              </a:spcBef>
              <a:spcAft>
                <a:spcPts val="1100"/>
              </a:spcAft>
            </a:pPr>
            <a:r>
              <a:rPr sz="1500" b="0" i="0">
                <a:solidFill>
                  <a:srgbClr val="1A1A1A"/>
                </a:solidFill>
                <a:latin typeface="Arial"/>
              </a:rPr>
              <a:t>Day orders stay pending only until the end of the trading day.</a:t>
            </a:r>
          </a:p>
          <a:p>
            <a:pPr algn="l">
              <a:lnSpc>
                <a:spcPct val="105000"/>
              </a:lnSpc>
              <a:spcBef>
                <a:spcPts val="0"/>
              </a:spcBef>
              <a:spcAft>
                <a:spcPts val="1100"/>
              </a:spcAft>
            </a:pPr>
            <a:r>
              <a:rPr sz="1500" b="0" i="0">
                <a:solidFill>
                  <a:srgbClr val="1A1A1A"/>
                </a:solidFill>
                <a:latin typeface="Arial"/>
              </a:rPr>
              <a:t>Good till Cancelled orders stay active until further notice.</a:t>
            </a:r>
          </a:p>
          <a:p>
            <a:pPr algn="l">
              <a:lnSpc>
                <a:spcPct val="105000"/>
              </a:lnSpc>
              <a:spcBef>
                <a:spcPts val="0"/>
              </a:spcBef>
              <a:spcAft>
                <a:spcPts val="1100"/>
              </a:spcAft>
            </a:pPr>
            <a:r>
              <a:rPr sz="1500" b="0" i="0">
                <a:solidFill>
                  <a:srgbClr val="1A1A1A"/>
                </a:solidFill>
                <a:latin typeface="Arial"/>
              </a:rPr>
              <a:t>Market on Close orders fill in the last minutes, at or near the close.</a:t>
            </a:r>
          </a:p>
          <a:p>
            <a:pPr algn="l">
              <a:lnSpc>
                <a:spcPct val="105000"/>
              </a:lnSpc>
              <a:spcBef>
                <a:spcPts val="0"/>
              </a:spcBef>
              <a:spcAft>
                <a:spcPts val="1100"/>
              </a:spcAft>
            </a:pPr>
            <a:r>
              <a:rPr sz="1500" b="0" i="0">
                <a:solidFill>
                  <a:srgbClr val="1A1A1A"/>
                </a:solidFill>
                <a:latin typeface="Arial"/>
              </a:rPr>
              <a:t>OCO places two opposite orders and cancels whichever does not fill. OTO places a second order once a first fills.</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b.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recalls Chart W, a few slides back: the same shape an MIT order uses.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6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6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600" b="0" i="0">
                <a:solidFill>
                  <a:srgbClr val="1A1A1A"/>
                </a:solidFill>
                <a:latin typeface="Arial"/>
              </a:rPr>
              <a:t>Random entries, and pattern or sequence-based entries.</a:t>
            </a:r>
          </a:p>
        </p:txBody>
      </p:sp>
      <p:sp>
        <p:nvSpPr>
          <p:cNvPr id="8" name="TextBox 7"/>
          <p:cNvSpPr txBox="1"/>
          <p:nvPr/>
        </p:nvSpPr>
        <p:spPr>
          <a:xfrm>
            <a:off x="777240" y="487375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a random entry is taken with no technical signal at all, usually only to benchmark a strategy against chance.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c.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10546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An inflection point, a peak or trough, counts for more the more bars flank it. A peak acts as resistance, stopping a rally; a trough acts as support, stopping a decline.</a:t>
            </a:r>
          </a:p>
        </p:txBody>
      </p:sp>
      <p:sp>
        <p:nvSpPr>
          <p:cNvPr id="10" name="Rectangle 9"/>
          <p:cNvSpPr/>
          <p:nvPr/>
        </p:nvSpPr>
        <p:spPr>
          <a:xfrm>
            <a:off x="777240" y="356920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23488"/>
            <a:ext cx="539496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39496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297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394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breached barrier changes sides.</a:t>
            </a:r>
          </a:p>
        </p:txBody>
      </p:sp>
      <p:sp>
        <p:nvSpPr>
          <p:cNvPr id="10" name="Rectangle 9"/>
          <p:cNvSpPr/>
          <p:nvPr/>
        </p:nvSpPr>
        <p:spPr>
          <a:xfrm>
            <a:off x="777240" y="29443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98648"/>
            <a:ext cx="466344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A share holds at PHP 40, then falls through it. On the next rally PHP 40 stops it.</a:t>
            </a:r>
          </a:p>
        </p:txBody>
      </p:sp>
      <p:sp>
        <p:nvSpPr>
          <p:cNvPr id="12" name="Rectangle 11"/>
          <p:cNvSpPr/>
          <p:nvPr/>
        </p:nvSpPr>
        <p:spPr>
          <a:xfrm>
            <a:off x="777240" y="3858768"/>
            <a:ext cx="64008" cy="18013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13048"/>
            <a:ext cx="4663440" cy="191109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Price barriers change roles once breached: support turns into future resistance, and resistance into future support. All overlay barriers: channels, trendlines (5.6), pivot points and price envelopes, the last two not built in this course, named only as the book's others.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Support and resistance: the slide just before this one.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700" b="0" i="0">
                <a:solidFill>
                  <a:srgbClr val="1A1A1A"/>
                </a:solidFill>
                <a:latin typeface="Arial"/>
              </a:rPr>
              <a:t>Resistance turning into support, again and again, in an uptrend.</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0965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role reversal as the last two slides, on a real chart instead of an invented one.</a:t>
            </a:r>
          </a:p>
        </p:txBody>
      </p:sp>
      <p:sp>
        <p:nvSpPr>
          <p:cNvPr id="10" name="TextBox 9"/>
          <p:cNvSpPr txBox="1"/>
          <p:nvPr/>
        </p:nvSpPr>
        <p:spPr>
          <a:xfrm>
            <a:off x="777240" y="502691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lower panel carries an oscillator, the cycle-tuned stochastic, Chapter 8, too small to read here; this slide keeps only what the price panel itself shows.</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Tops, bottoms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Tops, bottoms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145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24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Says whether a trend is on. Not 5.3's filters.</a:t>
            </a:r>
          </a:p>
        </p:txBody>
      </p:sp>
      <p:sp>
        <p:nvSpPr>
          <p:cNvPr id="10" name="Rectangle 9"/>
          <p:cNvSpPr/>
          <p:nvPr/>
        </p:nvSpPr>
        <p:spPr>
          <a:xfrm>
            <a:off x="777240" y="2929128"/>
            <a:ext cx="64008" cy="1267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883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 moving average: the average of a bar's own close and a set number before it, moving ahead one bar at a time. A double crossover compares a shorter one against a longer: shorter above, a potential uptrend; shorter below, a potential downtrend.</a:t>
            </a:r>
          </a:p>
        </p:txBody>
      </p:sp>
      <p:sp>
        <p:nvSpPr>
          <p:cNvPr id="12" name="Rectangle 11"/>
          <p:cNvSpPr/>
          <p:nvPr/>
        </p:nvSpPr>
        <p:spPr>
          <a:xfrm>
            <a:off x="777240" y="445312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07408"/>
            <a:ext cx="539496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It helps to identify a trend amidst the market noise and price volatility. How a moving average is built in general is Chapter 11; this is only its crossing read. Two more: an oscillator crossing its signal line, and price contained above or below an overlay barrier.</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6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6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519379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Preview only, not examinable: the MACD, the stochastic and signal lines are not taught in this course until later chapters.</a:t>
            </a:r>
          </a:p>
        </p:txBody>
      </p:sp>
      <p:sp>
        <p:nvSpPr>
          <p:cNvPr id="10" name="TextBox 9"/>
          <p:cNvSpPr txBox="1"/>
          <p:nvPr/>
        </p:nvSpPr>
        <p:spPr>
          <a:xfrm>
            <a:off x="777240" y="532180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shown here only because the book places it in this section. Nothing on this slide is assumed known or tested.</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600" b="0" i="0">
                <a:solidFill>
                  <a:srgbClr val="1A1A1A"/>
                </a:solidFill>
                <a:latin typeface="Arial"/>
              </a:rPr>
              <a:t>Entry too far from one: a stop some multiple of ATR or standard deviations away. A qualitative rule only; the book gives no actual multiple.</a:t>
            </a:r>
          </a:p>
          <a:p>
            <a:pPr algn="l">
              <a:lnSpc>
                <a:spcPct val="105000"/>
              </a:lnSpc>
              <a:spcBef>
                <a:spcPts val="0"/>
              </a:spcBef>
              <a:spcAft>
                <a:spcPts val="1100"/>
              </a:spcAft>
            </a:pPr>
            <a:r>
              <a:rPr sz="16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600" b="0" i="0">
                <a:solidFill>
                  <a:srgbClr val="1A1A1A"/>
                </a:solidFill>
                <a:latin typeface="Arial"/>
              </a:rPr>
              <a:t>Breakout entries: stopsizes vary. The peak or trough may be any distance from the entry.</a:t>
            </a:r>
          </a:p>
        </p:txBody>
      </p:sp>
      <p:sp>
        <p:nvSpPr>
          <p:cNvPr id="8" name="TextBox 7"/>
          <p:cNvSpPr txBox="1"/>
          <p:nvPr/>
        </p:nvSpPr>
        <p:spPr>
          <a:xfrm>
            <a:off x="777240" y="53858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6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288536"/>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5112"/>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Either way the result is significant loss.</a:t>
            </a:r>
          </a:p>
        </p:txBody>
      </p:sp>
      <p:sp>
        <p:nvSpPr>
          <p:cNvPr id="10" name="TextBox 9"/>
          <p:cNvSpPr txBox="1"/>
          <p:nvPr/>
        </p:nvSpPr>
        <p:spPr>
          <a:xfrm>
            <a:off x="777240" y="48950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Why each is bad, our reading: a narrow stop on current capital compounds, each loss shrinks the base the next is sized from; a wide stop on original capital stays large even after capital has shrunk.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Backtest, run the system on past trades: the average stopsize of 300 to 500, to average out noise. Say PHP 2.00.</a:t>
            </a:r>
          </a:p>
          <a:p>
            <a:pPr algn="l">
              <a:lnSpc>
                <a:spcPct val="105000"/>
              </a:lnSpc>
              <a:spcBef>
                <a:spcPts val="0"/>
              </a:spcBef>
              <a:spcAft>
                <a:spcPts val="1100"/>
              </a:spcAft>
            </a:pPr>
            <a:r>
              <a:rPr sz="1500" b="0" i="0">
                <a:solidFill>
                  <a:srgbClr val="1A1A1A"/>
                </a:solidFill>
                <a:latin typeface="Arial"/>
              </a:rPr>
              <a:t>2  Their two standard deviation value: say PHP 1.00, the same cushion as 13's ninety percent mark.</a:t>
            </a:r>
          </a:p>
          <a:p>
            <a:pPr algn="l">
              <a:lnSpc>
                <a:spcPct val="105000"/>
              </a:lnSpc>
              <a:spcBef>
                <a:spcPts val="0"/>
              </a:spcBef>
              <a:spcAft>
                <a:spcPts val="1100"/>
              </a:spcAft>
            </a:pPr>
            <a:r>
              <a:rPr sz="1500" b="0" i="0">
                <a:solidFill>
                  <a:srgbClr val="1A1A1A"/>
                </a:solidFill>
                <a:latin typeface="Arial"/>
              </a:rPr>
              <a:t>3  Add: the proportional stopsize, PHP 3.00, wide enough for almost every stop seen.</a:t>
            </a:r>
          </a:p>
          <a:p>
            <a:pPr algn="l">
              <a:lnSpc>
                <a:spcPct val="105000"/>
              </a:lnSpc>
              <a:spcBef>
                <a:spcPts val="0"/>
              </a:spcBef>
              <a:spcAft>
                <a:spcPts val="1100"/>
              </a:spcAft>
            </a:pPr>
            <a:r>
              <a:rPr sz="1500" b="0" i="0">
                <a:solidFill>
                  <a:srgbClr val="1A1A1A"/>
                </a:solidFill>
                <a:latin typeface="Arial"/>
              </a:rPr>
              <a:t>4  Maximum risk per trade: 1 percent of current capital. Say PHP 10,000.</a:t>
            </a:r>
          </a:p>
          <a:p>
            <a:pPr algn="l">
              <a:lnSpc>
                <a:spcPct val="105000"/>
              </a:lnSpc>
              <a:spcBef>
                <a:spcPts val="0"/>
              </a:spcBef>
              <a:spcAft>
                <a:spcPts val="1100"/>
              </a:spcAft>
            </a:pPr>
            <a:r>
              <a:rPr sz="1500" b="0" i="0">
                <a:solidFill>
                  <a:srgbClr val="1A1A1A"/>
                </a:solidFill>
                <a:latin typeface="Arial"/>
              </a:rPr>
              <a:t>5  10,000 / 3.00 = 3,333 shares, the proportional tradesize.</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ah.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step 3, beyond 13's 2 SD case. Backtest: 5.3. Pesos, 1 percent: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A straight line through two turning points, carried forward, cutting through no price.</a:t>
            </a:r>
          </a:p>
        </p:txBody>
      </p:sp>
      <p:sp>
        <p:nvSpPr>
          <p:cNvPr id="10" name="Rectangle 9"/>
          <p:cNvSpPr/>
          <p:nvPr/>
        </p:nvSpPr>
        <p:spPr>
          <a:xfrm>
            <a:off x="777240" y="3142488"/>
            <a:ext cx="64008" cy="6278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39496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026408"/>
            <a:ext cx="64008" cy="1694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80688"/>
            <a:ext cx="5394960" cy="18044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line projected forward into the future from two significant inflection points: troughs for an uptrend, peaks for a downtrend. Two points only fit a line to the past; a third touch is the first time it predicts, which is why it is tentative until then and confirmed, or valid, after. A line price cuts through has already broken it, so it could not still be holding.</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i.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the no-cutting rule beyond our own reading. Price crossing it later is a breach. Pesos and chart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reliable trendline gives consistent support and resistance. A lot of whipsaws, price crossing the line back and forth without a clean break: unreliable.</a:t>
            </a:r>
          </a:p>
          <a:p>
            <a:pPr algn="l">
              <a:lnSpc>
                <a:spcPct val="105000"/>
              </a:lnSpc>
              <a:spcBef>
                <a:spcPts val="0"/>
              </a:spcBef>
              <a:spcAft>
                <a:spcPts val="1100"/>
              </a:spcAft>
            </a:pPr>
            <a:r>
              <a:rPr sz="1500" b="0" i="0">
                <a:solidFill>
                  <a:srgbClr val="1A1A1A"/>
                </a:solidFill>
                <a:latin typeface="Arial"/>
              </a:rPr>
              <a:t>Angle, read on a linear price scale, Chapter 3: above 45 degrees a steep uptrend is less stable, and may not sustain itself. So is a very shallow one.</a:t>
            </a:r>
          </a:p>
          <a:p>
            <a:pPr algn="l">
              <a:lnSpc>
                <a:spcPct val="105000"/>
              </a:lnSpc>
              <a:spcBef>
                <a:spcPts val="0"/>
              </a:spcBef>
              <a:spcAft>
                <a:spcPts val="1100"/>
              </a:spcAft>
            </a:pPr>
            <a:r>
              <a:rPr sz="15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500" b="0" i="0">
                <a:solidFill>
                  <a:srgbClr val="1A1A1A"/>
                </a:solidFill>
                <a:latin typeface="Arial"/>
              </a:rPr>
              <a:t>Duration: longer-term trendlines are generally more reliable than shorter-term ones.</a:t>
            </a:r>
          </a:p>
        </p:txBody>
      </p:sp>
      <p:sp>
        <p:nvSpPr>
          <p:cNvPr id="8" name="TextBox 7"/>
          <p:cNvSpPr txBox="1"/>
          <p:nvPr/>
        </p:nvSpPr>
        <p:spPr>
          <a:xfrm>
            <a:off x="777240" y="546582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No reason given for 35 to 45 degrees or the scaling; our reading is linear, Chapter 3. The chart is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no need to identify price patterns.</a:t>
            </a:r>
          </a:p>
          <a:p>
            <a:pPr algn="l">
              <a:lnSpc>
                <a:spcPct val="118000"/>
              </a:lnSpc>
              <a:spcBef>
                <a:spcPts val="0"/>
              </a:spcBef>
              <a:spcAft>
                <a:spcPts val="1300"/>
              </a:spcAft>
            </a:pPr>
            <a:r>
              <a:rPr sz="2100" b="0" i="0">
                <a:solidFill>
                  <a:srgbClr val="1A1A1A"/>
                </a:solidFill>
                <a:latin typeface="Arial"/>
              </a:rPr>
              <a:t>Strengths 3 and 4: simple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the slide before's term; weaker in erratic markets.</a:t>
            </a:r>
          </a:p>
          <a:p>
            <a:pPr algn="l">
              <a:lnSpc>
                <a:spcPct val="118000"/>
              </a:lnSpc>
              <a:spcBef>
                <a:spcPts val="0"/>
              </a:spcBef>
              <a:spcAft>
                <a:spcPts val="1300"/>
              </a:spcAft>
            </a:pPr>
            <a:r>
              <a:rPr sz="2100" b="0" i="0">
                <a:solidFill>
                  <a:srgbClr val="1A1A1A"/>
                </a:solidFill>
                <a:latin typeface="Arial"/>
              </a:rPr>
              <a:t>Weakness 2: affected by the scaling used, Chapter 3's ratio or linear.</a:t>
            </a:r>
          </a:p>
          <a:p>
            <a:pPr algn="l">
              <a:lnSpc>
                <a:spcPct val="118000"/>
              </a:lnSpc>
              <a:spcBef>
                <a:spcPts val="0"/>
              </a:spcBef>
              <a:spcAft>
                <a:spcPts val="1300"/>
              </a:spcAft>
            </a:pPr>
            <a:r>
              <a:rPr sz="2100" b="0" i="0">
                <a:solidFill>
                  <a:srgbClr val="1A1A1A"/>
                </a:solidFill>
                <a:latin typeface="Arial"/>
              </a:rPr>
              <a:t>Weakness 3: a sideways consolidation drifts both ways, crossing a line without a real reversal's break.</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Weakness 3's reason is our reading.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24</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Nested channeling again, this time on a chart of the USDCAD.</a:t>
            </a:r>
          </a:p>
          <a:p>
            <a:pPr algn="l">
              <a:lnSpc>
                <a:spcPct val="105000"/>
              </a:lnSpc>
              <a:spcBef>
                <a:spcPts val="0"/>
              </a:spcBef>
              <a:spcAft>
                <a:spcPts val="1100"/>
              </a:spcAft>
            </a:pPr>
            <a:r>
              <a:rPr sz="16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600" b="0" i="0">
                <a:solidFill>
                  <a:srgbClr val="1A1A1A"/>
                </a:solidFill>
                <a:latin typeface="Arial"/>
              </a:rPr>
              <a:t>The book's own page, kept for completeness. Neither the channels nor the levels can be read at this size, so nothing here is asked to be verified from it; the next slide redraws the same idea so it can be.</a:t>
            </a:r>
          </a:p>
        </p:txBody>
      </p:sp>
      <p:sp>
        <p:nvSpPr>
          <p:cNvPr id="8" name="TextBox 7"/>
          <p:cNvSpPr txBox="1"/>
          <p:nvPr/>
        </p:nvSpPr>
        <p:spPr>
          <a:xfrm>
            <a:off x="777240" y="5221224"/>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A prior fall: PHP 60 down to PHP 40, PHP 20 in all.</a:t>
            </a:r>
          </a:p>
          <a:p>
            <a:pPr algn="l">
              <a:lnSpc>
                <a:spcPct val="105000"/>
              </a:lnSpc>
              <a:spcBef>
                <a:spcPts val="0"/>
              </a:spcBef>
              <a:spcAft>
                <a:spcPts val="1100"/>
              </a:spcAft>
            </a:pPr>
            <a:r>
              <a:rPr sz="15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5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101083"/>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7659"/>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Two kinds of barrier: sloping channel lines, flat retracement levels.</a:t>
            </a:r>
          </a:p>
        </p:txBody>
      </p:sp>
      <p:sp>
        <p:nvSpPr>
          <p:cNvPr id="10" name="TextBox 9"/>
          <p:cNvSpPr txBox="1"/>
          <p:nvPr/>
        </p:nvSpPr>
        <p:spPr>
          <a:xfrm>
            <a:off x="777240" y="493623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Preview only, not examinable: 38.2, 50 and 61.8 percent are borrowed here for the book's channel point; where they come from is 5.7 and Chapter 10, not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17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1700" b="0" i="0">
                <a:solidFill>
                  <a:srgbClr val="1A1A1A"/>
                </a:solidFill>
                <a:latin typeface="Arial"/>
              </a:rPr>
              <a:t>Especially so if the channel breakout bar is accompanied by large volume.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Not the same case as 5.2's single trendline, where piercing the line itself was exhaustion: here price never even reaches the near boundary, then clears the far one, which 5.2 never addressed.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o.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Reconciled with 5.2's single-line exhaustion rule below, our reading.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failure to test one boundary points to a breakout through the other. The bottom went untested, so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24</a:t>
            </a:r>
          </a:p>
        </p:txBody>
      </p:sp>
      <p:sp>
        <p:nvSpPr>
          <p:cNvPr id="8" name="Rectangle 7"/>
          <p:cNvSpPr/>
          <p:nvPr/>
        </p:nvSpPr>
        <p:spPr>
          <a:xfrm>
            <a:off x="777240" y="2258568"/>
            <a:ext cx="64008" cy="6278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376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Sperandeo's rule for which two points to join: a minor trough or peak is a small one, smaller than the move it sits inside.</a:t>
            </a:r>
          </a:p>
        </p:txBody>
      </p:sp>
      <p:sp>
        <p:nvSpPr>
          <p:cNvPr id="10" name="Rectangle 9"/>
          <p:cNvSpPr/>
          <p:nvPr/>
        </p:nvSpPr>
        <p:spPr>
          <a:xfrm>
            <a:off x="777240" y="3142488"/>
            <a:ext cx="64008" cy="841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09676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39768"/>
            <a:ext cx="64008" cy="1267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94048"/>
            <a:ext cx="5760720" cy="1377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Uptrend line: from the lowest trough to the highest minor trough preceding the highest peak. Downtrend line: the mirror. The rule anchors the line on the most recent higher low before the top, as close under price as the rally allows. From Victor Sperandeo's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for the rule itself. It advises reading Sperandeo's book. Pesos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the names. Its troughs and peaks are too small to read; the next slide redraws them.</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Standard fan lines, numbered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with three fan lines all starting from its first trough.</a:t>
            </a:r>
          </a:p>
          <a:p>
            <a:pPr algn="l">
              <a:lnSpc>
                <a:spcPct val="105000"/>
              </a:lnSpc>
              <a:spcBef>
                <a:spcPts val="0"/>
              </a:spcBef>
              <a:spcAft>
                <a:spcPts val="1100"/>
              </a:spcAft>
            </a:pPr>
            <a:r>
              <a:rPr sz="1700" b="0" i="0">
                <a:solidFill>
                  <a:srgbClr val="1A1A1A"/>
                </a:solidFill>
                <a:latin typeface="Arial"/>
              </a:rPr>
              <a:t>1st, steepest: to the next trough. 2nd, flatter: to the one after. 3rd, flattest: to the last.</a:t>
            </a:r>
          </a:p>
          <a:p>
            <a:pPr algn="l">
              <a:lnSpc>
                <a:spcPct val="105000"/>
              </a:lnSpc>
              <a:spcBef>
                <a:spcPts val="0"/>
              </a:spcBef>
              <a:spcAft>
                <a:spcPts val="1100"/>
              </a:spcAft>
            </a:pPr>
            <a:r>
              <a:rPr sz="1700" b="0" i="0">
                <a:solidFill>
                  <a:srgbClr val="1A1A1A"/>
                </a:solidFill>
                <a:latin typeface="Arial"/>
              </a:rPr>
              <a:t>Accelerating fan lines, from a peak instead, are the same shape mirrored down.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line is numbered in the order the book draws it.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to draw only three of either; a line beyond the third carries no rule of its own.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q.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5.50 (p.163) redrawn on invented prices, because its troughs and peaks are too small to read on 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24 of 24</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On the Wheat chart the gaps gave rise to later levels of support.</a:t>
            </a:r>
          </a:p>
          <a:p>
            <a:pPr algn="l">
              <a:lnSpc>
                <a:spcPct val="105000"/>
              </a:lnSpc>
              <a:spcBef>
                <a:spcPts val="0"/>
              </a:spcBef>
              <a:spcAft>
                <a:spcPts val="1100"/>
              </a:spcAft>
            </a:pPr>
            <a:r>
              <a:rPr sz="16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377647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2793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Gaps tend to create areas of potential support and resistance.</a:t>
            </a:r>
          </a:p>
        </p:txBody>
      </p:sp>
      <p:sp>
        <p:nvSpPr>
          <p:cNvPr id="10" name="TextBox 9"/>
          <p:cNvSpPr txBox="1"/>
          <p:nvPr/>
        </p:nvSpPr>
        <p:spPr>
          <a:xfrm>
            <a:off x="777240" y="4642104"/>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and the figure's other two labels (angular symmetry in GLD, a cycle-tuned stochastic, both characteristics for a different chapter), cannot be read at this size, so nothing here is asked to be verified from them; the next slide draws the gap claim so it can be.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Figure 5.57, kept for completeness; no reason given why a gap becomes a barrier.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450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547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way to stay on the right side of the market.</a:t>
            </a:r>
          </a:p>
        </p:txBody>
      </p:sp>
      <p:sp>
        <p:nvSpPr>
          <p:cNvPr id="10" name="Rectangle 9"/>
          <p:cNvSpPr/>
          <p:nvPr/>
        </p:nvSpPr>
        <p:spPr>
          <a:xfrm>
            <a:off x="777240" y="2959607"/>
            <a:ext cx="64008" cy="68884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13888"/>
            <a:ext cx="557784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3904487"/>
            <a:ext cx="64008" cy="166420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858768"/>
            <a:ext cx="5577840" cy="17739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Charles Drummond's: a short-term moving average, the PLdot line, and inter-bar trendlines, which connect each bar's highs and connect each bar's lows,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why three periods.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AU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give overbought and oversold readings at tops and bottoms, by a method this chapter does not give.</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a reversal confirmed by what related or broader markets are doing at the same time, by a method this chapter does not give.</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 Signal line, equilibrium line and intermarket relationship: used here by name only, defined in none of this course's chapters, and added to the next slide's used-not-taught list for that reason.</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 this slide names each tool without claiming how it works.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a:t>
            </a:r>
          </a:p>
          <a:p>
            <a:pPr algn="l">
              <a:lnSpc>
                <a:spcPct val="118000"/>
              </a:lnSpc>
              <a:spcBef>
                <a:spcPts val="0"/>
              </a:spcBef>
              <a:spcAft>
                <a:spcPts val="1300"/>
              </a:spcAft>
            </a:pPr>
            <a:r>
              <a:rPr sz="2100" b="0" i="0">
                <a:solidFill>
                  <a:srgbClr val="1A1A1A"/>
                </a:solidFill>
                <a:latin typeface="Arial"/>
              </a:rPr>
              <a:t>Used, not taught: typical price, overbought, oversold, signal line, equilibrium line, intermarket relationship,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